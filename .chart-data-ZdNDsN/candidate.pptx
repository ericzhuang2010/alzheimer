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Override PartName="/ppt/slides/slide127.xml" ContentType="application/vnd.openxmlformats-officedocument.presentationml.slide+xml"/>
  <Override PartName="/ppt/notesSlides/notesSlide127.xml" ContentType="application/vnd.openxmlformats-officedocument.presentationml.notesSlide+xml"/>
  <Override PartName="/ppt/slides/slide128.xml" ContentType="application/vnd.openxmlformats-officedocument.presentationml.slide+xml"/>
  <Override PartName="/ppt/notesSlides/notesSlide128.xml" ContentType="application/vnd.openxmlformats-officedocument.presentationml.notesSlide+xml"/>
  <Override PartName="/ppt/slides/slide129.xml" ContentType="application/vnd.openxmlformats-officedocument.presentationml.slide+xml"/>
  <Override PartName="/ppt/notesSlides/notesSlide129.xml" ContentType="application/vnd.openxmlformats-officedocument.presentationml.notesSlide+xml"/>
  <Override PartName="/ppt/slides/slide130.xml" ContentType="application/vnd.openxmlformats-officedocument.presentationml.slide+xml"/>
  <Override PartName="/ppt/notesSlides/notesSlide130.xml" ContentType="application/vnd.openxmlformats-officedocument.presentationml.notesSlide+xml"/>
  <Override PartName="/ppt/slides/slide131.xml" ContentType="application/vnd.openxmlformats-officedocument.presentationml.slide+xml"/>
  <Override PartName="/ppt/notesSlides/notesSlide131.xml" ContentType="application/vnd.openxmlformats-officedocument.presentationml.notesSlide+xml"/>
  <Override PartName="/ppt/slides/slide132.xml" ContentType="application/vnd.openxmlformats-officedocument.presentationml.slide+xml"/>
  <Override PartName="/ppt/notesSlides/notesSlide132.xml" ContentType="application/vnd.openxmlformats-officedocument.presentationml.notesSlide+xml"/>
  <Override PartName="/ppt/slides/slide133.xml" ContentType="application/vnd.openxmlformats-officedocument.presentationml.slide+xml"/>
  <Override PartName="/ppt/notesSlides/notesSlide133.xml" ContentType="application/vnd.openxmlformats-officedocument.presentationml.notesSlide+xml"/>
  <Override PartName="/ppt/slides/slide134.xml" ContentType="application/vnd.openxmlformats-officedocument.presentationml.slide+xml"/>
  <Override PartName="/ppt/notesSlides/notesSlide134.xml" ContentType="application/vnd.openxmlformats-officedocument.presentationml.notesSlide+xml"/>
  <Override PartName="/ppt/slides/slide135.xml" ContentType="application/vnd.openxmlformats-officedocument.presentationml.slide+xml"/>
  <Override PartName="/ppt/notesSlides/notesSlide135.xml" ContentType="application/vnd.openxmlformats-officedocument.presentationml.notesSlide+xml"/>
  <Override PartName="/ppt/slides/slide136.xml" ContentType="application/vnd.openxmlformats-officedocument.presentationml.slide+xml"/>
  <Override PartName="/ppt/notesSlides/notesSlide136.xml" ContentType="application/vnd.openxmlformats-officedocument.presentationml.notesSlide+xml"/>
  <Override PartName="/ppt/slides/slide137.xml" ContentType="application/vnd.openxmlformats-officedocument.presentationml.slide+xml"/>
  <Override PartName="/ppt/notesSlides/notesSlide137.xml" ContentType="application/vnd.openxmlformats-officedocument.presentationml.notesSlide+xml"/>
  <Override PartName="/ppt/slides/slide138.xml" ContentType="application/vnd.openxmlformats-officedocument.presentationml.slide+xml"/>
  <Override PartName="/ppt/notesSlides/notesSlide138.xml" ContentType="application/vnd.openxmlformats-officedocument.presentationml.notesSlide+xml"/>
  <Override PartName="/ppt/slides/slide139.xml" ContentType="application/vnd.openxmlformats-officedocument.presentationml.slide+xml"/>
  <Override PartName="/ppt/notesSlides/notesSlide139.xml" ContentType="application/vnd.openxmlformats-officedocument.presentationml.notesSlide+xml"/>
  <Override PartName="/ppt/slides/slide140.xml" ContentType="application/vnd.openxmlformats-officedocument.presentationml.slide+xml"/>
  <Override PartName="/ppt/notesSlides/notesSlide140.xml" ContentType="application/vnd.openxmlformats-officedocument.presentationml.notesSlide+xml"/>
  <Override PartName="/ppt/slides/slide141.xml" ContentType="application/vnd.openxmlformats-officedocument.presentationml.slide+xml"/>
  <Override PartName="/ppt/notesSlides/notesSlide141.xml" ContentType="application/vnd.openxmlformats-officedocument.presentationml.notesSlide+xml"/>
  <Override PartName="/ppt/slides/slide142.xml" ContentType="application/vnd.openxmlformats-officedocument.presentationml.slide+xml"/>
  <Override PartName="/ppt/notesSlides/notesSlide142.xml" ContentType="application/vnd.openxmlformats-officedocument.presentationml.notesSlide+xml"/>
  <Override PartName="/ppt/slides/slide143.xml" ContentType="application/vnd.openxmlformats-officedocument.presentationml.slide+xml"/>
  <Override PartName="/ppt/notesSlides/notesSlide143.xml" ContentType="application/vnd.openxmlformats-officedocument.presentationml.notesSlide+xml"/>
  <Override PartName="/ppt/slides/slide144.xml" ContentType="application/vnd.openxmlformats-officedocument.presentationml.slide+xml"/>
  <Override PartName="/ppt/notesSlides/notesSlide144.xml" ContentType="application/vnd.openxmlformats-officedocument.presentationml.notesSlide+xml"/>
  <Override PartName="/ppt/slides/slide145.xml" ContentType="application/vnd.openxmlformats-officedocument.presentationml.slide+xml"/>
  <Override PartName="/ppt/notesSlides/notesSlide145.xml" ContentType="application/vnd.openxmlformats-officedocument.presentationml.notesSlide+xml"/>
  <Override PartName="/ppt/slides/slide146.xml" ContentType="application/vnd.openxmlformats-officedocument.presentationml.slide+xml"/>
  <Override PartName="/ppt/notesSlides/notesSlide146.xml" ContentType="application/vnd.openxmlformats-officedocument.presentationml.notesSlide+xml"/>
  <Override PartName="/ppt/slides/slide147.xml" ContentType="application/vnd.openxmlformats-officedocument.presentationml.slide+xml"/>
  <Override PartName="/ppt/notesSlides/notesSlide147.xml" ContentType="application/vnd.openxmlformats-officedocument.presentationml.notesSlide+xml"/>
  <Override PartName="/ppt/slides/slide148.xml" ContentType="application/vnd.openxmlformats-officedocument.presentationml.slide+xml"/>
  <Override PartName="/ppt/notesSlides/notesSlide148.xml" ContentType="application/vnd.openxmlformats-officedocument.presentationml.notesSlide+xml"/>
  <Override PartName="/ppt/slides/slide149.xml" ContentType="application/vnd.openxmlformats-officedocument.presentationml.slide+xml"/>
  <Override PartName="/ppt/notesSlides/notesSlide149.xml" ContentType="application/vnd.openxmlformats-officedocument.presentationml.notesSlide+xml"/>
  <Override PartName="/ppt/slides/slide150.xml" ContentType="application/vnd.openxmlformats-officedocument.presentationml.slide+xml"/>
  <Override PartName="/ppt/notesSlides/notesSlide150.xml" ContentType="application/vnd.openxmlformats-officedocument.presentationml.notesSlide+xml"/>
  <Override PartName="/ppt/slides/slide151.xml" ContentType="application/vnd.openxmlformats-officedocument.presentationml.slide+xml"/>
  <Override PartName="/ppt/notesSlides/notesSlide151.xml" ContentType="application/vnd.openxmlformats-officedocument.presentationml.notesSlide+xml"/>
  <Override PartName="/ppt/slides/slide152.xml" ContentType="application/vnd.openxmlformats-officedocument.presentationml.slide+xml"/>
  <Override PartName="/ppt/notesSlides/notesSlide152.xml" ContentType="application/vnd.openxmlformats-officedocument.presentationml.notesSlide+xml"/>
  <Override PartName="/ppt/slides/slide153.xml" ContentType="application/vnd.openxmlformats-officedocument.presentationml.slide+xml"/>
  <Override PartName="/ppt/notesSlides/notesSlide153.xml" ContentType="application/vnd.openxmlformats-officedocument.presentationml.notesSlide+xml"/>
  <Override PartName="/ppt/slides/slide154.xml" ContentType="application/vnd.openxmlformats-officedocument.presentationml.slide+xml"/>
  <Override PartName="/ppt/notesSlides/notesSlide154.xml" ContentType="application/vnd.openxmlformats-officedocument.presentationml.notesSlide+xml"/>
  <Override PartName="/ppt/slides/slide155.xml" ContentType="application/vnd.openxmlformats-officedocument.presentationml.slide+xml"/>
  <Override PartName="/ppt/notesSlides/notesSlide155.xml" ContentType="application/vnd.openxmlformats-officedocument.presentationml.notesSlide+xml"/>
  <Override PartName="/ppt/slides/slide156.xml" ContentType="application/vnd.openxmlformats-officedocument.presentationml.slide+xml"/>
  <Override PartName="/ppt/notesSlides/notesSlide156.xml" ContentType="application/vnd.openxmlformats-officedocument.presentationml.notesSlide+xml"/>
  <Override PartName="/ppt/slides/slide157.xml" ContentType="application/vnd.openxmlformats-officedocument.presentationml.slide+xml"/>
  <Override PartName="/ppt/notesSlides/notesSlide157.xml" ContentType="application/vnd.openxmlformats-officedocument.presentationml.notesSlide+xml"/>
  <Override PartName="/ppt/slides/slide158.xml" ContentType="application/vnd.openxmlformats-officedocument.presentationml.slide+xml"/>
  <Override PartName="/ppt/notesSlides/notesSlide158.xml" ContentType="application/vnd.openxmlformats-officedocument.presentationml.notesSlide+xml"/>
  <Override PartName="/ppt/slides/slide159.xml" ContentType="application/vnd.openxmlformats-officedocument.presentationml.slide+xml"/>
  <Override PartName="/ppt/notesSlides/notesSlide159.xml" ContentType="application/vnd.openxmlformats-officedocument.presentationml.notesSlide+xml"/>
  <Override PartName="/ppt/slides/slide160.xml" ContentType="application/vnd.openxmlformats-officedocument.presentationml.slide+xml"/>
  <Override PartName="/ppt/notesSlides/notesSlide160.xml" ContentType="application/vnd.openxmlformats-officedocument.presentationml.notesSlide+xml"/>
  <Override PartName="/ppt/slides/slide161.xml" ContentType="application/vnd.openxmlformats-officedocument.presentationml.slide+xml"/>
  <Override PartName="/ppt/notesSlides/notesSlide161.xml" ContentType="application/vnd.openxmlformats-officedocument.presentationml.notesSlide+xml"/>
  <Override PartName="/ppt/slides/slide162.xml" ContentType="application/vnd.openxmlformats-officedocument.presentationml.slide+xml"/>
  <Override PartName="/ppt/notesSlides/notesSlide16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06be0867ba04f09" /><Relationship Type="http://schemas.openxmlformats.org/officeDocument/2006/relationships/extended-properties" Target="/docProps/app.xml" Id="R8aa2e3724109409b" /><Relationship Type="http://schemas.openxmlformats.org/officeDocument/2006/relationships/officeDocument" Target="/ppt/presentation.xml" Id="R58623f9cbdfb4c38" /></Relationships>
</file>

<file path=ppt/presentation.xml><?xml version="1.0" encoding="utf-8"?>
<p:presentation xmlns:p="http://schemas.openxmlformats.org/presentationml/2006/main">
  <p:sldMasterIdLst>
    <p:sldMasterId xmlns:r="http://schemas.openxmlformats.org/officeDocument/2006/relationships" id="2147483648" r:id="R1ba0fd581fed4b92"/>
  </p:sldMasterIdLst>
  <p:notesMasterIdLst>
    <p:notesMasterId xmlns:r="http://schemas.openxmlformats.org/officeDocument/2006/relationships" r:id="R2630c422a7064d0f"/>
  </p:notesMasterIdLst>
  <p:sldIdLst>
    <p:sldId xmlns:r="http://schemas.openxmlformats.org/officeDocument/2006/relationships" id="256" r:id="Ra1034435ee8b4194"/>
    <p:sldId xmlns:r="http://schemas.openxmlformats.org/officeDocument/2006/relationships" id="257" r:id="R8488d2dad32f4d5c"/>
    <p:sldId xmlns:r="http://schemas.openxmlformats.org/officeDocument/2006/relationships" id="258" r:id="R1abcaad5619b471b"/>
    <p:sldId xmlns:r="http://schemas.openxmlformats.org/officeDocument/2006/relationships" id="259" r:id="Rc5382d32682244c6"/>
    <p:sldId xmlns:r="http://schemas.openxmlformats.org/officeDocument/2006/relationships" id="260" r:id="Rc103f888dab84172"/>
    <p:sldId xmlns:r="http://schemas.openxmlformats.org/officeDocument/2006/relationships" id="261" r:id="R2488fe8f208145cc"/>
    <p:sldId xmlns:r="http://schemas.openxmlformats.org/officeDocument/2006/relationships" id="262" r:id="R85a7a1eb415a4af1"/>
    <p:sldId xmlns:r="http://schemas.openxmlformats.org/officeDocument/2006/relationships" id="263" r:id="Rcaaf0e1a12de48d9"/>
    <p:sldId xmlns:r="http://schemas.openxmlformats.org/officeDocument/2006/relationships" id="264" r:id="R1ec8cbfeb3c940de"/>
    <p:sldId xmlns:r="http://schemas.openxmlformats.org/officeDocument/2006/relationships" id="265" r:id="Rdee3adf027e74dba"/>
    <p:sldId xmlns:r="http://schemas.openxmlformats.org/officeDocument/2006/relationships" id="266" r:id="R4fd6957db54a404a"/>
    <p:sldId xmlns:r="http://schemas.openxmlformats.org/officeDocument/2006/relationships" id="267" r:id="R57ee9d64d2184e89"/>
    <p:sldId xmlns:r="http://schemas.openxmlformats.org/officeDocument/2006/relationships" id="268" r:id="R20c4a1bd348c4c33"/>
    <p:sldId xmlns:r="http://schemas.openxmlformats.org/officeDocument/2006/relationships" id="269" r:id="Rf2bd11edf3bf4ed9"/>
    <p:sldId xmlns:r="http://schemas.openxmlformats.org/officeDocument/2006/relationships" id="270" r:id="Rb33fb5ba3f314479"/>
    <p:sldId xmlns:r="http://schemas.openxmlformats.org/officeDocument/2006/relationships" id="271" r:id="R1ba55e2021044426"/>
    <p:sldId xmlns:r="http://schemas.openxmlformats.org/officeDocument/2006/relationships" id="272" r:id="Rff7e5e3c905243fc"/>
    <p:sldId xmlns:r="http://schemas.openxmlformats.org/officeDocument/2006/relationships" id="273" r:id="Rd5f3d0f687744889"/>
    <p:sldId xmlns:r="http://schemas.openxmlformats.org/officeDocument/2006/relationships" id="274" r:id="R266ce4d1315c4943"/>
    <p:sldId xmlns:r="http://schemas.openxmlformats.org/officeDocument/2006/relationships" id="275" r:id="R346768be0da641c6"/>
    <p:sldId xmlns:r="http://schemas.openxmlformats.org/officeDocument/2006/relationships" id="276" r:id="R21405ba37d0d4baf"/>
    <p:sldId xmlns:r="http://schemas.openxmlformats.org/officeDocument/2006/relationships" id="277" r:id="R0d731c3d2a2941ae"/>
    <p:sldId xmlns:r="http://schemas.openxmlformats.org/officeDocument/2006/relationships" id="278" r:id="Rae2ee28425004420"/>
    <p:sldId xmlns:r="http://schemas.openxmlformats.org/officeDocument/2006/relationships" id="279" r:id="R0c93d28702b54d11"/>
    <p:sldId xmlns:r="http://schemas.openxmlformats.org/officeDocument/2006/relationships" id="280" r:id="R27841106299d42d3"/>
    <p:sldId xmlns:r="http://schemas.openxmlformats.org/officeDocument/2006/relationships" id="281" r:id="Rdf749fe21fa043c1"/>
    <p:sldId xmlns:r="http://schemas.openxmlformats.org/officeDocument/2006/relationships" id="282" r:id="R6d0f0fb461b2441e"/>
    <p:sldId xmlns:r="http://schemas.openxmlformats.org/officeDocument/2006/relationships" id="283" r:id="Rcd37216ae60f4875"/>
    <p:sldId xmlns:r="http://schemas.openxmlformats.org/officeDocument/2006/relationships" id="284" r:id="Rc124d1b39d764e77"/>
    <p:sldId xmlns:r="http://schemas.openxmlformats.org/officeDocument/2006/relationships" id="285" r:id="R2700e1223a954d25"/>
    <p:sldId xmlns:r="http://schemas.openxmlformats.org/officeDocument/2006/relationships" id="286" r:id="R74e25a20fd1542cf"/>
    <p:sldId xmlns:r="http://schemas.openxmlformats.org/officeDocument/2006/relationships" id="287" r:id="R31b985207d974a1e"/>
    <p:sldId xmlns:r="http://schemas.openxmlformats.org/officeDocument/2006/relationships" id="288" r:id="R60e7500613fb4c78"/>
    <p:sldId xmlns:r="http://schemas.openxmlformats.org/officeDocument/2006/relationships" id="289" r:id="R7d8d3ce97b4547e5"/>
    <p:sldId xmlns:r="http://schemas.openxmlformats.org/officeDocument/2006/relationships" id="290" r:id="Ra16d5ddc912c48be"/>
    <p:sldId xmlns:r="http://schemas.openxmlformats.org/officeDocument/2006/relationships" id="291" r:id="Rcb9e50eddc7d455d"/>
    <p:sldId xmlns:r="http://schemas.openxmlformats.org/officeDocument/2006/relationships" id="292" r:id="Rb9926e8d758945fc"/>
    <p:sldId xmlns:r="http://schemas.openxmlformats.org/officeDocument/2006/relationships" id="293" r:id="R943e1c63cdbc4545"/>
    <p:sldId xmlns:r="http://schemas.openxmlformats.org/officeDocument/2006/relationships" id="294" r:id="Rb00de7ad5231481b"/>
    <p:sldId xmlns:r="http://schemas.openxmlformats.org/officeDocument/2006/relationships" id="295" r:id="R0ca593980074497f"/>
    <p:sldId xmlns:r="http://schemas.openxmlformats.org/officeDocument/2006/relationships" id="296" r:id="R31b789cca5b54127"/>
    <p:sldId xmlns:r="http://schemas.openxmlformats.org/officeDocument/2006/relationships" id="297" r:id="Ra395def23c0f4e2e"/>
    <p:sldId xmlns:r="http://schemas.openxmlformats.org/officeDocument/2006/relationships" id="298" r:id="Ree0f43cf635c444b"/>
    <p:sldId xmlns:r="http://schemas.openxmlformats.org/officeDocument/2006/relationships" id="299" r:id="Rac9741ce929e4d26"/>
    <p:sldId xmlns:r="http://schemas.openxmlformats.org/officeDocument/2006/relationships" id="300" r:id="R5253b14524ce4138"/>
    <p:sldId xmlns:r="http://schemas.openxmlformats.org/officeDocument/2006/relationships" id="301" r:id="R527e1591c83f4225"/>
    <p:sldId xmlns:r="http://schemas.openxmlformats.org/officeDocument/2006/relationships" id="302" r:id="R9eff7a8d887d4d4d"/>
    <p:sldId xmlns:r="http://schemas.openxmlformats.org/officeDocument/2006/relationships" id="303" r:id="Rc516c228d1054d6e"/>
    <p:sldId xmlns:r="http://schemas.openxmlformats.org/officeDocument/2006/relationships" id="304" r:id="R58f944e6d3644d6f"/>
    <p:sldId xmlns:r="http://schemas.openxmlformats.org/officeDocument/2006/relationships" id="305" r:id="R7ecf3be95ec54cf8"/>
    <p:sldId xmlns:r="http://schemas.openxmlformats.org/officeDocument/2006/relationships" id="306" r:id="R6fd2355924bf47ca"/>
    <p:sldId xmlns:r="http://schemas.openxmlformats.org/officeDocument/2006/relationships" id="307" r:id="Rbfcac4db2de84fcb"/>
    <p:sldId xmlns:r="http://schemas.openxmlformats.org/officeDocument/2006/relationships" id="308" r:id="R311826864a9d4468"/>
    <p:sldId xmlns:r="http://schemas.openxmlformats.org/officeDocument/2006/relationships" id="309" r:id="R48f63d9274214b31"/>
    <p:sldId xmlns:r="http://schemas.openxmlformats.org/officeDocument/2006/relationships" id="310" r:id="Rc8f5bdd7a6c64925"/>
    <p:sldId xmlns:r="http://schemas.openxmlformats.org/officeDocument/2006/relationships" id="311" r:id="R69481e0a07624d1e"/>
    <p:sldId xmlns:r="http://schemas.openxmlformats.org/officeDocument/2006/relationships" id="312" r:id="Ra47198574d634a45"/>
    <p:sldId xmlns:r="http://schemas.openxmlformats.org/officeDocument/2006/relationships" id="313" r:id="R3d42a95ce2d848ba"/>
    <p:sldId xmlns:r="http://schemas.openxmlformats.org/officeDocument/2006/relationships" id="314" r:id="R725e75fd761d4dcb"/>
    <p:sldId xmlns:r="http://schemas.openxmlformats.org/officeDocument/2006/relationships" id="315" r:id="Reef18ed1e9e34b8b"/>
    <p:sldId xmlns:r="http://schemas.openxmlformats.org/officeDocument/2006/relationships" id="316" r:id="Re5aa9b01e4eb4bd6"/>
    <p:sldId xmlns:r="http://schemas.openxmlformats.org/officeDocument/2006/relationships" id="317" r:id="R04e291f2862b4911"/>
    <p:sldId xmlns:r="http://schemas.openxmlformats.org/officeDocument/2006/relationships" id="318" r:id="Raee92595fb334b6b"/>
    <p:sldId xmlns:r="http://schemas.openxmlformats.org/officeDocument/2006/relationships" id="319" r:id="R2f63085d3cb04dae"/>
    <p:sldId xmlns:r="http://schemas.openxmlformats.org/officeDocument/2006/relationships" id="320" r:id="Rcbe593aaed6d4fdd"/>
    <p:sldId xmlns:r="http://schemas.openxmlformats.org/officeDocument/2006/relationships" id="321" r:id="R02e7ef8321384994"/>
    <p:sldId xmlns:r="http://schemas.openxmlformats.org/officeDocument/2006/relationships" id="322" r:id="R0f254237ba664603"/>
    <p:sldId xmlns:r="http://schemas.openxmlformats.org/officeDocument/2006/relationships" id="323" r:id="R60f9711dea1f44d5"/>
    <p:sldId xmlns:r="http://schemas.openxmlformats.org/officeDocument/2006/relationships" id="324" r:id="Rb73e3563f2c4486c"/>
    <p:sldId xmlns:r="http://schemas.openxmlformats.org/officeDocument/2006/relationships" id="325" r:id="R7449d83d823446c2"/>
    <p:sldId xmlns:r="http://schemas.openxmlformats.org/officeDocument/2006/relationships" id="326" r:id="Re1bdecea44e746ab"/>
    <p:sldId xmlns:r="http://schemas.openxmlformats.org/officeDocument/2006/relationships" id="327" r:id="R5c74ae8a481649f2"/>
    <p:sldId xmlns:r="http://schemas.openxmlformats.org/officeDocument/2006/relationships" id="328" r:id="Rc3eea9abf7854742"/>
    <p:sldId xmlns:r="http://schemas.openxmlformats.org/officeDocument/2006/relationships" id="329" r:id="Rcfb6f37604654e18"/>
    <p:sldId xmlns:r="http://schemas.openxmlformats.org/officeDocument/2006/relationships" id="330" r:id="Re2db1a2441094dad"/>
    <p:sldId xmlns:r="http://schemas.openxmlformats.org/officeDocument/2006/relationships" id="331" r:id="R0b8b3b0366574961"/>
    <p:sldId xmlns:r="http://schemas.openxmlformats.org/officeDocument/2006/relationships" id="332" r:id="R76fcce2891da4bbe"/>
    <p:sldId xmlns:r="http://schemas.openxmlformats.org/officeDocument/2006/relationships" id="333" r:id="R7232232cb8a14c7a"/>
    <p:sldId xmlns:r="http://schemas.openxmlformats.org/officeDocument/2006/relationships" id="334" r:id="R0eead44eb5604fa7"/>
    <p:sldId xmlns:r="http://schemas.openxmlformats.org/officeDocument/2006/relationships" id="335" r:id="R2b8fbee7df454bd4"/>
    <p:sldId xmlns:r="http://schemas.openxmlformats.org/officeDocument/2006/relationships" id="336" r:id="Rce4f664ed74c4796"/>
    <p:sldId xmlns:r="http://schemas.openxmlformats.org/officeDocument/2006/relationships" id="337" r:id="R01d6e9251b4f4190"/>
    <p:sldId xmlns:r="http://schemas.openxmlformats.org/officeDocument/2006/relationships" id="338" r:id="R7de3e75c1bb24b64"/>
    <p:sldId xmlns:r="http://schemas.openxmlformats.org/officeDocument/2006/relationships" id="339" r:id="R4eff23dbc12c40db"/>
    <p:sldId xmlns:r="http://schemas.openxmlformats.org/officeDocument/2006/relationships" id="340" r:id="Ra6c2840302654a0b"/>
    <p:sldId xmlns:r="http://schemas.openxmlformats.org/officeDocument/2006/relationships" id="341" r:id="R55da8d34cdc04597"/>
    <p:sldId xmlns:r="http://schemas.openxmlformats.org/officeDocument/2006/relationships" id="342" r:id="R621532081b594c85"/>
    <p:sldId xmlns:r="http://schemas.openxmlformats.org/officeDocument/2006/relationships" id="343" r:id="R4e53daf821d345bd"/>
    <p:sldId xmlns:r="http://schemas.openxmlformats.org/officeDocument/2006/relationships" id="344" r:id="Rbe885f3fddad4645"/>
    <p:sldId xmlns:r="http://schemas.openxmlformats.org/officeDocument/2006/relationships" id="345" r:id="Ra29a692541a74199"/>
    <p:sldId xmlns:r="http://schemas.openxmlformats.org/officeDocument/2006/relationships" id="346" r:id="R6f85b7b87e4d4a5d"/>
    <p:sldId xmlns:r="http://schemas.openxmlformats.org/officeDocument/2006/relationships" id="347" r:id="Rce122a95fb6f468e"/>
    <p:sldId xmlns:r="http://schemas.openxmlformats.org/officeDocument/2006/relationships" id="348" r:id="Ra793bd3d5891440d"/>
    <p:sldId xmlns:r="http://schemas.openxmlformats.org/officeDocument/2006/relationships" id="349" r:id="Rac35be29f2c14440"/>
    <p:sldId xmlns:r="http://schemas.openxmlformats.org/officeDocument/2006/relationships" id="350" r:id="Rdfc5658be3424eb0"/>
    <p:sldId xmlns:r="http://schemas.openxmlformats.org/officeDocument/2006/relationships" id="351" r:id="Rcca6ca5f03124a18"/>
    <p:sldId xmlns:r="http://schemas.openxmlformats.org/officeDocument/2006/relationships" id="352" r:id="Rfe86b4415f7f49f0"/>
    <p:sldId xmlns:r="http://schemas.openxmlformats.org/officeDocument/2006/relationships" id="353" r:id="Rb5a3341c255747bf"/>
    <p:sldId xmlns:r="http://schemas.openxmlformats.org/officeDocument/2006/relationships" id="354" r:id="R81e7c74da0b24def"/>
    <p:sldId xmlns:r="http://schemas.openxmlformats.org/officeDocument/2006/relationships" id="355" r:id="R4eb46ee1f5c94d6c"/>
    <p:sldId xmlns:r="http://schemas.openxmlformats.org/officeDocument/2006/relationships" id="356" r:id="Rcaffc01456f64f8e"/>
    <p:sldId xmlns:r="http://schemas.openxmlformats.org/officeDocument/2006/relationships" id="357" r:id="Re72ed82107654115"/>
    <p:sldId xmlns:r="http://schemas.openxmlformats.org/officeDocument/2006/relationships" id="358" r:id="R579793d46ba04460"/>
    <p:sldId xmlns:r="http://schemas.openxmlformats.org/officeDocument/2006/relationships" id="359" r:id="R18f8b0b49fb24d41"/>
    <p:sldId xmlns:r="http://schemas.openxmlformats.org/officeDocument/2006/relationships" id="360" r:id="R6ed4b004478847a7"/>
    <p:sldId xmlns:r="http://schemas.openxmlformats.org/officeDocument/2006/relationships" id="361" r:id="Rb17c8d19e8ba4fad"/>
    <p:sldId xmlns:r="http://schemas.openxmlformats.org/officeDocument/2006/relationships" id="362" r:id="R2039e0bfb67a4a96"/>
    <p:sldId xmlns:r="http://schemas.openxmlformats.org/officeDocument/2006/relationships" id="363" r:id="R0b407c0585714a0f"/>
    <p:sldId xmlns:r="http://schemas.openxmlformats.org/officeDocument/2006/relationships" id="364" r:id="Rdd4eed62aa3d464e"/>
    <p:sldId xmlns:r="http://schemas.openxmlformats.org/officeDocument/2006/relationships" id="365" r:id="R36c67ba40a22497d"/>
    <p:sldId xmlns:r="http://schemas.openxmlformats.org/officeDocument/2006/relationships" id="366" r:id="R6f80153f9148407a"/>
    <p:sldId xmlns:r="http://schemas.openxmlformats.org/officeDocument/2006/relationships" id="367" r:id="R596cc048071e4d9e"/>
    <p:sldId xmlns:r="http://schemas.openxmlformats.org/officeDocument/2006/relationships" id="368" r:id="R288e531829d540e6"/>
    <p:sldId xmlns:r="http://schemas.openxmlformats.org/officeDocument/2006/relationships" id="369" r:id="R4abd97d8448049c3"/>
    <p:sldId xmlns:r="http://schemas.openxmlformats.org/officeDocument/2006/relationships" id="370" r:id="Rfc969f6f8f8840ef"/>
    <p:sldId xmlns:r="http://schemas.openxmlformats.org/officeDocument/2006/relationships" id="371" r:id="R5c9c93b7aafc492a"/>
    <p:sldId xmlns:r="http://schemas.openxmlformats.org/officeDocument/2006/relationships" id="372" r:id="R20dab73935074639"/>
    <p:sldId xmlns:r="http://schemas.openxmlformats.org/officeDocument/2006/relationships" id="373" r:id="R1cb0e2058fdb4db6"/>
    <p:sldId xmlns:r="http://schemas.openxmlformats.org/officeDocument/2006/relationships" id="374" r:id="Rec9843e02c9b4dc7"/>
    <p:sldId xmlns:r="http://schemas.openxmlformats.org/officeDocument/2006/relationships" id="375" r:id="Rbc7e4211d99c4d3f"/>
    <p:sldId xmlns:r="http://schemas.openxmlformats.org/officeDocument/2006/relationships" id="376" r:id="R01556f7dccb84cd7"/>
    <p:sldId xmlns:r="http://schemas.openxmlformats.org/officeDocument/2006/relationships" id="377" r:id="R1f7250eccfa146a0"/>
    <p:sldId xmlns:r="http://schemas.openxmlformats.org/officeDocument/2006/relationships" id="378" r:id="R58f5d804f6c845ef"/>
    <p:sldId xmlns:r="http://schemas.openxmlformats.org/officeDocument/2006/relationships" id="379" r:id="R01d7a0d5bfda4278"/>
    <p:sldId xmlns:r="http://schemas.openxmlformats.org/officeDocument/2006/relationships" id="380" r:id="R8091c74e61b64e70"/>
    <p:sldId xmlns:r="http://schemas.openxmlformats.org/officeDocument/2006/relationships" id="381" r:id="Re056fcd3abe646d1"/>
    <p:sldId xmlns:r="http://schemas.openxmlformats.org/officeDocument/2006/relationships" id="382" r:id="Rfadc50d3d0804840"/>
    <p:sldId xmlns:r="http://schemas.openxmlformats.org/officeDocument/2006/relationships" id="383" r:id="Rc8ec2fc126df4d01"/>
    <p:sldId xmlns:r="http://schemas.openxmlformats.org/officeDocument/2006/relationships" id="384" r:id="R8eac91e55c2d4ece"/>
    <p:sldId xmlns:r="http://schemas.openxmlformats.org/officeDocument/2006/relationships" id="385" r:id="Rdb981627c2654a47"/>
    <p:sldId xmlns:r="http://schemas.openxmlformats.org/officeDocument/2006/relationships" id="386" r:id="R7cfa93860bd14ca0"/>
    <p:sldId xmlns:r="http://schemas.openxmlformats.org/officeDocument/2006/relationships" id="387" r:id="Ra150d16fa7e54dd9"/>
    <p:sldId xmlns:r="http://schemas.openxmlformats.org/officeDocument/2006/relationships" id="388" r:id="R4918eeae63ee4efd"/>
    <p:sldId xmlns:r="http://schemas.openxmlformats.org/officeDocument/2006/relationships" id="389" r:id="R685af200579e452b"/>
    <p:sldId xmlns:r="http://schemas.openxmlformats.org/officeDocument/2006/relationships" id="390" r:id="R3dc68f7fa3c644a2"/>
    <p:sldId xmlns:r="http://schemas.openxmlformats.org/officeDocument/2006/relationships" id="391" r:id="R4b5d2f989f7d4b04"/>
    <p:sldId xmlns:r="http://schemas.openxmlformats.org/officeDocument/2006/relationships" id="392" r:id="R0296f96f7e804f05"/>
    <p:sldId xmlns:r="http://schemas.openxmlformats.org/officeDocument/2006/relationships" id="393" r:id="Rccd76bf74047439b"/>
    <p:sldId xmlns:r="http://schemas.openxmlformats.org/officeDocument/2006/relationships" id="394" r:id="Refa394f1cf8b420b"/>
    <p:sldId xmlns:r="http://schemas.openxmlformats.org/officeDocument/2006/relationships" id="395" r:id="Reecd871de5cf4190"/>
    <p:sldId xmlns:r="http://schemas.openxmlformats.org/officeDocument/2006/relationships" id="396" r:id="Rbbbeae723f004fd8"/>
    <p:sldId xmlns:r="http://schemas.openxmlformats.org/officeDocument/2006/relationships" id="397" r:id="R90f187caaf104a91"/>
    <p:sldId xmlns:r="http://schemas.openxmlformats.org/officeDocument/2006/relationships" id="398" r:id="R91c90d7a924549a1"/>
    <p:sldId xmlns:r="http://schemas.openxmlformats.org/officeDocument/2006/relationships" id="399" r:id="R26d88d4a51c44fec"/>
    <p:sldId xmlns:r="http://schemas.openxmlformats.org/officeDocument/2006/relationships" id="400" r:id="R0beb287fbc114aae"/>
    <p:sldId xmlns:r="http://schemas.openxmlformats.org/officeDocument/2006/relationships" id="401" r:id="R3d94fca62e444fd1"/>
    <p:sldId xmlns:r="http://schemas.openxmlformats.org/officeDocument/2006/relationships" id="402" r:id="Rd61e48618b1742ac"/>
    <p:sldId xmlns:r="http://schemas.openxmlformats.org/officeDocument/2006/relationships" id="403" r:id="Ra6e4d0598b5f4df0"/>
    <p:sldId xmlns:r="http://schemas.openxmlformats.org/officeDocument/2006/relationships" id="404" r:id="Racc9a239e497462e"/>
    <p:sldId xmlns:r="http://schemas.openxmlformats.org/officeDocument/2006/relationships" id="405" r:id="R6fe8a997a35a4958"/>
    <p:sldId xmlns:r="http://schemas.openxmlformats.org/officeDocument/2006/relationships" id="406" r:id="R8b99fdae006f4203"/>
    <p:sldId xmlns:r="http://schemas.openxmlformats.org/officeDocument/2006/relationships" id="407" r:id="Rfa37ad56baa8415c"/>
    <p:sldId xmlns:r="http://schemas.openxmlformats.org/officeDocument/2006/relationships" id="408" r:id="R72dfda32594b4235"/>
    <p:sldId xmlns:r="http://schemas.openxmlformats.org/officeDocument/2006/relationships" id="409" r:id="R551a6fba954241a5"/>
    <p:sldId xmlns:r="http://schemas.openxmlformats.org/officeDocument/2006/relationships" id="410" r:id="R5f7098cc095c4d66"/>
    <p:sldId xmlns:r="http://schemas.openxmlformats.org/officeDocument/2006/relationships" id="411" r:id="R6a5cfc93e3f54b32"/>
    <p:sldId xmlns:r="http://schemas.openxmlformats.org/officeDocument/2006/relationships" id="412" r:id="R5079d6924dab474a"/>
    <p:sldId xmlns:r="http://schemas.openxmlformats.org/officeDocument/2006/relationships" id="413" r:id="R0f888d3b7e254a06"/>
    <p:sldId xmlns:r="http://schemas.openxmlformats.org/officeDocument/2006/relationships" id="414" r:id="R361f5a570a2e440a"/>
    <p:sldId xmlns:r="http://schemas.openxmlformats.org/officeDocument/2006/relationships" id="415" r:id="Rcb954be203fc4de4"/>
    <p:sldId xmlns:r="http://schemas.openxmlformats.org/officeDocument/2006/relationships" id="416" r:id="R9598b7963dfd4e55"/>
    <p:sldId xmlns:r="http://schemas.openxmlformats.org/officeDocument/2006/relationships" id="417" r:id="R54d00406cf0c46a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a7b6db9a457449f" /><Relationship Type="http://schemas.openxmlformats.org/officeDocument/2006/relationships/slideMaster" Target="/ppt/slideMasters/slideMaster1.xml" Id="R1ba0fd581fed4b92" /><Relationship Type="http://schemas.openxmlformats.org/officeDocument/2006/relationships/notesMaster" Target="/ppt/notesMasters/notesMaster1.xml" Id="R2630c422a7064d0f" /><Relationship Type="http://schemas.openxmlformats.org/officeDocument/2006/relationships/presProps" Target="/ppt/presProps.xml" Id="R08c655f6cb0c405a" /><Relationship Type="http://schemas.openxmlformats.org/officeDocument/2006/relationships/viewProps" Target="/ppt/viewProps.xml" Id="Re80bb6d3461d4372" /><Relationship Type="http://schemas.openxmlformats.org/officeDocument/2006/relationships/tableStyles" Target="/ppt/tableStyles.xml" Id="R5db1cc3ed44844e2" /><Relationship Type="http://schemas.openxmlformats.org/officeDocument/2006/relationships/slide" Target="/ppt/slides/slide1.xml" Id="Ra1034435ee8b4194" /><Relationship Type="http://schemas.openxmlformats.org/officeDocument/2006/relationships/slide" Target="/ppt/slides/slide2.xml" Id="R8488d2dad32f4d5c" /><Relationship Type="http://schemas.openxmlformats.org/officeDocument/2006/relationships/slide" Target="/ppt/slides/slide3.xml" Id="R1abcaad5619b471b" /><Relationship Type="http://schemas.openxmlformats.org/officeDocument/2006/relationships/slide" Target="/ppt/slides/slide4.xml" Id="Rc5382d32682244c6" /><Relationship Type="http://schemas.openxmlformats.org/officeDocument/2006/relationships/slide" Target="/ppt/slides/slide5.xml" Id="Rc103f888dab84172" /><Relationship Type="http://schemas.openxmlformats.org/officeDocument/2006/relationships/slide" Target="/ppt/slides/slide6.xml" Id="R2488fe8f208145cc" /><Relationship Type="http://schemas.openxmlformats.org/officeDocument/2006/relationships/slide" Target="/ppt/slides/slide7.xml" Id="R85a7a1eb415a4af1" /><Relationship Type="http://schemas.openxmlformats.org/officeDocument/2006/relationships/slide" Target="/ppt/slides/slide8.xml" Id="Rcaaf0e1a12de48d9" /><Relationship Type="http://schemas.openxmlformats.org/officeDocument/2006/relationships/slide" Target="/ppt/slides/slide9.xml" Id="R1ec8cbfeb3c940de" /><Relationship Type="http://schemas.openxmlformats.org/officeDocument/2006/relationships/slide" Target="/ppt/slides/slide10.xml" Id="Rdee3adf027e74dba" /><Relationship Type="http://schemas.openxmlformats.org/officeDocument/2006/relationships/slide" Target="/ppt/slides/slide11.xml" Id="R4fd6957db54a404a" /><Relationship Type="http://schemas.openxmlformats.org/officeDocument/2006/relationships/slide" Target="/ppt/slides/slide12.xml" Id="R57ee9d64d2184e89" /><Relationship Type="http://schemas.openxmlformats.org/officeDocument/2006/relationships/slide" Target="/ppt/slides/slide13.xml" Id="R20c4a1bd348c4c33" /><Relationship Type="http://schemas.openxmlformats.org/officeDocument/2006/relationships/slide" Target="/ppt/slides/slide14.xml" Id="Rf2bd11edf3bf4ed9" /><Relationship Type="http://schemas.openxmlformats.org/officeDocument/2006/relationships/slide" Target="/ppt/slides/slide15.xml" Id="Rb33fb5ba3f314479" /><Relationship Type="http://schemas.openxmlformats.org/officeDocument/2006/relationships/slide" Target="/ppt/slides/slide16.xml" Id="R1ba55e2021044426" /><Relationship Type="http://schemas.openxmlformats.org/officeDocument/2006/relationships/slide" Target="/ppt/slides/slide17.xml" Id="Rff7e5e3c905243fc" /><Relationship Type="http://schemas.openxmlformats.org/officeDocument/2006/relationships/slide" Target="/ppt/slides/slide18.xml" Id="Rd5f3d0f687744889" /><Relationship Type="http://schemas.openxmlformats.org/officeDocument/2006/relationships/slide" Target="/ppt/slides/slide19.xml" Id="R266ce4d1315c4943" /><Relationship Type="http://schemas.openxmlformats.org/officeDocument/2006/relationships/slide" Target="/ppt/slides/slide20.xml" Id="R346768be0da641c6" /><Relationship Type="http://schemas.openxmlformats.org/officeDocument/2006/relationships/slide" Target="/ppt/slides/slide21.xml" Id="R21405ba37d0d4baf" /><Relationship Type="http://schemas.openxmlformats.org/officeDocument/2006/relationships/slide" Target="/ppt/slides/slide22.xml" Id="R0d731c3d2a2941ae" /><Relationship Type="http://schemas.openxmlformats.org/officeDocument/2006/relationships/slide" Target="/ppt/slides/slide23.xml" Id="Rae2ee28425004420" /><Relationship Type="http://schemas.openxmlformats.org/officeDocument/2006/relationships/slide" Target="/ppt/slides/slide24.xml" Id="R0c93d28702b54d11" /><Relationship Type="http://schemas.openxmlformats.org/officeDocument/2006/relationships/slide" Target="/ppt/slides/slide25.xml" Id="R27841106299d42d3" /><Relationship Type="http://schemas.openxmlformats.org/officeDocument/2006/relationships/slide" Target="/ppt/slides/slide26.xml" Id="Rdf749fe21fa043c1" /><Relationship Type="http://schemas.openxmlformats.org/officeDocument/2006/relationships/slide" Target="/ppt/slides/slide27.xml" Id="R6d0f0fb461b2441e" /><Relationship Type="http://schemas.openxmlformats.org/officeDocument/2006/relationships/slide" Target="/ppt/slides/slide28.xml" Id="Rcd37216ae60f4875" /><Relationship Type="http://schemas.openxmlformats.org/officeDocument/2006/relationships/slide" Target="/ppt/slides/slide29.xml" Id="Rc124d1b39d764e77" /><Relationship Type="http://schemas.openxmlformats.org/officeDocument/2006/relationships/slide" Target="/ppt/slides/slide30.xml" Id="R2700e1223a954d25" /><Relationship Type="http://schemas.openxmlformats.org/officeDocument/2006/relationships/slide" Target="/ppt/slides/slide31.xml" Id="R74e25a20fd1542cf" /><Relationship Type="http://schemas.openxmlformats.org/officeDocument/2006/relationships/slide" Target="/ppt/slides/slide32.xml" Id="R31b985207d974a1e" /><Relationship Type="http://schemas.openxmlformats.org/officeDocument/2006/relationships/slide" Target="/ppt/slides/slide33.xml" Id="R60e7500613fb4c78" /><Relationship Type="http://schemas.openxmlformats.org/officeDocument/2006/relationships/slide" Target="/ppt/slides/slide34.xml" Id="R7d8d3ce97b4547e5" /><Relationship Type="http://schemas.openxmlformats.org/officeDocument/2006/relationships/slide" Target="/ppt/slides/slide35.xml" Id="Ra16d5ddc912c48be" /><Relationship Type="http://schemas.openxmlformats.org/officeDocument/2006/relationships/slide" Target="/ppt/slides/slide36.xml" Id="Rcb9e50eddc7d455d" /><Relationship Type="http://schemas.openxmlformats.org/officeDocument/2006/relationships/slide" Target="/ppt/slides/slide37.xml" Id="Rb9926e8d758945fc" /><Relationship Type="http://schemas.openxmlformats.org/officeDocument/2006/relationships/slide" Target="/ppt/slides/slide38.xml" Id="R943e1c63cdbc4545" /><Relationship Type="http://schemas.openxmlformats.org/officeDocument/2006/relationships/slide" Target="/ppt/slides/slide39.xml" Id="Rb00de7ad5231481b" /><Relationship Type="http://schemas.openxmlformats.org/officeDocument/2006/relationships/slide" Target="/ppt/slides/slide40.xml" Id="R0ca593980074497f" /><Relationship Type="http://schemas.openxmlformats.org/officeDocument/2006/relationships/slide" Target="/ppt/slides/slide41.xml" Id="R31b789cca5b54127" /><Relationship Type="http://schemas.openxmlformats.org/officeDocument/2006/relationships/slide" Target="/ppt/slides/slide42.xml" Id="Ra395def23c0f4e2e" /><Relationship Type="http://schemas.openxmlformats.org/officeDocument/2006/relationships/slide" Target="/ppt/slides/slide43.xml" Id="Ree0f43cf635c444b" /><Relationship Type="http://schemas.openxmlformats.org/officeDocument/2006/relationships/slide" Target="/ppt/slides/slide44.xml" Id="Rac9741ce929e4d26" /><Relationship Type="http://schemas.openxmlformats.org/officeDocument/2006/relationships/slide" Target="/ppt/slides/slide45.xml" Id="R5253b14524ce4138" /><Relationship Type="http://schemas.openxmlformats.org/officeDocument/2006/relationships/slide" Target="/ppt/slides/slide46.xml" Id="R527e1591c83f4225" /><Relationship Type="http://schemas.openxmlformats.org/officeDocument/2006/relationships/slide" Target="/ppt/slides/slide47.xml" Id="R9eff7a8d887d4d4d" /><Relationship Type="http://schemas.openxmlformats.org/officeDocument/2006/relationships/slide" Target="/ppt/slides/slide48.xml" Id="Rc516c228d1054d6e" /><Relationship Type="http://schemas.openxmlformats.org/officeDocument/2006/relationships/slide" Target="/ppt/slides/slide49.xml" Id="R58f944e6d3644d6f" /><Relationship Type="http://schemas.openxmlformats.org/officeDocument/2006/relationships/slide" Target="/ppt/slides/slide50.xml" Id="R7ecf3be95ec54cf8" /><Relationship Type="http://schemas.openxmlformats.org/officeDocument/2006/relationships/slide" Target="/ppt/slides/slide51.xml" Id="R6fd2355924bf47ca" /><Relationship Type="http://schemas.openxmlformats.org/officeDocument/2006/relationships/slide" Target="/ppt/slides/slide52.xml" Id="Rbfcac4db2de84fcb" /><Relationship Type="http://schemas.openxmlformats.org/officeDocument/2006/relationships/slide" Target="/ppt/slides/slide53.xml" Id="R311826864a9d4468" /><Relationship Type="http://schemas.openxmlformats.org/officeDocument/2006/relationships/slide" Target="/ppt/slides/slide54.xml" Id="R48f63d9274214b31" /><Relationship Type="http://schemas.openxmlformats.org/officeDocument/2006/relationships/slide" Target="/ppt/slides/slide55.xml" Id="Rc8f5bdd7a6c64925" /><Relationship Type="http://schemas.openxmlformats.org/officeDocument/2006/relationships/slide" Target="/ppt/slides/slide56.xml" Id="R69481e0a07624d1e" /><Relationship Type="http://schemas.openxmlformats.org/officeDocument/2006/relationships/slide" Target="/ppt/slides/slide57.xml" Id="Ra47198574d634a45" /><Relationship Type="http://schemas.openxmlformats.org/officeDocument/2006/relationships/slide" Target="/ppt/slides/slide58.xml" Id="R3d42a95ce2d848ba" /><Relationship Type="http://schemas.openxmlformats.org/officeDocument/2006/relationships/slide" Target="/ppt/slides/slide59.xml" Id="R725e75fd761d4dcb" /><Relationship Type="http://schemas.openxmlformats.org/officeDocument/2006/relationships/slide" Target="/ppt/slides/slide60.xml" Id="Reef18ed1e9e34b8b" /><Relationship Type="http://schemas.openxmlformats.org/officeDocument/2006/relationships/slide" Target="/ppt/slides/slide61.xml" Id="Re5aa9b01e4eb4bd6" /><Relationship Type="http://schemas.openxmlformats.org/officeDocument/2006/relationships/slide" Target="/ppt/slides/slide62.xml" Id="R04e291f2862b4911" /><Relationship Type="http://schemas.openxmlformats.org/officeDocument/2006/relationships/slide" Target="/ppt/slides/slide63.xml" Id="Raee92595fb334b6b" /><Relationship Type="http://schemas.openxmlformats.org/officeDocument/2006/relationships/slide" Target="/ppt/slides/slide64.xml" Id="R2f63085d3cb04dae" /><Relationship Type="http://schemas.openxmlformats.org/officeDocument/2006/relationships/slide" Target="/ppt/slides/slide65.xml" Id="Rcbe593aaed6d4fdd" /><Relationship Type="http://schemas.openxmlformats.org/officeDocument/2006/relationships/slide" Target="/ppt/slides/slide66.xml" Id="R02e7ef8321384994" /><Relationship Type="http://schemas.openxmlformats.org/officeDocument/2006/relationships/slide" Target="/ppt/slides/slide67.xml" Id="R0f254237ba664603" /><Relationship Type="http://schemas.openxmlformats.org/officeDocument/2006/relationships/slide" Target="/ppt/slides/slide68.xml" Id="R60f9711dea1f44d5" /><Relationship Type="http://schemas.openxmlformats.org/officeDocument/2006/relationships/slide" Target="/ppt/slides/slide69.xml" Id="Rb73e3563f2c4486c" /><Relationship Type="http://schemas.openxmlformats.org/officeDocument/2006/relationships/slide" Target="/ppt/slides/slide70.xml" Id="R7449d83d823446c2" /><Relationship Type="http://schemas.openxmlformats.org/officeDocument/2006/relationships/slide" Target="/ppt/slides/slide71.xml" Id="Re1bdecea44e746ab" /><Relationship Type="http://schemas.openxmlformats.org/officeDocument/2006/relationships/slide" Target="/ppt/slides/slide72.xml" Id="R5c74ae8a481649f2" /><Relationship Type="http://schemas.openxmlformats.org/officeDocument/2006/relationships/slide" Target="/ppt/slides/slide73.xml" Id="Rc3eea9abf7854742" /><Relationship Type="http://schemas.openxmlformats.org/officeDocument/2006/relationships/slide" Target="/ppt/slides/slide74.xml" Id="Rcfb6f37604654e18" /><Relationship Type="http://schemas.openxmlformats.org/officeDocument/2006/relationships/slide" Target="/ppt/slides/slide75.xml" Id="Re2db1a2441094dad" /><Relationship Type="http://schemas.openxmlformats.org/officeDocument/2006/relationships/slide" Target="/ppt/slides/slide76.xml" Id="R0b8b3b0366574961" /><Relationship Type="http://schemas.openxmlformats.org/officeDocument/2006/relationships/slide" Target="/ppt/slides/slide77.xml" Id="R76fcce2891da4bbe" /><Relationship Type="http://schemas.openxmlformats.org/officeDocument/2006/relationships/slide" Target="/ppt/slides/slide78.xml" Id="R7232232cb8a14c7a" /><Relationship Type="http://schemas.openxmlformats.org/officeDocument/2006/relationships/slide" Target="/ppt/slides/slide79.xml" Id="R0eead44eb5604fa7" /><Relationship Type="http://schemas.openxmlformats.org/officeDocument/2006/relationships/slide" Target="/ppt/slides/slide80.xml" Id="R2b8fbee7df454bd4" /><Relationship Type="http://schemas.openxmlformats.org/officeDocument/2006/relationships/slide" Target="/ppt/slides/slide81.xml" Id="Rce4f664ed74c4796" /><Relationship Type="http://schemas.openxmlformats.org/officeDocument/2006/relationships/slide" Target="/ppt/slides/slide82.xml" Id="R01d6e9251b4f4190" /><Relationship Type="http://schemas.openxmlformats.org/officeDocument/2006/relationships/slide" Target="/ppt/slides/slide83.xml" Id="R7de3e75c1bb24b64" /><Relationship Type="http://schemas.openxmlformats.org/officeDocument/2006/relationships/slide" Target="/ppt/slides/slide84.xml" Id="R4eff23dbc12c40db" /><Relationship Type="http://schemas.openxmlformats.org/officeDocument/2006/relationships/slide" Target="/ppt/slides/slide85.xml" Id="Ra6c2840302654a0b" /><Relationship Type="http://schemas.openxmlformats.org/officeDocument/2006/relationships/slide" Target="/ppt/slides/slide86.xml" Id="R55da8d34cdc04597" /><Relationship Type="http://schemas.openxmlformats.org/officeDocument/2006/relationships/slide" Target="/ppt/slides/slide87.xml" Id="R621532081b594c85" /><Relationship Type="http://schemas.openxmlformats.org/officeDocument/2006/relationships/slide" Target="/ppt/slides/slide88.xml" Id="R4e53daf821d345bd" /><Relationship Type="http://schemas.openxmlformats.org/officeDocument/2006/relationships/slide" Target="/ppt/slides/slide89.xml" Id="Rbe885f3fddad4645" /><Relationship Type="http://schemas.openxmlformats.org/officeDocument/2006/relationships/slide" Target="/ppt/slides/slide90.xml" Id="Ra29a692541a74199" /><Relationship Type="http://schemas.openxmlformats.org/officeDocument/2006/relationships/slide" Target="/ppt/slides/slide91.xml" Id="R6f85b7b87e4d4a5d" /><Relationship Type="http://schemas.openxmlformats.org/officeDocument/2006/relationships/slide" Target="/ppt/slides/slide92.xml" Id="Rce122a95fb6f468e" /><Relationship Type="http://schemas.openxmlformats.org/officeDocument/2006/relationships/slide" Target="/ppt/slides/slide93.xml" Id="Ra793bd3d5891440d" /><Relationship Type="http://schemas.openxmlformats.org/officeDocument/2006/relationships/slide" Target="/ppt/slides/slide94.xml" Id="Rac35be29f2c14440" /><Relationship Type="http://schemas.openxmlformats.org/officeDocument/2006/relationships/slide" Target="/ppt/slides/slide95.xml" Id="Rdfc5658be3424eb0" /><Relationship Type="http://schemas.openxmlformats.org/officeDocument/2006/relationships/slide" Target="/ppt/slides/slide96.xml" Id="Rcca6ca5f03124a18" /><Relationship Type="http://schemas.openxmlformats.org/officeDocument/2006/relationships/slide" Target="/ppt/slides/slide97.xml" Id="Rfe86b4415f7f49f0" /><Relationship Type="http://schemas.openxmlformats.org/officeDocument/2006/relationships/slide" Target="/ppt/slides/slide98.xml" Id="Rb5a3341c255747bf" /><Relationship Type="http://schemas.openxmlformats.org/officeDocument/2006/relationships/slide" Target="/ppt/slides/slide99.xml" Id="R81e7c74da0b24def" /><Relationship Type="http://schemas.openxmlformats.org/officeDocument/2006/relationships/slide" Target="/ppt/slides/slide100.xml" Id="R4eb46ee1f5c94d6c" /><Relationship Type="http://schemas.openxmlformats.org/officeDocument/2006/relationships/slide" Target="/ppt/slides/slide101.xml" Id="Rcaffc01456f64f8e" /><Relationship Type="http://schemas.openxmlformats.org/officeDocument/2006/relationships/slide" Target="/ppt/slides/slide102.xml" Id="Re72ed82107654115" /><Relationship Type="http://schemas.openxmlformats.org/officeDocument/2006/relationships/slide" Target="/ppt/slides/slide103.xml" Id="R579793d46ba04460" /><Relationship Type="http://schemas.openxmlformats.org/officeDocument/2006/relationships/slide" Target="/ppt/slides/slide104.xml" Id="R18f8b0b49fb24d41" /><Relationship Type="http://schemas.openxmlformats.org/officeDocument/2006/relationships/slide" Target="/ppt/slides/slide105.xml" Id="R6ed4b004478847a7" /><Relationship Type="http://schemas.openxmlformats.org/officeDocument/2006/relationships/slide" Target="/ppt/slides/slide106.xml" Id="Rb17c8d19e8ba4fad" /><Relationship Type="http://schemas.openxmlformats.org/officeDocument/2006/relationships/slide" Target="/ppt/slides/slide107.xml" Id="R2039e0bfb67a4a96" /><Relationship Type="http://schemas.openxmlformats.org/officeDocument/2006/relationships/slide" Target="/ppt/slides/slide108.xml" Id="R0b407c0585714a0f" /><Relationship Type="http://schemas.openxmlformats.org/officeDocument/2006/relationships/slide" Target="/ppt/slides/slide109.xml" Id="Rdd4eed62aa3d464e" /><Relationship Type="http://schemas.openxmlformats.org/officeDocument/2006/relationships/slide" Target="/ppt/slides/slide110.xml" Id="R36c67ba40a22497d" /><Relationship Type="http://schemas.openxmlformats.org/officeDocument/2006/relationships/slide" Target="/ppt/slides/slide111.xml" Id="R6f80153f9148407a" /><Relationship Type="http://schemas.openxmlformats.org/officeDocument/2006/relationships/slide" Target="/ppt/slides/slide112.xml" Id="R596cc048071e4d9e" /><Relationship Type="http://schemas.openxmlformats.org/officeDocument/2006/relationships/slide" Target="/ppt/slides/slide113.xml" Id="R288e531829d540e6" /><Relationship Type="http://schemas.openxmlformats.org/officeDocument/2006/relationships/slide" Target="/ppt/slides/slide114.xml" Id="R4abd97d8448049c3" /><Relationship Type="http://schemas.openxmlformats.org/officeDocument/2006/relationships/slide" Target="/ppt/slides/slide115.xml" Id="Rfc969f6f8f8840ef" /><Relationship Type="http://schemas.openxmlformats.org/officeDocument/2006/relationships/slide" Target="/ppt/slides/slide116.xml" Id="R5c9c93b7aafc492a" /><Relationship Type="http://schemas.openxmlformats.org/officeDocument/2006/relationships/slide" Target="/ppt/slides/slide117.xml" Id="R20dab73935074639" /><Relationship Type="http://schemas.openxmlformats.org/officeDocument/2006/relationships/slide" Target="/ppt/slides/slide118.xml" Id="R1cb0e2058fdb4db6" /><Relationship Type="http://schemas.openxmlformats.org/officeDocument/2006/relationships/slide" Target="/ppt/slides/slide119.xml" Id="Rec9843e02c9b4dc7" /><Relationship Type="http://schemas.openxmlformats.org/officeDocument/2006/relationships/slide" Target="/ppt/slides/slide120.xml" Id="Rbc7e4211d99c4d3f" /><Relationship Type="http://schemas.openxmlformats.org/officeDocument/2006/relationships/slide" Target="/ppt/slides/slide121.xml" Id="R01556f7dccb84cd7" /><Relationship Type="http://schemas.openxmlformats.org/officeDocument/2006/relationships/slide" Target="/ppt/slides/slide122.xml" Id="R1f7250eccfa146a0" /><Relationship Type="http://schemas.openxmlformats.org/officeDocument/2006/relationships/slide" Target="/ppt/slides/slide123.xml" Id="R58f5d804f6c845ef" /><Relationship Type="http://schemas.openxmlformats.org/officeDocument/2006/relationships/slide" Target="/ppt/slides/slide124.xml" Id="R01d7a0d5bfda4278" /><Relationship Type="http://schemas.openxmlformats.org/officeDocument/2006/relationships/slide" Target="/ppt/slides/slide125.xml" Id="R8091c74e61b64e70" /><Relationship Type="http://schemas.openxmlformats.org/officeDocument/2006/relationships/slide" Target="/ppt/slides/slide126.xml" Id="Re056fcd3abe646d1" /><Relationship Type="http://schemas.openxmlformats.org/officeDocument/2006/relationships/slide" Target="/ppt/slides/slide127.xml" Id="Rfadc50d3d0804840" /><Relationship Type="http://schemas.openxmlformats.org/officeDocument/2006/relationships/slide" Target="/ppt/slides/slide128.xml" Id="Rc8ec2fc126df4d01" /><Relationship Type="http://schemas.openxmlformats.org/officeDocument/2006/relationships/slide" Target="/ppt/slides/slide129.xml" Id="R8eac91e55c2d4ece" /><Relationship Type="http://schemas.openxmlformats.org/officeDocument/2006/relationships/slide" Target="/ppt/slides/slide130.xml" Id="Rdb981627c2654a47" /><Relationship Type="http://schemas.openxmlformats.org/officeDocument/2006/relationships/slide" Target="/ppt/slides/slide131.xml" Id="R7cfa93860bd14ca0" /><Relationship Type="http://schemas.openxmlformats.org/officeDocument/2006/relationships/slide" Target="/ppt/slides/slide132.xml" Id="Ra150d16fa7e54dd9" /><Relationship Type="http://schemas.openxmlformats.org/officeDocument/2006/relationships/slide" Target="/ppt/slides/slide133.xml" Id="R4918eeae63ee4efd" /><Relationship Type="http://schemas.openxmlformats.org/officeDocument/2006/relationships/slide" Target="/ppt/slides/slide134.xml" Id="R685af200579e452b" /><Relationship Type="http://schemas.openxmlformats.org/officeDocument/2006/relationships/slide" Target="/ppt/slides/slide135.xml" Id="R3dc68f7fa3c644a2" /><Relationship Type="http://schemas.openxmlformats.org/officeDocument/2006/relationships/slide" Target="/ppt/slides/slide136.xml" Id="R4b5d2f989f7d4b04" /><Relationship Type="http://schemas.openxmlformats.org/officeDocument/2006/relationships/slide" Target="/ppt/slides/slide137.xml" Id="R0296f96f7e804f05" /><Relationship Type="http://schemas.openxmlformats.org/officeDocument/2006/relationships/slide" Target="/ppt/slides/slide138.xml" Id="Rccd76bf74047439b" /><Relationship Type="http://schemas.openxmlformats.org/officeDocument/2006/relationships/slide" Target="/ppt/slides/slide139.xml" Id="Refa394f1cf8b420b" /><Relationship Type="http://schemas.openxmlformats.org/officeDocument/2006/relationships/slide" Target="/ppt/slides/slide140.xml" Id="Reecd871de5cf4190" /><Relationship Type="http://schemas.openxmlformats.org/officeDocument/2006/relationships/slide" Target="/ppt/slides/slide141.xml" Id="Rbbbeae723f004fd8" /><Relationship Type="http://schemas.openxmlformats.org/officeDocument/2006/relationships/slide" Target="/ppt/slides/slide142.xml" Id="R90f187caaf104a91" /><Relationship Type="http://schemas.openxmlformats.org/officeDocument/2006/relationships/slide" Target="/ppt/slides/slide143.xml" Id="R91c90d7a924549a1" /><Relationship Type="http://schemas.openxmlformats.org/officeDocument/2006/relationships/slide" Target="/ppt/slides/slide144.xml" Id="R26d88d4a51c44fec" /><Relationship Type="http://schemas.openxmlformats.org/officeDocument/2006/relationships/slide" Target="/ppt/slides/slide145.xml" Id="R0beb287fbc114aae" /><Relationship Type="http://schemas.openxmlformats.org/officeDocument/2006/relationships/slide" Target="/ppt/slides/slide146.xml" Id="R3d94fca62e444fd1" /><Relationship Type="http://schemas.openxmlformats.org/officeDocument/2006/relationships/slide" Target="/ppt/slides/slide147.xml" Id="Rd61e48618b1742ac" /><Relationship Type="http://schemas.openxmlformats.org/officeDocument/2006/relationships/slide" Target="/ppt/slides/slide148.xml" Id="Ra6e4d0598b5f4df0" /><Relationship Type="http://schemas.openxmlformats.org/officeDocument/2006/relationships/slide" Target="/ppt/slides/slide149.xml" Id="Racc9a239e497462e" /><Relationship Type="http://schemas.openxmlformats.org/officeDocument/2006/relationships/slide" Target="/ppt/slides/slide150.xml" Id="R6fe8a997a35a4958" /><Relationship Type="http://schemas.openxmlformats.org/officeDocument/2006/relationships/slide" Target="/ppt/slides/slide151.xml" Id="R8b99fdae006f4203" /><Relationship Type="http://schemas.openxmlformats.org/officeDocument/2006/relationships/slide" Target="/ppt/slides/slide152.xml" Id="Rfa37ad56baa8415c" /><Relationship Type="http://schemas.openxmlformats.org/officeDocument/2006/relationships/slide" Target="/ppt/slides/slide153.xml" Id="R72dfda32594b4235" /><Relationship Type="http://schemas.openxmlformats.org/officeDocument/2006/relationships/slide" Target="/ppt/slides/slide154.xml" Id="R551a6fba954241a5" /><Relationship Type="http://schemas.openxmlformats.org/officeDocument/2006/relationships/slide" Target="/ppt/slides/slide155.xml" Id="R5f7098cc095c4d66" /><Relationship Type="http://schemas.openxmlformats.org/officeDocument/2006/relationships/slide" Target="/ppt/slides/slide156.xml" Id="R6a5cfc93e3f54b32" /><Relationship Type="http://schemas.openxmlformats.org/officeDocument/2006/relationships/slide" Target="/ppt/slides/slide157.xml" Id="R5079d6924dab474a" /><Relationship Type="http://schemas.openxmlformats.org/officeDocument/2006/relationships/slide" Target="/ppt/slides/slide158.xml" Id="R0f888d3b7e254a06" /><Relationship Type="http://schemas.openxmlformats.org/officeDocument/2006/relationships/slide" Target="/ppt/slides/slide159.xml" Id="R361f5a570a2e440a" /><Relationship Type="http://schemas.openxmlformats.org/officeDocument/2006/relationships/slide" Target="/ppt/slides/slide160.xml" Id="Rcb954be203fc4de4" /><Relationship Type="http://schemas.openxmlformats.org/officeDocument/2006/relationships/slide" Target="/ppt/slides/slide161.xml" Id="R9598b7963dfd4e55" /><Relationship Type="http://schemas.openxmlformats.org/officeDocument/2006/relationships/slide" Target="/ppt/slides/slide162.xml" Id="R54d00406cf0c46a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2d3def67fd44d0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ae8368a3cea41d0" /><Relationship Type="http://schemas.openxmlformats.org/officeDocument/2006/relationships/notesMaster" Target="/ppt/notesMasters/notesMaster1.xml" Id="R2f4d6823185d42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110cb81b4e5946fa" /><Relationship Type="http://schemas.openxmlformats.org/officeDocument/2006/relationships/notesMaster" Target="/ppt/notesMasters/notesMaster1.xml" Id="R0508dca6e0ed48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c60e401144324a89" /><Relationship Type="http://schemas.openxmlformats.org/officeDocument/2006/relationships/notesMaster" Target="/ppt/notesMasters/notesMaster1.xml" Id="Rcf6e966b14394c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fb638367c52749e6" /><Relationship Type="http://schemas.openxmlformats.org/officeDocument/2006/relationships/notesMaster" Target="/ppt/notesMasters/notesMaster1.xml" Id="Rde9251a55f59467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e4d43df938241d3" /><Relationship Type="http://schemas.openxmlformats.org/officeDocument/2006/relationships/notesMaster" Target="/ppt/notesMasters/notesMaster1.xml" Id="R1e8d462d3f1a414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44ef17734634876" /><Relationship Type="http://schemas.openxmlformats.org/officeDocument/2006/relationships/notesMaster" Target="/ppt/notesMasters/notesMaster1.xml" Id="R4ca4f07c777f47fe"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fb8090f0cc48b7" /><Relationship Type="http://schemas.openxmlformats.org/officeDocument/2006/relationships/notesMaster" Target="/ppt/notesMasters/notesMaster1.xml" Id="R718ed643cba84a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d0c93ddc682e44eb" /><Relationship Type="http://schemas.openxmlformats.org/officeDocument/2006/relationships/notesMaster" Target="/ppt/notesMasters/notesMaster1.xml" Id="Ra74c843feee44fe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e646d81656e4811" /><Relationship Type="http://schemas.openxmlformats.org/officeDocument/2006/relationships/notesMaster" Target="/ppt/notesMasters/notesMaster1.xml" Id="Ra58aeeee613f4a8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225f75ba8494d30" /><Relationship Type="http://schemas.openxmlformats.org/officeDocument/2006/relationships/notesMaster" Target="/ppt/notesMasters/notesMaster1.xml" Id="R7247d2e7b395471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a8aa2d9c674986" /><Relationship Type="http://schemas.openxmlformats.org/officeDocument/2006/relationships/notesMaster" Target="/ppt/notesMasters/notesMaster1.xml" Id="R9c0a8e2bec0e46b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38e8992243d4732" /><Relationship Type="http://schemas.openxmlformats.org/officeDocument/2006/relationships/notesMaster" Target="/ppt/notesMasters/notesMaster1.xml" Id="Ref8d8d59e76b4e3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3630eec7be74d96" /><Relationship Type="http://schemas.openxmlformats.org/officeDocument/2006/relationships/notesMaster" Target="/ppt/notesMasters/notesMaster1.xml" Id="Re9bd8018348b4c3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de4c07ca9f4467a" /><Relationship Type="http://schemas.openxmlformats.org/officeDocument/2006/relationships/notesMaster" Target="/ppt/notesMasters/notesMaster1.xml" Id="R4a6d70a3bc3642b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7b20b889474962" /><Relationship Type="http://schemas.openxmlformats.org/officeDocument/2006/relationships/notesMaster" Target="/ppt/notesMasters/notesMaster1.xml" Id="R4f4b8415d764434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4530961292d4203" /><Relationship Type="http://schemas.openxmlformats.org/officeDocument/2006/relationships/notesMaster" Target="/ppt/notesMasters/notesMaster1.xml" Id="R836cf7b18fca466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946cdbe28f04aba" /><Relationship Type="http://schemas.openxmlformats.org/officeDocument/2006/relationships/notesMaster" Target="/ppt/notesMasters/notesMaster1.xml" Id="R5639d1503cc64bf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c5040b900704af7" /><Relationship Type="http://schemas.openxmlformats.org/officeDocument/2006/relationships/notesMaster" Target="/ppt/notesMasters/notesMaster1.xml" Id="R544b71194a9d41e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a7780cf0884b62" /><Relationship Type="http://schemas.openxmlformats.org/officeDocument/2006/relationships/notesMaster" Target="/ppt/notesMasters/notesMaster1.xml" Id="R067d00018c9e4bf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26d1a2b41e84c38" /><Relationship Type="http://schemas.openxmlformats.org/officeDocument/2006/relationships/notesMaster" Target="/ppt/notesMasters/notesMaster1.xml" Id="Red3cacb804984b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37cff287b3ba4170" /><Relationship Type="http://schemas.openxmlformats.org/officeDocument/2006/relationships/notesMaster" Target="/ppt/notesMasters/notesMaster1.xml" Id="R9e8e99dad56f4c0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e48a72b759e443e9" /><Relationship Type="http://schemas.openxmlformats.org/officeDocument/2006/relationships/notesMaster" Target="/ppt/notesMasters/notesMaster1.xml" Id="R6fe787c967834a9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2ac20af461e9463f" /><Relationship Type="http://schemas.openxmlformats.org/officeDocument/2006/relationships/notesMaster" Target="/ppt/notesMasters/notesMaster1.xml" Id="R2e722c4ed9954257"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d85623b832745b5" /><Relationship Type="http://schemas.openxmlformats.org/officeDocument/2006/relationships/notesMaster" Target="/ppt/notesMasters/notesMaster1.xml" Id="Rebbb3bbb4d0246e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a30b53fc9234a55" /><Relationship Type="http://schemas.openxmlformats.org/officeDocument/2006/relationships/notesMaster" Target="/ppt/notesMasters/notesMaster1.xml" Id="Rb117ba2be2f64fc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e2b85742204241a4" /><Relationship Type="http://schemas.openxmlformats.org/officeDocument/2006/relationships/notesMaster" Target="/ppt/notesMasters/notesMaster1.xml" Id="R6ee1bc8f67af4b6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a71c202c0e3b4cd5" /><Relationship Type="http://schemas.openxmlformats.org/officeDocument/2006/relationships/notesMaster" Target="/ppt/notesMasters/notesMaster1.xml" Id="Rdbde19901b85441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800be80a63b5477f" /><Relationship Type="http://schemas.openxmlformats.org/officeDocument/2006/relationships/notesMaster" Target="/ppt/notesMasters/notesMaster1.xml" Id="R91ffb5fb09564387"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93f643b14da46f1" /><Relationship Type="http://schemas.openxmlformats.org/officeDocument/2006/relationships/notesMaster" Target="/ppt/notesMasters/notesMaster1.xml" Id="R0b82fbe525ec499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37475015b764bd2" /><Relationship Type="http://schemas.openxmlformats.org/officeDocument/2006/relationships/notesMaster" Target="/ppt/notesMasters/notesMaster1.xml" Id="R7fb961c8f4ad491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24f3322628e461d" /><Relationship Type="http://schemas.openxmlformats.org/officeDocument/2006/relationships/notesMaster" Target="/ppt/notesMasters/notesMaster1.xml" Id="R1b7d0ff1a6834cc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330895a45b6d4f44" /><Relationship Type="http://schemas.openxmlformats.org/officeDocument/2006/relationships/notesMaster" Target="/ppt/notesMasters/notesMaster1.xml" Id="Rcee1615c80e3415b"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1c8dce862ca46d8" /><Relationship Type="http://schemas.openxmlformats.org/officeDocument/2006/relationships/notesMaster" Target="/ppt/notesMasters/notesMaster1.xml" Id="Rd77210bd33ba4b06"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4140317fd15045a5" /><Relationship Type="http://schemas.openxmlformats.org/officeDocument/2006/relationships/notesMaster" Target="/ppt/notesMasters/notesMaster1.xml" Id="R6806b52a893a4e96"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5765f29f204d4a85" /><Relationship Type="http://schemas.openxmlformats.org/officeDocument/2006/relationships/notesMaster" Target="/ppt/notesMasters/notesMaster1.xml" Id="R453988e004d44f16"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f9453d45eed431d" /><Relationship Type="http://schemas.openxmlformats.org/officeDocument/2006/relationships/notesMaster" Target="/ppt/notesMasters/notesMaster1.xml" Id="Rb3a714a54cb0407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d757274c5f1465f" /><Relationship Type="http://schemas.openxmlformats.org/officeDocument/2006/relationships/notesMaster" Target="/ppt/notesMasters/notesMaster1.xml" Id="R22cb275112b0410d"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f77154c51624184" /><Relationship Type="http://schemas.openxmlformats.org/officeDocument/2006/relationships/notesMaster" Target="/ppt/notesMasters/notesMaster1.xml" Id="Re0668bc465604752"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20420abf3044078" /><Relationship Type="http://schemas.openxmlformats.org/officeDocument/2006/relationships/notesMaster" Target="/ppt/notesMasters/notesMaster1.xml" Id="R85982bba01c348a5"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12ee8cee3ada4009" /><Relationship Type="http://schemas.openxmlformats.org/officeDocument/2006/relationships/notesMaster" Target="/ppt/notesMasters/notesMaster1.xml" Id="R2e2fa5df4cbe410a"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aad4d8138e044c5" /><Relationship Type="http://schemas.openxmlformats.org/officeDocument/2006/relationships/notesMaster" Target="/ppt/notesMasters/notesMaster1.xml" Id="Rc51c9e87cdb4499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5d939b7808bc4ebe" /><Relationship Type="http://schemas.openxmlformats.org/officeDocument/2006/relationships/notesMaster" Target="/ppt/notesMasters/notesMaster1.xml" Id="R9abddb9569dd489c"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c26b2c582bca4b46" /><Relationship Type="http://schemas.openxmlformats.org/officeDocument/2006/relationships/notesMaster" Target="/ppt/notesMasters/notesMaster1.xml" Id="Rcd3ce3c19a374a5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37cecafefc74ff8" /><Relationship Type="http://schemas.openxmlformats.org/officeDocument/2006/relationships/notesMaster" Target="/ppt/notesMasters/notesMaster1.xml" Id="R1d3d79102bd04b40"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dcc8177ebe6d46a6" /><Relationship Type="http://schemas.openxmlformats.org/officeDocument/2006/relationships/notesMaster" Target="/ppt/notesMasters/notesMaster1.xml" Id="Rf6af71749326453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613bc5074e14924" /><Relationship Type="http://schemas.openxmlformats.org/officeDocument/2006/relationships/notesMaster" Target="/ppt/notesMasters/notesMaster1.xml" Id="Redcb545a78834e1e"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423f6557d66b4bbd" /><Relationship Type="http://schemas.openxmlformats.org/officeDocument/2006/relationships/notesMaster" Target="/ppt/notesMasters/notesMaster1.xml" Id="R7ff90e5abc4d4d8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1347f0e30fbf4547" /><Relationship Type="http://schemas.openxmlformats.org/officeDocument/2006/relationships/notesMaster" Target="/ppt/notesMasters/notesMaster1.xml" Id="R4432025f7b21460c"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fd4517e8b4fd42fe" /><Relationship Type="http://schemas.openxmlformats.org/officeDocument/2006/relationships/notesMaster" Target="/ppt/notesMasters/notesMaster1.xml" Id="R583265fea4e54078"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8b6e5e5c4be4cb3" /><Relationship Type="http://schemas.openxmlformats.org/officeDocument/2006/relationships/notesMaster" Target="/ppt/notesMasters/notesMaster1.xml" Id="R691ffcacf6144ac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15fda9bec37a4cc4" /><Relationship Type="http://schemas.openxmlformats.org/officeDocument/2006/relationships/notesMaster" Target="/ppt/notesMasters/notesMaster1.xml" Id="Re87a8476c6164ad8"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1ad3dae0019144a1" /><Relationship Type="http://schemas.openxmlformats.org/officeDocument/2006/relationships/notesMaster" Target="/ppt/notesMasters/notesMaster1.xml" Id="Rd9a6f010d58c467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cacb3a01a8fd4a8a" /><Relationship Type="http://schemas.openxmlformats.org/officeDocument/2006/relationships/notesMaster" Target="/ppt/notesMasters/notesMaster1.xml" Id="R22e3ccec8e9546f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0bced575e1784f17" /><Relationship Type="http://schemas.openxmlformats.org/officeDocument/2006/relationships/notesMaster" Target="/ppt/notesMasters/notesMaster1.xml" Id="Re575cbefef04403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677954eadb5e4a90" /><Relationship Type="http://schemas.openxmlformats.org/officeDocument/2006/relationships/notesMaster" Target="/ppt/notesMasters/notesMaster1.xml" Id="R266e74a0bd9d4a35"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16f48ab35e2443d1" /><Relationship Type="http://schemas.openxmlformats.org/officeDocument/2006/relationships/notesMaster" Target="/ppt/notesMasters/notesMaster1.xml" Id="Rf515583904c64bac"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163996fd97474142" /><Relationship Type="http://schemas.openxmlformats.org/officeDocument/2006/relationships/notesMaster" Target="/ppt/notesMasters/notesMaster1.xml" Id="Rc23b50c634074ae4"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10cae03619b94a21" /><Relationship Type="http://schemas.openxmlformats.org/officeDocument/2006/relationships/notesMaster" Target="/ppt/notesMasters/notesMaster1.xml" Id="R391c283ac83a45d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f4ac674500248e2" /><Relationship Type="http://schemas.openxmlformats.org/officeDocument/2006/relationships/notesMaster" Target="/ppt/notesMasters/notesMaster1.xml" Id="Ra1b309c9bf6e4ed7"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f5fbe882da544df7" /><Relationship Type="http://schemas.openxmlformats.org/officeDocument/2006/relationships/notesMaster" Target="/ppt/notesMasters/notesMaster1.xml" Id="R56fae823a41f4a9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6ef3bfdfcfc94361" /><Relationship Type="http://schemas.openxmlformats.org/officeDocument/2006/relationships/notesMaster" Target="/ppt/notesMasters/notesMaster1.xml" Id="R126e5287389d4063"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683eaa4410c2451f" /><Relationship Type="http://schemas.openxmlformats.org/officeDocument/2006/relationships/notesMaster" Target="/ppt/notesMasters/notesMaster1.xml" Id="R1b79dcfd6f7f4ba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73062cc3b0854d42" /><Relationship Type="http://schemas.openxmlformats.org/officeDocument/2006/relationships/notesMaster" Target="/ppt/notesMasters/notesMaster1.xml" Id="R16d9a8e500444fb3"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529ddd768c14999" /><Relationship Type="http://schemas.openxmlformats.org/officeDocument/2006/relationships/notesMaster" Target="/ppt/notesMasters/notesMaster1.xml" Id="R916f5061845d41c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90c57c06a7a4a3f" /><Relationship Type="http://schemas.openxmlformats.org/officeDocument/2006/relationships/notesMaster" Target="/ppt/notesMasters/notesMaster1.xml" Id="Rba7d22333e9945c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cfc5c6451b154359" /><Relationship Type="http://schemas.openxmlformats.org/officeDocument/2006/relationships/notesMaster" Target="/ppt/notesMasters/notesMaster1.xml" Id="R8958f8a2610d49d0"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a543822c51014e7b" /><Relationship Type="http://schemas.openxmlformats.org/officeDocument/2006/relationships/notesMaster" Target="/ppt/notesMasters/notesMaster1.xml" Id="R9f68443f1bdd4c11"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294e4b00e6974b43" /><Relationship Type="http://schemas.openxmlformats.org/officeDocument/2006/relationships/notesMaster" Target="/ppt/notesMasters/notesMaster1.xml" Id="Reea02ca52deb4bc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3cf05f35270447b9" /><Relationship Type="http://schemas.openxmlformats.org/officeDocument/2006/relationships/notesMaster" Target="/ppt/notesMasters/notesMaster1.xml" Id="Rf776728cb93e461d"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751dae079ecf44db" /><Relationship Type="http://schemas.openxmlformats.org/officeDocument/2006/relationships/notesMaster" Target="/ppt/notesMasters/notesMaster1.xml" Id="R55f85f64c3bb426d"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017ab541ab2e4ec9" /><Relationship Type="http://schemas.openxmlformats.org/officeDocument/2006/relationships/notesMaster" Target="/ppt/notesMasters/notesMaster1.xml" Id="R0ab9dbcc2eeb4e24"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989234e40ffd4fda" /><Relationship Type="http://schemas.openxmlformats.org/officeDocument/2006/relationships/notesMaster" Target="/ppt/notesMasters/notesMaster1.xml" Id="Rfe80e883362a48fb"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de682080bbf4b71" /><Relationship Type="http://schemas.openxmlformats.org/officeDocument/2006/relationships/notesMaster" Target="/ppt/notesMasters/notesMaster1.xml" Id="R241303a4b5e14309"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9057d97b2a764684" /><Relationship Type="http://schemas.openxmlformats.org/officeDocument/2006/relationships/notesMaster" Target="/ppt/notesMasters/notesMaster1.xml" Id="R8d6a6c08cff64034"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0e9ff8c78ec14043" /><Relationship Type="http://schemas.openxmlformats.org/officeDocument/2006/relationships/notesMaster" Target="/ppt/notesMasters/notesMaster1.xml" Id="R0461ac7a3dda46a8"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fc7137132cf94dbd" /><Relationship Type="http://schemas.openxmlformats.org/officeDocument/2006/relationships/notesMaster" Target="/ppt/notesMasters/notesMaster1.xml" Id="R09de312665474451"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1315836e1e104bc6" /><Relationship Type="http://schemas.openxmlformats.org/officeDocument/2006/relationships/notesMaster" Target="/ppt/notesMasters/notesMaster1.xml" Id="R44eec45b264c4d50"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e6019ccdbb574fb4" /><Relationship Type="http://schemas.openxmlformats.org/officeDocument/2006/relationships/notesMaster" Target="/ppt/notesMasters/notesMaster1.xml" Id="R6e102ef610794b91"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25cfa44e822b4d4f" /><Relationship Type="http://schemas.openxmlformats.org/officeDocument/2006/relationships/notesMaster" Target="/ppt/notesMasters/notesMaster1.xml" Id="R75fe13101f9a4736"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8c315f6a409141af" /><Relationship Type="http://schemas.openxmlformats.org/officeDocument/2006/relationships/notesMaster" Target="/ppt/notesMasters/notesMaster1.xml" Id="Rc22351973b414d55"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36ba50f0cbc40cd" /><Relationship Type="http://schemas.openxmlformats.org/officeDocument/2006/relationships/notesMaster" Target="/ppt/notesMasters/notesMaster1.xml" Id="R9223f05bd1bd4ea9"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108acedd11704d89" /><Relationship Type="http://schemas.openxmlformats.org/officeDocument/2006/relationships/notesMaster" Target="/ppt/notesMasters/notesMaster1.xml" Id="Reb1a060ad175483a"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000f3ad811f34bcc" /><Relationship Type="http://schemas.openxmlformats.org/officeDocument/2006/relationships/notesMaster" Target="/ppt/notesMasters/notesMaster1.xml" Id="R66ce674c9f3a4bca"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6cbc93abc9854277" /><Relationship Type="http://schemas.openxmlformats.org/officeDocument/2006/relationships/notesMaster" Target="/ppt/notesMasters/notesMaster1.xml" Id="R07c8685d05f64c0f"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28f96aa61e1a448e" /><Relationship Type="http://schemas.openxmlformats.org/officeDocument/2006/relationships/notesMaster" Target="/ppt/notesMasters/notesMaster1.xml" Id="R4f12c908940547ff"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41d3bc5717e34dd7" /><Relationship Type="http://schemas.openxmlformats.org/officeDocument/2006/relationships/notesMaster" Target="/ppt/notesMasters/notesMaster1.xml" Id="R173f469a41114b50"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909267606af3445e" /><Relationship Type="http://schemas.openxmlformats.org/officeDocument/2006/relationships/notesMaster" Target="/ppt/notesMasters/notesMaster1.xml" Id="Rab03d83395a64fb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9c8642e70b614044" /><Relationship Type="http://schemas.openxmlformats.org/officeDocument/2006/relationships/notesMaster" Target="/ppt/notesMasters/notesMaster1.xml" Id="R43d5ce11a47c4888"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8ffd4414a9ed4896" /><Relationship Type="http://schemas.openxmlformats.org/officeDocument/2006/relationships/notesMaster" Target="/ppt/notesMasters/notesMaster1.xml" Id="Rd036d91c914946d5"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4e475ca37b514226" /><Relationship Type="http://schemas.openxmlformats.org/officeDocument/2006/relationships/notesMaster" Target="/ppt/notesMasters/notesMaster1.xml" Id="Ra1cfa53db8e64190"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954dedf0032e44a5" /><Relationship Type="http://schemas.openxmlformats.org/officeDocument/2006/relationships/notesMaster" Target="/ppt/notesMasters/notesMaster1.xml" Id="Rc2d3be3b331045ef"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1600d38dd1214a6d" /><Relationship Type="http://schemas.openxmlformats.org/officeDocument/2006/relationships/notesMaster" Target="/ppt/notesMasters/notesMaster1.xml" Id="R566eb454f6fb4c40"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a1f984b842454301" /><Relationship Type="http://schemas.openxmlformats.org/officeDocument/2006/relationships/notesMaster" Target="/ppt/notesMasters/notesMaster1.xml" Id="R908291f313e44baf"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7feb6175920b4ca7" /><Relationship Type="http://schemas.openxmlformats.org/officeDocument/2006/relationships/notesMaster" Target="/ppt/notesMasters/notesMaster1.xml" Id="R69be8ec912c143fc"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c80bb1bc0fc44f6d" /><Relationship Type="http://schemas.openxmlformats.org/officeDocument/2006/relationships/notesMaster" Target="/ppt/notesMasters/notesMaster1.xml" Id="R73491ef9ef0f4940"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ab278fc15c4f434c" /><Relationship Type="http://schemas.openxmlformats.org/officeDocument/2006/relationships/notesMaster" Target="/ppt/notesMasters/notesMaster1.xml" Id="R130da90a06b546ef"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0f8850cc2a854588" /><Relationship Type="http://schemas.openxmlformats.org/officeDocument/2006/relationships/notesMaster" Target="/ppt/notesMasters/notesMaster1.xml" Id="R51a4dd4a5c4f440e"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7853ddce1de94cca" /><Relationship Type="http://schemas.openxmlformats.org/officeDocument/2006/relationships/notesMaster" Target="/ppt/notesMasters/notesMaster1.xml" Id="R844211c22a8c4f69"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0bfc5a4ee9e24e43" /><Relationship Type="http://schemas.openxmlformats.org/officeDocument/2006/relationships/notesMaster" Target="/ppt/notesMasters/notesMaster1.xml" Id="Rcf40f7928e4d4cb8"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37761ce906da46e4" /><Relationship Type="http://schemas.openxmlformats.org/officeDocument/2006/relationships/notesMaster" Target="/ppt/notesMasters/notesMaster1.xml" Id="R2e56c3453109423a"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3ffb5a2f92c2477f" /><Relationship Type="http://schemas.openxmlformats.org/officeDocument/2006/relationships/notesMaster" Target="/ppt/notesMasters/notesMaster1.xml" Id="R0c8e9d527a9f4a07"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44d7c49383c84d55" /><Relationship Type="http://schemas.openxmlformats.org/officeDocument/2006/relationships/notesMaster" Target="/ppt/notesMasters/notesMaster1.xml" Id="Ra8df95eb134c459e"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33e9e0606d624e50" /><Relationship Type="http://schemas.openxmlformats.org/officeDocument/2006/relationships/notesMaster" Target="/ppt/notesMasters/notesMaster1.xml" Id="R0af6d9da590c4fbd"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c1d8c8b6840b4db6" /><Relationship Type="http://schemas.openxmlformats.org/officeDocument/2006/relationships/notesMaster" Target="/ppt/notesMasters/notesMaster1.xml" Id="R1ec24993f9a74398"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572cd250e1ce4cec" /><Relationship Type="http://schemas.openxmlformats.org/officeDocument/2006/relationships/notesMaster" Target="/ppt/notesMasters/notesMaster1.xml" Id="R4912b20c451a4e78"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0a9fb897c1f643a5" /><Relationship Type="http://schemas.openxmlformats.org/officeDocument/2006/relationships/notesMaster" Target="/ppt/notesMasters/notesMaster1.xml" Id="Racc521d24b94430f"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62bf8d9bd0cb4acf" /><Relationship Type="http://schemas.openxmlformats.org/officeDocument/2006/relationships/notesMaster" Target="/ppt/notesMasters/notesMaster1.xml" Id="R72290d0d9d634f14"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fc1aaeb06a194401" /><Relationship Type="http://schemas.openxmlformats.org/officeDocument/2006/relationships/notesMaster" Target="/ppt/notesMasters/notesMaster1.xml" Id="Rf0880348520c4879"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3699af257b804458" /><Relationship Type="http://schemas.openxmlformats.org/officeDocument/2006/relationships/notesMaster" Target="/ppt/notesMasters/notesMaster1.xml" Id="R21956c0c3886441a"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2fe0ca4d70af49c4" /><Relationship Type="http://schemas.openxmlformats.org/officeDocument/2006/relationships/notesMaster" Target="/ppt/notesMasters/notesMaster1.xml" Id="Rcc662997379743c1"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c9a0c895996f4189" /><Relationship Type="http://schemas.openxmlformats.org/officeDocument/2006/relationships/notesMaster" Target="/ppt/notesMasters/notesMaster1.xml" Id="R2dac270aaa964d99"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6b915110c3d64c9f" /><Relationship Type="http://schemas.openxmlformats.org/officeDocument/2006/relationships/notesMaster" Target="/ppt/notesMasters/notesMaster1.xml" Id="Re589ae1a22ff4926"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a7343ee3cec245b9" /><Relationship Type="http://schemas.openxmlformats.org/officeDocument/2006/relationships/notesMaster" Target="/ppt/notesMasters/notesMaster1.xml" Id="R1f5092417696417f"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c651bad6a1c44119" /><Relationship Type="http://schemas.openxmlformats.org/officeDocument/2006/relationships/notesMaster" Target="/ppt/notesMasters/notesMaster1.xml" Id="R27501362a327466f"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dc9a0e2ed9ce4fdd" /><Relationship Type="http://schemas.openxmlformats.org/officeDocument/2006/relationships/notesMaster" Target="/ppt/notesMasters/notesMaster1.xml" Id="R5552dec152a94d6a"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a078e5dc0d4246d4" /><Relationship Type="http://schemas.openxmlformats.org/officeDocument/2006/relationships/notesMaster" Target="/ppt/notesMasters/notesMaster1.xml" Id="R33b768b2a9e34d2c"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e5e95c512c354f1e" /><Relationship Type="http://schemas.openxmlformats.org/officeDocument/2006/relationships/notesMaster" Target="/ppt/notesMasters/notesMaster1.xml" Id="R7219651025714efc"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8707c8e51eb04f64" /><Relationship Type="http://schemas.openxmlformats.org/officeDocument/2006/relationships/notesMaster" Target="/ppt/notesMasters/notesMaster1.xml" Id="Rc1bd25117b984425"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4aa53dae5eb143ac" /><Relationship Type="http://schemas.openxmlformats.org/officeDocument/2006/relationships/notesMaster" Target="/ppt/notesMasters/notesMaster1.xml" Id="R245ecccd570d4260"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f0d83e03650145da" /><Relationship Type="http://schemas.openxmlformats.org/officeDocument/2006/relationships/notesMaster" Target="/ppt/notesMasters/notesMaster1.xml" Id="Raa3eb5a599214bcd"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3e3b0c7aac944bac" /><Relationship Type="http://schemas.openxmlformats.org/officeDocument/2006/relationships/notesMaster" Target="/ppt/notesMasters/notesMaster1.xml" Id="R76e7b9190c1249d4"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dea5816965f44cbb" /><Relationship Type="http://schemas.openxmlformats.org/officeDocument/2006/relationships/notesMaster" Target="/ppt/notesMasters/notesMaster1.xml" Id="R562256d3b9ac4d8b"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50a2ae574bb7494c" /><Relationship Type="http://schemas.openxmlformats.org/officeDocument/2006/relationships/notesMaster" Target="/ppt/notesMasters/notesMaster1.xml" Id="Rfa16613ab4c74f53"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cc77cb421b5e47f6" /><Relationship Type="http://schemas.openxmlformats.org/officeDocument/2006/relationships/notesMaster" Target="/ppt/notesMasters/notesMaster1.xml" Id="R9b4323b1cfd544e4"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a45954a3caa94a6e" /><Relationship Type="http://schemas.openxmlformats.org/officeDocument/2006/relationships/notesMaster" Target="/ppt/notesMasters/notesMaster1.xml" Id="Rd4642a7993114931"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7a35b3e621fa4b08" /><Relationship Type="http://schemas.openxmlformats.org/officeDocument/2006/relationships/notesMaster" Target="/ppt/notesMasters/notesMaster1.xml" Id="R4c11f52f076f49a4" /></Relationships>
</file>

<file path=ppt/notesSlides/_rels/notesSlide127.xml.rels>&#65279;<?xml version="1.0" encoding="utf-8"?><Relationships xmlns="http://schemas.openxmlformats.org/package/2006/relationships"><Relationship Type="http://schemas.openxmlformats.org/officeDocument/2006/relationships/slide" Target="/ppt/slides/slide127.xml" Id="R1ec0984b152c4255" /><Relationship Type="http://schemas.openxmlformats.org/officeDocument/2006/relationships/notesMaster" Target="/ppt/notesMasters/notesMaster1.xml" Id="R4aa5444b210b4b1e" /></Relationships>
</file>

<file path=ppt/notesSlides/_rels/notesSlide128.xml.rels>&#65279;<?xml version="1.0" encoding="utf-8"?><Relationships xmlns="http://schemas.openxmlformats.org/package/2006/relationships"><Relationship Type="http://schemas.openxmlformats.org/officeDocument/2006/relationships/slide" Target="/ppt/slides/slide128.xml" Id="R963f73ca59ad4a97" /><Relationship Type="http://schemas.openxmlformats.org/officeDocument/2006/relationships/notesMaster" Target="/ppt/notesMasters/notesMaster1.xml" Id="R83cec7b5b5d04e43" /></Relationships>
</file>

<file path=ppt/notesSlides/_rels/notesSlide129.xml.rels>&#65279;<?xml version="1.0" encoding="utf-8"?><Relationships xmlns="http://schemas.openxmlformats.org/package/2006/relationships"><Relationship Type="http://schemas.openxmlformats.org/officeDocument/2006/relationships/slide" Target="/ppt/slides/slide129.xml" Id="Rf22cab3b934d48b6" /><Relationship Type="http://schemas.openxmlformats.org/officeDocument/2006/relationships/notesMaster" Target="/ppt/notesMasters/notesMaster1.xml" Id="Re37dbcdad2f74053" /></Relationships>
</file>

<file path=ppt/notesSlides/_rels/notesSlide130.xml.rels>&#65279;<?xml version="1.0" encoding="utf-8"?><Relationships xmlns="http://schemas.openxmlformats.org/package/2006/relationships"><Relationship Type="http://schemas.openxmlformats.org/officeDocument/2006/relationships/slide" Target="/ppt/slides/slide130.xml" Id="R4be9efc8c5b44e5c" /><Relationship Type="http://schemas.openxmlformats.org/officeDocument/2006/relationships/notesMaster" Target="/ppt/notesMasters/notesMaster1.xml" Id="Rfba1fc2e13464381" /></Relationships>
</file>

<file path=ppt/notesSlides/_rels/notesSlide131.xml.rels>&#65279;<?xml version="1.0" encoding="utf-8"?><Relationships xmlns="http://schemas.openxmlformats.org/package/2006/relationships"><Relationship Type="http://schemas.openxmlformats.org/officeDocument/2006/relationships/slide" Target="/ppt/slides/slide131.xml" Id="R8bd11799a5ba4ffc" /><Relationship Type="http://schemas.openxmlformats.org/officeDocument/2006/relationships/notesMaster" Target="/ppt/notesMasters/notesMaster1.xml" Id="R3ddd0315d7e844b3" /></Relationships>
</file>

<file path=ppt/notesSlides/_rels/notesSlide132.xml.rels>&#65279;<?xml version="1.0" encoding="utf-8"?><Relationships xmlns="http://schemas.openxmlformats.org/package/2006/relationships"><Relationship Type="http://schemas.openxmlformats.org/officeDocument/2006/relationships/slide" Target="/ppt/slides/slide132.xml" Id="Rd4580fec5c494ecf" /><Relationship Type="http://schemas.openxmlformats.org/officeDocument/2006/relationships/notesMaster" Target="/ppt/notesMasters/notesMaster1.xml" Id="Rf06d2e8927c34ed0" /></Relationships>
</file>

<file path=ppt/notesSlides/_rels/notesSlide133.xml.rels>&#65279;<?xml version="1.0" encoding="utf-8"?><Relationships xmlns="http://schemas.openxmlformats.org/package/2006/relationships"><Relationship Type="http://schemas.openxmlformats.org/officeDocument/2006/relationships/slide" Target="/ppt/slides/slide133.xml" Id="R7b6d27566c214f69" /><Relationship Type="http://schemas.openxmlformats.org/officeDocument/2006/relationships/notesMaster" Target="/ppt/notesMasters/notesMaster1.xml" Id="R6fe12a08968e422e" /></Relationships>
</file>

<file path=ppt/notesSlides/_rels/notesSlide134.xml.rels>&#65279;<?xml version="1.0" encoding="utf-8"?><Relationships xmlns="http://schemas.openxmlformats.org/package/2006/relationships"><Relationship Type="http://schemas.openxmlformats.org/officeDocument/2006/relationships/slide" Target="/ppt/slides/slide134.xml" Id="Reeb988808a7744b2" /><Relationship Type="http://schemas.openxmlformats.org/officeDocument/2006/relationships/notesMaster" Target="/ppt/notesMasters/notesMaster1.xml" Id="R54894092fc894db9" /></Relationships>
</file>

<file path=ppt/notesSlides/_rels/notesSlide135.xml.rels>&#65279;<?xml version="1.0" encoding="utf-8"?><Relationships xmlns="http://schemas.openxmlformats.org/package/2006/relationships"><Relationship Type="http://schemas.openxmlformats.org/officeDocument/2006/relationships/slide" Target="/ppt/slides/slide135.xml" Id="R51d4ef43d7494f11" /><Relationship Type="http://schemas.openxmlformats.org/officeDocument/2006/relationships/notesMaster" Target="/ppt/notesMasters/notesMaster1.xml" Id="R47073de062034e99" /></Relationships>
</file>

<file path=ppt/notesSlides/_rels/notesSlide136.xml.rels>&#65279;<?xml version="1.0" encoding="utf-8"?><Relationships xmlns="http://schemas.openxmlformats.org/package/2006/relationships"><Relationship Type="http://schemas.openxmlformats.org/officeDocument/2006/relationships/slide" Target="/ppt/slides/slide136.xml" Id="Rf0a5ef9914af4082" /><Relationship Type="http://schemas.openxmlformats.org/officeDocument/2006/relationships/notesMaster" Target="/ppt/notesMasters/notesMaster1.xml" Id="R15068ec5582c40bd" /></Relationships>
</file>

<file path=ppt/notesSlides/_rels/notesSlide137.xml.rels>&#65279;<?xml version="1.0" encoding="utf-8"?><Relationships xmlns="http://schemas.openxmlformats.org/package/2006/relationships"><Relationship Type="http://schemas.openxmlformats.org/officeDocument/2006/relationships/slide" Target="/ppt/slides/slide137.xml" Id="R4ecca92c22444ae1" /><Relationship Type="http://schemas.openxmlformats.org/officeDocument/2006/relationships/notesMaster" Target="/ppt/notesMasters/notesMaster1.xml" Id="R69e18f3ffb1d4713" /></Relationships>
</file>

<file path=ppt/notesSlides/_rels/notesSlide138.xml.rels>&#65279;<?xml version="1.0" encoding="utf-8"?><Relationships xmlns="http://schemas.openxmlformats.org/package/2006/relationships"><Relationship Type="http://schemas.openxmlformats.org/officeDocument/2006/relationships/slide" Target="/ppt/slides/slide138.xml" Id="R763c4b144b5342dc" /><Relationship Type="http://schemas.openxmlformats.org/officeDocument/2006/relationships/notesMaster" Target="/ppt/notesMasters/notesMaster1.xml" Id="R41abc3ed8a3b42d5" /></Relationships>
</file>

<file path=ppt/notesSlides/_rels/notesSlide139.xml.rels>&#65279;<?xml version="1.0" encoding="utf-8"?><Relationships xmlns="http://schemas.openxmlformats.org/package/2006/relationships"><Relationship Type="http://schemas.openxmlformats.org/officeDocument/2006/relationships/slide" Target="/ppt/slides/slide139.xml" Id="R4af222acf56c434c" /><Relationship Type="http://schemas.openxmlformats.org/officeDocument/2006/relationships/notesMaster" Target="/ppt/notesMasters/notesMaster1.xml" Id="R4344c179e7fa46b1" /></Relationships>
</file>

<file path=ppt/notesSlides/_rels/notesSlide140.xml.rels>&#65279;<?xml version="1.0" encoding="utf-8"?><Relationships xmlns="http://schemas.openxmlformats.org/package/2006/relationships"><Relationship Type="http://schemas.openxmlformats.org/officeDocument/2006/relationships/slide" Target="/ppt/slides/slide140.xml" Id="R7f016084790344b3" /><Relationship Type="http://schemas.openxmlformats.org/officeDocument/2006/relationships/notesMaster" Target="/ppt/notesMasters/notesMaster1.xml" Id="R13615502f57d4882" /></Relationships>
</file>

<file path=ppt/notesSlides/_rels/notesSlide141.xml.rels>&#65279;<?xml version="1.0" encoding="utf-8"?><Relationships xmlns="http://schemas.openxmlformats.org/package/2006/relationships"><Relationship Type="http://schemas.openxmlformats.org/officeDocument/2006/relationships/slide" Target="/ppt/slides/slide141.xml" Id="Rfdac76a91cee465d" /><Relationship Type="http://schemas.openxmlformats.org/officeDocument/2006/relationships/notesMaster" Target="/ppt/notesMasters/notesMaster1.xml" Id="R21692f85b87b499d" /></Relationships>
</file>

<file path=ppt/notesSlides/_rels/notesSlide142.xml.rels>&#65279;<?xml version="1.0" encoding="utf-8"?><Relationships xmlns="http://schemas.openxmlformats.org/package/2006/relationships"><Relationship Type="http://schemas.openxmlformats.org/officeDocument/2006/relationships/slide" Target="/ppt/slides/slide142.xml" Id="Rc2c52388b94f4822" /><Relationship Type="http://schemas.openxmlformats.org/officeDocument/2006/relationships/notesMaster" Target="/ppt/notesMasters/notesMaster1.xml" Id="Rb3ef935b6f22425d" /></Relationships>
</file>

<file path=ppt/notesSlides/_rels/notesSlide143.xml.rels>&#65279;<?xml version="1.0" encoding="utf-8"?><Relationships xmlns="http://schemas.openxmlformats.org/package/2006/relationships"><Relationship Type="http://schemas.openxmlformats.org/officeDocument/2006/relationships/slide" Target="/ppt/slides/slide143.xml" Id="Rcd8349ab4ba64fb0" /><Relationship Type="http://schemas.openxmlformats.org/officeDocument/2006/relationships/notesMaster" Target="/ppt/notesMasters/notesMaster1.xml" Id="R77886b11ac1649b9" /></Relationships>
</file>

<file path=ppt/notesSlides/_rels/notesSlide144.xml.rels>&#65279;<?xml version="1.0" encoding="utf-8"?><Relationships xmlns="http://schemas.openxmlformats.org/package/2006/relationships"><Relationship Type="http://schemas.openxmlformats.org/officeDocument/2006/relationships/slide" Target="/ppt/slides/slide144.xml" Id="R7afa6dda683144fa" /><Relationship Type="http://schemas.openxmlformats.org/officeDocument/2006/relationships/notesMaster" Target="/ppt/notesMasters/notesMaster1.xml" Id="Ra7ec0a1dae644bb4" /></Relationships>
</file>

<file path=ppt/notesSlides/_rels/notesSlide145.xml.rels>&#65279;<?xml version="1.0" encoding="utf-8"?><Relationships xmlns="http://schemas.openxmlformats.org/package/2006/relationships"><Relationship Type="http://schemas.openxmlformats.org/officeDocument/2006/relationships/slide" Target="/ppt/slides/slide145.xml" Id="Rf16e4cf3cf3b4529" /><Relationship Type="http://schemas.openxmlformats.org/officeDocument/2006/relationships/notesMaster" Target="/ppt/notesMasters/notesMaster1.xml" Id="R241b87b3e1c04f44" /></Relationships>
</file>

<file path=ppt/notesSlides/_rels/notesSlide146.xml.rels>&#65279;<?xml version="1.0" encoding="utf-8"?><Relationships xmlns="http://schemas.openxmlformats.org/package/2006/relationships"><Relationship Type="http://schemas.openxmlformats.org/officeDocument/2006/relationships/slide" Target="/ppt/slides/slide146.xml" Id="R13d9f09271c74a89" /><Relationship Type="http://schemas.openxmlformats.org/officeDocument/2006/relationships/notesMaster" Target="/ppt/notesMasters/notesMaster1.xml" Id="R8a90126d60884537" /></Relationships>
</file>

<file path=ppt/notesSlides/_rels/notesSlide147.xml.rels>&#65279;<?xml version="1.0" encoding="utf-8"?><Relationships xmlns="http://schemas.openxmlformats.org/package/2006/relationships"><Relationship Type="http://schemas.openxmlformats.org/officeDocument/2006/relationships/slide" Target="/ppt/slides/slide147.xml" Id="R0ecfe973261b49c1" /><Relationship Type="http://schemas.openxmlformats.org/officeDocument/2006/relationships/notesMaster" Target="/ppt/notesMasters/notesMaster1.xml" Id="R60bb52e5272747e4" /></Relationships>
</file>

<file path=ppt/notesSlides/_rels/notesSlide148.xml.rels>&#65279;<?xml version="1.0" encoding="utf-8"?><Relationships xmlns="http://schemas.openxmlformats.org/package/2006/relationships"><Relationship Type="http://schemas.openxmlformats.org/officeDocument/2006/relationships/slide" Target="/ppt/slides/slide148.xml" Id="R52bc26688190418d" /><Relationship Type="http://schemas.openxmlformats.org/officeDocument/2006/relationships/notesMaster" Target="/ppt/notesMasters/notesMaster1.xml" Id="Ra2a301d28b034e56" /></Relationships>
</file>

<file path=ppt/notesSlides/_rels/notesSlide149.xml.rels>&#65279;<?xml version="1.0" encoding="utf-8"?><Relationships xmlns="http://schemas.openxmlformats.org/package/2006/relationships"><Relationship Type="http://schemas.openxmlformats.org/officeDocument/2006/relationships/slide" Target="/ppt/slides/slide149.xml" Id="Re18a0437b0a4448d" /><Relationship Type="http://schemas.openxmlformats.org/officeDocument/2006/relationships/notesMaster" Target="/ppt/notesMasters/notesMaster1.xml" Id="R4459a0466fed4656" /></Relationships>
</file>

<file path=ppt/notesSlides/_rels/notesSlide150.xml.rels>&#65279;<?xml version="1.0" encoding="utf-8"?><Relationships xmlns="http://schemas.openxmlformats.org/package/2006/relationships"><Relationship Type="http://schemas.openxmlformats.org/officeDocument/2006/relationships/slide" Target="/ppt/slides/slide150.xml" Id="R957f6d85ab9d49c0" /><Relationship Type="http://schemas.openxmlformats.org/officeDocument/2006/relationships/notesMaster" Target="/ppt/notesMasters/notesMaster1.xml" Id="R54190ee60840490c" /></Relationships>
</file>

<file path=ppt/notesSlides/_rels/notesSlide151.xml.rels>&#65279;<?xml version="1.0" encoding="utf-8"?><Relationships xmlns="http://schemas.openxmlformats.org/package/2006/relationships"><Relationship Type="http://schemas.openxmlformats.org/officeDocument/2006/relationships/slide" Target="/ppt/slides/slide151.xml" Id="R49fa327b6c6d45d8" /><Relationship Type="http://schemas.openxmlformats.org/officeDocument/2006/relationships/notesMaster" Target="/ppt/notesMasters/notesMaster1.xml" Id="Rafc1d74f78114a76" /></Relationships>
</file>

<file path=ppt/notesSlides/_rels/notesSlide152.xml.rels>&#65279;<?xml version="1.0" encoding="utf-8"?><Relationships xmlns="http://schemas.openxmlformats.org/package/2006/relationships"><Relationship Type="http://schemas.openxmlformats.org/officeDocument/2006/relationships/slide" Target="/ppt/slides/slide152.xml" Id="R4f81c72eab224861" /><Relationship Type="http://schemas.openxmlformats.org/officeDocument/2006/relationships/notesMaster" Target="/ppt/notesMasters/notesMaster1.xml" Id="R9621bb815b7f41db" /></Relationships>
</file>

<file path=ppt/notesSlides/_rels/notesSlide153.xml.rels>&#65279;<?xml version="1.0" encoding="utf-8"?><Relationships xmlns="http://schemas.openxmlformats.org/package/2006/relationships"><Relationship Type="http://schemas.openxmlformats.org/officeDocument/2006/relationships/slide" Target="/ppt/slides/slide153.xml" Id="Rf7457986b5b24f1b" /><Relationship Type="http://schemas.openxmlformats.org/officeDocument/2006/relationships/notesMaster" Target="/ppt/notesMasters/notesMaster1.xml" Id="R8e15785a328a4005" /></Relationships>
</file>

<file path=ppt/notesSlides/_rels/notesSlide154.xml.rels>&#65279;<?xml version="1.0" encoding="utf-8"?><Relationships xmlns="http://schemas.openxmlformats.org/package/2006/relationships"><Relationship Type="http://schemas.openxmlformats.org/officeDocument/2006/relationships/slide" Target="/ppt/slides/slide154.xml" Id="Rd1dbdd6e957642a1" /><Relationship Type="http://schemas.openxmlformats.org/officeDocument/2006/relationships/notesMaster" Target="/ppt/notesMasters/notesMaster1.xml" Id="R9ffb2bd1107648e3" /></Relationships>
</file>

<file path=ppt/notesSlides/_rels/notesSlide155.xml.rels>&#65279;<?xml version="1.0" encoding="utf-8"?><Relationships xmlns="http://schemas.openxmlformats.org/package/2006/relationships"><Relationship Type="http://schemas.openxmlformats.org/officeDocument/2006/relationships/slide" Target="/ppt/slides/slide155.xml" Id="R0448ca6d071042c9" /><Relationship Type="http://schemas.openxmlformats.org/officeDocument/2006/relationships/notesMaster" Target="/ppt/notesMasters/notesMaster1.xml" Id="R5846a78df86c4aa1" /></Relationships>
</file>

<file path=ppt/notesSlides/_rels/notesSlide156.xml.rels>&#65279;<?xml version="1.0" encoding="utf-8"?><Relationships xmlns="http://schemas.openxmlformats.org/package/2006/relationships"><Relationship Type="http://schemas.openxmlformats.org/officeDocument/2006/relationships/slide" Target="/ppt/slides/slide156.xml" Id="R9dcea50a18554d3d" /><Relationship Type="http://schemas.openxmlformats.org/officeDocument/2006/relationships/notesMaster" Target="/ppt/notesMasters/notesMaster1.xml" Id="R6e9859cc845e43f4" /></Relationships>
</file>

<file path=ppt/notesSlides/_rels/notesSlide157.xml.rels>&#65279;<?xml version="1.0" encoding="utf-8"?><Relationships xmlns="http://schemas.openxmlformats.org/package/2006/relationships"><Relationship Type="http://schemas.openxmlformats.org/officeDocument/2006/relationships/slide" Target="/ppt/slides/slide157.xml" Id="R11c79319dd094ed2" /><Relationship Type="http://schemas.openxmlformats.org/officeDocument/2006/relationships/notesMaster" Target="/ppt/notesMasters/notesMaster1.xml" Id="R7a0f6e6f2fab424a" /></Relationships>
</file>

<file path=ppt/notesSlides/_rels/notesSlide158.xml.rels>&#65279;<?xml version="1.0" encoding="utf-8"?><Relationships xmlns="http://schemas.openxmlformats.org/package/2006/relationships"><Relationship Type="http://schemas.openxmlformats.org/officeDocument/2006/relationships/slide" Target="/ppt/slides/slide158.xml" Id="R2ac0b34d495f40e7" /><Relationship Type="http://schemas.openxmlformats.org/officeDocument/2006/relationships/notesMaster" Target="/ppt/notesMasters/notesMaster1.xml" Id="R3a8ba084df3b48dd" /></Relationships>
</file>

<file path=ppt/notesSlides/_rels/notesSlide159.xml.rels>&#65279;<?xml version="1.0" encoding="utf-8"?><Relationships xmlns="http://schemas.openxmlformats.org/package/2006/relationships"><Relationship Type="http://schemas.openxmlformats.org/officeDocument/2006/relationships/slide" Target="/ppt/slides/slide159.xml" Id="R2bc88c76e4774dd6" /><Relationship Type="http://schemas.openxmlformats.org/officeDocument/2006/relationships/notesMaster" Target="/ppt/notesMasters/notesMaster1.xml" Id="Rb0f8e1d17e614190" /></Relationships>
</file>

<file path=ppt/notesSlides/_rels/notesSlide160.xml.rels>&#65279;<?xml version="1.0" encoding="utf-8"?><Relationships xmlns="http://schemas.openxmlformats.org/package/2006/relationships"><Relationship Type="http://schemas.openxmlformats.org/officeDocument/2006/relationships/slide" Target="/ppt/slides/slide160.xml" Id="R05b3a58311184a67" /><Relationship Type="http://schemas.openxmlformats.org/officeDocument/2006/relationships/notesMaster" Target="/ppt/notesMasters/notesMaster1.xml" Id="R22813b4870204dcf" /></Relationships>
</file>

<file path=ppt/notesSlides/_rels/notesSlide161.xml.rels>&#65279;<?xml version="1.0" encoding="utf-8"?><Relationships xmlns="http://schemas.openxmlformats.org/package/2006/relationships"><Relationship Type="http://schemas.openxmlformats.org/officeDocument/2006/relationships/slide" Target="/ppt/slides/slide161.xml" Id="R176659e7616542f9" /><Relationship Type="http://schemas.openxmlformats.org/officeDocument/2006/relationships/notesMaster" Target="/ppt/notesMasters/notesMaster1.xml" Id="Rb5fcc26226d44921" /></Relationships>
</file>

<file path=ppt/notesSlides/_rels/notesSlide162.xml.rels>&#65279;<?xml version="1.0" encoding="utf-8"?><Relationships xmlns="http://schemas.openxmlformats.org/package/2006/relationships"><Relationship Type="http://schemas.openxmlformats.org/officeDocument/2006/relationships/slide" Target="/ppt/slides/slide162.xml" Id="R40d0d3929acb44b1" /><Relationship Type="http://schemas.openxmlformats.org/officeDocument/2006/relationships/notesMaster" Target="/ppt/notesMasters/notesMaster1.xml" Id="R4b0319647da34f8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research question and presentation scope.</a:t>
            </a:r>
          </a:p>
          <a:p xmlns:a="http://schemas.openxmlformats.org/drawingml/2006/main">
            <a:endParaRPr/>
          </a:p>
          <a:p xmlns:a="http://schemas.openxmlformats.org/drawingml/2006/main">
            <a:r>
              <a:t>Walk through: This study asks how sex, APOE genotype, and brain cell type shape mitochondrial gene-expression changes in Alzheimer’s disease. ROSMAP provides the primary analysis, and SEA-AD provides supplemental human support. The presentation moves from DEG and pathway framing to KDA, sensitivity analyses, and 17 biological findings.</a:t>
            </a:r>
          </a:p>
          <a:p xmlns:a="http://schemas.openxmlformats.org/drawingml/2006/main">
            <a:endParaRPr/>
          </a:p>
          <a:p xmlns:a="http://schemas.openxmlformats.org/drawingml/2006/main">
            <a:r>
              <a:t>Scientific boundary: The evidence is transcriptomic and exploratory. Separate results within sex/APOE strata do not by themselves establish a disease-by-sex or disease-by-APOE interaction, and RNA abundance does not measure mitochondrial function directly.</a:t>
            </a:r>
          </a:p>
          <a:p xmlns:a="http://schemas.openxmlformats.org/drawingml/2006/main">
            <a:endParaRPr/>
          </a:p>
          <a:p xmlns:a="http://schemas.openxmlformats.org/drawingml/2006/main">
            <a:r>
              <a:t>Transition: Begin with the DEG analysis and define the comparison unit.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differential-expression layer.</a:t>
            </a:r>
          </a:p>
          <a:p xmlns:a="http://schemas.openxmlformats.org/drawingml/2006/main">
            <a:endParaRPr/>
          </a:p>
          <a:p xmlns:a="http://schemas.openxmlformats.org/drawingml/2006/main">
            <a:r>
              <a:t>Walk through: DEG analysis compares disease with the cohort-specific comparison group inside each fine cell type and sex/APOE stratum. These contrast-level results provide the mitochondrial gene lists used for pathway analysis and for the KDA queries.</a:t>
            </a:r>
          </a:p>
          <a:p xmlns:a="http://schemas.openxmlformats.org/drawingml/2006/main">
            <a:endParaRPr/>
          </a:p>
          <a:p xmlns:a="http://schemas.openxmlformats.org/drawingml/2006/main">
            <a:r>
              <a:t>Scientific boundary: A DEG is an RNA-abundance difference, not proof of causal regulation, protein change, or altered mitochondrial function. ROSMAP uses AD versus NCI, whereas SEA-AD uses dementia versus no dementia.</a:t>
            </a:r>
          </a:p>
          <a:p xmlns:a="http://schemas.openxmlformats.org/drawingml/2006/main">
            <a:endParaRPr/>
          </a:p>
          <a:p xmlns:a="http://schemas.openxmlformats.org/drawingml/2006/main">
            <a:r>
              <a:t>Transition: Start by defining a contrast, the unit used for each AD-versus-comparison DEG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Distinguish the contrast unit from the KDA call it may generate.</a:t>
            </a:r>
          </a:p>
          <a:p xmlns:a="http://schemas.openxmlformats.org/drawingml/2006/main">
            <a:endParaRPr/>
          </a:p>
          <a:p xmlns:a="http://schemas.openxmlformats.org/drawingml/2006/main">
            <a:r>
              <a:t>Walk through: A contrast is one AD-versus-NCI comparison within one fine cell type and one sex/APOE group. Therefore, N fine cell types create six N planned contrasts; in ROSMAP, 54 fine types create 324. Source-invalid contrasts are removed, and a valid contrast proceeds to call_key_drivers only when its mapped mitochondrial query contains at least three genes. One completed call can return a list of significant key-driver genes, with each gene appearing at most once in that call.</a:t>
            </a:r>
          </a:p>
          <a:p xmlns:a="http://schemas.openxmlformats.org/drawingml/2006/main">
            <a:endParaRPr/>
          </a:p>
          <a:p xmlns:a="http://schemas.openxmlformats.org/drawingml/2006/main">
            <a:r>
              <a:t>Scientific boundary: A planned contrast is a comparison opportunity, not a completed KDA test or an independent biological replication. A skipped contrast is unavailable rather than a completed null result.</a:t>
            </a:r>
          </a:p>
          <a:p xmlns:a="http://schemas.openxmlformats.org/drawingml/2006/main">
            <a:endParaRPr/>
          </a:p>
          <a:p xmlns:a="http://schemas.openxmlformats.org/drawingml/2006/main">
            <a:r>
              <a:t>Transition: With the contrast defined, summarize all significant DEG results across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complete fine-cell DEG results before pathway analysis.</a:t>
            </a:r>
          </a:p>
          <a:p xmlns:a="http://schemas.openxmlformats.org/drawingml/2006/main">
            <a:endParaRPr/>
          </a:p>
          <a:p xmlns:a="http://schemas.openxmlformats.org/drawingml/2006/main">
            <a:r>
              <a:t>Walk through: ROSMAP contained 324 planned AD-versus-NCI contrasts: 54 fine cell types crossed with six sex/APOE groups. Three male epsilon-2 contrasts did not have enough cells for the planned DEG model, leaving 321 analyzed contrasts; 277 of those had at least one DEG. Across all genes, there were 118,297 significant gene-by-fine-cell comparison occurrences representing 14,840 distinct genes. The bars divide these occurrences into higher expression in AD and lower expression in AD. Female epsilon-2 had 10,952 occurrences, 65 percent higher in AD. Female epsilon-3 homozygous had 11,236, 47 percent higher. Female epsilon-4 had 20,942, with 76 percent lower in AD. Male epsilon-2 had the largest count, 45,781, with 56 percent higher. Male epsilon-3 homozygous had 13,120, and male epsilon-4 had 16,266; both were close to evenly split.</a:t>
            </a:r>
          </a:p>
          <a:p xmlns:a="http://schemas.openxmlformats.org/drawingml/2006/main">
            <a:endParaRPr/>
          </a:p>
          <a:p xmlns:a="http://schemas.openxmlformats.org/drawingml/2006/main">
            <a:r>
              <a:t>Scientific boundary: A DEG met the prespecified within-contrast criteria: BH FDR below 0.05, absolute fold change above 1.3, and detection in at least 10 percent of cells in either group. Counts repeat a gene when it is significant in another fine-cell comparison. They are descriptive and can reflect sample size, power, and the number of genes tested; they are not donor counts, independent replications, or a formal disease-by-sex/APOE interaction test.</a:t>
            </a:r>
          </a:p>
          <a:p xmlns:a="http://schemas.openxmlformats.org/drawingml/2006/main">
            <a:endParaRPr/>
          </a:p>
          <a:p xmlns:a="http://schemas.openxmlformats.org/drawingml/2006/main">
            <a:r>
              <a:t>Transition: Move from the all-gene DEG counts to pathway analysis.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Position pathway analysis between DEG testing and network analysis.</a:t>
            </a:r>
          </a:p>
          <a:p xmlns:a="http://schemas.openxmlformats.org/drawingml/2006/main">
            <a:endParaRPr/>
          </a:p>
          <a:p xmlns:a="http://schemas.openxmlformats.org/drawingml/2006/main">
            <a:r>
              <a:t>Walk through: Pathway analysis asks whether mitochondrial DEG results are concentrated in predefined pathways, including mitochondrial and nuclear OXPHOS, mitochondrial translation, and MICOS or inner-membrane organization. It therefore describes pathway-level signal before network-based driver nomination.</a:t>
            </a:r>
          </a:p>
          <a:p xmlns:a="http://schemas.openxmlformats.org/drawingml/2006/main">
            <a:endParaRPr/>
          </a:p>
          <a:p xmlns:a="http://schemas.openxmlformats.org/drawingml/2006/main">
            <a:r>
              <a:t>Scientific boundary: Pathway enrichment describes the composition or ranking of gene-level results. It does not identify an upstream driver or prove that a pathway is more or less functional.</a:t>
            </a:r>
          </a:p>
          <a:p xmlns:a="http://schemas.openxmlformats.org/drawingml/2006/main">
            <a:endParaRPr/>
          </a:p>
          <a:p xmlns:a="http://schemas.openxmlformats.org/drawingml/2006/main">
            <a:r>
              <a:t>Transition: Introduce the three-level MitoCarta hierarchy used to define the pathway sets.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three MitoCarta pathway levels used in the analysis.</a:t>
            </a:r>
          </a:p>
          <a:p xmlns:a="http://schemas.openxmlformats.org/drawingml/2006/main">
            <a:endParaRPr/>
          </a:p>
          <a:p xmlns:a="http://schemas.openxmlformats.org/drawingml/2006/main">
            <a:r>
              <a:t>Walk through: MitoCarta organizes mitochondrial genes into a nested hierarchy. Level 1 contains seven broad mitochondrial systems. Level 2 contains 39 pathways within those systems. Level 3 adds 103 more detailed subpathways. For example, oxidative phosphorylation is a Level 1 system, Complex I is a Level 2 pathway within it, and Complex I subunits form a Level 3 pathway. Levels 1 and 2 therefore contain 46 pathways, while the complete hierarchy contains 149.</a:t>
            </a:r>
          </a:p>
          <a:p xmlns:a="http://schemas.openxmlformats.org/drawingml/2006/main">
            <a:endParaRPr/>
          </a:p>
          <a:p xmlns:a="http://schemas.openxmlformats.org/drawingml/2006/main">
            <a:r>
              <a:t>Scientific boundary: The levels describe biological specificity, not statistical strength. Because the hierarchy is nested, broad and detailed pathways can share genes and can produce related enrichment results. Counts come from the Phase 11 MitoCarta pathway manifest in results/minerva_production/11_pathway_deg_fine.</a:t>
            </a:r>
          </a:p>
          <a:p xmlns:a="http://schemas.openxmlformats.org/drawingml/2006/main">
            <a:endParaRPr/>
          </a:p>
          <a:p xmlns:a="http://schemas.openxmlformats.org/drawingml/2006/main">
            <a:r>
              <a:t>Transition: Next, explain how each fine-cell DEG list was tested against these pathway definitions.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two-stage pathway analysis and define a significant result.</a:t>
            </a:r>
          </a:p>
          <a:p xmlns:a="http://schemas.openxmlformats.org/drawingml/2006/main">
            <a:endParaRPr/>
          </a:p>
          <a:p xmlns:a="http://schemas.openxmlformats.org/drawingml/2006/main">
            <a:r>
              <a:t>Walk through: Each estimable fine-cell sex/APOE contrast was analyzed separately. For each contrast, the analysis created three mitochondrial DEG lists: all significant DEGs, genes up-regulated in AD, and genes down-regulated in AD. It then tested each pathway to ask whether the DEG list contained more pathway genes than expected among genes detectable in the same contrast. A significant result means that the greater-than-expected overlap remained significant after Benjamini-Hochberg correction across the pathways in the same collection for that DEG list, with a false-discovery rate below 5 percent. Twelve of the 46 Level 1 and Level 2 pathways and 18 of the 149 complete pathways had at least one significant result. Most significant results involved overlapping OXPHOS pathways. Non-OXPHOS signals were fewer and more localized.</a:t>
            </a:r>
          </a:p>
          <a:p xmlns:a="http://schemas.openxmlformats.org/drawingml/2006/main">
            <a:endParaRPr/>
          </a:p>
          <a:p xmlns:a="http://schemas.openxmlformats.org/drawingml/2006/main">
            <a:r>
              <a:t>Scientific boundary: The complete 149-pathway collection contains the 46 Level 1 and Level 2 pathways, so the two reported scopes overlap. At least one significant result means enrichment in at least one fine-cell, sex/APOE, and DEG direction list. It does not mean significance in every group or prove altered pathway activity.</a:t>
            </a:r>
          </a:p>
          <a:p xmlns:a="http://schemas.openxmlformats.org/drawingml/2006/main">
            <a:endParaRPr/>
          </a:p>
          <a:p xmlns:a="http://schemas.openxmlformats.org/drawingml/2006/main">
            <a:r>
              <a:t>Transition: Focus next on four mitochondrial pathways used repeatedly in the later findings.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four mitochondrial pathways highlighted in the focused results.</a:t>
            </a:r>
          </a:p>
          <a:p xmlns:a="http://schemas.openxmlformats.org/drawingml/2006/main">
            <a:endParaRPr/>
          </a:p>
          <a:p xmlns:a="http://schemas.openxmlformats.org/drawingml/2006/main">
            <a:r>
              <a:t>Walk through: The focused analysis highlights four fixed pathway definitions, using the same gene membership in every contrast. The first contains the 13 OXPHOS subunits encoded by mitochondrial DNA. The second contains 86 structural OXPHOS subunits encoded by nuclear DNA. The third contains 155 genes involved in translating proteins inside mitochondria. The fourth contains 19 MIB/MICOS genes that organize the inner mitochondrial membrane and its folds, called cristae.</a:t>
            </a:r>
          </a:p>
          <a:p xmlns:a="http://schemas.openxmlformats.org/drawingml/2006/main">
            <a:endParaRPr/>
          </a:p>
          <a:p xmlns:a="http://schemas.openxmlformats.org/drawingml/2006/main">
            <a:r>
              <a:t>Scientific boundary: These are focused benchmark pathways, not the full pathway search. Phase 11 also tested 46 Level 1 and Level 2 MitoCarta pathway categories and all 149 MitoCarta pathways. Listing a pathway, or observing some of its genes among the DEGs, does not establish enrichment or altered function.</a:t>
            </a:r>
          </a:p>
          <a:p xmlns:a="http://schemas.openxmlformats.org/drawingml/2006/main">
            <a:endParaRPr/>
          </a:p>
          <a:p xmlns:a="http://schemas.openxmlformats.org/drawingml/2006/main">
            <a:r>
              <a:t>Transition: Next, explain how fine-cell DEG results are pooled into each overlap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overlap formula and its worked example.</a:t>
            </a:r>
          </a:p>
          <a:p xmlns:a="http://schemas.openxmlformats.org/drawingml/2006/main">
            <a:endParaRPr/>
          </a:p>
          <a:p xmlns:a="http://schemas.openxmlformats.org/drawingml/2006/main">
            <a:r>
              <a:t>Walk through: This percentage summarizes one pathway within one sex/APOE group. The numerator is the number of unique pathway genes that were significant DEGs in at least one fine-cell comparison in that group. The denominator is the total number of genes in the pathway. Multiplying by 100 converts the ratio to a percentage. In the male epsilon-2 mitochondrial-translation example, 130 of the 155 pathway genes appeared as DEGs. Therefore, 130 divided by 155 times 100 equals 84 percent.</a:t>
            </a:r>
          </a:p>
          <a:p xmlns:a="http://schemas.openxmlformats.org/drawingml/2006/main">
            <a:endParaRPr/>
          </a:p>
          <a:p xmlns:a="http://schemas.openxmlformats.org/drawingml/2006/main">
            <a:r>
              <a:t>Scientific boundary: Each gene counts once, regardless of how many fine cell types contain it. The percentage does not show the percentage of fine cell types, the direction of change, recurrence across cell types, or pathway enrichment.</a:t>
            </a:r>
          </a:p>
          <a:p xmlns:a="http://schemas.openxmlformats.org/drawingml/2006/main">
            <a:endParaRPr/>
          </a:p>
          <a:p xmlns:a="http://schemas.openxmlformats.org/drawingml/2006/main">
            <a:r>
              <a:t>Transition: Now inspect the calculated pathway-gene coverage across the six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breadth of pathway-gene overlap with the fine-cell DEG results.</a:t>
            </a:r>
          </a:p>
          <a:p xmlns:a="http://schemas.openxmlformats.org/drawingml/2006/main">
            <a:endParaRPr/>
          </a:p>
          <a:p xmlns:a="http://schemas.openxmlformats.org/drawingml/2006/main">
            <a:r>
              <a:t>Walk through: For each sex/APOE group, a pathway gene is counted once if it was a significant DEG in at least one fine-cell comparison. The denominator is the full frozen pathway size shown on the previous slide. Twelve of the 13 mitochondrial-DNA OXPHOS genes appeared in every group. Male epsilon-2 had the broadest overlap in the other three pathways: 67 of 86 nuclear structural OXPHOS genes, 130 of 155 mitochondrial-translation genes, and 17 of 19 inner-membrane genes. Female epsilon-3 homozygous had narrower overlap in mitochondrial translation and inner-membrane organization.</a:t>
            </a:r>
          </a:p>
          <a:p xmlns:a="http://schemas.openxmlformats.org/drawingml/2006/main">
            <a:endParaRPr/>
          </a:p>
          <a:p xmlns:a="http://schemas.openxmlformats.org/drawingml/2006/main">
            <a:r>
              <a:t>Scientific boundary: This heatmap collapses across fine cell types and records presence, not direction, recurrence, effect size, or statistical enrichment. Groups with more overall DEGs will tend to overlap more pathway genes. Formal over-representation analysis instead uses the detectable-gene background within each comparison and controls the false-discovery rate.</a:t>
            </a:r>
          </a:p>
          <a:p xmlns:a="http://schemas.openxmlformats.org/drawingml/2006/main">
            <a:endParaRPr/>
          </a:p>
          <a:p xmlns:a="http://schemas.openxmlformats.org/drawingml/2006/main">
            <a:r>
              <a:t>Transition: Define how the OXPHOS direction percentage is calculated.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percentage of OXPHOS DEG occurrences that are upregulated.</a:t>
            </a:r>
          </a:p>
          <a:p xmlns:a="http://schemas.openxmlformats.org/drawingml/2006/main">
            <a:r>
              <a:t/>
            </a:r>
            <a:endParaRPr/>
          </a:p>
          <a:p xmlns:a="http://schemas.openxmlformats.org/drawingml/2006/main">
            <a:r>
              <a:t>Walk through: The calculation is performed separately for each sex/APOE group and each OXPHOS gene set. One occurrence means that one pathway gene is a significant DEG in one fine-cell comparison. The same gene can contribute another occurrence when it is significant in another fine cell type. Divide the number of upregulated occurrences by all upregulated plus downregulated occurrences, then multiply by 100. For male epsilon-3 homozygous mtDNA-encoded OXPHOS, 70 occurrences increased and 11 decreased. Seventy divided by 81 equals 86 percent upregulated. Fifty percent means equal numbers of upregulated and downregulated occurrences. Values above 50 percent favor upregulation, and values below 50 percent favor downregulation.</a:t>
            </a:r>
          </a:p>
          <a:p xmlns:a="http://schemas.openxmlformats.org/drawingml/2006/main">
            <a:r>
              <a:t/>
            </a:r>
            <a:endParaRPr/>
          </a:p>
          <a:p xmlns:a="http://schemas.openxmlformats.org/drawingml/2006/main">
            <a:r>
              <a:t>Scientific boundary: This percentage is not a fold change, the percentage of unique genes, cells, donors, or fine cell types, an enrichment result, or a measure of OXPHOS activity. Repeated occurrences across fine cell types are not independent biological replications.</a:t>
            </a:r>
          </a:p>
          <a:p xmlns:a="http://schemas.openxmlformats.org/drawingml/2006/main">
            <a:r>
              <a:t/>
            </a:r>
            <a:endParaRPr/>
          </a:p>
          <a:p xmlns:a="http://schemas.openxmlformats.org/drawingml/2006/main">
            <a:r>
              <a:t>Transition: Compare the upregulated occurrence percentage across the six sex/APOE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Compare the share of upregulated OXPHOS DEG occurrences across the six sex/APOE groups.</a:t>
            </a:r>
          </a:p>
          <a:p xmlns:a="http://schemas.openxmlformats.org/drawingml/2006/main">
            <a:r>
              <a:t/>
            </a:r>
            <a:endParaRPr/>
          </a:p>
          <a:p xmlns:a="http://schemas.openxmlformats.org/drawingml/2006/main">
            <a:r>
              <a:t>Walk through: OXPHOS, or oxidative phosphorylation, is the mitochondrial process that produces most cellular ATP. Blue bars summarize the 13 OXPHOS genes encoded by mitochondrial DNA, and orange bars summarize 86 structural OXPHOS genes encoded by nuclear DNA. Each value is the number of upregulated occurrences divided by all upregulated plus downregulated occurrences. Fifty percent means the two directions occur equally often. Female epsilon-2 is 99 percent mitochondrial and 98 percent nuclear upregulated. Female epsilon-3 homozygous is 100 percent mitochondrial and 85 percent nuclear upregulated. Female epsilon-4 is 41 percent mitochondrial and 5 percent nuclear upregulated. Male epsilon-2 is 10 percent mitochondrial and 13 percent nuclear upregulated. Male epsilon-3 homozygous shows the clearest split, at 86 percent mitochondrial and 12 percent nuclear upregulated. Male epsilon-4 shows the same split more weakly, at 79 percent mitochondrial and 38 percent nuclear upregulated.</a:t>
            </a:r>
          </a:p>
          <a:p xmlns:a="http://schemas.openxmlformats.org/drawingml/2006/main">
            <a:r>
              <a:t/>
            </a:r>
            <a:endParaRPr/>
          </a:p>
          <a:p xmlns:a="http://schemas.openxmlformats.org/drawingml/2006/main">
            <a:r>
              <a:t>Scientific boundary: The bars show the share of repeated gene-by-fine-cell DEG occurrences that are upregulated. They do not show percent expression change, percent of cells or donors, percent of unique genes, an effect size, pathway enrichment, OXPHOS activity, or a direct statistical interaction between disease, sex, and APOE.</a:t>
            </a:r>
          </a:p>
          <a:p xmlns:a="http://schemas.openxmlformats.org/drawingml/2006/main">
            <a:r>
              <a:t/>
            </a:r>
            <a:endParaRPr/>
          </a:p>
          <a:p xmlns:a="http://schemas.openxmlformats.org/drawingml/2006/main">
            <a:r>
              <a:t>Transition: Focus first on the female epsilon-3 homozygous mitochondrial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Preview the strongest sex/APOE-related mitochondrial DEG pathway.</a:t>
            </a:r>
          </a:p>
          <a:p xmlns:a="http://schemas.openxmlformats.org/drawingml/2006/main">
            <a:endParaRPr/>
          </a:p>
          <a:p xmlns:a="http://schemas.openxmlformats.org/drawingml/2006/main">
            <a:r>
              <a:t>Walk through: Mitochondrial DNA encodes 13 structural subunits of OXPHOS. In female APOE epsilon-3 homozygous ROSMAP comparisons, 12 of 14 excitatory and 13 of 14 inhibitory fine-cell comparisons contained more increased genes from this pathway than expected by chance. In the one matched SEA-AD excitatory comparison, nine of ten genes in the SEA-AD list were the same mtDNA-encoded OXPHOS genes, and all nine increased in disease in both cohorts.</a:t>
            </a:r>
          </a:p>
          <a:p xmlns:a="http://schemas.openxmlformats.org/drawingml/2006/main">
            <a:endParaRPr/>
          </a:p>
          <a:p xmlns:a="http://schemas.openxmlformats.org/drawingml/2006/main">
            <a:r>
              <a:t>Scientific boundary: The SEA-AD support comes from one matched comparison, so it is strong in direction but narrow in coverage. More RNA may reflect compensation or stress and does not demonstrate better energy production.</a:t>
            </a:r>
          </a:p>
          <a:p xmlns:a="http://schemas.openxmlformats.org/drawingml/2006/main">
            <a:endParaRPr/>
          </a:p>
          <a:p xmlns:a="http://schemas.openxmlformats.org/drawingml/2006/main">
            <a:r>
              <a:t>Transition: Contrast it with the male epsilon-3 homozygous split between two genomes.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Preview the male epsilon-3 homozygous split between mitochondrial and nuclear-encoded OXPHOS genes.</a:t>
            </a:r>
          </a:p>
          <a:p xmlns:a="http://schemas.openxmlformats.org/drawingml/2006/main">
            <a:endParaRPr/>
          </a:p>
          <a:p xmlns:a="http://schemas.openxmlformats.org/drawingml/2006/main">
            <a:r>
              <a:t>Walk through: Mitochondrial and nuclear DNA encode structural subunits of the same OXPHOS system. Across eligible male APOE epsilon-3 homozygous ROSMAP fine-cell comparisons, mtDNA-encoded OXPHOS genes appeared 81 times: 70 increased and 11 decreased. Nuclear-encoded structural OXPHOS genes appeared 68 times: 8 increased and 60 decreased. In matched SEA-AD inhibitory-neuron evidence, 19 of 22 shared genes moved in the same direction, including nine mtDNA-encoded OXPHOS genes that increased and several nuclear-encoded OXPHOS genes that decreased.</a:t>
            </a:r>
          </a:p>
          <a:p xmlns:a="http://schemas.openxmlformats.org/drawingml/2006/main">
            <a:endParaRPr/>
          </a:p>
          <a:p xmlns:a="http://schemas.openxmlformats.org/drawingml/2006/main">
            <a:r>
              <a:t>Scientific boundary: Gene appearances repeat genes across fine-cell comparisons and are not independent donors. In addition, the direct broad-cell ROSMAP pattern was no longer statistically clear after accounting for subtype mixture, so this remains a testable RNA-level hypothesis rather than proof of a sex/APOE interaction or impaired energy production.</a:t>
            </a:r>
          </a:p>
          <a:p xmlns:a="http://schemas.openxmlformats.org/drawingml/2006/main">
            <a:endParaRPr/>
          </a:p>
          <a:p xmlns:a="http://schemas.openxmlformats.org/drawingml/2006/main">
            <a:r>
              <a:t>Transition: Now move to Part 3, where mitochondrial DEGs become network-analysis queries.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key-driver-analysis section.</a:t>
            </a:r>
          </a:p>
          <a:p xmlns:a="http://schemas.openxmlformats.org/drawingml/2006/main">
            <a:endParaRPr/>
          </a:p>
          <a:p xmlns:a="http://schemas.openxmlformats.org/drawingml/2006/main">
            <a:r>
              <a:t>Walk through: Part 3 follows mitochondrial DEGs from one fine-cell contrast into one network query, identifies significant returned key drivers, and then aggregates repeated fine-cell evidence within sex/APOE by broad-cell categories using returned-only ACAT.</a:t>
            </a:r>
          </a:p>
          <a:p xmlns:a="http://schemas.openxmlformats.org/drawingml/2006/main">
            <a:endParaRPr/>
          </a:p>
          <a:p xmlns:a="http://schemas.openxmlformats.org/drawingml/2006/main">
            <a:r>
              <a:t>Scientific boundary: KDA nominates network-associated candidate regulators. It does not prove that a returned gene causally controls the mitochondrial pathway, and it does not pool sex/APOE groups.</a:t>
            </a:r>
          </a:p>
          <a:p xmlns:a="http://schemas.openxmlformats.org/drawingml/2006/main">
            <a:endParaRPr/>
          </a:p>
          <a:p xmlns:a="http://schemas.openxmlformats.org/drawingml/2006/main">
            <a:r>
              <a:t>Transition: Before walking through KDA, define the category used to summarize fine-cell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Define the category unit and the fine-cell-to-broad aggregation.</a:t>
            </a:r>
          </a:p>
          <a:p xmlns:a="http://schemas.openxmlformats.org/drawingml/2006/main">
            <a:endParaRPr/>
          </a:p>
          <a:p xmlns:a="http://schemas.openxmlformats.org/drawingml/2006/main">
            <a:r>
              <a:t>Walk through: Two sexes crossed with three APOE groups create six sex/APOE groups. Crossing each group with seven frozen broad cell types creates 42 possible categories; M_e33 by excitatory neurons is one example. Contrasts outnumber categories because several fine cell types can map to the same broad cell type. When the same driver returns from multiple fine-cell calls in one category, the returned within-call adjusted P values are combined by equal-weight ACAT into one gene-by-category score.</a:t>
            </a:r>
          </a:p>
          <a:p xmlns:a="http://schemas.openxmlformats.org/drawingml/2006/main">
            <a:endParaRPr/>
          </a:p>
          <a:p xmlns:a="http://schemas.openxmlformats.org/drawingml/2006/main">
            <a:r>
              <a:t>Scientific boundary: Forty-two is the structural design space, not 42 observed negative or positive results. A category may lack an eligible call or a returned non-mitochondrial driver. The ACAT is returned-only: a call in which the gene was not returned does not contribute P equals one.</a:t>
            </a:r>
          </a:p>
          <a:p xmlns:a="http://schemas.openxmlformats.org/drawingml/2006/main">
            <a:endParaRPr/>
          </a:p>
          <a:p xmlns:a="http://schemas.openxmlformats.org/drawingml/2006/main">
            <a:r>
              <a:t>Transition: With categories defined, follow one contrast from DEG analysis to its category-level KDA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Separate contrast, mitochondrial query, KDA call, and category result.</a:t>
            </a:r>
          </a:p>
          <a:p xmlns:a="http://schemas.openxmlformats.org/drawingml/2006/main">
            <a:endParaRPr/>
          </a:p>
          <a:p xmlns:a="http://schemas.openxmlformats.org/drawingml/2006/main">
            <a:r>
              <a:t>Walk through: A contrast is one signed DEG result and contributes one core-MT DEG query. A mapped query of at least three genes becomes one KDA call. A category is one sex/APOE group crossed with one broad network; returned non-MT drivers from eligible fine-cell runs are aggregated within it.</a:t>
            </a:r>
          </a:p>
          <a:p xmlns:a="http://schemas.openxmlformats.org/drawingml/2006/main">
            <a:endParaRPr/>
          </a:p>
          <a:p xmlns:a="http://schemas.openxmlformats.org/drawingml/2006/main">
            <a:r>
              <a:t>Scientific boundary: A candidate driver can be a non-DEG, non-mitochondrial network gene.</a:t>
            </a:r>
          </a:p>
          <a:p xmlns:a="http://schemas.openxmlformats.org/drawingml/2006/main">
            <a:endParaRPr/>
          </a:p>
          <a:p xmlns:a="http://schemas.openxmlformats.org/drawingml/2006/main">
            <a:r>
              <a:t>Transition: Summarize the ROSMAP branch before examining its contrast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ROSMAP as the primary discovery analysis before the detailed funnel.</a:t>
            </a:r>
          </a:p>
          <a:p xmlns:a="http://schemas.openxmlformats.org/drawingml/2006/main">
            <a:endParaRPr/>
          </a:p>
          <a:p xmlns:a="http://schemas.openxmlformats.org/drawingml/2006/main">
            <a:r>
              <a:t>Walk through: ROSMAP starts with 324 planned fine-cell contrasts. Those contrasts produce 194 executable KDA calls and 381 non-mitochondrial gene-by-category combinations, representing 228 distinct genes across 29 populated categories. Each contrast contributes its mitochondrial DEG query, and returned fine-cell evidence is then aggregated within the matching sex/APOE-by-broad-cell category.</a:t>
            </a:r>
          </a:p>
          <a:p xmlns:a="http://schemas.openxmlformats.org/drawingml/2006/main">
            <a:endParaRPr/>
          </a:p>
          <a:p xmlns:a="http://schemas.openxmlformats.org/drawingml/2006/main">
            <a:r>
              <a:t>Scientific boundary: Planned contrasts, executable calls, and gene-by-category combinations are different units. The category results use returned-only ACAT, and the counts are descriptive rather than independent replication counts.</a:t>
            </a:r>
          </a:p>
          <a:p xmlns:a="http://schemas.openxmlformats.org/drawingml/2006/main">
            <a:endParaRPr/>
          </a:p>
          <a:p xmlns:a="http://schemas.openxmlformats.org/drawingml/2006/main">
            <a:r>
              <a:t>Transition: Follow the ROSMAP summary into the contrast-level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324 contrasts become 194 KDA calls.</a:t>
            </a:r>
          </a:p>
          <a:p xmlns:a="http://schemas.openxmlformats.org/drawingml/2006/main">
            <a:endParaRPr/>
          </a:p>
          <a:p xmlns:a="http://schemas.openxmlformats.org/drawingml/2006/main">
            <a:r>
              <a:t>Walk through: Three source contrasts are invalid, 95 valid contrasts have an empty effective query, 32 retain one or two mapped genes, and 194 meet the three-gene floor.</a:t>
            </a:r>
          </a:p>
          <a:p xmlns:a="http://schemas.openxmlformats.org/drawingml/2006/main">
            <a:endParaRPr/>
          </a:p>
          <a:p xmlns:a="http://schemas.openxmlformats.org/drawingml/2006/main">
            <a:r>
              <a:t>Scientific boundary: Skipped contrasts have no KDA result and are not completed null tests.</a:t>
            </a:r>
          </a:p>
          <a:p xmlns:a="http://schemas.openxmlformats.org/drawingml/2006/main">
            <a:endParaRPr/>
          </a:p>
          <a:p xmlns:a="http://schemas.openxmlformats.org/drawingml/2006/main">
            <a:r>
              <a:t>Transition: Clarify the execution gate and the source contrasts that could not be fitted.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Clarify the three-gene execution floor and the three invalid source contrasts.</a:t>
            </a:r>
          </a:p>
          <a:p xmlns:a="http://schemas.openxmlformats.org/drawingml/2006/main">
            <a:endParaRPr/>
          </a:p>
          <a:p xmlns:a="http://schemas.openxmlformats.org/drawingml/2006/main">
            <a:r>
              <a:t>Walk through: All 194 calls meeting the mapped-query floor were completed: 164 returned significant drivers and 30 returned none. The three concrete invalid MAST contrasts remain unavailable.</a:t>
            </a:r>
          </a:p>
          <a:p xmlns:a="http://schemas.openxmlformats.org/drawingml/2006/main">
            <a:endParaRPr/>
          </a:p>
          <a:p xmlns:a="http://schemas.openxmlformats.org/drawingml/2006/main">
            <a:r>
              <a:t>Scientific boundary: The minimum is an execution rule; small queries and low cell counts still require cautious interpretation.</a:t>
            </a:r>
          </a:p>
          <a:p xmlns:a="http://schemas.openxmlformats.org/drawingml/2006/main">
            <a:endParaRPr/>
          </a:p>
          <a:p xmlns:a="http://schemas.openxmlformats.org/drawingml/2006/main">
            <a:r>
              <a:t>Transition: Inspect how the mitochondrial query is constructed.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ROSMAP mitochondrial query.</a:t>
            </a:r>
          </a:p>
          <a:p xmlns:a="http://schemas.openxmlformats.org/drawingml/2006/main">
            <a:endParaRPr/>
          </a:p>
          <a:p xmlns:a="http://schemas.openxmlformats.org/drawingml/2006/main">
            <a:r>
              <a:t>Walk through: The DEG filters identify 4,258 positive and 5,004 negative core-MT memberships. Together these are 9,262 provisional memberships across contrasts; 7,933 remain after network-background mapping. Each contrast contributes one query and at most one KDA call.</a:t>
            </a:r>
          </a:p>
          <a:p xmlns:a="http://schemas.openxmlformats.org/drawingml/2006/main">
            <a:endParaRPr/>
          </a:p>
          <a:p xmlns:a="http://schemas.openxmlformats.org/drawingml/2006/main">
            <a:r>
              <a:t>Scientific boundary: These are repeated memberships across contrasts, not unique genes and not driver counts.</a:t>
            </a:r>
          </a:p>
          <a:p xmlns:a="http://schemas.openxmlformats.org/drawingml/2006/main">
            <a:endParaRPr/>
          </a:p>
          <a:p xmlns:a="http://schemas.openxmlformats.org/drawingml/2006/main">
            <a:r>
              <a:t>Transition: Summarize the returned non-mitochondrial KDA results before examining rankings and recurrence.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scale and distribution of the ROSMAP output.</a:t>
            </a:r>
          </a:p>
          <a:p xmlns:a="http://schemas.openxmlformats.org/drawingml/2006/main">
            <a:endParaRPr/>
          </a:p>
          <a:p xmlns:a="http://schemas.openxmlformats.org/drawingml/2006/main">
            <a:r>
              <a:t>Walk through: The 623 retained non-MT returned rows form 381 gene-by-category units representing 228 genes across 29 categories. The lower panels show their group, network, and recurrence distributions.</a:t>
            </a:r>
          </a:p>
          <a:p xmlns:a="http://schemas.openxmlformats.org/drawingml/2006/main">
            <a:endParaRPr/>
          </a:p>
          <a:p xmlns:a="http://schemas.openxmlformats.org/drawingml/2006/main">
            <a:r>
              <a:t>Scientific boundary: Counts condition on significant within-call returns and unequal call opportunities.</a:t>
            </a:r>
          </a:p>
          <a:p xmlns:a="http://schemas.openxmlformats.org/drawingml/2006/main">
            <a:endParaRPr/>
          </a:p>
          <a:p xmlns:a="http://schemas.openxmlformats.org/drawingml/2006/main">
            <a:r>
              <a:t>Transition: Start with the most recurrent ROSMAP drivers.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category recurrence.</a:t>
            </a:r>
          </a:p>
          <a:p xmlns:a="http://schemas.openxmlformats.org/drawingml/2006/main">
            <a:endParaRPr/>
          </a:p>
          <a:p xmlns:a="http://schemas.openxmlformats.org/drawingml/2006/main">
            <a:r>
              <a:t>Walk through: RPS15 occurs in 11 categories from 22 returned calls. RPL11 occurs in 10 categories from 24 calls. Bar length and the end label show the category count.</a:t>
            </a:r>
          </a:p>
          <a:p xmlns:a="http://schemas.openxmlformats.org/drawingml/2006/main">
            <a:endParaRPr/>
          </a:p>
          <a:p xmlns:a="http://schemas.openxmlformats.org/drawingml/2006/main">
            <a:r>
              <a:t>Scientific boundary: Category presence is descriptive and not independent replication.</a:t>
            </a:r>
          </a:p>
          <a:p xmlns:a="http://schemas.openxmlformats.org/drawingml/2006/main">
            <a:endParaRPr/>
          </a:p>
          <a:p xmlns:a="http://schemas.openxmlformats.org/drawingml/2006/main">
            <a:r>
              <a:t>Transition: Then inspect the ranked top-five display across the 29 populated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top-five results.</a:t>
            </a:r>
          </a:p>
          <a:p xmlns:a="http://schemas.openxmlformats.org/drawingml/2006/main">
            <a:endParaRPr/>
          </a:p>
          <a:p xmlns:a="http://schemas.openxmlformats.org/drawingml/2006/main">
            <a:r>
              <a:t>Walk through: The figure displays up to five non-MT drivers in each of 29 populated categories, for 123 displayed entries. For rows containing more than five drivers, n reports the total number of distinct non-MT driver genes in that category. For a gene returned by one KDA call, the ranking score is that call's within-call BH-adjusted KDA P value. For a gene returned by at least two calls, the score is the equal-weight ACAT combination of the returned adjusted P values. Lower scores rank more strongly; ties are resolved alphabetically. Female and male rows are aligned by broad cell type and APOE group, with blank counterpart rows where only one sex has returns. Microglia is placed last because no female Microglia category has returned drivers. Each broad-cell color is held constant across panels.</a:t>
            </a:r>
          </a:p>
          <a:p xmlns:a="http://schemas.openxmlformats.org/drawingml/2006/main">
            <a:endParaRPr/>
          </a:p>
          <a:p xmlns:a="http://schemas.openxmlformats.org/drawingml/2006/main">
            <a:r>
              <a:t>Scientific boundary: Top five is a display cap, and returned-only scores are exploratory without final across-gene FDR control.</a:t>
            </a:r>
          </a:p>
          <a:p xmlns:a="http://schemas.openxmlformats.org/drawingml/2006/main">
            <a:endParaRPr/>
          </a:p>
          <a:p xmlns:a="http://schemas.openxmlformats.org/drawingml/2006/main">
            <a:r>
              <a:t>Transition: Next, view recurrence within each broad cell class, beginning with excitatory neurons.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excitatory-neuron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84 distinct non-mitochondrial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Compare the excitatory-neuron pattern with inhibitory neurons.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inhibitory-neuron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110 distinct non-mitochondrial key-driver genes observed in the inhibitory-neuron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Compare the inhibitory-neuron pattern with astrocytes.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astrocyte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21 distinct non-mitochondrial key-driver genes observed in the astrocyte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Compare the astrocyte pattern with OPCs.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ROSMAP OPC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18 distinct non-mitochondrial key-driver genes observed in the OPC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Move to the SEA-AD validation branch.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SEA-AD-specific-network analysis.</a:t>
            </a:r>
          </a:p>
          <a:p xmlns:a="http://schemas.openxmlformats.org/drawingml/2006/main">
            <a:endParaRPr/>
          </a:p>
          <a:p xmlns:a="http://schemas.openxmlformats.org/drawingml/2006/main">
            <a:r>
              <a:t>Walk through: The section moves from 774 supertype-by-stratum contrasts to 22 executable KDA calls, then shows top-five, recurrence, and aggregate summaries.</a:t>
            </a:r>
          </a:p>
          <a:p xmlns:a="http://schemas.openxmlformats.org/drawingml/2006/main">
            <a:endParaRPr/>
          </a:p>
          <a:p xmlns:a="http://schemas.openxmlformats.org/drawingml/2006/main">
            <a:r>
              <a:t>Scientific boundary: The active calls are strongly concentrated in M_e33.</a:t>
            </a:r>
          </a:p>
          <a:p xmlns:a="http://schemas.openxmlformats.org/drawingml/2006/main">
            <a:endParaRPr/>
          </a:p>
          <a:p xmlns:a="http://schemas.openxmlformats.org/drawingml/2006/main">
            <a:r>
              <a:t>Transition: Summarize SEA-AD coverage before examining its contrast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SEA-AD as supplemental human validation before the detailed funnel.</a:t>
            </a:r>
          </a:p>
          <a:p xmlns:a="http://schemas.openxmlformats.org/drawingml/2006/main">
            <a:endParaRPr/>
          </a:p>
          <a:p xmlns:a="http://schemas.openxmlformats.org/drawingml/2006/main">
            <a:r>
              <a:t>Walk through: SEA-AD starts with 774 planned supertype-level contrasts. Only 22 meet the source-validity and three-gene query requirements for KDA. These calls return 44 non-mitochondrial gene-by-category combinations, representing 43 distinct genes across five populated categories. The analysis uses SEA-AD-specific networks rather than reusing ROSMAP networks.</a:t>
            </a:r>
          </a:p>
          <a:p xmlns:a="http://schemas.openxmlformats.org/drawingml/2006/main">
            <a:endParaRPr/>
          </a:p>
          <a:p xmlns:a="http://schemas.openxmlformats.org/drawingml/2006/main">
            <a:r>
              <a:t>Scientific boundary: Coverage is sparse and unbalanced: 20 of the 22 calls are in the male epsilon-3 homozygous group. An unavailable category is not a negative validation result, and cohort differences in networks, phenotype, and query coverage limit direct one-to-one comparison.</a:t>
            </a:r>
          </a:p>
          <a:p xmlns:a="http://schemas.openxmlformats.org/drawingml/2006/main">
            <a:endParaRPr/>
          </a:p>
          <a:p xmlns:a="http://schemas.openxmlformats.org/drawingml/2006/main">
            <a:r>
              <a:t>Transition: Follow the SEA-AD summary into the contrast-level funnel.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774 SEA-AD contrasts reduce to 22 executable calls.</a:t>
            </a:r>
          </a:p>
          <a:p xmlns:a="http://schemas.openxmlformats.org/drawingml/2006/main">
            <a:endParaRPr/>
          </a:p>
          <a:p xmlns:a="http://schemas.openxmlformats.org/drawingml/2006/main">
            <a:r>
              <a:t>Walk through: There are 393 non-estimable source contrasts, 348 estimable contrasts with an empty FDR-only query, 11 with one or two mapped genes, and 22 meeting the three-gene floor.</a:t>
            </a:r>
          </a:p>
          <a:p xmlns:a="http://schemas.openxmlformats.org/drawingml/2006/main">
            <a:endParaRPr/>
          </a:p>
          <a:p xmlns:a="http://schemas.openxmlformats.org/drawingml/2006/main">
            <a:r>
              <a:t>Scientific boundary: A skipped contrast is unavailable and is not a negative validation result.</a:t>
            </a:r>
          </a:p>
          <a:p xmlns:a="http://schemas.openxmlformats.org/drawingml/2006/main">
            <a:endParaRPr/>
          </a:p>
          <a:p xmlns:a="http://schemas.openxmlformats.org/drawingml/2006/main">
            <a:r>
              <a:t>Transition: Summarize the returned non-mitochondrial SEA-AD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SEA-AD output.</a:t>
            </a:r>
          </a:p>
          <a:p xmlns:a="http://schemas.openxmlformats.org/drawingml/2006/main">
            <a:endParaRPr/>
          </a:p>
          <a:p xmlns:a="http://schemas.openxmlformats.org/drawingml/2006/main">
            <a:r>
              <a:t>Walk through: The 54 retained rows form 44 category units representing 43 genes across five categories. Thirty-nine units and 20 of 22 active calls are M_e33.</a:t>
            </a:r>
          </a:p>
          <a:p xmlns:a="http://schemas.openxmlformats.org/drawingml/2006/main">
            <a:endParaRPr/>
          </a:p>
          <a:p xmlns:a="http://schemas.openxmlformats.org/drawingml/2006/main">
            <a:r>
              <a:t>Scientific boundary: Returned-only scores remain exploratory and are not final-FDR controlled across genes.</a:t>
            </a:r>
          </a:p>
          <a:p xmlns:a="http://schemas.openxmlformats.org/drawingml/2006/main">
            <a:endParaRPr/>
          </a:p>
          <a:p xmlns:a="http://schemas.openxmlformats.org/drawingml/2006/main">
            <a:r>
              <a:t>Transition: Then examine recurrence across SEA-AD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Interpret SEA-AD category recurrence.</a:t>
            </a:r>
          </a:p>
          <a:p xmlns:a="http://schemas.openxmlformats.org/drawingml/2006/main">
            <a:endParaRPr/>
          </a:p>
          <a:p xmlns:a="http://schemas.openxmlformats.org/drawingml/2006/main">
            <a:r>
              <a:t>Walk through: PJVK is the only gene present in two categories: M_e33 excitatory and inhibitory neurons. Every other gene on the top-20 display occurs in one category.</a:t>
            </a:r>
          </a:p>
          <a:p xmlns:a="http://schemas.openxmlformats.org/drawingml/2006/main">
            <a:endParaRPr/>
          </a:p>
          <a:p xmlns:a="http://schemas.openxmlformats.org/drawingml/2006/main">
            <a:r>
              <a:t>Scientific boundary: Five return-bearing categories impose a low recurrence ceiling.</a:t>
            </a:r>
          </a:p>
          <a:p xmlns:a="http://schemas.openxmlformats.org/drawingml/2006/main">
            <a:endParaRPr/>
          </a:p>
          <a:p xmlns:a="http://schemas.openxmlformats.org/drawingml/2006/main">
            <a:r>
              <a:t>Transition: Inspect the top-five entries in the five populated SEA-AD categories.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leading SEA-AD non-MT candidates.</a:t>
            </a:r>
          </a:p>
          <a:p xmlns:a="http://schemas.openxmlformats.org/drawingml/2006/main">
            <a:endParaRPr/>
          </a:p>
          <a:p xmlns:a="http://schemas.openxmlformats.org/drawingml/2006/main">
            <a:r>
              <a:t>Walk through: Seventeen entries appear across F_e33 excitatory, F_e4 astrocyte, and three M_e33 categories. As on the ROSMAP display, rows are aligned across female and male panels, colors identify broad cell types consistently, and n gives the total non-MT driver count when a category contains more than five genes. Within each category, one returned call passes through its within-call adjusted KDA P value, while at least two returned calls are combined by ACAT; lower scores rank more strongly.</a:t>
            </a:r>
          </a:p>
          <a:p xmlns:a="http://schemas.openxmlformats.org/drawingml/2006/main">
            <a:endParaRPr/>
          </a:p>
          <a:p xmlns:a="http://schemas.openxmlformats.org/drawingml/2006/main">
            <a:r>
              <a:t>Scientific boundary: Top five is a display cap and the five populated categories expose strong availability imbalance.</a:t>
            </a:r>
          </a:p>
          <a:p xmlns:a="http://schemas.openxmlformats.org/drawingml/2006/main">
            <a:endParaRPr/>
          </a:p>
          <a:p xmlns:a="http://schemas.openxmlformats.org/drawingml/2006/main">
            <a:r>
              <a:t>Transition: Finish the SEA-AD branch with excitatory-neuron recurrence across groups.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SEA-AD excitatory-neuron key drivers recur across the six sex/APOE categories.</a:t>
            </a:r>
          </a:p>
          <a:p xmlns:a="http://schemas.openxmlformats.org/drawingml/2006/main">
            <a:endParaRPr/>
          </a:p>
          <a:p xmlns:a="http://schemas.openxmlformats.org/drawingml/2006/main">
            <a:r>
              <a:t>Walk through: Rows are the three female groups followed by the three male groups. Columns contain all 27 distinct non-mitochondrial key-driver genes observed in the excitatory-neuron broad cell type. A colored tile means the gene is present in that category; its color gives the total number of the six categories containing that gene. Columns are ordered from highest to lowest recurrence and alphabetically within ties.</a:t>
            </a:r>
          </a:p>
          <a:p xmlns:a="http://schemas.openxmlformats.org/drawingml/2006/main">
            <a:endParaRPr/>
          </a:p>
          <a:p xmlns:a="http://schemas.openxmlformats.org/drawingml/2006/main">
            <a:r>
              <a:t>Scientific boundary: Category recurrence is descriptive presence across returned-only category results. It is not an effect size, an independent replication count, or a sex/APOE interaction test.</a:t>
            </a:r>
          </a:p>
          <a:p xmlns:a="http://schemas.openxmlformats.org/drawingml/2006/main">
            <a:endParaRPr/>
          </a:p>
          <a:p xmlns:a="http://schemas.openxmlformats.org/drawingml/2006/main">
            <a:r>
              <a:t>Transition: Move to the sensitivity analyses.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section reserved for all harmonized broad-cell KDA sensitivity analyses.</a:t>
            </a:r>
          </a:p>
          <a:p xmlns:a="http://schemas.openxmlformats.org/drawingml/2006/main">
            <a:endParaRPr/>
          </a:p>
          <a:p xmlns:a="http://schemas.openxmlformats.org/drawingml/2006/main">
            <a:r>
              <a:t>Walk through: Sensitivity checks may address donor support, nuclei-per-profile coverage, DEG query definition, and KDA filtering. The first check raises the disease-arm donor gate from three to five in both cohorts.</a:t>
            </a:r>
          </a:p>
          <a:p xmlns:a="http://schemas.openxmlformats.org/drawingml/2006/main">
            <a:endParaRPr/>
          </a:p>
          <a:p xmlns:a="http://schemas.openxmlformats.org/drawingml/2006/main">
            <a:r>
              <a:t>Scientific boundary: Each test must change one frozen decision at a time and retain its own interpretation boundary. The current test concerns donors per disease arm, not nuclei.</a:t>
            </a:r>
          </a:p>
          <a:p xmlns:a="http://schemas.openxmlformats.org/drawingml/2006/main">
            <a:endParaRPr/>
          </a:p>
          <a:p xmlns:a="http://schemas.openxmlformats.org/drawingml/2006/main">
            <a:r>
              <a:t>Transition: Begin with the numerical consequences of changing the donor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numerical impact of raising the minimum disease-arm donor count from three to five in both cohorts.</a:t>
            </a:r>
          </a:p>
          <a:p xmlns:a="http://schemas.openxmlformats.org/drawingml/2006/main">
            <a:endParaRPr/>
          </a:p>
          <a:p xmlns:a="http://schemas.openxmlformats.org/drawingml/2006/main">
            <a:r>
              <a:t>Walk through: ROSMAP falls from 42 to 40 eligible contrasts, three to two KDA runs, 39 to 13 returned rows, and 33 to 13 unique non-mitochondrial drivers. SEA-AD falls from 28 to 20 eligible contrasts, while its five KDA runs, 24 returned rows, and 18 unique non-mitochondrial drivers are unchanged.</a:t>
            </a:r>
          </a:p>
          <a:p xmlns:a="http://schemas.openxmlformats.org/drawingml/2006/main">
            <a:endParaRPr/>
          </a:p>
          <a:p xmlns:a="http://schemas.openxmlformats.org/drawingml/2006/main">
            <a:r>
              <a:t>Scientific boundary: The threshold test changes only the donor eligibility gate. It does not change retained contrast models, DEG queries, networks, or KDA settings.</a:t>
            </a:r>
          </a:p>
          <a:p xmlns:a="http://schemas.openxmlformats.org/drawingml/2006/main">
            <a:endParaRPr/>
          </a:p>
          <a:p xmlns:a="http://schemas.openxmlformats.org/drawingml/2006/main">
            <a:r>
              <a:t>Transition: Interpret why the two cohorts respond differently to the donor threshold.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cohort-specific and cross-cohort conclusions of the donor-threshold sensitivity analysis.</a:t>
            </a:r>
          </a:p>
          <a:p xmlns:a="http://schemas.openxmlformats.org/drawingml/2006/main">
            <a:endParaRPr/>
          </a:p>
          <a:p xmlns:a="http://schemas.openxmlformats.org/drawingml/2006/main">
            <a:r>
              <a:t>Walk through: ROSMAP loses the low-support Vasculature M_e2 call that generated 26 driver rows. SEA-AD loses eight eligible contrasts, but none had progressed to KDA. Cross-cohort validation remains zero under both donor thresholds; Astrocytes F_e4 is the only exact stratum executed in both cohorts, and it has no shared drivers.</a:t>
            </a:r>
          </a:p>
          <a:p xmlns:a="http://schemas.openxmlformats.org/drawingml/2006/main">
            <a:endParaRPr/>
          </a:p>
          <a:p xmlns:a="http://schemas.openxmlformats.org/drawingml/2006/main">
            <a:r>
              <a:t>Scientific boundary: Contrasts excluded by the stricter donor threshold are unavailable comparisons. They must not be counted as evidence against validation.</a:t>
            </a:r>
          </a:p>
          <a:p xmlns:a="http://schemas.openxmlformats.org/drawingml/2006/main">
            <a:endParaRPr/>
          </a:p>
          <a:p xmlns:a="http://schemas.openxmlformats.org/drawingml/2006/main">
            <a:r>
              <a:t>Transition: Continue with sensitivity to the minimum effective mitochondrial-query size.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how increasing the minimum effective query size changes KDA availability and returned drivers.</a:t>
            </a:r>
          </a:p>
          <a:p xmlns:a="http://schemas.openxmlformats.org/drawingml/2006/main">
            <a:endParaRPr/>
          </a:p>
          <a:p xmlns:a="http://schemas.openxmlformats.org/drawingml/2006/main">
            <a:r>
              <a:t>Walk through: ROSMAP contracts from three calls and 39 returned rows at three genes to one call and 26 rows at ten or more genes. SEA-AD is unchanged at five genes, contracts to three calls and eight rows at ten or twenty genes, and retains two calls and seven rows at thirty genes.</a:t>
            </a:r>
          </a:p>
          <a:p xmlns:a="http://schemas.openxmlformats.org/drawingml/2006/main">
            <a:endParaRPr/>
          </a:p>
          <a:p xmlns:a="http://schemas.openxmlformats.org/drawingml/2006/main">
            <a:r>
              <a:t>Scientific boundary: The donor minimum remains three per disease arm. This exact gating sensitivity drops existing calls; it does not refit DEG models or rerun KDA for retained calls. Significant rows are raw returns, while the final column excludes MT-* genes and deduplicates within cohort.</a:t>
            </a:r>
          </a:p>
          <a:p xmlns:a="http://schemas.openxmlformats.org/drawingml/2006/main">
            <a:endParaRPr/>
          </a:p>
          <a:p xmlns:a="http://schemas.openxmlformats.org/drawingml/2006/main">
            <a:r>
              <a:t>Transition: Identify the calls responsible for the query-size step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which KDA calls drive the query-threshold sensitivity result.</a:t>
            </a:r>
          </a:p>
          <a:p xmlns:a="http://schemas.openxmlformats.org/drawingml/2006/main">
            <a:endParaRPr/>
          </a:p>
          <a:p xmlns:a="http://schemas.openxmlformats.org/drawingml/2006/main">
            <a:r>
              <a:t>Walk through: ROSMAP loses the three-gene OPC call at five and the eight-gene astrocyte call at ten, leaving only the 78-gene low-donor vasculature call. SEA-AD is unchanged at five; at ten it loses its five-gene microglia and nine-gene astrocyte calls, and at thirty it additionally loses the 21-gene oligodendrocyte call.</a:t>
            </a:r>
          </a:p>
          <a:p xmlns:a="http://schemas.openxmlformats.org/drawingml/2006/main">
            <a:endParaRPr/>
          </a:p>
          <a:p xmlns:a="http://schemas.openxmlformats.org/drawingml/2006/main">
            <a:r>
              <a:t>Scientific boundary: Returned MT-* genes are shown only when explaining raw row changes; they are not treated as eligible key drivers.</a:t>
            </a:r>
          </a:p>
          <a:p xmlns:a="http://schemas.openxmlformats.org/drawingml/2006/main">
            <a:endParaRPr/>
          </a:p>
          <a:p xmlns:a="http://schemas.openxmlformats.org/drawingml/2006/main">
            <a:r>
              <a:t>Transition: Finish with the implications for matched-stratum validation.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validation impact and identify the least disruptive query-size sensitivity threshold.</a:t>
            </a:r>
          </a:p>
          <a:p xmlns:a="http://schemas.openxmlformats.org/drawingml/2006/main">
            <a:endParaRPr/>
          </a:p>
          <a:p xmlns:a="http://schemas.openxmlformats.org/drawingml/2006/main">
            <a:r>
              <a:t>Walk through: Non-mitochondrial driver overlap is zero at every threshold. The shared Astrocytes F_e4 stratum remains available at thresholds three and five but disappears from both cohorts at ten. Threshold five is the only stricter floor that preserves all SEA-AD calls and the shared stratum.</a:t>
            </a:r>
          </a:p>
          <a:p xmlns:a="http://schemas.openxmlformats.org/drawingml/2006/main">
            <a:endParaRPr/>
          </a:p>
          <a:p xmlns:a="http://schemas.openxmlformats.org/drawingml/2006/main">
            <a:r>
              <a:t>Scientific boundary: Absence of a matched executed stratum at thresholds ten or higher is an unavailable validation comparison, not negative evidence. The five-gene threshold is a sensitivity reference, not a new confirmatory rule.</a:t>
            </a:r>
          </a:p>
          <a:p xmlns:a="http://schemas.openxmlformats.org/drawingml/2006/main">
            <a:endParaRPr/>
          </a:p>
          <a:p xmlns:a="http://schemas.openxmlformats.org/drawingml/2006/main">
            <a:r>
              <a:t>Transition: Turn from robustness checks to the main biological findings and their interpretation.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biological interpretation section.</a:t>
            </a:r>
          </a:p>
          <a:p xmlns:a="http://schemas.openxmlformats.org/drawingml/2006/main">
            <a:endParaRPr/>
          </a:p>
          <a:p xmlns:a="http://schemas.openxmlformats.org/drawingml/2006/main">
            <a:r>
              <a:t>Walk through: The next sections translate the DEG, pathway, KDA, and sensitivity results into 17 testable biological findings. They begin with the two cross-cohort OXPHOS patterns, then examine additional sex/APOE programs, candidate key drivers, cross-cell recurrence, and important limits on validation and interpretation.</a:t>
            </a:r>
          </a:p>
          <a:p xmlns:a="http://schemas.openxmlformats.org/drawingml/2006/main">
            <a:endParaRPr/>
          </a:p>
          <a:p xmlns:a="http://schemas.openxmlformats.org/drawingml/2006/main">
            <a:r>
              <a:t>Scientific boundary: These are evidence syntheses, not causal conclusions. SEA-AD support is graded according to matched coverage and may be program-level rather than exact-gene replication.</a:t>
            </a:r>
          </a:p>
          <a:p xmlns:a="http://schemas.openxmlformats.org/drawingml/2006/main">
            <a:endParaRPr/>
          </a:p>
          <a:p xmlns:a="http://schemas.openxmlformats.org/drawingml/2006/main">
            <a:r>
              <a:t>Transition: Begin with Finding 1, the female ε3/ε3 mtDNA-OXPHOS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first biological finding.</a:t>
            </a:r>
          </a:p>
          <a:p xmlns:a="http://schemas.openxmlformats.org/drawingml/2006/main">
            <a:endParaRPr/>
          </a:p>
          <a:p xmlns:a="http://schemas.openxmlformats.org/drawingml/2006/main">
            <a:r>
              <a:t>Walk through: Female APOE epsilon-3 homozygous cells repeatedly show higher mitochondrial-DNA-encoded oxidative-phosphorylation RNA in Alzheimer’s disease. The matched excitatory-neuron program also appears in SEA-AD.</a:t>
            </a:r>
          </a:p>
          <a:p xmlns:a="http://schemas.openxmlformats.org/drawingml/2006/main">
            <a:endParaRPr/>
          </a:p>
          <a:p xmlns:a="http://schemas.openxmlformats.org/drawingml/2006/main">
            <a:r>
              <a:t>Scientific boundary: This section describes a mitochondrial DEG program. It does not identify a causal key driver, prove better energy production, or establish a sex-by-APOE interaction.</a:t>
            </a:r>
          </a:p>
          <a:p xmlns:a="http://schemas.openxmlformats.org/drawingml/2006/main">
            <a:endParaRPr/>
          </a:p>
          <a:p xmlns:a="http://schemas.openxmlformats.org/drawingml/2006/main">
            <a:r>
              <a:t>Transition: State the first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finding without statistical jargon.</a:t>
            </a:r>
          </a:p>
          <a:p xmlns:a="http://schemas.openxmlformats.org/drawingml/2006/main">
            <a:endParaRPr/>
          </a:p>
          <a:p xmlns:a="http://schemas.openxmlformats.org/drawingml/2006/main">
            <a:r>
              <a:t>Walk through: In Alzheimer’s disease, female APOE epsilon-3 homozygous cells repeatedly contain more RNA from mitochondrial OXPHOS genes. Excitatory neurons provide the cleanest comparison across ROSMAP and SEA-AD.</a:t>
            </a:r>
          </a:p>
          <a:p xmlns:a="http://schemas.openxmlformats.org/drawingml/2006/main">
            <a:endParaRPr/>
          </a:p>
          <a:p xmlns:a="http://schemas.openxmlformats.org/drawingml/2006/main">
            <a:r>
              <a:t>Scientific boundary: More RNA is not the same as more protein, more ATP, or healthier mitochondria. The increase could be compensatory or stress related.</a:t>
            </a:r>
          </a:p>
          <a:p xmlns:a="http://schemas.openxmlformats.org/drawingml/2006/main">
            <a:endParaRPr/>
          </a:p>
          <a:p xmlns:a="http://schemas.openxmlformats.org/drawingml/2006/main">
            <a:r>
              <a:t>Transition: Show the ROSMAP numbers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evidence at both stratum and excitatory-neuron levels.</a:t>
            </a:r>
          </a:p>
          <a:p xmlns:a="http://schemas.openxmlformats.org/drawingml/2006/main">
            <a:endParaRPr/>
          </a:p>
          <a:p xmlns:a="http://schemas.openxmlformats.org/drawingml/2006/main">
            <a:r>
              <a:t>Walk through: Before key-driver testing, each eligible mitochondrial-DEG input query was tested for over-representation of the 13 mtDNA-OXPHOS genes against its exact mitochondrial background, with BH correction across four prespecified programs. Across all eligible female epsilon-3 homozygous calls, all 217 mtDNA-OXPHOS occurrences are AD-up, and 29 input queries are enriched. In excitatory neurons, 14 eligible calls contain 123 occurrences, all up, and 12 of 14 input queries are enriched.</a:t>
            </a:r>
          </a:p>
          <a:p xmlns:a="http://schemas.openxmlformats.org/drawingml/2006/main">
            <a:endParaRPr/>
          </a:p>
          <a:p xmlns:a="http://schemas.openxmlformats.org/drawingml/2006/main">
            <a:r>
              <a:t>Scientific boundary: Enrichment describes the composition of a KDA input query; it is not the significance or number of key drivers returned by call_key_drivers. Occurrences repeat genes across calls and are not unique genes, donors, or independent replications.</a:t>
            </a:r>
          </a:p>
          <a:p xmlns:a="http://schemas.openxmlformats.org/drawingml/2006/main">
            <a:endParaRPr/>
          </a:p>
          <a:p xmlns:a="http://schemas.openxmlformats.org/drawingml/2006/main">
            <a:r>
              <a:t>Transition: Ask whether the same excitatory-neuron program appears in SEA-AD.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Show the matched SEA-AD program evidence.</a:t>
            </a:r>
          </a:p>
          <a:p xmlns:a="http://schemas.openxmlformats.org/drawingml/2006/main">
            <a:endParaRPr/>
          </a:p>
          <a:p xmlns:a="http://schemas.openxmlformats.org/drawingml/2006/main">
            <a:r>
              <a:t>Walk through: The only evaluable female epsilon-3 homozygous excitatory-neuron call has ten effective query genes. Nine are the same mtDNA-OXPHOS genes found in ROSMAP, and all nine are dementia-up. The overlap is larger than expected under the category-specific background model and remains significant after multiple-testing correction.</a:t>
            </a:r>
          </a:p>
          <a:p xmlns:a="http://schemas.openxmlformats.org/drawingml/2006/main">
            <a:endParaRPr/>
          </a:p>
          <a:p xmlns:a="http://schemas.openxmlformats.org/drawingml/2006/main">
            <a:r>
              <a:t>Scientific boundary: This is one SEA-AD call, not broad replication across excitatory subtypes. It validates the direction of the program, not an exact key driver. Exact driver matching is not required in the analysis framework.</a:t>
            </a:r>
          </a:p>
          <a:p xmlns:a="http://schemas.openxmlformats.org/drawingml/2006/main">
            <a:endParaRPr/>
          </a:p>
          <a:p xmlns:a="http://schemas.openxmlformats.org/drawingml/2006/main">
            <a:r>
              <a:t>Transition: Explain why a repeated mitochondrial program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biological importance without claiming improved function.</a:t>
            </a:r>
          </a:p>
          <a:p xmlns:a="http://schemas.openxmlformats.org/drawingml/2006/main">
            <a:endParaRPr/>
          </a:p>
          <a:p xmlns:a="http://schemas.openxmlformats.org/drawingml/2006/main">
            <a:r>
              <a:t>Walk through: Excitatory neurons have high energy requirements, and mtDNA supplies essential respiratory-complex subunits. A repeated upward transcriptional response may reflect an attempt to compensate for inefficient mitochondria or a mitochondrial stress response.</a:t>
            </a:r>
          </a:p>
          <a:p xmlns:a="http://schemas.openxmlformats.org/drawingml/2006/main">
            <a:endParaRPr/>
          </a:p>
          <a:p xmlns:a="http://schemas.openxmlformats.org/drawingml/2006/main">
            <a:r>
              <a:t>Scientific boundary: RNA direction alone cannot distinguish compensation, injury, altered RNA processing, or surviving-cell composition.</a:t>
            </a:r>
          </a:p>
          <a:p xmlns:a="http://schemas.openxmlformats.org/drawingml/2006/main">
            <a:endParaRPr/>
          </a:p>
          <a:p xmlns:a="http://schemas.openxmlformats.org/drawingml/2006/main">
            <a:r>
              <a:t>Transition: Separate the observation from what still needs to be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a:t>
            </a:r>
          </a:p>
          <a:p xmlns:a="http://schemas.openxmlformats.org/drawingml/2006/main">
            <a:endParaRPr/>
          </a:p>
          <a:p xmlns:a="http://schemas.openxmlformats.org/drawingml/2006/main">
            <a:r>
              <a:t>Walk through: The current result measures RNA. Donor-aware interaction models are needed to test sex and APOE specificity. Protein assembly and respiratory assays are needed to determine whether the transcriptional increase improves or impairs mitochondrial function.</a:t>
            </a:r>
          </a:p>
          <a:p xmlns:a="http://schemas.openxmlformats.org/drawingml/2006/main">
            <a:endParaRPr/>
          </a:p>
          <a:p xmlns:a="http://schemas.openxmlformats.org/drawingml/2006/main">
            <a:r>
              <a:t>Scientific boundary: SEA-AD support is valuable but optional. It cannot substitute for donor-aware statistics or functional experiments.</a:t>
            </a:r>
          </a:p>
          <a:p xmlns:a="http://schemas.openxmlformats.org/drawingml/2006/main">
            <a:endParaRPr/>
          </a:p>
          <a:p xmlns:a="http://schemas.openxmlformats.org/drawingml/2006/main">
            <a:r>
              <a:t>Transition: Place the first finding in prior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the finding to prior literature while preserving novelty boundaries.</a:t>
            </a:r>
          </a:p>
          <a:p xmlns:a="http://schemas.openxmlformats.org/drawingml/2006/main">
            <a:endParaRPr/>
          </a:p>
          <a:p xmlns:a="http://schemas.openxmlformats.org/drawingml/2006/main">
            <a:r>
              <a:t>Walk through: Guo and colleagues support sex-aware Alzheimer’s key-driver analysis. Mathys and colleagues show cell-resolved, multiregion disease responses but use ROSMAP, so that paper is supporting discovery-resource context. Lee and colleagues show an APOE–mitochondria link in human APOE4 astrocytes, a different genotype and cell type.</a:t>
            </a:r>
          </a:p>
          <a:p xmlns:a="http://schemas.openxmlformats.org/drawingml/2006/main">
            <a:endParaRPr/>
          </a:p>
          <a:p xmlns:a="http://schemas.openxmlformats.org/drawingml/2006/main">
            <a:r>
              <a:t>Scientific boundary: None of these studies independently establishes the exact female epsilon-3 homozygous excitatory-neuron mtDNA-up pattern.</a:t>
            </a:r>
          </a:p>
          <a:p xmlns:a="http://schemas.openxmlformats.org/drawingml/2006/main">
            <a:endParaRPr/>
          </a:p>
          <a:p xmlns:a="http://schemas.openxmlformats.org/drawingml/2006/main">
            <a:r>
              <a:t>Transition: Proceed to Finding 2, the male ε3/ε3 mitonuclear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the second biological finding.</a:t>
            </a:r>
          </a:p>
          <a:p xmlns:a="http://schemas.openxmlformats.org/drawingml/2006/main">
            <a:endParaRPr/>
          </a:p>
          <a:p xmlns:a="http://schemas.openxmlformats.org/drawingml/2006/main">
            <a:r>
              <a:t>Walk through: Male APOE epsilon-3 homozygous cells show opposite RNA directions across the two genomes that encode oxidative-phosphorylation machinery. The matched inhibitory-neuron program also appears in SEA-AD.</a:t>
            </a:r>
          </a:p>
          <a:p xmlns:a="http://schemas.openxmlformats.org/drawingml/2006/main">
            <a:endParaRPr/>
          </a:p>
          <a:p xmlns:a="http://schemas.openxmlformats.org/drawingml/2006/main">
            <a:r>
              <a:t>Scientific boundary: This is a transcript-level mitochondrial program. It does not identify a causal upstream driver, prove protein imbalance, or establish a male-by-APOE interaction.</a:t>
            </a:r>
          </a:p>
          <a:p xmlns:a="http://schemas.openxmlformats.org/drawingml/2006/main">
            <a:endParaRPr/>
          </a:p>
          <a:p xmlns:a="http://schemas.openxmlformats.org/drawingml/2006/main">
            <a:r>
              <a:t>Transition: State the second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mitonuclear mismatch without statistical jargon.</a:t>
            </a:r>
          </a:p>
          <a:p xmlns:a="http://schemas.openxmlformats.org/drawingml/2006/main">
            <a:endParaRPr/>
          </a:p>
          <a:p xmlns:a="http://schemas.openxmlformats.org/drawingml/2006/main">
            <a:r>
              <a:t>Walk through: In male APOE epsilon-3 homozygous cells, mitochondrial-DNA OXPHOS RNA usually rises in Alzheimer’s disease while nuclear-encoded OXPHOS RNA usually falls. Inhibitory neurons provide the clearest cross-cohort support.</a:t>
            </a:r>
          </a:p>
          <a:p xmlns:a="http://schemas.openxmlformats.org/drawingml/2006/main">
            <a:endParaRPr/>
          </a:p>
          <a:p xmlns:a="http://schemas.openxmlformats.org/drawingml/2006/main">
            <a:r>
              <a:t>Scientific boundary: Opposite RNA directions do not demonstrate mismatched proteins, reduced respiration, or unhealthy mitochondria.</a:t>
            </a:r>
          </a:p>
          <a:p xmlns:a="http://schemas.openxmlformats.org/drawingml/2006/main">
            <a:endParaRPr/>
          </a:p>
          <a:p xmlns:a="http://schemas.openxmlformats.org/drawingml/2006/main">
            <a:r>
              <a:t>Transition: Show the ROSMAP numbers behind the mismatch.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ROSMAP evidence for both genomes.</a:t>
            </a:r>
          </a:p>
          <a:p xmlns:a="http://schemas.openxmlformats.org/drawingml/2006/main">
            <a:endParaRPr/>
          </a:p>
          <a:p xmlns:a="http://schemas.openxmlformats.org/drawingml/2006/main">
            <a:r>
              <a:t>Walk through: Across 31 eligible male epsilon-3 homozygous calls, mtDNA OXPHOS contributes 81 occurrences: 70 up and 11 down. Nuclear OXPHOS contributes 68 occurrences: 8 up and 60 down. Twelve mtDNA input queries and one nuclear input query are enriched.</a:t>
            </a:r>
          </a:p>
          <a:p xmlns:a="http://schemas.openxmlformats.org/drawingml/2006/main">
            <a:endParaRPr/>
          </a:p>
          <a:p xmlns:a="http://schemas.openxmlformats.org/drawingml/2006/main">
            <a:r>
              <a:t>Scientific boundary: Occurrences repeat genes across calls and are not independent donors or replications. Enrichment describes the input query rather than returned key drivers.</a:t>
            </a:r>
          </a:p>
          <a:p xmlns:a="http://schemas.openxmlformats.org/drawingml/2006/main">
            <a:endParaRPr/>
          </a:p>
          <a:p xmlns:a="http://schemas.openxmlformats.org/drawingml/2006/main">
            <a:r>
              <a:t>Transition: Ask whether the matched inhibitory-neuron program appears in SEA-AD.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Summarize the matched SEA-AD inhibitory-neuron evidence.</a:t>
            </a:r>
          </a:p>
          <a:p xmlns:a="http://schemas.openxmlformats.org/drawingml/2006/main">
            <a:endParaRPr/>
          </a:p>
          <a:p xmlns:a="http://schemas.openxmlformats.org/drawingml/2006/main">
            <a:r>
              <a:t>Walk through: Across 8 evaluable SEA-AD calls, the cohorts share 22 mitochondrial-query genes. Nineteen have the same fixed AD direction and three differ. The overlap is larger than expected and remains significant after multiple-testing correction.</a:t>
            </a:r>
          </a:p>
          <a:p xmlns:a="http://schemas.openxmlformats.org/drawingml/2006/main">
            <a:endParaRPr/>
          </a:p>
          <a:p xmlns:a="http://schemas.openxmlformats.org/drawingml/2006/main">
            <a:r>
              <a:t>Scientific boundary: The result supports a DEG program, not the exact ROSMAP key-driver genes. It remains a narrow comparison concentrated in male epsilon-3 homozygous inhibitory neurons.</a:t>
            </a:r>
          </a:p>
          <a:p xmlns:a="http://schemas.openxmlformats.org/drawingml/2006/main">
            <a:endParaRPr/>
          </a:p>
          <a:p xmlns:a="http://schemas.openxmlformats.org/drawingml/2006/main">
            <a:r>
              <a:t>Transition: Show which genes carry the cross-cohort directional agreement.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Name the genes underlying the cross-cohort directional agreement.</a:t>
            </a:r>
          </a:p>
          <a:p xmlns:a="http://schemas.openxmlformats.org/drawingml/2006/main">
            <a:endParaRPr/>
          </a:p>
          <a:p xmlns:a="http://schemas.openxmlformats.org/drawingml/2006/main">
            <a:r>
              <a:t>Walk through: Nine mtDNA OXPHOS genes rise in both cohorts. Eight highlighted nuclear or mitochondrial-support genes fall in both cohorts: UQCRFS1, SLC25A5, TIMM13, TIMM17A, MRPL16, MRPS34, ENDOG, and MTCH1. DBP and PRELID2 complete the nineteen concordant genes.</a:t>
            </a:r>
          </a:p>
          <a:p xmlns:a="http://schemas.openxmlformats.org/drawingml/2006/main">
            <a:endParaRPr/>
          </a:p>
          <a:p xmlns:a="http://schemas.openxmlformats.org/drawingml/2006/main">
            <a:r>
              <a:t>Scientific boundary: HIBCH, ISCU, and TMEM126B point in opposite directions across cohorts. Gene agreement still does not demonstrate protein-complex imbalance.</a:t>
            </a:r>
          </a:p>
          <a:p xmlns:a="http://schemas.openxmlformats.org/drawingml/2006/main">
            <a:endParaRPr/>
          </a:p>
          <a:p xmlns:a="http://schemas.openxmlformats.org/drawingml/2006/main">
            <a:r>
              <a:t>Transition: Explain why opposite directions across two genomes may matter.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the biological importance without claiming impaired function.</a:t>
            </a:r>
          </a:p>
          <a:p xmlns:a="http://schemas.openxmlformats.org/drawingml/2006/main">
            <a:endParaRPr/>
          </a:p>
          <a:p xmlns:a="http://schemas.openxmlformats.org/drawingml/2006/main">
            <a:r>
              <a:t>Walk through: Respiratory complexes require matching parts encoded by two genomes. The cross-cohort decrease in import, mitochondrial-ribosome, transport, and maintenance genes makes the pattern broader than a single OXPHOS gene change.</a:t>
            </a:r>
          </a:p>
          <a:p xmlns:a="http://schemas.openxmlformats.org/drawingml/2006/main">
            <a:endParaRPr/>
          </a:p>
          <a:p xmlns:a="http://schemas.openxmlformats.org/drawingml/2006/main">
            <a:r>
              <a:t>Scientific boundary: RNA abundance cannot distinguish compensation, failed assembly, cell-state changes, or altered survival of cell populations.</a:t>
            </a:r>
          </a:p>
          <a:p xmlns:a="http://schemas.openxmlformats.org/drawingml/2006/main">
            <a:endParaRPr/>
          </a:p>
          <a:p xmlns:a="http://schemas.openxmlformats.org/drawingml/2006/main">
            <a:r>
              <a:t>Transition: Separate the observation from what still needs to be tested.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a:t>
            </a:r>
          </a:p>
          <a:p xmlns:a="http://schemas.openxmlformats.org/drawingml/2006/main">
            <a:endParaRPr/>
          </a:p>
          <a:p xmlns:a="http://schemas.openxmlformats.org/drawingml/2006/main">
            <a:r>
              <a:t>Walk through: Donor-aware interaction models are needed to test whether the mismatch differs by sex or APOE group. Paired protein, complex-assembly, respiration, ATP, and oxidative-stress assays are needed to determine functional consequences.</a:t>
            </a:r>
          </a:p>
          <a:p xmlns:a="http://schemas.openxmlformats.org/drawingml/2006/main">
            <a:endParaRPr/>
          </a:p>
          <a:p xmlns:a="http://schemas.openxmlformats.org/drawingml/2006/main">
            <a:r>
              <a:t>Scientific boundary: SEA-AD supplies program-level support but not exact driver replication or causal evidence.</a:t>
            </a:r>
          </a:p>
          <a:p xmlns:a="http://schemas.openxmlformats.org/drawingml/2006/main">
            <a:endParaRPr/>
          </a:p>
          <a:p xmlns:a="http://schemas.openxmlformats.org/drawingml/2006/main">
            <a:r>
              <a:t>Transition: Place the second finding in prior research.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the finding to prior research while preserving novelty boundaries.</a:t>
            </a:r>
          </a:p>
          <a:p xmlns:a="http://schemas.openxmlformats.org/drawingml/2006/main">
            <a:endParaRPr/>
          </a:p>
          <a:p xmlns:a="http://schemas.openxmlformats.org/drawingml/2006/main">
            <a:r>
              <a:t>Walk through: Established mitonuclear biology explains why opposite directions across the two genomes could matter. Guo and colleagues support sex-aware Alzheimer’s network analysis. Mathys and colleagues support cell-resolved disease heterogeneity but use ROSMAP.</a:t>
            </a:r>
          </a:p>
          <a:p xmlns:a="http://schemas.openxmlformats.org/drawingml/2006/main">
            <a:endParaRPr/>
          </a:p>
          <a:p xmlns:a="http://schemas.openxmlformats.org/drawingml/2006/main">
            <a:r>
              <a:t>Scientific boundary: None of these sources independently establishes the exact male epsilon-3 homozygous inhibitory-neuron pattern. No sex-stratified human-genetic claim is used here.</a:t>
            </a:r>
          </a:p>
          <a:p xmlns:a="http://schemas.openxmlformats.org/drawingml/2006/main">
            <a:endParaRPr/>
          </a:p>
          <a:p xmlns:a="http://schemas.openxmlformats.org/drawingml/2006/main">
            <a:r>
              <a:t>Transition: Proceed to Finding 3, the coordinated female ε2 OXPHOS increase.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3.</a:t>
            </a:r>
          </a:p>
          <a:p xmlns:a="http://schemas.openxmlformats.org/drawingml/2006/main">
            <a:endParaRPr/>
          </a:p>
          <a:p xmlns:a="http://schemas.openxmlformats.org/drawingml/2006/main">
            <a:r>
              <a:t>Walk through: Both mitochondrial and nuclear OXPHOS RNA mostly increased in female ε2 cells.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3 without assuming specialist knowledge.</a:t>
            </a:r>
          </a:p>
          <a:p xmlns:a="http://schemas.openxmlformats.org/drawingml/2006/main">
            <a:endParaRPr/>
          </a:p>
          <a:p xmlns:a="http://schemas.openxmlformats.org/drawingml/2006/main">
            <a:r>
              <a:t>Walk through: The two genomes move in the same direction at the RNA level, especially in fine excitatory-neuron results. This is a coordinated transcriptional response, not evidence that mitochondria produce more energy.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3.</a:t>
            </a:r>
          </a:p>
          <a:p xmlns:a="http://schemas.openxmlformats.org/drawingml/2006/main">
            <a:endParaRPr/>
          </a:p>
          <a:p xmlns:a="http://schemas.openxmlformats.org/drawingml/2006/main">
            <a:r>
              <a:t>Walk through: The three summary metrics and three evidence rows preserve the units used in the analysis. Occurrences repeat a gene when it appears in another eligible fine-cell query.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3 in its internal and supplemental evidence context.</a:t>
            </a:r>
          </a:p>
          <a:p xmlns:a="http://schemas.openxmlformats.org/drawingml/2006/main">
            <a:endParaRPr/>
          </a:p>
          <a:p xmlns:a="http://schemas.openxmlformats.org/drawingml/2006/main">
            <a:r>
              <a:t>Walk through: The project treats fine-cell results as primary and direct broad-cell results as sensitivity evidence. The coordinated two-genome claim rests mainly on fine-cell ROSMAP evidence.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3 may matter without overstating function.</a:t>
            </a:r>
          </a:p>
          <a:p xmlns:a="http://schemas.openxmlformats.org/drawingml/2006/main">
            <a:endParaRPr/>
          </a:p>
          <a:p xmlns:a="http://schemas.openxmlformats.org/drawingml/2006/main">
            <a:r>
              <a:t>Walk through: APOE ε2 lowers population risk, but a molecular pattern in diseased tissue can still reflect compensation or stress. The result motivates a protective-response hypothesis but does not demonstrate a protective mechanism.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3.</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3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3. Literature: https://doi.org/10.1016/j.neuron.2019.03.075; https://doi.org/10.1016/j.celrep.2023.113183; https://doi.org/10.1186/s13024-023-00624-5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4.</a:t>
            </a:r>
          </a:p>
          <a:p xmlns:a="http://schemas.openxmlformats.org/drawingml/2006/main">
            <a:endParaRPr/>
          </a:p>
          <a:p xmlns:a="http://schemas.openxmlformats.org/drawingml/2006/main">
            <a:r>
              <a:t>Walk through: The strongest signal is a fine-cell decrease in nuclear-encoded OXPHOS RNA.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4 without assuming specialist knowledge.</a:t>
            </a:r>
          </a:p>
          <a:p xmlns:a="http://schemas.openxmlformats.org/drawingml/2006/main">
            <a:endParaRPr/>
          </a:p>
          <a:p xmlns:a="http://schemas.openxmlformats.org/drawingml/2006/main">
            <a:r>
              <a:t>Walk through: The nuclear side is strongly downward, while mitochondrial-DNA OXPHOS genes show mixed directions. The finding is specific to fine-cell and KDA-aligned evidence because direct broad-cell results disagree.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4.</a:t>
            </a:r>
          </a:p>
          <a:p xmlns:a="http://schemas.openxmlformats.org/drawingml/2006/main">
            <a:endParaRPr/>
          </a:p>
          <a:p xmlns:a="http://schemas.openxmlformats.org/drawingml/2006/main">
            <a:r>
              <a:t>Walk through: The three summary metrics and three evidence rows preserve the units used in the analysis. The mtDNA component is smaller and more mixed than the nuclear component.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4 in its internal and supplemental evidence context.</a:t>
            </a:r>
          </a:p>
          <a:p xmlns:a="http://schemas.openxmlformats.org/drawingml/2006/main">
            <a:endParaRPr/>
          </a:p>
          <a:p xmlns:a="http://schemas.openxmlformats.org/drawingml/2006/main">
            <a:r>
              <a:t>Walk through: This disagreement lowers confidence that the signal generalizes across resolutions. Describe this as a fine-cell female ε4 signal, not a broad-cell-wide effect.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4 may matter without overstating function.</a:t>
            </a:r>
          </a:p>
          <a:p xmlns:a="http://schemas.openxmlformats.org/drawingml/2006/main">
            <a:endParaRPr/>
          </a:p>
          <a:p xmlns:a="http://schemas.openxmlformats.org/drawingml/2006/main">
            <a:r>
              <a:t>Walk through: A nuclear-sided reduction could reflect lower respiratory investment, stress, or a shift in cell state. The fine-cell signal warrants follow-up, but the broad-cell disagreement must stay visible.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4.</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4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4. Literature: https://doi.org/10.1038/s41419-020-02776-4; https://doi.org/10.1016/j.celrep.2023.113183; https://doi.org/10.1038/s41586-024-07606-7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5.</a:t>
            </a:r>
          </a:p>
          <a:p xmlns:a="http://schemas.openxmlformats.org/drawingml/2006/main">
            <a:endParaRPr/>
          </a:p>
          <a:p xmlns:a="http://schemas.openxmlformats.org/drawingml/2006/main">
            <a:r>
              <a:t>Walk through: Both mtDNA and nuclear OXPHOS RNA are broadly lower, but query size strongly affects KDA yield.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5 without assuming specialist knowledge.</a:t>
            </a:r>
          </a:p>
          <a:p xmlns:a="http://schemas.openxmlformats.org/drawingml/2006/main">
            <a:endParaRPr/>
          </a:p>
          <a:p xmlns:a="http://schemas.openxmlformats.org/drawingml/2006/main">
            <a:r>
              <a:t>Walk through: This is the strongest coordinated downward OXPHOS pattern in ROSMAP. An ε2 allele can be protective at the population level while diseased tissue still shows an unfavorable-looking RNA pattern.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5.</a:t>
            </a:r>
          </a:p>
          <a:p xmlns:a="http://schemas.openxmlformats.org/drawingml/2006/main">
            <a:endParaRPr/>
          </a:p>
          <a:p xmlns:a="http://schemas.openxmlformats.org/drawingml/2006/main">
            <a:r>
              <a:t>Walk through: The three summary metrics and three evidence rows preserve the units used in the analysis. Fine-cell pathway results and direct broad-cell sensitivity point mainly downward.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5 in its internal and supplemental evidence context.</a:t>
            </a:r>
          </a:p>
          <a:p xmlns:a="http://schemas.openxmlformats.org/drawingml/2006/main">
            <a:endParaRPr/>
          </a:p>
          <a:p xmlns:a="http://schemas.openxmlformats.org/drawingml/2006/main">
            <a:r>
              <a:t>Walk through: Query size can increase the number of network neighborhoods reached and drivers returned. Large queries confound KDA driver counts, although they do not automatically erase the DEG direction pattern.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5 may matter without overstating function.</a:t>
            </a:r>
          </a:p>
          <a:p xmlns:a="http://schemas.openxmlformats.org/drawingml/2006/main">
            <a:endParaRPr/>
          </a:p>
          <a:p xmlns:a="http://schemas.openxmlformats.org/drawingml/2006/main">
            <a:r>
              <a:t>Walk through: The downward program could reflect respiratory reduction, altered cell state, or selective survival. The DEG direction is interesting, while the unusually high KDA yield needs query-size matching.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5.</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5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5. Literature: https://doi.org/10.1016/j.neuron.2019.03.075; https://doi.org/10.1186/s13024-023-00624-5; https://doi.org/10.1038/s41586-024-07606-7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6.</a:t>
            </a:r>
          </a:p>
          <a:p xmlns:a="http://schemas.openxmlformats.org/drawingml/2006/main">
            <a:endParaRPr/>
          </a:p>
          <a:p xmlns:a="http://schemas.openxmlformats.org/drawingml/2006/main">
            <a:r>
              <a:t>Walk through: mtDNA OXPHOS is mostly up and nuclear OXPHOS is modestly down, with mixed cross-cohort sensitivity.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6 without assuming specialist knowledge.</a:t>
            </a:r>
          </a:p>
          <a:p xmlns:a="http://schemas.openxmlformats.org/drawingml/2006/main">
            <a:endParaRPr/>
          </a:p>
          <a:p xmlns:a="http://schemas.openxmlformats.org/drawingml/2006/main">
            <a:r>
              <a:t>Walk through: The direction split resembles male ε3/ε3, but the nuclear decrease is weaker and cross-cohort broad-cell evidence disagrees. The pattern is a provisional RNA-level hypothesis, not evidence of unbalanced respiratory proteins.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6.</a:t>
            </a:r>
          </a:p>
          <a:p xmlns:a="http://schemas.openxmlformats.org/drawingml/2006/main">
            <a:endParaRPr/>
          </a:p>
          <a:p xmlns:a="http://schemas.openxmlformats.org/drawingml/2006/main">
            <a:r>
              <a:t>Walk through: The three summary metrics and three evidence rows preserve the units used in the analysis. The nuclear direction is substantially less one-sided than in male ε3/ε3.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6 in its internal and supplemental evidence context.</a:t>
            </a:r>
          </a:p>
          <a:p xmlns:a="http://schemas.openxmlformats.org/drawingml/2006/main">
            <a:endParaRPr/>
          </a:p>
          <a:p xmlns:a="http://schemas.openxmlformats.org/drawingml/2006/main">
            <a:r>
              <a:t>Walk through: Cross-resolution disagreement keeps the male ε4 mismatch provisional. The broad-cell mismatch is not robust across cohorts, and SEA-AD cannot test it at fine-cell KDA resolution.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6 may matter without overstating function.</a:t>
            </a:r>
          </a:p>
          <a:p xmlns:a="http://schemas.openxmlformats.org/drawingml/2006/main">
            <a:endParaRPr/>
          </a:p>
          <a:p xmlns:a="http://schemas.openxmlformats.org/drawingml/2006/main">
            <a:r>
              <a:t>Walk through: If confirmed, the split could represent a general male response or an APOE-dependent gradient. A prespecified balance score would test the strength of the split directly across groups.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6.</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6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6. Literature: https://doi.org/10.1016/j.neuron.2019.03.075; https://doi.org/10.1016/j.celrep.2023.113183; https://doi.org/10.1186/s13024-023-00624-5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7.</a:t>
            </a:r>
          </a:p>
          <a:p xmlns:a="http://schemas.openxmlformats.org/drawingml/2006/main">
            <a:endParaRPr/>
          </a:p>
          <a:p xmlns:a="http://schemas.openxmlformats.org/drawingml/2006/main">
            <a:r>
              <a:t>Walk through: RPL11, RPS15, and related cytosolic ribosome genes recur near nuclear OXPHOS query genes.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7 without assuming specialist knowledge.</a:t>
            </a:r>
          </a:p>
          <a:p xmlns:a="http://schemas.openxmlformats.org/drawingml/2006/main">
            <a:endParaRPr/>
          </a:p>
          <a:p xmlns:a="http://schemas.openxmlformats.org/drawingml/2006/main">
            <a:r>
              <a:t>Walk through: The cytosolic ribosome builds most cellular proteins. The signal is more credible as one module than as 20 independent drivers. The analysis prioritizes a ribosome-to-OXPHOS system, not 20 separate proven mitochondrial controllers.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7.</a:t>
            </a:r>
          </a:p>
          <a:p xmlns:a="http://schemas.openxmlformats.org/drawingml/2006/main">
            <a:endParaRPr/>
          </a:p>
          <a:p xmlns:a="http://schemas.openxmlformats.org/drawingml/2006/main">
            <a:r>
              <a:t>Walk through: The three summary metrics and three evidence rows preserve the units used in the analysis. The enrichment test compares 228 unique non-mitochondrial drivers with the exact network background.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7 in its internal and supplemental evidence context.</a:t>
            </a:r>
          </a:p>
          <a:p xmlns:a="http://schemas.openxmlformats.org/drawingml/2006/main">
            <a:endParaRPr/>
          </a:p>
          <a:p xmlns:a="http://schemas.openxmlformats.org/drawingml/2006/main">
            <a:r>
              <a:t>Walk through: RPL11 has a broad nuclear-OXPHOS neighborhood, while RPS15 recurs across the most categories. Frequent RPL11 neighbors include COX7C, UQCRQ, NDUFS5, NDUFA1, ATP5PF, NDUFB9, and NDUFB3.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7 may matter without overstating function.</a:t>
            </a:r>
          </a:p>
          <a:p xmlns:a="http://schemas.openxmlformats.org/drawingml/2006/main">
            <a:endParaRPr/>
          </a:p>
          <a:p xmlns:a="http://schemas.openxmlformats.org/drawingml/2006/main">
            <a:r>
              <a:t>Walk through: Ribosome stress and OXPHOS changes can be biologically linked, but network topology offers a technical alternative. Degree-matched network tests are necessary before interpreting ribosomal recurrence as regulation.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7.</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7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7. Literature: https://doi.org/10.1523/JNEUROSCI.3040-05.2005; https://doi.org/10.1128/MCB.23.23.8902-8912.2003</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8.</a:t>
            </a:r>
          </a:p>
          <a:p xmlns:a="http://schemas.openxmlformats.org/drawingml/2006/main">
            <a:endParaRPr/>
          </a:p>
          <a:p xmlns:a="http://schemas.openxmlformats.org/drawingml/2006/main">
            <a:r>
              <a:t>Walk through: LAMTOR5 repeatedly links lysosomal nutrient sensing with mostly decreased nuclear OXPHOS genes.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8 without assuming specialist knowledge.</a:t>
            </a:r>
          </a:p>
          <a:p xmlns:a="http://schemas.openxmlformats.org/drawingml/2006/main">
            <a:endParaRPr/>
          </a:p>
          <a:p xmlns:a="http://schemas.openxmlformats.org/drawingml/2006/main">
            <a:r>
              <a:t>Walk through: Lysosomes recycle cellular material and help sense nutrients. LAMTOR5 helps relay that information to mTORC1. The result proposes a lysosome-to-mitochondria bridge, while KDA cannot prove the direction of control.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8.</a:t>
            </a:r>
          </a:p>
          <a:p xmlns:a="http://schemas.openxmlformats.org/drawingml/2006/main">
            <a:endParaRPr/>
          </a:p>
          <a:p xmlns:a="http://schemas.openxmlformats.org/drawingml/2006/main">
            <a:r>
              <a:t>Walk through: The three summary metrics and three evidence rows preserve the units used in the analysis. The strongest category scores occur in male ε2 neurons, where query size is unusually large.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8 in its internal and supplemental evidence context.</a:t>
            </a:r>
          </a:p>
          <a:p xmlns:a="http://schemas.openxmlformats.org/drawingml/2006/main">
            <a:endParaRPr/>
          </a:p>
          <a:p xmlns:a="http://schemas.openxmlformats.org/drawingml/2006/main">
            <a:r>
              <a:t>Walk through: The broader module reduces reliance on a single LAMTOR5 result. SEA-AD had no active call in a matching LAMTOR5 discovery category, so exact-context support is unavailable.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8 may matter without overstating function.</a:t>
            </a:r>
          </a:p>
          <a:p xmlns:a="http://schemas.openxmlformats.org/drawingml/2006/main">
            <a:endParaRPr/>
          </a:p>
          <a:p xmlns:a="http://schemas.openxmlformats.org/drawingml/2006/main">
            <a:r>
              <a:t>Walk through: LAMTOR5 sits in a plausible biological position between lysosomes, mTORC1, and mitochondria. Biological plausibility supports perturbation studies but does not validate the inferred LAMTOR5 edges.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8.</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8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8. Literature: https://doi.org/10.1016/j.cell.2012.07.032; https://doi.org/10.1016/j.cmet.2013.10.001; https://doi.org/10.15252/embj.2018100241</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9.</a:t>
            </a:r>
          </a:p>
          <a:p xmlns:a="http://schemas.openxmlformats.org/drawingml/2006/main">
            <a:endParaRPr/>
          </a:p>
          <a:p xmlns:a="http://schemas.openxmlformats.org/drawingml/2006/main">
            <a:r>
              <a:t>Walk through: WDR82 appears only in excitatory neurons and sits near a four-gene mtDNA-up neighborhood.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9 without assuming specialist knowledge.</a:t>
            </a:r>
          </a:p>
          <a:p xmlns:a="http://schemas.openxmlformats.org/drawingml/2006/main">
            <a:endParaRPr/>
          </a:p>
          <a:p xmlns:a="http://schemas.openxmlformats.org/drawingml/2006/main">
            <a:r>
              <a:t>Walk through: The exact neighborhood is narrow, and four recurring mitochondrial genes begin within one long mitochondrial RNA. Four gene names do not provide four independent regulatory observations when they share one starting transcript.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9.</a:t>
            </a:r>
          </a:p>
          <a:p xmlns:a="http://schemas.openxmlformats.org/drawingml/2006/main">
            <a:endParaRPr/>
          </a:p>
          <a:p xmlns:a="http://schemas.openxmlformats.org/drawingml/2006/main">
            <a:r>
              <a:t>Walk through: The three summary metrics and three evidence rows preserve the units used in the analysis. KDA can nominate a gene by network position even when the candidate is not a strong DEG.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9 in its internal and supplemental evidence context.</a:t>
            </a:r>
          </a:p>
          <a:p xmlns:a="http://schemas.openxmlformats.org/drawingml/2006/main">
            <a:endParaRPr/>
          </a:p>
          <a:p xmlns:a="http://schemas.openxmlformats.org/drawingml/2006/main">
            <a:r>
              <a:t>Walk through: The candidate appears in four strata but most supporting calls come from one group. SEA-AD could return WDR82 in 11 matching excitatory backgrounds but did not, although it supports the female ε3/ε3 mtDNA program.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9 may matter without overstating function.</a:t>
            </a:r>
          </a:p>
          <a:p xmlns:a="http://schemas.openxmlformats.org/drawingml/2006/main">
            <a:endParaRPr/>
          </a:p>
          <a:p xmlns:a="http://schemas.openxmlformats.org/drawingml/2006/main">
            <a:r>
              <a:t>Walk through: The signal could reflect transcriptional coupling, global mitochondrial RNA, or network construction. Removing mtDNA query genes is an important sensitivity test before mechanistic interpretation.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9.</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9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9. Literature: https://doi.org/10.1128/MCB.01356-07; https://doi.org/10.1016/j.cell.2011.06.051; https://doi.org/10.3892/mmr.2015.4271</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10.</a:t>
            </a:r>
          </a:p>
          <a:p xmlns:a="http://schemas.openxmlformats.org/drawingml/2006/main">
            <a:endParaRPr/>
          </a:p>
          <a:p xmlns:a="http://schemas.openxmlformats.org/drawingml/2006/main">
            <a:r>
              <a:t>Walk through: SELENOM repeatedly sits near decreased mitochondrial-translation genes in neuronal queries.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10 without assuming specialist knowledge.</a:t>
            </a:r>
          </a:p>
          <a:p xmlns:a="http://schemas.openxmlformats.org/drawingml/2006/main">
            <a:endParaRPr/>
          </a:p>
          <a:p xmlns:a="http://schemas.openxmlformats.org/drawingml/2006/main">
            <a:r>
              <a:t>Walk through: The endoplasmic reticulum, or ER, folds many proteins and helps regulate calcium and oxidation. SELENOM is not part of the mitochondrial ribosome. KDA links two cellular systems through network proximity.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10.</a:t>
            </a:r>
          </a:p>
          <a:p xmlns:a="http://schemas.openxmlformats.org/drawingml/2006/main">
            <a:endParaRPr/>
          </a:p>
          <a:p xmlns:a="http://schemas.openxmlformats.org/drawingml/2006/main">
            <a:r>
              <a:t>Walk through: The three summary metrics and three evidence rows preserve the units used in the analysis. The candidate recurs across groups, so the result is not sex- or APOE-specific.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10 in its internal and supplemental evidence context.</a:t>
            </a:r>
          </a:p>
          <a:p xmlns:a="http://schemas.openxmlformats.org/drawingml/2006/main">
            <a:endParaRPr/>
          </a:p>
          <a:p xmlns:a="http://schemas.openxmlformats.org/drawingml/2006/main">
            <a:r>
              <a:t>Walk through: The ROSMAP recurrence and coherent neighborhood remain the main evidence. Lack of SEA-AD or genetic support lowers external confidence but does not erase recurrent ROSMAP evidence.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10 may matter without overstating function.</a:t>
            </a:r>
          </a:p>
          <a:p xmlns:a="http://schemas.openxmlformats.org/drawingml/2006/main">
            <a:endParaRPr/>
          </a:p>
          <a:p xmlns:a="http://schemas.openxmlformats.org/drawingml/2006/main">
            <a:r>
              <a:t>Walk through: Calcium and oxidation move between the ER and mitochondria, influencing protein folding and energy production. A joint ER and mitochondrial perturbation experiment can distinguish specific coupling from general stress.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10.</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10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10. Literature: https://doi.org/10.1074/jbc.M511386200; https://doi.org/10.3892/ijmm_00000211; https://doi.org/10.3390/ijms14034385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11.</a:t>
            </a:r>
          </a:p>
          <a:p xmlns:a="http://schemas.openxmlformats.org/drawingml/2006/main">
            <a:endParaRPr/>
          </a:p>
          <a:p xmlns:a="http://schemas.openxmlformats.org/drawingml/2006/main">
            <a:r>
              <a:t>Walk through: SELENOW has a broad mitochondrial neighborhood spanning respiration, translation, and protein quality control.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11 without assuming specialist knowledge.</a:t>
            </a:r>
          </a:p>
          <a:p xmlns:a="http://schemas.openxmlformats.org/drawingml/2006/main">
            <a:endParaRPr/>
          </a:p>
          <a:p xmlns:a="http://schemas.openxmlformats.org/drawingml/2006/main">
            <a:r>
              <a:t>Walk through: Redox balance keeps oxidation within a range the cell can tolerate. SELENOW should not be treated as the same mechanism as SELENOM. The broad neighborhood suggests a redox and proteostasis system rather than one narrow OXPHOS edge.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11.</a:t>
            </a:r>
          </a:p>
          <a:p xmlns:a="http://schemas.openxmlformats.org/drawingml/2006/main">
            <a:endParaRPr/>
          </a:p>
          <a:p xmlns:a="http://schemas.openxmlformats.org/drawingml/2006/main">
            <a:r>
              <a:t>Walk through: The three summary metrics and three evidence rows preserve the units used in the analysis. The supporting calls cover excitatory and inhibitory neurons in four sex/APOE strata.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11 in its internal and supplemental evidence context.</a:t>
            </a:r>
          </a:p>
          <a:p xmlns:a="http://schemas.openxmlformats.org/drawingml/2006/main">
            <a:endParaRPr/>
          </a:p>
          <a:p xmlns:a="http://schemas.openxmlformats.org/drawingml/2006/main">
            <a:r>
              <a:t>Walk through: Exact-gene support and pathway-theme support represent different evidence levels. The local genetic screen adds weak transcriptome-wide association support but does not establish causality.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11 may matter without overstating function.</a:t>
            </a:r>
          </a:p>
          <a:p xmlns:a="http://schemas.openxmlformats.org/drawingml/2006/main">
            <a:endParaRPr/>
          </a:p>
          <a:p xmlns:a="http://schemas.openxmlformats.org/drawingml/2006/main">
            <a:r>
              <a:t>Walk through: Prior experiments connect SELENOW with respiration in immune cells and tau clearance in an AD mouse model. SELENOW and SELENOM share selenium biology but have different neighborhoods and must remain separate hypotheses.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11.</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11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11. Literature: https://doi.org/10.1016/j.redox.2022.102571; https://doi.org/10.1038/s42003-024-06572-0</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12.</a:t>
            </a:r>
          </a:p>
          <a:p xmlns:a="http://schemas.openxmlformats.org/drawingml/2006/main">
            <a:endParaRPr/>
          </a:p>
          <a:p xmlns:a="http://schemas.openxmlformats.org/drawingml/2006/main">
            <a:r>
              <a:t>Walk through: PGK1 connects astrocyte glycolysis with a narrow BNIP3, BNIP3L, and FAM162A stress neighborhood.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12 without assuming specialist knowledge.</a:t>
            </a:r>
          </a:p>
          <a:p xmlns:a="http://schemas.openxmlformats.org/drawingml/2006/main">
            <a:endParaRPr/>
          </a:p>
          <a:p xmlns:a="http://schemas.openxmlformats.org/drawingml/2006/main">
            <a:r>
              <a:t>Walk through: Glycolysis makes energy from sugar outside mitochondria. Mitophagy is the recycling of damaged mitochondria. The focused neighborhood suggests a glycolysis-to-mitophagy hypothesis, not broad control of all OXPHOS genes.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12.</a:t>
            </a:r>
          </a:p>
          <a:p xmlns:a="http://schemas.openxmlformats.org/drawingml/2006/main">
            <a:endParaRPr/>
          </a:p>
          <a:p xmlns:a="http://schemas.openxmlformats.org/drawingml/2006/main">
            <a:r>
              <a:t>Walk through: The three summary metrics and three evidence rows preserve the units used in the analysis. The category scores rank candidates but are exploratory rather than final q-values.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12 in its internal and supplemental evidence context.</a:t>
            </a:r>
          </a:p>
          <a:p xmlns:a="http://schemas.openxmlformats.org/drawingml/2006/main">
            <a:endParaRPr/>
          </a:p>
          <a:p xmlns:a="http://schemas.openxmlformats.org/drawingml/2006/main">
            <a:r>
              <a:t>Walk through: A narrow module can sharpen a hypothesis but also depends heavily on a few genes. The candidate appears across several groups and should not be labeled sex- or APOE-specific.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12 may matter without overstating function.</a:t>
            </a:r>
          </a:p>
          <a:p xmlns:a="http://schemas.openxmlformats.org/drawingml/2006/main">
            <a:endParaRPr/>
          </a:p>
          <a:p xmlns:a="http://schemas.openxmlformats.org/drawingml/2006/main">
            <a:r>
              <a:t>Walk through: Astrocytes help regulate energy supply for neurons and respond strongly to Alzheimer’s pathology. A perturbation and rescue design can test whether PGK1 acts upstream of the BNIP3 pathway.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12.</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12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12. Literature: https://doi.org/10.1038/s41586-024-07606-7; https://doi.org/10.1038/s41419-020-02776-4; https://doi.org/10.1016/j.celrep.2023.113183</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13.</a:t>
            </a:r>
          </a:p>
          <a:p xmlns:a="http://schemas.openxmlformats.org/drawingml/2006/main">
            <a:endParaRPr/>
          </a:p>
          <a:p xmlns:a="http://schemas.openxmlformats.org/drawingml/2006/main">
            <a:r>
              <a:t>Walk through: FTL and ANKRD11 share an OPC neighborhood involving iron storage, GPX4, OXPHOS, and autophagy.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13 without assuming specialist knowledge.</a:t>
            </a:r>
          </a:p>
          <a:p xmlns:a="http://schemas.openxmlformats.org/drawingml/2006/main">
            <a:endParaRPr/>
          </a:p>
          <a:p xmlns:a="http://schemas.openxmlformats.org/drawingml/2006/main">
            <a:r>
              <a:t>Walk through: OPCs mature into myelin-producing cells. Ferroptosis is cell death caused by iron-dependent damage to membrane fats. The evidence supports an iron and autophagy hypothesis. Ferroptosis requires direct lipid-damage and rescue measurements.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13.</a:t>
            </a:r>
          </a:p>
          <a:p xmlns:a="http://schemas.openxmlformats.org/drawingml/2006/main">
            <a:endParaRPr/>
          </a:p>
          <a:p xmlns:a="http://schemas.openxmlformats.org/drawingml/2006/main">
            <a:r>
              <a:t>Walk through: The three summary metrics and three evidence rows preserve the units used in the analysis. ROSMAP contains one OPC fine type, so the two group-specific calls do not provide broad subtype replication.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13 in its internal and supplemental evidence context.</a:t>
            </a:r>
          </a:p>
          <a:p xmlns:a="http://schemas.openxmlformats.org/drawingml/2006/main">
            <a:endParaRPr/>
          </a:p>
          <a:p xmlns:a="http://schemas.openxmlformats.org/drawingml/2006/main">
            <a:r>
              <a:t>Walk through: The pathway terms overlap and partly depend on generic ubiquitin and tubulin genes. SEA-AD had no active OPC category, so the finding is not evaluable in that cohort.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13 may matter without overstating function.</a:t>
            </a:r>
          </a:p>
          <a:p xmlns:a="http://schemas.openxmlformats.org/drawingml/2006/main">
            <a:endParaRPr/>
          </a:p>
          <a:p xmlns:a="http://schemas.openxmlformats.org/drawingml/2006/main">
            <a:r>
              <a:t>Walk through: Iron storage, GPX4 protection, and mitochondrial quality control converge on a testable vulnerability model. Opposite FTL directions warn against one simple model across sex/APOE groups.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13.</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13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13. Literature: https://pmc.ncbi.nlm.nih.gov/articles/PMC8941078/; https://doi.org/10.1186/s12915-025-02235-6</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14.</a:t>
            </a:r>
          </a:p>
          <a:p xmlns:a="http://schemas.openxmlformats.org/drawingml/2006/main">
            <a:endParaRPr/>
          </a:p>
          <a:p xmlns:a="http://schemas.openxmlformats.org/drawingml/2006/main">
            <a:r>
              <a:t>Walk through: PLCG2 has strong Alzheimer’s genetics, but every exact mitochondrial KDA overlap is MT-CO1 alone.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14 without assuming specialist knowledge.</a:t>
            </a:r>
          </a:p>
          <a:p xmlns:a="http://schemas.openxmlformats.org/drawingml/2006/main">
            <a:endParaRPr/>
          </a:p>
          <a:p xmlns:a="http://schemas.openxmlformats.org/drawingml/2006/main">
            <a:r>
              <a:t>Walk through: PLCG2 encodes a signaling enzyme. KDA selects network position, so a driver does not need to be a DEG. Strong genetics supports the gene, but it does not validate this inhibitory-neuron network edge.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14.</a:t>
            </a:r>
          </a:p>
          <a:p xmlns:a="http://schemas.openxmlformats.org/drawingml/2006/main">
            <a:endParaRPr/>
          </a:p>
          <a:p xmlns:a="http://schemas.openxmlformats.org/drawingml/2006/main">
            <a:r>
              <a:t>Walk through: The three summary metrics and three evidence rows preserve the units used in the analysis. Repeated MT-CO1 is not equivalent to several distinct mitochondrial neighbors.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14 in its internal and supplemental evidence context.</a:t>
            </a:r>
          </a:p>
          <a:p xmlns:a="http://schemas.openxmlformats.org/drawingml/2006/main">
            <a:endParaRPr/>
          </a:p>
          <a:p xmlns:a="http://schemas.openxmlformats.org/drawingml/2006/main">
            <a:r>
              <a:t>Walk through: Input-query coherence and exact driver neighborhoods answer different questions. Phase 19b supports PLCG2 at the gene level, while the MT-CO1 network edge remains technically narrow.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14 may matter without overstating function.</a:t>
            </a:r>
          </a:p>
          <a:p xmlns:a="http://schemas.openxmlformats.org/drawingml/2006/main">
            <a:endParaRPr/>
          </a:p>
          <a:p xmlns:a="http://schemas.openxmlformats.org/drawingml/2006/main">
            <a:r>
              <a:t>Walk through: A well-established disease gene can still have an uncertain cell context or network neighborhood. PLCG2 remains worth testing, but the first priority is verifying its neuronal presence and neighborhood.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14.</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14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14. Literature: https://doi.org/10.1186/s13195-019-0469-0; https://doi.org/10.1038/s41588-026-02709-5</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15.</a:t>
            </a:r>
          </a:p>
          <a:p xmlns:a="http://schemas.openxmlformats.org/drawingml/2006/main">
            <a:endParaRPr/>
          </a:p>
          <a:p xmlns:a="http://schemas.openxmlformats.org/drawingml/2006/main">
            <a:r>
              <a:t>Walk through: APOE is returned in three astrocyte groups with opposite expression directions and different mitochondrial neighbors.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15 without assuming specialist knowledge.</a:t>
            </a:r>
          </a:p>
          <a:p xmlns:a="http://schemas.openxmlformats.org/drawingml/2006/main">
            <a:endParaRPr/>
          </a:p>
          <a:p xmlns:a="http://schemas.openxmlformats.org/drawingml/2006/main">
            <a:r>
              <a:t>Walk through: Astrocytes produce much of the brain’s APOE. Finding the gene in an APOE-stratified analysis does not make the result ε4-specific. Opposite within-group directions motivate a direct interaction test rather than an ε4-only story.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15.</a:t>
            </a:r>
          </a:p>
          <a:p xmlns:a="http://schemas.openxmlformats.org/drawingml/2006/main">
            <a:endParaRPr/>
          </a:p>
          <a:p xmlns:a="http://schemas.openxmlformats.org/drawingml/2006/main">
            <a:r>
              <a:t>Walk through: The three summary metrics and three evidence rows preserve the units used in the analysis. Each context contributes one call, so the evidence is too sparse to define one shared module.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15 in its internal and supplemental evidence context.</a:t>
            </a:r>
          </a:p>
          <a:p xmlns:a="http://schemas.openxmlformats.org/drawingml/2006/main">
            <a:endParaRPr/>
          </a:p>
          <a:p xmlns:a="http://schemas.openxmlformats.org/drawingml/2006/main">
            <a:r>
              <a:t>Walk through: Different directions and neighbors may reflect true context or cell-state and sampling differences. The human genetic importance of APOE does not validate the direction differences or mitochondrial edges.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15 may matter without overstating function.</a:t>
            </a:r>
          </a:p>
          <a:p xmlns:a="http://schemas.openxmlformats.org/drawingml/2006/main">
            <a:endParaRPr/>
          </a:p>
          <a:p xmlns:a="http://schemas.openxmlformats.org/drawingml/2006/main">
            <a:r>
              <a:t>Walk through: The same gene may respond differently across groups even when its population-level risk role is well established. The result argues for context-specific APOE models rather than an ε4-only interpretation.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15.</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15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15. Literature: https://doi.org/10.1016/j.neuron.2019.03.075; https://doi.org/10.1016/j.celrep.2023.113183; https://doi.org/10.1038/s41419-020-02776-4</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16.</a:t>
            </a:r>
          </a:p>
          <a:p xmlns:a="http://schemas.openxmlformats.org/drawingml/2006/main">
            <a:endParaRPr/>
          </a:p>
          <a:p xmlns:a="http://schemas.openxmlformats.org/drawingml/2006/main">
            <a:r>
              <a:t>Walk through: Three stress-response drivers define a small female ε4 vascular module across only two eligible calls.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16 without assuming specialist knowledge.</a:t>
            </a:r>
          </a:p>
          <a:p xmlns:a="http://schemas.openxmlformats.org/drawingml/2006/main">
            <a:endParaRPr/>
          </a:p>
          <a:p xmlns:a="http://schemas.openxmlformats.org/drawingml/2006/main">
            <a:r>
              <a:t>Walk through: Heat-shock genes protect protein folding during many forms of cell stress. Literal high temperature is not required. Three related genes create a focused clue, not evidence of a broad vascular stress program.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16.</a:t>
            </a:r>
          </a:p>
          <a:p xmlns:a="http://schemas.openxmlformats.org/drawingml/2006/main">
            <a:endParaRPr/>
          </a:p>
          <a:p xmlns:a="http://schemas.openxmlformats.org/drawingml/2006/main">
            <a:r>
              <a:t>Walk through: The three summary metrics and three evidence rows preserve the units used in the analysis. The pathway analysis uses the vascular network background and remains exploratory.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16 in its internal and supplemental evidence context.</a:t>
            </a:r>
          </a:p>
          <a:p xmlns:a="http://schemas.openxmlformats.org/drawingml/2006/main">
            <a:endParaRPr/>
          </a:p>
          <a:p xmlns:a="http://schemas.openxmlformats.org/drawingml/2006/main">
            <a:r>
              <a:t>Walk through: The evidence level reflects internal sparsity rather than a failed external comparison. The candidate remains a low-confidence ROSMAP clue because of sparse internal support.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16 may matter without overstating function.</a:t>
            </a:r>
          </a:p>
          <a:p xmlns:a="http://schemas.openxmlformats.org/drawingml/2006/main">
            <a:endParaRPr/>
          </a:p>
          <a:p xmlns:a="http://schemas.openxmlformats.org/drawingml/2006/main">
            <a:r>
              <a:t>Walk through: A protein-protection response could mark vascular strain near Alzheimer’s pathology. Spatial evidence can test whether the stress proteins rise near vascular Alzheimer’s pathology.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16.</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16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16. Literature: https://doi.org/10.1186/s13024-023-00624-5; https://doi.org/10.1038/s41586-024-07606-7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Proceed to Finding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Introduce Finding 17.</a:t>
            </a:r>
          </a:p>
          <a:p xmlns:a="http://schemas.openxmlformats.org/drawingml/2006/main">
            <a:endParaRPr/>
          </a:p>
          <a:p xmlns:a="http://schemas.openxmlformats.org/drawingml/2006/main">
            <a:r>
              <a:t>Walk through: Programs agree more strongly than exact driver identities across the two cohort-specific network analyses. Source: docs/analysis/kda_w_human_validation/rosmap_sex_apoe_broad_kda_analysis.md, Finding 17.</a:t>
            </a:r>
          </a:p>
          <a:p xmlns:a="http://schemas.openxmlformats.org/drawingml/2006/main">
            <a:endParaRPr/>
          </a:p>
          <a:p xmlns:a="http://schemas.openxmlformats.org/drawingml/2006/main">
            <a:r>
              <a:t>Scientific boundary: This section presents a testable interpretation. KDA and transcript direction do not establish causal regulation or mitochondrial function.</a:t>
            </a:r>
          </a:p>
          <a:p xmlns:a="http://schemas.openxmlformats.org/drawingml/2006/main">
            <a:endParaRPr/>
          </a:p>
          <a:p xmlns:a="http://schemas.openxmlformats.org/drawingml/2006/main">
            <a:r>
              <a:t>Transition: State the finding in plain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Finding 17 without assuming specialist knowledge.</a:t>
            </a:r>
          </a:p>
          <a:p xmlns:a="http://schemas.openxmlformats.org/drawingml/2006/main">
            <a:endParaRPr/>
          </a:p>
          <a:p xmlns:a="http://schemas.openxmlformats.org/drawingml/2006/main">
            <a:r>
              <a:t>Walk through: Exact context means the same gene, sex/APOE group, and broad cell class in both cohorts. Different cohort-specific networks can nominate different genes even when they point to similar mitochondrial biology. Source: docs/analysis/kda_w_human_validation/rosmap_sex_apoe_broad_kda_analysis.md, Finding 17.</a:t>
            </a:r>
          </a:p>
          <a:p xmlns:a="http://schemas.openxmlformats.org/drawingml/2006/main">
            <a:endParaRPr/>
          </a:p>
          <a:p xmlns:a="http://schemas.openxmlformats.org/drawingml/2006/main">
            <a:r>
              <a:t>Scientific boundary: The slide explains the observed RNA or network pattern. It does not assign causality or functional consequence.</a:t>
            </a:r>
          </a:p>
          <a:p xmlns:a="http://schemas.openxmlformats.org/drawingml/2006/main">
            <a:endParaRPr/>
          </a:p>
          <a:p xmlns:a="http://schemas.openxmlformats.org/drawingml/2006/main">
            <a:r>
              <a:t>Transition: Show the ROSMAP evidence behind the statement.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Present the primary ROSMAP evidence for Finding 17.</a:t>
            </a:r>
          </a:p>
          <a:p xmlns:a="http://schemas.openxmlformats.org/drawingml/2006/main">
            <a:endParaRPr/>
          </a:p>
          <a:p xmlns:a="http://schemas.openxmlformats.org/drawingml/2006/main">
            <a:r>
              <a:t>Walk through: The three summary metrics and three evidence rows preserve the units used in the analysis. A gene absent from the matching SEA-AD network background could never be selected. Source: docs/analysis/kda_w_human_validation/rosmap_sex_apoe_broad_kda_analysis.md, Finding 17.</a:t>
            </a:r>
          </a:p>
          <a:p xmlns:a="http://schemas.openxmlformats.org/drawingml/2006/main">
            <a:endParaRPr/>
          </a:p>
          <a:p xmlns:a="http://schemas.openxmlformats.org/drawingml/2006/main">
            <a:r>
              <a:t>Scientific boundary: Occurrences can repeat genes across fine-cell calls and are not independent donors. Exploratory aggregate scores are not final q-values unless stated otherwise.</a:t>
            </a:r>
          </a:p>
          <a:p xmlns:a="http://schemas.openxmlformats.org/drawingml/2006/main">
            <a:endParaRPr/>
          </a:p>
          <a:p xmlns:a="http://schemas.openxmlformats.org/drawingml/2006/main">
            <a:r>
              <a:t>Transition: Place the result in its cell-resolution and cross-cohort context.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Place Finding 17 in its internal and supplemental evidence context.</a:t>
            </a:r>
          </a:p>
          <a:p xmlns:a="http://schemas.openxmlformats.org/drawingml/2006/main">
            <a:endParaRPr/>
          </a:p>
          <a:p xmlns:a="http://schemas.openxmlformats.org/drawingml/2006/main">
            <a:r>
              <a:t>Walk through: The recurrences support general candidate relevance but do not confirm the original sex/APOE and cell context. Across all genes, 3 of 43 SEA-AD drivers overlap 228 ROSMAP drivers, odds ratio 3.15 and P 0.0812. Source: docs/analysis/kda_w_human_validation/rosmap_sex_apoe_broad_kda_analysis.md, Finding 17.</a:t>
            </a:r>
          </a:p>
          <a:p xmlns:a="http://schemas.openxmlformats.org/drawingml/2006/main">
            <a:endParaRPr/>
          </a:p>
          <a:p xmlns:a="http://schemas.openxmlformats.org/drawingml/2006/main">
            <a:r>
              <a:t>Scientific boundary: Unavailable SEA-AD coverage is neutral. A tested but unreturned driver offers limited counterevidence because networks, labels, thresholds, and sample sizes differ.</a:t>
            </a:r>
          </a:p>
          <a:p xmlns:a="http://schemas.openxmlformats.org/drawingml/2006/main">
            <a:endParaRPr/>
          </a:p>
          <a:p xmlns:a="http://schemas.openxmlformats.org/drawingml/2006/main">
            <a:r>
              <a:t>Transition: Explain why the result may matter biologically.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Explain why Finding 17 may matter without overstating function.</a:t>
            </a:r>
          </a:p>
          <a:p xmlns:a="http://schemas.openxmlformats.org/drawingml/2006/main">
            <a:endParaRPr/>
          </a:p>
          <a:p xmlns:a="http://schemas.openxmlformats.org/drawingml/2006/main">
            <a:r>
              <a:t>Walk through: Networks, phenotype labels, available cell types, and query thresholds differ between cohorts. Program support can strengthen a ROSMAP finding without confirming its exact upstream candidate. Source: docs/analysis/kda_w_human_validation/rosmap_sex_apoe_broad_kda_analysis.md, Finding 17.</a:t>
            </a:r>
          </a:p>
          <a:p xmlns:a="http://schemas.openxmlformats.org/drawingml/2006/main">
            <a:endParaRPr/>
          </a:p>
          <a:p xmlns:a="http://schemas.openxmlformats.org/drawingml/2006/main">
            <a:r>
              <a:t>Scientific boundary: Biological plausibility does not establish the direction of regulation, causality, or functional consequence.</a:t>
            </a:r>
          </a:p>
          <a:p xmlns:a="http://schemas.openxmlformats.org/drawingml/2006/main">
            <a:endParaRPr/>
          </a:p>
          <a:p xmlns:a="http://schemas.openxmlformats.org/drawingml/2006/main">
            <a:r>
              <a:t>Transition: Separate the observation from what remains unproven.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State the scientific boundaries and next experiments for Finding 17.</a:t>
            </a:r>
          </a:p>
          <a:p xmlns:a="http://schemas.openxmlformats.org/drawingml/2006/main">
            <a:endParaRPr/>
          </a:p>
          <a:p xmlns:a="http://schemas.openxmlformats.org/drawingml/2006/main">
            <a:r>
              <a:t>Walk through: The left side lists claims that the current data cannot support. The right side lists experiments or analyses that directly address those gaps. Source: docs/analysis/kda_w_human_validation/rosmap_sex_apoe_broad_kda_analysis.md, Finding 17.</a:t>
            </a:r>
          </a:p>
          <a:p xmlns:a="http://schemas.openxmlformats.org/drawingml/2006/main">
            <a:endParaRPr/>
          </a:p>
          <a:p xmlns:a="http://schemas.openxmlformats.org/drawingml/2006/main">
            <a:r>
              <a:t>Scientific boundary: Another expression dataset can improve reproducibility, but perturbation and functional rescue are needed for a causal mechanism.</a:t>
            </a:r>
          </a:p>
          <a:p xmlns:a="http://schemas.openxmlformats.org/drawingml/2006/main">
            <a:endParaRPr/>
          </a:p>
          <a:p xmlns:a="http://schemas.openxmlformats.org/drawingml/2006/main">
            <a:r>
              <a:t>Transition: Place the result in prior research and summarize its evidence level.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Teaching goal: Connect Finding 17 to prior research while preserving its novelty boundary.</a:t>
            </a:r>
          </a:p>
          <a:p xmlns:a="http://schemas.openxmlformats.org/drawingml/2006/main">
            <a:endParaRPr/>
          </a:p>
          <a:p xmlns:a="http://schemas.openxmlformats.org/drawingml/2006/main">
            <a:r>
              <a:t>Walk through: The slide distinguishes what each study or analysis supports from what it cannot establish. Source: docs/analysis/kda_w_human_validation/rosmap_sex_apoe_broad_kda_analysis.md, Finding 17.</a:t>
            </a:r>
          </a:p>
          <a:p xmlns:a="http://schemas.openxmlformats.org/drawingml/2006/main">
            <a:endParaRPr/>
          </a:p>
          <a:p xmlns:a="http://schemas.openxmlformats.org/drawingml/2006/main">
            <a:r>
              <a:t>Scientific boundary: The novelty label is provisional and comes from a focused rather than systematic literature review.</a:t>
            </a:r>
          </a:p>
          <a:p xmlns:a="http://schemas.openxmlformats.org/drawingml/2006/main">
            <a:endParaRPr/>
          </a:p>
          <a:p xmlns:a="http://schemas.openxmlformats.org/drawingml/2006/main">
            <a:r>
              <a:t>Transition: Close by returning to the strongest program-level results and the experiments needed to test causality.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2669a78ee8d4cd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7cc2dffbf34d3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19a47a34a584f3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b231fa0f17343f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2ea7655fe04e0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a4c3a6a1eb7445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c2edda034c2413d"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163188ecd1b04e1f"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09f4ad8a1d29437d"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c0c4855cffbf48e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137dc5d2520a46d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69BA105-4B24-46A8-AF1E-746362AECBED}"/>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9153A9A4-39A0-4527-BCC8-87E8B379E888}"/>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3130D54B-796E-481E-8C08-BA01FBA2FB2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FC8D336F-2113-4BE9-B57A-0B488AA3103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72DB447C-5DD6-487E-8966-80A70E2A140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CD45C28-A521-4016-A859-5CDF1570725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441D5F0D-3BEC-4F03-B479-F5491D273040}"/>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B921A8A-5687-460F-8627-57019F2B302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2A32EE1D-CDAC-4B84-9CDA-9E0A2E101C2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86D9969-7263-434E-85BA-616B70F0F69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3F0E578C-327B-437D-9B83-9555D5872F7C}"/>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D18478C-FB06-48F7-8BEF-170985AB4892}"/>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AAC0CE1F-9B2E-49D7-8D5C-16F25C9832C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5769DEF4-BD2C-45AE-B50F-F80E3FEF57B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ABBFF11-CE87-4491-8FE1-B34F6F5D608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2E0FD6-7325-4BAE-B158-0AF28703D23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A1B9E55E-5FBD-41FE-A156-FBD61AD2E58F}"/>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092D2BBA-9FF3-4D93-9F11-A7B7707A5CF6}"/>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4C434C50-7A6B-46C2-9F04-8456F222441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6" name="Footer Placeholder 5">
            <a:extLst xmlns:a="http://schemas.openxmlformats.org/drawingml/2006/main">
              <a:ext uri="{FF2B5EF4-FFF2-40B4-BE49-F238E27FC236}">
                <a16:creationId xmlns:a16="http://schemas.microsoft.com/office/drawing/2014/main" id="{4F378908-8C1E-449A-9A0C-21909ADDF7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55FEEC09-795E-489D-9504-3B44CB5AA4D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E981A13-D01A-4639-9441-9EC57E01409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96EF0EA9-550A-4D7F-858D-12C4362BC177}"/>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EACA97FA-5666-4E7B-AF25-82C69827DAD9}"/>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181B0157-C047-4AC4-B60B-AC374C2DC854}"/>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162A9E80-ABF2-4CB0-A883-8BAE7511051C}"/>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F5126AB6-169A-4049-B2B0-415A430E173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8" name="Footer Placeholder 7">
            <a:extLst xmlns:a="http://schemas.openxmlformats.org/drawingml/2006/main">
              <a:ext uri="{FF2B5EF4-FFF2-40B4-BE49-F238E27FC236}">
                <a16:creationId xmlns:a16="http://schemas.microsoft.com/office/drawing/2014/main" id="{F7AAF46D-1D70-4152-B3A5-0E25EA8A8C4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3AE2825-6870-4AFD-8C3D-17D9697BC43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B2E3350-79AD-454B-BB3B-E545049432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8A11277A-119B-4C22-9FC5-1A4217BC45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4" name="Footer Placeholder 3">
            <a:extLst xmlns:a="http://schemas.openxmlformats.org/drawingml/2006/main">
              <a:ext uri="{FF2B5EF4-FFF2-40B4-BE49-F238E27FC236}">
                <a16:creationId xmlns:a16="http://schemas.microsoft.com/office/drawing/2014/main" id="{8F2E988A-0294-4518-9131-4707DAB2542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FA7AD5DD-ABB5-44F6-B093-E1499C54A80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0BDCC284-4903-4405-85A0-D1A57B9D92F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3" name="Footer Placeholder 2">
            <a:extLst xmlns:a="http://schemas.openxmlformats.org/drawingml/2006/main">
              <a:ext uri="{FF2B5EF4-FFF2-40B4-BE49-F238E27FC236}">
                <a16:creationId xmlns:a16="http://schemas.microsoft.com/office/drawing/2014/main" id="{ED141682-5DE1-4CBF-9569-373FE0B9BAA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25914B2A-D7F2-4159-8F69-309A5F773B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4EAE9D-CBCA-4A4B-B8D6-7AA34F8FC57F}"/>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B4DB1A8F-971E-4746-AF4B-BFD89C5FAE14}"/>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BB5F97F2-8320-44DF-AD44-ED692B695938}"/>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5F591FE0-785C-4A07-B472-DEA202AE0F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6" name="Footer Placeholder 5">
            <a:extLst xmlns:a="http://schemas.openxmlformats.org/drawingml/2006/main">
              <a:ext uri="{FF2B5EF4-FFF2-40B4-BE49-F238E27FC236}">
                <a16:creationId xmlns:a16="http://schemas.microsoft.com/office/drawing/2014/main" id="{58C68A51-38CA-43E0-8B25-5C296B6D720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30C76129-082E-4010-995E-1A5CAB3501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5E2586B-36D9-4D69-B104-4DA42CD2CB4C}"/>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2F09145-3BCD-4CA1-BFED-E06BE6CDF968}"/>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B1E2E8AB-3FDA-4762-9EBF-75E6F952199C}"/>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A7630AB2-0EAA-400F-BBFF-70171F0B77C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6" name="Footer Placeholder 5">
            <a:extLst xmlns:a="http://schemas.openxmlformats.org/drawingml/2006/main">
              <a:ext uri="{FF2B5EF4-FFF2-40B4-BE49-F238E27FC236}">
                <a16:creationId xmlns:a16="http://schemas.microsoft.com/office/drawing/2014/main" id="{27B3CC1A-7049-40A0-8239-F3E2491963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240AA53-86D7-4E25-B6E1-D0C0AA006D9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7DEBF38-4BA8-4B01-8C99-0E769930C7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804F0F90-D54B-4EF4-8018-5AE775362E9C}"/>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4096C5B-B3CD-48C2-8D22-17A9C72D938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F4C35787-6E7C-40C7-BA5E-00B865B70B6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9E8490C8-CEB3-4CE2-A455-02DB2222343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0C24AAC7-17EB-4F15-841B-6603F68C7477}"/>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4A072281-7E51-431F-BA06-B1F8B94C45C3}"/>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0FBBD04-DEBB-4D2A-B110-D09DD3DFBA6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B1EAC1E3-8832-4FA1-9E1C-6641B261795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DB44CD56-F4C0-4208-A1CD-85495B3AF25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C1FF6DA9-008F-8B48-92A6-B652298478BF}"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68ab1b091aa404e" /><Relationship Type="http://schemas.openxmlformats.org/officeDocument/2006/relationships/slideLayout" Target="/ppt/slideLayouts/slideLayout1.xml" Id="Ra8b1da0f971d4207" /><Relationship Type="http://schemas.openxmlformats.org/officeDocument/2006/relationships/slideLayout" Target="/ppt/slideLayouts/slideLayout2.xml" Id="R157ed320c32b4ce1" /><Relationship Type="http://schemas.openxmlformats.org/officeDocument/2006/relationships/slideLayout" Target="/ppt/slideLayouts/slideLayout3.xml" Id="Rb8a92cbe821e448f" /><Relationship Type="http://schemas.openxmlformats.org/officeDocument/2006/relationships/slideLayout" Target="/ppt/slideLayouts/slideLayout4.xml" Id="Rcdce5a92fc2a43b8" /><Relationship Type="http://schemas.openxmlformats.org/officeDocument/2006/relationships/slideLayout" Target="/ppt/slideLayouts/slideLayout5.xml" Id="Rc9c21435c8a64397" /><Relationship Type="http://schemas.openxmlformats.org/officeDocument/2006/relationships/slideLayout" Target="/ppt/slideLayouts/slideLayout6.xml" Id="R78c7601b318946dc" /><Relationship Type="http://schemas.openxmlformats.org/officeDocument/2006/relationships/slideLayout" Target="/ppt/slideLayouts/slideLayout7.xml" Id="R82af055004d54ad4" /><Relationship Type="http://schemas.openxmlformats.org/officeDocument/2006/relationships/slideLayout" Target="/ppt/slideLayouts/slideLayout8.xml" Id="R4d78acbce3fc474d" /><Relationship Type="http://schemas.openxmlformats.org/officeDocument/2006/relationships/slideLayout" Target="/ppt/slideLayouts/slideLayout9.xml" Id="R623c4ad2e9be4b10" /><Relationship Type="http://schemas.openxmlformats.org/officeDocument/2006/relationships/slideLayout" Target="/ppt/slideLayouts/slideLayout10.xml" Id="R91efb2dd08ad4233" /><Relationship Type="http://schemas.openxmlformats.org/officeDocument/2006/relationships/slideLayout" Target="/ppt/slideLayouts/slideLayout11.xml" Id="R2699db9327cc428c"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039895C2-58CF-4796-9A2F-60BFF31E6F0B}"/>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7DB0848-96C1-4747-94C1-8CC3A12832BA}"/>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A3588A0-AE2B-40F4-AA6A-BFC9BE89514C}"/>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5BCAD085-E8A6-8845-BD4E-CB4CCA059FC4}" type="datetimeFigureOut">
              <a:t>9/19/26</a:t>
            </a:fld>
            <a:endParaRPr/>
          </a:p>
        </p:txBody>
      </p:sp>
      <p:sp>
        <p:nvSpPr>
          <p:cNvPr id="5" name="Footer Placeholder 4">
            <a:extLst xmlns:a="http://schemas.openxmlformats.org/drawingml/2006/main">
              <a:ext uri="{FF2B5EF4-FFF2-40B4-BE49-F238E27FC236}">
                <a16:creationId xmlns:a16="http://schemas.microsoft.com/office/drawing/2014/main" id="{EC6D0DB2-A037-4EF8-94A0-B6597B8D83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D5E4468-25E1-4C9F-9E11-193DF27CB836}"/>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8b1da0f971d4207"/>
    <p:sldLayoutId xmlns:r="http://schemas.openxmlformats.org/officeDocument/2006/relationships" id="2147483650" r:id="R157ed320c32b4ce1"/>
    <p:sldLayoutId xmlns:r="http://schemas.openxmlformats.org/officeDocument/2006/relationships" id="2147483651" r:id="Rb8a92cbe821e448f"/>
    <p:sldLayoutId xmlns:r="http://schemas.openxmlformats.org/officeDocument/2006/relationships" id="2147483652" r:id="Rcdce5a92fc2a43b8"/>
    <p:sldLayoutId xmlns:r="http://schemas.openxmlformats.org/officeDocument/2006/relationships" id="2147483653" r:id="Rc9c21435c8a64397"/>
    <p:sldLayoutId xmlns:r="http://schemas.openxmlformats.org/officeDocument/2006/relationships" id="2147483654" r:id="R78c7601b318946dc"/>
    <p:sldLayoutId xmlns:r="http://schemas.openxmlformats.org/officeDocument/2006/relationships" id="2147483655" r:id="R82af055004d54ad4"/>
    <p:sldLayoutId xmlns:r="http://schemas.openxmlformats.org/officeDocument/2006/relationships" id="2147483656" r:id="R4d78acbce3fc474d"/>
    <p:sldLayoutId xmlns:r="http://schemas.openxmlformats.org/officeDocument/2006/relationships" id="2147483657" r:id="R623c4ad2e9be4b10"/>
    <p:sldLayoutId xmlns:r="http://schemas.openxmlformats.org/officeDocument/2006/relationships" id="2147483658" r:id="R91efb2dd08ad4233"/>
    <p:sldLayoutId xmlns:r="http://schemas.openxmlformats.org/officeDocument/2006/relationships" id="2147483659" r:id="R2699db9327cc428c"/>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0e670c7ebc914895" /><Relationship Type="http://schemas.openxmlformats.org/officeDocument/2006/relationships/notesSlide" Target="/ppt/notesSlides/notesSlide1.xml" Id="R3db473c9fe3a40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d0b3231238049a1" /><Relationship Type="http://schemas.openxmlformats.org/officeDocument/2006/relationships/notesSlide" Target="/ppt/notesSlides/notesSlide2.xml" Id="R20472b32ed6a408b"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ae695466dbd84892" /><Relationship Type="http://schemas.openxmlformats.org/officeDocument/2006/relationships/notesSlide" Target="/ppt/notesSlides/notesSlide3.xml" Id="Re736248105a545ca"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08488514a5b4bb8" /><Relationship Type="http://schemas.openxmlformats.org/officeDocument/2006/relationships/image" Target="/ppt/media/image.png" Id="R1b73924abf784a00" /><Relationship Type="http://schemas.openxmlformats.org/officeDocument/2006/relationships/notesSlide" Target="/ppt/notesSlides/notesSlide4.xml" Id="R3b94a76afc1d493b"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3e1a9b88a2242f2" /><Relationship Type="http://schemas.openxmlformats.org/officeDocument/2006/relationships/notesSlide" Target="/ppt/notesSlides/notesSlide5.xml" Id="R93ee97b3f4be4d45"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fcf4893e77041bb" /><Relationship Type="http://schemas.openxmlformats.org/officeDocument/2006/relationships/notesSlide" Target="/ppt/notesSlides/notesSlide6.xml" Id="R34e4be16c08149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0fbf3a72b8cf4bbf" /><Relationship Type="http://schemas.openxmlformats.org/officeDocument/2006/relationships/notesSlide" Target="/ppt/notesSlides/notesSlide7.xml" Id="R387fb6800e7b4a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ef943b8c9be9488a" /><Relationship Type="http://schemas.openxmlformats.org/officeDocument/2006/relationships/notesSlide" Target="/ppt/notesSlides/notesSlide8.xml" Id="R0b7eba2f5da54112"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9df2bb8ccbdd4be9" /><Relationship Type="http://schemas.openxmlformats.org/officeDocument/2006/relationships/notesSlide" Target="/ppt/notesSlides/notesSlide9.xml" Id="R38193ea4cdcb407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200dfe089aa84b83" /><Relationship Type="http://schemas.openxmlformats.org/officeDocument/2006/relationships/image" Target="/ppt/media/image2.png" Id="R6eef1fef12274022" /><Relationship Type="http://schemas.openxmlformats.org/officeDocument/2006/relationships/notesSlide" Target="/ppt/notesSlides/notesSlide10.xml" Id="R296fed26b58e47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2a9ed2bb00534756" /><Relationship Type="http://schemas.openxmlformats.org/officeDocument/2006/relationships/notesSlide" Target="/ppt/notesSlides/notesSlide11.xml" Id="R5a863c8d65fa44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7.xml" Id="Rafe3258f679c47c6" /><Relationship Type="http://schemas.openxmlformats.org/officeDocument/2006/relationships/image" Target="/ppt/media/image3.png" Id="R4b78cbb305a44eb6" /><Relationship Type="http://schemas.openxmlformats.org/officeDocument/2006/relationships/chart" Target="/ppt/slides/charts/chart1.xml" Id="R4faf5a0b2f7d4d1e" /><Relationship Type="http://schemas.openxmlformats.org/officeDocument/2006/relationships/notesSlide" Target="/ppt/notesSlides/notesSlide12.xml" Id="R3cb70da512e246a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7.xml" Id="Re483cafa197445ac" /><Relationship Type="http://schemas.openxmlformats.org/officeDocument/2006/relationships/notesSlide" Target="/ppt/notesSlides/notesSlide13.xml" Id="Rf5d8429259404d4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7.xml" Id="R12293e6bf6e84084" /><Relationship Type="http://schemas.openxmlformats.org/officeDocument/2006/relationships/notesSlide" Target="/ppt/notesSlides/notesSlide14.xml" Id="R8fe488e633f448a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7.xml" Id="R4ed2df443bba42ce" /><Relationship Type="http://schemas.openxmlformats.org/officeDocument/2006/relationships/notesSlide" Target="/ppt/notesSlides/notesSlide15.xml" Id="Rfdd3c99ff21047f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7.xml" Id="R37791f69619c43fe" /><Relationship Type="http://schemas.openxmlformats.org/officeDocument/2006/relationships/notesSlide" Target="/ppt/notesSlides/notesSlide16.xml" Id="R89b9a0c1f14c4c0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7.xml" Id="Rcb4b0fcc1af54518" /><Relationship Type="http://schemas.openxmlformats.org/officeDocument/2006/relationships/notesSlide" Target="/ppt/notesSlides/notesSlide17.xml" Id="R3a9f32a68988487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7.xml" Id="Rfe7cb1d4120447f5" /><Relationship Type="http://schemas.openxmlformats.org/officeDocument/2006/relationships/notesSlide" Target="/ppt/notesSlides/notesSlide18.xml" Id="R983724cea1a741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7.xml" Id="R593162f21ef743cc" /><Relationship Type="http://schemas.openxmlformats.org/officeDocument/2006/relationships/notesSlide" Target="/ppt/notesSlides/notesSlide19.xml" Id="Rf4a15c99b6984be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7.xml" Id="Rc9c89145a1254ceb" /><Relationship Type="http://schemas.openxmlformats.org/officeDocument/2006/relationships/notesSlide" Target="/ppt/notesSlides/notesSlide20.xml" Id="R376fce0d03504b69" /></Relationships>
</file>

<file path=ppt/slides/_rels/slide21.xml.rels>&#65279;<?xml version="1.0" encoding="utf-8"?><Relationships xmlns="http://schemas.openxmlformats.org/package/2006/relationships"><Relationship Type="http://schemas.openxmlformats.org/officeDocument/2006/relationships/slideLayout" Target="/ppt/slideLayouts/slideLayout7.xml" Id="R310849ca9b304bfc" /><Relationship Type="http://schemas.openxmlformats.org/officeDocument/2006/relationships/notesSlide" Target="/ppt/notesSlides/notesSlide21.xml" Id="R0600ce0a45594b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7.xml" Id="R726be78bbc644ce6" /><Relationship Type="http://schemas.openxmlformats.org/officeDocument/2006/relationships/notesSlide" Target="/ppt/notesSlides/notesSlide22.xml" Id="Rd90b60e39d92449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7.xml" Id="Rfb9addf18c024c2b" /><Relationship Type="http://schemas.openxmlformats.org/officeDocument/2006/relationships/image" Target="/ppt/media/image4.png" Id="Rcfd5192ad2564c45" /><Relationship Type="http://schemas.openxmlformats.org/officeDocument/2006/relationships/notesSlide" Target="/ppt/notesSlides/notesSlide23.xml" Id="R79c0bbfe03e94f6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1f8837ec8d344f4b" /><Relationship Type="http://schemas.openxmlformats.org/officeDocument/2006/relationships/image" Target="/ppt/media/image5.png" Id="R93b23a50c9d84e4a" /><Relationship Type="http://schemas.openxmlformats.org/officeDocument/2006/relationships/notesSlide" Target="/ppt/notesSlides/notesSlide24.xml" Id="Rd0812192921647eb" /></Relationships>
</file>

<file path=ppt/slides/_rels/slide25.xml.rels>&#65279;<?xml version="1.0" encoding="utf-8"?><Relationships xmlns="http://schemas.openxmlformats.org/package/2006/relationships"><Relationship Type="http://schemas.openxmlformats.org/officeDocument/2006/relationships/slideLayout" Target="/ppt/slideLayouts/slideLayout7.xml" Id="R23f66f302f7c406c" /><Relationship Type="http://schemas.openxmlformats.org/officeDocument/2006/relationships/image" Target="/ppt/media/image6.png" Id="R8d66a0d001704465" /><Relationship Type="http://schemas.openxmlformats.org/officeDocument/2006/relationships/notesSlide" Target="/ppt/notesSlides/notesSlide25.xml" Id="Rf1fabef76d39423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7.xml" Id="Ra6940d9248f8413e" /><Relationship Type="http://schemas.openxmlformats.org/officeDocument/2006/relationships/image" Target="/ppt/media/image7.png" Id="R3f9c6b0563774860" /><Relationship Type="http://schemas.openxmlformats.org/officeDocument/2006/relationships/notesSlide" Target="/ppt/notesSlides/notesSlide26.xml" Id="R308b4f6f3d6a43b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7.xml" Id="R73bab12366844f9f" /><Relationship Type="http://schemas.openxmlformats.org/officeDocument/2006/relationships/image" Target="/ppt/media/image8.png" Id="R8fda43af81054752" /><Relationship Type="http://schemas.openxmlformats.org/officeDocument/2006/relationships/notesSlide" Target="/ppt/notesSlides/notesSlide27.xml" Id="Re9b0f014edd0451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7.xml" Id="R1bacb6adc94f49eb" /><Relationship Type="http://schemas.openxmlformats.org/officeDocument/2006/relationships/image" Target="/ppt/media/image9.png" Id="R4cb6ce672385417a" /><Relationship Type="http://schemas.openxmlformats.org/officeDocument/2006/relationships/notesSlide" Target="/ppt/notesSlides/notesSlide28.xml" Id="R956daf6195db4fe3"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d5a10a98ba3b496c" /><Relationship Type="http://schemas.openxmlformats.org/officeDocument/2006/relationships/notesSlide" Target="/ppt/notesSlides/notesSlide29.xml" Id="R1cbde0979b70417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c87fe0cfe9b541a1" /><Relationship Type="http://schemas.openxmlformats.org/officeDocument/2006/relationships/notesSlide" Target="/ppt/notesSlides/notesSlide30.xml" Id="Rac0fbc096be34f5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fd412560563d446c" /><Relationship Type="http://schemas.openxmlformats.org/officeDocument/2006/relationships/notesSlide" Target="/ppt/notesSlides/notesSlide31.xml" Id="R58d93a78745d4394"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bb202e46e81b49fe" /><Relationship Type="http://schemas.openxmlformats.org/officeDocument/2006/relationships/notesSlide" Target="/ppt/notesSlides/notesSlide32.xml" Id="R5c12e4061c77488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3e191cf36e974805" /><Relationship Type="http://schemas.openxmlformats.org/officeDocument/2006/relationships/image" Target="/ppt/media/image10.png" Id="R274c20488c084264" /><Relationship Type="http://schemas.openxmlformats.org/officeDocument/2006/relationships/notesSlide" Target="/ppt/notesSlides/notesSlide33.xml" Id="R544f58b3ec9f42f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7.xml" Id="Ra4f36557bed848ac" /><Relationship Type="http://schemas.openxmlformats.org/officeDocument/2006/relationships/image" Target="/ppt/media/image11.png" Id="R2c5861f7562143ba" /><Relationship Type="http://schemas.openxmlformats.org/officeDocument/2006/relationships/notesSlide" Target="/ppt/notesSlides/notesSlide34.xml" Id="R4c170f9b3af240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7.xml" Id="Rf58401d0457e4030" /><Relationship Type="http://schemas.openxmlformats.org/officeDocument/2006/relationships/image" Target="/ppt/media/image12.png" Id="Rec4b2579ba21491f" /><Relationship Type="http://schemas.openxmlformats.org/officeDocument/2006/relationships/notesSlide" Target="/ppt/notesSlides/notesSlide35.xml" Id="R19caf595503d45a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7.xml" Id="R077a7f4b536f4d38" /><Relationship Type="http://schemas.openxmlformats.org/officeDocument/2006/relationships/notesSlide" Target="/ppt/notesSlides/notesSlide36.xml" Id="R092bf7b02a9244c3" /></Relationships>
</file>

<file path=ppt/slides/_rels/slide37.xml.rels>&#65279;<?xml version="1.0" encoding="utf-8"?><Relationships xmlns="http://schemas.openxmlformats.org/package/2006/relationships"><Relationship Type="http://schemas.openxmlformats.org/officeDocument/2006/relationships/slideLayout" Target="/ppt/slideLayouts/slideLayout7.xml" Id="R2974d2194a3143f7" /><Relationship Type="http://schemas.openxmlformats.org/officeDocument/2006/relationships/notesSlide" Target="/ppt/notesSlides/notesSlide37.xml" Id="R4a80a6590f9447c4" /></Relationships>
</file>

<file path=ppt/slides/_rels/slide38.xml.rels>&#65279;<?xml version="1.0" encoding="utf-8"?><Relationships xmlns="http://schemas.openxmlformats.org/package/2006/relationships"><Relationship Type="http://schemas.openxmlformats.org/officeDocument/2006/relationships/slideLayout" Target="/ppt/slideLayouts/slideLayout7.xml" Id="R71ebf2dcc08c4393" /><Relationship Type="http://schemas.openxmlformats.org/officeDocument/2006/relationships/notesSlide" Target="/ppt/notesSlides/notesSlide38.xml" Id="R5c04d84578954acf" /></Relationships>
</file>

<file path=ppt/slides/_rels/slide39.xml.rels>&#65279;<?xml version="1.0" encoding="utf-8"?><Relationships xmlns="http://schemas.openxmlformats.org/package/2006/relationships"><Relationship Type="http://schemas.openxmlformats.org/officeDocument/2006/relationships/slideLayout" Target="/ppt/slideLayouts/slideLayout7.xml" Id="R22498a75810c434a" /><Relationship Type="http://schemas.openxmlformats.org/officeDocument/2006/relationships/notesSlide" Target="/ppt/notesSlides/notesSlide39.xml" Id="R9c990d77d3b34860" /></Relationships>
</file>

<file path=ppt/slides/_rels/slide40.xml.rels>&#65279;<?xml version="1.0" encoding="utf-8"?><Relationships xmlns="http://schemas.openxmlformats.org/package/2006/relationships"><Relationship Type="http://schemas.openxmlformats.org/officeDocument/2006/relationships/slideLayout" Target="/ppt/slideLayouts/slideLayout7.xml" Id="R70e721f629a848a9" /><Relationship Type="http://schemas.openxmlformats.org/officeDocument/2006/relationships/notesSlide" Target="/ppt/notesSlides/notesSlide40.xml" Id="Rcb58e95057a945a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7.xml" Id="R1a7218ad4e5f46e9" /><Relationship Type="http://schemas.openxmlformats.org/officeDocument/2006/relationships/notesSlide" Target="/ppt/notesSlides/notesSlide41.xml" Id="R4cb57eea622b469a" /></Relationships>
</file>

<file path=ppt/slides/_rels/slide42.xml.rels>&#65279;<?xml version="1.0" encoding="utf-8"?><Relationships xmlns="http://schemas.openxmlformats.org/package/2006/relationships"><Relationship Type="http://schemas.openxmlformats.org/officeDocument/2006/relationships/slideLayout" Target="/ppt/slideLayouts/slideLayout7.xml" Id="R2da710445a1b4dc8" /><Relationship Type="http://schemas.openxmlformats.org/officeDocument/2006/relationships/notesSlide" Target="/ppt/notesSlides/notesSlide42.xml" Id="R57fb39cb653d40f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7.xml" Id="R7382544770cc43fa" /><Relationship Type="http://schemas.openxmlformats.org/officeDocument/2006/relationships/notesSlide" Target="/ppt/notesSlides/notesSlide43.xml" Id="Rb6381254571349b7" /></Relationships>
</file>

<file path=ppt/slides/_rels/slide44.xml.rels>&#65279;<?xml version="1.0" encoding="utf-8"?><Relationships xmlns="http://schemas.openxmlformats.org/package/2006/relationships"><Relationship Type="http://schemas.openxmlformats.org/officeDocument/2006/relationships/slideLayout" Target="/ppt/slideLayouts/slideLayout7.xml" Id="R8cc6995257724f22" /><Relationship Type="http://schemas.openxmlformats.org/officeDocument/2006/relationships/notesSlide" Target="/ppt/notesSlides/notesSlide44.xml" Id="Rf9d2893d8d514071" /></Relationships>
</file>

<file path=ppt/slides/_rels/slide45.xml.rels>&#65279;<?xml version="1.0" encoding="utf-8"?><Relationships xmlns="http://schemas.openxmlformats.org/package/2006/relationships"><Relationship Type="http://schemas.openxmlformats.org/officeDocument/2006/relationships/slideLayout" Target="/ppt/slideLayouts/slideLayout7.xml" Id="Rc323e57978e44bf4" /><Relationship Type="http://schemas.openxmlformats.org/officeDocument/2006/relationships/notesSlide" Target="/ppt/notesSlides/notesSlide45.xml" Id="R5693e8ad2bae47b3"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3cb371e908854a67" /><Relationship Type="http://schemas.openxmlformats.org/officeDocument/2006/relationships/notesSlide" Target="/ppt/notesSlides/notesSlide46.xml" Id="Rc12bccd88c4c451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7.xml" Id="Rf76bbbe7e2c04729" /><Relationship Type="http://schemas.openxmlformats.org/officeDocument/2006/relationships/notesSlide" Target="/ppt/notesSlides/notesSlide47.xml" Id="R6d563d6723f94967" /></Relationships>
</file>

<file path=ppt/slides/_rels/slide48.xml.rels>&#65279;<?xml version="1.0" encoding="utf-8"?><Relationships xmlns="http://schemas.openxmlformats.org/package/2006/relationships"><Relationship Type="http://schemas.openxmlformats.org/officeDocument/2006/relationships/slideLayout" Target="/ppt/slideLayouts/slideLayout7.xml" Id="R5c1d5d93cb194228" /><Relationship Type="http://schemas.openxmlformats.org/officeDocument/2006/relationships/notesSlide" Target="/ppt/notesSlides/notesSlide48.xml" Id="Rbb79caca604d455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7.xml" Id="R27746eff78494100" /><Relationship Type="http://schemas.openxmlformats.org/officeDocument/2006/relationships/notesSlide" Target="/ppt/notesSlides/notesSlide49.xml" Id="R9dddb09737f1473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7.xml" Id="R6e099a1444fb4e44" /><Relationship Type="http://schemas.openxmlformats.org/officeDocument/2006/relationships/notesSlide" Target="/ppt/notesSlides/notesSlide50.xml" Id="R2ae1889db3cf441f" /></Relationships>
</file>

<file path=ppt/slides/_rels/slide51.xml.rels>&#65279;<?xml version="1.0" encoding="utf-8"?><Relationships xmlns="http://schemas.openxmlformats.org/package/2006/relationships"><Relationship Type="http://schemas.openxmlformats.org/officeDocument/2006/relationships/slideLayout" Target="/ppt/slideLayouts/slideLayout7.xml" Id="R51a351a5071045e3" /><Relationship Type="http://schemas.openxmlformats.org/officeDocument/2006/relationships/notesSlide" Target="/ppt/notesSlides/notesSlide51.xml" Id="R67bfdbe3423f41a2" /></Relationships>
</file>

<file path=ppt/slides/_rels/slide52.xml.rels>&#65279;<?xml version="1.0" encoding="utf-8"?><Relationships xmlns="http://schemas.openxmlformats.org/package/2006/relationships"><Relationship Type="http://schemas.openxmlformats.org/officeDocument/2006/relationships/slideLayout" Target="/ppt/slideLayouts/slideLayout7.xml" Id="R5dc7375ca62f4cf8" /><Relationship Type="http://schemas.openxmlformats.org/officeDocument/2006/relationships/notesSlide" Target="/ppt/notesSlides/notesSlide52.xml" Id="Raf05949819e74db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7.xml" Id="Rbd406e0025ff4c5a" /><Relationship Type="http://schemas.openxmlformats.org/officeDocument/2006/relationships/notesSlide" Target="/ppt/notesSlides/notesSlide53.xml" Id="R52f5329070f04f4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7.xml" Id="Rfe4e2be689434c48" /><Relationship Type="http://schemas.openxmlformats.org/officeDocument/2006/relationships/notesSlide" Target="/ppt/notesSlides/notesSlide54.xml" Id="R8a4b761e1ef547ff" /></Relationships>
</file>

<file path=ppt/slides/_rels/slide55.xml.rels>&#65279;<?xml version="1.0" encoding="utf-8"?><Relationships xmlns="http://schemas.openxmlformats.org/package/2006/relationships"><Relationship Type="http://schemas.openxmlformats.org/officeDocument/2006/relationships/slideLayout" Target="/ppt/slideLayouts/slideLayout7.xml" Id="R5c41df13e0464f37" /><Relationship Type="http://schemas.openxmlformats.org/officeDocument/2006/relationships/notesSlide" Target="/ppt/notesSlides/notesSlide55.xml" Id="R1cda9138bc0341f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7.xml" Id="R0ed3e5591d184cf8" /><Relationship Type="http://schemas.openxmlformats.org/officeDocument/2006/relationships/notesSlide" Target="/ppt/notesSlides/notesSlide56.xml" Id="R4605775b223b4206" /></Relationships>
</file>

<file path=ppt/slides/_rels/slide57.xml.rels>&#65279;<?xml version="1.0" encoding="utf-8"?><Relationships xmlns="http://schemas.openxmlformats.org/package/2006/relationships"><Relationship Type="http://schemas.openxmlformats.org/officeDocument/2006/relationships/slideLayout" Target="/ppt/slideLayouts/slideLayout7.xml" Id="R45b20dc7b2b2455d" /><Relationship Type="http://schemas.openxmlformats.org/officeDocument/2006/relationships/notesSlide" Target="/ppt/notesSlides/notesSlide57.xml" Id="R714f6ebc7dbf421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7.xml" Id="R3375236a4c224914" /><Relationship Type="http://schemas.openxmlformats.org/officeDocument/2006/relationships/notesSlide" Target="/ppt/notesSlides/notesSlide58.xml" Id="R2b51f07149084597" /></Relationships>
</file>

<file path=ppt/slides/_rels/slide59.xml.rels>&#65279;<?xml version="1.0" encoding="utf-8"?><Relationships xmlns="http://schemas.openxmlformats.org/package/2006/relationships"><Relationship Type="http://schemas.openxmlformats.org/officeDocument/2006/relationships/slideLayout" Target="/ppt/slideLayouts/slideLayout7.xml" Id="Rde4ca7c400ee4540" /><Relationship Type="http://schemas.openxmlformats.org/officeDocument/2006/relationships/notesSlide" Target="/ppt/notesSlides/notesSlide59.xml" Id="R8d8ee5c66c854629" /></Relationships>
</file>

<file path=ppt/slides/_rels/slide60.xml.rels>&#65279;<?xml version="1.0" encoding="utf-8"?><Relationships xmlns="http://schemas.openxmlformats.org/package/2006/relationships"><Relationship Type="http://schemas.openxmlformats.org/officeDocument/2006/relationships/slideLayout" Target="/ppt/slideLayouts/slideLayout7.xml" Id="R30ab41a673934532" /><Relationship Type="http://schemas.openxmlformats.org/officeDocument/2006/relationships/notesSlide" Target="/ppt/notesSlides/notesSlide60.xml" Id="Rf56150c25f3743d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7.xml" Id="Rbaf4b5efda2c4368" /><Relationship Type="http://schemas.openxmlformats.org/officeDocument/2006/relationships/notesSlide" Target="/ppt/notesSlides/notesSlide61.xml" Id="Rab50d75bcc7b4246" /></Relationships>
</file>

<file path=ppt/slides/_rels/slide62.xml.rels>&#65279;<?xml version="1.0" encoding="utf-8"?><Relationships xmlns="http://schemas.openxmlformats.org/package/2006/relationships"><Relationship Type="http://schemas.openxmlformats.org/officeDocument/2006/relationships/slideLayout" Target="/ppt/slideLayouts/slideLayout7.xml" Id="R36a358cc3db4452f" /><Relationship Type="http://schemas.openxmlformats.org/officeDocument/2006/relationships/notesSlide" Target="/ppt/notesSlides/notesSlide62.xml" Id="Rf154e8e2d0564e99" /></Relationships>
</file>

<file path=ppt/slides/_rels/slide63.xml.rels>&#65279;<?xml version="1.0" encoding="utf-8"?><Relationships xmlns="http://schemas.openxmlformats.org/package/2006/relationships"><Relationship Type="http://schemas.openxmlformats.org/officeDocument/2006/relationships/slideLayout" Target="/ppt/slideLayouts/slideLayout7.xml" Id="R1a3bef69edeb4a63" /><Relationship Type="http://schemas.openxmlformats.org/officeDocument/2006/relationships/notesSlide" Target="/ppt/notesSlides/notesSlide63.xml" Id="R0c419c8a979b4d8e" /></Relationships>
</file>

<file path=ppt/slides/_rels/slide64.xml.rels>&#65279;<?xml version="1.0" encoding="utf-8"?><Relationships xmlns="http://schemas.openxmlformats.org/package/2006/relationships"><Relationship Type="http://schemas.openxmlformats.org/officeDocument/2006/relationships/slideLayout" Target="/ppt/slideLayouts/slideLayout7.xml" Id="R01d5f9b1d1d44639" /><Relationship Type="http://schemas.openxmlformats.org/officeDocument/2006/relationships/notesSlide" Target="/ppt/notesSlides/notesSlide64.xml" Id="R84921494c93d45bf" /></Relationships>
</file>

<file path=ppt/slides/_rels/slide65.xml.rels>&#65279;<?xml version="1.0" encoding="utf-8"?><Relationships xmlns="http://schemas.openxmlformats.org/package/2006/relationships"><Relationship Type="http://schemas.openxmlformats.org/officeDocument/2006/relationships/slideLayout" Target="/ppt/slideLayouts/slideLayout7.xml" Id="Rca33064ed31b4b87" /><Relationship Type="http://schemas.openxmlformats.org/officeDocument/2006/relationships/notesSlide" Target="/ppt/notesSlides/notesSlide65.xml" Id="R9fbbf73c5dca4e6d" /></Relationships>
</file>

<file path=ppt/slides/_rels/slide66.xml.rels>&#65279;<?xml version="1.0" encoding="utf-8"?><Relationships xmlns="http://schemas.openxmlformats.org/package/2006/relationships"><Relationship Type="http://schemas.openxmlformats.org/officeDocument/2006/relationships/slideLayout" Target="/ppt/slideLayouts/slideLayout7.xml" Id="Reb99876877644258" /><Relationship Type="http://schemas.openxmlformats.org/officeDocument/2006/relationships/notesSlide" Target="/ppt/notesSlides/notesSlide66.xml" Id="R74537461db9646dc"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0cd3765d3334455a" /><Relationship Type="http://schemas.openxmlformats.org/officeDocument/2006/relationships/notesSlide" Target="/ppt/notesSlides/notesSlide67.xml" Id="R71e8ec401e3f4840" /></Relationships>
</file>

<file path=ppt/slides/_rels/slide68.xml.rels>&#65279;<?xml version="1.0" encoding="utf-8"?><Relationships xmlns="http://schemas.openxmlformats.org/package/2006/relationships"><Relationship Type="http://schemas.openxmlformats.org/officeDocument/2006/relationships/slideLayout" Target="/ppt/slideLayouts/slideLayout7.xml" Id="R5ecba77a523040cb" /><Relationship Type="http://schemas.openxmlformats.org/officeDocument/2006/relationships/notesSlide" Target="/ppt/notesSlides/notesSlide68.xml" Id="R28e7e7411c9747c5" /></Relationships>
</file>

<file path=ppt/slides/_rels/slide69.xml.rels>&#65279;<?xml version="1.0" encoding="utf-8"?><Relationships xmlns="http://schemas.openxmlformats.org/package/2006/relationships"><Relationship Type="http://schemas.openxmlformats.org/officeDocument/2006/relationships/slideLayout" Target="/ppt/slideLayouts/slideLayout7.xml" Id="R54d28d6b762e462f" /><Relationship Type="http://schemas.openxmlformats.org/officeDocument/2006/relationships/notesSlide" Target="/ppt/notesSlides/notesSlide69.xml" Id="R9dd59f949b1c41b9" /></Relationships>
</file>

<file path=ppt/slides/_rels/slide70.xml.rels>&#65279;<?xml version="1.0" encoding="utf-8"?><Relationships xmlns="http://schemas.openxmlformats.org/package/2006/relationships"><Relationship Type="http://schemas.openxmlformats.org/officeDocument/2006/relationships/slideLayout" Target="/ppt/slideLayouts/slideLayout7.xml" Id="Ra18e765714744eb4" /><Relationship Type="http://schemas.openxmlformats.org/officeDocument/2006/relationships/notesSlide" Target="/ppt/notesSlides/notesSlide70.xml" Id="Ra275221f6d964b2a" /></Relationships>
</file>

<file path=ppt/slides/_rels/slide71.xml.rels>&#65279;<?xml version="1.0" encoding="utf-8"?><Relationships xmlns="http://schemas.openxmlformats.org/package/2006/relationships"><Relationship Type="http://schemas.openxmlformats.org/officeDocument/2006/relationships/slideLayout" Target="/ppt/slideLayouts/slideLayout7.xml" Id="Rdfe36c66d7aa4705" /><Relationship Type="http://schemas.openxmlformats.org/officeDocument/2006/relationships/notesSlide" Target="/ppt/notesSlides/notesSlide71.xml" Id="Ra5d1d95309bb44a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7.xml" Id="R54cf4d02414b4fd9" /><Relationship Type="http://schemas.openxmlformats.org/officeDocument/2006/relationships/notesSlide" Target="/ppt/notesSlides/notesSlide72.xml" Id="Rbad3df2d5eb849dd" /></Relationships>
</file>

<file path=ppt/slides/_rels/slide73.xml.rels>&#65279;<?xml version="1.0" encoding="utf-8"?><Relationships xmlns="http://schemas.openxmlformats.org/package/2006/relationships"><Relationship Type="http://schemas.openxmlformats.org/officeDocument/2006/relationships/slideLayout" Target="/ppt/slideLayouts/slideLayout7.xml" Id="R6318e55edeb74cf7" /><Relationship Type="http://schemas.openxmlformats.org/officeDocument/2006/relationships/notesSlide" Target="/ppt/notesSlides/notesSlide73.xml" Id="Rb6099c279d774017" /></Relationships>
</file>

<file path=ppt/slides/_rels/slide74.xml.rels>&#65279;<?xml version="1.0" encoding="utf-8"?><Relationships xmlns="http://schemas.openxmlformats.org/package/2006/relationships"><Relationship Type="http://schemas.openxmlformats.org/officeDocument/2006/relationships/slideLayout" Target="/ppt/slideLayouts/slideLayout7.xml" Id="R48b3dfb320a04657" /><Relationship Type="http://schemas.openxmlformats.org/officeDocument/2006/relationships/notesSlide" Target="/ppt/notesSlides/notesSlide74.xml" Id="R4e4b442f3afd4f19" /></Relationships>
</file>

<file path=ppt/slides/_rels/slide75.xml.rels>&#65279;<?xml version="1.0" encoding="utf-8"?><Relationships xmlns="http://schemas.openxmlformats.org/package/2006/relationships"><Relationship Type="http://schemas.openxmlformats.org/officeDocument/2006/relationships/slideLayout" Target="/ppt/slideLayouts/slideLayout7.xml" Id="Rc4d39b489bff44d3" /><Relationship Type="http://schemas.openxmlformats.org/officeDocument/2006/relationships/notesSlide" Target="/ppt/notesSlides/notesSlide75.xml" Id="R3e25747873ce4a4b" /></Relationships>
</file>

<file path=ppt/slides/_rels/slide76.xml.rels>&#65279;<?xml version="1.0" encoding="utf-8"?><Relationships xmlns="http://schemas.openxmlformats.org/package/2006/relationships"><Relationship Type="http://schemas.openxmlformats.org/officeDocument/2006/relationships/slideLayout" Target="/ppt/slideLayouts/slideLayout7.xml" Id="Rebd81fbf5bcd4937" /><Relationship Type="http://schemas.openxmlformats.org/officeDocument/2006/relationships/notesSlide" Target="/ppt/notesSlides/notesSlide76.xml" Id="R56458bd7956d4969" /></Relationships>
</file>

<file path=ppt/slides/_rels/slide77.xml.rels>&#65279;<?xml version="1.0" encoding="utf-8"?><Relationships xmlns="http://schemas.openxmlformats.org/package/2006/relationships"><Relationship Type="http://schemas.openxmlformats.org/officeDocument/2006/relationships/slideLayout" Target="/ppt/slideLayouts/slideLayout7.xml" Id="Rce57b031acdc4445" /><Relationship Type="http://schemas.openxmlformats.org/officeDocument/2006/relationships/notesSlide" Target="/ppt/notesSlides/notesSlide77.xml" Id="R21c604ad451648e8" /></Relationships>
</file>

<file path=ppt/slides/_rels/slide78.xml.rels>&#65279;<?xml version="1.0" encoding="utf-8"?><Relationships xmlns="http://schemas.openxmlformats.org/package/2006/relationships"><Relationship Type="http://schemas.openxmlformats.org/officeDocument/2006/relationships/slideLayout" Target="/ppt/slideLayouts/slideLayout7.xml" Id="Rd8b2a226b7d84414" /><Relationship Type="http://schemas.openxmlformats.org/officeDocument/2006/relationships/notesSlide" Target="/ppt/notesSlides/notesSlide78.xml" Id="R1dd52fbb98d54269" /></Relationships>
</file>

<file path=ppt/slides/_rels/slide79.xml.rels>&#65279;<?xml version="1.0" encoding="utf-8"?><Relationships xmlns="http://schemas.openxmlformats.org/package/2006/relationships"><Relationship Type="http://schemas.openxmlformats.org/officeDocument/2006/relationships/slideLayout" Target="/ppt/slideLayouts/slideLayout7.xml" Id="R32294729501440d8" /><Relationship Type="http://schemas.openxmlformats.org/officeDocument/2006/relationships/notesSlide" Target="/ppt/notesSlides/notesSlide79.xml" Id="R9513bf861b57430c" /></Relationships>
</file>

<file path=ppt/slides/_rels/slide80.xml.rels>&#65279;<?xml version="1.0" encoding="utf-8"?><Relationships xmlns="http://schemas.openxmlformats.org/package/2006/relationships"><Relationship Type="http://schemas.openxmlformats.org/officeDocument/2006/relationships/slideLayout" Target="/ppt/slideLayouts/slideLayout7.xml" Id="Rc1c3e4377aeb4d4b" /><Relationship Type="http://schemas.openxmlformats.org/officeDocument/2006/relationships/notesSlide" Target="/ppt/notesSlides/notesSlide80.xml" Id="Rf87d8578c9f5409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7.xml" Id="R862d10d006504688" /><Relationship Type="http://schemas.openxmlformats.org/officeDocument/2006/relationships/notesSlide" Target="/ppt/notesSlides/notesSlide81.xml" Id="R60bacfb610bd4a37" /></Relationships>
</file>

<file path=ppt/slides/_rels/slide82.xml.rels>&#65279;<?xml version="1.0" encoding="utf-8"?><Relationships xmlns="http://schemas.openxmlformats.org/package/2006/relationships"><Relationship Type="http://schemas.openxmlformats.org/officeDocument/2006/relationships/slideLayout" Target="/ppt/slideLayouts/slideLayout7.xml" Id="R237813f2bb094188" /><Relationship Type="http://schemas.openxmlformats.org/officeDocument/2006/relationships/notesSlide" Target="/ppt/notesSlides/notesSlide82.xml" Id="R71a8963c997c439e" /></Relationships>
</file>

<file path=ppt/slides/_rels/slide83.xml.rels>&#65279;<?xml version="1.0" encoding="utf-8"?><Relationships xmlns="http://schemas.openxmlformats.org/package/2006/relationships"><Relationship Type="http://schemas.openxmlformats.org/officeDocument/2006/relationships/slideLayout" Target="/ppt/slideLayouts/slideLayout7.xml" Id="R67ee35fafb8248e9" /><Relationship Type="http://schemas.openxmlformats.org/officeDocument/2006/relationships/notesSlide" Target="/ppt/notesSlides/notesSlide83.xml" Id="R4693f515f9024590" /></Relationships>
</file>

<file path=ppt/slides/_rels/slide84.xml.rels>&#65279;<?xml version="1.0" encoding="utf-8"?><Relationships xmlns="http://schemas.openxmlformats.org/package/2006/relationships"><Relationship Type="http://schemas.openxmlformats.org/officeDocument/2006/relationships/slideLayout" Target="/ppt/slideLayouts/slideLayout7.xml" Id="R50f6b87a81b84ef6" /><Relationship Type="http://schemas.openxmlformats.org/officeDocument/2006/relationships/notesSlide" Target="/ppt/notesSlides/notesSlide84.xml" Id="R5e8548382fbd4ee6" /></Relationships>
</file>

<file path=ppt/slides/_rels/slide85.xml.rels>&#65279;<?xml version="1.0" encoding="utf-8"?><Relationships xmlns="http://schemas.openxmlformats.org/package/2006/relationships"><Relationship Type="http://schemas.openxmlformats.org/officeDocument/2006/relationships/slideLayout" Target="/ppt/slideLayouts/slideLayout7.xml" Id="R18928ceaa91348af" /><Relationship Type="http://schemas.openxmlformats.org/officeDocument/2006/relationships/notesSlide" Target="/ppt/notesSlides/notesSlide85.xml" Id="R43cf310df8c74a3e" /></Relationships>
</file>

<file path=ppt/slides/_rels/slide86.xml.rels>&#65279;<?xml version="1.0" encoding="utf-8"?><Relationships xmlns="http://schemas.openxmlformats.org/package/2006/relationships"><Relationship Type="http://schemas.openxmlformats.org/officeDocument/2006/relationships/slideLayout" Target="/ppt/slideLayouts/slideLayout7.xml" Id="R4eee4c206e1f434d" /><Relationship Type="http://schemas.openxmlformats.org/officeDocument/2006/relationships/notesSlide" Target="/ppt/notesSlides/notesSlide86.xml" Id="Red3655b0715f47d6" /></Relationships>
</file>

<file path=ppt/slides/_rels/slide87.xml.rels>&#65279;<?xml version="1.0" encoding="utf-8"?><Relationships xmlns="http://schemas.openxmlformats.org/package/2006/relationships"><Relationship Type="http://schemas.openxmlformats.org/officeDocument/2006/relationships/slideLayout" Target="/ppt/slideLayouts/slideLayout7.xml" Id="Recaffa077e694c9c" /><Relationship Type="http://schemas.openxmlformats.org/officeDocument/2006/relationships/notesSlide" Target="/ppt/notesSlides/notesSlide87.xml" Id="R5f2365cdee2c4820" /></Relationships>
</file>

<file path=ppt/slides/_rels/slide88.xml.rels>&#65279;<?xml version="1.0" encoding="utf-8"?><Relationships xmlns="http://schemas.openxmlformats.org/package/2006/relationships"><Relationship Type="http://schemas.openxmlformats.org/officeDocument/2006/relationships/slideLayout" Target="/ppt/slideLayouts/slideLayout7.xml" Id="Rc9109f2a80e44b69" /><Relationship Type="http://schemas.openxmlformats.org/officeDocument/2006/relationships/notesSlide" Target="/ppt/notesSlides/notesSlide88.xml" Id="R60e943849b56488e" /></Relationships>
</file>

<file path=ppt/slides/_rels/slide89.xml.rels>&#65279;<?xml version="1.0" encoding="utf-8"?><Relationships xmlns="http://schemas.openxmlformats.org/package/2006/relationships"><Relationship Type="http://schemas.openxmlformats.org/officeDocument/2006/relationships/slideLayout" Target="/ppt/slideLayouts/slideLayout7.xml" Id="Rff425f6ba0c94e1b" /><Relationship Type="http://schemas.openxmlformats.org/officeDocument/2006/relationships/notesSlide" Target="/ppt/notesSlides/notesSlide89.xml" Id="Rb5c05918b32a448f" /></Relationships>
</file>

<file path=ppt/slides/_rels/slide90.xml.rels>&#65279;<?xml version="1.0" encoding="utf-8"?><Relationships xmlns="http://schemas.openxmlformats.org/package/2006/relationships"><Relationship Type="http://schemas.openxmlformats.org/officeDocument/2006/relationships/slideLayout" Target="/ppt/slideLayouts/slideLayout7.xml" Id="R9e13678fb9304d3c" /><Relationship Type="http://schemas.openxmlformats.org/officeDocument/2006/relationships/notesSlide" Target="/ppt/notesSlides/notesSlide90.xml" Id="R18862c895ac54757" /></Relationships>
</file>

<file path=ppt/slides/_rels/slide91.xml.rels>&#65279;<?xml version="1.0" encoding="utf-8"?><Relationships xmlns="http://schemas.openxmlformats.org/package/2006/relationships"><Relationship Type="http://schemas.openxmlformats.org/officeDocument/2006/relationships/slideLayout" Target="/ppt/slideLayouts/slideLayout7.xml" Id="R36007c328d5b49a5" /><Relationship Type="http://schemas.openxmlformats.org/officeDocument/2006/relationships/notesSlide" Target="/ppt/notesSlides/notesSlide91.xml" Id="Ra36f2cd7b76a4616" /></Relationships>
</file>

<file path=ppt/slides/_rels/slide92.xml.rels>&#65279;<?xml version="1.0" encoding="utf-8"?><Relationships xmlns="http://schemas.openxmlformats.org/package/2006/relationships"><Relationship Type="http://schemas.openxmlformats.org/officeDocument/2006/relationships/slideLayout" Target="/ppt/slideLayouts/slideLayout7.xml" Id="R03fcd100d62b4c27" /><Relationship Type="http://schemas.openxmlformats.org/officeDocument/2006/relationships/notesSlide" Target="/ppt/notesSlides/notesSlide92.xml" Id="R8ec2a53a4c1b4158" /></Relationships>
</file>

<file path=ppt/slides/_rels/slide93.xml.rels>&#65279;<?xml version="1.0" encoding="utf-8"?><Relationships xmlns="http://schemas.openxmlformats.org/package/2006/relationships"><Relationship Type="http://schemas.openxmlformats.org/officeDocument/2006/relationships/slideLayout" Target="/ppt/slideLayouts/slideLayout7.xml" Id="Rbc2affad9b7a4d89" /><Relationship Type="http://schemas.openxmlformats.org/officeDocument/2006/relationships/notesSlide" Target="/ppt/notesSlides/notesSlide93.xml" Id="R8d849b8fce0e4381" /></Relationships>
</file>

<file path=ppt/slides/_rels/slide94.xml.rels>&#65279;<?xml version="1.0" encoding="utf-8"?><Relationships xmlns="http://schemas.openxmlformats.org/package/2006/relationships"><Relationship Type="http://schemas.openxmlformats.org/officeDocument/2006/relationships/slideLayout" Target="/ppt/slideLayouts/slideLayout7.xml" Id="R39e912841a3245a8" /><Relationship Type="http://schemas.openxmlformats.org/officeDocument/2006/relationships/notesSlide" Target="/ppt/notesSlides/notesSlide94.xml" Id="R20827bb268c444dd" /></Relationships>
</file>

<file path=ppt/slides/_rels/slide95.xml.rels>&#65279;<?xml version="1.0" encoding="utf-8"?><Relationships xmlns="http://schemas.openxmlformats.org/package/2006/relationships"><Relationship Type="http://schemas.openxmlformats.org/officeDocument/2006/relationships/slideLayout" Target="/ppt/slideLayouts/slideLayout7.xml" Id="R36388e3214924b42" /><Relationship Type="http://schemas.openxmlformats.org/officeDocument/2006/relationships/notesSlide" Target="/ppt/notesSlides/notesSlide95.xml" Id="Rd0ce513ade184c99" /></Relationships>
</file>

<file path=ppt/slides/_rels/slide96.xml.rels>&#65279;<?xml version="1.0" encoding="utf-8"?><Relationships xmlns="http://schemas.openxmlformats.org/package/2006/relationships"><Relationship Type="http://schemas.openxmlformats.org/officeDocument/2006/relationships/slideLayout" Target="/ppt/slideLayouts/slideLayout7.xml" Id="Re98d33a66fbd4897" /><Relationship Type="http://schemas.openxmlformats.org/officeDocument/2006/relationships/notesSlide" Target="/ppt/notesSlides/notesSlide96.xml" Id="Rcbf606d2c2c04ef0" /></Relationships>
</file>

<file path=ppt/slides/_rels/slide97.xml.rels>&#65279;<?xml version="1.0" encoding="utf-8"?><Relationships xmlns="http://schemas.openxmlformats.org/package/2006/relationships"><Relationship Type="http://schemas.openxmlformats.org/officeDocument/2006/relationships/slideLayout" Target="/ppt/slideLayouts/slideLayout7.xml" Id="R777c59dc7a314af6" /><Relationship Type="http://schemas.openxmlformats.org/officeDocument/2006/relationships/notesSlide" Target="/ppt/notesSlides/notesSlide97.xml" Id="Raaa468f88b214712" /></Relationships>
</file>

<file path=ppt/slides/_rels/slide98.xml.rels>&#65279;<?xml version="1.0" encoding="utf-8"?><Relationships xmlns="http://schemas.openxmlformats.org/package/2006/relationships"><Relationship Type="http://schemas.openxmlformats.org/officeDocument/2006/relationships/slideLayout" Target="/ppt/slideLayouts/slideLayout7.xml" Id="R16ed6f8e09b74cd0" /><Relationship Type="http://schemas.openxmlformats.org/officeDocument/2006/relationships/notesSlide" Target="/ppt/notesSlides/notesSlide98.xml" Id="Rce8de982002c41a8" /></Relationships>
</file>

<file path=ppt/slides/_rels/slide99.xml.rels>&#65279;<?xml version="1.0" encoding="utf-8"?><Relationships xmlns="http://schemas.openxmlformats.org/package/2006/relationships"><Relationship Type="http://schemas.openxmlformats.org/officeDocument/2006/relationships/slideLayout" Target="/ppt/slideLayouts/slideLayout7.xml" Id="R7b6002923c3b481e" /><Relationship Type="http://schemas.openxmlformats.org/officeDocument/2006/relationships/notesSlide" Target="/ppt/notesSlides/notesSlide99.xml" Id="Ra10f1bbefa614129"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7.xml" Id="R3bba99f4238b443a" /><Relationship Type="http://schemas.openxmlformats.org/officeDocument/2006/relationships/notesSlide" Target="/ppt/notesSlides/notesSlide100.xml" Id="Re3cc593e9c0e4487"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7.xml" Id="R1f36e7388bbc47a5" /><Relationship Type="http://schemas.openxmlformats.org/officeDocument/2006/relationships/notesSlide" Target="/ppt/notesSlides/notesSlide101.xml" Id="Rbeb738a0bdf44da3"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7.xml" Id="R07ffc6687f804f28" /><Relationship Type="http://schemas.openxmlformats.org/officeDocument/2006/relationships/notesSlide" Target="/ppt/notesSlides/notesSlide102.xml" Id="Rbb9b7c7bc9ce4129"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7.xml" Id="Rc155a9a9ba1a4238" /><Relationship Type="http://schemas.openxmlformats.org/officeDocument/2006/relationships/notesSlide" Target="/ppt/notesSlides/notesSlide103.xml" Id="R807dbf5e4d454e0c"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7.xml" Id="R3cb91abfb1734858" /><Relationship Type="http://schemas.openxmlformats.org/officeDocument/2006/relationships/notesSlide" Target="/ppt/notesSlides/notesSlide104.xml" Id="R030f542fddcc4264"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7.xml" Id="R13112173a95c46f5" /><Relationship Type="http://schemas.openxmlformats.org/officeDocument/2006/relationships/notesSlide" Target="/ppt/notesSlides/notesSlide105.xml" Id="Rf3f6699e95a3400e"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7.xml" Id="R43bf0010308541b0" /><Relationship Type="http://schemas.openxmlformats.org/officeDocument/2006/relationships/notesSlide" Target="/ppt/notesSlides/notesSlide106.xml" Id="R17a1b044b22240a7"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7.xml" Id="Rcebbac665de84da7" /><Relationship Type="http://schemas.openxmlformats.org/officeDocument/2006/relationships/notesSlide" Target="/ppt/notesSlides/notesSlide107.xml" Id="R4125bb63636c4f75"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7.xml" Id="R6a32a647ff1c4ab8" /><Relationship Type="http://schemas.openxmlformats.org/officeDocument/2006/relationships/notesSlide" Target="/ppt/notesSlides/notesSlide108.xml" Id="R534248d0059c43a4"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7.xml" Id="R03ffd7ce6ee74e5c" /><Relationship Type="http://schemas.openxmlformats.org/officeDocument/2006/relationships/notesSlide" Target="/ppt/notesSlides/notesSlide109.xml" Id="Reb07490707e84e1f"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7.xml" Id="R41fd9c26a1dc4a51" /><Relationship Type="http://schemas.openxmlformats.org/officeDocument/2006/relationships/notesSlide" Target="/ppt/notesSlides/notesSlide110.xml" Id="Ra2fe9f86af714e21"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7.xml" Id="R990df5356d1a4902" /><Relationship Type="http://schemas.openxmlformats.org/officeDocument/2006/relationships/notesSlide" Target="/ppt/notesSlides/notesSlide111.xml" Id="Rdf2e06616655465a"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7.xml" Id="R09e0e38cdff4449a" /><Relationship Type="http://schemas.openxmlformats.org/officeDocument/2006/relationships/notesSlide" Target="/ppt/notesSlides/notesSlide112.xml" Id="R971f65150aa84fb1"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7.xml" Id="R1ca80d9207f644e2" /><Relationship Type="http://schemas.openxmlformats.org/officeDocument/2006/relationships/notesSlide" Target="/ppt/notesSlides/notesSlide113.xml" Id="R6bc09e6b93324197"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7.xml" Id="R825a03b28b5145a6" /><Relationship Type="http://schemas.openxmlformats.org/officeDocument/2006/relationships/notesSlide" Target="/ppt/notesSlides/notesSlide114.xml" Id="Rbfc86a58cce745b1"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7.xml" Id="R07d038af2be64b34" /><Relationship Type="http://schemas.openxmlformats.org/officeDocument/2006/relationships/notesSlide" Target="/ppt/notesSlides/notesSlide115.xml" Id="R6a38350899994356"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7.xml" Id="R6a0d51c256cc460e" /><Relationship Type="http://schemas.openxmlformats.org/officeDocument/2006/relationships/notesSlide" Target="/ppt/notesSlides/notesSlide116.xml" Id="R0c90af85beaf4150"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7.xml" Id="Rbf3d2617b4284fc0" /><Relationship Type="http://schemas.openxmlformats.org/officeDocument/2006/relationships/notesSlide" Target="/ppt/notesSlides/notesSlide117.xml" Id="R29bce310e62e4974"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7.xml" Id="Reca2962cba3f437e" /><Relationship Type="http://schemas.openxmlformats.org/officeDocument/2006/relationships/notesSlide" Target="/ppt/notesSlides/notesSlide118.xml" Id="Rd3ab835d6adb4051"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7.xml" Id="R2c87f18268c94dc0" /><Relationship Type="http://schemas.openxmlformats.org/officeDocument/2006/relationships/notesSlide" Target="/ppt/notesSlides/notesSlide119.xml" Id="R32af583ac5c74534"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7.xml" Id="R328ee2cba16d4900" /><Relationship Type="http://schemas.openxmlformats.org/officeDocument/2006/relationships/notesSlide" Target="/ppt/notesSlides/notesSlide120.xml" Id="R2af9e6a40c0f44f8"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7.xml" Id="Rac41975a82f74c45" /><Relationship Type="http://schemas.openxmlformats.org/officeDocument/2006/relationships/notesSlide" Target="/ppt/notesSlides/notesSlide121.xml" Id="R6e9a644e70f7485e"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7.xml" Id="R3b8d869afca146d8" /><Relationship Type="http://schemas.openxmlformats.org/officeDocument/2006/relationships/notesSlide" Target="/ppt/notesSlides/notesSlide122.xml" Id="Rba78aa5c26b24da4"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7.xml" Id="Rc79be2f68db74097" /><Relationship Type="http://schemas.openxmlformats.org/officeDocument/2006/relationships/notesSlide" Target="/ppt/notesSlides/notesSlide123.xml" Id="Ra3aa1c2594eb443b"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7.xml" Id="R7cfb2570c7e74ef7" /><Relationship Type="http://schemas.openxmlformats.org/officeDocument/2006/relationships/notesSlide" Target="/ppt/notesSlides/notesSlide124.xml" Id="R9544d84abdc04428"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7.xml" Id="Ra15b8fc91c37455b" /><Relationship Type="http://schemas.openxmlformats.org/officeDocument/2006/relationships/notesSlide" Target="/ppt/notesSlides/notesSlide125.xml" Id="R379febee788a4dc7"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7.xml" Id="Re281f1ea080c4835" /><Relationship Type="http://schemas.openxmlformats.org/officeDocument/2006/relationships/notesSlide" Target="/ppt/notesSlides/notesSlide126.xml" Id="R4accacdfa9374425" /></Relationships>
</file>

<file path=ppt/slides/_rels/slide127.xml.rels>&#65279;<?xml version="1.0" encoding="utf-8"?><Relationships xmlns="http://schemas.openxmlformats.org/package/2006/relationships"><Relationship Type="http://schemas.openxmlformats.org/officeDocument/2006/relationships/slideLayout" Target="/ppt/slideLayouts/slideLayout7.xml" Id="Rcb00f3260e74408a" /><Relationship Type="http://schemas.openxmlformats.org/officeDocument/2006/relationships/notesSlide" Target="/ppt/notesSlides/notesSlide127.xml" Id="R41b5630ad34445b9" /></Relationships>
</file>

<file path=ppt/slides/_rels/slide128.xml.rels>&#65279;<?xml version="1.0" encoding="utf-8"?><Relationships xmlns="http://schemas.openxmlformats.org/package/2006/relationships"><Relationship Type="http://schemas.openxmlformats.org/officeDocument/2006/relationships/slideLayout" Target="/ppt/slideLayouts/slideLayout7.xml" Id="R9cbb2d43526a471a" /><Relationship Type="http://schemas.openxmlformats.org/officeDocument/2006/relationships/notesSlide" Target="/ppt/notesSlides/notesSlide128.xml" Id="R504a3ab6e5fd42ee" /></Relationships>
</file>

<file path=ppt/slides/_rels/slide129.xml.rels>&#65279;<?xml version="1.0" encoding="utf-8"?><Relationships xmlns="http://schemas.openxmlformats.org/package/2006/relationships"><Relationship Type="http://schemas.openxmlformats.org/officeDocument/2006/relationships/slideLayout" Target="/ppt/slideLayouts/slideLayout7.xml" Id="Rc8ad2ebd146b4406" /><Relationship Type="http://schemas.openxmlformats.org/officeDocument/2006/relationships/notesSlide" Target="/ppt/notesSlides/notesSlide129.xml" Id="R7ed17eb76e174ddc" /></Relationships>
</file>

<file path=ppt/slides/_rels/slide130.xml.rels>&#65279;<?xml version="1.0" encoding="utf-8"?><Relationships xmlns="http://schemas.openxmlformats.org/package/2006/relationships"><Relationship Type="http://schemas.openxmlformats.org/officeDocument/2006/relationships/slideLayout" Target="/ppt/slideLayouts/slideLayout7.xml" Id="R5bf17edc9625453f" /><Relationship Type="http://schemas.openxmlformats.org/officeDocument/2006/relationships/notesSlide" Target="/ppt/notesSlides/notesSlide130.xml" Id="R5df049157efc4d14" /></Relationships>
</file>

<file path=ppt/slides/_rels/slide131.xml.rels>&#65279;<?xml version="1.0" encoding="utf-8"?><Relationships xmlns="http://schemas.openxmlformats.org/package/2006/relationships"><Relationship Type="http://schemas.openxmlformats.org/officeDocument/2006/relationships/slideLayout" Target="/ppt/slideLayouts/slideLayout7.xml" Id="Re9469eac6af74080" /><Relationship Type="http://schemas.openxmlformats.org/officeDocument/2006/relationships/notesSlide" Target="/ppt/notesSlides/notesSlide131.xml" Id="R923b738b0ae84742" /></Relationships>
</file>

<file path=ppt/slides/_rels/slide132.xml.rels>&#65279;<?xml version="1.0" encoding="utf-8"?><Relationships xmlns="http://schemas.openxmlformats.org/package/2006/relationships"><Relationship Type="http://schemas.openxmlformats.org/officeDocument/2006/relationships/slideLayout" Target="/ppt/slideLayouts/slideLayout7.xml" Id="R4ce0d03a48be4706" /><Relationship Type="http://schemas.openxmlformats.org/officeDocument/2006/relationships/notesSlide" Target="/ppt/notesSlides/notesSlide132.xml" Id="R4c9e55af631e4696" /></Relationships>
</file>

<file path=ppt/slides/_rels/slide133.xml.rels>&#65279;<?xml version="1.0" encoding="utf-8"?><Relationships xmlns="http://schemas.openxmlformats.org/package/2006/relationships"><Relationship Type="http://schemas.openxmlformats.org/officeDocument/2006/relationships/slideLayout" Target="/ppt/slideLayouts/slideLayout7.xml" Id="Rb718b31c676f4a33" /><Relationship Type="http://schemas.openxmlformats.org/officeDocument/2006/relationships/notesSlide" Target="/ppt/notesSlides/notesSlide133.xml" Id="R98579c03683e45d2" /></Relationships>
</file>

<file path=ppt/slides/_rels/slide134.xml.rels>&#65279;<?xml version="1.0" encoding="utf-8"?><Relationships xmlns="http://schemas.openxmlformats.org/package/2006/relationships"><Relationship Type="http://schemas.openxmlformats.org/officeDocument/2006/relationships/slideLayout" Target="/ppt/slideLayouts/slideLayout7.xml" Id="R820a944318b145f4" /><Relationship Type="http://schemas.openxmlformats.org/officeDocument/2006/relationships/notesSlide" Target="/ppt/notesSlides/notesSlide134.xml" Id="R43a5234cc64840a6" /></Relationships>
</file>

<file path=ppt/slides/_rels/slide135.xml.rels>&#65279;<?xml version="1.0" encoding="utf-8"?><Relationships xmlns="http://schemas.openxmlformats.org/package/2006/relationships"><Relationship Type="http://schemas.openxmlformats.org/officeDocument/2006/relationships/slideLayout" Target="/ppt/slideLayouts/slideLayout7.xml" Id="Redb401bdd6074465" /><Relationship Type="http://schemas.openxmlformats.org/officeDocument/2006/relationships/notesSlide" Target="/ppt/notesSlides/notesSlide135.xml" Id="R9e927b7b887e414c" /></Relationships>
</file>

<file path=ppt/slides/_rels/slide136.xml.rels>&#65279;<?xml version="1.0" encoding="utf-8"?><Relationships xmlns="http://schemas.openxmlformats.org/package/2006/relationships"><Relationship Type="http://schemas.openxmlformats.org/officeDocument/2006/relationships/slideLayout" Target="/ppt/slideLayouts/slideLayout7.xml" Id="Rd0c73850ad7840ed" /><Relationship Type="http://schemas.openxmlformats.org/officeDocument/2006/relationships/notesSlide" Target="/ppt/notesSlides/notesSlide136.xml" Id="Rc0e45279e5644c04" /></Relationships>
</file>

<file path=ppt/slides/_rels/slide137.xml.rels>&#65279;<?xml version="1.0" encoding="utf-8"?><Relationships xmlns="http://schemas.openxmlformats.org/package/2006/relationships"><Relationship Type="http://schemas.openxmlformats.org/officeDocument/2006/relationships/slideLayout" Target="/ppt/slideLayouts/slideLayout7.xml" Id="R91e4f95e92ac40ae" /><Relationship Type="http://schemas.openxmlformats.org/officeDocument/2006/relationships/notesSlide" Target="/ppt/notesSlides/notesSlide137.xml" Id="R4ee332d1790e4a69" /></Relationships>
</file>

<file path=ppt/slides/_rels/slide138.xml.rels>&#65279;<?xml version="1.0" encoding="utf-8"?><Relationships xmlns="http://schemas.openxmlformats.org/package/2006/relationships"><Relationship Type="http://schemas.openxmlformats.org/officeDocument/2006/relationships/slideLayout" Target="/ppt/slideLayouts/slideLayout7.xml" Id="R78b45447038c4bb8" /><Relationship Type="http://schemas.openxmlformats.org/officeDocument/2006/relationships/notesSlide" Target="/ppt/notesSlides/notesSlide138.xml" Id="R83e39244fbf049c6" /></Relationships>
</file>

<file path=ppt/slides/_rels/slide139.xml.rels>&#65279;<?xml version="1.0" encoding="utf-8"?><Relationships xmlns="http://schemas.openxmlformats.org/package/2006/relationships"><Relationship Type="http://schemas.openxmlformats.org/officeDocument/2006/relationships/slideLayout" Target="/ppt/slideLayouts/slideLayout7.xml" Id="R571085bc42e74220" /><Relationship Type="http://schemas.openxmlformats.org/officeDocument/2006/relationships/notesSlide" Target="/ppt/notesSlides/notesSlide139.xml" Id="Rbf13e5a294294f55" /></Relationships>
</file>

<file path=ppt/slides/_rels/slide140.xml.rels>&#65279;<?xml version="1.0" encoding="utf-8"?><Relationships xmlns="http://schemas.openxmlformats.org/package/2006/relationships"><Relationship Type="http://schemas.openxmlformats.org/officeDocument/2006/relationships/slideLayout" Target="/ppt/slideLayouts/slideLayout7.xml" Id="R4a94ba214e564b9d" /><Relationship Type="http://schemas.openxmlformats.org/officeDocument/2006/relationships/notesSlide" Target="/ppt/notesSlides/notesSlide140.xml" Id="R6925a2eb6e144c63" /></Relationships>
</file>

<file path=ppt/slides/_rels/slide141.xml.rels>&#65279;<?xml version="1.0" encoding="utf-8"?><Relationships xmlns="http://schemas.openxmlformats.org/package/2006/relationships"><Relationship Type="http://schemas.openxmlformats.org/officeDocument/2006/relationships/slideLayout" Target="/ppt/slideLayouts/slideLayout7.xml" Id="R91be70fe8f2245c1" /><Relationship Type="http://schemas.openxmlformats.org/officeDocument/2006/relationships/notesSlide" Target="/ppt/notesSlides/notesSlide141.xml" Id="Rbf9d5cc2a68547b6" /></Relationships>
</file>

<file path=ppt/slides/_rels/slide142.xml.rels>&#65279;<?xml version="1.0" encoding="utf-8"?><Relationships xmlns="http://schemas.openxmlformats.org/package/2006/relationships"><Relationship Type="http://schemas.openxmlformats.org/officeDocument/2006/relationships/slideLayout" Target="/ppt/slideLayouts/slideLayout7.xml" Id="R53f152bfe1484d39" /><Relationship Type="http://schemas.openxmlformats.org/officeDocument/2006/relationships/notesSlide" Target="/ppt/notesSlides/notesSlide142.xml" Id="Rdd951667f3564bc3" /></Relationships>
</file>

<file path=ppt/slides/_rels/slide143.xml.rels>&#65279;<?xml version="1.0" encoding="utf-8"?><Relationships xmlns="http://schemas.openxmlformats.org/package/2006/relationships"><Relationship Type="http://schemas.openxmlformats.org/officeDocument/2006/relationships/slideLayout" Target="/ppt/slideLayouts/slideLayout7.xml" Id="R07d76b69a3f741fd" /><Relationship Type="http://schemas.openxmlformats.org/officeDocument/2006/relationships/notesSlide" Target="/ppt/notesSlides/notesSlide143.xml" Id="R5b38891f1584414f" /></Relationships>
</file>

<file path=ppt/slides/_rels/slide144.xml.rels>&#65279;<?xml version="1.0" encoding="utf-8"?><Relationships xmlns="http://schemas.openxmlformats.org/package/2006/relationships"><Relationship Type="http://schemas.openxmlformats.org/officeDocument/2006/relationships/slideLayout" Target="/ppt/slideLayouts/slideLayout7.xml" Id="R28a51ded31204224" /><Relationship Type="http://schemas.openxmlformats.org/officeDocument/2006/relationships/notesSlide" Target="/ppt/notesSlides/notesSlide144.xml" Id="R7fef88fe02ae47d3" /></Relationships>
</file>

<file path=ppt/slides/_rels/slide145.xml.rels>&#65279;<?xml version="1.0" encoding="utf-8"?><Relationships xmlns="http://schemas.openxmlformats.org/package/2006/relationships"><Relationship Type="http://schemas.openxmlformats.org/officeDocument/2006/relationships/slideLayout" Target="/ppt/slideLayouts/slideLayout7.xml" Id="R31105eb153a44c6b" /><Relationship Type="http://schemas.openxmlformats.org/officeDocument/2006/relationships/notesSlide" Target="/ppt/notesSlides/notesSlide145.xml" Id="R02a87d7210114694" /></Relationships>
</file>

<file path=ppt/slides/_rels/slide146.xml.rels>&#65279;<?xml version="1.0" encoding="utf-8"?><Relationships xmlns="http://schemas.openxmlformats.org/package/2006/relationships"><Relationship Type="http://schemas.openxmlformats.org/officeDocument/2006/relationships/slideLayout" Target="/ppt/slideLayouts/slideLayout7.xml" Id="Re2301af6c4c440f4" /><Relationship Type="http://schemas.openxmlformats.org/officeDocument/2006/relationships/notesSlide" Target="/ppt/notesSlides/notesSlide146.xml" Id="Rb034bf25f671400a" /></Relationships>
</file>

<file path=ppt/slides/_rels/slide147.xml.rels>&#65279;<?xml version="1.0" encoding="utf-8"?><Relationships xmlns="http://schemas.openxmlformats.org/package/2006/relationships"><Relationship Type="http://schemas.openxmlformats.org/officeDocument/2006/relationships/slideLayout" Target="/ppt/slideLayouts/slideLayout7.xml" Id="R1d2dd09b3fb54002" /><Relationship Type="http://schemas.openxmlformats.org/officeDocument/2006/relationships/notesSlide" Target="/ppt/notesSlides/notesSlide147.xml" Id="Rbb6857df268c446c" /></Relationships>
</file>

<file path=ppt/slides/_rels/slide148.xml.rels>&#65279;<?xml version="1.0" encoding="utf-8"?><Relationships xmlns="http://schemas.openxmlformats.org/package/2006/relationships"><Relationship Type="http://schemas.openxmlformats.org/officeDocument/2006/relationships/slideLayout" Target="/ppt/slideLayouts/slideLayout7.xml" Id="R526d4f981d774f44" /><Relationship Type="http://schemas.openxmlformats.org/officeDocument/2006/relationships/notesSlide" Target="/ppt/notesSlides/notesSlide148.xml" Id="R760ae605505f465a" /></Relationships>
</file>

<file path=ppt/slides/_rels/slide149.xml.rels>&#65279;<?xml version="1.0" encoding="utf-8"?><Relationships xmlns="http://schemas.openxmlformats.org/package/2006/relationships"><Relationship Type="http://schemas.openxmlformats.org/officeDocument/2006/relationships/slideLayout" Target="/ppt/slideLayouts/slideLayout7.xml" Id="R39765a9278784233" /><Relationship Type="http://schemas.openxmlformats.org/officeDocument/2006/relationships/notesSlide" Target="/ppt/notesSlides/notesSlide149.xml" Id="Rfd8066b5ada042cc" /></Relationships>
</file>

<file path=ppt/slides/_rels/slide150.xml.rels>&#65279;<?xml version="1.0" encoding="utf-8"?><Relationships xmlns="http://schemas.openxmlformats.org/package/2006/relationships"><Relationship Type="http://schemas.openxmlformats.org/officeDocument/2006/relationships/slideLayout" Target="/ppt/slideLayouts/slideLayout7.xml" Id="R8433b93bb6b545a2" /><Relationship Type="http://schemas.openxmlformats.org/officeDocument/2006/relationships/notesSlide" Target="/ppt/notesSlides/notesSlide150.xml" Id="R51c6111b3a244a1d" /></Relationships>
</file>

<file path=ppt/slides/_rels/slide151.xml.rels>&#65279;<?xml version="1.0" encoding="utf-8"?><Relationships xmlns="http://schemas.openxmlformats.org/package/2006/relationships"><Relationship Type="http://schemas.openxmlformats.org/officeDocument/2006/relationships/slideLayout" Target="/ppt/slideLayouts/slideLayout7.xml" Id="Rd876548589ac4c1f" /><Relationship Type="http://schemas.openxmlformats.org/officeDocument/2006/relationships/notesSlide" Target="/ppt/notesSlides/notesSlide151.xml" Id="Rd0c2b45597ee4c02" /></Relationships>
</file>

<file path=ppt/slides/_rels/slide152.xml.rels>&#65279;<?xml version="1.0" encoding="utf-8"?><Relationships xmlns="http://schemas.openxmlformats.org/package/2006/relationships"><Relationship Type="http://schemas.openxmlformats.org/officeDocument/2006/relationships/slideLayout" Target="/ppt/slideLayouts/slideLayout7.xml" Id="R7b3b7d66da314379" /><Relationship Type="http://schemas.openxmlformats.org/officeDocument/2006/relationships/notesSlide" Target="/ppt/notesSlides/notesSlide152.xml" Id="Rb72c4e54ae354c23" /></Relationships>
</file>

<file path=ppt/slides/_rels/slide153.xml.rels>&#65279;<?xml version="1.0" encoding="utf-8"?><Relationships xmlns="http://schemas.openxmlformats.org/package/2006/relationships"><Relationship Type="http://schemas.openxmlformats.org/officeDocument/2006/relationships/slideLayout" Target="/ppt/slideLayouts/slideLayout7.xml" Id="Recd501258e1b4092" /><Relationship Type="http://schemas.openxmlformats.org/officeDocument/2006/relationships/notesSlide" Target="/ppt/notesSlides/notesSlide153.xml" Id="R4ff2dbcd19e14e49" /></Relationships>
</file>

<file path=ppt/slides/_rels/slide154.xml.rels>&#65279;<?xml version="1.0" encoding="utf-8"?><Relationships xmlns="http://schemas.openxmlformats.org/package/2006/relationships"><Relationship Type="http://schemas.openxmlformats.org/officeDocument/2006/relationships/slideLayout" Target="/ppt/slideLayouts/slideLayout7.xml" Id="R76ff7ed77c0d46e0" /><Relationship Type="http://schemas.openxmlformats.org/officeDocument/2006/relationships/notesSlide" Target="/ppt/notesSlides/notesSlide154.xml" Id="R8ef04639aaf5416f" /></Relationships>
</file>

<file path=ppt/slides/_rels/slide155.xml.rels>&#65279;<?xml version="1.0" encoding="utf-8"?><Relationships xmlns="http://schemas.openxmlformats.org/package/2006/relationships"><Relationship Type="http://schemas.openxmlformats.org/officeDocument/2006/relationships/slideLayout" Target="/ppt/slideLayouts/slideLayout7.xml" Id="R90d0ee2283f142da" /><Relationship Type="http://schemas.openxmlformats.org/officeDocument/2006/relationships/notesSlide" Target="/ppt/notesSlides/notesSlide155.xml" Id="R6cfeb9f0fd7c4bfa" /></Relationships>
</file>

<file path=ppt/slides/_rels/slide156.xml.rels>&#65279;<?xml version="1.0" encoding="utf-8"?><Relationships xmlns="http://schemas.openxmlformats.org/package/2006/relationships"><Relationship Type="http://schemas.openxmlformats.org/officeDocument/2006/relationships/slideLayout" Target="/ppt/slideLayouts/slideLayout7.xml" Id="Rcf0b4709d1b44365" /><Relationship Type="http://schemas.openxmlformats.org/officeDocument/2006/relationships/notesSlide" Target="/ppt/notesSlides/notesSlide156.xml" Id="R3087726e953f41a1" /></Relationships>
</file>

<file path=ppt/slides/_rels/slide157.xml.rels>&#65279;<?xml version="1.0" encoding="utf-8"?><Relationships xmlns="http://schemas.openxmlformats.org/package/2006/relationships"><Relationship Type="http://schemas.openxmlformats.org/officeDocument/2006/relationships/slideLayout" Target="/ppt/slideLayouts/slideLayout7.xml" Id="Rd3445edc2d894f62" /><Relationship Type="http://schemas.openxmlformats.org/officeDocument/2006/relationships/notesSlide" Target="/ppt/notesSlides/notesSlide157.xml" Id="R2600df14b5854fe8" /></Relationships>
</file>

<file path=ppt/slides/_rels/slide158.xml.rels>&#65279;<?xml version="1.0" encoding="utf-8"?><Relationships xmlns="http://schemas.openxmlformats.org/package/2006/relationships"><Relationship Type="http://schemas.openxmlformats.org/officeDocument/2006/relationships/slideLayout" Target="/ppt/slideLayouts/slideLayout7.xml" Id="R0f40e8a7a90f47d7" /><Relationship Type="http://schemas.openxmlformats.org/officeDocument/2006/relationships/notesSlide" Target="/ppt/notesSlides/notesSlide158.xml" Id="Rff36987aed454e36" /></Relationships>
</file>

<file path=ppt/slides/_rels/slide159.xml.rels>&#65279;<?xml version="1.0" encoding="utf-8"?><Relationships xmlns="http://schemas.openxmlformats.org/package/2006/relationships"><Relationship Type="http://schemas.openxmlformats.org/officeDocument/2006/relationships/slideLayout" Target="/ppt/slideLayouts/slideLayout7.xml" Id="R97d4e72b51d146b5" /><Relationship Type="http://schemas.openxmlformats.org/officeDocument/2006/relationships/notesSlide" Target="/ppt/notesSlides/notesSlide159.xml" Id="R5c078886c7694747" /></Relationships>
</file>

<file path=ppt/slides/_rels/slide160.xml.rels>&#65279;<?xml version="1.0" encoding="utf-8"?><Relationships xmlns="http://schemas.openxmlformats.org/package/2006/relationships"><Relationship Type="http://schemas.openxmlformats.org/officeDocument/2006/relationships/slideLayout" Target="/ppt/slideLayouts/slideLayout7.xml" Id="R62ec233c63aa4553" /><Relationship Type="http://schemas.openxmlformats.org/officeDocument/2006/relationships/notesSlide" Target="/ppt/notesSlides/notesSlide160.xml" Id="R3f123765ba184a7f" /></Relationships>
</file>

<file path=ppt/slides/_rels/slide161.xml.rels>&#65279;<?xml version="1.0" encoding="utf-8"?><Relationships xmlns="http://schemas.openxmlformats.org/package/2006/relationships"><Relationship Type="http://schemas.openxmlformats.org/officeDocument/2006/relationships/slideLayout" Target="/ppt/slideLayouts/slideLayout7.xml" Id="R4b0a11745ddc4a89" /><Relationship Type="http://schemas.openxmlformats.org/officeDocument/2006/relationships/notesSlide" Target="/ppt/notesSlides/notesSlide161.xml" Id="Rd41fe8e207934a69" /></Relationships>
</file>

<file path=ppt/slides/_rels/slide162.xml.rels>&#65279;<?xml version="1.0" encoding="utf-8"?><Relationships xmlns="http://schemas.openxmlformats.org/package/2006/relationships"><Relationship Type="http://schemas.openxmlformats.org/officeDocument/2006/relationships/slideLayout" Target="/ppt/slideLayouts/slideLayout7.xml" Id="Rc2a25edb852d4ec4" /><Relationship Type="http://schemas.openxmlformats.org/officeDocument/2006/relationships/notesSlide" Target="/ppt/notesSlides/notesSlide162.xml" Id="R7b7595b9e746405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13 OXPHOS genes encoded by mitochondrial DNA</c:v>
          </c:tx>
          <c:spPr>
            <a:solidFill xmlns:a="http://schemas.openxmlformats.org/drawingml/2006/main">
              <a:srgbClr val="0072B2"/>
            </a:solidFill>
            <a:ln xmlns:a="http://schemas.openxmlformats.org/drawingml/2006/main" w="9525">
              <a:solidFill>
                <a:srgbClr val="0072B2"/>
              </a:solidFill>
              <a:prstDash val="solid"/>
            </a:ln>
          </c:spPr>
          <c:dLbls>
            <c:dLbl>
              <c:idx val="0"/>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99%</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100%</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41%</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125" b="1">
                        <a:solidFill>
                          <a:srgbClr val="0072B2"/>
                        </a:solidFill>
                        <a:latin typeface="Arial"/>
                        <a:ea typeface="Arial"/>
                        <a:cs typeface="Arial"/>
                      </a:rPr>
                      <a:t>10%</a:t>
                    </a:r>
                  </a:p>
                </c:rich>
              </c:tx>
              <c:txPr>
                <a:bodyPr xmlns:a="http://schemas.openxmlformats.org/drawingml/2006/main" anchorCtr="1"/>
                <a:lstStyle xmlns:a="http://schemas.openxmlformats.org/drawingml/2006/main"/>
                <a:p xmlns:a="http://schemas.openxmlformats.org/drawingml/2006/main">
                  <a:pPr>
                    <a:defRPr sz="1125" b="1">
                      <a:solidFill>
                        <a:srgbClr val="0072B2"/>
                      </a:solidFill>
                      <a:latin typeface="Arial"/>
                      <a:ea typeface="Arial"/>
                      <a:cs typeface="Arial"/>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86%</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79%</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s>
          <c:cat>
            <c:strRef>
              <c:f>'Chart Data'!$A$2:$A$7</c:f>
              <c:strCache>
                <c:ptCount val="6"/>
                <c:pt idx="0">
                  <c:v>Female ε2</c:v>
                </c:pt>
                <c:pt idx="1">
                  <c:v>Female ε3/ε3</c:v>
                </c:pt>
                <c:pt idx="2">
                  <c:v>Female ε4</c:v>
                </c:pt>
                <c:pt idx="3">
                  <c:v>Male ε2</c:v>
                </c:pt>
                <c:pt idx="4">
                  <c:v>Male ε3/ε3</c:v>
                </c:pt>
                <c:pt idx="5">
                  <c:v>Male ε4</c:v>
                </c:pt>
              </c:strCache>
            </c:strRef>
          </c:cat>
          <c:val>
            <c:numRef>
              <c:f>'Chart Data'!$B$2:$B$7</c:f>
              <c:numCache>
                <c:formatCode>0"%"</c:formatCode>
                <c:ptCount val="6"/>
                <c:pt idx="0">
                  <c:v>99</c:v>
                </c:pt>
                <c:pt idx="1">
                  <c:v>100</c:v>
                </c:pt>
                <c:pt idx="2">
                  <c:v>41</c:v>
                </c:pt>
                <c:pt idx="3">
                  <c:v>10</c:v>
                </c:pt>
                <c:pt idx="4">
                  <c:v>86</c:v>
                </c:pt>
                <c:pt idx="5">
                  <c:v>79</c:v>
                </c:pt>
              </c:numCache>
            </c:numRef>
          </c:val>
        </c:ser>
        <c:ser>
          <c:idx val="1"/>
          <c:order val="1"/>
          <c:tx>
            <c:v>86 structural OXPHOS genes encoded by nuclear DNA</c:v>
          </c:tx>
          <c:spPr>
            <a:solidFill xmlns:a="http://schemas.openxmlformats.org/drawingml/2006/main">
              <a:srgbClr val="D55E00"/>
            </a:solidFill>
            <a:ln xmlns:a="http://schemas.openxmlformats.org/drawingml/2006/main" w="9525">
              <a:solidFill>
                <a:srgbClr val="D55E00"/>
              </a:solidFill>
              <a:prstDash val="solid"/>
            </a:ln>
          </c:spPr>
          <c:dLbls>
            <c:dLbl>
              <c:idx val="0"/>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98%</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1"/>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85%</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
              <c:idx val="2"/>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5%</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dLbl>
              <c:idx val="3"/>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13%</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dLbl>
              <c:idx val="4"/>
              <c:tx>
                <c:rich>
                  <a:bodyPr xmlns:a="http://schemas.openxmlformats.org/drawingml/2006/main"/>
                  <a:lstStyle xmlns:a="http://schemas.openxmlformats.org/drawingml/2006/main"/>
                  <a:p xmlns:a="http://schemas.openxmlformats.org/drawingml/2006/main">
                    <a:r>
                      <a:rPr sz="1125" b="1">
                        <a:solidFill>
                          <a:srgbClr val="D55E00"/>
                        </a:solidFill>
                        <a:latin typeface="Arial"/>
                        <a:ea typeface="Arial"/>
                        <a:cs typeface="Arial"/>
                      </a:rPr>
                      <a:t>12%</a:t>
                    </a:r>
                  </a:p>
                </c:rich>
              </c:tx>
              <c:txPr>
                <a:bodyPr xmlns:a="http://schemas.openxmlformats.org/drawingml/2006/main" anchorCtr="1"/>
                <a:lstStyle xmlns:a="http://schemas.openxmlformats.org/drawingml/2006/main"/>
                <a:p xmlns:a="http://schemas.openxmlformats.org/drawingml/2006/main">
                  <a:pPr>
                    <a:defRPr sz="1125" b="1">
                      <a:solidFill>
                        <a:srgbClr val="D55E00"/>
                      </a:solidFill>
                      <a:latin typeface="Arial"/>
                      <a:ea typeface="Arial"/>
                      <a:cs typeface="Arial"/>
                    </a:defRPr>
                  </a:pPr>
                </a:p>
              </c:txPr>
              <c:dLblPos val="outEnd"/>
              <c:showLegendKey val="0"/>
              <c:showVal val="0"/>
              <c:showCatName val="0"/>
              <c:showSerName val="0"/>
              <c:showPercent val="0"/>
              <c:showBubbleSize val="0"/>
            </c:dLbl>
            <c:dLbl>
              <c:idx val="5"/>
              <c:tx>
                <c:rich>
                  <a:bodyPr xmlns:a="http://schemas.openxmlformats.org/drawingml/2006/main"/>
                  <a:lstStyle xmlns:a="http://schemas.openxmlformats.org/drawingml/2006/main"/>
                  <a:p xmlns:a="http://schemas.openxmlformats.org/drawingml/2006/main">
                    <a:r>
                      <a:rPr sz="1125" b="1">
                        <a:solidFill>
                          <a:srgbClr val="FFFFFF"/>
                        </a:solidFill>
                        <a:latin typeface="Arial"/>
                        <a:ea typeface="Arial"/>
                        <a:cs typeface="Arial"/>
                      </a:rPr>
                      <a:t>38%</a:t>
                    </a:r>
                  </a:p>
                </c:rich>
              </c:tx>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0"/>
              <c:showCatName val="0"/>
              <c:showSerName val="0"/>
              <c:showPercent val="0"/>
              <c:showBubbleSize val="0"/>
            </c:dLbl>
          </c:dLbls>
          <c:cat>
            <c:strRef>
              <c:f>'Chart Data'!$C$2:$C$7</c:f>
              <c:strCache>
                <c:ptCount val="6"/>
                <c:pt idx="0">
                  <c:v>Female ε2</c:v>
                </c:pt>
                <c:pt idx="1">
                  <c:v>Female ε3/ε3</c:v>
                </c:pt>
                <c:pt idx="2">
                  <c:v>Female ε4</c:v>
                </c:pt>
                <c:pt idx="3">
                  <c:v>Male ε2</c:v>
                </c:pt>
                <c:pt idx="4">
                  <c:v>Male ε3/ε3</c:v>
                </c:pt>
                <c:pt idx="5">
                  <c:v>Male ε4</c:v>
                </c:pt>
              </c:strCache>
            </c:strRef>
          </c:cat>
          <c:val>
            <c:numRef>
              <c:f>'Chart Data'!$D$2:$D$7</c:f>
              <c:numCache>
                <c:formatCode>0"%"</c:formatCode>
                <c:ptCount val="6"/>
                <c:pt idx="0">
                  <c:v>98</c:v>
                </c:pt>
                <c:pt idx="1">
                  <c:v>85</c:v>
                </c:pt>
                <c:pt idx="2">
                  <c:v>5</c:v>
                </c:pt>
                <c:pt idx="3">
                  <c:v>13</c:v>
                </c:pt>
                <c:pt idx="4">
                  <c:v>12</c:v>
                </c:pt>
                <c:pt idx="5">
                  <c:v>38</c:v>
                </c:pt>
              </c:numCache>
            </c:numRef>
          </c:val>
        </c:ser>
        <c:dLbls>
          <c:txPr>
            <a:bodyPr xmlns:a="http://schemas.openxmlformats.org/drawingml/2006/main" anchorCtr="1"/>
            <a:lstStyle xmlns:a="http://schemas.openxmlformats.org/drawingml/2006/main"/>
            <a:p xmlns:a="http://schemas.openxmlformats.org/drawingml/2006/main">
              <a:pPr>
                <a:defRPr sz="1125" b="1">
                  <a:solidFill>
                    <a:srgbClr val="FFFFFF"/>
                  </a:solidFill>
                  <a:latin typeface="Arial"/>
                  <a:ea typeface="Arial"/>
                  <a:cs typeface="Arial"/>
                </a:defRPr>
              </a:pPr>
            </a:p>
          </c:txPr>
          <c:dLblPos val="inEnd"/>
          <c:showLegendKey val="0"/>
          <c:showVal val="1"/>
          <c:showCatName val="0"/>
          <c:showSerName val="0"/>
          <c:showPercent val="0"/>
          <c:showBubbleSize val="0"/>
          <c:showLeaderLines val="0"/>
        </c:dLbls>
        <c:gapWidth val="5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667788"/>
            </a:solidFill>
            <a:prstDash val="solid"/>
          </a:ln>
        </c:spPr>
        <c:txPr>
          <a:bodyPr xmlns:a="http://schemas.openxmlformats.org/drawingml/2006/main" anchorCtr="1"/>
          <a:lstStyle xmlns:a="http://schemas.openxmlformats.org/drawingml/2006/main"/>
          <a:p xmlns:a="http://schemas.openxmlformats.org/drawingml/2006/main">
            <a:pPr>
              <a:defRPr sz="1125" b="1">
                <a:solidFill>
                  <a:srgbClr val="1F2730"/>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5DDE6"/>
              </a:solidFill>
              <a:prstDash val="solid"/>
            </a:ln>
          </c:spPr>
        </c:majorGridlines>
        <c:title>
          <c:tx>
            <c:rich>
              <a:bodyPr xmlns:a="http://schemas.openxmlformats.org/drawingml/2006/main"/>
              <a:lstStyle xmlns:a="http://schemas.openxmlformats.org/drawingml/2006/main"/>
              <a:p xmlns:a="http://schemas.openxmlformats.org/drawingml/2006/main">
                <a:r>
                  <a:rPr sz="1050">
                    <a:solidFill>
                      <a:srgbClr val="1F2730"/>
                    </a:solidFill>
                    <a:latin typeface="Arial"/>
                    <a:ea typeface="Arial"/>
                    <a:cs typeface="Arial"/>
                  </a:rPr>
                  <a:t>Upregulated occurrences among all OXPHOS DEG occurrences</a:t>
                </a:r>
              </a:p>
            </c:rich>
          </c:tx>
          <c:overlay val="0"/>
          <c:txPr>
            <a:bodyPr xmlns:a="http://schemas.openxmlformats.org/drawingml/2006/main" anchorCtr="1"/>
            <a:lstStyle xmlns:a="http://schemas.openxmlformats.org/drawingml/2006/main"/>
            <a:p xmlns:a="http://schemas.openxmlformats.org/drawingml/2006/main">
              <a:pPr>
                <a:defRPr sz="1050">
                  <a:solidFill>
                    <a:srgbClr val="1F2730"/>
                  </a:solidFill>
                  <a:latin typeface="Arial"/>
                  <a:ea typeface="Arial"/>
                  <a:cs typeface="Arial"/>
                </a:defRPr>
              </a:pPr>
            </a:p>
          </c:txPr>
        </c:title>
        <c:numFmt formatCode="0&quot;%&quot;"/>
        <c:majorTickMark val="none"/>
        <c:minorTickMark val="none"/>
        <c:spPr>
          <a:ln xmlns:a="http://schemas.openxmlformats.org/drawingml/2006/main" w="9525">
            <a:solidFill>
              <a:srgbClr val="667788"/>
            </a:solidFill>
            <a:prstDash val="solid"/>
          </a:ln>
        </c:spPr>
        <c:txPr>
          <a:bodyPr xmlns:a="http://schemas.openxmlformats.org/drawingml/2006/main" anchorCtr="1"/>
          <a:lstStyle xmlns:a="http://schemas.openxmlformats.org/drawingml/2006/main"/>
          <a:p xmlns:a="http://schemas.openxmlformats.org/drawingml/2006/main">
            <a:pPr>
              <a:defRPr sz="975">
                <a:solidFill>
                  <a:srgbClr val="1F2730"/>
                </a:solidFill>
                <a:latin typeface="Arial"/>
                <a:ea typeface="Arial"/>
                <a:cs typeface="Arial"/>
              </a:defRPr>
            </a:pPr>
          </a:p>
        </c:txPr>
        <c:crossAx val="48650112"/>
        <c:crossBetween val="between"/>
        <c:majorUnit val="25"/>
      </c:valAx>
      <c:spPr>
        <a:solidFill xmlns:a="http://schemas.openxmlformats.org/drawingml/2006/main">
          <a:srgbClr val="FFFFFF"/>
        </a:solidFill>
        <a:ln xmlns:a="http://schemas.openxmlformats.org/drawingml/2006/main" w="0">
          <a:noFill/>
          <a:prstDash val="solid"/>
        </a:ln>
      </c:spPr>
    </c:plotArea>
    <c:legend>
      <c:legendPos val="t"/>
      <c:overlay val="0"/>
      <c:txPr>
        <a:bodyPr xmlns:a="http://schemas.openxmlformats.org/drawingml/2006/main" anchorCtr="1"/>
        <a:lstStyle xmlns:a="http://schemas.openxmlformats.org/drawingml/2006/main"/>
        <a:p xmlns:a="http://schemas.openxmlformats.org/drawingml/2006/main">
          <a:pPr>
            <a:defRPr sz="1050">
              <a:solidFill>
                <a:srgbClr val="1F27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D116230-CD20-4199-A460-95D3D4C64572}"/>
              </a:ext>
            </a:extLst>
          </p:cNvPr>
          <p:cNvSpPr>
            <a:spLocks xmlns:a="http://schemas.openxmlformats.org/drawingml/2006/main" noGrp="1"/>
          </p:cNvSpPr>
          <p:nvPr/>
        </p:nvSpPr>
        <p:spPr>
          <a:xfrm xmlns:a="http://schemas.openxmlformats.org/drawingml/2006/main">
            <a:off x="713232" y="753174"/>
            <a:ext cx="10287000" cy="193283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Sex, APOE, and Mitochondrial Gene Expression in Alzheimer’s Disease</a:t>
            </a:r>
          </a:p>
          <a:p xmlns:a="http://schemas.openxmlformats.org/drawingml/2006/main">
            <a:endParaRPr sz="3400" b="1">
              <a:solidFill>
                <a:srgbClr val="FFFFFF"/>
              </a:solidFill>
              <a:latin typeface="Arial"/>
              <a:ea typeface="Arial"/>
              <a:cs typeface="Arial"/>
            </a:endParaRPr>
          </a:p>
          <a:p xmlns:a="http://schemas.openxmlformats.org/drawingml/2006/main">
            <a:r>
              <a:rPr sz="2000" b="1">
                <a:solidFill>
                  <a:srgbClr val="FFFFFF"/>
                </a:solidFill>
                <a:latin typeface="Arial"/>
                <a:ea typeface="Arial"/>
                <a:cs typeface="Arial"/>
              </a:rPr>
              <a:t>--Eric Zhuang</a:t>
            </a:r>
          </a:p>
        </p:txBody>
      </p:sp>
    </p:spTree>
    <p:extLst>
      <p:ext uri="{BB962C8B-B14F-4D97-AF65-F5344CB8AC3E}">
        <p14:creationId xmlns:p14="http://schemas.microsoft.com/office/powerpoint/2010/main" val="206127924"/>
      </p:ext>
    </p:extLst>
  </p:cSld>
</p:sld>
</file>

<file path=ppt/slides/slide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0A316EEB-069D-41A8-577B-5F43F368006E}"/>
              </a:ext>
            </a:extLst>
          </p:cNvPr>
          <p:cNvSpPr>
            <a:spLocks xmlns:a="http://schemas.openxmlformats.org/drawingml/2006/main" noGrp="1"/>
          </p:cNvSpPr>
          <p:nvPr/>
        </p:nvSpPr>
        <p:spPr>
          <a:xfrm xmlns:a="http://schemas.openxmlformats.org/drawingml/2006/main">
            <a:off x="713232" y="1285018"/>
            <a:ext cx="10287000" cy="88639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DEG Analysis</a:t>
            </a:r>
            <a:b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0F86007-9552-FFC3-B183-B90F517A5A0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1</a:t>
            </a:r>
            <a:endParaRPr sz="1050" b="1" i="0">
              <a:solidFill>
                <a:srgbClr val="0072B2"/>
              </a:solidFill>
              <a:latin typeface="Arial"/>
              <a:ea typeface="Arial"/>
              <a:cs typeface="Arial"/>
            </a:endParaRPr>
          </a:p>
        </p:txBody>
      </p:sp>
    </p:spTree>
    <p:extLst>
      <p:ext uri="{BB962C8B-B14F-4D97-AF65-F5344CB8AC3E}">
        <p14:creationId xmlns:p14="http://schemas.microsoft.com/office/powerpoint/2010/main" val="1572448250"/>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ABE309-C9E3-48FF-A8F2-A0EF08A29372}"/>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What is a contrast</a:t>
            </a:r>
          </a:p>
        </p:txBody>
      </p:sp>
      <p:sp>
        <p:nvSpPr>
          <p:cNvPr id="3" name="TextBox 2">
            <a:extLst xmlns:a="http://schemas.openxmlformats.org/drawingml/2006/main">
              <a:ext uri="{FF2B5EF4-FFF2-40B4-BE49-F238E27FC236}">
                <a16:creationId xmlns:a16="http://schemas.microsoft.com/office/drawing/2014/main" id="{AFCB9572-86B4-40FF-8174-14DE2FC5F595}"/>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Fine cell type × sex × APOE defines the contrast; broad-cell aggregation happens after KDA.</a:t>
            </a:r>
          </a:p>
        </p:txBody>
      </p:sp>
      <p:sp>
        <p:nvSpPr>
          <p:cNvPr id="4" name="Rounded Rectangle 3">
            <a:extLst xmlns:a="http://schemas.openxmlformats.org/drawingml/2006/main">
              <a:ext uri="{FF2B5EF4-FFF2-40B4-BE49-F238E27FC236}">
                <a16:creationId xmlns:a16="http://schemas.microsoft.com/office/drawing/2014/main" id="{783C0F05-8BCC-4C1E-99DB-9C95EA400582}"/>
              </a:ext>
            </a:extLst>
          </p:cNvPr>
          <p:cNvSpPr>
            <a:spLocks xmlns:a="http://schemas.openxmlformats.org/drawingml/2006/main" noGrp="1"/>
          </p:cNvSpPr>
          <p:nvPr/>
        </p:nvSpPr>
        <p:spPr>
          <a:xfrm xmlns:a="http://schemas.openxmlformats.org/drawingml/2006/main">
            <a:off x="603504" y="1261872"/>
            <a:ext cx="2157984" cy="84124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2042E1-1881-4A0D-A856-6BD035FB9B6E}"/>
              </a:ext>
            </a:extLst>
          </p:cNvPr>
          <p:cNvSpPr>
            <a:spLocks xmlns:a="http://schemas.openxmlformats.org/drawingml/2006/main" noGrp="1"/>
          </p:cNvSpPr>
          <p:nvPr/>
        </p:nvSpPr>
        <p:spPr>
          <a:xfrm xmlns:a="http://schemas.openxmlformats.org/drawingml/2006/main">
            <a:off x="713232"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N</a:t>
            </a:r>
          </a:p>
        </p:txBody>
      </p:sp>
      <p:sp>
        <p:nvSpPr>
          <p:cNvPr id="6" name="TextBox 5">
            <a:extLst xmlns:a="http://schemas.openxmlformats.org/drawingml/2006/main">
              <a:ext uri="{FF2B5EF4-FFF2-40B4-BE49-F238E27FC236}">
                <a16:creationId xmlns:a16="http://schemas.microsoft.com/office/drawing/2014/main" id="{4CA06EC8-5501-4A49-8CF5-CF9C879F44D2}"/>
              </a:ext>
            </a:extLst>
          </p:cNvPr>
          <p:cNvSpPr>
            <a:spLocks xmlns:a="http://schemas.openxmlformats.org/drawingml/2006/main" noGrp="1"/>
          </p:cNvSpPr>
          <p:nvPr/>
        </p:nvSpPr>
        <p:spPr>
          <a:xfrm xmlns:a="http://schemas.openxmlformats.org/drawingml/2006/main">
            <a:off x="1463040" y="1463040"/>
            <a:ext cx="1188719"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fine cell types</a:t>
            </a:r>
          </a:p>
        </p:txBody>
      </p:sp>
      <p:sp>
        <p:nvSpPr>
          <p:cNvPr id="7" name="TextBox 6">
            <a:extLst xmlns:a="http://schemas.openxmlformats.org/drawingml/2006/main">
              <a:ext uri="{FF2B5EF4-FFF2-40B4-BE49-F238E27FC236}">
                <a16:creationId xmlns:a16="http://schemas.microsoft.com/office/drawing/2014/main" id="{C2A22B25-B9D1-4F1E-B499-772695760BDA}"/>
              </a:ext>
            </a:extLst>
          </p:cNvPr>
          <p:cNvSpPr>
            <a:spLocks xmlns:a="http://schemas.openxmlformats.org/drawingml/2006/main" noGrp="1"/>
          </p:cNvSpPr>
          <p:nvPr/>
        </p:nvSpPr>
        <p:spPr>
          <a:xfrm xmlns:a="http://schemas.openxmlformats.org/drawingml/2006/main">
            <a:off x="2852928"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8" name="Rounded Rectangle 7">
            <a:extLst xmlns:a="http://schemas.openxmlformats.org/drawingml/2006/main">
              <a:ext uri="{FF2B5EF4-FFF2-40B4-BE49-F238E27FC236}">
                <a16:creationId xmlns:a16="http://schemas.microsoft.com/office/drawing/2014/main" id="{D2148A89-00B9-4DD8-B7DF-A655AEBC4A4E}"/>
              </a:ext>
            </a:extLst>
          </p:cNvPr>
          <p:cNvSpPr>
            <a:spLocks xmlns:a="http://schemas.openxmlformats.org/drawingml/2006/main" noGrp="1"/>
          </p:cNvSpPr>
          <p:nvPr/>
        </p:nvSpPr>
        <p:spPr>
          <a:xfrm xmlns:a="http://schemas.openxmlformats.org/drawingml/2006/main">
            <a:off x="3310128" y="1261872"/>
            <a:ext cx="1975104" cy="84124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2D9BD53-74AD-440A-877E-734044EEC58A}"/>
              </a:ext>
            </a:extLst>
          </p:cNvPr>
          <p:cNvSpPr>
            <a:spLocks xmlns:a="http://schemas.openxmlformats.org/drawingml/2006/main" noGrp="1"/>
          </p:cNvSpPr>
          <p:nvPr/>
        </p:nvSpPr>
        <p:spPr>
          <a:xfrm xmlns:a="http://schemas.openxmlformats.org/drawingml/2006/main">
            <a:off x="3419856"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684D"/>
                </a:solidFill>
                <a:latin typeface="Arial"/>
                <a:ea typeface="Arial"/>
                <a:cs typeface="Arial"/>
              </a:rPr>
              <a:t>2</a:t>
            </a:r>
          </a:p>
        </p:txBody>
      </p:sp>
      <p:sp>
        <p:nvSpPr>
          <p:cNvPr id="10" name="TextBox 9">
            <a:extLst xmlns:a="http://schemas.openxmlformats.org/drawingml/2006/main">
              <a:ext uri="{FF2B5EF4-FFF2-40B4-BE49-F238E27FC236}">
                <a16:creationId xmlns:a16="http://schemas.microsoft.com/office/drawing/2014/main" id="{A8D6D415-6CCA-4784-A9AD-1A28B381EBFB}"/>
              </a:ext>
            </a:extLst>
          </p:cNvPr>
          <p:cNvSpPr>
            <a:spLocks xmlns:a="http://schemas.openxmlformats.org/drawingml/2006/main" noGrp="1"/>
          </p:cNvSpPr>
          <p:nvPr/>
        </p:nvSpPr>
        <p:spPr>
          <a:xfrm xmlns:a="http://schemas.openxmlformats.org/drawingml/2006/main">
            <a:off x="4169664" y="1463040"/>
            <a:ext cx="1005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sexes</a:t>
            </a:r>
          </a:p>
        </p:txBody>
      </p:sp>
      <p:sp>
        <p:nvSpPr>
          <p:cNvPr id="11" name="TextBox 10">
            <a:extLst xmlns:a="http://schemas.openxmlformats.org/drawingml/2006/main">
              <a:ext uri="{FF2B5EF4-FFF2-40B4-BE49-F238E27FC236}">
                <a16:creationId xmlns:a16="http://schemas.microsoft.com/office/drawing/2014/main" id="{82807640-81E0-4A92-92A6-EBB7277467DE}"/>
              </a:ext>
            </a:extLst>
          </p:cNvPr>
          <p:cNvSpPr>
            <a:spLocks xmlns:a="http://schemas.openxmlformats.org/drawingml/2006/main" noGrp="1"/>
          </p:cNvSpPr>
          <p:nvPr/>
        </p:nvSpPr>
        <p:spPr>
          <a:xfrm xmlns:a="http://schemas.openxmlformats.org/drawingml/2006/main">
            <a:off x="5376672"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2" name="Rounded Rectangle 11">
            <a:extLst xmlns:a="http://schemas.openxmlformats.org/drawingml/2006/main">
              <a:ext uri="{FF2B5EF4-FFF2-40B4-BE49-F238E27FC236}">
                <a16:creationId xmlns:a16="http://schemas.microsoft.com/office/drawing/2014/main" id="{5C1612BB-C0AB-4676-B620-7CFBF03B12A0}"/>
              </a:ext>
            </a:extLst>
          </p:cNvPr>
          <p:cNvSpPr>
            <a:spLocks xmlns:a="http://schemas.openxmlformats.org/drawingml/2006/main" noGrp="1"/>
          </p:cNvSpPr>
          <p:nvPr/>
        </p:nvSpPr>
        <p:spPr>
          <a:xfrm xmlns:a="http://schemas.openxmlformats.org/drawingml/2006/main">
            <a:off x="5833872" y="1261872"/>
            <a:ext cx="2157984" cy="841248"/>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92F8939-D400-412A-94EF-7BC0FF1FB9B1}"/>
              </a:ext>
            </a:extLst>
          </p:cNvPr>
          <p:cNvSpPr>
            <a:spLocks xmlns:a="http://schemas.openxmlformats.org/drawingml/2006/main" noGrp="1"/>
          </p:cNvSpPr>
          <p:nvPr/>
        </p:nvSpPr>
        <p:spPr>
          <a:xfrm xmlns:a="http://schemas.openxmlformats.org/drawingml/2006/main">
            <a:off x="5943600"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3</a:t>
            </a:r>
          </a:p>
        </p:txBody>
      </p:sp>
      <p:sp>
        <p:nvSpPr>
          <p:cNvPr id="14" name="TextBox 13">
            <a:extLst xmlns:a="http://schemas.openxmlformats.org/drawingml/2006/main">
              <a:ext uri="{FF2B5EF4-FFF2-40B4-BE49-F238E27FC236}">
                <a16:creationId xmlns:a16="http://schemas.microsoft.com/office/drawing/2014/main" id="{CD39BEE1-7B75-4AC0-B404-2BC9A78F8411}"/>
              </a:ext>
            </a:extLst>
          </p:cNvPr>
          <p:cNvSpPr>
            <a:spLocks xmlns:a="http://schemas.openxmlformats.org/drawingml/2006/main" noGrp="1"/>
          </p:cNvSpPr>
          <p:nvPr/>
        </p:nvSpPr>
        <p:spPr>
          <a:xfrm xmlns:a="http://schemas.openxmlformats.org/drawingml/2006/main">
            <a:off x="6693408" y="1463040"/>
            <a:ext cx="1188719"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APOE groups</a:t>
            </a:r>
          </a:p>
        </p:txBody>
      </p:sp>
      <p:sp>
        <p:nvSpPr>
          <p:cNvPr id="15" name="TextBox 14">
            <a:extLst xmlns:a="http://schemas.openxmlformats.org/drawingml/2006/main">
              <a:ext uri="{FF2B5EF4-FFF2-40B4-BE49-F238E27FC236}">
                <a16:creationId xmlns:a16="http://schemas.microsoft.com/office/drawing/2014/main" id="{0F149D61-E0B1-43EA-9C60-5C83750A956E}"/>
              </a:ext>
            </a:extLst>
          </p:cNvPr>
          <p:cNvSpPr>
            <a:spLocks xmlns:a="http://schemas.openxmlformats.org/drawingml/2006/main" noGrp="1"/>
          </p:cNvSpPr>
          <p:nvPr/>
        </p:nvSpPr>
        <p:spPr>
          <a:xfrm xmlns:a="http://schemas.openxmlformats.org/drawingml/2006/main">
            <a:off x="8083296" y="1490472"/>
            <a:ext cx="3657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4E5A68"/>
                </a:solidFill>
                <a:latin typeface="Arial"/>
                <a:ea typeface="Arial"/>
                <a:cs typeface="Arial"/>
              </a:rPr>
              <a:t>=</a:t>
            </a:r>
          </a:p>
        </p:txBody>
      </p:sp>
      <p:sp>
        <p:nvSpPr>
          <p:cNvPr id="16" name="Rounded Rectangle 15">
            <a:extLst xmlns:a="http://schemas.openxmlformats.org/drawingml/2006/main">
              <a:ext uri="{FF2B5EF4-FFF2-40B4-BE49-F238E27FC236}">
                <a16:creationId xmlns:a16="http://schemas.microsoft.com/office/drawing/2014/main" id="{295304B1-6E48-4817-80DA-93860307ABB8}"/>
              </a:ext>
            </a:extLst>
          </p:cNvPr>
          <p:cNvSpPr>
            <a:spLocks xmlns:a="http://schemas.openxmlformats.org/drawingml/2006/main" noGrp="1"/>
          </p:cNvSpPr>
          <p:nvPr/>
        </p:nvSpPr>
        <p:spPr>
          <a:xfrm xmlns:a="http://schemas.openxmlformats.org/drawingml/2006/main">
            <a:off x="8540496" y="1261872"/>
            <a:ext cx="3044952" cy="841248"/>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01C2CFF-53CF-4D76-A412-6C11E2CA0186}"/>
              </a:ext>
            </a:extLst>
          </p:cNvPr>
          <p:cNvSpPr>
            <a:spLocks xmlns:a="http://schemas.openxmlformats.org/drawingml/2006/main" noGrp="1"/>
          </p:cNvSpPr>
          <p:nvPr/>
        </p:nvSpPr>
        <p:spPr>
          <a:xfrm xmlns:a="http://schemas.openxmlformats.org/drawingml/2006/main">
            <a:off x="8650224" y="1417320"/>
            <a:ext cx="694944"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9E3A00"/>
                </a:solidFill>
                <a:latin typeface="Arial"/>
                <a:ea typeface="Arial"/>
                <a:cs typeface="Arial"/>
              </a:rPr>
              <a:t>6N</a:t>
            </a:r>
          </a:p>
        </p:txBody>
      </p:sp>
      <p:sp>
        <p:nvSpPr>
          <p:cNvPr id="18" name="TextBox 17">
            <a:extLst xmlns:a="http://schemas.openxmlformats.org/drawingml/2006/main">
              <a:ext uri="{FF2B5EF4-FFF2-40B4-BE49-F238E27FC236}">
                <a16:creationId xmlns:a16="http://schemas.microsoft.com/office/drawing/2014/main" id="{A7BD88E4-29E5-4E20-9001-225028ABFB98}"/>
              </a:ext>
            </a:extLst>
          </p:cNvPr>
          <p:cNvSpPr>
            <a:spLocks xmlns:a="http://schemas.openxmlformats.org/drawingml/2006/main" noGrp="1"/>
          </p:cNvSpPr>
          <p:nvPr/>
        </p:nvSpPr>
        <p:spPr>
          <a:xfrm xmlns:a="http://schemas.openxmlformats.org/drawingml/2006/main">
            <a:off x="9400032" y="1463040"/>
            <a:ext cx="2075688"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60" b="1" i="0">
                <a:solidFill>
                  <a:srgbClr val="0F233D"/>
                </a:solidFill>
                <a:latin typeface="Arial"/>
                <a:ea typeface="Arial"/>
                <a:cs typeface="Arial"/>
              </a:rPr>
              <a:t>planned contrasts</a:t>
            </a:r>
          </a:p>
        </p:txBody>
      </p:sp>
      <p:sp>
        <p:nvSpPr>
          <p:cNvPr id="19" name="TextBox 18">
            <a:extLst xmlns:a="http://schemas.openxmlformats.org/drawingml/2006/main">
              <a:ext uri="{FF2B5EF4-FFF2-40B4-BE49-F238E27FC236}">
                <a16:creationId xmlns:a16="http://schemas.microsoft.com/office/drawing/2014/main" id="{C9776B47-05AA-4A96-8279-73A57EE15FFF}"/>
              </a:ext>
            </a:extLst>
          </p:cNvPr>
          <p:cNvSpPr>
            <a:spLocks xmlns:a="http://schemas.openxmlformats.org/drawingml/2006/main" noGrp="1"/>
          </p:cNvSpPr>
          <p:nvPr/>
        </p:nvSpPr>
        <p:spPr>
          <a:xfrm xmlns:a="http://schemas.openxmlformats.org/drawingml/2006/main">
            <a:off x="621792" y="2212848"/>
            <a:ext cx="10954512"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b="1" i="0">
                <a:solidFill>
                  <a:srgbClr val="7E4C9A"/>
                </a:solidFill>
                <a:latin typeface="Arial"/>
                <a:ea typeface="Arial"/>
                <a:cs typeface="Arial"/>
              </a:rPr>
              <a:t>ROSMAP example: 54 fine cell types × 2 sexes × 3 APOE groups = 324 planned contrasts</a:t>
            </a:r>
          </a:p>
        </p:txBody>
      </p:sp>
      <p:sp>
        <p:nvSpPr>
          <p:cNvPr id="20" name="Rounded Rectangle 19">
            <a:extLst xmlns:a="http://schemas.openxmlformats.org/drawingml/2006/main">
              <a:ext uri="{FF2B5EF4-FFF2-40B4-BE49-F238E27FC236}">
                <a16:creationId xmlns:a16="http://schemas.microsoft.com/office/drawing/2014/main" id="{EADAEADC-96D3-4FD9-84AB-CD1B9DCD3675}"/>
              </a:ext>
            </a:extLst>
          </p:cNvPr>
          <p:cNvSpPr>
            <a:spLocks xmlns:a="http://schemas.openxmlformats.org/drawingml/2006/main" noGrp="1"/>
          </p:cNvSpPr>
          <p:nvPr/>
        </p:nvSpPr>
        <p:spPr>
          <a:xfrm xmlns:a="http://schemas.openxmlformats.org/drawingml/2006/main">
            <a:off x="603504" y="2703142"/>
            <a:ext cx="5422392" cy="321868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48DB1D99-3E39-4EE8-81B1-E579A7B0AB7D}"/>
              </a:ext>
            </a:extLst>
          </p:cNvPr>
          <p:cNvSpPr>
            <a:spLocks xmlns:a="http://schemas.openxmlformats.org/drawingml/2006/main" noGrp="1"/>
          </p:cNvSpPr>
          <p:nvPr/>
        </p:nvSpPr>
        <p:spPr>
          <a:xfrm xmlns:a="http://schemas.openxmlformats.org/drawingml/2006/main">
            <a:off x="877824" y="298660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558DA8C8-935B-45B6-B3E0-C2E00D6AF0EF}"/>
              </a:ext>
            </a:extLst>
          </p:cNvPr>
          <p:cNvSpPr>
            <a:spLocks xmlns:a="http://schemas.openxmlformats.org/drawingml/2006/main" noGrp="1"/>
          </p:cNvSpPr>
          <p:nvPr/>
        </p:nvSpPr>
        <p:spPr>
          <a:xfrm xmlns:a="http://schemas.openxmlformats.org/drawingml/2006/main">
            <a:off x="1024126" y="2959174"/>
            <a:ext cx="4855465"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One contrast → run DEG and at most one KDA call</a:t>
            </a:r>
          </a:p>
        </p:txBody>
      </p:sp>
      <p:sp>
        <p:nvSpPr>
          <p:cNvPr id="23" name="Rounded Rectangle 22">
            <a:extLst xmlns:a="http://schemas.openxmlformats.org/drawingml/2006/main">
              <a:ext uri="{FF2B5EF4-FFF2-40B4-BE49-F238E27FC236}">
                <a16:creationId xmlns:a16="http://schemas.microsoft.com/office/drawing/2014/main" id="{C4B88BEE-3638-4BD9-9B63-6CC149E79E1B}"/>
              </a:ext>
            </a:extLst>
          </p:cNvPr>
          <p:cNvSpPr>
            <a:spLocks xmlns:a="http://schemas.openxmlformats.org/drawingml/2006/main" noGrp="1"/>
          </p:cNvSpPr>
          <p:nvPr/>
        </p:nvSpPr>
        <p:spPr>
          <a:xfrm xmlns:a="http://schemas.openxmlformats.org/drawingml/2006/main">
            <a:off x="896112" y="3434662"/>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C3149286-B7B6-4FDD-B244-1D2656E7D904}"/>
              </a:ext>
            </a:extLst>
          </p:cNvPr>
          <p:cNvSpPr>
            <a:spLocks xmlns:a="http://schemas.openxmlformats.org/drawingml/2006/main" noGrp="1"/>
          </p:cNvSpPr>
          <p:nvPr/>
        </p:nvSpPr>
        <p:spPr>
          <a:xfrm xmlns:a="http://schemas.openxmlformats.org/drawingml/2006/main">
            <a:off x="932688" y="3507814"/>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1</a:t>
            </a:r>
          </a:p>
        </p:txBody>
      </p:sp>
      <p:sp>
        <p:nvSpPr>
          <p:cNvPr id="25" name="TextBox 24">
            <a:extLst xmlns:a="http://schemas.openxmlformats.org/drawingml/2006/main">
              <a:ext uri="{FF2B5EF4-FFF2-40B4-BE49-F238E27FC236}">
                <a16:creationId xmlns:a16="http://schemas.microsoft.com/office/drawing/2014/main" id="{D0B71D92-1D0F-424C-A9F0-0E2D9A5DB977}"/>
              </a:ext>
            </a:extLst>
          </p:cNvPr>
          <p:cNvSpPr>
            <a:spLocks xmlns:a="http://schemas.openxmlformats.org/drawingml/2006/main" noGrp="1"/>
          </p:cNvSpPr>
          <p:nvPr/>
        </p:nvSpPr>
        <p:spPr>
          <a:xfrm xmlns:a="http://schemas.openxmlformats.org/drawingml/2006/main">
            <a:off x="1426464" y="3425518"/>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Define one AD-versus-NCI comparison</a:t>
            </a:r>
          </a:p>
        </p:txBody>
      </p:sp>
      <p:sp>
        <p:nvSpPr>
          <p:cNvPr id="26" name="TextBox 25">
            <a:extLst xmlns:a="http://schemas.openxmlformats.org/drawingml/2006/main">
              <a:ext uri="{FF2B5EF4-FFF2-40B4-BE49-F238E27FC236}">
                <a16:creationId xmlns:a16="http://schemas.microsoft.com/office/drawing/2014/main" id="{8C70D56D-0CCD-495E-8997-2A5B133C8488}"/>
              </a:ext>
            </a:extLst>
          </p:cNvPr>
          <p:cNvSpPr>
            <a:spLocks xmlns:a="http://schemas.openxmlformats.org/drawingml/2006/main" noGrp="1"/>
          </p:cNvSpPr>
          <p:nvPr/>
        </p:nvSpPr>
        <p:spPr>
          <a:xfrm xmlns:a="http://schemas.openxmlformats.org/drawingml/2006/main">
            <a:off x="1426464" y="3690694"/>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Example: Ast GRM3 × Female ε2 carrier.</a:t>
            </a:r>
          </a:p>
        </p:txBody>
      </p:sp>
      <p:sp>
        <p:nvSpPr>
          <p:cNvPr id="27" name="Rounded Rectangle 26">
            <a:extLst xmlns:a="http://schemas.openxmlformats.org/drawingml/2006/main">
              <a:ext uri="{FF2B5EF4-FFF2-40B4-BE49-F238E27FC236}">
                <a16:creationId xmlns:a16="http://schemas.microsoft.com/office/drawing/2014/main" id="{A80F91B4-3516-4DD6-BA0D-268F93A810E7}"/>
              </a:ext>
            </a:extLst>
          </p:cNvPr>
          <p:cNvSpPr>
            <a:spLocks xmlns:a="http://schemas.openxmlformats.org/drawingml/2006/main" noGrp="1"/>
          </p:cNvSpPr>
          <p:nvPr/>
        </p:nvSpPr>
        <p:spPr>
          <a:xfrm xmlns:a="http://schemas.openxmlformats.org/drawingml/2006/main">
            <a:off x="896112" y="4166182"/>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EF04FE43-13D6-484A-B039-B372042A2829}"/>
              </a:ext>
            </a:extLst>
          </p:cNvPr>
          <p:cNvSpPr>
            <a:spLocks xmlns:a="http://schemas.openxmlformats.org/drawingml/2006/main" noGrp="1"/>
          </p:cNvSpPr>
          <p:nvPr/>
        </p:nvSpPr>
        <p:spPr>
          <a:xfrm xmlns:a="http://schemas.openxmlformats.org/drawingml/2006/main">
            <a:off x="932688" y="4239334"/>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2</a:t>
            </a:r>
          </a:p>
        </p:txBody>
      </p:sp>
      <p:sp>
        <p:nvSpPr>
          <p:cNvPr id="29" name="TextBox 28">
            <a:extLst xmlns:a="http://schemas.openxmlformats.org/drawingml/2006/main">
              <a:ext uri="{FF2B5EF4-FFF2-40B4-BE49-F238E27FC236}">
                <a16:creationId xmlns:a16="http://schemas.microsoft.com/office/drawing/2014/main" id="{5736C7D4-2035-4552-92AF-07B779DE35AF}"/>
              </a:ext>
            </a:extLst>
          </p:cNvPr>
          <p:cNvSpPr>
            <a:spLocks xmlns:a="http://schemas.openxmlformats.org/drawingml/2006/main" noGrp="1"/>
          </p:cNvSpPr>
          <p:nvPr/>
        </p:nvSpPr>
        <p:spPr>
          <a:xfrm xmlns:a="http://schemas.openxmlformats.org/drawingml/2006/main">
            <a:off x="1426464" y="4157038"/>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Remove invalid contrasts</a:t>
            </a:r>
          </a:p>
        </p:txBody>
      </p:sp>
      <p:sp>
        <p:nvSpPr>
          <p:cNvPr id="30" name="TextBox 29">
            <a:extLst xmlns:a="http://schemas.openxmlformats.org/drawingml/2006/main">
              <a:ext uri="{FF2B5EF4-FFF2-40B4-BE49-F238E27FC236}">
                <a16:creationId xmlns:a16="http://schemas.microsoft.com/office/drawing/2014/main" id="{6171DA4D-EC31-46B8-8933-8FDBEF20E69D}"/>
              </a:ext>
            </a:extLst>
          </p:cNvPr>
          <p:cNvSpPr>
            <a:spLocks xmlns:a="http://schemas.openxmlformats.org/drawingml/2006/main" noGrp="1"/>
          </p:cNvSpPr>
          <p:nvPr/>
        </p:nvSpPr>
        <p:spPr>
          <a:xfrm xmlns:a="http://schemas.openxmlformats.org/drawingml/2006/main">
            <a:off x="1426464" y="4422214"/>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Remove source-invalid contrasts; among valid contrasts, only mapped mitochondrial queries with ≥3 genes proceed.</a:t>
            </a:r>
          </a:p>
        </p:txBody>
      </p:sp>
      <p:sp>
        <p:nvSpPr>
          <p:cNvPr id="31" name="Rounded Rectangle 30">
            <a:extLst xmlns:a="http://schemas.openxmlformats.org/drawingml/2006/main">
              <a:ext uri="{FF2B5EF4-FFF2-40B4-BE49-F238E27FC236}">
                <a16:creationId xmlns:a16="http://schemas.microsoft.com/office/drawing/2014/main" id="{E2E97212-C405-4666-A760-5F666393EB7A}"/>
              </a:ext>
            </a:extLst>
          </p:cNvPr>
          <p:cNvSpPr>
            <a:spLocks xmlns:a="http://schemas.openxmlformats.org/drawingml/2006/main" noGrp="1"/>
          </p:cNvSpPr>
          <p:nvPr/>
        </p:nvSpPr>
        <p:spPr>
          <a:xfrm xmlns:a="http://schemas.openxmlformats.org/drawingml/2006/main">
            <a:off x="896112" y="4897702"/>
            <a:ext cx="384048" cy="384048"/>
          </a:xfrm>
          <a:prstGeom xmlns:a="http://schemas.openxmlformats.org/drawingml/2006/main" prst="round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5B0274D2-88AD-45E6-978C-FAF32FE11228}"/>
              </a:ext>
            </a:extLst>
          </p:cNvPr>
          <p:cNvSpPr>
            <a:spLocks xmlns:a="http://schemas.openxmlformats.org/drawingml/2006/main" noGrp="1"/>
          </p:cNvSpPr>
          <p:nvPr/>
        </p:nvSpPr>
        <p:spPr>
          <a:xfrm xmlns:a="http://schemas.openxmlformats.org/drawingml/2006/main">
            <a:off x="932688" y="4970854"/>
            <a:ext cx="3108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FFFFFF"/>
                </a:solidFill>
                <a:latin typeface="Arial"/>
                <a:ea typeface="Arial"/>
                <a:cs typeface="Arial"/>
              </a:rPr>
              <a:t>3</a:t>
            </a:r>
          </a:p>
        </p:txBody>
      </p:sp>
      <p:sp>
        <p:nvSpPr>
          <p:cNvPr id="33" name="TextBox 32">
            <a:extLst xmlns:a="http://schemas.openxmlformats.org/drawingml/2006/main">
              <a:ext uri="{FF2B5EF4-FFF2-40B4-BE49-F238E27FC236}">
                <a16:creationId xmlns:a16="http://schemas.microsoft.com/office/drawing/2014/main" id="{B07195D3-0AF3-4C79-B939-C94D6B45091D}"/>
              </a:ext>
            </a:extLst>
          </p:cNvPr>
          <p:cNvSpPr>
            <a:spLocks xmlns:a="http://schemas.openxmlformats.org/drawingml/2006/main" noGrp="1"/>
          </p:cNvSpPr>
          <p:nvPr/>
        </p:nvSpPr>
        <p:spPr>
          <a:xfrm xmlns:a="http://schemas.openxmlformats.org/drawingml/2006/main">
            <a:off x="1426464" y="4888558"/>
            <a:ext cx="4315968"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Run call_key_drivers()</a:t>
            </a:r>
          </a:p>
        </p:txBody>
      </p:sp>
      <p:sp>
        <p:nvSpPr>
          <p:cNvPr id="34" name="TextBox 33">
            <a:extLst xmlns:a="http://schemas.openxmlformats.org/drawingml/2006/main">
              <a:ext uri="{FF2B5EF4-FFF2-40B4-BE49-F238E27FC236}">
                <a16:creationId xmlns:a16="http://schemas.microsoft.com/office/drawing/2014/main" id="{85E39F14-A8C0-4769-87B1-B058A6B2CA46}"/>
              </a:ext>
            </a:extLst>
          </p:cNvPr>
          <p:cNvSpPr>
            <a:spLocks xmlns:a="http://schemas.openxmlformats.org/drawingml/2006/main" noGrp="1"/>
          </p:cNvSpPr>
          <p:nvPr/>
        </p:nvSpPr>
        <p:spPr>
          <a:xfrm xmlns:a="http://schemas.openxmlformats.org/drawingml/2006/main">
            <a:off x="1426464" y="5153734"/>
            <a:ext cx="431596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4E5A68"/>
                </a:solidFill>
                <a:latin typeface="Arial"/>
                <a:ea typeface="Arial"/>
                <a:cs typeface="Arial"/>
              </a:rPr>
              <a:t>The call returns a list of significant key-driver genes for that contrast.</a:t>
            </a:r>
          </a:p>
        </p:txBody>
      </p:sp>
      <p:sp>
        <p:nvSpPr>
          <p:cNvPr id="35" name="Rounded Rectangle 34">
            <a:extLst xmlns:a="http://schemas.openxmlformats.org/drawingml/2006/main">
              <a:ext uri="{FF2B5EF4-FFF2-40B4-BE49-F238E27FC236}">
                <a16:creationId xmlns:a16="http://schemas.microsoft.com/office/drawing/2014/main" id="{FD51EC53-17DF-4D40-80D7-2125471ACD26}"/>
              </a:ext>
            </a:extLst>
          </p:cNvPr>
          <p:cNvSpPr>
            <a:spLocks xmlns:a="http://schemas.openxmlformats.org/drawingml/2006/main" noGrp="1"/>
          </p:cNvSpPr>
          <p:nvPr/>
        </p:nvSpPr>
        <p:spPr>
          <a:xfrm xmlns:a="http://schemas.openxmlformats.org/drawingml/2006/main">
            <a:off x="896112" y="5537782"/>
            <a:ext cx="4828032" cy="25603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74DE4D49-467D-4B7D-9F80-30601359881A}"/>
              </a:ext>
            </a:extLst>
          </p:cNvPr>
          <p:cNvSpPr>
            <a:spLocks xmlns:a="http://schemas.openxmlformats.org/drawingml/2006/main" noGrp="1"/>
          </p:cNvSpPr>
          <p:nvPr/>
        </p:nvSpPr>
        <p:spPr>
          <a:xfrm xmlns:a="http://schemas.openxmlformats.org/drawingml/2006/main">
            <a:off x="1005840" y="5592646"/>
            <a:ext cx="4608576"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40" b="1" i="0">
                <a:solidFill>
                  <a:srgbClr val="0F233D"/>
                </a:solidFill>
                <a:latin typeface="Arial"/>
                <a:ea typeface="Arial"/>
                <a:cs typeface="Arial"/>
              </a:rPr>
              <a:t>Each gene can appear at most once in one contrast's returned list.</a:t>
            </a:r>
          </a:p>
        </p:txBody>
      </p:sp>
      <p:sp>
        <p:nvSpPr>
          <p:cNvPr id="37" name="Rounded Rectangle 36">
            <a:extLst xmlns:a="http://schemas.openxmlformats.org/drawingml/2006/main">
              <a:ext uri="{FF2B5EF4-FFF2-40B4-BE49-F238E27FC236}">
                <a16:creationId xmlns:a16="http://schemas.microsoft.com/office/drawing/2014/main" id="{7D7384FB-D376-4FA3-8A4E-91DC64A3556D}"/>
              </a:ext>
            </a:extLst>
          </p:cNvPr>
          <p:cNvSpPr>
            <a:spLocks xmlns:a="http://schemas.openxmlformats.org/drawingml/2006/main" noGrp="1"/>
          </p:cNvSpPr>
          <p:nvPr/>
        </p:nvSpPr>
        <p:spPr>
          <a:xfrm xmlns:a="http://schemas.openxmlformats.org/drawingml/2006/main">
            <a:off x="6172200" y="2703142"/>
            <a:ext cx="5413248" cy="321868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Rectangle 37">
            <a:extLst xmlns:a="http://schemas.openxmlformats.org/drawingml/2006/main">
              <a:ext uri="{FF2B5EF4-FFF2-40B4-BE49-F238E27FC236}">
                <a16:creationId xmlns:a16="http://schemas.microsoft.com/office/drawing/2014/main" id="{D3C55418-6D23-4352-AAEC-A0063E0B35DA}"/>
              </a:ext>
            </a:extLst>
          </p:cNvPr>
          <p:cNvSpPr>
            <a:spLocks xmlns:a="http://schemas.openxmlformats.org/drawingml/2006/main" noGrp="1"/>
          </p:cNvSpPr>
          <p:nvPr/>
        </p:nvSpPr>
        <p:spPr>
          <a:xfrm xmlns:a="http://schemas.openxmlformats.org/drawingml/2006/main">
            <a:off x="6446520" y="2986606"/>
            <a:ext cx="64008" cy="283464"/>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212F5AD5-3BB0-487B-A4D6-9676B5C188F7}"/>
              </a:ext>
            </a:extLst>
          </p:cNvPr>
          <p:cNvSpPr>
            <a:spLocks xmlns:a="http://schemas.openxmlformats.org/drawingml/2006/main" noGrp="1"/>
          </p:cNvSpPr>
          <p:nvPr/>
        </p:nvSpPr>
        <p:spPr>
          <a:xfrm xmlns:a="http://schemas.openxmlformats.org/drawingml/2006/main">
            <a:off x="6592824" y="2959174"/>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Multiple fine-cell contrasts → one category</a:t>
            </a:r>
          </a:p>
        </p:txBody>
      </p:sp>
      <p:sp>
        <p:nvSpPr>
          <p:cNvPr id="40" name="Rounded Rectangle 39">
            <a:extLst xmlns:a="http://schemas.openxmlformats.org/drawingml/2006/main">
              <a:ext uri="{FF2B5EF4-FFF2-40B4-BE49-F238E27FC236}">
                <a16:creationId xmlns:a16="http://schemas.microsoft.com/office/drawing/2014/main" id="{C833B54A-2A24-40FC-A71E-FBA7A97EE97B}"/>
              </a:ext>
            </a:extLst>
          </p:cNvPr>
          <p:cNvSpPr>
            <a:spLocks xmlns:a="http://schemas.openxmlformats.org/drawingml/2006/main" noGrp="1"/>
          </p:cNvSpPr>
          <p:nvPr/>
        </p:nvSpPr>
        <p:spPr>
          <a:xfrm xmlns:a="http://schemas.openxmlformats.org/drawingml/2006/main">
            <a:off x="6455664" y="3471238"/>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0248288B-D890-462D-85C6-E307A88B9A36}"/>
              </a:ext>
            </a:extLst>
          </p:cNvPr>
          <p:cNvSpPr>
            <a:spLocks xmlns:a="http://schemas.openxmlformats.org/drawingml/2006/main" noGrp="1"/>
          </p:cNvSpPr>
          <p:nvPr/>
        </p:nvSpPr>
        <p:spPr>
          <a:xfrm xmlns:a="http://schemas.openxmlformats.org/drawingml/2006/main">
            <a:off x="6547104" y="3553534"/>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A</a:t>
            </a:r>
          </a:p>
        </p:txBody>
      </p:sp>
      <p:sp>
        <p:nvSpPr>
          <p:cNvPr id="42" name="TextBox 41">
            <a:extLst xmlns:a="http://schemas.openxmlformats.org/drawingml/2006/main">
              <a:ext uri="{FF2B5EF4-FFF2-40B4-BE49-F238E27FC236}">
                <a16:creationId xmlns:a16="http://schemas.microsoft.com/office/drawing/2014/main" id="{4AFBD91A-E125-4874-80EF-554CA4E0D1D5}"/>
              </a:ext>
            </a:extLst>
          </p:cNvPr>
          <p:cNvSpPr>
            <a:spLocks xmlns:a="http://schemas.openxmlformats.org/drawingml/2006/main" noGrp="1"/>
          </p:cNvSpPr>
          <p:nvPr/>
        </p:nvSpPr>
        <p:spPr>
          <a:xfrm xmlns:a="http://schemas.openxmlformats.org/drawingml/2006/main">
            <a:off x="7772400" y="3544390"/>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returned · adjusted P₁</a:t>
            </a:r>
          </a:p>
        </p:txBody>
      </p:sp>
      <p:sp>
        <p:nvSpPr>
          <p:cNvPr id="43" name="Rounded Rectangle 42">
            <a:extLst xmlns:a="http://schemas.openxmlformats.org/drawingml/2006/main">
              <a:ext uri="{FF2B5EF4-FFF2-40B4-BE49-F238E27FC236}">
                <a16:creationId xmlns:a16="http://schemas.microsoft.com/office/drawing/2014/main" id="{2F568DBE-0F43-4C16-85EC-85624CD1870F}"/>
              </a:ext>
            </a:extLst>
          </p:cNvPr>
          <p:cNvSpPr>
            <a:spLocks xmlns:a="http://schemas.openxmlformats.org/drawingml/2006/main" noGrp="1"/>
          </p:cNvSpPr>
          <p:nvPr/>
        </p:nvSpPr>
        <p:spPr>
          <a:xfrm xmlns:a="http://schemas.openxmlformats.org/drawingml/2006/main">
            <a:off x="6455664" y="3946726"/>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036E5509-D6EA-42C3-8C6F-FB5DEF3D7801}"/>
              </a:ext>
            </a:extLst>
          </p:cNvPr>
          <p:cNvSpPr>
            <a:spLocks xmlns:a="http://schemas.openxmlformats.org/drawingml/2006/main" noGrp="1"/>
          </p:cNvSpPr>
          <p:nvPr/>
        </p:nvSpPr>
        <p:spPr>
          <a:xfrm xmlns:a="http://schemas.openxmlformats.org/drawingml/2006/main">
            <a:off x="6547104" y="4029022"/>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B</a:t>
            </a:r>
          </a:p>
        </p:txBody>
      </p:sp>
      <p:sp>
        <p:nvSpPr>
          <p:cNvPr id="45" name="TextBox 44">
            <a:extLst xmlns:a="http://schemas.openxmlformats.org/drawingml/2006/main">
              <a:ext uri="{FF2B5EF4-FFF2-40B4-BE49-F238E27FC236}">
                <a16:creationId xmlns:a16="http://schemas.microsoft.com/office/drawing/2014/main" id="{54AF386C-455F-4CEC-B1B5-26D702D3A9A1}"/>
              </a:ext>
            </a:extLst>
          </p:cNvPr>
          <p:cNvSpPr>
            <a:spLocks xmlns:a="http://schemas.openxmlformats.org/drawingml/2006/main" noGrp="1"/>
          </p:cNvSpPr>
          <p:nvPr/>
        </p:nvSpPr>
        <p:spPr>
          <a:xfrm xmlns:a="http://schemas.openxmlformats.org/drawingml/2006/main">
            <a:off x="7772400" y="4019878"/>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returned · adjusted P₂</a:t>
            </a:r>
          </a:p>
        </p:txBody>
      </p:sp>
      <p:sp>
        <p:nvSpPr>
          <p:cNvPr id="46" name="Rounded Rectangle 45">
            <a:extLst xmlns:a="http://schemas.openxmlformats.org/drawingml/2006/main">
              <a:ext uri="{FF2B5EF4-FFF2-40B4-BE49-F238E27FC236}">
                <a16:creationId xmlns:a16="http://schemas.microsoft.com/office/drawing/2014/main" id="{18B1D105-F4F5-499B-8D9D-146C85FFB287}"/>
              </a:ext>
            </a:extLst>
          </p:cNvPr>
          <p:cNvSpPr>
            <a:spLocks xmlns:a="http://schemas.openxmlformats.org/drawingml/2006/main" noGrp="1"/>
          </p:cNvSpPr>
          <p:nvPr/>
        </p:nvSpPr>
        <p:spPr>
          <a:xfrm xmlns:a="http://schemas.openxmlformats.org/drawingml/2006/main">
            <a:off x="6455664" y="4422214"/>
            <a:ext cx="1115568" cy="34747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77E25C2-27B9-44D5-A4AF-032AFFB475AF}"/>
              </a:ext>
            </a:extLst>
          </p:cNvPr>
          <p:cNvSpPr>
            <a:spLocks xmlns:a="http://schemas.openxmlformats.org/drawingml/2006/main" noGrp="1"/>
          </p:cNvSpPr>
          <p:nvPr/>
        </p:nvSpPr>
        <p:spPr>
          <a:xfrm xmlns:a="http://schemas.openxmlformats.org/drawingml/2006/main">
            <a:off x="6547104" y="4504510"/>
            <a:ext cx="932688"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910" b="1" i="0">
                <a:solidFill>
                  <a:srgbClr val="4E5A68"/>
                </a:solidFill>
                <a:latin typeface="Arial"/>
                <a:ea typeface="Arial"/>
                <a:cs typeface="Arial"/>
              </a:rPr>
              <a:t>Fine type C</a:t>
            </a:r>
          </a:p>
        </p:txBody>
      </p:sp>
      <p:sp>
        <p:nvSpPr>
          <p:cNvPr id="48" name="TextBox 47">
            <a:extLst xmlns:a="http://schemas.openxmlformats.org/drawingml/2006/main">
              <a:ext uri="{FF2B5EF4-FFF2-40B4-BE49-F238E27FC236}">
                <a16:creationId xmlns:a16="http://schemas.microsoft.com/office/drawing/2014/main" id="{AC14697B-BAA4-4EB2-9A1F-CA4001B9F977}"/>
              </a:ext>
            </a:extLst>
          </p:cNvPr>
          <p:cNvSpPr>
            <a:spLocks xmlns:a="http://schemas.openxmlformats.org/drawingml/2006/main" noGrp="1"/>
          </p:cNvSpPr>
          <p:nvPr/>
        </p:nvSpPr>
        <p:spPr>
          <a:xfrm xmlns:a="http://schemas.openxmlformats.org/drawingml/2006/main">
            <a:off x="7772400" y="4495366"/>
            <a:ext cx="332841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9" b="0" i="0">
                <a:solidFill>
                  <a:srgbClr val="1F2730"/>
                </a:solidFill>
                <a:latin typeface="Arial"/>
                <a:ea typeface="Arial"/>
                <a:cs typeface="Arial"/>
              </a:rPr>
              <a:t>Gene X not returned</a:t>
            </a:r>
          </a:p>
        </p:txBody>
      </p:sp>
      <p:sp>
        <p:nvSpPr>
          <p:cNvPr id="49" name="TextBox 48">
            <a:extLst xmlns:a="http://schemas.openxmlformats.org/drawingml/2006/main">
              <a:ext uri="{FF2B5EF4-FFF2-40B4-BE49-F238E27FC236}">
                <a16:creationId xmlns:a16="http://schemas.microsoft.com/office/drawing/2014/main" id="{81D51346-4628-40F8-98C3-7606F98BEA29}"/>
              </a:ext>
            </a:extLst>
          </p:cNvPr>
          <p:cNvSpPr>
            <a:spLocks xmlns:a="http://schemas.openxmlformats.org/drawingml/2006/main" noGrp="1"/>
          </p:cNvSpPr>
          <p:nvPr/>
        </p:nvSpPr>
        <p:spPr>
          <a:xfrm xmlns:a="http://schemas.openxmlformats.org/drawingml/2006/main">
            <a:off x="8558784" y="4842838"/>
            <a:ext cx="640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895600"/>
                </a:solidFill>
                <a:latin typeface="Arial"/>
                <a:ea typeface="Arial"/>
                <a:cs typeface="Arial"/>
              </a:rPr>
              <a:t>↓</a:t>
            </a:r>
          </a:p>
        </p:txBody>
      </p:sp>
      <p:sp>
        <p:nvSpPr>
          <p:cNvPr id="50" name="Rounded Rectangle 49">
            <a:extLst xmlns:a="http://schemas.openxmlformats.org/drawingml/2006/main">
              <a:ext uri="{FF2B5EF4-FFF2-40B4-BE49-F238E27FC236}">
                <a16:creationId xmlns:a16="http://schemas.microsoft.com/office/drawing/2014/main" id="{CF1142D9-79EE-4554-A4E0-4F56775D72D0}"/>
              </a:ext>
            </a:extLst>
          </p:cNvPr>
          <p:cNvSpPr>
            <a:spLocks xmlns:a="http://schemas.openxmlformats.org/drawingml/2006/main" noGrp="1"/>
          </p:cNvSpPr>
          <p:nvPr/>
        </p:nvSpPr>
        <p:spPr>
          <a:xfrm xmlns:a="http://schemas.openxmlformats.org/drawingml/2006/main">
            <a:off x="6473952" y="5179861"/>
            <a:ext cx="4809744"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C42809C4-8FDF-4405-A450-1394492DD9DB}"/>
              </a:ext>
            </a:extLst>
          </p:cNvPr>
          <p:cNvSpPr>
            <a:spLocks xmlns:a="http://schemas.openxmlformats.org/drawingml/2006/main" noGrp="1"/>
          </p:cNvSpPr>
          <p:nvPr/>
        </p:nvSpPr>
        <p:spPr>
          <a:xfrm xmlns:a="http://schemas.openxmlformats.org/drawingml/2006/main">
            <a:off x="6656832" y="5326165"/>
            <a:ext cx="44439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Female ε2 × Astrocytes:  Gene X score = ACAT(P₁, P₂)</a:t>
            </a:r>
          </a:p>
        </p:txBody>
      </p:sp>
    </p:spTree>
    <p:extLst>
      <p:ext uri="{BB962C8B-B14F-4D97-AF65-F5344CB8AC3E}">
        <p14:creationId xmlns:p14="http://schemas.microsoft.com/office/powerpoint/2010/main" val="1467083022"/>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650B09C-4D0A-47F0-84CE-851C400294B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Overall DEG counts vary across sex/APOE groups</a:t>
            </a:r>
          </a:p>
        </p:txBody>
      </p:sp>
      <p:sp>
        <p:nvSpPr>
          <p:cNvPr id="3" name="TextBox 2">
            <a:extLst xmlns:a="http://schemas.openxmlformats.org/drawingml/2006/main">
              <a:ext uri="{FF2B5EF4-FFF2-40B4-BE49-F238E27FC236}">
                <a16:creationId xmlns:a16="http://schemas.microsoft.com/office/drawing/2014/main" id="{E8473722-5B37-4654-A9C8-AAC87D0440E8}"/>
              </a:ext>
            </a:extLst>
          </p:cNvPr>
          <p:cNvSpPr>
            <a:spLocks xmlns:a="http://schemas.openxmlformats.org/drawingml/2006/main" noGrp="1"/>
          </p:cNvSpPr>
          <p:nvPr/>
        </p:nvSpPr>
        <p:spPr>
          <a:xfrm xmlns:a="http://schemas.openxmlformats.org/drawingml/2006/main">
            <a:off x="548640" y="861567"/>
            <a:ext cx="10561320" cy="2277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All genes; each count is one significant gene in one fine-cell AD-versus-NCI contrast.</a:t>
            </a:r>
          </a:p>
        </p:txBody>
      </p:sp>
      <p:sp>
        <p:nvSpPr>
          <p:cNvPr id="4" name="Rounded Rectangle 3">
            <a:extLst xmlns:a="http://schemas.openxmlformats.org/drawingml/2006/main">
              <a:ext uri="{FF2B5EF4-FFF2-40B4-BE49-F238E27FC236}">
                <a16:creationId xmlns:a16="http://schemas.microsoft.com/office/drawing/2014/main" id="{D8AE6BF2-D0CF-42F8-94CD-98CFE6F44DD7}"/>
              </a:ext>
            </a:extLst>
          </p:cNvPr>
          <p:cNvSpPr>
            <a:spLocks xmlns:a="http://schemas.openxmlformats.org/drawingml/2006/main" noGrp="1"/>
          </p:cNvSpPr>
          <p:nvPr/>
        </p:nvSpPr>
        <p:spPr>
          <a:xfrm xmlns:a="http://schemas.openxmlformats.org/drawingml/2006/main">
            <a:off x="658368"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0E5C88F-6CE1-43C6-971F-770E5D4BA0FA}"/>
              </a:ext>
            </a:extLst>
          </p:cNvPr>
          <p:cNvSpPr>
            <a:spLocks xmlns:a="http://schemas.openxmlformats.org/drawingml/2006/main" noGrp="1"/>
          </p:cNvSpPr>
          <p:nvPr/>
        </p:nvSpPr>
        <p:spPr>
          <a:xfrm xmlns:a="http://schemas.openxmlformats.org/drawingml/2006/main">
            <a:off x="822959"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321</a:t>
            </a:r>
          </a:p>
        </p:txBody>
      </p:sp>
      <p:sp>
        <p:nvSpPr>
          <p:cNvPr id="6" name="TextBox 5">
            <a:extLst xmlns:a="http://schemas.openxmlformats.org/drawingml/2006/main">
              <a:ext uri="{FF2B5EF4-FFF2-40B4-BE49-F238E27FC236}">
                <a16:creationId xmlns:a16="http://schemas.microsoft.com/office/drawing/2014/main" id="{F99010AA-ED42-4086-B32F-37D37A40B545}"/>
              </a:ext>
            </a:extLst>
          </p:cNvPr>
          <p:cNvSpPr>
            <a:spLocks xmlns:a="http://schemas.openxmlformats.org/drawingml/2006/main" noGrp="1"/>
          </p:cNvSpPr>
          <p:nvPr/>
        </p:nvSpPr>
        <p:spPr>
          <a:xfrm xmlns:a="http://schemas.openxmlformats.org/drawingml/2006/main">
            <a:off x="2048256" y="1314491"/>
            <a:ext cx="1828800" cy="39395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of 324 planned contrasts have enough cells.</a:t>
            </a:r>
          </a:p>
        </p:txBody>
      </p:sp>
      <p:sp>
        <p:nvSpPr>
          <p:cNvPr id="7" name="Rounded Rectangle 6">
            <a:extLst xmlns:a="http://schemas.openxmlformats.org/drawingml/2006/main">
              <a:ext uri="{FF2B5EF4-FFF2-40B4-BE49-F238E27FC236}">
                <a16:creationId xmlns:a16="http://schemas.microsoft.com/office/drawing/2014/main" id="{98A0FD29-D12C-4F6B-A119-773CE09124F6}"/>
              </a:ext>
            </a:extLst>
          </p:cNvPr>
          <p:cNvSpPr>
            <a:spLocks xmlns:a="http://schemas.openxmlformats.org/drawingml/2006/main" noGrp="1"/>
          </p:cNvSpPr>
          <p:nvPr/>
        </p:nvSpPr>
        <p:spPr>
          <a:xfrm xmlns:a="http://schemas.openxmlformats.org/drawingml/2006/main">
            <a:off x="4398264"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E4D690A-DFEA-44D7-A12A-7D5256786E1B}"/>
              </a:ext>
            </a:extLst>
          </p:cNvPr>
          <p:cNvSpPr>
            <a:spLocks xmlns:a="http://schemas.openxmlformats.org/drawingml/2006/main" noGrp="1"/>
          </p:cNvSpPr>
          <p:nvPr/>
        </p:nvSpPr>
        <p:spPr>
          <a:xfrm xmlns:a="http://schemas.openxmlformats.org/drawingml/2006/main">
            <a:off x="4562855"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277</a:t>
            </a:r>
          </a:p>
        </p:txBody>
      </p:sp>
      <p:sp>
        <p:nvSpPr>
          <p:cNvPr id="9" name="TextBox 8">
            <a:extLst xmlns:a="http://schemas.openxmlformats.org/drawingml/2006/main">
              <a:ext uri="{FF2B5EF4-FFF2-40B4-BE49-F238E27FC236}">
                <a16:creationId xmlns:a16="http://schemas.microsoft.com/office/drawing/2014/main" id="{26F99527-EECB-4761-8873-875DD10921AF}"/>
              </a:ext>
            </a:extLst>
          </p:cNvPr>
          <p:cNvSpPr>
            <a:spLocks xmlns:a="http://schemas.openxmlformats.org/drawingml/2006/main" noGrp="1"/>
          </p:cNvSpPr>
          <p:nvPr/>
        </p:nvSpPr>
        <p:spPr>
          <a:xfrm xmlns:a="http://schemas.openxmlformats.org/drawingml/2006/main">
            <a:off x="5788152" y="1358734"/>
            <a:ext cx="182880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of 321 estimable comparisons had at least one DEG</a:t>
            </a:r>
          </a:p>
        </p:txBody>
      </p:sp>
      <p:sp>
        <p:nvSpPr>
          <p:cNvPr id="11" name="Rounded Rectangle 10">
            <a:extLst xmlns:a="http://schemas.openxmlformats.org/drawingml/2006/main">
              <a:ext uri="{FF2B5EF4-FFF2-40B4-BE49-F238E27FC236}">
                <a16:creationId xmlns:a16="http://schemas.microsoft.com/office/drawing/2014/main" id="{CE980754-5288-410C-9D81-9B8EFFDCB7B2}"/>
              </a:ext>
            </a:extLst>
          </p:cNvPr>
          <p:cNvSpPr>
            <a:spLocks xmlns:a="http://schemas.openxmlformats.org/drawingml/2006/main" noGrp="1"/>
          </p:cNvSpPr>
          <p:nvPr/>
        </p:nvSpPr>
        <p:spPr>
          <a:xfrm xmlns:a="http://schemas.openxmlformats.org/drawingml/2006/main">
            <a:off x="8138160" y="1155193"/>
            <a:ext cx="3401568" cy="74980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FFD5AF3-A618-4E76-B0F5-AA1C8BB43020}"/>
              </a:ext>
            </a:extLst>
          </p:cNvPr>
          <p:cNvSpPr>
            <a:spLocks xmlns:a="http://schemas.openxmlformats.org/drawingml/2006/main" noGrp="1"/>
          </p:cNvSpPr>
          <p:nvPr/>
        </p:nvSpPr>
        <p:spPr>
          <a:xfrm xmlns:a="http://schemas.openxmlformats.org/drawingml/2006/main">
            <a:off x="8302752" y="1310641"/>
            <a:ext cx="1170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72B2"/>
                </a:solidFill>
                <a:latin typeface="Arial"/>
                <a:ea typeface="Arial"/>
                <a:cs typeface="Arial"/>
              </a:rPr>
              <a:t>118,297</a:t>
            </a:r>
          </a:p>
        </p:txBody>
      </p:sp>
      <p:sp>
        <p:nvSpPr>
          <p:cNvPr id="13" name="TextBox 12">
            <a:extLst xmlns:a="http://schemas.openxmlformats.org/drawingml/2006/main">
              <a:ext uri="{FF2B5EF4-FFF2-40B4-BE49-F238E27FC236}">
                <a16:creationId xmlns:a16="http://schemas.microsoft.com/office/drawing/2014/main" id="{2B0F084A-B43C-4E28-9D0D-E60D0A60A20B}"/>
              </a:ext>
            </a:extLst>
          </p:cNvPr>
          <p:cNvSpPr>
            <a:spLocks xmlns:a="http://schemas.openxmlformats.org/drawingml/2006/main" noGrp="1"/>
          </p:cNvSpPr>
          <p:nvPr/>
        </p:nvSpPr>
        <p:spPr>
          <a:xfrm xmlns:a="http://schemas.openxmlformats.org/drawingml/2006/main">
            <a:off x="9528048" y="1274065"/>
            <a:ext cx="182880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F233D"/>
                </a:solidFill>
                <a:latin typeface="Arial"/>
                <a:ea typeface="Arial"/>
                <a:cs typeface="Arial"/>
              </a:rPr>
              <a:t>DEG occurrences</a:t>
            </a:r>
          </a:p>
        </p:txBody>
      </p:sp>
      <p:sp>
        <p:nvSpPr>
          <p:cNvPr id="14" name="TextBox 13">
            <a:extLst xmlns:a="http://schemas.openxmlformats.org/drawingml/2006/main">
              <a:ext uri="{FF2B5EF4-FFF2-40B4-BE49-F238E27FC236}">
                <a16:creationId xmlns:a16="http://schemas.microsoft.com/office/drawing/2014/main" id="{C21281E1-0F01-4EAF-AF2A-DC9B0C3B143B}"/>
              </a:ext>
            </a:extLst>
          </p:cNvPr>
          <p:cNvSpPr>
            <a:spLocks xmlns:a="http://schemas.openxmlformats.org/drawingml/2006/main" noGrp="1"/>
          </p:cNvSpPr>
          <p:nvPr/>
        </p:nvSpPr>
        <p:spPr>
          <a:xfrm xmlns:a="http://schemas.openxmlformats.org/drawingml/2006/main">
            <a:off x="9528048" y="1539241"/>
            <a:ext cx="182880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4E5A68"/>
                </a:solidFill>
                <a:latin typeface="Arial"/>
                <a:ea typeface="Arial"/>
                <a:cs typeface="Arial"/>
              </a:rPr>
              <a:t>14,840 distinct genes represented</a:t>
            </a:r>
          </a:p>
        </p:txBody>
      </p:sp>
      <p:pic>
        <p:nvPicPr>
          <p:cNvPr id="32" name="Stacked horizontal bar chart of all significant ROSMAP fine-cell DEG occurrences across six sex/APOE groups. Blue segments show genes up-regulated in Alzheimer’s disease and hatched orange segments show genes down-regulated in Alzheimer’s disease."/>
          <p:cNvPicPr>
            <a:picLocks xmlns:a="http://schemas.openxmlformats.org/drawingml/2006/main" noChangeAspect="1"/>
          </p:cNvPicPr>
          <p:nvPr/>
        </p:nvPicPr>
        <p:blipFill>
          <a:blip xmlns:r="http://schemas.openxmlformats.org/officeDocument/2006/relationships" xmlns:a="http://schemas.openxmlformats.org/drawingml/2006/main" r:embed="R1b73924abf784a00"/>
          <a:stretch xmlns:a="http://schemas.openxmlformats.org/drawingml/2006/main">
            <a:fillRect l="0" t="0" r="0" b="0"/>
          </a:stretch>
        </p:blipFill>
        <p:spPr>
          <a:xfrm xmlns:a="http://schemas.openxmlformats.org/drawingml/2006/main">
            <a:off x="658368" y="2069326"/>
            <a:ext cx="10881360" cy="3139970"/>
          </a:xfrm>
          <a:prstGeom xmlns:a="http://schemas.openxmlformats.org/drawingml/2006/main" prst="rect">
            <a:avLst/>
          </a:prstGeom>
        </p:spPr>
      </p:pic>
      <p:sp>
        <p:nvSpPr>
          <p:cNvPr id="16" name="Rounded Rectangle 15">
            <a:extLst xmlns:a="http://schemas.openxmlformats.org/drawingml/2006/main">
              <a:ext uri="{FF2B5EF4-FFF2-40B4-BE49-F238E27FC236}">
                <a16:creationId xmlns:a16="http://schemas.microsoft.com/office/drawing/2014/main" id="{6694235D-55CF-49EF-A672-C9778E61257F}"/>
              </a:ext>
            </a:extLst>
          </p:cNvPr>
          <p:cNvSpPr>
            <a:spLocks xmlns:a="http://schemas.openxmlformats.org/drawingml/2006/main" noGrp="1"/>
          </p:cNvSpPr>
          <p:nvPr/>
        </p:nvSpPr>
        <p:spPr>
          <a:xfrm xmlns:a="http://schemas.openxmlformats.org/drawingml/2006/main">
            <a:off x="658368" y="5596128"/>
            <a:ext cx="10881360" cy="65836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3EF7780-BF1A-49FD-8AE0-8480E45DC812}"/>
              </a:ext>
            </a:extLst>
          </p:cNvPr>
          <p:cNvSpPr>
            <a:spLocks xmlns:a="http://schemas.openxmlformats.org/drawingml/2006/main" noGrp="1"/>
          </p:cNvSpPr>
          <p:nvPr/>
        </p:nvSpPr>
        <p:spPr>
          <a:xfrm xmlns:a="http://schemas.openxmlformats.org/drawingml/2006/main">
            <a:off x="923544" y="5797296"/>
            <a:ext cx="118872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Key patterns</a:t>
            </a:r>
          </a:p>
        </p:txBody>
      </p:sp>
      <p:sp>
        <p:nvSpPr>
          <p:cNvPr id="18" name="TextBox 17">
            <a:extLst xmlns:a="http://schemas.openxmlformats.org/drawingml/2006/main">
              <a:ext uri="{FF2B5EF4-FFF2-40B4-BE49-F238E27FC236}">
                <a16:creationId xmlns:a16="http://schemas.microsoft.com/office/drawing/2014/main" id="{BD8B6944-62D2-41F5-BA50-537C49D71BF8}"/>
              </a:ext>
            </a:extLst>
          </p:cNvPr>
          <p:cNvSpPr>
            <a:spLocks xmlns:a="http://schemas.openxmlformats.org/drawingml/2006/main" noGrp="1"/>
          </p:cNvSpPr>
          <p:nvPr/>
        </p:nvSpPr>
        <p:spPr>
          <a:xfrm xmlns:a="http://schemas.openxmlformats.org/drawingml/2006/main">
            <a:off x="2212848" y="5776219"/>
            <a:ext cx="8924544" cy="2616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40" b="0" i="0">
                <a:solidFill>
                  <a:srgbClr val="1F2730"/>
                </a:solidFill>
                <a:latin typeface="Arial"/>
                <a:ea typeface="Arial"/>
                <a:cs typeface="Arial"/>
              </a:rPr>
              <a:t>Male ε2 had the largest DEG count; female ε4 was strongly dominated by down-regulated genes (76%).</a:t>
            </a:r>
          </a:p>
        </p:txBody>
      </p:sp>
    </p:spTree>
    <p:extLst>
      <p:ext uri="{BB962C8B-B14F-4D97-AF65-F5344CB8AC3E}">
        <p14:creationId xmlns:p14="http://schemas.microsoft.com/office/powerpoint/2010/main" val="1333038119"/>
      </p:ext>
    </p:extLst>
  </p:cSld>
</p:sld>
</file>

<file path=ppt/slides/slide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6449442-E04A-2746-AD1A-39210122B8CC}"/>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Pathway analysis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C52DFCBC-DC31-CFCB-BB0B-646BD49CF41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2</a:t>
            </a:r>
          </a:p>
        </p:txBody>
      </p:sp>
    </p:spTree>
    <p:extLst>
      <p:ext uri="{BB962C8B-B14F-4D97-AF65-F5344CB8AC3E}">
        <p14:creationId xmlns:p14="http://schemas.microsoft.com/office/powerpoint/2010/main" val="3815581302"/>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1" name="mitocarta-hierarchy-background">
            <a:extLst xmlns:a="http://schemas.openxmlformats.org/drawingml/2006/main">
              <a:ext uri="{FF2B5EF4-FFF2-40B4-BE49-F238E27FC236}">
                <a16:creationId xmlns:a16="http://schemas.microsoft.com/office/drawing/2014/main" id="{C32135CE-1DB8-4A86-8CC5-0C743A99463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mitocarta-hierarchy-title">
            <a:extLst xmlns:a="http://schemas.openxmlformats.org/drawingml/2006/main">
              <a:ext uri="{FF2B5EF4-FFF2-40B4-BE49-F238E27FC236}">
                <a16:creationId xmlns:a16="http://schemas.microsoft.com/office/drawing/2014/main" id="{D9B4A397-B91D-45E4-A1A7-81D64922ACB6}"/>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Three levels of MitoCarta pathways</a:t>
            </a:r>
          </a:p>
        </p:txBody>
      </p:sp>
      <p:sp>
        <p:nvSpPr>
          <p:cNvPr id="3" name="mitocarta-hierarchy-subtitle">
            <a:extLst xmlns:a="http://schemas.openxmlformats.org/drawingml/2006/main">
              <a:ext uri="{FF2B5EF4-FFF2-40B4-BE49-F238E27FC236}">
                <a16:creationId xmlns:a16="http://schemas.microsoft.com/office/drawing/2014/main" id="{28C990DB-3CCC-454A-A0A6-54EC6E9CABC9}"/>
              </a:ext>
            </a:extLst>
          </p:cNvPr>
          <p:cNvSpPr>
            <a:spLocks xmlns:a="http://schemas.openxmlformats.org/drawingml/2006/main" noGrp="1"/>
          </p:cNvSpPr>
          <p:nvPr/>
        </p:nvSpPr>
        <p:spPr>
          <a:xfrm xmlns:a="http://schemas.openxmlformats.org/drawingml/2006/main">
            <a:off x="552450" y="914400"/>
            <a:ext cx="10572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MitoCarta groups mitochondrial genes into nested pathways, from broad systems to detailed subpathways.</a:t>
            </a:r>
          </a:p>
        </p:txBody>
      </p:sp>
      <p:sp>
        <p:nvSpPr>
          <p:cNvPr id="4" name="mitocarta-level-1-band">
            <a:extLst xmlns:a="http://schemas.openxmlformats.org/drawingml/2006/main">
              <a:ext uri="{FF2B5EF4-FFF2-40B4-BE49-F238E27FC236}">
                <a16:creationId xmlns:a16="http://schemas.microsoft.com/office/drawing/2014/main" id="{18A9D7A3-88E9-4952-9CAA-1FC2A1ED5F43}"/>
              </a:ext>
            </a:extLst>
          </p:cNvPr>
          <p:cNvSpPr>
            <a:spLocks xmlns:a="http://schemas.openxmlformats.org/drawingml/2006/main" noGrp="1"/>
          </p:cNvSpPr>
          <p:nvPr/>
        </p:nvSpPr>
        <p:spPr>
          <a:xfrm xmlns:a="http://schemas.openxmlformats.org/drawingml/2006/main">
            <a:off x="857250" y="1543050"/>
            <a:ext cx="10477500" cy="990600"/>
          </a:xfrm>
          <a:prstGeom xmlns:a="http://schemas.openxmlformats.org/drawingml/2006/main" prst="roundRect">
            <a:avLst>
              <a:gd name="adj" fmla="val 13462"/>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 name="mitocarta-level-1-level">
            <a:extLst xmlns:a="http://schemas.openxmlformats.org/drawingml/2006/main">
              <a:ext uri="{FF2B5EF4-FFF2-40B4-BE49-F238E27FC236}">
                <a16:creationId xmlns:a16="http://schemas.microsoft.com/office/drawing/2014/main" id="{E9D0E325-D5F5-4481-8B3B-16271FC0DB6E}"/>
              </a:ext>
            </a:extLst>
          </p:cNvPr>
          <p:cNvSpPr>
            <a:spLocks xmlns:a="http://schemas.openxmlformats.org/drawingml/2006/main" noGrp="1"/>
          </p:cNvSpPr>
          <p:nvPr/>
        </p:nvSpPr>
        <p:spPr>
          <a:xfrm xmlns:a="http://schemas.openxmlformats.org/drawingml/2006/main">
            <a:off x="1123950" y="17240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0072B2"/>
                </a:solidFill>
                <a:latin typeface="Arial"/>
                <a:ea typeface="Arial"/>
                <a:cs typeface="Arial"/>
              </a:defRPr>
            </a:pPr>
            <a:r>
              <a:rPr sz="1125" b="1">
                <a:solidFill>
                  <a:srgbClr val="0072B2"/>
                </a:solidFill>
                <a:latin typeface="Arial"/>
                <a:ea typeface="Arial"/>
                <a:cs typeface="Arial"/>
              </a:rPr>
              <a:t>LEVEL 1</a:t>
            </a:r>
          </a:p>
        </p:txBody>
      </p:sp>
      <p:sp>
        <p:nvSpPr>
          <p:cNvPr id="6" name="mitocarta-level-1-label">
            <a:extLst xmlns:a="http://schemas.openxmlformats.org/drawingml/2006/main">
              <a:ext uri="{FF2B5EF4-FFF2-40B4-BE49-F238E27FC236}">
                <a16:creationId xmlns:a16="http://schemas.microsoft.com/office/drawing/2014/main" id="{E9A17CB0-3A4C-45E3-86A2-52E80F61BADE}"/>
              </a:ext>
            </a:extLst>
          </p:cNvPr>
          <p:cNvSpPr>
            <a:spLocks xmlns:a="http://schemas.openxmlformats.org/drawingml/2006/main" noGrp="1"/>
          </p:cNvSpPr>
          <p:nvPr/>
        </p:nvSpPr>
        <p:spPr>
          <a:xfrm xmlns:a="http://schemas.openxmlformats.org/drawingml/2006/main">
            <a:off x="1123950" y="2028825"/>
            <a:ext cx="45053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Broad mitochondrial system</a:t>
            </a:r>
          </a:p>
        </p:txBody>
      </p:sp>
      <p:sp>
        <p:nvSpPr>
          <p:cNvPr id="7" name="mitocarta-level-1-example">
            <a:extLst xmlns:a="http://schemas.openxmlformats.org/drawingml/2006/main">
              <a:ext uri="{FF2B5EF4-FFF2-40B4-BE49-F238E27FC236}">
                <a16:creationId xmlns:a16="http://schemas.microsoft.com/office/drawing/2014/main" id="{9CE53DE4-53D8-4F37-89A9-CEB2184F3052}"/>
              </a:ext>
            </a:extLst>
          </p:cNvPr>
          <p:cNvSpPr>
            <a:spLocks xmlns:a="http://schemas.openxmlformats.org/drawingml/2006/main" noGrp="1"/>
          </p:cNvSpPr>
          <p:nvPr/>
        </p:nvSpPr>
        <p:spPr>
          <a:xfrm xmlns:a="http://schemas.openxmlformats.org/drawingml/2006/main">
            <a:off x="5886450" y="1885950"/>
            <a:ext cx="28289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Oxidative phosphorylation (OXPHOS)</a:t>
            </a:r>
          </a:p>
        </p:txBody>
      </p:sp>
      <p:sp>
        <p:nvSpPr>
          <p:cNvPr id="8" name="mitocarta-level-1-count">
            <a:extLst xmlns:a="http://schemas.openxmlformats.org/drawingml/2006/main">
              <a:ext uri="{FF2B5EF4-FFF2-40B4-BE49-F238E27FC236}">
                <a16:creationId xmlns:a16="http://schemas.microsoft.com/office/drawing/2014/main" id="{A0B6881E-78F2-46CC-90CB-35966ED6AC8E}"/>
              </a:ext>
            </a:extLst>
          </p:cNvPr>
          <p:cNvSpPr>
            <a:spLocks xmlns:a="http://schemas.openxmlformats.org/drawingml/2006/main" noGrp="1"/>
          </p:cNvSpPr>
          <p:nvPr/>
        </p:nvSpPr>
        <p:spPr>
          <a:xfrm xmlns:a="http://schemas.openxmlformats.org/drawingml/2006/main">
            <a:off x="9620250" y="181927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0072B2"/>
                </a:solidFill>
                <a:latin typeface="Arial"/>
                <a:ea typeface="Arial"/>
                <a:cs typeface="Arial"/>
              </a:defRPr>
            </a:pPr>
            <a:r>
              <a:rPr sz="1725" b="1">
                <a:solidFill>
                  <a:srgbClr val="0072B2"/>
                </a:solidFill>
                <a:latin typeface="Arial"/>
                <a:ea typeface="Arial"/>
                <a:cs typeface="Arial"/>
              </a:rPr>
              <a:t>7 pathways</a:t>
            </a:r>
          </a:p>
        </p:txBody>
      </p:sp>
      <p:sp>
        <p:nvSpPr>
          <p:cNvPr id="9" name="mitocarta-level-2-band">
            <a:extLst xmlns:a="http://schemas.openxmlformats.org/drawingml/2006/main">
              <a:ext uri="{FF2B5EF4-FFF2-40B4-BE49-F238E27FC236}">
                <a16:creationId xmlns:a16="http://schemas.microsoft.com/office/drawing/2014/main" id="{5DAF0BA4-AC5A-446A-84BE-194A8EF81A1D}"/>
              </a:ext>
            </a:extLst>
          </p:cNvPr>
          <p:cNvSpPr>
            <a:spLocks xmlns:a="http://schemas.openxmlformats.org/drawingml/2006/main" noGrp="1"/>
          </p:cNvSpPr>
          <p:nvPr/>
        </p:nvSpPr>
        <p:spPr>
          <a:xfrm xmlns:a="http://schemas.openxmlformats.org/drawingml/2006/main">
            <a:off x="1619250" y="2705100"/>
            <a:ext cx="8953500" cy="990600"/>
          </a:xfrm>
          <a:prstGeom xmlns:a="http://schemas.openxmlformats.org/drawingml/2006/main" prst="roundRect">
            <a:avLst>
              <a:gd name="adj" fmla="val 13462"/>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0" name="mitocarta-level-2-level">
            <a:extLst xmlns:a="http://schemas.openxmlformats.org/drawingml/2006/main">
              <a:ext uri="{FF2B5EF4-FFF2-40B4-BE49-F238E27FC236}">
                <a16:creationId xmlns:a16="http://schemas.microsoft.com/office/drawing/2014/main" id="{E307DD48-2E33-4870-AB47-AC61B7104C30}"/>
              </a:ext>
            </a:extLst>
          </p:cNvPr>
          <p:cNvSpPr>
            <a:spLocks xmlns:a="http://schemas.openxmlformats.org/drawingml/2006/main" noGrp="1"/>
          </p:cNvSpPr>
          <p:nvPr/>
        </p:nvSpPr>
        <p:spPr>
          <a:xfrm xmlns:a="http://schemas.openxmlformats.org/drawingml/2006/main">
            <a:off x="1885950" y="288607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00684D"/>
                </a:solidFill>
                <a:latin typeface="Arial"/>
                <a:ea typeface="Arial"/>
                <a:cs typeface="Arial"/>
              </a:defRPr>
            </a:pPr>
            <a:r>
              <a:rPr sz="1125" b="1">
                <a:solidFill>
                  <a:srgbClr val="00684D"/>
                </a:solidFill>
                <a:latin typeface="Arial"/>
                <a:ea typeface="Arial"/>
                <a:cs typeface="Arial"/>
              </a:rPr>
              <a:t>LEVEL 2</a:t>
            </a:r>
          </a:p>
        </p:txBody>
      </p:sp>
      <p:sp>
        <p:nvSpPr>
          <p:cNvPr id="11" name="mitocarta-level-2-label">
            <a:extLst xmlns:a="http://schemas.openxmlformats.org/drawingml/2006/main">
              <a:ext uri="{FF2B5EF4-FFF2-40B4-BE49-F238E27FC236}">
                <a16:creationId xmlns:a16="http://schemas.microsoft.com/office/drawing/2014/main" id="{2087C0A6-AC42-45D6-A8DF-F8950D8B57CF}"/>
              </a:ext>
            </a:extLst>
          </p:cNvPr>
          <p:cNvSpPr>
            <a:spLocks xmlns:a="http://schemas.openxmlformats.org/drawingml/2006/main" noGrp="1"/>
          </p:cNvSpPr>
          <p:nvPr/>
        </p:nvSpPr>
        <p:spPr>
          <a:xfrm xmlns:a="http://schemas.openxmlformats.org/drawingml/2006/main">
            <a:off x="1885950" y="3190875"/>
            <a:ext cx="385000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Pathway within a system</a:t>
            </a:r>
          </a:p>
        </p:txBody>
      </p:sp>
      <p:sp>
        <p:nvSpPr>
          <p:cNvPr id="12" name="mitocarta-level-2-example">
            <a:extLst xmlns:a="http://schemas.openxmlformats.org/drawingml/2006/main">
              <a:ext uri="{FF2B5EF4-FFF2-40B4-BE49-F238E27FC236}">
                <a16:creationId xmlns:a16="http://schemas.microsoft.com/office/drawing/2014/main" id="{21C35936-7529-43A8-A037-314B375217E3}"/>
              </a:ext>
            </a:extLst>
          </p:cNvPr>
          <p:cNvSpPr>
            <a:spLocks xmlns:a="http://schemas.openxmlformats.org/drawingml/2006/main" noGrp="1"/>
          </p:cNvSpPr>
          <p:nvPr/>
        </p:nvSpPr>
        <p:spPr>
          <a:xfrm xmlns:a="http://schemas.openxmlformats.org/drawingml/2006/main">
            <a:off x="5916930" y="3048000"/>
            <a:ext cx="241744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a:t>
            </a:r>
          </a:p>
        </p:txBody>
      </p:sp>
      <p:sp>
        <p:nvSpPr>
          <p:cNvPr id="13" name="mitocarta-level-2-count">
            <a:extLst xmlns:a="http://schemas.openxmlformats.org/drawingml/2006/main">
              <a:ext uri="{FF2B5EF4-FFF2-40B4-BE49-F238E27FC236}">
                <a16:creationId xmlns:a16="http://schemas.microsoft.com/office/drawing/2014/main" id="{D9693E17-B9DB-4D16-B3E6-9AE81C1CE84C}"/>
              </a:ext>
            </a:extLst>
          </p:cNvPr>
          <p:cNvSpPr>
            <a:spLocks xmlns:a="http://schemas.openxmlformats.org/drawingml/2006/main" noGrp="1"/>
          </p:cNvSpPr>
          <p:nvPr/>
        </p:nvSpPr>
        <p:spPr>
          <a:xfrm xmlns:a="http://schemas.openxmlformats.org/drawingml/2006/main">
            <a:off x="8858250" y="298132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00684D"/>
                </a:solidFill>
                <a:latin typeface="Arial"/>
                <a:ea typeface="Arial"/>
                <a:cs typeface="Arial"/>
              </a:defRPr>
            </a:pPr>
            <a:r>
              <a:rPr sz="1725" b="1">
                <a:solidFill>
                  <a:srgbClr val="00684D"/>
                </a:solidFill>
                <a:latin typeface="Arial"/>
                <a:ea typeface="Arial"/>
                <a:cs typeface="Arial"/>
              </a:rPr>
              <a:t>39 pathways</a:t>
            </a:r>
          </a:p>
        </p:txBody>
      </p:sp>
      <p:sp>
        <p:nvSpPr>
          <p:cNvPr id="14" name="mitocarta-level-3-band">
            <a:extLst xmlns:a="http://schemas.openxmlformats.org/drawingml/2006/main">
              <a:ext uri="{FF2B5EF4-FFF2-40B4-BE49-F238E27FC236}">
                <a16:creationId xmlns:a16="http://schemas.microsoft.com/office/drawing/2014/main" id="{2A8008ED-6648-4AF0-B933-D57921172975}"/>
              </a:ext>
            </a:extLst>
          </p:cNvPr>
          <p:cNvSpPr>
            <a:spLocks xmlns:a="http://schemas.openxmlformats.org/drawingml/2006/main" noGrp="1"/>
          </p:cNvSpPr>
          <p:nvPr/>
        </p:nvSpPr>
        <p:spPr>
          <a:xfrm xmlns:a="http://schemas.openxmlformats.org/drawingml/2006/main">
            <a:off x="2381250" y="3867150"/>
            <a:ext cx="7429500" cy="990600"/>
          </a:xfrm>
          <a:prstGeom xmlns:a="http://schemas.openxmlformats.org/drawingml/2006/main" prst="roundRect">
            <a:avLst>
              <a:gd name="adj" fmla="val 13462"/>
            </a:avLst>
          </a:prstGeom>
          <a:solidFill xmlns:a="http://schemas.openxmlformats.org/drawingml/2006/main">
            <a:srgbClr val="FFF3D6"/>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5" name="mitocarta-level-3-level">
            <a:extLst xmlns:a="http://schemas.openxmlformats.org/drawingml/2006/main">
              <a:ext uri="{FF2B5EF4-FFF2-40B4-BE49-F238E27FC236}">
                <a16:creationId xmlns:a16="http://schemas.microsoft.com/office/drawing/2014/main" id="{81DB79D4-CD73-4A5C-963B-057666B719FB}"/>
              </a:ext>
            </a:extLst>
          </p:cNvPr>
          <p:cNvSpPr>
            <a:spLocks xmlns:a="http://schemas.openxmlformats.org/drawingml/2006/main" noGrp="1"/>
          </p:cNvSpPr>
          <p:nvPr/>
        </p:nvSpPr>
        <p:spPr>
          <a:xfrm xmlns:a="http://schemas.openxmlformats.org/drawingml/2006/main">
            <a:off x="2647950" y="4048125"/>
            <a:ext cx="12001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125" b="1">
                <a:solidFill>
                  <a:srgbClr val="9A6200"/>
                </a:solidFill>
                <a:latin typeface="Arial"/>
                <a:ea typeface="Arial"/>
                <a:cs typeface="Arial"/>
              </a:defRPr>
            </a:pPr>
            <a:r>
              <a:rPr sz="1125" b="1">
                <a:solidFill>
                  <a:srgbClr val="9A6200"/>
                </a:solidFill>
                <a:latin typeface="Arial"/>
                <a:ea typeface="Arial"/>
                <a:cs typeface="Arial"/>
              </a:rPr>
              <a:t>LEVEL 3</a:t>
            </a:r>
          </a:p>
        </p:txBody>
      </p:sp>
      <p:sp>
        <p:nvSpPr>
          <p:cNvPr id="16" name="mitocarta-level-3-label">
            <a:extLst xmlns:a="http://schemas.openxmlformats.org/drawingml/2006/main">
              <a:ext uri="{FF2B5EF4-FFF2-40B4-BE49-F238E27FC236}">
                <a16:creationId xmlns:a16="http://schemas.microsoft.com/office/drawing/2014/main" id="{140C0801-B7C3-4D31-A665-7222FAAD0F71}"/>
              </a:ext>
            </a:extLst>
          </p:cNvPr>
          <p:cNvSpPr>
            <a:spLocks xmlns:a="http://schemas.openxmlformats.org/drawingml/2006/main" noGrp="1"/>
          </p:cNvSpPr>
          <p:nvPr/>
        </p:nvSpPr>
        <p:spPr>
          <a:xfrm xmlns:a="http://schemas.openxmlformats.org/drawingml/2006/main">
            <a:off x="2647950" y="4352925"/>
            <a:ext cx="319468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725" b="1">
                <a:solidFill>
                  <a:srgbClr val="0F233D"/>
                </a:solidFill>
                <a:latin typeface="Arial"/>
                <a:ea typeface="Arial"/>
                <a:cs typeface="Arial"/>
              </a:defRPr>
            </a:pPr>
            <a:r>
              <a:rPr sz="1725" b="1">
                <a:solidFill>
                  <a:srgbClr val="0F233D"/>
                </a:solidFill>
                <a:latin typeface="Arial"/>
                <a:ea typeface="Arial"/>
                <a:cs typeface="Arial"/>
              </a:rPr>
              <a:t>Detailed subpathway</a:t>
            </a:r>
          </a:p>
        </p:txBody>
      </p:sp>
      <p:sp>
        <p:nvSpPr>
          <p:cNvPr id="17" name="mitocarta-level-3-example">
            <a:extLst xmlns:a="http://schemas.openxmlformats.org/drawingml/2006/main">
              <a:ext uri="{FF2B5EF4-FFF2-40B4-BE49-F238E27FC236}">
                <a16:creationId xmlns:a16="http://schemas.microsoft.com/office/drawing/2014/main" id="{A94DF118-F7D1-4507-9C22-4CD1DDAB2A0A}"/>
              </a:ext>
            </a:extLst>
          </p:cNvPr>
          <p:cNvSpPr>
            <a:spLocks xmlns:a="http://schemas.openxmlformats.org/drawingml/2006/main" noGrp="1"/>
          </p:cNvSpPr>
          <p:nvPr/>
        </p:nvSpPr>
        <p:spPr>
          <a:xfrm xmlns:a="http://schemas.openxmlformats.org/drawingml/2006/main">
            <a:off x="5947410" y="4210050"/>
            <a:ext cx="200596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350" b="0">
                <a:solidFill>
                  <a:srgbClr val="1F2730"/>
                </a:solidFill>
                <a:latin typeface="Arial"/>
                <a:ea typeface="Arial"/>
                <a:cs typeface="Arial"/>
              </a:defRPr>
            </a:pPr>
            <a:r>
              <a:rPr sz="1350" b="0">
                <a:solidFill>
                  <a:srgbClr val="1F2730"/>
                </a:solidFill>
                <a:latin typeface="Arial"/>
                <a:ea typeface="Arial"/>
                <a:cs typeface="Arial"/>
              </a:rPr>
              <a:t>Example: Complex I subunits</a:t>
            </a:r>
          </a:p>
        </p:txBody>
      </p:sp>
      <p:sp>
        <p:nvSpPr>
          <p:cNvPr id="18" name="mitocarta-level-3-count">
            <a:extLst xmlns:a="http://schemas.openxmlformats.org/drawingml/2006/main">
              <a:ext uri="{FF2B5EF4-FFF2-40B4-BE49-F238E27FC236}">
                <a16:creationId xmlns:a16="http://schemas.microsoft.com/office/drawing/2014/main" id="{BB15147C-0D72-4962-85BB-A1B83412BA89}"/>
              </a:ext>
            </a:extLst>
          </p:cNvPr>
          <p:cNvSpPr>
            <a:spLocks xmlns:a="http://schemas.openxmlformats.org/drawingml/2006/main" noGrp="1"/>
          </p:cNvSpPr>
          <p:nvPr/>
        </p:nvSpPr>
        <p:spPr>
          <a:xfrm xmlns:a="http://schemas.openxmlformats.org/drawingml/2006/main">
            <a:off x="8096250" y="4143375"/>
            <a:ext cx="1428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1725" b="1">
                <a:solidFill>
                  <a:srgbClr val="9A6200"/>
                </a:solidFill>
                <a:latin typeface="Arial"/>
                <a:ea typeface="Arial"/>
                <a:cs typeface="Arial"/>
              </a:defRPr>
            </a:pPr>
            <a:r>
              <a:rPr sz="1725" b="1">
                <a:solidFill>
                  <a:srgbClr val="9A6200"/>
                </a:solidFill>
                <a:latin typeface="Arial"/>
                <a:ea typeface="Arial"/>
                <a:cs typeface="Arial"/>
              </a:rPr>
              <a:t>103 pathways</a:t>
            </a:r>
          </a:p>
        </p:txBody>
      </p:sp>
      <p:sp>
        <p:nvSpPr>
          <p:cNvPr id="19" name="mitocarta-hierarchy-summary">
            <a:extLst xmlns:a="http://schemas.openxmlformats.org/drawingml/2006/main">
              <a:ext uri="{FF2B5EF4-FFF2-40B4-BE49-F238E27FC236}">
                <a16:creationId xmlns:a16="http://schemas.microsoft.com/office/drawing/2014/main" id="{C106CBB7-A914-4CAA-A2D6-1E8DECF94573}"/>
              </a:ext>
            </a:extLst>
          </p:cNvPr>
          <p:cNvSpPr>
            <a:spLocks xmlns:a="http://schemas.openxmlformats.org/drawingml/2006/main" noGrp="1"/>
          </p:cNvSpPr>
          <p:nvPr/>
        </p:nvSpPr>
        <p:spPr>
          <a:xfrm xmlns:a="http://schemas.openxmlformats.org/drawingml/2006/main">
            <a:off x="1238250" y="5362575"/>
            <a:ext cx="9715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725" b="1">
                <a:solidFill>
                  <a:srgbClr val="0F233D"/>
                </a:solidFill>
                <a:latin typeface="Arial"/>
                <a:ea typeface="Arial"/>
                <a:cs typeface="Arial"/>
              </a:defRPr>
            </a:pPr>
            <a:r>
              <a:rPr sz="1725" b="1">
                <a:solidFill>
                  <a:srgbClr val="0F233D"/>
                </a:solidFill>
                <a:latin typeface="Arial"/>
                <a:ea typeface="Arial"/>
                <a:cs typeface="Arial"/>
              </a:rPr>
              <a:t>Levels 1 and 2 contain 46 pathways. Including Level 3 gives 149 pathways in total.</a:t>
            </a:r>
          </a:p>
        </p:txBody>
      </p:sp>
      <p:sp>
        <p:nvSpPr>
          <p:cNvPr id="20" name="mitocarta-hierarchy-note">
            <a:extLst xmlns:a="http://schemas.openxmlformats.org/drawingml/2006/main">
              <a:ext uri="{FF2B5EF4-FFF2-40B4-BE49-F238E27FC236}">
                <a16:creationId xmlns:a16="http://schemas.microsoft.com/office/drawing/2014/main" id="{8732A8D5-E54F-4818-8258-7BB4F33E4664}"/>
              </a:ext>
            </a:extLst>
          </p:cNvPr>
          <p:cNvSpPr>
            <a:spLocks xmlns:a="http://schemas.openxmlformats.org/drawingml/2006/main" noGrp="1"/>
          </p:cNvSpPr>
          <p:nvPr/>
        </p:nvSpPr>
        <p:spPr>
          <a:xfrm xmlns:a="http://schemas.openxmlformats.org/drawingml/2006/main">
            <a:off x="1714500" y="5915025"/>
            <a:ext cx="876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275" b="0">
                <a:solidFill>
                  <a:srgbClr val="4E5A68"/>
                </a:solidFill>
                <a:latin typeface="Arial"/>
                <a:ea typeface="Arial"/>
                <a:cs typeface="Arial"/>
              </a:defRPr>
            </a:pPr>
            <a:r>
              <a:rPr sz="1275" b="0">
                <a:solidFill>
                  <a:srgbClr val="4E5A68"/>
                </a:solidFill>
                <a:latin typeface="Arial"/>
                <a:ea typeface="Arial"/>
                <a:cs typeface="Arial"/>
              </a:rPr>
              <a:t>The same gene may belong to a broad pathway and one or more nested pathways.</a:t>
            </a:r>
          </a:p>
        </p:txBody>
      </p:sp>
    </p:spTree>
    <p:extLst>
      <p:ext uri="{BB962C8B-B14F-4D97-AF65-F5344CB8AC3E}">
        <p14:creationId xmlns:p14="http://schemas.microsoft.com/office/powerpoint/2010/main" val="2049692080"/>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5E59162-7D50-45F5-8596-6A0CAF54D40E}"/>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How the pathway analysis was done</a:t>
            </a:r>
          </a:p>
        </p:txBody>
      </p:sp>
      <p:sp>
        <p:nvSpPr>
          <p:cNvPr id="3" name="TextBox 2">
            <a:extLst xmlns:a="http://schemas.openxmlformats.org/drawingml/2006/main">
              <a:ext uri="{FF2B5EF4-FFF2-40B4-BE49-F238E27FC236}">
                <a16:creationId xmlns:a16="http://schemas.microsoft.com/office/drawing/2014/main" id="{769FF051-FBF1-43EE-AA8C-D681240222FC}"/>
              </a:ext>
            </a:extLst>
          </p:cNvPr>
          <p:cNvSpPr>
            <a:spLocks xmlns:a="http://schemas.openxmlformats.org/drawingml/2006/main" noGrp="1"/>
          </p:cNvSpPr>
          <p:nvPr/>
        </p:nvSpPr>
        <p:spPr>
          <a:xfrm xmlns:a="http://schemas.openxmlformats.org/drawingml/2006/main">
            <a:off x="548640" y="895435"/>
            <a:ext cx="10561320" cy="54784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algn="l">
              <a:lnSpc>
                <a:spcPct val="100000"/>
              </a:lnSpc>
              <a:spcBef>
                <a:spcPts val="0"/>
              </a:spcBef>
              <a:spcAft>
                <a:spcPts val="0"/>
              </a:spcAft>
              <a:buNone/>
              <a:defRPr sz="1600">
                <a:solidFill>
                  <a:srgbClr val="4E5A68"/>
                </a:solidFill>
                <a:latin typeface="Arial"/>
                <a:ea typeface="Arial"/>
                <a:cs typeface="Arial"/>
              </a:defRPr>
            </a:pPr>
            <a:r>
              <a:rPr sz="1600" b="0" i="0">
                <a:solidFill>
                  <a:srgbClr val="4E5A68"/>
                </a:solidFill>
                <a:latin typeface="Arial"/>
                <a:ea typeface="Arial"/>
                <a:cs typeface="Arial"/>
              </a:rPr>
              <a:t>Each fine-cell sex/APOE contrast was tested separately against these pathways.</a:t>
            </a:r>
          </a:p>
        </p:txBody>
      </p:sp>
      <p:sp>
        <p:nvSpPr>
          <p:cNvPr id="4" name="Rounded Rectangle 3">
            <a:extLst xmlns:a="http://schemas.openxmlformats.org/drawingml/2006/main">
              <a:ext uri="{FF2B5EF4-FFF2-40B4-BE49-F238E27FC236}">
                <a16:creationId xmlns:a16="http://schemas.microsoft.com/office/drawing/2014/main" id="{21F6DD32-03E7-406D-8662-74B6E4CA0213}"/>
              </a:ext>
            </a:extLst>
          </p:cNvPr>
          <p:cNvSpPr>
            <a:spLocks xmlns:a="http://schemas.openxmlformats.org/drawingml/2006/main" noGrp="1"/>
          </p:cNvSpPr>
          <p:nvPr/>
        </p:nvSpPr>
        <p:spPr>
          <a:xfrm xmlns:a="http://schemas.openxmlformats.org/drawingml/2006/main">
            <a:off x="2532888" y="1533294"/>
            <a:ext cx="3273552" cy="195681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47F0ACC6-27A0-494B-BC02-3E33D5E3B40F}"/>
              </a:ext>
            </a:extLst>
          </p:cNvPr>
          <p:cNvSpPr>
            <a:spLocks xmlns:a="http://schemas.openxmlformats.org/drawingml/2006/main" noGrp="1"/>
          </p:cNvSpPr>
          <p:nvPr/>
        </p:nvSpPr>
        <p:spPr>
          <a:xfrm xmlns:a="http://schemas.openxmlformats.org/drawingml/2006/main">
            <a:off x="2752344" y="173446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3E7BABE-17B8-46CD-A086-0A9B1CCD10CC}"/>
              </a:ext>
            </a:extLst>
          </p:cNvPr>
          <p:cNvSpPr>
            <a:spLocks xmlns:a="http://schemas.openxmlformats.org/drawingml/2006/main" noGrp="1"/>
          </p:cNvSpPr>
          <p:nvPr/>
        </p:nvSpPr>
        <p:spPr>
          <a:xfrm xmlns:a="http://schemas.openxmlformats.org/drawingml/2006/main">
            <a:off x="2752344" y="1807614"/>
            <a:ext cx="43891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5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764274CE-BE5B-470A-A8A0-6F4B6C1F75F2}"/>
              </a:ext>
            </a:extLst>
          </p:cNvPr>
          <p:cNvSpPr>
            <a:spLocks xmlns:a="http://schemas.openxmlformats.org/drawingml/2006/main" noGrp="1"/>
          </p:cNvSpPr>
          <p:nvPr/>
        </p:nvSpPr>
        <p:spPr>
          <a:xfrm xmlns:a="http://schemas.openxmlformats.org/drawingml/2006/main">
            <a:off x="3300984" y="1765806"/>
            <a:ext cx="2212848" cy="29392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550" b="1" i="0">
                <a:solidFill>
                  <a:srgbClr val="0F233D"/>
                </a:solidFill>
                <a:latin typeface="Arial"/>
                <a:ea typeface="Arial"/>
                <a:cs typeface="Arial"/>
              </a:rPr>
              <a:t>DEG for each contrast</a:t>
            </a:r>
          </a:p>
        </p:txBody>
      </p:sp>
      <p:sp>
        <p:nvSpPr>
          <p:cNvPr id="8" name="TextBox 7">
            <a:extLst xmlns:a="http://schemas.openxmlformats.org/drawingml/2006/main">
              <a:ext uri="{FF2B5EF4-FFF2-40B4-BE49-F238E27FC236}">
                <a16:creationId xmlns:a16="http://schemas.microsoft.com/office/drawing/2014/main" id="{3875CAF2-AA9B-4E6E-990B-386C67538437}"/>
              </a:ext>
            </a:extLst>
          </p:cNvPr>
          <p:cNvSpPr>
            <a:spLocks xmlns:a="http://schemas.openxmlformats.org/drawingml/2006/main" noGrp="1"/>
          </p:cNvSpPr>
          <p:nvPr/>
        </p:nvSpPr>
        <p:spPr>
          <a:xfrm xmlns:a="http://schemas.openxmlformats.org/drawingml/2006/main">
            <a:off x="2788920" y="2283102"/>
            <a:ext cx="2761488"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60" b="0" i="0">
                <a:solidFill>
                  <a:srgbClr val="1F2730"/>
                </a:solidFill>
                <a:latin typeface="Arial"/>
                <a:ea typeface="Arial"/>
                <a:cs typeface="Arial"/>
              </a:rPr>
              <a:t>For each contrast:
• all mitochondrial DEGs
• up-regulated in AD
• down-regulated in AD</a:t>
            </a:r>
          </a:p>
        </p:txBody>
      </p:sp>
      <p:sp>
        <p:nvSpPr>
          <p:cNvPr id="9" name="TextBox 8">
            <a:extLst xmlns:a="http://schemas.openxmlformats.org/drawingml/2006/main">
              <a:ext uri="{FF2B5EF4-FFF2-40B4-BE49-F238E27FC236}">
                <a16:creationId xmlns:a16="http://schemas.microsoft.com/office/drawing/2014/main" id="{05559FE8-A77F-43DF-BA75-CB2CA9ADC708}"/>
              </a:ext>
            </a:extLst>
          </p:cNvPr>
          <p:cNvSpPr>
            <a:spLocks xmlns:a="http://schemas.openxmlformats.org/drawingml/2006/main" noGrp="1"/>
          </p:cNvSpPr>
          <p:nvPr/>
        </p:nvSpPr>
        <p:spPr>
          <a:xfrm xmlns:a="http://schemas.openxmlformats.org/drawingml/2006/main">
            <a:off x="5879592" y="2209950"/>
            <a:ext cx="320040"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6C7988"/>
                </a:solidFill>
                <a:latin typeface="Arial"/>
                <a:ea typeface="Arial"/>
                <a:cs typeface="Arial"/>
              </a:rPr>
              <a:t>→</a:t>
            </a:r>
          </a:p>
        </p:txBody>
      </p:sp>
      <p:sp>
        <p:nvSpPr>
          <p:cNvPr id="10" name="Rounded Rectangle 9">
            <a:extLst xmlns:a="http://schemas.openxmlformats.org/drawingml/2006/main">
              <a:ext uri="{FF2B5EF4-FFF2-40B4-BE49-F238E27FC236}">
                <a16:creationId xmlns:a16="http://schemas.microsoft.com/office/drawing/2014/main" id="{330C729C-5E22-4EBB-85FC-7255D6515391}"/>
              </a:ext>
            </a:extLst>
          </p:cNvPr>
          <p:cNvSpPr>
            <a:spLocks xmlns:a="http://schemas.openxmlformats.org/drawingml/2006/main" noGrp="1"/>
          </p:cNvSpPr>
          <p:nvPr/>
        </p:nvSpPr>
        <p:spPr>
          <a:xfrm xmlns:a="http://schemas.openxmlformats.org/drawingml/2006/main">
            <a:off x="6281928" y="1533294"/>
            <a:ext cx="3273552" cy="195681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Oval 10">
            <a:extLst xmlns:a="http://schemas.openxmlformats.org/drawingml/2006/main">
              <a:ext uri="{FF2B5EF4-FFF2-40B4-BE49-F238E27FC236}">
                <a16:creationId xmlns:a16="http://schemas.microsoft.com/office/drawing/2014/main" id="{41DDCC97-6070-4B01-B57B-E8288038B60C}"/>
              </a:ext>
            </a:extLst>
          </p:cNvPr>
          <p:cNvSpPr>
            <a:spLocks xmlns:a="http://schemas.openxmlformats.org/drawingml/2006/main" noGrp="1"/>
          </p:cNvSpPr>
          <p:nvPr/>
        </p:nvSpPr>
        <p:spPr>
          <a:xfrm xmlns:a="http://schemas.openxmlformats.org/drawingml/2006/main">
            <a:off x="6501384" y="1734462"/>
            <a:ext cx="438912" cy="438912"/>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E01FF4C9-E9E4-45A7-A0DC-D99E0777DFA1}"/>
              </a:ext>
            </a:extLst>
          </p:cNvPr>
          <p:cNvSpPr>
            <a:spLocks xmlns:a="http://schemas.openxmlformats.org/drawingml/2006/main" noGrp="1"/>
          </p:cNvSpPr>
          <p:nvPr/>
        </p:nvSpPr>
        <p:spPr>
          <a:xfrm xmlns:a="http://schemas.openxmlformats.org/drawingml/2006/main">
            <a:off x="6501384" y="1807614"/>
            <a:ext cx="43891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50" b="1" i="0">
                <a:solidFill>
                  <a:srgbClr val="FFFFFF"/>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78DDF5AD-3CA3-4D24-B279-093EFA64E011}"/>
              </a:ext>
            </a:extLst>
          </p:cNvPr>
          <p:cNvSpPr>
            <a:spLocks xmlns:a="http://schemas.openxmlformats.org/drawingml/2006/main" noGrp="1"/>
          </p:cNvSpPr>
          <p:nvPr/>
        </p:nvSpPr>
        <p:spPr>
          <a:xfrm xmlns:a="http://schemas.openxmlformats.org/drawingml/2006/main">
            <a:off x="7050024" y="1752750"/>
            <a:ext cx="2212848"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550" b="1" i="0">
                <a:solidFill>
                  <a:srgbClr val="0F233D"/>
                </a:solidFill>
                <a:latin typeface="Arial"/>
                <a:ea typeface="Arial"/>
                <a:cs typeface="Arial"/>
              </a:rPr>
              <a:t>Test each pathway</a:t>
            </a:r>
          </a:p>
        </p:txBody>
      </p:sp>
      <p:sp>
        <p:nvSpPr>
          <p:cNvPr id="14" name="TextBox 13">
            <a:extLst xmlns:a="http://schemas.openxmlformats.org/drawingml/2006/main">
              <a:ext uri="{FF2B5EF4-FFF2-40B4-BE49-F238E27FC236}">
                <a16:creationId xmlns:a16="http://schemas.microsoft.com/office/drawing/2014/main" id="{80D4D567-E2A0-4E80-9A43-6C9A44BBB948}"/>
              </a:ext>
            </a:extLst>
          </p:cNvPr>
          <p:cNvSpPr>
            <a:spLocks xmlns:a="http://schemas.openxmlformats.org/drawingml/2006/main" noGrp="1"/>
          </p:cNvSpPr>
          <p:nvPr/>
        </p:nvSpPr>
        <p:spPr>
          <a:xfrm xmlns:a="http://schemas.openxmlformats.org/drawingml/2006/main">
            <a:off x="6537960" y="2283102"/>
            <a:ext cx="2761488"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60" b="0" i="0">
                <a:solidFill>
                  <a:srgbClr val="1F2730"/>
                </a:solidFill>
                <a:latin typeface="Arial"/>
                <a:ea typeface="Arial"/>
                <a:cs typeface="Arial"/>
              </a:rPr>
              <a:t>Ask whether the DEG list contains more genes from that pathway than expected among genes detectable in the same contrast.</a:t>
            </a:r>
          </a:p>
        </p:txBody>
      </p:sp>
      <p:sp>
        <p:nvSpPr>
          <p:cNvPr id="22" name="Rounded Rectangle 21">
            <a:extLst xmlns:a="http://schemas.openxmlformats.org/drawingml/2006/main">
              <a:ext uri="{FF2B5EF4-FFF2-40B4-BE49-F238E27FC236}">
                <a16:creationId xmlns:a16="http://schemas.microsoft.com/office/drawing/2014/main" id="{EA143ABE-F8BA-4CFF-99EB-D66CC1543856}"/>
              </a:ext>
            </a:extLst>
          </p:cNvPr>
          <p:cNvSpPr>
            <a:spLocks xmlns:a="http://schemas.openxmlformats.org/drawingml/2006/main" noGrp="1"/>
          </p:cNvSpPr>
          <p:nvPr/>
        </p:nvSpPr>
        <p:spPr>
          <a:xfrm xmlns:a="http://schemas.openxmlformats.org/drawingml/2006/main">
            <a:off x="658368" y="3665368"/>
            <a:ext cx="5221224" cy="129844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A5433647-E3A4-43D5-AB13-A4D2117FD47E}"/>
              </a:ext>
            </a:extLst>
          </p:cNvPr>
          <p:cNvSpPr>
            <a:spLocks xmlns:a="http://schemas.openxmlformats.org/drawingml/2006/main" noGrp="1"/>
          </p:cNvSpPr>
          <p:nvPr/>
        </p:nvSpPr>
        <p:spPr>
          <a:xfrm xmlns:a="http://schemas.openxmlformats.org/drawingml/2006/main">
            <a:off x="914400" y="3857392"/>
            <a:ext cx="1325880" cy="40233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0072B2"/>
                </a:solidFill>
                <a:latin typeface="Arial"/>
                <a:ea typeface="Arial"/>
                <a:cs typeface="Arial"/>
              </a:rPr>
              <a:t>12 of 46</a:t>
            </a:r>
          </a:p>
        </p:txBody>
      </p:sp>
      <p:sp>
        <p:nvSpPr>
          <p:cNvPr id="24" name="TextBox 23">
            <a:extLst xmlns:a="http://schemas.openxmlformats.org/drawingml/2006/main">
              <a:ext uri="{FF2B5EF4-FFF2-40B4-BE49-F238E27FC236}">
                <a16:creationId xmlns:a16="http://schemas.microsoft.com/office/drawing/2014/main" id="{510795E1-2A01-4275-AF3E-5031A13BA258}"/>
              </a:ext>
            </a:extLst>
          </p:cNvPr>
          <p:cNvSpPr>
            <a:spLocks xmlns:a="http://schemas.openxmlformats.org/drawingml/2006/main" noGrp="1"/>
          </p:cNvSpPr>
          <p:nvPr/>
        </p:nvSpPr>
        <p:spPr>
          <a:xfrm xmlns:a="http://schemas.openxmlformats.org/drawingml/2006/main">
            <a:off x="2286000" y="3809440"/>
            <a:ext cx="3264408" cy="4616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0F233D"/>
                </a:solidFill>
                <a:latin typeface="Arial"/>
                <a:ea typeface="Arial"/>
                <a:cs typeface="Arial"/>
              </a:rPr>
              <a:t>Level 1&amp; 2 MitoCarta pathways had at least one significant result</a:t>
            </a:r>
          </a:p>
        </p:txBody>
      </p:sp>
      <p:sp>
        <p:nvSpPr>
          <p:cNvPr id="26" name="Rounded Rectangle 25">
            <a:extLst xmlns:a="http://schemas.openxmlformats.org/drawingml/2006/main">
              <a:ext uri="{FF2B5EF4-FFF2-40B4-BE49-F238E27FC236}">
                <a16:creationId xmlns:a16="http://schemas.microsoft.com/office/drawing/2014/main" id="{79DD2C72-A719-483B-80F5-35D9D2C7EDA6}"/>
              </a:ext>
            </a:extLst>
          </p:cNvPr>
          <p:cNvSpPr>
            <a:spLocks xmlns:a="http://schemas.openxmlformats.org/drawingml/2006/main" noGrp="1"/>
          </p:cNvSpPr>
          <p:nvPr/>
        </p:nvSpPr>
        <p:spPr>
          <a:xfrm xmlns:a="http://schemas.openxmlformats.org/drawingml/2006/main">
            <a:off x="6044184" y="3665368"/>
            <a:ext cx="5221224" cy="12984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95B58EAA-5BFA-46F1-9D32-39F410AFC4C7}"/>
              </a:ext>
            </a:extLst>
          </p:cNvPr>
          <p:cNvSpPr>
            <a:spLocks xmlns:a="http://schemas.openxmlformats.org/drawingml/2006/main" noGrp="1"/>
          </p:cNvSpPr>
          <p:nvPr/>
        </p:nvSpPr>
        <p:spPr>
          <a:xfrm xmlns:a="http://schemas.openxmlformats.org/drawingml/2006/main">
            <a:off x="6300216" y="3857392"/>
            <a:ext cx="1325880" cy="40233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00684D"/>
                </a:solidFill>
                <a:latin typeface="Arial"/>
                <a:ea typeface="Arial"/>
                <a:cs typeface="Arial"/>
              </a:rPr>
              <a:t>18 of 149</a:t>
            </a:r>
          </a:p>
        </p:txBody>
      </p:sp>
      <p:sp>
        <p:nvSpPr>
          <p:cNvPr id="28" name="TextBox 27">
            <a:extLst xmlns:a="http://schemas.openxmlformats.org/drawingml/2006/main">
              <a:ext uri="{FF2B5EF4-FFF2-40B4-BE49-F238E27FC236}">
                <a16:creationId xmlns:a16="http://schemas.microsoft.com/office/drawing/2014/main" id="{EC70D2F9-307F-473F-A384-B3DA9B3DAE35}"/>
              </a:ext>
            </a:extLst>
          </p:cNvPr>
          <p:cNvSpPr>
            <a:spLocks xmlns:a="http://schemas.openxmlformats.org/drawingml/2006/main" noGrp="1"/>
          </p:cNvSpPr>
          <p:nvPr/>
        </p:nvSpPr>
        <p:spPr>
          <a:xfrm xmlns:a="http://schemas.openxmlformats.org/drawingml/2006/main">
            <a:off x="7671816" y="3784241"/>
            <a:ext cx="3264408"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0F233D"/>
                </a:solidFill>
                <a:latin typeface="Arial"/>
                <a:ea typeface="Arial"/>
                <a:cs typeface="Arial"/>
              </a:rPr>
              <a:t>complete MitoCarta pathways had at least one significant result</a:t>
            </a:r>
          </a:p>
        </p:txBody>
      </p:sp>
      <p:sp>
        <p:nvSpPr>
          <p:cNvPr id="30" name="Rounded Rectangle 29">
            <a:extLst xmlns:a="http://schemas.openxmlformats.org/drawingml/2006/main">
              <a:ext uri="{FF2B5EF4-FFF2-40B4-BE49-F238E27FC236}">
                <a16:creationId xmlns:a16="http://schemas.microsoft.com/office/drawing/2014/main" id="{17A8639B-8386-46C8-883B-9F040DF0AEA4}"/>
              </a:ext>
            </a:extLst>
          </p:cNvPr>
          <p:cNvSpPr>
            <a:spLocks xmlns:a="http://schemas.openxmlformats.org/drawingml/2006/main" noGrp="1"/>
          </p:cNvSpPr>
          <p:nvPr/>
        </p:nvSpPr>
        <p:spPr>
          <a:xfrm xmlns:a="http://schemas.openxmlformats.org/drawingml/2006/main">
            <a:off x="705104" y="5477764"/>
            <a:ext cx="10607040" cy="685800"/>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E9DF413E-8EC8-4159-B483-5A7280BA27D3}"/>
              </a:ext>
            </a:extLst>
          </p:cNvPr>
          <p:cNvSpPr>
            <a:spLocks xmlns:a="http://schemas.openxmlformats.org/drawingml/2006/main" noGrp="1"/>
          </p:cNvSpPr>
          <p:nvPr/>
        </p:nvSpPr>
        <p:spPr>
          <a:xfrm xmlns:a="http://schemas.openxmlformats.org/drawingml/2006/main">
            <a:off x="753533" y="5735659"/>
            <a:ext cx="11887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7E4C9A"/>
                </a:solidFill>
                <a:latin typeface="Arial"/>
                <a:ea typeface="Arial"/>
                <a:cs typeface="Arial"/>
              </a:rPr>
              <a:t>Main pattern</a:t>
            </a:r>
          </a:p>
        </p:txBody>
      </p:sp>
      <p:sp>
        <p:nvSpPr>
          <p:cNvPr id="32" name="TextBox 31">
            <a:extLst xmlns:a="http://schemas.openxmlformats.org/drawingml/2006/main">
              <a:ext uri="{FF2B5EF4-FFF2-40B4-BE49-F238E27FC236}">
                <a16:creationId xmlns:a16="http://schemas.microsoft.com/office/drawing/2014/main" id="{1FDFFD77-95B0-42E9-8000-8BF442732085}"/>
              </a:ext>
            </a:extLst>
          </p:cNvPr>
          <p:cNvSpPr>
            <a:spLocks xmlns:a="http://schemas.openxmlformats.org/drawingml/2006/main" noGrp="1"/>
          </p:cNvSpPr>
          <p:nvPr/>
        </p:nvSpPr>
        <p:spPr>
          <a:xfrm xmlns:a="http://schemas.openxmlformats.org/drawingml/2006/main">
            <a:off x="1987973" y="5662507"/>
            <a:ext cx="873252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30" b="0" i="0">
                <a:solidFill>
                  <a:srgbClr val="1F2730"/>
                </a:solidFill>
                <a:latin typeface="Arial"/>
                <a:ea typeface="Arial"/>
                <a:cs typeface="Arial"/>
              </a:rPr>
              <a:t>Most significant results were overlapping OXPHOS pathways; non-OXPHOS signals were fewer and more localized.</a:t>
            </a:r>
          </a:p>
        </p:txBody>
      </p:sp>
      <p:sp>
        <p:nvSpPr>
          <p:cNvPr id="33" name="TextBox 32">
            <a:extLst xmlns:a="http://schemas.openxmlformats.org/drawingml/2006/main">
              <a:ext uri="{FF2B5EF4-FFF2-40B4-BE49-F238E27FC236}">
                <a16:creationId xmlns:a16="http://schemas.microsoft.com/office/drawing/2014/main" id="{4E26C294-20E0-40B1-AA27-851451DDE604}"/>
              </a:ext>
            </a:extLst>
          </p:cNvPr>
          <p:cNvSpPr>
            <a:spLocks xmlns:a="http://schemas.openxmlformats.org/drawingml/2006/main" noGrp="1"/>
          </p:cNvSpPr>
          <p:nvPr/>
        </p:nvSpPr>
        <p:spPr>
          <a:xfrm xmlns:a="http://schemas.openxmlformats.org/drawingml/2006/main">
            <a:off x="734570" y="5121235"/>
            <a:ext cx="10607040" cy="2708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4E5A68"/>
                </a:solidFill>
                <a:latin typeface="Arial"/>
                <a:ea typeface="Arial"/>
                <a:cs typeface="Arial"/>
              </a:rPr>
              <a:t>Significant result = greater-than-expected pathway overlap after multiple-test correction (false-discovery rate &lt; 5%).</a:t>
            </a:r>
          </a:p>
        </p:txBody>
      </p:sp>
    </p:spTree>
    <p:extLst>
      <p:ext uri="{BB962C8B-B14F-4D97-AF65-F5344CB8AC3E}">
        <p14:creationId xmlns:p14="http://schemas.microsoft.com/office/powerpoint/2010/main" val="1336555694"/>
      </p:ext>
    </p:extLst>
  </p:cSld>
</p:sld>
</file>

<file path=ppt/slides/slide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7D1B8E3-9AFE-44A7-84AC-59E060C1AB0A}"/>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Four mitochondrial pathways highlighted</a:t>
            </a:r>
          </a:p>
        </p:txBody>
      </p:sp>
      <p:sp>
        <p:nvSpPr>
          <p:cNvPr id="4" name="Rounded Rectangle 3">
            <a:extLst xmlns:a="http://schemas.openxmlformats.org/drawingml/2006/main">
              <a:ext uri="{FF2B5EF4-FFF2-40B4-BE49-F238E27FC236}">
                <a16:creationId xmlns:a16="http://schemas.microsoft.com/office/drawing/2014/main" id="{76C30B73-B850-4890-A889-DFA3EAD38926}"/>
              </a:ext>
            </a:extLst>
          </p:cNvPr>
          <p:cNvSpPr>
            <a:spLocks xmlns:a="http://schemas.openxmlformats.org/drawingml/2006/main" noGrp="1"/>
          </p:cNvSpPr>
          <p:nvPr/>
        </p:nvSpPr>
        <p:spPr>
          <a:xfrm xmlns:a="http://schemas.openxmlformats.org/drawingml/2006/main">
            <a:off x="658368" y="1298448"/>
            <a:ext cx="5248656" cy="15544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191EAFF-F0AB-46D5-9D7D-736F342B868E}"/>
              </a:ext>
            </a:extLst>
          </p:cNvPr>
          <p:cNvSpPr>
            <a:spLocks xmlns:a="http://schemas.openxmlformats.org/drawingml/2006/main" noGrp="1"/>
          </p:cNvSpPr>
          <p:nvPr/>
        </p:nvSpPr>
        <p:spPr>
          <a:xfrm xmlns:a="http://schemas.openxmlformats.org/drawingml/2006/main">
            <a:off x="932688" y="1545336"/>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mtDNA-encoded OXPHOS</a:t>
            </a:r>
          </a:p>
        </p:txBody>
      </p:sp>
      <p:sp>
        <p:nvSpPr>
          <p:cNvPr id="6" name="Rounded Rectangle 5">
            <a:extLst xmlns:a="http://schemas.openxmlformats.org/drawingml/2006/main">
              <a:ext uri="{FF2B5EF4-FFF2-40B4-BE49-F238E27FC236}">
                <a16:creationId xmlns:a16="http://schemas.microsoft.com/office/drawing/2014/main" id="{34C8B1B4-9F14-4280-835B-8A4AF2D1B91F}"/>
              </a:ext>
            </a:extLst>
          </p:cNvPr>
          <p:cNvSpPr>
            <a:spLocks xmlns:a="http://schemas.openxmlformats.org/drawingml/2006/main" noGrp="1"/>
          </p:cNvSpPr>
          <p:nvPr/>
        </p:nvSpPr>
        <p:spPr>
          <a:xfrm xmlns:a="http://schemas.openxmlformats.org/drawingml/2006/main">
            <a:off x="4928616" y="1517904"/>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41289BC-A254-47D6-8E0A-0C7D52C5E414}"/>
              </a:ext>
            </a:extLst>
          </p:cNvPr>
          <p:cNvSpPr>
            <a:spLocks xmlns:a="http://schemas.openxmlformats.org/drawingml/2006/main" noGrp="1"/>
          </p:cNvSpPr>
          <p:nvPr/>
        </p:nvSpPr>
        <p:spPr>
          <a:xfrm xmlns:a="http://schemas.openxmlformats.org/drawingml/2006/main">
            <a:off x="4928616" y="1581912"/>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072B2"/>
                </a:solidFill>
                <a:latin typeface="Arial"/>
                <a:ea typeface="Arial"/>
                <a:cs typeface="Arial"/>
              </a:rPr>
              <a:t>13</a:t>
            </a:r>
          </a:p>
        </p:txBody>
      </p:sp>
      <p:sp>
        <p:nvSpPr>
          <p:cNvPr id="8" name="TextBox 7">
            <a:extLst xmlns:a="http://schemas.openxmlformats.org/drawingml/2006/main">
              <a:ext uri="{FF2B5EF4-FFF2-40B4-BE49-F238E27FC236}">
                <a16:creationId xmlns:a16="http://schemas.microsoft.com/office/drawing/2014/main" id="{D486F27E-C593-4CBC-92F0-7774ED084023}"/>
              </a:ext>
            </a:extLst>
          </p:cNvPr>
          <p:cNvSpPr>
            <a:spLocks xmlns:a="http://schemas.openxmlformats.org/drawingml/2006/main" noGrp="1"/>
          </p:cNvSpPr>
          <p:nvPr/>
        </p:nvSpPr>
        <p:spPr>
          <a:xfrm xmlns:a="http://schemas.openxmlformats.org/drawingml/2006/main">
            <a:off x="4928616" y="1819655"/>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9" name="TextBox 8">
            <a:extLst xmlns:a="http://schemas.openxmlformats.org/drawingml/2006/main">
              <a:ext uri="{FF2B5EF4-FFF2-40B4-BE49-F238E27FC236}">
                <a16:creationId xmlns:a16="http://schemas.microsoft.com/office/drawing/2014/main" id="{4CD8BB4D-8045-4530-B427-FE0F7658004D}"/>
              </a:ext>
            </a:extLst>
          </p:cNvPr>
          <p:cNvSpPr>
            <a:spLocks xmlns:a="http://schemas.openxmlformats.org/drawingml/2006/main" noGrp="1"/>
          </p:cNvSpPr>
          <p:nvPr/>
        </p:nvSpPr>
        <p:spPr>
          <a:xfrm xmlns:a="http://schemas.openxmlformats.org/drawingml/2006/main">
            <a:off x="932688" y="2103120"/>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Core respiratory-complex subunits encoded by mitochondrial DNA.</a:t>
            </a:r>
          </a:p>
        </p:txBody>
      </p:sp>
      <p:sp>
        <p:nvSpPr>
          <p:cNvPr id="10" name="Rounded Rectangle 9">
            <a:extLst xmlns:a="http://schemas.openxmlformats.org/drawingml/2006/main">
              <a:ext uri="{FF2B5EF4-FFF2-40B4-BE49-F238E27FC236}">
                <a16:creationId xmlns:a16="http://schemas.microsoft.com/office/drawing/2014/main" id="{9CF839F5-9891-4E7C-91FA-0AF64503FA1F}"/>
              </a:ext>
            </a:extLst>
          </p:cNvPr>
          <p:cNvSpPr>
            <a:spLocks xmlns:a="http://schemas.openxmlformats.org/drawingml/2006/main" noGrp="1"/>
          </p:cNvSpPr>
          <p:nvPr/>
        </p:nvSpPr>
        <p:spPr>
          <a:xfrm xmlns:a="http://schemas.openxmlformats.org/drawingml/2006/main">
            <a:off x="6281928" y="1298448"/>
            <a:ext cx="5248656" cy="1554480"/>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75967B44-073D-439F-8228-FD11F1FFDE8B}"/>
              </a:ext>
            </a:extLst>
          </p:cNvPr>
          <p:cNvSpPr>
            <a:spLocks xmlns:a="http://schemas.openxmlformats.org/drawingml/2006/main" noGrp="1"/>
          </p:cNvSpPr>
          <p:nvPr/>
        </p:nvSpPr>
        <p:spPr>
          <a:xfrm xmlns:a="http://schemas.openxmlformats.org/drawingml/2006/main">
            <a:off x="6556248" y="1545336"/>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Nuclear structural OXPHOS</a:t>
            </a:r>
          </a:p>
        </p:txBody>
      </p:sp>
      <p:sp>
        <p:nvSpPr>
          <p:cNvPr id="12" name="Rounded Rectangle 11">
            <a:extLst xmlns:a="http://schemas.openxmlformats.org/drawingml/2006/main">
              <a:ext uri="{FF2B5EF4-FFF2-40B4-BE49-F238E27FC236}">
                <a16:creationId xmlns:a16="http://schemas.microsoft.com/office/drawing/2014/main" id="{BC8AE1D1-657D-4DBE-9679-214D81AB0DA0}"/>
              </a:ext>
            </a:extLst>
          </p:cNvPr>
          <p:cNvSpPr>
            <a:spLocks xmlns:a="http://schemas.openxmlformats.org/drawingml/2006/main" noGrp="1"/>
          </p:cNvSpPr>
          <p:nvPr/>
        </p:nvSpPr>
        <p:spPr>
          <a:xfrm xmlns:a="http://schemas.openxmlformats.org/drawingml/2006/main">
            <a:off x="10552176" y="1517904"/>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34ED99B-6F63-4B5A-816E-C1F392EFB88A}"/>
              </a:ext>
            </a:extLst>
          </p:cNvPr>
          <p:cNvSpPr>
            <a:spLocks xmlns:a="http://schemas.openxmlformats.org/drawingml/2006/main" noGrp="1"/>
          </p:cNvSpPr>
          <p:nvPr/>
        </p:nvSpPr>
        <p:spPr>
          <a:xfrm xmlns:a="http://schemas.openxmlformats.org/drawingml/2006/main">
            <a:off x="10552176" y="1581912"/>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9E3A00"/>
                </a:solidFill>
                <a:latin typeface="Arial"/>
                <a:ea typeface="Arial"/>
                <a:cs typeface="Arial"/>
              </a:rPr>
              <a:t>86</a:t>
            </a:r>
          </a:p>
        </p:txBody>
      </p:sp>
      <p:sp>
        <p:nvSpPr>
          <p:cNvPr id="14" name="TextBox 13">
            <a:extLst xmlns:a="http://schemas.openxmlformats.org/drawingml/2006/main">
              <a:ext uri="{FF2B5EF4-FFF2-40B4-BE49-F238E27FC236}">
                <a16:creationId xmlns:a16="http://schemas.microsoft.com/office/drawing/2014/main" id="{D883BA72-E16B-4926-91CD-EA1C30D2DBA1}"/>
              </a:ext>
            </a:extLst>
          </p:cNvPr>
          <p:cNvSpPr>
            <a:spLocks xmlns:a="http://schemas.openxmlformats.org/drawingml/2006/main" noGrp="1"/>
          </p:cNvSpPr>
          <p:nvPr/>
        </p:nvSpPr>
        <p:spPr>
          <a:xfrm xmlns:a="http://schemas.openxmlformats.org/drawingml/2006/main">
            <a:off x="10552176" y="1819655"/>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15" name="TextBox 14">
            <a:extLst xmlns:a="http://schemas.openxmlformats.org/drawingml/2006/main">
              <a:ext uri="{FF2B5EF4-FFF2-40B4-BE49-F238E27FC236}">
                <a16:creationId xmlns:a16="http://schemas.microsoft.com/office/drawing/2014/main" id="{79A776E0-C79F-4F0C-A32E-D1866EEF5C46}"/>
              </a:ext>
            </a:extLst>
          </p:cNvPr>
          <p:cNvSpPr>
            <a:spLocks xmlns:a="http://schemas.openxmlformats.org/drawingml/2006/main" noGrp="1"/>
          </p:cNvSpPr>
          <p:nvPr/>
        </p:nvSpPr>
        <p:spPr>
          <a:xfrm xmlns:a="http://schemas.openxmlformats.org/drawingml/2006/main">
            <a:off x="6556248" y="2103120"/>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Structural respiratory-complex subunits encoded by nuclear DNA.</a:t>
            </a:r>
          </a:p>
        </p:txBody>
      </p:sp>
      <p:sp>
        <p:nvSpPr>
          <p:cNvPr id="16" name="Rounded Rectangle 15">
            <a:extLst xmlns:a="http://schemas.openxmlformats.org/drawingml/2006/main">
              <a:ext uri="{FF2B5EF4-FFF2-40B4-BE49-F238E27FC236}">
                <a16:creationId xmlns:a16="http://schemas.microsoft.com/office/drawing/2014/main" id="{526CC8CA-739A-46F1-B520-95335471516B}"/>
              </a:ext>
            </a:extLst>
          </p:cNvPr>
          <p:cNvSpPr>
            <a:spLocks xmlns:a="http://schemas.openxmlformats.org/drawingml/2006/main" noGrp="1"/>
          </p:cNvSpPr>
          <p:nvPr/>
        </p:nvSpPr>
        <p:spPr>
          <a:xfrm xmlns:a="http://schemas.openxmlformats.org/drawingml/2006/main">
            <a:off x="658368" y="3182112"/>
            <a:ext cx="5248656" cy="155448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1B1EA69-A373-4CC9-9F80-7CB08D9F5F45}"/>
              </a:ext>
            </a:extLst>
          </p:cNvPr>
          <p:cNvSpPr>
            <a:spLocks xmlns:a="http://schemas.openxmlformats.org/drawingml/2006/main" noGrp="1"/>
          </p:cNvSpPr>
          <p:nvPr/>
        </p:nvSpPr>
        <p:spPr>
          <a:xfrm xmlns:a="http://schemas.openxmlformats.org/drawingml/2006/main">
            <a:off x="932688" y="3429000"/>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Mitochondrial translation</a:t>
            </a:r>
          </a:p>
        </p:txBody>
      </p:sp>
      <p:sp>
        <p:nvSpPr>
          <p:cNvPr id="18" name="Rounded Rectangle 17">
            <a:extLst xmlns:a="http://schemas.openxmlformats.org/drawingml/2006/main">
              <a:ext uri="{FF2B5EF4-FFF2-40B4-BE49-F238E27FC236}">
                <a16:creationId xmlns:a16="http://schemas.microsoft.com/office/drawing/2014/main" id="{BF53B588-109A-4290-9377-253109323524}"/>
              </a:ext>
            </a:extLst>
          </p:cNvPr>
          <p:cNvSpPr>
            <a:spLocks xmlns:a="http://schemas.openxmlformats.org/drawingml/2006/main" noGrp="1"/>
          </p:cNvSpPr>
          <p:nvPr/>
        </p:nvSpPr>
        <p:spPr>
          <a:xfrm xmlns:a="http://schemas.openxmlformats.org/drawingml/2006/main">
            <a:off x="4928616" y="3401568"/>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19D23711-31E3-4169-BE39-FAEAE55842D9}"/>
              </a:ext>
            </a:extLst>
          </p:cNvPr>
          <p:cNvSpPr>
            <a:spLocks xmlns:a="http://schemas.openxmlformats.org/drawingml/2006/main" noGrp="1"/>
          </p:cNvSpPr>
          <p:nvPr/>
        </p:nvSpPr>
        <p:spPr>
          <a:xfrm xmlns:a="http://schemas.openxmlformats.org/drawingml/2006/main">
            <a:off x="4928616" y="3465576"/>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0684D"/>
                </a:solidFill>
                <a:latin typeface="Arial"/>
                <a:ea typeface="Arial"/>
                <a:cs typeface="Arial"/>
              </a:rPr>
              <a:t>155</a:t>
            </a:r>
          </a:p>
        </p:txBody>
      </p:sp>
      <p:sp>
        <p:nvSpPr>
          <p:cNvPr id="20" name="TextBox 19">
            <a:extLst xmlns:a="http://schemas.openxmlformats.org/drawingml/2006/main">
              <a:ext uri="{FF2B5EF4-FFF2-40B4-BE49-F238E27FC236}">
                <a16:creationId xmlns:a16="http://schemas.microsoft.com/office/drawing/2014/main" id="{CB1737FE-578C-4CD0-A492-F1BD90D55055}"/>
              </a:ext>
            </a:extLst>
          </p:cNvPr>
          <p:cNvSpPr>
            <a:spLocks xmlns:a="http://schemas.openxmlformats.org/drawingml/2006/main" noGrp="1"/>
          </p:cNvSpPr>
          <p:nvPr/>
        </p:nvSpPr>
        <p:spPr>
          <a:xfrm xmlns:a="http://schemas.openxmlformats.org/drawingml/2006/main">
            <a:off x="4928616" y="3703320"/>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1" name="TextBox 20">
            <a:extLst xmlns:a="http://schemas.openxmlformats.org/drawingml/2006/main">
              <a:ext uri="{FF2B5EF4-FFF2-40B4-BE49-F238E27FC236}">
                <a16:creationId xmlns:a16="http://schemas.microsoft.com/office/drawing/2014/main" id="{439B04FD-6FC4-4672-9476-B85E5850150C}"/>
              </a:ext>
            </a:extLst>
          </p:cNvPr>
          <p:cNvSpPr>
            <a:spLocks xmlns:a="http://schemas.openxmlformats.org/drawingml/2006/main" noGrp="1"/>
          </p:cNvSpPr>
          <p:nvPr/>
        </p:nvSpPr>
        <p:spPr>
          <a:xfrm xmlns:a="http://schemas.openxmlformats.org/drawingml/2006/main">
            <a:off x="932688" y="3986784"/>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Ribosomal proteins and factors that make proteins inside mitochondria.</a:t>
            </a:r>
          </a:p>
        </p:txBody>
      </p:sp>
      <p:sp>
        <p:nvSpPr>
          <p:cNvPr id="22" name="Rounded Rectangle 21">
            <a:extLst xmlns:a="http://schemas.openxmlformats.org/drawingml/2006/main">
              <a:ext uri="{FF2B5EF4-FFF2-40B4-BE49-F238E27FC236}">
                <a16:creationId xmlns:a16="http://schemas.microsoft.com/office/drawing/2014/main" id="{3997E6C8-CC02-4D09-881C-20FE60682995}"/>
              </a:ext>
            </a:extLst>
          </p:cNvPr>
          <p:cNvSpPr>
            <a:spLocks xmlns:a="http://schemas.openxmlformats.org/drawingml/2006/main" noGrp="1"/>
          </p:cNvSpPr>
          <p:nvPr/>
        </p:nvSpPr>
        <p:spPr>
          <a:xfrm xmlns:a="http://schemas.openxmlformats.org/drawingml/2006/main">
            <a:off x="6281928" y="3182112"/>
            <a:ext cx="5248656" cy="15544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DB14D6E4-4D55-480A-BC1D-F214033C4A16}"/>
              </a:ext>
            </a:extLst>
          </p:cNvPr>
          <p:cNvSpPr>
            <a:spLocks xmlns:a="http://schemas.openxmlformats.org/drawingml/2006/main" noGrp="1"/>
          </p:cNvSpPr>
          <p:nvPr/>
        </p:nvSpPr>
        <p:spPr>
          <a:xfrm xmlns:a="http://schemas.openxmlformats.org/drawingml/2006/main">
            <a:off x="6556248" y="3429000"/>
            <a:ext cx="391363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MIB/MICOS inner membrane</a:t>
            </a:r>
          </a:p>
        </p:txBody>
      </p:sp>
      <p:sp>
        <p:nvSpPr>
          <p:cNvPr id="24" name="Rounded Rectangle 23">
            <a:extLst xmlns:a="http://schemas.openxmlformats.org/drawingml/2006/main">
              <a:ext uri="{FF2B5EF4-FFF2-40B4-BE49-F238E27FC236}">
                <a16:creationId xmlns:a16="http://schemas.microsoft.com/office/drawing/2014/main" id="{EBB36479-DAC4-4A96-A97F-A7C4CBEAD1BE}"/>
              </a:ext>
            </a:extLst>
          </p:cNvPr>
          <p:cNvSpPr>
            <a:spLocks xmlns:a="http://schemas.openxmlformats.org/drawingml/2006/main" noGrp="1"/>
          </p:cNvSpPr>
          <p:nvPr/>
        </p:nvSpPr>
        <p:spPr>
          <a:xfrm xmlns:a="http://schemas.openxmlformats.org/drawingml/2006/main">
            <a:off x="10552176" y="3401568"/>
            <a:ext cx="731520" cy="47548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2E9166DD-0031-4966-A398-0C70AF5B95FB}"/>
              </a:ext>
            </a:extLst>
          </p:cNvPr>
          <p:cNvSpPr>
            <a:spLocks xmlns:a="http://schemas.openxmlformats.org/drawingml/2006/main" noGrp="1"/>
          </p:cNvSpPr>
          <p:nvPr/>
        </p:nvSpPr>
        <p:spPr>
          <a:xfrm xmlns:a="http://schemas.openxmlformats.org/drawingml/2006/main">
            <a:off x="10552176" y="3465576"/>
            <a:ext cx="731520"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7E4C9A"/>
                </a:solidFill>
                <a:latin typeface="Arial"/>
                <a:ea typeface="Arial"/>
                <a:cs typeface="Arial"/>
              </a:rPr>
              <a:t>19</a:t>
            </a:r>
          </a:p>
        </p:txBody>
      </p:sp>
      <p:sp>
        <p:nvSpPr>
          <p:cNvPr id="26" name="TextBox 25">
            <a:extLst xmlns:a="http://schemas.openxmlformats.org/drawingml/2006/main">
              <a:ext uri="{FF2B5EF4-FFF2-40B4-BE49-F238E27FC236}">
                <a16:creationId xmlns:a16="http://schemas.microsoft.com/office/drawing/2014/main" id="{B2208763-11A6-4D06-823D-801A51A3769F}"/>
              </a:ext>
            </a:extLst>
          </p:cNvPr>
          <p:cNvSpPr>
            <a:spLocks xmlns:a="http://schemas.openxmlformats.org/drawingml/2006/main" noGrp="1"/>
          </p:cNvSpPr>
          <p:nvPr/>
        </p:nvSpPr>
        <p:spPr>
          <a:xfrm xmlns:a="http://schemas.openxmlformats.org/drawingml/2006/main">
            <a:off x="10552176" y="3703320"/>
            <a:ext cx="73152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50" b="0" i="0">
                <a:solidFill>
                  <a:srgbClr val="4E5A68"/>
                </a:solidFill>
                <a:latin typeface="Arial"/>
                <a:ea typeface="Arial"/>
                <a:cs typeface="Arial"/>
              </a:rPr>
              <a:t>genes</a:t>
            </a:r>
          </a:p>
        </p:txBody>
      </p:sp>
      <p:sp>
        <p:nvSpPr>
          <p:cNvPr id="27" name="TextBox 26">
            <a:extLst xmlns:a="http://schemas.openxmlformats.org/drawingml/2006/main">
              <a:ext uri="{FF2B5EF4-FFF2-40B4-BE49-F238E27FC236}">
                <a16:creationId xmlns:a16="http://schemas.microsoft.com/office/drawing/2014/main" id="{60EF670B-4939-4139-B603-D1022072D211}"/>
              </a:ext>
            </a:extLst>
          </p:cNvPr>
          <p:cNvSpPr>
            <a:spLocks xmlns:a="http://schemas.openxmlformats.org/drawingml/2006/main" noGrp="1"/>
          </p:cNvSpPr>
          <p:nvPr/>
        </p:nvSpPr>
        <p:spPr>
          <a:xfrm xmlns:a="http://schemas.openxmlformats.org/drawingml/2006/main">
            <a:off x="6556248" y="3986784"/>
            <a:ext cx="4681728"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200" b="0" i="0">
                <a:solidFill>
                  <a:srgbClr val="1F2730"/>
                </a:solidFill>
                <a:latin typeface="Arial"/>
                <a:ea typeface="Arial"/>
                <a:cs typeface="Arial"/>
              </a:rPr>
              <a:t>Proteins that shape cristae—the folds of the inner mitochondrial membrane.</a:t>
            </a:r>
          </a:p>
        </p:txBody>
      </p:sp>
      <p:sp>
        <p:nvSpPr>
          <p:cNvPr id="28" name="Rounded Rectangle 27">
            <a:extLst xmlns:a="http://schemas.openxmlformats.org/drawingml/2006/main">
              <a:ext uri="{FF2B5EF4-FFF2-40B4-BE49-F238E27FC236}">
                <a16:creationId xmlns:a16="http://schemas.microsoft.com/office/drawing/2014/main" id="{21F074FA-CF2F-4087-BE09-4880E2ED30D5}"/>
              </a:ext>
            </a:extLst>
          </p:cNvPr>
          <p:cNvSpPr>
            <a:spLocks xmlns:a="http://schemas.openxmlformats.org/drawingml/2006/main" noGrp="1"/>
          </p:cNvSpPr>
          <p:nvPr/>
        </p:nvSpPr>
        <p:spPr>
          <a:xfrm xmlns:a="http://schemas.openxmlformats.org/drawingml/2006/main">
            <a:off x="658368" y="5138928"/>
            <a:ext cx="10881360" cy="950976"/>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E4829F8C-5C6A-48DB-A931-0E9DAE0E017B}"/>
              </a:ext>
            </a:extLst>
          </p:cNvPr>
          <p:cNvSpPr>
            <a:spLocks xmlns:a="http://schemas.openxmlformats.org/drawingml/2006/main" noGrp="1"/>
          </p:cNvSpPr>
          <p:nvPr/>
        </p:nvSpPr>
        <p:spPr>
          <a:xfrm xmlns:a="http://schemas.openxmlformats.org/drawingml/2006/main">
            <a:off x="932688" y="5321808"/>
            <a:ext cx="157276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Two related questions</a:t>
            </a:r>
          </a:p>
        </p:txBody>
      </p:sp>
      <p:sp>
        <p:nvSpPr>
          <p:cNvPr id="30" name="TextBox 29">
            <a:extLst xmlns:a="http://schemas.openxmlformats.org/drawingml/2006/main">
              <a:ext uri="{FF2B5EF4-FFF2-40B4-BE49-F238E27FC236}">
                <a16:creationId xmlns:a16="http://schemas.microsoft.com/office/drawing/2014/main" id="{AEB0958F-2F10-42D0-B04E-2CA42DA26A1E}"/>
              </a:ext>
            </a:extLst>
          </p:cNvPr>
          <p:cNvSpPr>
            <a:spLocks xmlns:a="http://schemas.openxmlformats.org/drawingml/2006/main" noGrp="1"/>
          </p:cNvSpPr>
          <p:nvPr/>
        </p:nvSpPr>
        <p:spPr>
          <a:xfrm xmlns:a="http://schemas.openxmlformats.org/drawingml/2006/main">
            <a:off x="2651760" y="5285232"/>
            <a:ext cx="8412480"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20" b="0" i="0">
                <a:solidFill>
                  <a:srgbClr val="1F2730"/>
                </a:solidFill>
                <a:latin typeface="Arial"/>
                <a:ea typeface="Arial"/>
                <a:cs typeface="Arial"/>
              </a:rPr>
              <a:t>Overlap: which pathway genes are DEGs?   →   Enrichment: is that overlap larger than expected among detectable genes?</a:t>
            </a:r>
          </a:p>
        </p:txBody>
      </p:sp>
    </p:spTree>
    <p:extLst>
      <p:ext uri="{BB962C8B-B14F-4D97-AF65-F5344CB8AC3E}">
        <p14:creationId xmlns:p14="http://schemas.microsoft.com/office/powerpoint/2010/main" val="415004464"/>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1" name="overlap-calculation-background">
            <a:extLst xmlns:a="http://schemas.openxmlformats.org/drawingml/2006/main">
              <a:ext uri="{FF2B5EF4-FFF2-40B4-BE49-F238E27FC236}">
                <a16:creationId xmlns:a16="http://schemas.microsoft.com/office/drawing/2014/main" id="{19F0E6B1-E7BA-4A97-8DBA-C2625018C5A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overlap-calculation-title">
            <a:extLst xmlns:a="http://schemas.openxmlformats.org/drawingml/2006/main">
              <a:ext uri="{FF2B5EF4-FFF2-40B4-BE49-F238E27FC236}">
                <a16:creationId xmlns:a16="http://schemas.microsoft.com/office/drawing/2014/main" id="{48B855AC-B2C4-4260-A9A5-B622FE249086}"/>
              </a:ext>
            </a:extLst>
          </p:cNvPr>
          <p:cNvSpPr>
            <a:spLocks xmlns:a="http://schemas.openxmlformats.org/drawingml/2006/main" noGrp="1"/>
          </p:cNvSpPr>
          <p:nvPr/>
        </p:nvSpPr>
        <p:spPr>
          <a:xfrm xmlns:a="http://schemas.openxmlformats.org/drawingml/2006/main">
            <a:off x="533400" y="409575"/>
            <a:ext cx="10668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How to calculate pathway and sex/APOE overlap</a:t>
            </a:r>
          </a:p>
        </p:txBody>
      </p:sp>
      <p:sp>
        <p:nvSpPr>
          <p:cNvPr id="3" name="formula-label">
            <a:extLst xmlns:a="http://schemas.openxmlformats.org/drawingml/2006/main">
              <a:ext uri="{FF2B5EF4-FFF2-40B4-BE49-F238E27FC236}">
                <a16:creationId xmlns:a16="http://schemas.microsoft.com/office/drawing/2014/main" id="{BDC5796F-FACF-48B1-888D-B81973D1574E}"/>
              </a:ext>
            </a:extLst>
          </p:cNvPr>
          <p:cNvSpPr>
            <a:spLocks xmlns:a="http://schemas.openxmlformats.org/drawingml/2006/main" noGrp="1"/>
          </p:cNvSpPr>
          <p:nvPr/>
        </p:nvSpPr>
        <p:spPr>
          <a:xfrm xmlns:a="http://schemas.openxmlformats.org/drawingml/2006/main">
            <a:off x="723900" y="2691654"/>
            <a:ext cx="2238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r">
              <a:buNone/>
              <a:defRPr sz="2625" b="1">
                <a:solidFill>
                  <a:srgbClr val="0F233D"/>
                </a:solidFill>
                <a:latin typeface="Arial"/>
                <a:ea typeface="Arial"/>
                <a:cs typeface="Arial"/>
              </a:defRPr>
            </a:pPr>
            <a:r>
              <a:rPr sz="2625" b="1">
                <a:solidFill>
                  <a:srgbClr val="0F233D"/>
                </a:solidFill>
                <a:latin typeface="Arial"/>
                <a:ea typeface="Arial"/>
                <a:cs typeface="Arial"/>
              </a:rPr>
              <a:t>Overlap (%) =</a:t>
            </a:r>
          </a:p>
        </p:txBody>
      </p:sp>
      <p:sp>
        <p:nvSpPr>
          <p:cNvPr id="4" name="formula-numerator">
            <a:extLst xmlns:a="http://schemas.openxmlformats.org/drawingml/2006/main">
              <a:ext uri="{FF2B5EF4-FFF2-40B4-BE49-F238E27FC236}">
                <a16:creationId xmlns:a16="http://schemas.microsoft.com/office/drawing/2014/main" id="{85CBF9CA-CAE0-444D-97BA-72A84AE2BE8A}"/>
              </a:ext>
            </a:extLst>
          </p:cNvPr>
          <p:cNvSpPr>
            <a:spLocks xmlns:a="http://schemas.openxmlformats.org/drawingml/2006/main" noGrp="1"/>
          </p:cNvSpPr>
          <p:nvPr/>
        </p:nvSpPr>
        <p:spPr>
          <a:xfrm xmlns:a="http://schemas.openxmlformats.org/drawingml/2006/main">
            <a:off x="3295650" y="1910604"/>
            <a:ext cx="6572250"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98889"/>
          </a:bodyPr>
          <a:lstStyle xmlns:a="http://schemas.openxmlformats.org/drawingml/2006/main"/>
          <a:p xmlns:a="http://schemas.openxmlformats.org/drawingml/2006/main">
            <a:pPr algn="ctr">
              <a:buNone/>
              <a:defRPr sz="1875" b="1">
                <a:solidFill>
                  <a:srgbClr val="0F233D"/>
                </a:solidFill>
                <a:latin typeface="Arial"/>
                <a:ea typeface="Arial"/>
                <a:cs typeface="Arial"/>
              </a:defRPr>
            </a:pPr>
            <a:r>
              <a:rPr sz="1875" b="1">
                <a:solidFill>
                  <a:srgbClr val="0F233D"/>
                </a:solidFill>
                <a:latin typeface="Arial"/>
                <a:ea typeface="Arial"/>
                <a:cs typeface="Arial"/>
              </a:rPr>
              <a:t>Unique pathway genes that are DEGs in at least one fine cell type within the sex/APOE group</a:t>
            </a:r>
          </a:p>
        </p:txBody>
      </p:sp>
      <p:sp>
        <p:nvSpPr>
          <p:cNvPr id="5" name="formula-fraction-line">
            <a:extLst xmlns:a="http://schemas.openxmlformats.org/drawingml/2006/main">
              <a:ext uri="{FF2B5EF4-FFF2-40B4-BE49-F238E27FC236}">
                <a16:creationId xmlns:a16="http://schemas.microsoft.com/office/drawing/2014/main" id="{9C62E147-60E8-427E-8C60-DDBA5E710950}"/>
              </a:ext>
            </a:extLst>
          </p:cNvPr>
          <p:cNvSpPr>
            <a:spLocks xmlns:a="http://schemas.openxmlformats.org/drawingml/2006/main" noGrp="1"/>
          </p:cNvSpPr>
          <p:nvPr/>
        </p:nvSpPr>
        <p:spPr>
          <a:xfrm xmlns:a="http://schemas.openxmlformats.org/drawingml/2006/main">
            <a:off x="3295650" y="2939304"/>
            <a:ext cx="6572250"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txBody>
          <a:bodyPr xmlns:a="http://schemas.openxmlformats.org/drawingml/2006/main"/>
          <a:lstStyle xmlns:a="http://schemas.openxmlformats.org/drawingml/2006/main"/>
          <a:p xmlns:a="http://schemas.openxmlformats.org/drawingml/2006/main">
            <a:endParaRPr/>
          </a:p>
        </p:txBody>
      </p:sp>
      <p:sp>
        <p:nvSpPr>
          <p:cNvPr id="6" name="formula-denominator">
            <a:extLst xmlns:a="http://schemas.openxmlformats.org/drawingml/2006/main">
              <a:ext uri="{FF2B5EF4-FFF2-40B4-BE49-F238E27FC236}">
                <a16:creationId xmlns:a16="http://schemas.microsoft.com/office/drawing/2014/main" id="{7FCE3506-DDC1-45CD-AD0B-988D6C21CE58}"/>
              </a:ext>
            </a:extLst>
          </p:cNvPr>
          <p:cNvSpPr>
            <a:spLocks xmlns:a="http://schemas.openxmlformats.org/drawingml/2006/main" noGrp="1"/>
          </p:cNvSpPr>
          <p:nvPr/>
        </p:nvSpPr>
        <p:spPr>
          <a:xfrm xmlns:a="http://schemas.openxmlformats.org/drawingml/2006/main">
            <a:off x="3295650" y="3148854"/>
            <a:ext cx="6572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875" b="1">
                <a:solidFill>
                  <a:srgbClr val="0F233D"/>
                </a:solidFill>
                <a:latin typeface="Arial"/>
                <a:ea typeface="Arial"/>
                <a:cs typeface="Arial"/>
              </a:defRPr>
            </a:pPr>
            <a:r>
              <a:rPr sz="1875" b="1">
                <a:solidFill>
                  <a:srgbClr val="0F233D"/>
                </a:solidFill>
                <a:latin typeface="Arial"/>
                <a:ea typeface="Arial"/>
                <a:cs typeface="Arial"/>
              </a:rPr>
              <a:t>All genes in the pathway</a:t>
            </a:r>
          </a:p>
        </p:txBody>
      </p:sp>
      <p:sp>
        <p:nvSpPr>
          <p:cNvPr id="7" name="formula-multiplier">
            <a:extLst xmlns:a="http://schemas.openxmlformats.org/drawingml/2006/main">
              <a:ext uri="{FF2B5EF4-FFF2-40B4-BE49-F238E27FC236}">
                <a16:creationId xmlns:a16="http://schemas.microsoft.com/office/drawing/2014/main" id="{FAE18DB7-C75E-4491-AC8B-87028C8965CC}"/>
              </a:ext>
            </a:extLst>
          </p:cNvPr>
          <p:cNvSpPr>
            <a:spLocks xmlns:a="http://schemas.openxmlformats.org/drawingml/2006/main" noGrp="1"/>
          </p:cNvSpPr>
          <p:nvPr/>
        </p:nvSpPr>
        <p:spPr>
          <a:xfrm xmlns:a="http://schemas.openxmlformats.org/drawingml/2006/main">
            <a:off x="10077450" y="2691654"/>
            <a:ext cx="1381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625" b="1">
                <a:solidFill>
                  <a:srgbClr val="0F233D"/>
                </a:solidFill>
                <a:latin typeface="Arial"/>
                <a:ea typeface="Arial"/>
                <a:cs typeface="Arial"/>
              </a:defRPr>
            </a:pPr>
            <a:r>
              <a:rPr sz="2625" b="1">
                <a:solidFill>
                  <a:srgbClr val="0F233D"/>
                </a:solidFill>
                <a:latin typeface="Arial"/>
                <a:ea typeface="Arial"/>
                <a:cs typeface="Arial"/>
              </a:rPr>
              <a:t>× 100</a:t>
            </a:r>
          </a:p>
        </p:txBody>
      </p:sp>
      <p:sp>
        <p:nvSpPr>
          <p:cNvPr id="8" name="overlap-example-band">
            <a:extLst xmlns:a="http://schemas.openxmlformats.org/drawingml/2006/main">
              <a:ext uri="{FF2B5EF4-FFF2-40B4-BE49-F238E27FC236}">
                <a16:creationId xmlns:a16="http://schemas.microsoft.com/office/drawing/2014/main" id="{7A94A0E1-E7FA-491B-9D5F-977BE4CEDB34}"/>
              </a:ext>
            </a:extLst>
          </p:cNvPr>
          <p:cNvSpPr>
            <a:spLocks xmlns:a="http://schemas.openxmlformats.org/drawingml/2006/main" noGrp="1"/>
          </p:cNvSpPr>
          <p:nvPr/>
        </p:nvSpPr>
        <p:spPr>
          <a:xfrm xmlns:a="http://schemas.openxmlformats.org/drawingml/2006/main">
            <a:off x="1381125" y="4317628"/>
            <a:ext cx="9429750" cy="1762125"/>
          </a:xfrm>
          <a:prstGeom xmlns:a="http://schemas.openxmlformats.org/drawingml/2006/main" prst="roundRect">
            <a:avLst>
              <a:gd name="adj" fmla="val 8649"/>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9" name="worked-example-label">
            <a:extLst xmlns:a="http://schemas.openxmlformats.org/drawingml/2006/main">
              <a:ext uri="{FF2B5EF4-FFF2-40B4-BE49-F238E27FC236}">
                <a16:creationId xmlns:a16="http://schemas.microsoft.com/office/drawing/2014/main" id="{2D6B93AC-478D-4AB4-85FA-06A6F97BDA4C}"/>
              </a:ext>
            </a:extLst>
          </p:cNvPr>
          <p:cNvSpPr>
            <a:spLocks xmlns:a="http://schemas.openxmlformats.org/drawingml/2006/main" noGrp="1"/>
          </p:cNvSpPr>
          <p:nvPr/>
        </p:nvSpPr>
        <p:spPr>
          <a:xfrm xmlns:a="http://schemas.openxmlformats.org/drawingml/2006/main">
            <a:off x="1857375" y="4622988"/>
            <a:ext cx="847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500" b="1">
                <a:solidFill>
                  <a:srgbClr val="00684D"/>
                </a:solidFill>
                <a:latin typeface="Arial"/>
                <a:ea typeface="Arial"/>
                <a:cs typeface="Arial"/>
              </a:defRPr>
            </a:pPr>
            <a:r>
              <a:rPr sz="1500" b="1">
                <a:solidFill>
                  <a:srgbClr val="00684D"/>
                </a:solidFill>
                <a:latin typeface="Arial"/>
                <a:ea typeface="Arial"/>
                <a:cs typeface="Arial"/>
              </a:rPr>
              <a:t>Example: male ε2 mitochondrial translation</a:t>
            </a:r>
          </a:p>
        </p:txBody>
      </p:sp>
      <p:sp>
        <p:nvSpPr>
          <p:cNvPr id="10" name="worked-example-text">
            <a:extLst xmlns:a="http://schemas.openxmlformats.org/drawingml/2006/main">
              <a:ext uri="{FF2B5EF4-FFF2-40B4-BE49-F238E27FC236}">
                <a16:creationId xmlns:a16="http://schemas.microsoft.com/office/drawing/2014/main" id="{0CE14BD2-92A4-4214-9AD4-5B36EF705D5F}"/>
              </a:ext>
            </a:extLst>
          </p:cNvPr>
          <p:cNvSpPr>
            <a:spLocks xmlns:a="http://schemas.openxmlformats.org/drawingml/2006/main" noGrp="1"/>
          </p:cNvSpPr>
          <p:nvPr/>
        </p:nvSpPr>
        <p:spPr>
          <a:xfrm xmlns:a="http://schemas.openxmlformats.org/drawingml/2006/main">
            <a:off x="1857375" y="5137338"/>
            <a:ext cx="847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2325" b="1">
                <a:solidFill>
                  <a:srgbClr val="0F233D"/>
                </a:solidFill>
                <a:latin typeface="Arial"/>
                <a:ea typeface="Arial"/>
                <a:cs typeface="Arial"/>
              </a:defRPr>
            </a:pPr>
            <a:r>
              <a:rPr sz="2325" b="1">
                <a:solidFill>
                  <a:srgbClr val="0F233D"/>
                </a:solidFill>
                <a:latin typeface="Arial"/>
                <a:ea typeface="Arial"/>
                <a:cs typeface="Arial"/>
              </a:rPr>
              <a:t>130 unique DEG genes  ÷  155 pathway genes  ×  100  =  84%</a:t>
            </a:r>
          </a:p>
        </p:txBody>
      </p:sp>
    </p:spTree>
    <p:extLst>
      <p:ext uri="{BB962C8B-B14F-4D97-AF65-F5344CB8AC3E}">
        <p14:creationId xmlns:p14="http://schemas.microsoft.com/office/powerpoint/2010/main" val="50512237"/>
      </p:ext>
    </p:extLst>
  </p:cSld>
</p:sld>
</file>

<file path=ppt/slides/slide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D6851B-2665-4B39-9E54-29EA09D75374}"/>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Which pathway genes appeared among the DEGs?</a:t>
            </a:r>
          </a:p>
        </p:txBody>
      </p:sp>
      <p:sp>
        <p:nvSpPr>
          <p:cNvPr id="3" name="TextBox 2">
            <a:extLst xmlns:a="http://schemas.openxmlformats.org/drawingml/2006/main">
              <a:ext uri="{FF2B5EF4-FFF2-40B4-BE49-F238E27FC236}">
                <a16:creationId xmlns:a16="http://schemas.microsoft.com/office/drawing/2014/main" id="{202906A2-37D3-4429-9040-3FB6B411CE9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cell shows unique DEG genes ÷ all genes in that pathway for one sex/APOE group.</a:t>
            </a:r>
          </a:p>
        </p:txBody>
      </p:sp>
      <p:pic>
        <p:nvPicPr>
          <p:cNvPr id="11" name="Heatmap showing the percentage and count of genes from four mitochondrial pathways that appeared as significant DEGs in at least one fine-cell comparison for each of six sex/APOE groups."/>
          <p:cNvPicPr>
            <a:picLocks xmlns:a="http://schemas.openxmlformats.org/drawingml/2006/main" noChangeAspect="1"/>
          </p:cNvPicPr>
          <p:nvPr/>
        </p:nvPicPr>
        <p:blipFill>
          <a:blip xmlns:r="http://schemas.openxmlformats.org/officeDocument/2006/relationships" xmlns:a="http://schemas.openxmlformats.org/drawingml/2006/main" r:embed="R6eef1fef12274022"/>
          <a:stretch xmlns:a="http://schemas.openxmlformats.org/drawingml/2006/main">
            <a:fillRect l="0" t="0" r="0" b="0"/>
          </a:stretch>
        </p:blipFill>
        <p:spPr>
          <a:xfrm xmlns:a="http://schemas.openxmlformats.org/drawingml/2006/main">
            <a:off x="658368" y="1360188"/>
            <a:ext cx="10881360" cy="3991318"/>
          </a:xfrm>
          <a:prstGeom xmlns:a="http://schemas.openxmlformats.org/drawingml/2006/main" prst="rect">
            <a:avLst/>
          </a:prstGeom>
        </p:spPr>
      </p:pic>
      <p:sp>
        <p:nvSpPr>
          <p:cNvPr id="5" name="Rounded Rectangle 4">
            <a:extLst xmlns:a="http://schemas.openxmlformats.org/drawingml/2006/main">
              <a:ext uri="{FF2B5EF4-FFF2-40B4-BE49-F238E27FC236}">
                <a16:creationId xmlns:a16="http://schemas.microsoft.com/office/drawing/2014/main" id="{CE733A69-C72D-4B96-8FC3-7663882BDDC8}"/>
              </a:ext>
            </a:extLst>
          </p:cNvPr>
          <p:cNvSpPr>
            <a:spLocks xmlns:a="http://schemas.openxmlformats.org/drawingml/2006/main" noGrp="1"/>
          </p:cNvSpPr>
          <p:nvPr/>
        </p:nvSpPr>
        <p:spPr>
          <a:xfrm xmlns:a="http://schemas.openxmlformats.org/drawingml/2006/main">
            <a:off x="658368" y="5614416"/>
            <a:ext cx="10881360" cy="65836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FE0CB97-0983-4919-8A05-A1A1D07850DF}"/>
              </a:ext>
            </a:extLst>
          </p:cNvPr>
          <p:cNvSpPr>
            <a:spLocks xmlns:a="http://schemas.openxmlformats.org/drawingml/2006/main" noGrp="1"/>
          </p:cNvSpPr>
          <p:nvPr/>
        </p:nvSpPr>
        <p:spPr>
          <a:xfrm xmlns:a="http://schemas.openxmlformats.org/drawingml/2006/main">
            <a:off x="932688" y="5806440"/>
            <a:ext cx="138988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Interpret carefully</a:t>
            </a:r>
          </a:p>
        </p:txBody>
      </p:sp>
      <p:sp>
        <p:nvSpPr>
          <p:cNvPr id="7" name="TextBox 6">
            <a:extLst xmlns:a="http://schemas.openxmlformats.org/drawingml/2006/main">
              <a:ext uri="{FF2B5EF4-FFF2-40B4-BE49-F238E27FC236}">
                <a16:creationId xmlns:a16="http://schemas.microsoft.com/office/drawing/2014/main" id="{1C2DC68E-7E8D-4FDC-BFB1-795A5C6534E6}"/>
              </a:ext>
            </a:extLst>
          </p:cNvPr>
          <p:cNvSpPr>
            <a:spLocks xmlns:a="http://schemas.openxmlformats.org/drawingml/2006/main" noGrp="1"/>
          </p:cNvSpPr>
          <p:nvPr/>
        </p:nvSpPr>
        <p:spPr>
          <a:xfrm xmlns:a="http://schemas.openxmlformats.org/drawingml/2006/main">
            <a:off x="2468880" y="5751576"/>
            <a:ext cx="86319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Male ε2 has the broadest overlap in three pathways, consistent with its larger overall DEG count; overlap alone is not enrichment.</a:t>
            </a:r>
          </a:p>
        </p:txBody>
      </p:sp>
    </p:spTree>
    <p:extLst>
      <p:ext uri="{BB962C8B-B14F-4D97-AF65-F5344CB8AC3E}">
        <p14:creationId xmlns:p14="http://schemas.microsoft.com/office/powerpoint/2010/main" val="1416608774"/>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7" name="direction-formula-background">
            <a:extLst xmlns:a="http://schemas.openxmlformats.org/drawingml/2006/main">
              <a:ext uri="{FF2B5EF4-FFF2-40B4-BE49-F238E27FC236}">
                <a16:creationId xmlns:a16="http://schemas.microsoft.com/office/drawing/2014/main" id="{25ABB92D-ECD7-4CD0-8EC8-3E97BA5ECA44}"/>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 name="direction-formula-title">
            <a:extLst xmlns:a="http://schemas.openxmlformats.org/drawingml/2006/main">
              <a:ext uri="{FF2B5EF4-FFF2-40B4-BE49-F238E27FC236}">
                <a16:creationId xmlns:a16="http://schemas.microsoft.com/office/drawing/2014/main" id="{AE051D85-F47D-4AD6-893D-6C8E7D3161BE}"/>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475" b="1">
                <a:solidFill>
                  <a:srgbClr val="0F233D"/>
                </a:solidFill>
                <a:latin typeface="Arial"/>
                <a:ea typeface="Arial"/>
                <a:cs typeface="Arial"/>
              </a:defRPr>
            </a:pPr>
            <a:r>
              <a:rPr sz="2475" b="1">
                <a:solidFill>
                  <a:srgbClr val="0F233D"/>
                </a:solidFill>
                <a:latin typeface="Arial"/>
                <a:ea typeface="Arial"/>
                <a:cs typeface="Arial"/>
              </a:rPr>
              <a:t>How the OXPHOS direction percentage is calculated</a:t>
            </a:r>
          </a:p>
        </p:txBody>
      </p:sp>
      <p:sp>
        <p:nvSpPr>
          <p:cNvPr id="3" name="direction-formula-subtitle">
            <a:extLst xmlns:a="http://schemas.openxmlformats.org/drawingml/2006/main">
              <a:ext uri="{FF2B5EF4-FFF2-40B4-BE49-F238E27FC236}">
                <a16:creationId xmlns:a16="http://schemas.microsoft.com/office/drawing/2014/main" id="{28486D60-6F13-489B-8CDC-A572FA2FB822}"/>
              </a:ext>
            </a:extLst>
          </p:cNvPr>
          <p:cNvSpPr>
            <a:spLocks xmlns:a="http://schemas.openxmlformats.org/drawingml/2006/main" noGrp="1"/>
          </p:cNvSpPr>
          <p:nvPr/>
        </p:nvSpPr>
        <p:spPr>
          <a:xfrm xmlns:a="http://schemas.openxmlformats.org/drawingml/2006/main">
            <a:off x="552450" y="9239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4" name="direction-formula-surface">
            <a:extLst xmlns:a="http://schemas.openxmlformats.org/drawingml/2006/main">
              <a:ext uri="{FF2B5EF4-FFF2-40B4-BE49-F238E27FC236}">
                <a16:creationId xmlns:a16="http://schemas.microsoft.com/office/drawing/2014/main" id="{00B2A2A6-2FD4-487B-8E74-155D0BBFB263}"/>
              </a:ext>
            </a:extLst>
          </p:cNvPr>
          <p:cNvSpPr>
            <a:spLocks xmlns:a="http://schemas.openxmlformats.org/drawingml/2006/main" noGrp="1"/>
          </p:cNvSpPr>
          <p:nvPr/>
        </p:nvSpPr>
        <p:spPr>
          <a:xfrm xmlns:a="http://schemas.openxmlformats.org/drawingml/2006/main">
            <a:off x="1000125" y="1504950"/>
            <a:ext cx="10191750" cy="1885950"/>
          </a:xfrm>
          <a:prstGeom xmlns:a="http://schemas.openxmlformats.org/drawingml/2006/main" prst="roundRect">
            <a:avLst>
              <a:gd name="adj" fmla="val 8081"/>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5" name="direction-formula-label">
            <a:extLst xmlns:a="http://schemas.openxmlformats.org/drawingml/2006/main">
              <a:ext uri="{FF2B5EF4-FFF2-40B4-BE49-F238E27FC236}">
                <a16:creationId xmlns:a16="http://schemas.microsoft.com/office/drawing/2014/main" id="{1A56C8AB-0418-4085-95EC-B42427F12956}"/>
              </a:ext>
            </a:extLst>
          </p:cNvPr>
          <p:cNvSpPr>
            <a:spLocks xmlns:a="http://schemas.openxmlformats.org/drawingml/2006/main" noGrp="1"/>
          </p:cNvSpPr>
          <p:nvPr/>
        </p:nvSpPr>
        <p:spPr>
          <a:xfrm xmlns:a="http://schemas.openxmlformats.org/drawingml/2006/main">
            <a:off x="1143000" y="2133600"/>
            <a:ext cx="2933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3066"/>
          </a:bodyPr>
          <a:lstStyle xmlns:a="http://schemas.openxmlformats.org/drawingml/2006/main"/>
          <a:p xmlns:a="http://schemas.openxmlformats.org/drawingml/2006/main">
            <a:pPr algn="r">
              <a:buNone/>
              <a:defRPr sz="2100" b="1">
                <a:solidFill>
                  <a:srgbClr val="0F233D"/>
                </a:solidFill>
                <a:latin typeface="Arial"/>
                <a:ea typeface="Arial"/>
                <a:cs typeface="Arial"/>
              </a:defRPr>
            </a:pPr>
            <a:r>
              <a:rPr sz="2100" b="1">
                <a:solidFill>
                  <a:srgbClr val="0F233D"/>
                </a:solidFill>
                <a:latin typeface="Arial"/>
                <a:ea typeface="Arial"/>
                <a:cs typeface="Arial"/>
              </a:rPr>
              <a:t>Dominant direction % =</a:t>
            </a:r>
          </a:p>
        </p:txBody>
      </p:sp>
      <p:sp>
        <p:nvSpPr>
          <p:cNvPr id="6" name="direction-formula-numerator">
            <a:extLst xmlns:a="http://schemas.openxmlformats.org/drawingml/2006/main">
              <a:ext uri="{FF2B5EF4-FFF2-40B4-BE49-F238E27FC236}">
                <a16:creationId xmlns:a16="http://schemas.microsoft.com/office/drawing/2014/main" id="{8F22A7C5-55F4-4E36-9453-F5ED053F2050}"/>
              </a:ext>
            </a:extLst>
          </p:cNvPr>
          <p:cNvSpPr>
            <a:spLocks xmlns:a="http://schemas.openxmlformats.org/drawingml/2006/main" noGrp="1"/>
          </p:cNvSpPr>
          <p:nvPr/>
        </p:nvSpPr>
        <p:spPr>
          <a:xfrm xmlns:a="http://schemas.openxmlformats.org/drawingml/2006/main">
            <a:off x="4400550" y="1743075"/>
            <a:ext cx="5619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a:bodyPr>
          <a:lstStyle xmlns:a="http://schemas.openxmlformats.org/drawingml/2006/main"/>
          <a:p xmlns:a="http://schemas.openxmlformats.org/drawingml/2006/main">
            <a:pPr algn="ctr">
              <a:buNone/>
              <a:defRPr sz="1650" b="1">
                <a:solidFill>
                  <a:srgbClr val="0F233D"/>
                </a:solidFill>
                <a:latin typeface="Arial"/>
                <a:ea typeface="Arial"/>
                <a:cs typeface="Arial"/>
              </a:defRPr>
            </a:pPr>
            <a:r>
              <a:rPr sz="1650" b="1">
                <a:solidFill>
                  <a:srgbClr val="0F233D"/>
                </a:solidFill>
                <a:latin typeface="Arial"/>
                <a:ea typeface="Arial"/>
                <a:cs typeface="Arial"/>
              </a:rPr>
              <a:t>max(upregulated occurrences, downregulated occurrences)</a:t>
            </a:r>
          </a:p>
        </p:txBody>
      </p:sp>
      <p:sp>
        <p:nvSpPr>
          <p:cNvPr id="7" name="direction-formula-fraction-line">
            <a:extLst xmlns:a="http://schemas.openxmlformats.org/drawingml/2006/main">
              <a:ext uri="{FF2B5EF4-FFF2-40B4-BE49-F238E27FC236}">
                <a16:creationId xmlns:a16="http://schemas.microsoft.com/office/drawing/2014/main" id="{DCE5E515-7AA6-4088-80B7-07A00CA1A1FB}"/>
              </a:ext>
            </a:extLst>
          </p:cNvPr>
          <p:cNvSpPr>
            <a:spLocks xmlns:a="http://schemas.openxmlformats.org/drawingml/2006/main" noGrp="1"/>
          </p:cNvSpPr>
          <p:nvPr/>
        </p:nvSpPr>
        <p:spPr>
          <a:xfrm xmlns:a="http://schemas.openxmlformats.org/drawingml/2006/main">
            <a:off x="4476750" y="2400300"/>
            <a:ext cx="5476875"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txBody>
          <a:bodyPr xmlns:a="http://schemas.openxmlformats.org/drawingml/2006/main"/>
          <a:lstStyle xmlns:a="http://schemas.openxmlformats.org/drawingml/2006/main"/>
          <a:p xmlns:a="http://schemas.openxmlformats.org/drawingml/2006/main">
            <a:endParaRPr/>
          </a:p>
        </p:txBody>
      </p:sp>
      <p:sp>
        <p:nvSpPr>
          <p:cNvPr id="8" name="direction-formula-denominator">
            <a:extLst xmlns:a="http://schemas.openxmlformats.org/drawingml/2006/main">
              <a:ext uri="{FF2B5EF4-FFF2-40B4-BE49-F238E27FC236}">
                <a16:creationId xmlns:a16="http://schemas.microsoft.com/office/drawing/2014/main" id="{5F3CFBCC-997F-4F30-9D9B-DFC0C9AA67C2}"/>
              </a:ext>
            </a:extLst>
          </p:cNvPr>
          <p:cNvSpPr>
            <a:spLocks xmlns:a="http://schemas.openxmlformats.org/drawingml/2006/main" noGrp="1"/>
          </p:cNvSpPr>
          <p:nvPr/>
        </p:nvSpPr>
        <p:spPr>
          <a:xfrm xmlns:a="http://schemas.openxmlformats.org/drawingml/2006/main">
            <a:off x="4400550" y="2543175"/>
            <a:ext cx="5619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650" b="1">
                <a:solidFill>
                  <a:srgbClr val="0F233D"/>
                </a:solidFill>
                <a:latin typeface="Arial"/>
                <a:ea typeface="Arial"/>
                <a:cs typeface="Arial"/>
              </a:defRPr>
            </a:pPr>
            <a:r>
              <a:rPr sz="1650" b="1">
                <a:solidFill>
                  <a:srgbClr val="0F233D"/>
                </a:solidFill>
                <a:latin typeface="Arial"/>
                <a:ea typeface="Arial"/>
                <a:cs typeface="Arial"/>
              </a:rPr>
              <a:t>upregulated occurrences + downregulated occurrences</a:t>
            </a:r>
          </a:p>
        </p:txBody>
      </p:sp>
      <p:sp>
        <p:nvSpPr>
          <p:cNvPr id="9" name="direction-formula-times-100">
            <a:extLst xmlns:a="http://schemas.openxmlformats.org/drawingml/2006/main">
              <a:ext uri="{FF2B5EF4-FFF2-40B4-BE49-F238E27FC236}">
                <a16:creationId xmlns:a16="http://schemas.microsoft.com/office/drawing/2014/main" id="{EB01F018-37C2-4C63-864D-CDA16EA5A332}"/>
              </a:ext>
            </a:extLst>
          </p:cNvPr>
          <p:cNvSpPr>
            <a:spLocks xmlns:a="http://schemas.openxmlformats.org/drawingml/2006/main" noGrp="1"/>
          </p:cNvSpPr>
          <p:nvPr/>
        </p:nvSpPr>
        <p:spPr>
          <a:xfrm xmlns:a="http://schemas.openxmlformats.org/drawingml/2006/main">
            <a:off x="10134600" y="2133600"/>
            <a:ext cx="9144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10" name="direction-occurrence-definition">
            <a:extLst xmlns:a="http://schemas.openxmlformats.org/drawingml/2006/main">
              <a:ext uri="{FF2B5EF4-FFF2-40B4-BE49-F238E27FC236}">
                <a16:creationId xmlns:a16="http://schemas.microsoft.com/office/drawing/2014/main" id="{8C0FA3DB-02A9-46F2-AB6C-6C0BC5F3494B}"/>
              </a:ext>
            </a:extLst>
          </p:cNvPr>
          <p:cNvSpPr>
            <a:spLocks xmlns:a="http://schemas.openxmlformats.org/drawingml/2006/main" noGrp="1"/>
          </p:cNvSpPr>
          <p:nvPr/>
        </p:nvSpPr>
        <p:spPr>
          <a:xfrm xmlns:a="http://schemas.openxmlformats.org/drawingml/2006/main">
            <a:off x="1143000" y="3600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11" name="direction-example-surface">
            <a:extLst xmlns:a="http://schemas.openxmlformats.org/drawingml/2006/main">
              <a:ext uri="{FF2B5EF4-FFF2-40B4-BE49-F238E27FC236}">
                <a16:creationId xmlns:a16="http://schemas.microsoft.com/office/drawing/2014/main" id="{4A4B1164-3B13-455C-A204-DC47BE324F4E}"/>
              </a:ext>
            </a:extLst>
          </p:cNvPr>
          <p:cNvSpPr>
            <a:spLocks xmlns:a="http://schemas.openxmlformats.org/drawingml/2006/main" noGrp="1"/>
          </p:cNvSpPr>
          <p:nvPr/>
        </p:nvSpPr>
        <p:spPr>
          <a:xfrm xmlns:a="http://schemas.openxmlformats.org/drawingml/2006/main">
            <a:off x="1524000" y="4229100"/>
            <a:ext cx="9144000" cy="1238250"/>
          </a:xfrm>
          <a:prstGeom xmlns:a="http://schemas.openxmlformats.org/drawingml/2006/main" prst="roundRect">
            <a:avLst>
              <a:gd name="adj" fmla="val 12308"/>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txBody>
          <a:bodyPr xmlns:a="http://schemas.openxmlformats.org/drawingml/2006/main"/>
          <a:lstStyle xmlns:a="http://schemas.openxmlformats.org/drawingml/2006/main"/>
          <a:p xmlns:a="http://schemas.openxmlformats.org/drawingml/2006/main">
            <a:endParaRPr/>
          </a:p>
        </p:txBody>
      </p:sp>
      <p:sp>
        <p:nvSpPr>
          <p:cNvPr id="12" name="direction-example-label">
            <a:extLst xmlns:a="http://schemas.openxmlformats.org/drawingml/2006/main">
              <a:ext uri="{FF2B5EF4-FFF2-40B4-BE49-F238E27FC236}">
                <a16:creationId xmlns:a16="http://schemas.microsoft.com/office/drawing/2014/main" id="{DD39F9E9-7D49-4BD8-AC6E-644ABF159B48}"/>
              </a:ext>
            </a:extLst>
          </p:cNvPr>
          <p:cNvSpPr>
            <a:spLocks xmlns:a="http://schemas.openxmlformats.org/drawingml/2006/main" noGrp="1"/>
          </p:cNvSpPr>
          <p:nvPr/>
        </p:nvSpPr>
        <p:spPr>
          <a:xfrm xmlns:a="http://schemas.openxmlformats.org/drawingml/2006/main">
            <a:off x="1952625" y="4429125"/>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pPr algn="ctr">
              <a:buNone/>
              <a:defRPr sz="1350" b="1">
                <a:solidFill>
                  <a:srgbClr val="00684D"/>
                </a:solidFill>
                <a:latin typeface="Arial"/>
                <a:ea typeface="Arial"/>
                <a:cs typeface="Arial"/>
              </a:defRPr>
            </a:pPr>
            <a:r>
              <a:rPr sz="1350" b="1">
                <a:solidFill>
                  <a:srgbClr val="00684D"/>
                </a:solidFill>
                <a:latin typeface="Arial"/>
                <a:ea typeface="Arial"/>
                <a:cs typeface="Arial"/>
              </a:rPr>
              <a:t>Example: male ε3/ε3, mtDNA-encoded OXPHOS</a:t>
            </a:r>
          </a:p>
        </p:txBody>
      </p:sp>
      <p:sp>
        <p:nvSpPr>
          <p:cNvPr id="13" name="direction-example-calculation">
            <a:extLst xmlns:a="http://schemas.openxmlformats.org/drawingml/2006/main">
              <a:ext uri="{FF2B5EF4-FFF2-40B4-BE49-F238E27FC236}">
                <a16:creationId xmlns:a16="http://schemas.microsoft.com/office/drawing/2014/main" id="{33B5E7EC-043A-49BC-A2B4-06D42CCAEA44}"/>
              </a:ext>
            </a:extLst>
          </p:cNvPr>
          <p:cNvSpPr>
            <a:spLocks xmlns:a="http://schemas.openxmlformats.org/drawingml/2006/main" noGrp="1"/>
          </p:cNvSpPr>
          <p:nvPr/>
        </p:nvSpPr>
        <p:spPr>
          <a:xfrm xmlns:a="http://schemas.openxmlformats.org/drawingml/2006/main">
            <a:off x="1952625" y="48387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ctr">
              <a:buNone/>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14" name="direction-reading-surface">
            <a:extLst xmlns:a="http://schemas.openxmlformats.org/drawingml/2006/main">
              <a:ext uri="{FF2B5EF4-FFF2-40B4-BE49-F238E27FC236}">
                <a16:creationId xmlns:a16="http://schemas.microsoft.com/office/drawing/2014/main" id="{DE281373-4DE5-4682-A3E3-9B19408BAB52}"/>
              </a:ext>
            </a:extLst>
          </p:cNvPr>
          <p:cNvSpPr>
            <a:spLocks xmlns:a="http://schemas.openxmlformats.org/drawingml/2006/main" noGrp="1"/>
          </p:cNvSpPr>
          <p:nvPr/>
        </p:nvSpPr>
        <p:spPr>
          <a:xfrm xmlns:a="http://schemas.openxmlformats.org/drawingml/2006/main">
            <a:off x="1000125" y="5791200"/>
            <a:ext cx="10191750" cy="590550"/>
          </a:xfrm>
          <a:prstGeom xmlns:a="http://schemas.openxmlformats.org/drawingml/2006/main" prst="roundRect">
            <a:avLst>
              <a:gd name="adj" fmla="val 19355"/>
            </a:avLst>
          </a:prstGeom>
          <a:solidFill xmlns:a="http://schemas.openxmlformats.org/drawingml/2006/main">
            <a:srgbClr val="F1F4F7"/>
          </a:solidFill>
          <a:ln xmlns:a="http://schemas.openxmlformats.org/drawingml/2006/main" w="9525">
            <a:solidFill>
              <a:srgbClr val="D8E2EC"/>
            </a:solidFill>
            <a:prstDash val="solid"/>
          </a:ln>
        </p:spPr>
        <p:txBody>
          <a:bodyPr xmlns:a="http://schemas.openxmlformats.org/drawingml/2006/main"/>
          <a:lstStyle xmlns:a="http://schemas.openxmlformats.org/drawingml/2006/main"/>
          <a:p xmlns:a="http://schemas.openxmlformats.org/drawingml/2006/main">
            <a:endParaRPr/>
          </a:p>
        </p:txBody>
      </p:sp>
      <p:sp>
        <p:nvSpPr>
          <p:cNvPr id="15" name="direction-reading-label">
            <a:extLst xmlns:a="http://schemas.openxmlformats.org/drawingml/2006/main">
              <a:ext uri="{FF2B5EF4-FFF2-40B4-BE49-F238E27FC236}">
                <a16:creationId xmlns:a16="http://schemas.microsoft.com/office/drawing/2014/main" id="{DE4F20A9-5D22-492D-8F29-00AF265C1FE6}"/>
              </a:ext>
            </a:extLst>
          </p:cNvPr>
          <p:cNvSpPr>
            <a:spLocks xmlns:a="http://schemas.openxmlformats.org/drawingml/2006/main" noGrp="1"/>
          </p:cNvSpPr>
          <p:nvPr/>
        </p:nvSpPr>
        <p:spPr>
          <a:xfrm xmlns:a="http://schemas.openxmlformats.org/drawingml/2006/main">
            <a:off x="1276350" y="5953125"/>
            <a:ext cx="1666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a:bodyPr>
          <a:lstStyle xmlns:a="http://schemas.openxmlformats.org/drawingml/2006/main"/>
          <a:p xmlns:a="http://schemas.openxmlformats.org/drawingml/2006/main">
            <a:pPr algn="l">
              <a:buNone/>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16" name="direction-reading-text">
            <a:extLst xmlns:a="http://schemas.openxmlformats.org/drawingml/2006/main">
              <a:ext uri="{FF2B5EF4-FFF2-40B4-BE49-F238E27FC236}">
                <a16:creationId xmlns:a16="http://schemas.microsoft.com/office/drawing/2014/main" id="{191E78E3-6505-4ACF-BE68-F0D5576FD62F}"/>
              </a:ext>
            </a:extLst>
          </p:cNvPr>
          <p:cNvSpPr>
            <a:spLocks xmlns:a="http://schemas.openxmlformats.org/drawingml/2006/main" noGrp="1"/>
          </p:cNvSpPr>
          <p:nvPr/>
        </p:nvSpPr>
        <p:spPr>
          <a:xfrm xmlns:a="http://schemas.openxmlformats.org/drawingml/2006/main">
            <a:off x="3000375" y="5915025"/>
            <a:ext cx="790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879"/>
          </a:bodyPr>
          <a:lstStyle xmlns:a="http://schemas.openxmlformats.org/drawingml/2006/main"/>
          <a:p xmlns:a="http://schemas.openxmlformats.org/drawingml/2006/main">
            <a:pPr algn="l">
              <a:buNone/>
              <a:defRPr sz="1275" b="0">
                <a:solidFill>
                  <a:srgbClr val="1F2730"/>
                </a:solidFill>
                <a:latin typeface="Arial"/>
                <a:ea typeface="Arial"/>
                <a:cs typeface="Arial"/>
              </a:defRPr>
            </a:pPr>
            <a:r>
              <a:rPr sz="1275" b="0">
                <a:solidFill>
                  <a:srgbClr val="1F2730"/>
                </a:solidFill>
                <a:latin typeface="Arial"/>
                <a:ea typeface="Arial"/>
                <a:cs typeface="Arial"/>
              </a:rPr>
              <a:t>Positive bars mean upregulated is dominant. Negative bars mean downregulated is dominant. Color identifies the gene set.</a:t>
            </a:r>
          </a:p>
        </p:txBody>
      </p:sp>
      <p:sp>
        <p:nvSpPr>
          <p:cNvPr id="18" name="up-share-formula-background">
            <a:extLst xmlns:a="http://schemas.openxmlformats.org/drawingml/2006/main">
              <a:ext uri="{FF2B5EF4-FFF2-40B4-BE49-F238E27FC236}">
                <a16:creationId xmlns:a16="http://schemas.microsoft.com/office/drawing/2014/main" id="{D2ED8626-1F9D-4E36-BAE4-63F077D61FF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19" name="up-share-formula-title">
            <a:extLst xmlns:a="http://schemas.openxmlformats.org/drawingml/2006/main">
              <a:ext uri="{FF2B5EF4-FFF2-40B4-BE49-F238E27FC236}">
                <a16:creationId xmlns:a16="http://schemas.microsoft.com/office/drawing/2014/main" id="{8E5F143E-6305-4B38-9005-7657993A5D63}"/>
              </a:ext>
            </a:extLst>
          </p:cNvPr>
          <p:cNvSpPr>
            <a:spLocks xmlns:a="http://schemas.openxmlformats.org/drawingml/2006/main" noGrp="1"/>
          </p:cNvSpPr>
          <p:nvPr/>
        </p:nvSpPr>
        <p:spPr>
          <a:xfrm xmlns:a="http://schemas.openxmlformats.org/drawingml/2006/main">
            <a:off x="533400" y="409575"/>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475" b="1">
                <a:solidFill>
                  <a:srgbClr val="0F233D"/>
                </a:solidFill>
                <a:latin typeface="Arial"/>
                <a:ea typeface="Arial"/>
                <a:cs typeface="Arial"/>
              </a:defRPr>
            </a:pPr>
            <a:r>
              <a:rPr sz="2475" b="1">
                <a:solidFill>
                  <a:srgbClr val="0F233D"/>
                </a:solidFill>
                <a:latin typeface="Arial"/>
                <a:ea typeface="Arial"/>
                <a:cs typeface="Arial"/>
              </a:rPr>
              <a:t>How the upregulated occurrence percentage is calculated</a:t>
            </a:r>
          </a:p>
        </p:txBody>
      </p:sp>
      <p:sp>
        <p:nvSpPr>
          <p:cNvPr id="20" name="up-share-formula-subtitle">
            <a:extLst xmlns:a="http://schemas.openxmlformats.org/drawingml/2006/main">
              <a:ext uri="{FF2B5EF4-FFF2-40B4-BE49-F238E27FC236}">
                <a16:creationId xmlns:a16="http://schemas.microsoft.com/office/drawing/2014/main" id="{61AEDA80-AEB4-486A-971C-54131334840B}"/>
              </a:ext>
            </a:extLst>
          </p:cNvPr>
          <p:cNvSpPr>
            <a:spLocks xmlns:a="http://schemas.openxmlformats.org/drawingml/2006/main" noGrp="1"/>
          </p:cNvSpPr>
          <p:nvPr/>
        </p:nvSpPr>
        <p:spPr>
          <a:xfrm xmlns:a="http://schemas.openxmlformats.org/drawingml/2006/main">
            <a:off x="552450" y="923925"/>
            <a:ext cx="1057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4E5A68"/>
                </a:solidFill>
                <a:latin typeface="Arial"/>
                <a:ea typeface="Arial"/>
                <a:cs typeface="Arial"/>
              </a:defRPr>
            </a:pPr>
            <a:r>
              <a:rPr sz="1500" b="0">
                <a:solidFill>
                  <a:srgbClr val="4E5A68"/>
                </a:solidFill>
                <a:latin typeface="Arial"/>
                <a:ea typeface="Arial"/>
                <a:cs typeface="Arial"/>
              </a:rPr>
              <a:t>Calculated separately for each sex/APOE group and each OXPHOS gene set.</a:t>
            </a:r>
          </a:p>
        </p:txBody>
      </p:sp>
      <p:sp>
        <p:nvSpPr>
          <p:cNvPr id="21" name="up-share-formula-surface">
            <a:extLst xmlns:a="http://schemas.openxmlformats.org/drawingml/2006/main">
              <a:ext uri="{FF2B5EF4-FFF2-40B4-BE49-F238E27FC236}">
                <a16:creationId xmlns:a16="http://schemas.microsoft.com/office/drawing/2014/main" id="{0443B4DA-9127-470C-A1D0-05F3D4CB57A4}"/>
              </a:ext>
            </a:extLst>
          </p:cNvPr>
          <p:cNvSpPr>
            <a:spLocks xmlns:a="http://schemas.openxmlformats.org/drawingml/2006/main" noGrp="1"/>
          </p:cNvSpPr>
          <p:nvPr/>
        </p:nvSpPr>
        <p:spPr>
          <a:xfrm xmlns:a="http://schemas.openxmlformats.org/drawingml/2006/main">
            <a:off x="1000125" y="1504950"/>
            <a:ext cx="10191750" cy="1885950"/>
          </a:xfrm>
          <a:prstGeom xmlns:a="http://schemas.openxmlformats.org/drawingml/2006/main" prst="roundRect">
            <a:avLst>
              <a:gd name="adj" fmla="val 8081"/>
            </a:avLst>
          </a:prstGeom>
          <a:solidFill xmlns:a="http://schemas.openxmlformats.org/drawingml/2006/main">
            <a:srgbClr val="EBF7FC"/>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up-share-formula-label">
            <a:extLst xmlns:a="http://schemas.openxmlformats.org/drawingml/2006/main">
              <a:ext uri="{FF2B5EF4-FFF2-40B4-BE49-F238E27FC236}">
                <a16:creationId xmlns:a16="http://schemas.microsoft.com/office/drawing/2014/main" id="{1688DF3F-06AF-453B-BD4A-9353CDFF1B13}"/>
              </a:ext>
            </a:extLst>
          </p:cNvPr>
          <p:cNvSpPr>
            <a:spLocks xmlns:a="http://schemas.openxmlformats.org/drawingml/2006/main" noGrp="1"/>
          </p:cNvSpPr>
          <p:nvPr/>
        </p:nvSpPr>
        <p:spPr>
          <a:xfrm xmlns:a="http://schemas.openxmlformats.org/drawingml/2006/main">
            <a:off x="1143000" y="2133600"/>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1875" b="1">
                <a:solidFill>
                  <a:srgbClr val="0F233D"/>
                </a:solidFill>
                <a:latin typeface="Arial"/>
                <a:ea typeface="Arial"/>
                <a:cs typeface="Arial"/>
              </a:defRPr>
            </a:pPr>
            <a:r>
              <a:rPr sz="1875" b="1">
                <a:solidFill>
                  <a:srgbClr val="0F233D"/>
                </a:solidFill>
                <a:latin typeface="Arial"/>
                <a:ea typeface="Arial"/>
                <a:cs typeface="Arial"/>
              </a:rPr>
              <a:t>Upregulated occurrence % =</a:t>
            </a:r>
          </a:p>
        </p:txBody>
      </p:sp>
      <p:sp>
        <p:nvSpPr>
          <p:cNvPr id="23" name="up-share-formula-numerator">
            <a:extLst xmlns:a="http://schemas.openxmlformats.org/drawingml/2006/main">
              <a:ext uri="{FF2B5EF4-FFF2-40B4-BE49-F238E27FC236}">
                <a16:creationId xmlns:a16="http://schemas.microsoft.com/office/drawing/2014/main" id="{2F35C907-F14B-40C4-88D4-4430E70999A9}"/>
              </a:ext>
            </a:extLst>
          </p:cNvPr>
          <p:cNvSpPr>
            <a:spLocks xmlns:a="http://schemas.openxmlformats.org/drawingml/2006/main" noGrp="1"/>
          </p:cNvSpPr>
          <p:nvPr/>
        </p:nvSpPr>
        <p:spPr>
          <a:xfrm xmlns:a="http://schemas.openxmlformats.org/drawingml/2006/main">
            <a:off x="4762500" y="1790700"/>
            <a:ext cx="4762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b">
            <a:normAutofit fontScale="100000"/>
          </a:bodyPr>
          <a:lstStyle xmlns:a="http://schemas.openxmlformats.org/drawingml/2006/main"/>
          <a:p xmlns:a="http://schemas.openxmlformats.org/drawingml/2006/main">
            <a:pPr algn="ctr">
              <a:defRPr sz="1725" b="1">
                <a:solidFill>
                  <a:srgbClr val="0F233D"/>
                </a:solidFill>
                <a:latin typeface="Arial"/>
                <a:ea typeface="Arial"/>
                <a:cs typeface="Arial"/>
              </a:defRPr>
            </a:pPr>
            <a:r>
              <a:rPr sz="1725" b="1">
                <a:solidFill>
                  <a:srgbClr val="0F233D"/>
                </a:solidFill>
                <a:latin typeface="Arial"/>
                <a:ea typeface="Arial"/>
                <a:cs typeface="Arial"/>
              </a:rPr>
              <a:t>upregulated occurrences</a:t>
            </a:r>
          </a:p>
        </p:txBody>
      </p:sp>
      <p:sp>
        <p:nvSpPr>
          <p:cNvPr id="24" name="up-share-formula-fraction-line">
            <a:extLst xmlns:a="http://schemas.openxmlformats.org/drawingml/2006/main">
              <a:ext uri="{FF2B5EF4-FFF2-40B4-BE49-F238E27FC236}">
                <a16:creationId xmlns:a16="http://schemas.microsoft.com/office/drawing/2014/main" id="{A95E5007-62D8-416B-86F0-D2DE235D5B28}"/>
              </a:ext>
            </a:extLst>
          </p:cNvPr>
          <p:cNvSpPr>
            <a:spLocks xmlns:a="http://schemas.openxmlformats.org/drawingml/2006/main" noGrp="1"/>
          </p:cNvSpPr>
          <p:nvPr/>
        </p:nvSpPr>
        <p:spPr>
          <a:xfrm xmlns:a="http://schemas.openxmlformats.org/drawingml/2006/main">
            <a:off x="4619625" y="2400300"/>
            <a:ext cx="5048250" cy="0"/>
          </a:xfrm>
          <a:prstGeom xmlns:a="http://schemas.openxmlformats.org/drawingml/2006/main" prst="line">
            <a:avLst/>
          </a:prstGeom>
          <a:noFill xmlns:a="http://schemas.openxmlformats.org/drawingml/2006/main"/>
          <a:ln xmlns:a="http://schemas.openxmlformats.org/drawingml/2006/main" w="23813">
            <a:solidFill>
              <a:srgbClr val="0F233D"/>
            </a:solidFill>
            <a:prstDash val="solid"/>
          </a:ln>
        </p:spPr>
      </p:sp>
      <p:sp>
        <p:nvSpPr>
          <p:cNvPr id="25" name="up-share-formula-denominator">
            <a:extLst xmlns:a="http://schemas.openxmlformats.org/drawingml/2006/main">
              <a:ext uri="{FF2B5EF4-FFF2-40B4-BE49-F238E27FC236}">
                <a16:creationId xmlns:a16="http://schemas.microsoft.com/office/drawing/2014/main" id="{ED116C25-3046-449D-80B2-0EDADE14B683}"/>
              </a:ext>
            </a:extLst>
          </p:cNvPr>
          <p:cNvSpPr>
            <a:spLocks xmlns:a="http://schemas.openxmlformats.org/drawingml/2006/main" noGrp="1"/>
          </p:cNvSpPr>
          <p:nvPr/>
        </p:nvSpPr>
        <p:spPr>
          <a:xfrm xmlns:a="http://schemas.openxmlformats.org/drawingml/2006/main">
            <a:off x="4524375" y="2543175"/>
            <a:ext cx="523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9217"/>
          </a:bodyPr>
          <a:lstStyle xmlns:a="http://schemas.openxmlformats.org/drawingml/2006/main"/>
          <a:p xmlns:a="http://schemas.openxmlformats.org/drawingml/2006/main">
            <a:pPr algn="ctr">
              <a:defRPr sz="1575" b="1">
                <a:solidFill>
                  <a:srgbClr val="0F233D"/>
                </a:solidFill>
                <a:latin typeface="Arial"/>
                <a:ea typeface="Arial"/>
                <a:cs typeface="Arial"/>
              </a:defRPr>
            </a:pPr>
            <a:r>
              <a:rPr sz="1575" b="1">
                <a:solidFill>
                  <a:srgbClr val="0F233D"/>
                </a:solidFill>
                <a:latin typeface="Arial"/>
                <a:ea typeface="Arial"/>
                <a:cs typeface="Arial"/>
              </a:rPr>
              <a:t>upregulated occurrences + downregulated occurrences</a:t>
            </a:r>
          </a:p>
        </p:txBody>
      </p:sp>
      <p:sp>
        <p:nvSpPr>
          <p:cNvPr id="26" name="up-share-formula-times-100">
            <a:extLst xmlns:a="http://schemas.openxmlformats.org/drawingml/2006/main">
              <a:ext uri="{FF2B5EF4-FFF2-40B4-BE49-F238E27FC236}">
                <a16:creationId xmlns:a16="http://schemas.microsoft.com/office/drawing/2014/main" id="{90AA0374-C8CA-40E5-9B4A-D01802E9E008}"/>
              </a:ext>
            </a:extLst>
          </p:cNvPr>
          <p:cNvSpPr>
            <a:spLocks xmlns:a="http://schemas.openxmlformats.org/drawingml/2006/main" noGrp="1"/>
          </p:cNvSpPr>
          <p:nvPr/>
        </p:nvSpPr>
        <p:spPr>
          <a:xfrm xmlns:a="http://schemas.openxmlformats.org/drawingml/2006/main">
            <a:off x="9906000" y="2133600"/>
            <a:ext cx="95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100" b="1">
                <a:solidFill>
                  <a:srgbClr val="0F233D"/>
                </a:solidFill>
                <a:latin typeface="Arial"/>
                <a:ea typeface="Arial"/>
                <a:cs typeface="Arial"/>
              </a:defRPr>
            </a:pPr>
            <a:r>
              <a:rPr sz="2100" b="1">
                <a:solidFill>
                  <a:srgbClr val="0F233D"/>
                </a:solidFill>
                <a:latin typeface="Arial"/>
                <a:ea typeface="Arial"/>
                <a:cs typeface="Arial"/>
              </a:rPr>
              <a:t>× 100</a:t>
            </a:r>
          </a:p>
        </p:txBody>
      </p:sp>
      <p:sp>
        <p:nvSpPr>
          <p:cNvPr id="27" name="up-share-occurrence-definition">
            <a:extLst xmlns:a="http://schemas.openxmlformats.org/drawingml/2006/main">
              <a:ext uri="{FF2B5EF4-FFF2-40B4-BE49-F238E27FC236}">
                <a16:creationId xmlns:a16="http://schemas.microsoft.com/office/drawing/2014/main" id="{1A6CE354-8C72-486A-828A-0EBE27A94B79}"/>
              </a:ext>
            </a:extLst>
          </p:cNvPr>
          <p:cNvSpPr>
            <a:spLocks xmlns:a="http://schemas.openxmlformats.org/drawingml/2006/main" noGrp="1"/>
          </p:cNvSpPr>
          <p:nvPr/>
        </p:nvSpPr>
        <p:spPr>
          <a:xfrm xmlns:a="http://schemas.openxmlformats.org/drawingml/2006/main">
            <a:off x="1143000" y="3600450"/>
            <a:ext cx="990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350" b="0">
                <a:solidFill>
                  <a:srgbClr val="4E5A68"/>
                </a:solidFill>
                <a:latin typeface="Arial"/>
                <a:ea typeface="Arial"/>
                <a:cs typeface="Arial"/>
              </a:defRPr>
            </a:pPr>
            <a:r>
              <a:rPr sz="1350" b="0">
                <a:solidFill>
                  <a:srgbClr val="4E5A68"/>
                </a:solidFill>
                <a:latin typeface="Arial"/>
                <a:ea typeface="Arial"/>
                <a:cs typeface="Arial"/>
              </a:rPr>
              <a:t>1 occurrence = 1 significant pathway gene in 1 fine-cell comparison. The same gene may count again in another fine cell type.</a:t>
            </a:r>
          </a:p>
        </p:txBody>
      </p:sp>
      <p:sp>
        <p:nvSpPr>
          <p:cNvPr id="28" name="up-share-example-surface">
            <a:extLst xmlns:a="http://schemas.openxmlformats.org/drawingml/2006/main">
              <a:ext uri="{FF2B5EF4-FFF2-40B4-BE49-F238E27FC236}">
                <a16:creationId xmlns:a16="http://schemas.microsoft.com/office/drawing/2014/main" id="{E7A883B5-E2EA-4CAA-ACF6-8ACD938659A8}"/>
              </a:ext>
            </a:extLst>
          </p:cNvPr>
          <p:cNvSpPr>
            <a:spLocks xmlns:a="http://schemas.openxmlformats.org/drawingml/2006/main" noGrp="1"/>
          </p:cNvSpPr>
          <p:nvPr/>
        </p:nvSpPr>
        <p:spPr>
          <a:xfrm xmlns:a="http://schemas.openxmlformats.org/drawingml/2006/main">
            <a:off x="1524000" y="4229100"/>
            <a:ext cx="9144000" cy="1238250"/>
          </a:xfrm>
          <a:prstGeom xmlns:a="http://schemas.openxmlformats.org/drawingml/2006/main" prst="roundRect">
            <a:avLst>
              <a:gd name="adj" fmla="val 12308"/>
            </a:avLst>
          </a:prstGeom>
          <a:solidFill xmlns:a="http://schemas.openxmlformats.org/drawingml/2006/main">
            <a:srgbClr val="E4F4EE"/>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9" name="up-share-example-label">
            <a:extLst xmlns:a="http://schemas.openxmlformats.org/drawingml/2006/main">
              <a:ext uri="{FF2B5EF4-FFF2-40B4-BE49-F238E27FC236}">
                <a16:creationId xmlns:a16="http://schemas.microsoft.com/office/drawing/2014/main" id="{000ADEC4-160C-4935-8190-C81488BAB034}"/>
              </a:ext>
            </a:extLst>
          </p:cNvPr>
          <p:cNvSpPr>
            <a:spLocks xmlns:a="http://schemas.openxmlformats.org/drawingml/2006/main" noGrp="1"/>
          </p:cNvSpPr>
          <p:nvPr/>
        </p:nvSpPr>
        <p:spPr>
          <a:xfrm xmlns:a="http://schemas.openxmlformats.org/drawingml/2006/main">
            <a:off x="1952625" y="4429125"/>
            <a:ext cx="8286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350" b="1">
                <a:solidFill>
                  <a:srgbClr val="00684D"/>
                </a:solidFill>
                <a:latin typeface="Arial"/>
                <a:ea typeface="Arial"/>
                <a:cs typeface="Arial"/>
              </a:defRPr>
            </a:pPr>
            <a:r>
              <a:rPr sz="1350" b="1">
                <a:solidFill>
                  <a:srgbClr val="00684D"/>
                </a:solidFill>
                <a:latin typeface="Arial"/>
                <a:ea typeface="Arial"/>
                <a:cs typeface="Arial"/>
              </a:rPr>
              <a:t>Example: male ε3/ε3, mtDNA-encoded OXPHOS</a:t>
            </a:r>
          </a:p>
        </p:txBody>
      </p:sp>
      <p:sp>
        <p:nvSpPr>
          <p:cNvPr id="30" name="up-share-example-calculation">
            <a:extLst xmlns:a="http://schemas.openxmlformats.org/drawingml/2006/main">
              <a:ext uri="{FF2B5EF4-FFF2-40B4-BE49-F238E27FC236}">
                <a16:creationId xmlns:a16="http://schemas.microsoft.com/office/drawing/2014/main" id="{178F17E4-AD5A-4864-A4D6-0543141C8923}"/>
              </a:ext>
            </a:extLst>
          </p:cNvPr>
          <p:cNvSpPr>
            <a:spLocks xmlns:a="http://schemas.openxmlformats.org/drawingml/2006/main" noGrp="1"/>
          </p:cNvSpPr>
          <p:nvPr/>
        </p:nvSpPr>
        <p:spPr>
          <a:xfrm xmlns:a="http://schemas.openxmlformats.org/drawingml/2006/main">
            <a:off x="1952625" y="48387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950" b="1">
                <a:solidFill>
                  <a:srgbClr val="0F233D"/>
                </a:solidFill>
                <a:latin typeface="Arial"/>
                <a:ea typeface="Arial"/>
                <a:cs typeface="Arial"/>
              </a:defRPr>
            </a:pPr>
            <a:r>
              <a:rPr sz="1950" b="1">
                <a:solidFill>
                  <a:srgbClr val="0F233D"/>
                </a:solidFill>
                <a:latin typeface="Arial"/>
                <a:ea typeface="Arial"/>
                <a:cs typeface="Arial"/>
              </a:rPr>
              <a:t>70 up ÷ (70 up + 11 down) × 100 = 86% upregulated</a:t>
            </a:r>
          </a:p>
        </p:txBody>
      </p:sp>
      <p:sp>
        <p:nvSpPr>
          <p:cNvPr id="31" name="up-share-reading-surface">
            <a:extLst xmlns:a="http://schemas.openxmlformats.org/drawingml/2006/main">
              <a:ext uri="{FF2B5EF4-FFF2-40B4-BE49-F238E27FC236}">
                <a16:creationId xmlns:a16="http://schemas.microsoft.com/office/drawing/2014/main" id="{0C3AE05E-6042-4D00-84A3-548A07C992B0}"/>
              </a:ext>
            </a:extLst>
          </p:cNvPr>
          <p:cNvSpPr>
            <a:spLocks xmlns:a="http://schemas.openxmlformats.org/drawingml/2006/main" noGrp="1"/>
          </p:cNvSpPr>
          <p:nvPr/>
        </p:nvSpPr>
        <p:spPr>
          <a:xfrm xmlns:a="http://schemas.openxmlformats.org/drawingml/2006/main">
            <a:off x="1000125" y="5791200"/>
            <a:ext cx="10191750" cy="590550"/>
          </a:xfrm>
          <a:prstGeom xmlns:a="http://schemas.openxmlformats.org/drawingml/2006/main" prst="roundRect">
            <a:avLst>
              <a:gd name="adj" fmla="val 19355"/>
            </a:avLst>
          </a:prstGeom>
          <a:solidFill xmlns:a="http://schemas.openxmlformats.org/drawingml/2006/main">
            <a:srgbClr val="F1F4F7"/>
          </a:solidFill>
          <a:ln xmlns:a="http://schemas.openxmlformats.org/drawingml/2006/main" w="9525">
            <a:solidFill>
              <a:srgbClr val="D8E2EC"/>
            </a:solidFill>
            <a:prstDash val="solid"/>
          </a:ln>
        </p:spPr>
      </p:sp>
      <p:sp>
        <p:nvSpPr>
          <p:cNvPr id="32" name="up-share-reading-label">
            <a:extLst xmlns:a="http://schemas.openxmlformats.org/drawingml/2006/main">
              <a:ext uri="{FF2B5EF4-FFF2-40B4-BE49-F238E27FC236}">
                <a16:creationId xmlns:a16="http://schemas.microsoft.com/office/drawing/2014/main" id="{AD424F90-92D4-473C-A03F-F2FC6E453976}"/>
              </a:ext>
            </a:extLst>
          </p:cNvPr>
          <p:cNvSpPr>
            <a:spLocks xmlns:a="http://schemas.openxmlformats.org/drawingml/2006/main" noGrp="1"/>
          </p:cNvSpPr>
          <p:nvPr/>
        </p:nvSpPr>
        <p:spPr>
          <a:xfrm xmlns:a="http://schemas.openxmlformats.org/drawingml/2006/main">
            <a:off x="1276350" y="5953125"/>
            <a:ext cx="1666875"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7E4C9A"/>
                </a:solidFill>
                <a:latin typeface="Arial"/>
                <a:ea typeface="Arial"/>
                <a:cs typeface="Arial"/>
              </a:defRPr>
            </a:pPr>
            <a:r>
              <a:rPr sz="1200" b="1">
                <a:solidFill>
                  <a:srgbClr val="7E4C9A"/>
                </a:solidFill>
                <a:latin typeface="Arial"/>
                <a:ea typeface="Arial"/>
                <a:cs typeface="Arial"/>
              </a:rPr>
              <a:t>Reading the chart</a:t>
            </a:r>
          </a:p>
        </p:txBody>
      </p:sp>
      <p:sp>
        <p:nvSpPr>
          <p:cNvPr id="33" name="up-share-reading-text">
            <a:extLst xmlns:a="http://schemas.openxmlformats.org/drawingml/2006/main">
              <a:ext uri="{FF2B5EF4-FFF2-40B4-BE49-F238E27FC236}">
                <a16:creationId xmlns:a16="http://schemas.microsoft.com/office/drawing/2014/main" id="{1E657A0D-8437-4DBF-8A41-D78543DB84CE}"/>
              </a:ext>
            </a:extLst>
          </p:cNvPr>
          <p:cNvSpPr>
            <a:spLocks xmlns:a="http://schemas.openxmlformats.org/drawingml/2006/main" noGrp="1"/>
          </p:cNvSpPr>
          <p:nvPr/>
        </p:nvSpPr>
        <p:spPr>
          <a:xfrm xmlns:a="http://schemas.openxmlformats.org/drawingml/2006/main">
            <a:off x="3000375" y="5876925"/>
            <a:ext cx="7905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0">
                <a:solidFill>
                  <a:srgbClr val="1F2730"/>
                </a:solidFill>
                <a:latin typeface="Arial"/>
                <a:ea typeface="Arial"/>
                <a:cs typeface="Arial"/>
              </a:defRPr>
            </a:pPr>
            <a:r>
              <a:rPr sz="1200" b="0">
                <a:solidFill>
                  <a:srgbClr val="1F2730"/>
                </a:solidFill>
                <a:latin typeface="Arial"/>
                <a:ea typeface="Arial"/>
                <a:cs typeface="Arial"/>
              </a:rPr>
              <a:t>50% means equal upregulated and downregulated occurrences. Above 50% favors upregulation; below 50% favors downregulation.</a:t>
            </a:r>
          </a:p>
        </p:txBody>
      </p:sp>
    </p:spTree>
    <p:extLst>
      <p:ext uri="{BB962C8B-B14F-4D97-AF65-F5344CB8AC3E}">
        <p14:creationId xmlns:p14="http://schemas.microsoft.com/office/powerpoint/2010/main" val="447818310"/>
      </p:ext>
    </p:extLst>
  </p:cSld>
</p:sld>
</file>

<file path=ppt/slides/slide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1FFB8A0-DEAC-440E-806C-3B607915AFB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OXPHOS gene directions vary across sex/APOE groups</a:t>
            </a:r>
          </a:p>
        </p:txBody>
      </p:sp>
      <p:sp>
        <p:nvSpPr>
          <p:cNvPr id="3" name="TextBox 2">
            <a:extLst xmlns:a="http://schemas.openxmlformats.org/drawingml/2006/main">
              <a:ext uri="{FF2B5EF4-FFF2-40B4-BE49-F238E27FC236}">
                <a16:creationId xmlns:a16="http://schemas.microsoft.com/office/drawing/2014/main" id="{F2B80348-3939-45C0-ACEB-4A1F32F42960}"/>
              </a:ext>
            </a:extLst>
          </p:cNvPr>
          <p:cNvSpPr>
            <a:spLocks xmlns:a="http://schemas.openxmlformats.org/drawingml/2006/main" noGrp="1"/>
          </p:cNvSpPr>
          <p:nvPr/>
        </p:nvSpPr>
        <p:spPr>
          <a:xfrm xmlns:a="http://schemas.openxmlformats.org/drawingml/2006/main">
            <a:off x="1140312" y="1173838"/>
            <a:ext cx="9877313"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b="0" i="0">
                <a:solidFill>
                  <a:srgbClr val="4E5A68"/>
                </a:solidFill>
                <a:latin typeface="Arial"/>
                <a:ea typeface="Arial"/>
                <a:cs typeface="Arial"/>
              </a:rPr>
              <a:t>OXPHOS (oxidative phosphorylation) is the mitochondrial process that makes most cellular ATP.</a:t>
            </a:r>
          </a:p>
        </p:txBody>
      </p:sp>
      <p:sp>
        <p:nvSpPr>
          <p:cNvPr id="5" name="Rounded Rectangle 4">
            <a:extLst xmlns:a="http://schemas.openxmlformats.org/drawingml/2006/main">
              <a:ext uri="{FF2B5EF4-FFF2-40B4-BE49-F238E27FC236}">
                <a16:creationId xmlns:a16="http://schemas.microsoft.com/office/drawing/2014/main" id="{7BFC1DB3-DFD2-40A6-BEF9-C7D358422FDC}"/>
              </a:ext>
            </a:extLst>
          </p:cNvPr>
          <p:cNvSpPr>
            <a:spLocks xmlns:a="http://schemas.openxmlformats.org/drawingml/2006/main" noGrp="1"/>
          </p:cNvSpPr>
          <p:nvPr/>
        </p:nvSpPr>
        <p:spPr>
          <a:xfrm xmlns:a="http://schemas.openxmlformats.org/drawingml/2006/main">
            <a:off x="658368" y="5650992"/>
            <a:ext cx="10881360" cy="640080"/>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7D15E47-25EF-48E5-9080-CEFB5FCC0506}"/>
              </a:ext>
            </a:extLst>
          </p:cNvPr>
          <p:cNvSpPr>
            <a:spLocks xmlns:a="http://schemas.openxmlformats.org/drawingml/2006/main" noGrp="1"/>
          </p:cNvSpPr>
          <p:nvPr/>
        </p:nvSpPr>
        <p:spPr>
          <a:xfrm xmlns:a="http://schemas.openxmlformats.org/drawingml/2006/main">
            <a:off x="932688" y="5843016"/>
            <a:ext cx="111556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7E4C9A"/>
                </a:solidFill>
                <a:latin typeface="Arial"/>
                <a:ea typeface="Arial"/>
                <a:cs typeface="Arial"/>
              </a:rPr>
              <a:t>Key contrast</a:t>
            </a:r>
          </a:p>
        </p:txBody>
      </p:sp>
      <p:sp>
        <p:nvSpPr>
          <p:cNvPr id="7" name="TextBox 6">
            <a:extLst xmlns:a="http://schemas.openxmlformats.org/drawingml/2006/main">
              <a:ext uri="{FF2B5EF4-FFF2-40B4-BE49-F238E27FC236}">
                <a16:creationId xmlns:a16="http://schemas.microsoft.com/office/drawing/2014/main" id="{B7B88507-A599-4037-BD24-A84D179AFD21}"/>
              </a:ext>
            </a:extLst>
          </p:cNvPr>
          <p:cNvSpPr>
            <a:spLocks xmlns:a="http://schemas.openxmlformats.org/drawingml/2006/main" noGrp="1"/>
          </p:cNvSpPr>
          <p:nvPr/>
        </p:nvSpPr>
        <p:spPr>
          <a:xfrm xmlns:a="http://schemas.openxmlformats.org/drawingml/2006/main">
            <a:off x="2148840" y="5797296"/>
            <a:ext cx="897940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380" b="0" i="0">
                <a:solidFill>
                  <a:srgbClr val="1F2730"/>
                </a:solidFill>
                <a:latin typeface="Arial"/>
                <a:ea typeface="Arial"/>
                <a:cs typeface="Arial"/>
              </a:rPr>
              <a:t>Female ε3/ε3: both OXPHOS sets mostly rise; male ε3/ε3: mitochondrial-encoded genes rise while nuclear-encoded genes fall.</a:t>
            </a:r>
          </a:p>
        </p:txBody>
      </p:sp>
      <p:pic>
        <p:nvPicPr>
          <p:cNvPr id="22" name="Diverging paired bar chart of dominant Alzheimer’s disease direction for the 13 mitochondrial-DNA-encoded OXPHOS genes and 86 nuclear-DNA-encoded structural OXPHOS genes across female and male APOE epsilon-2, epsilon-3 homozygous, and epsilon-4 groups."/>
          <p:cNvPicPr>
            <a:picLocks xmlns:a="http://schemas.openxmlformats.org/drawingml/2006/main" noChangeAspect="1"/>
          </p:cNvPicPr>
          <p:nvPr/>
        </p:nvPicPr>
        <p:blipFill>
          <a:blip xmlns:r="http://schemas.openxmlformats.org/officeDocument/2006/relationships" xmlns:a="http://schemas.openxmlformats.org/drawingml/2006/main" r:embed="R4b78cbb305a44eb6"/>
          <a:stretch xmlns:a="http://schemas.openxmlformats.org/drawingml/2006/main">
            <a:fillRect l="0" t="0" r="0" b="0"/>
          </a:stretch>
        </p:blipFill>
        <p:spPr>
          <a:xfrm xmlns:a="http://schemas.openxmlformats.org/drawingml/2006/main">
            <a:off x="612648" y="1758132"/>
            <a:ext cx="10972800" cy="3232007"/>
          </a:xfrm>
          <a:prstGeom xmlns:a="http://schemas.openxmlformats.org/drawingml/2006/main" prst="rect">
            <a:avLst/>
          </a:prstGeom>
        </p:spPr>
      </p:pic>
      <p:sp>
        <p:nvSpPr>
          <p:cNvPr id="9" name="up-share-chart-background">
            <a:extLst xmlns:a="http://schemas.openxmlformats.org/drawingml/2006/main">
              <a:ext uri="{FF2B5EF4-FFF2-40B4-BE49-F238E27FC236}">
                <a16:creationId xmlns:a16="http://schemas.microsoft.com/office/drawing/2014/main" id="{F3D88217-4D79-49C6-B63B-2B75F4D08C7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9FC"/>
          </a:solidFill>
          <a:ln xmlns:a="http://schemas.openxmlformats.org/drawingml/2006/main" w="0">
            <a:noFill/>
            <a:prstDash val="solid"/>
          </a:ln>
        </p:spPr>
      </p:sp>
      <p:sp>
        <p:nvSpPr>
          <p:cNvPr id="10" name="up-share-chart-title">
            <a:extLst xmlns:a="http://schemas.openxmlformats.org/drawingml/2006/main">
              <a:ext uri="{FF2B5EF4-FFF2-40B4-BE49-F238E27FC236}">
                <a16:creationId xmlns:a16="http://schemas.microsoft.com/office/drawing/2014/main" id="{55D6B509-3AFF-4ECC-A9BF-A92BC1266806}"/>
              </a:ext>
            </a:extLst>
          </p:cNvPr>
          <p:cNvSpPr>
            <a:spLocks xmlns:a="http://schemas.openxmlformats.org/drawingml/2006/main" noGrp="1"/>
          </p:cNvSpPr>
          <p:nvPr/>
        </p:nvSpPr>
        <p:spPr>
          <a:xfrm xmlns:a="http://schemas.openxmlformats.org/drawingml/2006/main">
            <a:off x="552450" y="428625"/>
            <a:ext cx="10763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2250" b="1">
                <a:solidFill>
                  <a:srgbClr val="0F233D"/>
                </a:solidFill>
                <a:latin typeface="Arial"/>
                <a:ea typeface="Arial"/>
                <a:cs typeface="Arial"/>
              </a:defRPr>
            </a:pPr>
            <a:r>
              <a:rPr sz="2250" b="1">
                <a:solidFill>
                  <a:srgbClr val="0F233D"/>
                </a:solidFill>
                <a:latin typeface="Arial"/>
                <a:ea typeface="Arial"/>
                <a:cs typeface="Arial"/>
              </a:rPr>
              <a:t>Share of OXPHOS DEG occurrences that are upregulated</a:t>
            </a:r>
          </a:p>
        </p:txBody>
      </p:sp>
      <p:sp>
        <p:nvSpPr>
          <p:cNvPr id="11" name="up-share-chart-subtitle">
            <a:extLst xmlns:a="http://schemas.openxmlformats.org/drawingml/2006/main">
              <a:ext uri="{FF2B5EF4-FFF2-40B4-BE49-F238E27FC236}">
                <a16:creationId xmlns:a16="http://schemas.microsoft.com/office/drawing/2014/main" id="{683407C2-9A63-47C5-A661-F12A42F00D95}"/>
              </a:ext>
            </a:extLst>
          </p:cNvPr>
          <p:cNvSpPr>
            <a:spLocks xmlns:a="http://schemas.openxmlformats.org/drawingml/2006/main" noGrp="1"/>
          </p:cNvSpPr>
          <p:nvPr/>
        </p:nvSpPr>
        <p:spPr>
          <a:xfrm xmlns:a="http://schemas.openxmlformats.org/drawingml/2006/main">
            <a:off x="1162050" y="1143000"/>
            <a:ext cx="990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800" b="0">
                <a:solidFill>
                  <a:srgbClr val="4E5A68"/>
                </a:solidFill>
                <a:latin typeface="Arial"/>
                <a:ea typeface="Arial"/>
                <a:cs typeface="Arial"/>
              </a:defRPr>
            </a:pPr>
            <a:r>
              <a:rPr sz="1800" b="0">
                <a:solidFill>
                  <a:srgbClr val="4E5A68"/>
                </a:solidFill>
                <a:latin typeface="Arial"/>
                <a:ea typeface="Arial"/>
                <a:cs typeface="Arial"/>
              </a:rPr>
              <a:t>OXPHOS (oxidative phosphorylation) is the mitochondrial process that makes most cellular ATP.</a:t>
            </a:r>
          </a:p>
        </p:txBody>
      </p:sp>
      <p:sp>
        <p:nvSpPr>
          <p:cNvPr id="12" name="up-share-chart-reference">
            <a:extLst xmlns:a="http://schemas.openxmlformats.org/drawingml/2006/main">
              <a:ext uri="{FF2B5EF4-FFF2-40B4-BE49-F238E27FC236}">
                <a16:creationId xmlns:a16="http://schemas.microsoft.com/office/drawing/2014/main" id="{C28648A0-45A1-4934-A17C-4EB76AFCB4E1}"/>
              </a:ext>
            </a:extLst>
          </p:cNvPr>
          <p:cNvSpPr>
            <a:spLocks xmlns:a="http://schemas.openxmlformats.org/drawingml/2006/main" noGrp="1"/>
          </p:cNvSpPr>
          <p:nvPr/>
        </p:nvSpPr>
        <p:spPr>
          <a:xfrm xmlns:a="http://schemas.openxmlformats.org/drawingml/2006/main">
            <a:off x="714375" y="158115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7E4C9A"/>
                </a:solidFill>
                <a:latin typeface="Arial"/>
                <a:ea typeface="Arial"/>
                <a:cs typeface="Arial"/>
              </a:defRPr>
            </a:pPr>
            <a:r>
              <a:rPr sz="1125" b="1">
                <a:solidFill>
                  <a:srgbClr val="7E4C9A"/>
                </a:solidFill>
                <a:latin typeface="Arial"/>
                <a:ea typeface="Arial"/>
                <a:cs typeface="Arial"/>
              </a:rPr>
              <a:t>50% = equal numbers of upregulated and downregulated occurrences</a:t>
            </a:r>
          </a:p>
        </p:txBody>
      </p:sp>
      <p:graphicFrame>
        <p:nvGraphicFramePr>
          <p:cNvPr id="27" name="Chart"/>
          <p:cNvGraphicFramePr/>
          <p:nvPr/>
        </p:nvGraphicFramePr>
        <p:xfrm>
          <a:off xmlns:a="http://schemas.openxmlformats.org/drawingml/2006/main" x="714375" y="1790700"/>
          <a:ext xmlns:a="http://schemas.openxmlformats.org/drawingml/2006/main" cx="10763250" cy="3381375"/>
        </p:xfrm>
        <a:graphic xmlns:a="http://schemas.openxmlformats.org/drawingml/2006/main">
          <a:graphicData uri="http://schemas.openxmlformats.org/drawingml/2006/chart">
            <c:chart xmlns:r="http://schemas.openxmlformats.org/officeDocument/2006/relationships" xmlns:c="http://schemas.openxmlformats.org/drawingml/2006/chart" r:id="R4faf5a0b2f7d4d1e"/>
          </a:graphicData>
        </a:graphic>
      </p:graphicFrame>
      <p:sp>
        <p:nvSpPr>
          <p:cNvPr id="14" name="up-share-key-contrast-surface">
            <a:extLst xmlns:a="http://schemas.openxmlformats.org/drawingml/2006/main">
              <a:ext uri="{FF2B5EF4-FFF2-40B4-BE49-F238E27FC236}">
                <a16:creationId xmlns:a16="http://schemas.microsoft.com/office/drawing/2014/main" id="{0FA2CAA8-3E8A-4BA2-9A72-13F758802B18}"/>
              </a:ext>
            </a:extLst>
          </p:cNvPr>
          <p:cNvSpPr>
            <a:spLocks xmlns:a="http://schemas.openxmlformats.org/drawingml/2006/main" noGrp="1"/>
          </p:cNvSpPr>
          <p:nvPr/>
        </p:nvSpPr>
        <p:spPr>
          <a:xfrm xmlns:a="http://schemas.openxmlformats.org/drawingml/2006/main">
            <a:off x="647700" y="5638800"/>
            <a:ext cx="10896600" cy="657225"/>
          </a:xfrm>
          <a:prstGeom xmlns:a="http://schemas.openxmlformats.org/drawingml/2006/main" prst="roundRect">
            <a:avLst>
              <a:gd name="adj" fmla="val 17391"/>
            </a:avLst>
          </a:prstGeom>
          <a:solidFill xmlns:a="http://schemas.openxmlformats.org/drawingml/2006/main">
            <a:srgbClr val="F1F4F7"/>
          </a:solidFill>
          <a:ln xmlns:a="http://schemas.openxmlformats.org/drawingml/2006/main" w="9525">
            <a:solidFill>
              <a:srgbClr val="D8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5" name="up-share-key-contrast-label">
            <a:extLst xmlns:a="http://schemas.openxmlformats.org/drawingml/2006/main">
              <a:ext uri="{FF2B5EF4-FFF2-40B4-BE49-F238E27FC236}">
                <a16:creationId xmlns:a16="http://schemas.microsoft.com/office/drawing/2014/main" id="{71C5911B-901A-4011-9F94-7EEA80440391}"/>
              </a:ext>
            </a:extLst>
          </p:cNvPr>
          <p:cNvSpPr>
            <a:spLocks xmlns:a="http://schemas.openxmlformats.org/drawingml/2006/main" noGrp="1"/>
          </p:cNvSpPr>
          <p:nvPr/>
        </p:nvSpPr>
        <p:spPr>
          <a:xfrm xmlns:a="http://schemas.openxmlformats.org/drawingml/2006/main">
            <a:off x="952500" y="5867400"/>
            <a:ext cx="114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00" b="1">
                <a:solidFill>
                  <a:srgbClr val="7E4C9A"/>
                </a:solidFill>
                <a:latin typeface="Arial"/>
                <a:ea typeface="Arial"/>
                <a:cs typeface="Arial"/>
              </a:defRPr>
            </a:pPr>
            <a:r>
              <a:rPr sz="1200" b="1">
                <a:solidFill>
                  <a:srgbClr val="7E4C9A"/>
                </a:solidFill>
                <a:latin typeface="Arial"/>
                <a:ea typeface="Arial"/>
                <a:cs typeface="Arial"/>
              </a:rPr>
              <a:t>Key contrast</a:t>
            </a:r>
          </a:p>
        </p:txBody>
      </p:sp>
      <p:sp>
        <p:nvSpPr>
          <p:cNvPr id="16" name="up-share-key-contrast-text">
            <a:extLst xmlns:a="http://schemas.openxmlformats.org/drawingml/2006/main">
              <a:ext uri="{FF2B5EF4-FFF2-40B4-BE49-F238E27FC236}">
                <a16:creationId xmlns:a16="http://schemas.microsoft.com/office/drawing/2014/main" id="{4DB05E54-9576-4DFA-ABE0-0D2D774F5762}"/>
              </a:ext>
            </a:extLst>
          </p:cNvPr>
          <p:cNvSpPr>
            <a:spLocks xmlns:a="http://schemas.openxmlformats.org/drawingml/2006/main" noGrp="1"/>
          </p:cNvSpPr>
          <p:nvPr/>
        </p:nvSpPr>
        <p:spPr>
          <a:xfrm xmlns:a="http://schemas.openxmlformats.org/drawingml/2006/main">
            <a:off x="2171700" y="5762625"/>
            <a:ext cx="89535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0">
                <a:solidFill>
                  <a:srgbClr val="1F2730"/>
                </a:solidFill>
                <a:latin typeface="Arial"/>
                <a:ea typeface="Arial"/>
                <a:cs typeface="Arial"/>
              </a:defRPr>
            </a:pPr>
            <a:r>
              <a:rPr sz="1350" b="0">
                <a:solidFill>
                  <a:srgbClr val="1F2730"/>
                </a:solidFill>
                <a:latin typeface="Arial"/>
                <a:ea typeface="Arial"/>
                <a:cs typeface="Arial"/>
              </a:rPr>
              <a:t>Female ε3/ε3: both OXPHOS sets mostly rise. Male ε3/ε3: mitochondrial-encoded genes rise while nuclear-encoded genes fall.</a:t>
            </a:r>
          </a:p>
        </p:txBody>
      </p:sp>
    </p:spTree>
    <p:extLst>
      <p:ext uri="{BB962C8B-B14F-4D97-AF65-F5344CB8AC3E}">
        <p14:creationId xmlns:p14="http://schemas.microsoft.com/office/powerpoint/2010/main" val="492696482"/>
      </p:ext>
    </p:extLst>
  </p:cSld>
</p:sld>
</file>

<file path=ppt/slides/slide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C9E28A8-6AB5-4D99-8FB0-E4E6F025BF34}"/>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Female ε3/ε3 neurons repeatedly increase mtDNA-encoded OXPHOS RNA</a:t>
            </a:r>
          </a:p>
        </p:txBody>
      </p:sp>
      <p:sp>
        <p:nvSpPr>
          <p:cNvPr id="3" name="TextBox 2">
            <a:extLst xmlns:a="http://schemas.openxmlformats.org/drawingml/2006/main">
              <a:ext uri="{FF2B5EF4-FFF2-40B4-BE49-F238E27FC236}">
                <a16:creationId xmlns:a16="http://schemas.microsoft.com/office/drawing/2014/main" id="{A6070E1C-868F-4419-AB83-9C0861A1AEEB}"/>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This is the clearest sex/APOE-related mitochondrial RNA pattern.</a:t>
            </a:r>
          </a:p>
        </p:txBody>
      </p:sp>
      <p:sp>
        <p:nvSpPr>
          <p:cNvPr id="4" name="Rounded Rectangle 3">
            <a:extLst xmlns:a="http://schemas.openxmlformats.org/drawingml/2006/main">
              <a:ext uri="{FF2B5EF4-FFF2-40B4-BE49-F238E27FC236}">
                <a16:creationId xmlns:a16="http://schemas.microsoft.com/office/drawing/2014/main" id="{7BCBC643-025D-4181-A396-54FAFA268579}"/>
              </a:ext>
            </a:extLst>
          </p:cNvPr>
          <p:cNvSpPr>
            <a:spLocks xmlns:a="http://schemas.openxmlformats.org/drawingml/2006/main" noGrp="1"/>
          </p:cNvSpPr>
          <p:nvPr/>
        </p:nvSpPr>
        <p:spPr>
          <a:xfrm xmlns:a="http://schemas.openxmlformats.org/drawingml/2006/main">
            <a:off x="658368" y="1234440"/>
            <a:ext cx="10881360" cy="65836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E8D81E4-9B29-4829-8EB4-71B668C3134C}"/>
              </a:ext>
            </a:extLst>
          </p:cNvPr>
          <p:cNvSpPr>
            <a:spLocks xmlns:a="http://schemas.openxmlformats.org/drawingml/2006/main" noGrp="1"/>
          </p:cNvSpPr>
          <p:nvPr/>
        </p:nvSpPr>
        <p:spPr>
          <a:xfrm xmlns:a="http://schemas.openxmlformats.org/drawingml/2006/main">
            <a:off x="941832" y="1435608"/>
            <a:ext cx="103144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20" b="1" i="0">
                <a:solidFill>
                  <a:srgbClr val="0F233D"/>
                </a:solidFill>
                <a:latin typeface="Arial"/>
                <a:ea typeface="Arial"/>
                <a:cs typeface="Arial"/>
              </a:rPr>
              <a:t>Mitochondrial DNA encodes 13 structural subunits of OXPHOS.</a:t>
            </a:r>
          </a:p>
        </p:txBody>
      </p:sp>
      <p:sp>
        <p:nvSpPr>
          <p:cNvPr id="6" name="Rounded Rectangle 5">
            <a:extLst xmlns:a="http://schemas.openxmlformats.org/drawingml/2006/main">
              <a:ext uri="{FF2B5EF4-FFF2-40B4-BE49-F238E27FC236}">
                <a16:creationId xmlns:a16="http://schemas.microsoft.com/office/drawing/2014/main" id="{39E41BEA-3C5F-4B56-916E-3345C72265CB}"/>
              </a:ext>
            </a:extLst>
          </p:cNvPr>
          <p:cNvSpPr>
            <a:spLocks xmlns:a="http://schemas.openxmlformats.org/drawingml/2006/main" noGrp="1"/>
          </p:cNvSpPr>
          <p:nvPr/>
        </p:nvSpPr>
        <p:spPr>
          <a:xfrm xmlns:a="http://schemas.openxmlformats.org/drawingml/2006/main">
            <a:off x="658368" y="2130552"/>
            <a:ext cx="6876288" cy="278892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E95863A-60E7-4164-8CF7-6B5CDC8E71B7}"/>
              </a:ext>
            </a:extLst>
          </p:cNvPr>
          <p:cNvSpPr>
            <a:spLocks xmlns:a="http://schemas.openxmlformats.org/drawingml/2006/main" noGrp="1"/>
          </p:cNvSpPr>
          <p:nvPr/>
        </p:nvSpPr>
        <p:spPr>
          <a:xfrm xmlns:a="http://schemas.openxmlformats.org/drawingml/2006/main">
            <a:off x="941832" y="2423160"/>
            <a:ext cx="6309360"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072B2"/>
                </a:solidFill>
                <a:latin typeface="Arial"/>
                <a:ea typeface="Arial"/>
                <a:cs typeface="Arial"/>
              </a:rPr>
              <a:t>ROSMAP FINE-CELL RESULTS</a:t>
            </a:r>
          </a:p>
        </p:txBody>
      </p:sp>
      <p:sp>
        <p:nvSpPr>
          <p:cNvPr id="8" name="TextBox 7">
            <a:extLst xmlns:a="http://schemas.openxmlformats.org/drawingml/2006/main">
              <a:ext uri="{FF2B5EF4-FFF2-40B4-BE49-F238E27FC236}">
                <a16:creationId xmlns:a16="http://schemas.microsoft.com/office/drawing/2014/main" id="{D9FC9BBF-12BD-4268-8BAD-E3ED60F8DF7E}"/>
              </a:ext>
            </a:extLst>
          </p:cNvPr>
          <p:cNvSpPr>
            <a:spLocks xmlns:a="http://schemas.openxmlformats.org/drawingml/2006/main" noGrp="1"/>
          </p:cNvSpPr>
          <p:nvPr/>
        </p:nvSpPr>
        <p:spPr>
          <a:xfrm xmlns:a="http://schemas.openxmlformats.org/drawingml/2006/main">
            <a:off x="941832" y="2779776"/>
            <a:ext cx="630936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More increased mtDNA-encoded OXPHOS genes than expected by chance</a:t>
            </a:r>
          </a:p>
        </p:txBody>
      </p:sp>
      <p:sp>
        <p:nvSpPr>
          <p:cNvPr id="9" name="Rounded Rectangle 8">
            <a:extLst xmlns:a="http://schemas.openxmlformats.org/drawingml/2006/main">
              <a:ext uri="{FF2B5EF4-FFF2-40B4-BE49-F238E27FC236}">
                <a16:creationId xmlns:a16="http://schemas.microsoft.com/office/drawing/2014/main" id="{B7A638E5-1E58-4361-9F7A-E9F2E7EAC9D2}"/>
              </a:ext>
            </a:extLst>
          </p:cNvPr>
          <p:cNvSpPr>
            <a:spLocks xmlns:a="http://schemas.openxmlformats.org/drawingml/2006/main" noGrp="1"/>
          </p:cNvSpPr>
          <p:nvPr/>
        </p:nvSpPr>
        <p:spPr>
          <a:xfrm xmlns:a="http://schemas.openxmlformats.org/drawingml/2006/main">
            <a:off x="941832" y="3255264"/>
            <a:ext cx="2944368" cy="148132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362E876-952A-4C3B-A984-FB0AA6715224}"/>
              </a:ext>
            </a:extLst>
          </p:cNvPr>
          <p:cNvSpPr>
            <a:spLocks xmlns:a="http://schemas.openxmlformats.org/drawingml/2006/main" noGrp="1"/>
          </p:cNvSpPr>
          <p:nvPr/>
        </p:nvSpPr>
        <p:spPr>
          <a:xfrm xmlns:a="http://schemas.openxmlformats.org/drawingml/2006/main">
            <a:off x="1143000" y="3419856"/>
            <a:ext cx="254203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2700" b="1" i="0">
                <a:solidFill>
                  <a:srgbClr val="0072B2"/>
                </a:solidFill>
                <a:latin typeface="Arial"/>
                <a:ea typeface="Arial"/>
                <a:cs typeface="Arial"/>
              </a:rPr>
              <a:t>12 of 14</a:t>
            </a:r>
          </a:p>
        </p:txBody>
      </p:sp>
      <p:sp>
        <p:nvSpPr>
          <p:cNvPr id="11" name="TextBox 10">
            <a:extLst xmlns:a="http://schemas.openxmlformats.org/drawingml/2006/main">
              <a:ext uri="{FF2B5EF4-FFF2-40B4-BE49-F238E27FC236}">
                <a16:creationId xmlns:a16="http://schemas.microsoft.com/office/drawing/2014/main" id="{EBD1E294-3982-469C-A82F-CB780EC7FCE0}"/>
              </a:ext>
            </a:extLst>
          </p:cNvPr>
          <p:cNvSpPr>
            <a:spLocks xmlns:a="http://schemas.openxmlformats.org/drawingml/2006/main" noGrp="1"/>
          </p:cNvSpPr>
          <p:nvPr/>
        </p:nvSpPr>
        <p:spPr>
          <a:xfrm xmlns:a="http://schemas.openxmlformats.org/drawingml/2006/main">
            <a:off x="1143000" y="3941064"/>
            <a:ext cx="254203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0F233D"/>
                </a:solidFill>
                <a:latin typeface="Arial"/>
                <a:ea typeface="Arial"/>
                <a:cs typeface="Arial"/>
              </a:rPr>
              <a:t>excitatory comparisons</a:t>
            </a:r>
          </a:p>
        </p:txBody>
      </p:sp>
      <p:sp>
        <p:nvSpPr>
          <p:cNvPr id="12" name="TextBox 11">
            <a:extLst xmlns:a="http://schemas.openxmlformats.org/drawingml/2006/main">
              <a:ext uri="{FF2B5EF4-FFF2-40B4-BE49-F238E27FC236}">
                <a16:creationId xmlns:a16="http://schemas.microsoft.com/office/drawing/2014/main" id="{817C9481-B32E-4486-83AC-B31E3F5DEA85}"/>
              </a:ext>
            </a:extLst>
          </p:cNvPr>
          <p:cNvSpPr>
            <a:spLocks xmlns:a="http://schemas.openxmlformats.org/drawingml/2006/main" noGrp="1"/>
          </p:cNvSpPr>
          <p:nvPr/>
        </p:nvSpPr>
        <p:spPr>
          <a:xfrm xmlns:a="http://schemas.openxmlformats.org/drawingml/2006/main">
            <a:off x="1143000" y="4279392"/>
            <a:ext cx="25420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showed this upward pattern</a:t>
            </a:r>
          </a:p>
        </p:txBody>
      </p:sp>
      <p:sp>
        <p:nvSpPr>
          <p:cNvPr id="13" name="Rounded Rectangle 12">
            <a:extLst xmlns:a="http://schemas.openxmlformats.org/drawingml/2006/main">
              <a:ext uri="{FF2B5EF4-FFF2-40B4-BE49-F238E27FC236}">
                <a16:creationId xmlns:a16="http://schemas.microsoft.com/office/drawing/2014/main" id="{171FADA3-2539-46DD-AC3B-0ED084739D98}"/>
              </a:ext>
            </a:extLst>
          </p:cNvPr>
          <p:cNvSpPr>
            <a:spLocks xmlns:a="http://schemas.openxmlformats.org/drawingml/2006/main" noGrp="1"/>
          </p:cNvSpPr>
          <p:nvPr/>
        </p:nvSpPr>
        <p:spPr>
          <a:xfrm xmlns:a="http://schemas.openxmlformats.org/drawingml/2006/main">
            <a:off x="4251960" y="3255264"/>
            <a:ext cx="2944368" cy="1481328"/>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3CF9B2C6-8D4C-43DB-826C-B4D918F0070D}"/>
              </a:ext>
            </a:extLst>
          </p:cNvPr>
          <p:cNvSpPr>
            <a:spLocks xmlns:a="http://schemas.openxmlformats.org/drawingml/2006/main" noGrp="1"/>
          </p:cNvSpPr>
          <p:nvPr/>
        </p:nvSpPr>
        <p:spPr>
          <a:xfrm xmlns:a="http://schemas.openxmlformats.org/drawingml/2006/main">
            <a:off x="4453128" y="3419856"/>
            <a:ext cx="254203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2700" b="1" i="0">
                <a:solidFill>
                  <a:srgbClr val="0072B2"/>
                </a:solidFill>
                <a:latin typeface="Arial"/>
                <a:ea typeface="Arial"/>
                <a:cs typeface="Arial"/>
              </a:rPr>
              <a:t>13 of 14</a:t>
            </a:r>
          </a:p>
        </p:txBody>
      </p:sp>
      <p:sp>
        <p:nvSpPr>
          <p:cNvPr id="15" name="TextBox 14">
            <a:extLst xmlns:a="http://schemas.openxmlformats.org/drawingml/2006/main">
              <a:ext uri="{FF2B5EF4-FFF2-40B4-BE49-F238E27FC236}">
                <a16:creationId xmlns:a16="http://schemas.microsoft.com/office/drawing/2014/main" id="{3D4C054C-FE13-4ABB-B74A-74FFCB777C9C}"/>
              </a:ext>
            </a:extLst>
          </p:cNvPr>
          <p:cNvSpPr>
            <a:spLocks xmlns:a="http://schemas.openxmlformats.org/drawingml/2006/main" noGrp="1"/>
          </p:cNvSpPr>
          <p:nvPr/>
        </p:nvSpPr>
        <p:spPr>
          <a:xfrm xmlns:a="http://schemas.openxmlformats.org/drawingml/2006/main">
            <a:off x="4453128" y="3941064"/>
            <a:ext cx="254203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0F233D"/>
                </a:solidFill>
                <a:latin typeface="Arial"/>
                <a:ea typeface="Arial"/>
                <a:cs typeface="Arial"/>
              </a:rPr>
              <a:t>inhibitory comparisons</a:t>
            </a:r>
          </a:p>
        </p:txBody>
      </p:sp>
      <p:sp>
        <p:nvSpPr>
          <p:cNvPr id="16" name="TextBox 15">
            <a:extLst xmlns:a="http://schemas.openxmlformats.org/drawingml/2006/main">
              <a:ext uri="{FF2B5EF4-FFF2-40B4-BE49-F238E27FC236}">
                <a16:creationId xmlns:a16="http://schemas.microsoft.com/office/drawing/2014/main" id="{B34F0A8A-AB5B-434F-B6A0-081CF67875DB}"/>
              </a:ext>
            </a:extLst>
          </p:cNvPr>
          <p:cNvSpPr>
            <a:spLocks xmlns:a="http://schemas.openxmlformats.org/drawingml/2006/main" noGrp="1"/>
          </p:cNvSpPr>
          <p:nvPr/>
        </p:nvSpPr>
        <p:spPr>
          <a:xfrm xmlns:a="http://schemas.openxmlformats.org/drawingml/2006/main">
            <a:off x="4453128" y="4279392"/>
            <a:ext cx="25420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showed this upward pattern</a:t>
            </a:r>
          </a:p>
        </p:txBody>
      </p:sp>
      <p:sp>
        <p:nvSpPr>
          <p:cNvPr id="17" name="Rounded Rectangle 16">
            <a:extLst xmlns:a="http://schemas.openxmlformats.org/drawingml/2006/main">
              <a:ext uri="{FF2B5EF4-FFF2-40B4-BE49-F238E27FC236}">
                <a16:creationId xmlns:a16="http://schemas.microsoft.com/office/drawing/2014/main" id="{04B17719-080D-4442-8121-65427B590AA2}"/>
              </a:ext>
            </a:extLst>
          </p:cNvPr>
          <p:cNvSpPr>
            <a:spLocks xmlns:a="http://schemas.openxmlformats.org/drawingml/2006/main" noGrp="1"/>
          </p:cNvSpPr>
          <p:nvPr/>
        </p:nvSpPr>
        <p:spPr>
          <a:xfrm xmlns:a="http://schemas.openxmlformats.org/drawingml/2006/main">
            <a:off x="7790688" y="2130552"/>
            <a:ext cx="3749039" cy="278892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1D12BD3-8C69-4179-AC0F-03A1E6CBFCAD}"/>
              </a:ext>
            </a:extLst>
          </p:cNvPr>
          <p:cNvSpPr>
            <a:spLocks xmlns:a="http://schemas.openxmlformats.org/drawingml/2006/main" noGrp="1"/>
          </p:cNvSpPr>
          <p:nvPr/>
        </p:nvSpPr>
        <p:spPr>
          <a:xfrm xmlns:a="http://schemas.openxmlformats.org/drawingml/2006/main">
            <a:off x="8083296" y="2423160"/>
            <a:ext cx="3163824" cy="2468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0684D"/>
                </a:solidFill>
                <a:latin typeface="Arial"/>
                <a:ea typeface="Arial"/>
                <a:cs typeface="Arial"/>
              </a:rPr>
              <a:t>SEA-AD SUPPORT</a:t>
            </a:r>
          </a:p>
        </p:txBody>
      </p:sp>
      <p:sp>
        <p:nvSpPr>
          <p:cNvPr id="19" name="TextBox 18">
            <a:extLst xmlns:a="http://schemas.openxmlformats.org/drawingml/2006/main">
              <a:ext uri="{FF2B5EF4-FFF2-40B4-BE49-F238E27FC236}">
                <a16:creationId xmlns:a16="http://schemas.microsoft.com/office/drawing/2014/main" id="{40882B85-EE06-4ED9-B918-39A38646F940}"/>
              </a:ext>
            </a:extLst>
          </p:cNvPr>
          <p:cNvSpPr>
            <a:spLocks xmlns:a="http://schemas.openxmlformats.org/drawingml/2006/main" noGrp="1"/>
          </p:cNvSpPr>
          <p:nvPr/>
        </p:nvSpPr>
        <p:spPr>
          <a:xfrm xmlns:a="http://schemas.openxmlformats.org/drawingml/2006/main">
            <a:off x="8083296" y="2779776"/>
            <a:ext cx="3163824" cy="4572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One matched excitatory comparison</a:t>
            </a:r>
          </a:p>
        </p:txBody>
      </p:sp>
      <p:sp>
        <p:nvSpPr>
          <p:cNvPr id="20" name="TextBox 19">
            <a:extLst xmlns:a="http://schemas.openxmlformats.org/drawingml/2006/main">
              <a:ext uri="{FF2B5EF4-FFF2-40B4-BE49-F238E27FC236}">
                <a16:creationId xmlns:a16="http://schemas.microsoft.com/office/drawing/2014/main" id="{E3E09B84-10F6-4612-A297-D28C74B2BA08}"/>
              </a:ext>
            </a:extLst>
          </p:cNvPr>
          <p:cNvSpPr>
            <a:spLocks xmlns:a="http://schemas.openxmlformats.org/drawingml/2006/main" noGrp="1"/>
          </p:cNvSpPr>
          <p:nvPr/>
        </p:nvSpPr>
        <p:spPr>
          <a:xfrm xmlns:a="http://schemas.openxmlformats.org/drawingml/2006/main">
            <a:off x="8083296" y="3447288"/>
            <a:ext cx="3163824"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9 of 10</a:t>
            </a:r>
          </a:p>
        </p:txBody>
      </p:sp>
      <p:sp>
        <p:nvSpPr>
          <p:cNvPr id="21" name="TextBox 20">
            <a:extLst xmlns:a="http://schemas.openxmlformats.org/drawingml/2006/main">
              <a:ext uri="{FF2B5EF4-FFF2-40B4-BE49-F238E27FC236}">
                <a16:creationId xmlns:a16="http://schemas.microsoft.com/office/drawing/2014/main" id="{8FB54593-645C-4C84-8F30-D721184779F5}"/>
              </a:ext>
            </a:extLst>
          </p:cNvPr>
          <p:cNvSpPr>
            <a:spLocks xmlns:a="http://schemas.openxmlformats.org/drawingml/2006/main" noGrp="1"/>
          </p:cNvSpPr>
          <p:nvPr/>
        </p:nvSpPr>
        <p:spPr>
          <a:xfrm xmlns:a="http://schemas.openxmlformats.org/drawingml/2006/main">
            <a:off x="8174736" y="3968496"/>
            <a:ext cx="2980944"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40" b="0" i="0">
                <a:solidFill>
                  <a:srgbClr val="1F2730"/>
                </a:solidFill>
                <a:latin typeface="Arial"/>
                <a:ea typeface="Arial"/>
                <a:cs typeface="Arial"/>
              </a:rPr>
              <a:t>genes were the same mtDNA-encoded OXPHOS genes seen in ROSMAP</a:t>
            </a:r>
          </a:p>
        </p:txBody>
      </p:sp>
      <p:sp>
        <p:nvSpPr>
          <p:cNvPr id="22" name="TextBox 21">
            <a:extLst xmlns:a="http://schemas.openxmlformats.org/drawingml/2006/main">
              <a:ext uri="{FF2B5EF4-FFF2-40B4-BE49-F238E27FC236}">
                <a16:creationId xmlns:a16="http://schemas.microsoft.com/office/drawing/2014/main" id="{343EDC46-EFE7-4A30-8216-E06D073D25DC}"/>
              </a:ext>
            </a:extLst>
          </p:cNvPr>
          <p:cNvSpPr>
            <a:spLocks xmlns:a="http://schemas.openxmlformats.org/drawingml/2006/main" noGrp="1"/>
          </p:cNvSpPr>
          <p:nvPr/>
        </p:nvSpPr>
        <p:spPr>
          <a:xfrm xmlns:a="http://schemas.openxmlformats.org/drawingml/2006/main">
            <a:off x="8083296" y="4517136"/>
            <a:ext cx="3163824"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80" b="1" i="0">
                <a:solidFill>
                  <a:srgbClr val="00684D"/>
                </a:solidFill>
                <a:latin typeface="Arial"/>
                <a:ea typeface="Arial"/>
                <a:cs typeface="Arial"/>
              </a:rPr>
              <a:t>All 9 increased in disease in both cohorts.</a:t>
            </a:r>
          </a:p>
        </p:txBody>
      </p:sp>
      <p:sp>
        <p:nvSpPr>
          <p:cNvPr id="23" name="Rounded Rectangle 22">
            <a:extLst xmlns:a="http://schemas.openxmlformats.org/drawingml/2006/main">
              <a:ext uri="{FF2B5EF4-FFF2-40B4-BE49-F238E27FC236}">
                <a16:creationId xmlns:a16="http://schemas.microsoft.com/office/drawing/2014/main" id="{D2420D3D-5EEE-4D81-9835-9433CFEA6415}"/>
              </a:ext>
            </a:extLst>
          </p:cNvPr>
          <p:cNvSpPr>
            <a:spLocks xmlns:a="http://schemas.openxmlformats.org/drawingml/2006/main" noGrp="1"/>
          </p:cNvSpPr>
          <p:nvPr/>
        </p:nvSpPr>
        <p:spPr>
          <a:xfrm xmlns:a="http://schemas.openxmlformats.org/drawingml/2006/main">
            <a:off x="658368" y="5212080"/>
            <a:ext cx="10881360" cy="85953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7A523A4D-34A6-4CB7-9380-26D44C632D9B}"/>
              </a:ext>
            </a:extLst>
          </p:cNvPr>
          <p:cNvSpPr>
            <a:spLocks xmlns:a="http://schemas.openxmlformats.org/drawingml/2006/main" noGrp="1"/>
          </p:cNvSpPr>
          <p:nvPr/>
        </p:nvSpPr>
        <p:spPr>
          <a:xfrm xmlns:a="http://schemas.openxmlformats.org/drawingml/2006/main">
            <a:off x="941832" y="5468112"/>
            <a:ext cx="1572768"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1" i="0">
                <a:solidFill>
                  <a:srgbClr val="895600"/>
                </a:solidFill>
                <a:latin typeface="Arial"/>
                <a:ea typeface="Arial"/>
                <a:cs typeface="Arial"/>
              </a:rPr>
              <a:t>Most careful reading</a:t>
            </a:r>
          </a:p>
        </p:txBody>
      </p:sp>
      <p:sp>
        <p:nvSpPr>
          <p:cNvPr id="25" name="TextBox 24">
            <a:extLst xmlns:a="http://schemas.openxmlformats.org/drawingml/2006/main">
              <a:ext uri="{FF2B5EF4-FFF2-40B4-BE49-F238E27FC236}">
                <a16:creationId xmlns:a16="http://schemas.microsoft.com/office/drawing/2014/main" id="{597DE94C-F94B-4A76-BFD2-32FCDCD40F57}"/>
              </a:ext>
            </a:extLst>
          </p:cNvPr>
          <p:cNvSpPr>
            <a:spLocks xmlns:a="http://schemas.openxmlformats.org/drawingml/2006/main" noGrp="1"/>
          </p:cNvSpPr>
          <p:nvPr/>
        </p:nvSpPr>
        <p:spPr>
          <a:xfrm xmlns:a="http://schemas.openxmlformats.org/drawingml/2006/main">
            <a:off x="2615184" y="5431536"/>
            <a:ext cx="846734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A repeated mitochondrial response that may reflect compensation or stress—not proof of better energy production.</a:t>
            </a:r>
          </a:p>
        </p:txBody>
      </p:sp>
    </p:spTree>
    <p:extLst>
      <p:ext uri="{BB962C8B-B14F-4D97-AF65-F5344CB8AC3E}">
        <p14:creationId xmlns:p14="http://schemas.microsoft.com/office/powerpoint/2010/main" val="1639054672"/>
      </p:ext>
    </p:extLst>
  </p:cSld>
</p:sld>
</file>

<file path=ppt/slides/slide1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B49871B-AAE6-4857-A1A6-F3CFB8854340}"/>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Male ε3/ε3 cells show opposite directions in two OXPHOS gene sets</a:t>
            </a:r>
          </a:p>
        </p:txBody>
      </p:sp>
      <p:sp>
        <p:nvSpPr>
          <p:cNvPr id="3" name="TextBox 2">
            <a:extLst xmlns:a="http://schemas.openxmlformats.org/drawingml/2006/main">
              <a:ext uri="{FF2B5EF4-FFF2-40B4-BE49-F238E27FC236}">
                <a16:creationId xmlns:a16="http://schemas.microsoft.com/office/drawing/2014/main" id="{6C98ED2E-5974-472C-9E62-5E8B4597CD17}"/>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Mitochondrial and nuclear DNA encode structural subunits of the same OXPHOS system.</a:t>
            </a:r>
          </a:p>
        </p:txBody>
      </p:sp>
      <p:sp>
        <p:nvSpPr>
          <p:cNvPr id="4" name="Rounded Rectangle 3">
            <a:extLst xmlns:a="http://schemas.openxmlformats.org/drawingml/2006/main">
              <a:ext uri="{FF2B5EF4-FFF2-40B4-BE49-F238E27FC236}">
                <a16:creationId xmlns:a16="http://schemas.microsoft.com/office/drawing/2014/main" id="{90A9C57C-A4B4-44EA-8280-B84C4C83D6C9}"/>
              </a:ext>
            </a:extLst>
          </p:cNvPr>
          <p:cNvSpPr>
            <a:spLocks xmlns:a="http://schemas.openxmlformats.org/drawingml/2006/main" noGrp="1"/>
          </p:cNvSpPr>
          <p:nvPr/>
        </p:nvSpPr>
        <p:spPr>
          <a:xfrm xmlns:a="http://schemas.openxmlformats.org/drawingml/2006/main">
            <a:off x="658368" y="1700784"/>
            <a:ext cx="5065776" cy="239572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217CCD7-2AFB-4CBE-ABE7-B2D3BEFA52E6}"/>
              </a:ext>
            </a:extLst>
          </p:cNvPr>
          <p:cNvSpPr>
            <a:spLocks xmlns:a="http://schemas.openxmlformats.org/drawingml/2006/main" noGrp="1"/>
          </p:cNvSpPr>
          <p:nvPr/>
        </p:nvSpPr>
        <p:spPr>
          <a:xfrm xmlns:a="http://schemas.openxmlformats.org/drawingml/2006/main">
            <a:off x="932688" y="1984248"/>
            <a:ext cx="4517136"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13 mtDNA-encoded OXPHOS genes</a:t>
            </a:r>
          </a:p>
        </p:txBody>
      </p:sp>
      <p:sp>
        <p:nvSpPr>
          <p:cNvPr id="6" name="TextBox 5">
            <a:extLst xmlns:a="http://schemas.openxmlformats.org/drawingml/2006/main">
              <a:ext uri="{FF2B5EF4-FFF2-40B4-BE49-F238E27FC236}">
                <a16:creationId xmlns:a16="http://schemas.microsoft.com/office/drawing/2014/main" id="{0F35F568-C054-4926-9581-9999D8CC8A08}"/>
              </a:ext>
            </a:extLst>
          </p:cNvPr>
          <p:cNvSpPr>
            <a:spLocks xmlns:a="http://schemas.openxmlformats.org/drawingml/2006/main" noGrp="1"/>
          </p:cNvSpPr>
          <p:nvPr/>
        </p:nvSpPr>
        <p:spPr>
          <a:xfrm xmlns:a="http://schemas.openxmlformats.org/drawingml/2006/main">
            <a:off x="932688" y="2487168"/>
            <a:ext cx="4517136"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0072B2"/>
                </a:solidFill>
                <a:latin typeface="Arial"/>
                <a:ea typeface="Arial"/>
                <a:cs typeface="Arial"/>
              </a:rPr>
              <a:t>70 ↑  |  11 ↓</a:t>
            </a:r>
          </a:p>
        </p:txBody>
      </p:sp>
      <p:sp>
        <p:nvSpPr>
          <p:cNvPr id="7" name="TextBox 6">
            <a:extLst xmlns:a="http://schemas.openxmlformats.org/drawingml/2006/main">
              <a:ext uri="{FF2B5EF4-FFF2-40B4-BE49-F238E27FC236}">
                <a16:creationId xmlns:a16="http://schemas.microsoft.com/office/drawing/2014/main" id="{3FB8FD68-833E-4ABE-B645-756A5EFCB394}"/>
              </a:ext>
            </a:extLst>
          </p:cNvPr>
          <p:cNvSpPr>
            <a:spLocks xmlns:a="http://schemas.openxmlformats.org/drawingml/2006/main" noGrp="1"/>
          </p:cNvSpPr>
          <p:nvPr/>
        </p:nvSpPr>
        <p:spPr>
          <a:xfrm xmlns:a="http://schemas.openxmlformats.org/drawingml/2006/main">
            <a:off x="932688" y="3108960"/>
            <a:ext cx="451713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86% increased in AD</a:t>
            </a:r>
          </a:p>
        </p:txBody>
      </p:sp>
      <p:sp>
        <p:nvSpPr>
          <p:cNvPr id="8" name="TextBox 7">
            <a:extLst xmlns:a="http://schemas.openxmlformats.org/drawingml/2006/main">
              <a:ext uri="{FF2B5EF4-FFF2-40B4-BE49-F238E27FC236}">
                <a16:creationId xmlns:a16="http://schemas.microsoft.com/office/drawing/2014/main" id="{0897D158-1410-4DE3-8483-35628EA4881A}"/>
              </a:ext>
            </a:extLst>
          </p:cNvPr>
          <p:cNvSpPr>
            <a:spLocks xmlns:a="http://schemas.openxmlformats.org/drawingml/2006/main" noGrp="1"/>
          </p:cNvSpPr>
          <p:nvPr/>
        </p:nvSpPr>
        <p:spPr>
          <a:xfrm xmlns:a="http://schemas.openxmlformats.org/drawingml/2006/main">
            <a:off x="1097280" y="3557016"/>
            <a:ext cx="418795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4E5A68"/>
                </a:solidFill>
                <a:latin typeface="Arial"/>
                <a:ea typeface="Arial"/>
                <a:cs typeface="Arial"/>
              </a:rPr>
              <a:t>81 gene appearances across fine-cell comparisons</a:t>
            </a:r>
          </a:p>
        </p:txBody>
      </p:sp>
      <p:sp>
        <p:nvSpPr>
          <p:cNvPr id="9" name="Rounded Rectangle 8">
            <a:extLst xmlns:a="http://schemas.openxmlformats.org/drawingml/2006/main">
              <a:ext uri="{FF2B5EF4-FFF2-40B4-BE49-F238E27FC236}">
                <a16:creationId xmlns:a16="http://schemas.microsoft.com/office/drawing/2014/main" id="{C09E3ED7-6F1E-4F97-8056-2973F33A8021}"/>
              </a:ext>
            </a:extLst>
          </p:cNvPr>
          <p:cNvSpPr>
            <a:spLocks xmlns:a="http://schemas.openxmlformats.org/drawingml/2006/main" noGrp="1"/>
          </p:cNvSpPr>
          <p:nvPr/>
        </p:nvSpPr>
        <p:spPr>
          <a:xfrm xmlns:a="http://schemas.openxmlformats.org/drawingml/2006/main">
            <a:off x="6473952" y="1700784"/>
            <a:ext cx="5065776" cy="239572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66828F8-FDBD-48E6-A056-5E00E989E4C4}"/>
              </a:ext>
            </a:extLst>
          </p:cNvPr>
          <p:cNvSpPr>
            <a:spLocks xmlns:a="http://schemas.openxmlformats.org/drawingml/2006/main" noGrp="1"/>
          </p:cNvSpPr>
          <p:nvPr/>
        </p:nvSpPr>
        <p:spPr>
          <a:xfrm xmlns:a="http://schemas.openxmlformats.org/drawingml/2006/main">
            <a:off x="6748272" y="1984248"/>
            <a:ext cx="4517136"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86 nuclear-encoded structural OXPHOS genes</a:t>
            </a:r>
          </a:p>
        </p:txBody>
      </p:sp>
      <p:sp>
        <p:nvSpPr>
          <p:cNvPr id="11" name="TextBox 10">
            <a:extLst xmlns:a="http://schemas.openxmlformats.org/drawingml/2006/main">
              <a:ext uri="{FF2B5EF4-FFF2-40B4-BE49-F238E27FC236}">
                <a16:creationId xmlns:a16="http://schemas.microsoft.com/office/drawing/2014/main" id="{EB9AC218-69E5-435A-BA56-CFF95C9459DC}"/>
              </a:ext>
            </a:extLst>
          </p:cNvPr>
          <p:cNvSpPr>
            <a:spLocks xmlns:a="http://schemas.openxmlformats.org/drawingml/2006/main" noGrp="1"/>
          </p:cNvSpPr>
          <p:nvPr/>
        </p:nvSpPr>
        <p:spPr>
          <a:xfrm xmlns:a="http://schemas.openxmlformats.org/drawingml/2006/main">
            <a:off x="6748272" y="2487168"/>
            <a:ext cx="4517136"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9E3A00"/>
                </a:solidFill>
                <a:latin typeface="Arial"/>
                <a:ea typeface="Arial"/>
                <a:cs typeface="Arial"/>
              </a:rPr>
              <a:t>8 ↑  |  60 ↓</a:t>
            </a:r>
          </a:p>
        </p:txBody>
      </p:sp>
      <p:sp>
        <p:nvSpPr>
          <p:cNvPr id="12" name="TextBox 11">
            <a:extLst xmlns:a="http://schemas.openxmlformats.org/drawingml/2006/main">
              <a:ext uri="{FF2B5EF4-FFF2-40B4-BE49-F238E27FC236}">
                <a16:creationId xmlns:a16="http://schemas.microsoft.com/office/drawing/2014/main" id="{122337BA-E9D0-473F-94CE-CF1DC0514613}"/>
              </a:ext>
            </a:extLst>
          </p:cNvPr>
          <p:cNvSpPr>
            <a:spLocks xmlns:a="http://schemas.openxmlformats.org/drawingml/2006/main" noGrp="1"/>
          </p:cNvSpPr>
          <p:nvPr/>
        </p:nvSpPr>
        <p:spPr>
          <a:xfrm xmlns:a="http://schemas.openxmlformats.org/drawingml/2006/main">
            <a:off x="6748272" y="3108960"/>
            <a:ext cx="451713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88% decreased in AD</a:t>
            </a:r>
          </a:p>
        </p:txBody>
      </p:sp>
      <p:sp>
        <p:nvSpPr>
          <p:cNvPr id="13" name="TextBox 12">
            <a:extLst xmlns:a="http://schemas.openxmlformats.org/drawingml/2006/main">
              <a:ext uri="{FF2B5EF4-FFF2-40B4-BE49-F238E27FC236}">
                <a16:creationId xmlns:a16="http://schemas.microsoft.com/office/drawing/2014/main" id="{65B89702-B23B-4137-AAF2-7E11BBCCFE29}"/>
              </a:ext>
            </a:extLst>
          </p:cNvPr>
          <p:cNvSpPr>
            <a:spLocks xmlns:a="http://schemas.openxmlformats.org/drawingml/2006/main" noGrp="1"/>
          </p:cNvSpPr>
          <p:nvPr/>
        </p:nvSpPr>
        <p:spPr>
          <a:xfrm xmlns:a="http://schemas.openxmlformats.org/drawingml/2006/main">
            <a:off x="6912864" y="3557016"/>
            <a:ext cx="418795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4E5A68"/>
                </a:solidFill>
                <a:latin typeface="Arial"/>
                <a:ea typeface="Arial"/>
                <a:cs typeface="Arial"/>
              </a:rPr>
              <a:t>68 gene appearances across fine-cell comparisons</a:t>
            </a:r>
          </a:p>
        </p:txBody>
      </p:sp>
      <p:sp>
        <p:nvSpPr>
          <p:cNvPr id="14" name="TextBox 13">
            <a:extLst xmlns:a="http://schemas.openxmlformats.org/drawingml/2006/main">
              <a:ext uri="{FF2B5EF4-FFF2-40B4-BE49-F238E27FC236}">
                <a16:creationId xmlns:a16="http://schemas.microsoft.com/office/drawing/2014/main" id="{831878F7-379C-4FE2-8529-540739525133}"/>
              </a:ext>
            </a:extLst>
          </p:cNvPr>
          <p:cNvSpPr>
            <a:spLocks xmlns:a="http://schemas.openxmlformats.org/drawingml/2006/main" noGrp="1"/>
          </p:cNvSpPr>
          <p:nvPr/>
        </p:nvSpPr>
        <p:spPr>
          <a:xfrm xmlns:a="http://schemas.openxmlformats.org/drawingml/2006/main">
            <a:off x="5705856" y="2505456"/>
            <a:ext cx="768096"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700" b="1" i="0">
                <a:solidFill>
                  <a:srgbClr val="6C7988"/>
                </a:solidFill>
                <a:latin typeface="Arial"/>
                <a:ea typeface="Arial"/>
                <a:cs typeface="Arial"/>
              </a:rPr>
              <a:t>↔</a:t>
            </a:r>
          </a:p>
        </p:txBody>
      </p:sp>
      <p:sp>
        <p:nvSpPr>
          <p:cNvPr id="15" name="Rounded Rectangle 14">
            <a:extLst xmlns:a="http://schemas.openxmlformats.org/drawingml/2006/main">
              <a:ext uri="{FF2B5EF4-FFF2-40B4-BE49-F238E27FC236}">
                <a16:creationId xmlns:a16="http://schemas.microsoft.com/office/drawing/2014/main" id="{8447C4F8-AE97-4CA6-A0FB-A9E0CE0B1EC8}"/>
              </a:ext>
            </a:extLst>
          </p:cNvPr>
          <p:cNvSpPr>
            <a:spLocks xmlns:a="http://schemas.openxmlformats.org/drawingml/2006/main" noGrp="1"/>
          </p:cNvSpPr>
          <p:nvPr/>
        </p:nvSpPr>
        <p:spPr>
          <a:xfrm xmlns:a="http://schemas.openxmlformats.org/drawingml/2006/main">
            <a:off x="658368" y="4370832"/>
            <a:ext cx="6876288" cy="1353312"/>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AB8161E3-0518-42A4-85A5-57AF2D5CAD19}"/>
              </a:ext>
            </a:extLst>
          </p:cNvPr>
          <p:cNvSpPr>
            <a:spLocks xmlns:a="http://schemas.openxmlformats.org/drawingml/2006/main" noGrp="1"/>
          </p:cNvSpPr>
          <p:nvPr/>
        </p:nvSpPr>
        <p:spPr>
          <a:xfrm xmlns:a="http://schemas.openxmlformats.org/drawingml/2006/main">
            <a:off x="941832" y="4617720"/>
            <a:ext cx="630936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70" b="1" i="0">
                <a:solidFill>
                  <a:srgbClr val="00684D"/>
                </a:solidFill>
                <a:latin typeface="Arial"/>
                <a:ea typeface="Arial"/>
                <a:cs typeface="Arial"/>
              </a:rPr>
              <a:t>SEA-AD MATCHED INHIBITORY-NEURON SUPPORT</a:t>
            </a:r>
          </a:p>
        </p:txBody>
      </p:sp>
      <p:sp>
        <p:nvSpPr>
          <p:cNvPr id="17" name="TextBox 16">
            <a:extLst xmlns:a="http://schemas.openxmlformats.org/drawingml/2006/main">
              <a:ext uri="{FF2B5EF4-FFF2-40B4-BE49-F238E27FC236}">
                <a16:creationId xmlns:a16="http://schemas.microsoft.com/office/drawing/2014/main" id="{0E0978BB-8D12-4E23-9AB6-E35C2905034B}"/>
              </a:ext>
            </a:extLst>
          </p:cNvPr>
          <p:cNvSpPr>
            <a:spLocks xmlns:a="http://schemas.openxmlformats.org/drawingml/2006/main" noGrp="1"/>
          </p:cNvSpPr>
          <p:nvPr/>
        </p:nvSpPr>
        <p:spPr>
          <a:xfrm xmlns:a="http://schemas.openxmlformats.org/drawingml/2006/main">
            <a:off x="941832" y="4965192"/>
            <a:ext cx="630936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00" b="1" i="0">
                <a:solidFill>
                  <a:srgbClr val="0F233D"/>
                </a:solidFill>
                <a:latin typeface="Arial"/>
                <a:ea typeface="Arial"/>
                <a:cs typeface="Arial"/>
              </a:rPr>
              <a:t>19 of 22 shared genes moved in the same direction</a:t>
            </a:r>
          </a:p>
        </p:txBody>
      </p:sp>
      <p:sp>
        <p:nvSpPr>
          <p:cNvPr id="18" name="TextBox 17">
            <a:extLst xmlns:a="http://schemas.openxmlformats.org/drawingml/2006/main">
              <a:ext uri="{FF2B5EF4-FFF2-40B4-BE49-F238E27FC236}">
                <a16:creationId xmlns:a16="http://schemas.microsoft.com/office/drawing/2014/main" id="{FE13CC44-DA0E-4417-8C03-7D844CC982A7}"/>
              </a:ext>
            </a:extLst>
          </p:cNvPr>
          <p:cNvSpPr>
            <a:spLocks xmlns:a="http://schemas.openxmlformats.org/drawingml/2006/main" noGrp="1"/>
          </p:cNvSpPr>
          <p:nvPr/>
        </p:nvSpPr>
        <p:spPr>
          <a:xfrm xmlns:a="http://schemas.openxmlformats.org/drawingml/2006/main">
            <a:off x="941832" y="5340096"/>
            <a:ext cx="630936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Nine mtDNA-encoded OXPHOS genes rose while several nuclear-encoded OXPHOS genes fell.</a:t>
            </a:r>
          </a:p>
        </p:txBody>
      </p:sp>
      <p:sp>
        <p:nvSpPr>
          <p:cNvPr id="19" name="Rounded Rectangle 18">
            <a:extLst xmlns:a="http://schemas.openxmlformats.org/drawingml/2006/main">
              <a:ext uri="{FF2B5EF4-FFF2-40B4-BE49-F238E27FC236}">
                <a16:creationId xmlns:a16="http://schemas.microsoft.com/office/drawing/2014/main" id="{2B79BC13-837B-4BE9-8BF8-A5E7209E8E64}"/>
              </a:ext>
            </a:extLst>
          </p:cNvPr>
          <p:cNvSpPr>
            <a:spLocks xmlns:a="http://schemas.openxmlformats.org/drawingml/2006/main" noGrp="1"/>
          </p:cNvSpPr>
          <p:nvPr/>
        </p:nvSpPr>
        <p:spPr>
          <a:xfrm xmlns:a="http://schemas.openxmlformats.org/drawingml/2006/main">
            <a:off x="7790688" y="4370832"/>
            <a:ext cx="3749039" cy="1353312"/>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4CB5AA00-FE8D-44E8-9225-A3C94CDA477C}"/>
              </a:ext>
            </a:extLst>
          </p:cNvPr>
          <p:cNvSpPr>
            <a:spLocks xmlns:a="http://schemas.openxmlformats.org/drawingml/2006/main" noGrp="1"/>
          </p:cNvSpPr>
          <p:nvPr/>
        </p:nvSpPr>
        <p:spPr>
          <a:xfrm xmlns:a="http://schemas.openxmlformats.org/drawingml/2006/main">
            <a:off x="8083296" y="4617720"/>
            <a:ext cx="3163824"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70" b="1" i="0">
                <a:solidFill>
                  <a:srgbClr val="895600"/>
                </a:solidFill>
                <a:latin typeface="Arial"/>
                <a:ea typeface="Arial"/>
                <a:cs typeface="Arial"/>
              </a:rPr>
              <a:t>IMPORTANT LIMIT</a:t>
            </a:r>
          </a:p>
        </p:txBody>
      </p:sp>
      <p:sp>
        <p:nvSpPr>
          <p:cNvPr id="21" name="TextBox 20">
            <a:extLst xmlns:a="http://schemas.openxmlformats.org/drawingml/2006/main">
              <a:ext uri="{FF2B5EF4-FFF2-40B4-BE49-F238E27FC236}">
                <a16:creationId xmlns:a16="http://schemas.microsoft.com/office/drawing/2014/main" id="{29F17AB5-CCF0-4E97-99F8-8907FC8D605E}"/>
              </a:ext>
            </a:extLst>
          </p:cNvPr>
          <p:cNvSpPr>
            <a:spLocks xmlns:a="http://schemas.openxmlformats.org/drawingml/2006/main" noGrp="1"/>
          </p:cNvSpPr>
          <p:nvPr/>
        </p:nvSpPr>
        <p:spPr>
          <a:xfrm xmlns:a="http://schemas.openxmlformats.org/drawingml/2006/main">
            <a:off x="8083296" y="4965192"/>
            <a:ext cx="316382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20" b="0" i="0">
                <a:solidFill>
                  <a:srgbClr val="1F2730"/>
                </a:solidFill>
                <a:latin typeface="Arial"/>
                <a:ea typeface="Arial"/>
                <a:cs typeface="Arial"/>
              </a:rPr>
              <a:t>The broad-cell ROSMAP result was no longer statistically clear after accounting for subtype mixture.</a:t>
            </a:r>
          </a:p>
        </p:txBody>
      </p:sp>
      <p:sp>
        <p:nvSpPr>
          <p:cNvPr id="22" name="TextBox 21">
            <a:extLst xmlns:a="http://schemas.openxmlformats.org/drawingml/2006/main">
              <a:ext uri="{FF2B5EF4-FFF2-40B4-BE49-F238E27FC236}">
                <a16:creationId xmlns:a16="http://schemas.microsoft.com/office/drawing/2014/main" id="{8947FD7C-12DE-4646-B405-6E40D638E409}"/>
              </a:ext>
            </a:extLst>
          </p:cNvPr>
          <p:cNvSpPr>
            <a:spLocks xmlns:a="http://schemas.openxmlformats.org/drawingml/2006/main" noGrp="1"/>
          </p:cNvSpPr>
          <p:nvPr/>
        </p:nvSpPr>
        <p:spPr>
          <a:xfrm xmlns:a="http://schemas.openxmlformats.org/drawingml/2006/main">
            <a:off x="694944" y="5989320"/>
            <a:ext cx="1078992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80" b="0" i="1">
                <a:solidFill>
                  <a:srgbClr val="4E5A68"/>
                </a:solidFill>
                <a:latin typeface="Arial"/>
                <a:ea typeface="Arial"/>
                <a:cs typeface="Arial"/>
              </a:rPr>
              <a:t>Each percentage uses gene-by-fine-cell DEG occurrences; a gene can recur across comparisons.</a:t>
            </a:r>
          </a:p>
        </p:txBody>
      </p:sp>
    </p:spTree>
    <p:extLst>
      <p:ext uri="{BB962C8B-B14F-4D97-AF65-F5344CB8AC3E}">
        <p14:creationId xmlns:p14="http://schemas.microsoft.com/office/powerpoint/2010/main" val="730415278"/>
      </p:ext>
    </p:extLst>
  </p:cSld>
</p:sld>
</file>

<file path=ppt/slides/slide1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0A38812-820E-43AA-AEA6-5D3C98C983E1}"/>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a:t>
            </a:r>
            <a:r>
              <a:rPr sz="1050" b="1">
                <a:solidFill>
                  <a:srgbClr val="0072B2"/>
                </a:solidFill>
                <a:latin typeface="Arial"/>
                <a:ea typeface="Arial"/>
                <a:cs typeface="Arial"/>
              </a:rPr>
              <a:t>3</a:t>
            </a:r>
            <a:endParaRPr sz="1050" b="1" i="0">
              <a:solidFill>
                <a:srgbClr val="0072B2"/>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B029E37C-4342-4CDA-8A77-437F6147B463}"/>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756A2B-C51E-4074-A29B-8354303A5F96}"/>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KDA analysis</a:t>
            </a:r>
          </a:p>
        </p:txBody>
      </p:sp>
      <p:sp>
        <p:nvSpPr>
          <p:cNvPr id="6" name="Rounded Rectangle 5">
            <a:extLst xmlns:a="http://schemas.openxmlformats.org/drawingml/2006/main">
              <a:ext uri="{FF2B5EF4-FFF2-40B4-BE49-F238E27FC236}">
                <a16:creationId xmlns:a16="http://schemas.microsoft.com/office/drawing/2014/main" id="{B83AEE6C-0C4B-4977-BEEB-80A7144C7C9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E13A4AF5-D8B1-41D0-AA6F-13D5CC8DBC3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BDF530FF-5B80-4445-971C-3E93F262580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3B20975-3211-4AF5-9570-0EB0D9AD689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B591A55-3D73-4ECA-BE0D-C3ACADE17C01}"/>
              </a:ext>
            </a:extLst>
          </p:cNvPr>
          <p:cNvSpPr>
            <a:spLocks xmlns:a="http://schemas.openxmlformats.org/drawingml/2006/main" noGrp="1"/>
          </p:cNvSpPr>
          <p:nvPr/>
        </p:nvSpPr>
        <p:spPr>
          <a:xfrm xmlns:a="http://schemas.openxmlformats.org/drawingml/2006/main">
            <a:off x="9628632" y="203482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D0513708-4DE7-443D-9851-630F8E71D76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08C1D71-67D0-44D5-864E-C04624C18AFA}"/>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E3EEDA7-BA00-4CDB-BFDE-9F2883F95298}"/>
              </a:ext>
            </a:extLst>
          </p:cNvPr>
          <p:cNvSpPr>
            <a:spLocks xmlns:a="http://schemas.openxmlformats.org/drawingml/2006/main" noGrp="1"/>
          </p:cNvSpPr>
          <p:nvPr/>
        </p:nvSpPr>
        <p:spPr>
          <a:xfrm xmlns:a="http://schemas.openxmlformats.org/drawingml/2006/main">
            <a:off x="9628632" y="2790427"/>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Call key </a:t>
            </a:r>
            <a:r>
              <a:rPr sz="1110" b="1">
                <a:solidFill>
                  <a:srgbClr val="FFFFFF"/>
                </a:solidFill>
                <a:latin typeface="Arial"/>
                <a:ea typeface="Arial"/>
                <a:cs typeface="Arial"/>
              </a:rPr>
              <a:t>driver</a:t>
            </a:r>
            <a:endParaRPr sz="1110" b="1" i="0">
              <a:solidFill>
                <a:srgbClr val="FFFFFF"/>
              </a:solidFill>
              <a:latin typeface="Arial"/>
              <a:ea typeface="Arial"/>
              <a:cs typeface="Arial"/>
            </a:endParaRPr>
          </a:p>
        </p:txBody>
      </p:sp>
      <p:sp>
        <p:nvSpPr>
          <p:cNvPr id="14" name="Oval 13">
            <a:extLst xmlns:a="http://schemas.openxmlformats.org/drawingml/2006/main">
              <a:ext uri="{FF2B5EF4-FFF2-40B4-BE49-F238E27FC236}">
                <a16:creationId xmlns:a16="http://schemas.microsoft.com/office/drawing/2014/main" id="{2BFBCCAC-5C0E-417E-8013-1A19463D7077}"/>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B6D520-0795-4F7E-A96C-A74455F24ED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C755F62-BD64-4F6E-B193-416C9CE4E9C5}"/>
              </a:ext>
            </a:extLst>
          </p:cNvPr>
          <p:cNvSpPr>
            <a:spLocks xmlns:a="http://schemas.openxmlformats.org/drawingml/2006/main" noGrp="1"/>
          </p:cNvSpPr>
          <p:nvPr/>
        </p:nvSpPr>
        <p:spPr>
          <a:xfrm xmlns:a="http://schemas.openxmlformats.org/drawingml/2006/main">
            <a:off x="9628632" y="3551805"/>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5225D091-C2ED-4309-ACD3-2E65A4BFB68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33959B-4CEB-4D27-A9C6-57EADC2D811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BA6D3EF5-7783-4F39-99AB-618E5BD525A9}"/>
              </a:ext>
            </a:extLst>
          </p:cNvPr>
          <p:cNvSpPr>
            <a:spLocks xmlns:a="http://schemas.openxmlformats.org/drawingml/2006/main" noGrp="1"/>
          </p:cNvSpPr>
          <p:nvPr/>
        </p:nvSpPr>
        <p:spPr>
          <a:xfrm xmlns:a="http://schemas.openxmlformats.org/drawingml/2006/main">
            <a:off x="9628632" y="4295829"/>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873401596"/>
      </p:ext>
    </p:extLst>
  </p:cSld>
</p:sld>
</file>

<file path=ppt/slides/slide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B453143-B114-4286-963B-B60E1F13106E}"/>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What is a category</a:t>
            </a:r>
          </a:p>
        </p:txBody>
      </p:sp>
      <p:sp>
        <p:nvSpPr>
          <p:cNvPr id="3" name="TextBox 2">
            <a:extLst xmlns:a="http://schemas.openxmlformats.org/drawingml/2006/main">
              <a:ext uri="{FF2B5EF4-FFF2-40B4-BE49-F238E27FC236}">
                <a16:creationId xmlns:a16="http://schemas.microsoft.com/office/drawing/2014/main" id="{00B92CF1-041B-48A9-9F2B-1D4B3D840791}"/>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One category selects one sex, one APOE group, and one broad cell type.</a:t>
            </a:r>
          </a:p>
        </p:txBody>
      </p:sp>
      <p:sp>
        <p:nvSpPr>
          <p:cNvPr id="4" name="Rounded Rectangle 3">
            <a:extLst xmlns:a="http://schemas.openxmlformats.org/drawingml/2006/main">
              <a:ext uri="{FF2B5EF4-FFF2-40B4-BE49-F238E27FC236}">
                <a16:creationId xmlns:a16="http://schemas.microsoft.com/office/drawing/2014/main" id="{8F8DFE99-15B0-4AD0-B8BD-DD4144C10CB2}"/>
              </a:ext>
            </a:extLst>
          </p:cNvPr>
          <p:cNvSpPr>
            <a:spLocks xmlns:a="http://schemas.openxmlformats.org/drawingml/2006/main" noGrp="1"/>
          </p:cNvSpPr>
          <p:nvPr/>
        </p:nvSpPr>
        <p:spPr>
          <a:xfrm xmlns:a="http://schemas.openxmlformats.org/drawingml/2006/main">
            <a:off x="603504" y="1134548"/>
            <a:ext cx="2029968" cy="1042415"/>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96CC436-7D92-4989-8C7D-6F150120999E}"/>
              </a:ext>
            </a:extLst>
          </p:cNvPr>
          <p:cNvSpPr>
            <a:spLocks xmlns:a="http://schemas.openxmlformats.org/drawingml/2006/main" noGrp="1"/>
          </p:cNvSpPr>
          <p:nvPr/>
        </p:nvSpPr>
        <p:spPr>
          <a:xfrm xmlns:a="http://schemas.openxmlformats.org/drawingml/2006/main">
            <a:off x="768096"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xmlns:a="http://schemas.openxmlformats.org/drawingml/2006/main">
              <a:ext uri="{FF2B5EF4-FFF2-40B4-BE49-F238E27FC236}">
                <a16:creationId xmlns:a16="http://schemas.microsoft.com/office/drawing/2014/main" id="{8A82ECB7-407D-40A6-A935-1A410D12F99E}"/>
              </a:ext>
            </a:extLst>
          </p:cNvPr>
          <p:cNvSpPr>
            <a:spLocks xmlns:a="http://schemas.openxmlformats.org/drawingml/2006/main" noGrp="1"/>
          </p:cNvSpPr>
          <p:nvPr/>
        </p:nvSpPr>
        <p:spPr>
          <a:xfrm xmlns:a="http://schemas.openxmlformats.org/drawingml/2006/main">
            <a:off x="1408176" y="1308284"/>
            <a:ext cx="1069848"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SEXES</a:t>
            </a:r>
          </a:p>
        </p:txBody>
      </p:sp>
      <p:sp>
        <p:nvSpPr>
          <p:cNvPr id="7" name="TextBox 6">
            <a:extLst xmlns:a="http://schemas.openxmlformats.org/drawingml/2006/main">
              <a:ext uri="{FF2B5EF4-FFF2-40B4-BE49-F238E27FC236}">
                <a16:creationId xmlns:a16="http://schemas.microsoft.com/office/drawing/2014/main" id="{A2B1E95F-AD75-4D02-A1AB-E953465AEF70}"/>
              </a:ext>
            </a:extLst>
          </p:cNvPr>
          <p:cNvSpPr>
            <a:spLocks xmlns:a="http://schemas.openxmlformats.org/drawingml/2006/main" noGrp="1"/>
          </p:cNvSpPr>
          <p:nvPr/>
        </p:nvSpPr>
        <p:spPr>
          <a:xfrm xmlns:a="http://schemas.openxmlformats.org/drawingml/2006/main">
            <a:off x="1408176" y="1628324"/>
            <a:ext cx="10698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Female • Male</a:t>
            </a:r>
          </a:p>
        </p:txBody>
      </p:sp>
      <p:sp>
        <p:nvSpPr>
          <p:cNvPr id="8" name="TextBox 7">
            <a:extLst xmlns:a="http://schemas.openxmlformats.org/drawingml/2006/main">
              <a:ext uri="{FF2B5EF4-FFF2-40B4-BE49-F238E27FC236}">
                <a16:creationId xmlns:a16="http://schemas.microsoft.com/office/drawing/2014/main" id="{1431877B-7942-4330-AA1D-D8F2E271D1A8}"/>
              </a:ext>
            </a:extLst>
          </p:cNvPr>
          <p:cNvSpPr>
            <a:spLocks xmlns:a="http://schemas.openxmlformats.org/drawingml/2006/main" noGrp="1"/>
          </p:cNvSpPr>
          <p:nvPr/>
        </p:nvSpPr>
        <p:spPr>
          <a:xfrm xmlns:a="http://schemas.openxmlformats.org/drawingml/2006/main">
            <a:off x="2724912"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9" name="Rounded Rectangle 8">
            <a:extLst xmlns:a="http://schemas.openxmlformats.org/drawingml/2006/main">
              <a:ext uri="{FF2B5EF4-FFF2-40B4-BE49-F238E27FC236}">
                <a16:creationId xmlns:a16="http://schemas.microsoft.com/office/drawing/2014/main" id="{35BBD3CD-DEF6-4352-9ADC-C0E86905865E}"/>
              </a:ext>
            </a:extLst>
          </p:cNvPr>
          <p:cNvSpPr>
            <a:spLocks xmlns:a="http://schemas.openxmlformats.org/drawingml/2006/main" noGrp="1"/>
          </p:cNvSpPr>
          <p:nvPr/>
        </p:nvSpPr>
        <p:spPr>
          <a:xfrm xmlns:a="http://schemas.openxmlformats.org/drawingml/2006/main">
            <a:off x="3200400" y="1134548"/>
            <a:ext cx="2542032" cy="1042415"/>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D10764ED-0D24-49E4-AC0E-6E83A96A1D22}"/>
              </a:ext>
            </a:extLst>
          </p:cNvPr>
          <p:cNvSpPr>
            <a:spLocks xmlns:a="http://schemas.openxmlformats.org/drawingml/2006/main" noGrp="1"/>
          </p:cNvSpPr>
          <p:nvPr/>
        </p:nvSpPr>
        <p:spPr>
          <a:xfrm xmlns:a="http://schemas.openxmlformats.org/drawingml/2006/main">
            <a:off x="3364992"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1" name="TextBox 10">
            <a:extLst xmlns:a="http://schemas.openxmlformats.org/drawingml/2006/main">
              <a:ext uri="{FF2B5EF4-FFF2-40B4-BE49-F238E27FC236}">
                <a16:creationId xmlns:a16="http://schemas.microsoft.com/office/drawing/2014/main" id="{D925246A-A4C6-4FA4-847E-0D5ABF59052E}"/>
              </a:ext>
            </a:extLst>
          </p:cNvPr>
          <p:cNvSpPr>
            <a:spLocks xmlns:a="http://schemas.openxmlformats.org/drawingml/2006/main" noGrp="1"/>
          </p:cNvSpPr>
          <p:nvPr/>
        </p:nvSpPr>
        <p:spPr>
          <a:xfrm xmlns:a="http://schemas.openxmlformats.org/drawingml/2006/main">
            <a:off x="4005072" y="1308284"/>
            <a:ext cx="1581911"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APOE GROUPS</a:t>
            </a:r>
          </a:p>
        </p:txBody>
      </p:sp>
      <p:sp>
        <p:nvSpPr>
          <p:cNvPr id="12" name="TextBox 11">
            <a:extLst xmlns:a="http://schemas.openxmlformats.org/drawingml/2006/main">
              <a:ext uri="{FF2B5EF4-FFF2-40B4-BE49-F238E27FC236}">
                <a16:creationId xmlns:a16="http://schemas.microsoft.com/office/drawing/2014/main" id="{6C7A4290-E4A9-4AE0-A569-E41B00922F9B}"/>
              </a:ext>
            </a:extLst>
          </p:cNvPr>
          <p:cNvSpPr>
            <a:spLocks xmlns:a="http://schemas.openxmlformats.org/drawingml/2006/main" noGrp="1"/>
          </p:cNvSpPr>
          <p:nvPr/>
        </p:nvSpPr>
        <p:spPr>
          <a:xfrm xmlns:a="http://schemas.openxmlformats.org/drawingml/2006/main">
            <a:off x="4005072" y="1628324"/>
            <a:ext cx="1581911"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ε2 carrier • ε3/ε3 • ε4 carrier</a:t>
            </a:r>
          </a:p>
        </p:txBody>
      </p:sp>
      <p:sp>
        <p:nvSpPr>
          <p:cNvPr id="13" name="TextBox 12">
            <a:extLst xmlns:a="http://schemas.openxmlformats.org/drawingml/2006/main">
              <a:ext uri="{FF2B5EF4-FFF2-40B4-BE49-F238E27FC236}">
                <a16:creationId xmlns:a16="http://schemas.microsoft.com/office/drawing/2014/main" id="{AE44AE31-1C47-4592-84C3-1865FC46D572}"/>
              </a:ext>
            </a:extLst>
          </p:cNvPr>
          <p:cNvSpPr>
            <a:spLocks xmlns:a="http://schemas.openxmlformats.org/drawingml/2006/main" noGrp="1"/>
          </p:cNvSpPr>
          <p:nvPr/>
        </p:nvSpPr>
        <p:spPr>
          <a:xfrm xmlns:a="http://schemas.openxmlformats.org/drawingml/2006/main">
            <a:off x="5833872"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4" name="Rounded Rectangle 13">
            <a:extLst xmlns:a="http://schemas.openxmlformats.org/drawingml/2006/main">
              <a:ext uri="{FF2B5EF4-FFF2-40B4-BE49-F238E27FC236}">
                <a16:creationId xmlns:a16="http://schemas.microsoft.com/office/drawing/2014/main" id="{4A65B7AF-CB5C-43C3-8CA1-C66BA5F7BB03}"/>
              </a:ext>
            </a:extLst>
          </p:cNvPr>
          <p:cNvSpPr>
            <a:spLocks xmlns:a="http://schemas.openxmlformats.org/drawingml/2006/main" noGrp="1"/>
          </p:cNvSpPr>
          <p:nvPr/>
        </p:nvSpPr>
        <p:spPr>
          <a:xfrm xmlns:a="http://schemas.openxmlformats.org/drawingml/2006/main">
            <a:off x="6309360" y="1134548"/>
            <a:ext cx="2121408" cy="1042415"/>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47D5A70-7BA9-4192-8B5D-9889D220F1BA}"/>
              </a:ext>
            </a:extLst>
          </p:cNvPr>
          <p:cNvSpPr>
            <a:spLocks xmlns:a="http://schemas.openxmlformats.org/drawingml/2006/main" noGrp="1"/>
          </p:cNvSpPr>
          <p:nvPr/>
        </p:nvSpPr>
        <p:spPr>
          <a:xfrm xmlns:a="http://schemas.openxmlformats.org/drawingml/2006/main">
            <a:off x="6473952"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7</a:t>
            </a:r>
          </a:p>
        </p:txBody>
      </p:sp>
      <p:sp>
        <p:nvSpPr>
          <p:cNvPr id="16" name="TextBox 15">
            <a:extLst xmlns:a="http://schemas.openxmlformats.org/drawingml/2006/main">
              <a:ext uri="{FF2B5EF4-FFF2-40B4-BE49-F238E27FC236}">
                <a16:creationId xmlns:a16="http://schemas.microsoft.com/office/drawing/2014/main" id="{0F52C426-33FB-46C6-BDF1-EC028753A731}"/>
              </a:ext>
            </a:extLst>
          </p:cNvPr>
          <p:cNvSpPr>
            <a:spLocks xmlns:a="http://schemas.openxmlformats.org/drawingml/2006/main" noGrp="1"/>
          </p:cNvSpPr>
          <p:nvPr/>
        </p:nvSpPr>
        <p:spPr>
          <a:xfrm xmlns:a="http://schemas.openxmlformats.org/drawingml/2006/main">
            <a:off x="7114032" y="1308284"/>
            <a:ext cx="1161287"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BROAD TYPES</a:t>
            </a:r>
          </a:p>
        </p:txBody>
      </p:sp>
      <p:sp>
        <p:nvSpPr>
          <p:cNvPr id="17" name="TextBox 16">
            <a:extLst xmlns:a="http://schemas.openxmlformats.org/drawingml/2006/main">
              <a:ext uri="{FF2B5EF4-FFF2-40B4-BE49-F238E27FC236}">
                <a16:creationId xmlns:a16="http://schemas.microsoft.com/office/drawing/2014/main" id="{59907BBC-FFB6-4080-BC97-1947882A4001}"/>
              </a:ext>
            </a:extLst>
          </p:cNvPr>
          <p:cNvSpPr>
            <a:spLocks xmlns:a="http://schemas.openxmlformats.org/drawingml/2006/main" noGrp="1"/>
          </p:cNvSpPr>
          <p:nvPr/>
        </p:nvSpPr>
        <p:spPr>
          <a:xfrm xmlns:a="http://schemas.openxmlformats.org/drawingml/2006/main">
            <a:off x="7114032" y="1628324"/>
            <a:ext cx="1161287"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Frozen cell classes</a:t>
            </a:r>
          </a:p>
        </p:txBody>
      </p:sp>
      <p:sp>
        <p:nvSpPr>
          <p:cNvPr id="18" name="TextBox 17">
            <a:extLst xmlns:a="http://schemas.openxmlformats.org/drawingml/2006/main">
              <a:ext uri="{FF2B5EF4-FFF2-40B4-BE49-F238E27FC236}">
                <a16:creationId xmlns:a16="http://schemas.microsoft.com/office/drawing/2014/main" id="{D98D2DB5-3A0E-4623-B0B8-FA5465C503C1}"/>
              </a:ext>
            </a:extLst>
          </p:cNvPr>
          <p:cNvSpPr>
            <a:spLocks xmlns:a="http://schemas.openxmlformats.org/drawingml/2006/main" noGrp="1"/>
          </p:cNvSpPr>
          <p:nvPr/>
        </p:nvSpPr>
        <p:spPr>
          <a:xfrm xmlns:a="http://schemas.openxmlformats.org/drawingml/2006/main">
            <a:off x="8522208" y="1418012"/>
            <a:ext cx="384048"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200" b="1" i="0">
                <a:solidFill>
                  <a:srgbClr val="4E5A68"/>
                </a:solidFill>
                <a:latin typeface="Arial"/>
                <a:ea typeface="Arial"/>
                <a:cs typeface="Arial"/>
              </a:rPr>
              <a:t>=</a:t>
            </a:r>
          </a:p>
        </p:txBody>
      </p:sp>
      <p:sp>
        <p:nvSpPr>
          <p:cNvPr id="19" name="Rounded Rectangle 18">
            <a:extLst xmlns:a="http://schemas.openxmlformats.org/drawingml/2006/main">
              <a:ext uri="{FF2B5EF4-FFF2-40B4-BE49-F238E27FC236}">
                <a16:creationId xmlns:a16="http://schemas.microsoft.com/office/drawing/2014/main" id="{EB94EC70-314C-4BA8-95D7-349F2F373427}"/>
              </a:ext>
            </a:extLst>
          </p:cNvPr>
          <p:cNvSpPr>
            <a:spLocks xmlns:a="http://schemas.openxmlformats.org/drawingml/2006/main" noGrp="1"/>
          </p:cNvSpPr>
          <p:nvPr/>
        </p:nvSpPr>
        <p:spPr>
          <a:xfrm xmlns:a="http://schemas.openxmlformats.org/drawingml/2006/main">
            <a:off x="8997696" y="1134548"/>
            <a:ext cx="2587752" cy="1042415"/>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866134D-FCEE-4C41-9D80-037CE574FA56}"/>
              </a:ext>
            </a:extLst>
          </p:cNvPr>
          <p:cNvSpPr>
            <a:spLocks xmlns:a="http://schemas.openxmlformats.org/drawingml/2006/main" noGrp="1"/>
          </p:cNvSpPr>
          <p:nvPr/>
        </p:nvSpPr>
        <p:spPr>
          <a:xfrm xmlns:a="http://schemas.openxmlformats.org/drawingml/2006/main">
            <a:off x="9162288" y="1317428"/>
            <a:ext cx="566928" cy="49377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9E3A00"/>
                </a:solidFill>
                <a:latin typeface="Arial"/>
                <a:ea typeface="Arial"/>
                <a:cs typeface="Arial"/>
              </a:rPr>
              <a:t>42</a:t>
            </a:r>
          </a:p>
        </p:txBody>
      </p:sp>
      <p:sp>
        <p:nvSpPr>
          <p:cNvPr id="21" name="TextBox 20">
            <a:extLst xmlns:a="http://schemas.openxmlformats.org/drawingml/2006/main">
              <a:ext uri="{FF2B5EF4-FFF2-40B4-BE49-F238E27FC236}">
                <a16:creationId xmlns:a16="http://schemas.microsoft.com/office/drawing/2014/main" id="{BC64DA88-8BB9-43CD-A70B-6AA5550C15DE}"/>
              </a:ext>
            </a:extLst>
          </p:cNvPr>
          <p:cNvSpPr>
            <a:spLocks xmlns:a="http://schemas.openxmlformats.org/drawingml/2006/main" noGrp="1"/>
          </p:cNvSpPr>
          <p:nvPr/>
        </p:nvSpPr>
        <p:spPr>
          <a:xfrm xmlns:a="http://schemas.openxmlformats.org/drawingml/2006/main">
            <a:off x="9802368" y="1308284"/>
            <a:ext cx="162763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80" b="1" i="0">
                <a:solidFill>
                  <a:srgbClr val="0F233D"/>
                </a:solidFill>
                <a:latin typeface="Arial"/>
                <a:ea typeface="Arial"/>
                <a:cs typeface="Arial"/>
              </a:rPr>
              <a:t>CATEGORIES</a:t>
            </a:r>
          </a:p>
        </p:txBody>
      </p:sp>
      <p:sp>
        <p:nvSpPr>
          <p:cNvPr id="22" name="TextBox 21">
            <a:extLst xmlns:a="http://schemas.openxmlformats.org/drawingml/2006/main">
              <a:ext uri="{FF2B5EF4-FFF2-40B4-BE49-F238E27FC236}">
                <a16:creationId xmlns:a16="http://schemas.microsoft.com/office/drawing/2014/main" id="{CBBD629D-ADE0-46F7-A435-73FFBE662FDB}"/>
              </a:ext>
            </a:extLst>
          </p:cNvPr>
          <p:cNvSpPr>
            <a:spLocks xmlns:a="http://schemas.openxmlformats.org/drawingml/2006/main" noGrp="1"/>
          </p:cNvSpPr>
          <p:nvPr/>
        </p:nvSpPr>
        <p:spPr>
          <a:xfrm xmlns:a="http://schemas.openxmlformats.org/drawingml/2006/main">
            <a:off x="9802368" y="1628324"/>
            <a:ext cx="1627632"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0" i="0">
                <a:solidFill>
                  <a:srgbClr val="4E5A68"/>
                </a:solidFill>
                <a:latin typeface="Arial"/>
                <a:ea typeface="Arial"/>
                <a:cs typeface="Arial"/>
              </a:rPr>
              <a:t>Possible analysis contexts</a:t>
            </a:r>
          </a:p>
        </p:txBody>
      </p:sp>
      <p:sp>
        <p:nvSpPr>
          <p:cNvPr id="23" name="Rounded Rectangle 22">
            <a:extLst xmlns:a="http://schemas.openxmlformats.org/drawingml/2006/main">
              <a:ext uri="{FF2B5EF4-FFF2-40B4-BE49-F238E27FC236}">
                <a16:creationId xmlns:a16="http://schemas.microsoft.com/office/drawing/2014/main" id="{B494B280-69DC-4470-9F05-DC79C8BCD8ED}"/>
              </a:ext>
            </a:extLst>
          </p:cNvPr>
          <p:cNvSpPr>
            <a:spLocks xmlns:a="http://schemas.openxmlformats.org/drawingml/2006/main" noGrp="1"/>
          </p:cNvSpPr>
          <p:nvPr/>
        </p:nvSpPr>
        <p:spPr>
          <a:xfrm xmlns:a="http://schemas.openxmlformats.org/drawingml/2006/main">
            <a:off x="603504" y="2487860"/>
            <a:ext cx="5422392" cy="288950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5DA32A0B-167A-47CC-85FD-83F23A6AFD1E}"/>
              </a:ext>
            </a:extLst>
          </p:cNvPr>
          <p:cNvSpPr>
            <a:spLocks xmlns:a="http://schemas.openxmlformats.org/drawingml/2006/main" noGrp="1"/>
          </p:cNvSpPr>
          <p:nvPr/>
        </p:nvSpPr>
        <p:spPr>
          <a:xfrm xmlns:a="http://schemas.openxmlformats.org/drawingml/2006/main">
            <a:off x="877824" y="2771324"/>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04FEA757-4833-4D66-A8E3-ED58955CE4E2}"/>
              </a:ext>
            </a:extLst>
          </p:cNvPr>
          <p:cNvSpPr>
            <a:spLocks xmlns:a="http://schemas.openxmlformats.org/drawingml/2006/main" noGrp="1"/>
          </p:cNvSpPr>
          <p:nvPr/>
        </p:nvSpPr>
        <p:spPr>
          <a:xfrm xmlns:a="http://schemas.openxmlformats.org/drawingml/2006/main">
            <a:off x="1024127" y="2743892"/>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Six sex/APOE groups</a:t>
            </a:r>
          </a:p>
        </p:txBody>
      </p:sp>
      <p:sp>
        <p:nvSpPr>
          <p:cNvPr id="26" name="TextBox 25">
            <a:extLst xmlns:a="http://schemas.openxmlformats.org/drawingml/2006/main">
              <a:ext uri="{FF2B5EF4-FFF2-40B4-BE49-F238E27FC236}">
                <a16:creationId xmlns:a16="http://schemas.microsoft.com/office/drawing/2014/main" id="{5B63075E-CC09-4D81-B8B3-08C85EEAA6A9}"/>
              </a:ext>
            </a:extLst>
          </p:cNvPr>
          <p:cNvSpPr>
            <a:spLocks xmlns:a="http://schemas.openxmlformats.org/drawingml/2006/main" noGrp="1"/>
          </p:cNvSpPr>
          <p:nvPr/>
        </p:nvSpPr>
        <p:spPr>
          <a:xfrm xmlns:a="http://schemas.openxmlformats.org/drawingml/2006/main">
            <a:off x="896112" y="3383972"/>
            <a:ext cx="7863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FEMALE</a:t>
            </a:r>
          </a:p>
        </p:txBody>
      </p:sp>
      <p:sp>
        <p:nvSpPr>
          <p:cNvPr id="27" name="TextBox 26">
            <a:extLst xmlns:a="http://schemas.openxmlformats.org/drawingml/2006/main">
              <a:ext uri="{FF2B5EF4-FFF2-40B4-BE49-F238E27FC236}">
                <a16:creationId xmlns:a16="http://schemas.microsoft.com/office/drawing/2014/main" id="{589BB5D0-CCAD-42B8-9BE6-E9E82F4819E6}"/>
              </a:ext>
            </a:extLst>
          </p:cNvPr>
          <p:cNvSpPr>
            <a:spLocks xmlns:a="http://schemas.openxmlformats.org/drawingml/2006/main" noGrp="1"/>
          </p:cNvSpPr>
          <p:nvPr/>
        </p:nvSpPr>
        <p:spPr>
          <a:xfrm xmlns:a="http://schemas.openxmlformats.org/drawingml/2006/main">
            <a:off x="896112" y="4005763"/>
            <a:ext cx="78638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MALE</a:t>
            </a:r>
          </a:p>
        </p:txBody>
      </p:sp>
      <p:sp>
        <p:nvSpPr>
          <p:cNvPr id="28" name="Rounded Rectangle 27">
            <a:extLst xmlns:a="http://schemas.openxmlformats.org/drawingml/2006/main">
              <a:ext uri="{FF2B5EF4-FFF2-40B4-BE49-F238E27FC236}">
                <a16:creationId xmlns:a16="http://schemas.microsoft.com/office/drawing/2014/main" id="{BA674D85-7891-4E55-BFD8-0A44638823AE}"/>
              </a:ext>
            </a:extLst>
          </p:cNvPr>
          <p:cNvSpPr>
            <a:spLocks xmlns:a="http://schemas.openxmlformats.org/drawingml/2006/main" noGrp="1"/>
          </p:cNvSpPr>
          <p:nvPr/>
        </p:nvSpPr>
        <p:spPr>
          <a:xfrm xmlns:a="http://schemas.openxmlformats.org/drawingml/2006/main">
            <a:off x="17007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F03F4139-214F-4285-9BA1-A595E003B025}"/>
              </a:ext>
            </a:extLst>
          </p:cNvPr>
          <p:cNvSpPr>
            <a:spLocks xmlns:a="http://schemas.openxmlformats.org/drawingml/2006/main" noGrp="1"/>
          </p:cNvSpPr>
          <p:nvPr/>
        </p:nvSpPr>
        <p:spPr>
          <a:xfrm xmlns:a="http://schemas.openxmlformats.org/drawingml/2006/main">
            <a:off x="17739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F_e2</a:t>
            </a:r>
          </a:p>
        </p:txBody>
      </p:sp>
      <p:sp>
        <p:nvSpPr>
          <p:cNvPr id="30" name="Rounded Rectangle 29">
            <a:extLst xmlns:a="http://schemas.openxmlformats.org/drawingml/2006/main">
              <a:ext uri="{FF2B5EF4-FFF2-40B4-BE49-F238E27FC236}">
                <a16:creationId xmlns:a16="http://schemas.microsoft.com/office/drawing/2014/main" id="{002F3515-4D2F-4F16-BF98-13BD06D63850}"/>
              </a:ext>
            </a:extLst>
          </p:cNvPr>
          <p:cNvSpPr>
            <a:spLocks xmlns:a="http://schemas.openxmlformats.org/drawingml/2006/main" noGrp="1"/>
          </p:cNvSpPr>
          <p:nvPr/>
        </p:nvSpPr>
        <p:spPr>
          <a:xfrm xmlns:a="http://schemas.openxmlformats.org/drawingml/2006/main">
            <a:off x="17007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1C36D793-3530-42C0-8140-1E7A28CF30C4}"/>
              </a:ext>
            </a:extLst>
          </p:cNvPr>
          <p:cNvSpPr>
            <a:spLocks xmlns:a="http://schemas.openxmlformats.org/drawingml/2006/main" noGrp="1"/>
          </p:cNvSpPr>
          <p:nvPr/>
        </p:nvSpPr>
        <p:spPr>
          <a:xfrm xmlns:a="http://schemas.openxmlformats.org/drawingml/2006/main">
            <a:off x="17739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M_e2</a:t>
            </a:r>
          </a:p>
        </p:txBody>
      </p:sp>
      <p:sp>
        <p:nvSpPr>
          <p:cNvPr id="32" name="Rounded Rectangle 31">
            <a:extLst xmlns:a="http://schemas.openxmlformats.org/drawingml/2006/main">
              <a:ext uri="{FF2B5EF4-FFF2-40B4-BE49-F238E27FC236}">
                <a16:creationId xmlns:a16="http://schemas.microsoft.com/office/drawing/2014/main" id="{9C1A7CE5-E1A6-40B0-B8BD-4266BF069827}"/>
              </a:ext>
            </a:extLst>
          </p:cNvPr>
          <p:cNvSpPr>
            <a:spLocks xmlns:a="http://schemas.openxmlformats.org/drawingml/2006/main" noGrp="1"/>
          </p:cNvSpPr>
          <p:nvPr/>
        </p:nvSpPr>
        <p:spPr>
          <a:xfrm xmlns:a="http://schemas.openxmlformats.org/drawingml/2006/main">
            <a:off x="30723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4925B471-BF86-42D8-8276-2FF6DDDDBB18}"/>
              </a:ext>
            </a:extLst>
          </p:cNvPr>
          <p:cNvSpPr>
            <a:spLocks xmlns:a="http://schemas.openxmlformats.org/drawingml/2006/main" noGrp="1"/>
          </p:cNvSpPr>
          <p:nvPr/>
        </p:nvSpPr>
        <p:spPr>
          <a:xfrm xmlns:a="http://schemas.openxmlformats.org/drawingml/2006/main">
            <a:off x="31455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F_e33</a:t>
            </a:r>
          </a:p>
        </p:txBody>
      </p:sp>
      <p:sp>
        <p:nvSpPr>
          <p:cNvPr id="34" name="Rounded Rectangle 33">
            <a:extLst xmlns:a="http://schemas.openxmlformats.org/drawingml/2006/main">
              <a:ext uri="{FF2B5EF4-FFF2-40B4-BE49-F238E27FC236}">
                <a16:creationId xmlns:a16="http://schemas.microsoft.com/office/drawing/2014/main" id="{F2142C82-5F53-493A-BE90-4BA2F922B9AD}"/>
              </a:ext>
            </a:extLst>
          </p:cNvPr>
          <p:cNvSpPr>
            <a:spLocks xmlns:a="http://schemas.openxmlformats.org/drawingml/2006/main" noGrp="1"/>
          </p:cNvSpPr>
          <p:nvPr/>
        </p:nvSpPr>
        <p:spPr>
          <a:xfrm xmlns:a="http://schemas.openxmlformats.org/drawingml/2006/main">
            <a:off x="30723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E990F137-911D-407D-95C3-9DCF01FCABAB}"/>
              </a:ext>
            </a:extLst>
          </p:cNvPr>
          <p:cNvSpPr>
            <a:spLocks xmlns:a="http://schemas.openxmlformats.org/drawingml/2006/main" noGrp="1"/>
          </p:cNvSpPr>
          <p:nvPr/>
        </p:nvSpPr>
        <p:spPr>
          <a:xfrm xmlns:a="http://schemas.openxmlformats.org/drawingml/2006/main">
            <a:off x="31455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M_e33</a:t>
            </a:r>
          </a:p>
        </p:txBody>
      </p:sp>
      <p:sp>
        <p:nvSpPr>
          <p:cNvPr id="36" name="Rounded Rectangle 35">
            <a:extLst xmlns:a="http://schemas.openxmlformats.org/drawingml/2006/main">
              <a:ext uri="{FF2B5EF4-FFF2-40B4-BE49-F238E27FC236}">
                <a16:creationId xmlns:a16="http://schemas.microsoft.com/office/drawing/2014/main" id="{6DC4B910-710E-4996-8C48-6BD291CECE0A}"/>
              </a:ext>
            </a:extLst>
          </p:cNvPr>
          <p:cNvSpPr>
            <a:spLocks xmlns:a="http://schemas.openxmlformats.org/drawingml/2006/main" noGrp="1"/>
          </p:cNvSpPr>
          <p:nvPr/>
        </p:nvSpPr>
        <p:spPr>
          <a:xfrm xmlns:a="http://schemas.openxmlformats.org/drawingml/2006/main">
            <a:off x="4443984" y="3274244"/>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56E00175-9B35-4406-AF53-796D05AAF164}"/>
              </a:ext>
            </a:extLst>
          </p:cNvPr>
          <p:cNvSpPr>
            <a:spLocks xmlns:a="http://schemas.openxmlformats.org/drawingml/2006/main" noGrp="1"/>
          </p:cNvSpPr>
          <p:nvPr/>
        </p:nvSpPr>
        <p:spPr>
          <a:xfrm xmlns:a="http://schemas.openxmlformats.org/drawingml/2006/main">
            <a:off x="4517136" y="3365684"/>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F_e4</a:t>
            </a:r>
          </a:p>
        </p:txBody>
      </p:sp>
      <p:sp>
        <p:nvSpPr>
          <p:cNvPr id="38" name="Rounded Rectangle 37">
            <a:extLst xmlns:a="http://schemas.openxmlformats.org/drawingml/2006/main">
              <a:ext uri="{FF2B5EF4-FFF2-40B4-BE49-F238E27FC236}">
                <a16:creationId xmlns:a16="http://schemas.microsoft.com/office/drawing/2014/main" id="{325485EA-C4E4-4B5A-B1CA-7462544B97C6}"/>
              </a:ext>
            </a:extLst>
          </p:cNvPr>
          <p:cNvSpPr>
            <a:spLocks xmlns:a="http://schemas.openxmlformats.org/drawingml/2006/main" noGrp="1"/>
          </p:cNvSpPr>
          <p:nvPr/>
        </p:nvSpPr>
        <p:spPr>
          <a:xfrm xmlns:a="http://schemas.openxmlformats.org/drawingml/2006/main">
            <a:off x="4443984" y="3896036"/>
            <a:ext cx="1225296" cy="42062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F714AAAA-B4A9-43AD-A0E4-351E14DE3F41}"/>
              </a:ext>
            </a:extLst>
          </p:cNvPr>
          <p:cNvSpPr>
            <a:spLocks xmlns:a="http://schemas.openxmlformats.org/drawingml/2006/main" noGrp="1"/>
          </p:cNvSpPr>
          <p:nvPr/>
        </p:nvSpPr>
        <p:spPr>
          <a:xfrm xmlns:a="http://schemas.openxmlformats.org/drawingml/2006/main">
            <a:off x="4517136" y="3987476"/>
            <a:ext cx="1078992"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M_e4</a:t>
            </a:r>
          </a:p>
        </p:txBody>
      </p:sp>
      <p:sp>
        <p:nvSpPr>
          <p:cNvPr id="40" name="TextBox 39">
            <a:extLst xmlns:a="http://schemas.openxmlformats.org/drawingml/2006/main">
              <a:ext uri="{FF2B5EF4-FFF2-40B4-BE49-F238E27FC236}">
                <a16:creationId xmlns:a16="http://schemas.microsoft.com/office/drawing/2014/main" id="{13C3DEEE-8B63-4F17-949B-EE21B1731C09}"/>
              </a:ext>
            </a:extLst>
          </p:cNvPr>
          <p:cNvSpPr>
            <a:spLocks xmlns:a="http://schemas.openxmlformats.org/drawingml/2006/main" noGrp="1"/>
          </p:cNvSpPr>
          <p:nvPr/>
        </p:nvSpPr>
        <p:spPr>
          <a:xfrm xmlns:a="http://schemas.openxmlformats.org/drawingml/2006/main">
            <a:off x="896112" y="4664132"/>
            <a:ext cx="4809744"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80" b="0" i="0">
                <a:solidFill>
                  <a:srgbClr val="4E5A68"/>
                </a:solidFill>
                <a:latin typeface="Arial"/>
                <a:ea typeface="Arial"/>
                <a:cs typeface="Arial"/>
              </a:rPr>
              <a:t>e2 = ε2 carrier   •   e33 = ε3/ε3   •   e4 = ε4 carrier</a:t>
            </a:r>
          </a:p>
        </p:txBody>
      </p:sp>
      <p:sp>
        <p:nvSpPr>
          <p:cNvPr id="41" name="Rounded Rectangle 40">
            <a:extLst xmlns:a="http://schemas.openxmlformats.org/drawingml/2006/main">
              <a:ext uri="{FF2B5EF4-FFF2-40B4-BE49-F238E27FC236}">
                <a16:creationId xmlns:a16="http://schemas.microsoft.com/office/drawing/2014/main" id="{6A6C5A5F-CCF6-4E84-841D-077E84133767}"/>
              </a:ext>
            </a:extLst>
          </p:cNvPr>
          <p:cNvSpPr>
            <a:spLocks xmlns:a="http://schemas.openxmlformats.org/drawingml/2006/main" noGrp="1"/>
          </p:cNvSpPr>
          <p:nvPr/>
        </p:nvSpPr>
        <p:spPr>
          <a:xfrm xmlns:a="http://schemas.openxmlformats.org/drawingml/2006/main">
            <a:off x="6172200" y="2487860"/>
            <a:ext cx="5413248" cy="288950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Rectangle 41">
            <a:extLst xmlns:a="http://schemas.openxmlformats.org/drawingml/2006/main">
              <a:ext uri="{FF2B5EF4-FFF2-40B4-BE49-F238E27FC236}">
                <a16:creationId xmlns:a16="http://schemas.microsoft.com/office/drawing/2014/main" id="{F7604787-0199-47D3-9DFF-47AEBCB849D0}"/>
              </a:ext>
            </a:extLst>
          </p:cNvPr>
          <p:cNvSpPr>
            <a:spLocks xmlns:a="http://schemas.openxmlformats.org/drawingml/2006/main" noGrp="1"/>
          </p:cNvSpPr>
          <p:nvPr/>
        </p:nvSpPr>
        <p:spPr>
          <a:xfrm xmlns:a="http://schemas.openxmlformats.org/drawingml/2006/main">
            <a:off x="6446520" y="2771324"/>
            <a:ext cx="64008" cy="283464"/>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3484896B-2FE2-4D4C-8BAF-A6753F03A45A}"/>
              </a:ext>
            </a:extLst>
          </p:cNvPr>
          <p:cNvSpPr>
            <a:spLocks xmlns:a="http://schemas.openxmlformats.org/drawingml/2006/main" noGrp="1"/>
          </p:cNvSpPr>
          <p:nvPr/>
        </p:nvSpPr>
        <p:spPr>
          <a:xfrm xmlns:a="http://schemas.openxmlformats.org/drawingml/2006/main">
            <a:off x="6592824" y="2743892"/>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Seven broad cell types</a:t>
            </a:r>
          </a:p>
        </p:txBody>
      </p:sp>
      <p:sp>
        <p:nvSpPr>
          <p:cNvPr id="44" name="Rounded Rectangle 43">
            <a:extLst xmlns:a="http://schemas.openxmlformats.org/drawingml/2006/main">
              <a:ext uri="{FF2B5EF4-FFF2-40B4-BE49-F238E27FC236}">
                <a16:creationId xmlns:a16="http://schemas.microsoft.com/office/drawing/2014/main" id="{06CA765D-3399-4D97-A3AC-C2D9311C7292}"/>
              </a:ext>
            </a:extLst>
          </p:cNvPr>
          <p:cNvSpPr>
            <a:spLocks xmlns:a="http://schemas.openxmlformats.org/drawingml/2006/main" noGrp="1"/>
          </p:cNvSpPr>
          <p:nvPr/>
        </p:nvSpPr>
        <p:spPr>
          <a:xfrm xmlns:a="http://schemas.openxmlformats.org/drawingml/2006/main">
            <a:off x="6446520" y="323766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17D76026-8450-4E92-AE17-B1A278E1E126}"/>
              </a:ext>
            </a:extLst>
          </p:cNvPr>
          <p:cNvSpPr>
            <a:spLocks xmlns:a="http://schemas.openxmlformats.org/drawingml/2006/main" noGrp="1"/>
          </p:cNvSpPr>
          <p:nvPr/>
        </p:nvSpPr>
        <p:spPr>
          <a:xfrm xmlns:a="http://schemas.openxmlformats.org/drawingml/2006/main">
            <a:off x="6556248" y="333825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Astrocytes</a:t>
            </a:r>
          </a:p>
        </p:txBody>
      </p:sp>
      <p:sp>
        <p:nvSpPr>
          <p:cNvPr id="46" name="Rounded Rectangle 45">
            <a:extLst xmlns:a="http://schemas.openxmlformats.org/drawingml/2006/main">
              <a:ext uri="{FF2B5EF4-FFF2-40B4-BE49-F238E27FC236}">
                <a16:creationId xmlns:a16="http://schemas.microsoft.com/office/drawing/2014/main" id="{4435C50D-673E-4420-9054-2BF44683ADBF}"/>
              </a:ext>
            </a:extLst>
          </p:cNvPr>
          <p:cNvSpPr>
            <a:spLocks xmlns:a="http://schemas.openxmlformats.org/drawingml/2006/main" noGrp="1"/>
          </p:cNvSpPr>
          <p:nvPr/>
        </p:nvSpPr>
        <p:spPr>
          <a:xfrm xmlns:a="http://schemas.openxmlformats.org/drawingml/2006/main">
            <a:off x="6446520" y="374058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7CA50A34-12D6-4C4C-B402-E572FD4A1AE9}"/>
              </a:ext>
            </a:extLst>
          </p:cNvPr>
          <p:cNvSpPr>
            <a:spLocks xmlns:a="http://schemas.openxmlformats.org/drawingml/2006/main" noGrp="1"/>
          </p:cNvSpPr>
          <p:nvPr/>
        </p:nvSpPr>
        <p:spPr>
          <a:xfrm xmlns:a="http://schemas.openxmlformats.org/drawingml/2006/main">
            <a:off x="6556248" y="384117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Excitatory neurons</a:t>
            </a:r>
          </a:p>
        </p:txBody>
      </p:sp>
      <p:sp>
        <p:nvSpPr>
          <p:cNvPr id="48" name="Rounded Rectangle 47">
            <a:extLst xmlns:a="http://schemas.openxmlformats.org/drawingml/2006/main">
              <a:ext uri="{FF2B5EF4-FFF2-40B4-BE49-F238E27FC236}">
                <a16:creationId xmlns:a16="http://schemas.microsoft.com/office/drawing/2014/main" id="{6922206C-048C-41CD-9AD0-934269F4B68C}"/>
              </a:ext>
            </a:extLst>
          </p:cNvPr>
          <p:cNvSpPr>
            <a:spLocks xmlns:a="http://schemas.openxmlformats.org/drawingml/2006/main" noGrp="1"/>
          </p:cNvSpPr>
          <p:nvPr/>
        </p:nvSpPr>
        <p:spPr>
          <a:xfrm xmlns:a="http://schemas.openxmlformats.org/drawingml/2006/main">
            <a:off x="6446520" y="424350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22B6329A-8794-4F20-AE32-4E22A22ADBE6}"/>
              </a:ext>
            </a:extLst>
          </p:cNvPr>
          <p:cNvSpPr>
            <a:spLocks xmlns:a="http://schemas.openxmlformats.org/drawingml/2006/main" noGrp="1"/>
          </p:cNvSpPr>
          <p:nvPr/>
        </p:nvSpPr>
        <p:spPr>
          <a:xfrm xmlns:a="http://schemas.openxmlformats.org/drawingml/2006/main">
            <a:off x="6556248" y="434409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Inhibitory neurons</a:t>
            </a:r>
          </a:p>
        </p:txBody>
      </p:sp>
      <p:sp>
        <p:nvSpPr>
          <p:cNvPr id="50" name="Rounded Rectangle 49">
            <a:extLst xmlns:a="http://schemas.openxmlformats.org/drawingml/2006/main">
              <a:ext uri="{FF2B5EF4-FFF2-40B4-BE49-F238E27FC236}">
                <a16:creationId xmlns:a16="http://schemas.microsoft.com/office/drawing/2014/main" id="{4E37577C-AAD9-4458-8BE2-0DB0FAE4F33A}"/>
              </a:ext>
            </a:extLst>
          </p:cNvPr>
          <p:cNvSpPr>
            <a:spLocks xmlns:a="http://schemas.openxmlformats.org/drawingml/2006/main" noGrp="1"/>
          </p:cNvSpPr>
          <p:nvPr/>
        </p:nvSpPr>
        <p:spPr>
          <a:xfrm xmlns:a="http://schemas.openxmlformats.org/drawingml/2006/main">
            <a:off x="6446520" y="474642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19ECF647-C4C2-4EBE-B7D9-117AB20695EF}"/>
              </a:ext>
            </a:extLst>
          </p:cNvPr>
          <p:cNvSpPr>
            <a:spLocks xmlns:a="http://schemas.openxmlformats.org/drawingml/2006/main" noGrp="1"/>
          </p:cNvSpPr>
          <p:nvPr/>
        </p:nvSpPr>
        <p:spPr>
          <a:xfrm xmlns:a="http://schemas.openxmlformats.org/drawingml/2006/main">
            <a:off x="6556248" y="484701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Microglia</a:t>
            </a:r>
          </a:p>
        </p:txBody>
      </p:sp>
      <p:sp>
        <p:nvSpPr>
          <p:cNvPr id="52" name="Rounded Rectangle 51">
            <a:extLst xmlns:a="http://schemas.openxmlformats.org/drawingml/2006/main">
              <a:ext uri="{FF2B5EF4-FFF2-40B4-BE49-F238E27FC236}">
                <a16:creationId xmlns:a16="http://schemas.microsoft.com/office/drawing/2014/main" id="{99C1AC61-AA6A-4A31-A36B-4D2604F2BF3A}"/>
              </a:ext>
            </a:extLst>
          </p:cNvPr>
          <p:cNvSpPr>
            <a:spLocks xmlns:a="http://schemas.openxmlformats.org/drawingml/2006/main" noGrp="1"/>
          </p:cNvSpPr>
          <p:nvPr/>
        </p:nvSpPr>
        <p:spPr>
          <a:xfrm xmlns:a="http://schemas.openxmlformats.org/drawingml/2006/main">
            <a:off x="8979408" y="323766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8EBFD78F-6A4C-42A4-8988-EBA51CF70B33}"/>
              </a:ext>
            </a:extLst>
          </p:cNvPr>
          <p:cNvSpPr>
            <a:spLocks xmlns:a="http://schemas.openxmlformats.org/drawingml/2006/main" noGrp="1"/>
          </p:cNvSpPr>
          <p:nvPr/>
        </p:nvSpPr>
        <p:spPr>
          <a:xfrm xmlns:a="http://schemas.openxmlformats.org/drawingml/2006/main">
            <a:off x="9089136" y="333825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OPCs</a:t>
            </a:r>
          </a:p>
        </p:txBody>
      </p:sp>
      <p:sp>
        <p:nvSpPr>
          <p:cNvPr id="54" name="Rounded Rectangle 53">
            <a:extLst xmlns:a="http://schemas.openxmlformats.org/drawingml/2006/main">
              <a:ext uri="{FF2B5EF4-FFF2-40B4-BE49-F238E27FC236}">
                <a16:creationId xmlns:a16="http://schemas.microsoft.com/office/drawing/2014/main" id="{5AA63555-0C23-471F-BCAA-992D3B431350}"/>
              </a:ext>
            </a:extLst>
          </p:cNvPr>
          <p:cNvSpPr>
            <a:spLocks xmlns:a="http://schemas.openxmlformats.org/drawingml/2006/main" noGrp="1"/>
          </p:cNvSpPr>
          <p:nvPr/>
        </p:nvSpPr>
        <p:spPr>
          <a:xfrm xmlns:a="http://schemas.openxmlformats.org/drawingml/2006/main">
            <a:off x="8979408" y="374058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B4A771FC-E47D-4201-8C0A-FACABB49166E}"/>
              </a:ext>
            </a:extLst>
          </p:cNvPr>
          <p:cNvSpPr>
            <a:spLocks xmlns:a="http://schemas.openxmlformats.org/drawingml/2006/main" noGrp="1"/>
          </p:cNvSpPr>
          <p:nvPr/>
        </p:nvSpPr>
        <p:spPr>
          <a:xfrm xmlns:a="http://schemas.openxmlformats.org/drawingml/2006/main">
            <a:off x="9089136" y="384117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Oligodendrocytes</a:t>
            </a:r>
          </a:p>
        </p:txBody>
      </p:sp>
      <p:sp>
        <p:nvSpPr>
          <p:cNvPr id="56" name="Rounded Rectangle 55">
            <a:extLst xmlns:a="http://schemas.openxmlformats.org/drawingml/2006/main">
              <a:ext uri="{FF2B5EF4-FFF2-40B4-BE49-F238E27FC236}">
                <a16:creationId xmlns:a16="http://schemas.microsoft.com/office/drawing/2014/main" id="{8FC98E53-B787-4823-B69B-8F788A089A85}"/>
              </a:ext>
            </a:extLst>
          </p:cNvPr>
          <p:cNvSpPr>
            <a:spLocks xmlns:a="http://schemas.openxmlformats.org/drawingml/2006/main" noGrp="1"/>
          </p:cNvSpPr>
          <p:nvPr/>
        </p:nvSpPr>
        <p:spPr>
          <a:xfrm xmlns:a="http://schemas.openxmlformats.org/drawingml/2006/main">
            <a:off x="8979408" y="4243508"/>
            <a:ext cx="233172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735B5593-297E-4656-A489-677258F64C1F}"/>
              </a:ext>
            </a:extLst>
          </p:cNvPr>
          <p:cNvSpPr>
            <a:spLocks xmlns:a="http://schemas.openxmlformats.org/drawingml/2006/main" noGrp="1"/>
          </p:cNvSpPr>
          <p:nvPr/>
        </p:nvSpPr>
        <p:spPr>
          <a:xfrm xmlns:a="http://schemas.openxmlformats.org/drawingml/2006/main">
            <a:off x="9089136" y="4344092"/>
            <a:ext cx="2112263"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1F2730"/>
                </a:solidFill>
                <a:latin typeface="Arial"/>
                <a:ea typeface="Arial"/>
                <a:cs typeface="Arial"/>
              </a:rPr>
              <a:t>Vasculature</a:t>
            </a:r>
          </a:p>
        </p:txBody>
      </p:sp>
      <p:sp>
        <p:nvSpPr>
          <p:cNvPr id="58" name="Rounded Rectangle 57">
            <a:extLst xmlns:a="http://schemas.openxmlformats.org/drawingml/2006/main">
              <a:ext uri="{FF2B5EF4-FFF2-40B4-BE49-F238E27FC236}">
                <a16:creationId xmlns:a16="http://schemas.microsoft.com/office/drawing/2014/main" id="{031661F2-BBCE-4BEA-8C61-B69A1AFDD975}"/>
              </a:ext>
            </a:extLst>
          </p:cNvPr>
          <p:cNvSpPr>
            <a:spLocks xmlns:a="http://schemas.openxmlformats.org/drawingml/2006/main" noGrp="1"/>
          </p:cNvSpPr>
          <p:nvPr/>
        </p:nvSpPr>
        <p:spPr>
          <a:xfrm xmlns:a="http://schemas.openxmlformats.org/drawingml/2006/main">
            <a:off x="603504" y="5493303"/>
            <a:ext cx="10981944" cy="60350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9EAEE7F6-4272-41C2-9E39-4B7A20B11B59}"/>
              </a:ext>
            </a:extLst>
          </p:cNvPr>
          <p:cNvSpPr>
            <a:spLocks xmlns:a="http://schemas.openxmlformats.org/drawingml/2006/main" noGrp="1"/>
          </p:cNvSpPr>
          <p:nvPr/>
        </p:nvSpPr>
        <p:spPr>
          <a:xfrm xmlns:a="http://schemas.openxmlformats.org/drawingml/2006/main">
            <a:off x="859536" y="5657895"/>
            <a:ext cx="129844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4E5A68"/>
                </a:solidFill>
                <a:latin typeface="Arial"/>
                <a:ea typeface="Arial"/>
                <a:cs typeface="Arial"/>
              </a:rPr>
              <a:t>Example category</a:t>
            </a:r>
          </a:p>
        </p:txBody>
      </p:sp>
      <p:sp>
        <p:nvSpPr>
          <p:cNvPr id="60" name="TextBox 59">
            <a:extLst xmlns:a="http://schemas.openxmlformats.org/drawingml/2006/main">
              <a:ext uri="{FF2B5EF4-FFF2-40B4-BE49-F238E27FC236}">
                <a16:creationId xmlns:a16="http://schemas.microsoft.com/office/drawing/2014/main" id="{B4F93260-CACC-42D8-A296-C2812E9E1907}"/>
              </a:ext>
            </a:extLst>
          </p:cNvPr>
          <p:cNvSpPr>
            <a:spLocks xmlns:a="http://schemas.openxmlformats.org/drawingml/2006/main" noGrp="1"/>
          </p:cNvSpPr>
          <p:nvPr/>
        </p:nvSpPr>
        <p:spPr>
          <a:xfrm xmlns:a="http://schemas.openxmlformats.org/drawingml/2006/main">
            <a:off x="2139696" y="5612175"/>
            <a:ext cx="3072384"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20" b="1" i="0">
                <a:solidFill>
                  <a:srgbClr val="7E4C9A"/>
                </a:solidFill>
                <a:latin typeface="Arial"/>
                <a:ea typeface="Arial"/>
                <a:cs typeface="Arial"/>
              </a:rPr>
              <a:t>M_e33 × Excitatory neurons</a:t>
            </a:r>
          </a:p>
        </p:txBody>
      </p:sp>
      <p:sp>
        <p:nvSpPr>
          <p:cNvPr id="61" name="TextBox 60">
            <a:extLst xmlns:a="http://schemas.openxmlformats.org/drawingml/2006/main">
              <a:ext uri="{FF2B5EF4-FFF2-40B4-BE49-F238E27FC236}">
                <a16:creationId xmlns:a16="http://schemas.microsoft.com/office/drawing/2014/main" id="{802138E5-FD06-4CDD-944B-42FE9F7A853E}"/>
              </a:ext>
            </a:extLst>
          </p:cNvPr>
          <p:cNvSpPr>
            <a:spLocks xmlns:a="http://schemas.openxmlformats.org/drawingml/2006/main" noGrp="1"/>
          </p:cNvSpPr>
          <p:nvPr/>
        </p:nvSpPr>
        <p:spPr>
          <a:xfrm xmlns:a="http://schemas.openxmlformats.org/drawingml/2006/main">
            <a:off x="5157216" y="5621319"/>
            <a:ext cx="61447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980" b="0" i="0">
                <a:solidFill>
                  <a:srgbClr val="4E5A68"/>
                </a:solidFill>
                <a:latin typeface="Arial"/>
                <a:ea typeface="Arial"/>
                <a:cs typeface="Arial"/>
              </a:rPr>
              <a:t>42 is the design space; later slides show which categories have usable calls and returned drivers.</a:t>
            </a:r>
          </a:p>
        </p:txBody>
      </p:sp>
      <p:sp>
        <p:nvSpPr>
          <p:cNvPr id="62" name="TextBox 61">
            <a:extLst xmlns:a="http://schemas.openxmlformats.org/drawingml/2006/main">
              <a:ext uri="{FF2B5EF4-FFF2-40B4-BE49-F238E27FC236}">
                <a16:creationId xmlns:a16="http://schemas.microsoft.com/office/drawing/2014/main" id="{A7CB8CE8-B4BA-4BDE-9C49-8FAB5177F6A8}"/>
              </a:ext>
            </a:extLst>
          </p:cNvPr>
          <p:cNvSpPr>
            <a:spLocks xmlns:a="http://schemas.openxmlformats.org/drawingml/2006/main" noGrp="1"/>
          </p:cNvSpPr>
          <p:nvPr/>
        </p:nvSpPr>
        <p:spPr>
          <a:xfrm xmlns:a="http://schemas.openxmlformats.org/drawingml/2006/main">
            <a:off x="603504" y="2231828"/>
            <a:ext cx="10981944"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1" i="0">
                <a:solidFill>
                  <a:srgbClr val="9E3A00"/>
                </a:solidFill>
                <a:latin typeface="Arial"/>
                <a:ea typeface="Arial"/>
                <a:cs typeface="Arial"/>
              </a:rPr>
              <a:t>Key-driver genes are ranked separately within each category.</a:t>
            </a:r>
          </a:p>
        </p:txBody>
      </p:sp>
      <p:sp>
        <p:nvSpPr>
          <p:cNvPr id="63" name="Rounded Rectangle 62">
            <a:extLst xmlns:a="http://schemas.openxmlformats.org/drawingml/2006/main">
              <a:ext uri="{FF2B5EF4-FFF2-40B4-BE49-F238E27FC236}">
                <a16:creationId xmlns:a16="http://schemas.microsoft.com/office/drawing/2014/main" id="{B83C867B-6719-61CC-B78E-6D222519F57E}"/>
              </a:ext>
            </a:extLst>
          </p:cNvPr>
          <p:cNvSpPr>
            <a:spLocks xmlns:a="http://schemas.openxmlformats.org/drawingml/2006/main" noGrp="1"/>
          </p:cNvSpPr>
          <p:nvPr/>
        </p:nvSpPr>
        <p:spPr>
          <a:xfrm xmlns:a="http://schemas.openxmlformats.org/drawingml/2006/main">
            <a:off x="603504" y="6217231"/>
            <a:ext cx="10981944"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4" name="TextBox 63">
            <a:extLst xmlns:a="http://schemas.openxmlformats.org/drawingml/2006/main">
              <a:ext uri="{FF2B5EF4-FFF2-40B4-BE49-F238E27FC236}">
                <a16:creationId xmlns:a16="http://schemas.microsoft.com/office/drawing/2014/main" id="{C194CD37-5809-AAED-3984-64508649098C}"/>
              </a:ext>
            </a:extLst>
          </p:cNvPr>
          <p:cNvSpPr>
            <a:spLocks xmlns:a="http://schemas.openxmlformats.org/drawingml/2006/main" noGrp="1"/>
          </p:cNvSpPr>
          <p:nvPr/>
        </p:nvSpPr>
        <p:spPr>
          <a:xfrm xmlns:a="http://schemas.openxmlformats.org/drawingml/2006/main">
            <a:off x="822960" y="6336103"/>
            <a:ext cx="1053388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10" b="1" i="0">
                <a:solidFill>
                  <a:srgbClr val="9E3A00"/>
                </a:solidFill>
                <a:latin typeface="Arial"/>
                <a:ea typeface="Arial"/>
                <a:cs typeface="Arial"/>
              </a:rPr>
              <a:t>Why contrasts outnumber categories: many fine cell types map to one broad cell type; recurring returned values are combined by equal-weight, returned-only ACAT.</a:t>
            </a:r>
          </a:p>
        </p:txBody>
      </p:sp>
    </p:spTree>
    <p:extLst>
      <p:ext uri="{BB962C8B-B14F-4D97-AF65-F5344CB8AC3E}">
        <p14:creationId xmlns:p14="http://schemas.microsoft.com/office/powerpoint/2010/main" val="489644293"/>
      </p:ext>
    </p:extLst>
  </p:cSld>
</p:sld>
</file>

<file path=ppt/slides/slide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DD221FFC-B8D1-496E-A536-22D57CBEFE4E}"/>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Four steps: run DEG per contrast, one KDA query per contrast</a:t>
            </a:r>
          </a:p>
        </p:txBody>
      </p:sp>
      <p:sp>
        <p:nvSpPr>
          <p:cNvPr id="5" name="Rounded Rectangle 4">
            <a:extLst xmlns:a="http://schemas.openxmlformats.org/drawingml/2006/main">
              <a:ext uri="{FF2B5EF4-FFF2-40B4-BE49-F238E27FC236}">
                <a16:creationId xmlns:a16="http://schemas.microsoft.com/office/drawing/2014/main" id="{46E88943-8734-4E23-A8AF-1BFDF11E7331}"/>
              </a:ext>
            </a:extLst>
          </p:cNvPr>
          <p:cNvSpPr>
            <a:spLocks xmlns:a="http://schemas.openxmlformats.org/drawingml/2006/main" noGrp="1"/>
          </p:cNvSpPr>
          <p:nvPr/>
        </p:nvSpPr>
        <p:spPr>
          <a:xfrm xmlns:a="http://schemas.openxmlformats.org/drawingml/2006/main">
            <a:off x="603504" y="1371600"/>
            <a:ext cx="2587752" cy="4233672"/>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Oval 5">
            <a:extLst xmlns:a="http://schemas.openxmlformats.org/drawingml/2006/main">
              <a:ext uri="{FF2B5EF4-FFF2-40B4-BE49-F238E27FC236}">
                <a16:creationId xmlns:a16="http://schemas.microsoft.com/office/drawing/2014/main" id="{289406B0-EF9A-4E79-B36A-4427A6153B61}"/>
              </a:ext>
            </a:extLst>
          </p:cNvPr>
          <p:cNvSpPr>
            <a:spLocks xmlns:a="http://schemas.openxmlformats.org/drawingml/2006/main" noGrp="1"/>
          </p:cNvSpPr>
          <p:nvPr/>
        </p:nvSpPr>
        <p:spPr>
          <a:xfrm xmlns:a="http://schemas.openxmlformats.org/drawingml/2006/main">
            <a:off x="804672" y="162763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F1C6F10-E5E1-4BB4-A387-04C150B20AA8}"/>
              </a:ext>
            </a:extLst>
          </p:cNvPr>
          <p:cNvSpPr>
            <a:spLocks xmlns:a="http://schemas.openxmlformats.org/drawingml/2006/main" noGrp="1"/>
          </p:cNvSpPr>
          <p:nvPr/>
        </p:nvSpPr>
        <p:spPr>
          <a:xfrm xmlns:a="http://schemas.openxmlformats.org/drawingml/2006/main">
            <a:off x="80467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1</a:t>
            </a:r>
          </a:p>
        </p:txBody>
      </p:sp>
      <p:sp>
        <p:nvSpPr>
          <p:cNvPr id="8" name="TextBox 7">
            <a:extLst xmlns:a="http://schemas.openxmlformats.org/drawingml/2006/main">
              <a:ext uri="{FF2B5EF4-FFF2-40B4-BE49-F238E27FC236}">
                <a16:creationId xmlns:a16="http://schemas.microsoft.com/office/drawing/2014/main" id="{F22D91EF-D9BC-409A-9ACA-8738658F8584}"/>
              </a:ext>
            </a:extLst>
          </p:cNvPr>
          <p:cNvSpPr>
            <a:spLocks xmlns:a="http://schemas.openxmlformats.org/drawingml/2006/main" noGrp="1"/>
          </p:cNvSpPr>
          <p:nvPr/>
        </p:nvSpPr>
        <p:spPr>
          <a:xfrm xmlns:a="http://schemas.openxmlformats.org/drawingml/2006/main">
            <a:off x="804672" y="2267712"/>
            <a:ext cx="2157984"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DEG</a:t>
            </a:r>
          </a:p>
        </p:txBody>
      </p:sp>
      <p:sp>
        <p:nvSpPr>
          <p:cNvPr id="9" name="TextBox 8">
            <a:extLst xmlns:a="http://schemas.openxmlformats.org/drawingml/2006/main">
              <a:ext uri="{FF2B5EF4-FFF2-40B4-BE49-F238E27FC236}">
                <a16:creationId xmlns:a16="http://schemas.microsoft.com/office/drawing/2014/main" id="{60C194DE-54EB-476E-8EDE-572C60849D23}"/>
              </a:ext>
            </a:extLst>
          </p:cNvPr>
          <p:cNvSpPr>
            <a:spLocks xmlns:a="http://schemas.openxmlformats.org/drawingml/2006/main" noGrp="1"/>
          </p:cNvSpPr>
          <p:nvPr/>
        </p:nvSpPr>
        <p:spPr>
          <a:xfrm xmlns:a="http://schemas.openxmlformats.org/drawingml/2006/main">
            <a:off x="804672" y="3017520"/>
            <a:ext cx="2157984"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072B2"/>
                </a:solidFill>
                <a:latin typeface="Arial"/>
                <a:ea typeface="Arial"/>
                <a:cs typeface="Arial"/>
              </a:rPr>
              <a:t>fine cell type × sex/APOE</a:t>
            </a:r>
          </a:p>
        </p:txBody>
      </p:sp>
      <p:sp>
        <p:nvSpPr>
          <p:cNvPr id="10" name="Rounded Rectangle 9">
            <a:extLst xmlns:a="http://schemas.openxmlformats.org/drawingml/2006/main">
              <a:ext uri="{FF2B5EF4-FFF2-40B4-BE49-F238E27FC236}">
                <a16:creationId xmlns:a16="http://schemas.microsoft.com/office/drawing/2014/main" id="{6146D296-CE83-45BB-AD0D-3A7A6C16FE5F}"/>
              </a:ext>
            </a:extLst>
          </p:cNvPr>
          <p:cNvSpPr>
            <a:spLocks xmlns:a="http://schemas.openxmlformats.org/drawingml/2006/main" noGrp="1"/>
          </p:cNvSpPr>
          <p:nvPr/>
        </p:nvSpPr>
        <p:spPr>
          <a:xfrm xmlns:a="http://schemas.openxmlformats.org/drawingml/2006/main">
            <a:off x="78638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6A2FDC54-9072-421A-B955-DD62AE6235F9}"/>
              </a:ext>
            </a:extLst>
          </p:cNvPr>
          <p:cNvSpPr>
            <a:spLocks xmlns:a="http://schemas.openxmlformats.org/drawingml/2006/main" noGrp="1"/>
          </p:cNvSpPr>
          <p:nvPr/>
        </p:nvSpPr>
        <p:spPr>
          <a:xfrm xmlns:a="http://schemas.openxmlformats.org/drawingml/2006/main">
            <a:off x="932688" y="4192099"/>
            <a:ext cx="1901952"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AD-versus-NCI DEG for each contrast</a:t>
            </a:r>
          </a:p>
        </p:txBody>
      </p:sp>
      <p:sp>
        <p:nvSpPr>
          <p:cNvPr id="12" name="Rounded Rectangle 11">
            <a:extLst xmlns:a="http://schemas.openxmlformats.org/drawingml/2006/main">
              <a:ext uri="{FF2B5EF4-FFF2-40B4-BE49-F238E27FC236}">
                <a16:creationId xmlns:a16="http://schemas.microsoft.com/office/drawing/2014/main" id="{3D6A8284-7A31-4380-B904-A0B59015231A}"/>
              </a:ext>
            </a:extLst>
          </p:cNvPr>
          <p:cNvSpPr>
            <a:spLocks xmlns:a="http://schemas.openxmlformats.org/drawingml/2006/main" noGrp="1"/>
          </p:cNvSpPr>
          <p:nvPr/>
        </p:nvSpPr>
        <p:spPr>
          <a:xfrm xmlns:a="http://schemas.openxmlformats.org/drawingml/2006/main">
            <a:off x="3438144" y="1371600"/>
            <a:ext cx="2587752" cy="423367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Oval 12">
            <a:extLst xmlns:a="http://schemas.openxmlformats.org/drawingml/2006/main">
              <a:ext uri="{FF2B5EF4-FFF2-40B4-BE49-F238E27FC236}">
                <a16:creationId xmlns:a16="http://schemas.microsoft.com/office/drawing/2014/main" id="{1B9491F2-A95B-404C-9125-3CAAEE2F4998}"/>
              </a:ext>
            </a:extLst>
          </p:cNvPr>
          <p:cNvSpPr>
            <a:spLocks xmlns:a="http://schemas.openxmlformats.org/drawingml/2006/main" noGrp="1"/>
          </p:cNvSpPr>
          <p:nvPr/>
        </p:nvSpPr>
        <p:spPr>
          <a:xfrm xmlns:a="http://schemas.openxmlformats.org/drawingml/2006/main">
            <a:off x="3639312" y="162763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622387C4-7931-4CE7-BDE7-F35D8D087AE8}"/>
              </a:ext>
            </a:extLst>
          </p:cNvPr>
          <p:cNvSpPr>
            <a:spLocks xmlns:a="http://schemas.openxmlformats.org/drawingml/2006/main" noGrp="1"/>
          </p:cNvSpPr>
          <p:nvPr/>
        </p:nvSpPr>
        <p:spPr>
          <a:xfrm xmlns:a="http://schemas.openxmlformats.org/drawingml/2006/main">
            <a:off x="363931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2</a:t>
            </a:r>
          </a:p>
        </p:txBody>
      </p:sp>
      <p:sp>
        <p:nvSpPr>
          <p:cNvPr id="15" name="TextBox 14">
            <a:extLst xmlns:a="http://schemas.openxmlformats.org/drawingml/2006/main">
              <a:ext uri="{FF2B5EF4-FFF2-40B4-BE49-F238E27FC236}">
                <a16:creationId xmlns:a16="http://schemas.microsoft.com/office/drawing/2014/main" id="{F0443E6F-1577-4127-9A0B-40BE604BD958}"/>
              </a:ext>
            </a:extLst>
          </p:cNvPr>
          <p:cNvSpPr>
            <a:spLocks xmlns:a="http://schemas.openxmlformats.org/drawingml/2006/main" noGrp="1"/>
          </p:cNvSpPr>
          <p:nvPr/>
        </p:nvSpPr>
        <p:spPr>
          <a:xfrm xmlns:a="http://schemas.openxmlformats.org/drawingml/2006/main">
            <a:off x="3639312" y="2267712"/>
            <a:ext cx="215798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Mitochondrial query</a:t>
            </a:r>
          </a:p>
        </p:txBody>
      </p:sp>
      <p:sp>
        <p:nvSpPr>
          <p:cNvPr id="16" name="TextBox 15">
            <a:extLst xmlns:a="http://schemas.openxmlformats.org/drawingml/2006/main">
              <a:ext uri="{FF2B5EF4-FFF2-40B4-BE49-F238E27FC236}">
                <a16:creationId xmlns:a16="http://schemas.microsoft.com/office/drawing/2014/main" id="{7001D801-ADA4-403D-BAD3-04BAFAA2F71C}"/>
              </a:ext>
            </a:extLst>
          </p:cNvPr>
          <p:cNvSpPr>
            <a:spLocks xmlns:a="http://schemas.openxmlformats.org/drawingml/2006/main" noGrp="1"/>
          </p:cNvSpPr>
          <p:nvPr/>
        </p:nvSpPr>
        <p:spPr>
          <a:xfrm xmlns:a="http://schemas.openxmlformats.org/drawingml/2006/main">
            <a:off x="3639312" y="3017520"/>
            <a:ext cx="2157984" cy="25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072B2"/>
                </a:solidFill>
                <a:latin typeface="Arial"/>
                <a:ea typeface="Arial"/>
                <a:cs typeface="Arial"/>
              </a:rPr>
              <a:t>MT DEGs</a:t>
            </a:r>
          </a:p>
        </p:txBody>
      </p:sp>
      <p:sp>
        <p:nvSpPr>
          <p:cNvPr id="17" name="Rounded Rectangle 16">
            <a:extLst xmlns:a="http://schemas.openxmlformats.org/drawingml/2006/main">
              <a:ext uri="{FF2B5EF4-FFF2-40B4-BE49-F238E27FC236}">
                <a16:creationId xmlns:a16="http://schemas.microsoft.com/office/drawing/2014/main" id="{A3D98377-F5A3-4F8F-BAB6-FDC375C4B716}"/>
              </a:ext>
            </a:extLst>
          </p:cNvPr>
          <p:cNvSpPr>
            <a:spLocks xmlns:a="http://schemas.openxmlformats.org/drawingml/2006/main" noGrp="1"/>
          </p:cNvSpPr>
          <p:nvPr/>
        </p:nvSpPr>
        <p:spPr>
          <a:xfrm xmlns:a="http://schemas.openxmlformats.org/drawingml/2006/main">
            <a:off x="362102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57EF9E3C-D045-44CE-881A-1A65D09E147D}"/>
              </a:ext>
            </a:extLst>
          </p:cNvPr>
          <p:cNvSpPr>
            <a:spLocks xmlns:a="http://schemas.openxmlformats.org/drawingml/2006/main" noGrp="1"/>
          </p:cNvSpPr>
          <p:nvPr/>
        </p:nvSpPr>
        <p:spPr>
          <a:xfrm xmlns:a="http://schemas.openxmlformats.org/drawingml/2006/main">
            <a:off x="3767328" y="4192099"/>
            <a:ext cx="1901952"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Build query per contrast with MT DEGs</a:t>
            </a:r>
          </a:p>
        </p:txBody>
      </p:sp>
      <p:sp>
        <p:nvSpPr>
          <p:cNvPr id="19" name="Rounded Rectangle 18">
            <a:extLst xmlns:a="http://schemas.openxmlformats.org/drawingml/2006/main">
              <a:ext uri="{FF2B5EF4-FFF2-40B4-BE49-F238E27FC236}">
                <a16:creationId xmlns:a16="http://schemas.microsoft.com/office/drawing/2014/main" id="{DF469515-F5B8-43BD-8069-1C1E5125CEA0}"/>
              </a:ext>
            </a:extLst>
          </p:cNvPr>
          <p:cNvSpPr>
            <a:spLocks xmlns:a="http://schemas.openxmlformats.org/drawingml/2006/main" noGrp="1"/>
          </p:cNvSpPr>
          <p:nvPr/>
        </p:nvSpPr>
        <p:spPr>
          <a:xfrm xmlns:a="http://schemas.openxmlformats.org/drawingml/2006/main">
            <a:off x="6272784" y="1371600"/>
            <a:ext cx="2587752" cy="423367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Oval 19">
            <a:extLst xmlns:a="http://schemas.openxmlformats.org/drawingml/2006/main">
              <a:ext uri="{FF2B5EF4-FFF2-40B4-BE49-F238E27FC236}">
                <a16:creationId xmlns:a16="http://schemas.microsoft.com/office/drawing/2014/main" id="{D04E537C-15DA-48A6-89FB-F8113B7AC3F0}"/>
              </a:ext>
            </a:extLst>
          </p:cNvPr>
          <p:cNvSpPr>
            <a:spLocks xmlns:a="http://schemas.openxmlformats.org/drawingml/2006/main" noGrp="1"/>
          </p:cNvSpPr>
          <p:nvPr/>
        </p:nvSpPr>
        <p:spPr>
          <a:xfrm xmlns:a="http://schemas.openxmlformats.org/drawingml/2006/main">
            <a:off x="6473952" y="1627632"/>
            <a:ext cx="438912" cy="438912"/>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9C0C3F9-A3D6-433E-8DFC-3418EFBC3EA7}"/>
              </a:ext>
            </a:extLst>
          </p:cNvPr>
          <p:cNvSpPr>
            <a:spLocks xmlns:a="http://schemas.openxmlformats.org/drawingml/2006/main" noGrp="1"/>
          </p:cNvSpPr>
          <p:nvPr/>
        </p:nvSpPr>
        <p:spPr>
          <a:xfrm xmlns:a="http://schemas.openxmlformats.org/drawingml/2006/main">
            <a:off x="647395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3</a:t>
            </a:r>
          </a:p>
        </p:txBody>
      </p:sp>
      <p:sp>
        <p:nvSpPr>
          <p:cNvPr id="22" name="TextBox 21">
            <a:extLst xmlns:a="http://schemas.openxmlformats.org/drawingml/2006/main">
              <a:ext uri="{FF2B5EF4-FFF2-40B4-BE49-F238E27FC236}">
                <a16:creationId xmlns:a16="http://schemas.microsoft.com/office/drawing/2014/main" id="{FADF91BF-7B86-4FED-A4B7-C7F5A4F14485}"/>
              </a:ext>
            </a:extLst>
          </p:cNvPr>
          <p:cNvSpPr>
            <a:spLocks xmlns:a="http://schemas.openxmlformats.org/drawingml/2006/main" noGrp="1"/>
          </p:cNvSpPr>
          <p:nvPr/>
        </p:nvSpPr>
        <p:spPr>
          <a:xfrm xmlns:a="http://schemas.openxmlformats.org/drawingml/2006/main">
            <a:off x="6473952" y="2267712"/>
            <a:ext cx="215798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KDA run</a:t>
            </a:r>
          </a:p>
        </p:txBody>
      </p:sp>
      <p:sp>
        <p:nvSpPr>
          <p:cNvPr id="23" name="TextBox 22">
            <a:extLst xmlns:a="http://schemas.openxmlformats.org/drawingml/2006/main">
              <a:ext uri="{FF2B5EF4-FFF2-40B4-BE49-F238E27FC236}">
                <a16:creationId xmlns:a16="http://schemas.microsoft.com/office/drawing/2014/main" id="{B842083C-0C8D-4B4B-B1A5-57F55B7604BB}"/>
              </a:ext>
            </a:extLst>
          </p:cNvPr>
          <p:cNvSpPr>
            <a:spLocks xmlns:a="http://schemas.openxmlformats.org/drawingml/2006/main" noGrp="1"/>
          </p:cNvSpPr>
          <p:nvPr/>
        </p:nvSpPr>
        <p:spPr>
          <a:xfrm xmlns:a="http://schemas.openxmlformats.org/drawingml/2006/main">
            <a:off x="6473952" y="3017520"/>
            <a:ext cx="2157984" cy="25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a:solidFill>
                  <a:srgbClr val="0072B2"/>
                </a:solidFill>
                <a:latin typeface="Arial"/>
                <a:ea typeface="Arial"/>
                <a:cs typeface="Arial"/>
              </a:rPr>
              <a:t>Use c</a:t>
            </a:r>
            <a:r>
              <a:rPr sz="1300" b="1" i="0">
                <a:solidFill>
                  <a:srgbClr val="0072B2"/>
                </a:solidFill>
                <a:latin typeface="Arial"/>
                <a:ea typeface="Arial"/>
                <a:cs typeface="Arial"/>
              </a:rPr>
              <a:t>all_key_drivers</a:t>
            </a:r>
          </a:p>
        </p:txBody>
      </p:sp>
      <p:sp>
        <p:nvSpPr>
          <p:cNvPr id="24" name="Rounded Rectangle 23">
            <a:extLst xmlns:a="http://schemas.openxmlformats.org/drawingml/2006/main">
              <a:ext uri="{FF2B5EF4-FFF2-40B4-BE49-F238E27FC236}">
                <a16:creationId xmlns:a16="http://schemas.microsoft.com/office/drawing/2014/main" id="{73FCD190-7E9B-4971-809E-FDF0267FFC24}"/>
              </a:ext>
            </a:extLst>
          </p:cNvPr>
          <p:cNvSpPr>
            <a:spLocks xmlns:a="http://schemas.openxmlformats.org/drawingml/2006/main" noGrp="1"/>
          </p:cNvSpPr>
          <p:nvPr/>
        </p:nvSpPr>
        <p:spPr>
          <a:xfrm xmlns:a="http://schemas.openxmlformats.org/drawingml/2006/main">
            <a:off x="645566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4BA8FC0-C20F-4CB2-9C47-48A6A6F99B5D}"/>
              </a:ext>
            </a:extLst>
          </p:cNvPr>
          <p:cNvSpPr>
            <a:spLocks xmlns:a="http://schemas.openxmlformats.org/drawingml/2006/main" noGrp="1"/>
          </p:cNvSpPr>
          <p:nvPr/>
        </p:nvSpPr>
        <p:spPr>
          <a:xfrm xmlns:a="http://schemas.openxmlformats.org/drawingml/2006/main">
            <a:off x="6601968" y="4105152"/>
            <a:ext cx="1940298" cy="57708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KDA run for valid DEG contrast valid</a:t>
            </a:r>
          </a:p>
          <a:p xmlns:a="http://schemas.openxmlformats.org/drawingml/2006/main">
            <a:pPr algn="ctr">
              <a:lnSpc>
                <a:spcPct val="100000"/>
              </a:lnSpc>
              <a:spcBef>
                <a:spcPts val="0"/>
              </a:spcBef>
              <a:spcAft>
                <a:spcPts val="0"/>
              </a:spcAft>
              <a:buNone/>
            </a:pPr>
            <a:r>
              <a:rPr sz="1130">
                <a:solidFill>
                  <a:srgbClr val="4E5A68"/>
                </a:solidFill>
                <a:latin typeface="Arial"/>
                <a:ea typeface="Arial"/>
                <a:cs typeface="Arial"/>
              </a:rPr>
              <a:t>n</a:t>
            </a:r>
            <a:r>
              <a:rPr sz="1130" b="0" i="0">
                <a:solidFill>
                  <a:srgbClr val="4E5A68"/>
                </a:solidFill>
                <a:latin typeface="Arial"/>
                <a:ea typeface="Arial"/>
                <a:cs typeface="Arial"/>
              </a:rPr>
              <a:t>umber of genes in query ≥ 3</a:t>
            </a:r>
          </a:p>
        </p:txBody>
      </p:sp>
      <p:sp>
        <p:nvSpPr>
          <p:cNvPr id="26" name="Rounded Rectangle 25">
            <a:extLst xmlns:a="http://schemas.openxmlformats.org/drawingml/2006/main">
              <a:ext uri="{FF2B5EF4-FFF2-40B4-BE49-F238E27FC236}">
                <a16:creationId xmlns:a16="http://schemas.microsoft.com/office/drawing/2014/main" id="{ECCE965F-10FE-43B6-9A15-9DB9A4A772BA}"/>
              </a:ext>
            </a:extLst>
          </p:cNvPr>
          <p:cNvSpPr>
            <a:spLocks xmlns:a="http://schemas.openxmlformats.org/drawingml/2006/main" noGrp="1"/>
          </p:cNvSpPr>
          <p:nvPr/>
        </p:nvSpPr>
        <p:spPr>
          <a:xfrm xmlns:a="http://schemas.openxmlformats.org/drawingml/2006/main">
            <a:off x="9107424" y="1371600"/>
            <a:ext cx="2587752" cy="423367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Oval 26">
            <a:extLst xmlns:a="http://schemas.openxmlformats.org/drawingml/2006/main">
              <a:ext uri="{FF2B5EF4-FFF2-40B4-BE49-F238E27FC236}">
                <a16:creationId xmlns:a16="http://schemas.microsoft.com/office/drawing/2014/main" id="{0F316496-2745-40F5-8FA3-A536F057DFD9}"/>
              </a:ext>
            </a:extLst>
          </p:cNvPr>
          <p:cNvSpPr>
            <a:spLocks xmlns:a="http://schemas.openxmlformats.org/drawingml/2006/main" noGrp="1"/>
          </p:cNvSpPr>
          <p:nvPr/>
        </p:nvSpPr>
        <p:spPr>
          <a:xfrm xmlns:a="http://schemas.openxmlformats.org/drawingml/2006/main">
            <a:off x="9308592" y="1627632"/>
            <a:ext cx="438912" cy="438912"/>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D6A51F87-D6F7-46B1-805E-981A290663B3}"/>
              </a:ext>
            </a:extLst>
          </p:cNvPr>
          <p:cNvSpPr>
            <a:spLocks xmlns:a="http://schemas.openxmlformats.org/drawingml/2006/main" noGrp="1"/>
          </p:cNvSpPr>
          <p:nvPr/>
        </p:nvSpPr>
        <p:spPr>
          <a:xfrm xmlns:a="http://schemas.openxmlformats.org/drawingml/2006/main">
            <a:off x="9308592" y="1719072"/>
            <a:ext cx="438912" cy="1645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FFFFFF"/>
                </a:solidFill>
                <a:latin typeface="Arial"/>
                <a:ea typeface="Arial"/>
                <a:cs typeface="Arial"/>
              </a:rPr>
              <a:t>4</a:t>
            </a:r>
          </a:p>
        </p:txBody>
      </p:sp>
      <p:sp>
        <p:nvSpPr>
          <p:cNvPr id="29" name="TextBox 28">
            <a:extLst xmlns:a="http://schemas.openxmlformats.org/drawingml/2006/main">
              <a:ext uri="{FF2B5EF4-FFF2-40B4-BE49-F238E27FC236}">
                <a16:creationId xmlns:a16="http://schemas.microsoft.com/office/drawing/2014/main" id="{081F480E-EA43-4A99-9E7F-3B8C8BB6E908}"/>
              </a:ext>
            </a:extLst>
          </p:cNvPr>
          <p:cNvSpPr>
            <a:spLocks xmlns:a="http://schemas.openxmlformats.org/drawingml/2006/main" noGrp="1"/>
          </p:cNvSpPr>
          <p:nvPr/>
        </p:nvSpPr>
        <p:spPr>
          <a:xfrm xmlns:a="http://schemas.openxmlformats.org/drawingml/2006/main">
            <a:off x="9308592" y="2267712"/>
            <a:ext cx="2157984"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900" b="1" i="0">
                <a:solidFill>
                  <a:srgbClr val="0F233D"/>
                </a:solidFill>
                <a:latin typeface="Arial"/>
                <a:ea typeface="Arial"/>
                <a:cs typeface="Arial"/>
              </a:rPr>
              <a:t>Category result</a:t>
            </a:r>
          </a:p>
        </p:txBody>
      </p:sp>
      <p:sp>
        <p:nvSpPr>
          <p:cNvPr id="30" name="TextBox 29">
            <a:extLst xmlns:a="http://schemas.openxmlformats.org/drawingml/2006/main">
              <a:ext uri="{FF2B5EF4-FFF2-40B4-BE49-F238E27FC236}">
                <a16:creationId xmlns:a16="http://schemas.microsoft.com/office/drawing/2014/main" id="{3CFF8CEC-C169-4B64-A39A-03FB9E8AAF1C}"/>
              </a:ext>
            </a:extLst>
          </p:cNvPr>
          <p:cNvSpPr>
            <a:spLocks xmlns:a="http://schemas.openxmlformats.org/drawingml/2006/main" noGrp="1"/>
          </p:cNvSpPr>
          <p:nvPr/>
        </p:nvSpPr>
        <p:spPr>
          <a:xfrm xmlns:a="http://schemas.openxmlformats.org/drawingml/2006/main">
            <a:off x="9308592" y="3017520"/>
            <a:ext cx="2157984"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E69F00"/>
                </a:solidFill>
                <a:latin typeface="Arial"/>
                <a:ea typeface="Arial"/>
                <a:cs typeface="Arial"/>
              </a:rPr>
              <a:t>gene × category</a:t>
            </a:r>
          </a:p>
        </p:txBody>
      </p:sp>
      <p:sp>
        <p:nvSpPr>
          <p:cNvPr id="31" name="Rounded Rectangle 30">
            <a:extLst xmlns:a="http://schemas.openxmlformats.org/drawingml/2006/main">
              <a:ext uri="{FF2B5EF4-FFF2-40B4-BE49-F238E27FC236}">
                <a16:creationId xmlns:a16="http://schemas.microsoft.com/office/drawing/2014/main" id="{8A9606BF-576C-4D4A-A6E8-E536878F1F74}"/>
              </a:ext>
            </a:extLst>
          </p:cNvPr>
          <p:cNvSpPr>
            <a:spLocks xmlns:a="http://schemas.openxmlformats.org/drawingml/2006/main" noGrp="1"/>
          </p:cNvSpPr>
          <p:nvPr/>
        </p:nvSpPr>
        <p:spPr>
          <a:xfrm xmlns:a="http://schemas.openxmlformats.org/drawingml/2006/main">
            <a:off x="9290304" y="3840480"/>
            <a:ext cx="2194560" cy="1097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F51EDF7F-2A80-4AA9-B0A2-6B07730F92E2}"/>
              </a:ext>
            </a:extLst>
          </p:cNvPr>
          <p:cNvSpPr>
            <a:spLocks xmlns:a="http://schemas.openxmlformats.org/drawingml/2006/main" noGrp="1"/>
          </p:cNvSpPr>
          <p:nvPr/>
        </p:nvSpPr>
        <p:spPr>
          <a:xfrm xmlns:a="http://schemas.openxmlformats.org/drawingml/2006/main">
            <a:off x="9436608" y="4105152"/>
            <a:ext cx="1901952" cy="57708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30" b="0" i="0">
                <a:solidFill>
                  <a:srgbClr val="4E5A68"/>
                </a:solidFill>
                <a:latin typeface="Arial"/>
                <a:ea typeface="Arial"/>
                <a:cs typeface="Arial"/>
              </a:rPr>
              <a:t>Aggregate genes across fine cell type for the same broad cell type with ACAT.</a:t>
            </a:r>
          </a:p>
        </p:txBody>
      </p:sp>
    </p:spTree>
    <p:extLst>
      <p:ext uri="{BB962C8B-B14F-4D97-AF65-F5344CB8AC3E}">
        <p14:creationId xmlns:p14="http://schemas.microsoft.com/office/powerpoint/2010/main" val="24950864"/>
      </p:ext>
    </p:extLst>
  </p:cSld>
</p:sld>
</file>

<file path=ppt/slides/slide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779EDE79-0614-4A92-8566-773ED2EA23CD}"/>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Summary for ROSMAP</a:t>
            </a:r>
          </a:p>
        </p:txBody>
      </p:sp>
      <p:sp>
        <p:nvSpPr>
          <p:cNvPr id="4" name="TextBox 3">
            <a:extLst xmlns:a="http://schemas.openxmlformats.org/drawingml/2006/main">
              <a:ext uri="{FF2B5EF4-FFF2-40B4-BE49-F238E27FC236}">
                <a16:creationId xmlns:a16="http://schemas.microsoft.com/office/drawing/2014/main" id="{3FEB1C88-6A15-4B1A-BBD6-1FA27ECDACC0}"/>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mitochondrial DEG query; significant non-MT returns are aggregated by category.</a:t>
            </a:r>
          </a:p>
        </p:txBody>
      </p:sp>
      <p:sp>
        <p:nvSpPr>
          <p:cNvPr id="5" name="Rounded Rectangle 4">
            <a:extLst xmlns:a="http://schemas.openxmlformats.org/drawingml/2006/main">
              <a:ext uri="{FF2B5EF4-FFF2-40B4-BE49-F238E27FC236}">
                <a16:creationId xmlns:a16="http://schemas.microsoft.com/office/drawing/2014/main" id="{27608705-C0F9-4C50-AAB2-99C73BD442DE}"/>
              </a:ext>
            </a:extLst>
          </p:cNvPr>
          <p:cNvSpPr>
            <a:spLocks xmlns:a="http://schemas.openxmlformats.org/drawingml/2006/main" noGrp="1"/>
          </p:cNvSpPr>
          <p:nvPr/>
        </p:nvSpPr>
        <p:spPr>
          <a:xfrm xmlns:a="http://schemas.openxmlformats.org/drawingml/2006/main">
            <a:off x="3250039" y="1352441"/>
            <a:ext cx="5358384" cy="4325112"/>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9B893E04-674A-446C-B5F9-1C79FA8DE7F3}"/>
              </a:ext>
            </a:extLst>
          </p:cNvPr>
          <p:cNvSpPr>
            <a:spLocks xmlns:a="http://schemas.openxmlformats.org/drawingml/2006/main" noGrp="1"/>
          </p:cNvSpPr>
          <p:nvPr/>
        </p:nvSpPr>
        <p:spPr>
          <a:xfrm xmlns:a="http://schemas.openxmlformats.org/drawingml/2006/main">
            <a:off x="3533503" y="1645049"/>
            <a:ext cx="2926080" cy="20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0072B2"/>
                </a:solidFill>
                <a:latin typeface="Arial"/>
                <a:ea typeface="Arial"/>
                <a:cs typeface="Arial"/>
              </a:rPr>
              <a:t>ROSMAP IS THE PRIMARY</a:t>
            </a:r>
          </a:p>
        </p:txBody>
      </p:sp>
      <p:sp>
        <p:nvSpPr>
          <p:cNvPr id="7" name="TextBox 6">
            <a:extLst xmlns:a="http://schemas.openxmlformats.org/drawingml/2006/main">
              <a:ext uri="{FF2B5EF4-FFF2-40B4-BE49-F238E27FC236}">
                <a16:creationId xmlns:a16="http://schemas.microsoft.com/office/drawing/2014/main" id="{25B1F69F-9624-4F57-995F-1475F9FBCC31}"/>
              </a:ext>
            </a:extLst>
          </p:cNvPr>
          <p:cNvSpPr>
            <a:spLocks xmlns:a="http://schemas.openxmlformats.org/drawingml/2006/main" noGrp="1"/>
          </p:cNvSpPr>
          <p:nvPr/>
        </p:nvSpPr>
        <p:spPr>
          <a:xfrm xmlns:a="http://schemas.openxmlformats.org/drawingml/2006/main">
            <a:off x="3533503" y="1955945"/>
            <a:ext cx="4526280"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Where does a gene recur across fine-cell evidence?</a:t>
            </a:r>
          </a:p>
        </p:txBody>
      </p:sp>
      <p:sp>
        <p:nvSpPr>
          <p:cNvPr id="8" name="Rounded Rectangle 7">
            <a:extLst xmlns:a="http://schemas.openxmlformats.org/drawingml/2006/main">
              <a:ext uri="{FF2B5EF4-FFF2-40B4-BE49-F238E27FC236}">
                <a16:creationId xmlns:a16="http://schemas.microsoft.com/office/drawing/2014/main" id="{131DAE2C-A674-40CC-9E86-7DDA6D405B44}"/>
              </a:ext>
            </a:extLst>
          </p:cNvPr>
          <p:cNvSpPr>
            <a:spLocks xmlns:a="http://schemas.openxmlformats.org/drawingml/2006/main" noGrp="1"/>
          </p:cNvSpPr>
          <p:nvPr/>
        </p:nvSpPr>
        <p:spPr>
          <a:xfrm xmlns:a="http://schemas.openxmlformats.org/drawingml/2006/main">
            <a:off x="3533503" y="2714897"/>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1F88DCF-24B7-442A-B0EE-B2ACA02D3CFC}"/>
              </a:ext>
            </a:extLst>
          </p:cNvPr>
          <p:cNvSpPr>
            <a:spLocks xmlns:a="http://schemas.openxmlformats.org/drawingml/2006/main" noGrp="1"/>
          </p:cNvSpPr>
          <p:nvPr/>
        </p:nvSpPr>
        <p:spPr>
          <a:xfrm xmlns:a="http://schemas.openxmlformats.org/drawingml/2006/main">
            <a:off x="3679806" y="2806337"/>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324</a:t>
            </a:r>
          </a:p>
        </p:txBody>
      </p:sp>
      <p:sp>
        <p:nvSpPr>
          <p:cNvPr id="10" name="TextBox 9">
            <a:extLst xmlns:a="http://schemas.openxmlformats.org/drawingml/2006/main">
              <a:ext uri="{FF2B5EF4-FFF2-40B4-BE49-F238E27FC236}">
                <a16:creationId xmlns:a16="http://schemas.microsoft.com/office/drawing/2014/main" id="{D4176951-406A-42E1-9F48-A3C018324ADE}"/>
              </a:ext>
            </a:extLst>
          </p:cNvPr>
          <p:cNvSpPr>
            <a:spLocks xmlns:a="http://schemas.openxmlformats.org/drawingml/2006/main" noGrp="1"/>
          </p:cNvSpPr>
          <p:nvPr/>
        </p:nvSpPr>
        <p:spPr>
          <a:xfrm xmlns:a="http://schemas.openxmlformats.org/drawingml/2006/main">
            <a:off x="3679806" y="3263537"/>
            <a:ext cx="1124712"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11" name="Rounded Rectangle 10">
            <a:extLst xmlns:a="http://schemas.openxmlformats.org/drawingml/2006/main">
              <a:ext uri="{FF2B5EF4-FFF2-40B4-BE49-F238E27FC236}">
                <a16:creationId xmlns:a16="http://schemas.microsoft.com/office/drawing/2014/main" id="{7F0049E5-A5A1-4945-891F-A8C8F12A0024}"/>
              </a:ext>
            </a:extLst>
          </p:cNvPr>
          <p:cNvSpPr>
            <a:spLocks xmlns:a="http://schemas.openxmlformats.org/drawingml/2006/main" noGrp="1"/>
          </p:cNvSpPr>
          <p:nvPr/>
        </p:nvSpPr>
        <p:spPr>
          <a:xfrm xmlns:a="http://schemas.openxmlformats.org/drawingml/2006/main">
            <a:off x="5115415" y="2714897"/>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7F68E63-208C-422D-A0B5-6179738B0C27}"/>
              </a:ext>
            </a:extLst>
          </p:cNvPr>
          <p:cNvSpPr>
            <a:spLocks xmlns:a="http://schemas.openxmlformats.org/drawingml/2006/main" noGrp="1"/>
          </p:cNvSpPr>
          <p:nvPr/>
        </p:nvSpPr>
        <p:spPr>
          <a:xfrm xmlns:a="http://schemas.openxmlformats.org/drawingml/2006/main">
            <a:off x="5261719" y="2806337"/>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194</a:t>
            </a:r>
          </a:p>
        </p:txBody>
      </p:sp>
      <p:sp>
        <p:nvSpPr>
          <p:cNvPr id="13" name="TextBox 12">
            <a:extLst xmlns:a="http://schemas.openxmlformats.org/drawingml/2006/main">
              <a:ext uri="{FF2B5EF4-FFF2-40B4-BE49-F238E27FC236}">
                <a16:creationId xmlns:a16="http://schemas.microsoft.com/office/drawing/2014/main" id="{9859AB75-DB6D-41F0-853B-54347BB96C6E}"/>
              </a:ext>
            </a:extLst>
          </p:cNvPr>
          <p:cNvSpPr>
            <a:spLocks xmlns:a="http://schemas.openxmlformats.org/drawingml/2006/main" noGrp="1"/>
          </p:cNvSpPr>
          <p:nvPr/>
        </p:nvSpPr>
        <p:spPr>
          <a:xfrm xmlns:a="http://schemas.openxmlformats.org/drawingml/2006/main">
            <a:off x="5261719" y="3263537"/>
            <a:ext cx="1124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14" name="Rounded Rectangle 13">
            <a:extLst xmlns:a="http://schemas.openxmlformats.org/drawingml/2006/main">
              <a:ext uri="{FF2B5EF4-FFF2-40B4-BE49-F238E27FC236}">
                <a16:creationId xmlns:a16="http://schemas.microsoft.com/office/drawing/2014/main" id="{F00CBE22-A234-44B9-A9F5-3EC4E3F1D58E}"/>
              </a:ext>
            </a:extLst>
          </p:cNvPr>
          <p:cNvSpPr>
            <a:spLocks xmlns:a="http://schemas.openxmlformats.org/drawingml/2006/main" noGrp="1"/>
          </p:cNvSpPr>
          <p:nvPr/>
        </p:nvSpPr>
        <p:spPr>
          <a:xfrm xmlns:a="http://schemas.openxmlformats.org/drawingml/2006/main">
            <a:off x="6697327" y="2714897"/>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0E06DD3-6407-4A49-BEFA-3682641CBF5C}"/>
              </a:ext>
            </a:extLst>
          </p:cNvPr>
          <p:cNvSpPr>
            <a:spLocks xmlns:a="http://schemas.openxmlformats.org/drawingml/2006/main" noGrp="1"/>
          </p:cNvSpPr>
          <p:nvPr/>
        </p:nvSpPr>
        <p:spPr>
          <a:xfrm xmlns:a="http://schemas.openxmlformats.org/drawingml/2006/main">
            <a:off x="6843631" y="2806337"/>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6" name="TextBox 15">
            <a:extLst xmlns:a="http://schemas.openxmlformats.org/drawingml/2006/main">
              <a:ext uri="{FF2B5EF4-FFF2-40B4-BE49-F238E27FC236}">
                <a16:creationId xmlns:a16="http://schemas.microsoft.com/office/drawing/2014/main" id="{142AF64B-9BFC-4A90-AD8B-D7E163774C97}"/>
              </a:ext>
            </a:extLst>
          </p:cNvPr>
          <p:cNvSpPr>
            <a:spLocks xmlns:a="http://schemas.openxmlformats.org/drawingml/2006/main" noGrp="1"/>
          </p:cNvSpPr>
          <p:nvPr/>
        </p:nvSpPr>
        <p:spPr>
          <a:xfrm xmlns:a="http://schemas.openxmlformats.org/drawingml/2006/main">
            <a:off x="6843631" y="3263537"/>
            <a:ext cx="1124712"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17" name="Oval 16">
            <a:extLst xmlns:a="http://schemas.openxmlformats.org/drawingml/2006/main">
              <a:ext uri="{FF2B5EF4-FFF2-40B4-BE49-F238E27FC236}">
                <a16:creationId xmlns:a16="http://schemas.microsoft.com/office/drawing/2014/main" id="{339ABBE7-E584-44D6-8F8D-E5C2606637D4}"/>
              </a:ext>
            </a:extLst>
          </p:cNvPr>
          <p:cNvSpPr>
            <a:spLocks xmlns:a="http://schemas.openxmlformats.org/drawingml/2006/main" noGrp="1"/>
          </p:cNvSpPr>
          <p:nvPr/>
        </p:nvSpPr>
        <p:spPr>
          <a:xfrm xmlns:a="http://schemas.openxmlformats.org/drawingml/2006/main">
            <a:off x="3542647" y="4121569"/>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291635AF-955E-44E9-A5E8-68948BABEAE9}"/>
              </a:ext>
            </a:extLst>
          </p:cNvPr>
          <p:cNvSpPr>
            <a:spLocks xmlns:a="http://schemas.openxmlformats.org/drawingml/2006/main" noGrp="1"/>
          </p:cNvSpPr>
          <p:nvPr/>
        </p:nvSpPr>
        <p:spPr>
          <a:xfrm xmlns:a="http://schemas.openxmlformats.org/drawingml/2006/main">
            <a:off x="3716383" y="4022489"/>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Builds one query with DEG MT genes for each contrast.</a:t>
            </a:r>
          </a:p>
        </p:txBody>
      </p:sp>
      <p:sp>
        <p:nvSpPr>
          <p:cNvPr id="19" name="Oval 18">
            <a:extLst xmlns:a="http://schemas.openxmlformats.org/drawingml/2006/main">
              <a:ext uri="{FF2B5EF4-FFF2-40B4-BE49-F238E27FC236}">
                <a16:creationId xmlns:a16="http://schemas.microsoft.com/office/drawing/2014/main" id="{979C2EA2-60E9-465D-B9F7-5F9C1C7D8CE8}"/>
              </a:ext>
            </a:extLst>
          </p:cNvPr>
          <p:cNvSpPr>
            <a:spLocks xmlns:a="http://schemas.openxmlformats.org/drawingml/2006/main" noGrp="1"/>
          </p:cNvSpPr>
          <p:nvPr/>
        </p:nvSpPr>
        <p:spPr>
          <a:xfrm xmlns:a="http://schemas.openxmlformats.org/drawingml/2006/main">
            <a:off x="3542647" y="4560481"/>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69861B28-248C-45E2-BBCA-01BD80FE7D6B}"/>
              </a:ext>
            </a:extLst>
          </p:cNvPr>
          <p:cNvSpPr>
            <a:spLocks xmlns:a="http://schemas.openxmlformats.org/drawingml/2006/main" noGrp="1"/>
          </p:cNvSpPr>
          <p:nvPr/>
        </p:nvSpPr>
        <p:spPr>
          <a:xfrm xmlns:a="http://schemas.openxmlformats.org/drawingml/2006/main">
            <a:off x="3716383" y="4461400"/>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a:solidFill>
                  <a:srgbClr val="1F2730"/>
                </a:solidFill>
                <a:latin typeface="Arial"/>
                <a:ea typeface="Arial"/>
                <a:cs typeface="Arial"/>
              </a:rPr>
              <a:t>Aggregate</a:t>
            </a:r>
            <a:r>
              <a:rPr sz="1150" b="0" i="0">
                <a:solidFill>
                  <a:srgbClr val="1F2730"/>
                </a:solidFill>
                <a:latin typeface="Arial"/>
                <a:ea typeface="Arial"/>
                <a:cs typeface="Arial"/>
              </a:rPr>
              <a:t> KDA returned key driver using ACAT for each category</a:t>
            </a:r>
          </a:p>
        </p:txBody>
      </p:sp>
      <p:sp>
        <p:nvSpPr>
          <p:cNvPr id="21" name="Oval 20">
            <a:extLst xmlns:a="http://schemas.openxmlformats.org/drawingml/2006/main">
              <a:ext uri="{FF2B5EF4-FFF2-40B4-BE49-F238E27FC236}">
                <a16:creationId xmlns:a16="http://schemas.microsoft.com/office/drawing/2014/main" id="{83E07CEC-DB81-450C-AA53-1C5A7367B796}"/>
              </a:ext>
            </a:extLst>
          </p:cNvPr>
          <p:cNvSpPr>
            <a:spLocks xmlns:a="http://schemas.openxmlformats.org/drawingml/2006/main" noGrp="1"/>
          </p:cNvSpPr>
          <p:nvPr/>
        </p:nvSpPr>
        <p:spPr>
          <a:xfrm xmlns:a="http://schemas.openxmlformats.org/drawingml/2006/main">
            <a:off x="3542647" y="4982033"/>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1CAF4877-CC06-4E3F-95B9-FDCE34881447}"/>
              </a:ext>
            </a:extLst>
          </p:cNvPr>
          <p:cNvSpPr>
            <a:spLocks xmlns:a="http://schemas.openxmlformats.org/drawingml/2006/main" noGrp="1"/>
          </p:cNvSpPr>
          <p:nvPr/>
        </p:nvSpPr>
        <p:spPr>
          <a:xfrm xmlns:a="http://schemas.openxmlformats.org/drawingml/2006/main">
            <a:off x="3716383" y="4900313"/>
            <a:ext cx="4361688" cy="4093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Final 381 combinations represent 228 unique genes in 29 categories.</a:t>
            </a:r>
          </a:p>
        </p:txBody>
      </p:sp>
    </p:spTree>
    <p:extLst>
      <p:ext uri="{BB962C8B-B14F-4D97-AF65-F5344CB8AC3E}">
        <p14:creationId xmlns:p14="http://schemas.microsoft.com/office/powerpoint/2010/main" val="2131631301"/>
      </p:ext>
    </p:extLst>
  </p:cSld>
</p:sld>
</file>

<file path=ppt/slides/slide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A3919200-AC9E-432B-826D-4705661A81E3}"/>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54 fine cell types create 324 planned contrasts</a:t>
            </a:r>
          </a:p>
        </p:txBody>
      </p:sp>
      <p:sp>
        <p:nvSpPr>
          <p:cNvPr id="4" name="TextBox 3">
            <a:extLst xmlns:a="http://schemas.openxmlformats.org/drawingml/2006/main">
              <a:ext uri="{FF2B5EF4-FFF2-40B4-BE49-F238E27FC236}">
                <a16:creationId xmlns:a16="http://schemas.microsoft.com/office/drawing/2014/main" id="{E799108D-CE17-4E26-8790-18B878427A34}"/>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contrast contributes one mitochondrial DEG query and at most one KDA call.</a:t>
            </a:r>
          </a:p>
        </p:txBody>
      </p:sp>
      <p:sp>
        <p:nvSpPr>
          <p:cNvPr id="5" name="Rounded Rectangle 4">
            <a:extLst xmlns:a="http://schemas.openxmlformats.org/drawingml/2006/main">
              <a:ext uri="{FF2B5EF4-FFF2-40B4-BE49-F238E27FC236}">
                <a16:creationId xmlns:a16="http://schemas.microsoft.com/office/drawing/2014/main" id="{D4570BFE-168B-48A1-8D2B-09179C0DF271}"/>
              </a:ext>
            </a:extLst>
          </p:cNvPr>
          <p:cNvSpPr>
            <a:spLocks xmlns:a="http://schemas.openxmlformats.org/drawingml/2006/main" noGrp="1"/>
          </p:cNvSpPr>
          <p:nvPr/>
        </p:nvSpPr>
        <p:spPr>
          <a:xfrm xmlns:a="http://schemas.openxmlformats.org/drawingml/2006/main">
            <a:off x="621792" y="1344168"/>
            <a:ext cx="3346704" cy="1207008"/>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2F1CF8F7-FE27-4A3E-AC96-ED76BDE146F9}"/>
              </a:ext>
            </a:extLst>
          </p:cNvPr>
          <p:cNvSpPr>
            <a:spLocks xmlns:a="http://schemas.openxmlformats.org/drawingml/2006/main" noGrp="1"/>
          </p:cNvSpPr>
          <p:nvPr/>
        </p:nvSpPr>
        <p:spPr>
          <a:xfrm xmlns:a="http://schemas.openxmlformats.org/drawingml/2006/main">
            <a:off x="841248" y="1591056"/>
            <a:ext cx="2907792"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54 fine cell types</a:t>
            </a:r>
          </a:p>
        </p:txBody>
      </p:sp>
      <p:sp>
        <p:nvSpPr>
          <p:cNvPr id="7" name="TextBox 6">
            <a:extLst xmlns:a="http://schemas.openxmlformats.org/drawingml/2006/main">
              <a:ext uri="{FF2B5EF4-FFF2-40B4-BE49-F238E27FC236}">
                <a16:creationId xmlns:a16="http://schemas.microsoft.com/office/drawing/2014/main" id="{5078B9DE-FA37-427E-9361-5C7DD6305FA4}"/>
              </a:ext>
            </a:extLst>
          </p:cNvPr>
          <p:cNvSpPr>
            <a:spLocks xmlns:a="http://schemas.openxmlformats.org/drawingml/2006/main" noGrp="1"/>
          </p:cNvSpPr>
          <p:nvPr/>
        </p:nvSpPr>
        <p:spPr>
          <a:xfrm xmlns:a="http://schemas.openxmlformats.org/drawingml/2006/main">
            <a:off x="841248" y="1993392"/>
            <a:ext cx="2907792" cy="24622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40" b="1" i="0">
                <a:solidFill>
                  <a:srgbClr val="0072B2"/>
                </a:solidFill>
                <a:latin typeface="Arial"/>
                <a:ea typeface="Arial"/>
                <a:cs typeface="Arial"/>
              </a:rPr>
              <a:t>× 6 sex/APOE groups = 324 contrasts</a:t>
            </a:r>
          </a:p>
        </p:txBody>
      </p:sp>
      <p:sp>
        <p:nvSpPr>
          <p:cNvPr id="8" name="Rounded Rectangle 7">
            <a:extLst xmlns:a="http://schemas.openxmlformats.org/drawingml/2006/main">
              <a:ext uri="{FF2B5EF4-FFF2-40B4-BE49-F238E27FC236}">
                <a16:creationId xmlns:a16="http://schemas.microsoft.com/office/drawing/2014/main" id="{BEE0BFF6-A4AB-4AFC-835E-2D7B3A50E865}"/>
              </a:ext>
            </a:extLst>
          </p:cNvPr>
          <p:cNvSpPr>
            <a:spLocks xmlns:a="http://schemas.openxmlformats.org/drawingml/2006/main" noGrp="1"/>
          </p:cNvSpPr>
          <p:nvPr/>
        </p:nvSpPr>
        <p:spPr>
          <a:xfrm xmlns:a="http://schemas.openxmlformats.org/drawingml/2006/main">
            <a:off x="4315968" y="1344168"/>
            <a:ext cx="3529584" cy="120700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7CE176B-D535-4DB8-9796-B825E7E478DF}"/>
              </a:ext>
            </a:extLst>
          </p:cNvPr>
          <p:cNvSpPr>
            <a:spLocks xmlns:a="http://schemas.openxmlformats.org/drawingml/2006/main" noGrp="1"/>
          </p:cNvSpPr>
          <p:nvPr/>
        </p:nvSpPr>
        <p:spPr>
          <a:xfrm xmlns:a="http://schemas.openxmlformats.org/drawingml/2006/main">
            <a:off x="4535424" y="1591056"/>
            <a:ext cx="3090672"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324 DEG contrasts</a:t>
            </a:r>
          </a:p>
        </p:txBody>
      </p:sp>
      <p:sp>
        <p:nvSpPr>
          <p:cNvPr id="10" name="TextBox 9">
            <a:extLst xmlns:a="http://schemas.openxmlformats.org/drawingml/2006/main">
              <a:ext uri="{FF2B5EF4-FFF2-40B4-BE49-F238E27FC236}">
                <a16:creationId xmlns:a16="http://schemas.microsoft.com/office/drawing/2014/main" id="{F9808C7C-B4BA-4C0F-9B71-F4DFB09D01AF}"/>
              </a:ext>
            </a:extLst>
          </p:cNvPr>
          <p:cNvSpPr>
            <a:spLocks xmlns:a="http://schemas.openxmlformats.org/drawingml/2006/main" noGrp="1"/>
          </p:cNvSpPr>
          <p:nvPr/>
        </p:nvSpPr>
        <p:spPr>
          <a:xfrm xmlns:a="http://schemas.openxmlformats.org/drawingml/2006/main">
            <a:off x="4535424" y="1993392"/>
            <a:ext cx="30906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40" b="1" i="0">
                <a:solidFill>
                  <a:srgbClr val="0072B2"/>
                </a:solidFill>
                <a:latin typeface="Arial"/>
                <a:ea typeface="Arial"/>
                <a:cs typeface="Arial"/>
              </a:rPr>
              <a:t>one query per contrast</a:t>
            </a:r>
          </a:p>
        </p:txBody>
      </p:sp>
      <p:sp>
        <p:nvSpPr>
          <p:cNvPr id="11" name="Rounded Rectangle 10">
            <a:extLst xmlns:a="http://schemas.openxmlformats.org/drawingml/2006/main">
              <a:ext uri="{FF2B5EF4-FFF2-40B4-BE49-F238E27FC236}">
                <a16:creationId xmlns:a16="http://schemas.microsoft.com/office/drawing/2014/main" id="{0FFBF54A-AEB3-416E-8B74-08B60A90324A}"/>
              </a:ext>
            </a:extLst>
          </p:cNvPr>
          <p:cNvSpPr>
            <a:spLocks xmlns:a="http://schemas.openxmlformats.org/drawingml/2006/main" noGrp="1"/>
          </p:cNvSpPr>
          <p:nvPr/>
        </p:nvSpPr>
        <p:spPr>
          <a:xfrm xmlns:a="http://schemas.openxmlformats.org/drawingml/2006/main">
            <a:off x="8193024" y="1344168"/>
            <a:ext cx="3364992" cy="120700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2D4ADF4-17FC-4F7E-BAFD-E7A0341DE829}"/>
              </a:ext>
            </a:extLst>
          </p:cNvPr>
          <p:cNvSpPr>
            <a:spLocks xmlns:a="http://schemas.openxmlformats.org/drawingml/2006/main" noGrp="1"/>
          </p:cNvSpPr>
          <p:nvPr/>
        </p:nvSpPr>
        <p:spPr>
          <a:xfrm xmlns:a="http://schemas.openxmlformats.org/drawingml/2006/main">
            <a:off x="8310880" y="1591056"/>
            <a:ext cx="3145536"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194 call_key_drivers calls</a:t>
            </a:r>
          </a:p>
        </p:txBody>
      </p:sp>
      <p:sp>
        <p:nvSpPr>
          <p:cNvPr id="13" name="TextBox 12">
            <a:extLst xmlns:a="http://schemas.openxmlformats.org/drawingml/2006/main">
              <a:ext uri="{FF2B5EF4-FFF2-40B4-BE49-F238E27FC236}">
                <a16:creationId xmlns:a16="http://schemas.microsoft.com/office/drawing/2014/main" id="{4F912C2A-B3B5-4610-AC2F-804BACAD6DF9}"/>
              </a:ext>
            </a:extLst>
          </p:cNvPr>
          <p:cNvSpPr>
            <a:spLocks xmlns:a="http://schemas.openxmlformats.org/drawingml/2006/main" noGrp="1"/>
          </p:cNvSpPr>
          <p:nvPr/>
        </p:nvSpPr>
        <p:spPr>
          <a:xfrm xmlns:a="http://schemas.openxmlformats.org/drawingml/2006/main">
            <a:off x="8412480" y="1993392"/>
            <a:ext cx="2926080" cy="3754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9E73"/>
                </a:solidFill>
                <a:latin typeface="Arial"/>
                <a:ea typeface="Arial"/>
                <a:cs typeface="Arial"/>
              </a:rPr>
              <a:t>All valid DEG contrast and number of genes in queries ≥3</a:t>
            </a:r>
          </a:p>
        </p:txBody>
      </p:sp>
      <p:sp>
        <p:nvSpPr>
          <p:cNvPr id="14" name="Rectangle 13">
            <a:extLst xmlns:a="http://schemas.openxmlformats.org/drawingml/2006/main">
              <a:ext uri="{FF2B5EF4-FFF2-40B4-BE49-F238E27FC236}">
                <a16:creationId xmlns:a16="http://schemas.microsoft.com/office/drawing/2014/main" id="{C7830466-3CB6-4F40-8141-C2D2D4C39423}"/>
              </a:ext>
            </a:extLst>
          </p:cNvPr>
          <p:cNvSpPr>
            <a:spLocks xmlns:a="http://schemas.openxmlformats.org/drawingml/2006/main" noGrp="1"/>
          </p:cNvSpPr>
          <p:nvPr/>
        </p:nvSpPr>
        <p:spPr>
          <a:xfrm xmlns:a="http://schemas.openxmlformats.org/drawingml/2006/main">
            <a:off x="1840696" y="2898648"/>
            <a:ext cx="562356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19C4B8D4-4EB0-4607-A86A-56D8B2EAA411}"/>
              </a:ext>
            </a:extLst>
          </p:cNvPr>
          <p:cNvSpPr>
            <a:spLocks xmlns:a="http://schemas.openxmlformats.org/drawingml/2006/main" noGrp="1"/>
          </p:cNvSpPr>
          <p:nvPr/>
        </p:nvSpPr>
        <p:spPr>
          <a:xfrm xmlns:a="http://schemas.openxmlformats.org/drawingml/2006/main">
            <a:off x="1895560" y="2953512"/>
            <a:ext cx="551383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0" b="1" i="0">
                <a:solidFill>
                  <a:srgbClr val="FFFFFF"/>
                </a:solidFill>
                <a:latin typeface="Arial"/>
                <a:ea typeface="Arial"/>
                <a:cs typeface="Arial"/>
              </a:rPr>
              <a:t>Mutually exclusive contrast outcome</a:t>
            </a:r>
          </a:p>
        </p:txBody>
      </p:sp>
      <p:sp>
        <p:nvSpPr>
          <p:cNvPr id="16" name="Rectangle 15">
            <a:extLst xmlns:a="http://schemas.openxmlformats.org/drawingml/2006/main">
              <a:ext uri="{FF2B5EF4-FFF2-40B4-BE49-F238E27FC236}">
                <a16:creationId xmlns:a16="http://schemas.microsoft.com/office/drawing/2014/main" id="{5BEB0C3C-1A6C-4075-8B14-23F615D5F23F}"/>
              </a:ext>
            </a:extLst>
          </p:cNvPr>
          <p:cNvSpPr>
            <a:spLocks xmlns:a="http://schemas.openxmlformats.org/drawingml/2006/main" noGrp="1"/>
          </p:cNvSpPr>
          <p:nvPr/>
        </p:nvSpPr>
        <p:spPr>
          <a:xfrm xmlns:a="http://schemas.openxmlformats.org/drawingml/2006/main">
            <a:off x="7464256" y="2898648"/>
            <a:ext cx="109728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B6176161-58EB-4AC1-ABDA-F959ADE88043}"/>
              </a:ext>
            </a:extLst>
          </p:cNvPr>
          <p:cNvSpPr>
            <a:spLocks xmlns:a="http://schemas.openxmlformats.org/drawingml/2006/main" noGrp="1"/>
          </p:cNvSpPr>
          <p:nvPr/>
        </p:nvSpPr>
        <p:spPr>
          <a:xfrm xmlns:a="http://schemas.openxmlformats.org/drawingml/2006/main">
            <a:off x="7519120" y="2953512"/>
            <a:ext cx="98755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0" b="1" i="0">
                <a:solidFill>
                  <a:srgbClr val="FFFFFF"/>
                </a:solidFill>
                <a:latin typeface="Arial"/>
                <a:ea typeface="Arial"/>
                <a:cs typeface="Arial"/>
              </a:rPr>
              <a:t>Contrasts</a:t>
            </a:r>
          </a:p>
        </p:txBody>
      </p:sp>
      <p:sp>
        <p:nvSpPr>
          <p:cNvPr id="18" name="Rectangle 17">
            <a:extLst xmlns:a="http://schemas.openxmlformats.org/drawingml/2006/main">
              <a:ext uri="{FF2B5EF4-FFF2-40B4-BE49-F238E27FC236}">
                <a16:creationId xmlns:a16="http://schemas.microsoft.com/office/drawing/2014/main" id="{0A8DA921-F671-4828-B56A-12943D06FBB1}"/>
              </a:ext>
            </a:extLst>
          </p:cNvPr>
          <p:cNvSpPr>
            <a:spLocks xmlns:a="http://schemas.openxmlformats.org/drawingml/2006/main" noGrp="1"/>
          </p:cNvSpPr>
          <p:nvPr/>
        </p:nvSpPr>
        <p:spPr>
          <a:xfrm xmlns:a="http://schemas.openxmlformats.org/drawingml/2006/main">
            <a:off x="8561536" y="2898648"/>
            <a:ext cx="1874519"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4658F41-AE85-470A-8714-16469112AF56}"/>
              </a:ext>
            </a:extLst>
          </p:cNvPr>
          <p:cNvSpPr>
            <a:spLocks xmlns:a="http://schemas.openxmlformats.org/drawingml/2006/main" noGrp="1"/>
          </p:cNvSpPr>
          <p:nvPr/>
        </p:nvSpPr>
        <p:spPr>
          <a:xfrm xmlns:a="http://schemas.openxmlformats.org/drawingml/2006/main">
            <a:off x="8616400" y="2953512"/>
            <a:ext cx="176479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0" b="1" i="0">
                <a:solidFill>
                  <a:srgbClr val="FFFFFF"/>
                </a:solidFill>
                <a:latin typeface="Arial"/>
                <a:ea typeface="Arial"/>
                <a:cs typeface="Arial"/>
              </a:rPr>
              <a:t>KDA called?</a:t>
            </a:r>
          </a:p>
        </p:txBody>
      </p:sp>
      <p:sp>
        <p:nvSpPr>
          <p:cNvPr id="22" name="Rectangle 21">
            <a:extLst xmlns:a="http://schemas.openxmlformats.org/drawingml/2006/main">
              <a:ext uri="{FF2B5EF4-FFF2-40B4-BE49-F238E27FC236}">
                <a16:creationId xmlns:a16="http://schemas.microsoft.com/office/drawing/2014/main" id="{3B1CFD8E-95BE-4FBB-987C-ACE7EC2E6B6E}"/>
              </a:ext>
            </a:extLst>
          </p:cNvPr>
          <p:cNvSpPr>
            <a:spLocks xmlns:a="http://schemas.openxmlformats.org/drawingml/2006/main" noGrp="1"/>
          </p:cNvSpPr>
          <p:nvPr/>
        </p:nvSpPr>
        <p:spPr>
          <a:xfrm xmlns:a="http://schemas.openxmlformats.org/drawingml/2006/main">
            <a:off x="1840696" y="3328415"/>
            <a:ext cx="562356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CF9AFC4C-5427-43C5-939B-8E4FAF9944F2}"/>
              </a:ext>
            </a:extLst>
          </p:cNvPr>
          <p:cNvSpPr>
            <a:spLocks xmlns:a="http://schemas.openxmlformats.org/drawingml/2006/main" noGrp="1"/>
          </p:cNvSpPr>
          <p:nvPr/>
        </p:nvSpPr>
        <p:spPr>
          <a:xfrm xmlns:a="http://schemas.openxmlformats.org/drawingml/2006/main">
            <a:off x="1895560" y="3460790"/>
            <a:ext cx="551383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Source DEG contrast not valid</a:t>
            </a:r>
          </a:p>
        </p:txBody>
      </p:sp>
      <p:sp>
        <p:nvSpPr>
          <p:cNvPr id="24" name="Rectangle 23">
            <a:extLst xmlns:a="http://schemas.openxmlformats.org/drawingml/2006/main">
              <a:ext uri="{FF2B5EF4-FFF2-40B4-BE49-F238E27FC236}">
                <a16:creationId xmlns:a16="http://schemas.microsoft.com/office/drawing/2014/main" id="{15D7B162-1EA6-474F-BC3E-74248A659E00}"/>
              </a:ext>
            </a:extLst>
          </p:cNvPr>
          <p:cNvSpPr>
            <a:spLocks xmlns:a="http://schemas.openxmlformats.org/drawingml/2006/main" noGrp="1"/>
          </p:cNvSpPr>
          <p:nvPr/>
        </p:nvSpPr>
        <p:spPr>
          <a:xfrm xmlns:a="http://schemas.openxmlformats.org/drawingml/2006/main">
            <a:off x="7464256" y="3328415"/>
            <a:ext cx="109728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0D309079-6F7E-49D0-B45F-DACFA33A3B8D}"/>
              </a:ext>
            </a:extLst>
          </p:cNvPr>
          <p:cNvSpPr>
            <a:spLocks xmlns:a="http://schemas.openxmlformats.org/drawingml/2006/main" noGrp="1"/>
          </p:cNvSpPr>
          <p:nvPr/>
        </p:nvSpPr>
        <p:spPr>
          <a:xfrm xmlns:a="http://schemas.openxmlformats.org/drawingml/2006/main">
            <a:off x="7519120" y="3374135"/>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3</a:t>
            </a:r>
          </a:p>
        </p:txBody>
      </p:sp>
      <p:sp>
        <p:nvSpPr>
          <p:cNvPr id="26" name="Rectangle 25">
            <a:extLst xmlns:a="http://schemas.openxmlformats.org/drawingml/2006/main">
              <a:ext uri="{FF2B5EF4-FFF2-40B4-BE49-F238E27FC236}">
                <a16:creationId xmlns:a16="http://schemas.microsoft.com/office/drawing/2014/main" id="{E8B3A0BF-B854-44C8-8072-5460012D169E}"/>
              </a:ext>
            </a:extLst>
          </p:cNvPr>
          <p:cNvSpPr>
            <a:spLocks xmlns:a="http://schemas.openxmlformats.org/drawingml/2006/main" noGrp="1"/>
          </p:cNvSpPr>
          <p:nvPr/>
        </p:nvSpPr>
        <p:spPr>
          <a:xfrm xmlns:a="http://schemas.openxmlformats.org/drawingml/2006/main">
            <a:off x="8561536" y="3328415"/>
            <a:ext cx="1874519"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52F1BD26-81DA-4CA3-9648-69C83178385A}"/>
              </a:ext>
            </a:extLst>
          </p:cNvPr>
          <p:cNvSpPr>
            <a:spLocks xmlns:a="http://schemas.openxmlformats.org/drawingml/2006/main" noGrp="1"/>
          </p:cNvSpPr>
          <p:nvPr/>
        </p:nvSpPr>
        <p:spPr>
          <a:xfrm xmlns:a="http://schemas.openxmlformats.org/drawingml/2006/main">
            <a:off x="8616400" y="3374135"/>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0" name="Rectangle 29">
            <a:extLst xmlns:a="http://schemas.openxmlformats.org/drawingml/2006/main">
              <a:ext uri="{FF2B5EF4-FFF2-40B4-BE49-F238E27FC236}">
                <a16:creationId xmlns:a16="http://schemas.microsoft.com/office/drawing/2014/main" id="{835D28EB-C5ED-43AA-A4C4-B4615A95964E}"/>
              </a:ext>
            </a:extLst>
          </p:cNvPr>
          <p:cNvSpPr>
            <a:spLocks xmlns:a="http://schemas.openxmlformats.org/drawingml/2006/main" noGrp="1"/>
          </p:cNvSpPr>
          <p:nvPr/>
        </p:nvSpPr>
        <p:spPr>
          <a:xfrm xmlns:a="http://schemas.openxmlformats.org/drawingml/2006/main">
            <a:off x="1840696" y="3776472"/>
            <a:ext cx="562356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25F22931-D29F-4703-92C2-B4265EC63138}"/>
              </a:ext>
            </a:extLst>
          </p:cNvPr>
          <p:cNvSpPr>
            <a:spLocks xmlns:a="http://schemas.openxmlformats.org/drawingml/2006/main" noGrp="1"/>
          </p:cNvSpPr>
          <p:nvPr/>
        </p:nvSpPr>
        <p:spPr>
          <a:xfrm xmlns:a="http://schemas.openxmlformats.org/drawingml/2006/main">
            <a:off x="1895560" y="3908846"/>
            <a:ext cx="551383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00">
                <a:solidFill>
                  <a:srgbClr val="1F2730"/>
                </a:solidFill>
                <a:latin typeface="Arial"/>
                <a:ea typeface="Arial"/>
                <a:cs typeface="Arial"/>
              </a:rPr>
              <a:t>Number of genes in query: 0</a:t>
            </a:r>
            <a:endParaRPr sz="950" b="0" i="0">
              <a:solidFill>
                <a:srgbClr val="1F2730"/>
              </a:solidFill>
              <a:latin typeface="Arial"/>
              <a:ea typeface="Arial"/>
              <a:cs typeface="Arial"/>
            </a:endParaRPr>
          </a:p>
        </p:txBody>
      </p:sp>
      <p:sp>
        <p:nvSpPr>
          <p:cNvPr id="32" name="Rectangle 31">
            <a:extLst xmlns:a="http://schemas.openxmlformats.org/drawingml/2006/main">
              <a:ext uri="{FF2B5EF4-FFF2-40B4-BE49-F238E27FC236}">
                <a16:creationId xmlns:a16="http://schemas.microsoft.com/office/drawing/2014/main" id="{65B15CB0-A324-4490-ABBE-EA981FFFDC2D}"/>
              </a:ext>
            </a:extLst>
          </p:cNvPr>
          <p:cNvSpPr>
            <a:spLocks xmlns:a="http://schemas.openxmlformats.org/drawingml/2006/main" noGrp="1"/>
          </p:cNvSpPr>
          <p:nvPr/>
        </p:nvSpPr>
        <p:spPr>
          <a:xfrm xmlns:a="http://schemas.openxmlformats.org/drawingml/2006/main">
            <a:off x="7464256" y="3776472"/>
            <a:ext cx="109728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F2DA721B-6205-42E7-8624-021A6BEE45C7}"/>
              </a:ext>
            </a:extLst>
          </p:cNvPr>
          <p:cNvSpPr>
            <a:spLocks xmlns:a="http://schemas.openxmlformats.org/drawingml/2006/main" noGrp="1"/>
          </p:cNvSpPr>
          <p:nvPr/>
        </p:nvSpPr>
        <p:spPr>
          <a:xfrm xmlns:a="http://schemas.openxmlformats.org/drawingml/2006/main">
            <a:off x="7519120" y="3822191"/>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95</a:t>
            </a:r>
          </a:p>
        </p:txBody>
      </p:sp>
      <p:sp>
        <p:nvSpPr>
          <p:cNvPr id="34" name="Rectangle 33">
            <a:extLst xmlns:a="http://schemas.openxmlformats.org/drawingml/2006/main">
              <a:ext uri="{FF2B5EF4-FFF2-40B4-BE49-F238E27FC236}">
                <a16:creationId xmlns:a16="http://schemas.microsoft.com/office/drawing/2014/main" id="{69B0A2F4-62B9-4BC5-ADD1-6869FBEACD94}"/>
              </a:ext>
            </a:extLst>
          </p:cNvPr>
          <p:cNvSpPr>
            <a:spLocks xmlns:a="http://schemas.openxmlformats.org/drawingml/2006/main" noGrp="1"/>
          </p:cNvSpPr>
          <p:nvPr/>
        </p:nvSpPr>
        <p:spPr>
          <a:xfrm xmlns:a="http://schemas.openxmlformats.org/drawingml/2006/main">
            <a:off x="8561536" y="3776472"/>
            <a:ext cx="1874519"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6253741D-16CE-4801-9A63-2B08A57E1EFE}"/>
              </a:ext>
            </a:extLst>
          </p:cNvPr>
          <p:cNvSpPr>
            <a:spLocks xmlns:a="http://schemas.openxmlformats.org/drawingml/2006/main" noGrp="1"/>
          </p:cNvSpPr>
          <p:nvPr/>
        </p:nvSpPr>
        <p:spPr>
          <a:xfrm xmlns:a="http://schemas.openxmlformats.org/drawingml/2006/main">
            <a:off x="8616400" y="3822191"/>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38" name="Rectangle 37">
            <a:extLst xmlns:a="http://schemas.openxmlformats.org/drawingml/2006/main">
              <a:ext uri="{FF2B5EF4-FFF2-40B4-BE49-F238E27FC236}">
                <a16:creationId xmlns:a16="http://schemas.microsoft.com/office/drawing/2014/main" id="{A09CF610-E418-4987-ADF1-20C8F95B8ED7}"/>
              </a:ext>
            </a:extLst>
          </p:cNvPr>
          <p:cNvSpPr>
            <a:spLocks xmlns:a="http://schemas.openxmlformats.org/drawingml/2006/main" noGrp="1"/>
          </p:cNvSpPr>
          <p:nvPr/>
        </p:nvSpPr>
        <p:spPr>
          <a:xfrm xmlns:a="http://schemas.openxmlformats.org/drawingml/2006/main">
            <a:off x="1840696" y="4224527"/>
            <a:ext cx="562356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2E0B1B61-3C01-41CC-B807-A377B95A85D7}"/>
              </a:ext>
            </a:extLst>
          </p:cNvPr>
          <p:cNvSpPr>
            <a:spLocks xmlns:a="http://schemas.openxmlformats.org/drawingml/2006/main" noGrp="1"/>
          </p:cNvSpPr>
          <p:nvPr/>
        </p:nvSpPr>
        <p:spPr>
          <a:xfrm xmlns:a="http://schemas.openxmlformats.org/drawingml/2006/main">
            <a:off x="1895560" y="4356132"/>
            <a:ext cx="551383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00">
                <a:solidFill>
                  <a:srgbClr val="1F2730"/>
                </a:solidFill>
                <a:latin typeface="Arial"/>
                <a:ea typeface="Arial"/>
                <a:cs typeface="Arial"/>
              </a:rPr>
              <a:t>Number of genes in query: </a:t>
            </a:r>
            <a:r>
              <a:rPr sz="950" b="0" i="0">
                <a:solidFill>
                  <a:srgbClr val="1F2730"/>
                </a:solidFill>
                <a:latin typeface="Arial"/>
                <a:ea typeface="Arial"/>
                <a:cs typeface="Arial"/>
              </a:rPr>
              <a:t>1–2</a:t>
            </a:r>
          </a:p>
        </p:txBody>
      </p:sp>
      <p:sp>
        <p:nvSpPr>
          <p:cNvPr id="40" name="Rectangle 39">
            <a:extLst xmlns:a="http://schemas.openxmlformats.org/drawingml/2006/main">
              <a:ext uri="{FF2B5EF4-FFF2-40B4-BE49-F238E27FC236}">
                <a16:creationId xmlns:a16="http://schemas.microsoft.com/office/drawing/2014/main" id="{DB42E127-BC1D-4E6D-8837-BD21F2534455}"/>
              </a:ext>
            </a:extLst>
          </p:cNvPr>
          <p:cNvSpPr>
            <a:spLocks xmlns:a="http://schemas.openxmlformats.org/drawingml/2006/main" noGrp="1"/>
          </p:cNvSpPr>
          <p:nvPr/>
        </p:nvSpPr>
        <p:spPr>
          <a:xfrm xmlns:a="http://schemas.openxmlformats.org/drawingml/2006/main">
            <a:off x="7464256" y="4224527"/>
            <a:ext cx="1097280"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532D6E6D-3851-4729-AF80-81DB087CD678}"/>
              </a:ext>
            </a:extLst>
          </p:cNvPr>
          <p:cNvSpPr>
            <a:spLocks xmlns:a="http://schemas.openxmlformats.org/drawingml/2006/main" noGrp="1"/>
          </p:cNvSpPr>
          <p:nvPr/>
        </p:nvSpPr>
        <p:spPr>
          <a:xfrm xmlns:a="http://schemas.openxmlformats.org/drawingml/2006/main">
            <a:off x="7519120" y="4270247"/>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32</a:t>
            </a:r>
          </a:p>
        </p:txBody>
      </p:sp>
      <p:sp>
        <p:nvSpPr>
          <p:cNvPr id="42" name="Rectangle 41">
            <a:extLst xmlns:a="http://schemas.openxmlformats.org/drawingml/2006/main">
              <a:ext uri="{FF2B5EF4-FFF2-40B4-BE49-F238E27FC236}">
                <a16:creationId xmlns:a16="http://schemas.microsoft.com/office/drawing/2014/main" id="{26BCA652-FACA-46DD-A87D-8FB0F4CF3F0C}"/>
              </a:ext>
            </a:extLst>
          </p:cNvPr>
          <p:cNvSpPr>
            <a:spLocks xmlns:a="http://schemas.openxmlformats.org/drawingml/2006/main" noGrp="1"/>
          </p:cNvSpPr>
          <p:nvPr/>
        </p:nvSpPr>
        <p:spPr>
          <a:xfrm xmlns:a="http://schemas.openxmlformats.org/drawingml/2006/main">
            <a:off x="8561536" y="4224527"/>
            <a:ext cx="1874519" cy="448056"/>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A1E62925-63B8-478F-BADE-3EE2BEEF64D1}"/>
              </a:ext>
            </a:extLst>
          </p:cNvPr>
          <p:cNvSpPr>
            <a:spLocks xmlns:a="http://schemas.openxmlformats.org/drawingml/2006/main" noGrp="1"/>
          </p:cNvSpPr>
          <p:nvPr/>
        </p:nvSpPr>
        <p:spPr>
          <a:xfrm xmlns:a="http://schemas.openxmlformats.org/drawingml/2006/main">
            <a:off x="8616400" y="4270247"/>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No</a:t>
            </a:r>
          </a:p>
        </p:txBody>
      </p:sp>
      <p:sp>
        <p:nvSpPr>
          <p:cNvPr id="46" name="Rectangle 45">
            <a:extLst xmlns:a="http://schemas.openxmlformats.org/drawingml/2006/main">
              <a:ext uri="{FF2B5EF4-FFF2-40B4-BE49-F238E27FC236}">
                <a16:creationId xmlns:a16="http://schemas.microsoft.com/office/drawing/2014/main" id="{946D51ED-B773-4A59-A563-E5995A9F7C4C}"/>
              </a:ext>
            </a:extLst>
          </p:cNvPr>
          <p:cNvSpPr>
            <a:spLocks xmlns:a="http://schemas.openxmlformats.org/drawingml/2006/main" noGrp="1"/>
          </p:cNvSpPr>
          <p:nvPr/>
        </p:nvSpPr>
        <p:spPr>
          <a:xfrm xmlns:a="http://schemas.openxmlformats.org/drawingml/2006/main">
            <a:off x="1840696" y="4672583"/>
            <a:ext cx="562356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4C271131-778E-4071-BE35-F3C0C6EBD5D5}"/>
              </a:ext>
            </a:extLst>
          </p:cNvPr>
          <p:cNvSpPr>
            <a:spLocks xmlns:a="http://schemas.openxmlformats.org/drawingml/2006/main" noGrp="1"/>
          </p:cNvSpPr>
          <p:nvPr/>
        </p:nvSpPr>
        <p:spPr>
          <a:xfrm xmlns:a="http://schemas.openxmlformats.org/drawingml/2006/main">
            <a:off x="1895560" y="4804958"/>
            <a:ext cx="551383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00">
                <a:solidFill>
                  <a:srgbClr val="1F2730"/>
                </a:solidFill>
                <a:latin typeface="Arial"/>
                <a:ea typeface="Arial"/>
                <a:cs typeface="Arial"/>
              </a:rPr>
              <a:t>Number of genes in query: </a:t>
            </a:r>
            <a:r>
              <a:rPr sz="950">
                <a:solidFill>
                  <a:srgbClr val="1F2730"/>
                </a:solidFill>
                <a:latin typeface="Arial"/>
                <a:ea typeface="Arial"/>
                <a:cs typeface="Arial"/>
              </a:rPr>
              <a:t>&gt;=3</a:t>
            </a:r>
            <a:endParaRPr sz="950" b="0" i="0">
              <a:solidFill>
                <a:srgbClr val="1F2730"/>
              </a:solidFill>
              <a:latin typeface="Arial"/>
              <a:ea typeface="Arial"/>
              <a:cs typeface="Arial"/>
            </a:endParaRPr>
          </a:p>
        </p:txBody>
      </p:sp>
      <p:sp>
        <p:nvSpPr>
          <p:cNvPr id="48" name="Rectangle 47">
            <a:extLst xmlns:a="http://schemas.openxmlformats.org/drawingml/2006/main">
              <a:ext uri="{FF2B5EF4-FFF2-40B4-BE49-F238E27FC236}">
                <a16:creationId xmlns:a16="http://schemas.microsoft.com/office/drawing/2014/main" id="{F66F6FEE-61DB-4D88-9D28-388732A5C411}"/>
              </a:ext>
            </a:extLst>
          </p:cNvPr>
          <p:cNvSpPr>
            <a:spLocks xmlns:a="http://schemas.openxmlformats.org/drawingml/2006/main" noGrp="1"/>
          </p:cNvSpPr>
          <p:nvPr/>
        </p:nvSpPr>
        <p:spPr>
          <a:xfrm xmlns:a="http://schemas.openxmlformats.org/drawingml/2006/main">
            <a:off x="7464256" y="4672583"/>
            <a:ext cx="1097280"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058FE669-B813-4CD1-AFD9-6A4EE5504BF3}"/>
              </a:ext>
            </a:extLst>
          </p:cNvPr>
          <p:cNvSpPr>
            <a:spLocks xmlns:a="http://schemas.openxmlformats.org/drawingml/2006/main" noGrp="1"/>
          </p:cNvSpPr>
          <p:nvPr/>
        </p:nvSpPr>
        <p:spPr>
          <a:xfrm xmlns:a="http://schemas.openxmlformats.org/drawingml/2006/main">
            <a:off x="7519120" y="4804958"/>
            <a:ext cx="987552" cy="20159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194</a:t>
            </a:r>
          </a:p>
        </p:txBody>
      </p:sp>
      <p:sp>
        <p:nvSpPr>
          <p:cNvPr id="50" name="Rectangle 49">
            <a:extLst xmlns:a="http://schemas.openxmlformats.org/drawingml/2006/main">
              <a:ext uri="{FF2B5EF4-FFF2-40B4-BE49-F238E27FC236}">
                <a16:creationId xmlns:a16="http://schemas.microsoft.com/office/drawing/2014/main" id="{A77F395D-C843-4144-BECA-554D9E093459}"/>
              </a:ext>
            </a:extLst>
          </p:cNvPr>
          <p:cNvSpPr>
            <a:spLocks xmlns:a="http://schemas.openxmlformats.org/drawingml/2006/main" noGrp="1"/>
          </p:cNvSpPr>
          <p:nvPr/>
        </p:nvSpPr>
        <p:spPr>
          <a:xfrm xmlns:a="http://schemas.openxmlformats.org/drawingml/2006/main">
            <a:off x="8561536" y="4672583"/>
            <a:ext cx="1874519" cy="448056"/>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E0378C35-7078-4616-B124-6AB9128C801C}"/>
              </a:ext>
            </a:extLst>
          </p:cNvPr>
          <p:cNvSpPr>
            <a:spLocks xmlns:a="http://schemas.openxmlformats.org/drawingml/2006/main" noGrp="1"/>
          </p:cNvSpPr>
          <p:nvPr/>
        </p:nvSpPr>
        <p:spPr>
          <a:xfrm xmlns:a="http://schemas.openxmlformats.org/drawingml/2006/main">
            <a:off x="8616400" y="4718303"/>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0" i="0">
                <a:solidFill>
                  <a:srgbClr val="1F2730"/>
                </a:solidFill>
                <a:latin typeface="Arial"/>
                <a:ea typeface="Arial"/>
                <a:cs typeface="Arial"/>
              </a:rPr>
              <a:t>Yes</a:t>
            </a:r>
          </a:p>
        </p:txBody>
      </p:sp>
      <p:sp>
        <p:nvSpPr>
          <p:cNvPr id="62" name="Rectangle 61">
            <a:extLst xmlns:a="http://schemas.openxmlformats.org/drawingml/2006/main">
              <a:ext uri="{FF2B5EF4-FFF2-40B4-BE49-F238E27FC236}">
                <a16:creationId xmlns:a16="http://schemas.microsoft.com/office/drawing/2014/main" id="{2E95D688-F803-4F47-9B15-661C835F8AC3}"/>
              </a:ext>
            </a:extLst>
          </p:cNvPr>
          <p:cNvSpPr>
            <a:spLocks xmlns:a="http://schemas.openxmlformats.org/drawingml/2006/main" noGrp="1"/>
          </p:cNvSpPr>
          <p:nvPr/>
        </p:nvSpPr>
        <p:spPr>
          <a:xfrm xmlns:a="http://schemas.openxmlformats.org/drawingml/2006/main">
            <a:off x="1840696" y="5128754"/>
            <a:ext cx="5623560" cy="448056"/>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7CCF1CAD-EE89-43AE-BA0A-8F81BFB13332}"/>
              </a:ext>
            </a:extLst>
          </p:cNvPr>
          <p:cNvSpPr>
            <a:spLocks xmlns:a="http://schemas.openxmlformats.org/drawingml/2006/main" noGrp="1"/>
          </p:cNvSpPr>
          <p:nvPr/>
        </p:nvSpPr>
        <p:spPr>
          <a:xfrm xmlns:a="http://schemas.openxmlformats.org/drawingml/2006/main">
            <a:off x="1895560" y="5174474"/>
            <a:ext cx="551383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1F2730"/>
                </a:solidFill>
                <a:latin typeface="Arial"/>
                <a:ea typeface="Arial"/>
                <a:cs typeface="Arial"/>
              </a:rPr>
              <a:t>TOTAL</a:t>
            </a:r>
          </a:p>
        </p:txBody>
      </p:sp>
      <p:sp>
        <p:nvSpPr>
          <p:cNvPr id="64" name="Rectangle 63">
            <a:extLst xmlns:a="http://schemas.openxmlformats.org/drawingml/2006/main">
              <a:ext uri="{FF2B5EF4-FFF2-40B4-BE49-F238E27FC236}">
                <a16:creationId xmlns:a16="http://schemas.microsoft.com/office/drawing/2014/main" id="{D4E5FF6D-041D-48B3-A534-553122085191}"/>
              </a:ext>
            </a:extLst>
          </p:cNvPr>
          <p:cNvSpPr>
            <a:spLocks xmlns:a="http://schemas.openxmlformats.org/drawingml/2006/main" noGrp="1"/>
          </p:cNvSpPr>
          <p:nvPr/>
        </p:nvSpPr>
        <p:spPr>
          <a:xfrm xmlns:a="http://schemas.openxmlformats.org/drawingml/2006/main">
            <a:off x="7464256" y="5128754"/>
            <a:ext cx="1097280" cy="448056"/>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Box 64">
            <a:extLst xmlns:a="http://schemas.openxmlformats.org/drawingml/2006/main">
              <a:ext uri="{FF2B5EF4-FFF2-40B4-BE49-F238E27FC236}">
                <a16:creationId xmlns:a16="http://schemas.microsoft.com/office/drawing/2014/main" id="{88968CAA-2223-4B19-B8BB-68DFF1C662E7}"/>
              </a:ext>
            </a:extLst>
          </p:cNvPr>
          <p:cNvSpPr>
            <a:spLocks xmlns:a="http://schemas.openxmlformats.org/drawingml/2006/main" noGrp="1"/>
          </p:cNvSpPr>
          <p:nvPr/>
        </p:nvSpPr>
        <p:spPr>
          <a:xfrm xmlns:a="http://schemas.openxmlformats.org/drawingml/2006/main">
            <a:off x="7519120" y="5174474"/>
            <a:ext cx="987552"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1F2730"/>
                </a:solidFill>
                <a:latin typeface="Arial"/>
                <a:ea typeface="Arial"/>
                <a:cs typeface="Arial"/>
              </a:rPr>
              <a:t>324</a:t>
            </a:r>
          </a:p>
        </p:txBody>
      </p:sp>
      <p:sp>
        <p:nvSpPr>
          <p:cNvPr id="66" name="Rectangle 65">
            <a:extLst xmlns:a="http://schemas.openxmlformats.org/drawingml/2006/main">
              <a:ext uri="{FF2B5EF4-FFF2-40B4-BE49-F238E27FC236}">
                <a16:creationId xmlns:a16="http://schemas.microsoft.com/office/drawing/2014/main" id="{82A2FD34-1E61-44FB-AD23-F8CF957EF011}"/>
              </a:ext>
            </a:extLst>
          </p:cNvPr>
          <p:cNvSpPr>
            <a:spLocks xmlns:a="http://schemas.openxmlformats.org/drawingml/2006/main" noGrp="1"/>
          </p:cNvSpPr>
          <p:nvPr/>
        </p:nvSpPr>
        <p:spPr>
          <a:xfrm xmlns:a="http://schemas.openxmlformats.org/drawingml/2006/main">
            <a:off x="8561536" y="5128754"/>
            <a:ext cx="1874519" cy="448056"/>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Box 66">
            <a:extLst xmlns:a="http://schemas.openxmlformats.org/drawingml/2006/main">
              <a:ext uri="{FF2B5EF4-FFF2-40B4-BE49-F238E27FC236}">
                <a16:creationId xmlns:a16="http://schemas.microsoft.com/office/drawing/2014/main" id="{010C3224-E842-4D81-8131-6FCF88F9E722}"/>
              </a:ext>
            </a:extLst>
          </p:cNvPr>
          <p:cNvSpPr>
            <a:spLocks xmlns:a="http://schemas.openxmlformats.org/drawingml/2006/main" noGrp="1"/>
          </p:cNvSpPr>
          <p:nvPr/>
        </p:nvSpPr>
        <p:spPr>
          <a:xfrm xmlns:a="http://schemas.openxmlformats.org/drawingml/2006/main">
            <a:off x="8616400" y="5174474"/>
            <a:ext cx="1764791" cy="3749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1F2730"/>
                </a:solidFill>
                <a:latin typeface="Arial"/>
                <a:ea typeface="Arial"/>
                <a:cs typeface="Arial"/>
              </a:rPr>
              <a:t>194 calls</a:t>
            </a:r>
          </a:p>
        </p:txBody>
      </p:sp>
    </p:spTree>
    <p:extLst>
      <p:ext uri="{BB962C8B-B14F-4D97-AF65-F5344CB8AC3E}">
        <p14:creationId xmlns:p14="http://schemas.microsoft.com/office/powerpoint/2010/main" val="970849934"/>
      </p:ext>
    </p:extLst>
  </p:cSld>
</p:sld>
</file>

<file path=ppt/slides/slide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94FFD812-B704-40B9-875C-AE2409EDCD40}"/>
              </a:ext>
            </a:extLst>
          </p:cNvPr>
          <p:cNvSpPr>
            <a:spLocks xmlns:a="http://schemas.openxmlformats.org/drawingml/2006/main" noGrp="1"/>
          </p:cNvSpPr>
          <p:nvPr/>
        </p:nvSpPr>
        <p:spPr>
          <a:xfrm xmlns:a="http://schemas.openxmlformats.org/drawingml/2006/main">
            <a:off x="530352" y="411480"/>
            <a:ext cx="10652760" cy="3785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a:solidFill>
                  <a:srgbClr val="0F233D"/>
                </a:solidFill>
                <a:latin typeface="Arial"/>
                <a:ea typeface="Arial"/>
                <a:cs typeface="Arial"/>
              </a:rPr>
              <a:t>S</a:t>
            </a:r>
            <a:r>
              <a:rPr sz="2100" b="1" i="0">
                <a:solidFill>
                  <a:srgbClr val="0F233D"/>
                </a:solidFill>
                <a:latin typeface="Arial"/>
                <a:ea typeface="Arial"/>
                <a:cs typeface="Arial"/>
              </a:rPr>
              <a:t>ource validity and query size decide whether KDA is called</a:t>
            </a:r>
          </a:p>
        </p:txBody>
      </p:sp>
      <p:sp>
        <p:nvSpPr>
          <p:cNvPr id="5" name="Rounded Rectangle 4">
            <a:extLst xmlns:a="http://schemas.openxmlformats.org/drawingml/2006/main">
              <a:ext uri="{FF2B5EF4-FFF2-40B4-BE49-F238E27FC236}">
                <a16:creationId xmlns:a16="http://schemas.microsoft.com/office/drawing/2014/main" id="{6A4C48F9-8630-4221-B343-DCC27E4D63B8}"/>
              </a:ext>
            </a:extLst>
          </p:cNvPr>
          <p:cNvSpPr>
            <a:spLocks xmlns:a="http://schemas.openxmlformats.org/drawingml/2006/main" noGrp="1"/>
          </p:cNvSpPr>
          <p:nvPr/>
        </p:nvSpPr>
        <p:spPr>
          <a:xfrm xmlns:a="http://schemas.openxmlformats.org/drawingml/2006/main">
            <a:off x="603504" y="1344168"/>
            <a:ext cx="4663440" cy="44805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EA7129F0-43AE-494F-BC7A-EB9E0E9C5E7F}"/>
              </a:ext>
            </a:extLst>
          </p:cNvPr>
          <p:cNvSpPr>
            <a:spLocks xmlns:a="http://schemas.openxmlformats.org/drawingml/2006/main" noGrp="1"/>
          </p:cNvSpPr>
          <p:nvPr/>
        </p:nvSpPr>
        <p:spPr>
          <a:xfrm xmlns:a="http://schemas.openxmlformats.org/drawingml/2006/main">
            <a:off x="868680" y="164592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6BBEA52-DBDE-4F3F-8340-7D32A98DC683}"/>
              </a:ext>
            </a:extLst>
          </p:cNvPr>
          <p:cNvSpPr>
            <a:spLocks xmlns:a="http://schemas.openxmlformats.org/drawingml/2006/main" noGrp="1"/>
          </p:cNvSpPr>
          <p:nvPr/>
        </p:nvSpPr>
        <p:spPr>
          <a:xfrm xmlns:a="http://schemas.openxmlformats.org/drawingml/2006/main">
            <a:off x="1014983" y="1618488"/>
            <a:ext cx="395020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One canonical query-size gate</a:t>
            </a:r>
          </a:p>
        </p:txBody>
      </p:sp>
      <p:sp>
        <p:nvSpPr>
          <p:cNvPr id="8" name="Rounded Rectangle 7">
            <a:extLst xmlns:a="http://schemas.openxmlformats.org/drawingml/2006/main">
              <a:ext uri="{FF2B5EF4-FFF2-40B4-BE49-F238E27FC236}">
                <a16:creationId xmlns:a16="http://schemas.microsoft.com/office/drawing/2014/main" id="{94EB16BC-E4F1-4108-A86F-267BC5C551AD}"/>
              </a:ext>
            </a:extLst>
          </p:cNvPr>
          <p:cNvSpPr>
            <a:spLocks xmlns:a="http://schemas.openxmlformats.org/drawingml/2006/main" noGrp="1"/>
          </p:cNvSpPr>
          <p:nvPr/>
        </p:nvSpPr>
        <p:spPr>
          <a:xfrm xmlns:a="http://schemas.openxmlformats.org/drawingml/2006/main">
            <a:off x="868680" y="2112264"/>
            <a:ext cx="1847088" cy="1024128"/>
          </a:xfrm>
          <a:prstGeom xmlns:a="http://schemas.openxmlformats.org/drawingml/2006/main" prst="roundRect">
            <a:avLst/>
          </a:prstGeom>
          <a:solidFill xmlns:a="http://schemas.openxmlformats.org/drawingml/2006/main">
            <a:srgbClr val="E4F0F8"/>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8BFF435-EA7F-4E02-B514-49B4F6E85805}"/>
              </a:ext>
            </a:extLst>
          </p:cNvPr>
          <p:cNvSpPr>
            <a:spLocks xmlns:a="http://schemas.openxmlformats.org/drawingml/2006/main" noGrp="1"/>
          </p:cNvSpPr>
          <p:nvPr/>
        </p:nvSpPr>
        <p:spPr>
          <a:xfrm xmlns:a="http://schemas.openxmlformats.org/drawingml/2006/main">
            <a:off x="1014983" y="2203704"/>
            <a:ext cx="155448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a:t>
            </a:r>
          </a:p>
        </p:txBody>
      </p:sp>
      <p:sp>
        <p:nvSpPr>
          <p:cNvPr id="11" name="Rounded Rectangle 10">
            <a:extLst xmlns:a="http://schemas.openxmlformats.org/drawingml/2006/main">
              <a:ext uri="{FF2B5EF4-FFF2-40B4-BE49-F238E27FC236}">
                <a16:creationId xmlns:a16="http://schemas.microsoft.com/office/drawing/2014/main" id="{F1F779AE-11F4-47BB-A762-0C85248FEA1D}"/>
              </a:ext>
            </a:extLst>
          </p:cNvPr>
          <p:cNvSpPr>
            <a:spLocks xmlns:a="http://schemas.openxmlformats.org/drawingml/2006/main" noGrp="1"/>
          </p:cNvSpPr>
          <p:nvPr/>
        </p:nvSpPr>
        <p:spPr>
          <a:xfrm xmlns:a="http://schemas.openxmlformats.org/drawingml/2006/main">
            <a:off x="2926080" y="2112264"/>
            <a:ext cx="1847088" cy="102412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1758C03-E750-4979-9F7F-FAA6429A1A3F}"/>
              </a:ext>
            </a:extLst>
          </p:cNvPr>
          <p:cNvSpPr>
            <a:spLocks xmlns:a="http://schemas.openxmlformats.org/drawingml/2006/main" noGrp="1"/>
          </p:cNvSpPr>
          <p:nvPr/>
        </p:nvSpPr>
        <p:spPr>
          <a:xfrm xmlns:a="http://schemas.openxmlformats.org/drawingml/2006/main">
            <a:off x="3072384" y="2203704"/>
            <a:ext cx="1554480" cy="44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194</a:t>
            </a:r>
          </a:p>
        </p:txBody>
      </p:sp>
      <p:sp>
        <p:nvSpPr>
          <p:cNvPr id="13" name="TextBox 12">
            <a:extLst xmlns:a="http://schemas.openxmlformats.org/drawingml/2006/main">
              <a:ext uri="{FF2B5EF4-FFF2-40B4-BE49-F238E27FC236}">
                <a16:creationId xmlns:a16="http://schemas.microsoft.com/office/drawing/2014/main" id="{5AEC8C97-5663-4403-A365-080CCAFA7518}"/>
              </a:ext>
            </a:extLst>
          </p:cNvPr>
          <p:cNvSpPr>
            <a:spLocks xmlns:a="http://schemas.openxmlformats.org/drawingml/2006/main" noGrp="1"/>
          </p:cNvSpPr>
          <p:nvPr/>
        </p:nvSpPr>
        <p:spPr>
          <a:xfrm xmlns:a="http://schemas.openxmlformats.org/drawingml/2006/main">
            <a:off x="3072384" y="2660904"/>
            <a:ext cx="1554480" cy="3262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880" b="1" i="0">
                <a:solidFill>
                  <a:srgbClr val="4E5A68"/>
                </a:solidFill>
                <a:latin typeface="Arial"/>
                <a:ea typeface="Arial"/>
                <a:cs typeface="Arial"/>
              </a:rPr>
              <a:t>included KDA calls</a:t>
            </a:r>
          </a:p>
        </p:txBody>
      </p:sp>
      <p:sp>
        <p:nvSpPr>
          <p:cNvPr id="14" name="Oval 13">
            <a:extLst xmlns:a="http://schemas.openxmlformats.org/drawingml/2006/main">
              <a:ext uri="{FF2B5EF4-FFF2-40B4-BE49-F238E27FC236}">
                <a16:creationId xmlns:a16="http://schemas.microsoft.com/office/drawing/2014/main" id="{10BAEFA5-98B8-4FD8-A11C-0E387F6B85F4}"/>
              </a:ext>
            </a:extLst>
          </p:cNvPr>
          <p:cNvSpPr>
            <a:spLocks xmlns:a="http://schemas.openxmlformats.org/drawingml/2006/main" noGrp="1"/>
          </p:cNvSpPr>
          <p:nvPr/>
        </p:nvSpPr>
        <p:spPr>
          <a:xfrm xmlns:a="http://schemas.openxmlformats.org/drawingml/2006/main">
            <a:off x="877824" y="3621024"/>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690BED9-450F-4977-B163-55149B093DDA}"/>
              </a:ext>
            </a:extLst>
          </p:cNvPr>
          <p:cNvSpPr>
            <a:spLocks xmlns:a="http://schemas.openxmlformats.org/drawingml/2006/main" noGrp="1"/>
          </p:cNvSpPr>
          <p:nvPr/>
        </p:nvSpPr>
        <p:spPr>
          <a:xfrm xmlns:a="http://schemas.openxmlformats.org/drawingml/2006/main">
            <a:off x="1051560" y="3493008"/>
            <a:ext cx="3867911"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0" i="0">
                <a:solidFill>
                  <a:srgbClr val="1F2730"/>
                </a:solidFill>
                <a:latin typeface="Arial"/>
                <a:ea typeface="Arial"/>
                <a:cs typeface="Arial"/>
              </a:rPr>
              <a:t>All 194 validated completed calls enter the aggregate.</a:t>
            </a:r>
          </a:p>
        </p:txBody>
      </p:sp>
      <p:sp>
        <p:nvSpPr>
          <p:cNvPr id="16" name="Oval 15">
            <a:extLst xmlns:a="http://schemas.openxmlformats.org/drawingml/2006/main">
              <a:ext uri="{FF2B5EF4-FFF2-40B4-BE49-F238E27FC236}">
                <a16:creationId xmlns:a16="http://schemas.microsoft.com/office/drawing/2014/main" id="{0E22A6DB-CC7F-4DB3-9F06-4220288F8CAC}"/>
              </a:ext>
            </a:extLst>
          </p:cNvPr>
          <p:cNvSpPr>
            <a:spLocks xmlns:a="http://schemas.openxmlformats.org/drawingml/2006/main" noGrp="1"/>
          </p:cNvSpPr>
          <p:nvPr/>
        </p:nvSpPr>
        <p:spPr>
          <a:xfrm xmlns:a="http://schemas.openxmlformats.org/drawingml/2006/main">
            <a:off x="877824" y="4224527"/>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070BACD-2A71-4901-9976-0EFDFEEA75DA}"/>
              </a:ext>
            </a:extLst>
          </p:cNvPr>
          <p:cNvSpPr>
            <a:spLocks xmlns:a="http://schemas.openxmlformats.org/drawingml/2006/main" noGrp="1"/>
          </p:cNvSpPr>
          <p:nvPr/>
        </p:nvSpPr>
        <p:spPr>
          <a:xfrm xmlns:a="http://schemas.openxmlformats.org/drawingml/2006/main">
            <a:off x="1051560" y="4096511"/>
            <a:ext cx="3867911"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0" i="0">
                <a:solidFill>
                  <a:srgbClr val="1F2730"/>
                </a:solidFill>
                <a:latin typeface="Arial"/>
                <a:ea typeface="Arial"/>
                <a:cs typeface="Arial"/>
              </a:rPr>
              <a:t>164 significant • 30 completed empty</a:t>
            </a:r>
          </a:p>
        </p:txBody>
      </p:sp>
      <p:sp>
        <p:nvSpPr>
          <p:cNvPr id="18" name="Oval 17">
            <a:extLst xmlns:a="http://schemas.openxmlformats.org/drawingml/2006/main">
              <a:ext uri="{FF2B5EF4-FFF2-40B4-BE49-F238E27FC236}">
                <a16:creationId xmlns:a16="http://schemas.microsoft.com/office/drawing/2014/main" id="{A92AF517-4CB5-472F-828F-8D876959A25F}"/>
              </a:ext>
            </a:extLst>
          </p:cNvPr>
          <p:cNvSpPr>
            <a:spLocks xmlns:a="http://schemas.openxmlformats.org/drawingml/2006/main" noGrp="1"/>
          </p:cNvSpPr>
          <p:nvPr/>
        </p:nvSpPr>
        <p:spPr>
          <a:xfrm xmlns:a="http://schemas.openxmlformats.org/drawingml/2006/main">
            <a:off x="877824" y="4828031"/>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81104E5-BCE0-464F-9E64-5103995A4D18}"/>
              </a:ext>
            </a:extLst>
          </p:cNvPr>
          <p:cNvSpPr>
            <a:spLocks xmlns:a="http://schemas.openxmlformats.org/drawingml/2006/main" noGrp="1"/>
          </p:cNvSpPr>
          <p:nvPr/>
        </p:nvSpPr>
        <p:spPr>
          <a:xfrm xmlns:a="http://schemas.openxmlformats.org/drawingml/2006/main">
            <a:off x="1051560" y="4700016"/>
            <a:ext cx="3867911"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0" i="0">
                <a:solidFill>
                  <a:srgbClr val="1F2730"/>
                </a:solidFill>
                <a:latin typeface="Arial"/>
                <a:ea typeface="Arial"/>
                <a:cs typeface="Arial"/>
              </a:rPr>
              <a:t>The 164 significant calls returned 1,833 rows before mitochondrial filtering.</a:t>
            </a:r>
          </a:p>
        </p:txBody>
      </p:sp>
      <p:sp>
        <p:nvSpPr>
          <p:cNvPr id="20" name="Rounded Rectangle 19">
            <a:extLst xmlns:a="http://schemas.openxmlformats.org/drawingml/2006/main">
              <a:ext uri="{FF2B5EF4-FFF2-40B4-BE49-F238E27FC236}">
                <a16:creationId xmlns:a16="http://schemas.microsoft.com/office/drawing/2014/main" id="{1936370E-3C65-4BFE-B81C-F6A09158745F}"/>
              </a:ext>
            </a:extLst>
          </p:cNvPr>
          <p:cNvSpPr>
            <a:spLocks xmlns:a="http://schemas.openxmlformats.org/drawingml/2006/main" noGrp="1"/>
          </p:cNvSpPr>
          <p:nvPr/>
        </p:nvSpPr>
        <p:spPr>
          <a:xfrm xmlns:a="http://schemas.openxmlformats.org/drawingml/2006/main">
            <a:off x="5532120" y="1344168"/>
            <a:ext cx="6035040" cy="4480560"/>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01D8C6B2-E2CA-4BEC-8B41-6FAAF6E50FCA}"/>
              </a:ext>
            </a:extLst>
          </p:cNvPr>
          <p:cNvSpPr>
            <a:spLocks xmlns:a="http://schemas.openxmlformats.org/drawingml/2006/main" noGrp="1"/>
          </p:cNvSpPr>
          <p:nvPr/>
        </p:nvSpPr>
        <p:spPr>
          <a:xfrm xmlns:a="http://schemas.openxmlformats.org/drawingml/2006/main">
            <a:off x="5824728" y="164592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0E47F582-8212-433C-916F-D27A1E7767FE}"/>
              </a:ext>
            </a:extLst>
          </p:cNvPr>
          <p:cNvSpPr>
            <a:spLocks xmlns:a="http://schemas.openxmlformats.org/drawingml/2006/main" noGrp="1"/>
          </p:cNvSpPr>
          <p:nvPr/>
        </p:nvSpPr>
        <p:spPr>
          <a:xfrm xmlns:a="http://schemas.openxmlformats.org/drawingml/2006/main">
            <a:off x="5971032" y="1618488"/>
            <a:ext cx="5294376"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What ‘source contrast not valid’ means</a:t>
            </a:r>
          </a:p>
        </p:txBody>
      </p:sp>
      <p:sp>
        <p:nvSpPr>
          <p:cNvPr id="23" name="TextBox 22">
            <a:extLst xmlns:a="http://schemas.openxmlformats.org/drawingml/2006/main">
              <a:ext uri="{FF2B5EF4-FFF2-40B4-BE49-F238E27FC236}">
                <a16:creationId xmlns:a16="http://schemas.microsoft.com/office/drawing/2014/main" id="{59BD84AB-21C2-4E27-AD34-674BA135B973}"/>
              </a:ext>
            </a:extLst>
          </p:cNvPr>
          <p:cNvSpPr>
            <a:spLocks xmlns:a="http://schemas.openxmlformats.org/drawingml/2006/main" noGrp="1"/>
          </p:cNvSpPr>
          <p:nvPr/>
        </p:nvSpPr>
        <p:spPr>
          <a:xfrm xmlns:a="http://schemas.openxmlformats.org/drawingml/2006/main">
            <a:off x="5843016" y="2148840"/>
            <a:ext cx="5330952" cy="4862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1" i="0">
                <a:solidFill>
                  <a:srgbClr val="0F233D"/>
                </a:solidFill>
                <a:latin typeface="Arial"/>
                <a:ea typeface="Arial"/>
                <a:cs typeface="Arial"/>
              </a:rPr>
              <a:t>The upstream MAST comparison could not be fitted because one arm had fewer than </a:t>
            </a:r>
            <a:r>
              <a:rPr sz="1400" b="1" i="0">
                <a:solidFill>
                  <a:srgbClr val="FF0000"/>
                </a:solidFill>
                <a:latin typeface="Arial"/>
                <a:ea typeface="Arial"/>
                <a:cs typeface="Arial"/>
              </a:rPr>
              <a:t>three</a:t>
            </a:r>
            <a:r>
              <a:rPr sz="1400" b="1" i="0">
                <a:solidFill>
                  <a:srgbClr val="0F233D"/>
                </a:solidFill>
                <a:latin typeface="Arial"/>
                <a:ea typeface="Arial"/>
                <a:cs typeface="Arial"/>
              </a:rPr>
              <a:t> cells.</a:t>
            </a:r>
          </a:p>
        </p:txBody>
      </p:sp>
      <p:sp>
        <p:nvSpPr>
          <p:cNvPr id="24" name="Rectangle 23">
            <a:extLst xmlns:a="http://schemas.openxmlformats.org/drawingml/2006/main">
              <a:ext uri="{FF2B5EF4-FFF2-40B4-BE49-F238E27FC236}">
                <a16:creationId xmlns:a16="http://schemas.microsoft.com/office/drawing/2014/main" id="{73CDC9C2-50C7-4D3C-AF7E-55F140D966FD}"/>
              </a:ext>
            </a:extLst>
          </p:cNvPr>
          <p:cNvSpPr>
            <a:spLocks xmlns:a="http://schemas.openxmlformats.org/drawingml/2006/main" noGrp="1"/>
          </p:cNvSpPr>
          <p:nvPr/>
        </p:nvSpPr>
        <p:spPr>
          <a:xfrm xmlns:a="http://schemas.openxmlformats.org/drawingml/2006/main">
            <a:off x="5843016" y="2898648"/>
            <a:ext cx="233172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9D9FDC4C-4A3A-4DD8-A597-002E76FF6C21}"/>
              </a:ext>
            </a:extLst>
          </p:cNvPr>
          <p:cNvSpPr>
            <a:spLocks xmlns:a="http://schemas.openxmlformats.org/drawingml/2006/main" noGrp="1"/>
          </p:cNvSpPr>
          <p:nvPr/>
        </p:nvSpPr>
        <p:spPr>
          <a:xfrm xmlns:a="http://schemas.openxmlformats.org/drawingml/2006/main">
            <a:off x="5897879" y="2953512"/>
            <a:ext cx="222199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Fine cell type</a:t>
            </a:r>
          </a:p>
        </p:txBody>
      </p:sp>
      <p:sp>
        <p:nvSpPr>
          <p:cNvPr id="26" name="Rectangle 25">
            <a:extLst xmlns:a="http://schemas.openxmlformats.org/drawingml/2006/main">
              <a:ext uri="{FF2B5EF4-FFF2-40B4-BE49-F238E27FC236}">
                <a16:creationId xmlns:a16="http://schemas.microsoft.com/office/drawing/2014/main" id="{85FFE06F-8F01-4BA0-89A6-B4F53ACB4FF0}"/>
              </a:ext>
            </a:extLst>
          </p:cNvPr>
          <p:cNvSpPr>
            <a:spLocks xmlns:a="http://schemas.openxmlformats.org/drawingml/2006/main" noGrp="1"/>
          </p:cNvSpPr>
          <p:nvPr/>
        </p:nvSpPr>
        <p:spPr>
          <a:xfrm xmlns:a="http://schemas.openxmlformats.org/drawingml/2006/main">
            <a:off x="8174736" y="2898648"/>
            <a:ext cx="91440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CB39C004-A0AF-427C-BF60-B3241F6BA651}"/>
              </a:ext>
            </a:extLst>
          </p:cNvPr>
          <p:cNvSpPr>
            <a:spLocks xmlns:a="http://schemas.openxmlformats.org/drawingml/2006/main" noGrp="1"/>
          </p:cNvSpPr>
          <p:nvPr/>
        </p:nvSpPr>
        <p:spPr>
          <a:xfrm xmlns:a="http://schemas.openxmlformats.org/drawingml/2006/main">
            <a:off x="8229600" y="2953512"/>
            <a:ext cx="80467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Group</a:t>
            </a:r>
          </a:p>
        </p:txBody>
      </p:sp>
      <p:sp>
        <p:nvSpPr>
          <p:cNvPr id="28" name="Rectangle 27">
            <a:extLst xmlns:a="http://schemas.openxmlformats.org/drawingml/2006/main">
              <a:ext uri="{FF2B5EF4-FFF2-40B4-BE49-F238E27FC236}">
                <a16:creationId xmlns:a16="http://schemas.microsoft.com/office/drawing/2014/main" id="{C5618740-BC50-4D9F-BAE2-F661C433628F}"/>
              </a:ext>
            </a:extLst>
          </p:cNvPr>
          <p:cNvSpPr>
            <a:spLocks xmlns:a="http://schemas.openxmlformats.org/drawingml/2006/main" noGrp="1"/>
          </p:cNvSpPr>
          <p:nvPr/>
        </p:nvSpPr>
        <p:spPr>
          <a:xfrm xmlns:a="http://schemas.openxmlformats.org/drawingml/2006/main">
            <a:off x="9089136" y="2898648"/>
            <a:ext cx="105156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0676A43F-524F-4BE8-8BFF-4CEE71D7E5FC}"/>
              </a:ext>
            </a:extLst>
          </p:cNvPr>
          <p:cNvSpPr>
            <a:spLocks xmlns:a="http://schemas.openxmlformats.org/drawingml/2006/main" noGrp="1"/>
          </p:cNvSpPr>
          <p:nvPr/>
        </p:nvSpPr>
        <p:spPr>
          <a:xfrm xmlns:a="http://schemas.openxmlformats.org/drawingml/2006/main">
            <a:off x="9144000" y="2953512"/>
            <a:ext cx="94183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AD cells</a:t>
            </a:r>
          </a:p>
        </p:txBody>
      </p:sp>
      <p:sp>
        <p:nvSpPr>
          <p:cNvPr id="30" name="Rectangle 29">
            <a:extLst xmlns:a="http://schemas.openxmlformats.org/drawingml/2006/main">
              <a:ext uri="{FF2B5EF4-FFF2-40B4-BE49-F238E27FC236}">
                <a16:creationId xmlns:a16="http://schemas.microsoft.com/office/drawing/2014/main" id="{B3804DD9-B104-45E3-92C1-8288B3253BB1}"/>
              </a:ext>
            </a:extLst>
          </p:cNvPr>
          <p:cNvSpPr>
            <a:spLocks xmlns:a="http://schemas.openxmlformats.org/drawingml/2006/main" noGrp="1"/>
          </p:cNvSpPr>
          <p:nvPr/>
        </p:nvSpPr>
        <p:spPr>
          <a:xfrm xmlns:a="http://schemas.openxmlformats.org/drawingml/2006/main">
            <a:off x="10140696" y="2898648"/>
            <a:ext cx="105156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3AF1CD17-1ACA-4789-951B-FF6442209312}"/>
              </a:ext>
            </a:extLst>
          </p:cNvPr>
          <p:cNvSpPr>
            <a:spLocks xmlns:a="http://schemas.openxmlformats.org/drawingml/2006/main" noGrp="1"/>
          </p:cNvSpPr>
          <p:nvPr/>
        </p:nvSpPr>
        <p:spPr>
          <a:xfrm xmlns:a="http://schemas.openxmlformats.org/drawingml/2006/main">
            <a:off x="10195560" y="2953512"/>
            <a:ext cx="941831"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FFFFFF"/>
                </a:solidFill>
                <a:latin typeface="Arial"/>
                <a:ea typeface="Arial"/>
                <a:cs typeface="Arial"/>
              </a:rPr>
              <a:t>NCI cells</a:t>
            </a:r>
          </a:p>
        </p:txBody>
      </p:sp>
      <p:sp>
        <p:nvSpPr>
          <p:cNvPr id="32" name="Rectangle 31">
            <a:extLst xmlns:a="http://schemas.openxmlformats.org/drawingml/2006/main">
              <a:ext uri="{FF2B5EF4-FFF2-40B4-BE49-F238E27FC236}">
                <a16:creationId xmlns:a16="http://schemas.microsoft.com/office/drawing/2014/main" id="{889F38DA-EFFD-4A17-BC7D-B9B78B35D9FC}"/>
              </a:ext>
            </a:extLst>
          </p:cNvPr>
          <p:cNvSpPr>
            <a:spLocks xmlns:a="http://schemas.openxmlformats.org/drawingml/2006/main" noGrp="1"/>
          </p:cNvSpPr>
          <p:nvPr/>
        </p:nvSpPr>
        <p:spPr>
          <a:xfrm xmlns:a="http://schemas.openxmlformats.org/drawingml/2006/main">
            <a:off x="5843016" y="3328415"/>
            <a:ext cx="233172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7706D989-B23A-486D-A9F7-E1CB60522E53}"/>
              </a:ext>
            </a:extLst>
          </p:cNvPr>
          <p:cNvSpPr>
            <a:spLocks xmlns:a="http://schemas.openxmlformats.org/drawingml/2006/main" noGrp="1"/>
          </p:cNvSpPr>
          <p:nvPr/>
        </p:nvSpPr>
        <p:spPr>
          <a:xfrm xmlns:a="http://schemas.openxmlformats.org/drawingml/2006/main">
            <a:off x="5897879" y="3374135"/>
            <a:ext cx="222199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Fib SLC4A4</a:t>
            </a:r>
          </a:p>
        </p:txBody>
      </p:sp>
      <p:sp>
        <p:nvSpPr>
          <p:cNvPr id="34" name="Rectangle 33">
            <a:extLst xmlns:a="http://schemas.openxmlformats.org/drawingml/2006/main">
              <a:ext uri="{FF2B5EF4-FFF2-40B4-BE49-F238E27FC236}">
                <a16:creationId xmlns:a16="http://schemas.microsoft.com/office/drawing/2014/main" id="{91F1B9A0-A745-4ED4-BD8A-ECD1E2033340}"/>
              </a:ext>
            </a:extLst>
          </p:cNvPr>
          <p:cNvSpPr>
            <a:spLocks xmlns:a="http://schemas.openxmlformats.org/drawingml/2006/main" noGrp="1"/>
          </p:cNvSpPr>
          <p:nvPr/>
        </p:nvSpPr>
        <p:spPr>
          <a:xfrm xmlns:a="http://schemas.openxmlformats.org/drawingml/2006/main">
            <a:off x="8174736" y="3328415"/>
            <a:ext cx="914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8E4E0F78-09C0-419B-81B4-6FC5357B2A68}"/>
              </a:ext>
            </a:extLst>
          </p:cNvPr>
          <p:cNvSpPr>
            <a:spLocks xmlns:a="http://schemas.openxmlformats.org/drawingml/2006/main" noGrp="1"/>
          </p:cNvSpPr>
          <p:nvPr/>
        </p:nvSpPr>
        <p:spPr>
          <a:xfrm xmlns:a="http://schemas.openxmlformats.org/drawingml/2006/main">
            <a:off x="8229600" y="3374135"/>
            <a:ext cx="8046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36" name="Rectangle 35">
            <a:extLst xmlns:a="http://schemas.openxmlformats.org/drawingml/2006/main">
              <a:ext uri="{FF2B5EF4-FFF2-40B4-BE49-F238E27FC236}">
                <a16:creationId xmlns:a16="http://schemas.microsoft.com/office/drawing/2014/main" id="{3FD8BA6C-ED61-44BF-8DBE-846F0D27DE36}"/>
              </a:ext>
            </a:extLst>
          </p:cNvPr>
          <p:cNvSpPr>
            <a:spLocks xmlns:a="http://schemas.openxmlformats.org/drawingml/2006/main" noGrp="1"/>
          </p:cNvSpPr>
          <p:nvPr/>
        </p:nvSpPr>
        <p:spPr>
          <a:xfrm xmlns:a="http://schemas.openxmlformats.org/drawingml/2006/main">
            <a:off x="9089136" y="3328415"/>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3649F84B-A5B6-4B86-B786-AD084099D13C}"/>
              </a:ext>
            </a:extLst>
          </p:cNvPr>
          <p:cNvSpPr>
            <a:spLocks xmlns:a="http://schemas.openxmlformats.org/drawingml/2006/main" noGrp="1"/>
          </p:cNvSpPr>
          <p:nvPr/>
        </p:nvSpPr>
        <p:spPr>
          <a:xfrm xmlns:a="http://schemas.openxmlformats.org/drawingml/2006/main">
            <a:off x="9144000" y="33741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0</a:t>
            </a:r>
          </a:p>
        </p:txBody>
      </p:sp>
      <p:sp>
        <p:nvSpPr>
          <p:cNvPr id="38" name="Rectangle 37">
            <a:extLst xmlns:a="http://schemas.openxmlformats.org/drawingml/2006/main">
              <a:ext uri="{FF2B5EF4-FFF2-40B4-BE49-F238E27FC236}">
                <a16:creationId xmlns:a16="http://schemas.microsoft.com/office/drawing/2014/main" id="{863FD31A-062E-4867-86C0-B6AD67E657DD}"/>
              </a:ext>
            </a:extLst>
          </p:cNvPr>
          <p:cNvSpPr>
            <a:spLocks xmlns:a="http://schemas.openxmlformats.org/drawingml/2006/main" noGrp="1"/>
          </p:cNvSpPr>
          <p:nvPr/>
        </p:nvSpPr>
        <p:spPr>
          <a:xfrm xmlns:a="http://schemas.openxmlformats.org/drawingml/2006/main">
            <a:off x="10140696" y="3328415"/>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7F425D5C-EB06-48A6-B5EF-4349DD606950}"/>
              </a:ext>
            </a:extLst>
          </p:cNvPr>
          <p:cNvSpPr>
            <a:spLocks xmlns:a="http://schemas.openxmlformats.org/drawingml/2006/main" noGrp="1"/>
          </p:cNvSpPr>
          <p:nvPr/>
        </p:nvSpPr>
        <p:spPr>
          <a:xfrm xmlns:a="http://schemas.openxmlformats.org/drawingml/2006/main">
            <a:off x="10195560" y="33741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11</a:t>
            </a:r>
          </a:p>
        </p:txBody>
      </p:sp>
      <p:sp>
        <p:nvSpPr>
          <p:cNvPr id="40" name="Rectangle 39">
            <a:extLst xmlns:a="http://schemas.openxmlformats.org/drawingml/2006/main">
              <a:ext uri="{FF2B5EF4-FFF2-40B4-BE49-F238E27FC236}">
                <a16:creationId xmlns:a16="http://schemas.microsoft.com/office/drawing/2014/main" id="{B6976721-DBD2-406D-BAB0-B5E0FA0EF649}"/>
              </a:ext>
            </a:extLst>
          </p:cNvPr>
          <p:cNvSpPr>
            <a:spLocks xmlns:a="http://schemas.openxmlformats.org/drawingml/2006/main" noGrp="1"/>
          </p:cNvSpPr>
          <p:nvPr/>
        </p:nvSpPr>
        <p:spPr>
          <a:xfrm xmlns:a="http://schemas.openxmlformats.org/drawingml/2006/main">
            <a:off x="5843016" y="3785615"/>
            <a:ext cx="233172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9A439FC0-6DD3-4F4B-80C9-DFD4636351E8}"/>
              </a:ext>
            </a:extLst>
          </p:cNvPr>
          <p:cNvSpPr>
            <a:spLocks xmlns:a="http://schemas.openxmlformats.org/drawingml/2006/main" noGrp="1"/>
          </p:cNvSpPr>
          <p:nvPr/>
        </p:nvSpPr>
        <p:spPr>
          <a:xfrm xmlns:a="http://schemas.openxmlformats.org/drawingml/2006/main">
            <a:off x="5897879" y="3831335"/>
            <a:ext cx="222199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CAMs</a:t>
            </a:r>
          </a:p>
        </p:txBody>
      </p:sp>
      <p:sp>
        <p:nvSpPr>
          <p:cNvPr id="42" name="Rectangle 41">
            <a:extLst xmlns:a="http://schemas.openxmlformats.org/drawingml/2006/main">
              <a:ext uri="{FF2B5EF4-FFF2-40B4-BE49-F238E27FC236}">
                <a16:creationId xmlns:a16="http://schemas.microsoft.com/office/drawing/2014/main" id="{55B2FB10-AC0F-4E77-B85E-E895C9C0B612}"/>
              </a:ext>
            </a:extLst>
          </p:cNvPr>
          <p:cNvSpPr>
            <a:spLocks xmlns:a="http://schemas.openxmlformats.org/drawingml/2006/main" noGrp="1"/>
          </p:cNvSpPr>
          <p:nvPr/>
        </p:nvSpPr>
        <p:spPr>
          <a:xfrm xmlns:a="http://schemas.openxmlformats.org/drawingml/2006/main">
            <a:off x="8174736" y="3785615"/>
            <a:ext cx="91440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7095ADD2-F7B8-4524-B164-B885378DB3D6}"/>
              </a:ext>
            </a:extLst>
          </p:cNvPr>
          <p:cNvSpPr>
            <a:spLocks xmlns:a="http://schemas.openxmlformats.org/drawingml/2006/main" noGrp="1"/>
          </p:cNvSpPr>
          <p:nvPr/>
        </p:nvSpPr>
        <p:spPr>
          <a:xfrm xmlns:a="http://schemas.openxmlformats.org/drawingml/2006/main">
            <a:off x="8229600" y="3831335"/>
            <a:ext cx="8046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44" name="Rectangle 43">
            <a:extLst xmlns:a="http://schemas.openxmlformats.org/drawingml/2006/main">
              <a:ext uri="{FF2B5EF4-FFF2-40B4-BE49-F238E27FC236}">
                <a16:creationId xmlns:a16="http://schemas.microsoft.com/office/drawing/2014/main" id="{12D2C864-5084-4982-98DE-DDA79A091028}"/>
              </a:ext>
            </a:extLst>
          </p:cNvPr>
          <p:cNvSpPr>
            <a:spLocks xmlns:a="http://schemas.openxmlformats.org/drawingml/2006/main" noGrp="1"/>
          </p:cNvSpPr>
          <p:nvPr/>
        </p:nvSpPr>
        <p:spPr>
          <a:xfrm xmlns:a="http://schemas.openxmlformats.org/drawingml/2006/main">
            <a:off x="9089136" y="3785615"/>
            <a:ext cx="105156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91D97A44-FA35-41FA-90C6-92D81B74B6BA}"/>
              </a:ext>
            </a:extLst>
          </p:cNvPr>
          <p:cNvSpPr>
            <a:spLocks xmlns:a="http://schemas.openxmlformats.org/drawingml/2006/main" noGrp="1"/>
          </p:cNvSpPr>
          <p:nvPr/>
        </p:nvSpPr>
        <p:spPr>
          <a:xfrm xmlns:a="http://schemas.openxmlformats.org/drawingml/2006/main">
            <a:off x="9144000" y="38313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45</a:t>
            </a:r>
          </a:p>
        </p:txBody>
      </p:sp>
      <p:sp>
        <p:nvSpPr>
          <p:cNvPr id="46" name="Rectangle 45">
            <a:extLst xmlns:a="http://schemas.openxmlformats.org/drawingml/2006/main">
              <a:ext uri="{FF2B5EF4-FFF2-40B4-BE49-F238E27FC236}">
                <a16:creationId xmlns:a16="http://schemas.microsoft.com/office/drawing/2014/main" id="{D1B7EA3C-3E6B-4E7B-BE30-1ECA7D452F54}"/>
              </a:ext>
            </a:extLst>
          </p:cNvPr>
          <p:cNvSpPr>
            <a:spLocks xmlns:a="http://schemas.openxmlformats.org/drawingml/2006/main" noGrp="1"/>
          </p:cNvSpPr>
          <p:nvPr/>
        </p:nvSpPr>
        <p:spPr>
          <a:xfrm xmlns:a="http://schemas.openxmlformats.org/drawingml/2006/main">
            <a:off x="10140696" y="3785615"/>
            <a:ext cx="1051560" cy="457200"/>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4B7F4C1-9F2F-49AD-BB70-E9DF95753D81}"/>
              </a:ext>
            </a:extLst>
          </p:cNvPr>
          <p:cNvSpPr>
            <a:spLocks xmlns:a="http://schemas.openxmlformats.org/drawingml/2006/main" noGrp="1"/>
          </p:cNvSpPr>
          <p:nvPr/>
        </p:nvSpPr>
        <p:spPr>
          <a:xfrm xmlns:a="http://schemas.openxmlformats.org/drawingml/2006/main">
            <a:off x="10195560" y="3831335"/>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1</a:t>
            </a:r>
          </a:p>
        </p:txBody>
      </p:sp>
      <p:sp>
        <p:nvSpPr>
          <p:cNvPr id="48" name="Rectangle 47">
            <a:extLst xmlns:a="http://schemas.openxmlformats.org/drawingml/2006/main">
              <a:ext uri="{FF2B5EF4-FFF2-40B4-BE49-F238E27FC236}">
                <a16:creationId xmlns:a16="http://schemas.microsoft.com/office/drawing/2014/main" id="{D2F20C1D-F78F-4C83-A90B-093BCB57B5DF}"/>
              </a:ext>
            </a:extLst>
          </p:cNvPr>
          <p:cNvSpPr>
            <a:spLocks xmlns:a="http://schemas.openxmlformats.org/drawingml/2006/main" noGrp="1"/>
          </p:cNvSpPr>
          <p:nvPr/>
        </p:nvSpPr>
        <p:spPr>
          <a:xfrm xmlns:a="http://schemas.openxmlformats.org/drawingml/2006/main">
            <a:off x="5843016" y="4242816"/>
            <a:ext cx="233172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903E20B3-CF4F-4A93-801D-30F7E8029068}"/>
              </a:ext>
            </a:extLst>
          </p:cNvPr>
          <p:cNvSpPr>
            <a:spLocks xmlns:a="http://schemas.openxmlformats.org/drawingml/2006/main" noGrp="1"/>
          </p:cNvSpPr>
          <p:nvPr/>
        </p:nvSpPr>
        <p:spPr>
          <a:xfrm xmlns:a="http://schemas.openxmlformats.org/drawingml/2006/main">
            <a:off x="5897879" y="4288536"/>
            <a:ext cx="222199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Mic MKI67</a:t>
            </a:r>
          </a:p>
        </p:txBody>
      </p:sp>
      <p:sp>
        <p:nvSpPr>
          <p:cNvPr id="50" name="Rectangle 49">
            <a:extLst xmlns:a="http://schemas.openxmlformats.org/drawingml/2006/main">
              <a:ext uri="{FF2B5EF4-FFF2-40B4-BE49-F238E27FC236}">
                <a16:creationId xmlns:a16="http://schemas.microsoft.com/office/drawing/2014/main" id="{E1DA88D7-AE9C-489E-8372-8CCC2159709C}"/>
              </a:ext>
            </a:extLst>
          </p:cNvPr>
          <p:cNvSpPr>
            <a:spLocks xmlns:a="http://schemas.openxmlformats.org/drawingml/2006/main" noGrp="1"/>
          </p:cNvSpPr>
          <p:nvPr/>
        </p:nvSpPr>
        <p:spPr>
          <a:xfrm xmlns:a="http://schemas.openxmlformats.org/drawingml/2006/main">
            <a:off x="8174736" y="4242816"/>
            <a:ext cx="91440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0F1DC7C2-CBC8-420E-8449-41E5F062D0FE}"/>
              </a:ext>
            </a:extLst>
          </p:cNvPr>
          <p:cNvSpPr>
            <a:spLocks xmlns:a="http://schemas.openxmlformats.org/drawingml/2006/main" noGrp="1"/>
          </p:cNvSpPr>
          <p:nvPr/>
        </p:nvSpPr>
        <p:spPr>
          <a:xfrm xmlns:a="http://schemas.openxmlformats.org/drawingml/2006/main">
            <a:off x="8229600" y="4288536"/>
            <a:ext cx="80467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M_e2</a:t>
            </a:r>
          </a:p>
        </p:txBody>
      </p:sp>
      <p:sp>
        <p:nvSpPr>
          <p:cNvPr id="52" name="Rectangle 51">
            <a:extLst xmlns:a="http://schemas.openxmlformats.org/drawingml/2006/main">
              <a:ext uri="{FF2B5EF4-FFF2-40B4-BE49-F238E27FC236}">
                <a16:creationId xmlns:a16="http://schemas.microsoft.com/office/drawing/2014/main" id="{910C581E-1DAD-46E7-A140-7E7BD4780D86}"/>
              </a:ext>
            </a:extLst>
          </p:cNvPr>
          <p:cNvSpPr>
            <a:spLocks xmlns:a="http://schemas.openxmlformats.org/drawingml/2006/main" noGrp="1"/>
          </p:cNvSpPr>
          <p:nvPr/>
        </p:nvSpPr>
        <p:spPr>
          <a:xfrm xmlns:a="http://schemas.openxmlformats.org/drawingml/2006/main">
            <a:off x="9089136" y="4242816"/>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156B8896-EB75-41CE-A156-2660FFC8BAF4}"/>
              </a:ext>
            </a:extLst>
          </p:cNvPr>
          <p:cNvSpPr>
            <a:spLocks xmlns:a="http://schemas.openxmlformats.org/drawingml/2006/main" noGrp="1"/>
          </p:cNvSpPr>
          <p:nvPr/>
        </p:nvSpPr>
        <p:spPr>
          <a:xfrm xmlns:a="http://schemas.openxmlformats.org/drawingml/2006/main">
            <a:off x="9144000" y="4288536"/>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2</a:t>
            </a:r>
          </a:p>
        </p:txBody>
      </p:sp>
      <p:sp>
        <p:nvSpPr>
          <p:cNvPr id="54" name="Rectangle 53">
            <a:extLst xmlns:a="http://schemas.openxmlformats.org/drawingml/2006/main">
              <a:ext uri="{FF2B5EF4-FFF2-40B4-BE49-F238E27FC236}">
                <a16:creationId xmlns:a16="http://schemas.microsoft.com/office/drawing/2014/main" id="{1B1BB3F7-04AA-44BA-8B8D-F3858EDA1925}"/>
              </a:ext>
            </a:extLst>
          </p:cNvPr>
          <p:cNvSpPr>
            <a:spLocks xmlns:a="http://schemas.openxmlformats.org/drawingml/2006/main" noGrp="1"/>
          </p:cNvSpPr>
          <p:nvPr/>
        </p:nvSpPr>
        <p:spPr>
          <a:xfrm xmlns:a="http://schemas.openxmlformats.org/drawingml/2006/main">
            <a:off x="10140696" y="4242816"/>
            <a:ext cx="1051560" cy="457200"/>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0523E08A-8422-4F00-872A-58443A885589}"/>
              </a:ext>
            </a:extLst>
          </p:cNvPr>
          <p:cNvSpPr>
            <a:spLocks xmlns:a="http://schemas.openxmlformats.org/drawingml/2006/main" noGrp="1"/>
          </p:cNvSpPr>
          <p:nvPr/>
        </p:nvSpPr>
        <p:spPr>
          <a:xfrm xmlns:a="http://schemas.openxmlformats.org/drawingml/2006/main">
            <a:off x="10195560" y="4288536"/>
            <a:ext cx="941831"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80" b="0" i="0">
                <a:solidFill>
                  <a:srgbClr val="1F2730"/>
                </a:solidFill>
                <a:latin typeface="Arial"/>
                <a:ea typeface="Arial"/>
                <a:cs typeface="Arial"/>
              </a:rPr>
              <a:t>9</a:t>
            </a:r>
          </a:p>
        </p:txBody>
      </p:sp>
      <p:sp>
        <p:nvSpPr>
          <p:cNvPr id="56" name="TextBox 55">
            <a:extLst xmlns:a="http://schemas.openxmlformats.org/drawingml/2006/main">
              <a:ext uri="{FF2B5EF4-FFF2-40B4-BE49-F238E27FC236}">
                <a16:creationId xmlns:a16="http://schemas.microsoft.com/office/drawing/2014/main" id="{5DA43788-B436-482C-B52E-17CA35FF74BA}"/>
              </a:ext>
            </a:extLst>
          </p:cNvPr>
          <p:cNvSpPr>
            <a:spLocks xmlns:a="http://schemas.openxmlformats.org/drawingml/2006/main" noGrp="1"/>
          </p:cNvSpPr>
          <p:nvPr/>
        </p:nvSpPr>
        <p:spPr>
          <a:xfrm xmlns:a="http://schemas.openxmlformats.org/drawingml/2006/main">
            <a:off x="5961888" y="4882896"/>
            <a:ext cx="5029200"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D55E00"/>
                </a:solidFill>
                <a:latin typeface="Arial"/>
                <a:ea typeface="Arial"/>
                <a:cs typeface="Arial"/>
              </a:rPr>
              <a:t>3 unavailable comparisons = 3 unavailable KDA calls</a:t>
            </a:r>
          </a:p>
        </p:txBody>
      </p:sp>
    </p:spTree>
    <p:extLst>
      <p:ext uri="{BB962C8B-B14F-4D97-AF65-F5344CB8AC3E}">
        <p14:creationId xmlns:p14="http://schemas.microsoft.com/office/powerpoint/2010/main" val="903019493"/>
      </p:ext>
    </p:extLst>
  </p:cSld>
</p:sld>
</file>

<file path=ppt/slides/slide2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215A4499-ABED-41B4-B689-BBEB37944934}"/>
              </a:ext>
            </a:extLst>
          </p:cNvPr>
          <p:cNvSpPr>
            <a:spLocks xmlns:a="http://schemas.openxmlformats.org/drawingml/2006/main" noGrp="1"/>
          </p:cNvSpPr>
          <p:nvPr/>
        </p:nvSpPr>
        <p:spPr>
          <a:xfrm xmlns:a="http://schemas.openxmlformats.org/drawingml/2006/main">
            <a:off x="530352" y="411480"/>
            <a:ext cx="10652760" cy="3785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a:solidFill>
                  <a:srgbClr val="0F233D"/>
                </a:solidFill>
                <a:latin typeface="Arial"/>
                <a:ea typeface="Arial"/>
                <a:cs typeface="Arial"/>
              </a:rPr>
              <a:t>M</a:t>
            </a:r>
            <a:r>
              <a:rPr sz="2100" b="1" i="0">
                <a:solidFill>
                  <a:srgbClr val="0F233D"/>
                </a:solidFill>
                <a:latin typeface="Arial"/>
                <a:ea typeface="Arial"/>
                <a:cs typeface="Arial"/>
              </a:rPr>
              <a:t>itochondrial query genes</a:t>
            </a:r>
          </a:p>
        </p:txBody>
      </p:sp>
      <p:sp>
        <p:nvSpPr>
          <p:cNvPr id="5" name="Rounded Rectangle 4">
            <a:extLst xmlns:a="http://schemas.openxmlformats.org/drawingml/2006/main">
              <a:ext uri="{FF2B5EF4-FFF2-40B4-BE49-F238E27FC236}">
                <a16:creationId xmlns:a16="http://schemas.microsoft.com/office/drawing/2014/main" id="{8DE7C9FC-F4F5-4C9D-BE4B-F8CC2DEE3039}"/>
              </a:ext>
            </a:extLst>
          </p:cNvPr>
          <p:cNvSpPr>
            <a:spLocks xmlns:a="http://schemas.openxmlformats.org/drawingml/2006/main" noGrp="1"/>
          </p:cNvSpPr>
          <p:nvPr/>
        </p:nvSpPr>
        <p:spPr>
          <a:xfrm xmlns:a="http://schemas.openxmlformats.org/drawingml/2006/main">
            <a:off x="603504" y="1353312"/>
            <a:ext cx="3721608" cy="452628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Rectangle 5">
            <a:extLst xmlns:a="http://schemas.openxmlformats.org/drawingml/2006/main">
              <a:ext uri="{FF2B5EF4-FFF2-40B4-BE49-F238E27FC236}">
                <a16:creationId xmlns:a16="http://schemas.microsoft.com/office/drawing/2014/main" id="{CCF4AEC8-028E-4049-8919-A3A6BC909D71}"/>
              </a:ext>
            </a:extLst>
          </p:cNvPr>
          <p:cNvSpPr>
            <a:spLocks xmlns:a="http://schemas.openxmlformats.org/drawingml/2006/main" noGrp="1"/>
          </p:cNvSpPr>
          <p:nvPr/>
        </p:nvSpPr>
        <p:spPr>
          <a:xfrm xmlns:a="http://schemas.openxmlformats.org/drawingml/2006/main">
            <a:off x="859536" y="1655064"/>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9E86D80-4F35-4E9D-B4CF-F31E5727EF07}"/>
              </a:ext>
            </a:extLst>
          </p:cNvPr>
          <p:cNvSpPr>
            <a:spLocks xmlns:a="http://schemas.openxmlformats.org/drawingml/2006/main" noGrp="1"/>
          </p:cNvSpPr>
          <p:nvPr/>
        </p:nvSpPr>
        <p:spPr>
          <a:xfrm xmlns:a="http://schemas.openxmlformats.org/drawingml/2006/main">
            <a:off x="1005839" y="1627632"/>
            <a:ext cx="3035808"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DEG rule</a:t>
            </a:r>
          </a:p>
        </p:txBody>
      </p:sp>
      <p:sp>
        <p:nvSpPr>
          <p:cNvPr id="8" name="Oval 7">
            <a:extLst xmlns:a="http://schemas.openxmlformats.org/drawingml/2006/main">
              <a:ext uri="{FF2B5EF4-FFF2-40B4-BE49-F238E27FC236}">
                <a16:creationId xmlns:a16="http://schemas.microsoft.com/office/drawing/2014/main" id="{A0151829-EEB6-4971-BDF2-C77BF1063965}"/>
              </a:ext>
            </a:extLst>
          </p:cNvPr>
          <p:cNvSpPr>
            <a:spLocks xmlns:a="http://schemas.openxmlformats.org/drawingml/2006/main" noGrp="1"/>
          </p:cNvSpPr>
          <p:nvPr/>
        </p:nvSpPr>
        <p:spPr>
          <a:xfrm xmlns:a="http://schemas.openxmlformats.org/drawingml/2006/main">
            <a:off x="859536" y="226771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578213C-EE6C-40FF-960C-489204F531A0}"/>
              </a:ext>
            </a:extLst>
          </p:cNvPr>
          <p:cNvSpPr>
            <a:spLocks xmlns:a="http://schemas.openxmlformats.org/drawingml/2006/main" noGrp="1"/>
          </p:cNvSpPr>
          <p:nvPr/>
        </p:nvSpPr>
        <p:spPr>
          <a:xfrm xmlns:a="http://schemas.openxmlformats.org/drawingml/2006/main">
            <a:off x="1033271" y="2139696"/>
            <a:ext cx="299008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Detected in ≥10% of AD or NCI nuclei.</a:t>
            </a:r>
          </a:p>
        </p:txBody>
      </p:sp>
      <p:sp>
        <p:nvSpPr>
          <p:cNvPr id="10" name="Oval 9">
            <a:extLst xmlns:a="http://schemas.openxmlformats.org/drawingml/2006/main">
              <a:ext uri="{FF2B5EF4-FFF2-40B4-BE49-F238E27FC236}">
                <a16:creationId xmlns:a16="http://schemas.microsoft.com/office/drawing/2014/main" id="{C0ADBA6A-AFFB-488D-A107-5DC268F15299}"/>
              </a:ext>
            </a:extLst>
          </p:cNvPr>
          <p:cNvSpPr>
            <a:spLocks xmlns:a="http://schemas.openxmlformats.org/drawingml/2006/main" noGrp="1"/>
          </p:cNvSpPr>
          <p:nvPr/>
        </p:nvSpPr>
        <p:spPr>
          <a:xfrm xmlns:a="http://schemas.openxmlformats.org/drawingml/2006/main">
            <a:off x="859536" y="2834640"/>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229298B-06BB-400F-83B1-AAAC4072591F}"/>
              </a:ext>
            </a:extLst>
          </p:cNvPr>
          <p:cNvSpPr>
            <a:spLocks xmlns:a="http://schemas.openxmlformats.org/drawingml/2006/main" noGrp="1"/>
          </p:cNvSpPr>
          <p:nvPr/>
        </p:nvSpPr>
        <p:spPr>
          <a:xfrm xmlns:a="http://schemas.openxmlformats.org/drawingml/2006/main">
            <a:off x="1033271" y="2706624"/>
            <a:ext cx="299008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Within-contrast BH FDR &lt; 0.05.</a:t>
            </a:r>
          </a:p>
        </p:txBody>
      </p:sp>
      <p:sp>
        <p:nvSpPr>
          <p:cNvPr id="12" name="Oval 11">
            <a:extLst xmlns:a="http://schemas.openxmlformats.org/drawingml/2006/main">
              <a:ext uri="{FF2B5EF4-FFF2-40B4-BE49-F238E27FC236}">
                <a16:creationId xmlns:a16="http://schemas.microsoft.com/office/drawing/2014/main" id="{B822E0FE-0F09-484C-9F2D-B2B7E0D7E11C}"/>
              </a:ext>
            </a:extLst>
          </p:cNvPr>
          <p:cNvSpPr>
            <a:spLocks xmlns:a="http://schemas.openxmlformats.org/drawingml/2006/main" noGrp="1"/>
          </p:cNvSpPr>
          <p:nvPr/>
        </p:nvSpPr>
        <p:spPr>
          <a:xfrm xmlns:a="http://schemas.openxmlformats.org/drawingml/2006/main">
            <a:off x="859536" y="340156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6D8D062-AAD8-4621-AB56-9EF8A120EB96}"/>
              </a:ext>
            </a:extLst>
          </p:cNvPr>
          <p:cNvSpPr>
            <a:spLocks xmlns:a="http://schemas.openxmlformats.org/drawingml/2006/main" noGrp="1"/>
          </p:cNvSpPr>
          <p:nvPr/>
        </p:nvSpPr>
        <p:spPr>
          <a:xfrm xmlns:a="http://schemas.openxmlformats.org/drawingml/2006/main">
            <a:off x="1033271" y="3273552"/>
            <a:ext cx="299008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|log₂ fold change| &gt; log₂(1.3) ≈ 0.379.</a:t>
            </a:r>
          </a:p>
        </p:txBody>
      </p:sp>
      <p:sp>
        <p:nvSpPr>
          <p:cNvPr id="14" name="Oval 13">
            <a:extLst xmlns:a="http://schemas.openxmlformats.org/drawingml/2006/main">
              <a:ext uri="{FF2B5EF4-FFF2-40B4-BE49-F238E27FC236}">
                <a16:creationId xmlns:a16="http://schemas.microsoft.com/office/drawing/2014/main" id="{CCAFE78C-2226-4809-9008-90D8C39DB040}"/>
              </a:ext>
            </a:extLst>
          </p:cNvPr>
          <p:cNvSpPr>
            <a:spLocks xmlns:a="http://schemas.openxmlformats.org/drawingml/2006/main" noGrp="1"/>
          </p:cNvSpPr>
          <p:nvPr/>
        </p:nvSpPr>
        <p:spPr>
          <a:xfrm xmlns:a="http://schemas.openxmlformats.org/drawingml/2006/main">
            <a:off x="859536" y="396849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06C362E-61A0-4B7A-9DDC-433728001AB4}"/>
              </a:ext>
            </a:extLst>
          </p:cNvPr>
          <p:cNvSpPr>
            <a:spLocks xmlns:a="http://schemas.openxmlformats.org/drawingml/2006/main" noGrp="1"/>
          </p:cNvSpPr>
          <p:nvPr/>
        </p:nvSpPr>
        <p:spPr>
          <a:xfrm xmlns:a="http://schemas.openxmlformats.org/drawingml/2006/main">
            <a:off x="1033271" y="3840480"/>
            <a:ext cx="2990088" cy="43704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Significant positive and negative DEGs enter the query.</a:t>
            </a:r>
          </a:p>
        </p:txBody>
      </p:sp>
      <p:sp>
        <p:nvSpPr>
          <p:cNvPr id="16" name="Rounded Rectangle 15">
            <a:extLst xmlns:a="http://schemas.openxmlformats.org/drawingml/2006/main">
              <a:ext uri="{FF2B5EF4-FFF2-40B4-BE49-F238E27FC236}">
                <a16:creationId xmlns:a16="http://schemas.microsoft.com/office/drawing/2014/main" id="{885F3F40-EE89-4AEF-B303-0BFAF284546A}"/>
              </a:ext>
            </a:extLst>
          </p:cNvPr>
          <p:cNvSpPr>
            <a:spLocks xmlns:a="http://schemas.openxmlformats.org/drawingml/2006/main" noGrp="1"/>
          </p:cNvSpPr>
          <p:nvPr/>
        </p:nvSpPr>
        <p:spPr>
          <a:xfrm xmlns:a="http://schemas.openxmlformats.org/drawingml/2006/main">
            <a:off x="859536" y="4709160"/>
            <a:ext cx="3145536" cy="786384"/>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982A7A1-7F77-4ECF-AC6A-EF1F25B01E18}"/>
              </a:ext>
            </a:extLst>
          </p:cNvPr>
          <p:cNvSpPr>
            <a:spLocks xmlns:a="http://schemas.openxmlformats.org/drawingml/2006/main" noGrp="1"/>
          </p:cNvSpPr>
          <p:nvPr/>
        </p:nvSpPr>
        <p:spPr>
          <a:xfrm xmlns:a="http://schemas.openxmlformats.org/drawingml/2006/main">
            <a:off x="1042415" y="4910328"/>
            <a:ext cx="2788920" cy="4001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F233D"/>
                </a:solidFill>
                <a:latin typeface="Arial"/>
                <a:ea typeface="Arial"/>
                <a:cs typeface="Arial"/>
              </a:rPr>
              <a:t>Query = DEG rule ∩ core_mito_protein</a:t>
            </a:r>
          </a:p>
        </p:txBody>
      </p:sp>
      <p:sp>
        <p:nvSpPr>
          <p:cNvPr id="18" name="Rounded Rectangle 17">
            <a:extLst xmlns:a="http://schemas.openxmlformats.org/drawingml/2006/main">
              <a:ext uri="{FF2B5EF4-FFF2-40B4-BE49-F238E27FC236}">
                <a16:creationId xmlns:a16="http://schemas.microsoft.com/office/drawing/2014/main" id="{5A52CA99-AEDD-4D14-99E8-8BF8B35356DA}"/>
              </a:ext>
            </a:extLst>
          </p:cNvPr>
          <p:cNvSpPr>
            <a:spLocks xmlns:a="http://schemas.openxmlformats.org/drawingml/2006/main" noGrp="1"/>
          </p:cNvSpPr>
          <p:nvPr/>
        </p:nvSpPr>
        <p:spPr>
          <a:xfrm xmlns:a="http://schemas.openxmlformats.org/drawingml/2006/main">
            <a:off x="4626864" y="1426464"/>
            <a:ext cx="2066543"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3F8606F2-D8ED-44DD-A74F-F996D893CA39}"/>
              </a:ext>
            </a:extLst>
          </p:cNvPr>
          <p:cNvSpPr>
            <a:spLocks xmlns:a="http://schemas.openxmlformats.org/drawingml/2006/main" noGrp="1"/>
          </p:cNvSpPr>
          <p:nvPr/>
        </p:nvSpPr>
        <p:spPr>
          <a:xfrm xmlns:a="http://schemas.openxmlformats.org/drawingml/2006/main">
            <a:off x="4773168" y="1517904"/>
            <a:ext cx="1773935"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2,864,117</a:t>
            </a:r>
          </a:p>
        </p:txBody>
      </p:sp>
      <p:sp>
        <p:nvSpPr>
          <p:cNvPr id="20" name="TextBox 19">
            <a:extLst xmlns:a="http://schemas.openxmlformats.org/drawingml/2006/main">
              <a:ext uri="{FF2B5EF4-FFF2-40B4-BE49-F238E27FC236}">
                <a16:creationId xmlns:a16="http://schemas.microsoft.com/office/drawing/2014/main" id="{9A48D853-A6A4-42BF-BC6B-58F9AE08341A}"/>
              </a:ext>
            </a:extLst>
          </p:cNvPr>
          <p:cNvSpPr>
            <a:spLocks xmlns:a="http://schemas.openxmlformats.org/drawingml/2006/main" noGrp="1"/>
          </p:cNvSpPr>
          <p:nvPr/>
        </p:nvSpPr>
        <p:spPr>
          <a:xfrm xmlns:a="http://schemas.openxmlformats.org/drawingml/2006/main">
            <a:off x="4773168" y="1975104"/>
            <a:ext cx="1773935"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880" b="1" i="0">
                <a:solidFill>
                  <a:srgbClr val="4E5A68"/>
                </a:solidFill>
                <a:latin typeface="Arial"/>
                <a:ea typeface="Arial"/>
                <a:cs typeface="Arial"/>
              </a:rPr>
              <a:t>tested gene × comparison rows</a:t>
            </a:r>
          </a:p>
        </p:txBody>
      </p:sp>
      <p:sp>
        <p:nvSpPr>
          <p:cNvPr id="21" name="Rounded Rectangle 20">
            <a:extLst xmlns:a="http://schemas.openxmlformats.org/drawingml/2006/main">
              <a:ext uri="{FF2B5EF4-FFF2-40B4-BE49-F238E27FC236}">
                <a16:creationId xmlns:a16="http://schemas.microsoft.com/office/drawing/2014/main" id="{E69D2FA1-B7C3-42AE-9C87-740739AA506D}"/>
              </a:ext>
            </a:extLst>
          </p:cNvPr>
          <p:cNvSpPr>
            <a:spLocks xmlns:a="http://schemas.openxmlformats.org/drawingml/2006/main" noGrp="1"/>
          </p:cNvSpPr>
          <p:nvPr/>
        </p:nvSpPr>
        <p:spPr>
          <a:xfrm xmlns:a="http://schemas.openxmlformats.org/drawingml/2006/main">
            <a:off x="6858000" y="1426464"/>
            <a:ext cx="2066543" cy="12801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A906724E-D0B9-463E-9CE1-8AFF558DEE52}"/>
              </a:ext>
            </a:extLst>
          </p:cNvPr>
          <p:cNvSpPr>
            <a:spLocks xmlns:a="http://schemas.openxmlformats.org/drawingml/2006/main" noGrp="1"/>
          </p:cNvSpPr>
          <p:nvPr/>
        </p:nvSpPr>
        <p:spPr>
          <a:xfrm xmlns:a="http://schemas.openxmlformats.org/drawingml/2006/main">
            <a:off x="7004304" y="1517904"/>
            <a:ext cx="1773935"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118,297</a:t>
            </a:r>
          </a:p>
        </p:txBody>
      </p:sp>
      <p:sp>
        <p:nvSpPr>
          <p:cNvPr id="23" name="TextBox 22">
            <a:extLst xmlns:a="http://schemas.openxmlformats.org/drawingml/2006/main">
              <a:ext uri="{FF2B5EF4-FFF2-40B4-BE49-F238E27FC236}">
                <a16:creationId xmlns:a16="http://schemas.microsoft.com/office/drawing/2014/main" id="{4BE34CB8-3AB4-4355-AAF2-1D74AB37BAF8}"/>
              </a:ext>
            </a:extLst>
          </p:cNvPr>
          <p:cNvSpPr>
            <a:spLocks xmlns:a="http://schemas.openxmlformats.org/drawingml/2006/main" noGrp="1"/>
          </p:cNvSpPr>
          <p:nvPr/>
        </p:nvSpPr>
        <p:spPr>
          <a:xfrm xmlns:a="http://schemas.openxmlformats.org/drawingml/2006/main">
            <a:off x="7004304" y="1975104"/>
            <a:ext cx="1773935"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Passed DEG</a:t>
            </a:r>
          </a:p>
        </p:txBody>
      </p:sp>
      <p:sp>
        <p:nvSpPr>
          <p:cNvPr id="24" name="TextBox 23">
            <a:extLst xmlns:a="http://schemas.openxmlformats.org/drawingml/2006/main">
              <a:ext uri="{FF2B5EF4-FFF2-40B4-BE49-F238E27FC236}">
                <a16:creationId xmlns:a16="http://schemas.microsoft.com/office/drawing/2014/main" id="{69B3690B-6382-4AC7-9E7C-489107BE6259}"/>
              </a:ext>
            </a:extLst>
          </p:cNvPr>
          <p:cNvSpPr>
            <a:spLocks xmlns:a="http://schemas.openxmlformats.org/drawingml/2006/main" noGrp="1"/>
          </p:cNvSpPr>
          <p:nvPr/>
        </p:nvSpPr>
        <p:spPr>
          <a:xfrm xmlns:a="http://schemas.openxmlformats.org/drawingml/2006/main">
            <a:off x="7004304" y="2414016"/>
            <a:ext cx="1773935"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780" b="0" i="0">
                <a:solidFill>
                  <a:srgbClr val="6C7988"/>
                </a:solidFill>
                <a:latin typeface="Arial"/>
                <a:ea typeface="Arial"/>
                <a:cs typeface="Arial"/>
              </a:rPr>
              <a:t>58,112 up • 60,185 down</a:t>
            </a:r>
          </a:p>
        </p:txBody>
      </p:sp>
      <p:sp>
        <p:nvSpPr>
          <p:cNvPr id="25" name="Rounded Rectangle 24">
            <a:extLst xmlns:a="http://schemas.openxmlformats.org/drawingml/2006/main">
              <a:ext uri="{FF2B5EF4-FFF2-40B4-BE49-F238E27FC236}">
                <a16:creationId xmlns:a16="http://schemas.microsoft.com/office/drawing/2014/main" id="{658A74AD-25F6-4091-B072-DA06336F1B1B}"/>
              </a:ext>
            </a:extLst>
          </p:cNvPr>
          <p:cNvSpPr>
            <a:spLocks xmlns:a="http://schemas.openxmlformats.org/drawingml/2006/main" noGrp="1"/>
          </p:cNvSpPr>
          <p:nvPr/>
        </p:nvSpPr>
        <p:spPr>
          <a:xfrm xmlns:a="http://schemas.openxmlformats.org/drawingml/2006/main">
            <a:off x="9089136" y="1426464"/>
            <a:ext cx="2066543" cy="12801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C6B67BD-53DA-4B1B-B4D9-A66F7CC6F87C}"/>
              </a:ext>
            </a:extLst>
          </p:cNvPr>
          <p:cNvSpPr>
            <a:spLocks xmlns:a="http://schemas.openxmlformats.org/drawingml/2006/main" noGrp="1"/>
          </p:cNvSpPr>
          <p:nvPr/>
        </p:nvSpPr>
        <p:spPr>
          <a:xfrm xmlns:a="http://schemas.openxmlformats.org/drawingml/2006/main">
            <a:off x="9235440" y="1517904"/>
            <a:ext cx="1773935"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895600"/>
                </a:solidFill>
                <a:latin typeface="Arial"/>
                <a:ea typeface="Arial"/>
                <a:cs typeface="Arial"/>
              </a:rPr>
              <a:t>9,262</a:t>
            </a:r>
          </a:p>
        </p:txBody>
      </p:sp>
      <p:sp>
        <p:nvSpPr>
          <p:cNvPr id="27" name="TextBox 26">
            <a:extLst xmlns:a="http://schemas.openxmlformats.org/drawingml/2006/main">
              <a:ext uri="{FF2B5EF4-FFF2-40B4-BE49-F238E27FC236}">
                <a16:creationId xmlns:a16="http://schemas.microsoft.com/office/drawing/2014/main" id="{5A085EBF-A4E2-4594-96C0-0B5797A10083}"/>
              </a:ext>
            </a:extLst>
          </p:cNvPr>
          <p:cNvSpPr>
            <a:spLocks xmlns:a="http://schemas.openxmlformats.org/drawingml/2006/main" noGrp="1"/>
          </p:cNvSpPr>
          <p:nvPr/>
        </p:nvSpPr>
        <p:spPr>
          <a:xfrm xmlns:a="http://schemas.openxmlformats.org/drawingml/2006/main">
            <a:off x="9235440" y="1975104"/>
            <a:ext cx="1773935"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core-MT query genes</a:t>
            </a:r>
          </a:p>
        </p:txBody>
      </p:sp>
      <p:sp>
        <p:nvSpPr>
          <p:cNvPr id="28" name="TextBox 27">
            <a:extLst xmlns:a="http://schemas.openxmlformats.org/drawingml/2006/main">
              <a:ext uri="{FF2B5EF4-FFF2-40B4-BE49-F238E27FC236}">
                <a16:creationId xmlns:a16="http://schemas.microsoft.com/office/drawing/2014/main" id="{8C904E69-0137-4825-A2DB-91EC93BCDF6D}"/>
              </a:ext>
            </a:extLst>
          </p:cNvPr>
          <p:cNvSpPr>
            <a:spLocks xmlns:a="http://schemas.openxmlformats.org/drawingml/2006/main" noGrp="1"/>
          </p:cNvSpPr>
          <p:nvPr/>
        </p:nvSpPr>
        <p:spPr>
          <a:xfrm xmlns:a="http://schemas.openxmlformats.org/drawingml/2006/main">
            <a:off x="9235440" y="2414016"/>
            <a:ext cx="1773935"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780" b="0" i="0">
                <a:solidFill>
                  <a:srgbClr val="6C7988"/>
                </a:solidFill>
                <a:latin typeface="Arial"/>
                <a:ea typeface="Arial"/>
                <a:cs typeface="Arial"/>
              </a:rPr>
              <a:t>4,258 up • 5,004 down</a:t>
            </a:r>
          </a:p>
        </p:txBody>
      </p:sp>
      <p:sp>
        <p:nvSpPr>
          <p:cNvPr id="29" name="Rounded Rectangle 28">
            <a:extLst xmlns:a="http://schemas.openxmlformats.org/drawingml/2006/main">
              <a:ext uri="{FF2B5EF4-FFF2-40B4-BE49-F238E27FC236}">
                <a16:creationId xmlns:a16="http://schemas.microsoft.com/office/drawing/2014/main" id="{75FF7E4C-5D0A-47DA-8950-FE7DA023D128}"/>
              </a:ext>
            </a:extLst>
          </p:cNvPr>
          <p:cNvSpPr>
            <a:spLocks xmlns:a="http://schemas.openxmlformats.org/drawingml/2006/main" noGrp="1"/>
          </p:cNvSpPr>
          <p:nvPr/>
        </p:nvSpPr>
        <p:spPr>
          <a:xfrm xmlns:a="http://schemas.openxmlformats.org/drawingml/2006/main">
            <a:off x="4626864" y="3017520"/>
            <a:ext cx="6528816" cy="2395728"/>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5E5D0AEF-3CE0-496D-9A6B-9793B89FCBCB}"/>
              </a:ext>
            </a:extLst>
          </p:cNvPr>
          <p:cNvSpPr>
            <a:spLocks xmlns:a="http://schemas.openxmlformats.org/drawingml/2006/main" noGrp="1"/>
          </p:cNvSpPr>
          <p:nvPr/>
        </p:nvSpPr>
        <p:spPr>
          <a:xfrm xmlns:a="http://schemas.openxmlformats.org/drawingml/2006/main">
            <a:off x="4901184" y="3291840"/>
            <a:ext cx="310896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50" b="1" i="0">
                <a:solidFill>
                  <a:srgbClr val="009E73"/>
                </a:solidFill>
                <a:latin typeface="Arial"/>
                <a:ea typeface="Arial"/>
                <a:cs typeface="Arial"/>
              </a:rPr>
              <a:t>NETWORK-BACKGROUND INTERSECTION</a:t>
            </a:r>
          </a:p>
        </p:txBody>
      </p:sp>
      <p:sp>
        <p:nvSpPr>
          <p:cNvPr id="31" name="TextBox 30">
            <a:extLst xmlns:a="http://schemas.openxmlformats.org/drawingml/2006/main">
              <a:ext uri="{FF2B5EF4-FFF2-40B4-BE49-F238E27FC236}">
                <a16:creationId xmlns:a16="http://schemas.microsoft.com/office/drawing/2014/main" id="{79EB081A-365D-415F-A7A1-700793E28812}"/>
              </a:ext>
            </a:extLst>
          </p:cNvPr>
          <p:cNvSpPr>
            <a:spLocks xmlns:a="http://schemas.openxmlformats.org/drawingml/2006/main" noGrp="1"/>
          </p:cNvSpPr>
          <p:nvPr/>
        </p:nvSpPr>
        <p:spPr>
          <a:xfrm xmlns:a="http://schemas.openxmlformats.org/drawingml/2006/main">
            <a:off x="4919472" y="3694176"/>
            <a:ext cx="5806440" cy="3247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50" b="1" i="0">
                <a:solidFill>
                  <a:srgbClr val="0F233D"/>
                </a:solidFill>
                <a:latin typeface="Arial"/>
                <a:ea typeface="Arial"/>
                <a:cs typeface="Arial"/>
              </a:rPr>
              <a:t>9,262 provisional query genes</a:t>
            </a:r>
          </a:p>
        </p:txBody>
      </p:sp>
      <p:sp>
        <p:nvSpPr>
          <p:cNvPr id="32" name="TextBox 31">
            <a:extLst xmlns:a="http://schemas.openxmlformats.org/drawingml/2006/main">
              <a:ext uri="{FF2B5EF4-FFF2-40B4-BE49-F238E27FC236}">
                <a16:creationId xmlns:a16="http://schemas.microsoft.com/office/drawing/2014/main" id="{C60C4732-1566-462C-8E78-496CB14F271F}"/>
              </a:ext>
            </a:extLst>
          </p:cNvPr>
          <p:cNvSpPr>
            <a:spLocks xmlns:a="http://schemas.openxmlformats.org/drawingml/2006/main" noGrp="1"/>
          </p:cNvSpPr>
          <p:nvPr/>
        </p:nvSpPr>
        <p:spPr>
          <a:xfrm xmlns:a="http://schemas.openxmlformats.org/drawingml/2006/main">
            <a:off x="4919472" y="4133087"/>
            <a:ext cx="5321808" cy="25545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D55E00"/>
                </a:solidFill>
                <a:latin typeface="Arial"/>
                <a:ea typeface="Arial"/>
                <a:cs typeface="Arial"/>
              </a:rPr>
              <a:t>− 1,329 absent from the </a:t>
            </a:r>
            <a:r>
              <a:rPr sz="1300" b="1">
                <a:solidFill>
                  <a:srgbClr val="D55E00"/>
                </a:solidFill>
                <a:latin typeface="Arial"/>
                <a:ea typeface="Arial"/>
                <a:cs typeface="Arial"/>
              </a:rPr>
              <a:t>Bayesian network</a:t>
            </a:r>
            <a:endParaRPr sz="1300" b="1" i="0">
              <a:solidFill>
                <a:srgbClr val="D55E00"/>
              </a:solidFill>
              <a:latin typeface="Arial"/>
              <a:ea typeface="Arial"/>
              <a:cs typeface="Arial"/>
            </a:endParaRPr>
          </a:p>
        </p:txBody>
      </p:sp>
      <p:sp>
        <p:nvSpPr>
          <p:cNvPr id="33" name="TextBox 32">
            <a:extLst xmlns:a="http://schemas.openxmlformats.org/drawingml/2006/main">
              <a:ext uri="{FF2B5EF4-FFF2-40B4-BE49-F238E27FC236}">
                <a16:creationId xmlns:a16="http://schemas.microsoft.com/office/drawing/2014/main" id="{7248E692-28A0-4C03-A384-7F8EC33D7A39}"/>
              </a:ext>
            </a:extLst>
          </p:cNvPr>
          <p:cNvSpPr>
            <a:spLocks xmlns:a="http://schemas.openxmlformats.org/drawingml/2006/main" noGrp="1"/>
          </p:cNvSpPr>
          <p:nvPr/>
        </p:nvSpPr>
        <p:spPr>
          <a:xfrm xmlns:a="http://schemas.openxmlformats.org/drawingml/2006/main">
            <a:off x="4919472" y="4626864"/>
            <a:ext cx="5806440" cy="332399"/>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800" b="1" i="0">
                <a:solidFill>
                  <a:srgbClr val="009E73"/>
                </a:solidFill>
                <a:latin typeface="Arial"/>
                <a:ea typeface="Arial"/>
                <a:cs typeface="Arial"/>
              </a:rPr>
              <a:t>= 7,933 query genes</a:t>
            </a:r>
          </a:p>
        </p:txBody>
      </p:sp>
      <p:sp>
        <p:nvSpPr>
          <p:cNvPr id="34" name="TextBox 33">
            <a:extLst xmlns:a="http://schemas.openxmlformats.org/drawingml/2006/main">
              <a:ext uri="{FF2B5EF4-FFF2-40B4-BE49-F238E27FC236}">
                <a16:creationId xmlns:a16="http://schemas.microsoft.com/office/drawing/2014/main" id="{CD45A583-6B16-40E3-B6F3-8D38E9354DC5}"/>
              </a:ext>
            </a:extLst>
          </p:cNvPr>
          <p:cNvSpPr>
            <a:spLocks xmlns:a="http://schemas.openxmlformats.org/drawingml/2006/main" noGrp="1"/>
          </p:cNvSpPr>
          <p:nvPr/>
        </p:nvSpPr>
        <p:spPr>
          <a:xfrm xmlns:a="http://schemas.openxmlformats.org/drawingml/2006/main">
            <a:off x="4928616" y="5074920"/>
            <a:ext cx="5422392"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4E5A68"/>
                </a:solidFill>
                <a:latin typeface="Arial"/>
                <a:ea typeface="Arial"/>
                <a:cs typeface="Arial"/>
              </a:rPr>
              <a:t>Membership counts can repeat genes across contrasts; each contrast contributes one query.</a:t>
            </a:r>
          </a:p>
        </p:txBody>
      </p:sp>
    </p:spTree>
    <p:extLst>
      <p:ext uri="{BB962C8B-B14F-4D97-AF65-F5344CB8AC3E}">
        <p14:creationId xmlns:p14="http://schemas.microsoft.com/office/powerpoint/2010/main" val="1646963088"/>
      </p:ext>
    </p:extLst>
  </p:cSld>
</p:sld>
</file>

<file path=ppt/slides/slide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72F691C-43D8-4399-B191-59852569AB5A}"/>
              </a:ext>
            </a:extLst>
          </p:cNvPr>
          <p:cNvSpPr>
            <a:spLocks xmlns:a="http://schemas.openxmlformats.org/drawingml/2006/main" noGrp="1"/>
          </p:cNvSpPr>
          <p:nvPr/>
        </p:nvSpPr>
        <p:spPr>
          <a:xfrm xmlns:a="http://schemas.openxmlformats.org/drawingml/2006/main">
            <a:off x="530352" y="411480"/>
            <a:ext cx="10652760" cy="70173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a:solidFill>
                  <a:srgbClr val="0F233D"/>
                </a:solidFill>
                <a:latin typeface="Arial"/>
                <a:ea typeface="Arial"/>
                <a:cs typeface="Arial"/>
              </a:rPr>
              <a:t>ROSMAP KDA summary</a:t>
            </a:r>
            <a:r>
              <a:rPr sz="2100" b="1" i="0">
                <a:solidFill>
                  <a:srgbClr val="0F233D"/>
                </a:solidFill>
                <a:latin typeface="Arial"/>
                <a:ea typeface="Arial"/>
                <a:cs typeface="Arial"/>
              </a:rPr>
              <a:t>: 381 non-MT gene x category combinations represent 228 distinct genes</a:t>
            </a:r>
          </a:p>
        </p:txBody>
      </p:sp>
      <p:sp>
        <p:nvSpPr>
          <p:cNvPr id="5" name="Rounded Rectangle 4">
            <a:extLst xmlns:a="http://schemas.openxmlformats.org/drawingml/2006/main">
              <a:ext uri="{FF2B5EF4-FFF2-40B4-BE49-F238E27FC236}">
                <a16:creationId xmlns:a16="http://schemas.microsoft.com/office/drawing/2014/main" id="{5F8E1F0F-EC09-48D5-B3D5-CDE2A120B8ED}"/>
              </a:ext>
            </a:extLst>
          </p:cNvPr>
          <p:cNvSpPr>
            <a:spLocks xmlns:a="http://schemas.openxmlformats.org/drawingml/2006/main" noGrp="1"/>
          </p:cNvSpPr>
          <p:nvPr/>
        </p:nvSpPr>
        <p:spPr>
          <a:xfrm xmlns:a="http://schemas.openxmlformats.org/drawingml/2006/main">
            <a:off x="658368"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FCB72B2-40C8-4FFA-8C93-F91DEF5292C7}"/>
              </a:ext>
            </a:extLst>
          </p:cNvPr>
          <p:cNvSpPr>
            <a:spLocks xmlns:a="http://schemas.openxmlformats.org/drawingml/2006/main" noGrp="1"/>
          </p:cNvSpPr>
          <p:nvPr/>
        </p:nvSpPr>
        <p:spPr>
          <a:xfrm xmlns:a="http://schemas.openxmlformats.org/drawingml/2006/main">
            <a:off x="804672"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623</a:t>
            </a:r>
          </a:p>
        </p:txBody>
      </p:sp>
      <p:sp>
        <p:nvSpPr>
          <p:cNvPr id="7" name="TextBox 6">
            <a:extLst xmlns:a="http://schemas.openxmlformats.org/drawingml/2006/main">
              <a:ext uri="{FF2B5EF4-FFF2-40B4-BE49-F238E27FC236}">
                <a16:creationId xmlns:a16="http://schemas.microsoft.com/office/drawing/2014/main" id="{5F450053-A28A-4BA6-8887-B2E16530F34A}"/>
              </a:ext>
            </a:extLst>
          </p:cNvPr>
          <p:cNvSpPr>
            <a:spLocks xmlns:a="http://schemas.openxmlformats.org/drawingml/2006/main" noGrp="1"/>
          </p:cNvSpPr>
          <p:nvPr/>
        </p:nvSpPr>
        <p:spPr>
          <a:xfrm xmlns:a="http://schemas.openxmlformats.org/drawingml/2006/main">
            <a:off x="804672" y="1938528"/>
            <a:ext cx="1645920" cy="606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900" b="1">
                <a:solidFill>
                  <a:srgbClr val="4E5A68"/>
                </a:solidFill>
                <a:latin typeface="Arial"/>
                <a:ea typeface="Arial"/>
                <a:cs typeface="Arial"/>
              </a:rPr>
              <a:t>non-MT gene returned from call_key_driver (before aggregation)</a:t>
            </a:r>
          </a:p>
          <a:p xmlns:a="http://schemas.openxmlformats.org/drawingml/2006/main">
            <a:pPr algn="l">
              <a:lnSpc>
                <a:spcPct val="100000"/>
              </a:lnSpc>
              <a:spcBef>
                <a:spcPts val="0"/>
              </a:spcBef>
              <a:spcAft>
                <a:spcPts val="0"/>
              </a:spcAft>
              <a:buNone/>
            </a:pPr>
            <a:endParaRPr sz="880" b="1" i="0">
              <a:solidFill>
                <a:srgbClr val="4E5A68"/>
              </a:solidFill>
              <a:latin typeface="Arial"/>
              <a:ea typeface="Arial"/>
              <a:cs typeface="Arial"/>
            </a:endParaRPr>
          </a:p>
        </p:txBody>
      </p:sp>
      <p:sp>
        <p:nvSpPr>
          <p:cNvPr id="8" name="Rounded Rectangle 7">
            <a:extLst xmlns:a="http://schemas.openxmlformats.org/drawingml/2006/main">
              <a:ext uri="{FF2B5EF4-FFF2-40B4-BE49-F238E27FC236}">
                <a16:creationId xmlns:a16="http://schemas.microsoft.com/office/drawing/2014/main" id="{99981A44-1C12-4123-A49F-585412D7AFF7}"/>
              </a:ext>
            </a:extLst>
          </p:cNvPr>
          <p:cNvSpPr>
            <a:spLocks xmlns:a="http://schemas.openxmlformats.org/drawingml/2006/main" noGrp="1"/>
          </p:cNvSpPr>
          <p:nvPr/>
        </p:nvSpPr>
        <p:spPr>
          <a:xfrm xmlns:a="http://schemas.openxmlformats.org/drawingml/2006/main">
            <a:off x="2798064"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4EF7B2A-4954-49A6-9B47-51FCB9C085BD}"/>
              </a:ext>
            </a:extLst>
          </p:cNvPr>
          <p:cNvSpPr>
            <a:spLocks xmlns:a="http://schemas.openxmlformats.org/drawingml/2006/main" noGrp="1"/>
          </p:cNvSpPr>
          <p:nvPr/>
        </p:nvSpPr>
        <p:spPr>
          <a:xfrm xmlns:a="http://schemas.openxmlformats.org/drawingml/2006/main">
            <a:off x="2944368"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381</a:t>
            </a:r>
          </a:p>
        </p:txBody>
      </p:sp>
      <p:sp>
        <p:nvSpPr>
          <p:cNvPr id="10" name="TextBox 9">
            <a:extLst xmlns:a="http://schemas.openxmlformats.org/drawingml/2006/main">
              <a:ext uri="{FF2B5EF4-FFF2-40B4-BE49-F238E27FC236}">
                <a16:creationId xmlns:a16="http://schemas.microsoft.com/office/drawing/2014/main" id="{C3F09E70-D53D-401E-B7D5-721C2785CBEC}"/>
              </a:ext>
            </a:extLst>
          </p:cNvPr>
          <p:cNvSpPr>
            <a:spLocks xmlns:a="http://schemas.openxmlformats.org/drawingml/2006/main" noGrp="1"/>
          </p:cNvSpPr>
          <p:nvPr/>
        </p:nvSpPr>
        <p:spPr>
          <a:xfrm xmlns:a="http://schemas.openxmlformats.org/drawingml/2006/main">
            <a:off x="2944368" y="1938528"/>
            <a:ext cx="1645920"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non-MT gene × category combinations</a:t>
            </a:r>
          </a:p>
        </p:txBody>
      </p:sp>
      <p:sp>
        <p:nvSpPr>
          <p:cNvPr id="11" name="Rounded Rectangle 10">
            <a:extLst xmlns:a="http://schemas.openxmlformats.org/drawingml/2006/main">
              <a:ext uri="{FF2B5EF4-FFF2-40B4-BE49-F238E27FC236}">
                <a16:creationId xmlns:a16="http://schemas.microsoft.com/office/drawing/2014/main" id="{6689581A-ED20-4F0C-AA15-1AE5E7CB9D6F}"/>
              </a:ext>
            </a:extLst>
          </p:cNvPr>
          <p:cNvSpPr>
            <a:spLocks xmlns:a="http://schemas.openxmlformats.org/drawingml/2006/main" noGrp="1"/>
          </p:cNvSpPr>
          <p:nvPr/>
        </p:nvSpPr>
        <p:spPr>
          <a:xfrm xmlns:a="http://schemas.openxmlformats.org/drawingml/2006/main">
            <a:off x="4937760"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1E91F98-ED6C-4488-8DD7-E36F5B0AC9A7}"/>
              </a:ext>
            </a:extLst>
          </p:cNvPr>
          <p:cNvSpPr>
            <a:spLocks xmlns:a="http://schemas.openxmlformats.org/drawingml/2006/main" noGrp="1"/>
          </p:cNvSpPr>
          <p:nvPr/>
        </p:nvSpPr>
        <p:spPr>
          <a:xfrm xmlns:a="http://schemas.openxmlformats.org/drawingml/2006/main">
            <a:off x="5084064"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228</a:t>
            </a:r>
          </a:p>
        </p:txBody>
      </p:sp>
      <p:sp>
        <p:nvSpPr>
          <p:cNvPr id="13" name="TextBox 12">
            <a:extLst xmlns:a="http://schemas.openxmlformats.org/drawingml/2006/main">
              <a:ext uri="{FF2B5EF4-FFF2-40B4-BE49-F238E27FC236}">
                <a16:creationId xmlns:a16="http://schemas.microsoft.com/office/drawing/2014/main" id="{288C696D-CF39-4EF6-B4B8-3B8E29725F75}"/>
              </a:ext>
            </a:extLst>
          </p:cNvPr>
          <p:cNvSpPr>
            <a:spLocks xmlns:a="http://schemas.openxmlformats.org/drawingml/2006/main" noGrp="1"/>
          </p:cNvSpPr>
          <p:nvPr/>
        </p:nvSpPr>
        <p:spPr>
          <a:xfrm xmlns:a="http://schemas.openxmlformats.org/drawingml/2006/main">
            <a:off x="5084064"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4" name="Rounded Rectangle 13">
            <a:extLst xmlns:a="http://schemas.openxmlformats.org/drawingml/2006/main">
              <a:ext uri="{FF2B5EF4-FFF2-40B4-BE49-F238E27FC236}">
                <a16:creationId xmlns:a16="http://schemas.microsoft.com/office/drawing/2014/main" id="{B9655AB7-C84D-40BD-ADC4-9492EA67959C}"/>
              </a:ext>
            </a:extLst>
          </p:cNvPr>
          <p:cNvSpPr>
            <a:spLocks xmlns:a="http://schemas.openxmlformats.org/drawingml/2006/main" noGrp="1"/>
          </p:cNvSpPr>
          <p:nvPr/>
        </p:nvSpPr>
        <p:spPr>
          <a:xfrm xmlns:a="http://schemas.openxmlformats.org/drawingml/2006/main">
            <a:off x="7077456"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BE7D19B-D31A-47FF-B1E7-26E6AD0B4197}"/>
              </a:ext>
            </a:extLst>
          </p:cNvPr>
          <p:cNvSpPr>
            <a:spLocks xmlns:a="http://schemas.openxmlformats.org/drawingml/2006/main" noGrp="1"/>
          </p:cNvSpPr>
          <p:nvPr/>
        </p:nvSpPr>
        <p:spPr>
          <a:xfrm xmlns:a="http://schemas.openxmlformats.org/drawingml/2006/main">
            <a:off x="7223760"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29</a:t>
            </a:r>
          </a:p>
        </p:txBody>
      </p:sp>
      <p:sp>
        <p:nvSpPr>
          <p:cNvPr id="16" name="TextBox 15">
            <a:extLst xmlns:a="http://schemas.openxmlformats.org/drawingml/2006/main">
              <a:ext uri="{FF2B5EF4-FFF2-40B4-BE49-F238E27FC236}">
                <a16:creationId xmlns:a16="http://schemas.microsoft.com/office/drawing/2014/main" id="{EB178ADB-DEA9-456E-BBF6-22D358F15D49}"/>
              </a:ext>
            </a:extLst>
          </p:cNvPr>
          <p:cNvSpPr>
            <a:spLocks xmlns:a="http://schemas.openxmlformats.org/drawingml/2006/main" noGrp="1"/>
          </p:cNvSpPr>
          <p:nvPr/>
        </p:nvSpPr>
        <p:spPr>
          <a:xfrm xmlns:a="http://schemas.openxmlformats.org/drawingml/2006/main">
            <a:off x="7223760"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categories with non-MT returns</a:t>
            </a:r>
          </a:p>
        </p:txBody>
      </p:sp>
      <p:sp>
        <p:nvSpPr>
          <p:cNvPr id="17" name="Rounded Rectangle 16">
            <a:extLst xmlns:a="http://schemas.openxmlformats.org/drawingml/2006/main">
              <a:ext uri="{FF2B5EF4-FFF2-40B4-BE49-F238E27FC236}">
                <a16:creationId xmlns:a16="http://schemas.microsoft.com/office/drawing/2014/main" id="{2BBA2494-4EF1-43C4-90F3-59BDAF9D9BEB}"/>
              </a:ext>
            </a:extLst>
          </p:cNvPr>
          <p:cNvSpPr>
            <a:spLocks xmlns:a="http://schemas.openxmlformats.org/drawingml/2006/main" noGrp="1"/>
          </p:cNvSpPr>
          <p:nvPr/>
        </p:nvSpPr>
        <p:spPr>
          <a:xfrm xmlns:a="http://schemas.openxmlformats.org/drawingml/2006/main">
            <a:off x="9217152"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4E22C672-9FA5-42B0-8258-3B27F10D6A07}"/>
              </a:ext>
            </a:extLst>
          </p:cNvPr>
          <p:cNvSpPr>
            <a:spLocks xmlns:a="http://schemas.openxmlformats.org/drawingml/2006/main" noGrp="1"/>
          </p:cNvSpPr>
          <p:nvPr/>
        </p:nvSpPr>
        <p:spPr>
          <a:xfrm xmlns:a="http://schemas.openxmlformats.org/drawingml/2006/main">
            <a:off x="9363456"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895600"/>
                </a:solidFill>
                <a:latin typeface="Arial"/>
                <a:ea typeface="Arial"/>
                <a:cs typeface="Arial"/>
              </a:rPr>
              <a:t>123</a:t>
            </a:r>
          </a:p>
        </p:txBody>
      </p:sp>
      <p:sp>
        <p:nvSpPr>
          <p:cNvPr id="19" name="TextBox 18">
            <a:extLst xmlns:a="http://schemas.openxmlformats.org/drawingml/2006/main">
              <a:ext uri="{FF2B5EF4-FFF2-40B4-BE49-F238E27FC236}">
                <a16:creationId xmlns:a16="http://schemas.microsoft.com/office/drawing/2014/main" id="{E52876D5-BB9F-4E3C-9AD5-0233BA13CE45}"/>
              </a:ext>
            </a:extLst>
          </p:cNvPr>
          <p:cNvSpPr>
            <a:spLocks xmlns:a="http://schemas.openxmlformats.org/drawingml/2006/main" noGrp="1"/>
          </p:cNvSpPr>
          <p:nvPr/>
        </p:nvSpPr>
        <p:spPr>
          <a:xfrm xmlns:a="http://schemas.openxmlformats.org/drawingml/2006/main">
            <a:off x="9363456"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20" name="Rounded Rectangle 19">
            <a:extLst xmlns:a="http://schemas.openxmlformats.org/drawingml/2006/main">
              <a:ext uri="{FF2B5EF4-FFF2-40B4-BE49-F238E27FC236}">
                <a16:creationId xmlns:a16="http://schemas.microsoft.com/office/drawing/2014/main" id="{6344C532-B670-480E-A4EC-1C16491D7C61}"/>
              </a:ext>
            </a:extLst>
          </p:cNvPr>
          <p:cNvSpPr>
            <a:spLocks xmlns:a="http://schemas.openxmlformats.org/drawingml/2006/main" noGrp="1"/>
          </p:cNvSpPr>
          <p:nvPr/>
        </p:nvSpPr>
        <p:spPr>
          <a:xfrm xmlns:a="http://schemas.openxmlformats.org/drawingml/2006/main">
            <a:off x="658368" y="2871216"/>
            <a:ext cx="5266944" cy="2834640"/>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Rectangle 20">
            <a:extLst xmlns:a="http://schemas.openxmlformats.org/drawingml/2006/main">
              <a:ext uri="{FF2B5EF4-FFF2-40B4-BE49-F238E27FC236}">
                <a16:creationId xmlns:a16="http://schemas.microsoft.com/office/drawing/2014/main" id="{39C60D81-49EF-488F-AA35-9B23234333DB}"/>
              </a:ext>
            </a:extLst>
          </p:cNvPr>
          <p:cNvSpPr>
            <a:spLocks xmlns:a="http://schemas.openxmlformats.org/drawingml/2006/main" noGrp="1"/>
          </p:cNvSpPr>
          <p:nvPr/>
        </p:nvSpPr>
        <p:spPr>
          <a:xfrm xmlns:a="http://schemas.openxmlformats.org/drawingml/2006/main">
            <a:off x="932688" y="319125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BAE0462A-9ED8-4454-A164-28B033EF2A53}"/>
              </a:ext>
            </a:extLst>
          </p:cNvPr>
          <p:cNvSpPr>
            <a:spLocks xmlns:a="http://schemas.openxmlformats.org/drawingml/2006/main" noGrp="1"/>
          </p:cNvSpPr>
          <p:nvPr/>
        </p:nvSpPr>
        <p:spPr>
          <a:xfrm xmlns:a="http://schemas.openxmlformats.org/drawingml/2006/main">
            <a:off x="1078992" y="3163824"/>
            <a:ext cx="4572000"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Where non-MT driver units occur</a:t>
            </a:r>
          </a:p>
        </p:txBody>
      </p:sp>
      <p:sp>
        <p:nvSpPr>
          <p:cNvPr id="23" name="TextBox 22">
            <a:extLst xmlns:a="http://schemas.openxmlformats.org/drawingml/2006/main">
              <a:ext uri="{FF2B5EF4-FFF2-40B4-BE49-F238E27FC236}">
                <a16:creationId xmlns:a16="http://schemas.microsoft.com/office/drawing/2014/main" id="{541E13B5-4E6A-402C-A5DA-1B27BA3AA5DD}"/>
              </a:ext>
            </a:extLst>
          </p:cNvPr>
          <p:cNvSpPr>
            <a:spLocks xmlns:a="http://schemas.openxmlformats.org/drawingml/2006/main" noGrp="1"/>
          </p:cNvSpPr>
          <p:nvPr/>
        </p:nvSpPr>
        <p:spPr>
          <a:xfrm xmlns:a="http://schemas.openxmlformats.org/drawingml/2006/main">
            <a:off x="941832" y="3685032"/>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By sex/APOE group</a:t>
            </a:r>
          </a:p>
        </p:txBody>
      </p:sp>
      <p:sp>
        <p:nvSpPr>
          <p:cNvPr id="24" name="TextBox 23">
            <a:extLst xmlns:a="http://schemas.openxmlformats.org/drawingml/2006/main">
              <a:ext uri="{FF2B5EF4-FFF2-40B4-BE49-F238E27FC236}">
                <a16:creationId xmlns:a16="http://schemas.microsoft.com/office/drawing/2014/main" id="{F3960DED-7D97-470A-9484-45F765CC75AC}"/>
              </a:ext>
            </a:extLst>
          </p:cNvPr>
          <p:cNvSpPr>
            <a:spLocks xmlns:a="http://schemas.openxmlformats.org/drawingml/2006/main" noGrp="1"/>
          </p:cNvSpPr>
          <p:nvPr/>
        </p:nvSpPr>
        <p:spPr>
          <a:xfrm xmlns:a="http://schemas.openxmlformats.org/drawingml/2006/main">
            <a:off x="941832" y="4023360"/>
            <a:ext cx="4544568"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1" i="0">
                <a:solidFill>
                  <a:srgbClr val="0F233D"/>
                </a:solidFill>
                <a:latin typeface="Arial"/>
                <a:ea typeface="Arial"/>
                <a:cs typeface="Arial"/>
              </a:rPr>
              <a:t>F_e4 81 • M_e33 79 • M_e2 70
F_e33 56 • F_e2 54 • M_e4 41</a:t>
            </a:r>
          </a:p>
        </p:txBody>
      </p:sp>
      <p:sp>
        <p:nvSpPr>
          <p:cNvPr id="25" name="TextBox 24">
            <a:extLst xmlns:a="http://schemas.openxmlformats.org/drawingml/2006/main">
              <a:ext uri="{FF2B5EF4-FFF2-40B4-BE49-F238E27FC236}">
                <a16:creationId xmlns:a16="http://schemas.microsoft.com/office/drawing/2014/main" id="{8B75E5CD-75EB-4449-B32E-D12075F51E15}"/>
              </a:ext>
            </a:extLst>
          </p:cNvPr>
          <p:cNvSpPr>
            <a:spLocks xmlns:a="http://schemas.openxmlformats.org/drawingml/2006/main" noGrp="1"/>
          </p:cNvSpPr>
          <p:nvPr/>
        </p:nvSpPr>
        <p:spPr>
          <a:xfrm xmlns:a="http://schemas.openxmlformats.org/drawingml/2006/main">
            <a:off x="941832" y="4718304"/>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By broad network</a:t>
            </a:r>
          </a:p>
        </p:txBody>
      </p:sp>
      <p:sp>
        <p:nvSpPr>
          <p:cNvPr id="26" name="TextBox 25">
            <a:extLst xmlns:a="http://schemas.openxmlformats.org/drawingml/2006/main">
              <a:ext uri="{FF2B5EF4-FFF2-40B4-BE49-F238E27FC236}">
                <a16:creationId xmlns:a16="http://schemas.microsoft.com/office/drawing/2014/main" id="{A3609D55-F968-46EF-BBC1-BE9FE71580C8}"/>
              </a:ext>
            </a:extLst>
          </p:cNvPr>
          <p:cNvSpPr>
            <a:spLocks xmlns:a="http://schemas.openxmlformats.org/drawingml/2006/main" noGrp="1"/>
          </p:cNvSpPr>
          <p:nvPr/>
        </p:nvSpPr>
        <p:spPr>
          <a:xfrm xmlns:a="http://schemas.openxmlformats.org/drawingml/2006/main">
            <a:off x="941832" y="5010912"/>
            <a:ext cx="454456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30" b="1" i="0">
                <a:solidFill>
                  <a:srgbClr val="0F233D"/>
                </a:solidFill>
                <a:latin typeface="Arial"/>
                <a:ea typeface="Arial"/>
                <a:cs typeface="Arial"/>
              </a:rPr>
              <a:t>Excitatory 153 • Inhibitory 146 • Astrocytes 32 • OPCs 21
Oligo 18 • Vasculature 6 • Microglia 5</a:t>
            </a:r>
          </a:p>
        </p:txBody>
      </p:sp>
      <p:sp>
        <p:nvSpPr>
          <p:cNvPr id="27" name="Rounded Rectangle 26">
            <a:extLst xmlns:a="http://schemas.openxmlformats.org/drawingml/2006/main">
              <a:ext uri="{FF2B5EF4-FFF2-40B4-BE49-F238E27FC236}">
                <a16:creationId xmlns:a16="http://schemas.microsoft.com/office/drawing/2014/main" id="{47D4805F-D784-4954-A1BD-31BEE9FA297D}"/>
              </a:ext>
            </a:extLst>
          </p:cNvPr>
          <p:cNvSpPr>
            <a:spLocks xmlns:a="http://schemas.openxmlformats.org/drawingml/2006/main" noGrp="1"/>
          </p:cNvSpPr>
          <p:nvPr/>
        </p:nvSpPr>
        <p:spPr>
          <a:xfrm xmlns:a="http://schemas.openxmlformats.org/drawingml/2006/main">
            <a:off x="6181344" y="2871216"/>
            <a:ext cx="5010912" cy="283464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Rectangle 27">
            <a:extLst xmlns:a="http://schemas.openxmlformats.org/drawingml/2006/main">
              <a:ext uri="{FF2B5EF4-FFF2-40B4-BE49-F238E27FC236}">
                <a16:creationId xmlns:a16="http://schemas.microsoft.com/office/drawing/2014/main" id="{5BCC4F7E-85B8-4D41-944E-15A4307874F6}"/>
              </a:ext>
            </a:extLst>
          </p:cNvPr>
          <p:cNvSpPr>
            <a:spLocks xmlns:a="http://schemas.openxmlformats.org/drawingml/2006/main" noGrp="1"/>
          </p:cNvSpPr>
          <p:nvPr/>
        </p:nvSpPr>
        <p:spPr>
          <a:xfrm xmlns:a="http://schemas.openxmlformats.org/drawingml/2006/main">
            <a:off x="6455664" y="319125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46AE0B48-62D3-4E26-B2E4-CF01DD1AC486}"/>
              </a:ext>
            </a:extLst>
          </p:cNvPr>
          <p:cNvSpPr>
            <a:spLocks xmlns:a="http://schemas.openxmlformats.org/drawingml/2006/main" noGrp="1"/>
          </p:cNvSpPr>
          <p:nvPr/>
        </p:nvSpPr>
        <p:spPr>
          <a:xfrm xmlns:a="http://schemas.openxmlformats.org/drawingml/2006/main">
            <a:off x="6601968" y="3163824"/>
            <a:ext cx="4315968"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Most recurrent genes</a:t>
            </a:r>
          </a:p>
        </p:txBody>
      </p:sp>
      <p:sp>
        <p:nvSpPr>
          <p:cNvPr id="30" name="TextBox 29">
            <a:extLst xmlns:a="http://schemas.openxmlformats.org/drawingml/2006/main">
              <a:ext uri="{FF2B5EF4-FFF2-40B4-BE49-F238E27FC236}">
                <a16:creationId xmlns:a16="http://schemas.microsoft.com/office/drawing/2014/main" id="{636EEA92-F41C-4FF9-A923-6729FC705521}"/>
              </a:ext>
            </a:extLst>
          </p:cNvPr>
          <p:cNvSpPr>
            <a:spLocks xmlns:a="http://schemas.openxmlformats.org/drawingml/2006/main" noGrp="1"/>
          </p:cNvSpPr>
          <p:nvPr/>
        </p:nvSpPr>
        <p:spPr>
          <a:xfrm xmlns:a="http://schemas.openxmlformats.org/drawingml/2006/main">
            <a:off x="6473952" y="3675887"/>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RPS15</a:t>
            </a:r>
          </a:p>
        </p:txBody>
      </p:sp>
      <p:sp>
        <p:nvSpPr>
          <p:cNvPr id="31" name="Rectangle 30">
            <a:extLst xmlns:a="http://schemas.openxmlformats.org/drawingml/2006/main">
              <a:ext uri="{FF2B5EF4-FFF2-40B4-BE49-F238E27FC236}">
                <a16:creationId xmlns:a16="http://schemas.microsoft.com/office/drawing/2014/main" id="{DEF75826-B228-41E5-91FF-42A57C002E40}"/>
              </a:ext>
            </a:extLst>
          </p:cNvPr>
          <p:cNvSpPr>
            <a:spLocks xmlns:a="http://schemas.openxmlformats.org/drawingml/2006/main" noGrp="1"/>
          </p:cNvSpPr>
          <p:nvPr/>
        </p:nvSpPr>
        <p:spPr>
          <a:xfrm xmlns:a="http://schemas.openxmlformats.org/drawingml/2006/main">
            <a:off x="7891272" y="3703320"/>
            <a:ext cx="2395728"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8A307577-F80F-46C4-8C7B-0F7979026918}"/>
              </a:ext>
            </a:extLst>
          </p:cNvPr>
          <p:cNvSpPr>
            <a:spLocks xmlns:a="http://schemas.openxmlformats.org/drawingml/2006/main" noGrp="1"/>
          </p:cNvSpPr>
          <p:nvPr/>
        </p:nvSpPr>
        <p:spPr>
          <a:xfrm xmlns:a="http://schemas.openxmlformats.org/drawingml/2006/main">
            <a:off x="10442448" y="3675887"/>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11</a:t>
            </a:r>
          </a:p>
        </p:txBody>
      </p:sp>
      <p:sp>
        <p:nvSpPr>
          <p:cNvPr id="33" name="TextBox 32">
            <a:extLst xmlns:a="http://schemas.openxmlformats.org/drawingml/2006/main">
              <a:ext uri="{FF2B5EF4-FFF2-40B4-BE49-F238E27FC236}">
                <a16:creationId xmlns:a16="http://schemas.microsoft.com/office/drawing/2014/main" id="{1FE6CB5A-A943-4A0E-96BC-A846C6227B91}"/>
              </a:ext>
            </a:extLst>
          </p:cNvPr>
          <p:cNvSpPr>
            <a:spLocks xmlns:a="http://schemas.openxmlformats.org/drawingml/2006/main" noGrp="1"/>
          </p:cNvSpPr>
          <p:nvPr/>
        </p:nvSpPr>
        <p:spPr>
          <a:xfrm xmlns:a="http://schemas.openxmlformats.org/drawingml/2006/main">
            <a:off x="6473952" y="3968496"/>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RPL11</a:t>
            </a:r>
          </a:p>
        </p:txBody>
      </p:sp>
      <p:sp>
        <p:nvSpPr>
          <p:cNvPr id="34" name="Rectangle 33">
            <a:extLst xmlns:a="http://schemas.openxmlformats.org/drawingml/2006/main">
              <a:ext uri="{FF2B5EF4-FFF2-40B4-BE49-F238E27FC236}">
                <a16:creationId xmlns:a16="http://schemas.microsoft.com/office/drawing/2014/main" id="{DB34BC49-2FF9-4221-B17C-1D5EE03703CC}"/>
              </a:ext>
            </a:extLst>
          </p:cNvPr>
          <p:cNvSpPr>
            <a:spLocks xmlns:a="http://schemas.openxmlformats.org/drawingml/2006/main" noGrp="1"/>
          </p:cNvSpPr>
          <p:nvPr/>
        </p:nvSpPr>
        <p:spPr>
          <a:xfrm xmlns:a="http://schemas.openxmlformats.org/drawingml/2006/main">
            <a:off x="7891272" y="3995928"/>
            <a:ext cx="2177934"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7D89DA8B-6223-4B22-9B22-27979EC32E5A}"/>
              </a:ext>
            </a:extLst>
          </p:cNvPr>
          <p:cNvSpPr>
            <a:spLocks xmlns:a="http://schemas.openxmlformats.org/drawingml/2006/main" noGrp="1"/>
          </p:cNvSpPr>
          <p:nvPr/>
        </p:nvSpPr>
        <p:spPr>
          <a:xfrm xmlns:a="http://schemas.openxmlformats.org/drawingml/2006/main">
            <a:off x="10442448" y="3968496"/>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10</a:t>
            </a:r>
          </a:p>
        </p:txBody>
      </p:sp>
      <p:sp>
        <p:nvSpPr>
          <p:cNvPr id="36" name="TextBox 35">
            <a:extLst xmlns:a="http://schemas.openxmlformats.org/drawingml/2006/main">
              <a:ext uri="{FF2B5EF4-FFF2-40B4-BE49-F238E27FC236}">
                <a16:creationId xmlns:a16="http://schemas.microsoft.com/office/drawing/2014/main" id="{B9783288-FA8E-4083-980C-E5682BED9CBB}"/>
              </a:ext>
            </a:extLst>
          </p:cNvPr>
          <p:cNvSpPr>
            <a:spLocks xmlns:a="http://schemas.openxmlformats.org/drawingml/2006/main" noGrp="1"/>
          </p:cNvSpPr>
          <p:nvPr/>
        </p:nvSpPr>
        <p:spPr>
          <a:xfrm xmlns:a="http://schemas.openxmlformats.org/drawingml/2006/main">
            <a:off x="6473952" y="4261103"/>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RPLP1</a:t>
            </a:r>
          </a:p>
        </p:txBody>
      </p:sp>
      <p:sp>
        <p:nvSpPr>
          <p:cNvPr id="37" name="Rectangle 36">
            <a:extLst xmlns:a="http://schemas.openxmlformats.org/drawingml/2006/main">
              <a:ext uri="{FF2B5EF4-FFF2-40B4-BE49-F238E27FC236}">
                <a16:creationId xmlns:a16="http://schemas.microsoft.com/office/drawing/2014/main" id="{860394BE-0508-4B60-93FD-518C22F4517D}"/>
              </a:ext>
            </a:extLst>
          </p:cNvPr>
          <p:cNvSpPr>
            <a:spLocks xmlns:a="http://schemas.openxmlformats.org/drawingml/2006/main" noGrp="1"/>
          </p:cNvSpPr>
          <p:nvPr/>
        </p:nvSpPr>
        <p:spPr>
          <a:xfrm xmlns:a="http://schemas.openxmlformats.org/drawingml/2006/main">
            <a:off x="7891272" y="4288536"/>
            <a:ext cx="1742347"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B2902C57-197B-4C3D-B183-C47ACEDC3831}"/>
              </a:ext>
            </a:extLst>
          </p:cNvPr>
          <p:cNvSpPr>
            <a:spLocks xmlns:a="http://schemas.openxmlformats.org/drawingml/2006/main" noGrp="1"/>
          </p:cNvSpPr>
          <p:nvPr/>
        </p:nvSpPr>
        <p:spPr>
          <a:xfrm xmlns:a="http://schemas.openxmlformats.org/drawingml/2006/main">
            <a:off x="10442448" y="4261103"/>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8</a:t>
            </a:r>
          </a:p>
        </p:txBody>
      </p:sp>
      <p:sp>
        <p:nvSpPr>
          <p:cNvPr id="39" name="TextBox 38">
            <a:extLst xmlns:a="http://schemas.openxmlformats.org/drawingml/2006/main">
              <a:ext uri="{FF2B5EF4-FFF2-40B4-BE49-F238E27FC236}">
                <a16:creationId xmlns:a16="http://schemas.microsoft.com/office/drawing/2014/main" id="{B893E2FF-040D-4C59-9844-FC37A83293A3}"/>
              </a:ext>
            </a:extLst>
          </p:cNvPr>
          <p:cNvSpPr>
            <a:spLocks xmlns:a="http://schemas.openxmlformats.org/drawingml/2006/main" noGrp="1"/>
          </p:cNvSpPr>
          <p:nvPr/>
        </p:nvSpPr>
        <p:spPr>
          <a:xfrm xmlns:a="http://schemas.openxmlformats.org/drawingml/2006/main">
            <a:off x="6473952" y="4553712"/>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RPL15</a:t>
            </a:r>
          </a:p>
        </p:txBody>
      </p:sp>
      <p:sp>
        <p:nvSpPr>
          <p:cNvPr id="40" name="Rectangle 39">
            <a:extLst xmlns:a="http://schemas.openxmlformats.org/drawingml/2006/main">
              <a:ext uri="{FF2B5EF4-FFF2-40B4-BE49-F238E27FC236}">
                <a16:creationId xmlns:a16="http://schemas.microsoft.com/office/drawing/2014/main" id="{A765CF75-CFC2-4AF8-BD8A-B53EDBF271F8}"/>
              </a:ext>
            </a:extLst>
          </p:cNvPr>
          <p:cNvSpPr>
            <a:spLocks xmlns:a="http://schemas.openxmlformats.org/drawingml/2006/main" noGrp="1"/>
          </p:cNvSpPr>
          <p:nvPr/>
        </p:nvSpPr>
        <p:spPr>
          <a:xfrm xmlns:a="http://schemas.openxmlformats.org/drawingml/2006/main">
            <a:off x="7891272" y="4581144"/>
            <a:ext cx="1524554"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76F8F2DF-CA1B-42CC-9A73-753A938A556D}"/>
              </a:ext>
            </a:extLst>
          </p:cNvPr>
          <p:cNvSpPr>
            <a:spLocks xmlns:a="http://schemas.openxmlformats.org/drawingml/2006/main" noGrp="1"/>
          </p:cNvSpPr>
          <p:nvPr/>
        </p:nvSpPr>
        <p:spPr>
          <a:xfrm xmlns:a="http://schemas.openxmlformats.org/drawingml/2006/main">
            <a:off x="10442448" y="4553712"/>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2" name="TextBox 41">
            <a:extLst xmlns:a="http://schemas.openxmlformats.org/drawingml/2006/main">
              <a:ext uri="{FF2B5EF4-FFF2-40B4-BE49-F238E27FC236}">
                <a16:creationId xmlns:a16="http://schemas.microsoft.com/office/drawing/2014/main" id="{C612AC7A-D16F-4870-94FC-8A17EAFC29D9}"/>
              </a:ext>
            </a:extLst>
          </p:cNvPr>
          <p:cNvSpPr>
            <a:spLocks xmlns:a="http://schemas.openxmlformats.org/drawingml/2006/main" noGrp="1"/>
          </p:cNvSpPr>
          <p:nvPr/>
        </p:nvSpPr>
        <p:spPr>
          <a:xfrm xmlns:a="http://schemas.openxmlformats.org/drawingml/2006/main">
            <a:off x="6473952" y="4846320"/>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SELENOM</a:t>
            </a:r>
          </a:p>
        </p:txBody>
      </p:sp>
      <p:sp>
        <p:nvSpPr>
          <p:cNvPr id="43" name="Rectangle 42">
            <a:extLst xmlns:a="http://schemas.openxmlformats.org/drawingml/2006/main">
              <a:ext uri="{FF2B5EF4-FFF2-40B4-BE49-F238E27FC236}">
                <a16:creationId xmlns:a16="http://schemas.microsoft.com/office/drawing/2014/main" id="{D2AD86A1-F340-4B14-A0FC-623E225596BF}"/>
              </a:ext>
            </a:extLst>
          </p:cNvPr>
          <p:cNvSpPr>
            <a:spLocks xmlns:a="http://schemas.openxmlformats.org/drawingml/2006/main" noGrp="1"/>
          </p:cNvSpPr>
          <p:nvPr/>
        </p:nvSpPr>
        <p:spPr>
          <a:xfrm xmlns:a="http://schemas.openxmlformats.org/drawingml/2006/main">
            <a:off x="7891272" y="4873752"/>
            <a:ext cx="1524554"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4" name="TextBox 43">
            <a:extLst xmlns:a="http://schemas.openxmlformats.org/drawingml/2006/main">
              <a:ext uri="{FF2B5EF4-FFF2-40B4-BE49-F238E27FC236}">
                <a16:creationId xmlns:a16="http://schemas.microsoft.com/office/drawing/2014/main" id="{9B477462-606B-48D9-8DA8-22B3E45C662C}"/>
              </a:ext>
            </a:extLst>
          </p:cNvPr>
          <p:cNvSpPr>
            <a:spLocks xmlns:a="http://schemas.openxmlformats.org/drawingml/2006/main" noGrp="1"/>
          </p:cNvSpPr>
          <p:nvPr/>
        </p:nvSpPr>
        <p:spPr>
          <a:xfrm xmlns:a="http://schemas.openxmlformats.org/drawingml/2006/main">
            <a:off x="10442448" y="4846320"/>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7</a:t>
            </a:r>
          </a:p>
        </p:txBody>
      </p:sp>
      <p:sp>
        <p:nvSpPr>
          <p:cNvPr id="45" name="TextBox 44">
            <a:extLst xmlns:a="http://schemas.openxmlformats.org/drawingml/2006/main">
              <a:ext uri="{FF2B5EF4-FFF2-40B4-BE49-F238E27FC236}">
                <a16:creationId xmlns:a16="http://schemas.microsoft.com/office/drawing/2014/main" id="{3D215224-4931-41F6-8127-BFB85EC1146D}"/>
              </a:ext>
            </a:extLst>
          </p:cNvPr>
          <p:cNvSpPr>
            <a:spLocks xmlns:a="http://schemas.openxmlformats.org/drawingml/2006/main" noGrp="1"/>
          </p:cNvSpPr>
          <p:nvPr/>
        </p:nvSpPr>
        <p:spPr>
          <a:xfrm xmlns:a="http://schemas.openxmlformats.org/drawingml/2006/main">
            <a:off x="6473952" y="5138927"/>
            <a:ext cx="1298448"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SELENOW</a:t>
            </a:r>
          </a:p>
        </p:txBody>
      </p:sp>
      <p:sp>
        <p:nvSpPr>
          <p:cNvPr id="46" name="Rectangle 45">
            <a:extLst xmlns:a="http://schemas.openxmlformats.org/drawingml/2006/main">
              <a:ext uri="{FF2B5EF4-FFF2-40B4-BE49-F238E27FC236}">
                <a16:creationId xmlns:a16="http://schemas.microsoft.com/office/drawing/2014/main" id="{2E6D6079-43B0-468C-8BD6-C0FB33E5F229}"/>
              </a:ext>
            </a:extLst>
          </p:cNvPr>
          <p:cNvSpPr>
            <a:spLocks xmlns:a="http://schemas.openxmlformats.org/drawingml/2006/main" noGrp="1"/>
          </p:cNvSpPr>
          <p:nvPr/>
        </p:nvSpPr>
        <p:spPr>
          <a:xfrm xmlns:a="http://schemas.openxmlformats.org/drawingml/2006/main">
            <a:off x="7891272" y="5166359"/>
            <a:ext cx="1306760" cy="14630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BFCF83AE-E576-4AC6-B8B3-207260CA5A97}"/>
              </a:ext>
            </a:extLst>
          </p:cNvPr>
          <p:cNvSpPr>
            <a:spLocks xmlns:a="http://schemas.openxmlformats.org/drawingml/2006/main" noGrp="1"/>
          </p:cNvSpPr>
          <p:nvPr/>
        </p:nvSpPr>
        <p:spPr>
          <a:xfrm xmlns:a="http://schemas.openxmlformats.org/drawingml/2006/main">
            <a:off x="10442448" y="5138927"/>
            <a:ext cx="320040" cy="2011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009E73"/>
                </a:solidFill>
                <a:latin typeface="Arial"/>
                <a:ea typeface="Arial"/>
                <a:cs typeface="Arial"/>
              </a:rPr>
              <a:t>6</a:t>
            </a:r>
          </a:p>
        </p:txBody>
      </p:sp>
      <p:sp>
        <p:nvSpPr>
          <p:cNvPr id="48" name="TextBox 47">
            <a:extLst xmlns:a="http://schemas.openxmlformats.org/drawingml/2006/main">
              <a:ext uri="{FF2B5EF4-FFF2-40B4-BE49-F238E27FC236}">
                <a16:creationId xmlns:a16="http://schemas.microsoft.com/office/drawing/2014/main" id="{1E742D18-C756-4BE3-951D-E47E47DE4E04}"/>
              </a:ext>
            </a:extLst>
          </p:cNvPr>
          <p:cNvSpPr>
            <a:spLocks xmlns:a="http://schemas.openxmlformats.org/drawingml/2006/main" noGrp="1"/>
          </p:cNvSpPr>
          <p:nvPr/>
        </p:nvSpPr>
        <p:spPr>
          <a:xfrm xmlns:a="http://schemas.openxmlformats.org/drawingml/2006/main">
            <a:off x="6473952" y="5477256"/>
            <a:ext cx="4334256"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869" b="0" i="1">
                <a:solidFill>
                  <a:srgbClr val="4E5A68"/>
                </a:solidFill>
                <a:latin typeface="Arial"/>
                <a:ea typeface="Arial"/>
                <a:cs typeface="Arial"/>
              </a:rPr>
              <a:t>Counts are category presence—not independent replication or call counts.</a:t>
            </a:r>
          </a:p>
        </p:txBody>
      </p:sp>
    </p:spTree>
    <p:extLst>
      <p:ext uri="{BB962C8B-B14F-4D97-AF65-F5344CB8AC3E}">
        <p14:creationId xmlns:p14="http://schemas.microsoft.com/office/powerpoint/2010/main" val="1344629618"/>
      </p:ext>
    </p:extLst>
  </p:cSld>
</p:sld>
</file>

<file path=ppt/slides/slide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E80D5145-8B7B-4D85-AB27-CA73D0EC15A0}"/>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RPS15 recurs across 11 returned-only categories</a:t>
            </a:r>
          </a:p>
        </p:txBody>
      </p:sp>
      <p:sp>
        <p:nvSpPr>
          <p:cNvPr id="4" name="TextBox 3">
            <a:extLst xmlns:a="http://schemas.openxmlformats.org/drawingml/2006/main">
              <a:ext uri="{FF2B5EF4-FFF2-40B4-BE49-F238E27FC236}">
                <a16:creationId xmlns:a16="http://schemas.microsoft.com/office/drawing/2014/main" id="{E09643F1-0DF0-4E7A-905C-7A370D90D80A}"/>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5" name="Rounded Rectangle 4">
            <a:extLst xmlns:a="http://schemas.openxmlformats.org/drawingml/2006/main">
              <a:ext uri="{FF2B5EF4-FFF2-40B4-BE49-F238E27FC236}">
                <a16:creationId xmlns:a16="http://schemas.microsoft.com/office/drawing/2014/main" id="{326A8434-79BA-4E7F-86B9-4CC737E0D66C}"/>
              </a:ext>
            </a:extLst>
          </p:cNvPr>
          <p:cNvSpPr>
            <a:spLocks xmlns:a="http://schemas.openxmlformats.org/drawingml/2006/main" noGrp="1"/>
          </p:cNvSpPr>
          <p:nvPr/>
        </p:nvSpPr>
        <p:spPr>
          <a:xfrm xmlns:a="http://schemas.openxmlformats.org/drawingml/2006/main">
            <a:off x="429768" y="1161288"/>
            <a:ext cx="6547104" cy="49377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2" name="Uniform-blue bar chart of the twenty ROSMAP non-MT genes appearing in the most sex/APOE by broad-cell categories"/>
          <p:cNvPicPr>
            <a:picLocks xmlns:a="http://schemas.openxmlformats.org/drawingml/2006/main" noChangeAspect="1"/>
          </p:cNvPicPr>
          <p:nvPr/>
        </p:nvPicPr>
        <p:blipFill>
          <a:blip xmlns:r="http://schemas.openxmlformats.org/officeDocument/2006/relationships" xmlns:a="http://schemas.openxmlformats.org/drawingml/2006/main" r:embed="Rcfd5192ad2564c45"/>
          <a:stretch xmlns:a="http://schemas.openxmlformats.org/drawingml/2006/main">
            <a:fillRect l="0" t="0" r="0" b="0"/>
          </a:stretch>
        </p:blipFill>
        <p:spPr>
          <a:xfrm xmlns:a="http://schemas.openxmlformats.org/drawingml/2006/main">
            <a:off x="996696" y="1252728"/>
            <a:ext cx="5413248" cy="4736592"/>
          </a:xfrm>
          <a:prstGeom xmlns:a="http://schemas.openxmlformats.org/drawingml/2006/main" prst="rect">
            <a:avLst/>
          </a:prstGeom>
        </p:spPr>
      </p:pic>
      <p:sp>
        <p:nvSpPr>
          <p:cNvPr id="7" name="Rounded Rectangle 6">
            <a:extLst xmlns:a="http://schemas.openxmlformats.org/drawingml/2006/main">
              <a:ext uri="{FF2B5EF4-FFF2-40B4-BE49-F238E27FC236}">
                <a16:creationId xmlns:a16="http://schemas.microsoft.com/office/drawing/2014/main" id="{568B3E97-0DA5-4527-8636-19A50D6F2A3D}"/>
              </a:ext>
            </a:extLst>
          </p:cNvPr>
          <p:cNvSpPr>
            <a:spLocks xmlns:a="http://schemas.openxmlformats.org/drawingml/2006/main" noGrp="1"/>
          </p:cNvSpPr>
          <p:nvPr/>
        </p:nvSpPr>
        <p:spPr>
          <a:xfrm xmlns:a="http://schemas.openxmlformats.org/drawingml/2006/main">
            <a:off x="7232904" y="1298448"/>
            <a:ext cx="4343400" cy="4553712"/>
          </a:xfrm>
          <a:prstGeom xmlns:a="http://schemas.openxmlformats.org/drawingml/2006/main" prst="roundRect">
            <a:avLst/>
          </a:prstGeom>
          <a:solidFill xmlns:a="http://schemas.openxmlformats.org/drawingml/2006/main">
            <a:srgbClr val="E4F0F8"/>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Rectangle 7">
            <a:extLst xmlns:a="http://schemas.openxmlformats.org/drawingml/2006/main">
              <a:ext uri="{FF2B5EF4-FFF2-40B4-BE49-F238E27FC236}">
                <a16:creationId xmlns:a16="http://schemas.microsoft.com/office/drawing/2014/main" id="{F930DCB1-3CD0-45D3-8567-E38D0A2A5882}"/>
              </a:ext>
            </a:extLst>
          </p:cNvPr>
          <p:cNvSpPr>
            <a:spLocks xmlns:a="http://schemas.openxmlformats.org/drawingml/2006/main" noGrp="1"/>
          </p:cNvSpPr>
          <p:nvPr/>
        </p:nvSpPr>
        <p:spPr>
          <a:xfrm xmlns:a="http://schemas.openxmlformats.org/drawingml/2006/main">
            <a:off x="7516368" y="1618488"/>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531F2DC-A921-4954-BFC4-3DB577D19584}"/>
              </a:ext>
            </a:extLst>
          </p:cNvPr>
          <p:cNvSpPr>
            <a:spLocks xmlns:a="http://schemas.openxmlformats.org/drawingml/2006/main" noGrp="1"/>
          </p:cNvSpPr>
          <p:nvPr/>
        </p:nvSpPr>
        <p:spPr>
          <a:xfrm xmlns:a="http://schemas.openxmlformats.org/drawingml/2006/main">
            <a:off x="7662672" y="1591056"/>
            <a:ext cx="36301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10" name="Oval 9">
            <a:extLst xmlns:a="http://schemas.openxmlformats.org/drawingml/2006/main">
              <a:ext uri="{FF2B5EF4-FFF2-40B4-BE49-F238E27FC236}">
                <a16:creationId xmlns:a16="http://schemas.microsoft.com/office/drawing/2014/main" id="{023F2F40-FB35-4767-8BCA-94639FED2743}"/>
              </a:ext>
            </a:extLst>
          </p:cNvPr>
          <p:cNvSpPr>
            <a:spLocks xmlns:a="http://schemas.openxmlformats.org/drawingml/2006/main" noGrp="1"/>
          </p:cNvSpPr>
          <p:nvPr/>
        </p:nvSpPr>
        <p:spPr>
          <a:xfrm xmlns:a="http://schemas.openxmlformats.org/drawingml/2006/main">
            <a:off x="7525512" y="221284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98B0313-B8B7-42BF-A686-C63F061ED88E}"/>
              </a:ext>
            </a:extLst>
          </p:cNvPr>
          <p:cNvSpPr>
            <a:spLocks xmlns:a="http://schemas.openxmlformats.org/drawingml/2006/main" noGrp="1"/>
          </p:cNvSpPr>
          <p:nvPr/>
        </p:nvSpPr>
        <p:spPr>
          <a:xfrm xmlns:a="http://schemas.openxmlformats.org/drawingml/2006/main">
            <a:off x="7699248" y="2084831"/>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4" name="Oval 13">
            <a:extLst xmlns:a="http://schemas.openxmlformats.org/drawingml/2006/main">
              <a:ext uri="{FF2B5EF4-FFF2-40B4-BE49-F238E27FC236}">
                <a16:creationId xmlns:a16="http://schemas.microsoft.com/office/drawing/2014/main" id="{7612F583-FF86-4B89-9757-930CFF01DE40}"/>
              </a:ext>
            </a:extLst>
          </p:cNvPr>
          <p:cNvSpPr>
            <a:spLocks xmlns:a="http://schemas.openxmlformats.org/drawingml/2006/main" noGrp="1"/>
          </p:cNvSpPr>
          <p:nvPr/>
        </p:nvSpPr>
        <p:spPr>
          <a:xfrm xmlns:a="http://schemas.openxmlformats.org/drawingml/2006/main">
            <a:off x="7525512" y="277063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928DA47-67C4-474B-A326-08F4822AB0BC}"/>
              </a:ext>
            </a:extLst>
          </p:cNvPr>
          <p:cNvSpPr>
            <a:spLocks xmlns:a="http://schemas.openxmlformats.org/drawingml/2006/main" noGrp="1"/>
          </p:cNvSpPr>
          <p:nvPr/>
        </p:nvSpPr>
        <p:spPr>
          <a:xfrm xmlns:a="http://schemas.openxmlformats.org/drawingml/2006/main">
            <a:off x="7699248" y="2642615"/>
            <a:ext cx="3502151"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RPS15: 11 categories, 6 groups, 4 networks.</a:t>
            </a:r>
          </a:p>
        </p:txBody>
      </p:sp>
      <p:sp>
        <p:nvSpPr>
          <p:cNvPr id="16" name="Oval 15">
            <a:extLst xmlns:a="http://schemas.openxmlformats.org/drawingml/2006/main">
              <a:ext uri="{FF2B5EF4-FFF2-40B4-BE49-F238E27FC236}">
                <a16:creationId xmlns:a16="http://schemas.microsoft.com/office/drawing/2014/main" id="{088D031B-E132-4BC1-9CEC-0301C7DB254C}"/>
              </a:ext>
            </a:extLst>
          </p:cNvPr>
          <p:cNvSpPr>
            <a:spLocks xmlns:a="http://schemas.openxmlformats.org/drawingml/2006/main" noGrp="1"/>
          </p:cNvSpPr>
          <p:nvPr/>
        </p:nvSpPr>
        <p:spPr>
          <a:xfrm xmlns:a="http://schemas.openxmlformats.org/drawingml/2006/main">
            <a:off x="7525512" y="3328415"/>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0A554CA-AC15-464E-B7AD-2C92321C7AB5}"/>
              </a:ext>
            </a:extLst>
          </p:cNvPr>
          <p:cNvSpPr>
            <a:spLocks xmlns:a="http://schemas.openxmlformats.org/drawingml/2006/main" noGrp="1"/>
          </p:cNvSpPr>
          <p:nvPr/>
        </p:nvSpPr>
        <p:spPr>
          <a:xfrm xmlns:a="http://schemas.openxmlformats.org/drawingml/2006/main">
            <a:off x="7699248" y="3200399"/>
            <a:ext cx="3502151" cy="40318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RPL11: 10 categories, 6 groups, 4 networks.</a:t>
            </a:r>
          </a:p>
        </p:txBody>
      </p:sp>
    </p:spTree>
    <p:extLst>
      <p:ext uri="{BB962C8B-B14F-4D97-AF65-F5344CB8AC3E}">
        <p14:creationId xmlns:p14="http://schemas.microsoft.com/office/powerpoint/2010/main" val="1569113822"/>
      </p:ext>
    </p:extLst>
  </p:cSld>
</p:sld>
</file>

<file path=ppt/slides/slide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FCD75244-BEFA-4D8B-B23E-F54D13406000}"/>
              </a:ext>
            </a:extLst>
          </p:cNvPr>
          <p:cNvSpPr>
            <a:spLocks xmlns:a="http://schemas.openxmlformats.org/drawingml/2006/main" noGrp="1"/>
          </p:cNvSpPr>
          <p:nvPr/>
        </p:nvSpPr>
        <p:spPr>
          <a:xfrm xmlns:a="http://schemas.openxmlformats.org/drawingml/2006/main">
            <a:off x="530352" y="411480"/>
            <a:ext cx="10652760" cy="3785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100" b="1" i="0">
                <a:solidFill>
                  <a:srgbClr val="0F233D"/>
                </a:solidFill>
                <a:latin typeface="Arial"/>
                <a:ea typeface="Arial"/>
                <a:cs typeface="Arial"/>
              </a:rPr>
              <a:t>Top five: 123 non-MT entries across 29 categories</a:t>
            </a:r>
          </a:p>
        </p:txBody>
      </p:sp>
      <p:pic>
        <p:nvPicPr>
          <p:cNvPr id="6" name="ROSMAP top-five non-MT key drivers with aligned sex rows, broad-cell colors, score definition, and total category gene counts"/>
          <p:cNvPicPr>
            <a:picLocks xmlns:a="http://schemas.openxmlformats.org/drawingml/2006/main" noChangeAspect="1"/>
          </p:cNvPicPr>
          <p:nvPr/>
        </p:nvPicPr>
        <p:blipFill>
          <a:blip xmlns:r="http://schemas.openxmlformats.org/officeDocument/2006/relationships" xmlns:a="http://schemas.openxmlformats.org/drawingml/2006/main" r:embed="R93b23a50c9d84e4a"/>
          <a:stretch xmlns:a="http://schemas.openxmlformats.org/drawingml/2006/main">
            <a:fillRect l="0" t="0" r="0" b="0"/>
          </a:stretch>
        </p:blipFill>
        <p:spPr>
          <a:xfrm xmlns:a="http://schemas.openxmlformats.org/drawingml/2006/main">
            <a:off x="612648" y="795528"/>
            <a:ext cx="10972800" cy="5971032"/>
          </a:xfrm>
          <a:prstGeom xmlns:a="http://schemas.openxmlformats.org/drawingml/2006/main" prst="rect">
            <a:avLst/>
          </a:prstGeom>
        </p:spPr>
      </p:pic>
    </p:spTree>
    <p:extLst>
      <p:ext uri="{BB962C8B-B14F-4D97-AF65-F5344CB8AC3E}">
        <p14:creationId xmlns:p14="http://schemas.microsoft.com/office/powerpoint/2010/main" val="768081472"/>
      </p:ext>
    </p:extLst>
  </p:cSld>
</p:sld>
</file>

<file path=ppt/slides/slide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9EECD5F-43AF-429F-99A6-8BCC0CC0AAB0}"/>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excitatory-neuron drivers recur across sex/APOE groups</a:t>
            </a:r>
          </a:p>
        </p:txBody>
      </p:sp>
      <p:sp>
        <p:nvSpPr>
          <p:cNvPr id="3" name="TextBox 2">
            <a:extLst xmlns:a="http://schemas.openxmlformats.org/drawingml/2006/main">
              <a:ext uri="{FF2B5EF4-FFF2-40B4-BE49-F238E27FC236}">
                <a16:creationId xmlns:a16="http://schemas.microsoft.com/office/drawing/2014/main" id="{F419552D-EF44-456A-82C8-09F89FCC75A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84 unique non-MT genes across 153 gene × category combinations; columns are ordered by recurrence, then alphabetically.</a:t>
            </a:r>
          </a:p>
        </p:txBody>
      </p:sp>
      <p:pic>
        <p:nvPicPr>
          <p:cNvPr id="7" name="ROSMAP excitatory-neuron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8d66a0d001704465"/>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230641777"/>
      </p:ext>
    </p:extLst>
  </p:cSld>
</p:sld>
</file>

<file path=ppt/slides/slide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27AB68E-ADB7-4C21-9795-C3B8768F454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inhibitory-neuron drivers recur across sex/APOE groups</a:t>
            </a:r>
          </a:p>
        </p:txBody>
      </p:sp>
      <p:sp>
        <p:nvSpPr>
          <p:cNvPr id="3" name="TextBox 2">
            <a:extLst xmlns:a="http://schemas.openxmlformats.org/drawingml/2006/main">
              <a:ext uri="{FF2B5EF4-FFF2-40B4-BE49-F238E27FC236}">
                <a16:creationId xmlns:a16="http://schemas.microsoft.com/office/drawing/2014/main" id="{E90E3D63-A248-47CC-9F22-AAAC4D57896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110 unique non-MT genes across 146 gene × category combinations; columns are ordered by recurrence, then alphabetically.</a:t>
            </a:r>
          </a:p>
        </p:txBody>
      </p:sp>
      <p:pic>
        <p:nvPicPr>
          <p:cNvPr id="7" name="ROSMAP inhibitory-neuron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3f9c6b0563774860"/>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250894171"/>
      </p:ext>
    </p:extLst>
  </p:cSld>
</p:sld>
</file>

<file path=ppt/slides/slide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B812381-4105-4451-9E9A-6D56B5685FD6}"/>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astrocyte drivers recur across sex/APOE groups</a:t>
            </a:r>
          </a:p>
        </p:txBody>
      </p:sp>
      <p:sp>
        <p:nvSpPr>
          <p:cNvPr id="3" name="TextBox 2">
            <a:extLst xmlns:a="http://schemas.openxmlformats.org/drawingml/2006/main">
              <a:ext uri="{FF2B5EF4-FFF2-40B4-BE49-F238E27FC236}">
                <a16:creationId xmlns:a16="http://schemas.microsoft.com/office/drawing/2014/main" id="{009EB049-383F-4285-97AC-446DA36958E2}"/>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21 unique non-MT genes across 32 gene × category combinations; columns are ordered by recurrence, then alphabetically.</a:t>
            </a:r>
          </a:p>
        </p:txBody>
      </p:sp>
      <p:pic>
        <p:nvPicPr>
          <p:cNvPr id="7" name="ROSMAP astrocyte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8fda43af81054752"/>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116939906"/>
      </p:ext>
    </p:extLst>
  </p:cSld>
</p:sld>
</file>

<file path=ppt/slides/slide2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B87EF32-2793-460B-8C1D-32D0574BC4C3}"/>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ROSMAP OPC drivers recur across sex/APOE groups</a:t>
            </a:r>
          </a:p>
        </p:txBody>
      </p:sp>
      <p:sp>
        <p:nvSpPr>
          <p:cNvPr id="3" name="TextBox 2">
            <a:extLst xmlns:a="http://schemas.openxmlformats.org/drawingml/2006/main">
              <a:ext uri="{FF2B5EF4-FFF2-40B4-BE49-F238E27FC236}">
                <a16:creationId xmlns:a16="http://schemas.microsoft.com/office/drawing/2014/main" id="{1928DD11-801D-4409-891E-FA749AC96A4F}"/>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18 unique non-MT genes across 21 gene × category combinations; columns are ordered by recurrence, then alphabetically.</a:t>
            </a:r>
          </a:p>
        </p:txBody>
      </p:sp>
      <p:pic>
        <p:nvPicPr>
          <p:cNvPr id="7" name="ROSMAP OPC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4cb6ce672385417a"/>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852401269"/>
      </p:ext>
    </p:extLst>
  </p:cSld>
</p:sld>
</file>

<file path=ppt/slides/slide2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F569C9E-D5CE-444A-96FB-F4D407E28AC3}"/>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9E73"/>
                </a:solidFill>
                <a:latin typeface="Arial"/>
                <a:ea typeface="Arial"/>
                <a:cs typeface="Arial"/>
              </a:rPr>
              <a:t>PART </a:t>
            </a:r>
            <a:r>
              <a:rPr sz="1050" b="1">
                <a:solidFill>
                  <a:srgbClr val="009E73"/>
                </a:solidFill>
                <a:latin typeface="Arial"/>
                <a:ea typeface="Arial"/>
                <a:cs typeface="Arial"/>
              </a:rPr>
              <a:t>4</a:t>
            </a:r>
            <a:endParaRPr sz="1050" b="1" i="0">
              <a:solidFill>
                <a:srgbClr val="009E73"/>
              </a:solidFill>
              <a:latin typeface="Arial"/>
              <a:ea typeface="Arial"/>
              <a:cs typeface="Arial"/>
            </a:endParaRPr>
          </a:p>
        </p:txBody>
      </p:sp>
      <p:sp>
        <p:nvSpPr>
          <p:cNvPr id="3" name="Rectangle 2">
            <a:extLst xmlns:a="http://schemas.openxmlformats.org/drawingml/2006/main">
              <a:ext uri="{FF2B5EF4-FFF2-40B4-BE49-F238E27FC236}">
                <a16:creationId xmlns:a16="http://schemas.microsoft.com/office/drawing/2014/main" id="{F2BA23F8-CF15-4B72-8BB2-D57E6CA016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3DC0AD6-4299-4D0F-961F-96F0FB854F2D}"/>
              </a:ext>
            </a:extLst>
          </p:cNvPr>
          <p:cNvSpPr>
            <a:spLocks xmlns:a="http://schemas.openxmlformats.org/drawingml/2006/main" noGrp="1"/>
          </p:cNvSpPr>
          <p:nvPr/>
        </p:nvSpPr>
        <p:spPr>
          <a:xfrm xmlns:a="http://schemas.openxmlformats.org/drawingml/2006/main">
            <a:off x="1078992" y="1582311"/>
            <a:ext cx="7909560" cy="54784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Validation with SEA-AD</a:t>
            </a:r>
          </a:p>
        </p:txBody>
      </p:sp>
      <p:sp>
        <p:nvSpPr>
          <p:cNvPr id="6" name="Rounded Rectangle 5">
            <a:extLst xmlns:a="http://schemas.openxmlformats.org/drawingml/2006/main">
              <a:ext uri="{FF2B5EF4-FFF2-40B4-BE49-F238E27FC236}">
                <a16:creationId xmlns:a16="http://schemas.microsoft.com/office/drawing/2014/main" id="{F0D7FE17-E245-404D-80E1-239C6047FE4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3251616-1E09-4A84-857B-CC40EAF794C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9E73"/>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17E07A8E-BBA6-4DDE-8AF7-797D7EF21C7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27F1BCE-39EA-40B8-8D6A-32B1CFF4BBA0}"/>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7E0B846-5D25-4AAF-820D-ADE26EB228EA}"/>
              </a:ext>
            </a:extLst>
          </p:cNvPr>
          <p:cNvSpPr>
            <a:spLocks xmlns:a="http://schemas.openxmlformats.org/drawingml/2006/main" noGrp="1"/>
          </p:cNvSpPr>
          <p:nvPr/>
        </p:nvSpPr>
        <p:spPr>
          <a:xfrm xmlns:a="http://schemas.openxmlformats.org/drawingml/2006/main">
            <a:off x="9628632" y="2011680"/>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Run DEG</a:t>
            </a:r>
          </a:p>
        </p:txBody>
      </p:sp>
      <p:sp>
        <p:nvSpPr>
          <p:cNvPr id="11" name="Oval 10">
            <a:extLst xmlns:a="http://schemas.openxmlformats.org/drawingml/2006/main">
              <a:ext uri="{FF2B5EF4-FFF2-40B4-BE49-F238E27FC236}">
                <a16:creationId xmlns:a16="http://schemas.microsoft.com/office/drawing/2014/main" id="{25BC35C0-8EB4-4CB9-B6DC-12707E7E0DC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3E593C-CE4C-44A9-AA30-21B82C7AFD46}"/>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557AEFD-363D-42FB-B1C6-16E766E0557D}"/>
              </a:ext>
            </a:extLst>
          </p:cNvPr>
          <p:cNvSpPr>
            <a:spLocks xmlns:a="http://schemas.openxmlformats.org/drawingml/2006/main" noGrp="1"/>
          </p:cNvSpPr>
          <p:nvPr/>
        </p:nvSpPr>
        <p:spPr>
          <a:xfrm xmlns:a="http://schemas.openxmlformats.org/drawingml/2006/main">
            <a:off x="9628632" y="2761488"/>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Call key driver</a:t>
            </a:r>
          </a:p>
        </p:txBody>
      </p:sp>
      <p:sp>
        <p:nvSpPr>
          <p:cNvPr id="14" name="Oval 13">
            <a:extLst xmlns:a="http://schemas.openxmlformats.org/drawingml/2006/main">
              <a:ext uri="{FF2B5EF4-FFF2-40B4-BE49-F238E27FC236}">
                <a16:creationId xmlns:a16="http://schemas.microsoft.com/office/drawing/2014/main" id="{76022DFA-4C8F-40E9-AEFC-D847CF926B9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8763030-A0D4-403C-B577-1D252BB528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A043817-07B6-4981-9CE4-DEAE214BE66C}"/>
              </a:ext>
            </a:extLst>
          </p:cNvPr>
          <p:cNvSpPr>
            <a:spLocks xmlns:a="http://schemas.openxmlformats.org/drawingml/2006/main" noGrp="1"/>
          </p:cNvSpPr>
          <p:nvPr/>
        </p:nvSpPr>
        <p:spPr>
          <a:xfrm xmlns:a="http://schemas.openxmlformats.org/drawingml/2006/main">
            <a:off x="9628632" y="3511296"/>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ACAT aggregation</a:t>
            </a:r>
          </a:p>
        </p:txBody>
      </p:sp>
      <p:sp>
        <p:nvSpPr>
          <p:cNvPr id="17" name="Oval 16">
            <a:extLst xmlns:a="http://schemas.openxmlformats.org/drawingml/2006/main">
              <a:ext uri="{FF2B5EF4-FFF2-40B4-BE49-F238E27FC236}">
                <a16:creationId xmlns:a16="http://schemas.microsoft.com/office/drawing/2014/main" id="{674AE4D7-1D34-4866-989F-DE4C41BF6661}"/>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0DB2C69-CC33-4708-BF6C-708EE3B38B8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44C318C-EA1D-4BAC-ADDA-C0B26C695230}"/>
              </a:ext>
            </a:extLst>
          </p:cNvPr>
          <p:cNvSpPr>
            <a:spLocks xmlns:a="http://schemas.openxmlformats.org/drawingml/2006/main" noGrp="1"/>
          </p:cNvSpPr>
          <p:nvPr/>
        </p:nvSpPr>
        <p:spPr>
          <a:xfrm xmlns:a="http://schemas.openxmlformats.org/drawingml/2006/main">
            <a:off x="9628632" y="4261104"/>
            <a:ext cx="1444752" cy="226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Result analysis</a:t>
            </a:r>
          </a:p>
        </p:txBody>
      </p:sp>
    </p:spTree>
    <p:extLst>
      <p:ext uri="{BB962C8B-B14F-4D97-AF65-F5344CB8AC3E}">
        <p14:creationId xmlns:p14="http://schemas.microsoft.com/office/powerpoint/2010/main" val="106375148"/>
      </p:ext>
    </p:extLst>
  </p:cSld>
</p:sld>
</file>

<file path=ppt/slides/slide30.xml><?xml version="1.0" encoding="utf-8"?>
<p:sld xmlns:p="http://schemas.openxmlformats.org/presentationml/2006/main">
  <p:cSld>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4820217C-C0C2-5165-22E5-F8E5797B0969}"/>
              </a:ext>
            </a:extLst>
          </p:cNvPr>
          <p:cNvSpPr>
            <a:spLocks xmlns:a="http://schemas.openxmlformats.org/drawingml/2006/main" noGrp="1"/>
          </p:cNvSpPr>
          <p:nvPr/>
        </p:nvSpPr>
        <p:spPr>
          <a:xfrm xmlns:a="http://schemas.openxmlformats.org/drawingml/2006/main">
            <a:off x="530352" y="411480"/>
            <a:ext cx="10652760" cy="43242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Summary for SEA-AD</a:t>
            </a:r>
          </a:p>
        </p:txBody>
      </p:sp>
      <p:sp>
        <p:nvSpPr>
          <p:cNvPr id="4" name="TextBox 3">
            <a:extLst xmlns:a="http://schemas.openxmlformats.org/drawingml/2006/main">
              <a:ext uri="{FF2B5EF4-FFF2-40B4-BE49-F238E27FC236}">
                <a16:creationId xmlns:a16="http://schemas.microsoft.com/office/drawing/2014/main" id="{A1C4930B-8D6F-B90D-804F-1BE1686DEDF9}"/>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Each contrast contributes at most one mitochondrial DEG query; significant non-MT returns are aggregated by category.</a:t>
            </a:r>
          </a:p>
        </p:txBody>
      </p:sp>
      <p:sp>
        <p:nvSpPr>
          <p:cNvPr id="23" name="Rounded Rectangle 22">
            <a:extLst xmlns:a="http://schemas.openxmlformats.org/drawingml/2006/main">
              <a:ext uri="{FF2B5EF4-FFF2-40B4-BE49-F238E27FC236}">
                <a16:creationId xmlns:a16="http://schemas.microsoft.com/office/drawing/2014/main" id="{F20FD518-1F4A-331F-FBD2-F57F5FAA0AAD}"/>
              </a:ext>
            </a:extLst>
          </p:cNvPr>
          <p:cNvSpPr>
            <a:spLocks xmlns:a="http://schemas.openxmlformats.org/drawingml/2006/main" noGrp="1"/>
          </p:cNvSpPr>
          <p:nvPr/>
        </p:nvSpPr>
        <p:spPr>
          <a:xfrm xmlns:a="http://schemas.openxmlformats.org/drawingml/2006/main">
            <a:off x="3127683" y="1430818"/>
            <a:ext cx="5358384" cy="43251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DAFDBE9E-6ABC-4DEF-4205-F1E82872DEDF}"/>
              </a:ext>
            </a:extLst>
          </p:cNvPr>
          <p:cNvSpPr>
            <a:spLocks xmlns:a="http://schemas.openxmlformats.org/drawingml/2006/main" noGrp="1"/>
          </p:cNvSpPr>
          <p:nvPr/>
        </p:nvSpPr>
        <p:spPr>
          <a:xfrm xmlns:a="http://schemas.openxmlformats.org/drawingml/2006/main">
            <a:off x="3411147" y="1723426"/>
            <a:ext cx="2926080" cy="2092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009E73"/>
                </a:solidFill>
                <a:latin typeface="Arial"/>
                <a:ea typeface="Arial"/>
                <a:cs typeface="Arial"/>
              </a:rPr>
              <a:t>SEA-AD IS FOR VALIDATION</a:t>
            </a:r>
          </a:p>
        </p:txBody>
      </p:sp>
      <p:sp>
        <p:nvSpPr>
          <p:cNvPr id="25" name="TextBox 24">
            <a:extLst xmlns:a="http://schemas.openxmlformats.org/drawingml/2006/main">
              <a:ext uri="{FF2B5EF4-FFF2-40B4-BE49-F238E27FC236}">
                <a16:creationId xmlns:a16="http://schemas.microsoft.com/office/drawing/2014/main" id="{C08A9B8D-DCB8-F1E9-92CC-8909156FCDDF}"/>
              </a:ext>
            </a:extLst>
          </p:cNvPr>
          <p:cNvSpPr>
            <a:spLocks xmlns:a="http://schemas.openxmlformats.org/drawingml/2006/main" noGrp="1"/>
          </p:cNvSpPr>
          <p:nvPr/>
        </p:nvSpPr>
        <p:spPr>
          <a:xfrm xmlns:a="http://schemas.openxmlformats.org/drawingml/2006/main">
            <a:off x="3411147" y="2034322"/>
            <a:ext cx="4526280"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Do drivers return in an independent human cohort?</a:t>
            </a:r>
          </a:p>
        </p:txBody>
      </p:sp>
      <p:sp>
        <p:nvSpPr>
          <p:cNvPr id="26" name="Rounded Rectangle 25">
            <a:extLst xmlns:a="http://schemas.openxmlformats.org/drawingml/2006/main">
              <a:ext uri="{FF2B5EF4-FFF2-40B4-BE49-F238E27FC236}">
                <a16:creationId xmlns:a16="http://schemas.microsoft.com/office/drawing/2014/main" id="{0B078D71-6BC9-1CEF-1971-223819588041}"/>
              </a:ext>
            </a:extLst>
          </p:cNvPr>
          <p:cNvSpPr>
            <a:spLocks xmlns:a="http://schemas.openxmlformats.org/drawingml/2006/main" noGrp="1"/>
          </p:cNvSpPr>
          <p:nvPr/>
        </p:nvSpPr>
        <p:spPr>
          <a:xfrm xmlns:a="http://schemas.openxmlformats.org/drawingml/2006/main">
            <a:off x="3411147" y="2793274"/>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64EEDEE-DC0D-59BD-5FB8-DA778676454A}"/>
              </a:ext>
            </a:extLst>
          </p:cNvPr>
          <p:cNvSpPr>
            <a:spLocks xmlns:a="http://schemas.openxmlformats.org/drawingml/2006/main" noGrp="1"/>
          </p:cNvSpPr>
          <p:nvPr/>
        </p:nvSpPr>
        <p:spPr>
          <a:xfrm xmlns:a="http://schemas.openxmlformats.org/drawingml/2006/main">
            <a:off x="3557451" y="2884714"/>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774</a:t>
            </a:r>
          </a:p>
        </p:txBody>
      </p:sp>
      <p:sp>
        <p:nvSpPr>
          <p:cNvPr id="28" name="TextBox 27">
            <a:extLst xmlns:a="http://schemas.openxmlformats.org/drawingml/2006/main">
              <a:ext uri="{FF2B5EF4-FFF2-40B4-BE49-F238E27FC236}">
                <a16:creationId xmlns:a16="http://schemas.microsoft.com/office/drawing/2014/main" id="{5CE77759-350E-C5E6-AFA3-99091A03E630}"/>
              </a:ext>
            </a:extLst>
          </p:cNvPr>
          <p:cNvSpPr>
            <a:spLocks xmlns:a="http://schemas.openxmlformats.org/drawingml/2006/main" noGrp="1"/>
          </p:cNvSpPr>
          <p:nvPr/>
        </p:nvSpPr>
        <p:spPr>
          <a:xfrm xmlns:a="http://schemas.openxmlformats.org/drawingml/2006/main">
            <a:off x="3557451" y="3341914"/>
            <a:ext cx="1124712"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planned contrasts</a:t>
            </a:r>
          </a:p>
        </p:txBody>
      </p:sp>
      <p:sp>
        <p:nvSpPr>
          <p:cNvPr id="29" name="Rounded Rectangle 28">
            <a:extLst xmlns:a="http://schemas.openxmlformats.org/drawingml/2006/main">
              <a:ext uri="{FF2B5EF4-FFF2-40B4-BE49-F238E27FC236}">
                <a16:creationId xmlns:a16="http://schemas.microsoft.com/office/drawing/2014/main" id="{4400346E-7B11-A714-29D9-69BD721FA136}"/>
              </a:ext>
            </a:extLst>
          </p:cNvPr>
          <p:cNvSpPr>
            <a:spLocks xmlns:a="http://schemas.openxmlformats.org/drawingml/2006/main" noGrp="1"/>
          </p:cNvSpPr>
          <p:nvPr/>
        </p:nvSpPr>
        <p:spPr>
          <a:xfrm xmlns:a="http://schemas.openxmlformats.org/drawingml/2006/main">
            <a:off x="4993058" y="2793274"/>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C2547233-A652-C0AF-EDEB-2732D1A4DBE5}"/>
              </a:ext>
            </a:extLst>
          </p:cNvPr>
          <p:cNvSpPr>
            <a:spLocks xmlns:a="http://schemas.openxmlformats.org/drawingml/2006/main" noGrp="1"/>
          </p:cNvSpPr>
          <p:nvPr/>
        </p:nvSpPr>
        <p:spPr>
          <a:xfrm xmlns:a="http://schemas.openxmlformats.org/drawingml/2006/main">
            <a:off x="5139362" y="2884714"/>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22</a:t>
            </a:r>
          </a:p>
        </p:txBody>
      </p:sp>
      <p:sp>
        <p:nvSpPr>
          <p:cNvPr id="31" name="TextBox 30">
            <a:extLst xmlns:a="http://schemas.openxmlformats.org/drawingml/2006/main">
              <a:ext uri="{FF2B5EF4-FFF2-40B4-BE49-F238E27FC236}">
                <a16:creationId xmlns:a16="http://schemas.microsoft.com/office/drawing/2014/main" id="{37BF3831-B296-5FA6-E586-B64CB5A56F02}"/>
              </a:ext>
            </a:extLst>
          </p:cNvPr>
          <p:cNvSpPr>
            <a:spLocks xmlns:a="http://schemas.openxmlformats.org/drawingml/2006/main" noGrp="1"/>
          </p:cNvSpPr>
          <p:nvPr/>
        </p:nvSpPr>
        <p:spPr>
          <a:xfrm xmlns:a="http://schemas.openxmlformats.org/drawingml/2006/main">
            <a:off x="5139362" y="3341914"/>
            <a:ext cx="1124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KDA calls</a:t>
            </a:r>
          </a:p>
        </p:txBody>
      </p:sp>
      <p:sp>
        <p:nvSpPr>
          <p:cNvPr id="32" name="Rounded Rectangle 31">
            <a:extLst xmlns:a="http://schemas.openxmlformats.org/drawingml/2006/main">
              <a:ext uri="{FF2B5EF4-FFF2-40B4-BE49-F238E27FC236}">
                <a16:creationId xmlns:a16="http://schemas.microsoft.com/office/drawing/2014/main" id="{6961CA91-699A-CD79-78FA-A69D94C8C539}"/>
              </a:ext>
            </a:extLst>
          </p:cNvPr>
          <p:cNvSpPr>
            <a:spLocks xmlns:a="http://schemas.openxmlformats.org/drawingml/2006/main" noGrp="1"/>
          </p:cNvSpPr>
          <p:nvPr/>
        </p:nvSpPr>
        <p:spPr>
          <a:xfrm xmlns:a="http://schemas.openxmlformats.org/drawingml/2006/main">
            <a:off x="6574971" y="2793274"/>
            <a:ext cx="1417320"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0E527466-4679-43D5-549D-87E4FEF6E2F4}"/>
              </a:ext>
            </a:extLst>
          </p:cNvPr>
          <p:cNvSpPr>
            <a:spLocks xmlns:a="http://schemas.openxmlformats.org/drawingml/2006/main" noGrp="1"/>
          </p:cNvSpPr>
          <p:nvPr/>
        </p:nvSpPr>
        <p:spPr>
          <a:xfrm xmlns:a="http://schemas.openxmlformats.org/drawingml/2006/main">
            <a:off x="6721275" y="2884714"/>
            <a:ext cx="1124712"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34" name="TextBox 33">
            <a:extLst xmlns:a="http://schemas.openxmlformats.org/drawingml/2006/main">
              <a:ext uri="{FF2B5EF4-FFF2-40B4-BE49-F238E27FC236}">
                <a16:creationId xmlns:a16="http://schemas.microsoft.com/office/drawing/2014/main" id="{EDC5CEC5-620B-4088-6D42-A47D837F8D78}"/>
              </a:ext>
            </a:extLst>
          </p:cNvPr>
          <p:cNvSpPr>
            <a:spLocks xmlns:a="http://schemas.openxmlformats.org/drawingml/2006/main" noGrp="1"/>
          </p:cNvSpPr>
          <p:nvPr/>
        </p:nvSpPr>
        <p:spPr>
          <a:xfrm xmlns:a="http://schemas.openxmlformats.org/drawingml/2006/main">
            <a:off x="6721275" y="3341914"/>
            <a:ext cx="1124712"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35" name="Oval 34">
            <a:extLst xmlns:a="http://schemas.openxmlformats.org/drawingml/2006/main">
              <a:ext uri="{FF2B5EF4-FFF2-40B4-BE49-F238E27FC236}">
                <a16:creationId xmlns:a16="http://schemas.microsoft.com/office/drawing/2014/main" id="{567ADC53-49F7-0D93-2D5C-98E88AC7F699}"/>
              </a:ext>
            </a:extLst>
          </p:cNvPr>
          <p:cNvSpPr>
            <a:spLocks xmlns:a="http://schemas.openxmlformats.org/drawingml/2006/main" noGrp="1"/>
          </p:cNvSpPr>
          <p:nvPr/>
        </p:nvSpPr>
        <p:spPr>
          <a:xfrm xmlns:a="http://schemas.openxmlformats.org/drawingml/2006/main">
            <a:off x="3420291" y="4194159"/>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FD250839-97A3-EB02-9405-2850B7C3014C}"/>
              </a:ext>
            </a:extLst>
          </p:cNvPr>
          <p:cNvSpPr>
            <a:spLocks xmlns:a="http://schemas.openxmlformats.org/drawingml/2006/main" noGrp="1"/>
          </p:cNvSpPr>
          <p:nvPr/>
        </p:nvSpPr>
        <p:spPr>
          <a:xfrm xmlns:a="http://schemas.openxmlformats.org/drawingml/2006/main">
            <a:off x="3594027" y="4100866"/>
            <a:ext cx="4361688"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Uses SEA-AD-specific Bayesian networks.</a:t>
            </a:r>
          </a:p>
        </p:txBody>
      </p:sp>
      <p:sp>
        <p:nvSpPr>
          <p:cNvPr id="37" name="Oval 36">
            <a:extLst xmlns:a="http://schemas.openxmlformats.org/drawingml/2006/main">
              <a:ext uri="{FF2B5EF4-FFF2-40B4-BE49-F238E27FC236}">
                <a16:creationId xmlns:a16="http://schemas.microsoft.com/office/drawing/2014/main" id="{C5D3AF96-1713-66D2-750A-9E07D3BF2492}"/>
              </a:ext>
            </a:extLst>
          </p:cNvPr>
          <p:cNvSpPr>
            <a:spLocks xmlns:a="http://schemas.openxmlformats.org/drawingml/2006/main" noGrp="1"/>
          </p:cNvSpPr>
          <p:nvPr/>
        </p:nvSpPr>
        <p:spPr>
          <a:xfrm xmlns:a="http://schemas.openxmlformats.org/drawingml/2006/main">
            <a:off x="3420291" y="4621495"/>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FCD02414-1091-B30C-75CC-F2C2C3983D92}"/>
              </a:ext>
            </a:extLst>
          </p:cNvPr>
          <p:cNvSpPr>
            <a:spLocks xmlns:a="http://schemas.openxmlformats.org/drawingml/2006/main" noGrp="1"/>
          </p:cNvSpPr>
          <p:nvPr/>
        </p:nvSpPr>
        <p:spPr>
          <a:xfrm xmlns:a="http://schemas.openxmlformats.org/drawingml/2006/main">
            <a:off x="3594027" y="4539777"/>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150">
                <a:solidFill>
                  <a:srgbClr val="1F2730"/>
                </a:solidFill>
                <a:latin typeface="Arial"/>
                <a:ea typeface="Arial"/>
                <a:cs typeface="Arial"/>
              </a:rPr>
              <a:t>Final 44 combinations represent 43 unique genes in 5 categories</a:t>
            </a:r>
          </a:p>
        </p:txBody>
      </p:sp>
      <p:sp>
        <p:nvSpPr>
          <p:cNvPr id="39" name="Oval 38">
            <a:extLst xmlns:a="http://schemas.openxmlformats.org/drawingml/2006/main">
              <a:ext uri="{FF2B5EF4-FFF2-40B4-BE49-F238E27FC236}">
                <a16:creationId xmlns:a16="http://schemas.microsoft.com/office/drawing/2014/main" id="{79E8A492-0E0F-E92C-8D7C-1EDE7DD70821}"/>
              </a:ext>
            </a:extLst>
          </p:cNvPr>
          <p:cNvSpPr>
            <a:spLocks xmlns:a="http://schemas.openxmlformats.org/drawingml/2006/main" noGrp="1"/>
          </p:cNvSpPr>
          <p:nvPr/>
        </p:nvSpPr>
        <p:spPr>
          <a:xfrm xmlns:a="http://schemas.openxmlformats.org/drawingml/2006/main">
            <a:off x="3420291" y="506619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 name="TextBox 1">
            <a:extLst xmlns:a="http://schemas.openxmlformats.org/drawingml/2006/main">
              <a:ext uri="{FF2B5EF4-FFF2-40B4-BE49-F238E27FC236}">
                <a16:creationId xmlns:a16="http://schemas.microsoft.com/office/drawing/2014/main" id="{4F058FC1-77DB-E3CD-AAE6-D629960B57E1}"/>
              </a:ext>
            </a:extLst>
          </p:cNvPr>
          <p:cNvSpPr>
            <a:spLocks xmlns:a="http://schemas.openxmlformats.org/drawingml/2006/main" noGrp="1"/>
          </p:cNvSpPr>
          <p:nvPr/>
        </p:nvSpPr>
        <p:spPr>
          <a:xfrm xmlns:a="http://schemas.openxmlformats.org/drawingml/2006/main">
            <a:off x="3601744" y="4993116"/>
            <a:ext cx="4361688" cy="232371"/>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r>
              <a:rPr sz="1150">
                <a:solidFill>
                  <a:srgbClr val="1F2730"/>
                </a:solidFill>
                <a:latin typeface="Arial"/>
                <a:ea typeface="Arial"/>
                <a:cs typeface="Arial"/>
              </a:rPr>
              <a:t>20 of 22 calls are M_e33.</a:t>
            </a:r>
          </a:p>
        </p:txBody>
      </p:sp>
    </p:spTree>
    <p:extLst>
      <p:ext uri="{BB962C8B-B14F-4D97-AF65-F5344CB8AC3E}">
        <p14:creationId xmlns:p14="http://schemas.microsoft.com/office/powerpoint/2010/main" val="2690829238"/>
      </p:ext>
    </p:extLst>
  </p:cSld>
</p:sld>
</file>

<file path=ppt/slides/slide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A731D2A-B116-490A-A83D-7899BE439E0B}"/>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129 SEA-AD supertypes create 774 planned contrasts</a:t>
            </a:r>
          </a:p>
        </p:txBody>
      </p:sp>
      <p:sp>
        <p:nvSpPr>
          <p:cNvPr id="3" name="TextBox 2">
            <a:extLst xmlns:a="http://schemas.openxmlformats.org/drawingml/2006/main">
              <a:ext uri="{FF2B5EF4-FFF2-40B4-BE49-F238E27FC236}">
                <a16:creationId xmlns:a16="http://schemas.microsoft.com/office/drawing/2014/main" id="{0F5EC579-272D-4700-8B38-0263DDE652E8}"/>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One mitochondrial DEG query per supertype × sex/APOE contrast.</a:t>
            </a:r>
          </a:p>
        </p:txBody>
      </p:sp>
      <p:sp>
        <p:nvSpPr>
          <p:cNvPr id="4" name="Rounded Rectangle 3">
            <a:extLst xmlns:a="http://schemas.openxmlformats.org/drawingml/2006/main">
              <a:ext uri="{FF2B5EF4-FFF2-40B4-BE49-F238E27FC236}">
                <a16:creationId xmlns:a16="http://schemas.microsoft.com/office/drawing/2014/main" id="{756EB20F-A424-44D2-962B-C48792D776EA}"/>
              </a:ext>
            </a:extLst>
          </p:cNvPr>
          <p:cNvSpPr>
            <a:spLocks xmlns:a="http://schemas.openxmlformats.org/drawingml/2006/main" noGrp="1"/>
          </p:cNvSpPr>
          <p:nvPr/>
        </p:nvSpPr>
        <p:spPr>
          <a:xfrm xmlns:a="http://schemas.openxmlformats.org/drawingml/2006/main">
            <a:off x="640080" y="1344168"/>
            <a:ext cx="3383280" cy="1197864"/>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84AFF86-E79D-4767-A7FA-9893CC7D90C1}"/>
              </a:ext>
            </a:extLst>
          </p:cNvPr>
          <p:cNvSpPr>
            <a:spLocks xmlns:a="http://schemas.openxmlformats.org/drawingml/2006/main" noGrp="1"/>
          </p:cNvSpPr>
          <p:nvPr/>
        </p:nvSpPr>
        <p:spPr>
          <a:xfrm xmlns:a="http://schemas.openxmlformats.org/drawingml/2006/main">
            <a:off x="868680" y="1591056"/>
            <a:ext cx="2926080"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129 supertypes</a:t>
            </a:r>
          </a:p>
        </p:txBody>
      </p:sp>
      <p:sp>
        <p:nvSpPr>
          <p:cNvPr id="6" name="TextBox 5">
            <a:extLst xmlns:a="http://schemas.openxmlformats.org/drawingml/2006/main">
              <a:ext uri="{FF2B5EF4-FFF2-40B4-BE49-F238E27FC236}">
                <a16:creationId xmlns:a16="http://schemas.microsoft.com/office/drawing/2014/main" id="{7E596793-2A55-49C5-B984-C2CFA9EF73FA}"/>
              </a:ext>
            </a:extLst>
          </p:cNvPr>
          <p:cNvSpPr>
            <a:spLocks xmlns:a="http://schemas.openxmlformats.org/drawingml/2006/main" noGrp="1"/>
          </p:cNvSpPr>
          <p:nvPr/>
        </p:nvSpPr>
        <p:spPr>
          <a:xfrm xmlns:a="http://schemas.openxmlformats.org/drawingml/2006/main">
            <a:off x="868680" y="1993392"/>
            <a:ext cx="292608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30" b="1" i="0">
                <a:solidFill>
                  <a:srgbClr val="00684D"/>
                </a:solidFill>
                <a:latin typeface="Arial"/>
                <a:ea typeface="Arial"/>
                <a:cs typeface="Arial"/>
              </a:rPr>
              <a:t>× 6 groups = 774 contrasts</a:t>
            </a:r>
          </a:p>
        </p:txBody>
      </p:sp>
      <p:sp>
        <p:nvSpPr>
          <p:cNvPr id="7" name="Rounded Rectangle 6">
            <a:extLst xmlns:a="http://schemas.openxmlformats.org/drawingml/2006/main">
              <a:ext uri="{FF2B5EF4-FFF2-40B4-BE49-F238E27FC236}">
                <a16:creationId xmlns:a16="http://schemas.microsoft.com/office/drawing/2014/main" id="{0B49FCD5-4828-4431-A44D-718D46EF7FC1}"/>
              </a:ext>
            </a:extLst>
          </p:cNvPr>
          <p:cNvSpPr>
            <a:spLocks xmlns:a="http://schemas.openxmlformats.org/drawingml/2006/main" noGrp="1"/>
          </p:cNvSpPr>
          <p:nvPr/>
        </p:nvSpPr>
        <p:spPr>
          <a:xfrm xmlns:a="http://schemas.openxmlformats.org/drawingml/2006/main">
            <a:off x="4407408" y="1344168"/>
            <a:ext cx="3383280" cy="1197864"/>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212BA46-0D7D-4D46-8BF1-D8823CBDDB3E}"/>
              </a:ext>
            </a:extLst>
          </p:cNvPr>
          <p:cNvSpPr>
            <a:spLocks xmlns:a="http://schemas.openxmlformats.org/drawingml/2006/main" noGrp="1"/>
          </p:cNvSpPr>
          <p:nvPr/>
        </p:nvSpPr>
        <p:spPr>
          <a:xfrm xmlns:a="http://schemas.openxmlformats.org/drawingml/2006/main">
            <a:off x="4636008" y="1591056"/>
            <a:ext cx="2926080"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buNone/>
            </a:pPr>
            <a:r>
              <a:rPr sz="1900" b="1" i="0">
                <a:solidFill>
                  <a:srgbClr val="0F233D"/>
                </a:solidFill>
                <a:latin typeface="Arial"/>
                <a:ea typeface="Arial"/>
                <a:cs typeface="Arial"/>
              </a:rPr>
              <a:t>774 </a:t>
            </a:r>
            <a:r>
              <a:rPr sz="1900" b="1">
                <a:solidFill>
                  <a:srgbClr val="0F233D"/>
                </a:solidFill>
                <a:latin typeface="Arial"/>
                <a:ea typeface="Arial"/>
                <a:cs typeface="Arial"/>
              </a:rPr>
              <a:t>DEG contrasts</a:t>
            </a:r>
            <a:endParaRPr sz="1900" b="1" i="0">
              <a:solidFill>
                <a:srgbClr val="0F233D"/>
              </a:solidFill>
              <a:latin typeface="Arial"/>
              <a:ea typeface="Arial"/>
              <a:cs typeface="Arial"/>
            </a:endParaRPr>
          </a:p>
        </p:txBody>
      </p:sp>
      <p:sp>
        <p:nvSpPr>
          <p:cNvPr id="9" name="TextBox 8">
            <a:extLst xmlns:a="http://schemas.openxmlformats.org/drawingml/2006/main">
              <a:ext uri="{FF2B5EF4-FFF2-40B4-BE49-F238E27FC236}">
                <a16:creationId xmlns:a16="http://schemas.microsoft.com/office/drawing/2014/main" id="{48F6E372-621D-414C-B37C-B22565F0A23B}"/>
              </a:ext>
            </a:extLst>
          </p:cNvPr>
          <p:cNvSpPr>
            <a:spLocks xmlns:a="http://schemas.openxmlformats.org/drawingml/2006/main" noGrp="1"/>
          </p:cNvSpPr>
          <p:nvPr/>
        </p:nvSpPr>
        <p:spPr>
          <a:xfrm xmlns:a="http://schemas.openxmlformats.org/drawingml/2006/main">
            <a:off x="4636008" y="1993392"/>
            <a:ext cx="292608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30" b="1" i="0">
                <a:solidFill>
                  <a:srgbClr val="56B4E9"/>
                </a:solidFill>
                <a:latin typeface="Arial"/>
                <a:ea typeface="Arial"/>
                <a:cs typeface="Arial"/>
              </a:rPr>
              <a:t>one query per contrast</a:t>
            </a:r>
          </a:p>
        </p:txBody>
      </p:sp>
      <p:sp>
        <p:nvSpPr>
          <p:cNvPr id="10" name="Rounded Rectangle 9">
            <a:extLst xmlns:a="http://schemas.openxmlformats.org/drawingml/2006/main">
              <a:ext uri="{FF2B5EF4-FFF2-40B4-BE49-F238E27FC236}">
                <a16:creationId xmlns:a16="http://schemas.microsoft.com/office/drawing/2014/main" id="{0587407E-5675-491D-84B8-41C2C270987A}"/>
              </a:ext>
            </a:extLst>
          </p:cNvPr>
          <p:cNvSpPr>
            <a:spLocks xmlns:a="http://schemas.openxmlformats.org/drawingml/2006/main" noGrp="1"/>
          </p:cNvSpPr>
          <p:nvPr/>
        </p:nvSpPr>
        <p:spPr>
          <a:xfrm xmlns:a="http://schemas.openxmlformats.org/drawingml/2006/main">
            <a:off x="8174736" y="1344168"/>
            <a:ext cx="3383280" cy="1197864"/>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85475A39-8B85-46D8-907E-216127FB6D36}"/>
              </a:ext>
            </a:extLst>
          </p:cNvPr>
          <p:cNvSpPr>
            <a:spLocks xmlns:a="http://schemas.openxmlformats.org/drawingml/2006/main" noGrp="1"/>
          </p:cNvSpPr>
          <p:nvPr/>
        </p:nvSpPr>
        <p:spPr>
          <a:xfrm xmlns:a="http://schemas.openxmlformats.org/drawingml/2006/main">
            <a:off x="8403336" y="1591056"/>
            <a:ext cx="2926080" cy="3477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900" b="1" i="0">
                <a:solidFill>
                  <a:srgbClr val="0F233D"/>
                </a:solidFill>
                <a:latin typeface="Arial"/>
                <a:ea typeface="Arial"/>
                <a:cs typeface="Arial"/>
              </a:rPr>
              <a:t>22 </a:t>
            </a:r>
            <a:r>
              <a:rPr sz="1900" b="1">
                <a:solidFill>
                  <a:srgbClr val="0F233D"/>
                </a:solidFill>
                <a:latin typeface="Arial"/>
                <a:ea typeface="Arial"/>
                <a:cs typeface="Arial"/>
              </a:rPr>
              <a:t>call_key_drivers calls</a:t>
            </a:r>
            <a:endParaRPr sz="1900" b="1" i="0">
              <a:solidFill>
                <a:srgbClr val="0F233D"/>
              </a:solidFill>
              <a:latin typeface="Arial"/>
              <a:ea typeface="Arial"/>
              <a:cs typeface="Arial"/>
            </a:endParaRPr>
          </a:p>
        </p:txBody>
      </p:sp>
      <p:sp>
        <p:nvSpPr>
          <p:cNvPr id="12" name="TextBox 11">
            <a:extLst xmlns:a="http://schemas.openxmlformats.org/drawingml/2006/main">
              <a:ext uri="{FF2B5EF4-FFF2-40B4-BE49-F238E27FC236}">
                <a16:creationId xmlns:a16="http://schemas.microsoft.com/office/drawing/2014/main" id="{16511654-4C4F-4768-A8F3-B6513E48A740}"/>
              </a:ext>
            </a:extLst>
          </p:cNvPr>
          <p:cNvSpPr>
            <a:spLocks xmlns:a="http://schemas.openxmlformats.org/drawingml/2006/main" noGrp="1"/>
          </p:cNvSpPr>
          <p:nvPr/>
        </p:nvSpPr>
        <p:spPr>
          <a:xfrm xmlns:a="http://schemas.openxmlformats.org/drawingml/2006/main">
            <a:off x="8403336" y="1993392"/>
            <a:ext cx="2926080" cy="4339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30" b="1" i="0">
                <a:solidFill>
                  <a:srgbClr val="895600"/>
                </a:solidFill>
                <a:latin typeface="Arial"/>
                <a:ea typeface="Arial"/>
                <a:cs typeface="Arial"/>
              </a:rPr>
              <a:t>All valid DEG contrast and number of </a:t>
            </a:r>
            <a:r>
              <a:rPr sz="1230" b="1">
                <a:solidFill>
                  <a:srgbClr val="895600"/>
                </a:solidFill>
                <a:latin typeface="Arial"/>
                <a:ea typeface="Arial"/>
                <a:cs typeface="Arial"/>
              </a:rPr>
              <a:t>genes in</a:t>
            </a:r>
            <a:r>
              <a:rPr sz="1230" b="1" i="0">
                <a:solidFill>
                  <a:srgbClr val="895600"/>
                </a:solidFill>
                <a:latin typeface="Arial"/>
                <a:ea typeface="Arial"/>
                <a:cs typeface="Arial"/>
              </a:rPr>
              <a:t> query ≥ 3</a:t>
            </a:r>
          </a:p>
        </p:txBody>
      </p:sp>
      <p:sp>
        <p:nvSpPr>
          <p:cNvPr id="13" name="Rectangle 12">
            <a:extLst xmlns:a="http://schemas.openxmlformats.org/drawingml/2006/main">
              <a:ext uri="{FF2B5EF4-FFF2-40B4-BE49-F238E27FC236}">
                <a16:creationId xmlns:a16="http://schemas.microsoft.com/office/drawing/2014/main" id="{536E8183-C004-4650-A415-65110217BD92}"/>
              </a:ext>
            </a:extLst>
          </p:cNvPr>
          <p:cNvSpPr>
            <a:spLocks xmlns:a="http://schemas.openxmlformats.org/drawingml/2006/main" noGrp="1"/>
          </p:cNvSpPr>
          <p:nvPr/>
        </p:nvSpPr>
        <p:spPr>
          <a:xfrm xmlns:a="http://schemas.openxmlformats.org/drawingml/2006/main">
            <a:off x="786384" y="2834640"/>
            <a:ext cx="580644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A7C68209-0576-4AD6-BC4D-4DFEB9D31F19}"/>
              </a:ext>
            </a:extLst>
          </p:cNvPr>
          <p:cNvSpPr>
            <a:spLocks xmlns:a="http://schemas.openxmlformats.org/drawingml/2006/main" noGrp="1"/>
          </p:cNvSpPr>
          <p:nvPr/>
        </p:nvSpPr>
        <p:spPr>
          <a:xfrm xmlns:a="http://schemas.openxmlformats.org/drawingml/2006/main">
            <a:off x="841247" y="2889504"/>
            <a:ext cx="569671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FFFFFF"/>
                </a:solidFill>
                <a:latin typeface="Arial"/>
                <a:ea typeface="Arial"/>
                <a:cs typeface="Arial"/>
              </a:rPr>
              <a:t>Mutually exclusive contrast outcome</a:t>
            </a:r>
          </a:p>
        </p:txBody>
      </p:sp>
      <p:sp>
        <p:nvSpPr>
          <p:cNvPr id="15" name="Rectangle 14">
            <a:extLst xmlns:a="http://schemas.openxmlformats.org/drawingml/2006/main">
              <a:ext uri="{FF2B5EF4-FFF2-40B4-BE49-F238E27FC236}">
                <a16:creationId xmlns:a16="http://schemas.microsoft.com/office/drawing/2014/main" id="{1694A8C1-05B5-47F1-85AF-E37DCB16D88D}"/>
              </a:ext>
            </a:extLst>
          </p:cNvPr>
          <p:cNvSpPr>
            <a:spLocks xmlns:a="http://schemas.openxmlformats.org/drawingml/2006/main" noGrp="1"/>
          </p:cNvSpPr>
          <p:nvPr/>
        </p:nvSpPr>
        <p:spPr>
          <a:xfrm xmlns:a="http://schemas.openxmlformats.org/drawingml/2006/main">
            <a:off x="6592824" y="2834640"/>
            <a:ext cx="1115568"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3488BB40-F98F-40EB-B99F-0B652DEF4505}"/>
              </a:ext>
            </a:extLst>
          </p:cNvPr>
          <p:cNvSpPr>
            <a:spLocks xmlns:a="http://schemas.openxmlformats.org/drawingml/2006/main" noGrp="1"/>
          </p:cNvSpPr>
          <p:nvPr/>
        </p:nvSpPr>
        <p:spPr>
          <a:xfrm xmlns:a="http://schemas.openxmlformats.org/drawingml/2006/main">
            <a:off x="6647688" y="2889504"/>
            <a:ext cx="1005840"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FFFFFF"/>
                </a:solidFill>
                <a:latin typeface="Arial"/>
                <a:ea typeface="Arial"/>
                <a:cs typeface="Arial"/>
              </a:rPr>
              <a:t>Contrasts</a:t>
            </a:r>
          </a:p>
        </p:txBody>
      </p:sp>
      <p:sp>
        <p:nvSpPr>
          <p:cNvPr id="17" name="Rectangle 16">
            <a:extLst xmlns:a="http://schemas.openxmlformats.org/drawingml/2006/main">
              <a:ext uri="{FF2B5EF4-FFF2-40B4-BE49-F238E27FC236}">
                <a16:creationId xmlns:a16="http://schemas.microsoft.com/office/drawing/2014/main" id="{78125995-9B01-4654-8667-F3D91A68BD02}"/>
              </a:ext>
            </a:extLst>
          </p:cNvPr>
          <p:cNvSpPr>
            <a:spLocks xmlns:a="http://schemas.openxmlformats.org/drawingml/2006/main" noGrp="1"/>
          </p:cNvSpPr>
          <p:nvPr/>
        </p:nvSpPr>
        <p:spPr>
          <a:xfrm xmlns:a="http://schemas.openxmlformats.org/drawingml/2006/main">
            <a:off x="7708392" y="2834640"/>
            <a:ext cx="3611880" cy="429768"/>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2D4EB2C-346E-4F90-B606-E8B9EAC67D6C}"/>
              </a:ext>
            </a:extLst>
          </p:cNvPr>
          <p:cNvSpPr>
            <a:spLocks xmlns:a="http://schemas.openxmlformats.org/drawingml/2006/main" noGrp="1"/>
          </p:cNvSpPr>
          <p:nvPr/>
        </p:nvSpPr>
        <p:spPr>
          <a:xfrm xmlns:a="http://schemas.openxmlformats.org/drawingml/2006/main">
            <a:off x="7763256" y="2889504"/>
            <a:ext cx="3502152" cy="338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FFFFFF"/>
                </a:solidFill>
                <a:latin typeface="Arial"/>
                <a:ea typeface="Arial"/>
                <a:cs typeface="Arial"/>
              </a:rPr>
              <a:t>KDA called?</a:t>
            </a:r>
          </a:p>
        </p:txBody>
      </p:sp>
      <p:sp>
        <p:nvSpPr>
          <p:cNvPr id="19" name="Rectangle 18">
            <a:extLst xmlns:a="http://schemas.openxmlformats.org/drawingml/2006/main">
              <a:ext uri="{FF2B5EF4-FFF2-40B4-BE49-F238E27FC236}">
                <a16:creationId xmlns:a16="http://schemas.microsoft.com/office/drawing/2014/main" id="{DEEE23B6-51E8-4740-8D90-1F2F8B9A946B}"/>
              </a:ext>
            </a:extLst>
          </p:cNvPr>
          <p:cNvSpPr>
            <a:spLocks xmlns:a="http://schemas.openxmlformats.org/drawingml/2006/main" noGrp="1"/>
          </p:cNvSpPr>
          <p:nvPr/>
        </p:nvSpPr>
        <p:spPr>
          <a:xfrm xmlns:a="http://schemas.openxmlformats.org/drawingml/2006/main">
            <a:off x="786384" y="3264408"/>
            <a:ext cx="580644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FFFF9712-557B-4CF9-A5D5-E47185AC98E3}"/>
              </a:ext>
            </a:extLst>
          </p:cNvPr>
          <p:cNvSpPr>
            <a:spLocks xmlns:a="http://schemas.openxmlformats.org/drawingml/2006/main" noGrp="1"/>
          </p:cNvSpPr>
          <p:nvPr/>
        </p:nvSpPr>
        <p:spPr>
          <a:xfrm xmlns:a="http://schemas.openxmlformats.org/drawingml/2006/main">
            <a:off x="841247" y="3386869"/>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Source DEG contrast not valid</a:t>
            </a:r>
          </a:p>
        </p:txBody>
      </p:sp>
      <p:sp>
        <p:nvSpPr>
          <p:cNvPr id="21" name="Rectangle 20">
            <a:extLst xmlns:a="http://schemas.openxmlformats.org/drawingml/2006/main">
              <a:ext uri="{FF2B5EF4-FFF2-40B4-BE49-F238E27FC236}">
                <a16:creationId xmlns:a16="http://schemas.microsoft.com/office/drawing/2014/main" id="{3115DB27-6DCB-41DA-9890-57EC7150C278}"/>
              </a:ext>
            </a:extLst>
          </p:cNvPr>
          <p:cNvSpPr>
            <a:spLocks xmlns:a="http://schemas.openxmlformats.org/drawingml/2006/main" noGrp="1"/>
          </p:cNvSpPr>
          <p:nvPr/>
        </p:nvSpPr>
        <p:spPr>
          <a:xfrm xmlns:a="http://schemas.openxmlformats.org/drawingml/2006/main">
            <a:off x="6592824" y="3264408"/>
            <a:ext cx="1115568"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FA8BEB43-DF32-46E3-89D4-2B1E4306F415}"/>
              </a:ext>
            </a:extLst>
          </p:cNvPr>
          <p:cNvSpPr>
            <a:spLocks xmlns:a="http://schemas.openxmlformats.org/drawingml/2006/main" noGrp="1"/>
          </p:cNvSpPr>
          <p:nvPr/>
        </p:nvSpPr>
        <p:spPr>
          <a:xfrm xmlns:a="http://schemas.openxmlformats.org/drawingml/2006/main">
            <a:off x="6647688" y="3310128"/>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393</a:t>
            </a:r>
          </a:p>
        </p:txBody>
      </p:sp>
      <p:sp>
        <p:nvSpPr>
          <p:cNvPr id="23" name="Rectangle 22">
            <a:extLst xmlns:a="http://schemas.openxmlformats.org/drawingml/2006/main">
              <a:ext uri="{FF2B5EF4-FFF2-40B4-BE49-F238E27FC236}">
                <a16:creationId xmlns:a16="http://schemas.microsoft.com/office/drawing/2014/main" id="{B84BCB48-6570-4822-828F-338499D6A131}"/>
              </a:ext>
            </a:extLst>
          </p:cNvPr>
          <p:cNvSpPr>
            <a:spLocks xmlns:a="http://schemas.openxmlformats.org/drawingml/2006/main" noGrp="1"/>
          </p:cNvSpPr>
          <p:nvPr/>
        </p:nvSpPr>
        <p:spPr>
          <a:xfrm xmlns:a="http://schemas.openxmlformats.org/drawingml/2006/main">
            <a:off x="7708392" y="3264408"/>
            <a:ext cx="361188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08E03D5A-5501-4016-BBCC-2C201A5B44EF}"/>
              </a:ext>
            </a:extLst>
          </p:cNvPr>
          <p:cNvSpPr>
            <a:spLocks xmlns:a="http://schemas.openxmlformats.org/drawingml/2006/main" noGrp="1"/>
          </p:cNvSpPr>
          <p:nvPr/>
        </p:nvSpPr>
        <p:spPr>
          <a:xfrm xmlns:a="http://schemas.openxmlformats.org/drawingml/2006/main">
            <a:off x="7763256" y="3310128"/>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25" name="Rectangle 24">
            <a:extLst xmlns:a="http://schemas.openxmlformats.org/drawingml/2006/main">
              <a:ext uri="{FF2B5EF4-FFF2-40B4-BE49-F238E27FC236}">
                <a16:creationId xmlns:a16="http://schemas.microsoft.com/office/drawing/2014/main" id="{C9FD0460-FED0-489F-B99B-9A944E679918}"/>
              </a:ext>
            </a:extLst>
          </p:cNvPr>
          <p:cNvSpPr>
            <a:spLocks xmlns:a="http://schemas.openxmlformats.org/drawingml/2006/main" noGrp="1"/>
          </p:cNvSpPr>
          <p:nvPr/>
        </p:nvSpPr>
        <p:spPr>
          <a:xfrm xmlns:a="http://schemas.openxmlformats.org/drawingml/2006/main">
            <a:off x="786384" y="3694176"/>
            <a:ext cx="580644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362E6B6B-2993-4D8E-998F-465FAB9FCA2E}"/>
              </a:ext>
            </a:extLst>
          </p:cNvPr>
          <p:cNvSpPr>
            <a:spLocks xmlns:a="http://schemas.openxmlformats.org/drawingml/2006/main" noGrp="1"/>
          </p:cNvSpPr>
          <p:nvPr/>
        </p:nvSpPr>
        <p:spPr>
          <a:xfrm xmlns:a="http://schemas.openxmlformats.org/drawingml/2006/main">
            <a:off x="841247" y="3816637"/>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Number of genes in query: 0</a:t>
            </a:r>
          </a:p>
        </p:txBody>
      </p:sp>
      <p:sp>
        <p:nvSpPr>
          <p:cNvPr id="27" name="Rectangle 26">
            <a:extLst xmlns:a="http://schemas.openxmlformats.org/drawingml/2006/main">
              <a:ext uri="{FF2B5EF4-FFF2-40B4-BE49-F238E27FC236}">
                <a16:creationId xmlns:a16="http://schemas.microsoft.com/office/drawing/2014/main" id="{4CA86A09-4680-437D-8C83-FD1A85F5237B}"/>
              </a:ext>
            </a:extLst>
          </p:cNvPr>
          <p:cNvSpPr>
            <a:spLocks xmlns:a="http://schemas.openxmlformats.org/drawingml/2006/main" noGrp="1"/>
          </p:cNvSpPr>
          <p:nvPr/>
        </p:nvSpPr>
        <p:spPr>
          <a:xfrm xmlns:a="http://schemas.openxmlformats.org/drawingml/2006/main">
            <a:off x="6592824" y="3694176"/>
            <a:ext cx="1115568"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84A62820-632F-4DA2-9BAA-EA9ADC94D734}"/>
              </a:ext>
            </a:extLst>
          </p:cNvPr>
          <p:cNvSpPr>
            <a:spLocks xmlns:a="http://schemas.openxmlformats.org/drawingml/2006/main" noGrp="1"/>
          </p:cNvSpPr>
          <p:nvPr/>
        </p:nvSpPr>
        <p:spPr>
          <a:xfrm xmlns:a="http://schemas.openxmlformats.org/drawingml/2006/main">
            <a:off x="6647688" y="3739896"/>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348</a:t>
            </a:r>
          </a:p>
        </p:txBody>
      </p:sp>
      <p:sp>
        <p:nvSpPr>
          <p:cNvPr id="29" name="Rectangle 28">
            <a:extLst xmlns:a="http://schemas.openxmlformats.org/drawingml/2006/main">
              <a:ext uri="{FF2B5EF4-FFF2-40B4-BE49-F238E27FC236}">
                <a16:creationId xmlns:a16="http://schemas.microsoft.com/office/drawing/2014/main" id="{6DA52366-3F22-429F-B145-2B9FC59B1AD8}"/>
              </a:ext>
            </a:extLst>
          </p:cNvPr>
          <p:cNvSpPr>
            <a:spLocks xmlns:a="http://schemas.openxmlformats.org/drawingml/2006/main" noGrp="1"/>
          </p:cNvSpPr>
          <p:nvPr/>
        </p:nvSpPr>
        <p:spPr>
          <a:xfrm xmlns:a="http://schemas.openxmlformats.org/drawingml/2006/main">
            <a:off x="7708392" y="3694176"/>
            <a:ext cx="361188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74D709C5-6EB0-461D-8820-445C30B578AE}"/>
              </a:ext>
            </a:extLst>
          </p:cNvPr>
          <p:cNvSpPr>
            <a:spLocks xmlns:a="http://schemas.openxmlformats.org/drawingml/2006/main" noGrp="1"/>
          </p:cNvSpPr>
          <p:nvPr/>
        </p:nvSpPr>
        <p:spPr>
          <a:xfrm xmlns:a="http://schemas.openxmlformats.org/drawingml/2006/main">
            <a:off x="7763256" y="3739896"/>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1" name="Rectangle 30">
            <a:extLst xmlns:a="http://schemas.openxmlformats.org/drawingml/2006/main">
              <a:ext uri="{FF2B5EF4-FFF2-40B4-BE49-F238E27FC236}">
                <a16:creationId xmlns:a16="http://schemas.microsoft.com/office/drawing/2014/main" id="{579DE40C-8DF4-4E4B-A8F9-CFD822ED624C}"/>
              </a:ext>
            </a:extLst>
          </p:cNvPr>
          <p:cNvSpPr>
            <a:spLocks xmlns:a="http://schemas.openxmlformats.org/drawingml/2006/main" noGrp="1"/>
          </p:cNvSpPr>
          <p:nvPr/>
        </p:nvSpPr>
        <p:spPr>
          <a:xfrm xmlns:a="http://schemas.openxmlformats.org/drawingml/2006/main">
            <a:off x="786384" y="4123944"/>
            <a:ext cx="580644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EC85DE27-E270-4AD6-B949-B0CD64F744D2}"/>
              </a:ext>
            </a:extLst>
          </p:cNvPr>
          <p:cNvSpPr>
            <a:spLocks xmlns:a="http://schemas.openxmlformats.org/drawingml/2006/main" noGrp="1"/>
          </p:cNvSpPr>
          <p:nvPr/>
        </p:nvSpPr>
        <p:spPr>
          <a:xfrm xmlns:a="http://schemas.openxmlformats.org/drawingml/2006/main">
            <a:off x="841247" y="4246404"/>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Number of genes in query: 1–2</a:t>
            </a:r>
          </a:p>
        </p:txBody>
      </p:sp>
      <p:sp>
        <p:nvSpPr>
          <p:cNvPr id="33" name="Rectangle 32">
            <a:extLst xmlns:a="http://schemas.openxmlformats.org/drawingml/2006/main">
              <a:ext uri="{FF2B5EF4-FFF2-40B4-BE49-F238E27FC236}">
                <a16:creationId xmlns:a16="http://schemas.microsoft.com/office/drawing/2014/main" id="{71922BEC-EBBD-464F-9A93-CB0E6CD0C65C}"/>
              </a:ext>
            </a:extLst>
          </p:cNvPr>
          <p:cNvSpPr>
            <a:spLocks xmlns:a="http://schemas.openxmlformats.org/drawingml/2006/main" noGrp="1"/>
          </p:cNvSpPr>
          <p:nvPr/>
        </p:nvSpPr>
        <p:spPr>
          <a:xfrm xmlns:a="http://schemas.openxmlformats.org/drawingml/2006/main">
            <a:off x="6592824" y="4123944"/>
            <a:ext cx="1115568"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FE7D493B-F1C6-44AE-82B1-5CA4C20101D7}"/>
              </a:ext>
            </a:extLst>
          </p:cNvPr>
          <p:cNvSpPr>
            <a:spLocks xmlns:a="http://schemas.openxmlformats.org/drawingml/2006/main" noGrp="1"/>
          </p:cNvSpPr>
          <p:nvPr/>
        </p:nvSpPr>
        <p:spPr>
          <a:xfrm xmlns:a="http://schemas.openxmlformats.org/drawingml/2006/main">
            <a:off x="6647688" y="4169663"/>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11</a:t>
            </a:r>
          </a:p>
        </p:txBody>
      </p:sp>
      <p:sp>
        <p:nvSpPr>
          <p:cNvPr id="35" name="Rectangle 34">
            <a:extLst xmlns:a="http://schemas.openxmlformats.org/drawingml/2006/main">
              <a:ext uri="{FF2B5EF4-FFF2-40B4-BE49-F238E27FC236}">
                <a16:creationId xmlns:a16="http://schemas.microsoft.com/office/drawing/2014/main" id="{0467B988-F2CC-4B87-A622-D85C4DBA4E32}"/>
              </a:ext>
            </a:extLst>
          </p:cNvPr>
          <p:cNvSpPr>
            <a:spLocks xmlns:a="http://schemas.openxmlformats.org/drawingml/2006/main" noGrp="1"/>
          </p:cNvSpPr>
          <p:nvPr/>
        </p:nvSpPr>
        <p:spPr>
          <a:xfrm xmlns:a="http://schemas.openxmlformats.org/drawingml/2006/main">
            <a:off x="7708392" y="4123944"/>
            <a:ext cx="3611880" cy="4297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9E333520-32E2-48D9-ABDD-7299433B2B08}"/>
              </a:ext>
            </a:extLst>
          </p:cNvPr>
          <p:cNvSpPr>
            <a:spLocks xmlns:a="http://schemas.openxmlformats.org/drawingml/2006/main" noGrp="1"/>
          </p:cNvSpPr>
          <p:nvPr/>
        </p:nvSpPr>
        <p:spPr>
          <a:xfrm xmlns:a="http://schemas.openxmlformats.org/drawingml/2006/main">
            <a:off x="7763256" y="4169663"/>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No</a:t>
            </a:r>
          </a:p>
        </p:txBody>
      </p:sp>
      <p:sp>
        <p:nvSpPr>
          <p:cNvPr id="37" name="Rectangle 36">
            <a:extLst xmlns:a="http://schemas.openxmlformats.org/drawingml/2006/main">
              <a:ext uri="{FF2B5EF4-FFF2-40B4-BE49-F238E27FC236}">
                <a16:creationId xmlns:a16="http://schemas.microsoft.com/office/drawing/2014/main" id="{373FF968-D279-4D47-AA68-6925D273751F}"/>
              </a:ext>
            </a:extLst>
          </p:cNvPr>
          <p:cNvSpPr>
            <a:spLocks xmlns:a="http://schemas.openxmlformats.org/drawingml/2006/main" noGrp="1"/>
          </p:cNvSpPr>
          <p:nvPr/>
        </p:nvSpPr>
        <p:spPr>
          <a:xfrm xmlns:a="http://schemas.openxmlformats.org/drawingml/2006/main">
            <a:off x="786384" y="4553712"/>
            <a:ext cx="580644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8" name="TextBox 37">
            <a:extLst xmlns:a="http://schemas.openxmlformats.org/drawingml/2006/main">
              <a:ext uri="{FF2B5EF4-FFF2-40B4-BE49-F238E27FC236}">
                <a16:creationId xmlns:a16="http://schemas.microsoft.com/office/drawing/2014/main" id="{8EC3745D-B09B-40CC-B2E1-181BDBE1B929}"/>
              </a:ext>
            </a:extLst>
          </p:cNvPr>
          <p:cNvSpPr>
            <a:spLocks xmlns:a="http://schemas.openxmlformats.org/drawingml/2006/main" noGrp="1"/>
          </p:cNvSpPr>
          <p:nvPr/>
        </p:nvSpPr>
        <p:spPr>
          <a:xfrm xmlns:a="http://schemas.openxmlformats.org/drawingml/2006/main">
            <a:off x="841247" y="4676173"/>
            <a:ext cx="569671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960">
                <a:solidFill>
                  <a:srgbClr val="1F2730"/>
                </a:solidFill>
                <a:latin typeface="Arial"/>
                <a:ea typeface="Arial"/>
                <a:cs typeface="Arial"/>
              </a:rPr>
              <a:t>Number of genes in query: &gt;=3</a:t>
            </a:r>
            <a:endParaRPr sz="960" b="0" i="0">
              <a:solidFill>
                <a:srgbClr val="1F2730"/>
              </a:solidFill>
              <a:latin typeface="Arial"/>
              <a:ea typeface="Arial"/>
              <a:cs typeface="Arial"/>
            </a:endParaRPr>
          </a:p>
        </p:txBody>
      </p:sp>
      <p:sp>
        <p:nvSpPr>
          <p:cNvPr id="39" name="Rectangle 38">
            <a:extLst xmlns:a="http://schemas.openxmlformats.org/drawingml/2006/main">
              <a:ext uri="{FF2B5EF4-FFF2-40B4-BE49-F238E27FC236}">
                <a16:creationId xmlns:a16="http://schemas.microsoft.com/office/drawing/2014/main" id="{0150717B-B47C-4BDA-A2A1-B24E1F4599D4}"/>
              </a:ext>
            </a:extLst>
          </p:cNvPr>
          <p:cNvSpPr>
            <a:spLocks xmlns:a="http://schemas.openxmlformats.org/drawingml/2006/main" noGrp="1"/>
          </p:cNvSpPr>
          <p:nvPr/>
        </p:nvSpPr>
        <p:spPr>
          <a:xfrm xmlns:a="http://schemas.openxmlformats.org/drawingml/2006/main">
            <a:off x="6592824" y="4553712"/>
            <a:ext cx="1115568"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0" name="TextBox 39">
            <a:extLst xmlns:a="http://schemas.openxmlformats.org/drawingml/2006/main">
              <a:ext uri="{FF2B5EF4-FFF2-40B4-BE49-F238E27FC236}">
                <a16:creationId xmlns:a16="http://schemas.microsoft.com/office/drawing/2014/main" id="{A1DA071E-0FA1-4CBC-84A7-C23543004197}"/>
              </a:ext>
            </a:extLst>
          </p:cNvPr>
          <p:cNvSpPr>
            <a:spLocks xmlns:a="http://schemas.openxmlformats.org/drawingml/2006/main" noGrp="1"/>
          </p:cNvSpPr>
          <p:nvPr/>
        </p:nvSpPr>
        <p:spPr>
          <a:xfrm xmlns:a="http://schemas.openxmlformats.org/drawingml/2006/main">
            <a:off x="6647688" y="4676173"/>
            <a:ext cx="1005840"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a:solidFill>
                  <a:srgbClr val="1F2730"/>
                </a:solidFill>
                <a:latin typeface="Arial"/>
                <a:ea typeface="Arial"/>
                <a:cs typeface="Arial"/>
              </a:rPr>
              <a:t>22</a:t>
            </a:r>
            <a:endParaRPr sz="960" b="0" i="0">
              <a:solidFill>
                <a:srgbClr val="1F2730"/>
              </a:solidFill>
              <a:latin typeface="Arial"/>
              <a:ea typeface="Arial"/>
              <a:cs typeface="Arial"/>
            </a:endParaRPr>
          </a:p>
        </p:txBody>
      </p:sp>
      <p:sp>
        <p:nvSpPr>
          <p:cNvPr id="41" name="Rectangle 40">
            <a:extLst xmlns:a="http://schemas.openxmlformats.org/drawingml/2006/main">
              <a:ext uri="{FF2B5EF4-FFF2-40B4-BE49-F238E27FC236}">
                <a16:creationId xmlns:a16="http://schemas.microsoft.com/office/drawing/2014/main" id="{3304B9D0-ADAD-40D3-8239-89117C09D517}"/>
              </a:ext>
            </a:extLst>
          </p:cNvPr>
          <p:cNvSpPr>
            <a:spLocks xmlns:a="http://schemas.openxmlformats.org/drawingml/2006/main" noGrp="1"/>
          </p:cNvSpPr>
          <p:nvPr/>
        </p:nvSpPr>
        <p:spPr>
          <a:xfrm xmlns:a="http://schemas.openxmlformats.org/drawingml/2006/main">
            <a:off x="7708392" y="4553712"/>
            <a:ext cx="3611880" cy="4297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2" name="TextBox 41">
            <a:extLst xmlns:a="http://schemas.openxmlformats.org/drawingml/2006/main">
              <a:ext uri="{FF2B5EF4-FFF2-40B4-BE49-F238E27FC236}">
                <a16:creationId xmlns:a16="http://schemas.microsoft.com/office/drawing/2014/main" id="{B1DDC8C2-5FD0-4512-B9FC-411C8E88417C}"/>
              </a:ext>
            </a:extLst>
          </p:cNvPr>
          <p:cNvSpPr>
            <a:spLocks xmlns:a="http://schemas.openxmlformats.org/drawingml/2006/main" noGrp="1"/>
          </p:cNvSpPr>
          <p:nvPr/>
        </p:nvSpPr>
        <p:spPr>
          <a:xfrm xmlns:a="http://schemas.openxmlformats.org/drawingml/2006/main">
            <a:off x="7763256" y="4676173"/>
            <a:ext cx="3502152" cy="203133"/>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0" i="0">
                <a:solidFill>
                  <a:srgbClr val="1F2730"/>
                </a:solidFill>
                <a:latin typeface="Arial"/>
                <a:ea typeface="Arial"/>
                <a:cs typeface="Arial"/>
              </a:rPr>
              <a:t>Yes</a:t>
            </a:r>
          </a:p>
        </p:txBody>
      </p:sp>
      <p:sp>
        <p:nvSpPr>
          <p:cNvPr id="49" name="Rectangle 48">
            <a:extLst xmlns:a="http://schemas.openxmlformats.org/drawingml/2006/main">
              <a:ext uri="{FF2B5EF4-FFF2-40B4-BE49-F238E27FC236}">
                <a16:creationId xmlns:a16="http://schemas.microsoft.com/office/drawing/2014/main" id="{1A0998C8-CEB6-4A92-AEB6-BE2E7DFBE2BE}"/>
              </a:ext>
            </a:extLst>
          </p:cNvPr>
          <p:cNvSpPr>
            <a:spLocks xmlns:a="http://schemas.openxmlformats.org/drawingml/2006/main" noGrp="1"/>
          </p:cNvSpPr>
          <p:nvPr/>
        </p:nvSpPr>
        <p:spPr>
          <a:xfrm xmlns:a="http://schemas.openxmlformats.org/drawingml/2006/main">
            <a:off x="786384" y="5002700"/>
            <a:ext cx="5806440" cy="429768"/>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0" name="TextBox 49">
            <a:extLst xmlns:a="http://schemas.openxmlformats.org/drawingml/2006/main">
              <a:ext uri="{FF2B5EF4-FFF2-40B4-BE49-F238E27FC236}">
                <a16:creationId xmlns:a16="http://schemas.microsoft.com/office/drawing/2014/main" id="{016DB5F1-DB8C-4310-AB69-2478EC5FD16D}"/>
              </a:ext>
            </a:extLst>
          </p:cNvPr>
          <p:cNvSpPr>
            <a:spLocks xmlns:a="http://schemas.openxmlformats.org/drawingml/2006/main" noGrp="1"/>
          </p:cNvSpPr>
          <p:nvPr/>
        </p:nvSpPr>
        <p:spPr>
          <a:xfrm xmlns:a="http://schemas.openxmlformats.org/drawingml/2006/main">
            <a:off x="841247" y="5048420"/>
            <a:ext cx="569671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1F2730"/>
                </a:solidFill>
                <a:latin typeface="Arial"/>
                <a:ea typeface="Arial"/>
                <a:cs typeface="Arial"/>
              </a:rPr>
              <a:t>TOTAL</a:t>
            </a:r>
          </a:p>
        </p:txBody>
      </p:sp>
      <p:sp>
        <p:nvSpPr>
          <p:cNvPr id="51" name="Rectangle 50">
            <a:extLst xmlns:a="http://schemas.openxmlformats.org/drawingml/2006/main">
              <a:ext uri="{FF2B5EF4-FFF2-40B4-BE49-F238E27FC236}">
                <a16:creationId xmlns:a16="http://schemas.microsoft.com/office/drawing/2014/main" id="{7EAC4715-A720-42B1-ACB8-5E6F721C19D0}"/>
              </a:ext>
            </a:extLst>
          </p:cNvPr>
          <p:cNvSpPr>
            <a:spLocks xmlns:a="http://schemas.openxmlformats.org/drawingml/2006/main" noGrp="1"/>
          </p:cNvSpPr>
          <p:nvPr/>
        </p:nvSpPr>
        <p:spPr>
          <a:xfrm xmlns:a="http://schemas.openxmlformats.org/drawingml/2006/main">
            <a:off x="6592824" y="5002700"/>
            <a:ext cx="1115568" cy="429768"/>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2" name="TextBox 51">
            <a:extLst xmlns:a="http://schemas.openxmlformats.org/drawingml/2006/main">
              <a:ext uri="{FF2B5EF4-FFF2-40B4-BE49-F238E27FC236}">
                <a16:creationId xmlns:a16="http://schemas.microsoft.com/office/drawing/2014/main" id="{0B08F8C0-BAE5-4956-9882-32026D2C2130}"/>
              </a:ext>
            </a:extLst>
          </p:cNvPr>
          <p:cNvSpPr>
            <a:spLocks xmlns:a="http://schemas.openxmlformats.org/drawingml/2006/main" noGrp="1"/>
          </p:cNvSpPr>
          <p:nvPr/>
        </p:nvSpPr>
        <p:spPr>
          <a:xfrm xmlns:a="http://schemas.openxmlformats.org/drawingml/2006/main">
            <a:off x="6647688" y="5048420"/>
            <a:ext cx="1005840"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1F2730"/>
                </a:solidFill>
                <a:latin typeface="Arial"/>
                <a:ea typeface="Arial"/>
                <a:cs typeface="Arial"/>
              </a:rPr>
              <a:t>774</a:t>
            </a:r>
          </a:p>
        </p:txBody>
      </p:sp>
      <p:sp>
        <p:nvSpPr>
          <p:cNvPr id="53" name="Rectangle 52">
            <a:extLst xmlns:a="http://schemas.openxmlformats.org/drawingml/2006/main">
              <a:ext uri="{FF2B5EF4-FFF2-40B4-BE49-F238E27FC236}">
                <a16:creationId xmlns:a16="http://schemas.microsoft.com/office/drawing/2014/main" id="{2318E8FD-D164-4CE7-BE87-ECC1C74B6293}"/>
              </a:ext>
            </a:extLst>
          </p:cNvPr>
          <p:cNvSpPr>
            <a:spLocks xmlns:a="http://schemas.openxmlformats.org/drawingml/2006/main" noGrp="1"/>
          </p:cNvSpPr>
          <p:nvPr/>
        </p:nvSpPr>
        <p:spPr>
          <a:xfrm xmlns:a="http://schemas.openxmlformats.org/drawingml/2006/main">
            <a:off x="7708392" y="5002700"/>
            <a:ext cx="3611880" cy="429768"/>
          </a:xfrm>
          <a:prstGeom xmlns:a="http://schemas.openxmlformats.org/drawingml/2006/main" prst="rect">
            <a:avLst/>
          </a:prstGeom>
          <a:solidFill xmlns:a="http://schemas.openxmlformats.org/drawingml/2006/main">
            <a:srgbClr val="E4F4EE"/>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4" name="TextBox 53">
            <a:extLst xmlns:a="http://schemas.openxmlformats.org/drawingml/2006/main">
              <a:ext uri="{FF2B5EF4-FFF2-40B4-BE49-F238E27FC236}">
                <a16:creationId xmlns:a16="http://schemas.microsoft.com/office/drawing/2014/main" id="{DF7B247E-0514-4A15-99C2-80063D536100}"/>
              </a:ext>
            </a:extLst>
          </p:cNvPr>
          <p:cNvSpPr>
            <a:spLocks xmlns:a="http://schemas.openxmlformats.org/drawingml/2006/main" noGrp="1"/>
          </p:cNvSpPr>
          <p:nvPr/>
        </p:nvSpPr>
        <p:spPr>
          <a:xfrm xmlns:a="http://schemas.openxmlformats.org/drawingml/2006/main">
            <a:off x="7763256" y="5048420"/>
            <a:ext cx="3502152" cy="3566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1F2730"/>
                </a:solidFill>
                <a:latin typeface="Arial"/>
                <a:ea typeface="Arial"/>
                <a:cs typeface="Arial"/>
              </a:rPr>
              <a:t>22 calls</a:t>
            </a:r>
          </a:p>
        </p:txBody>
      </p:sp>
      <p:sp>
        <p:nvSpPr>
          <p:cNvPr id="55" name="TextBox 54">
            <a:extLst xmlns:a="http://schemas.openxmlformats.org/drawingml/2006/main">
              <a:ext uri="{FF2B5EF4-FFF2-40B4-BE49-F238E27FC236}">
                <a16:creationId xmlns:a16="http://schemas.microsoft.com/office/drawing/2014/main" id="{B84EA5A0-1787-45A7-8C9F-AC2330E54895}"/>
              </a:ext>
            </a:extLst>
          </p:cNvPr>
          <p:cNvSpPr>
            <a:spLocks xmlns:a="http://schemas.openxmlformats.org/drawingml/2006/main" noGrp="1"/>
          </p:cNvSpPr>
          <p:nvPr/>
        </p:nvSpPr>
        <p:spPr>
          <a:xfrm xmlns:a="http://schemas.openxmlformats.org/drawingml/2006/main">
            <a:off x="804672" y="5551340"/>
            <a:ext cx="1060704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7E4C9A"/>
                </a:solidFill>
                <a:latin typeface="Arial"/>
                <a:ea typeface="Arial"/>
                <a:cs typeface="Arial"/>
              </a:rPr>
              <a:t>Availability remains unbalanced: 20 M_e33 calls, one F_e33 call, and one F_e4 call.</a:t>
            </a:r>
          </a:p>
        </p:txBody>
      </p:sp>
    </p:spTree>
    <p:extLst>
      <p:ext uri="{BB962C8B-B14F-4D97-AF65-F5344CB8AC3E}">
        <p14:creationId xmlns:p14="http://schemas.microsoft.com/office/powerpoint/2010/main" val="2029726359"/>
      </p:ext>
    </p:extLst>
  </p:cSld>
</p:sld>
</file>

<file path=ppt/slides/slide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43969B7-9D27-4716-9CC1-20BB99E1000F}"/>
              </a:ext>
            </a:extLst>
          </p:cNvPr>
          <p:cNvSpPr>
            <a:spLocks xmlns:a="http://schemas.openxmlformats.org/drawingml/2006/main" noGrp="1"/>
          </p:cNvSpPr>
          <p:nvPr/>
        </p:nvSpPr>
        <p:spPr>
          <a:xfrm xmlns:a="http://schemas.openxmlformats.org/drawingml/2006/main">
            <a:off x="530352" y="411480"/>
            <a:ext cx="10652760" cy="8094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SEA-AD KDA summary: 44 non-MT gene x category combinations represent 43 distinct genes</a:t>
            </a:r>
          </a:p>
        </p:txBody>
      </p:sp>
      <p:sp>
        <p:nvSpPr>
          <p:cNvPr id="3" name="Rounded Rectangle 2">
            <a:extLst xmlns:a="http://schemas.openxmlformats.org/drawingml/2006/main">
              <a:ext uri="{FF2B5EF4-FFF2-40B4-BE49-F238E27FC236}">
                <a16:creationId xmlns:a16="http://schemas.microsoft.com/office/drawing/2014/main" id="{266CB8E9-F00B-4186-B28B-E531AE500285}"/>
              </a:ext>
            </a:extLst>
          </p:cNvPr>
          <p:cNvSpPr>
            <a:spLocks xmlns:a="http://schemas.openxmlformats.org/drawingml/2006/main" noGrp="1"/>
          </p:cNvSpPr>
          <p:nvPr/>
        </p:nvSpPr>
        <p:spPr>
          <a:xfrm xmlns:a="http://schemas.openxmlformats.org/drawingml/2006/main">
            <a:off x="658368"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D586E91-0BBE-4562-BD66-1CC83A41D50A}"/>
              </a:ext>
            </a:extLst>
          </p:cNvPr>
          <p:cNvSpPr>
            <a:spLocks xmlns:a="http://schemas.openxmlformats.org/drawingml/2006/main" noGrp="1"/>
          </p:cNvSpPr>
          <p:nvPr/>
        </p:nvSpPr>
        <p:spPr>
          <a:xfrm xmlns:a="http://schemas.openxmlformats.org/drawingml/2006/main">
            <a:off x="804672"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54</a:t>
            </a:r>
          </a:p>
        </p:txBody>
      </p:sp>
      <p:sp>
        <p:nvSpPr>
          <p:cNvPr id="5" name="TextBox 4">
            <a:extLst xmlns:a="http://schemas.openxmlformats.org/drawingml/2006/main">
              <a:ext uri="{FF2B5EF4-FFF2-40B4-BE49-F238E27FC236}">
                <a16:creationId xmlns:a16="http://schemas.microsoft.com/office/drawing/2014/main" id="{C0806F58-2CBE-4AB7-B28A-D0E40AE7D203}"/>
              </a:ext>
            </a:extLst>
          </p:cNvPr>
          <p:cNvSpPr>
            <a:spLocks xmlns:a="http://schemas.openxmlformats.org/drawingml/2006/main" noGrp="1"/>
          </p:cNvSpPr>
          <p:nvPr/>
        </p:nvSpPr>
        <p:spPr>
          <a:xfrm xmlns:a="http://schemas.openxmlformats.org/drawingml/2006/main">
            <a:off x="804672" y="1938528"/>
            <a:ext cx="1645920" cy="49859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non-MT gene returned from call_key_driver (before aggregation)</a:t>
            </a:r>
          </a:p>
        </p:txBody>
      </p:sp>
      <p:sp>
        <p:nvSpPr>
          <p:cNvPr id="6" name="Rounded Rectangle 5">
            <a:extLst xmlns:a="http://schemas.openxmlformats.org/drawingml/2006/main">
              <a:ext uri="{FF2B5EF4-FFF2-40B4-BE49-F238E27FC236}">
                <a16:creationId xmlns:a16="http://schemas.microsoft.com/office/drawing/2014/main" id="{817055C6-2BF3-4CF7-B0CF-EE8E00A91A3F}"/>
              </a:ext>
            </a:extLst>
          </p:cNvPr>
          <p:cNvSpPr>
            <a:spLocks xmlns:a="http://schemas.openxmlformats.org/drawingml/2006/main" noGrp="1"/>
          </p:cNvSpPr>
          <p:nvPr/>
        </p:nvSpPr>
        <p:spPr>
          <a:xfrm xmlns:a="http://schemas.openxmlformats.org/drawingml/2006/main">
            <a:off x="2798063"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E414772-612D-467A-9081-053E8DB72155}"/>
              </a:ext>
            </a:extLst>
          </p:cNvPr>
          <p:cNvSpPr>
            <a:spLocks xmlns:a="http://schemas.openxmlformats.org/drawingml/2006/main" noGrp="1"/>
          </p:cNvSpPr>
          <p:nvPr/>
        </p:nvSpPr>
        <p:spPr>
          <a:xfrm xmlns:a="http://schemas.openxmlformats.org/drawingml/2006/main">
            <a:off x="2944368"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44</a:t>
            </a:r>
          </a:p>
        </p:txBody>
      </p:sp>
      <p:sp>
        <p:nvSpPr>
          <p:cNvPr id="8" name="TextBox 7">
            <a:extLst xmlns:a="http://schemas.openxmlformats.org/drawingml/2006/main">
              <a:ext uri="{FF2B5EF4-FFF2-40B4-BE49-F238E27FC236}">
                <a16:creationId xmlns:a16="http://schemas.microsoft.com/office/drawing/2014/main" id="{83E2F100-F6CB-40EF-9D57-57FD6C94428E}"/>
              </a:ext>
            </a:extLst>
          </p:cNvPr>
          <p:cNvSpPr>
            <a:spLocks xmlns:a="http://schemas.openxmlformats.org/drawingml/2006/main" noGrp="1"/>
          </p:cNvSpPr>
          <p:nvPr/>
        </p:nvSpPr>
        <p:spPr>
          <a:xfrm xmlns:a="http://schemas.openxmlformats.org/drawingml/2006/main">
            <a:off x="2944368" y="1938528"/>
            <a:ext cx="1645920" cy="35086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gene × category combinations</a:t>
            </a:r>
          </a:p>
        </p:txBody>
      </p:sp>
      <p:sp>
        <p:nvSpPr>
          <p:cNvPr id="9" name="Rounded Rectangle 8">
            <a:extLst xmlns:a="http://schemas.openxmlformats.org/drawingml/2006/main">
              <a:ext uri="{FF2B5EF4-FFF2-40B4-BE49-F238E27FC236}">
                <a16:creationId xmlns:a16="http://schemas.microsoft.com/office/drawing/2014/main" id="{C7DE2D7C-EEC9-4171-963B-D7475A9E150E}"/>
              </a:ext>
            </a:extLst>
          </p:cNvPr>
          <p:cNvSpPr>
            <a:spLocks xmlns:a="http://schemas.openxmlformats.org/drawingml/2006/main" noGrp="1"/>
          </p:cNvSpPr>
          <p:nvPr/>
        </p:nvSpPr>
        <p:spPr>
          <a:xfrm xmlns:a="http://schemas.openxmlformats.org/drawingml/2006/main">
            <a:off x="4937759"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61C40E9-5223-45F4-B44C-5FB233D2D895}"/>
              </a:ext>
            </a:extLst>
          </p:cNvPr>
          <p:cNvSpPr>
            <a:spLocks xmlns:a="http://schemas.openxmlformats.org/drawingml/2006/main" noGrp="1"/>
          </p:cNvSpPr>
          <p:nvPr/>
        </p:nvSpPr>
        <p:spPr>
          <a:xfrm xmlns:a="http://schemas.openxmlformats.org/drawingml/2006/main">
            <a:off x="5084064"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684D"/>
                </a:solidFill>
                <a:latin typeface="Arial"/>
                <a:ea typeface="Arial"/>
                <a:cs typeface="Arial"/>
              </a:rPr>
              <a:t>43</a:t>
            </a:r>
          </a:p>
        </p:txBody>
      </p:sp>
      <p:sp>
        <p:nvSpPr>
          <p:cNvPr id="11" name="TextBox 10">
            <a:extLst xmlns:a="http://schemas.openxmlformats.org/drawingml/2006/main">
              <a:ext uri="{FF2B5EF4-FFF2-40B4-BE49-F238E27FC236}">
                <a16:creationId xmlns:a16="http://schemas.microsoft.com/office/drawing/2014/main" id="{AB834481-730D-4593-8326-D382E238D0D4}"/>
              </a:ext>
            </a:extLst>
          </p:cNvPr>
          <p:cNvSpPr>
            <a:spLocks xmlns:a="http://schemas.openxmlformats.org/drawingml/2006/main" noGrp="1"/>
          </p:cNvSpPr>
          <p:nvPr/>
        </p:nvSpPr>
        <p:spPr>
          <a:xfrm xmlns:a="http://schemas.openxmlformats.org/drawingml/2006/main">
            <a:off x="5084064"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distinct gene symbols</a:t>
            </a:r>
          </a:p>
        </p:txBody>
      </p:sp>
      <p:sp>
        <p:nvSpPr>
          <p:cNvPr id="12" name="Rounded Rectangle 11">
            <a:extLst xmlns:a="http://schemas.openxmlformats.org/drawingml/2006/main">
              <a:ext uri="{FF2B5EF4-FFF2-40B4-BE49-F238E27FC236}">
                <a16:creationId xmlns:a16="http://schemas.microsoft.com/office/drawing/2014/main" id="{046BD997-623C-4AE5-B790-588E4444AAFE}"/>
              </a:ext>
            </a:extLst>
          </p:cNvPr>
          <p:cNvSpPr>
            <a:spLocks xmlns:a="http://schemas.openxmlformats.org/drawingml/2006/main" noGrp="1"/>
          </p:cNvSpPr>
          <p:nvPr/>
        </p:nvSpPr>
        <p:spPr>
          <a:xfrm xmlns:a="http://schemas.openxmlformats.org/drawingml/2006/main">
            <a:off x="7077455"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B67BD00-AE48-4A0D-AD00-63D7745D6BDD}"/>
              </a:ext>
            </a:extLst>
          </p:cNvPr>
          <p:cNvSpPr>
            <a:spLocks xmlns:a="http://schemas.openxmlformats.org/drawingml/2006/main" noGrp="1"/>
          </p:cNvSpPr>
          <p:nvPr/>
        </p:nvSpPr>
        <p:spPr>
          <a:xfrm xmlns:a="http://schemas.openxmlformats.org/drawingml/2006/main">
            <a:off x="7223759"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0072B2"/>
                </a:solidFill>
                <a:latin typeface="Arial"/>
                <a:ea typeface="Arial"/>
                <a:cs typeface="Arial"/>
              </a:rPr>
              <a:t>5</a:t>
            </a:r>
          </a:p>
        </p:txBody>
      </p:sp>
      <p:sp>
        <p:nvSpPr>
          <p:cNvPr id="14" name="TextBox 13">
            <a:extLst xmlns:a="http://schemas.openxmlformats.org/drawingml/2006/main">
              <a:ext uri="{FF2B5EF4-FFF2-40B4-BE49-F238E27FC236}">
                <a16:creationId xmlns:a16="http://schemas.microsoft.com/office/drawing/2014/main" id="{714FFE85-704F-4E2D-86BE-84362B31FAFE}"/>
              </a:ext>
            </a:extLst>
          </p:cNvPr>
          <p:cNvSpPr>
            <a:spLocks xmlns:a="http://schemas.openxmlformats.org/drawingml/2006/main" noGrp="1"/>
          </p:cNvSpPr>
          <p:nvPr/>
        </p:nvSpPr>
        <p:spPr>
          <a:xfrm xmlns:a="http://schemas.openxmlformats.org/drawingml/2006/main">
            <a:off x="7223759"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categories with returns</a:t>
            </a:r>
          </a:p>
        </p:txBody>
      </p:sp>
      <p:sp>
        <p:nvSpPr>
          <p:cNvPr id="15" name="Rounded Rectangle 14">
            <a:extLst xmlns:a="http://schemas.openxmlformats.org/drawingml/2006/main">
              <a:ext uri="{FF2B5EF4-FFF2-40B4-BE49-F238E27FC236}">
                <a16:creationId xmlns:a16="http://schemas.microsoft.com/office/drawing/2014/main" id="{BBB2D1C1-9E60-40C9-B0D8-6D9E8BB2BFF3}"/>
              </a:ext>
            </a:extLst>
          </p:cNvPr>
          <p:cNvSpPr>
            <a:spLocks xmlns:a="http://schemas.openxmlformats.org/drawingml/2006/main" noGrp="1"/>
          </p:cNvSpPr>
          <p:nvPr/>
        </p:nvSpPr>
        <p:spPr>
          <a:xfrm xmlns:a="http://schemas.openxmlformats.org/drawingml/2006/main">
            <a:off x="9217152" y="1389888"/>
            <a:ext cx="1938528" cy="102412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BD937122-BFF3-40DB-AE09-638A1D6F355D}"/>
              </a:ext>
            </a:extLst>
          </p:cNvPr>
          <p:cNvSpPr>
            <a:spLocks xmlns:a="http://schemas.openxmlformats.org/drawingml/2006/main" noGrp="1"/>
          </p:cNvSpPr>
          <p:nvPr/>
        </p:nvSpPr>
        <p:spPr>
          <a:xfrm xmlns:a="http://schemas.openxmlformats.org/drawingml/2006/main">
            <a:off x="9363456" y="1481328"/>
            <a:ext cx="1645920" cy="4297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500" b="1" i="0">
                <a:solidFill>
                  <a:srgbClr val="895600"/>
                </a:solidFill>
                <a:latin typeface="Arial"/>
                <a:ea typeface="Arial"/>
                <a:cs typeface="Arial"/>
              </a:rPr>
              <a:t>17</a:t>
            </a:r>
          </a:p>
        </p:txBody>
      </p:sp>
      <p:sp>
        <p:nvSpPr>
          <p:cNvPr id="17" name="TextBox 16">
            <a:extLst xmlns:a="http://schemas.openxmlformats.org/drawingml/2006/main">
              <a:ext uri="{FF2B5EF4-FFF2-40B4-BE49-F238E27FC236}">
                <a16:creationId xmlns:a16="http://schemas.microsoft.com/office/drawing/2014/main" id="{5A21E9DF-589A-40DA-92D1-FAAF462E8D5C}"/>
              </a:ext>
            </a:extLst>
          </p:cNvPr>
          <p:cNvSpPr>
            <a:spLocks xmlns:a="http://schemas.openxmlformats.org/drawingml/2006/main" noGrp="1"/>
          </p:cNvSpPr>
          <p:nvPr/>
        </p:nvSpPr>
        <p:spPr>
          <a:xfrm xmlns:a="http://schemas.openxmlformats.org/drawingml/2006/main">
            <a:off x="9363456" y="1938528"/>
            <a:ext cx="1645920" cy="39319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4E5A68"/>
                </a:solidFill>
                <a:latin typeface="Arial"/>
                <a:ea typeface="Arial"/>
                <a:cs typeface="Arial"/>
              </a:rPr>
              <a:t>top-five displayed rows</a:t>
            </a:r>
          </a:p>
        </p:txBody>
      </p:sp>
      <p:sp>
        <p:nvSpPr>
          <p:cNvPr id="18" name="Rounded Rectangle 17">
            <a:extLst xmlns:a="http://schemas.openxmlformats.org/drawingml/2006/main">
              <a:ext uri="{FF2B5EF4-FFF2-40B4-BE49-F238E27FC236}">
                <a16:creationId xmlns:a16="http://schemas.microsoft.com/office/drawing/2014/main" id="{F53A1BB7-26D4-4255-B160-1B1ECCA99BE1}"/>
              </a:ext>
            </a:extLst>
          </p:cNvPr>
          <p:cNvSpPr>
            <a:spLocks xmlns:a="http://schemas.openxmlformats.org/drawingml/2006/main" noGrp="1"/>
          </p:cNvSpPr>
          <p:nvPr/>
        </p:nvSpPr>
        <p:spPr>
          <a:xfrm xmlns:a="http://schemas.openxmlformats.org/drawingml/2006/main">
            <a:off x="658368" y="2871216"/>
            <a:ext cx="5266944" cy="283464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Rectangle 18">
            <a:extLst xmlns:a="http://schemas.openxmlformats.org/drawingml/2006/main">
              <a:ext uri="{FF2B5EF4-FFF2-40B4-BE49-F238E27FC236}">
                <a16:creationId xmlns:a16="http://schemas.microsoft.com/office/drawing/2014/main" id="{919BDC2A-9B9F-4374-A7DC-563CED8A9DE1}"/>
              </a:ext>
            </a:extLst>
          </p:cNvPr>
          <p:cNvSpPr>
            <a:spLocks xmlns:a="http://schemas.openxmlformats.org/drawingml/2006/main" noGrp="1"/>
          </p:cNvSpPr>
          <p:nvPr/>
        </p:nvSpPr>
        <p:spPr>
          <a:xfrm xmlns:a="http://schemas.openxmlformats.org/drawingml/2006/main">
            <a:off x="932688" y="319125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05749611-28D0-4B77-A610-0D1241272AD7}"/>
              </a:ext>
            </a:extLst>
          </p:cNvPr>
          <p:cNvSpPr>
            <a:spLocks xmlns:a="http://schemas.openxmlformats.org/drawingml/2006/main" noGrp="1"/>
          </p:cNvSpPr>
          <p:nvPr/>
        </p:nvSpPr>
        <p:spPr>
          <a:xfrm xmlns:a="http://schemas.openxmlformats.org/drawingml/2006/main">
            <a:off x="1078992" y="3163824"/>
            <a:ext cx="4572000"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Where the 44 combinations occur</a:t>
            </a:r>
          </a:p>
        </p:txBody>
      </p:sp>
      <p:sp>
        <p:nvSpPr>
          <p:cNvPr id="21" name="TextBox 20">
            <a:extLst xmlns:a="http://schemas.openxmlformats.org/drawingml/2006/main">
              <a:ext uri="{FF2B5EF4-FFF2-40B4-BE49-F238E27FC236}">
                <a16:creationId xmlns:a16="http://schemas.microsoft.com/office/drawing/2014/main" id="{51FBEE82-1AAF-4A5B-BEE7-B5273ACBACFB}"/>
              </a:ext>
            </a:extLst>
          </p:cNvPr>
          <p:cNvSpPr>
            <a:spLocks xmlns:a="http://schemas.openxmlformats.org/drawingml/2006/main" noGrp="1"/>
          </p:cNvSpPr>
          <p:nvPr/>
        </p:nvSpPr>
        <p:spPr>
          <a:xfrm xmlns:a="http://schemas.openxmlformats.org/drawingml/2006/main">
            <a:off x="941832" y="3685032"/>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684D"/>
                </a:solidFill>
                <a:latin typeface="Arial"/>
                <a:ea typeface="Arial"/>
                <a:cs typeface="Arial"/>
              </a:rPr>
              <a:t>By sex/APOE group</a:t>
            </a:r>
          </a:p>
        </p:txBody>
      </p:sp>
      <p:sp>
        <p:nvSpPr>
          <p:cNvPr id="22" name="TextBox 21">
            <a:extLst xmlns:a="http://schemas.openxmlformats.org/drawingml/2006/main">
              <a:ext uri="{FF2B5EF4-FFF2-40B4-BE49-F238E27FC236}">
                <a16:creationId xmlns:a16="http://schemas.microsoft.com/office/drawing/2014/main" id="{2BADE5CD-0D71-420F-AAC7-A81D98015224}"/>
              </a:ext>
            </a:extLst>
          </p:cNvPr>
          <p:cNvSpPr>
            <a:spLocks xmlns:a="http://schemas.openxmlformats.org/drawingml/2006/main" noGrp="1"/>
          </p:cNvSpPr>
          <p:nvPr/>
        </p:nvSpPr>
        <p:spPr>
          <a:xfrm xmlns:a="http://schemas.openxmlformats.org/drawingml/2006/main">
            <a:off x="941832" y="4023360"/>
            <a:ext cx="4544568" cy="5486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1" i="0">
                <a:solidFill>
                  <a:srgbClr val="0F233D"/>
                </a:solidFill>
                <a:latin typeface="Arial"/>
                <a:ea typeface="Arial"/>
                <a:cs typeface="Arial"/>
              </a:rPr>
              <a:t>M_e33 39 • F_e4 3 • F_e33 2 • other groups 0</a:t>
            </a:r>
          </a:p>
        </p:txBody>
      </p:sp>
      <p:sp>
        <p:nvSpPr>
          <p:cNvPr id="23" name="TextBox 22">
            <a:extLst xmlns:a="http://schemas.openxmlformats.org/drawingml/2006/main">
              <a:ext uri="{FF2B5EF4-FFF2-40B4-BE49-F238E27FC236}">
                <a16:creationId xmlns:a16="http://schemas.microsoft.com/office/drawing/2014/main" id="{934D0CBE-1EA8-44E3-9253-7C7679855DA3}"/>
              </a:ext>
            </a:extLst>
          </p:cNvPr>
          <p:cNvSpPr>
            <a:spLocks xmlns:a="http://schemas.openxmlformats.org/drawingml/2006/main" noGrp="1"/>
          </p:cNvSpPr>
          <p:nvPr/>
        </p:nvSpPr>
        <p:spPr>
          <a:xfrm xmlns:a="http://schemas.openxmlformats.org/drawingml/2006/main">
            <a:off x="941832" y="4718304"/>
            <a:ext cx="1874519"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684D"/>
                </a:solidFill>
                <a:latin typeface="Arial"/>
                <a:ea typeface="Arial"/>
                <a:cs typeface="Arial"/>
              </a:rPr>
              <a:t>By broad network</a:t>
            </a:r>
          </a:p>
        </p:txBody>
      </p:sp>
      <p:sp>
        <p:nvSpPr>
          <p:cNvPr id="24" name="TextBox 23">
            <a:extLst xmlns:a="http://schemas.openxmlformats.org/drawingml/2006/main">
              <a:ext uri="{FF2B5EF4-FFF2-40B4-BE49-F238E27FC236}">
                <a16:creationId xmlns:a16="http://schemas.microsoft.com/office/drawing/2014/main" id="{EE7A5776-CF45-454B-B504-83B259C0FDE1}"/>
              </a:ext>
            </a:extLst>
          </p:cNvPr>
          <p:cNvSpPr>
            <a:spLocks xmlns:a="http://schemas.openxmlformats.org/drawingml/2006/main" noGrp="1"/>
          </p:cNvSpPr>
          <p:nvPr/>
        </p:nvSpPr>
        <p:spPr>
          <a:xfrm xmlns:a="http://schemas.openxmlformats.org/drawingml/2006/main">
            <a:off x="941832" y="5010912"/>
            <a:ext cx="4544568" cy="5669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0" b="1" i="0">
                <a:solidFill>
                  <a:srgbClr val="0F233D"/>
                </a:solidFill>
                <a:latin typeface="Arial"/>
                <a:ea typeface="Arial"/>
                <a:cs typeface="Arial"/>
              </a:rPr>
              <a:t>Excitatory 27 • Inhibitory 12 • Astrocytes 3 • Oligo 2
Microglia, OPCs, Vasculature 0</a:t>
            </a:r>
          </a:p>
        </p:txBody>
      </p:sp>
      <p:sp>
        <p:nvSpPr>
          <p:cNvPr id="25" name="Rounded Rectangle 24">
            <a:extLst xmlns:a="http://schemas.openxmlformats.org/drawingml/2006/main">
              <a:ext uri="{FF2B5EF4-FFF2-40B4-BE49-F238E27FC236}">
                <a16:creationId xmlns:a16="http://schemas.microsoft.com/office/drawing/2014/main" id="{A242F848-502E-4E2C-BE15-FCF81556BAB7}"/>
              </a:ext>
            </a:extLst>
          </p:cNvPr>
          <p:cNvSpPr>
            <a:spLocks xmlns:a="http://schemas.openxmlformats.org/drawingml/2006/main" noGrp="1"/>
          </p:cNvSpPr>
          <p:nvPr/>
        </p:nvSpPr>
        <p:spPr>
          <a:xfrm xmlns:a="http://schemas.openxmlformats.org/drawingml/2006/main">
            <a:off x="6181344" y="2871216"/>
            <a:ext cx="5010912" cy="283464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ctangle 25">
            <a:extLst xmlns:a="http://schemas.openxmlformats.org/drawingml/2006/main">
              <a:ext uri="{FF2B5EF4-FFF2-40B4-BE49-F238E27FC236}">
                <a16:creationId xmlns:a16="http://schemas.microsoft.com/office/drawing/2014/main" id="{1651B2FF-A649-4167-A154-536CA5377580}"/>
              </a:ext>
            </a:extLst>
          </p:cNvPr>
          <p:cNvSpPr>
            <a:spLocks xmlns:a="http://schemas.openxmlformats.org/drawingml/2006/main" noGrp="1"/>
          </p:cNvSpPr>
          <p:nvPr/>
        </p:nvSpPr>
        <p:spPr>
          <a:xfrm xmlns:a="http://schemas.openxmlformats.org/drawingml/2006/main">
            <a:off x="6455664" y="319125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1AFD1C8B-0909-4834-B27B-7FCDF6064D16}"/>
              </a:ext>
            </a:extLst>
          </p:cNvPr>
          <p:cNvSpPr>
            <a:spLocks xmlns:a="http://schemas.openxmlformats.org/drawingml/2006/main" noGrp="1"/>
          </p:cNvSpPr>
          <p:nvPr/>
        </p:nvSpPr>
        <p:spPr>
          <a:xfrm xmlns:a="http://schemas.openxmlformats.org/drawingml/2006/main">
            <a:off x="6601968" y="3163824"/>
            <a:ext cx="43159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Execution and filtering</a:t>
            </a:r>
          </a:p>
        </p:txBody>
      </p:sp>
      <p:sp>
        <p:nvSpPr>
          <p:cNvPr id="28" name="Oval 27">
            <a:extLst xmlns:a="http://schemas.openxmlformats.org/drawingml/2006/main">
              <a:ext uri="{FF2B5EF4-FFF2-40B4-BE49-F238E27FC236}">
                <a16:creationId xmlns:a16="http://schemas.microsoft.com/office/drawing/2014/main" id="{48C231C5-C605-4D75-898B-8BFD47BC92EF}"/>
              </a:ext>
            </a:extLst>
          </p:cNvPr>
          <p:cNvSpPr>
            <a:spLocks xmlns:a="http://schemas.openxmlformats.org/drawingml/2006/main" noGrp="1"/>
          </p:cNvSpPr>
          <p:nvPr/>
        </p:nvSpPr>
        <p:spPr>
          <a:xfrm xmlns:a="http://schemas.openxmlformats.org/drawingml/2006/main">
            <a:off x="6473952" y="3803903"/>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34823F20-5A45-4A0A-B19E-4A10F7E169C1}"/>
              </a:ext>
            </a:extLst>
          </p:cNvPr>
          <p:cNvSpPr>
            <a:spLocks xmlns:a="http://schemas.openxmlformats.org/drawingml/2006/main" noGrp="1"/>
          </p:cNvSpPr>
          <p:nvPr/>
        </p:nvSpPr>
        <p:spPr>
          <a:xfrm xmlns:a="http://schemas.openxmlformats.org/drawingml/2006/main">
            <a:off x="6647688" y="3675887"/>
            <a:ext cx="4197096" cy="224677"/>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20 call_key_driver with returned results; 2 completed empty.</a:t>
            </a:r>
          </a:p>
        </p:txBody>
      </p:sp>
      <p:sp>
        <p:nvSpPr>
          <p:cNvPr id="30" name="Oval 29">
            <a:extLst xmlns:a="http://schemas.openxmlformats.org/drawingml/2006/main">
              <a:ext uri="{FF2B5EF4-FFF2-40B4-BE49-F238E27FC236}">
                <a16:creationId xmlns:a16="http://schemas.microsoft.com/office/drawing/2014/main" id="{AF468CC1-E16F-46D0-9314-E81F9426FFB1}"/>
              </a:ext>
            </a:extLst>
          </p:cNvPr>
          <p:cNvSpPr>
            <a:spLocks xmlns:a="http://schemas.openxmlformats.org/drawingml/2006/main" noGrp="1"/>
          </p:cNvSpPr>
          <p:nvPr/>
        </p:nvSpPr>
        <p:spPr>
          <a:xfrm xmlns:a="http://schemas.openxmlformats.org/drawingml/2006/main">
            <a:off x="6473952" y="424281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09C15C00-D3AD-4B6B-ADF9-A831EFF6375E}"/>
              </a:ext>
            </a:extLst>
          </p:cNvPr>
          <p:cNvSpPr>
            <a:spLocks xmlns:a="http://schemas.openxmlformats.org/drawingml/2006/main" noGrp="1"/>
          </p:cNvSpPr>
          <p:nvPr/>
        </p:nvSpPr>
        <p:spPr>
          <a:xfrm xmlns:a="http://schemas.openxmlformats.org/drawingml/2006/main">
            <a:off x="6647688" y="4114800"/>
            <a:ext cx="4197096"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112 significant return rows before mitochondrial filtering.</a:t>
            </a:r>
          </a:p>
        </p:txBody>
      </p:sp>
      <p:sp>
        <p:nvSpPr>
          <p:cNvPr id="32" name="Oval 31">
            <a:extLst xmlns:a="http://schemas.openxmlformats.org/drawingml/2006/main">
              <a:ext uri="{FF2B5EF4-FFF2-40B4-BE49-F238E27FC236}">
                <a16:creationId xmlns:a16="http://schemas.microsoft.com/office/drawing/2014/main" id="{EE669660-30A8-420E-AC2D-AE1BDF8C3DC1}"/>
              </a:ext>
            </a:extLst>
          </p:cNvPr>
          <p:cNvSpPr>
            <a:spLocks xmlns:a="http://schemas.openxmlformats.org/drawingml/2006/main" noGrp="1"/>
          </p:cNvSpPr>
          <p:nvPr/>
        </p:nvSpPr>
        <p:spPr>
          <a:xfrm xmlns:a="http://schemas.openxmlformats.org/drawingml/2006/main">
            <a:off x="6473952" y="468172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331ABCB6-F6D1-4B0E-A15B-C18E837295F3}"/>
              </a:ext>
            </a:extLst>
          </p:cNvPr>
          <p:cNvSpPr>
            <a:spLocks xmlns:a="http://schemas.openxmlformats.org/drawingml/2006/main" noGrp="1"/>
          </p:cNvSpPr>
          <p:nvPr/>
        </p:nvSpPr>
        <p:spPr>
          <a:xfrm xmlns:a="http://schemas.openxmlformats.org/drawingml/2006/main">
            <a:off x="6647688" y="4553712"/>
            <a:ext cx="4197096"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58 core-MitoCarta rows excluded.</a:t>
            </a:r>
          </a:p>
        </p:txBody>
      </p:sp>
      <p:sp>
        <p:nvSpPr>
          <p:cNvPr id="34" name="Oval 33">
            <a:extLst xmlns:a="http://schemas.openxmlformats.org/drawingml/2006/main">
              <a:ext uri="{FF2B5EF4-FFF2-40B4-BE49-F238E27FC236}">
                <a16:creationId xmlns:a16="http://schemas.microsoft.com/office/drawing/2014/main" id="{BB1ED601-06B8-4E91-8C71-7E09AD39A38E}"/>
              </a:ext>
            </a:extLst>
          </p:cNvPr>
          <p:cNvSpPr>
            <a:spLocks xmlns:a="http://schemas.openxmlformats.org/drawingml/2006/main" noGrp="1"/>
          </p:cNvSpPr>
          <p:nvPr/>
        </p:nvSpPr>
        <p:spPr>
          <a:xfrm xmlns:a="http://schemas.openxmlformats.org/drawingml/2006/main">
            <a:off x="6473952" y="5120640"/>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3D878F60-9EE8-421F-924E-ED902D22CDF0}"/>
              </a:ext>
            </a:extLst>
          </p:cNvPr>
          <p:cNvSpPr>
            <a:spLocks xmlns:a="http://schemas.openxmlformats.org/drawingml/2006/main" noGrp="1"/>
          </p:cNvSpPr>
          <p:nvPr/>
        </p:nvSpPr>
        <p:spPr>
          <a:xfrm xmlns:a="http://schemas.openxmlformats.org/drawingml/2006/main">
            <a:off x="6647688" y="4992624"/>
            <a:ext cx="4197096"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0" i="0">
                <a:solidFill>
                  <a:srgbClr val="1F2730"/>
                </a:solidFill>
                <a:latin typeface="Arial"/>
                <a:ea typeface="Arial"/>
                <a:cs typeface="Arial"/>
              </a:rPr>
              <a:t>54 non-MT rows retained for aggregation.</a:t>
            </a:r>
          </a:p>
        </p:txBody>
      </p:sp>
    </p:spTree>
    <p:extLst>
      <p:ext uri="{BB962C8B-B14F-4D97-AF65-F5344CB8AC3E}">
        <p14:creationId xmlns:p14="http://schemas.microsoft.com/office/powerpoint/2010/main" val="1830147622"/>
      </p:ext>
    </p:extLst>
  </p:cSld>
</p:sld>
</file>

<file path=ppt/slides/slide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37E4A77-798C-4247-B980-A05FE07C4206}"/>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PJVK is the only gene recurring across 2 SEA-AD categories</a:t>
            </a:r>
          </a:p>
        </p:txBody>
      </p:sp>
      <p:sp>
        <p:nvSpPr>
          <p:cNvPr id="3" name="TextBox 2">
            <a:extLst xmlns:a="http://schemas.openxmlformats.org/drawingml/2006/main">
              <a:ext uri="{FF2B5EF4-FFF2-40B4-BE49-F238E27FC236}">
                <a16:creationId xmlns:a16="http://schemas.microsoft.com/office/drawing/2014/main" id="{758A32F6-ABDD-47BE-BF44-207ECFBFE9CF}"/>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Returned-only recurrence is descriptive across sex/APOE × broad-cell categories.</a:t>
            </a:r>
          </a:p>
        </p:txBody>
      </p:sp>
      <p:sp>
        <p:nvSpPr>
          <p:cNvPr id="4" name="Rounded Rectangle 3">
            <a:extLst xmlns:a="http://schemas.openxmlformats.org/drawingml/2006/main">
              <a:ext uri="{FF2B5EF4-FFF2-40B4-BE49-F238E27FC236}">
                <a16:creationId xmlns:a16="http://schemas.microsoft.com/office/drawing/2014/main" id="{4CC57176-FA97-49DD-A2B4-41312067D0D1}"/>
              </a:ext>
            </a:extLst>
          </p:cNvPr>
          <p:cNvSpPr>
            <a:spLocks xmlns:a="http://schemas.openxmlformats.org/drawingml/2006/main" noGrp="1"/>
          </p:cNvSpPr>
          <p:nvPr/>
        </p:nvSpPr>
        <p:spPr>
          <a:xfrm xmlns:a="http://schemas.openxmlformats.org/drawingml/2006/main">
            <a:off x="429768" y="1161288"/>
            <a:ext cx="6547104" cy="493776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25" name="Uniform-blue bar chart of the twenty SEA-AD non-MT genes appearing in the most sex/APOE by broad-cell categories"/>
          <p:cNvPicPr>
            <a:picLocks xmlns:a="http://schemas.openxmlformats.org/drawingml/2006/main" noChangeAspect="1"/>
          </p:cNvPicPr>
          <p:nvPr/>
        </p:nvPicPr>
        <p:blipFill>
          <a:blip xmlns:r="http://schemas.openxmlformats.org/officeDocument/2006/relationships" xmlns:a="http://schemas.openxmlformats.org/drawingml/2006/main" r:embed="R274c20488c084264"/>
          <a:stretch xmlns:a="http://schemas.openxmlformats.org/drawingml/2006/main">
            <a:fillRect l="0" t="0" r="0" b="0"/>
          </a:stretch>
        </p:blipFill>
        <p:spPr>
          <a:xfrm xmlns:a="http://schemas.openxmlformats.org/drawingml/2006/main">
            <a:off x="996696" y="1252728"/>
            <a:ext cx="5413248" cy="4736592"/>
          </a:xfrm>
          <a:prstGeom xmlns:a="http://schemas.openxmlformats.org/drawingml/2006/main" prst="rect">
            <a:avLst/>
          </a:prstGeom>
        </p:spPr>
      </p:pic>
      <p:sp>
        <p:nvSpPr>
          <p:cNvPr id="6" name="Rounded Rectangle 5">
            <a:extLst xmlns:a="http://schemas.openxmlformats.org/drawingml/2006/main">
              <a:ext uri="{FF2B5EF4-FFF2-40B4-BE49-F238E27FC236}">
                <a16:creationId xmlns:a16="http://schemas.microsoft.com/office/drawing/2014/main" id="{D0BE8979-34CC-4443-8A5C-C03F194F4331}"/>
              </a:ext>
            </a:extLst>
          </p:cNvPr>
          <p:cNvSpPr>
            <a:spLocks xmlns:a="http://schemas.openxmlformats.org/drawingml/2006/main" noGrp="1"/>
          </p:cNvSpPr>
          <p:nvPr/>
        </p:nvSpPr>
        <p:spPr>
          <a:xfrm xmlns:a="http://schemas.openxmlformats.org/drawingml/2006/main">
            <a:off x="7232904" y="1298448"/>
            <a:ext cx="4343400" cy="45537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Rectangle 6">
            <a:extLst xmlns:a="http://schemas.openxmlformats.org/drawingml/2006/main">
              <a:ext uri="{FF2B5EF4-FFF2-40B4-BE49-F238E27FC236}">
                <a16:creationId xmlns:a16="http://schemas.microsoft.com/office/drawing/2014/main" id="{EB6C9FC8-AD75-422F-AE1B-D4FA41CA5867}"/>
              </a:ext>
            </a:extLst>
          </p:cNvPr>
          <p:cNvSpPr>
            <a:spLocks xmlns:a="http://schemas.openxmlformats.org/drawingml/2006/main" noGrp="1"/>
          </p:cNvSpPr>
          <p:nvPr/>
        </p:nvSpPr>
        <p:spPr>
          <a:xfrm xmlns:a="http://schemas.openxmlformats.org/drawingml/2006/main">
            <a:off x="7516368" y="1618488"/>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8F7162F-41F2-4707-8065-489B55557CD2}"/>
              </a:ext>
            </a:extLst>
          </p:cNvPr>
          <p:cNvSpPr>
            <a:spLocks xmlns:a="http://schemas.openxmlformats.org/drawingml/2006/main" noGrp="1"/>
          </p:cNvSpPr>
          <p:nvPr/>
        </p:nvSpPr>
        <p:spPr>
          <a:xfrm xmlns:a="http://schemas.openxmlformats.org/drawingml/2006/main">
            <a:off x="7662672" y="1591056"/>
            <a:ext cx="36301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How to read it</a:t>
            </a:r>
          </a:p>
        </p:txBody>
      </p:sp>
      <p:sp>
        <p:nvSpPr>
          <p:cNvPr id="9" name="Oval 8">
            <a:extLst xmlns:a="http://schemas.openxmlformats.org/drawingml/2006/main">
              <a:ext uri="{FF2B5EF4-FFF2-40B4-BE49-F238E27FC236}">
                <a16:creationId xmlns:a16="http://schemas.microsoft.com/office/drawing/2014/main" id="{B244F949-D513-41A3-AB1A-03E5C96C7EE2}"/>
              </a:ext>
            </a:extLst>
          </p:cNvPr>
          <p:cNvSpPr>
            <a:spLocks xmlns:a="http://schemas.openxmlformats.org/drawingml/2006/main" noGrp="1"/>
          </p:cNvSpPr>
          <p:nvPr/>
        </p:nvSpPr>
        <p:spPr>
          <a:xfrm xmlns:a="http://schemas.openxmlformats.org/drawingml/2006/main">
            <a:off x="7525512" y="221284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CA6C543-A6D2-4A87-9D27-F5E53A9B4560}"/>
              </a:ext>
            </a:extLst>
          </p:cNvPr>
          <p:cNvSpPr>
            <a:spLocks xmlns:a="http://schemas.openxmlformats.org/drawingml/2006/main" noGrp="1"/>
          </p:cNvSpPr>
          <p:nvPr/>
        </p:nvSpPr>
        <p:spPr>
          <a:xfrm xmlns:a="http://schemas.openxmlformats.org/drawingml/2006/main">
            <a:off x="7699248" y="2084831"/>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Bar length = number of categories containing the gene.</a:t>
            </a:r>
          </a:p>
        </p:txBody>
      </p:sp>
      <p:sp>
        <p:nvSpPr>
          <p:cNvPr id="13" name="Oval 12">
            <a:extLst xmlns:a="http://schemas.openxmlformats.org/drawingml/2006/main">
              <a:ext uri="{FF2B5EF4-FFF2-40B4-BE49-F238E27FC236}">
                <a16:creationId xmlns:a16="http://schemas.microsoft.com/office/drawing/2014/main" id="{FE607420-6B12-4881-91D4-EA359CCE0F94}"/>
              </a:ext>
            </a:extLst>
          </p:cNvPr>
          <p:cNvSpPr>
            <a:spLocks xmlns:a="http://schemas.openxmlformats.org/drawingml/2006/main" noGrp="1"/>
          </p:cNvSpPr>
          <p:nvPr/>
        </p:nvSpPr>
        <p:spPr>
          <a:xfrm xmlns:a="http://schemas.openxmlformats.org/drawingml/2006/main">
            <a:off x="7525512" y="2770632"/>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EE2DD333-B444-4527-AA61-E8F8CBBC2654}"/>
              </a:ext>
            </a:extLst>
          </p:cNvPr>
          <p:cNvSpPr>
            <a:spLocks xmlns:a="http://schemas.openxmlformats.org/drawingml/2006/main" noGrp="1"/>
          </p:cNvSpPr>
          <p:nvPr/>
        </p:nvSpPr>
        <p:spPr>
          <a:xfrm xmlns:a="http://schemas.openxmlformats.org/drawingml/2006/main">
            <a:off x="7699248" y="2642615"/>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PJVK: 2 categories, 1 group, 2 networks.</a:t>
            </a:r>
          </a:p>
        </p:txBody>
      </p:sp>
      <p:sp>
        <p:nvSpPr>
          <p:cNvPr id="17" name="Oval 16">
            <a:extLst xmlns:a="http://schemas.openxmlformats.org/drawingml/2006/main">
              <a:ext uri="{FF2B5EF4-FFF2-40B4-BE49-F238E27FC236}">
                <a16:creationId xmlns:a16="http://schemas.microsoft.com/office/drawing/2014/main" id="{B61A38A8-640E-470D-BAF9-322FC289A16E}"/>
              </a:ext>
            </a:extLst>
          </p:cNvPr>
          <p:cNvSpPr>
            <a:spLocks xmlns:a="http://schemas.openxmlformats.org/drawingml/2006/main" noGrp="1"/>
          </p:cNvSpPr>
          <p:nvPr/>
        </p:nvSpPr>
        <p:spPr>
          <a:xfrm xmlns:a="http://schemas.openxmlformats.org/drawingml/2006/main">
            <a:off x="7525512" y="3328415"/>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4264E7C-353D-4465-B025-C2683A4CA8EE}"/>
              </a:ext>
            </a:extLst>
          </p:cNvPr>
          <p:cNvSpPr>
            <a:spLocks xmlns:a="http://schemas.openxmlformats.org/drawingml/2006/main" noGrp="1"/>
          </p:cNvSpPr>
          <p:nvPr/>
        </p:nvSpPr>
        <p:spPr>
          <a:xfrm xmlns:a="http://schemas.openxmlformats.org/drawingml/2006/main">
            <a:off x="7699248" y="3200399"/>
            <a:ext cx="3502151" cy="5577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30" b="0" i="0">
                <a:solidFill>
                  <a:srgbClr val="1F2730"/>
                </a:solidFill>
                <a:latin typeface="Arial"/>
                <a:ea typeface="Arial"/>
                <a:cs typeface="Arial"/>
              </a:rPr>
              <a:t>The remaining 19 displayed genes occur in one category.</a:t>
            </a:r>
          </a:p>
        </p:txBody>
      </p:sp>
      <p:sp>
        <p:nvSpPr>
          <p:cNvPr id="19" name="Rounded Rectangle 18">
            <a:extLst xmlns:a="http://schemas.openxmlformats.org/drawingml/2006/main">
              <a:ext uri="{FF2B5EF4-FFF2-40B4-BE49-F238E27FC236}">
                <a16:creationId xmlns:a16="http://schemas.microsoft.com/office/drawing/2014/main" id="{A7D0E624-43DD-47B3-B5F4-DF565451AC22}"/>
              </a:ext>
            </a:extLst>
          </p:cNvPr>
          <p:cNvSpPr>
            <a:spLocks xmlns:a="http://schemas.openxmlformats.org/drawingml/2006/main" noGrp="1"/>
          </p:cNvSpPr>
          <p:nvPr/>
        </p:nvSpPr>
        <p:spPr>
          <a:xfrm xmlns:a="http://schemas.openxmlformats.org/drawingml/2006/main">
            <a:off x="7516368" y="5074920"/>
            <a:ext cx="3749039" cy="51206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22023417-8596-4D9C-AF25-7E40295D3870}"/>
              </a:ext>
            </a:extLst>
          </p:cNvPr>
          <p:cNvSpPr>
            <a:spLocks xmlns:a="http://schemas.openxmlformats.org/drawingml/2006/main" noGrp="1"/>
          </p:cNvSpPr>
          <p:nvPr/>
        </p:nvSpPr>
        <p:spPr>
          <a:xfrm xmlns:a="http://schemas.openxmlformats.org/drawingml/2006/main">
            <a:off x="7690104" y="5175504"/>
            <a:ext cx="3401568"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0" b="1" i="0">
                <a:solidFill>
                  <a:srgbClr val="9E3A00"/>
                </a:solidFill>
                <a:latin typeface="Arial"/>
                <a:ea typeface="Arial"/>
                <a:cs typeface="Arial"/>
              </a:rPr>
              <a:t>Only 5 categories return non-MT genes.</a:t>
            </a:r>
          </a:p>
        </p:txBody>
      </p:sp>
    </p:spTree>
    <p:extLst>
      <p:ext uri="{BB962C8B-B14F-4D97-AF65-F5344CB8AC3E}">
        <p14:creationId xmlns:p14="http://schemas.microsoft.com/office/powerpoint/2010/main" val="77059874"/>
      </p:ext>
    </p:extLst>
  </p:cSld>
</p:sld>
</file>

<file path=ppt/slides/slide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341F45-6A8E-4711-A9EB-CA3AD2B8231F}"/>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Top-five display: 17 non-MT entries across 5 categories</a:t>
            </a:r>
          </a:p>
        </p:txBody>
      </p:sp>
      <p:pic>
        <p:nvPicPr>
          <p:cNvPr id="5" name="SEA-AD top-five non-MT key drivers by sex/APOE and broad-cell category"/>
          <p:cNvPicPr>
            <a:picLocks xmlns:a="http://schemas.openxmlformats.org/drawingml/2006/main" noChangeAspect="1"/>
          </p:cNvPicPr>
          <p:nvPr/>
        </p:nvPicPr>
        <p:blipFill>
          <a:blip xmlns:r="http://schemas.openxmlformats.org/officeDocument/2006/relationships" xmlns:a="http://schemas.openxmlformats.org/drawingml/2006/main" r:embed="R2c5861f7562143ba"/>
          <a:stretch xmlns:a="http://schemas.openxmlformats.org/drawingml/2006/main">
            <a:fillRect l="0" t="0" r="0" b="0"/>
          </a:stretch>
        </p:blipFill>
        <p:spPr>
          <a:xfrm xmlns:a="http://schemas.openxmlformats.org/drawingml/2006/main">
            <a:off x="612648" y="960120"/>
            <a:ext cx="10972800" cy="5221224"/>
          </a:xfrm>
          <a:prstGeom xmlns:a="http://schemas.openxmlformats.org/drawingml/2006/main" prst="rect">
            <a:avLst/>
          </a:prstGeom>
        </p:spPr>
      </p:pic>
    </p:spTree>
    <p:extLst>
      <p:ext uri="{BB962C8B-B14F-4D97-AF65-F5344CB8AC3E}">
        <p14:creationId xmlns:p14="http://schemas.microsoft.com/office/powerpoint/2010/main" val="2078194467"/>
      </p:ext>
    </p:extLst>
  </p:cSld>
</p:sld>
</file>

<file path=ppt/slides/slide3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0EF2992-4E3C-442C-89F2-7BC097E6D6FF}"/>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SEA-AD excitatory-neuron drivers occur in two sex/APOE groups</a:t>
            </a:r>
          </a:p>
        </p:txBody>
      </p:sp>
      <p:sp>
        <p:nvSpPr>
          <p:cNvPr id="3" name="TextBox 2">
            <a:extLst xmlns:a="http://schemas.openxmlformats.org/drawingml/2006/main">
              <a:ext uri="{FF2B5EF4-FFF2-40B4-BE49-F238E27FC236}">
                <a16:creationId xmlns:a16="http://schemas.microsoft.com/office/drawing/2014/main" id="{957CCBF0-B81D-4307-BF82-7F564C9373DC}"/>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27 unique non-MT genes across 27 gene × category combinations; no gene recurs across sex/APOE categories.</a:t>
            </a:r>
          </a:p>
        </p:txBody>
      </p:sp>
      <p:pic>
        <p:nvPicPr>
          <p:cNvPr id="7" name="SEA-AD excitatory-neuron non-MT key-driver recurrence matrix"/>
          <p:cNvPicPr>
            <a:picLocks xmlns:a="http://schemas.openxmlformats.org/drawingml/2006/main" noChangeAspect="1"/>
          </p:cNvPicPr>
          <p:nvPr/>
        </p:nvPicPr>
        <p:blipFill>
          <a:blip xmlns:r="http://schemas.openxmlformats.org/officeDocument/2006/relationships" xmlns:a="http://schemas.openxmlformats.org/drawingml/2006/main" r:embed="Rec4b2579ba21491f"/>
          <a:stretch xmlns:a="http://schemas.openxmlformats.org/drawingml/2006/main">
            <a:fillRect l="0" t="0" r="0" b="0"/>
          </a:stretch>
        </p:blipFill>
        <p:spPr>
          <a:xfrm xmlns:a="http://schemas.openxmlformats.org/drawingml/2006/main">
            <a:off x="530352" y="1225296"/>
            <a:ext cx="11128248" cy="4901184"/>
          </a:xfrm>
          <a:prstGeom xmlns:a="http://schemas.openxmlformats.org/drawingml/2006/main" prst="rect">
            <a:avLst/>
          </a:prstGeom>
        </p:spPr>
      </p:pic>
    </p:spTree>
    <p:extLst>
      <p:ext uri="{BB962C8B-B14F-4D97-AF65-F5344CB8AC3E}">
        <p14:creationId xmlns:p14="http://schemas.microsoft.com/office/powerpoint/2010/main" val="1502807117"/>
      </p:ext>
    </p:extLst>
  </p:cSld>
</p:sld>
</file>

<file path=ppt/slides/slide3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8AB12A-D026-4286-B862-075E45B71C5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PART 4</a:t>
            </a:r>
          </a:p>
        </p:txBody>
      </p:sp>
      <p:sp>
        <p:nvSpPr>
          <p:cNvPr id="3" name="Rectangle 2">
            <a:extLst xmlns:a="http://schemas.openxmlformats.org/drawingml/2006/main">
              <a:ext uri="{FF2B5EF4-FFF2-40B4-BE49-F238E27FC236}">
                <a16:creationId xmlns:a16="http://schemas.microsoft.com/office/drawing/2014/main" id="{9B90BBA1-E9E2-4E17-A6C8-66AF73EEFBD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AF6BA42-08C4-4EA5-A344-09381D0B027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3200" b="1" i="0">
                <a:solidFill>
                  <a:srgbClr val="FFFFFF"/>
                </a:solidFill>
                <a:latin typeface="Arial"/>
                <a:ea typeface="Arial"/>
                <a:cs typeface="Arial"/>
              </a:rPr>
              <a:t>Sensitivity analyses</a:t>
            </a:r>
          </a:p>
        </p:txBody>
      </p:sp>
      <p:sp>
        <p:nvSpPr>
          <p:cNvPr id="5" name="TextBox 4">
            <a:extLst xmlns:a="http://schemas.openxmlformats.org/drawingml/2006/main">
              <a:ext uri="{FF2B5EF4-FFF2-40B4-BE49-F238E27FC236}">
                <a16:creationId xmlns:a16="http://schemas.microsoft.com/office/drawing/2014/main" id="{2067FDA8-407C-4DBE-B763-2AC484C63E1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Robustness checks across sample support, profile coverage, query definition, and KDA decision rules.</a:t>
            </a:r>
          </a:p>
        </p:txBody>
      </p:sp>
      <p:sp>
        <p:nvSpPr>
          <p:cNvPr id="6" name="Rounded Rectangle 5">
            <a:extLst xmlns:a="http://schemas.openxmlformats.org/drawingml/2006/main">
              <a:ext uri="{FF2B5EF4-FFF2-40B4-BE49-F238E27FC236}">
                <a16:creationId xmlns:a16="http://schemas.microsoft.com/office/drawing/2014/main" id="{3D417846-D3C8-43D7-A99E-359027C6D74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C1A4EC2-5414-418D-9D33-A636ADFB559C}"/>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PART</a:t>
            </a:r>
          </a:p>
        </p:txBody>
      </p:sp>
      <p:sp>
        <p:nvSpPr>
          <p:cNvPr id="8" name="Oval 7">
            <a:extLst xmlns:a="http://schemas.openxmlformats.org/drawingml/2006/main">
              <a:ext uri="{FF2B5EF4-FFF2-40B4-BE49-F238E27FC236}">
                <a16:creationId xmlns:a16="http://schemas.microsoft.com/office/drawing/2014/main" id="{7D989CA6-1B16-4974-BEE8-CD8009EA7F8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03E7C55-5C6F-4719-AB0F-5EFB8E09B2D3}"/>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8E80E10-25DA-460A-B848-8A88ABF781AE}"/>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Donor support</a:t>
            </a:r>
          </a:p>
        </p:txBody>
      </p:sp>
      <p:sp>
        <p:nvSpPr>
          <p:cNvPr id="11" name="Oval 10">
            <a:extLst xmlns:a="http://schemas.openxmlformats.org/drawingml/2006/main">
              <a:ext uri="{FF2B5EF4-FFF2-40B4-BE49-F238E27FC236}">
                <a16:creationId xmlns:a16="http://schemas.microsoft.com/office/drawing/2014/main" id="{3CDE8AE7-2294-4DE5-980E-32E501A6C09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F7ACA8-9E5D-4F7D-9F5E-1C89B8FBD38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0F70274-A525-4BB9-A129-15E33D9F61D7}"/>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Profile coverage</a:t>
            </a:r>
          </a:p>
        </p:txBody>
      </p:sp>
      <p:sp>
        <p:nvSpPr>
          <p:cNvPr id="14" name="Oval 13">
            <a:extLst xmlns:a="http://schemas.openxmlformats.org/drawingml/2006/main">
              <a:ext uri="{FF2B5EF4-FFF2-40B4-BE49-F238E27FC236}">
                <a16:creationId xmlns:a16="http://schemas.microsoft.com/office/drawing/2014/main" id="{A5541F68-CF6A-4665-AEE6-F8BA0BD6271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6A3F6F-C41C-44D9-B1B9-F84CE5103C8B}"/>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1A32B75A-B123-4918-8015-2D4F13003D0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Query definition</a:t>
            </a:r>
          </a:p>
        </p:txBody>
      </p:sp>
      <p:sp>
        <p:nvSpPr>
          <p:cNvPr id="17" name="Oval 16">
            <a:extLst xmlns:a="http://schemas.openxmlformats.org/drawingml/2006/main">
              <a:ext uri="{FF2B5EF4-FFF2-40B4-BE49-F238E27FC236}">
                <a16:creationId xmlns:a16="http://schemas.microsoft.com/office/drawing/2014/main" id="{7E5D2E0A-EEB4-4E1B-BE39-4C5A4649E1E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8954FAC-8826-4644-A259-79B90925CF5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3FE01F0D-1D60-41F0-AA9B-D1D892B891B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KDA filters</a:t>
            </a:r>
          </a:p>
        </p:txBody>
      </p:sp>
      <p:sp>
        <p:nvSpPr>
          <p:cNvPr id="20" name="Rounded Rectangle 19">
            <a:extLst xmlns:a="http://schemas.openxmlformats.org/drawingml/2006/main">
              <a:ext uri="{FF2B5EF4-FFF2-40B4-BE49-F238E27FC236}">
                <a16:creationId xmlns:a16="http://schemas.microsoft.com/office/drawing/2014/main" id="{CCEC5EAA-C189-406C-9B90-06ED8DBF0FF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67AE32-97EB-4716-897E-EF1FA7C0A5E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Each sensitivity test is reported separately with its own evidence boundary.</a:t>
            </a:r>
          </a:p>
        </p:txBody>
      </p:sp>
    </p:spTree>
    <p:extLst>
      <p:ext uri="{BB962C8B-B14F-4D97-AF65-F5344CB8AC3E}">
        <p14:creationId xmlns:p14="http://schemas.microsoft.com/office/powerpoint/2010/main" val="1976639918"/>
      </p:ext>
    </p:extLst>
  </p:cSld>
</p:sld>
</file>

<file path=ppt/slides/slide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E157AE5-385F-4998-92BD-BB4A603B962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Donor-threshold sensitivity — numerical comparison</a:t>
            </a:r>
          </a:p>
        </p:txBody>
      </p:sp>
      <p:sp>
        <p:nvSpPr>
          <p:cNvPr id="3" name="TextBox 2">
            <a:extLst xmlns:a="http://schemas.openxmlformats.org/drawingml/2006/main">
              <a:ext uri="{FF2B5EF4-FFF2-40B4-BE49-F238E27FC236}">
                <a16:creationId xmlns:a16="http://schemas.microsoft.com/office/drawing/2014/main" id="{ECDC3E0F-6D03-4D8F-9E62-B300E19B3A8A}"/>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ectangle 3">
            <a:extLst xmlns:a="http://schemas.openxmlformats.org/drawingml/2006/main">
              <a:ext uri="{FF2B5EF4-FFF2-40B4-BE49-F238E27FC236}">
                <a16:creationId xmlns:a16="http://schemas.microsoft.com/office/drawing/2014/main" id="{52EFB1AD-A147-4DFC-9787-79D13EC515DD}"/>
              </a:ext>
            </a:extLst>
          </p:cNvPr>
          <p:cNvSpPr>
            <a:spLocks xmlns:a="http://schemas.openxmlformats.org/drawingml/2006/main" noGrp="1"/>
          </p:cNvSpPr>
          <p:nvPr/>
        </p:nvSpPr>
        <p:spPr>
          <a:xfrm xmlns:a="http://schemas.openxmlformats.org/drawingml/2006/main">
            <a:off x="658368" y="1600200"/>
            <a:ext cx="132588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D39602F-1863-43E7-B9CB-9ABE4A5810D3}"/>
              </a:ext>
            </a:extLst>
          </p:cNvPr>
          <p:cNvSpPr>
            <a:spLocks xmlns:a="http://schemas.openxmlformats.org/drawingml/2006/main" noGrp="1"/>
          </p:cNvSpPr>
          <p:nvPr/>
        </p:nvSpPr>
        <p:spPr>
          <a:xfrm xmlns:a="http://schemas.openxmlformats.org/drawingml/2006/main">
            <a:off x="713232" y="1655064"/>
            <a:ext cx="12161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Cohort</a:t>
            </a:r>
          </a:p>
        </p:txBody>
      </p:sp>
      <p:sp>
        <p:nvSpPr>
          <p:cNvPr id="6" name="Rectangle 5">
            <a:extLst xmlns:a="http://schemas.openxmlformats.org/drawingml/2006/main">
              <a:ext uri="{FF2B5EF4-FFF2-40B4-BE49-F238E27FC236}">
                <a16:creationId xmlns:a16="http://schemas.microsoft.com/office/drawing/2014/main" id="{93F1B364-9ED8-44CB-B852-20FCAD3046B4}"/>
              </a:ext>
            </a:extLst>
          </p:cNvPr>
          <p:cNvSpPr>
            <a:spLocks xmlns:a="http://schemas.openxmlformats.org/drawingml/2006/main" noGrp="1"/>
          </p:cNvSpPr>
          <p:nvPr/>
        </p:nvSpPr>
        <p:spPr>
          <a:xfrm xmlns:a="http://schemas.openxmlformats.org/drawingml/2006/main">
            <a:off x="1984248" y="1600200"/>
            <a:ext cx="1874519"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1E533CA-69D1-4178-BB90-51DEF8DE6F62}"/>
              </a:ext>
            </a:extLst>
          </p:cNvPr>
          <p:cNvSpPr>
            <a:spLocks xmlns:a="http://schemas.openxmlformats.org/drawingml/2006/main" noGrp="1"/>
          </p:cNvSpPr>
          <p:nvPr/>
        </p:nvSpPr>
        <p:spPr>
          <a:xfrm xmlns:a="http://schemas.openxmlformats.org/drawingml/2006/main">
            <a:off x="2039112" y="1655064"/>
            <a:ext cx="1764791"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Minimum donors / arm</a:t>
            </a:r>
          </a:p>
        </p:txBody>
      </p:sp>
      <p:sp>
        <p:nvSpPr>
          <p:cNvPr id="8" name="Rectangle 7">
            <a:extLst xmlns:a="http://schemas.openxmlformats.org/drawingml/2006/main">
              <a:ext uri="{FF2B5EF4-FFF2-40B4-BE49-F238E27FC236}">
                <a16:creationId xmlns:a16="http://schemas.microsoft.com/office/drawing/2014/main" id="{EABF5881-6F14-4573-8E95-8FE32DDC5BD2}"/>
              </a:ext>
            </a:extLst>
          </p:cNvPr>
          <p:cNvSpPr>
            <a:spLocks xmlns:a="http://schemas.openxmlformats.org/drawingml/2006/main" noGrp="1"/>
          </p:cNvSpPr>
          <p:nvPr/>
        </p:nvSpPr>
        <p:spPr>
          <a:xfrm xmlns:a="http://schemas.openxmlformats.org/drawingml/2006/main">
            <a:off x="3858768" y="1600200"/>
            <a:ext cx="169164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05E5C59-6963-4310-B06A-1239412C8472}"/>
              </a:ext>
            </a:extLst>
          </p:cNvPr>
          <p:cNvSpPr>
            <a:spLocks xmlns:a="http://schemas.openxmlformats.org/drawingml/2006/main" noGrp="1"/>
          </p:cNvSpPr>
          <p:nvPr/>
        </p:nvSpPr>
        <p:spPr>
          <a:xfrm xmlns:a="http://schemas.openxmlformats.org/drawingml/2006/main">
            <a:off x="3913631" y="1655064"/>
            <a:ext cx="158191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Eligible contrasts</a:t>
            </a:r>
          </a:p>
        </p:txBody>
      </p:sp>
      <p:sp>
        <p:nvSpPr>
          <p:cNvPr id="10" name="Rectangle 9">
            <a:extLst xmlns:a="http://schemas.openxmlformats.org/drawingml/2006/main">
              <a:ext uri="{FF2B5EF4-FFF2-40B4-BE49-F238E27FC236}">
                <a16:creationId xmlns:a16="http://schemas.microsoft.com/office/drawing/2014/main" id="{11425628-55AD-4875-90A3-4E8E53136524}"/>
              </a:ext>
            </a:extLst>
          </p:cNvPr>
          <p:cNvSpPr>
            <a:spLocks xmlns:a="http://schemas.openxmlformats.org/drawingml/2006/main" noGrp="1"/>
          </p:cNvSpPr>
          <p:nvPr/>
        </p:nvSpPr>
        <p:spPr>
          <a:xfrm xmlns:a="http://schemas.openxmlformats.org/drawingml/2006/main">
            <a:off x="5550408" y="1600200"/>
            <a:ext cx="123444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08EE6849-F69E-497E-9FDE-5A99AECDD5E4}"/>
              </a:ext>
            </a:extLst>
          </p:cNvPr>
          <p:cNvSpPr>
            <a:spLocks xmlns:a="http://schemas.openxmlformats.org/drawingml/2006/main" noGrp="1"/>
          </p:cNvSpPr>
          <p:nvPr/>
        </p:nvSpPr>
        <p:spPr>
          <a:xfrm xmlns:a="http://schemas.openxmlformats.org/drawingml/2006/main">
            <a:off x="5605272" y="1655064"/>
            <a:ext cx="112471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KDA runs</a:t>
            </a:r>
          </a:p>
        </p:txBody>
      </p:sp>
      <p:sp>
        <p:nvSpPr>
          <p:cNvPr id="12" name="Rectangle 11">
            <a:extLst xmlns:a="http://schemas.openxmlformats.org/drawingml/2006/main">
              <a:ext uri="{FF2B5EF4-FFF2-40B4-BE49-F238E27FC236}">
                <a16:creationId xmlns:a16="http://schemas.microsoft.com/office/drawing/2014/main" id="{7E186D61-CFBE-4F24-98F1-E4DADF05E502}"/>
              </a:ext>
            </a:extLst>
          </p:cNvPr>
          <p:cNvSpPr>
            <a:spLocks xmlns:a="http://schemas.openxmlformats.org/drawingml/2006/main" noGrp="1"/>
          </p:cNvSpPr>
          <p:nvPr/>
        </p:nvSpPr>
        <p:spPr>
          <a:xfrm xmlns:a="http://schemas.openxmlformats.org/drawingml/2006/main">
            <a:off x="6784848" y="1600200"/>
            <a:ext cx="224028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D159453-4FBD-4D07-B19A-B91C4437664E}"/>
              </a:ext>
            </a:extLst>
          </p:cNvPr>
          <p:cNvSpPr>
            <a:spLocks xmlns:a="http://schemas.openxmlformats.org/drawingml/2006/main" noGrp="1"/>
          </p:cNvSpPr>
          <p:nvPr/>
        </p:nvSpPr>
        <p:spPr>
          <a:xfrm xmlns:a="http://schemas.openxmlformats.org/drawingml/2006/main">
            <a:off x="6839712" y="1655064"/>
            <a:ext cx="21305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Significant driver rows</a:t>
            </a:r>
          </a:p>
        </p:txBody>
      </p:sp>
      <p:sp>
        <p:nvSpPr>
          <p:cNvPr id="14" name="Rectangle 13">
            <a:extLst xmlns:a="http://schemas.openxmlformats.org/drawingml/2006/main">
              <a:ext uri="{FF2B5EF4-FFF2-40B4-BE49-F238E27FC236}">
                <a16:creationId xmlns:a16="http://schemas.microsoft.com/office/drawing/2014/main" id="{1A5D17A1-5516-411B-ADC4-05711EFDE6A1}"/>
              </a:ext>
            </a:extLst>
          </p:cNvPr>
          <p:cNvSpPr>
            <a:spLocks xmlns:a="http://schemas.openxmlformats.org/drawingml/2006/main" noGrp="1"/>
          </p:cNvSpPr>
          <p:nvPr/>
        </p:nvSpPr>
        <p:spPr>
          <a:xfrm xmlns:a="http://schemas.openxmlformats.org/drawingml/2006/main">
            <a:off x="9025128" y="1600200"/>
            <a:ext cx="2514600" cy="694944"/>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9DDDC111-16AD-45BB-B1B7-8640EEA66478}"/>
              </a:ext>
            </a:extLst>
          </p:cNvPr>
          <p:cNvSpPr>
            <a:spLocks xmlns:a="http://schemas.openxmlformats.org/drawingml/2006/main" noGrp="1"/>
          </p:cNvSpPr>
          <p:nvPr/>
        </p:nvSpPr>
        <p:spPr>
          <a:xfrm xmlns:a="http://schemas.openxmlformats.org/drawingml/2006/main">
            <a:off x="9079992" y="1655064"/>
            <a:ext cx="240487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00" b="1" i="0">
                <a:solidFill>
                  <a:srgbClr val="FFFFFF"/>
                </a:solidFill>
                <a:latin typeface="Arial"/>
                <a:ea typeface="Arial"/>
                <a:cs typeface="Arial"/>
              </a:rPr>
              <a:t>Unique non-MT drivers</a:t>
            </a:r>
          </a:p>
        </p:txBody>
      </p:sp>
      <p:sp>
        <p:nvSpPr>
          <p:cNvPr id="16" name="Rectangle 15">
            <a:extLst xmlns:a="http://schemas.openxmlformats.org/drawingml/2006/main">
              <a:ext uri="{FF2B5EF4-FFF2-40B4-BE49-F238E27FC236}">
                <a16:creationId xmlns:a16="http://schemas.microsoft.com/office/drawing/2014/main" id="{DB756B7D-7D6B-415B-95CF-6BD2C9EB8C3F}"/>
              </a:ext>
            </a:extLst>
          </p:cNvPr>
          <p:cNvSpPr>
            <a:spLocks xmlns:a="http://schemas.openxmlformats.org/drawingml/2006/main" noGrp="1"/>
          </p:cNvSpPr>
          <p:nvPr/>
        </p:nvSpPr>
        <p:spPr>
          <a:xfrm xmlns:a="http://schemas.openxmlformats.org/drawingml/2006/main">
            <a:off x="658368" y="2295144"/>
            <a:ext cx="13258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B4480E1-503B-4DE4-BA0F-A59A5D708E9A}"/>
              </a:ext>
            </a:extLst>
          </p:cNvPr>
          <p:cNvSpPr>
            <a:spLocks xmlns:a="http://schemas.openxmlformats.org/drawingml/2006/main" noGrp="1"/>
          </p:cNvSpPr>
          <p:nvPr/>
        </p:nvSpPr>
        <p:spPr>
          <a:xfrm xmlns:a="http://schemas.openxmlformats.org/drawingml/2006/main">
            <a:off x="713232" y="2340863"/>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ROSMAP</a:t>
            </a:r>
          </a:p>
        </p:txBody>
      </p:sp>
      <p:sp>
        <p:nvSpPr>
          <p:cNvPr id="18" name="Rectangle 17">
            <a:extLst xmlns:a="http://schemas.openxmlformats.org/drawingml/2006/main">
              <a:ext uri="{FF2B5EF4-FFF2-40B4-BE49-F238E27FC236}">
                <a16:creationId xmlns:a16="http://schemas.microsoft.com/office/drawing/2014/main" id="{13A00F45-4D37-4DB3-9F85-7AAEFC5433C9}"/>
              </a:ext>
            </a:extLst>
          </p:cNvPr>
          <p:cNvSpPr>
            <a:spLocks xmlns:a="http://schemas.openxmlformats.org/drawingml/2006/main" noGrp="1"/>
          </p:cNvSpPr>
          <p:nvPr/>
        </p:nvSpPr>
        <p:spPr>
          <a:xfrm xmlns:a="http://schemas.openxmlformats.org/drawingml/2006/main">
            <a:off x="1984248" y="2295144"/>
            <a:ext cx="1874519"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FF9143E-F4FE-46C7-A678-1CD4FB9C3949}"/>
              </a:ext>
            </a:extLst>
          </p:cNvPr>
          <p:cNvSpPr>
            <a:spLocks xmlns:a="http://schemas.openxmlformats.org/drawingml/2006/main" noGrp="1"/>
          </p:cNvSpPr>
          <p:nvPr/>
        </p:nvSpPr>
        <p:spPr>
          <a:xfrm xmlns:a="http://schemas.openxmlformats.org/drawingml/2006/main">
            <a:off x="2039112" y="2340863"/>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20" name="Rectangle 19">
            <a:extLst xmlns:a="http://schemas.openxmlformats.org/drawingml/2006/main">
              <a:ext uri="{FF2B5EF4-FFF2-40B4-BE49-F238E27FC236}">
                <a16:creationId xmlns:a16="http://schemas.microsoft.com/office/drawing/2014/main" id="{C0973F12-F324-440D-ADC8-ED4F31AB2456}"/>
              </a:ext>
            </a:extLst>
          </p:cNvPr>
          <p:cNvSpPr>
            <a:spLocks xmlns:a="http://schemas.openxmlformats.org/drawingml/2006/main" noGrp="1"/>
          </p:cNvSpPr>
          <p:nvPr/>
        </p:nvSpPr>
        <p:spPr>
          <a:xfrm xmlns:a="http://schemas.openxmlformats.org/drawingml/2006/main">
            <a:off x="3858768" y="2295144"/>
            <a:ext cx="16916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A45F1DE-EF3D-4488-AFBA-F34AC423BCDA}"/>
              </a:ext>
            </a:extLst>
          </p:cNvPr>
          <p:cNvSpPr>
            <a:spLocks xmlns:a="http://schemas.openxmlformats.org/drawingml/2006/main" noGrp="1"/>
          </p:cNvSpPr>
          <p:nvPr/>
        </p:nvSpPr>
        <p:spPr>
          <a:xfrm xmlns:a="http://schemas.openxmlformats.org/drawingml/2006/main">
            <a:off x="3913631" y="2340863"/>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42</a:t>
            </a:r>
          </a:p>
        </p:txBody>
      </p:sp>
      <p:sp>
        <p:nvSpPr>
          <p:cNvPr id="22" name="Rectangle 21">
            <a:extLst xmlns:a="http://schemas.openxmlformats.org/drawingml/2006/main">
              <a:ext uri="{FF2B5EF4-FFF2-40B4-BE49-F238E27FC236}">
                <a16:creationId xmlns:a16="http://schemas.microsoft.com/office/drawing/2014/main" id="{A2561808-6858-49C1-B3D5-A3888BCEB5D4}"/>
              </a:ext>
            </a:extLst>
          </p:cNvPr>
          <p:cNvSpPr>
            <a:spLocks xmlns:a="http://schemas.openxmlformats.org/drawingml/2006/main" noGrp="1"/>
          </p:cNvSpPr>
          <p:nvPr/>
        </p:nvSpPr>
        <p:spPr>
          <a:xfrm xmlns:a="http://schemas.openxmlformats.org/drawingml/2006/main">
            <a:off x="5550408" y="2295144"/>
            <a:ext cx="12344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1F72049A-CE35-4BF6-B6B0-A7AB6BA94243}"/>
              </a:ext>
            </a:extLst>
          </p:cNvPr>
          <p:cNvSpPr>
            <a:spLocks xmlns:a="http://schemas.openxmlformats.org/drawingml/2006/main" noGrp="1"/>
          </p:cNvSpPr>
          <p:nvPr/>
        </p:nvSpPr>
        <p:spPr>
          <a:xfrm xmlns:a="http://schemas.openxmlformats.org/drawingml/2006/main">
            <a:off x="5605272" y="2340863"/>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24" name="Rectangle 23">
            <a:extLst xmlns:a="http://schemas.openxmlformats.org/drawingml/2006/main">
              <a:ext uri="{FF2B5EF4-FFF2-40B4-BE49-F238E27FC236}">
                <a16:creationId xmlns:a16="http://schemas.microsoft.com/office/drawing/2014/main" id="{BC00B353-EC81-43F3-992F-D38E4A4724F8}"/>
              </a:ext>
            </a:extLst>
          </p:cNvPr>
          <p:cNvSpPr>
            <a:spLocks xmlns:a="http://schemas.openxmlformats.org/drawingml/2006/main" noGrp="1"/>
          </p:cNvSpPr>
          <p:nvPr/>
        </p:nvSpPr>
        <p:spPr>
          <a:xfrm xmlns:a="http://schemas.openxmlformats.org/drawingml/2006/main">
            <a:off x="6784848" y="2295144"/>
            <a:ext cx="22402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63343D9-CB2A-4D62-8E00-D2C14088B5BA}"/>
              </a:ext>
            </a:extLst>
          </p:cNvPr>
          <p:cNvSpPr>
            <a:spLocks xmlns:a="http://schemas.openxmlformats.org/drawingml/2006/main" noGrp="1"/>
          </p:cNvSpPr>
          <p:nvPr/>
        </p:nvSpPr>
        <p:spPr>
          <a:xfrm xmlns:a="http://schemas.openxmlformats.org/drawingml/2006/main">
            <a:off x="6839712" y="2340863"/>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39</a:t>
            </a:r>
          </a:p>
        </p:txBody>
      </p:sp>
      <p:sp>
        <p:nvSpPr>
          <p:cNvPr id="26" name="Rectangle 25">
            <a:extLst xmlns:a="http://schemas.openxmlformats.org/drawingml/2006/main">
              <a:ext uri="{FF2B5EF4-FFF2-40B4-BE49-F238E27FC236}">
                <a16:creationId xmlns:a16="http://schemas.microsoft.com/office/drawing/2014/main" id="{9CB0F1EE-A725-423D-815A-9E3D6AFC75E2}"/>
              </a:ext>
            </a:extLst>
          </p:cNvPr>
          <p:cNvSpPr>
            <a:spLocks xmlns:a="http://schemas.openxmlformats.org/drawingml/2006/main" noGrp="1"/>
          </p:cNvSpPr>
          <p:nvPr/>
        </p:nvSpPr>
        <p:spPr>
          <a:xfrm xmlns:a="http://schemas.openxmlformats.org/drawingml/2006/main">
            <a:off x="9025128" y="2295144"/>
            <a:ext cx="251460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3A436BF6-52CB-4C6F-8648-B8EE31D09D3D}"/>
              </a:ext>
            </a:extLst>
          </p:cNvPr>
          <p:cNvSpPr>
            <a:spLocks xmlns:a="http://schemas.openxmlformats.org/drawingml/2006/main" noGrp="1"/>
          </p:cNvSpPr>
          <p:nvPr/>
        </p:nvSpPr>
        <p:spPr>
          <a:xfrm xmlns:a="http://schemas.openxmlformats.org/drawingml/2006/main">
            <a:off x="9079992" y="2340863"/>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33</a:t>
            </a:r>
          </a:p>
        </p:txBody>
      </p:sp>
      <p:sp>
        <p:nvSpPr>
          <p:cNvPr id="28" name="Rectangle 27">
            <a:extLst xmlns:a="http://schemas.openxmlformats.org/drawingml/2006/main">
              <a:ext uri="{FF2B5EF4-FFF2-40B4-BE49-F238E27FC236}">
                <a16:creationId xmlns:a16="http://schemas.microsoft.com/office/drawing/2014/main" id="{F3E7C28E-A736-4022-86DF-50EAA788E231}"/>
              </a:ext>
            </a:extLst>
          </p:cNvPr>
          <p:cNvSpPr>
            <a:spLocks xmlns:a="http://schemas.openxmlformats.org/drawingml/2006/main" noGrp="1"/>
          </p:cNvSpPr>
          <p:nvPr/>
        </p:nvSpPr>
        <p:spPr>
          <a:xfrm xmlns:a="http://schemas.openxmlformats.org/drawingml/2006/main">
            <a:off x="658368" y="2953511"/>
            <a:ext cx="13258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1FA6A28B-A341-41E2-9E4F-9856AE6E504E}"/>
              </a:ext>
            </a:extLst>
          </p:cNvPr>
          <p:cNvSpPr>
            <a:spLocks xmlns:a="http://schemas.openxmlformats.org/drawingml/2006/main" noGrp="1"/>
          </p:cNvSpPr>
          <p:nvPr/>
        </p:nvSpPr>
        <p:spPr>
          <a:xfrm xmlns:a="http://schemas.openxmlformats.org/drawingml/2006/main">
            <a:off x="713232" y="2999231"/>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ROSMAP</a:t>
            </a:r>
          </a:p>
        </p:txBody>
      </p:sp>
      <p:sp>
        <p:nvSpPr>
          <p:cNvPr id="30" name="Rectangle 29">
            <a:extLst xmlns:a="http://schemas.openxmlformats.org/drawingml/2006/main">
              <a:ext uri="{FF2B5EF4-FFF2-40B4-BE49-F238E27FC236}">
                <a16:creationId xmlns:a16="http://schemas.microsoft.com/office/drawing/2014/main" id="{944BDA5D-F929-4476-BEEC-18FD66FB2A38}"/>
              </a:ext>
            </a:extLst>
          </p:cNvPr>
          <p:cNvSpPr>
            <a:spLocks xmlns:a="http://schemas.openxmlformats.org/drawingml/2006/main" noGrp="1"/>
          </p:cNvSpPr>
          <p:nvPr/>
        </p:nvSpPr>
        <p:spPr>
          <a:xfrm xmlns:a="http://schemas.openxmlformats.org/drawingml/2006/main">
            <a:off x="1984248" y="2953511"/>
            <a:ext cx="1874519"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C8EE0249-3EF2-47A9-B094-628AA1595BE3}"/>
              </a:ext>
            </a:extLst>
          </p:cNvPr>
          <p:cNvSpPr>
            <a:spLocks xmlns:a="http://schemas.openxmlformats.org/drawingml/2006/main" noGrp="1"/>
          </p:cNvSpPr>
          <p:nvPr/>
        </p:nvSpPr>
        <p:spPr>
          <a:xfrm xmlns:a="http://schemas.openxmlformats.org/drawingml/2006/main">
            <a:off x="2039112" y="2999231"/>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32" name="Rectangle 31">
            <a:extLst xmlns:a="http://schemas.openxmlformats.org/drawingml/2006/main">
              <a:ext uri="{FF2B5EF4-FFF2-40B4-BE49-F238E27FC236}">
                <a16:creationId xmlns:a16="http://schemas.microsoft.com/office/drawing/2014/main" id="{4E819EB3-7A2E-42B9-AAA0-8532AEB63CD8}"/>
              </a:ext>
            </a:extLst>
          </p:cNvPr>
          <p:cNvSpPr>
            <a:spLocks xmlns:a="http://schemas.openxmlformats.org/drawingml/2006/main" noGrp="1"/>
          </p:cNvSpPr>
          <p:nvPr/>
        </p:nvSpPr>
        <p:spPr>
          <a:xfrm xmlns:a="http://schemas.openxmlformats.org/drawingml/2006/main">
            <a:off x="3858768" y="2953511"/>
            <a:ext cx="16916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786D589B-85BF-4C56-A23B-CE4C4103E213}"/>
              </a:ext>
            </a:extLst>
          </p:cNvPr>
          <p:cNvSpPr>
            <a:spLocks xmlns:a="http://schemas.openxmlformats.org/drawingml/2006/main" noGrp="1"/>
          </p:cNvSpPr>
          <p:nvPr/>
        </p:nvSpPr>
        <p:spPr>
          <a:xfrm xmlns:a="http://schemas.openxmlformats.org/drawingml/2006/main">
            <a:off x="3913631" y="2999231"/>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40</a:t>
            </a:r>
          </a:p>
        </p:txBody>
      </p:sp>
      <p:sp>
        <p:nvSpPr>
          <p:cNvPr id="34" name="Rectangle 33">
            <a:extLst xmlns:a="http://schemas.openxmlformats.org/drawingml/2006/main">
              <a:ext uri="{FF2B5EF4-FFF2-40B4-BE49-F238E27FC236}">
                <a16:creationId xmlns:a16="http://schemas.microsoft.com/office/drawing/2014/main" id="{EF5374FC-8A3E-4DDF-852E-EF34A44D7C6D}"/>
              </a:ext>
            </a:extLst>
          </p:cNvPr>
          <p:cNvSpPr>
            <a:spLocks xmlns:a="http://schemas.openxmlformats.org/drawingml/2006/main" noGrp="1"/>
          </p:cNvSpPr>
          <p:nvPr/>
        </p:nvSpPr>
        <p:spPr>
          <a:xfrm xmlns:a="http://schemas.openxmlformats.org/drawingml/2006/main">
            <a:off x="5550408" y="2953511"/>
            <a:ext cx="12344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3FC400BE-B7E7-461D-9208-9D8497E95B8E}"/>
              </a:ext>
            </a:extLst>
          </p:cNvPr>
          <p:cNvSpPr>
            <a:spLocks xmlns:a="http://schemas.openxmlformats.org/drawingml/2006/main" noGrp="1"/>
          </p:cNvSpPr>
          <p:nvPr/>
        </p:nvSpPr>
        <p:spPr>
          <a:xfrm xmlns:a="http://schemas.openxmlformats.org/drawingml/2006/main">
            <a:off x="5605272" y="2999231"/>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a:t>
            </a:r>
          </a:p>
        </p:txBody>
      </p:sp>
      <p:sp>
        <p:nvSpPr>
          <p:cNvPr id="36" name="Rectangle 35">
            <a:extLst xmlns:a="http://schemas.openxmlformats.org/drawingml/2006/main">
              <a:ext uri="{FF2B5EF4-FFF2-40B4-BE49-F238E27FC236}">
                <a16:creationId xmlns:a16="http://schemas.microsoft.com/office/drawing/2014/main" id="{399538D4-4CF5-4209-9C9A-64A8F11DF286}"/>
              </a:ext>
            </a:extLst>
          </p:cNvPr>
          <p:cNvSpPr>
            <a:spLocks xmlns:a="http://schemas.openxmlformats.org/drawingml/2006/main" noGrp="1"/>
          </p:cNvSpPr>
          <p:nvPr/>
        </p:nvSpPr>
        <p:spPr>
          <a:xfrm xmlns:a="http://schemas.openxmlformats.org/drawingml/2006/main">
            <a:off x="6784848" y="2953511"/>
            <a:ext cx="22402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54FF62B8-0590-4BD1-92A8-AD2D5BB026C8}"/>
              </a:ext>
            </a:extLst>
          </p:cNvPr>
          <p:cNvSpPr>
            <a:spLocks xmlns:a="http://schemas.openxmlformats.org/drawingml/2006/main" noGrp="1"/>
          </p:cNvSpPr>
          <p:nvPr/>
        </p:nvSpPr>
        <p:spPr>
          <a:xfrm xmlns:a="http://schemas.openxmlformats.org/drawingml/2006/main">
            <a:off x="6839712" y="2999231"/>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13</a:t>
            </a:r>
          </a:p>
        </p:txBody>
      </p:sp>
      <p:sp>
        <p:nvSpPr>
          <p:cNvPr id="38" name="Rectangle 37">
            <a:extLst xmlns:a="http://schemas.openxmlformats.org/drawingml/2006/main">
              <a:ext uri="{FF2B5EF4-FFF2-40B4-BE49-F238E27FC236}">
                <a16:creationId xmlns:a16="http://schemas.microsoft.com/office/drawing/2014/main" id="{06EB9644-F2CF-45A1-959D-603E8CD5D86C}"/>
              </a:ext>
            </a:extLst>
          </p:cNvPr>
          <p:cNvSpPr>
            <a:spLocks xmlns:a="http://schemas.openxmlformats.org/drawingml/2006/main" noGrp="1"/>
          </p:cNvSpPr>
          <p:nvPr/>
        </p:nvSpPr>
        <p:spPr>
          <a:xfrm xmlns:a="http://schemas.openxmlformats.org/drawingml/2006/main">
            <a:off x="9025128" y="2953511"/>
            <a:ext cx="251460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AA1B2C64-CCE5-4A4E-9921-AEE95B599F9B}"/>
              </a:ext>
            </a:extLst>
          </p:cNvPr>
          <p:cNvSpPr>
            <a:spLocks xmlns:a="http://schemas.openxmlformats.org/drawingml/2006/main" noGrp="1"/>
          </p:cNvSpPr>
          <p:nvPr/>
        </p:nvSpPr>
        <p:spPr>
          <a:xfrm xmlns:a="http://schemas.openxmlformats.org/drawingml/2006/main">
            <a:off x="9079992" y="2999231"/>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13</a:t>
            </a:r>
          </a:p>
        </p:txBody>
      </p:sp>
      <p:sp>
        <p:nvSpPr>
          <p:cNvPr id="40" name="Rectangle 39">
            <a:extLst xmlns:a="http://schemas.openxmlformats.org/drawingml/2006/main">
              <a:ext uri="{FF2B5EF4-FFF2-40B4-BE49-F238E27FC236}">
                <a16:creationId xmlns:a16="http://schemas.microsoft.com/office/drawing/2014/main" id="{95D55EAE-7DF3-4FC2-B614-F5D9C6FA830C}"/>
              </a:ext>
            </a:extLst>
          </p:cNvPr>
          <p:cNvSpPr>
            <a:spLocks xmlns:a="http://schemas.openxmlformats.org/drawingml/2006/main" noGrp="1"/>
          </p:cNvSpPr>
          <p:nvPr/>
        </p:nvSpPr>
        <p:spPr>
          <a:xfrm xmlns:a="http://schemas.openxmlformats.org/drawingml/2006/main">
            <a:off x="658368" y="3611879"/>
            <a:ext cx="13258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7B5FC0A3-BD61-4958-A0B6-D851B824A050}"/>
              </a:ext>
            </a:extLst>
          </p:cNvPr>
          <p:cNvSpPr>
            <a:spLocks xmlns:a="http://schemas.openxmlformats.org/drawingml/2006/main" noGrp="1"/>
          </p:cNvSpPr>
          <p:nvPr/>
        </p:nvSpPr>
        <p:spPr>
          <a:xfrm xmlns:a="http://schemas.openxmlformats.org/drawingml/2006/main">
            <a:off x="713232" y="3657599"/>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SEA-AD</a:t>
            </a:r>
          </a:p>
        </p:txBody>
      </p:sp>
      <p:sp>
        <p:nvSpPr>
          <p:cNvPr id="42" name="Rectangle 41">
            <a:extLst xmlns:a="http://schemas.openxmlformats.org/drawingml/2006/main">
              <a:ext uri="{FF2B5EF4-FFF2-40B4-BE49-F238E27FC236}">
                <a16:creationId xmlns:a16="http://schemas.microsoft.com/office/drawing/2014/main" id="{837DC8A3-C0BC-4315-A07D-7FC6D3917F17}"/>
              </a:ext>
            </a:extLst>
          </p:cNvPr>
          <p:cNvSpPr>
            <a:spLocks xmlns:a="http://schemas.openxmlformats.org/drawingml/2006/main" noGrp="1"/>
          </p:cNvSpPr>
          <p:nvPr/>
        </p:nvSpPr>
        <p:spPr>
          <a:xfrm xmlns:a="http://schemas.openxmlformats.org/drawingml/2006/main">
            <a:off x="1984248" y="3611879"/>
            <a:ext cx="1874519"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D7E8A7A6-C7AC-42C4-85D9-4BE0055EA1EF}"/>
              </a:ext>
            </a:extLst>
          </p:cNvPr>
          <p:cNvSpPr>
            <a:spLocks xmlns:a="http://schemas.openxmlformats.org/drawingml/2006/main" noGrp="1"/>
          </p:cNvSpPr>
          <p:nvPr/>
        </p:nvSpPr>
        <p:spPr>
          <a:xfrm xmlns:a="http://schemas.openxmlformats.org/drawingml/2006/main">
            <a:off x="2039112" y="3657599"/>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3</a:t>
            </a:r>
          </a:p>
        </p:txBody>
      </p:sp>
      <p:sp>
        <p:nvSpPr>
          <p:cNvPr id="44" name="Rectangle 43">
            <a:extLst xmlns:a="http://schemas.openxmlformats.org/drawingml/2006/main">
              <a:ext uri="{FF2B5EF4-FFF2-40B4-BE49-F238E27FC236}">
                <a16:creationId xmlns:a16="http://schemas.microsoft.com/office/drawing/2014/main" id="{035E4221-3951-4076-B8D9-7BA63621A3AC}"/>
              </a:ext>
            </a:extLst>
          </p:cNvPr>
          <p:cNvSpPr>
            <a:spLocks xmlns:a="http://schemas.openxmlformats.org/drawingml/2006/main" noGrp="1"/>
          </p:cNvSpPr>
          <p:nvPr/>
        </p:nvSpPr>
        <p:spPr>
          <a:xfrm xmlns:a="http://schemas.openxmlformats.org/drawingml/2006/main">
            <a:off x="3858768" y="3611879"/>
            <a:ext cx="16916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80686635-2772-42F8-8FB3-C9608E246277}"/>
              </a:ext>
            </a:extLst>
          </p:cNvPr>
          <p:cNvSpPr>
            <a:spLocks xmlns:a="http://schemas.openxmlformats.org/drawingml/2006/main" noGrp="1"/>
          </p:cNvSpPr>
          <p:nvPr/>
        </p:nvSpPr>
        <p:spPr>
          <a:xfrm xmlns:a="http://schemas.openxmlformats.org/drawingml/2006/main">
            <a:off x="3913631" y="3657599"/>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28</a:t>
            </a:r>
          </a:p>
        </p:txBody>
      </p:sp>
      <p:sp>
        <p:nvSpPr>
          <p:cNvPr id="46" name="Rectangle 45">
            <a:extLst xmlns:a="http://schemas.openxmlformats.org/drawingml/2006/main">
              <a:ext uri="{FF2B5EF4-FFF2-40B4-BE49-F238E27FC236}">
                <a16:creationId xmlns:a16="http://schemas.microsoft.com/office/drawing/2014/main" id="{A4DD2FC0-31B7-4416-8521-7B5299B698B4}"/>
              </a:ext>
            </a:extLst>
          </p:cNvPr>
          <p:cNvSpPr>
            <a:spLocks xmlns:a="http://schemas.openxmlformats.org/drawingml/2006/main" noGrp="1"/>
          </p:cNvSpPr>
          <p:nvPr/>
        </p:nvSpPr>
        <p:spPr>
          <a:xfrm xmlns:a="http://schemas.openxmlformats.org/drawingml/2006/main">
            <a:off x="5550408" y="3611879"/>
            <a:ext cx="123444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148ABD20-60DE-42FC-9C3A-F5B4532AC201}"/>
              </a:ext>
            </a:extLst>
          </p:cNvPr>
          <p:cNvSpPr>
            <a:spLocks xmlns:a="http://schemas.openxmlformats.org/drawingml/2006/main" noGrp="1"/>
          </p:cNvSpPr>
          <p:nvPr/>
        </p:nvSpPr>
        <p:spPr>
          <a:xfrm xmlns:a="http://schemas.openxmlformats.org/drawingml/2006/main">
            <a:off x="5605272" y="3657599"/>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48" name="Rectangle 47">
            <a:extLst xmlns:a="http://schemas.openxmlformats.org/drawingml/2006/main">
              <a:ext uri="{FF2B5EF4-FFF2-40B4-BE49-F238E27FC236}">
                <a16:creationId xmlns:a16="http://schemas.microsoft.com/office/drawing/2014/main" id="{37D6BB0F-6BD5-4EB8-A575-89A4B611B1A2}"/>
              </a:ext>
            </a:extLst>
          </p:cNvPr>
          <p:cNvSpPr>
            <a:spLocks xmlns:a="http://schemas.openxmlformats.org/drawingml/2006/main" noGrp="1"/>
          </p:cNvSpPr>
          <p:nvPr/>
        </p:nvSpPr>
        <p:spPr>
          <a:xfrm xmlns:a="http://schemas.openxmlformats.org/drawingml/2006/main">
            <a:off x="6784848" y="3611879"/>
            <a:ext cx="224028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682AA69D-24C6-44D2-A540-5C3428CBC47E}"/>
              </a:ext>
            </a:extLst>
          </p:cNvPr>
          <p:cNvSpPr>
            <a:spLocks xmlns:a="http://schemas.openxmlformats.org/drawingml/2006/main" noGrp="1"/>
          </p:cNvSpPr>
          <p:nvPr/>
        </p:nvSpPr>
        <p:spPr>
          <a:xfrm xmlns:a="http://schemas.openxmlformats.org/drawingml/2006/main">
            <a:off x="6839712" y="3657599"/>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24</a:t>
            </a:r>
          </a:p>
        </p:txBody>
      </p:sp>
      <p:sp>
        <p:nvSpPr>
          <p:cNvPr id="50" name="Rectangle 49">
            <a:extLst xmlns:a="http://schemas.openxmlformats.org/drawingml/2006/main">
              <a:ext uri="{FF2B5EF4-FFF2-40B4-BE49-F238E27FC236}">
                <a16:creationId xmlns:a16="http://schemas.microsoft.com/office/drawing/2014/main" id="{FC321E55-DE59-4E47-8760-A799434A12C7}"/>
              </a:ext>
            </a:extLst>
          </p:cNvPr>
          <p:cNvSpPr>
            <a:spLocks xmlns:a="http://schemas.openxmlformats.org/drawingml/2006/main" noGrp="1"/>
          </p:cNvSpPr>
          <p:nvPr/>
        </p:nvSpPr>
        <p:spPr>
          <a:xfrm xmlns:a="http://schemas.openxmlformats.org/drawingml/2006/main">
            <a:off x="9025128" y="3611879"/>
            <a:ext cx="2514600" cy="658368"/>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A0ED0DB8-05CB-42A8-BCBE-B1944A8CE622}"/>
              </a:ext>
            </a:extLst>
          </p:cNvPr>
          <p:cNvSpPr>
            <a:spLocks xmlns:a="http://schemas.openxmlformats.org/drawingml/2006/main" noGrp="1"/>
          </p:cNvSpPr>
          <p:nvPr/>
        </p:nvSpPr>
        <p:spPr>
          <a:xfrm xmlns:a="http://schemas.openxmlformats.org/drawingml/2006/main">
            <a:off x="9079992" y="3657599"/>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18</a:t>
            </a:r>
          </a:p>
        </p:txBody>
      </p:sp>
      <p:sp>
        <p:nvSpPr>
          <p:cNvPr id="52" name="Rectangle 51">
            <a:extLst xmlns:a="http://schemas.openxmlformats.org/drawingml/2006/main">
              <a:ext uri="{FF2B5EF4-FFF2-40B4-BE49-F238E27FC236}">
                <a16:creationId xmlns:a16="http://schemas.microsoft.com/office/drawing/2014/main" id="{28D441B8-7018-4AD9-9B8B-26489334227D}"/>
              </a:ext>
            </a:extLst>
          </p:cNvPr>
          <p:cNvSpPr>
            <a:spLocks xmlns:a="http://schemas.openxmlformats.org/drawingml/2006/main" noGrp="1"/>
          </p:cNvSpPr>
          <p:nvPr/>
        </p:nvSpPr>
        <p:spPr>
          <a:xfrm xmlns:a="http://schemas.openxmlformats.org/drawingml/2006/main">
            <a:off x="658368" y="4270248"/>
            <a:ext cx="13258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73CDDF38-5B0C-454E-89F5-044BA4FC30D3}"/>
              </a:ext>
            </a:extLst>
          </p:cNvPr>
          <p:cNvSpPr>
            <a:spLocks xmlns:a="http://schemas.openxmlformats.org/drawingml/2006/main" noGrp="1"/>
          </p:cNvSpPr>
          <p:nvPr/>
        </p:nvSpPr>
        <p:spPr>
          <a:xfrm xmlns:a="http://schemas.openxmlformats.org/drawingml/2006/main">
            <a:off x="713232" y="4315968"/>
            <a:ext cx="12161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SEA-AD</a:t>
            </a:r>
          </a:p>
        </p:txBody>
      </p:sp>
      <p:sp>
        <p:nvSpPr>
          <p:cNvPr id="54" name="Rectangle 53">
            <a:extLst xmlns:a="http://schemas.openxmlformats.org/drawingml/2006/main">
              <a:ext uri="{FF2B5EF4-FFF2-40B4-BE49-F238E27FC236}">
                <a16:creationId xmlns:a16="http://schemas.microsoft.com/office/drawing/2014/main" id="{923DC4A5-F692-4A34-B0E9-8A84596DCB25}"/>
              </a:ext>
            </a:extLst>
          </p:cNvPr>
          <p:cNvSpPr>
            <a:spLocks xmlns:a="http://schemas.openxmlformats.org/drawingml/2006/main" noGrp="1"/>
          </p:cNvSpPr>
          <p:nvPr/>
        </p:nvSpPr>
        <p:spPr>
          <a:xfrm xmlns:a="http://schemas.openxmlformats.org/drawingml/2006/main">
            <a:off x="1984248" y="4270248"/>
            <a:ext cx="1874519"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7D6FAFEB-70C8-4DB8-B2AC-AD18F1CB974A}"/>
              </a:ext>
            </a:extLst>
          </p:cNvPr>
          <p:cNvSpPr>
            <a:spLocks xmlns:a="http://schemas.openxmlformats.org/drawingml/2006/main" noGrp="1"/>
          </p:cNvSpPr>
          <p:nvPr/>
        </p:nvSpPr>
        <p:spPr>
          <a:xfrm xmlns:a="http://schemas.openxmlformats.org/drawingml/2006/main">
            <a:off x="2039112" y="4315968"/>
            <a:ext cx="1764791"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56" name="Rectangle 55">
            <a:extLst xmlns:a="http://schemas.openxmlformats.org/drawingml/2006/main">
              <a:ext uri="{FF2B5EF4-FFF2-40B4-BE49-F238E27FC236}">
                <a16:creationId xmlns:a16="http://schemas.microsoft.com/office/drawing/2014/main" id="{314D0AEC-7334-49D5-A18F-29616B1EBE5B}"/>
              </a:ext>
            </a:extLst>
          </p:cNvPr>
          <p:cNvSpPr>
            <a:spLocks xmlns:a="http://schemas.openxmlformats.org/drawingml/2006/main" noGrp="1"/>
          </p:cNvSpPr>
          <p:nvPr/>
        </p:nvSpPr>
        <p:spPr>
          <a:xfrm xmlns:a="http://schemas.openxmlformats.org/drawingml/2006/main">
            <a:off x="3858768" y="4270248"/>
            <a:ext cx="16916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77F09C46-33F3-433C-BA3B-A0EA77C07084}"/>
              </a:ext>
            </a:extLst>
          </p:cNvPr>
          <p:cNvSpPr>
            <a:spLocks xmlns:a="http://schemas.openxmlformats.org/drawingml/2006/main" noGrp="1"/>
          </p:cNvSpPr>
          <p:nvPr/>
        </p:nvSpPr>
        <p:spPr>
          <a:xfrm xmlns:a="http://schemas.openxmlformats.org/drawingml/2006/main">
            <a:off x="3913631" y="4315968"/>
            <a:ext cx="15819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20</a:t>
            </a:r>
          </a:p>
        </p:txBody>
      </p:sp>
      <p:sp>
        <p:nvSpPr>
          <p:cNvPr id="58" name="Rectangle 57">
            <a:extLst xmlns:a="http://schemas.openxmlformats.org/drawingml/2006/main">
              <a:ext uri="{FF2B5EF4-FFF2-40B4-BE49-F238E27FC236}">
                <a16:creationId xmlns:a16="http://schemas.microsoft.com/office/drawing/2014/main" id="{6713E0D5-79F5-4DDD-9BA0-BF030889C732}"/>
              </a:ext>
            </a:extLst>
          </p:cNvPr>
          <p:cNvSpPr>
            <a:spLocks xmlns:a="http://schemas.openxmlformats.org/drawingml/2006/main" noGrp="1"/>
          </p:cNvSpPr>
          <p:nvPr/>
        </p:nvSpPr>
        <p:spPr>
          <a:xfrm xmlns:a="http://schemas.openxmlformats.org/drawingml/2006/main">
            <a:off x="5550408" y="4270248"/>
            <a:ext cx="123444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6E3C8A50-F5FB-441B-9F3D-88D3DD6322D8}"/>
              </a:ext>
            </a:extLst>
          </p:cNvPr>
          <p:cNvSpPr>
            <a:spLocks xmlns:a="http://schemas.openxmlformats.org/drawingml/2006/main" noGrp="1"/>
          </p:cNvSpPr>
          <p:nvPr/>
        </p:nvSpPr>
        <p:spPr>
          <a:xfrm xmlns:a="http://schemas.openxmlformats.org/drawingml/2006/main">
            <a:off x="5605272" y="4315968"/>
            <a:ext cx="112471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5</a:t>
            </a:r>
          </a:p>
        </p:txBody>
      </p:sp>
      <p:sp>
        <p:nvSpPr>
          <p:cNvPr id="60" name="Rectangle 59">
            <a:extLst xmlns:a="http://schemas.openxmlformats.org/drawingml/2006/main">
              <a:ext uri="{FF2B5EF4-FFF2-40B4-BE49-F238E27FC236}">
                <a16:creationId xmlns:a16="http://schemas.microsoft.com/office/drawing/2014/main" id="{552CD726-D594-47F2-B43D-F55651AD2DED}"/>
              </a:ext>
            </a:extLst>
          </p:cNvPr>
          <p:cNvSpPr>
            <a:spLocks xmlns:a="http://schemas.openxmlformats.org/drawingml/2006/main" noGrp="1"/>
          </p:cNvSpPr>
          <p:nvPr/>
        </p:nvSpPr>
        <p:spPr>
          <a:xfrm xmlns:a="http://schemas.openxmlformats.org/drawingml/2006/main">
            <a:off x="6784848" y="4270248"/>
            <a:ext cx="224028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TextBox 60">
            <a:extLst xmlns:a="http://schemas.openxmlformats.org/drawingml/2006/main">
              <a:ext uri="{FF2B5EF4-FFF2-40B4-BE49-F238E27FC236}">
                <a16:creationId xmlns:a16="http://schemas.microsoft.com/office/drawing/2014/main" id="{6963C5AA-8FF5-4723-8EA6-265936CB53E3}"/>
              </a:ext>
            </a:extLst>
          </p:cNvPr>
          <p:cNvSpPr>
            <a:spLocks xmlns:a="http://schemas.openxmlformats.org/drawingml/2006/main" noGrp="1"/>
          </p:cNvSpPr>
          <p:nvPr/>
        </p:nvSpPr>
        <p:spPr>
          <a:xfrm xmlns:a="http://schemas.openxmlformats.org/drawingml/2006/main">
            <a:off x="6839712" y="4315968"/>
            <a:ext cx="213055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24</a:t>
            </a:r>
          </a:p>
        </p:txBody>
      </p:sp>
      <p:sp>
        <p:nvSpPr>
          <p:cNvPr id="62" name="Rectangle 61">
            <a:extLst xmlns:a="http://schemas.openxmlformats.org/drawingml/2006/main">
              <a:ext uri="{FF2B5EF4-FFF2-40B4-BE49-F238E27FC236}">
                <a16:creationId xmlns:a16="http://schemas.microsoft.com/office/drawing/2014/main" id="{BD1C9B48-B020-4F62-911C-5549D51A86C1}"/>
              </a:ext>
            </a:extLst>
          </p:cNvPr>
          <p:cNvSpPr>
            <a:spLocks xmlns:a="http://schemas.openxmlformats.org/drawingml/2006/main" noGrp="1"/>
          </p:cNvSpPr>
          <p:nvPr/>
        </p:nvSpPr>
        <p:spPr>
          <a:xfrm xmlns:a="http://schemas.openxmlformats.org/drawingml/2006/main">
            <a:off x="9025128" y="4270248"/>
            <a:ext cx="2514600" cy="658368"/>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30991699-F390-424B-8315-0B1D9AAFC171}"/>
              </a:ext>
            </a:extLst>
          </p:cNvPr>
          <p:cNvSpPr>
            <a:spLocks xmlns:a="http://schemas.openxmlformats.org/drawingml/2006/main" noGrp="1"/>
          </p:cNvSpPr>
          <p:nvPr/>
        </p:nvSpPr>
        <p:spPr>
          <a:xfrm xmlns:a="http://schemas.openxmlformats.org/drawingml/2006/main">
            <a:off x="9079992" y="4315968"/>
            <a:ext cx="2404872" cy="58521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040" b="0" i="0">
                <a:solidFill>
                  <a:srgbClr val="1F2730"/>
                </a:solidFill>
                <a:latin typeface="Arial"/>
                <a:ea typeface="Arial"/>
                <a:cs typeface="Arial"/>
              </a:rPr>
              <a:t>18</a:t>
            </a:r>
          </a:p>
        </p:txBody>
      </p:sp>
      <p:sp>
        <p:nvSpPr>
          <p:cNvPr id="64" name="Rounded Rectangle 63">
            <a:extLst xmlns:a="http://schemas.openxmlformats.org/drawingml/2006/main">
              <a:ext uri="{FF2B5EF4-FFF2-40B4-BE49-F238E27FC236}">
                <a16:creationId xmlns:a16="http://schemas.microsoft.com/office/drawing/2014/main" id="{58501E3D-15AC-4B72-AFDE-369A2DAB52AC}"/>
              </a:ext>
            </a:extLst>
          </p:cNvPr>
          <p:cNvSpPr>
            <a:spLocks xmlns:a="http://schemas.openxmlformats.org/drawingml/2006/main" noGrp="1"/>
          </p:cNvSpPr>
          <p:nvPr/>
        </p:nvSpPr>
        <p:spPr>
          <a:xfrm xmlns:a="http://schemas.openxmlformats.org/drawingml/2006/main">
            <a:off x="658368" y="5157216"/>
            <a:ext cx="10881360" cy="658368"/>
          </a:xfrm>
          <a:prstGeom xmlns:a="http://schemas.openxmlformats.org/drawingml/2006/main" prst="roundRect">
            <a:avLst/>
          </a:prstGeom>
          <a:solidFill xmlns:a="http://schemas.openxmlformats.org/drawingml/2006/main">
            <a:srgbClr val="EBF7FC"/>
          </a:solidFill>
          <a:ln xmlns:a="http://schemas.openxmlformats.org/drawingml/2006/main" w="12700">
            <a:solidFill>
              <a:srgbClr val="56B4E9"/>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Box 64">
            <a:extLst xmlns:a="http://schemas.openxmlformats.org/drawingml/2006/main">
              <a:ext uri="{FF2B5EF4-FFF2-40B4-BE49-F238E27FC236}">
                <a16:creationId xmlns:a16="http://schemas.microsoft.com/office/drawing/2014/main" id="{0C666860-7E66-4DA1-B72C-5064A9EA14BF}"/>
              </a:ext>
            </a:extLst>
          </p:cNvPr>
          <p:cNvSpPr>
            <a:spLocks xmlns:a="http://schemas.openxmlformats.org/drawingml/2006/main" noGrp="1"/>
          </p:cNvSpPr>
          <p:nvPr/>
        </p:nvSpPr>
        <p:spPr>
          <a:xfrm xmlns:a="http://schemas.openxmlformats.org/drawingml/2006/main">
            <a:off x="914400" y="5340096"/>
            <a:ext cx="10369296" cy="2834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0F233D"/>
                </a:solidFill>
                <a:latin typeface="Arial"/>
                <a:ea typeface="Arial"/>
                <a:cs typeface="Arial"/>
              </a:rPr>
              <a:t>Driver rows count significant returned KDA rows. Unique non-MT drivers exclude MT-* genes and are deduplicated within each cohort.</a:t>
            </a:r>
          </a:p>
        </p:txBody>
      </p:sp>
      <p:sp>
        <p:nvSpPr>
          <p:cNvPr id="66" name="TextBox 65">
            <a:extLst xmlns:a="http://schemas.openxmlformats.org/drawingml/2006/main">
              <a:ext uri="{FF2B5EF4-FFF2-40B4-BE49-F238E27FC236}">
                <a16:creationId xmlns:a16="http://schemas.microsoft.com/office/drawing/2014/main" id="{44AD29C3-4F84-4906-8BDE-2A5DE3981BB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Phase 22 and VH14 run manifests/returns; donor-per-arm 3-vs-5 sensitivity assessment (2026-09-11).</a:t>
            </a:r>
          </a:p>
        </p:txBody>
      </p:sp>
    </p:spTree>
    <p:extLst>
      <p:ext uri="{BB962C8B-B14F-4D97-AF65-F5344CB8AC3E}">
        <p14:creationId xmlns:p14="http://schemas.microsoft.com/office/powerpoint/2010/main" val="105920596"/>
      </p:ext>
    </p:extLst>
  </p:cSld>
</p:sld>
</file>

<file path=ppt/slides/slide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25F3B0C-B71A-431A-8FF4-50F3C7BD892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Donor-threshold sensitivity — key findings</a:t>
            </a:r>
          </a:p>
        </p:txBody>
      </p:sp>
      <p:sp>
        <p:nvSpPr>
          <p:cNvPr id="3" name="TextBox 2">
            <a:extLst xmlns:a="http://schemas.openxmlformats.org/drawingml/2006/main">
              <a:ext uri="{FF2B5EF4-FFF2-40B4-BE49-F238E27FC236}">
                <a16:creationId xmlns:a16="http://schemas.microsoft.com/office/drawing/2014/main" id="{199BDF02-6FDB-46E4-9E8E-E1E54A1D02E5}"/>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Raising minimum donors per disease arm from 3 to 5 in ROSMAP and SEA-AD.</a:t>
            </a:r>
          </a:p>
        </p:txBody>
      </p:sp>
      <p:sp>
        <p:nvSpPr>
          <p:cNvPr id="4" name="Rounded Rectangle 3">
            <a:extLst xmlns:a="http://schemas.openxmlformats.org/drawingml/2006/main">
              <a:ext uri="{FF2B5EF4-FFF2-40B4-BE49-F238E27FC236}">
                <a16:creationId xmlns:a16="http://schemas.microsoft.com/office/drawing/2014/main" id="{18DD6D7A-22B8-4849-B84F-B817AC43335A}"/>
              </a:ext>
            </a:extLst>
          </p:cNvPr>
          <p:cNvSpPr>
            <a:spLocks xmlns:a="http://schemas.openxmlformats.org/drawingml/2006/main" noGrp="1"/>
          </p:cNvSpPr>
          <p:nvPr/>
        </p:nvSpPr>
        <p:spPr>
          <a:xfrm xmlns:a="http://schemas.openxmlformats.org/drawingml/2006/main">
            <a:off x="658368" y="1298448"/>
            <a:ext cx="10881360" cy="4773168"/>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553A19D-A8C1-44B5-995C-6011828E9382}"/>
              </a:ext>
            </a:extLst>
          </p:cNvPr>
          <p:cNvSpPr>
            <a:spLocks xmlns:a="http://schemas.openxmlformats.org/drawingml/2006/main" noGrp="1"/>
          </p:cNvSpPr>
          <p:nvPr/>
        </p:nvSpPr>
        <p:spPr>
          <a:xfrm xmlns:a="http://schemas.openxmlformats.org/drawingml/2006/main">
            <a:off x="960120" y="1554480"/>
            <a:ext cx="219456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KEY FINDINGS</a:t>
            </a:r>
          </a:p>
        </p:txBody>
      </p:sp>
      <p:sp>
        <p:nvSpPr>
          <p:cNvPr id="6" name="Oval 5">
            <a:extLst xmlns:a="http://schemas.openxmlformats.org/drawingml/2006/main">
              <a:ext uri="{FF2B5EF4-FFF2-40B4-BE49-F238E27FC236}">
                <a16:creationId xmlns:a16="http://schemas.microsoft.com/office/drawing/2014/main" id="{09C4D1D7-8BB9-4E7F-B109-8B2FFB6A0DDE}"/>
              </a:ext>
            </a:extLst>
          </p:cNvPr>
          <p:cNvSpPr>
            <a:spLocks xmlns:a="http://schemas.openxmlformats.org/drawingml/2006/main" noGrp="1"/>
          </p:cNvSpPr>
          <p:nvPr/>
        </p:nvSpPr>
        <p:spPr>
          <a:xfrm xmlns:a="http://schemas.openxmlformats.org/drawingml/2006/main">
            <a:off x="960120" y="204825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A881ABF-427F-4249-8522-B0545E7035F2}"/>
              </a:ext>
            </a:extLst>
          </p:cNvPr>
          <p:cNvSpPr>
            <a:spLocks xmlns:a="http://schemas.openxmlformats.org/drawingml/2006/main" noGrp="1"/>
          </p:cNvSpPr>
          <p:nvPr/>
        </p:nvSpPr>
        <p:spPr>
          <a:xfrm xmlns:a="http://schemas.openxmlformats.org/drawingml/2006/main">
            <a:off x="1133856" y="1920240"/>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ROSMAP loses the Vasculature × M_e2 4-versus-3-donor call, which alone generated 26 driver rows. This removes the low-support result dominating the ROSMAP release.</a:t>
            </a:r>
          </a:p>
        </p:txBody>
      </p:sp>
      <p:sp>
        <p:nvSpPr>
          <p:cNvPr id="8" name="Oval 7">
            <a:extLst xmlns:a="http://schemas.openxmlformats.org/drawingml/2006/main">
              <a:ext uri="{FF2B5EF4-FFF2-40B4-BE49-F238E27FC236}">
                <a16:creationId xmlns:a16="http://schemas.microsoft.com/office/drawing/2014/main" id="{949466EA-35CA-4B4C-831D-4E1D7D555C89}"/>
              </a:ext>
            </a:extLst>
          </p:cNvPr>
          <p:cNvSpPr>
            <a:spLocks xmlns:a="http://schemas.openxmlformats.org/drawingml/2006/main" noGrp="1"/>
          </p:cNvSpPr>
          <p:nvPr/>
        </p:nvSpPr>
        <p:spPr>
          <a:xfrm xmlns:a="http://schemas.openxmlformats.org/drawingml/2006/main">
            <a:off x="960120" y="281635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AACCE04-F5AF-44D8-AD25-CB898B224716}"/>
              </a:ext>
            </a:extLst>
          </p:cNvPr>
          <p:cNvSpPr>
            <a:spLocks xmlns:a="http://schemas.openxmlformats.org/drawingml/2006/main" noGrp="1"/>
          </p:cNvSpPr>
          <p:nvPr/>
        </p:nvSpPr>
        <p:spPr>
          <a:xfrm xmlns:a="http://schemas.openxmlformats.org/drawingml/2006/main">
            <a:off x="1133856" y="2688336"/>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SEA-AD loses eight eligible contrasts, but all already had empty mitochondrial queries. Therefore, all five KDA runs and all returned drivers remain unchanged.</a:t>
            </a:r>
          </a:p>
        </p:txBody>
      </p:sp>
      <p:sp>
        <p:nvSpPr>
          <p:cNvPr id="10" name="Oval 9">
            <a:extLst xmlns:a="http://schemas.openxmlformats.org/drawingml/2006/main">
              <a:ext uri="{FF2B5EF4-FFF2-40B4-BE49-F238E27FC236}">
                <a16:creationId xmlns:a16="http://schemas.microsoft.com/office/drawing/2014/main" id="{9EDE846E-BE18-49ED-AF44-A28A775CB2F8}"/>
              </a:ext>
            </a:extLst>
          </p:cNvPr>
          <p:cNvSpPr>
            <a:spLocks xmlns:a="http://schemas.openxmlformats.org/drawingml/2006/main" noGrp="1"/>
          </p:cNvSpPr>
          <p:nvPr/>
        </p:nvSpPr>
        <p:spPr>
          <a:xfrm xmlns:a="http://schemas.openxmlformats.org/drawingml/2006/main">
            <a:off x="960120" y="3584448"/>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D77A8E0-48BA-4289-9E74-C3ED04DCFE7D}"/>
              </a:ext>
            </a:extLst>
          </p:cNvPr>
          <p:cNvSpPr>
            <a:spLocks xmlns:a="http://schemas.openxmlformats.org/drawingml/2006/main" noGrp="1"/>
          </p:cNvSpPr>
          <p:nvPr/>
        </p:nvSpPr>
        <p:spPr>
          <a:xfrm xmlns:a="http://schemas.openxmlformats.org/drawingml/2006/main">
            <a:off x="1133856" y="3456432"/>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Cross-cohort validation remains zero at both thresholds.</a:t>
            </a:r>
          </a:p>
        </p:txBody>
      </p:sp>
      <p:sp>
        <p:nvSpPr>
          <p:cNvPr id="12" name="Oval 11">
            <a:extLst xmlns:a="http://schemas.openxmlformats.org/drawingml/2006/main">
              <a:ext uri="{FF2B5EF4-FFF2-40B4-BE49-F238E27FC236}">
                <a16:creationId xmlns:a16="http://schemas.microsoft.com/office/drawing/2014/main" id="{58E91864-B2AC-4AD6-B45A-053A9C688D3D}"/>
              </a:ext>
            </a:extLst>
          </p:cNvPr>
          <p:cNvSpPr>
            <a:spLocks xmlns:a="http://schemas.openxmlformats.org/drawingml/2006/main" noGrp="1"/>
          </p:cNvSpPr>
          <p:nvPr/>
        </p:nvSpPr>
        <p:spPr>
          <a:xfrm xmlns:a="http://schemas.openxmlformats.org/drawingml/2006/main">
            <a:off x="960120" y="4352544"/>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D37C508-F16A-4298-89AA-59DA37EA865D}"/>
              </a:ext>
            </a:extLst>
          </p:cNvPr>
          <p:cNvSpPr>
            <a:spLocks xmlns:a="http://schemas.openxmlformats.org/drawingml/2006/main" noGrp="1"/>
          </p:cNvSpPr>
          <p:nvPr/>
        </p:nvSpPr>
        <p:spPr>
          <a:xfrm xmlns:a="http://schemas.openxmlformats.org/drawingml/2006/main">
            <a:off x="1133856" y="4224528"/>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The only exact shared executed stratum remains Astrocytes × F_e4, with no shared drivers.</a:t>
            </a:r>
          </a:p>
        </p:txBody>
      </p:sp>
      <p:sp>
        <p:nvSpPr>
          <p:cNvPr id="14" name="Oval 13">
            <a:extLst xmlns:a="http://schemas.openxmlformats.org/drawingml/2006/main">
              <a:ext uri="{FF2B5EF4-FFF2-40B4-BE49-F238E27FC236}">
                <a16:creationId xmlns:a16="http://schemas.microsoft.com/office/drawing/2014/main" id="{4A72CDD2-DCA4-4F37-9176-B43911D86A73}"/>
              </a:ext>
            </a:extLst>
          </p:cNvPr>
          <p:cNvSpPr>
            <a:spLocks xmlns:a="http://schemas.openxmlformats.org/drawingml/2006/main" noGrp="1"/>
          </p:cNvSpPr>
          <p:nvPr/>
        </p:nvSpPr>
        <p:spPr>
          <a:xfrm xmlns:a="http://schemas.openxmlformats.org/drawingml/2006/main">
            <a:off x="960120" y="5120640"/>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EDF81818-C64B-49A7-8FA6-01AD143DCED6}"/>
              </a:ext>
            </a:extLst>
          </p:cNvPr>
          <p:cNvSpPr>
            <a:spLocks xmlns:a="http://schemas.openxmlformats.org/drawingml/2006/main" noGrp="1"/>
          </p:cNvSpPr>
          <p:nvPr/>
        </p:nvSpPr>
        <p:spPr>
          <a:xfrm xmlns:a="http://schemas.openxmlformats.org/drawingml/2006/main">
            <a:off x="1133856" y="4992624"/>
            <a:ext cx="9838944"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20" b="0" i="0">
                <a:solidFill>
                  <a:srgbClr val="1F2730"/>
                </a:solidFill>
                <a:latin typeface="Arial"/>
                <a:ea typeface="Arial"/>
                <a:cs typeface="Arial"/>
              </a:rPr>
              <a:t>The excluded contrasts are treated as unavailable comparisons—not negative validation results.</a:t>
            </a:r>
          </a:p>
        </p:txBody>
      </p:sp>
      <p:sp>
        <p:nvSpPr>
          <p:cNvPr id="16" name="TextBox 15">
            <a:extLst xmlns:a="http://schemas.openxmlformats.org/drawingml/2006/main">
              <a:ext uri="{FF2B5EF4-FFF2-40B4-BE49-F238E27FC236}">
                <a16:creationId xmlns:a16="http://schemas.microsoft.com/office/drawing/2014/main" id="{9FCC67DD-7554-4476-84BD-25F10B7671E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Phase 22 and VH14 run manifests/returns; donor-per-arm 3-vs-5 sensitivity assessment (2026-09-11).</a:t>
            </a:r>
          </a:p>
        </p:txBody>
      </p:sp>
    </p:spTree>
    <p:extLst>
      <p:ext uri="{BB962C8B-B14F-4D97-AF65-F5344CB8AC3E}">
        <p14:creationId xmlns:p14="http://schemas.microsoft.com/office/powerpoint/2010/main" val="382545354"/>
      </p:ext>
    </p:extLst>
  </p:cSld>
</p:sld>
</file>

<file path=ppt/slides/slide3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DD7CA38-4263-4922-B9E4-152F9F619F75}"/>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Query-size sensitivity — numerical comparison</a:t>
            </a:r>
          </a:p>
        </p:txBody>
      </p:sp>
      <p:sp>
        <p:nvSpPr>
          <p:cNvPr id="3" name="TextBox 2">
            <a:extLst xmlns:a="http://schemas.openxmlformats.org/drawingml/2006/main">
              <a:ext uri="{FF2B5EF4-FFF2-40B4-BE49-F238E27FC236}">
                <a16:creationId xmlns:a16="http://schemas.microsoft.com/office/drawing/2014/main" id="{8B6DDF63-06AA-4896-A112-1C337B681D39}"/>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Minimum effective genes after network mapping; donor minimum held at 3 per disease arm.</a:t>
            </a:r>
          </a:p>
        </p:txBody>
      </p:sp>
      <p:sp>
        <p:nvSpPr>
          <p:cNvPr id="4" name="Rectangle 3">
            <a:extLst xmlns:a="http://schemas.openxmlformats.org/drawingml/2006/main">
              <a:ext uri="{FF2B5EF4-FFF2-40B4-BE49-F238E27FC236}">
                <a16:creationId xmlns:a16="http://schemas.microsoft.com/office/drawing/2014/main" id="{F9DF9097-007C-4CBD-92F2-DF8EF21F3CDA}"/>
              </a:ext>
            </a:extLst>
          </p:cNvPr>
          <p:cNvSpPr>
            <a:spLocks xmlns:a="http://schemas.openxmlformats.org/drawingml/2006/main" noGrp="1"/>
          </p:cNvSpPr>
          <p:nvPr/>
        </p:nvSpPr>
        <p:spPr>
          <a:xfrm xmlns:a="http://schemas.openxmlformats.org/drawingml/2006/main">
            <a:off x="539496" y="1371600"/>
            <a:ext cx="109728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5171831-019E-48DD-AD50-F176E9E78576}"/>
              </a:ext>
            </a:extLst>
          </p:cNvPr>
          <p:cNvSpPr>
            <a:spLocks xmlns:a="http://schemas.openxmlformats.org/drawingml/2006/main" noGrp="1"/>
          </p:cNvSpPr>
          <p:nvPr/>
        </p:nvSpPr>
        <p:spPr>
          <a:xfrm xmlns:a="http://schemas.openxmlformats.org/drawingml/2006/main">
            <a:off x="594359" y="1426464"/>
            <a:ext cx="987552"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Cohort</a:t>
            </a:r>
          </a:p>
        </p:txBody>
      </p:sp>
      <p:sp>
        <p:nvSpPr>
          <p:cNvPr id="6" name="Rectangle 5">
            <a:extLst xmlns:a="http://schemas.openxmlformats.org/drawingml/2006/main">
              <a:ext uri="{FF2B5EF4-FFF2-40B4-BE49-F238E27FC236}">
                <a16:creationId xmlns:a16="http://schemas.microsoft.com/office/drawing/2014/main" id="{D6691509-3067-4EB2-965B-1E0E5F77FE4C}"/>
              </a:ext>
            </a:extLst>
          </p:cNvPr>
          <p:cNvSpPr>
            <a:spLocks xmlns:a="http://schemas.openxmlformats.org/drawingml/2006/main" noGrp="1"/>
          </p:cNvSpPr>
          <p:nvPr/>
        </p:nvSpPr>
        <p:spPr>
          <a:xfrm xmlns:a="http://schemas.openxmlformats.org/drawingml/2006/main">
            <a:off x="1636776" y="1371600"/>
            <a:ext cx="132588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8675E2A-BCD8-47E4-A554-C75039387E85}"/>
              </a:ext>
            </a:extLst>
          </p:cNvPr>
          <p:cNvSpPr>
            <a:spLocks xmlns:a="http://schemas.openxmlformats.org/drawingml/2006/main" noGrp="1"/>
          </p:cNvSpPr>
          <p:nvPr/>
        </p:nvSpPr>
        <p:spPr>
          <a:xfrm xmlns:a="http://schemas.openxmlformats.org/drawingml/2006/main">
            <a:off x="1691640" y="1426464"/>
            <a:ext cx="1216152"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Minimum query genes</a:t>
            </a:r>
          </a:p>
        </p:txBody>
      </p:sp>
      <p:sp>
        <p:nvSpPr>
          <p:cNvPr id="8" name="Rectangle 7">
            <a:extLst xmlns:a="http://schemas.openxmlformats.org/drawingml/2006/main">
              <a:ext uri="{FF2B5EF4-FFF2-40B4-BE49-F238E27FC236}">
                <a16:creationId xmlns:a16="http://schemas.microsoft.com/office/drawing/2014/main" id="{16228AAB-FE57-4B8F-9337-AE131A1C8CF5}"/>
              </a:ext>
            </a:extLst>
          </p:cNvPr>
          <p:cNvSpPr>
            <a:spLocks xmlns:a="http://schemas.openxmlformats.org/drawingml/2006/main" noGrp="1"/>
          </p:cNvSpPr>
          <p:nvPr/>
        </p:nvSpPr>
        <p:spPr>
          <a:xfrm xmlns:a="http://schemas.openxmlformats.org/drawingml/2006/main">
            <a:off x="2962656" y="1371600"/>
            <a:ext cx="178308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AE06F7D-C693-4B4E-89B6-F05CDD3EB6BE}"/>
              </a:ext>
            </a:extLst>
          </p:cNvPr>
          <p:cNvSpPr>
            <a:spLocks xmlns:a="http://schemas.openxmlformats.org/drawingml/2006/main" noGrp="1"/>
          </p:cNvSpPr>
          <p:nvPr/>
        </p:nvSpPr>
        <p:spPr>
          <a:xfrm xmlns:a="http://schemas.openxmlformats.org/drawingml/2006/main">
            <a:off x="3017520" y="1426464"/>
            <a:ext cx="1673352"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Source-estimable contrasts</a:t>
            </a:r>
          </a:p>
        </p:txBody>
      </p:sp>
      <p:sp>
        <p:nvSpPr>
          <p:cNvPr id="10" name="Rectangle 9">
            <a:extLst xmlns:a="http://schemas.openxmlformats.org/drawingml/2006/main">
              <a:ext uri="{FF2B5EF4-FFF2-40B4-BE49-F238E27FC236}">
                <a16:creationId xmlns:a16="http://schemas.microsoft.com/office/drawing/2014/main" id="{A7DC2A01-D05E-4D29-A52A-E76862908454}"/>
              </a:ext>
            </a:extLst>
          </p:cNvPr>
          <p:cNvSpPr>
            <a:spLocks xmlns:a="http://schemas.openxmlformats.org/drawingml/2006/main" noGrp="1"/>
          </p:cNvSpPr>
          <p:nvPr/>
        </p:nvSpPr>
        <p:spPr>
          <a:xfrm xmlns:a="http://schemas.openxmlformats.org/drawingml/2006/main">
            <a:off x="4745736" y="1371600"/>
            <a:ext cx="173736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19A73275-6480-473E-A100-8F193BA88188}"/>
              </a:ext>
            </a:extLst>
          </p:cNvPr>
          <p:cNvSpPr>
            <a:spLocks xmlns:a="http://schemas.openxmlformats.org/drawingml/2006/main" noGrp="1"/>
          </p:cNvSpPr>
          <p:nvPr/>
        </p:nvSpPr>
        <p:spPr>
          <a:xfrm xmlns:a="http://schemas.openxmlformats.org/drawingml/2006/main">
            <a:off x="4800600" y="1426464"/>
            <a:ext cx="1627631"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Query-passing contrasts</a:t>
            </a:r>
          </a:p>
        </p:txBody>
      </p:sp>
      <p:sp>
        <p:nvSpPr>
          <p:cNvPr id="12" name="Rectangle 11">
            <a:extLst xmlns:a="http://schemas.openxmlformats.org/drawingml/2006/main">
              <a:ext uri="{FF2B5EF4-FFF2-40B4-BE49-F238E27FC236}">
                <a16:creationId xmlns:a16="http://schemas.microsoft.com/office/drawing/2014/main" id="{83004C7C-2E64-4132-A9A4-71645D7B8F17}"/>
              </a:ext>
            </a:extLst>
          </p:cNvPr>
          <p:cNvSpPr>
            <a:spLocks xmlns:a="http://schemas.openxmlformats.org/drawingml/2006/main" noGrp="1"/>
          </p:cNvSpPr>
          <p:nvPr/>
        </p:nvSpPr>
        <p:spPr>
          <a:xfrm xmlns:a="http://schemas.openxmlformats.org/drawingml/2006/main">
            <a:off x="6483096" y="1371600"/>
            <a:ext cx="1051560"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0D475DD-B022-4339-87C7-C40904E90410}"/>
              </a:ext>
            </a:extLst>
          </p:cNvPr>
          <p:cNvSpPr>
            <a:spLocks xmlns:a="http://schemas.openxmlformats.org/drawingml/2006/main" noGrp="1"/>
          </p:cNvSpPr>
          <p:nvPr/>
        </p:nvSpPr>
        <p:spPr>
          <a:xfrm xmlns:a="http://schemas.openxmlformats.org/drawingml/2006/main">
            <a:off x="6537959" y="1426464"/>
            <a:ext cx="941831"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KDA runs</a:t>
            </a:r>
          </a:p>
        </p:txBody>
      </p:sp>
      <p:sp>
        <p:nvSpPr>
          <p:cNvPr id="14" name="Rectangle 13">
            <a:extLst xmlns:a="http://schemas.openxmlformats.org/drawingml/2006/main">
              <a:ext uri="{FF2B5EF4-FFF2-40B4-BE49-F238E27FC236}">
                <a16:creationId xmlns:a16="http://schemas.microsoft.com/office/drawing/2014/main" id="{AA366187-E9AD-4D59-B558-84BB882F9DA7}"/>
              </a:ext>
            </a:extLst>
          </p:cNvPr>
          <p:cNvSpPr>
            <a:spLocks xmlns:a="http://schemas.openxmlformats.org/drawingml/2006/main" noGrp="1"/>
          </p:cNvSpPr>
          <p:nvPr/>
        </p:nvSpPr>
        <p:spPr>
          <a:xfrm xmlns:a="http://schemas.openxmlformats.org/drawingml/2006/main">
            <a:off x="7534656" y="1371600"/>
            <a:ext cx="1993392"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FA83CCF-A99E-4817-A8C0-572B99A0CAED}"/>
              </a:ext>
            </a:extLst>
          </p:cNvPr>
          <p:cNvSpPr>
            <a:spLocks xmlns:a="http://schemas.openxmlformats.org/drawingml/2006/main" noGrp="1"/>
          </p:cNvSpPr>
          <p:nvPr/>
        </p:nvSpPr>
        <p:spPr>
          <a:xfrm xmlns:a="http://schemas.openxmlformats.org/drawingml/2006/main">
            <a:off x="7589520" y="1426464"/>
            <a:ext cx="1883664"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Significant KD rows</a:t>
            </a:r>
          </a:p>
        </p:txBody>
      </p:sp>
      <p:sp>
        <p:nvSpPr>
          <p:cNvPr id="16" name="Rectangle 15">
            <a:extLst xmlns:a="http://schemas.openxmlformats.org/drawingml/2006/main">
              <a:ext uri="{FF2B5EF4-FFF2-40B4-BE49-F238E27FC236}">
                <a16:creationId xmlns:a16="http://schemas.microsoft.com/office/drawing/2014/main" id="{B36D802F-CD5F-453E-B54F-FD621E30F9DA}"/>
              </a:ext>
            </a:extLst>
          </p:cNvPr>
          <p:cNvSpPr>
            <a:spLocks xmlns:a="http://schemas.openxmlformats.org/drawingml/2006/main" noGrp="1"/>
          </p:cNvSpPr>
          <p:nvPr/>
        </p:nvSpPr>
        <p:spPr>
          <a:xfrm xmlns:a="http://schemas.openxmlformats.org/drawingml/2006/main">
            <a:off x="9528048" y="1371600"/>
            <a:ext cx="2121408" cy="630936"/>
          </a:xfrm>
          <a:prstGeom xmlns:a="http://schemas.openxmlformats.org/drawingml/2006/main" prst="rect">
            <a:avLst/>
          </a:prstGeom>
          <a:solidFill xmlns:a="http://schemas.openxmlformats.org/drawingml/2006/main">
            <a:srgbClr val="0F233D"/>
          </a:solidFill>
          <a:ln xmlns:a="http://schemas.openxmlformats.org/drawingml/2006/main" w="7620">
            <a:solidFill>
              <a:srgbClr val="FFFFF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BF77F7B-7F1F-4D12-8778-42218A68A9D3}"/>
              </a:ext>
            </a:extLst>
          </p:cNvPr>
          <p:cNvSpPr>
            <a:spLocks xmlns:a="http://schemas.openxmlformats.org/drawingml/2006/main" noGrp="1"/>
          </p:cNvSpPr>
          <p:nvPr/>
        </p:nvSpPr>
        <p:spPr>
          <a:xfrm xmlns:a="http://schemas.openxmlformats.org/drawingml/2006/main">
            <a:off x="9582912" y="1426464"/>
            <a:ext cx="2011679" cy="5394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879" b="1" i="0">
                <a:solidFill>
                  <a:srgbClr val="FFFFFF"/>
                </a:solidFill>
                <a:latin typeface="Arial"/>
                <a:ea typeface="Arial"/>
                <a:cs typeface="Arial"/>
              </a:rPr>
              <a:t>Unique non-MT KDs</a:t>
            </a:r>
          </a:p>
        </p:txBody>
      </p:sp>
      <p:sp>
        <p:nvSpPr>
          <p:cNvPr id="18" name="Rectangle 17">
            <a:extLst xmlns:a="http://schemas.openxmlformats.org/drawingml/2006/main">
              <a:ext uri="{FF2B5EF4-FFF2-40B4-BE49-F238E27FC236}">
                <a16:creationId xmlns:a16="http://schemas.microsoft.com/office/drawing/2014/main" id="{D4C04B78-789D-4737-9533-19DDAA7C1601}"/>
              </a:ext>
            </a:extLst>
          </p:cNvPr>
          <p:cNvSpPr>
            <a:spLocks xmlns:a="http://schemas.openxmlformats.org/drawingml/2006/main" noGrp="1"/>
          </p:cNvSpPr>
          <p:nvPr/>
        </p:nvSpPr>
        <p:spPr>
          <a:xfrm xmlns:a="http://schemas.openxmlformats.org/drawingml/2006/main">
            <a:off x="539496" y="2002536"/>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63BAAC32-6E5B-49E5-9113-B1F20BFE28C4}"/>
              </a:ext>
            </a:extLst>
          </p:cNvPr>
          <p:cNvSpPr>
            <a:spLocks xmlns:a="http://schemas.openxmlformats.org/drawingml/2006/main" noGrp="1"/>
          </p:cNvSpPr>
          <p:nvPr/>
        </p:nvSpPr>
        <p:spPr>
          <a:xfrm xmlns:a="http://schemas.openxmlformats.org/drawingml/2006/main">
            <a:off x="594359" y="2048255"/>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20" name="Rectangle 19">
            <a:extLst xmlns:a="http://schemas.openxmlformats.org/drawingml/2006/main">
              <a:ext uri="{FF2B5EF4-FFF2-40B4-BE49-F238E27FC236}">
                <a16:creationId xmlns:a16="http://schemas.microsoft.com/office/drawing/2014/main" id="{BB72EC37-20AA-457F-9AB1-61E5D9DA4140}"/>
              </a:ext>
            </a:extLst>
          </p:cNvPr>
          <p:cNvSpPr>
            <a:spLocks xmlns:a="http://schemas.openxmlformats.org/drawingml/2006/main" noGrp="1"/>
          </p:cNvSpPr>
          <p:nvPr/>
        </p:nvSpPr>
        <p:spPr>
          <a:xfrm xmlns:a="http://schemas.openxmlformats.org/drawingml/2006/main">
            <a:off x="1636776" y="2002536"/>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30BB733-FC4C-46C3-92E3-CEB3223AA0E7}"/>
              </a:ext>
            </a:extLst>
          </p:cNvPr>
          <p:cNvSpPr>
            <a:spLocks xmlns:a="http://schemas.openxmlformats.org/drawingml/2006/main" noGrp="1"/>
          </p:cNvSpPr>
          <p:nvPr/>
        </p:nvSpPr>
        <p:spPr>
          <a:xfrm xmlns:a="http://schemas.openxmlformats.org/drawingml/2006/main">
            <a:off x="1691640" y="2048255"/>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2" name="Rectangle 21">
            <a:extLst xmlns:a="http://schemas.openxmlformats.org/drawingml/2006/main">
              <a:ext uri="{FF2B5EF4-FFF2-40B4-BE49-F238E27FC236}">
                <a16:creationId xmlns:a16="http://schemas.microsoft.com/office/drawing/2014/main" id="{F571AD81-CB6E-4DF6-8BA5-B120EA9A1403}"/>
              </a:ext>
            </a:extLst>
          </p:cNvPr>
          <p:cNvSpPr>
            <a:spLocks xmlns:a="http://schemas.openxmlformats.org/drawingml/2006/main" noGrp="1"/>
          </p:cNvSpPr>
          <p:nvPr/>
        </p:nvSpPr>
        <p:spPr>
          <a:xfrm xmlns:a="http://schemas.openxmlformats.org/drawingml/2006/main">
            <a:off x="2962656" y="2002536"/>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4E5A0FC6-C26E-4751-BECD-55061DFD488B}"/>
              </a:ext>
            </a:extLst>
          </p:cNvPr>
          <p:cNvSpPr>
            <a:spLocks xmlns:a="http://schemas.openxmlformats.org/drawingml/2006/main" noGrp="1"/>
          </p:cNvSpPr>
          <p:nvPr/>
        </p:nvSpPr>
        <p:spPr>
          <a:xfrm xmlns:a="http://schemas.openxmlformats.org/drawingml/2006/main">
            <a:off x="3017520" y="2048255"/>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24" name="Rectangle 23">
            <a:extLst xmlns:a="http://schemas.openxmlformats.org/drawingml/2006/main">
              <a:ext uri="{FF2B5EF4-FFF2-40B4-BE49-F238E27FC236}">
                <a16:creationId xmlns:a16="http://schemas.microsoft.com/office/drawing/2014/main" id="{122610C6-2C6D-4137-856A-ADCF252BE042}"/>
              </a:ext>
            </a:extLst>
          </p:cNvPr>
          <p:cNvSpPr>
            <a:spLocks xmlns:a="http://schemas.openxmlformats.org/drawingml/2006/main" noGrp="1"/>
          </p:cNvSpPr>
          <p:nvPr/>
        </p:nvSpPr>
        <p:spPr>
          <a:xfrm xmlns:a="http://schemas.openxmlformats.org/drawingml/2006/main">
            <a:off x="4745736" y="2002536"/>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439ACC2-479D-4C90-893C-0002ED1C25E1}"/>
              </a:ext>
            </a:extLst>
          </p:cNvPr>
          <p:cNvSpPr>
            <a:spLocks xmlns:a="http://schemas.openxmlformats.org/drawingml/2006/main" noGrp="1"/>
          </p:cNvSpPr>
          <p:nvPr/>
        </p:nvSpPr>
        <p:spPr>
          <a:xfrm xmlns:a="http://schemas.openxmlformats.org/drawingml/2006/main">
            <a:off x="4800600" y="2048255"/>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6" name="Rectangle 25">
            <a:extLst xmlns:a="http://schemas.openxmlformats.org/drawingml/2006/main">
              <a:ext uri="{FF2B5EF4-FFF2-40B4-BE49-F238E27FC236}">
                <a16:creationId xmlns:a16="http://schemas.microsoft.com/office/drawing/2014/main" id="{886BB4BB-75F2-44CC-B094-6ED5C81235BD}"/>
              </a:ext>
            </a:extLst>
          </p:cNvPr>
          <p:cNvSpPr>
            <a:spLocks xmlns:a="http://schemas.openxmlformats.org/drawingml/2006/main" noGrp="1"/>
          </p:cNvSpPr>
          <p:nvPr/>
        </p:nvSpPr>
        <p:spPr>
          <a:xfrm xmlns:a="http://schemas.openxmlformats.org/drawingml/2006/main">
            <a:off x="6483096" y="2002536"/>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CFE88007-9F11-43FB-9F24-36F53E4392CE}"/>
              </a:ext>
            </a:extLst>
          </p:cNvPr>
          <p:cNvSpPr>
            <a:spLocks xmlns:a="http://schemas.openxmlformats.org/drawingml/2006/main" noGrp="1"/>
          </p:cNvSpPr>
          <p:nvPr/>
        </p:nvSpPr>
        <p:spPr>
          <a:xfrm xmlns:a="http://schemas.openxmlformats.org/drawingml/2006/main">
            <a:off x="6537959" y="2048255"/>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28" name="Rectangle 27">
            <a:extLst xmlns:a="http://schemas.openxmlformats.org/drawingml/2006/main">
              <a:ext uri="{FF2B5EF4-FFF2-40B4-BE49-F238E27FC236}">
                <a16:creationId xmlns:a16="http://schemas.microsoft.com/office/drawing/2014/main" id="{23630290-8779-4B2F-AD33-5149BC6CDF6E}"/>
              </a:ext>
            </a:extLst>
          </p:cNvPr>
          <p:cNvSpPr>
            <a:spLocks xmlns:a="http://schemas.openxmlformats.org/drawingml/2006/main" noGrp="1"/>
          </p:cNvSpPr>
          <p:nvPr/>
        </p:nvSpPr>
        <p:spPr>
          <a:xfrm xmlns:a="http://schemas.openxmlformats.org/drawingml/2006/main">
            <a:off x="7534656" y="2002536"/>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2EDF97C9-0354-4B07-A4C6-2F050E03F8AA}"/>
              </a:ext>
            </a:extLst>
          </p:cNvPr>
          <p:cNvSpPr>
            <a:spLocks xmlns:a="http://schemas.openxmlformats.org/drawingml/2006/main" noGrp="1"/>
          </p:cNvSpPr>
          <p:nvPr/>
        </p:nvSpPr>
        <p:spPr>
          <a:xfrm xmlns:a="http://schemas.openxmlformats.org/drawingml/2006/main">
            <a:off x="7589520" y="2048255"/>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39</a:t>
            </a:r>
          </a:p>
        </p:txBody>
      </p:sp>
      <p:sp>
        <p:nvSpPr>
          <p:cNvPr id="30" name="Rectangle 29">
            <a:extLst xmlns:a="http://schemas.openxmlformats.org/drawingml/2006/main">
              <a:ext uri="{FF2B5EF4-FFF2-40B4-BE49-F238E27FC236}">
                <a16:creationId xmlns:a16="http://schemas.microsoft.com/office/drawing/2014/main" id="{4DE06070-690D-4830-83CC-82280097316C}"/>
              </a:ext>
            </a:extLst>
          </p:cNvPr>
          <p:cNvSpPr>
            <a:spLocks xmlns:a="http://schemas.openxmlformats.org/drawingml/2006/main" noGrp="1"/>
          </p:cNvSpPr>
          <p:nvPr/>
        </p:nvSpPr>
        <p:spPr>
          <a:xfrm xmlns:a="http://schemas.openxmlformats.org/drawingml/2006/main">
            <a:off x="9528048" y="2002536"/>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578C1C25-CD6C-4E34-8EE4-5E6F10E82749}"/>
              </a:ext>
            </a:extLst>
          </p:cNvPr>
          <p:cNvSpPr>
            <a:spLocks xmlns:a="http://schemas.openxmlformats.org/drawingml/2006/main" noGrp="1"/>
          </p:cNvSpPr>
          <p:nvPr/>
        </p:nvSpPr>
        <p:spPr>
          <a:xfrm xmlns:a="http://schemas.openxmlformats.org/drawingml/2006/main">
            <a:off x="9582912" y="2048255"/>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33</a:t>
            </a:r>
          </a:p>
        </p:txBody>
      </p:sp>
      <p:sp>
        <p:nvSpPr>
          <p:cNvPr id="32" name="Rectangle 31">
            <a:extLst xmlns:a="http://schemas.openxmlformats.org/drawingml/2006/main">
              <a:ext uri="{FF2B5EF4-FFF2-40B4-BE49-F238E27FC236}">
                <a16:creationId xmlns:a16="http://schemas.microsoft.com/office/drawing/2014/main" id="{804D1610-9C5B-4FD7-8130-BF8BADB69243}"/>
              </a:ext>
            </a:extLst>
          </p:cNvPr>
          <p:cNvSpPr>
            <a:spLocks xmlns:a="http://schemas.openxmlformats.org/drawingml/2006/main" noGrp="1"/>
          </p:cNvSpPr>
          <p:nvPr/>
        </p:nvSpPr>
        <p:spPr>
          <a:xfrm xmlns:a="http://schemas.openxmlformats.org/drawingml/2006/main">
            <a:off x="539496" y="2395728"/>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F83D7EA7-8AED-43F7-A1B1-A5F30CF7C087}"/>
              </a:ext>
            </a:extLst>
          </p:cNvPr>
          <p:cNvSpPr>
            <a:spLocks xmlns:a="http://schemas.openxmlformats.org/drawingml/2006/main" noGrp="1"/>
          </p:cNvSpPr>
          <p:nvPr/>
        </p:nvSpPr>
        <p:spPr>
          <a:xfrm xmlns:a="http://schemas.openxmlformats.org/drawingml/2006/main">
            <a:off x="594359" y="2441448"/>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34" name="Rectangle 33">
            <a:extLst xmlns:a="http://schemas.openxmlformats.org/drawingml/2006/main">
              <a:ext uri="{FF2B5EF4-FFF2-40B4-BE49-F238E27FC236}">
                <a16:creationId xmlns:a16="http://schemas.microsoft.com/office/drawing/2014/main" id="{19EDD134-00F2-45E1-8DCD-826B665128AF}"/>
              </a:ext>
            </a:extLst>
          </p:cNvPr>
          <p:cNvSpPr>
            <a:spLocks xmlns:a="http://schemas.openxmlformats.org/drawingml/2006/main" noGrp="1"/>
          </p:cNvSpPr>
          <p:nvPr/>
        </p:nvSpPr>
        <p:spPr>
          <a:xfrm xmlns:a="http://schemas.openxmlformats.org/drawingml/2006/main">
            <a:off x="1636776" y="2395728"/>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C497DD64-91DD-48B9-8116-AE97391206A8}"/>
              </a:ext>
            </a:extLst>
          </p:cNvPr>
          <p:cNvSpPr>
            <a:spLocks xmlns:a="http://schemas.openxmlformats.org/drawingml/2006/main" noGrp="1"/>
          </p:cNvSpPr>
          <p:nvPr/>
        </p:nvSpPr>
        <p:spPr>
          <a:xfrm xmlns:a="http://schemas.openxmlformats.org/drawingml/2006/main">
            <a:off x="1691640" y="2441448"/>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36" name="Rectangle 35">
            <a:extLst xmlns:a="http://schemas.openxmlformats.org/drawingml/2006/main">
              <a:ext uri="{FF2B5EF4-FFF2-40B4-BE49-F238E27FC236}">
                <a16:creationId xmlns:a16="http://schemas.microsoft.com/office/drawing/2014/main" id="{20914F76-E133-4AC1-AB59-37058FAF554A}"/>
              </a:ext>
            </a:extLst>
          </p:cNvPr>
          <p:cNvSpPr>
            <a:spLocks xmlns:a="http://schemas.openxmlformats.org/drawingml/2006/main" noGrp="1"/>
          </p:cNvSpPr>
          <p:nvPr/>
        </p:nvSpPr>
        <p:spPr>
          <a:xfrm xmlns:a="http://schemas.openxmlformats.org/drawingml/2006/main">
            <a:off x="2962656" y="2395728"/>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95DBCBC1-9641-4DE6-BC15-8AA9EB9A396F}"/>
              </a:ext>
            </a:extLst>
          </p:cNvPr>
          <p:cNvSpPr>
            <a:spLocks xmlns:a="http://schemas.openxmlformats.org/drawingml/2006/main" noGrp="1"/>
          </p:cNvSpPr>
          <p:nvPr/>
        </p:nvSpPr>
        <p:spPr>
          <a:xfrm xmlns:a="http://schemas.openxmlformats.org/drawingml/2006/main">
            <a:off x="3017520" y="2441448"/>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38" name="Rectangle 37">
            <a:extLst xmlns:a="http://schemas.openxmlformats.org/drawingml/2006/main">
              <a:ext uri="{FF2B5EF4-FFF2-40B4-BE49-F238E27FC236}">
                <a16:creationId xmlns:a16="http://schemas.microsoft.com/office/drawing/2014/main" id="{C9B812D0-B598-4433-AAED-20B87A1D1276}"/>
              </a:ext>
            </a:extLst>
          </p:cNvPr>
          <p:cNvSpPr>
            <a:spLocks xmlns:a="http://schemas.openxmlformats.org/drawingml/2006/main" noGrp="1"/>
          </p:cNvSpPr>
          <p:nvPr/>
        </p:nvSpPr>
        <p:spPr>
          <a:xfrm xmlns:a="http://schemas.openxmlformats.org/drawingml/2006/main">
            <a:off x="4745736" y="2395728"/>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C40DB664-36A0-49EA-A597-6E474A473288}"/>
              </a:ext>
            </a:extLst>
          </p:cNvPr>
          <p:cNvSpPr>
            <a:spLocks xmlns:a="http://schemas.openxmlformats.org/drawingml/2006/main" noGrp="1"/>
          </p:cNvSpPr>
          <p:nvPr/>
        </p:nvSpPr>
        <p:spPr>
          <a:xfrm xmlns:a="http://schemas.openxmlformats.org/drawingml/2006/main">
            <a:off x="4800600" y="2441448"/>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40" name="Rectangle 39">
            <a:extLst xmlns:a="http://schemas.openxmlformats.org/drawingml/2006/main">
              <a:ext uri="{FF2B5EF4-FFF2-40B4-BE49-F238E27FC236}">
                <a16:creationId xmlns:a16="http://schemas.microsoft.com/office/drawing/2014/main" id="{18F4D892-8CA3-4475-A46B-92B4555BD2C6}"/>
              </a:ext>
            </a:extLst>
          </p:cNvPr>
          <p:cNvSpPr>
            <a:spLocks xmlns:a="http://schemas.openxmlformats.org/drawingml/2006/main" noGrp="1"/>
          </p:cNvSpPr>
          <p:nvPr/>
        </p:nvSpPr>
        <p:spPr>
          <a:xfrm xmlns:a="http://schemas.openxmlformats.org/drawingml/2006/main">
            <a:off x="6483096" y="2395728"/>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5E3A204D-645F-4C6C-997E-A3DB840608C6}"/>
              </a:ext>
            </a:extLst>
          </p:cNvPr>
          <p:cNvSpPr>
            <a:spLocks xmlns:a="http://schemas.openxmlformats.org/drawingml/2006/main" noGrp="1"/>
          </p:cNvSpPr>
          <p:nvPr/>
        </p:nvSpPr>
        <p:spPr>
          <a:xfrm xmlns:a="http://schemas.openxmlformats.org/drawingml/2006/main">
            <a:off x="6537959" y="2441448"/>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42" name="Rectangle 41">
            <a:extLst xmlns:a="http://schemas.openxmlformats.org/drawingml/2006/main">
              <a:ext uri="{FF2B5EF4-FFF2-40B4-BE49-F238E27FC236}">
                <a16:creationId xmlns:a16="http://schemas.microsoft.com/office/drawing/2014/main" id="{35C81979-5638-477F-ADA7-488666135604}"/>
              </a:ext>
            </a:extLst>
          </p:cNvPr>
          <p:cNvSpPr>
            <a:spLocks xmlns:a="http://schemas.openxmlformats.org/drawingml/2006/main" noGrp="1"/>
          </p:cNvSpPr>
          <p:nvPr/>
        </p:nvSpPr>
        <p:spPr>
          <a:xfrm xmlns:a="http://schemas.openxmlformats.org/drawingml/2006/main">
            <a:off x="7534656" y="2395728"/>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925855F0-86CB-4389-B25C-BF8BD95DBD88}"/>
              </a:ext>
            </a:extLst>
          </p:cNvPr>
          <p:cNvSpPr>
            <a:spLocks xmlns:a="http://schemas.openxmlformats.org/drawingml/2006/main" noGrp="1"/>
          </p:cNvSpPr>
          <p:nvPr/>
        </p:nvSpPr>
        <p:spPr>
          <a:xfrm xmlns:a="http://schemas.openxmlformats.org/drawingml/2006/main">
            <a:off x="7589520" y="2441448"/>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44" name="Rectangle 43">
            <a:extLst xmlns:a="http://schemas.openxmlformats.org/drawingml/2006/main">
              <a:ext uri="{FF2B5EF4-FFF2-40B4-BE49-F238E27FC236}">
                <a16:creationId xmlns:a16="http://schemas.microsoft.com/office/drawing/2014/main" id="{FD9B350F-32C3-4455-AEC0-3F92CDD013E6}"/>
              </a:ext>
            </a:extLst>
          </p:cNvPr>
          <p:cNvSpPr>
            <a:spLocks xmlns:a="http://schemas.openxmlformats.org/drawingml/2006/main" noGrp="1"/>
          </p:cNvSpPr>
          <p:nvPr/>
        </p:nvSpPr>
        <p:spPr>
          <a:xfrm xmlns:a="http://schemas.openxmlformats.org/drawingml/2006/main">
            <a:off x="9528048" y="2395728"/>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237BCF17-C9A8-4506-80D6-0D10808064D3}"/>
              </a:ext>
            </a:extLst>
          </p:cNvPr>
          <p:cNvSpPr>
            <a:spLocks xmlns:a="http://schemas.openxmlformats.org/drawingml/2006/main" noGrp="1"/>
          </p:cNvSpPr>
          <p:nvPr/>
        </p:nvSpPr>
        <p:spPr>
          <a:xfrm xmlns:a="http://schemas.openxmlformats.org/drawingml/2006/main">
            <a:off x="9582912" y="2441448"/>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46" name="Rectangle 45">
            <a:extLst xmlns:a="http://schemas.openxmlformats.org/drawingml/2006/main">
              <a:ext uri="{FF2B5EF4-FFF2-40B4-BE49-F238E27FC236}">
                <a16:creationId xmlns:a16="http://schemas.microsoft.com/office/drawing/2014/main" id="{0F97C6E0-1551-4802-A9E6-E73DBCBB5A01}"/>
              </a:ext>
            </a:extLst>
          </p:cNvPr>
          <p:cNvSpPr>
            <a:spLocks xmlns:a="http://schemas.openxmlformats.org/drawingml/2006/main" noGrp="1"/>
          </p:cNvSpPr>
          <p:nvPr/>
        </p:nvSpPr>
        <p:spPr>
          <a:xfrm xmlns:a="http://schemas.openxmlformats.org/drawingml/2006/main">
            <a:off x="539496" y="2788920"/>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7" name="TextBox 46">
            <a:extLst xmlns:a="http://schemas.openxmlformats.org/drawingml/2006/main">
              <a:ext uri="{FF2B5EF4-FFF2-40B4-BE49-F238E27FC236}">
                <a16:creationId xmlns:a16="http://schemas.microsoft.com/office/drawing/2014/main" id="{84701F44-EE12-4A73-A25C-5F4355D800D5}"/>
              </a:ext>
            </a:extLst>
          </p:cNvPr>
          <p:cNvSpPr>
            <a:spLocks xmlns:a="http://schemas.openxmlformats.org/drawingml/2006/main" noGrp="1"/>
          </p:cNvSpPr>
          <p:nvPr/>
        </p:nvSpPr>
        <p:spPr>
          <a:xfrm xmlns:a="http://schemas.openxmlformats.org/drawingml/2006/main">
            <a:off x="594359" y="2834639"/>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48" name="Rectangle 47">
            <a:extLst xmlns:a="http://schemas.openxmlformats.org/drawingml/2006/main">
              <a:ext uri="{FF2B5EF4-FFF2-40B4-BE49-F238E27FC236}">
                <a16:creationId xmlns:a16="http://schemas.microsoft.com/office/drawing/2014/main" id="{28548E9D-ED00-4F16-A055-8F5DE74C1A8B}"/>
              </a:ext>
            </a:extLst>
          </p:cNvPr>
          <p:cNvSpPr>
            <a:spLocks xmlns:a="http://schemas.openxmlformats.org/drawingml/2006/main" noGrp="1"/>
          </p:cNvSpPr>
          <p:nvPr/>
        </p:nvSpPr>
        <p:spPr>
          <a:xfrm xmlns:a="http://schemas.openxmlformats.org/drawingml/2006/main">
            <a:off x="1636776" y="2788920"/>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9" name="TextBox 48">
            <a:extLst xmlns:a="http://schemas.openxmlformats.org/drawingml/2006/main">
              <a:ext uri="{FF2B5EF4-FFF2-40B4-BE49-F238E27FC236}">
                <a16:creationId xmlns:a16="http://schemas.microsoft.com/office/drawing/2014/main" id="{A936383A-B632-46E8-91B5-3F0601DDB4C7}"/>
              </a:ext>
            </a:extLst>
          </p:cNvPr>
          <p:cNvSpPr>
            <a:spLocks xmlns:a="http://schemas.openxmlformats.org/drawingml/2006/main" noGrp="1"/>
          </p:cNvSpPr>
          <p:nvPr/>
        </p:nvSpPr>
        <p:spPr>
          <a:xfrm xmlns:a="http://schemas.openxmlformats.org/drawingml/2006/main">
            <a:off x="1691640" y="2834639"/>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10</a:t>
            </a:r>
          </a:p>
        </p:txBody>
      </p:sp>
      <p:sp>
        <p:nvSpPr>
          <p:cNvPr id="50" name="Rectangle 49">
            <a:extLst xmlns:a="http://schemas.openxmlformats.org/drawingml/2006/main">
              <a:ext uri="{FF2B5EF4-FFF2-40B4-BE49-F238E27FC236}">
                <a16:creationId xmlns:a16="http://schemas.microsoft.com/office/drawing/2014/main" id="{EA19B3D5-AA6E-4A30-9E95-E99657189CF1}"/>
              </a:ext>
            </a:extLst>
          </p:cNvPr>
          <p:cNvSpPr>
            <a:spLocks xmlns:a="http://schemas.openxmlformats.org/drawingml/2006/main" noGrp="1"/>
          </p:cNvSpPr>
          <p:nvPr/>
        </p:nvSpPr>
        <p:spPr>
          <a:xfrm xmlns:a="http://schemas.openxmlformats.org/drawingml/2006/main">
            <a:off x="2962656" y="2788920"/>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1" name="TextBox 50">
            <a:extLst xmlns:a="http://schemas.openxmlformats.org/drawingml/2006/main">
              <a:ext uri="{FF2B5EF4-FFF2-40B4-BE49-F238E27FC236}">
                <a16:creationId xmlns:a16="http://schemas.microsoft.com/office/drawing/2014/main" id="{CAFF7E6B-2C26-4B54-A63B-C90184CB09D8}"/>
              </a:ext>
            </a:extLst>
          </p:cNvPr>
          <p:cNvSpPr>
            <a:spLocks xmlns:a="http://schemas.openxmlformats.org/drawingml/2006/main" noGrp="1"/>
          </p:cNvSpPr>
          <p:nvPr/>
        </p:nvSpPr>
        <p:spPr>
          <a:xfrm xmlns:a="http://schemas.openxmlformats.org/drawingml/2006/main">
            <a:off x="3017520" y="2834639"/>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52" name="Rectangle 51">
            <a:extLst xmlns:a="http://schemas.openxmlformats.org/drawingml/2006/main">
              <a:ext uri="{FF2B5EF4-FFF2-40B4-BE49-F238E27FC236}">
                <a16:creationId xmlns:a16="http://schemas.microsoft.com/office/drawing/2014/main" id="{8B8949AA-FC80-4EC5-90C7-EEA6DF3A4418}"/>
              </a:ext>
            </a:extLst>
          </p:cNvPr>
          <p:cNvSpPr>
            <a:spLocks xmlns:a="http://schemas.openxmlformats.org/drawingml/2006/main" noGrp="1"/>
          </p:cNvSpPr>
          <p:nvPr/>
        </p:nvSpPr>
        <p:spPr>
          <a:xfrm xmlns:a="http://schemas.openxmlformats.org/drawingml/2006/main">
            <a:off x="4745736" y="2788920"/>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3" name="TextBox 52">
            <a:extLst xmlns:a="http://schemas.openxmlformats.org/drawingml/2006/main">
              <a:ext uri="{FF2B5EF4-FFF2-40B4-BE49-F238E27FC236}">
                <a16:creationId xmlns:a16="http://schemas.microsoft.com/office/drawing/2014/main" id="{F9792C74-559C-425D-AAAC-2CC93BDB174E}"/>
              </a:ext>
            </a:extLst>
          </p:cNvPr>
          <p:cNvSpPr>
            <a:spLocks xmlns:a="http://schemas.openxmlformats.org/drawingml/2006/main" noGrp="1"/>
          </p:cNvSpPr>
          <p:nvPr/>
        </p:nvSpPr>
        <p:spPr>
          <a:xfrm xmlns:a="http://schemas.openxmlformats.org/drawingml/2006/main">
            <a:off x="4800600" y="2834639"/>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54" name="Rectangle 53">
            <a:extLst xmlns:a="http://schemas.openxmlformats.org/drawingml/2006/main">
              <a:ext uri="{FF2B5EF4-FFF2-40B4-BE49-F238E27FC236}">
                <a16:creationId xmlns:a16="http://schemas.microsoft.com/office/drawing/2014/main" id="{2EB586EB-D0C2-485F-9AFB-6D17D8B88C27}"/>
              </a:ext>
            </a:extLst>
          </p:cNvPr>
          <p:cNvSpPr>
            <a:spLocks xmlns:a="http://schemas.openxmlformats.org/drawingml/2006/main" noGrp="1"/>
          </p:cNvSpPr>
          <p:nvPr/>
        </p:nvSpPr>
        <p:spPr>
          <a:xfrm xmlns:a="http://schemas.openxmlformats.org/drawingml/2006/main">
            <a:off x="6483096" y="2788920"/>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5" name="TextBox 54">
            <a:extLst xmlns:a="http://schemas.openxmlformats.org/drawingml/2006/main">
              <a:ext uri="{FF2B5EF4-FFF2-40B4-BE49-F238E27FC236}">
                <a16:creationId xmlns:a16="http://schemas.microsoft.com/office/drawing/2014/main" id="{ED13A0EC-ABB2-4F0F-A8A6-839D68D41170}"/>
              </a:ext>
            </a:extLst>
          </p:cNvPr>
          <p:cNvSpPr>
            <a:spLocks xmlns:a="http://schemas.openxmlformats.org/drawingml/2006/main" noGrp="1"/>
          </p:cNvSpPr>
          <p:nvPr/>
        </p:nvSpPr>
        <p:spPr>
          <a:xfrm xmlns:a="http://schemas.openxmlformats.org/drawingml/2006/main">
            <a:off x="6537959" y="2834639"/>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56" name="Rectangle 55">
            <a:extLst xmlns:a="http://schemas.openxmlformats.org/drawingml/2006/main">
              <a:ext uri="{FF2B5EF4-FFF2-40B4-BE49-F238E27FC236}">
                <a16:creationId xmlns:a16="http://schemas.microsoft.com/office/drawing/2014/main" id="{107F0442-1287-49F4-A1F4-8D354E6BD4F4}"/>
              </a:ext>
            </a:extLst>
          </p:cNvPr>
          <p:cNvSpPr>
            <a:spLocks xmlns:a="http://schemas.openxmlformats.org/drawingml/2006/main" noGrp="1"/>
          </p:cNvSpPr>
          <p:nvPr/>
        </p:nvSpPr>
        <p:spPr>
          <a:xfrm xmlns:a="http://schemas.openxmlformats.org/drawingml/2006/main">
            <a:off x="7534656" y="2788920"/>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7" name="TextBox 56">
            <a:extLst xmlns:a="http://schemas.openxmlformats.org/drawingml/2006/main">
              <a:ext uri="{FF2B5EF4-FFF2-40B4-BE49-F238E27FC236}">
                <a16:creationId xmlns:a16="http://schemas.microsoft.com/office/drawing/2014/main" id="{3A07734F-7D74-40DE-8E06-4FAEC85A256B}"/>
              </a:ext>
            </a:extLst>
          </p:cNvPr>
          <p:cNvSpPr>
            <a:spLocks xmlns:a="http://schemas.openxmlformats.org/drawingml/2006/main" noGrp="1"/>
          </p:cNvSpPr>
          <p:nvPr/>
        </p:nvSpPr>
        <p:spPr>
          <a:xfrm xmlns:a="http://schemas.openxmlformats.org/drawingml/2006/main">
            <a:off x="7589520" y="2834639"/>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58" name="Rectangle 57">
            <a:extLst xmlns:a="http://schemas.openxmlformats.org/drawingml/2006/main">
              <a:ext uri="{FF2B5EF4-FFF2-40B4-BE49-F238E27FC236}">
                <a16:creationId xmlns:a16="http://schemas.microsoft.com/office/drawing/2014/main" id="{30FBA4E5-0FE7-4017-8028-66D55A5606CF}"/>
              </a:ext>
            </a:extLst>
          </p:cNvPr>
          <p:cNvSpPr>
            <a:spLocks xmlns:a="http://schemas.openxmlformats.org/drawingml/2006/main" noGrp="1"/>
          </p:cNvSpPr>
          <p:nvPr/>
        </p:nvSpPr>
        <p:spPr>
          <a:xfrm xmlns:a="http://schemas.openxmlformats.org/drawingml/2006/main">
            <a:off x="9528048" y="2788920"/>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9" name="TextBox 58">
            <a:extLst xmlns:a="http://schemas.openxmlformats.org/drawingml/2006/main">
              <a:ext uri="{FF2B5EF4-FFF2-40B4-BE49-F238E27FC236}">
                <a16:creationId xmlns:a16="http://schemas.microsoft.com/office/drawing/2014/main" id="{D279E0D5-1036-42CC-BF1F-69A9CE730BFB}"/>
              </a:ext>
            </a:extLst>
          </p:cNvPr>
          <p:cNvSpPr>
            <a:spLocks xmlns:a="http://schemas.openxmlformats.org/drawingml/2006/main" noGrp="1"/>
          </p:cNvSpPr>
          <p:nvPr/>
        </p:nvSpPr>
        <p:spPr>
          <a:xfrm xmlns:a="http://schemas.openxmlformats.org/drawingml/2006/main">
            <a:off x="9582912" y="2834639"/>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60" name="Rectangle 59">
            <a:extLst xmlns:a="http://schemas.openxmlformats.org/drawingml/2006/main">
              <a:ext uri="{FF2B5EF4-FFF2-40B4-BE49-F238E27FC236}">
                <a16:creationId xmlns:a16="http://schemas.microsoft.com/office/drawing/2014/main" id="{19AD8C2D-7991-495E-95A3-32C2C0A52A21}"/>
              </a:ext>
            </a:extLst>
          </p:cNvPr>
          <p:cNvSpPr>
            <a:spLocks xmlns:a="http://schemas.openxmlformats.org/drawingml/2006/main" noGrp="1"/>
          </p:cNvSpPr>
          <p:nvPr/>
        </p:nvSpPr>
        <p:spPr>
          <a:xfrm xmlns:a="http://schemas.openxmlformats.org/drawingml/2006/main">
            <a:off x="539496" y="3182112"/>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1" name="TextBox 60">
            <a:extLst xmlns:a="http://schemas.openxmlformats.org/drawingml/2006/main">
              <a:ext uri="{FF2B5EF4-FFF2-40B4-BE49-F238E27FC236}">
                <a16:creationId xmlns:a16="http://schemas.microsoft.com/office/drawing/2014/main" id="{75509312-0444-4E4A-ADAE-680E466DBB89}"/>
              </a:ext>
            </a:extLst>
          </p:cNvPr>
          <p:cNvSpPr>
            <a:spLocks xmlns:a="http://schemas.openxmlformats.org/drawingml/2006/main" noGrp="1"/>
          </p:cNvSpPr>
          <p:nvPr/>
        </p:nvSpPr>
        <p:spPr>
          <a:xfrm xmlns:a="http://schemas.openxmlformats.org/drawingml/2006/main">
            <a:off x="594359" y="3227832"/>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62" name="Rectangle 61">
            <a:extLst xmlns:a="http://schemas.openxmlformats.org/drawingml/2006/main">
              <a:ext uri="{FF2B5EF4-FFF2-40B4-BE49-F238E27FC236}">
                <a16:creationId xmlns:a16="http://schemas.microsoft.com/office/drawing/2014/main" id="{7C3B803B-3CCD-4A08-8B2F-237DFE5E2685}"/>
              </a:ext>
            </a:extLst>
          </p:cNvPr>
          <p:cNvSpPr>
            <a:spLocks xmlns:a="http://schemas.openxmlformats.org/drawingml/2006/main" noGrp="1"/>
          </p:cNvSpPr>
          <p:nvPr/>
        </p:nvSpPr>
        <p:spPr>
          <a:xfrm xmlns:a="http://schemas.openxmlformats.org/drawingml/2006/main">
            <a:off x="1636776" y="3182112"/>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3" name="TextBox 62">
            <a:extLst xmlns:a="http://schemas.openxmlformats.org/drawingml/2006/main">
              <a:ext uri="{FF2B5EF4-FFF2-40B4-BE49-F238E27FC236}">
                <a16:creationId xmlns:a16="http://schemas.microsoft.com/office/drawing/2014/main" id="{6794C97F-CF5D-4773-9D68-D26379DFF207}"/>
              </a:ext>
            </a:extLst>
          </p:cNvPr>
          <p:cNvSpPr>
            <a:spLocks xmlns:a="http://schemas.openxmlformats.org/drawingml/2006/main" noGrp="1"/>
          </p:cNvSpPr>
          <p:nvPr/>
        </p:nvSpPr>
        <p:spPr>
          <a:xfrm xmlns:a="http://schemas.openxmlformats.org/drawingml/2006/main">
            <a:off x="1691640" y="3227832"/>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64" name="Rectangle 63">
            <a:extLst xmlns:a="http://schemas.openxmlformats.org/drawingml/2006/main">
              <a:ext uri="{FF2B5EF4-FFF2-40B4-BE49-F238E27FC236}">
                <a16:creationId xmlns:a16="http://schemas.microsoft.com/office/drawing/2014/main" id="{81916FA4-3DAF-4412-A2EA-98391C09369A}"/>
              </a:ext>
            </a:extLst>
          </p:cNvPr>
          <p:cNvSpPr>
            <a:spLocks xmlns:a="http://schemas.openxmlformats.org/drawingml/2006/main" noGrp="1"/>
          </p:cNvSpPr>
          <p:nvPr/>
        </p:nvSpPr>
        <p:spPr>
          <a:xfrm xmlns:a="http://schemas.openxmlformats.org/drawingml/2006/main">
            <a:off x="2962656" y="3182112"/>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5" name="TextBox 64">
            <a:extLst xmlns:a="http://schemas.openxmlformats.org/drawingml/2006/main">
              <a:ext uri="{FF2B5EF4-FFF2-40B4-BE49-F238E27FC236}">
                <a16:creationId xmlns:a16="http://schemas.microsoft.com/office/drawing/2014/main" id="{A6C0AAAC-00B3-4483-B047-8C33BCFC7229}"/>
              </a:ext>
            </a:extLst>
          </p:cNvPr>
          <p:cNvSpPr>
            <a:spLocks xmlns:a="http://schemas.openxmlformats.org/drawingml/2006/main" noGrp="1"/>
          </p:cNvSpPr>
          <p:nvPr/>
        </p:nvSpPr>
        <p:spPr>
          <a:xfrm xmlns:a="http://schemas.openxmlformats.org/drawingml/2006/main">
            <a:off x="3017520" y="3227832"/>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66" name="Rectangle 65">
            <a:extLst xmlns:a="http://schemas.openxmlformats.org/drawingml/2006/main">
              <a:ext uri="{FF2B5EF4-FFF2-40B4-BE49-F238E27FC236}">
                <a16:creationId xmlns:a16="http://schemas.microsoft.com/office/drawing/2014/main" id="{BD6853DB-C69A-4BA6-BB39-3C25991D1671}"/>
              </a:ext>
            </a:extLst>
          </p:cNvPr>
          <p:cNvSpPr>
            <a:spLocks xmlns:a="http://schemas.openxmlformats.org/drawingml/2006/main" noGrp="1"/>
          </p:cNvSpPr>
          <p:nvPr/>
        </p:nvSpPr>
        <p:spPr>
          <a:xfrm xmlns:a="http://schemas.openxmlformats.org/drawingml/2006/main">
            <a:off x="4745736" y="3182112"/>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7" name="TextBox 66">
            <a:extLst xmlns:a="http://schemas.openxmlformats.org/drawingml/2006/main">
              <a:ext uri="{FF2B5EF4-FFF2-40B4-BE49-F238E27FC236}">
                <a16:creationId xmlns:a16="http://schemas.microsoft.com/office/drawing/2014/main" id="{2E7C74BE-33C0-41AC-B551-E87F41A09C38}"/>
              </a:ext>
            </a:extLst>
          </p:cNvPr>
          <p:cNvSpPr>
            <a:spLocks xmlns:a="http://schemas.openxmlformats.org/drawingml/2006/main" noGrp="1"/>
          </p:cNvSpPr>
          <p:nvPr/>
        </p:nvSpPr>
        <p:spPr>
          <a:xfrm xmlns:a="http://schemas.openxmlformats.org/drawingml/2006/main">
            <a:off x="4800600" y="3227832"/>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68" name="Rectangle 67">
            <a:extLst xmlns:a="http://schemas.openxmlformats.org/drawingml/2006/main">
              <a:ext uri="{FF2B5EF4-FFF2-40B4-BE49-F238E27FC236}">
                <a16:creationId xmlns:a16="http://schemas.microsoft.com/office/drawing/2014/main" id="{9895C023-0529-4A69-8EDC-D93C9F7A1B6B}"/>
              </a:ext>
            </a:extLst>
          </p:cNvPr>
          <p:cNvSpPr>
            <a:spLocks xmlns:a="http://schemas.openxmlformats.org/drawingml/2006/main" noGrp="1"/>
          </p:cNvSpPr>
          <p:nvPr/>
        </p:nvSpPr>
        <p:spPr>
          <a:xfrm xmlns:a="http://schemas.openxmlformats.org/drawingml/2006/main">
            <a:off x="6483096" y="3182112"/>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9" name="TextBox 68">
            <a:extLst xmlns:a="http://schemas.openxmlformats.org/drawingml/2006/main">
              <a:ext uri="{FF2B5EF4-FFF2-40B4-BE49-F238E27FC236}">
                <a16:creationId xmlns:a16="http://schemas.microsoft.com/office/drawing/2014/main" id="{886E7A43-3C3C-4673-8AEB-D18EB8052010}"/>
              </a:ext>
            </a:extLst>
          </p:cNvPr>
          <p:cNvSpPr>
            <a:spLocks xmlns:a="http://schemas.openxmlformats.org/drawingml/2006/main" noGrp="1"/>
          </p:cNvSpPr>
          <p:nvPr/>
        </p:nvSpPr>
        <p:spPr>
          <a:xfrm xmlns:a="http://schemas.openxmlformats.org/drawingml/2006/main">
            <a:off x="6537959" y="3227832"/>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70" name="Rectangle 69">
            <a:extLst xmlns:a="http://schemas.openxmlformats.org/drawingml/2006/main">
              <a:ext uri="{FF2B5EF4-FFF2-40B4-BE49-F238E27FC236}">
                <a16:creationId xmlns:a16="http://schemas.microsoft.com/office/drawing/2014/main" id="{0840AB6E-9D27-462C-BA2F-C8EEE14925D4}"/>
              </a:ext>
            </a:extLst>
          </p:cNvPr>
          <p:cNvSpPr>
            <a:spLocks xmlns:a="http://schemas.openxmlformats.org/drawingml/2006/main" noGrp="1"/>
          </p:cNvSpPr>
          <p:nvPr/>
        </p:nvSpPr>
        <p:spPr>
          <a:xfrm xmlns:a="http://schemas.openxmlformats.org/drawingml/2006/main">
            <a:off x="7534656" y="3182112"/>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1" name="TextBox 70">
            <a:extLst xmlns:a="http://schemas.openxmlformats.org/drawingml/2006/main">
              <a:ext uri="{FF2B5EF4-FFF2-40B4-BE49-F238E27FC236}">
                <a16:creationId xmlns:a16="http://schemas.microsoft.com/office/drawing/2014/main" id="{128453EB-7BA7-4568-958C-92330FA22676}"/>
              </a:ext>
            </a:extLst>
          </p:cNvPr>
          <p:cNvSpPr>
            <a:spLocks xmlns:a="http://schemas.openxmlformats.org/drawingml/2006/main" noGrp="1"/>
          </p:cNvSpPr>
          <p:nvPr/>
        </p:nvSpPr>
        <p:spPr>
          <a:xfrm xmlns:a="http://schemas.openxmlformats.org/drawingml/2006/main">
            <a:off x="7589520" y="3227832"/>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72" name="Rectangle 71">
            <a:extLst xmlns:a="http://schemas.openxmlformats.org/drawingml/2006/main">
              <a:ext uri="{FF2B5EF4-FFF2-40B4-BE49-F238E27FC236}">
                <a16:creationId xmlns:a16="http://schemas.microsoft.com/office/drawing/2014/main" id="{281708DF-076A-497F-89C4-58AD44B2AADE}"/>
              </a:ext>
            </a:extLst>
          </p:cNvPr>
          <p:cNvSpPr>
            <a:spLocks xmlns:a="http://schemas.openxmlformats.org/drawingml/2006/main" noGrp="1"/>
          </p:cNvSpPr>
          <p:nvPr/>
        </p:nvSpPr>
        <p:spPr>
          <a:xfrm xmlns:a="http://schemas.openxmlformats.org/drawingml/2006/main">
            <a:off x="9528048" y="3182112"/>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3" name="TextBox 72">
            <a:extLst xmlns:a="http://schemas.openxmlformats.org/drawingml/2006/main">
              <a:ext uri="{FF2B5EF4-FFF2-40B4-BE49-F238E27FC236}">
                <a16:creationId xmlns:a16="http://schemas.microsoft.com/office/drawing/2014/main" id="{0FE44145-AA80-4A8A-B986-3177B8935C73}"/>
              </a:ext>
            </a:extLst>
          </p:cNvPr>
          <p:cNvSpPr>
            <a:spLocks xmlns:a="http://schemas.openxmlformats.org/drawingml/2006/main" noGrp="1"/>
          </p:cNvSpPr>
          <p:nvPr/>
        </p:nvSpPr>
        <p:spPr>
          <a:xfrm xmlns:a="http://schemas.openxmlformats.org/drawingml/2006/main">
            <a:off x="9582912" y="3227832"/>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74" name="Rectangle 73">
            <a:extLst xmlns:a="http://schemas.openxmlformats.org/drawingml/2006/main">
              <a:ext uri="{FF2B5EF4-FFF2-40B4-BE49-F238E27FC236}">
                <a16:creationId xmlns:a16="http://schemas.microsoft.com/office/drawing/2014/main" id="{418FC3C3-518C-4751-B409-1CC1D7F1C700}"/>
              </a:ext>
            </a:extLst>
          </p:cNvPr>
          <p:cNvSpPr>
            <a:spLocks xmlns:a="http://schemas.openxmlformats.org/drawingml/2006/main" noGrp="1"/>
          </p:cNvSpPr>
          <p:nvPr/>
        </p:nvSpPr>
        <p:spPr>
          <a:xfrm xmlns:a="http://schemas.openxmlformats.org/drawingml/2006/main">
            <a:off x="539496" y="3575304"/>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5" name="TextBox 74">
            <a:extLst xmlns:a="http://schemas.openxmlformats.org/drawingml/2006/main">
              <a:ext uri="{FF2B5EF4-FFF2-40B4-BE49-F238E27FC236}">
                <a16:creationId xmlns:a16="http://schemas.microsoft.com/office/drawing/2014/main" id="{C2CBFC71-271C-4E43-8FCA-F47D24DE7E97}"/>
              </a:ext>
            </a:extLst>
          </p:cNvPr>
          <p:cNvSpPr>
            <a:spLocks xmlns:a="http://schemas.openxmlformats.org/drawingml/2006/main" noGrp="1"/>
          </p:cNvSpPr>
          <p:nvPr/>
        </p:nvSpPr>
        <p:spPr>
          <a:xfrm xmlns:a="http://schemas.openxmlformats.org/drawingml/2006/main">
            <a:off x="594359" y="3621024"/>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ROSMAP</a:t>
            </a:r>
          </a:p>
        </p:txBody>
      </p:sp>
      <p:sp>
        <p:nvSpPr>
          <p:cNvPr id="76" name="Rectangle 75">
            <a:extLst xmlns:a="http://schemas.openxmlformats.org/drawingml/2006/main">
              <a:ext uri="{FF2B5EF4-FFF2-40B4-BE49-F238E27FC236}">
                <a16:creationId xmlns:a16="http://schemas.microsoft.com/office/drawing/2014/main" id="{927D5DDB-A136-4884-B3CA-4640E9EF73EE}"/>
              </a:ext>
            </a:extLst>
          </p:cNvPr>
          <p:cNvSpPr>
            <a:spLocks xmlns:a="http://schemas.openxmlformats.org/drawingml/2006/main" noGrp="1"/>
          </p:cNvSpPr>
          <p:nvPr/>
        </p:nvSpPr>
        <p:spPr>
          <a:xfrm xmlns:a="http://schemas.openxmlformats.org/drawingml/2006/main">
            <a:off x="1636776" y="3575304"/>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7" name="TextBox 76">
            <a:extLst xmlns:a="http://schemas.openxmlformats.org/drawingml/2006/main">
              <a:ext uri="{FF2B5EF4-FFF2-40B4-BE49-F238E27FC236}">
                <a16:creationId xmlns:a16="http://schemas.microsoft.com/office/drawing/2014/main" id="{5B9A1903-BB45-48E9-B6AC-78FE87D8AF2D}"/>
              </a:ext>
            </a:extLst>
          </p:cNvPr>
          <p:cNvSpPr>
            <a:spLocks xmlns:a="http://schemas.openxmlformats.org/drawingml/2006/main" noGrp="1"/>
          </p:cNvSpPr>
          <p:nvPr/>
        </p:nvSpPr>
        <p:spPr>
          <a:xfrm xmlns:a="http://schemas.openxmlformats.org/drawingml/2006/main">
            <a:off x="1691640" y="3621024"/>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78" name="Rectangle 77">
            <a:extLst xmlns:a="http://schemas.openxmlformats.org/drawingml/2006/main">
              <a:ext uri="{FF2B5EF4-FFF2-40B4-BE49-F238E27FC236}">
                <a16:creationId xmlns:a16="http://schemas.microsoft.com/office/drawing/2014/main" id="{F96CDBAE-AEEA-4D19-A6E4-FB8FF514DC91}"/>
              </a:ext>
            </a:extLst>
          </p:cNvPr>
          <p:cNvSpPr>
            <a:spLocks xmlns:a="http://schemas.openxmlformats.org/drawingml/2006/main" noGrp="1"/>
          </p:cNvSpPr>
          <p:nvPr/>
        </p:nvSpPr>
        <p:spPr>
          <a:xfrm xmlns:a="http://schemas.openxmlformats.org/drawingml/2006/main">
            <a:off x="2962656" y="3575304"/>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9" name="TextBox 78">
            <a:extLst xmlns:a="http://schemas.openxmlformats.org/drawingml/2006/main">
              <a:ext uri="{FF2B5EF4-FFF2-40B4-BE49-F238E27FC236}">
                <a16:creationId xmlns:a16="http://schemas.microsoft.com/office/drawing/2014/main" id="{0992729A-2836-4F48-A890-687566185401}"/>
              </a:ext>
            </a:extLst>
          </p:cNvPr>
          <p:cNvSpPr>
            <a:spLocks xmlns:a="http://schemas.openxmlformats.org/drawingml/2006/main" noGrp="1"/>
          </p:cNvSpPr>
          <p:nvPr/>
        </p:nvSpPr>
        <p:spPr>
          <a:xfrm xmlns:a="http://schemas.openxmlformats.org/drawingml/2006/main">
            <a:off x="3017520" y="3621024"/>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42</a:t>
            </a:r>
          </a:p>
        </p:txBody>
      </p:sp>
      <p:sp>
        <p:nvSpPr>
          <p:cNvPr id="80" name="Rectangle 79">
            <a:extLst xmlns:a="http://schemas.openxmlformats.org/drawingml/2006/main">
              <a:ext uri="{FF2B5EF4-FFF2-40B4-BE49-F238E27FC236}">
                <a16:creationId xmlns:a16="http://schemas.microsoft.com/office/drawing/2014/main" id="{518F1605-E39A-456C-AEEF-587D4FA8D0EA}"/>
              </a:ext>
            </a:extLst>
          </p:cNvPr>
          <p:cNvSpPr>
            <a:spLocks xmlns:a="http://schemas.openxmlformats.org/drawingml/2006/main" noGrp="1"/>
          </p:cNvSpPr>
          <p:nvPr/>
        </p:nvSpPr>
        <p:spPr>
          <a:xfrm xmlns:a="http://schemas.openxmlformats.org/drawingml/2006/main">
            <a:off x="4745736" y="3575304"/>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1" name="TextBox 80">
            <a:extLst xmlns:a="http://schemas.openxmlformats.org/drawingml/2006/main">
              <a:ext uri="{FF2B5EF4-FFF2-40B4-BE49-F238E27FC236}">
                <a16:creationId xmlns:a16="http://schemas.microsoft.com/office/drawing/2014/main" id="{B9B2F867-5920-4E3A-8064-A36E6AAB6D8D}"/>
              </a:ext>
            </a:extLst>
          </p:cNvPr>
          <p:cNvSpPr>
            <a:spLocks xmlns:a="http://schemas.openxmlformats.org/drawingml/2006/main" noGrp="1"/>
          </p:cNvSpPr>
          <p:nvPr/>
        </p:nvSpPr>
        <p:spPr>
          <a:xfrm xmlns:a="http://schemas.openxmlformats.org/drawingml/2006/main">
            <a:off x="4800600" y="3621024"/>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82" name="Rectangle 81">
            <a:extLst xmlns:a="http://schemas.openxmlformats.org/drawingml/2006/main">
              <a:ext uri="{FF2B5EF4-FFF2-40B4-BE49-F238E27FC236}">
                <a16:creationId xmlns:a16="http://schemas.microsoft.com/office/drawing/2014/main" id="{87835A37-E4AC-4373-83F4-1CC28D30C43F}"/>
              </a:ext>
            </a:extLst>
          </p:cNvPr>
          <p:cNvSpPr>
            <a:spLocks xmlns:a="http://schemas.openxmlformats.org/drawingml/2006/main" noGrp="1"/>
          </p:cNvSpPr>
          <p:nvPr/>
        </p:nvSpPr>
        <p:spPr>
          <a:xfrm xmlns:a="http://schemas.openxmlformats.org/drawingml/2006/main">
            <a:off x="6483096" y="3575304"/>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3" name="TextBox 82">
            <a:extLst xmlns:a="http://schemas.openxmlformats.org/drawingml/2006/main">
              <a:ext uri="{FF2B5EF4-FFF2-40B4-BE49-F238E27FC236}">
                <a16:creationId xmlns:a16="http://schemas.microsoft.com/office/drawing/2014/main" id="{078B3459-8EE8-4416-AE6D-C5493D006692}"/>
              </a:ext>
            </a:extLst>
          </p:cNvPr>
          <p:cNvSpPr>
            <a:spLocks xmlns:a="http://schemas.openxmlformats.org/drawingml/2006/main" noGrp="1"/>
          </p:cNvSpPr>
          <p:nvPr/>
        </p:nvSpPr>
        <p:spPr>
          <a:xfrm xmlns:a="http://schemas.openxmlformats.org/drawingml/2006/main">
            <a:off x="6537959" y="3621024"/>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a:t>
            </a:r>
          </a:p>
        </p:txBody>
      </p:sp>
      <p:sp>
        <p:nvSpPr>
          <p:cNvPr id="84" name="Rectangle 83">
            <a:extLst xmlns:a="http://schemas.openxmlformats.org/drawingml/2006/main">
              <a:ext uri="{FF2B5EF4-FFF2-40B4-BE49-F238E27FC236}">
                <a16:creationId xmlns:a16="http://schemas.microsoft.com/office/drawing/2014/main" id="{31067DB4-7FEA-4BB7-A056-C54C265C5F72}"/>
              </a:ext>
            </a:extLst>
          </p:cNvPr>
          <p:cNvSpPr>
            <a:spLocks xmlns:a="http://schemas.openxmlformats.org/drawingml/2006/main" noGrp="1"/>
          </p:cNvSpPr>
          <p:nvPr/>
        </p:nvSpPr>
        <p:spPr>
          <a:xfrm xmlns:a="http://schemas.openxmlformats.org/drawingml/2006/main">
            <a:off x="7534656" y="3575304"/>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5" name="TextBox 84">
            <a:extLst xmlns:a="http://schemas.openxmlformats.org/drawingml/2006/main">
              <a:ext uri="{FF2B5EF4-FFF2-40B4-BE49-F238E27FC236}">
                <a16:creationId xmlns:a16="http://schemas.microsoft.com/office/drawing/2014/main" id="{0923E753-F0A2-426C-9A1E-1BB6CA4CBBE7}"/>
              </a:ext>
            </a:extLst>
          </p:cNvPr>
          <p:cNvSpPr>
            <a:spLocks xmlns:a="http://schemas.openxmlformats.org/drawingml/2006/main" noGrp="1"/>
          </p:cNvSpPr>
          <p:nvPr/>
        </p:nvSpPr>
        <p:spPr>
          <a:xfrm xmlns:a="http://schemas.openxmlformats.org/drawingml/2006/main">
            <a:off x="7589520" y="3621024"/>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26</a:t>
            </a:r>
          </a:p>
        </p:txBody>
      </p:sp>
      <p:sp>
        <p:nvSpPr>
          <p:cNvPr id="86" name="Rectangle 85">
            <a:extLst xmlns:a="http://schemas.openxmlformats.org/drawingml/2006/main">
              <a:ext uri="{FF2B5EF4-FFF2-40B4-BE49-F238E27FC236}">
                <a16:creationId xmlns:a16="http://schemas.microsoft.com/office/drawing/2014/main" id="{073C3899-D771-4070-89B7-3B11B08D223C}"/>
              </a:ext>
            </a:extLst>
          </p:cNvPr>
          <p:cNvSpPr>
            <a:spLocks xmlns:a="http://schemas.openxmlformats.org/drawingml/2006/main" noGrp="1"/>
          </p:cNvSpPr>
          <p:nvPr/>
        </p:nvSpPr>
        <p:spPr>
          <a:xfrm xmlns:a="http://schemas.openxmlformats.org/drawingml/2006/main">
            <a:off x="9528048" y="3575304"/>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7" name="TextBox 86">
            <a:extLst xmlns:a="http://schemas.openxmlformats.org/drawingml/2006/main">
              <a:ext uri="{FF2B5EF4-FFF2-40B4-BE49-F238E27FC236}">
                <a16:creationId xmlns:a16="http://schemas.microsoft.com/office/drawing/2014/main" id="{072364D5-419A-4128-8EF8-4B2DD89475B8}"/>
              </a:ext>
            </a:extLst>
          </p:cNvPr>
          <p:cNvSpPr>
            <a:spLocks xmlns:a="http://schemas.openxmlformats.org/drawingml/2006/main" noGrp="1"/>
          </p:cNvSpPr>
          <p:nvPr/>
        </p:nvSpPr>
        <p:spPr>
          <a:xfrm xmlns:a="http://schemas.openxmlformats.org/drawingml/2006/main">
            <a:off x="9582912" y="3621024"/>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88" name="Rectangle 87">
            <a:extLst xmlns:a="http://schemas.openxmlformats.org/drawingml/2006/main">
              <a:ext uri="{FF2B5EF4-FFF2-40B4-BE49-F238E27FC236}">
                <a16:creationId xmlns:a16="http://schemas.microsoft.com/office/drawing/2014/main" id="{952C059B-41D4-4E68-849E-705C14FA845F}"/>
              </a:ext>
            </a:extLst>
          </p:cNvPr>
          <p:cNvSpPr>
            <a:spLocks xmlns:a="http://schemas.openxmlformats.org/drawingml/2006/main" noGrp="1"/>
          </p:cNvSpPr>
          <p:nvPr/>
        </p:nvSpPr>
        <p:spPr>
          <a:xfrm xmlns:a="http://schemas.openxmlformats.org/drawingml/2006/main">
            <a:off x="539496" y="3968496"/>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9" name="TextBox 88">
            <a:extLst xmlns:a="http://schemas.openxmlformats.org/drawingml/2006/main">
              <a:ext uri="{FF2B5EF4-FFF2-40B4-BE49-F238E27FC236}">
                <a16:creationId xmlns:a16="http://schemas.microsoft.com/office/drawing/2014/main" id="{2F217F5C-7F8A-489E-BAC2-59937561C65B}"/>
              </a:ext>
            </a:extLst>
          </p:cNvPr>
          <p:cNvSpPr>
            <a:spLocks xmlns:a="http://schemas.openxmlformats.org/drawingml/2006/main" noGrp="1"/>
          </p:cNvSpPr>
          <p:nvPr/>
        </p:nvSpPr>
        <p:spPr>
          <a:xfrm xmlns:a="http://schemas.openxmlformats.org/drawingml/2006/main">
            <a:off x="594359" y="4014215"/>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90" name="Rectangle 89">
            <a:extLst xmlns:a="http://schemas.openxmlformats.org/drawingml/2006/main">
              <a:ext uri="{FF2B5EF4-FFF2-40B4-BE49-F238E27FC236}">
                <a16:creationId xmlns:a16="http://schemas.microsoft.com/office/drawing/2014/main" id="{F902DB61-06CF-4EE7-BC09-D9269A46952B}"/>
              </a:ext>
            </a:extLst>
          </p:cNvPr>
          <p:cNvSpPr>
            <a:spLocks xmlns:a="http://schemas.openxmlformats.org/drawingml/2006/main" noGrp="1"/>
          </p:cNvSpPr>
          <p:nvPr/>
        </p:nvSpPr>
        <p:spPr>
          <a:xfrm xmlns:a="http://schemas.openxmlformats.org/drawingml/2006/main">
            <a:off x="1636776" y="3968496"/>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1" name="TextBox 90">
            <a:extLst xmlns:a="http://schemas.openxmlformats.org/drawingml/2006/main">
              <a:ext uri="{FF2B5EF4-FFF2-40B4-BE49-F238E27FC236}">
                <a16:creationId xmlns:a16="http://schemas.microsoft.com/office/drawing/2014/main" id="{F677374C-7057-47F5-A7C0-23AEF067428B}"/>
              </a:ext>
            </a:extLst>
          </p:cNvPr>
          <p:cNvSpPr>
            <a:spLocks xmlns:a="http://schemas.openxmlformats.org/drawingml/2006/main" noGrp="1"/>
          </p:cNvSpPr>
          <p:nvPr/>
        </p:nvSpPr>
        <p:spPr>
          <a:xfrm xmlns:a="http://schemas.openxmlformats.org/drawingml/2006/main">
            <a:off x="1691640" y="4014215"/>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92" name="Rectangle 91">
            <a:extLst xmlns:a="http://schemas.openxmlformats.org/drawingml/2006/main">
              <a:ext uri="{FF2B5EF4-FFF2-40B4-BE49-F238E27FC236}">
                <a16:creationId xmlns:a16="http://schemas.microsoft.com/office/drawing/2014/main" id="{72E285BF-91B4-4980-9B93-CDDDB006037B}"/>
              </a:ext>
            </a:extLst>
          </p:cNvPr>
          <p:cNvSpPr>
            <a:spLocks xmlns:a="http://schemas.openxmlformats.org/drawingml/2006/main" noGrp="1"/>
          </p:cNvSpPr>
          <p:nvPr/>
        </p:nvSpPr>
        <p:spPr>
          <a:xfrm xmlns:a="http://schemas.openxmlformats.org/drawingml/2006/main">
            <a:off x="2962656" y="3968496"/>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3" name="TextBox 92">
            <a:extLst xmlns:a="http://schemas.openxmlformats.org/drawingml/2006/main">
              <a:ext uri="{FF2B5EF4-FFF2-40B4-BE49-F238E27FC236}">
                <a16:creationId xmlns:a16="http://schemas.microsoft.com/office/drawing/2014/main" id="{66D588D2-C58A-4F74-BD35-D1DDB259CEF6}"/>
              </a:ext>
            </a:extLst>
          </p:cNvPr>
          <p:cNvSpPr>
            <a:spLocks xmlns:a="http://schemas.openxmlformats.org/drawingml/2006/main" noGrp="1"/>
          </p:cNvSpPr>
          <p:nvPr/>
        </p:nvSpPr>
        <p:spPr>
          <a:xfrm xmlns:a="http://schemas.openxmlformats.org/drawingml/2006/main">
            <a:off x="3017520" y="4014215"/>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94" name="Rectangle 93">
            <a:extLst xmlns:a="http://schemas.openxmlformats.org/drawingml/2006/main">
              <a:ext uri="{FF2B5EF4-FFF2-40B4-BE49-F238E27FC236}">
                <a16:creationId xmlns:a16="http://schemas.microsoft.com/office/drawing/2014/main" id="{99B3C97B-7E09-4985-8907-DE9DE715BC51}"/>
              </a:ext>
            </a:extLst>
          </p:cNvPr>
          <p:cNvSpPr>
            <a:spLocks xmlns:a="http://schemas.openxmlformats.org/drawingml/2006/main" noGrp="1"/>
          </p:cNvSpPr>
          <p:nvPr/>
        </p:nvSpPr>
        <p:spPr>
          <a:xfrm xmlns:a="http://schemas.openxmlformats.org/drawingml/2006/main">
            <a:off x="4745736" y="3968496"/>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5" name="TextBox 94">
            <a:extLst xmlns:a="http://schemas.openxmlformats.org/drawingml/2006/main">
              <a:ext uri="{FF2B5EF4-FFF2-40B4-BE49-F238E27FC236}">
                <a16:creationId xmlns:a16="http://schemas.microsoft.com/office/drawing/2014/main" id="{B5F10E3A-AD32-4F42-9371-252446A87B7B}"/>
              </a:ext>
            </a:extLst>
          </p:cNvPr>
          <p:cNvSpPr>
            <a:spLocks xmlns:a="http://schemas.openxmlformats.org/drawingml/2006/main" noGrp="1"/>
          </p:cNvSpPr>
          <p:nvPr/>
        </p:nvSpPr>
        <p:spPr>
          <a:xfrm xmlns:a="http://schemas.openxmlformats.org/drawingml/2006/main">
            <a:off x="4800600" y="4014215"/>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96" name="Rectangle 95">
            <a:extLst xmlns:a="http://schemas.openxmlformats.org/drawingml/2006/main">
              <a:ext uri="{FF2B5EF4-FFF2-40B4-BE49-F238E27FC236}">
                <a16:creationId xmlns:a16="http://schemas.microsoft.com/office/drawing/2014/main" id="{5A4E2C11-9412-456B-8F0D-C24D28401180}"/>
              </a:ext>
            </a:extLst>
          </p:cNvPr>
          <p:cNvSpPr>
            <a:spLocks xmlns:a="http://schemas.openxmlformats.org/drawingml/2006/main" noGrp="1"/>
          </p:cNvSpPr>
          <p:nvPr/>
        </p:nvSpPr>
        <p:spPr>
          <a:xfrm xmlns:a="http://schemas.openxmlformats.org/drawingml/2006/main">
            <a:off x="6483096" y="3968496"/>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7" name="TextBox 96">
            <a:extLst xmlns:a="http://schemas.openxmlformats.org/drawingml/2006/main">
              <a:ext uri="{FF2B5EF4-FFF2-40B4-BE49-F238E27FC236}">
                <a16:creationId xmlns:a16="http://schemas.microsoft.com/office/drawing/2014/main" id="{F54AB65E-5CD1-4E15-A933-97BDBCEC43AE}"/>
              </a:ext>
            </a:extLst>
          </p:cNvPr>
          <p:cNvSpPr>
            <a:spLocks xmlns:a="http://schemas.openxmlformats.org/drawingml/2006/main" noGrp="1"/>
          </p:cNvSpPr>
          <p:nvPr/>
        </p:nvSpPr>
        <p:spPr>
          <a:xfrm xmlns:a="http://schemas.openxmlformats.org/drawingml/2006/main">
            <a:off x="6537959" y="4014215"/>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98" name="Rectangle 97">
            <a:extLst xmlns:a="http://schemas.openxmlformats.org/drawingml/2006/main">
              <a:ext uri="{FF2B5EF4-FFF2-40B4-BE49-F238E27FC236}">
                <a16:creationId xmlns:a16="http://schemas.microsoft.com/office/drawing/2014/main" id="{6EB4FE67-939C-492F-815B-F0A5F47FA91A}"/>
              </a:ext>
            </a:extLst>
          </p:cNvPr>
          <p:cNvSpPr>
            <a:spLocks xmlns:a="http://schemas.openxmlformats.org/drawingml/2006/main" noGrp="1"/>
          </p:cNvSpPr>
          <p:nvPr/>
        </p:nvSpPr>
        <p:spPr>
          <a:xfrm xmlns:a="http://schemas.openxmlformats.org/drawingml/2006/main">
            <a:off x="7534656" y="3968496"/>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9" name="TextBox 98">
            <a:extLst xmlns:a="http://schemas.openxmlformats.org/drawingml/2006/main">
              <a:ext uri="{FF2B5EF4-FFF2-40B4-BE49-F238E27FC236}">
                <a16:creationId xmlns:a16="http://schemas.microsoft.com/office/drawing/2014/main" id="{E97C47D1-A072-4592-A0F2-C567D2393D06}"/>
              </a:ext>
            </a:extLst>
          </p:cNvPr>
          <p:cNvSpPr>
            <a:spLocks xmlns:a="http://schemas.openxmlformats.org/drawingml/2006/main" noGrp="1"/>
          </p:cNvSpPr>
          <p:nvPr/>
        </p:nvSpPr>
        <p:spPr>
          <a:xfrm xmlns:a="http://schemas.openxmlformats.org/drawingml/2006/main">
            <a:off x="7589520" y="4014215"/>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100" name="Rectangle 99">
            <a:extLst xmlns:a="http://schemas.openxmlformats.org/drawingml/2006/main">
              <a:ext uri="{FF2B5EF4-FFF2-40B4-BE49-F238E27FC236}">
                <a16:creationId xmlns:a16="http://schemas.microsoft.com/office/drawing/2014/main" id="{0B6543D6-C062-4FA6-8820-EE39A76EB408}"/>
              </a:ext>
            </a:extLst>
          </p:cNvPr>
          <p:cNvSpPr>
            <a:spLocks xmlns:a="http://schemas.openxmlformats.org/drawingml/2006/main" noGrp="1"/>
          </p:cNvSpPr>
          <p:nvPr/>
        </p:nvSpPr>
        <p:spPr>
          <a:xfrm xmlns:a="http://schemas.openxmlformats.org/drawingml/2006/main">
            <a:off x="9528048" y="3968496"/>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1" name="TextBox 100">
            <a:extLst xmlns:a="http://schemas.openxmlformats.org/drawingml/2006/main">
              <a:ext uri="{FF2B5EF4-FFF2-40B4-BE49-F238E27FC236}">
                <a16:creationId xmlns:a16="http://schemas.microsoft.com/office/drawing/2014/main" id="{0B1575F2-085E-4EFB-ADFC-01542D964EDB}"/>
              </a:ext>
            </a:extLst>
          </p:cNvPr>
          <p:cNvSpPr>
            <a:spLocks xmlns:a="http://schemas.openxmlformats.org/drawingml/2006/main" noGrp="1"/>
          </p:cNvSpPr>
          <p:nvPr/>
        </p:nvSpPr>
        <p:spPr>
          <a:xfrm xmlns:a="http://schemas.openxmlformats.org/drawingml/2006/main">
            <a:off x="9582912" y="4014215"/>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18</a:t>
            </a:r>
          </a:p>
        </p:txBody>
      </p:sp>
      <p:sp>
        <p:nvSpPr>
          <p:cNvPr id="102" name="Rectangle 101">
            <a:extLst xmlns:a="http://schemas.openxmlformats.org/drawingml/2006/main">
              <a:ext uri="{FF2B5EF4-FFF2-40B4-BE49-F238E27FC236}">
                <a16:creationId xmlns:a16="http://schemas.microsoft.com/office/drawing/2014/main" id="{5B91EB37-DDC0-4F18-9471-0C4ACAEB45C3}"/>
              </a:ext>
            </a:extLst>
          </p:cNvPr>
          <p:cNvSpPr>
            <a:spLocks xmlns:a="http://schemas.openxmlformats.org/drawingml/2006/main" noGrp="1"/>
          </p:cNvSpPr>
          <p:nvPr/>
        </p:nvSpPr>
        <p:spPr>
          <a:xfrm xmlns:a="http://schemas.openxmlformats.org/drawingml/2006/main">
            <a:off x="539496" y="4361688"/>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3" name="TextBox 102">
            <a:extLst xmlns:a="http://schemas.openxmlformats.org/drawingml/2006/main">
              <a:ext uri="{FF2B5EF4-FFF2-40B4-BE49-F238E27FC236}">
                <a16:creationId xmlns:a16="http://schemas.microsoft.com/office/drawing/2014/main" id="{BA34D914-D38E-47B4-885F-85F8E45BF6A4}"/>
              </a:ext>
            </a:extLst>
          </p:cNvPr>
          <p:cNvSpPr>
            <a:spLocks xmlns:a="http://schemas.openxmlformats.org/drawingml/2006/main" noGrp="1"/>
          </p:cNvSpPr>
          <p:nvPr/>
        </p:nvSpPr>
        <p:spPr>
          <a:xfrm xmlns:a="http://schemas.openxmlformats.org/drawingml/2006/main">
            <a:off x="594359" y="4407407"/>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04" name="Rectangle 103">
            <a:extLst xmlns:a="http://schemas.openxmlformats.org/drawingml/2006/main">
              <a:ext uri="{FF2B5EF4-FFF2-40B4-BE49-F238E27FC236}">
                <a16:creationId xmlns:a16="http://schemas.microsoft.com/office/drawing/2014/main" id="{B33A4BFC-7D42-4F7B-904F-40C0AAEDF159}"/>
              </a:ext>
            </a:extLst>
          </p:cNvPr>
          <p:cNvSpPr>
            <a:spLocks xmlns:a="http://schemas.openxmlformats.org/drawingml/2006/main" noGrp="1"/>
          </p:cNvSpPr>
          <p:nvPr/>
        </p:nvSpPr>
        <p:spPr>
          <a:xfrm xmlns:a="http://schemas.openxmlformats.org/drawingml/2006/main">
            <a:off x="1636776" y="4361688"/>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5" name="TextBox 104">
            <a:extLst xmlns:a="http://schemas.openxmlformats.org/drawingml/2006/main">
              <a:ext uri="{FF2B5EF4-FFF2-40B4-BE49-F238E27FC236}">
                <a16:creationId xmlns:a16="http://schemas.microsoft.com/office/drawing/2014/main" id="{1E2107B1-2656-4377-9715-7955E47336A4}"/>
              </a:ext>
            </a:extLst>
          </p:cNvPr>
          <p:cNvSpPr>
            <a:spLocks xmlns:a="http://schemas.openxmlformats.org/drawingml/2006/main" noGrp="1"/>
          </p:cNvSpPr>
          <p:nvPr/>
        </p:nvSpPr>
        <p:spPr>
          <a:xfrm xmlns:a="http://schemas.openxmlformats.org/drawingml/2006/main">
            <a:off x="1691640" y="4407407"/>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06" name="Rectangle 105">
            <a:extLst xmlns:a="http://schemas.openxmlformats.org/drawingml/2006/main">
              <a:ext uri="{FF2B5EF4-FFF2-40B4-BE49-F238E27FC236}">
                <a16:creationId xmlns:a16="http://schemas.microsoft.com/office/drawing/2014/main" id="{A978462F-5206-4D6B-8BFB-B87ED251E488}"/>
              </a:ext>
            </a:extLst>
          </p:cNvPr>
          <p:cNvSpPr>
            <a:spLocks xmlns:a="http://schemas.openxmlformats.org/drawingml/2006/main" noGrp="1"/>
          </p:cNvSpPr>
          <p:nvPr/>
        </p:nvSpPr>
        <p:spPr>
          <a:xfrm xmlns:a="http://schemas.openxmlformats.org/drawingml/2006/main">
            <a:off x="2962656" y="4361688"/>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7" name="TextBox 106">
            <a:extLst xmlns:a="http://schemas.openxmlformats.org/drawingml/2006/main">
              <a:ext uri="{FF2B5EF4-FFF2-40B4-BE49-F238E27FC236}">
                <a16:creationId xmlns:a16="http://schemas.microsoft.com/office/drawing/2014/main" id="{1038FDBB-2DD8-43BE-9859-785D12375E6B}"/>
              </a:ext>
            </a:extLst>
          </p:cNvPr>
          <p:cNvSpPr>
            <a:spLocks xmlns:a="http://schemas.openxmlformats.org/drawingml/2006/main" noGrp="1"/>
          </p:cNvSpPr>
          <p:nvPr/>
        </p:nvSpPr>
        <p:spPr>
          <a:xfrm xmlns:a="http://schemas.openxmlformats.org/drawingml/2006/main">
            <a:off x="3017520" y="4407407"/>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08" name="Rectangle 107">
            <a:extLst xmlns:a="http://schemas.openxmlformats.org/drawingml/2006/main">
              <a:ext uri="{FF2B5EF4-FFF2-40B4-BE49-F238E27FC236}">
                <a16:creationId xmlns:a16="http://schemas.microsoft.com/office/drawing/2014/main" id="{120005CA-D45D-4B3F-893B-312828447A58}"/>
              </a:ext>
            </a:extLst>
          </p:cNvPr>
          <p:cNvSpPr>
            <a:spLocks xmlns:a="http://schemas.openxmlformats.org/drawingml/2006/main" noGrp="1"/>
          </p:cNvSpPr>
          <p:nvPr/>
        </p:nvSpPr>
        <p:spPr>
          <a:xfrm xmlns:a="http://schemas.openxmlformats.org/drawingml/2006/main">
            <a:off x="4745736" y="4361688"/>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9" name="TextBox 108">
            <a:extLst xmlns:a="http://schemas.openxmlformats.org/drawingml/2006/main">
              <a:ext uri="{FF2B5EF4-FFF2-40B4-BE49-F238E27FC236}">
                <a16:creationId xmlns:a16="http://schemas.microsoft.com/office/drawing/2014/main" id="{8EFABEDA-52F4-4846-91ED-78BBB08D4C46}"/>
              </a:ext>
            </a:extLst>
          </p:cNvPr>
          <p:cNvSpPr>
            <a:spLocks xmlns:a="http://schemas.openxmlformats.org/drawingml/2006/main" noGrp="1"/>
          </p:cNvSpPr>
          <p:nvPr/>
        </p:nvSpPr>
        <p:spPr>
          <a:xfrm xmlns:a="http://schemas.openxmlformats.org/drawingml/2006/main">
            <a:off x="4800600" y="4407407"/>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10" name="Rectangle 109">
            <a:extLst xmlns:a="http://schemas.openxmlformats.org/drawingml/2006/main">
              <a:ext uri="{FF2B5EF4-FFF2-40B4-BE49-F238E27FC236}">
                <a16:creationId xmlns:a16="http://schemas.microsoft.com/office/drawing/2014/main" id="{D2E52D41-83E5-4637-A1DE-5792FADADBB2}"/>
              </a:ext>
            </a:extLst>
          </p:cNvPr>
          <p:cNvSpPr>
            <a:spLocks xmlns:a="http://schemas.openxmlformats.org/drawingml/2006/main" noGrp="1"/>
          </p:cNvSpPr>
          <p:nvPr/>
        </p:nvSpPr>
        <p:spPr>
          <a:xfrm xmlns:a="http://schemas.openxmlformats.org/drawingml/2006/main">
            <a:off x="6483096" y="4361688"/>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1" name="TextBox 110">
            <a:extLst xmlns:a="http://schemas.openxmlformats.org/drawingml/2006/main">
              <a:ext uri="{FF2B5EF4-FFF2-40B4-BE49-F238E27FC236}">
                <a16:creationId xmlns:a16="http://schemas.microsoft.com/office/drawing/2014/main" id="{CD8EC12A-BE30-4E72-8EB5-5E873129DCB2}"/>
              </a:ext>
            </a:extLst>
          </p:cNvPr>
          <p:cNvSpPr>
            <a:spLocks xmlns:a="http://schemas.openxmlformats.org/drawingml/2006/main" noGrp="1"/>
          </p:cNvSpPr>
          <p:nvPr/>
        </p:nvSpPr>
        <p:spPr>
          <a:xfrm xmlns:a="http://schemas.openxmlformats.org/drawingml/2006/main">
            <a:off x="6537959" y="4407407"/>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5</a:t>
            </a:r>
          </a:p>
        </p:txBody>
      </p:sp>
      <p:sp>
        <p:nvSpPr>
          <p:cNvPr id="112" name="Rectangle 111">
            <a:extLst xmlns:a="http://schemas.openxmlformats.org/drawingml/2006/main">
              <a:ext uri="{FF2B5EF4-FFF2-40B4-BE49-F238E27FC236}">
                <a16:creationId xmlns:a16="http://schemas.microsoft.com/office/drawing/2014/main" id="{0237321B-E474-4A78-9CF2-25A019D594A0}"/>
              </a:ext>
            </a:extLst>
          </p:cNvPr>
          <p:cNvSpPr>
            <a:spLocks xmlns:a="http://schemas.openxmlformats.org/drawingml/2006/main" noGrp="1"/>
          </p:cNvSpPr>
          <p:nvPr/>
        </p:nvSpPr>
        <p:spPr>
          <a:xfrm xmlns:a="http://schemas.openxmlformats.org/drawingml/2006/main">
            <a:off x="7534656" y="4361688"/>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3" name="TextBox 112">
            <a:extLst xmlns:a="http://schemas.openxmlformats.org/drawingml/2006/main">
              <a:ext uri="{FF2B5EF4-FFF2-40B4-BE49-F238E27FC236}">
                <a16:creationId xmlns:a16="http://schemas.microsoft.com/office/drawing/2014/main" id="{EA8DEF18-F978-4B45-B61E-EAF62232D547}"/>
              </a:ext>
            </a:extLst>
          </p:cNvPr>
          <p:cNvSpPr>
            <a:spLocks xmlns:a="http://schemas.openxmlformats.org/drawingml/2006/main" noGrp="1"/>
          </p:cNvSpPr>
          <p:nvPr/>
        </p:nvSpPr>
        <p:spPr>
          <a:xfrm xmlns:a="http://schemas.openxmlformats.org/drawingml/2006/main">
            <a:off x="7589520" y="4407407"/>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24</a:t>
            </a:r>
          </a:p>
        </p:txBody>
      </p:sp>
      <p:sp>
        <p:nvSpPr>
          <p:cNvPr id="114" name="Rectangle 113">
            <a:extLst xmlns:a="http://schemas.openxmlformats.org/drawingml/2006/main">
              <a:ext uri="{FF2B5EF4-FFF2-40B4-BE49-F238E27FC236}">
                <a16:creationId xmlns:a16="http://schemas.microsoft.com/office/drawing/2014/main" id="{B4ABD203-6884-47A5-85A7-2BD9B90CEAB5}"/>
              </a:ext>
            </a:extLst>
          </p:cNvPr>
          <p:cNvSpPr>
            <a:spLocks xmlns:a="http://schemas.openxmlformats.org/drawingml/2006/main" noGrp="1"/>
          </p:cNvSpPr>
          <p:nvPr/>
        </p:nvSpPr>
        <p:spPr>
          <a:xfrm xmlns:a="http://schemas.openxmlformats.org/drawingml/2006/main">
            <a:off x="9528048" y="4361688"/>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5" name="TextBox 114">
            <a:extLst xmlns:a="http://schemas.openxmlformats.org/drawingml/2006/main">
              <a:ext uri="{FF2B5EF4-FFF2-40B4-BE49-F238E27FC236}">
                <a16:creationId xmlns:a16="http://schemas.microsoft.com/office/drawing/2014/main" id="{70D19842-5723-41CB-8566-83B56CBBADA8}"/>
              </a:ext>
            </a:extLst>
          </p:cNvPr>
          <p:cNvSpPr>
            <a:spLocks xmlns:a="http://schemas.openxmlformats.org/drawingml/2006/main" noGrp="1"/>
          </p:cNvSpPr>
          <p:nvPr/>
        </p:nvSpPr>
        <p:spPr>
          <a:xfrm xmlns:a="http://schemas.openxmlformats.org/drawingml/2006/main">
            <a:off x="9582912" y="4407407"/>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18</a:t>
            </a:r>
          </a:p>
        </p:txBody>
      </p:sp>
      <p:sp>
        <p:nvSpPr>
          <p:cNvPr id="116" name="Rectangle 115">
            <a:extLst xmlns:a="http://schemas.openxmlformats.org/drawingml/2006/main">
              <a:ext uri="{FF2B5EF4-FFF2-40B4-BE49-F238E27FC236}">
                <a16:creationId xmlns:a16="http://schemas.microsoft.com/office/drawing/2014/main" id="{FB99DBB0-5235-463C-BE67-BDBD62E844FB}"/>
              </a:ext>
            </a:extLst>
          </p:cNvPr>
          <p:cNvSpPr>
            <a:spLocks xmlns:a="http://schemas.openxmlformats.org/drawingml/2006/main" noGrp="1"/>
          </p:cNvSpPr>
          <p:nvPr/>
        </p:nvSpPr>
        <p:spPr>
          <a:xfrm xmlns:a="http://schemas.openxmlformats.org/drawingml/2006/main">
            <a:off x="539496" y="4754879"/>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7" name="TextBox 116">
            <a:extLst xmlns:a="http://schemas.openxmlformats.org/drawingml/2006/main">
              <a:ext uri="{FF2B5EF4-FFF2-40B4-BE49-F238E27FC236}">
                <a16:creationId xmlns:a16="http://schemas.microsoft.com/office/drawing/2014/main" id="{A67ADCE6-DA5E-4E9A-A618-3CC89AEA3694}"/>
              </a:ext>
            </a:extLst>
          </p:cNvPr>
          <p:cNvSpPr>
            <a:spLocks xmlns:a="http://schemas.openxmlformats.org/drawingml/2006/main" noGrp="1"/>
          </p:cNvSpPr>
          <p:nvPr/>
        </p:nvSpPr>
        <p:spPr>
          <a:xfrm xmlns:a="http://schemas.openxmlformats.org/drawingml/2006/main">
            <a:off x="594359" y="4800599"/>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18" name="Rectangle 117">
            <a:extLst xmlns:a="http://schemas.openxmlformats.org/drawingml/2006/main">
              <a:ext uri="{FF2B5EF4-FFF2-40B4-BE49-F238E27FC236}">
                <a16:creationId xmlns:a16="http://schemas.microsoft.com/office/drawing/2014/main" id="{174A0344-C9A4-4E03-A2F3-D42434999D8E}"/>
              </a:ext>
            </a:extLst>
          </p:cNvPr>
          <p:cNvSpPr>
            <a:spLocks xmlns:a="http://schemas.openxmlformats.org/drawingml/2006/main" noGrp="1"/>
          </p:cNvSpPr>
          <p:nvPr/>
        </p:nvSpPr>
        <p:spPr>
          <a:xfrm xmlns:a="http://schemas.openxmlformats.org/drawingml/2006/main">
            <a:off x="1636776" y="4754879"/>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9" name="TextBox 118">
            <a:extLst xmlns:a="http://schemas.openxmlformats.org/drawingml/2006/main">
              <a:ext uri="{FF2B5EF4-FFF2-40B4-BE49-F238E27FC236}">
                <a16:creationId xmlns:a16="http://schemas.microsoft.com/office/drawing/2014/main" id="{AE161817-B22E-4EE0-833B-7A9225A559C7}"/>
              </a:ext>
            </a:extLst>
          </p:cNvPr>
          <p:cNvSpPr>
            <a:spLocks xmlns:a="http://schemas.openxmlformats.org/drawingml/2006/main" noGrp="1"/>
          </p:cNvSpPr>
          <p:nvPr/>
        </p:nvSpPr>
        <p:spPr>
          <a:xfrm xmlns:a="http://schemas.openxmlformats.org/drawingml/2006/main">
            <a:off x="1691640" y="4800599"/>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10</a:t>
            </a:r>
          </a:p>
        </p:txBody>
      </p:sp>
      <p:sp>
        <p:nvSpPr>
          <p:cNvPr id="120" name="Rectangle 119">
            <a:extLst xmlns:a="http://schemas.openxmlformats.org/drawingml/2006/main">
              <a:ext uri="{FF2B5EF4-FFF2-40B4-BE49-F238E27FC236}">
                <a16:creationId xmlns:a16="http://schemas.microsoft.com/office/drawing/2014/main" id="{D6F0C7F6-D6EC-4371-AF96-7596965B6978}"/>
              </a:ext>
            </a:extLst>
          </p:cNvPr>
          <p:cNvSpPr>
            <a:spLocks xmlns:a="http://schemas.openxmlformats.org/drawingml/2006/main" noGrp="1"/>
          </p:cNvSpPr>
          <p:nvPr/>
        </p:nvSpPr>
        <p:spPr>
          <a:xfrm xmlns:a="http://schemas.openxmlformats.org/drawingml/2006/main">
            <a:off x="2962656" y="4754879"/>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1" name="TextBox 120">
            <a:extLst xmlns:a="http://schemas.openxmlformats.org/drawingml/2006/main">
              <a:ext uri="{FF2B5EF4-FFF2-40B4-BE49-F238E27FC236}">
                <a16:creationId xmlns:a16="http://schemas.microsoft.com/office/drawing/2014/main" id="{2927A733-40C4-4128-B692-8421E94E39A5}"/>
              </a:ext>
            </a:extLst>
          </p:cNvPr>
          <p:cNvSpPr>
            <a:spLocks xmlns:a="http://schemas.openxmlformats.org/drawingml/2006/main" noGrp="1"/>
          </p:cNvSpPr>
          <p:nvPr/>
        </p:nvSpPr>
        <p:spPr>
          <a:xfrm xmlns:a="http://schemas.openxmlformats.org/drawingml/2006/main">
            <a:off x="3017520" y="4800599"/>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22" name="Rectangle 121">
            <a:extLst xmlns:a="http://schemas.openxmlformats.org/drawingml/2006/main">
              <a:ext uri="{FF2B5EF4-FFF2-40B4-BE49-F238E27FC236}">
                <a16:creationId xmlns:a16="http://schemas.microsoft.com/office/drawing/2014/main" id="{5FA7BB60-3D2C-470E-AA97-75247ECFCB67}"/>
              </a:ext>
            </a:extLst>
          </p:cNvPr>
          <p:cNvSpPr>
            <a:spLocks xmlns:a="http://schemas.openxmlformats.org/drawingml/2006/main" noGrp="1"/>
          </p:cNvSpPr>
          <p:nvPr/>
        </p:nvSpPr>
        <p:spPr>
          <a:xfrm xmlns:a="http://schemas.openxmlformats.org/drawingml/2006/main">
            <a:off x="4745736" y="4754879"/>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3" name="TextBox 122">
            <a:extLst xmlns:a="http://schemas.openxmlformats.org/drawingml/2006/main">
              <a:ext uri="{FF2B5EF4-FFF2-40B4-BE49-F238E27FC236}">
                <a16:creationId xmlns:a16="http://schemas.microsoft.com/office/drawing/2014/main" id="{1C40FB65-9679-4BB1-A27E-6592B78EB6FA}"/>
              </a:ext>
            </a:extLst>
          </p:cNvPr>
          <p:cNvSpPr>
            <a:spLocks xmlns:a="http://schemas.openxmlformats.org/drawingml/2006/main" noGrp="1"/>
          </p:cNvSpPr>
          <p:nvPr/>
        </p:nvSpPr>
        <p:spPr>
          <a:xfrm xmlns:a="http://schemas.openxmlformats.org/drawingml/2006/main">
            <a:off x="4800600" y="4800599"/>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24" name="Rectangle 123">
            <a:extLst xmlns:a="http://schemas.openxmlformats.org/drawingml/2006/main">
              <a:ext uri="{FF2B5EF4-FFF2-40B4-BE49-F238E27FC236}">
                <a16:creationId xmlns:a16="http://schemas.microsoft.com/office/drawing/2014/main" id="{BD430CE1-BAF1-49D7-971F-05A2F578126C}"/>
              </a:ext>
            </a:extLst>
          </p:cNvPr>
          <p:cNvSpPr>
            <a:spLocks xmlns:a="http://schemas.openxmlformats.org/drawingml/2006/main" noGrp="1"/>
          </p:cNvSpPr>
          <p:nvPr/>
        </p:nvSpPr>
        <p:spPr>
          <a:xfrm xmlns:a="http://schemas.openxmlformats.org/drawingml/2006/main">
            <a:off x="6483096" y="4754879"/>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5" name="TextBox 124">
            <a:extLst xmlns:a="http://schemas.openxmlformats.org/drawingml/2006/main">
              <a:ext uri="{FF2B5EF4-FFF2-40B4-BE49-F238E27FC236}">
                <a16:creationId xmlns:a16="http://schemas.microsoft.com/office/drawing/2014/main" id="{270F0ADF-B1A3-4A2D-8749-D0C5118E07A5}"/>
              </a:ext>
            </a:extLst>
          </p:cNvPr>
          <p:cNvSpPr>
            <a:spLocks xmlns:a="http://schemas.openxmlformats.org/drawingml/2006/main" noGrp="1"/>
          </p:cNvSpPr>
          <p:nvPr/>
        </p:nvSpPr>
        <p:spPr>
          <a:xfrm xmlns:a="http://schemas.openxmlformats.org/drawingml/2006/main">
            <a:off x="6537959" y="4800599"/>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26" name="Rectangle 125">
            <a:extLst xmlns:a="http://schemas.openxmlformats.org/drawingml/2006/main">
              <a:ext uri="{FF2B5EF4-FFF2-40B4-BE49-F238E27FC236}">
                <a16:creationId xmlns:a16="http://schemas.microsoft.com/office/drawing/2014/main" id="{F236603D-2A6A-4472-8E5C-EDDED22CEB22}"/>
              </a:ext>
            </a:extLst>
          </p:cNvPr>
          <p:cNvSpPr>
            <a:spLocks xmlns:a="http://schemas.openxmlformats.org/drawingml/2006/main" noGrp="1"/>
          </p:cNvSpPr>
          <p:nvPr/>
        </p:nvSpPr>
        <p:spPr>
          <a:xfrm xmlns:a="http://schemas.openxmlformats.org/drawingml/2006/main">
            <a:off x="7534656" y="4754879"/>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7" name="TextBox 126">
            <a:extLst xmlns:a="http://schemas.openxmlformats.org/drawingml/2006/main">
              <a:ext uri="{FF2B5EF4-FFF2-40B4-BE49-F238E27FC236}">
                <a16:creationId xmlns:a16="http://schemas.microsoft.com/office/drawing/2014/main" id="{8113F2B4-22B9-4C78-8296-CCE11C97A6FA}"/>
              </a:ext>
            </a:extLst>
          </p:cNvPr>
          <p:cNvSpPr>
            <a:spLocks xmlns:a="http://schemas.openxmlformats.org/drawingml/2006/main" noGrp="1"/>
          </p:cNvSpPr>
          <p:nvPr/>
        </p:nvSpPr>
        <p:spPr>
          <a:xfrm xmlns:a="http://schemas.openxmlformats.org/drawingml/2006/main">
            <a:off x="7589520" y="4800599"/>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8</a:t>
            </a:r>
          </a:p>
        </p:txBody>
      </p:sp>
      <p:sp>
        <p:nvSpPr>
          <p:cNvPr id="128" name="Rectangle 127">
            <a:extLst xmlns:a="http://schemas.openxmlformats.org/drawingml/2006/main">
              <a:ext uri="{FF2B5EF4-FFF2-40B4-BE49-F238E27FC236}">
                <a16:creationId xmlns:a16="http://schemas.microsoft.com/office/drawing/2014/main" id="{F27D690A-CE2F-4B05-AD17-A27266B55A39}"/>
              </a:ext>
            </a:extLst>
          </p:cNvPr>
          <p:cNvSpPr>
            <a:spLocks xmlns:a="http://schemas.openxmlformats.org/drawingml/2006/main" noGrp="1"/>
          </p:cNvSpPr>
          <p:nvPr/>
        </p:nvSpPr>
        <p:spPr>
          <a:xfrm xmlns:a="http://schemas.openxmlformats.org/drawingml/2006/main">
            <a:off x="9528048" y="4754879"/>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9" name="TextBox 128">
            <a:extLst xmlns:a="http://schemas.openxmlformats.org/drawingml/2006/main">
              <a:ext uri="{FF2B5EF4-FFF2-40B4-BE49-F238E27FC236}">
                <a16:creationId xmlns:a16="http://schemas.microsoft.com/office/drawing/2014/main" id="{C4A5D840-07D0-4EC1-8F7D-C9783A6325D3}"/>
              </a:ext>
            </a:extLst>
          </p:cNvPr>
          <p:cNvSpPr>
            <a:spLocks xmlns:a="http://schemas.openxmlformats.org/drawingml/2006/main" noGrp="1"/>
          </p:cNvSpPr>
          <p:nvPr/>
        </p:nvSpPr>
        <p:spPr>
          <a:xfrm xmlns:a="http://schemas.openxmlformats.org/drawingml/2006/main">
            <a:off x="9582912" y="4800599"/>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30" name="Rectangle 129">
            <a:extLst xmlns:a="http://schemas.openxmlformats.org/drawingml/2006/main">
              <a:ext uri="{FF2B5EF4-FFF2-40B4-BE49-F238E27FC236}">
                <a16:creationId xmlns:a16="http://schemas.microsoft.com/office/drawing/2014/main" id="{F3E8E601-9E78-4962-AC2C-302DE9F1B157}"/>
              </a:ext>
            </a:extLst>
          </p:cNvPr>
          <p:cNvSpPr>
            <a:spLocks xmlns:a="http://schemas.openxmlformats.org/drawingml/2006/main" noGrp="1"/>
          </p:cNvSpPr>
          <p:nvPr/>
        </p:nvSpPr>
        <p:spPr>
          <a:xfrm xmlns:a="http://schemas.openxmlformats.org/drawingml/2006/main">
            <a:off x="539496" y="5148072"/>
            <a:ext cx="10972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1" name="TextBox 130">
            <a:extLst xmlns:a="http://schemas.openxmlformats.org/drawingml/2006/main">
              <a:ext uri="{FF2B5EF4-FFF2-40B4-BE49-F238E27FC236}">
                <a16:creationId xmlns:a16="http://schemas.microsoft.com/office/drawing/2014/main" id="{91468D41-AF83-43FC-AACC-938B70E8C15A}"/>
              </a:ext>
            </a:extLst>
          </p:cNvPr>
          <p:cNvSpPr>
            <a:spLocks xmlns:a="http://schemas.openxmlformats.org/drawingml/2006/main" noGrp="1"/>
          </p:cNvSpPr>
          <p:nvPr/>
        </p:nvSpPr>
        <p:spPr>
          <a:xfrm xmlns:a="http://schemas.openxmlformats.org/drawingml/2006/main">
            <a:off x="594359" y="5193792"/>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32" name="Rectangle 131">
            <a:extLst xmlns:a="http://schemas.openxmlformats.org/drawingml/2006/main">
              <a:ext uri="{FF2B5EF4-FFF2-40B4-BE49-F238E27FC236}">
                <a16:creationId xmlns:a16="http://schemas.microsoft.com/office/drawing/2014/main" id="{EB7E49AF-BC3E-4284-82A6-F2435A48E3CF}"/>
              </a:ext>
            </a:extLst>
          </p:cNvPr>
          <p:cNvSpPr>
            <a:spLocks xmlns:a="http://schemas.openxmlformats.org/drawingml/2006/main" noGrp="1"/>
          </p:cNvSpPr>
          <p:nvPr/>
        </p:nvSpPr>
        <p:spPr>
          <a:xfrm xmlns:a="http://schemas.openxmlformats.org/drawingml/2006/main">
            <a:off x="1636776" y="5148072"/>
            <a:ext cx="13258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3" name="TextBox 132">
            <a:extLst xmlns:a="http://schemas.openxmlformats.org/drawingml/2006/main">
              <a:ext uri="{FF2B5EF4-FFF2-40B4-BE49-F238E27FC236}">
                <a16:creationId xmlns:a16="http://schemas.microsoft.com/office/drawing/2014/main" id="{6D55FECA-02B6-4531-841F-42C8B2995D62}"/>
              </a:ext>
            </a:extLst>
          </p:cNvPr>
          <p:cNvSpPr>
            <a:spLocks xmlns:a="http://schemas.openxmlformats.org/drawingml/2006/main" noGrp="1"/>
          </p:cNvSpPr>
          <p:nvPr/>
        </p:nvSpPr>
        <p:spPr>
          <a:xfrm xmlns:a="http://schemas.openxmlformats.org/drawingml/2006/main">
            <a:off x="1691640" y="5193792"/>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20</a:t>
            </a:r>
          </a:p>
        </p:txBody>
      </p:sp>
      <p:sp>
        <p:nvSpPr>
          <p:cNvPr id="134" name="Rectangle 133">
            <a:extLst xmlns:a="http://schemas.openxmlformats.org/drawingml/2006/main">
              <a:ext uri="{FF2B5EF4-FFF2-40B4-BE49-F238E27FC236}">
                <a16:creationId xmlns:a16="http://schemas.microsoft.com/office/drawing/2014/main" id="{BE27EE3D-19E6-4A9B-B99B-72B4EEBF43A2}"/>
              </a:ext>
            </a:extLst>
          </p:cNvPr>
          <p:cNvSpPr>
            <a:spLocks xmlns:a="http://schemas.openxmlformats.org/drawingml/2006/main" noGrp="1"/>
          </p:cNvSpPr>
          <p:nvPr/>
        </p:nvSpPr>
        <p:spPr>
          <a:xfrm xmlns:a="http://schemas.openxmlformats.org/drawingml/2006/main">
            <a:off x="2962656" y="5148072"/>
            <a:ext cx="178308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5" name="TextBox 134">
            <a:extLst xmlns:a="http://schemas.openxmlformats.org/drawingml/2006/main">
              <a:ext uri="{FF2B5EF4-FFF2-40B4-BE49-F238E27FC236}">
                <a16:creationId xmlns:a16="http://schemas.microsoft.com/office/drawing/2014/main" id="{C6F33C06-695A-4A85-AA5F-5D30B2D1989C}"/>
              </a:ext>
            </a:extLst>
          </p:cNvPr>
          <p:cNvSpPr>
            <a:spLocks xmlns:a="http://schemas.openxmlformats.org/drawingml/2006/main" noGrp="1"/>
          </p:cNvSpPr>
          <p:nvPr/>
        </p:nvSpPr>
        <p:spPr>
          <a:xfrm xmlns:a="http://schemas.openxmlformats.org/drawingml/2006/main">
            <a:off x="3017520" y="5193792"/>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36" name="Rectangle 135">
            <a:extLst xmlns:a="http://schemas.openxmlformats.org/drawingml/2006/main">
              <a:ext uri="{FF2B5EF4-FFF2-40B4-BE49-F238E27FC236}">
                <a16:creationId xmlns:a16="http://schemas.microsoft.com/office/drawing/2014/main" id="{218870A9-A634-4AEE-994D-B77E9BC87EC1}"/>
              </a:ext>
            </a:extLst>
          </p:cNvPr>
          <p:cNvSpPr>
            <a:spLocks xmlns:a="http://schemas.openxmlformats.org/drawingml/2006/main" noGrp="1"/>
          </p:cNvSpPr>
          <p:nvPr/>
        </p:nvSpPr>
        <p:spPr>
          <a:xfrm xmlns:a="http://schemas.openxmlformats.org/drawingml/2006/main">
            <a:off x="4745736" y="5148072"/>
            <a:ext cx="17373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7" name="TextBox 136">
            <a:extLst xmlns:a="http://schemas.openxmlformats.org/drawingml/2006/main">
              <a:ext uri="{FF2B5EF4-FFF2-40B4-BE49-F238E27FC236}">
                <a16:creationId xmlns:a16="http://schemas.microsoft.com/office/drawing/2014/main" id="{7335227D-596D-4F4C-8BA1-A14CBF0125EE}"/>
              </a:ext>
            </a:extLst>
          </p:cNvPr>
          <p:cNvSpPr>
            <a:spLocks xmlns:a="http://schemas.openxmlformats.org/drawingml/2006/main" noGrp="1"/>
          </p:cNvSpPr>
          <p:nvPr/>
        </p:nvSpPr>
        <p:spPr>
          <a:xfrm xmlns:a="http://schemas.openxmlformats.org/drawingml/2006/main">
            <a:off x="4800600" y="5193792"/>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38" name="Rectangle 137">
            <a:extLst xmlns:a="http://schemas.openxmlformats.org/drawingml/2006/main">
              <a:ext uri="{FF2B5EF4-FFF2-40B4-BE49-F238E27FC236}">
                <a16:creationId xmlns:a16="http://schemas.microsoft.com/office/drawing/2014/main" id="{FF3FDDEE-7E9C-4C7F-9780-1250EB398AC3}"/>
              </a:ext>
            </a:extLst>
          </p:cNvPr>
          <p:cNvSpPr>
            <a:spLocks xmlns:a="http://schemas.openxmlformats.org/drawingml/2006/main" noGrp="1"/>
          </p:cNvSpPr>
          <p:nvPr/>
        </p:nvSpPr>
        <p:spPr>
          <a:xfrm xmlns:a="http://schemas.openxmlformats.org/drawingml/2006/main">
            <a:off x="6483096" y="5148072"/>
            <a:ext cx="1051560"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9" name="TextBox 138">
            <a:extLst xmlns:a="http://schemas.openxmlformats.org/drawingml/2006/main">
              <a:ext uri="{FF2B5EF4-FFF2-40B4-BE49-F238E27FC236}">
                <a16:creationId xmlns:a16="http://schemas.microsoft.com/office/drawing/2014/main" id="{7B41ABE7-C898-4D84-9726-ABA7BCFB0EBB}"/>
              </a:ext>
            </a:extLst>
          </p:cNvPr>
          <p:cNvSpPr>
            <a:spLocks xmlns:a="http://schemas.openxmlformats.org/drawingml/2006/main" noGrp="1"/>
          </p:cNvSpPr>
          <p:nvPr/>
        </p:nvSpPr>
        <p:spPr>
          <a:xfrm xmlns:a="http://schemas.openxmlformats.org/drawingml/2006/main">
            <a:off x="6537959" y="5193792"/>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40" name="Rectangle 139">
            <a:extLst xmlns:a="http://schemas.openxmlformats.org/drawingml/2006/main">
              <a:ext uri="{FF2B5EF4-FFF2-40B4-BE49-F238E27FC236}">
                <a16:creationId xmlns:a16="http://schemas.microsoft.com/office/drawing/2014/main" id="{4C10B616-1D1E-49CD-82F3-79B1AFD9FBEE}"/>
              </a:ext>
            </a:extLst>
          </p:cNvPr>
          <p:cNvSpPr>
            <a:spLocks xmlns:a="http://schemas.openxmlformats.org/drawingml/2006/main" noGrp="1"/>
          </p:cNvSpPr>
          <p:nvPr/>
        </p:nvSpPr>
        <p:spPr>
          <a:xfrm xmlns:a="http://schemas.openxmlformats.org/drawingml/2006/main">
            <a:off x="7534656" y="5148072"/>
            <a:ext cx="1993392"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1" name="TextBox 140">
            <a:extLst xmlns:a="http://schemas.openxmlformats.org/drawingml/2006/main">
              <a:ext uri="{FF2B5EF4-FFF2-40B4-BE49-F238E27FC236}">
                <a16:creationId xmlns:a16="http://schemas.microsoft.com/office/drawing/2014/main" id="{0C7B774C-F7F0-4D7E-AFE6-BC4D42F50A5B}"/>
              </a:ext>
            </a:extLst>
          </p:cNvPr>
          <p:cNvSpPr>
            <a:spLocks xmlns:a="http://schemas.openxmlformats.org/drawingml/2006/main" noGrp="1"/>
          </p:cNvSpPr>
          <p:nvPr/>
        </p:nvSpPr>
        <p:spPr>
          <a:xfrm xmlns:a="http://schemas.openxmlformats.org/drawingml/2006/main">
            <a:off x="7589520" y="5193792"/>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8</a:t>
            </a:r>
          </a:p>
        </p:txBody>
      </p:sp>
      <p:sp>
        <p:nvSpPr>
          <p:cNvPr id="142" name="Rectangle 141">
            <a:extLst xmlns:a="http://schemas.openxmlformats.org/drawingml/2006/main">
              <a:ext uri="{FF2B5EF4-FFF2-40B4-BE49-F238E27FC236}">
                <a16:creationId xmlns:a16="http://schemas.microsoft.com/office/drawing/2014/main" id="{06E51B0F-B3CA-4848-800D-055C62D7D358}"/>
              </a:ext>
            </a:extLst>
          </p:cNvPr>
          <p:cNvSpPr>
            <a:spLocks xmlns:a="http://schemas.openxmlformats.org/drawingml/2006/main" noGrp="1"/>
          </p:cNvSpPr>
          <p:nvPr/>
        </p:nvSpPr>
        <p:spPr>
          <a:xfrm xmlns:a="http://schemas.openxmlformats.org/drawingml/2006/main">
            <a:off x="9528048" y="5148072"/>
            <a:ext cx="2121408" cy="393192"/>
          </a:xfrm>
          <a:prstGeom xmlns:a="http://schemas.openxmlformats.org/drawingml/2006/main" prst="rect">
            <a:avLst/>
          </a:prstGeom>
          <a:solidFill xmlns:a="http://schemas.openxmlformats.org/drawingml/2006/main">
            <a:srgbClr val="FFFFFF"/>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3" name="TextBox 142">
            <a:extLst xmlns:a="http://schemas.openxmlformats.org/drawingml/2006/main">
              <a:ext uri="{FF2B5EF4-FFF2-40B4-BE49-F238E27FC236}">
                <a16:creationId xmlns:a16="http://schemas.microsoft.com/office/drawing/2014/main" id="{3E87654A-AA19-4504-BB1A-184F03A923DD}"/>
              </a:ext>
            </a:extLst>
          </p:cNvPr>
          <p:cNvSpPr>
            <a:spLocks xmlns:a="http://schemas.openxmlformats.org/drawingml/2006/main" noGrp="1"/>
          </p:cNvSpPr>
          <p:nvPr/>
        </p:nvSpPr>
        <p:spPr>
          <a:xfrm xmlns:a="http://schemas.openxmlformats.org/drawingml/2006/main">
            <a:off x="9582912" y="5193792"/>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44" name="Rectangle 143">
            <a:extLst xmlns:a="http://schemas.openxmlformats.org/drawingml/2006/main">
              <a:ext uri="{FF2B5EF4-FFF2-40B4-BE49-F238E27FC236}">
                <a16:creationId xmlns:a16="http://schemas.microsoft.com/office/drawing/2014/main" id="{47973AE5-F7DD-4418-8193-35094A910C0A}"/>
              </a:ext>
            </a:extLst>
          </p:cNvPr>
          <p:cNvSpPr>
            <a:spLocks xmlns:a="http://schemas.openxmlformats.org/drawingml/2006/main" noGrp="1"/>
          </p:cNvSpPr>
          <p:nvPr/>
        </p:nvSpPr>
        <p:spPr>
          <a:xfrm xmlns:a="http://schemas.openxmlformats.org/drawingml/2006/main">
            <a:off x="539496" y="5541264"/>
            <a:ext cx="10972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5" name="TextBox 144">
            <a:extLst xmlns:a="http://schemas.openxmlformats.org/drawingml/2006/main">
              <a:ext uri="{FF2B5EF4-FFF2-40B4-BE49-F238E27FC236}">
                <a16:creationId xmlns:a16="http://schemas.microsoft.com/office/drawing/2014/main" id="{3D4495D7-AFED-499C-A57C-9AF9BC123ADE}"/>
              </a:ext>
            </a:extLst>
          </p:cNvPr>
          <p:cNvSpPr>
            <a:spLocks xmlns:a="http://schemas.openxmlformats.org/drawingml/2006/main" noGrp="1"/>
          </p:cNvSpPr>
          <p:nvPr/>
        </p:nvSpPr>
        <p:spPr>
          <a:xfrm xmlns:a="http://schemas.openxmlformats.org/drawingml/2006/main">
            <a:off x="594359" y="5586984"/>
            <a:ext cx="9875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SEA-AD</a:t>
            </a:r>
          </a:p>
        </p:txBody>
      </p:sp>
      <p:sp>
        <p:nvSpPr>
          <p:cNvPr id="146" name="Rectangle 145">
            <a:extLst xmlns:a="http://schemas.openxmlformats.org/drawingml/2006/main">
              <a:ext uri="{FF2B5EF4-FFF2-40B4-BE49-F238E27FC236}">
                <a16:creationId xmlns:a16="http://schemas.microsoft.com/office/drawing/2014/main" id="{09764EF9-DC2E-480A-9A80-A060DA109A2D}"/>
              </a:ext>
            </a:extLst>
          </p:cNvPr>
          <p:cNvSpPr>
            <a:spLocks xmlns:a="http://schemas.openxmlformats.org/drawingml/2006/main" noGrp="1"/>
          </p:cNvSpPr>
          <p:nvPr/>
        </p:nvSpPr>
        <p:spPr>
          <a:xfrm xmlns:a="http://schemas.openxmlformats.org/drawingml/2006/main">
            <a:off x="1636776" y="5541264"/>
            <a:ext cx="13258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7" name="TextBox 146">
            <a:extLst xmlns:a="http://schemas.openxmlformats.org/drawingml/2006/main">
              <a:ext uri="{FF2B5EF4-FFF2-40B4-BE49-F238E27FC236}">
                <a16:creationId xmlns:a16="http://schemas.microsoft.com/office/drawing/2014/main" id="{1EE63A5B-74B5-4B0A-AFF1-69BC20C3C100}"/>
              </a:ext>
            </a:extLst>
          </p:cNvPr>
          <p:cNvSpPr>
            <a:spLocks xmlns:a="http://schemas.openxmlformats.org/drawingml/2006/main" noGrp="1"/>
          </p:cNvSpPr>
          <p:nvPr/>
        </p:nvSpPr>
        <p:spPr>
          <a:xfrm xmlns:a="http://schemas.openxmlformats.org/drawingml/2006/main">
            <a:off x="1691640" y="5586984"/>
            <a:ext cx="12161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30</a:t>
            </a:r>
          </a:p>
        </p:txBody>
      </p:sp>
      <p:sp>
        <p:nvSpPr>
          <p:cNvPr id="148" name="Rectangle 147">
            <a:extLst xmlns:a="http://schemas.openxmlformats.org/drawingml/2006/main">
              <a:ext uri="{FF2B5EF4-FFF2-40B4-BE49-F238E27FC236}">
                <a16:creationId xmlns:a16="http://schemas.microsoft.com/office/drawing/2014/main" id="{10817D56-AF8C-4DC9-B9C8-9350476003EC}"/>
              </a:ext>
            </a:extLst>
          </p:cNvPr>
          <p:cNvSpPr>
            <a:spLocks xmlns:a="http://schemas.openxmlformats.org/drawingml/2006/main" noGrp="1"/>
          </p:cNvSpPr>
          <p:nvPr/>
        </p:nvSpPr>
        <p:spPr>
          <a:xfrm xmlns:a="http://schemas.openxmlformats.org/drawingml/2006/main">
            <a:off x="2962656" y="5541264"/>
            <a:ext cx="178308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9" name="TextBox 148">
            <a:extLst xmlns:a="http://schemas.openxmlformats.org/drawingml/2006/main">
              <a:ext uri="{FF2B5EF4-FFF2-40B4-BE49-F238E27FC236}">
                <a16:creationId xmlns:a16="http://schemas.microsoft.com/office/drawing/2014/main" id="{2D29FFB0-72C0-46D5-936C-49C064A2E6B2}"/>
              </a:ext>
            </a:extLst>
          </p:cNvPr>
          <p:cNvSpPr>
            <a:spLocks xmlns:a="http://schemas.openxmlformats.org/drawingml/2006/main" noGrp="1"/>
          </p:cNvSpPr>
          <p:nvPr/>
        </p:nvSpPr>
        <p:spPr>
          <a:xfrm xmlns:a="http://schemas.openxmlformats.org/drawingml/2006/main">
            <a:off x="3017520" y="5586984"/>
            <a:ext cx="1673352"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28</a:t>
            </a:r>
          </a:p>
        </p:txBody>
      </p:sp>
      <p:sp>
        <p:nvSpPr>
          <p:cNvPr id="150" name="Rectangle 149">
            <a:extLst xmlns:a="http://schemas.openxmlformats.org/drawingml/2006/main">
              <a:ext uri="{FF2B5EF4-FFF2-40B4-BE49-F238E27FC236}">
                <a16:creationId xmlns:a16="http://schemas.microsoft.com/office/drawing/2014/main" id="{5115B694-0AC0-4143-B748-AC66F1AE640A}"/>
              </a:ext>
            </a:extLst>
          </p:cNvPr>
          <p:cNvSpPr>
            <a:spLocks xmlns:a="http://schemas.openxmlformats.org/drawingml/2006/main" noGrp="1"/>
          </p:cNvSpPr>
          <p:nvPr/>
        </p:nvSpPr>
        <p:spPr>
          <a:xfrm xmlns:a="http://schemas.openxmlformats.org/drawingml/2006/main">
            <a:off x="4745736" y="5541264"/>
            <a:ext cx="17373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1" name="TextBox 150">
            <a:extLst xmlns:a="http://schemas.openxmlformats.org/drawingml/2006/main">
              <a:ext uri="{FF2B5EF4-FFF2-40B4-BE49-F238E27FC236}">
                <a16:creationId xmlns:a16="http://schemas.microsoft.com/office/drawing/2014/main" id="{48B3C840-5E67-4ADF-B2C2-1F5642A589E2}"/>
              </a:ext>
            </a:extLst>
          </p:cNvPr>
          <p:cNvSpPr>
            <a:spLocks xmlns:a="http://schemas.openxmlformats.org/drawingml/2006/main" noGrp="1"/>
          </p:cNvSpPr>
          <p:nvPr/>
        </p:nvSpPr>
        <p:spPr>
          <a:xfrm xmlns:a="http://schemas.openxmlformats.org/drawingml/2006/main">
            <a:off x="4800600" y="5586984"/>
            <a:ext cx="16276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152" name="Rectangle 151">
            <a:extLst xmlns:a="http://schemas.openxmlformats.org/drawingml/2006/main">
              <a:ext uri="{FF2B5EF4-FFF2-40B4-BE49-F238E27FC236}">
                <a16:creationId xmlns:a16="http://schemas.microsoft.com/office/drawing/2014/main" id="{1D63FB17-27DA-4AFF-B9F8-10F0949DF449}"/>
              </a:ext>
            </a:extLst>
          </p:cNvPr>
          <p:cNvSpPr>
            <a:spLocks xmlns:a="http://schemas.openxmlformats.org/drawingml/2006/main" noGrp="1"/>
          </p:cNvSpPr>
          <p:nvPr/>
        </p:nvSpPr>
        <p:spPr>
          <a:xfrm xmlns:a="http://schemas.openxmlformats.org/drawingml/2006/main">
            <a:off x="6483096" y="5541264"/>
            <a:ext cx="1051560"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3" name="TextBox 152">
            <a:extLst xmlns:a="http://schemas.openxmlformats.org/drawingml/2006/main">
              <a:ext uri="{FF2B5EF4-FFF2-40B4-BE49-F238E27FC236}">
                <a16:creationId xmlns:a16="http://schemas.microsoft.com/office/drawing/2014/main" id="{0AC90D80-EEFD-424C-B2E0-FA33E0C0FC6F}"/>
              </a:ext>
            </a:extLst>
          </p:cNvPr>
          <p:cNvSpPr>
            <a:spLocks xmlns:a="http://schemas.openxmlformats.org/drawingml/2006/main" noGrp="1"/>
          </p:cNvSpPr>
          <p:nvPr/>
        </p:nvSpPr>
        <p:spPr>
          <a:xfrm xmlns:a="http://schemas.openxmlformats.org/drawingml/2006/main">
            <a:off x="6537959" y="5586984"/>
            <a:ext cx="941831"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2</a:t>
            </a:r>
          </a:p>
        </p:txBody>
      </p:sp>
      <p:sp>
        <p:nvSpPr>
          <p:cNvPr id="154" name="Rectangle 153">
            <a:extLst xmlns:a="http://schemas.openxmlformats.org/drawingml/2006/main">
              <a:ext uri="{FF2B5EF4-FFF2-40B4-BE49-F238E27FC236}">
                <a16:creationId xmlns:a16="http://schemas.microsoft.com/office/drawing/2014/main" id="{1724C57B-88B0-4095-A226-693E2E0D1918}"/>
              </a:ext>
            </a:extLst>
          </p:cNvPr>
          <p:cNvSpPr>
            <a:spLocks xmlns:a="http://schemas.openxmlformats.org/drawingml/2006/main" noGrp="1"/>
          </p:cNvSpPr>
          <p:nvPr/>
        </p:nvSpPr>
        <p:spPr>
          <a:xfrm xmlns:a="http://schemas.openxmlformats.org/drawingml/2006/main">
            <a:off x="7534656" y="5541264"/>
            <a:ext cx="1993392"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5" name="TextBox 154">
            <a:extLst xmlns:a="http://schemas.openxmlformats.org/drawingml/2006/main">
              <a:ext uri="{FF2B5EF4-FFF2-40B4-BE49-F238E27FC236}">
                <a16:creationId xmlns:a16="http://schemas.microsoft.com/office/drawing/2014/main" id="{72314DD4-9DFA-4C30-A89B-F17F62F0A1EB}"/>
              </a:ext>
            </a:extLst>
          </p:cNvPr>
          <p:cNvSpPr>
            <a:spLocks xmlns:a="http://schemas.openxmlformats.org/drawingml/2006/main" noGrp="1"/>
          </p:cNvSpPr>
          <p:nvPr/>
        </p:nvSpPr>
        <p:spPr>
          <a:xfrm xmlns:a="http://schemas.openxmlformats.org/drawingml/2006/main">
            <a:off x="7589520" y="5586984"/>
            <a:ext cx="1883664"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7</a:t>
            </a:r>
          </a:p>
        </p:txBody>
      </p:sp>
      <p:sp>
        <p:nvSpPr>
          <p:cNvPr id="156" name="Rectangle 155">
            <a:extLst xmlns:a="http://schemas.openxmlformats.org/drawingml/2006/main">
              <a:ext uri="{FF2B5EF4-FFF2-40B4-BE49-F238E27FC236}">
                <a16:creationId xmlns:a16="http://schemas.microsoft.com/office/drawing/2014/main" id="{1F845FCC-B191-4EB7-B896-BF813DFA93A9}"/>
              </a:ext>
            </a:extLst>
          </p:cNvPr>
          <p:cNvSpPr>
            <a:spLocks xmlns:a="http://schemas.openxmlformats.org/drawingml/2006/main" noGrp="1"/>
          </p:cNvSpPr>
          <p:nvPr/>
        </p:nvSpPr>
        <p:spPr>
          <a:xfrm xmlns:a="http://schemas.openxmlformats.org/drawingml/2006/main">
            <a:off x="9528048" y="5541264"/>
            <a:ext cx="2121408" cy="393192"/>
          </a:xfrm>
          <a:prstGeom xmlns:a="http://schemas.openxmlformats.org/drawingml/2006/main" prst="rect">
            <a:avLst/>
          </a:prstGeom>
          <a:solidFill xmlns:a="http://schemas.openxmlformats.org/drawingml/2006/main">
            <a:srgbClr val="F1F4F7"/>
          </a:solidFill>
          <a:ln xmlns:a="http://schemas.openxmlformats.org/drawingml/2006/main" w="762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7" name="TextBox 156">
            <a:extLst xmlns:a="http://schemas.openxmlformats.org/drawingml/2006/main">
              <a:ext uri="{FF2B5EF4-FFF2-40B4-BE49-F238E27FC236}">
                <a16:creationId xmlns:a16="http://schemas.microsoft.com/office/drawing/2014/main" id="{555F28BC-8CDB-4280-863D-086D12A3E3BD}"/>
              </a:ext>
            </a:extLst>
          </p:cNvPr>
          <p:cNvSpPr>
            <a:spLocks xmlns:a="http://schemas.openxmlformats.org/drawingml/2006/main" noGrp="1"/>
          </p:cNvSpPr>
          <p:nvPr/>
        </p:nvSpPr>
        <p:spPr>
          <a:xfrm xmlns:a="http://schemas.openxmlformats.org/drawingml/2006/main">
            <a:off x="9582912" y="5586984"/>
            <a:ext cx="2011679" cy="32004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919" b="0" i="0">
                <a:solidFill>
                  <a:srgbClr val="1F2730"/>
                </a:solidFill>
                <a:latin typeface="Arial"/>
                <a:ea typeface="Arial"/>
                <a:cs typeface="Arial"/>
              </a:rPr>
              <a:t>3</a:t>
            </a:r>
          </a:p>
        </p:txBody>
      </p:sp>
      <p:sp>
        <p:nvSpPr>
          <p:cNvPr id="158" name="TextBox 157">
            <a:extLst xmlns:a="http://schemas.openxmlformats.org/drawingml/2006/main">
              <a:ext uri="{FF2B5EF4-FFF2-40B4-BE49-F238E27FC236}">
                <a16:creationId xmlns:a16="http://schemas.microsoft.com/office/drawing/2014/main" id="{91D95B2B-6A03-4120-A4B1-ECB0DF033B17}"/>
              </a:ext>
            </a:extLst>
          </p:cNvPr>
          <p:cNvSpPr>
            <a:spLocks xmlns:a="http://schemas.openxmlformats.org/drawingml/2006/main" noGrp="1"/>
          </p:cNvSpPr>
          <p:nvPr/>
        </p:nvSpPr>
        <p:spPr>
          <a:xfrm xmlns:a="http://schemas.openxmlformats.org/drawingml/2006/main">
            <a:off x="640080" y="6089904"/>
            <a:ext cx="1092708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40" b="1" i="0">
                <a:solidFill>
                  <a:srgbClr val="4E5A68"/>
                </a:solidFill>
                <a:latin typeface="Arial"/>
                <a:ea typeface="Arial"/>
                <a:cs typeface="Arial"/>
              </a:rPr>
              <a:t>One query is used per contrast, so query-passing contrasts and KDA runs are identical here.</a:t>
            </a:r>
          </a:p>
        </p:txBody>
      </p:sp>
      <p:sp>
        <p:nvSpPr>
          <p:cNvPr id="159" name="TextBox 158">
            <a:extLst xmlns:a="http://schemas.openxmlformats.org/drawingml/2006/main">
              <a:ext uri="{FF2B5EF4-FFF2-40B4-BE49-F238E27FC236}">
                <a16:creationId xmlns:a16="http://schemas.microsoft.com/office/drawing/2014/main" id="{D6DBEB14-1BFC-4485-A77D-B7DFE9B0A14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736324470"/>
      </p:ext>
    </p:extLst>
  </p:cSld>
</p:sld>
</file>

<file path=ppt/slides/slide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5D5142B-73D5-401A-889E-21C7F4AD8199}"/>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Query-size sensitivity — cohort effects</a:t>
            </a:r>
          </a:p>
        </p:txBody>
      </p:sp>
      <p:sp>
        <p:nvSpPr>
          <p:cNvPr id="3" name="TextBox 2">
            <a:extLst xmlns:a="http://schemas.openxmlformats.org/drawingml/2006/main">
              <a:ext uri="{FF2B5EF4-FFF2-40B4-BE49-F238E27FC236}">
                <a16:creationId xmlns:a16="http://schemas.microsoft.com/office/drawing/2014/main" id="{12B0B9B9-9C13-454A-91CD-4B17282B04B4}"/>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Only seven current KDA calls determine the entire threshold response.</a:t>
            </a:r>
          </a:p>
        </p:txBody>
      </p:sp>
      <p:sp>
        <p:nvSpPr>
          <p:cNvPr id="4" name="Rounded Rectangle 3">
            <a:extLst xmlns:a="http://schemas.openxmlformats.org/drawingml/2006/main">
              <a:ext uri="{FF2B5EF4-FFF2-40B4-BE49-F238E27FC236}">
                <a16:creationId xmlns:a16="http://schemas.microsoft.com/office/drawing/2014/main" id="{5939264F-CD01-4609-B3B6-BC3D2173D1A2}"/>
              </a:ext>
            </a:extLst>
          </p:cNvPr>
          <p:cNvSpPr>
            <a:spLocks xmlns:a="http://schemas.openxmlformats.org/drawingml/2006/main" noGrp="1"/>
          </p:cNvSpPr>
          <p:nvPr/>
        </p:nvSpPr>
        <p:spPr>
          <a:xfrm xmlns:a="http://schemas.openxmlformats.org/drawingml/2006/main">
            <a:off x="502920" y="1307592"/>
            <a:ext cx="5449824" cy="45537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33D89EAA-04AC-4428-85C2-E75351B872DC}"/>
              </a:ext>
            </a:extLst>
          </p:cNvPr>
          <p:cNvSpPr>
            <a:spLocks xmlns:a="http://schemas.openxmlformats.org/drawingml/2006/main" noGrp="1"/>
          </p:cNvSpPr>
          <p:nvPr/>
        </p:nvSpPr>
        <p:spPr>
          <a:xfrm xmlns:a="http://schemas.openxmlformats.org/drawingml/2006/main">
            <a:off x="804672" y="160020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46DBA5F4-82BA-4632-91E2-22A0093AC4F1}"/>
              </a:ext>
            </a:extLst>
          </p:cNvPr>
          <p:cNvSpPr>
            <a:spLocks xmlns:a="http://schemas.openxmlformats.org/drawingml/2006/main" noGrp="1"/>
          </p:cNvSpPr>
          <p:nvPr/>
        </p:nvSpPr>
        <p:spPr>
          <a:xfrm xmlns:a="http://schemas.openxmlformats.org/drawingml/2006/main">
            <a:off x="950976" y="1572768"/>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ROSMAP</a:t>
            </a:r>
          </a:p>
        </p:txBody>
      </p:sp>
      <p:sp>
        <p:nvSpPr>
          <p:cNvPr id="7" name="Oval 6">
            <a:extLst xmlns:a="http://schemas.openxmlformats.org/drawingml/2006/main">
              <a:ext uri="{FF2B5EF4-FFF2-40B4-BE49-F238E27FC236}">
                <a16:creationId xmlns:a16="http://schemas.microsoft.com/office/drawing/2014/main" id="{F0E2D69C-0909-49A8-BACA-3FD4C5361E89}"/>
              </a:ext>
            </a:extLst>
          </p:cNvPr>
          <p:cNvSpPr>
            <a:spLocks xmlns:a="http://schemas.openxmlformats.org/drawingml/2006/main" noGrp="1"/>
          </p:cNvSpPr>
          <p:nvPr/>
        </p:nvSpPr>
        <p:spPr>
          <a:xfrm xmlns:a="http://schemas.openxmlformats.org/drawingml/2006/main">
            <a:off x="822960" y="2276856"/>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4F28648-FDBC-48D6-8367-D968DA1EDFE9}"/>
              </a:ext>
            </a:extLst>
          </p:cNvPr>
          <p:cNvSpPr>
            <a:spLocks xmlns:a="http://schemas.openxmlformats.org/drawingml/2006/main" noGrp="1"/>
          </p:cNvSpPr>
          <p:nvPr/>
        </p:nvSpPr>
        <p:spPr>
          <a:xfrm xmlns:a="http://schemas.openxmlformats.org/drawingml/2006/main">
            <a:off x="996696" y="21488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Current executed query sizes: 3, 8, and 78 genes.</a:t>
            </a:r>
          </a:p>
        </p:txBody>
      </p:sp>
      <p:sp>
        <p:nvSpPr>
          <p:cNvPr id="9" name="Oval 8">
            <a:extLst xmlns:a="http://schemas.openxmlformats.org/drawingml/2006/main">
              <a:ext uri="{FF2B5EF4-FFF2-40B4-BE49-F238E27FC236}">
                <a16:creationId xmlns:a16="http://schemas.microsoft.com/office/drawing/2014/main" id="{87C553DE-F15C-4338-9F1B-F8B4FF5A8880}"/>
              </a:ext>
            </a:extLst>
          </p:cNvPr>
          <p:cNvSpPr>
            <a:spLocks xmlns:a="http://schemas.openxmlformats.org/drawingml/2006/main" noGrp="1"/>
          </p:cNvSpPr>
          <p:nvPr/>
        </p:nvSpPr>
        <p:spPr>
          <a:xfrm xmlns:a="http://schemas.openxmlformats.org/drawingml/2006/main">
            <a:off x="822960" y="2962656"/>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623ED30C-E19C-44B5-AC2D-1AA197B9E97A}"/>
              </a:ext>
            </a:extLst>
          </p:cNvPr>
          <p:cNvSpPr>
            <a:spLocks xmlns:a="http://schemas.openxmlformats.org/drawingml/2006/main" noGrp="1"/>
          </p:cNvSpPr>
          <p:nvPr/>
        </p:nvSpPr>
        <p:spPr>
          <a:xfrm xmlns:a="http://schemas.openxmlformats.org/drawingml/2006/main">
            <a:off x="996696" y="28346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5 removes OPCs × F_e4: 9 driver rows.</a:t>
            </a:r>
          </a:p>
        </p:txBody>
      </p:sp>
      <p:sp>
        <p:nvSpPr>
          <p:cNvPr id="11" name="Oval 10">
            <a:extLst xmlns:a="http://schemas.openxmlformats.org/drawingml/2006/main">
              <a:ext uri="{FF2B5EF4-FFF2-40B4-BE49-F238E27FC236}">
                <a16:creationId xmlns:a16="http://schemas.microsoft.com/office/drawing/2014/main" id="{D5535587-2405-4EFD-ACA9-BE6BEFF55BB9}"/>
              </a:ext>
            </a:extLst>
          </p:cNvPr>
          <p:cNvSpPr>
            <a:spLocks xmlns:a="http://schemas.openxmlformats.org/drawingml/2006/main" noGrp="1"/>
          </p:cNvSpPr>
          <p:nvPr/>
        </p:nvSpPr>
        <p:spPr>
          <a:xfrm xmlns:a="http://schemas.openxmlformats.org/drawingml/2006/main">
            <a:off x="822960" y="3648456"/>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0FFB377-CFAB-4245-809A-47D9DD159CBA}"/>
              </a:ext>
            </a:extLst>
          </p:cNvPr>
          <p:cNvSpPr>
            <a:spLocks xmlns:a="http://schemas.openxmlformats.org/drawingml/2006/main" noGrp="1"/>
          </p:cNvSpPr>
          <p:nvPr/>
        </p:nvSpPr>
        <p:spPr>
          <a:xfrm xmlns:a="http://schemas.openxmlformats.org/drawingml/2006/main">
            <a:off x="996696" y="35204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10 also removes Astrocytes × F_e4: 4 more rows; thresholds 20 and 30 make no further change.</a:t>
            </a:r>
          </a:p>
        </p:txBody>
      </p:sp>
      <p:sp>
        <p:nvSpPr>
          <p:cNvPr id="13" name="Oval 12">
            <a:extLst xmlns:a="http://schemas.openxmlformats.org/drawingml/2006/main">
              <a:ext uri="{FF2B5EF4-FFF2-40B4-BE49-F238E27FC236}">
                <a16:creationId xmlns:a16="http://schemas.microsoft.com/office/drawing/2014/main" id="{0C990DB7-448A-4173-A175-5204336581FB}"/>
              </a:ext>
            </a:extLst>
          </p:cNvPr>
          <p:cNvSpPr>
            <a:spLocks xmlns:a="http://schemas.openxmlformats.org/drawingml/2006/main" noGrp="1"/>
          </p:cNvSpPr>
          <p:nvPr/>
        </p:nvSpPr>
        <p:spPr>
          <a:xfrm xmlns:a="http://schemas.openxmlformats.org/drawingml/2006/main">
            <a:off x="822960" y="4334255"/>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0A25A188-67C0-4708-9EBE-32F947AB2111}"/>
              </a:ext>
            </a:extLst>
          </p:cNvPr>
          <p:cNvSpPr>
            <a:spLocks xmlns:a="http://schemas.openxmlformats.org/drawingml/2006/main" noGrp="1"/>
          </p:cNvSpPr>
          <p:nvPr/>
        </p:nvSpPr>
        <p:spPr>
          <a:xfrm xmlns:a="http://schemas.openxmlformats.org/drawingml/2006/main">
            <a:off x="996696" y="42062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At ≥10, only the low-support Vasculature × M_e2 call remains: 26 rows and 20 unique non-MT drivers.</a:t>
            </a:r>
          </a:p>
        </p:txBody>
      </p:sp>
      <p:sp>
        <p:nvSpPr>
          <p:cNvPr id="15" name="Rounded Rectangle 14">
            <a:extLst xmlns:a="http://schemas.openxmlformats.org/drawingml/2006/main">
              <a:ext uri="{FF2B5EF4-FFF2-40B4-BE49-F238E27FC236}">
                <a16:creationId xmlns:a16="http://schemas.microsoft.com/office/drawing/2014/main" id="{A0A9E3D7-B52B-453D-9E9D-7A7E5FF94D8B}"/>
              </a:ext>
            </a:extLst>
          </p:cNvPr>
          <p:cNvSpPr>
            <a:spLocks xmlns:a="http://schemas.openxmlformats.org/drawingml/2006/main" noGrp="1"/>
          </p:cNvSpPr>
          <p:nvPr/>
        </p:nvSpPr>
        <p:spPr>
          <a:xfrm xmlns:a="http://schemas.openxmlformats.org/drawingml/2006/main">
            <a:off x="822960" y="5102352"/>
            <a:ext cx="4828032"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2656F1E4-97E9-4654-8779-562BAF5FFB8A}"/>
              </a:ext>
            </a:extLst>
          </p:cNvPr>
          <p:cNvSpPr>
            <a:spLocks xmlns:a="http://schemas.openxmlformats.org/drawingml/2006/main" noGrp="1"/>
          </p:cNvSpPr>
          <p:nvPr/>
        </p:nvSpPr>
        <p:spPr>
          <a:xfrm xmlns:a="http://schemas.openxmlformats.org/drawingml/2006/main">
            <a:off x="987552" y="5230368"/>
            <a:ext cx="449884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90" b="1" i="0">
                <a:solidFill>
                  <a:srgbClr val="9E3A00"/>
                </a:solidFill>
                <a:latin typeface="Arial"/>
                <a:ea typeface="Arial"/>
                <a:cs typeface="Arial"/>
              </a:rPr>
              <a:t>A higher query floor increases domination by the low-donor vasculature result.</a:t>
            </a:r>
          </a:p>
        </p:txBody>
      </p:sp>
      <p:sp>
        <p:nvSpPr>
          <p:cNvPr id="17" name="Rounded Rectangle 16">
            <a:extLst xmlns:a="http://schemas.openxmlformats.org/drawingml/2006/main">
              <a:ext uri="{FF2B5EF4-FFF2-40B4-BE49-F238E27FC236}">
                <a16:creationId xmlns:a16="http://schemas.microsoft.com/office/drawing/2014/main" id="{6BF95F09-A98D-4C46-B981-8FC5F5BF4BE6}"/>
              </a:ext>
            </a:extLst>
          </p:cNvPr>
          <p:cNvSpPr>
            <a:spLocks xmlns:a="http://schemas.openxmlformats.org/drawingml/2006/main" noGrp="1"/>
          </p:cNvSpPr>
          <p:nvPr/>
        </p:nvSpPr>
        <p:spPr>
          <a:xfrm xmlns:a="http://schemas.openxmlformats.org/drawingml/2006/main">
            <a:off x="6236208" y="1307592"/>
            <a:ext cx="5449824" cy="45537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Rectangle 17">
            <a:extLst xmlns:a="http://schemas.openxmlformats.org/drawingml/2006/main">
              <a:ext uri="{FF2B5EF4-FFF2-40B4-BE49-F238E27FC236}">
                <a16:creationId xmlns:a16="http://schemas.microsoft.com/office/drawing/2014/main" id="{5FF8A6FF-C90A-4B6B-B6E9-64E158351E2E}"/>
              </a:ext>
            </a:extLst>
          </p:cNvPr>
          <p:cNvSpPr>
            <a:spLocks xmlns:a="http://schemas.openxmlformats.org/drawingml/2006/main" noGrp="1"/>
          </p:cNvSpPr>
          <p:nvPr/>
        </p:nvSpPr>
        <p:spPr>
          <a:xfrm xmlns:a="http://schemas.openxmlformats.org/drawingml/2006/main">
            <a:off x="6537960" y="1600200"/>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8B63E41-8CF5-40D3-884D-7A160DE38A8A}"/>
              </a:ext>
            </a:extLst>
          </p:cNvPr>
          <p:cNvSpPr>
            <a:spLocks xmlns:a="http://schemas.openxmlformats.org/drawingml/2006/main" noGrp="1"/>
          </p:cNvSpPr>
          <p:nvPr/>
        </p:nvSpPr>
        <p:spPr>
          <a:xfrm xmlns:a="http://schemas.openxmlformats.org/drawingml/2006/main">
            <a:off x="6684264" y="1572768"/>
            <a:ext cx="470001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SEA-AD</a:t>
            </a:r>
          </a:p>
        </p:txBody>
      </p:sp>
      <p:sp>
        <p:nvSpPr>
          <p:cNvPr id="20" name="Oval 19">
            <a:extLst xmlns:a="http://schemas.openxmlformats.org/drawingml/2006/main">
              <a:ext uri="{FF2B5EF4-FFF2-40B4-BE49-F238E27FC236}">
                <a16:creationId xmlns:a16="http://schemas.microsoft.com/office/drawing/2014/main" id="{757AED1A-3849-4EEA-AAF3-76C47271ACD0}"/>
              </a:ext>
            </a:extLst>
          </p:cNvPr>
          <p:cNvSpPr>
            <a:spLocks xmlns:a="http://schemas.openxmlformats.org/drawingml/2006/main" noGrp="1"/>
          </p:cNvSpPr>
          <p:nvPr/>
        </p:nvSpPr>
        <p:spPr>
          <a:xfrm xmlns:a="http://schemas.openxmlformats.org/drawingml/2006/main">
            <a:off x="6556248" y="227685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A6B1CF2-4779-4DB9-A331-D87F938851DC}"/>
              </a:ext>
            </a:extLst>
          </p:cNvPr>
          <p:cNvSpPr>
            <a:spLocks xmlns:a="http://schemas.openxmlformats.org/drawingml/2006/main" noGrp="1"/>
          </p:cNvSpPr>
          <p:nvPr/>
        </p:nvSpPr>
        <p:spPr>
          <a:xfrm xmlns:a="http://schemas.openxmlformats.org/drawingml/2006/main">
            <a:off x="6729984" y="21488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Current executed query sizes: 5, 9, 21, 43, and 45 genes.</a:t>
            </a:r>
          </a:p>
        </p:txBody>
      </p:sp>
      <p:sp>
        <p:nvSpPr>
          <p:cNvPr id="22" name="Oval 21">
            <a:extLst xmlns:a="http://schemas.openxmlformats.org/drawingml/2006/main">
              <a:ext uri="{FF2B5EF4-FFF2-40B4-BE49-F238E27FC236}">
                <a16:creationId xmlns:a16="http://schemas.microsoft.com/office/drawing/2014/main" id="{E3C9BDB4-C631-48CF-885D-1C3DB78A0503}"/>
              </a:ext>
            </a:extLst>
          </p:cNvPr>
          <p:cNvSpPr>
            <a:spLocks xmlns:a="http://schemas.openxmlformats.org/drawingml/2006/main" noGrp="1"/>
          </p:cNvSpPr>
          <p:nvPr/>
        </p:nvSpPr>
        <p:spPr>
          <a:xfrm xmlns:a="http://schemas.openxmlformats.org/drawingml/2006/main">
            <a:off x="6556248" y="296265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264091AD-A59A-469A-A4FC-21734DD4EDA5}"/>
              </a:ext>
            </a:extLst>
          </p:cNvPr>
          <p:cNvSpPr>
            <a:spLocks xmlns:a="http://schemas.openxmlformats.org/drawingml/2006/main" noGrp="1"/>
          </p:cNvSpPr>
          <p:nvPr/>
        </p:nvSpPr>
        <p:spPr>
          <a:xfrm xmlns:a="http://schemas.openxmlformats.org/drawingml/2006/main">
            <a:off x="6729984" y="28346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5 changes nothing.</a:t>
            </a:r>
          </a:p>
        </p:txBody>
      </p:sp>
      <p:sp>
        <p:nvSpPr>
          <p:cNvPr id="24" name="Oval 23">
            <a:extLst xmlns:a="http://schemas.openxmlformats.org/drawingml/2006/main">
              <a:ext uri="{FF2B5EF4-FFF2-40B4-BE49-F238E27FC236}">
                <a16:creationId xmlns:a16="http://schemas.microsoft.com/office/drawing/2014/main" id="{1299D460-8499-4A92-8F1F-7D42F18E4D8D}"/>
              </a:ext>
            </a:extLst>
          </p:cNvPr>
          <p:cNvSpPr>
            <a:spLocks xmlns:a="http://schemas.openxmlformats.org/drawingml/2006/main" noGrp="1"/>
          </p:cNvSpPr>
          <p:nvPr/>
        </p:nvSpPr>
        <p:spPr>
          <a:xfrm xmlns:a="http://schemas.openxmlformats.org/drawingml/2006/main">
            <a:off x="6556248" y="3648456"/>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7DFB561-BD63-45A7-8257-070D21EBDC6E}"/>
              </a:ext>
            </a:extLst>
          </p:cNvPr>
          <p:cNvSpPr>
            <a:spLocks xmlns:a="http://schemas.openxmlformats.org/drawingml/2006/main" noGrp="1"/>
          </p:cNvSpPr>
          <p:nvPr/>
        </p:nvSpPr>
        <p:spPr>
          <a:xfrm xmlns:a="http://schemas.openxmlformats.org/drawingml/2006/main">
            <a:off x="6729984" y="35204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10 removes Microglia × M_e33 and Astrocytes × F_e4: 24 → 8 rows and 18 → 3 unique non-MT drivers.</a:t>
            </a:r>
          </a:p>
        </p:txBody>
      </p:sp>
      <p:sp>
        <p:nvSpPr>
          <p:cNvPr id="26" name="Oval 25">
            <a:extLst xmlns:a="http://schemas.openxmlformats.org/drawingml/2006/main">
              <a:ext uri="{FF2B5EF4-FFF2-40B4-BE49-F238E27FC236}">
                <a16:creationId xmlns:a16="http://schemas.microsoft.com/office/drawing/2014/main" id="{2E13B9CA-B7CD-481C-AD01-00EB7A400D34}"/>
              </a:ext>
            </a:extLst>
          </p:cNvPr>
          <p:cNvSpPr>
            <a:spLocks xmlns:a="http://schemas.openxmlformats.org/drawingml/2006/main" noGrp="1"/>
          </p:cNvSpPr>
          <p:nvPr/>
        </p:nvSpPr>
        <p:spPr>
          <a:xfrm xmlns:a="http://schemas.openxmlformats.org/drawingml/2006/main">
            <a:off x="6556248" y="4334255"/>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7EF7E134-9599-461E-ABD6-081165AABE01}"/>
              </a:ext>
            </a:extLst>
          </p:cNvPr>
          <p:cNvSpPr>
            <a:spLocks xmlns:a="http://schemas.openxmlformats.org/drawingml/2006/main" noGrp="1"/>
          </p:cNvSpPr>
          <p:nvPr/>
        </p:nvSpPr>
        <p:spPr>
          <a:xfrm xmlns:a="http://schemas.openxmlformats.org/drawingml/2006/main">
            <a:off x="6729984" y="4206240"/>
            <a:ext cx="4553712" cy="6858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70" b="0" i="0">
                <a:solidFill>
                  <a:srgbClr val="1F2730"/>
                </a:solidFill>
                <a:latin typeface="Arial"/>
                <a:ea typeface="Arial"/>
                <a:cs typeface="Arial"/>
              </a:rPr>
              <a:t>Minimum 20 changes nothing further; minimum 30 removes Oligodendrocytes × M_e33, whose sole return is MT-*.</a:t>
            </a:r>
          </a:p>
        </p:txBody>
      </p:sp>
      <p:sp>
        <p:nvSpPr>
          <p:cNvPr id="28" name="Rounded Rectangle 27">
            <a:extLst xmlns:a="http://schemas.openxmlformats.org/drawingml/2006/main">
              <a:ext uri="{FF2B5EF4-FFF2-40B4-BE49-F238E27FC236}">
                <a16:creationId xmlns:a16="http://schemas.microsoft.com/office/drawing/2014/main" id="{A22678DE-800F-4254-9C18-3439C8C97CB9}"/>
              </a:ext>
            </a:extLst>
          </p:cNvPr>
          <p:cNvSpPr>
            <a:spLocks xmlns:a="http://schemas.openxmlformats.org/drawingml/2006/main" noGrp="1"/>
          </p:cNvSpPr>
          <p:nvPr/>
        </p:nvSpPr>
        <p:spPr>
          <a:xfrm xmlns:a="http://schemas.openxmlformats.org/drawingml/2006/main">
            <a:off x="6556248" y="5102352"/>
            <a:ext cx="4828032"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B67F2240-3E3A-4D90-83E9-DB10AAD115E8}"/>
              </a:ext>
            </a:extLst>
          </p:cNvPr>
          <p:cNvSpPr>
            <a:spLocks xmlns:a="http://schemas.openxmlformats.org/drawingml/2006/main" noGrp="1"/>
          </p:cNvSpPr>
          <p:nvPr/>
        </p:nvSpPr>
        <p:spPr>
          <a:xfrm xmlns:a="http://schemas.openxmlformats.org/drawingml/2006/main">
            <a:off x="6720840" y="5230368"/>
            <a:ext cx="4498848" cy="2286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90" b="1" i="0">
                <a:solidFill>
                  <a:srgbClr val="00684D"/>
                </a:solidFill>
                <a:latin typeface="Arial"/>
                <a:ea typeface="Arial"/>
                <a:cs typeface="Arial"/>
              </a:rPr>
              <a:t>The non-MT driver count reaches 3 at minimum 10 and stays there through 30.</a:t>
            </a:r>
          </a:p>
        </p:txBody>
      </p:sp>
      <p:sp>
        <p:nvSpPr>
          <p:cNvPr id="30" name="TextBox 29">
            <a:extLst xmlns:a="http://schemas.openxmlformats.org/drawingml/2006/main">
              <a:ext uri="{FF2B5EF4-FFF2-40B4-BE49-F238E27FC236}">
                <a16:creationId xmlns:a16="http://schemas.microsoft.com/office/drawing/2014/main" id="{9BDF0613-AC92-49E0-8F4F-B025EE89769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90187376"/>
      </p:ext>
    </p:extLst>
  </p:cSld>
</p:sld>
</file>

<file path=ppt/slides/slide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2731036-4FFC-4F91-9FF2-26D11A6ECFAD}"/>
              </a:ext>
            </a:extLst>
          </p:cNvPr>
          <p:cNvSpPr>
            <a:spLocks xmlns:a="http://schemas.openxmlformats.org/drawingml/2006/main" noGrp="1"/>
          </p:cNvSpPr>
          <p:nvPr/>
        </p:nvSpPr>
        <p:spPr>
          <a:xfrm xmlns:a="http://schemas.openxmlformats.org/drawingml/2006/main">
            <a:off x="530352" y="411480"/>
            <a:ext cx="10652760"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450" b="1" i="0">
                <a:solidFill>
                  <a:srgbClr val="0F233D"/>
                </a:solidFill>
                <a:latin typeface="Arial"/>
                <a:ea typeface="Arial"/>
                <a:cs typeface="Arial"/>
              </a:rPr>
              <a:t>Query-size sensitivity — validation interpretation</a:t>
            </a:r>
          </a:p>
        </p:txBody>
      </p:sp>
      <p:sp>
        <p:nvSpPr>
          <p:cNvPr id="3" name="TextBox 2">
            <a:extLst xmlns:a="http://schemas.openxmlformats.org/drawingml/2006/main">
              <a:ext uri="{FF2B5EF4-FFF2-40B4-BE49-F238E27FC236}">
                <a16:creationId xmlns:a16="http://schemas.microsoft.com/office/drawing/2014/main" id="{D62C39FD-4DA3-4A57-9177-DFA36F2AAA38}"/>
              </a:ext>
            </a:extLst>
          </p:cNvPr>
          <p:cNvSpPr>
            <a:spLocks xmlns:a="http://schemas.openxmlformats.org/drawingml/2006/main" noGrp="1"/>
          </p:cNvSpPr>
          <p:nvPr/>
        </p:nvSpPr>
        <p:spPr>
          <a:xfrm xmlns:a="http://schemas.openxmlformats.org/drawingml/2006/main">
            <a:off x="548640" y="886968"/>
            <a:ext cx="1056132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20" b="0" i="0">
                <a:solidFill>
                  <a:srgbClr val="4E5A68"/>
                </a:solidFill>
                <a:latin typeface="Arial"/>
                <a:ea typeface="Arial"/>
                <a:cs typeface="Arial"/>
              </a:rPr>
              <a:t>The query floor changes assessability, but it does not create cross-cohort driver validation.</a:t>
            </a:r>
          </a:p>
        </p:txBody>
      </p:sp>
      <p:sp>
        <p:nvSpPr>
          <p:cNvPr id="4" name="Rounded Rectangle 3">
            <a:extLst xmlns:a="http://schemas.openxmlformats.org/drawingml/2006/main">
              <a:ext uri="{FF2B5EF4-FFF2-40B4-BE49-F238E27FC236}">
                <a16:creationId xmlns:a16="http://schemas.microsoft.com/office/drawing/2014/main" id="{DAA28129-9BD7-47B6-95F8-1B07BD5E692D}"/>
              </a:ext>
            </a:extLst>
          </p:cNvPr>
          <p:cNvSpPr>
            <a:spLocks xmlns:a="http://schemas.openxmlformats.org/drawingml/2006/main" noGrp="1"/>
          </p:cNvSpPr>
          <p:nvPr/>
        </p:nvSpPr>
        <p:spPr>
          <a:xfrm xmlns:a="http://schemas.openxmlformats.org/drawingml/2006/main">
            <a:off x="658368" y="1325880"/>
            <a:ext cx="10881360" cy="352958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48640B9-5DD0-44AC-8449-495D2DA6F1C7}"/>
              </a:ext>
            </a:extLst>
          </p:cNvPr>
          <p:cNvSpPr>
            <a:spLocks xmlns:a="http://schemas.openxmlformats.org/drawingml/2006/main" noGrp="1"/>
          </p:cNvSpPr>
          <p:nvPr/>
        </p:nvSpPr>
        <p:spPr>
          <a:xfrm xmlns:a="http://schemas.openxmlformats.org/drawingml/2006/main">
            <a:off x="960120" y="1609344"/>
            <a:ext cx="2926080"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19" b="1" i="0">
                <a:solidFill>
                  <a:srgbClr val="0072B2"/>
                </a:solidFill>
                <a:latin typeface="Arial"/>
                <a:ea typeface="Arial"/>
                <a:cs typeface="Arial"/>
              </a:rPr>
              <a:t>VALIDATION CONSEQUENCES</a:t>
            </a:r>
          </a:p>
        </p:txBody>
      </p:sp>
      <p:sp>
        <p:nvSpPr>
          <p:cNvPr id="6" name="Oval 5">
            <a:extLst xmlns:a="http://schemas.openxmlformats.org/drawingml/2006/main">
              <a:ext uri="{FF2B5EF4-FFF2-40B4-BE49-F238E27FC236}">
                <a16:creationId xmlns:a16="http://schemas.microsoft.com/office/drawing/2014/main" id="{E7AD175D-F44B-4DBD-AC94-B8E42AA5F7BC}"/>
              </a:ext>
            </a:extLst>
          </p:cNvPr>
          <p:cNvSpPr>
            <a:spLocks xmlns:a="http://schemas.openxmlformats.org/drawingml/2006/main" noGrp="1"/>
          </p:cNvSpPr>
          <p:nvPr/>
        </p:nvSpPr>
        <p:spPr>
          <a:xfrm xmlns:a="http://schemas.openxmlformats.org/drawingml/2006/main">
            <a:off x="960120" y="2139696"/>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0B5477AB-962A-4E60-AF5F-3B9DA47CB453}"/>
              </a:ext>
            </a:extLst>
          </p:cNvPr>
          <p:cNvSpPr>
            <a:spLocks xmlns:a="http://schemas.openxmlformats.org/drawingml/2006/main" noGrp="1"/>
          </p:cNvSpPr>
          <p:nvPr/>
        </p:nvSpPr>
        <p:spPr>
          <a:xfrm xmlns:a="http://schemas.openxmlformats.org/drawingml/2006/main">
            <a:off x="1133856" y="2011680"/>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Cross-cohort non-MT driver overlap remains zero at every tested threshold.</a:t>
            </a:r>
          </a:p>
        </p:txBody>
      </p:sp>
      <p:sp>
        <p:nvSpPr>
          <p:cNvPr id="8" name="Oval 7">
            <a:extLst xmlns:a="http://schemas.openxmlformats.org/drawingml/2006/main">
              <a:ext uri="{FF2B5EF4-FFF2-40B4-BE49-F238E27FC236}">
                <a16:creationId xmlns:a16="http://schemas.microsoft.com/office/drawing/2014/main" id="{0501F2F9-81F1-4E04-BDD8-9B2D5258750E}"/>
              </a:ext>
            </a:extLst>
          </p:cNvPr>
          <p:cNvSpPr>
            <a:spLocks xmlns:a="http://schemas.openxmlformats.org/drawingml/2006/main" noGrp="1"/>
          </p:cNvSpPr>
          <p:nvPr/>
        </p:nvSpPr>
        <p:spPr>
          <a:xfrm xmlns:a="http://schemas.openxmlformats.org/drawingml/2006/main">
            <a:off x="960120" y="2798064"/>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587782B-22A2-4B58-9C5D-7DB981CBB690}"/>
              </a:ext>
            </a:extLst>
          </p:cNvPr>
          <p:cNvSpPr>
            <a:spLocks xmlns:a="http://schemas.openxmlformats.org/drawingml/2006/main" noGrp="1"/>
          </p:cNvSpPr>
          <p:nvPr/>
        </p:nvSpPr>
        <p:spPr>
          <a:xfrm xmlns:a="http://schemas.openxmlformats.org/drawingml/2006/main">
            <a:off x="1133856" y="2670048"/>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At minimum 3 or 5, Astrocytes × F_e4 remains the only exact shared executed stratum, with no shared drivers.</a:t>
            </a:r>
          </a:p>
        </p:txBody>
      </p:sp>
      <p:sp>
        <p:nvSpPr>
          <p:cNvPr id="10" name="Oval 9">
            <a:extLst xmlns:a="http://schemas.openxmlformats.org/drawingml/2006/main">
              <a:ext uri="{FF2B5EF4-FFF2-40B4-BE49-F238E27FC236}">
                <a16:creationId xmlns:a16="http://schemas.microsoft.com/office/drawing/2014/main" id="{0985D27D-B823-4F63-850A-8BB2A8DCA8BF}"/>
              </a:ext>
            </a:extLst>
          </p:cNvPr>
          <p:cNvSpPr>
            <a:spLocks xmlns:a="http://schemas.openxmlformats.org/drawingml/2006/main" noGrp="1"/>
          </p:cNvSpPr>
          <p:nvPr/>
        </p:nvSpPr>
        <p:spPr>
          <a:xfrm xmlns:a="http://schemas.openxmlformats.org/drawingml/2006/main">
            <a:off x="960120" y="3456432"/>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7681996-84B2-4DE4-9FE2-4A7287F67C67}"/>
              </a:ext>
            </a:extLst>
          </p:cNvPr>
          <p:cNvSpPr>
            <a:spLocks xmlns:a="http://schemas.openxmlformats.org/drawingml/2006/main" noGrp="1"/>
          </p:cNvSpPr>
          <p:nvPr/>
        </p:nvSpPr>
        <p:spPr>
          <a:xfrm xmlns:a="http://schemas.openxmlformats.org/drawingml/2006/main">
            <a:off x="1133856" y="3328415"/>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At minimum 10, 20, or 30, no exact stratum is executed in both cohorts; validation is unavailable rather than negative.</a:t>
            </a:r>
          </a:p>
        </p:txBody>
      </p:sp>
      <p:sp>
        <p:nvSpPr>
          <p:cNvPr id="12" name="Oval 11">
            <a:extLst xmlns:a="http://schemas.openxmlformats.org/drawingml/2006/main">
              <a:ext uri="{FF2B5EF4-FFF2-40B4-BE49-F238E27FC236}">
                <a16:creationId xmlns:a16="http://schemas.microsoft.com/office/drawing/2014/main" id="{4AD3A0FC-67E5-45D2-BE48-99351E6AC8C0}"/>
              </a:ext>
            </a:extLst>
          </p:cNvPr>
          <p:cNvSpPr>
            <a:spLocks xmlns:a="http://schemas.openxmlformats.org/drawingml/2006/main" noGrp="1"/>
          </p:cNvSpPr>
          <p:nvPr/>
        </p:nvSpPr>
        <p:spPr>
          <a:xfrm xmlns:a="http://schemas.openxmlformats.org/drawingml/2006/main">
            <a:off x="960120" y="4114799"/>
            <a:ext cx="77724" cy="7772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04D3795-30FE-4634-B674-CCD9391C98B4}"/>
              </a:ext>
            </a:extLst>
          </p:cNvPr>
          <p:cNvSpPr>
            <a:spLocks xmlns:a="http://schemas.openxmlformats.org/drawingml/2006/main" noGrp="1"/>
          </p:cNvSpPr>
          <p:nvPr/>
        </p:nvSpPr>
        <p:spPr>
          <a:xfrm xmlns:a="http://schemas.openxmlformats.org/drawingml/2006/main">
            <a:off x="1133856" y="3986783"/>
            <a:ext cx="9838944"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400" b="0" i="0">
                <a:solidFill>
                  <a:srgbClr val="1F2730"/>
                </a:solidFill>
                <a:latin typeface="Arial"/>
                <a:ea typeface="Arial"/>
                <a:cs typeface="Arial"/>
              </a:rPr>
              <a:t>Thresholds ≥10 reduce validation assessability and make ROSMAP increasingly dominated by the low-support Vasculature × M_e2 call.</a:t>
            </a:r>
          </a:p>
        </p:txBody>
      </p:sp>
      <p:sp>
        <p:nvSpPr>
          <p:cNvPr id="14" name="Rounded Rectangle 13">
            <a:extLst xmlns:a="http://schemas.openxmlformats.org/drawingml/2006/main">
              <a:ext uri="{FF2B5EF4-FFF2-40B4-BE49-F238E27FC236}">
                <a16:creationId xmlns:a16="http://schemas.microsoft.com/office/drawing/2014/main" id="{C0B90091-304E-4D9D-8AF2-8727270FB4C8}"/>
              </a:ext>
            </a:extLst>
          </p:cNvPr>
          <p:cNvSpPr>
            <a:spLocks xmlns:a="http://schemas.openxmlformats.org/drawingml/2006/main" noGrp="1"/>
          </p:cNvSpPr>
          <p:nvPr/>
        </p:nvSpPr>
        <p:spPr>
          <a:xfrm xmlns:a="http://schemas.openxmlformats.org/drawingml/2006/main">
            <a:off x="658368" y="5138928"/>
            <a:ext cx="10881360" cy="77724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E616050-8935-4902-BB75-1283A4204EB3}"/>
              </a:ext>
            </a:extLst>
          </p:cNvPr>
          <p:cNvSpPr>
            <a:spLocks xmlns:a="http://schemas.openxmlformats.org/drawingml/2006/main" noGrp="1"/>
          </p:cNvSpPr>
          <p:nvPr/>
        </p:nvSpPr>
        <p:spPr>
          <a:xfrm xmlns:a="http://schemas.openxmlformats.org/drawingml/2006/main">
            <a:off x="914400" y="5340096"/>
            <a:ext cx="10369296"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Least disruptive sensitivity reference: minimum 5 effective query genes</a:t>
            </a:r>
          </a:p>
        </p:txBody>
      </p:sp>
      <p:sp>
        <p:nvSpPr>
          <p:cNvPr id="16" name="TextBox 15">
            <a:extLst xmlns:a="http://schemas.openxmlformats.org/drawingml/2006/main">
              <a:ext uri="{FF2B5EF4-FFF2-40B4-BE49-F238E27FC236}">
                <a16:creationId xmlns:a16="http://schemas.microsoft.com/office/drawing/2014/main" id="{440544A2-27EB-4A8D-90F7-2971FFD5C50A}"/>
              </a:ext>
            </a:extLst>
          </p:cNvPr>
          <p:cNvSpPr>
            <a:spLocks xmlns:a="http://schemas.openxmlformats.org/drawingml/2006/main" noGrp="1"/>
          </p:cNvSpPr>
          <p:nvPr/>
        </p:nvSpPr>
        <p:spPr>
          <a:xfrm xmlns:a="http://schemas.openxmlformats.org/drawingml/2006/main">
            <a:off x="914400" y="5632704"/>
            <a:ext cx="10369296" cy="1828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940" b="0" i="0">
                <a:solidFill>
                  <a:srgbClr val="895600"/>
                </a:solidFill>
                <a:latin typeface="Arial"/>
                <a:ea typeface="Arial"/>
                <a:cs typeface="Arial"/>
              </a:rPr>
              <a:t>It removes the smallest ROSMAP query while preserving every SEA-AD run and the only matched cross-cohort stratum.</a:t>
            </a:r>
          </a:p>
        </p:txBody>
      </p:sp>
      <p:sp>
        <p:nvSpPr>
          <p:cNvPr id="17" name="TextBox 16">
            <a:extLst xmlns:a="http://schemas.openxmlformats.org/drawingml/2006/main">
              <a:ext uri="{FF2B5EF4-FFF2-40B4-BE49-F238E27FC236}">
                <a16:creationId xmlns:a16="http://schemas.microsoft.com/office/drawing/2014/main" id="{129137BB-0E41-4AAD-9940-B1D85B14547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670" b="0" i="0">
                <a:solidFill>
                  <a:srgbClr val="6C7988"/>
                </a:solidFill>
                <a:latin typeface="Arial"/>
                <a:ea typeface="Arial"/>
                <a:cs typeface="Arial"/>
              </a:rPr>
              <a:t>Source: validated Phase 22 and VH14 run manifests and significant-return tables (2026-09-11).</a:t>
            </a:r>
          </a:p>
        </p:txBody>
      </p:sp>
    </p:spTree>
    <p:extLst>
      <p:ext uri="{BB962C8B-B14F-4D97-AF65-F5344CB8AC3E}">
        <p14:creationId xmlns:p14="http://schemas.microsoft.com/office/powerpoint/2010/main" val="1095739359"/>
      </p:ext>
    </p:extLst>
  </p:cSld>
</p:sld>
</file>

<file path=ppt/slides/slide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3" name="TextBox 2">
            <a:extLst xmlns:a="http://schemas.openxmlformats.org/drawingml/2006/main">
              <a:ext uri="{FF2B5EF4-FFF2-40B4-BE49-F238E27FC236}">
                <a16:creationId xmlns:a16="http://schemas.microsoft.com/office/drawing/2014/main" id="{CEED15BB-A501-7FB7-FD95-303970C34A77}"/>
              </a:ext>
            </a:extLst>
          </p:cNvPr>
          <p:cNvSpPr>
            <a:spLocks xmlns:a="http://schemas.openxmlformats.org/drawingml/2006/main" noGrp="1"/>
          </p:cNvSpPr>
          <p:nvPr/>
        </p:nvSpPr>
        <p:spPr>
          <a:xfrm xmlns:a="http://schemas.openxmlformats.org/drawingml/2006/main">
            <a:off x="713232" y="1438906"/>
            <a:ext cx="10287000" cy="5786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r>
              <a:rPr sz="3400" b="1">
                <a:solidFill>
                  <a:srgbClr val="FFFFFF"/>
                </a:solidFill>
                <a:latin typeface="Arial"/>
                <a:ea typeface="Arial"/>
                <a:cs typeface="Arial"/>
              </a:rPr>
              <a:t>Findings and discussions</a:t>
            </a:r>
            <a:endParaRPr sz="2000" b="1">
              <a:solidFill>
                <a:srgbClr val="FFFFFF"/>
              </a:solidFill>
              <a:latin typeface="Arial"/>
              <a:ea typeface="Arial"/>
              <a:cs typeface="Arial"/>
            </a:endParaRPr>
          </a:p>
        </p:txBody>
      </p:sp>
      <p:sp>
        <p:nvSpPr>
          <p:cNvPr id="2" name="TextBox 1">
            <a:extLst xmlns:a="http://schemas.openxmlformats.org/drawingml/2006/main">
              <a:ext uri="{FF2B5EF4-FFF2-40B4-BE49-F238E27FC236}">
                <a16:creationId xmlns:a16="http://schemas.microsoft.com/office/drawing/2014/main" id="{21E95D6F-12BB-832F-CD3D-727DAFEFB6A8}"/>
              </a:ext>
            </a:extLst>
          </p:cNvPr>
          <p:cNvSpPr>
            <a:spLocks xmlns:a="http://schemas.openxmlformats.org/drawingml/2006/main" noGrp="1"/>
          </p:cNvSpPr>
          <p:nvPr/>
        </p:nvSpPr>
        <p:spPr>
          <a:xfrm xmlns:a="http://schemas.openxmlformats.org/drawingml/2006/main">
            <a:off x="713232" y="612648"/>
            <a:ext cx="219456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72B2"/>
                </a:solidFill>
                <a:latin typeface="Arial"/>
                <a:ea typeface="Arial"/>
                <a:cs typeface="Arial"/>
              </a:rPr>
              <a:t>PART 1</a:t>
            </a:r>
          </a:p>
        </p:txBody>
      </p:sp>
    </p:spTree>
    <p:extLst>
      <p:ext uri="{BB962C8B-B14F-4D97-AF65-F5344CB8AC3E}">
        <p14:creationId xmlns:p14="http://schemas.microsoft.com/office/powerpoint/2010/main" val="686704019"/>
      </p:ext>
    </p:extLst>
  </p:cSld>
</p:sld>
</file>

<file path=ppt/slides/slide43.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2EAEA5C-C8A9-4613-8C0C-F852EA9F568B}"/>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a:t>
            </a:r>
          </a:p>
        </p:txBody>
      </p:sp>
      <p:sp>
        <p:nvSpPr>
          <p:cNvPr id="3" name="Rectangle 2">
            <a:extLst xmlns:a="http://schemas.openxmlformats.org/drawingml/2006/main">
              <a:ext uri="{FF2B5EF4-FFF2-40B4-BE49-F238E27FC236}">
                <a16:creationId xmlns:a16="http://schemas.microsoft.com/office/drawing/2014/main" id="{3B5CE9DA-02F6-45CB-82B1-5B51626912F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F2C82376-515E-4BC4-AB74-CDB0A113DFE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FFFFFF"/>
                </a:solidFill>
                <a:latin typeface="Arial"/>
                <a:ea typeface="Arial"/>
                <a:cs typeface="Arial"/>
              </a:rPr>
              <a:t>Female APOE ε3/ε3 excitatory neurons show a reproducible mtDNA-OXPHOS increase</a:t>
            </a:r>
          </a:p>
        </p:txBody>
      </p:sp>
      <p:sp>
        <p:nvSpPr>
          <p:cNvPr id="5" name="TextBox 4">
            <a:extLst xmlns:a="http://schemas.openxmlformats.org/drawingml/2006/main">
              <a:ext uri="{FF2B5EF4-FFF2-40B4-BE49-F238E27FC236}">
                <a16:creationId xmlns:a16="http://schemas.microsoft.com/office/drawing/2014/main" id="{ABD64F1D-6D65-4657-8920-B21C23BC4133}"/>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A mitochondrial DEG-program finding, not an identified upstream key driver.</a:t>
            </a:r>
          </a:p>
        </p:txBody>
      </p:sp>
      <p:sp>
        <p:nvSpPr>
          <p:cNvPr id="6" name="Rounded Rectangle 5">
            <a:extLst xmlns:a="http://schemas.openxmlformats.org/drawingml/2006/main">
              <a:ext uri="{FF2B5EF4-FFF2-40B4-BE49-F238E27FC236}">
                <a16:creationId xmlns:a16="http://schemas.microsoft.com/office/drawing/2014/main" id="{34E0ABAC-67E4-40F8-9669-78A49DD79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F94795F-DBCB-4875-AB3A-F194EC1F06F1}"/>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D54CAFC9-5CFB-41BD-BDA0-EF2426297699}"/>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B93F141-862A-46A7-8709-1CD099813C3D}"/>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86E4D91-2C00-493D-807F-3794CDCD150B}"/>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0750FA47-1898-4838-BE6A-74C319AE052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ED5175-98F8-43D7-8773-283594ABBDE3}"/>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2133B16D-F51E-4BE2-BBD2-081AF8E3C22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222AAAA-C164-425B-9350-3F447103C87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9078990-BE1C-48B0-A6B8-29581B7E1CAA}"/>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F6663891-7441-48F4-B939-1E71CD727891}"/>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xmlns:a="http://schemas.openxmlformats.org/drawingml/2006/main">
              <a:ext uri="{FF2B5EF4-FFF2-40B4-BE49-F238E27FC236}">
                <a16:creationId xmlns:a16="http://schemas.microsoft.com/office/drawing/2014/main" id="{80EBB8DB-43E2-4F2A-97AF-E1463B5EFB2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90F30C7-B84D-4FB0-A4DE-1A5FC5698B4E}"/>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787F9A3-3CAD-449B-AA09-9C76EAFDB58E}"/>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85323ECB-521C-4237-AF84-44BE8F32CD4D}"/>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B802350-BEC6-48F2-870F-29D8C0D5C40A}"/>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SEA-AD can support the same biological pattern without matching the exact key driver.</a:t>
            </a:r>
          </a:p>
        </p:txBody>
      </p:sp>
    </p:spTree>
    <p:extLst>
      <p:ext uri="{BB962C8B-B14F-4D97-AF65-F5344CB8AC3E}">
        <p14:creationId xmlns:p14="http://schemas.microsoft.com/office/powerpoint/2010/main" val="425918138"/>
      </p:ext>
    </p:extLst>
  </p:cSld>
</p:sld>
</file>

<file path=ppt/slides/slide4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044F1F-1ABD-4D0A-8F0B-681D66C1A91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Female ε3/ε3 cells (especially excitatory neurons) raise mtDNA energy-gene RNA in AD</a:t>
            </a:r>
          </a:p>
        </p:txBody>
      </p:sp>
      <p:sp>
        <p:nvSpPr>
          <p:cNvPr id="3" name="TextBox 2">
            <a:extLst xmlns:a="http://schemas.openxmlformats.org/drawingml/2006/main">
              <a:ext uri="{FF2B5EF4-FFF2-40B4-BE49-F238E27FC236}">
                <a16:creationId xmlns:a16="http://schemas.microsoft.com/office/drawing/2014/main" id="{515E76ED-6A59-406E-8089-417BDE580C2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result is repeated across ROSMAP calls and receives program-level support from SEA-AD.</a:t>
            </a:r>
          </a:p>
        </p:txBody>
      </p:sp>
      <p:sp>
        <p:nvSpPr>
          <p:cNvPr id="4" name="Rounded Rectangle 3">
            <a:extLst xmlns:a="http://schemas.openxmlformats.org/drawingml/2006/main">
              <a:ext uri="{FF2B5EF4-FFF2-40B4-BE49-F238E27FC236}">
                <a16:creationId xmlns:a16="http://schemas.microsoft.com/office/drawing/2014/main" id="{AA4AC83A-3FBC-485B-880B-B5B0458B8079}"/>
              </a:ext>
            </a:extLst>
          </p:cNvPr>
          <p:cNvSpPr>
            <a:spLocks xmlns:a="http://schemas.openxmlformats.org/drawingml/2006/main" noGrp="1"/>
          </p:cNvSpPr>
          <p:nvPr/>
        </p:nvSpPr>
        <p:spPr>
          <a:xfrm xmlns:a="http://schemas.openxmlformats.org/drawingml/2006/main">
            <a:off x="1024128" y="1353312"/>
            <a:ext cx="1920240"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27D5D64-ED97-4494-BE56-EBEEE62CD4D0}"/>
              </a:ext>
            </a:extLst>
          </p:cNvPr>
          <p:cNvSpPr>
            <a:spLocks xmlns:a="http://schemas.openxmlformats.org/drawingml/2006/main" noGrp="1"/>
          </p:cNvSpPr>
          <p:nvPr/>
        </p:nvSpPr>
        <p:spPr>
          <a:xfrm xmlns:a="http://schemas.openxmlformats.org/drawingml/2006/main">
            <a:off x="1115568" y="1453896"/>
            <a:ext cx="173736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D0B0C734-01ED-475F-B954-0FE60F88F2C2}"/>
              </a:ext>
            </a:extLst>
          </p:cNvPr>
          <p:cNvSpPr>
            <a:spLocks xmlns:a="http://schemas.openxmlformats.org/drawingml/2006/main" noGrp="1"/>
          </p:cNvSpPr>
          <p:nvPr/>
        </p:nvSpPr>
        <p:spPr>
          <a:xfrm xmlns:a="http://schemas.openxmlformats.org/drawingml/2006/main">
            <a:off x="3218688" y="1353312"/>
            <a:ext cx="2212848"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85DC248-7CF2-4975-9306-53F576C3A3F3}"/>
              </a:ext>
            </a:extLst>
          </p:cNvPr>
          <p:cNvSpPr>
            <a:spLocks xmlns:a="http://schemas.openxmlformats.org/drawingml/2006/main" noGrp="1"/>
          </p:cNvSpPr>
          <p:nvPr/>
        </p:nvSpPr>
        <p:spPr>
          <a:xfrm xmlns:a="http://schemas.openxmlformats.org/drawingml/2006/main">
            <a:off x="3310128" y="1453896"/>
            <a:ext cx="202996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xmlns:a="http://schemas.openxmlformats.org/drawingml/2006/main">
              <a:ext uri="{FF2B5EF4-FFF2-40B4-BE49-F238E27FC236}">
                <a16:creationId xmlns:a16="http://schemas.microsoft.com/office/drawing/2014/main" id="{3AB56433-6330-4E5B-A03A-0D04DD099496}"/>
              </a:ext>
            </a:extLst>
          </p:cNvPr>
          <p:cNvSpPr>
            <a:spLocks xmlns:a="http://schemas.openxmlformats.org/drawingml/2006/main" noGrp="1"/>
          </p:cNvSpPr>
          <p:nvPr/>
        </p:nvSpPr>
        <p:spPr>
          <a:xfrm xmlns:a="http://schemas.openxmlformats.org/drawingml/2006/main">
            <a:off x="5705856" y="1353312"/>
            <a:ext cx="2432304"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2A1115-4137-4A36-A46A-41F40755B622}"/>
              </a:ext>
            </a:extLst>
          </p:cNvPr>
          <p:cNvSpPr>
            <a:spLocks xmlns:a="http://schemas.openxmlformats.org/drawingml/2006/main" noGrp="1"/>
          </p:cNvSpPr>
          <p:nvPr/>
        </p:nvSpPr>
        <p:spPr>
          <a:xfrm xmlns:a="http://schemas.openxmlformats.org/drawingml/2006/main">
            <a:off x="5797296" y="1453896"/>
            <a:ext cx="2249424"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895600"/>
                </a:solidFill>
                <a:latin typeface="Arial"/>
                <a:ea typeface="Arial"/>
                <a:cs typeface="Arial"/>
              </a:rPr>
              <a:t>Excitatory neurons</a:t>
            </a:r>
          </a:p>
        </p:txBody>
      </p:sp>
      <p:sp>
        <p:nvSpPr>
          <p:cNvPr id="10" name="Rounded Rectangle 9">
            <a:extLst xmlns:a="http://schemas.openxmlformats.org/drawingml/2006/main">
              <a:ext uri="{FF2B5EF4-FFF2-40B4-BE49-F238E27FC236}">
                <a16:creationId xmlns:a16="http://schemas.microsoft.com/office/drawing/2014/main" id="{574799C2-CF17-459D-91E9-70B819B78EB9}"/>
              </a:ext>
            </a:extLst>
          </p:cNvPr>
          <p:cNvSpPr>
            <a:spLocks xmlns:a="http://schemas.openxmlformats.org/drawingml/2006/main" noGrp="1"/>
          </p:cNvSpPr>
          <p:nvPr/>
        </p:nvSpPr>
        <p:spPr>
          <a:xfrm xmlns:a="http://schemas.openxmlformats.org/drawingml/2006/main">
            <a:off x="8412480" y="1353312"/>
            <a:ext cx="2578608"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0D7B8DD-CD91-47E6-9973-24078DC4CF8B}"/>
              </a:ext>
            </a:extLst>
          </p:cNvPr>
          <p:cNvSpPr>
            <a:spLocks xmlns:a="http://schemas.openxmlformats.org/drawingml/2006/main" noGrp="1"/>
          </p:cNvSpPr>
          <p:nvPr/>
        </p:nvSpPr>
        <p:spPr>
          <a:xfrm xmlns:a="http://schemas.openxmlformats.org/drawingml/2006/main">
            <a:off x="8503919" y="1453896"/>
            <a:ext cx="239572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xmlns:a="http://schemas.openxmlformats.org/drawingml/2006/main">
              <a:ext uri="{FF2B5EF4-FFF2-40B4-BE49-F238E27FC236}">
                <a16:creationId xmlns:a16="http://schemas.microsoft.com/office/drawing/2014/main" id="{6B01C44E-8A6D-4ACD-B5B0-6312A120CBC1}"/>
              </a:ext>
            </a:extLst>
          </p:cNvPr>
          <p:cNvSpPr>
            <a:spLocks xmlns:a="http://schemas.openxmlformats.org/drawingml/2006/main" noGrp="1"/>
          </p:cNvSpPr>
          <p:nvPr/>
        </p:nvSpPr>
        <p:spPr>
          <a:xfrm xmlns:a="http://schemas.openxmlformats.org/drawingml/2006/main">
            <a:off x="749808" y="2066543"/>
            <a:ext cx="10698480" cy="283464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F36BA67-ED29-41BE-BD84-B18FABE2CA22}"/>
              </a:ext>
            </a:extLst>
          </p:cNvPr>
          <p:cNvSpPr>
            <a:spLocks xmlns:a="http://schemas.openxmlformats.org/drawingml/2006/main" noGrp="1"/>
          </p:cNvSpPr>
          <p:nvPr/>
        </p:nvSpPr>
        <p:spPr>
          <a:xfrm xmlns:a="http://schemas.openxmlformats.org/drawingml/2006/main">
            <a:off x="1115568" y="2532888"/>
            <a:ext cx="3017520"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B808481D-718F-4842-807C-5AA9E803C37D}"/>
              </a:ext>
            </a:extLst>
          </p:cNvPr>
          <p:cNvSpPr>
            <a:spLocks xmlns:a="http://schemas.openxmlformats.org/drawingml/2006/main" noGrp="1"/>
          </p:cNvSpPr>
          <p:nvPr/>
        </p:nvSpPr>
        <p:spPr>
          <a:xfrm xmlns:a="http://schemas.openxmlformats.org/drawingml/2006/main">
            <a:off x="1115568" y="3108960"/>
            <a:ext cx="3017520"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1F2730"/>
                </a:solidFill>
                <a:latin typeface="Arial"/>
                <a:ea typeface="Arial"/>
                <a:cs typeface="Arial"/>
              </a:rPr>
              <a:t>makes RNA instructions
for OXPHOS parts</a:t>
            </a:r>
          </a:p>
        </p:txBody>
      </p:sp>
      <p:sp>
        <p:nvSpPr>
          <p:cNvPr id="15" name="TextBox 14">
            <a:extLst xmlns:a="http://schemas.openxmlformats.org/drawingml/2006/main">
              <a:ext uri="{FF2B5EF4-FFF2-40B4-BE49-F238E27FC236}">
                <a16:creationId xmlns:a16="http://schemas.microsoft.com/office/drawing/2014/main" id="{34A38E06-808B-4DBC-84B7-B0DCCCE65514}"/>
              </a:ext>
            </a:extLst>
          </p:cNvPr>
          <p:cNvSpPr>
            <a:spLocks xmlns:a="http://schemas.openxmlformats.org/drawingml/2006/main" noGrp="1"/>
          </p:cNvSpPr>
          <p:nvPr/>
        </p:nvSpPr>
        <p:spPr>
          <a:xfrm xmlns:a="http://schemas.openxmlformats.org/drawingml/2006/main">
            <a:off x="4590288" y="2880360"/>
            <a:ext cx="914400" cy="6766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3400" b="1" i="0">
                <a:solidFill>
                  <a:srgbClr val="0072B2"/>
                </a:solidFill>
                <a:latin typeface="Arial"/>
                <a:ea typeface="Arial"/>
                <a:cs typeface="Arial"/>
              </a:rPr>
              <a:t>→</a:t>
            </a:r>
          </a:p>
        </p:txBody>
      </p:sp>
      <p:sp>
        <p:nvSpPr>
          <p:cNvPr id="16" name="TextBox 15">
            <a:extLst xmlns:a="http://schemas.openxmlformats.org/drawingml/2006/main">
              <a:ext uri="{FF2B5EF4-FFF2-40B4-BE49-F238E27FC236}">
                <a16:creationId xmlns:a16="http://schemas.microsoft.com/office/drawing/2014/main" id="{C07D0BB6-E278-4ED9-873F-178358A80ED7}"/>
              </a:ext>
            </a:extLst>
          </p:cNvPr>
          <p:cNvSpPr>
            <a:spLocks xmlns:a="http://schemas.openxmlformats.org/drawingml/2006/main" noGrp="1"/>
          </p:cNvSpPr>
          <p:nvPr/>
        </p:nvSpPr>
        <p:spPr>
          <a:xfrm xmlns:a="http://schemas.openxmlformats.org/drawingml/2006/main">
            <a:off x="5833872" y="2532888"/>
            <a:ext cx="2926080"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RNA abundance</a:t>
            </a:r>
          </a:p>
        </p:txBody>
      </p:sp>
      <p:sp>
        <p:nvSpPr>
          <p:cNvPr id="17" name="TextBox 16">
            <a:extLst xmlns:a="http://schemas.openxmlformats.org/drawingml/2006/main">
              <a:ext uri="{FF2B5EF4-FFF2-40B4-BE49-F238E27FC236}">
                <a16:creationId xmlns:a16="http://schemas.microsoft.com/office/drawing/2014/main" id="{FB189D88-BC57-415E-BBA7-B40A4B0E74B3}"/>
              </a:ext>
            </a:extLst>
          </p:cNvPr>
          <p:cNvSpPr>
            <a:spLocks xmlns:a="http://schemas.openxmlformats.org/drawingml/2006/main" noGrp="1"/>
          </p:cNvSpPr>
          <p:nvPr/>
        </p:nvSpPr>
        <p:spPr>
          <a:xfrm xmlns:a="http://schemas.openxmlformats.org/drawingml/2006/main">
            <a:off x="8887968" y="2587752"/>
            <a:ext cx="1133856" cy="11521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5200" b="1" i="0">
                <a:solidFill>
                  <a:srgbClr val="00684D"/>
                </a:solidFill>
                <a:latin typeface="Arial"/>
                <a:ea typeface="Arial"/>
                <a:cs typeface="Arial"/>
              </a:rPr>
              <a:t>↑</a:t>
            </a:r>
          </a:p>
        </p:txBody>
      </p:sp>
      <p:sp>
        <p:nvSpPr>
          <p:cNvPr id="18" name="TextBox 17">
            <a:extLst xmlns:a="http://schemas.openxmlformats.org/drawingml/2006/main">
              <a:ext uri="{FF2B5EF4-FFF2-40B4-BE49-F238E27FC236}">
                <a16:creationId xmlns:a16="http://schemas.microsoft.com/office/drawing/2014/main" id="{B59759B8-2C33-455B-AA6A-ADCAEDC593E8}"/>
              </a:ext>
            </a:extLst>
          </p:cNvPr>
          <p:cNvSpPr>
            <a:spLocks xmlns:a="http://schemas.openxmlformats.org/drawingml/2006/main" noGrp="1"/>
          </p:cNvSpPr>
          <p:nvPr/>
        </p:nvSpPr>
        <p:spPr>
          <a:xfrm xmlns:a="http://schemas.openxmlformats.org/drawingml/2006/main">
            <a:off x="5596128" y="3136392"/>
            <a:ext cx="3401568"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80" b="1" i="0">
                <a:solidFill>
                  <a:srgbClr val="1F2730"/>
                </a:solidFill>
                <a:latin typeface="Arial"/>
                <a:ea typeface="Arial"/>
                <a:cs typeface="Arial"/>
              </a:rPr>
              <a:t>more mtDNA-OXPHOS RNA
in AD than in the comparison group</a:t>
            </a:r>
          </a:p>
        </p:txBody>
      </p:sp>
      <p:sp>
        <p:nvSpPr>
          <p:cNvPr id="19" name="Rounded Rectangle 18">
            <a:extLst xmlns:a="http://schemas.openxmlformats.org/drawingml/2006/main">
              <a:ext uri="{FF2B5EF4-FFF2-40B4-BE49-F238E27FC236}">
                <a16:creationId xmlns:a16="http://schemas.microsoft.com/office/drawing/2014/main" id="{DF0611BE-3342-4FDE-A989-60D2197AE405}"/>
              </a:ext>
            </a:extLst>
          </p:cNvPr>
          <p:cNvSpPr>
            <a:spLocks xmlns:a="http://schemas.openxmlformats.org/drawingml/2006/main" noGrp="1"/>
          </p:cNvSpPr>
          <p:nvPr/>
        </p:nvSpPr>
        <p:spPr>
          <a:xfrm xmlns:a="http://schemas.openxmlformats.org/drawingml/2006/main">
            <a:off x="749808" y="5230368"/>
            <a:ext cx="10698480" cy="69494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167EC3F6-1DCC-4C95-8C82-A4F04FD76544}"/>
              </a:ext>
            </a:extLst>
          </p:cNvPr>
          <p:cNvSpPr>
            <a:spLocks xmlns:a="http://schemas.openxmlformats.org/drawingml/2006/main" noGrp="1"/>
          </p:cNvSpPr>
          <p:nvPr/>
        </p:nvSpPr>
        <p:spPr>
          <a:xfrm xmlns:a="http://schemas.openxmlformats.org/drawingml/2006/main">
            <a:off x="987552" y="5431536"/>
            <a:ext cx="102229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7E4C9A"/>
                </a:solidFill>
                <a:latin typeface="Arial"/>
                <a:ea typeface="Arial"/>
                <a:cs typeface="Arial"/>
              </a:rPr>
              <a:t>Plain meaning: the cells make more RNA instructions for mitochondrial energy-system parts.</a:t>
            </a:r>
          </a:p>
        </p:txBody>
      </p:sp>
      <p:sp>
        <p:nvSpPr>
          <p:cNvPr id="21" name="TextBox 20">
            <a:extLst xmlns:a="http://schemas.openxmlformats.org/drawingml/2006/main">
              <a:ext uri="{FF2B5EF4-FFF2-40B4-BE49-F238E27FC236}">
                <a16:creationId xmlns:a16="http://schemas.microsoft.com/office/drawing/2014/main" id="{BEA1B3FE-0204-468E-B285-5C23BE91433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Finding 1 synthesis; ROSMAP discovery with supplemental SEA-AD program support.</a:t>
            </a:r>
          </a:p>
        </p:txBody>
      </p:sp>
    </p:spTree>
    <p:extLst>
      <p:ext uri="{BB962C8B-B14F-4D97-AF65-F5344CB8AC3E}">
        <p14:creationId xmlns:p14="http://schemas.microsoft.com/office/powerpoint/2010/main" val="1892964177"/>
      </p:ext>
    </p:extLst>
  </p:cSld>
</p:sld>
</file>

<file path=ppt/slides/slide4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9A384A-7A4A-4863-A573-B5BF9F11190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the female ε3/ε3 mtDNA-OXPHOS signal is consistently AD-up</a:t>
            </a:r>
          </a:p>
        </p:txBody>
      </p:sp>
      <p:sp>
        <p:nvSpPr>
          <p:cNvPr id="4" name="Rounded Rectangle 3">
            <a:extLst xmlns:a="http://schemas.openxmlformats.org/drawingml/2006/main">
              <a:ext uri="{FF2B5EF4-FFF2-40B4-BE49-F238E27FC236}">
                <a16:creationId xmlns:a16="http://schemas.microsoft.com/office/drawing/2014/main" id="{ECBBD7C1-5CD4-4521-8FF3-D64CCD516E5C}"/>
              </a:ext>
            </a:extLst>
          </p:cNvPr>
          <p:cNvSpPr>
            <a:spLocks xmlns:a="http://schemas.openxmlformats.org/drawingml/2006/main" noGrp="1"/>
          </p:cNvSpPr>
          <p:nvPr/>
        </p:nvSpPr>
        <p:spPr>
          <a:xfrm xmlns:a="http://schemas.openxmlformats.org/drawingml/2006/main">
            <a:off x="658368" y="2402699"/>
            <a:ext cx="10881360" cy="11338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7C5A574-BC49-484D-9EE8-4581842795EE}"/>
              </a:ext>
            </a:extLst>
          </p:cNvPr>
          <p:cNvSpPr>
            <a:spLocks xmlns:a="http://schemas.openxmlformats.org/drawingml/2006/main" noGrp="1"/>
          </p:cNvSpPr>
          <p:nvPr/>
        </p:nvSpPr>
        <p:spPr>
          <a:xfrm xmlns:a="http://schemas.openxmlformats.org/drawingml/2006/main">
            <a:off x="3730752" y="2688342"/>
            <a:ext cx="4809744"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000" b="1" i="0">
                <a:solidFill>
                  <a:srgbClr val="0072B2"/>
                </a:solidFill>
                <a:latin typeface="Arial"/>
                <a:ea typeface="Arial"/>
                <a:cs typeface="Arial"/>
              </a:rPr>
              <a:t>217 / 217 mtDNA-OXPHOS occurrences were AD-up</a:t>
            </a:r>
          </a:p>
        </p:txBody>
      </p:sp>
      <p:sp>
        <p:nvSpPr>
          <p:cNvPr id="7" name="TextBox 6">
            <a:extLst xmlns:a="http://schemas.openxmlformats.org/drawingml/2006/main">
              <a:ext uri="{FF2B5EF4-FFF2-40B4-BE49-F238E27FC236}">
                <a16:creationId xmlns:a16="http://schemas.microsoft.com/office/drawing/2014/main" id="{8557A361-83E3-46C3-9ED2-8824F70BA33C}"/>
              </a:ext>
            </a:extLst>
          </p:cNvPr>
          <p:cNvSpPr>
            <a:spLocks xmlns:a="http://schemas.openxmlformats.org/drawingml/2006/main" noGrp="1"/>
          </p:cNvSpPr>
          <p:nvPr/>
        </p:nvSpPr>
        <p:spPr>
          <a:xfrm xmlns:a="http://schemas.openxmlformats.org/drawingml/2006/main">
            <a:off x="8613648" y="2825940"/>
            <a:ext cx="2560320" cy="24006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4E5A68"/>
                </a:solidFill>
                <a:latin typeface="Arial"/>
                <a:ea typeface="Arial"/>
                <a:cs typeface="Arial"/>
              </a:rPr>
              <a:t>29 F_e33 input queries enriched</a:t>
            </a:r>
          </a:p>
        </p:txBody>
      </p:sp>
      <p:sp>
        <p:nvSpPr>
          <p:cNvPr id="8" name="Rectangle 7">
            <a:extLst xmlns:a="http://schemas.openxmlformats.org/drawingml/2006/main">
              <a:ext uri="{FF2B5EF4-FFF2-40B4-BE49-F238E27FC236}">
                <a16:creationId xmlns:a16="http://schemas.microsoft.com/office/drawing/2014/main" id="{DDFC3800-4C7F-4A91-8AB1-911E83C21F47}"/>
              </a:ext>
            </a:extLst>
          </p:cNvPr>
          <p:cNvSpPr>
            <a:spLocks xmlns:a="http://schemas.openxmlformats.org/drawingml/2006/main" noGrp="1"/>
          </p:cNvSpPr>
          <p:nvPr/>
        </p:nvSpPr>
        <p:spPr>
          <a:xfrm xmlns:a="http://schemas.openxmlformats.org/drawingml/2006/main">
            <a:off x="822960" y="3911459"/>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B033C06-FC81-48EB-A493-B65D6F687FB5}"/>
              </a:ext>
            </a:extLst>
          </p:cNvPr>
          <p:cNvSpPr>
            <a:spLocks xmlns:a="http://schemas.openxmlformats.org/drawingml/2006/main" noGrp="1"/>
          </p:cNvSpPr>
          <p:nvPr/>
        </p:nvSpPr>
        <p:spPr>
          <a:xfrm xmlns:a="http://schemas.openxmlformats.org/drawingml/2006/main">
            <a:off x="969264" y="3884027"/>
            <a:ext cx="10387584"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For </a:t>
            </a:r>
            <a:r>
              <a:rPr sz="1520" b="1">
                <a:solidFill>
                  <a:srgbClr val="0F233D"/>
                </a:solidFill>
                <a:latin typeface="Arial"/>
                <a:ea typeface="Arial"/>
                <a:cs typeface="Arial"/>
              </a:rPr>
              <a:t>e</a:t>
            </a:r>
            <a:r>
              <a:rPr sz="1520" b="1" i="0">
                <a:solidFill>
                  <a:srgbClr val="0F233D"/>
                </a:solidFill>
                <a:latin typeface="Arial"/>
                <a:ea typeface="Arial"/>
                <a:cs typeface="Arial"/>
              </a:rPr>
              <a:t>xcitatory-neuron only</a:t>
            </a:r>
          </a:p>
        </p:txBody>
      </p:sp>
      <p:sp>
        <p:nvSpPr>
          <p:cNvPr id="10" name="Rounded Rectangle 9">
            <a:extLst xmlns:a="http://schemas.openxmlformats.org/drawingml/2006/main">
              <a:ext uri="{FF2B5EF4-FFF2-40B4-BE49-F238E27FC236}">
                <a16:creationId xmlns:a16="http://schemas.microsoft.com/office/drawing/2014/main" id="{37072A8D-E6F1-4F46-A677-AF6EC3872EAF}"/>
              </a:ext>
            </a:extLst>
          </p:cNvPr>
          <p:cNvSpPr>
            <a:spLocks xmlns:a="http://schemas.openxmlformats.org/drawingml/2006/main" noGrp="1"/>
          </p:cNvSpPr>
          <p:nvPr/>
        </p:nvSpPr>
        <p:spPr>
          <a:xfrm xmlns:a="http://schemas.openxmlformats.org/drawingml/2006/main">
            <a:off x="822960" y="4432667"/>
            <a:ext cx="3255264"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940C169-80D6-4CCC-B256-D0096F52BA60}"/>
              </a:ext>
            </a:extLst>
          </p:cNvPr>
          <p:cNvSpPr>
            <a:spLocks xmlns:a="http://schemas.openxmlformats.org/drawingml/2006/main" noGrp="1"/>
          </p:cNvSpPr>
          <p:nvPr/>
        </p:nvSpPr>
        <p:spPr>
          <a:xfrm xmlns:a="http://schemas.openxmlformats.org/drawingml/2006/main">
            <a:off x="987552"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14</a:t>
            </a:r>
          </a:p>
        </p:txBody>
      </p:sp>
      <p:sp>
        <p:nvSpPr>
          <p:cNvPr id="12" name="TextBox 11">
            <a:extLst xmlns:a="http://schemas.openxmlformats.org/drawingml/2006/main">
              <a:ext uri="{FF2B5EF4-FFF2-40B4-BE49-F238E27FC236}">
                <a16:creationId xmlns:a16="http://schemas.microsoft.com/office/drawing/2014/main" id="{131575DD-DCF1-470C-AFD7-7261A2130067}"/>
              </a:ext>
            </a:extLst>
          </p:cNvPr>
          <p:cNvSpPr>
            <a:spLocks xmlns:a="http://schemas.openxmlformats.org/drawingml/2006/main" noGrp="1"/>
          </p:cNvSpPr>
          <p:nvPr/>
        </p:nvSpPr>
        <p:spPr>
          <a:xfrm xmlns:a="http://schemas.openxmlformats.org/drawingml/2006/main">
            <a:off x="987552" y="5091035"/>
            <a:ext cx="2926080" cy="21223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a:solidFill>
                  <a:srgbClr val="0F233D"/>
                </a:solidFill>
                <a:latin typeface="Arial"/>
                <a:ea typeface="Arial"/>
                <a:cs typeface="Arial"/>
              </a:rPr>
              <a:t>e</a:t>
            </a:r>
            <a:r>
              <a:rPr sz="1019" b="1" i="0">
                <a:solidFill>
                  <a:srgbClr val="0F233D"/>
                </a:solidFill>
                <a:latin typeface="Arial"/>
                <a:ea typeface="Arial"/>
                <a:cs typeface="Arial"/>
              </a:rPr>
              <a:t>ligible fine-cell DEG queries</a:t>
            </a:r>
          </a:p>
        </p:txBody>
      </p:sp>
      <p:sp>
        <p:nvSpPr>
          <p:cNvPr id="13" name="Rounded Rectangle 12">
            <a:extLst xmlns:a="http://schemas.openxmlformats.org/drawingml/2006/main">
              <a:ext uri="{FF2B5EF4-FFF2-40B4-BE49-F238E27FC236}">
                <a16:creationId xmlns:a16="http://schemas.microsoft.com/office/drawing/2014/main" id="{21900610-13B3-4EB5-B45E-381F8D68E466}"/>
              </a:ext>
            </a:extLst>
          </p:cNvPr>
          <p:cNvSpPr>
            <a:spLocks xmlns:a="http://schemas.openxmlformats.org/drawingml/2006/main" noGrp="1"/>
          </p:cNvSpPr>
          <p:nvPr/>
        </p:nvSpPr>
        <p:spPr>
          <a:xfrm xmlns:a="http://schemas.openxmlformats.org/drawingml/2006/main">
            <a:off x="4462272" y="4432667"/>
            <a:ext cx="3255264"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EE7BE3BB-092A-435E-AE34-69336CCD976C}"/>
              </a:ext>
            </a:extLst>
          </p:cNvPr>
          <p:cNvSpPr>
            <a:spLocks xmlns:a="http://schemas.openxmlformats.org/drawingml/2006/main" noGrp="1"/>
          </p:cNvSpPr>
          <p:nvPr/>
        </p:nvSpPr>
        <p:spPr>
          <a:xfrm xmlns:a="http://schemas.openxmlformats.org/drawingml/2006/main">
            <a:off x="4626864"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123</a:t>
            </a:r>
          </a:p>
        </p:txBody>
      </p:sp>
      <p:sp>
        <p:nvSpPr>
          <p:cNvPr id="15" name="TextBox 14">
            <a:extLst xmlns:a="http://schemas.openxmlformats.org/drawingml/2006/main">
              <a:ext uri="{FF2B5EF4-FFF2-40B4-BE49-F238E27FC236}">
                <a16:creationId xmlns:a16="http://schemas.microsoft.com/office/drawing/2014/main" id="{874B3382-6DE7-4669-98B0-2EBBCFE51CA5}"/>
              </a:ext>
            </a:extLst>
          </p:cNvPr>
          <p:cNvSpPr>
            <a:spLocks xmlns:a="http://schemas.openxmlformats.org/drawingml/2006/main" noGrp="1"/>
          </p:cNvSpPr>
          <p:nvPr/>
        </p:nvSpPr>
        <p:spPr>
          <a:xfrm xmlns:a="http://schemas.openxmlformats.org/drawingml/2006/main">
            <a:off x="4626864" y="5091035"/>
            <a:ext cx="2926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DEG occurrences</a:t>
            </a:r>
          </a:p>
        </p:txBody>
      </p:sp>
      <p:sp>
        <p:nvSpPr>
          <p:cNvPr id="16" name="Rounded Rectangle 15">
            <a:extLst xmlns:a="http://schemas.openxmlformats.org/drawingml/2006/main">
              <a:ext uri="{FF2B5EF4-FFF2-40B4-BE49-F238E27FC236}">
                <a16:creationId xmlns:a16="http://schemas.microsoft.com/office/drawing/2014/main" id="{7BEBD8D8-AA58-4FB9-8DE6-C310C2812410}"/>
              </a:ext>
            </a:extLst>
          </p:cNvPr>
          <p:cNvSpPr>
            <a:spLocks xmlns:a="http://schemas.openxmlformats.org/drawingml/2006/main" noGrp="1"/>
          </p:cNvSpPr>
          <p:nvPr/>
        </p:nvSpPr>
        <p:spPr>
          <a:xfrm xmlns:a="http://schemas.openxmlformats.org/drawingml/2006/main">
            <a:off x="8101583" y="4432667"/>
            <a:ext cx="3255264" cy="11430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A317F82-12DC-4FA1-A65A-735DF2578A27}"/>
              </a:ext>
            </a:extLst>
          </p:cNvPr>
          <p:cNvSpPr>
            <a:spLocks xmlns:a="http://schemas.openxmlformats.org/drawingml/2006/main" noGrp="1"/>
          </p:cNvSpPr>
          <p:nvPr/>
        </p:nvSpPr>
        <p:spPr>
          <a:xfrm xmlns:a="http://schemas.openxmlformats.org/drawingml/2006/main">
            <a:off x="8266175" y="4560683"/>
            <a:ext cx="2926080"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12/14</a:t>
            </a:r>
          </a:p>
        </p:txBody>
      </p:sp>
      <p:sp>
        <p:nvSpPr>
          <p:cNvPr id="18" name="TextBox 17">
            <a:extLst xmlns:a="http://schemas.openxmlformats.org/drawingml/2006/main">
              <a:ext uri="{FF2B5EF4-FFF2-40B4-BE49-F238E27FC236}">
                <a16:creationId xmlns:a16="http://schemas.microsoft.com/office/drawing/2014/main" id="{689B7B38-7AA5-4864-A93A-51C81459A594}"/>
              </a:ext>
            </a:extLst>
          </p:cNvPr>
          <p:cNvSpPr>
            <a:spLocks xmlns:a="http://schemas.openxmlformats.org/drawingml/2006/main" noGrp="1"/>
          </p:cNvSpPr>
          <p:nvPr/>
        </p:nvSpPr>
        <p:spPr>
          <a:xfrm xmlns:a="http://schemas.openxmlformats.org/drawingml/2006/main">
            <a:off x="8266175" y="5091035"/>
            <a:ext cx="292608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KDA input queries enriched</a:t>
            </a:r>
          </a:p>
        </p:txBody>
      </p:sp>
      <p:sp>
        <p:nvSpPr>
          <p:cNvPr id="19" name="Rounded Rectangle 18">
            <a:extLst xmlns:a="http://schemas.openxmlformats.org/drawingml/2006/main">
              <a:ext uri="{FF2B5EF4-FFF2-40B4-BE49-F238E27FC236}">
                <a16:creationId xmlns:a16="http://schemas.microsoft.com/office/drawing/2014/main" id="{111CC3A6-1B5D-4A64-8308-AD8C656EC246}"/>
              </a:ext>
            </a:extLst>
          </p:cNvPr>
          <p:cNvSpPr>
            <a:spLocks xmlns:a="http://schemas.openxmlformats.org/drawingml/2006/main" noGrp="1"/>
          </p:cNvSpPr>
          <p:nvPr/>
        </p:nvSpPr>
        <p:spPr>
          <a:xfrm xmlns:a="http://schemas.openxmlformats.org/drawingml/2006/main">
            <a:off x="822960" y="5880464"/>
            <a:ext cx="10533888" cy="60350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Rectangle 19">
            <a:extLst xmlns:a="http://schemas.openxmlformats.org/drawingml/2006/main">
              <a:ext uri="{FF2B5EF4-FFF2-40B4-BE49-F238E27FC236}">
                <a16:creationId xmlns:a16="http://schemas.microsoft.com/office/drawing/2014/main" id="{B9432BB9-196A-4B83-BF88-F362828F559D}"/>
              </a:ext>
            </a:extLst>
          </p:cNvPr>
          <p:cNvSpPr>
            <a:spLocks xmlns:a="http://schemas.openxmlformats.org/drawingml/2006/main" noGrp="1"/>
          </p:cNvSpPr>
          <p:nvPr/>
        </p:nvSpPr>
        <p:spPr>
          <a:xfrm xmlns:a="http://schemas.openxmlformats.org/drawingml/2006/main">
            <a:off x="1042415" y="6142595"/>
            <a:ext cx="8924544" cy="182880"/>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8F193D5-6095-4F4D-A363-B705B9523607}"/>
              </a:ext>
            </a:extLst>
          </p:cNvPr>
          <p:cNvSpPr>
            <a:spLocks xmlns:a="http://schemas.openxmlformats.org/drawingml/2006/main" noGrp="1"/>
          </p:cNvSpPr>
          <p:nvPr/>
        </p:nvSpPr>
        <p:spPr>
          <a:xfrm xmlns:a="http://schemas.openxmlformats.org/drawingml/2006/main">
            <a:off x="1042415" y="5895707"/>
            <a:ext cx="219456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00684D"/>
                </a:solidFill>
                <a:latin typeface="Arial"/>
                <a:ea typeface="Arial"/>
                <a:cs typeface="Arial"/>
              </a:rPr>
              <a:t>123 AD-up</a:t>
            </a:r>
          </a:p>
        </p:txBody>
      </p:sp>
      <p:sp>
        <p:nvSpPr>
          <p:cNvPr id="22" name="TextBox 21">
            <a:extLst xmlns:a="http://schemas.openxmlformats.org/drawingml/2006/main">
              <a:ext uri="{FF2B5EF4-FFF2-40B4-BE49-F238E27FC236}">
                <a16:creationId xmlns:a16="http://schemas.microsoft.com/office/drawing/2014/main" id="{C5F40C86-C6A3-4BF6-98A0-CD69CC071E4B}"/>
              </a:ext>
            </a:extLst>
          </p:cNvPr>
          <p:cNvSpPr>
            <a:spLocks xmlns:a="http://schemas.openxmlformats.org/drawingml/2006/main" noGrp="1"/>
          </p:cNvSpPr>
          <p:nvPr/>
        </p:nvSpPr>
        <p:spPr>
          <a:xfrm xmlns:a="http://schemas.openxmlformats.org/drawingml/2006/main">
            <a:off x="9948672" y="5895707"/>
            <a:ext cx="1133856"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50" b="1" i="0">
                <a:solidFill>
                  <a:srgbClr val="9E3A00"/>
                </a:solidFill>
                <a:latin typeface="Arial"/>
                <a:ea typeface="Arial"/>
                <a:cs typeface="Arial"/>
              </a:rPr>
              <a:t>0 AD-down</a:t>
            </a:r>
          </a:p>
        </p:txBody>
      </p:sp>
      <p:sp>
        <p:nvSpPr>
          <p:cNvPr id="23" name="Rounded Rectangle 22">
            <a:extLst xmlns:a="http://schemas.openxmlformats.org/drawingml/2006/main">
              <a:ext uri="{FF2B5EF4-FFF2-40B4-BE49-F238E27FC236}">
                <a16:creationId xmlns:a16="http://schemas.microsoft.com/office/drawing/2014/main" id="{7A26DA41-6A03-4CC9-BACC-DA751FFA8E7B}"/>
              </a:ext>
            </a:extLst>
          </p:cNvPr>
          <p:cNvSpPr>
            <a:spLocks xmlns:a="http://schemas.openxmlformats.org/drawingml/2006/main" noGrp="1"/>
          </p:cNvSpPr>
          <p:nvPr/>
        </p:nvSpPr>
        <p:spPr>
          <a:xfrm xmlns:a="http://schemas.openxmlformats.org/drawingml/2006/main">
            <a:off x="658368" y="1210479"/>
            <a:ext cx="10881360" cy="586527"/>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808A5551-66D5-4B83-AAA6-63525B06F404}"/>
              </a:ext>
            </a:extLst>
          </p:cNvPr>
          <p:cNvSpPr>
            <a:spLocks xmlns:a="http://schemas.openxmlformats.org/drawingml/2006/main" noGrp="1"/>
          </p:cNvSpPr>
          <p:nvPr/>
        </p:nvSpPr>
        <p:spPr>
          <a:xfrm xmlns:a="http://schemas.openxmlformats.org/drawingml/2006/main">
            <a:off x="1060704" y="1330657"/>
            <a:ext cx="10058400" cy="4247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FF0000"/>
                </a:solidFill>
                <a:latin typeface="Arial"/>
                <a:ea typeface="Arial"/>
                <a:cs typeface="Arial"/>
              </a:rPr>
              <a:t>Enriched</a:t>
            </a:r>
            <a:r>
              <a:rPr sz="1200" b="0" i="0">
                <a:solidFill>
                  <a:srgbClr val="4E5A68"/>
                </a:solidFill>
                <a:latin typeface="Arial"/>
                <a:ea typeface="Arial"/>
                <a:cs typeface="Arial"/>
              </a:rPr>
              <a:t> = more mtDNA-OXPHOS genes than expected by chance in the exact background (BH-adjusted P &lt; 0.05)</a:t>
            </a:r>
            <a:r>
              <a:rPr sz="1200">
                <a:solidFill>
                  <a:srgbClr val="4E5A68"/>
                </a:solidFill>
                <a:latin typeface="Arial"/>
                <a:ea typeface="Arial"/>
                <a:cs typeface="Arial"/>
              </a:rPr>
              <a:t>, test genes in input query to call_key_drivers().</a:t>
            </a:r>
            <a:endParaRPr sz="1200" b="0" i="0">
              <a:solidFill>
                <a:srgbClr val="4E5A68"/>
              </a:solidFill>
              <a:latin typeface="Arial"/>
              <a:ea typeface="Arial"/>
              <a:cs typeface="Arial"/>
            </a:endParaRPr>
          </a:p>
        </p:txBody>
      </p:sp>
      <p:sp>
        <p:nvSpPr>
          <p:cNvPr id="26" name="Rectangle 25">
            <a:extLst xmlns:a="http://schemas.openxmlformats.org/drawingml/2006/main">
              <a:ext uri="{FF2B5EF4-FFF2-40B4-BE49-F238E27FC236}">
                <a16:creationId xmlns:a16="http://schemas.microsoft.com/office/drawing/2014/main" id="{A3EE13A9-22D5-50A2-11CE-AB3CAD176957}"/>
              </a:ext>
            </a:extLst>
          </p:cNvPr>
          <p:cNvSpPr>
            <a:spLocks xmlns:a="http://schemas.openxmlformats.org/drawingml/2006/main" noGrp="1"/>
          </p:cNvSpPr>
          <p:nvPr/>
        </p:nvSpPr>
        <p:spPr>
          <a:xfrm xmlns:a="http://schemas.openxmlformats.org/drawingml/2006/main">
            <a:off x="809895" y="2008624"/>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15B8895-9C9B-00FA-D032-13DF052A1BD1}"/>
              </a:ext>
            </a:extLst>
          </p:cNvPr>
          <p:cNvSpPr>
            <a:spLocks xmlns:a="http://schemas.openxmlformats.org/drawingml/2006/main" noGrp="1"/>
          </p:cNvSpPr>
          <p:nvPr/>
        </p:nvSpPr>
        <p:spPr>
          <a:xfrm xmlns:a="http://schemas.openxmlformats.org/drawingml/2006/main">
            <a:off x="956199" y="1981192"/>
            <a:ext cx="10387584" cy="28931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For all eligible F_e33 calls</a:t>
            </a:r>
          </a:p>
        </p:txBody>
      </p:sp>
    </p:spTree>
    <p:extLst>
      <p:ext uri="{BB962C8B-B14F-4D97-AF65-F5344CB8AC3E}">
        <p14:creationId xmlns:p14="http://schemas.microsoft.com/office/powerpoint/2010/main" val="331932660"/>
      </p:ext>
    </p:extLst>
  </p:cSld>
</p:sld>
</file>

<file path=ppt/slides/slide4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6D2DCA-6440-4FC8-ADC6-70416DB822C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SEA-AD adds narrow but strong support for the excitatory-neuron program</a:t>
            </a:r>
          </a:p>
        </p:txBody>
      </p:sp>
      <p:sp>
        <p:nvSpPr>
          <p:cNvPr id="3" name="TextBox 2">
            <a:extLst xmlns:a="http://schemas.openxmlformats.org/drawingml/2006/main">
              <a:ext uri="{FF2B5EF4-FFF2-40B4-BE49-F238E27FC236}">
                <a16:creationId xmlns:a16="http://schemas.microsoft.com/office/drawing/2014/main" id="{57C75997-8929-4D69-A9F0-62952DF2C73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Only one matched female ε3/ε3 excitatory call was evaluable, so support is strong in direction but limited in coverage.</a:t>
            </a:r>
          </a:p>
        </p:txBody>
      </p:sp>
      <p:sp>
        <p:nvSpPr>
          <p:cNvPr id="4" name="Rounded Rectangle 3">
            <a:extLst xmlns:a="http://schemas.openxmlformats.org/drawingml/2006/main">
              <a:ext uri="{FF2B5EF4-FFF2-40B4-BE49-F238E27FC236}">
                <a16:creationId xmlns:a16="http://schemas.microsoft.com/office/drawing/2014/main" id="{8C4139BF-7618-4986-9D53-5EF567B29CD6}"/>
              </a:ext>
            </a:extLst>
          </p:cNvPr>
          <p:cNvSpPr>
            <a:spLocks xmlns:a="http://schemas.openxmlformats.org/drawingml/2006/main" noGrp="1"/>
          </p:cNvSpPr>
          <p:nvPr/>
        </p:nvSpPr>
        <p:spPr>
          <a:xfrm xmlns:a="http://schemas.openxmlformats.org/drawingml/2006/main">
            <a:off x="713232" y="1371600"/>
            <a:ext cx="3273552"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BE2FF06-B7A9-4AEC-9585-668D9E48A9C9}"/>
              </a:ext>
            </a:extLst>
          </p:cNvPr>
          <p:cNvSpPr>
            <a:spLocks xmlns:a="http://schemas.openxmlformats.org/drawingml/2006/main" noGrp="1"/>
          </p:cNvSpPr>
          <p:nvPr/>
        </p:nvSpPr>
        <p:spPr>
          <a:xfrm xmlns:a="http://schemas.openxmlformats.org/drawingml/2006/main">
            <a:off x="877824" y="1499616"/>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9/10</a:t>
            </a:r>
          </a:p>
        </p:txBody>
      </p:sp>
      <p:sp>
        <p:nvSpPr>
          <p:cNvPr id="6" name="TextBox 5">
            <a:extLst xmlns:a="http://schemas.openxmlformats.org/drawingml/2006/main">
              <a:ext uri="{FF2B5EF4-FFF2-40B4-BE49-F238E27FC236}">
                <a16:creationId xmlns:a16="http://schemas.microsoft.com/office/drawing/2014/main" id="{6BA52C5B-057E-49B8-8749-CCB6EA7832A8}"/>
              </a:ext>
            </a:extLst>
          </p:cNvPr>
          <p:cNvSpPr>
            <a:spLocks xmlns:a="http://schemas.openxmlformats.org/drawingml/2006/main" noGrp="1"/>
          </p:cNvSpPr>
          <p:nvPr/>
        </p:nvSpPr>
        <p:spPr>
          <a:xfrm xmlns:a="http://schemas.openxmlformats.org/drawingml/2006/main">
            <a:off x="877824" y="2029967"/>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SEA query genes are shared mtDNA-OXPHOS genes</a:t>
            </a:r>
          </a:p>
        </p:txBody>
      </p:sp>
      <p:sp>
        <p:nvSpPr>
          <p:cNvPr id="7" name="Rounded Rectangle 6">
            <a:extLst xmlns:a="http://schemas.openxmlformats.org/drawingml/2006/main">
              <a:ext uri="{FF2B5EF4-FFF2-40B4-BE49-F238E27FC236}">
                <a16:creationId xmlns:a16="http://schemas.microsoft.com/office/drawing/2014/main" id="{90943F31-8715-48FB-9D25-65D2570FE648}"/>
              </a:ext>
            </a:extLst>
          </p:cNvPr>
          <p:cNvSpPr>
            <a:spLocks xmlns:a="http://schemas.openxmlformats.org/drawingml/2006/main" noGrp="1"/>
          </p:cNvSpPr>
          <p:nvPr/>
        </p:nvSpPr>
        <p:spPr>
          <a:xfrm xmlns:a="http://schemas.openxmlformats.org/drawingml/2006/main">
            <a:off x="713232" y="2807208"/>
            <a:ext cx="3273552"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CECCD25-F81C-44BD-B1BE-6CCD007CCAFF}"/>
              </a:ext>
            </a:extLst>
          </p:cNvPr>
          <p:cNvSpPr>
            <a:spLocks xmlns:a="http://schemas.openxmlformats.org/drawingml/2006/main" noGrp="1"/>
          </p:cNvSpPr>
          <p:nvPr/>
        </p:nvSpPr>
        <p:spPr>
          <a:xfrm xmlns:a="http://schemas.openxmlformats.org/drawingml/2006/main">
            <a:off x="877824" y="2935224"/>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9/9</a:t>
            </a:r>
          </a:p>
        </p:txBody>
      </p:sp>
      <p:sp>
        <p:nvSpPr>
          <p:cNvPr id="9" name="TextBox 8">
            <a:extLst xmlns:a="http://schemas.openxmlformats.org/drawingml/2006/main">
              <a:ext uri="{FF2B5EF4-FFF2-40B4-BE49-F238E27FC236}">
                <a16:creationId xmlns:a16="http://schemas.microsoft.com/office/drawing/2014/main" id="{B2BC4AF6-22C0-4101-A1EC-194EF2F07DA1}"/>
              </a:ext>
            </a:extLst>
          </p:cNvPr>
          <p:cNvSpPr>
            <a:spLocks xmlns:a="http://schemas.openxmlformats.org/drawingml/2006/main" noGrp="1"/>
          </p:cNvSpPr>
          <p:nvPr/>
        </p:nvSpPr>
        <p:spPr>
          <a:xfrm xmlns:a="http://schemas.openxmlformats.org/drawingml/2006/main">
            <a:off x="877824" y="3465576"/>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genes are AD-up in both cohorts</a:t>
            </a:r>
          </a:p>
        </p:txBody>
      </p:sp>
      <p:sp>
        <p:nvSpPr>
          <p:cNvPr id="10" name="Rounded Rectangle 9">
            <a:extLst xmlns:a="http://schemas.openxmlformats.org/drawingml/2006/main">
              <a:ext uri="{FF2B5EF4-FFF2-40B4-BE49-F238E27FC236}">
                <a16:creationId xmlns:a16="http://schemas.microsoft.com/office/drawing/2014/main" id="{EAA86796-15D8-42E8-A625-E146CA6C3481}"/>
              </a:ext>
            </a:extLst>
          </p:cNvPr>
          <p:cNvSpPr>
            <a:spLocks xmlns:a="http://schemas.openxmlformats.org/drawingml/2006/main" noGrp="1"/>
          </p:cNvSpPr>
          <p:nvPr/>
        </p:nvSpPr>
        <p:spPr>
          <a:xfrm xmlns:a="http://schemas.openxmlformats.org/drawingml/2006/main">
            <a:off x="713232" y="4242816"/>
            <a:ext cx="327355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15DA7CE-911F-44E8-9A2F-474FE65548FF}"/>
              </a:ext>
            </a:extLst>
          </p:cNvPr>
          <p:cNvSpPr>
            <a:spLocks xmlns:a="http://schemas.openxmlformats.org/drawingml/2006/main" noGrp="1"/>
          </p:cNvSpPr>
          <p:nvPr/>
        </p:nvSpPr>
        <p:spPr>
          <a:xfrm xmlns:a="http://schemas.openxmlformats.org/drawingml/2006/main">
            <a:off x="877824" y="4370831"/>
            <a:ext cx="294436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BH = 0.005</a:t>
            </a:r>
          </a:p>
        </p:txBody>
      </p:sp>
      <p:sp>
        <p:nvSpPr>
          <p:cNvPr id="12" name="TextBox 11">
            <a:extLst xmlns:a="http://schemas.openxmlformats.org/drawingml/2006/main">
              <a:ext uri="{FF2B5EF4-FFF2-40B4-BE49-F238E27FC236}">
                <a16:creationId xmlns:a16="http://schemas.microsoft.com/office/drawing/2014/main" id="{9ADD6921-AD74-4B94-AB0A-D0B2CFFAC018}"/>
              </a:ext>
            </a:extLst>
          </p:cNvPr>
          <p:cNvSpPr>
            <a:spLocks xmlns:a="http://schemas.openxmlformats.org/drawingml/2006/main" noGrp="1"/>
          </p:cNvSpPr>
          <p:nvPr/>
        </p:nvSpPr>
        <p:spPr>
          <a:xfrm xmlns:a="http://schemas.openxmlformats.org/drawingml/2006/main">
            <a:off x="877824" y="4901183"/>
            <a:ext cx="294436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xmlns:a="http://schemas.openxmlformats.org/drawingml/2006/main">
              <a:ext uri="{FF2B5EF4-FFF2-40B4-BE49-F238E27FC236}">
                <a16:creationId xmlns:a16="http://schemas.microsoft.com/office/drawing/2014/main" id="{04AF87D9-8701-44A2-A573-D4F8BFC9199F}"/>
              </a:ext>
            </a:extLst>
          </p:cNvPr>
          <p:cNvSpPr>
            <a:spLocks xmlns:a="http://schemas.openxmlformats.org/drawingml/2006/main" noGrp="1"/>
          </p:cNvSpPr>
          <p:nvPr/>
        </p:nvSpPr>
        <p:spPr>
          <a:xfrm xmlns:a="http://schemas.openxmlformats.org/drawingml/2006/main">
            <a:off x="877824" y="5230368"/>
            <a:ext cx="294436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9 shared versus 3.83 expected</a:t>
            </a:r>
          </a:p>
        </p:txBody>
      </p:sp>
      <p:sp>
        <p:nvSpPr>
          <p:cNvPr id="14" name="Rounded Rectangle 13">
            <a:extLst xmlns:a="http://schemas.openxmlformats.org/drawingml/2006/main">
              <a:ext uri="{FF2B5EF4-FFF2-40B4-BE49-F238E27FC236}">
                <a16:creationId xmlns:a16="http://schemas.microsoft.com/office/drawing/2014/main" id="{41A2725F-0694-4957-AE4A-FD6EC15292FD}"/>
              </a:ext>
            </a:extLst>
          </p:cNvPr>
          <p:cNvSpPr>
            <a:spLocks xmlns:a="http://schemas.openxmlformats.org/drawingml/2006/main" noGrp="1"/>
          </p:cNvSpPr>
          <p:nvPr/>
        </p:nvSpPr>
        <p:spPr>
          <a:xfrm xmlns:a="http://schemas.openxmlformats.org/drawingml/2006/main">
            <a:off x="4315968" y="1371600"/>
            <a:ext cx="7150608" cy="433425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Rectangle 14">
            <a:extLst xmlns:a="http://schemas.openxmlformats.org/drawingml/2006/main">
              <a:ext uri="{FF2B5EF4-FFF2-40B4-BE49-F238E27FC236}">
                <a16:creationId xmlns:a16="http://schemas.microsoft.com/office/drawing/2014/main" id="{ACEB790C-B7A7-447A-8FDC-7C5664E31F24}"/>
              </a:ext>
            </a:extLst>
          </p:cNvPr>
          <p:cNvSpPr>
            <a:spLocks xmlns:a="http://schemas.openxmlformats.org/drawingml/2006/main" noGrp="1"/>
          </p:cNvSpPr>
          <p:nvPr/>
        </p:nvSpPr>
        <p:spPr>
          <a:xfrm xmlns:a="http://schemas.openxmlformats.org/drawingml/2006/main">
            <a:off x="4608576" y="169164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4F275946-0725-45E6-843F-95BBC8C7CAFC}"/>
              </a:ext>
            </a:extLst>
          </p:cNvPr>
          <p:cNvSpPr>
            <a:spLocks xmlns:a="http://schemas.openxmlformats.org/drawingml/2006/main" noGrp="1"/>
          </p:cNvSpPr>
          <p:nvPr/>
        </p:nvSpPr>
        <p:spPr>
          <a:xfrm xmlns:a="http://schemas.openxmlformats.org/drawingml/2006/main">
            <a:off x="4754880" y="1664208"/>
            <a:ext cx="63642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Nine shared genes</a:t>
            </a:r>
          </a:p>
        </p:txBody>
      </p:sp>
      <p:sp>
        <p:nvSpPr>
          <p:cNvPr id="17" name="Rounded Rectangle 16">
            <a:extLst xmlns:a="http://schemas.openxmlformats.org/drawingml/2006/main">
              <a:ext uri="{FF2B5EF4-FFF2-40B4-BE49-F238E27FC236}">
                <a16:creationId xmlns:a16="http://schemas.microsoft.com/office/drawing/2014/main" id="{CAD8F1F9-49BD-489B-A42F-855641139CE9}"/>
              </a:ext>
            </a:extLst>
          </p:cNvPr>
          <p:cNvSpPr>
            <a:spLocks xmlns:a="http://schemas.openxmlformats.org/drawingml/2006/main" noGrp="1"/>
          </p:cNvSpPr>
          <p:nvPr/>
        </p:nvSpPr>
        <p:spPr>
          <a:xfrm xmlns:a="http://schemas.openxmlformats.org/drawingml/2006/main">
            <a:off x="4626864"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11F70E4-676B-43C5-B532-4C6DDBAE917C}"/>
              </a:ext>
            </a:extLst>
          </p:cNvPr>
          <p:cNvSpPr>
            <a:spLocks xmlns:a="http://schemas.openxmlformats.org/drawingml/2006/main" noGrp="1"/>
          </p:cNvSpPr>
          <p:nvPr/>
        </p:nvSpPr>
        <p:spPr>
          <a:xfrm xmlns:a="http://schemas.openxmlformats.org/drawingml/2006/main">
            <a:off x="4718303"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MT-ATP6</a:t>
            </a:r>
          </a:p>
        </p:txBody>
      </p:sp>
      <p:sp>
        <p:nvSpPr>
          <p:cNvPr id="19" name="Rounded Rectangle 18">
            <a:extLst xmlns:a="http://schemas.openxmlformats.org/drawingml/2006/main">
              <a:ext uri="{FF2B5EF4-FFF2-40B4-BE49-F238E27FC236}">
                <a16:creationId xmlns:a16="http://schemas.microsoft.com/office/drawing/2014/main" id="{28889E98-08F5-4EA2-B5E9-BF6C95FC4AE3}"/>
              </a:ext>
            </a:extLst>
          </p:cNvPr>
          <p:cNvSpPr>
            <a:spLocks xmlns:a="http://schemas.openxmlformats.org/drawingml/2006/main" noGrp="1"/>
          </p:cNvSpPr>
          <p:nvPr/>
        </p:nvSpPr>
        <p:spPr>
          <a:xfrm xmlns:a="http://schemas.openxmlformats.org/drawingml/2006/main">
            <a:off x="6729983"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13AF5785-B372-4F0A-B5EE-9CA243B074C7}"/>
              </a:ext>
            </a:extLst>
          </p:cNvPr>
          <p:cNvSpPr>
            <a:spLocks xmlns:a="http://schemas.openxmlformats.org/drawingml/2006/main" noGrp="1"/>
          </p:cNvSpPr>
          <p:nvPr/>
        </p:nvSpPr>
        <p:spPr>
          <a:xfrm xmlns:a="http://schemas.openxmlformats.org/drawingml/2006/main">
            <a:off x="6821423"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MT-CO1</a:t>
            </a:r>
          </a:p>
        </p:txBody>
      </p:sp>
      <p:sp>
        <p:nvSpPr>
          <p:cNvPr id="21" name="Rounded Rectangle 20">
            <a:extLst xmlns:a="http://schemas.openxmlformats.org/drawingml/2006/main">
              <a:ext uri="{FF2B5EF4-FFF2-40B4-BE49-F238E27FC236}">
                <a16:creationId xmlns:a16="http://schemas.microsoft.com/office/drawing/2014/main" id="{53655F11-2343-48DD-91C0-608962052EEA}"/>
              </a:ext>
            </a:extLst>
          </p:cNvPr>
          <p:cNvSpPr>
            <a:spLocks xmlns:a="http://schemas.openxmlformats.org/drawingml/2006/main" noGrp="1"/>
          </p:cNvSpPr>
          <p:nvPr/>
        </p:nvSpPr>
        <p:spPr>
          <a:xfrm xmlns:a="http://schemas.openxmlformats.org/drawingml/2006/main">
            <a:off x="8833104" y="2258568"/>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9F497667-459B-41E4-A14A-F2D5989BAC9F}"/>
              </a:ext>
            </a:extLst>
          </p:cNvPr>
          <p:cNvSpPr>
            <a:spLocks xmlns:a="http://schemas.openxmlformats.org/drawingml/2006/main" noGrp="1"/>
          </p:cNvSpPr>
          <p:nvPr/>
        </p:nvSpPr>
        <p:spPr>
          <a:xfrm xmlns:a="http://schemas.openxmlformats.org/drawingml/2006/main">
            <a:off x="8924544" y="2359152"/>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MT-CO2</a:t>
            </a:r>
          </a:p>
        </p:txBody>
      </p:sp>
      <p:sp>
        <p:nvSpPr>
          <p:cNvPr id="23" name="Rounded Rectangle 22">
            <a:extLst xmlns:a="http://schemas.openxmlformats.org/drawingml/2006/main">
              <a:ext uri="{FF2B5EF4-FFF2-40B4-BE49-F238E27FC236}">
                <a16:creationId xmlns:a16="http://schemas.microsoft.com/office/drawing/2014/main" id="{88514EA0-9428-48CB-BEA4-1FC3FCA51D15}"/>
              </a:ext>
            </a:extLst>
          </p:cNvPr>
          <p:cNvSpPr>
            <a:spLocks xmlns:a="http://schemas.openxmlformats.org/drawingml/2006/main" noGrp="1"/>
          </p:cNvSpPr>
          <p:nvPr/>
        </p:nvSpPr>
        <p:spPr>
          <a:xfrm xmlns:a="http://schemas.openxmlformats.org/drawingml/2006/main">
            <a:off x="4626864"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65BFBB08-39FF-42FC-8B5C-979C25BA3C13}"/>
              </a:ext>
            </a:extLst>
          </p:cNvPr>
          <p:cNvSpPr>
            <a:spLocks xmlns:a="http://schemas.openxmlformats.org/drawingml/2006/main" noGrp="1"/>
          </p:cNvSpPr>
          <p:nvPr/>
        </p:nvSpPr>
        <p:spPr>
          <a:xfrm xmlns:a="http://schemas.openxmlformats.org/drawingml/2006/main">
            <a:off x="4718303"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MT-CO3</a:t>
            </a:r>
          </a:p>
        </p:txBody>
      </p:sp>
      <p:sp>
        <p:nvSpPr>
          <p:cNvPr id="25" name="Rounded Rectangle 24">
            <a:extLst xmlns:a="http://schemas.openxmlformats.org/drawingml/2006/main">
              <a:ext uri="{FF2B5EF4-FFF2-40B4-BE49-F238E27FC236}">
                <a16:creationId xmlns:a16="http://schemas.microsoft.com/office/drawing/2014/main" id="{1FB03E35-E519-4ABD-A350-B0B73DEF330D}"/>
              </a:ext>
            </a:extLst>
          </p:cNvPr>
          <p:cNvSpPr>
            <a:spLocks xmlns:a="http://schemas.openxmlformats.org/drawingml/2006/main" noGrp="1"/>
          </p:cNvSpPr>
          <p:nvPr/>
        </p:nvSpPr>
        <p:spPr>
          <a:xfrm xmlns:a="http://schemas.openxmlformats.org/drawingml/2006/main">
            <a:off x="6729983"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BC938378-EC21-405A-9015-88126D16BFF6}"/>
              </a:ext>
            </a:extLst>
          </p:cNvPr>
          <p:cNvSpPr>
            <a:spLocks xmlns:a="http://schemas.openxmlformats.org/drawingml/2006/main" noGrp="1"/>
          </p:cNvSpPr>
          <p:nvPr/>
        </p:nvSpPr>
        <p:spPr>
          <a:xfrm xmlns:a="http://schemas.openxmlformats.org/drawingml/2006/main">
            <a:off x="6821423"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MT-CYB</a:t>
            </a:r>
          </a:p>
        </p:txBody>
      </p:sp>
      <p:sp>
        <p:nvSpPr>
          <p:cNvPr id="27" name="Rounded Rectangle 26">
            <a:extLst xmlns:a="http://schemas.openxmlformats.org/drawingml/2006/main">
              <a:ext uri="{FF2B5EF4-FFF2-40B4-BE49-F238E27FC236}">
                <a16:creationId xmlns:a16="http://schemas.microsoft.com/office/drawing/2014/main" id="{654B293A-1D64-4775-A6A4-BE65C26A1FF7}"/>
              </a:ext>
            </a:extLst>
          </p:cNvPr>
          <p:cNvSpPr>
            <a:spLocks xmlns:a="http://schemas.openxmlformats.org/drawingml/2006/main" noGrp="1"/>
          </p:cNvSpPr>
          <p:nvPr/>
        </p:nvSpPr>
        <p:spPr>
          <a:xfrm xmlns:a="http://schemas.openxmlformats.org/drawingml/2006/main">
            <a:off x="8833104" y="3063240"/>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8" name="TextBox 27">
            <a:extLst xmlns:a="http://schemas.openxmlformats.org/drawingml/2006/main">
              <a:ext uri="{FF2B5EF4-FFF2-40B4-BE49-F238E27FC236}">
                <a16:creationId xmlns:a16="http://schemas.microsoft.com/office/drawing/2014/main" id="{6B52AD8F-EDD8-4C34-A877-8829A680EF2B}"/>
              </a:ext>
            </a:extLst>
          </p:cNvPr>
          <p:cNvSpPr>
            <a:spLocks xmlns:a="http://schemas.openxmlformats.org/drawingml/2006/main" noGrp="1"/>
          </p:cNvSpPr>
          <p:nvPr/>
        </p:nvSpPr>
        <p:spPr>
          <a:xfrm xmlns:a="http://schemas.openxmlformats.org/drawingml/2006/main">
            <a:off x="8924544" y="3163824"/>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MT-ND1</a:t>
            </a:r>
          </a:p>
        </p:txBody>
      </p:sp>
      <p:sp>
        <p:nvSpPr>
          <p:cNvPr id="29" name="Rounded Rectangle 28">
            <a:extLst xmlns:a="http://schemas.openxmlformats.org/drawingml/2006/main">
              <a:ext uri="{FF2B5EF4-FFF2-40B4-BE49-F238E27FC236}">
                <a16:creationId xmlns:a16="http://schemas.microsoft.com/office/drawing/2014/main" id="{163336B0-1C3F-47A7-9CF3-B5551FCC3669}"/>
              </a:ext>
            </a:extLst>
          </p:cNvPr>
          <p:cNvSpPr>
            <a:spLocks xmlns:a="http://schemas.openxmlformats.org/drawingml/2006/main" noGrp="1"/>
          </p:cNvSpPr>
          <p:nvPr/>
        </p:nvSpPr>
        <p:spPr>
          <a:xfrm xmlns:a="http://schemas.openxmlformats.org/drawingml/2006/main">
            <a:off x="4626864"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0" name="TextBox 29">
            <a:extLst xmlns:a="http://schemas.openxmlformats.org/drawingml/2006/main">
              <a:ext uri="{FF2B5EF4-FFF2-40B4-BE49-F238E27FC236}">
                <a16:creationId xmlns:a16="http://schemas.microsoft.com/office/drawing/2014/main" id="{21463F87-EB9A-4B85-8E11-C5961CA95310}"/>
              </a:ext>
            </a:extLst>
          </p:cNvPr>
          <p:cNvSpPr>
            <a:spLocks xmlns:a="http://schemas.openxmlformats.org/drawingml/2006/main" noGrp="1"/>
          </p:cNvSpPr>
          <p:nvPr/>
        </p:nvSpPr>
        <p:spPr>
          <a:xfrm xmlns:a="http://schemas.openxmlformats.org/drawingml/2006/main">
            <a:off x="4718303"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MT-ND2</a:t>
            </a:r>
          </a:p>
        </p:txBody>
      </p:sp>
      <p:sp>
        <p:nvSpPr>
          <p:cNvPr id="31" name="Rounded Rectangle 30">
            <a:extLst xmlns:a="http://schemas.openxmlformats.org/drawingml/2006/main">
              <a:ext uri="{FF2B5EF4-FFF2-40B4-BE49-F238E27FC236}">
                <a16:creationId xmlns:a16="http://schemas.microsoft.com/office/drawing/2014/main" id="{DA78BB86-560D-465E-853B-8709711AC76C}"/>
              </a:ext>
            </a:extLst>
          </p:cNvPr>
          <p:cNvSpPr>
            <a:spLocks xmlns:a="http://schemas.openxmlformats.org/drawingml/2006/main" noGrp="1"/>
          </p:cNvSpPr>
          <p:nvPr/>
        </p:nvSpPr>
        <p:spPr>
          <a:xfrm xmlns:a="http://schemas.openxmlformats.org/drawingml/2006/main">
            <a:off x="6729983"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2" name="TextBox 31">
            <a:extLst xmlns:a="http://schemas.openxmlformats.org/drawingml/2006/main">
              <a:ext uri="{FF2B5EF4-FFF2-40B4-BE49-F238E27FC236}">
                <a16:creationId xmlns:a16="http://schemas.microsoft.com/office/drawing/2014/main" id="{FCD6E3EF-3EA1-45FC-8A36-71F17563A453}"/>
              </a:ext>
            </a:extLst>
          </p:cNvPr>
          <p:cNvSpPr>
            <a:spLocks xmlns:a="http://schemas.openxmlformats.org/drawingml/2006/main" noGrp="1"/>
          </p:cNvSpPr>
          <p:nvPr/>
        </p:nvSpPr>
        <p:spPr>
          <a:xfrm xmlns:a="http://schemas.openxmlformats.org/drawingml/2006/main">
            <a:off x="6821423"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MT-ND4</a:t>
            </a:r>
          </a:p>
        </p:txBody>
      </p:sp>
      <p:sp>
        <p:nvSpPr>
          <p:cNvPr id="33" name="Rounded Rectangle 32">
            <a:extLst xmlns:a="http://schemas.openxmlformats.org/drawingml/2006/main">
              <a:ext uri="{FF2B5EF4-FFF2-40B4-BE49-F238E27FC236}">
                <a16:creationId xmlns:a16="http://schemas.microsoft.com/office/drawing/2014/main" id="{DB2F1ABD-2547-4C59-8D56-6E9F4049067B}"/>
              </a:ext>
            </a:extLst>
          </p:cNvPr>
          <p:cNvSpPr>
            <a:spLocks xmlns:a="http://schemas.openxmlformats.org/drawingml/2006/main" noGrp="1"/>
          </p:cNvSpPr>
          <p:nvPr/>
        </p:nvSpPr>
        <p:spPr>
          <a:xfrm xmlns:a="http://schemas.openxmlformats.org/drawingml/2006/main">
            <a:off x="8833104" y="3867912"/>
            <a:ext cx="1847088"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4" name="TextBox 33">
            <a:extLst xmlns:a="http://schemas.openxmlformats.org/drawingml/2006/main">
              <a:ext uri="{FF2B5EF4-FFF2-40B4-BE49-F238E27FC236}">
                <a16:creationId xmlns:a16="http://schemas.microsoft.com/office/drawing/2014/main" id="{2B3495B9-FC33-4BB1-BD9D-AEA2D3999F0E}"/>
              </a:ext>
            </a:extLst>
          </p:cNvPr>
          <p:cNvSpPr>
            <a:spLocks xmlns:a="http://schemas.openxmlformats.org/drawingml/2006/main" noGrp="1"/>
          </p:cNvSpPr>
          <p:nvPr/>
        </p:nvSpPr>
        <p:spPr>
          <a:xfrm xmlns:a="http://schemas.openxmlformats.org/drawingml/2006/main">
            <a:off x="8924544" y="3968496"/>
            <a:ext cx="1664208"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60" b="1" i="0">
                <a:solidFill>
                  <a:srgbClr val="0072B2"/>
                </a:solidFill>
                <a:latin typeface="Arial"/>
                <a:ea typeface="Arial"/>
                <a:cs typeface="Arial"/>
              </a:rPr>
              <a:t>MT-ND5</a:t>
            </a:r>
          </a:p>
        </p:txBody>
      </p:sp>
      <p:sp>
        <p:nvSpPr>
          <p:cNvPr id="35" name="Rounded Rectangle 34">
            <a:extLst xmlns:a="http://schemas.openxmlformats.org/drawingml/2006/main">
              <a:ext uri="{FF2B5EF4-FFF2-40B4-BE49-F238E27FC236}">
                <a16:creationId xmlns:a16="http://schemas.microsoft.com/office/drawing/2014/main" id="{B37771B0-73EB-4918-A9F6-1BC3F202E5AA}"/>
              </a:ext>
            </a:extLst>
          </p:cNvPr>
          <p:cNvSpPr>
            <a:spLocks xmlns:a="http://schemas.openxmlformats.org/drawingml/2006/main" noGrp="1"/>
          </p:cNvSpPr>
          <p:nvPr/>
        </p:nvSpPr>
        <p:spPr>
          <a:xfrm xmlns:a="http://schemas.openxmlformats.org/drawingml/2006/main">
            <a:off x="4626864" y="4828032"/>
            <a:ext cx="6272784" cy="54864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6" name="TextBox 35">
            <a:extLst xmlns:a="http://schemas.openxmlformats.org/drawingml/2006/main">
              <a:ext uri="{FF2B5EF4-FFF2-40B4-BE49-F238E27FC236}">
                <a16:creationId xmlns:a16="http://schemas.microsoft.com/office/drawing/2014/main" id="{1B6AB063-6B63-4EA7-9907-FC63046875D9}"/>
              </a:ext>
            </a:extLst>
          </p:cNvPr>
          <p:cNvSpPr>
            <a:spLocks xmlns:a="http://schemas.openxmlformats.org/drawingml/2006/main" noGrp="1"/>
          </p:cNvSpPr>
          <p:nvPr/>
        </p:nvSpPr>
        <p:spPr>
          <a:xfrm xmlns:a="http://schemas.openxmlformats.org/drawingml/2006/main">
            <a:off x="4828032" y="4992624"/>
            <a:ext cx="587044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00684D"/>
                </a:solidFill>
                <a:latin typeface="Arial"/>
                <a:ea typeface="Arial"/>
                <a:cs typeface="Arial"/>
              </a:rPr>
              <a:t>Every shared gene points upward in both datasets.</a:t>
            </a:r>
          </a:p>
        </p:txBody>
      </p:sp>
      <p:sp>
        <p:nvSpPr>
          <p:cNvPr id="37" name="TextBox 36">
            <a:extLst xmlns:a="http://schemas.openxmlformats.org/drawingml/2006/main">
              <a:ext uri="{FF2B5EF4-FFF2-40B4-BE49-F238E27FC236}">
                <a16:creationId xmlns:a16="http://schemas.microsoft.com/office/drawing/2014/main" id="{0435DDB5-56F9-4CAD-A36C-1FB0D9BA8C96}"/>
              </a:ext>
            </a:extLst>
          </p:cNvPr>
          <p:cNvSpPr>
            <a:spLocks xmlns:a="http://schemas.openxmlformats.org/drawingml/2006/main" noGrp="1"/>
          </p:cNvSpPr>
          <p:nvPr/>
        </p:nvSpPr>
        <p:spPr>
          <a:xfrm xmlns:a="http://schemas.openxmlformats.org/drawingml/2006/main">
            <a:off x="859536" y="5971032"/>
            <a:ext cx="10479024"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7E4C9A"/>
                </a:solidFill>
                <a:latin typeface="Arial"/>
                <a:ea typeface="Arial"/>
                <a:cs typeface="Arial"/>
              </a:rPr>
              <a:t>Program-level support is useful even though SEA-AD does not select the same upstream driver.</a:t>
            </a:r>
          </a:p>
        </p:txBody>
      </p:sp>
    </p:spTree>
    <p:extLst>
      <p:ext uri="{BB962C8B-B14F-4D97-AF65-F5344CB8AC3E}">
        <p14:creationId xmlns:p14="http://schemas.microsoft.com/office/powerpoint/2010/main" val="1110494785"/>
      </p:ext>
    </p:extLst>
  </p:cSld>
</p:sld>
</file>

<file path=ppt/slides/slide4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CA654A-AB07-4E8B-BA1D-A8745CB8EC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excitatory neurons may be mounting a coordinated mitochondrial response</a:t>
            </a:r>
          </a:p>
        </p:txBody>
      </p:sp>
      <p:sp>
        <p:nvSpPr>
          <p:cNvPr id="3" name="TextBox 2">
            <a:extLst xmlns:a="http://schemas.openxmlformats.org/drawingml/2006/main">
              <a:ext uri="{FF2B5EF4-FFF2-40B4-BE49-F238E27FC236}">
                <a16:creationId xmlns:a16="http://schemas.microsoft.com/office/drawing/2014/main" id="{B99129EA-A2AE-46B0-8E3F-650537ACB88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repeated direction is biologically informative even though its functional meaning remains open.</a:t>
            </a:r>
          </a:p>
        </p:txBody>
      </p:sp>
      <p:sp>
        <p:nvSpPr>
          <p:cNvPr id="4" name="Rounded Rectangle 3">
            <a:extLst xmlns:a="http://schemas.openxmlformats.org/drawingml/2006/main">
              <a:ext uri="{FF2B5EF4-FFF2-40B4-BE49-F238E27FC236}">
                <a16:creationId xmlns:a16="http://schemas.microsoft.com/office/drawing/2014/main" id="{3F1E3BBD-14B7-4A02-B94E-67585B5D8D48}"/>
              </a:ext>
            </a:extLst>
          </p:cNvPr>
          <p:cNvSpPr>
            <a:spLocks xmlns:a="http://schemas.openxmlformats.org/drawingml/2006/main" noGrp="1"/>
          </p:cNvSpPr>
          <p:nvPr/>
        </p:nvSpPr>
        <p:spPr>
          <a:xfrm xmlns:a="http://schemas.openxmlformats.org/drawingml/2006/main">
            <a:off x="658368" y="1444752"/>
            <a:ext cx="3456432" cy="29260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8F5142AC-4C6A-4EA2-AFC8-2728EB6DF64F}"/>
              </a:ext>
            </a:extLst>
          </p:cNvPr>
          <p:cNvSpPr>
            <a:spLocks xmlns:a="http://schemas.openxmlformats.org/drawingml/2006/main" noGrp="1"/>
          </p:cNvSpPr>
          <p:nvPr/>
        </p:nvSpPr>
        <p:spPr>
          <a:xfrm xmlns:a="http://schemas.openxmlformats.org/drawingml/2006/main">
            <a:off x="914400" y="1755648"/>
            <a:ext cx="512064" cy="51206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82E2D5C6-C022-45AF-B4C2-A43A7FF17B8B}"/>
              </a:ext>
            </a:extLst>
          </p:cNvPr>
          <p:cNvSpPr>
            <a:spLocks xmlns:a="http://schemas.openxmlformats.org/drawingml/2006/main" noGrp="1"/>
          </p:cNvSpPr>
          <p:nvPr/>
        </p:nvSpPr>
        <p:spPr>
          <a:xfrm xmlns:a="http://schemas.openxmlformats.org/drawingml/2006/main">
            <a:off x="91440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380516AF-6A39-4FEB-BB55-12201169B8D9}"/>
              </a:ext>
            </a:extLst>
          </p:cNvPr>
          <p:cNvSpPr>
            <a:spLocks xmlns:a="http://schemas.openxmlformats.org/drawingml/2006/main" noGrp="1"/>
          </p:cNvSpPr>
          <p:nvPr/>
        </p:nvSpPr>
        <p:spPr>
          <a:xfrm xmlns:a="http://schemas.openxmlformats.org/drawingml/2006/main">
            <a:off x="157276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High energy demand</a:t>
            </a:r>
          </a:p>
        </p:txBody>
      </p:sp>
      <p:sp>
        <p:nvSpPr>
          <p:cNvPr id="8" name="TextBox 7">
            <a:extLst xmlns:a="http://schemas.openxmlformats.org/drawingml/2006/main">
              <a:ext uri="{FF2B5EF4-FFF2-40B4-BE49-F238E27FC236}">
                <a16:creationId xmlns:a16="http://schemas.microsoft.com/office/drawing/2014/main" id="{73B618EF-651F-449B-9C83-89A5D4523DA3}"/>
              </a:ext>
            </a:extLst>
          </p:cNvPr>
          <p:cNvSpPr>
            <a:spLocks xmlns:a="http://schemas.openxmlformats.org/drawingml/2006/main" noGrp="1"/>
          </p:cNvSpPr>
          <p:nvPr/>
        </p:nvSpPr>
        <p:spPr>
          <a:xfrm xmlns:a="http://schemas.openxmlformats.org/drawingml/2006/main">
            <a:off x="95097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00" b="0" i="0">
                <a:solidFill>
                  <a:srgbClr val="1F2730"/>
                </a:solidFill>
                <a:latin typeface="Arial"/>
                <a:ea typeface="Arial"/>
                <a:cs typeface="Arial"/>
              </a:rPr>
              <a:t>Excitatory neurons spend substantial energy sending and restoring electrical signals.</a:t>
            </a:r>
          </a:p>
        </p:txBody>
      </p:sp>
      <p:sp>
        <p:nvSpPr>
          <p:cNvPr id="9" name="Rounded Rectangle 8">
            <a:extLst xmlns:a="http://schemas.openxmlformats.org/drawingml/2006/main">
              <a:ext uri="{FF2B5EF4-FFF2-40B4-BE49-F238E27FC236}">
                <a16:creationId xmlns:a16="http://schemas.microsoft.com/office/drawing/2014/main" id="{BEB91B40-BDC4-472D-9374-07C6725FDCBD}"/>
              </a:ext>
            </a:extLst>
          </p:cNvPr>
          <p:cNvSpPr>
            <a:spLocks xmlns:a="http://schemas.openxmlformats.org/drawingml/2006/main" noGrp="1"/>
          </p:cNvSpPr>
          <p:nvPr/>
        </p:nvSpPr>
        <p:spPr>
          <a:xfrm xmlns:a="http://schemas.openxmlformats.org/drawingml/2006/main">
            <a:off x="4453128" y="1444752"/>
            <a:ext cx="3456432" cy="2926080"/>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9A65E5DC-1AAC-4450-AFD0-D7826B5DEAE0}"/>
              </a:ext>
            </a:extLst>
          </p:cNvPr>
          <p:cNvSpPr>
            <a:spLocks xmlns:a="http://schemas.openxmlformats.org/drawingml/2006/main" noGrp="1"/>
          </p:cNvSpPr>
          <p:nvPr/>
        </p:nvSpPr>
        <p:spPr>
          <a:xfrm xmlns:a="http://schemas.openxmlformats.org/drawingml/2006/main">
            <a:off x="4709160" y="1755648"/>
            <a:ext cx="512064" cy="51206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B2D1F9B-9B71-49A6-9999-3FE1F8A78E7C}"/>
              </a:ext>
            </a:extLst>
          </p:cNvPr>
          <p:cNvSpPr>
            <a:spLocks xmlns:a="http://schemas.openxmlformats.org/drawingml/2006/main" noGrp="1"/>
          </p:cNvSpPr>
          <p:nvPr/>
        </p:nvSpPr>
        <p:spPr>
          <a:xfrm xmlns:a="http://schemas.openxmlformats.org/drawingml/2006/main">
            <a:off x="470916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xmlns:a="http://schemas.openxmlformats.org/drawingml/2006/main">
              <a:ext uri="{FF2B5EF4-FFF2-40B4-BE49-F238E27FC236}">
                <a16:creationId xmlns:a16="http://schemas.microsoft.com/office/drawing/2014/main" id="{969D0F82-104E-4BEF-B341-49D46A6D1A8C}"/>
              </a:ext>
            </a:extLst>
          </p:cNvPr>
          <p:cNvSpPr>
            <a:spLocks xmlns:a="http://schemas.openxmlformats.org/drawingml/2006/main" noGrp="1"/>
          </p:cNvSpPr>
          <p:nvPr/>
        </p:nvSpPr>
        <p:spPr>
          <a:xfrm xmlns:a="http://schemas.openxmlformats.org/drawingml/2006/main">
            <a:off x="536752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Essential mtDNA parts</a:t>
            </a:r>
          </a:p>
        </p:txBody>
      </p:sp>
      <p:sp>
        <p:nvSpPr>
          <p:cNvPr id="13" name="TextBox 12">
            <a:extLst xmlns:a="http://schemas.openxmlformats.org/drawingml/2006/main">
              <a:ext uri="{FF2B5EF4-FFF2-40B4-BE49-F238E27FC236}">
                <a16:creationId xmlns:a16="http://schemas.microsoft.com/office/drawing/2014/main" id="{AD5164C9-0653-483A-A83B-798C6BD58C43}"/>
              </a:ext>
            </a:extLst>
          </p:cNvPr>
          <p:cNvSpPr>
            <a:spLocks xmlns:a="http://schemas.openxmlformats.org/drawingml/2006/main" noGrp="1"/>
          </p:cNvSpPr>
          <p:nvPr/>
        </p:nvSpPr>
        <p:spPr>
          <a:xfrm xmlns:a="http://schemas.openxmlformats.org/drawingml/2006/main">
            <a:off x="474573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00" b="0" i="0">
                <a:solidFill>
                  <a:srgbClr val="1F2730"/>
                </a:solidFill>
                <a:latin typeface="Arial"/>
                <a:ea typeface="Arial"/>
                <a:cs typeface="Arial"/>
              </a:rPr>
              <a:t>The mitochondrial genome encodes 13 core OXPHOS proteins needed for the respiratory system.</a:t>
            </a:r>
          </a:p>
        </p:txBody>
      </p:sp>
      <p:sp>
        <p:nvSpPr>
          <p:cNvPr id="14" name="Rounded Rectangle 13">
            <a:extLst xmlns:a="http://schemas.openxmlformats.org/drawingml/2006/main">
              <a:ext uri="{FF2B5EF4-FFF2-40B4-BE49-F238E27FC236}">
                <a16:creationId xmlns:a16="http://schemas.microsoft.com/office/drawing/2014/main" id="{A63BD49F-492F-49A8-8701-D94C1DE8F87D}"/>
              </a:ext>
            </a:extLst>
          </p:cNvPr>
          <p:cNvSpPr>
            <a:spLocks xmlns:a="http://schemas.openxmlformats.org/drawingml/2006/main" noGrp="1"/>
          </p:cNvSpPr>
          <p:nvPr/>
        </p:nvSpPr>
        <p:spPr>
          <a:xfrm xmlns:a="http://schemas.openxmlformats.org/drawingml/2006/main">
            <a:off x="8247888" y="1444752"/>
            <a:ext cx="3456432" cy="29260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4DA3D490-7D99-463B-8604-7EDF75732275}"/>
              </a:ext>
            </a:extLst>
          </p:cNvPr>
          <p:cNvSpPr>
            <a:spLocks xmlns:a="http://schemas.openxmlformats.org/drawingml/2006/main" noGrp="1"/>
          </p:cNvSpPr>
          <p:nvPr/>
        </p:nvSpPr>
        <p:spPr>
          <a:xfrm xmlns:a="http://schemas.openxmlformats.org/drawingml/2006/main">
            <a:off x="8503920" y="1755648"/>
            <a:ext cx="512064" cy="512064"/>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12242748-53CE-4A4C-BCD5-10502CC6D3BD}"/>
              </a:ext>
            </a:extLst>
          </p:cNvPr>
          <p:cNvSpPr>
            <a:spLocks xmlns:a="http://schemas.openxmlformats.org/drawingml/2006/main" noGrp="1"/>
          </p:cNvSpPr>
          <p:nvPr/>
        </p:nvSpPr>
        <p:spPr>
          <a:xfrm xmlns:a="http://schemas.openxmlformats.org/drawingml/2006/main">
            <a:off x="850392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xmlns:a="http://schemas.openxmlformats.org/drawingml/2006/main">
              <a:ext uri="{FF2B5EF4-FFF2-40B4-BE49-F238E27FC236}">
                <a16:creationId xmlns:a16="http://schemas.microsoft.com/office/drawing/2014/main" id="{588883E8-7003-4329-BB64-A8502198D660}"/>
              </a:ext>
            </a:extLst>
          </p:cNvPr>
          <p:cNvSpPr>
            <a:spLocks xmlns:a="http://schemas.openxmlformats.org/drawingml/2006/main" noGrp="1"/>
          </p:cNvSpPr>
          <p:nvPr/>
        </p:nvSpPr>
        <p:spPr>
          <a:xfrm xmlns:a="http://schemas.openxmlformats.org/drawingml/2006/main">
            <a:off x="9162288" y="1773936"/>
            <a:ext cx="2249424"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600" b="1" i="0">
                <a:solidFill>
                  <a:srgbClr val="0F233D"/>
                </a:solidFill>
                <a:latin typeface="Arial"/>
                <a:ea typeface="Arial"/>
                <a:cs typeface="Arial"/>
              </a:rPr>
              <a:t>Repeated AD response</a:t>
            </a:r>
          </a:p>
        </p:txBody>
      </p:sp>
      <p:sp>
        <p:nvSpPr>
          <p:cNvPr id="18" name="TextBox 17">
            <a:extLst xmlns:a="http://schemas.openxmlformats.org/drawingml/2006/main">
              <a:ext uri="{FF2B5EF4-FFF2-40B4-BE49-F238E27FC236}">
                <a16:creationId xmlns:a16="http://schemas.microsoft.com/office/drawing/2014/main" id="{5F19A3CD-3D44-4938-90FF-50898D83B761}"/>
              </a:ext>
            </a:extLst>
          </p:cNvPr>
          <p:cNvSpPr>
            <a:spLocks xmlns:a="http://schemas.openxmlformats.org/drawingml/2006/main" noGrp="1"/>
          </p:cNvSpPr>
          <p:nvPr/>
        </p:nvSpPr>
        <p:spPr>
          <a:xfrm xmlns:a="http://schemas.openxmlformats.org/drawingml/2006/main">
            <a:off x="8540496" y="2542032"/>
            <a:ext cx="2871216" cy="1042415"/>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00" b="0" i="0">
                <a:solidFill>
                  <a:srgbClr val="1F2730"/>
                </a:solidFill>
                <a:latin typeface="Arial"/>
                <a:ea typeface="Arial"/>
                <a:cs typeface="Arial"/>
              </a:rPr>
              <a:t>The same upward RNA program appears across ROSMAP calls and in the matched SEA-AD comparison.</a:t>
            </a:r>
          </a:p>
        </p:txBody>
      </p:sp>
      <p:sp>
        <p:nvSpPr>
          <p:cNvPr id="19" name="Rounded Rectangle 18">
            <a:extLst xmlns:a="http://schemas.openxmlformats.org/drawingml/2006/main">
              <a:ext uri="{FF2B5EF4-FFF2-40B4-BE49-F238E27FC236}">
                <a16:creationId xmlns:a16="http://schemas.microsoft.com/office/drawing/2014/main" id="{E2D5DF43-11A8-4F0E-9BBD-EFE3CF9F45F3}"/>
              </a:ext>
            </a:extLst>
          </p:cNvPr>
          <p:cNvSpPr>
            <a:spLocks xmlns:a="http://schemas.openxmlformats.org/drawingml/2006/main" noGrp="1"/>
          </p:cNvSpPr>
          <p:nvPr/>
        </p:nvSpPr>
        <p:spPr>
          <a:xfrm xmlns:a="http://schemas.openxmlformats.org/drawingml/2006/main">
            <a:off x="658368" y="4736592"/>
            <a:ext cx="10881360" cy="1042415"/>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CC970E90-991B-45D4-B5BD-5B5891C6F68C}"/>
              </a:ext>
            </a:extLst>
          </p:cNvPr>
          <p:cNvSpPr>
            <a:spLocks xmlns:a="http://schemas.openxmlformats.org/drawingml/2006/main" noGrp="1"/>
          </p:cNvSpPr>
          <p:nvPr/>
        </p:nvSpPr>
        <p:spPr>
          <a:xfrm xmlns:a="http://schemas.openxmlformats.org/drawingml/2006/main">
            <a:off x="896112" y="4992624"/>
            <a:ext cx="219456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xmlns:a="http://schemas.openxmlformats.org/drawingml/2006/main">
              <a:ext uri="{FF2B5EF4-FFF2-40B4-BE49-F238E27FC236}">
                <a16:creationId xmlns:a16="http://schemas.microsoft.com/office/drawing/2014/main" id="{7EB9ECA3-37D5-4D30-BB16-F102C2520C90}"/>
              </a:ext>
            </a:extLst>
          </p:cNvPr>
          <p:cNvSpPr>
            <a:spLocks xmlns:a="http://schemas.openxmlformats.org/drawingml/2006/main" noGrp="1"/>
          </p:cNvSpPr>
          <p:nvPr/>
        </p:nvSpPr>
        <p:spPr>
          <a:xfrm xmlns:a="http://schemas.openxmlformats.org/drawingml/2006/main">
            <a:off x="3246120" y="4919472"/>
            <a:ext cx="7836408"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1F2730"/>
                </a:solidFill>
                <a:latin typeface="Arial"/>
                <a:ea typeface="Arial"/>
                <a:cs typeface="Arial"/>
              </a:rPr>
              <a:t>The increase may be compensation or a stress response—not evidence that mitochondria make more ATP.</a:t>
            </a:r>
          </a:p>
        </p:txBody>
      </p:sp>
    </p:spTree>
    <p:extLst>
      <p:ext uri="{BB962C8B-B14F-4D97-AF65-F5344CB8AC3E}">
        <p14:creationId xmlns:p14="http://schemas.microsoft.com/office/powerpoint/2010/main" val="118677421"/>
      </p:ext>
    </p:extLst>
  </p:cSld>
</p:sld>
</file>

<file path=ppt/slides/slide4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8C3AB9D-548E-40B1-B1DB-E255E1F441C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the finding does not prove—and the next evidence needed</a:t>
            </a:r>
          </a:p>
        </p:txBody>
      </p:sp>
      <p:sp>
        <p:nvSpPr>
          <p:cNvPr id="3" name="TextBox 2">
            <a:extLst xmlns:a="http://schemas.openxmlformats.org/drawingml/2006/main">
              <a:ext uri="{FF2B5EF4-FFF2-40B4-BE49-F238E27FC236}">
                <a16:creationId xmlns:a16="http://schemas.microsoft.com/office/drawing/2014/main" id="{AEE759E3-221F-41CD-834B-FD7BFDB7EC5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RNA-program evidence generates a testable mechanism; it does not finish the mechanism.</a:t>
            </a:r>
          </a:p>
        </p:txBody>
      </p:sp>
      <p:sp>
        <p:nvSpPr>
          <p:cNvPr id="4" name="Rounded Rectangle 3">
            <a:extLst xmlns:a="http://schemas.openxmlformats.org/drawingml/2006/main">
              <a:ext uri="{FF2B5EF4-FFF2-40B4-BE49-F238E27FC236}">
                <a16:creationId xmlns:a16="http://schemas.microsoft.com/office/drawing/2014/main" id="{6DF60FD9-435C-445F-AFE1-2154907C8B70}"/>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08092FE-DF35-424C-9739-DE19A60E021D}"/>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37AFEEA-D007-4056-98D6-23C47C001AA2}"/>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21C13DD7-A8DA-46CE-AD90-81BB4E81E0C9}"/>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800B9F7-282E-49F7-B831-6E6BE7C9AD15}"/>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More OXPHOS protein, respiration, or ATP production</a:t>
            </a:r>
          </a:p>
        </p:txBody>
      </p:sp>
      <p:sp>
        <p:nvSpPr>
          <p:cNvPr id="9" name="Oval 8">
            <a:extLst xmlns:a="http://schemas.openxmlformats.org/drawingml/2006/main">
              <a:ext uri="{FF2B5EF4-FFF2-40B4-BE49-F238E27FC236}">
                <a16:creationId xmlns:a16="http://schemas.microsoft.com/office/drawing/2014/main" id="{748AB00F-5BF5-4D9F-910A-A57571DE6F01}"/>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F8C0462-616E-41C2-8AAE-98D124CA5550}"/>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or ε3/ε3-specific disease effect</a:t>
            </a:r>
          </a:p>
        </p:txBody>
      </p:sp>
      <p:sp>
        <p:nvSpPr>
          <p:cNvPr id="11" name="Oval 10">
            <a:extLst xmlns:a="http://schemas.openxmlformats.org/drawingml/2006/main">
              <a:ext uri="{FF2B5EF4-FFF2-40B4-BE49-F238E27FC236}">
                <a16:creationId xmlns:a16="http://schemas.microsoft.com/office/drawing/2014/main" id="{4E0A03FD-DBE6-476E-9EE5-D63EC83A6E47}"/>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73F2430-556C-412C-B33D-4311C9F57492}"/>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Which upstream key driver caused the RNA increase</a:t>
            </a:r>
          </a:p>
        </p:txBody>
      </p:sp>
      <p:sp>
        <p:nvSpPr>
          <p:cNvPr id="13" name="Rounded Rectangle 12">
            <a:extLst xmlns:a="http://schemas.openxmlformats.org/drawingml/2006/main">
              <a:ext uri="{FF2B5EF4-FFF2-40B4-BE49-F238E27FC236}">
                <a16:creationId xmlns:a16="http://schemas.microsoft.com/office/drawing/2014/main" id="{97C58CDA-796A-4819-9057-AFC87C2AA4E7}"/>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DFEBD149-D6AE-4E12-AD54-0E4A890365C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7FDAEFD-E03B-491F-8404-5EB3362FA374}"/>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AAB9A2AC-9395-4AD2-940F-77E4721D102F}"/>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334B42D-DAD8-4A73-8114-0C5B327562BA}"/>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Donor-aware disease × sex × APOE interaction model</a:t>
            </a:r>
          </a:p>
        </p:txBody>
      </p:sp>
      <p:sp>
        <p:nvSpPr>
          <p:cNvPr id="18" name="Oval 17">
            <a:extLst xmlns:a="http://schemas.openxmlformats.org/drawingml/2006/main">
              <a:ext uri="{FF2B5EF4-FFF2-40B4-BE49-F238E27FC236}">
                <a16:creationId xmlns:a16="http://schemas.microsoft.com/office/drawing/2014/main" id="{58249B90-537F-4C2D-9710-23D270AD83E6}"/>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107D0F6-BCD2-4018-9B8D-AD5579C63102}"/>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OXPHOS protein abundance and complex assembly</a:t>
            </a:r>
          </a:p>
        </p:txBody>
      </p:sp>
      <p:sp>
        <p:nvSpPr>
          <p:cNvPr id="20" name="Oval 19">
            <a:extLst xmlns:a="http://schemas.openxmlformats.org/drawingml/2006/main">
              <a:ext uri="{FF2B5EF4-FFF2-40B4-BE49-F238E27FC236}">
                <a16:creationId xmlns:a16="http://schemas.microsoft.com/office/drawing/2014/main" id="{00C27A16-5258-4D73-A6CE-2A4CD99CC9DF}"/>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C922C75-C928-4658-A28F-517ED2AD3183}"/>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Oxygen consumption, membrane potential, and ATP</a:t>
            </a:r>
          </a:p>
        </p:txBody>
      </p:sp>
      <p:sp>
        <p:nvSpPr>
          <p:cNvPr id="22" name="TextBox 21">
            <a:extLst xmlns:a="http://schemas.openxmlformats.org/drawingml/2006/main">
              <a:ext uri="{FF2B5EF4-FFF2-40B4-BE49-F238E27FC236}">
                <a16:creationId xmlns:a16="http://schemas.microsoft.com/office/drawing/2014/main" id="{99984907-9288-4E04-AEEC-A2CACABFCFAE}"/>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A causal claim requires perturbation and functional rescue—not only another expression dataset.</a:t>
            </a:r>
          </a:p>
        </p:txBody>
      </p:sp>
    </p:spTree>
    <p:extLst>
      <p:ext uri="{BB962C8B-B14F-4D97-AF65-F5344CB8AC3E}">
        <p14:creationId xmlns:p14="http://schemas.microsoft.com/office/powerpoint/2010/main" val="660530884"/>
      </p:ext>
    </p:extLst>
  </p:cSld>
</p:sld>
</file>

<file path=ppt/slides/slide4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78B5F9-322B-4386-A785-C37404D5BAC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makes the result plausible—but does not duplicate it</a:t>
            </a:r>
          </a:p>
        </p:txBody>
      </p:sp>
      <p:sp>
        <p:nvSpPr>
          <p:cNvPr id="3" name="TextBox 2">
            <a:extLst xmlns:a="http://schemas.openxmlformats.org/drawingml/2006/main">
              <a:ext uri="{FF2B5EF4-FFF2-40B4-BE49-F238E27FC236}">
                <a16:creationId xmlns:a16="http://schemas.microsoft.com/office/drawing/2014/main" id="{81CF9610-7B95-4B5F-B65C-16227BB579F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study supports one part of the interpretation; none establishes this exact female ε3/ε3 excitatory-neuron pattern.</a:t>
            </a:r>
          </a:p>
        </p:txBody>
      </p:sp>
      <p:sp>
        <p:nvSpPr>
          <p:cNvPr id="4" name="Rounded Rectangle 3">
            <a:extLst xmlns:a="http://schemas.openxmlformats.org/drawingml/2006/main">
              <a:ext uri="{FF2B5EF4-FFF2-40B4-BE49-F238E27FC236}">
                <a16:creationId xmlns:a16="http://schemas.microsoft.com/office/drawing/2014/main" id="{394C9100-E676-4B83-BBF5-208FF175DCC7}"/>
              </a:ext>
            </a:extLst>
          </p:cNvPr>
          <p:cNvSpPr>
            <a:spLocks xmlns:a="http://schemas.openxmlformats.org/drawingml/2006/main" noGrp="1"/>
          </p:cNvSpPr>
          <p:nvPr/>
        </p:nvSpPr>
        <p:spPr>
          <a:xfrm xmlns:a="http://schemas.openxmlformats.org/drawingml/2006/main">
            <a:off x="658368" y="1353312"/>
            <a:ext cx="3456432" cy="4169663"/>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E71738A-BFCA-46D3-B314-8F7BC03CEBF9}"/>
              </a:ext>
            </a:extLst>
          </p:cNvPr>
          <p:cNvSpPr>
            <a:spLocks xmlns:a="http://schemas.openxmlformats.org/drawingml/2006/main" noGrp="1"/>
          </p:cNvSpPr>
          <p:nvPr/>
        </p:nvSpPr>
        <p:spPr>
          <a:xfrm xmlns:a="http://schemas.openxmlformats.org/drawingml/2006/main">
            <a:off x="93268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Guo et al. 2023</a:t>
            </a:r>
          </a:p>
        </p:txBody>
      </p:sp>
      <p:sp>
        <p:nvSpPr>
          <p:cNvPr id="6" name="TextBox 5">
            <a:extLst xmlns:a="http://schemas.openxmlformats.org/drawingml/2006/main">
              <a:ext uri="{FF2B5EF4-FFF2-40B4-BE49-F238E27FC236}">
                <a16:creationId xmlns:a16="http://schemas.microsoft.com/office/drawing/2014/main" id="{C6B97ED5-851E-44EE-BCBE-CD2D5F21106D}"/>
              </a:ext>
            </a:extLst>
          </p:cNvPr>
          <p:cNvSpPr>
            <a:spLocks xmlns:a="http://schemas.openxmlformats.org/drawingml/2006/main" noGrp="1"/>
          </p:cNvSpPr>
          <p:nvPr/>
        </p:nvSpPr>
        <p:spPr>
          <a:xfrm xmlns:a="http://schemas.openxmlformats.org/drawingml/2006/main">
            <a:off x="93268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Sex-specific AD networks</a:t>
            </a:r>
          </a:p>
        </p:txBody>
      </p:sp>
      <p:sp>
        <p:nvSpPr>
          <p:cNvPr id="7" name="TextBox 6">
            <a:extLst xmlns:a="http://schemas.openxmlformats.org/drawingml/2006/main">
              <a:ext uri="{FF2B5EF4-FFF2-40B4-BE49-F238E27FC236}">
                <a16:creationId xmlns:a16="http://schemas.microsoft.com/office/drawing/2014/main" id="{3F863A1C-2D8D-4748-BAD0-697A8716AA65}"/>
              </a:ext>
            </a:extLst>
          </p:cNvPr>
          <p:cNvSpPr>
            <a:spLocks xmlns:a="http://schemas.openxmlformats.org/drawingml/2006/main" noGrp="1"/>
          </p:cNvSpPr>
          <p:nvPr/>
        </p:nvSpPr>
        <p:spPr>
          <a:xfrm xmlns:a="http://schemas.openxmlformats.org/drawingml/2006/main">
            <a:off x="95097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248D306-76C9-45EB-960F-CD5C7D675957}"/>
              </a:ext>
            </a:extLst>
          </p:cNvPr>
          <p:cNvSpPr>
            <a:spLocks xmlns:a="http://schemas.openxmlformats.org/drawingml/2006/main" noGrp="1"/>
          </p:cNvSpPr>
          <p:nvPr/>
        </p:nvSpPr>
        <p:spPr>
          <a:xfrm xmlns:a="http://schemas.openxmlformats.org/drawingml/2006/main">
            <a:off x="95097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1F2730"/>
                </a:solidFill>
                <a:latin typeface="Arial"/>
                <a:ea typeface="Arial"/>
                <a:cs typeface="Arial"/>
              </a:rPr>
              <a:t>Supports sex-aware key-driver analysis.</a:t>
            </a:r>
          </a:p>
        </p:txBody>
      </p:sp>
      <p:sp>
        <p:nvSpPr>
          <p:cNvPr id="9" name="TextBox 8">
            <a:extLst xmlns:a="http://schemas.openxmlformats.org/drawingml/2006/main">
              <a:ext uri="{FF2B5EF4-FFF2-40B4-BE49-F238E27FC236}">
                <a16:creationId xmlns:a16="http://schemas.microsoft.com/office/drawing/2014/main" id="{FE198E2D-1E7A-47A1-ABD2-F6EB57BDE7D1}"/>
              </a:ext>
            </a:extLst>
          </p:cNvPr>
          <p:cNvSpPr>
            <a:spLocks xmlns:a="http://schemas.openxmlformats.org/drawingml/2006/main" noGrp="1"/>
          </p:cNvSpPr>
          <p:nvPr/>
        </p:nvSpPr>
        <p:spPr>
          <a:xfrm xmlns:a="http://schemas.openxmlformats.org/drawingml/2006/main">
            <a:off x="95097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A62546F6-86E1-4B50-A624-902AFFE83666}"/>
              </a:ext>
            </a:extLst>
          </p:cNvPr>
          <p:cNvSpPr>
            <a:spLocks xmlns:a="http://schemas.openxmlformats.org/drawingml/2006/main" noGrp="1"/>
          </p:cNvSpPr>
          <p:nvPr/>
        </p:nvSpPr>
        <p:spPr>
          <a:xfrm xmlns:a="http://schemas.openxmlformats.org/drawingml/2006/main">
            <a:off x="95097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Does not test this exact mtDNA program.</a:t>
            </a:r>
          </a:p>
        </p:txBody>
      </p:sp>
      <p:sp>
        <p:nvSpPr>
          <p:cNvPr id="11" name="Rounded Rectangle 10">
            <a:extLst xmlns:a="http://schemas.openxmlformats.org/drawingml/2006/main">
              <a:ext uri="{FF2B5EF4-FFF2-40B4-BE49-F238E27FC236}">
                <a16:creationId xmlns:a16="http://schemas.microsoft.com/office/drawing/2014/main" id="{99DA58C5-0667-4403-9E80-28206F6D5529}"/>
              </a:ext>
            </a:extLst>
          </p:cNvPr>
          <p:cNvSpPr>
            <a:spLocks xmlns:a="http://schemas.openxmlformats.org/drawingml/2006/main" noGrp="1"/>
          </p:cNvSpPr>
          <p:nvPr/>
        </p:nvSpPr>
        <p:spPr>
          <a:xfrm xmlns:a="http://schemas.openxmlformats.org/drawingml/2006/main">
            <a:off x="4453128" y="1353312"/>
            <a:ext cx="3456432" cy="4169663"/>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B9D63C74-7D1D-4243-A747-9DFFB3A7A462}"/>
              </a:ext>
            </a:extLst>
          </p:cNvPr>
          <p:cNvSpPr>
            <a:spLocks xmlns:a="http://schemas.openxmlformats.org/drawingml/2006/main" noGrp="1"/>
          </p:cNvSpPr>
          <p:nvPr/>
        </p:nvSpPr>
        <p:spPr>
          <a:xfrm xmlns:a="http://schemas.openxmlformats.org/drawingml/2006/main">
            <a:off x="472744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Mathys et al. 2024</a:t>
            </a:r>
          </a:p>
        </p:txBody>
      </p:sp>
      <p:sp>
        <p:nvSpPr>
          <p:cNvPr id="13" name="TextBox 12">
            <a:extLst xmlns:a="http://schemas.openxmlformats.org/drawingml/2006/main">
              <a:ext uri="{FF2B5EF4-FFF2-40B4-BE49-F238E27FC236}">
                <a16:creationId xmlns:a16="http://schemas.microsoft.com/office/drawing/2014/main" id="{8B139909-1E60-4B7D-9E5A-7BE7C0E71598}"/>
              </a:ext>
            </a:extLst>
          </p:cNvPr>
          <p:cNvSpPr>
            <a:spLocks xmlns:a="http://schemas.openxmlformats.org/drawingml/2006/main" noGrp="1"/>
          </p:cNvSpPr>
          <p:nvPr/>
        </p:nvSpPr>
        <p:spPr>
          <a:xfrm xmlns:a="http://schemas.openxmlformats.org/drawingml/2006/main">
            <a:off x="472744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14" name="TextBox 13">
            <a:extLst xmlns:a="http://schemas.openxmlformats.org/drawingml/2006/main">
              <a:ext uri="{FF2B5EF4-FFF2-40B4-BE49-F238E27FC236}">
                <a16:creationId xmlns:a16="http://schemas.microsoft.com/office/drawing/2014/main" id="{D07D753A-5819-43D5-9D8E-692D4BCC19D7}"/>
              </a:ext>
            </a:extLst>
          </p:cNvPr>
          <p:cNvSpPr>
            <a:spLocks xmlns:a="http://schemas.openxmlformats.org/drawingml/2006/main" noGrp="1"/>
          </p:cNvSpPr>
          <p:nvPr/>
        </p:nvSpPr>
        <p:spPr>
          <a:xfrm xmlns:a="http://schemas.openxmlformats.org/drawingml/2006/main">
            <a:off x="474573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094C5EDA-62A5-4BA8-9214-4716D14A290F}"/>
              </a:ext>
            </a:extLst>
          </p:cNvPr>
          <p:cNvSpPr>
            <a:spLocks xmlns:a="http://schemas.openxmlformats.org/drawingml/2006/main" noGrp="1"/>
          </p:cNvSpPr>
          <p:nvPr/>
        </p:nvSpPr>
        <p:spPr>
          <a:xfrm xmlns:a="http://schemas.openxmlformats.org/drawingml/2006/main">
            <a:off x="474573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1F2730"/>
                </a:solidFill>
                <a:latin typeface="Arial"/>
                <a:ea typeface="Arial"/>
                <a:cs typeface="Arial"/>
              </a:rPr>
              <a:t>Supports strong cell-type heterogeneity.</a:t>
            </a:r>
          </a:p>
        </p:txBody>
      </p:sp>
      <p:sp>
        <p:nvSpPr>
          <p:cNvPr id="16" name="TextBox 15">
            <a:extLst xmlns:a="http://schemas.openxmlformats.org/drawingml/2006/main">
              <a:ext uri="{FF2B5EF4-FFF2-40B4-BE49-F238E27FC236}">
                <a16:creationId xmlns:a16="http://schemas.microsoft.com/office/drawing/2014/main" id="{88F43116-0C65-4488-A9FA-1811F9FE34AD}"/>
              </a:ext>
            </a:extLst>
          </p:cNvPr>
          <p:cNvSpPr>
            <a:spLocks xmlns:a="http://schemas.openxmlformats.org/drawingml/2006/main" noGrp="1"/>
          </p:cNvSpPr>
          <p:nvPr/>
        </p:nvSpPr>
        <p:spPr>
          <a:xfrm xmlns:a="http://schemas.openxmlformats.org/drawingml/2006/main">
            <a:off x="474573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7F77D202-D2A9-435A-BC07-B5EFCE7D469E}"/>
              </a:ext>
            </a:extLst>
          </p:cNvPr>
          <p:cNvSpPr>
            <a:spLocks xmlns:a="http://schemas.openxmlformats.org/drawingml/2006/main" noGrp="1"/>
          </p:cNvSpPr>
          <p:nvPr/>
        </p:nvSpPr>
        <p:spPr>
          <a:xfrm xmlns:a="http://schemas.openxmlformats.org/drawingml/2006/main">
            <a:off x="474573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Uses ROSMAP, so it is not independent.</a:t>
            </a:r>
          </a:p>
        </p:txBody>
      </p:sp>
      <p:sp>
        <p:nvSpPr>
          <p:cNvPr id="18" name="Rounded Rectangle 17">
            <a:extLst xmlns:a="http://schemas.openxmlformats.org/drawingml/2006/main">
              <a:ext uri="{FF2B5EF4-FFF2-40B4-BE49-F238E27FC236}">
                <a16:creationId xmlns:a16="http://schemas.microsoft.com/office/drawing/2014/main" id="{6B8728A4-00D1-4FE0-B181-2C5422370349}"/>
              </a:ext>
            </a:extLst>
          </p:cNvPr>
          <p:cNvSpPr>
            <a:spLocks xmlns:a="http://schemas.openxmlformats.org/drawingml/2006/main" noGrp="1"/>
          </p:cNvSpPr>
          <p:nvPr/>
        </p:nvSpPr>
        <p:spPr>
          <a:xfrm xmlns:a="http://schemas.openxmlformats.org/drawingml/2006/main">
            <a:off x="8247888" y="1353312"/>
            <a:ext cx="3456432" cy="4169663"/>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7DD6AA2-4D33-4522-829A-91B4C555BCB3}"/>
              </a:ext>
            </a:extLst>
          </p:cNvPr>
          <p:cNvSpPr>
            <a:spLocks xmlns:a="http://schemas.openxmlformats.org/drawingml/2006/main" noGrp="1"/>
          </p:cNvSpPr>
          <p:nvPr/>
        </p:nvSpPr>
        <p:spPr>
          <a:xfrm xmlns:a="http://schemas.openxmlformats.org/drawingml/2006/main">
            <a:off x="8522208" y="1664208"/>
            <a:ext cx="2907792"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Lee et al. 2023</a:t>
            </a:r>
          </a:p>
        </p:txBody>
      </p:sp>
      <p:sp>
        <p:nvSpPr>
          <p:cNvPr id="20" name="TextBox 19">
            <a:extLst xmlns:a="http://schemas.openxmlformats.org/drawingml/2006/main">
              <a:ext uri="{FF2B5EF4-FFF2-40B4-BE49-F238E27FC236}">
                <a16:creationId xmlns:a16="http://schemas.microsoft.com/office/drawing/2014/main" id="{D3350B37-7599-494A-99BD-AE1E6AAD4AA5}"/>
              </a:ext>
            </a:extLst>
          </p:cNvPr>
          <p:cNvSpPr>
            <a:spLocks xmlns:a="http://schemas.openxmlformats.org/drawingml/2006/main" noGrp="1"/>
          </p:cNvSpPr>
          <p:nvPr/>
        </p:nvSpPr>
        <p:spPr>
          <a:xfrm xmlns:a="http://schemas.openxmlformats.org/drawingml/2006/main">
            <a:off x="852220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APOE and mitochondria</a:t>
            </a:r>
          </a:p>
        </p:txBody>
      </p:sp>
      <p:sp>
        <p:nvSpPr>
          <p:cNvPr id="21" name="TextBox 20">
            <a:extLst xmlns:a="http://schemas.openxmlformats.org/drawingml/2006/main">
              <a:ext uri="{FF2B5EF4-FFF2-40B4-BE49-F238E27FC236}">
                <a16:creationId xmlns:a16="http://schemas.microsoft.com/office/drawing/2014/main" id="{5772E729-F288-432E-B988-644CE4473BF0}"/>
              </a:ext>
            </a:extLst>
          </p:cNvPr>
          <p:cNvSpPr>
            <a:spLocks xmlns:a="http://schemas.openxmlformats.org/drawingml/2006/main" noGrp="1"/>
          </p:cNvSpPr>
          <p:nvPr/>
        </p:nvSpPr>
        <p:spPr>
          <a:xfrm xmlns:a="http://schemas.openxmlformats.org/drawingml/2006/main">
            <a:off x="854049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37A3CE70-752E-44EA-8215-399BC87A0B06}"/>
              </a:ext>
            </a:extLst>
          </p:cNvPr>
          <p:cNvSpPr>
            <a:spLocks xmlns:a="http://schemas.openxmlformats.org/drawingml/2006/main" noGrp="1"/>
          </p:cNvSpPr>
          <p:nvPr/>
        </p:nvSpPr>
        <p:spPr>
          <a:xfrm xmlns:a="http://schemas.openxmlformats.org/drawingml/2006/main">
            <a:off x="854049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0" i="0">
                <a:solidFill>
                  <a:srgbClr val="1F2730"/>
                </a:solidFill>
                <a:latin typeface="Arial"/>
                <a:ea typeface="Arial"/>
                <a:cs typeface="Arial"/>
              </a:rPr>
              <a:t>Links APOE4 astrocytes to impaired mitochondrial homeostasis.</a:t>
            </a:r>
          </a:p>
        </p:txBody>
      </p:sp>
      <p:sp>
        <p:nvSpPr>
          <p:cNvPr id="23" name="TextBox 22">
            <a:extLst xmlns:a="http://schemas.openxmlformats.org/drawingml/2006/main">
              <a:ext uri="{FF2B5EF4-FFF2-40B4-BE49-F238E27FC236}">
                <a16:creationId xmlns:a16="http://schemas.microsoft.com/office/drawing/2014/main" id="{1D0B974E-5CAB-4B97-9C99-4892975302B5}"/>
              </a:ext>
            </a:extLst>
          </p:cNvPr>
          <p:cNvSpPr>
            <a:spLocks xmlns:a="http://schemas.openxmlformats.org/drawingml/2006/main" noGrp="1"/>
          </p:cNvSpPr>
          <p:nvPr/>
        </p:nvSpPr>
        <p:spPr>
          <a:xfrm xmlns:a="http://schemas.openxmlformats.org/drawingml/2006/main">
            <a:off x="854049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CB1EF16E-4104-415B-9EE6-BFEB0DEE37AA}"/>
              </a:ext>
            </a:extLst>
          </p:cNvPr>
          <p:cNvSpPr>
            <a:spLocks xmlns:a="http://schemas.openxmlformats.org/drawingml/2006/main" noGrp="1"/>
          </p:cNvSpPr>
          <p:nvPr/>
        </p:nvSpPr>
        <p:spPr>
          <a:xfrm xmlns:a="http://schemas.openxmlformats.org/drawingml/2006/main">
            <a:off x="854049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4E5A68"/>
                </a:solidFill>
                <a:latin typeface="Arial"/>
                <a:ea typeface="Arial"/>
                <a:cs typeface="Arial"/>
              </a:rPr>
              <a:t>Different APOE group and cell type.</a:t>
            </a:r>
          </a:p>
        </p:txBody>
      </p:sp>
      <p:sp>
        <p:nvSpPr>
          <p:cNvPr id="25" name="Rounded Rectangle 24">
            <a:extLst xmlns:a="http://schemas.openxmlformats.org/drawingml/2006/main">
              <a:ext uri="{FF2B5EF4-FFF2-40B4-BE49-F238E27FC236}">
                <a16:creationId xmlns:a16="http://schemas.microsoft.com/office/drawing/2014/main" id="{99DC217A-C5DA-41D7-BA8B-F4026C1DFE30}"/>
              </a:ext>
            </a:extLst>
          </p:cNvPr>
          <p:cNvSpPr>
            <a:spLocks xmlns:a="http://schemas.openxmlformats.org/drawingml/2006/main" noGrp="1"/>
          </p:cNvSpPr>
          <p:nvPr/>
        </p:nvSpPr>
        <p:spPr>
          <a:xfrm xmlns:a="http://schemas.openxmlformats.org/drawingml/2006/main">
            <a:off x="658368" y="5742432"/>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8B586943-769E-49E5-85F0-0DDD8D4EDDA4}"/>
              </a:ext>
            </a:extLst>
          </p:cNvPr>
          <p:cNvSpPr>
            <a:spLocks xmlns:a="http://schemas.openxmlformats.org/drawingml/2006/main" noGrp="1"/>
          </p:cNvSpPr>
          <p:nvPr/>
        </p:nvSpPr>
        <p:spPr>
          <a:xfrm xmlns:a="http://schemas.openxmlformats.org/drawingml/2006/main">
            <a:off x="896112" y="5897880"/>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1" i="0">
                <a:solidFill>
                  <a:srgbClr val="7E4C9A"/>
                </a:solidFill>
                <a:latin typeface="Arial"/>
                <a:ea typeface="Arial"/>
                <a:cs typeface="Arial"/>
              </a:rPr>
              <a:t>Novelty assessment: moderate—known mitochondrial biology in a less-established sex/APOE/cell context.</a:t>
            </a:r>
          </a:p>
        </p:txBody>
      </p:sp>
    </p:spTree>
    <p:extLst>
      <p:ext uri="{BB962C8B-B14F-4D97-AF65-F5344CB8AC3E}">
        <p14:creationId xmlns:p14="http://schemas.microsoft.com/office/powerpoint/2010/main" val="348113769"/>
      </p:ext>
    </p:extLst>
  </p:cSld>
</p:sld>
</file>

<file path=ppt/slides/slide50.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F9124A-1A92-4E9C-B8C1-0F36083BD1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2</a:t>
            </a:r>
          </a:p>
        </p:txBody>
      </p:sp>
      <p:sp>
        <p:nvSpPr>
          <p:cNvPr id="3" name="Rectangle 2">
            <a:extLst xmlns:a="http://schemas.openxmlformats.org/drawingml/2006/main">
              <a:ext uri="{FF2B5EF4-FFF2-40B4-BE49-F238E27FC236}">
                <a16:creationId xmlns:a16="http://schemas.microsoft.com/office/drawing/2014/main" id="{F29E777B-DE41-4CC4-A223-0DAE0AF9458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F2EE16-EB2B-4E46-B9D4-E66404F13B03}"/>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300" b="1" i="0">
                <a:solidFill>
                  <a:srgbClr val="FFFFFF"/>
                </a:solidFill>
                <a:latin typeface="Arial"/>
                <a:ea typeface="Arial"/>
                <a:cs typeface="Arial"/>
              </a:rPr>
              <a:t>Male APOE ε3/ε3 cells show a mtDNA-up, nuclear-OXPHOS-down mismatch</a:t>
            </a:r>
          </a:p>
        </p:txBody>
      </p:sp>
      <p:sp>
        <p:nvSpPr>
          <p:cNvPr id="5" name="TextBox 4">
            <a:extLst xmlns:a="http://schemas.openxmlformats.org/drawingml/2006/main">
              <a:ext uri="{FF2B5EF4-FFF2-40B4-BE49-F238E27FC236}">
                <a16:creationId xmlns:a16="http://schemas.microsoft.com/office/drawing/2014/main" id="{A588FD2C-EB60-4577-8821-E5F5021BA1C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A mitochondrial DEG-program finding, not an identified upstream key driver.</a:t>
            </a:r>
          </a:p>
        </p:txBody>
      </p:sp>
      <p:sp>
        <p:nvSpPr>
          <p:cNvPr id="6" name="Rounded Rectangle 5">
            <a:extLst xmlns:a="http://schemas.openxmlformats.org/drawingml/2006/main">
              <a:ext uri="{FF2B5EF4-FFF2-40B4-BE49-F238E27FC236}">
                <a16:creationId xmlns:a16="http://schemas.microsoft.com/office/drawing/2014/main" id="{4AB68BF7-738C-44F8-84C1-D77201484E6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D86FA87E-93AC-45B3-84EA-A3CA04235AE7}"/>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97A04348-1C76-4D1C-B8AC-3EAF85E045F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52F1C3F-7A36-4E03-A6C4-0613900CEA2D}"/>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B552BAB4-2207-4F4D-8992-69750669E91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7A656E3B-C25F-4358-8744-6B69A65324AB}"/>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857FEE0-4FA6-4463-9B7D-74746D463189}"/>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A57F751B-861E-4858-BE4F-8A6DD59F1938}"/>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973D29A-9145-4E4D-89F5-AC1BCDB8D5B2}"/>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D7D48CD-32D2-496C-BA2E-A10C4966E0B8}"/>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698853C-FD5E-4454-95DC-0E479B798FB5}"/>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SEA-AD support</a:t>
            </a:r>
          </a:p>
        </p:txBody>
      </p:sp>
      <p:sp>
        <p:nvSpPr>
          <p:cNvPr id="17" name="Oval 16">
            <a:extLst xmlns:a="http://schemas.openxmlformats.org/drawingml/2006/main">
              <a:ext uri="{FF2B5EF4-FFF2-40B4-BE49-F238E27FC236}">
                <a16:creationId xmlns:a16="http://schemas.microsoft.com/office/drawing/2014/main" id="{AE991DE2-7759-4369-BB68-091CD975BA85}"/>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5E18EF7-8353-4915-84F5-D0AADCED05F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1059528-957D-41CF-8D38-5860BE5B5CD5}"/>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9783892-98D7-4CBA-9CBA-83A45F37F2E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E3B01D2-604E-44C2-A51B-87CA43C45395}"/>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SEA-AD supports the inhibitory-neuron DEG pattern without matching the exact ROSMAP drivers.</a:t>
            </a:r>
          </a:p>
        </p:txBody>
      </p:sp>
    </p:spTree>
    <p:extLst>
      <p:ext uri="{BB962C8B-B14F-4D97-AF65-F5344CB8AC3E}">
        <p14:creationId xmlns:p14="http://schemas.microsoft.com/office/powerpoint/2010/main" val="1980501130"/>
      </p:ext>
    </p:extLst>
  </p:cSld>
</p:sld>
</file>

<file path=ppt/slides/slide5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B3EDD71-7F75-4FE2-8F11-10F0B9E568D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Male ε3/ε3 cells raise mtDNA energy-gene RNA while lowering nuclear energy-gene RNA</a:t>
            </a:r>
          </a:p>
        </p:txBody>
      </p:sp>
      <p:sp>
        <p:nvSpPr>
          <p:cNvPr id="3" name="TextBox 2">
            <a:extLst xmlns:a="http://schemas.openxmlformats.org/drawingml/2006/main">
              <a:ext uri="{FF2B5EF4-FFF2-40B4-BE49-F238E27FC236}">
                <a16:creationId xmlns:a16="http://schemas.microsoft.com/office/drawing/2014/main" id="{02698264-837A-4235-8D99-EC3D63D97BD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two genomes often move in opposite directions; matched inhibitory neurons show the pattern in SEA-AD.</a:t>
            </a:r>
          </a:p>
        </p:txBody>
      </p:sp>
      <p:sp>
        <p:nvSpPr>
          <p:cNvPr id="4" name="Rounded Rectangle 3">
            <a:extLst xmlns:a="http://schemas.openxmlformats.org/drawingml/2006/main">
              <a:ext uri="{FF2B5EF4-FFF2-40B4-BE49-F238E27FC236}">
                <a16:creationId xmlns:a16="http://schemas.microsoft.com/office/drawing/2014/main" id="{397E169F-A1C0-44A6-9812-A2BC35F60F22}"/>
              </a:ext>
            </a:extLst>
          </p:cNvPr>
          <p:cNvSpPr>
            <a:spLocks xmlns:a="http://schemas.openxmlformats.org/drawingml/2006/main" noGrp="1"/>
          </p:cNvSpPr>
          <p:nvPr/>
        </p:nvSpPr>
        <p:spPr>
          <a:xfrm xmlns:a="http://schemas.openxmlformats.org/drawingml/2006/main">
            <a:off x="1024128" y="1353312"/>
            <a:ext cx="1920240"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2C7E636-8347-42FB-B8CE-ECB30E056362}"/>
              </a:ext>
            </a:extLst>
          </p:cNvPr>
          <p:cNvSpPr>
            <a:spLocks xmlns:a="http://schemas.openxmlformats.org/drawingml/2006/main" noGrp="1"/>
          </p:cNvSpPr>
          <p:nvPr/>
        </p:nvSpPr>
        <p:spPr>
          <a:xfrm xmlns:a="http://schemas.openxmlformats.org/drawingml/2006/main">
            <a:off x="1115568" y="1453896"/>
            <a:ext cx="173736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080E6272-1353-49C9-9122-5FE680AC7958}"/>
              </a:ext>
            </a:extLst>
          </p:cNvPr>
          <p:cNvSpPr>
            <a:spLocks xmlns:a="http://schemas.openxmlformats.org/drawingml/2006/main" noGrp="1"/>
          </p:cNvSpPr>
          <p:nvPr/>
        </p:nvSpPr>
        <p:spPr>
          <a:xfrm xmlns:a="http://schemas.openxmlformats.org/drawingml/2006/main">
            <a:off x="3218688" y="1353312"/>
            <a:ext cx="2212848"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7F5CC54D-8B7F-4617-A22B-EA9AB2170A91}"/>
              </a:ext>
            </a:extLst>
          </p:cNvPr>
          <p:cNvSpPr>
            <a:spLocks xmlns:a="http://schemas.openxmlformats.org/drawingml/2006/main" noGrp="1"/>
          </p:cNvSpPr>
          <p:nvPr/>
        </p:nvSpPr>
        <p:spPr>
          <a:xfrm xmlns:a="http://schemas.openxmlformats.org/drawingml/2006/main">
            <a:off x="3310128" y="1453896"/>
            <a:ext cx="202996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00684D"/>
                </a:solidFill>
                <a:latin typeface="Arial"/>
                <a:ea typeface="Arial"/>
                <a:cs typeface="Arial"/>
              </a:rPr>
              <a:t>APOE ε3/ε3</a:t>
            </a:r>
          </a:p>
        </p:txBody>
      </p:sp>
      <p:sp>
        <p:nvSpPr>
          <p:cNvPr id="8" name="Rounded Rectangle 7">
            <a:extLst xmlns:a="http://schemas.openxmlformats.org/drawingml/2006/main">
              <a:ext uri="{FF2B5EF4-FFF2-40B4-BE49-F238E27FC236}">
                <a16:creationId xmlns:a16="http://schemas.microsoft.com/office/drawing/2014/main" id="{E37D0E96-E63A-4D64-B1AD-FFEF11108557}"/>
              </a:ext>
            </a:extLst>
          </p:cNvPr>
          <p:cNvSpPr>
            <a:spLocks xmlns:a="http://schemas.openxmlformats.org/drawingml/2006/main" noGrp="1"/>
          </p:cNvSpPr>
          <p:nvPr/>
        </p:nvSpPr>
        <p:spPr>
          <a:xfrm xmlns:a="http://schemas.openxmlformats.org/drawingml/2006/main">
            <a:off x="5705856" y="1353312"/>
            <a:ext cx="2432304"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2EC3789-9769-4D18-A494-38C1F2CBEFD3}"/>
              </a:ext>
            </a:extLst>
          </p:cNvPr>
          <p:cNvSpPr>
            <a:spLocks xmlns:a="http://schemas.openxmlformats.org/drawingml/2006/main" noGrp="1"/>
          </p:cNvSpPr>
          <p:nvPr/>
        </p:nvSpPr>
        <p:spPr>
          <a:xfrm xmlns:a="http://schemas.openxmlformats.org/drawingml/2006/main">
            <a:off x="5797296" y="1453896"/>
            <a:ext cx="2249424"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895600"/>
                </a:solidFill>
                <a:latin typeface="Arial"/>
                <a:ea typeface="Arial"/>
                <a:cs typeface="Arial"/>
              </a:rPr>
              <a:t>Inhibitory support</a:t>
            </a:r>
          </a:p>
        </p:txBody>
      </p:sp>
      <p:sp>
        <p:nvSpPr>
          <p:cNvPr id="10" name="Rounded Rectangle 9">
            <a:extLst xmlns:a="http://schemas.openxmlformats.org/drawingml/2006/main">
              <a:ext uri="{FF2B5EF4-FFF2-40B4-BE49-F238E27FC236}">
                <a16:creationId xmlns:a16="http://schemas.microsoft.com/office/drawing/2014/main" id="{60146EAA-D4F4-45A4-9355-40543682B813}"/>
              </a:ext>
            </a:extLst>
          </p:cNvPr>
          <p:cNvSpPr>
            <a:spLocks xmlns:a="http://schemas.openxmlformats.org/drawingml/2006/main" noGrp="1"/>
          </p:cNvSpPr>
          <p:nvPr/>
        </p:nvSpPr>
        <p:spPr>
          <a:xfrm xmlns:a="http://schemas.openxmlformats.org/drawingml/2006/main">
            <a:off x="8412480" y="1353312"/>
            <a:ext cx="2578608"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96D18F2-A872-41A6-97F4-F5C7EF050809}"/>
              </a:ext>
            </a:extLst>
          </p:cNvPr>
          <p:cNvSpPr>
            <a:spLocks xmlns:a="http://schemas.openxmlformats.org/drawingml/2006/main" noGrp="1"/>
          </p:cNvSpPr>
          <p:nvPr/>
        </p:nvSpPr>
        <p:spPr>
          <a:xfrm xmlns:a="http://schemas.openxmlformats.org/drawingml/2006/main">
            <a:off x="8503919" y="1453896"/>
            <a:ext cx="2395727"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9E3A00"/>
                </a:solidFill>
                <a:latin typeface="Arial"/>
                <a:ea typeface="Arial"/>
                <a:cs typeface="Arial"/>
              </a:rPr>
              <a:t>Alzheimer’s disease</a:t>
            </a:r>
          </a:p>
        </p:txBody>
      </p:sp>
      <p:sp>
        <p:nvSpPr>
          <p:cNvPr id="12" name="Rounded Rectangle 11">
            <a:extLst xmlns:a="http://schemas.openxmlformats.org/drawingml/2006/main">
              <a:ext uri="{FF2B5EF4-FFF2-40B4-BE49-F238E27FC236}">
                <a16:creationId xmlns:a16="http://schemas.microsoft.com/office/drawing/2014/main" id="{6D84102F-E14A-43A2-A63D-C515B39DDDC8}"/>
              </a:ext>
            </a:extLst>
          </p:cNvPr>
          <p:cNvSpPr>
            <a:spLocks xmlns:a="http://schemas.openxmlformats.org/drawingml/2006/main" noGrp="1"/>
          </p:cNvSpPr>
          <p:nvPr/>
        </p:nvSpPr>
        <p:spPr>
          <a:xfrm xmlns:a="http://schemas.openxmlformats.org/drawingml/2006/main">
            <a:off x="749808" y="2084831"/>
            <a:ext cx="5047488" cy="276148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9273371-8277-45C0-BF8D-3E927D545CAB}"/>
              </a:ext>
            </a:extLst>
          </p:cNvPr>
          <p:cNvSpPr>
            <a:spLocks xmlns:a="http://schemas.openxmlformats.org/drawingml/2006/main" noGrp="1"/>
          </p:cNvSpPr>
          <p:nvPr/>
        </p:nvSpPr>
        <p:spPr>
          <a:xfrm xmlns:a="http://schemas.openxmlformats.org/drawingml/2006/main">
            <a:off x="1024128" y="2468880"/>
            <a:ext cx="4498848"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EC86CDF9-4226-49D3-AC82-153B477F37E8}"/>
              </a:ext>
            </a:extLst>
          </p:cNvPr>
          <p:cNvSpPr>
            <a:spLocks xmlns:a="http://schemas.openxmlformats.org/drawingml/2006/main" noGrp="1"/>
          </p:cNvSpPr>
          <p:nvPr/>
        </p:nvSpPr>
        <p:spPr>
          <a:xfrm xmlns:a="http://schemas.openxmlformats.org/drawingml/2006/main">
            <a:off x="1188720" y="2953512"/>
            <a:ext cx="1188720"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4800" b="1" i="0">
                <a:solidFill>
                  <a:srgbClr val="00684D"/>
                </a:solidFill>
                <a:latin typeface="Arial"/>
                <a:ea typeface="Arial"/>
                <a:cs typeface="Arial"/>
              </a:rPr>
              <a:t>↑</a:t>
            </a:r>
          </a:p>
        </p:txBody>
      </p:sp>
      <p:sp>
        <p:nvSpPr>
          <p:cNvPr id="15" name="TextBox 14">
            <a:extLst xmlns:a="http://schemas.openxmlformats.org/drawingml/2006/main">
              <a:ext uri="{FF2B5EF4-FFF2-40B4-BE49-F238E27FC236}">
                <a16:creationId xmlns:a16="http://schemas.microsoft.com/office/drawing/2014/main" id="{10DFCD5E-8BA6-4D59-9D89-DB09251C5134}"/>
              </a:ext>
            </a:extLst>
          </p:cNvPr>
          <p:cNvSpPr>
            <a:spLocks xmlns:a="http://schemas.openxmlformats.org/drawingml/2006/main" noGrp="1"/>
          </p:cNvSpPr>
          <p:nvPr/>
        </p:nvSpPr>
        <p:spPr>
          <a:xfrm xmlns:a="http://schemas.openxmlformats.org/drawingml/2006/main">
            <a:off x="2267712" y="3099816"/>
            <a:ext cx="2944368"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1F2730"/>
                </a:solidFill>
                <a:latin typeface="Arial"/>
                <a:ea typeface="Arial"/>
                <a:cs typeface="Arial"/>
              </a:rPr>
              <a:t>mtDNA-OXPHOS RNA
mostly increases in AD</a:t>
            </a:r>
          </a:p>
        </p:txBody>
      </p:sp>
      <p:sp>
        <p:nvSpPr>
          <p:cNvPr id="16" name="Rounded Rectangle 15">
            <a:extLst xmlns:a="http://schemas.openxmlformats.org/drawingml/2006/main">
              <a:ext uri="{FF2B5EF4-FFF2-40B4-BE49-F238E27FC236}">
                <a16:creationId xmlns:a16="http://schemas.microsoft.com/office/drawing/2014/main" id="{F2C9BFD7-5374-4B5C-A818-B7754BFF8571}"/>
              </a:ext>
            </a:extLst>
          </p:cNvPr>
          <p:cNvSpPr>
            <a:spLocks xmlns:a="http://schemas.openxmlformats.org/drawingml/2006/main" noGrp="1"/>
          </p:cNvSpPr>
          <p:nvPr/>
        </p:nvSpPr>
        <p:spPr>
          <a:xfrm xmlns:a="http://schemas.openxmlformats.org/drawingml/2006/main">
            <a:off x="6382512" y="2084831"/>
            <a:ext cx="5065776" cy="276148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B10E5A-F95E-4833-9E71-C100046AE67B}"/>
              </a:ext>
            </a:extLst>
          </p:cNvPr>
          <p:cNvSpPr>
            <a:spLocks xmlns:a="http://schemas.openxmlformats.org/drawingml/2006/main" noGrp="1"/>
          </p:cNvSpPr>
          <p:nvPr/>
        </p:nvSpPr>
        <p:spPr>
          <a:xfrm xmlns:a="http://schemas.openxmlformats.org/drawingml/2006/main">
            <a:off x="6656832" y="2468880"/>
            <a:ext cx="4517136"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800" b="1" i="0">
                <a:solidFill>
                  <a:srgbClr val="0F233D"/>
                </a:solidFill>
                <a:latin typeface="Arial"/>
                <a:ea typeface="Arial"/>
                <a:cs typeface="Arial"/>
              </a:rPr>
              <a:t>Nuclear DNA</a:t>
            </a:r>
          </a:p>
        </p:txBody>
      </p:sp>
      <p:sp>
        <p:nvSpPr>
          <p:cNvPr id="18" name="TextBox 17">
            <a:extLst xmlns:a="http://schemas.openxmlformats.org/drawingml/2006/main">
              <a:ext uri="{FF2B5EF4-FFF2-40B4-BE49-F238E27FC236}">
                <a16:creationId xmlns:a16="http://schemas.microsoft.com/office/drawing/2014/main" id="{3FB05672-2D66-45B7-9F63-D10F46741A3D}"/>
              </a:ext>
            </a:extLst>
          </p:cNvPr>
          <p:cNvSpPr>
            <a:spLocks xmlns:a="http://schemas.openxmlformats.org/drawingml/2006/main" noGrp="1"/>
          </p:cNvSpPr>
          <p:nvPr/>
        </p:nvSpPr>
        <p:spPr>
          <a:xfrm xmlns:a="http://schemas.openxmlformats.org/drawingml/2006/main">
            <a:off x="6821424" y="2953512"/>
            <a:ext cx="1188720"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4800" b="1" i="0">
                <a:solidFill>
                  <a:srgbClr val="9E3A00"/>
                </a:solidFill>
                <a:latin typeface="Arial"/>
                <a:ea typeface="Arial"/>
                <a:cs typeface="Arial"/>
              </a:rPr>
              <a:t>↓</a:t>
            </a:r>
          </a:p>
        </p:txBody>
      </p:sp>
      <p:sp>
        <p:nvSpPr>
          <p:cNvPr id="19" name="TextBox 18">
            <a:extLst xmlns:a="http://schemas.openxmlformats.org/drawingml/2006/main">
              <a:ext uri="{FF2B5EF4-FFF2-40B4-BE49-F238E27FC236}">
                <a16:creationId xmlns:a16="http://schemas.microsoft.com/office/drawing/2014/main" id="{951C76EB-DABD-49D9-AD3C-D22A60A26F75}"/>
              </a:ext>
            </a:extLst>
          </p:cNvPr>
          <p:cNvSpPr>
            <a:spLocks xmlns:a="http://schemas.openxmlformats.org/drawingml/2006/main" noGrp="1"/>
          </p:cNvSpPr>
          <p:nvPr/>
        </p:nvSpPr>
        <p:spPr>
          <a:xfrm xmlns:a="http://schemas.openxmlformats.org/drawingml/2006/main">
            <a:off x="7900416" y="3099816"/>
            <a:ext cx="296265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1F2730"/>
                </a:solidFill>
                <a:latin typeface="Arial"/>
                <a:ea typeface="Arial"/>
                <a:cs typeface="Arial"/>
              </a:rPr>
              <a:t>nuclear OXPHOS RNA
mostly decreases in AD</a:t>
            </a:r>
          </a:p>
        </p:txBody>
      </p:sp>
      <p:sp>
        <p:nvSpPr>
          <p:cNvPr id="20" name="Rounded Rectangle 19">
            <a:extLst xmlns:a="http://schemas.openxmlformats.org/drawingml/2006/main">
              <a:ext uri="{FF2B5EF4-FFF2-40B4-BE49-F238E27FC236}">
                <a16:creationId xmlns:a16="http://schemas.microsoft.com/office/drawing/2014/main" id="{9191A2DE-8434-4DED-9FA6-D055D1E9F3CC}"/>
              </a:ext>
            </a:extLst>
          </p:cNvPr>
          <p:cNvSpPr>
            <a:spLocks xmlns:a="http://schemas.openxmlformats.org/drawingml/2006/main" noGrp="1"/>
          </p:cNvSpPr>
          <p:nvPr/>
        </p:nvSpPr>
        <p:spPr>
          <a:xfrm xmlns:a="http://schemas.openxmlformats.org/drawingml/2006/main">
            <a:off x="749808" y="5230368"/>
            <a:ext cx="10698480" cy="694944"/>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916A2FE-9DEB-444D-B9B7-8EF09A72E49E}"/>
              </a:ext>
            </a:extLst>
          </p:cNvPr>
          <p:cNvSpPr>
            <a:spLocks xmlns:a="http://schemas.openxmlformats.org/drawingml/2006/main" noGrp="1"/>
          </p:cNvSpPr>
          <p:nvPr/>
        </p:nvSpPr>
        <p:spPr>
          <a:xfrm xmlns:a="http://schemas.openxmlformats.org/drawingml/2006/main">
            <a:off x="987552" y="5422392"/>
            <a:ext cx="10222992"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40" b="1" i="0">
                <a:solidFill>
                  <a:srgbClr val="7E4C9A"/>
                </a:solidFill>
                <a:latin typeface="Arial"/>
                <a:ea typeface="Arial"/>
                <a:cs typeface="Arial"/>
              </a:rPr>
              <a:t>Plain meaning: RNA instructions for two matching sets of respiratory parts move in opposite directions.</a:t>
            </a:r>
          </a:p>
        </p:txBody>
      </p:sp>
      <p:sp>
        <p:nvSpPr>
          <p:cNvPr id="22" name="TextBox 21">
            <a:extLst xmlns:a="http://schemas.openxmlformats.org/drawingml/2006/main">
              <a:ext uri="{FF2B5EF4-FFF2-40B4-BE49-F238E27FC236}">
                <a16:creationId xmlns:a16="http://schemas.microsoft.com/office/drawing/2014/main" id="{8B9BB39C-2AD4-4988-96CB-DE0217C23F6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Finding 2 synthesis; ROSMAP discovery with supplemental SEA-AD program support.</a:t>
            </a:r>
          </a:p>
        </p:txBody>
      </p:sp>
    </p:spTree>
    <p:extLst>
      <p:ext uri="{BB962C8B-B14F-4D97-AF65-F5344CB8AC3E}">
        <p14:creationId xmlns:p14="http://schemas.microsoft.com/office/powerpoint/2010/main" val="1336706137"/>
      </p:ext>
    </p:extLst>
  </p:cSld>
</p:sld>
</file>

<file path=ppt/slides/slide5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0DF3AA2-2949-4CB9-BFD3-1140A994245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ε3/ε3 cells show opposite OXPHOS RNA directions</a:t>
            </a:r>
          </a:p>
        </p:txBody>
      </p:sp>
      <p:sp>
        <p:nvSpPr>
          <p:cNvPr id="3" name="TextBox 2">
            <a:extLst xmlns:a="http://schemas.openxmlformats.org/drawingml/2006/main">
              <a:ext uri="{FF2B5EF4-FFF2-40B4-BE49-F238E27FC236}">
                <a16:creationId xmlns:a16="http://schemas.microsoft.com/office/drawing/2014/main" id="{8F0EBA17-C3F1-4CBE-BFAA-4125E846F84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Across 31 eligible fine-cell DEG queries; occurrences repeat genes across calls.</a:t>
            </a:r>
          </a:p>
        </p:txBody>
      </p:sp>
      <p:sp>
        <p:nvSpPr>
          <p:cNvPr id="4" name="Rounded Rectangle 3">
            <a:extLst xmlns:a="http://schemas.openxmlformats.org/drawingml/2006/main">
              <a:ext uri="{FF2B5EF4-FFF2-40B4-BE49-F238E27FC236}">
                <a16:creationId xmlns:a16="http://schemas.microsoft.com/office/drawing/2014/main" id="{A7492153-533E-45DD-89CE-40239C37D7DC}"/>
              </a:ext>
            </a:extLst>
          </p:cNvPr>
          <p:cNvSpPr>
            <a:spLocks xmlns:a="http://schemas.openxmlformats.org/drawingml/2006/main" noGrp="1"/>
          </p:cNvSpPr>
          <p:nvPr/>
        </p:nvSpPr>
        <p:spPr>
          <a:xfrm xmlns:a="http://schemas.openxmlformats.org/drawingml/2006/main">
            <a:off x="658368" y="1389888"/>
            <a:ext cx="5285232" cy="4370832"/>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D24C7C6-C67A-4444-91EC-6C3A647E6A12}"/>
              </a:ext>
            </a:extLst>
          </p:cNvPr>
          <p:cNvSpPr>
            <a:spLocks xmlns:a="http://schemas.openxmlformats.org/drawingml/2006/main" noGrp="1"/>
          </p:cNvSpPr>
          <p:nvPr/>
        </p:nvSpPr>
        <p:spPr>
          <a:xfrm xmlns:a="http://schemas.openxmlformats.org/drawingml/2006/main">
            <a:off x="950976" y="1728216"/>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60C00B9-577D-4DCA-AA58-174B80A2AF4E}"/>
              </a:ext>
            </a:extLst>
          </p:cNvPr>
          <p:cNvSpPr>
            <a:spLocks xmlns:a="http://schemas.openxmlformats.org/drawingml/2006/main" noGrp="1"/>
          </p:cNvSpPr>
          <p:nvPr/>
        </p:nvSpPr>
        <p:spPr>
          <a:xfrm xmlns:a="http://schemas.openxmlformats.org/drawingml/2006/main">
            <a:off x="1097280" y="170078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Mitochondrial-DNA OXPHOS</a:t>
            </a:r>
          </a:p>
        </p:txBody>
      </p:sp>
      <p:sp>
        <p:nvSpPr>
          <p:cNvPr id="7" name="TextBox 6">
            <a:extLst xmlns:a="http://schemas.openxmlformats.org/drawingml/2006/main">
              <a:ext uri="{FF2B5EF4-FFF2-40B4-BE49-F238E27FC236}">
                <a16:creationId xmlns:a16="http://schemas.microsoft.com/office/drawing/2014/main" id="{F47E809B-8CCD-4960-984D-A19B502F51A9}"/>
              </a:ext>
            </a:extLst>
          </p:cNvPr>
          <p:cNvSpPr>
            <a:spLocks xmlns:a="http://schemas.openxmlformats.org/drawingml/2006/main" noGrp="1"/>
          </p:cNvSpPr>
          <p:nvPr/>
        </p:nvSpPr>
        <p:spPr>
          <a:xfrm xmlns:a="http://schemas.openxmlformats.org/drawingml/2006/main">
            <a:off x="987552" y="2148840"/>
            <a:ext cx="14447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0072B2"/>
                </a:solidFill>
                <a:latin typeface="Arial"/>
                <a:ea typeface="Arial"/>
                <a:cs typeface="Arial"/>
              </a:rPr>
              <a:t>81</a:t>
            </a:r>
          </a:p>
        </p:txBody>
      </p:sp>
      <p:sp>
        <p:nvSpPr>
          <p:cNvPr id="8" name="TextBox 7">
            <a:extLst xmlns:a="http://schemas.openxmlformats.org/drawingml/2006/main">
              <a:ext uri="{FF2B5EF4-FFF2-40B4-BE49-F238E27FC236}">
                <a16:creationId xmlns:a16="http://schemas.microsoft.com/office/drawing/2014/main" id="{C3665464-878D-4BEE-A99A-4A05CF1AB15F}"/>
              </a:ext>
            </a:extLst>
          </p:cNvPr>
          <p:cNvSpPr>
            <a:spLocks xmlns:a="http://schemas.openxmlformats.org/drawingml/2006/main" noGrp="1"/>
          </p:cNvSpPr>
          <p:nvPr/>
        </p:nvSpPr>
        <p:spPr>
          <a:xfrm xmlns:a="http://schemas.openxmlformats.org/drawingml/2006/main">
            <a:off x="2432304" y="2340864"/>
            <a:ext cx="272491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9" name="TextBox 8">
            <a:extLst xmlns:a="http://schemas.openxmlformats.org/drawingml/2006/main">
              <a:ext uri="{FF2B5EF4-FFF2-40B4-BE49-F238E27FC236}">
                <a16:creationId xmlns:a16="http://schemas.microsoft.com/office/drawing/2014/main" id="{1FB611C5-B6CD-4E54-A575-ACB7B18BADA9}"/>
              </a:ext>
            </a:extLst>
          </p:cNvPr>
          <p:cNvSpPr>
            <a:spLocks xmlns:a="http://schemas.openxmlformats.org/drawingml/2006/main" noGrp="1"/>
          </p:cNvSpPr>
          <p:nvPr/>
        </p:nvSpPr>
        <p:spPr>
          <a:xfrm xmlns:a="http://schemas.openxmlformats.org/drawingml/2006/main">
            <a:off x="1024128" y="3017520"/>
            <a:ext cx="45720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1F2730"/>
                </a:solidFill>
                <a:latin typeface="Arial"/>
                <a:ea typeface="Arial"/>
                <a:cs typeface="Arial"/>
              </a:rPr>
              <a:t>70 AD-up  •  11 AD-down</a:t>
            </a:r>
          </a:p>
        </p:txBody>
      </p:sp>
      <p:sp>
        <p:nvSpPr>
          <p:cNvPr id="10" name="Rounded Rectangle 9">
            <a:extLst xmlns:a="http://schemas.openxmlformats.org/drawingml/2006/main">
              <a:ext uri="{FF2B5EF4-FFF2-40B4-BE49-F238E27FC236}">
                <a16:creationId xmlns:a16="http://schemas.microsoft.com/office/drawing/2014/main" id="{FCE84EFA-3452-4D3C-9141-37E6717F9FE4}"/>
              </a:ext>
            </a:extLst>
          </p:cNvPr>
          <p:cNvSpPr>
            <a:spLocks xmlns:a="http://schemas.openxmlformats.org/drawingml/2006/main" noGrp="1"/>
          </p:cNvSpPr>
          <p:nvPr/>
        </p:nvSpPr>
        <p:spPr>
          <a:xfrm xmlns:a="http://schemas.openxmlformats.org/drawingml/2006/main">
            <a:off x="1024128" y="3474720"/>
            <a:ext cx="4315968" cy="310896"/>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Rectangle 10">
            <a:extLst xmlns:a="http://schemas.openxmlformats.org/drawingml/2006/main">
              <a:ext uri="{FF2B5EF4-FFF2-40B4-BE49-F238E27FC236}">
                <a16:creationId xmlns:a16="http://schemas.microsoft.com/office/drawing/2014/main" id="{0D57644E-EF30-480F-8C6B-15E9084154A8}"/>
              </a:ext>
            </a:extLst>
          </p:cNvPr>
          <p:cNvSpPr>
            <a:spLocks xmlns:a="http://schemas.openxmlformats.org/drawingml/2006/main" noGrp="1"/>
          </p:cNvSpPr>
          <p:nvPr/>
        </p:nvSpPr>
        <p:spPr>
          <a:xfrm xmlns:a="http://schemas.openxmlformats.org/drawingml/2006/main">
            <a:off x="1024128" y="3474720"/>
            <a:ext cx="3730752" cy="310896"/>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Rectangle 11">
            <a:extLst xmlns:a="http://schemas.openxmlformats.org/drawingml/2006/main">
              <a:ext uri="{FF2B5EF4-FFF2-40B4-BE49-F238E27FC236}">
                <a16:creationId xmlns:a16="http://schemas.microsoft.com/office/drawing/2014/main" id="{D9E5B954-A61F-42C6-BC7E-E70F51280E4C}"/>
              </a:ext>
            </a:extLst>
          </p:cNvPr>
          <p:cNvSpPr>
            <a:spLocks xmlns:a="http://schemas.openxmlformats.org/drawingml/2006/main" noGrp="1"/>
          </p:cNvSpPr>
          <p:nvPr/>
        </p:nvSpPr>
        <p:spPr>
          <a:xfrm xmlns:a="http://schemas.openxmlformats.org/drawingml/2006/main">
            <a:off x="4754880" y="3474720"/>
            <a:ext cx="585216" cy="310896"/>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2656C86-8A13-48BD-A01D-EE40E47DD509}"/>
              </a:ext>
            </a:extLst>
          </p:cNvPr>
          <p:cNvSpPr>
            <a:spLocks xmlns:a="http://schemas.openxmlformats.org/drawingml/2006/main" noGrp="1"/>
          </p:cNvSpPr>
          <p:nvPr/>
        </p:nvSpPr>
        <p:spPr>
          <a:xfrm xmlns:a="http://schemas.openxmlformats.org/drawingml/2006/main">
            <a:off x="1078992" y="3867912"/>
            <a:ext cx="184708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40" b="1" i="0">
                <a:solidFill>
                  <a:srgbClr val="00684D"/>
                </a:solidFill>
                <a:latin typeface="Arial"/>
                <a:ea typeface="Arial"/>
                <a:cs typeface="Arial"/>
              </a:rPr>
              <a:t>86% up</a:t>
            </a:r>
          </a:p>
        </p:txBody>
      </p:sp>
      <p:sp>
        <p:nvSpPr>
          <p:cNvPr id="14" name="TextBox 13">
            <a:extLst xmlns:a="http://schemas.openxmlformats.org/drawingml/2006/main">
              <a:ext uri="{FF2B5EF4-FFF2-40B4-BE49-F238E27FC236}">
                <a16:creationId xmlns:a16="http://schemas.microsoft.com/office/drawing/2014/main" id="{23E74C38-1E09-4F5A-8FF9-281E78070AA5}"/>
              </a:ext>
            </a:extLst>
          </p:cNvPr>
          <p:cNvSpPr>
            <a:spLocks xmlns:a="http://schemas.openxmlformats.org/drawingml/2006/main" noGrp="1"/>
          </p:cNvSpPr>
          <p:nvPr/>
        </p:nvSpPr>
        <p:spPr>
          <a:xfrm xmlns:a="http://schemas.openxmlformats.org/drawingml/2006/main">
            <a:off x="1024128" y="4645152"/>
            <a:ext cx="457200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12 input queries enriched</a:t>
            </a:r>
          </a:p>
        </p:txBody>
      </p:sp>
      <p:sp>
        <p:nvSpPr>
          <p:cNvPr id="15" name="TextBox 14">
            <a:extLst xmlns:a="http://schemas.openxmlformats.org/drawingml/2006/main">
              <a:ext uri="{FF2B5EF4-FFF2-40B4-BE49-F238E27FC236}">
                <a16:creationId xmlns:a16="http://schemas.microsoft.com/office/drawing/2014/main" id="{E8A5450C-7B4A-4CC1-BB18-35057EF4349F}"/>
              </a:ext>
            </a:extLst>
          </p:cNvPr>
          <p:cNvSpPr>
            <a:spLocks xmlns:a="http://schemas.openxmlformats.org/drawingml/2006/main" noGrp="1"/>
          </p:cNvSpPr>
          <p:nvPr/>
        </p:nvSpPr>
        <p:spPr>
          <a:xfrm xmlns:a="http://schemas.openxmlformats.org/drawingml/2006/main">
            <a:off x="1024128" y="5065776"/>
            <a:ext cx="457200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All 12 enriched queries were in the AD-up direction.</a:t>
            </a:r>
          </a:p>
        </p:txBody>
      </p:sp>
      <p:sp>
        <p:nvSpPr>
          <p:cNvPr id="16" name="Rounded Rectangle 15">
            <a:extLst xmlns:a="http://schemas.openxmlformats.org/drawingml/2006/main">
              <a:ext uri="{FF2B5EF4-FFF2-40B4-BE49-F238E27FC236}">
                <a16:creationId xmlns:a16="http://schemas.microsoft.com/office/drawing/2014/main" id="{78B2F20E-1F38-4D6E-866C-62A34CC13AC4}"/>
              </a:ext>
            </a:extLst>
          </p:cNvPr>
          <p:cNvSpPr>
            <a:spLocks xmlns:a="http://schemas.openxmlformats.org/drawingml/2006/main" noGrp="1"/>
          </p:cNvSpPr>
          <p:nvPr/>
        </p:nvSpPr>
        <p:spPr>
          <a:xfrm xmlns:a="http://schemas.openxmlformats.org/drawingml/2006/main">
            <a:off x="6236208" y="1389888"/>
            <a:ext cx="5303520" cy="437083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Rectangle 16">
            <a:extLst xmlns:a="http://schemas.openxmlformats.org/drawingml/2006/main">
              <a:ext uri="{FF2B5EF4-FFF2-40B4-BE49-F238E27FC236}">
                <a16:creationId xmlns:a16="http://schemas.microsoft.com/office/drawing/2014/main" id="{5D3AD0A4-50E9-47AC-A0A1-2293894B4878}"/>
              </a:ext>
            </a:extLst>
          </p:cNvPr>
          <p:cNvSpPr>
            <a:spLocks xmlns:a="http://schemas.openxmlformats.org/drawingml/2006/main" noGrp="1"/>
          </p:cNvSpPr>
          <p:nvPr/>
        </p:nvSpPr>
        <p:spPr>
          <a:xfrm xmlns:a="http://schemas.openxmlformats.org/drawingml/2006/main">
            <a:off x="6528816" y="172821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BABEF69A-04D3-462A-802D-2ACC8A25F572}"/>
              </a:ext>
            </a:extLst>
          </p:cNvPr>
          <p:cNvSpPr>
            <a:spLocks xmlns:a="http://schemas.openxmlformats.org/drawingml/2006/main" noGrp="1"/>
          </p:cNvSpPr>
          <p:nvPr/>
        </p:nvSpPr>
        <p:spPr>
          <a:xfrm xmlns:a="http://schemas.openxmlformats.org/drawingml/2006/main">
            <a:off x="6675120" y="170078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Nuclear-encoded OXPHOS</a:t>
            </a:r>
          </a:p>
        </p:txBody>
      </p:sp>
      <p:sp>
        <p:nvSpPr>
          <p:cNvPr id="19" name="TextBox 18">
            <a:extLst xmlns:a="http://schemas.openxmlformats.org/drawingml/2006/main">
              <a:ext uri="{FF2B5EF4-FFF2-40B4-BE49-F238E27FC236}">
                <a16:creationId xmlns:a16="http://schemas.microsoft.com/office/drawing/2014/main" id="{98AB4C81-D082-4C02-A468-F1B3B6B33BB4}"/>
              </a:ext>
            </a:extLst>
          </p:cNvPr>
          <p:cNvSpPr>
            <a:spLocks xmlns:a="http://schemas.openxmlformats.org/drawingml/2006/main" noGrp="1"/>
          </p:cNvSpPr>
          <p:nvPr/>
        </p:nvSpPr>
        <p:spPr>
          <a:xfrm xmlns:a="http://schemas.openxmlformats.org/drawingml/2006/main">
            <a:off x="6565392" y="2148840"/>
            <a:ext cx="1444752" cy="6035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3100" b="1" i="0">
                <a:solidFill>
                  <a:srgbClr val="9E3A00"/>
                </a:solidFill>
                <a:latin typeface="Arial"/>
                <a:ea typeface="Arial"/>
                <a:cs typeface="Arial"/>
              </a:rPr>
              <a:t>68</a:t>
            </a:r>
          </a:p>
        </p:txBody>
      </p:sp>
      <p:sp>
        <p:nvSpPr>
          <p:cNvPr id="20" name="TextBox 19">
            <a:extLst xmlns:a="http://schemas.openxmlformats.org/drawingml/2006/main">
              <a:ext uri="{FF2B5EF4-FFF2-40B4-BE49-F238E27FC236}">
                <a16:creationId xmlns:a16="http://schemas.microsoft.com/office/drawing/2014/main" id="{D27BC3EE-2871-40FE-B812-4BFA9C23525E}"/>
              </a:ext>
            </a:extLst>
          </p:cNvPr>
          <p:cNvSpPr>
            <a:spLocks xmlns:a="http://schemas.openxmlformats.org/drawingml/2006/main" noGrp="1"/>
          </p:cNvSpPr>
          <p:nvPr/>
        </p:nvSpPr>
        <p:spPr>
          <a:xfrm xmlns:a="http://schemas.openxmlformats.org/drawingml/2006/main">
            <a:off x="8010144" y="2340864"/>
            <a:ext cx="2724912"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1F2730"/>
                </a:solidFill>
                <a:latin typeface="Arial"/>
                <a:ea typeface="Arial"/>
                <a:cs typeface="Arial"/>
              </a:rPr>
              <a:t>DEG occurrences</a:t>
            </a:r>
          </a:p>
        </p:txBody>
      </p:sp>
      <p:sp>
        <p:nvSpPr>
          <p:cNvPr id="21" name="TextBox 20">
            <a:extLst xmlns:a="http://schemas.openxmlformats.org/drawingml/2006/main">
              <a:ext uri="{FF2B5EF4-FFF2-40B4-BE49-F238E27FC236}">
                <a16:creationId xmlns:a16="http://schemas.microsoft.com/office/drawing/2014/main" id="{ADFD6B79-6388-463F-833F-96BF45701DE8}"/>
              </a:ext>
            </a:extLst>
          </p:cNvPr>
          <p:cNvSpPr>
            <a:spLocks xmlns:a="http://schemas.openxmlformats.org/drawingml/2006/main" noGrp="1"/>
          </p:cNvSpPr>
          <p:nvPr/>
        </p:nvSpPr>
        <p:spPr>
          <a:xfrm xmlns:a="http://schemas.openxmlformats.org/drawingml/2006/main">
            <a:off x="6601968" y="3017520"/>
            <a:ext cx="45720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1F2730"/>
                </a:solidFill>
                <a:latin typeface="Arial"/>
                <a:ea typeface="Arial"/>
                <a:cs typeface="Arial"/>
              </a:rPr>
              <a:t>8 AD-up  •  60 AD-down</a:t>
            </a:r>
          </a:p>
        </p:txBody>
      </p:sp>
      <p:sp>
        <p:nvSpPr>
          <p:cNvPr id="22" name="Rounded Rectangle 21">
            <a:extLst xmlns:a="http://schemas.openxmlformats.org/drawingml/2006/main">
              <a:ext uri="{FF2B5EF4-FFF2-40B4-BE49-F238E27FC236}">
                <a16:creationId xmlns:a16="http://schemas.microsoft.com/office/drawing/2014/main" id="{CBD8C23D-E7E8-4741-B714-1B48EBCA084D}"/>
              </a:ext>
            </a:extLst>
          </p:cNvPr>
          <p:cNvSpPr>
            <a:spLocks xmlns:a="http://schemas.openxmlformats.org/drawingml/2006/main" noGrp="1"/>
          </p:cNvSpPr>
          <p:nvPr/>
        </p:nvSpPr>
        <p:spPr>
          <a:xfrm xmlns:a="http://schemas.openxmlformats.org/drawingml/2006/main">
            <a:off x="6601968" y="3474720"/>
            <a:ext cx="4315968" cy="310896"/>
          </a:xfrm>
          <a:prstGeom xmlns:a="http://schemas.openxmlformats.org/drawingml/2006/main" prst="roundRect">
            <a:avLst/>
          </a:prstGeom>
          <a:solidFill xmlns:a="http://schemas.openxmlformats.org/drawingml/2006/main">
            <a:srgbClr val="FFFFFF"/>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Rectangle 22">
            <a:extLst xmlns:a="http://schemas.openxmlformats.org/drawingml/2006/main">
              <a:ext uri="{FF2B5EF4-FFF2-40B4-BE49-F238E27FC236}">
                <a16:creationId xmlns:a16="http://schemas.microsoft.com/office/drawing/2014/main" id="{E3E38530-2E12-4E4C-9B74-8EA94064FF94}"/>
              </a:ext>
            </a:extLst>
          </p:cNvPr>
          <p:cNvSpPr>
            <a:spLocks xmlns:a="http://schemas.openxmlformats.org/drawingml/2006/main" noGrp="1"/>
          </p:cNvSpPr>
          <p:nvPr/>
        </p:nvSpPr>
        <p:spPr>
          <a:xfrm xmlns:a="http://schemas.openxmlformats.org/drawingml/2006/main">
            <a:off x="6601968" y="3474720"/>
            <a:ext cx="512064" cy="310896"/>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Rectangle 23">
            <a:extLst xmlns:a="http://schemas.openxmlformats.org/drawingml/2006/main">
              <a:ext uri="{FF2B5EF4-FFF2-40B4-BE49-F238E27FC236}">
                <a16:creationId xmlns:a16="http://schemas.microsoft.com/office/drawing/2014/main" id="{9D1FA94D-B10C-490A-94FA-1D28EA88EA4D}"/>
              </a:ext>
            </a:extLst>
          </p:cNvPr>
          <p:cNvSpPr>
            <a:spLocks xmlns:a="http://schemas.openxmlformats.org/drawingml/2006/main" noGrp="1"/>
          </p:cNvSpPr>
          <p:nvPr/>
        </p:nvSpPr>
        <p:spPr>
          <a:xfrm xmlns:a="http://schemas.openxmlformats.org/drawingml/2006/main">
            <a:off x="7114032" y="3474720"/>
            <a:ext cx="3803904" cy="310896"/>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24F91E6-E18B-4D94-90DF-F8F2769C0BE2}"/>
              </a:ext>
            </a:extLst>
          </p:cNvPr>
          <p:cNvSpPr>
            <a:spLocks xmlns:a="http://schemas.openxmlformats.org/drawingml/2006/main" noGrp="1"/>
          </p:cNvSpPr>
          <p:nvPr/>
        </p:nvSpPr>
        <p:spPr>
          <a:xfrm xmlns:a="http://schemas.openxmlformats.org/drawingml/2006/main">
            <a:off x="9070848" y="3867912"/>
            <a:ext cx="184708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1040" b="1" i="0">
                <a:solidFill>
                  <a:srgbClr val="9E3A00"/>
                </a:solidFill>
                <a:latin typeface="Arial"/>
                <a:ea typeface="Arial"/>
                <a:cs typeface="Arial"/>
              </a:rPr>
              <a:t>88% down</a:t>
            </a:r>
          </a:p>
        </p:txBody>
      </p:sp>
      <p:sp>
        <p:nvSpPr>
          <p:cNvPr id="26" name="TextBox 25">
            <a:extLst xmlns:a="http://schemas.openxmlformats.org/drawingml/2006/main">
              <a:ext uri="{FF2B5EF4-FFF2-40B4-BE49-F238E27FC236}">
                <a16:creationId xmlns:a16="http://schemas.microsoft.com/office/drawing/2014/main" id="{14C01726-1F81-443E-829E-CBFA741B71C0}"/>
              </a:ext>
            </a:extLst>
          </p:cNvPr>
          <p:cNvSpPr>
            <a:spLocks xmlns:a="http://schemas.openxmlformats.org/drawingml/2006/main" noGrp="1"/>
          </p:cNvSpPr>
          <p:nvPr/>
        </p:nvSpPr>
        <p:spPr>
          <a:xfrm xmlns:a="http://schemas.openxmlformats.org/drawingml/2006/main">
            <a:off x="6601968" y="4645152"/>
            <a:ext cx="4572000"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9E3A00"/>
                </a:solidFill>
                <a:latin typeface="Arial"/>
                <a:ea typeface="Arial"/>
                <a:cs typeface="Arial"/>
              </a:rPr>
              <a:t>1 input query enriched</a:t>
            </a:r>
          </a:p>
        </p:txBody>
      </p:sp>
      <p:sp>
        <p:nvSpPr>
          <p:cNvPr id="27" name="TextBox 26">
            <a:extLst xmlns:a="http://schemas.openxmlformats.org/drawingml/2006/main">
              <a:ext uri="{FF2B5EF4-FFF2-40B4-BE49-F238E27FC236}">
                <a16:creationId xmlns:a16="http://schemas.microsoft.com/office/drawing/2014/main" id="{6F07F581-9873-470D-BD95-B7AFBB6C96DE}"/>
              </a:ext>
            </a:extLst>
          </p:cNvPr>
          <p:cNvSpPr>
            <a:spLocks xmlns:a="http://schemas.openxmlformats.org/drawingml/2006/main" noGrp="1"/>
          </p:cNvSpPr>
          <p:nvPr/>
        </p:nvSpPr>
        <p:spPr>
          <a:xfrm xmlns:a="http://schemas.openxmlformats.org/drawingml/2006/main">
            <a:off x="6601968" y="5065776"/>
            <a:ext cx="457200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enriched query was in the AD-down direction.</a:t>
            </a:r>
          </a:p>
        </p:txBody>
      </p:sp>
      <p:sp>
        <p:nvSpPr>
          <p:cNvPr id="28" name="Rounded Rectangle 27">
            <a:extLst xmlns:a="http://schemas.openxmlformats.org/drawingml/2006/main">
              <a:ext uri="{FF2B5EF4-FFF2-40B4-BE49-F238E27FC236}">
                <a16:creationId xmlns:a16="http://schemas.microsoft.com/office/drawing/2014/main" id="{F5C9DF25-80E8-4137-9C88-DED94F91CC8D}"/>
              </a:ext>
            </a:extLst>
          </p:cNvPr>
          <p:cNvSpPr>
            <a:spLocks xmlns:a="http://schemas.openxmlformats.org/drawingml/2006/main" noGrp="1"/>
          </p:cNvSpPr>
          <p:nvPr/>
        </p:nvSpPr>
        <p:spPr>
          <a:xfrm xmlns:a="http://schemas.openxmlformats.org/drawingml/2006/main">
            <a:off x="658368" y="5989320"/>
            <a:ext cx="10881360" cy="475488"/>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89EAA1C3-6F43-46DA-B4F8-D7A5A131D2B5}"/>
              </a:ext>
            </a:extLst>
          </p:cNvPr>
          <p:cNvSpPr>
            <a:spLocks xmlns:a="http://schemas.openxmlformats.org/drawingml/2006/main" noGrp="1"/>
          </p:cNvSpPr>
          <p:nvPr/>
        </p:nvSpPr>
        <p:spPr>
          <a:xfrm xmlns:a="http://schemas.openxmlformats.org/drawingml/2006/main">
            <a:off x="896112" y="6126480"/>
            <a:ext cx="1040587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7E4C9A"/>
                </a:solidFill>
                <a:latin typeface="Arial"/>
                <a:ea typeface="Arial"/>
                <a:cs typeface="Arial"/>
              </a:rPr>
              <a:t>Enriched = more program genes than expected in a KDA input query (BH &lt; 0.05), not the number of key drivers returned.</a:t>
            </a:r>
          </a:p>
        </p:txBody>
      </p:sp>
    </p:spTree>
    <p:extLst>
      <p:ext uri="{BB962C8B-B14F-4D97-AF65-F5344CB8AC3E}">
        <p14:creationId xmlns:p14="http://schemas.microsoft.com/office/powerpoint/2010/main" val="705907239"/>
      </p:ext>
    </p:extLst>
  </p:cSld>
</p:sld>
</file>

<file path=ppt/slides/slide5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F228AE8-F522-4A04-90BB-C26467E300B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SEA-AD supports the matched male ε3/ε3 inhibitory-neuron program</a:t>
            </a:r>
          </a:p>
        </p:txBody>
      </p:sp>
      <p:sp>
        <p:nvSpPr>
          <p:cNvPr id="3" name="TextBox 2">
            <a:extLst xmlns:a="http://schemas.openxmlformats.org/drawingml/2006/main">
              <a:ext uri="{FF2B5EF4-FFF2-40B4-BE49-F238E27FC236}">
                <a16:creationId xmlns:a16="http://schemas.microsoft.com/office/drawing/2014/main" id="{D73F4564-F934-415C-B6E2-00B42ED64D5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8 matched calls were evaluable; support is program-level rather than exact-driver replication.</a:t>
            </a:r>
          </a:p>
        </p:txBody>
      </p:sp>
      <p:sp>
        <p:nvSpPr>
          <p:cNvPr id="4" name="Rounded Rectangle 3">
            <a:extLst xmlns:a="http://schemas.openxmlformats.org/drawingml/2006/main">
              <a:ext uri="{FF2B5EF4-FFF2-40B4-BE49-F238E27FC236}">
                <a16:creationId xmlns:a16="http://schemas.microsoft.com/office/drawing/2014/main" id="{9B84C10C-3569-44E6-ACF0-AA947B15657B}"/>
              </a:ext>
            </a:extLst>
          </p:cNvPr>
          <p:cNvSpPr>
            <a:spLocks xmlns:a="http://schemas.openxmlformats.org/drawingml/2006/main" noGrp="1"/>
          </p:cNvSpPr>
          <p:nvPr/>
        </p:nvSpPr>
        <p:spPr>
          <a:xfrm xmlns:a="http://schemas.openxmlformats.org/drawingml/2006/main">
            <a:off x="658368" y="1389888"/>
            <a:ext cx="3456432" cy="11430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70DED24-64B1-41A2-B72D-E56FEA529086}"/>
              </a:ext>
            </a:extLst>
          </p:cNvPr>
          <p:cNvSpPr>
            <a:spLocks xmlns:a="http://schemas.openxmlformats.org/drawingml/2006/main" noGrp="1"/>
          </p:cNvSpPr>
          <p:nvPr/>
        </p:nvSpPr>
        <p:spPr>
          <a:xfrm xmlns:a="http://schemas.openxmlformats.org/drawingml/2006/main">
            <a:off x="822959" y="1517904"/>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22</a:t>
            </a:r>
          </a:p>
        </p:txBody>
      </p:sp>
      <p:sp>
        <p:nvSpPr>
          <p:cNvPr id="6" name="TextBox 5">
            <a:extLst xmlns:a="http://schemas.openxmlformats.org/drawingml/2006/main">
              <a:ext uri="{FF2B5EF4-FFF2-40B4-BE49-F238E27FC236}">
                <a16:creationId xmlns:a16="http://schemas.microsoft.com/office/drawing/2014/main" id="{D93AB62E-39C3-4E0C-BBF9-9AF87160AC38}"/>
              </a:ext>
            </a:extLst>
          </p:cNvPr>
          <p:cNvSpPr>
            <a:spLocks xmlns:a="http://schemas.openxmlformats.org/drawingml/2006/main" noGrp="1"/>
          </p:cNvSpPr>
          <p:nvPr/>
        </p:nvSpPr>
        <p:spPr>
          <a:xfrm xmlns:a="http://schemas.openxmlformats.org/drawingml/2006/main">
            <a:off x="822959" y="2048256"/>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mitochondrial-query genes</a:t>
            </a:r>
          </a:p>
        </p:txBody>
      </p:sp>
      <p:sp>
        <p:nvSpPr>
          <p:cNvPr id="7" name="Rounded Rectangle 6">
            <a:extLst xmlns:a="http://schemas.openxmlformats.org/drawingml/2006/main">
              <a:ext uri="{FF2B5EF4-FFF2-40B4-BE49-F238E27FC236}">
                <a16:creationId xmlns:a16="http://schemas.microsoft.com/office/drawing/2014/main" id="{0D99DAC8-4944-4587-9967-2F5576FB7CF0}"/>
              </a:ext>
            </a:extLst>
          </p:cNvPr>
          <p:cNvSpPr>
            <a:spLocks xmlns:a="http://schemas.openxmlformats.org/drawingml/2006/main" noGrp="1"/>
          </p:cNvSpPr>
          <p:nvPr/>
        </p:nvSpPr>
        <p:spPr>
          <a:xfrm xmlns:a="http://schemas.openxmlformats.org/drawingml/2006/main">
            <a:off x="4370832" y="1389888"/>
            <a:ext cx="3456432" cy="11430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8405ABA6-E07E-40BB-B8D7-F8A0ACDCD496}"/>
              </a:ext>
            </a:extLst>
          </p:cNvPr>
          <p:cNvSpPr>
            <a:spLocks xmlns:a="http://schemas.openxmlformats.org/drawingml/2006/main" noGrp="1"/>
          </p:cNvSpPr>
          <p:nvPr/>
        </p:nvSpPr>
        <p:spPr>
          <a:xfrm xmlns:a="http://schemas.openxmlformats.org/drawingml/2006/main">
            <a:off x="4535424" y="1517904"/>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19/22</a:t>
            </a:r>
          </a:p>
        </p:txBody>
      </p:sp>
      <p:sp>
        <p:nvSpPr>
          <p:cNvPr id="9" name="TextBox 8">
            <a:extLst xmlns:a="http://schemas.openxmlformats.org/drawingml/2006/main">
              <a:ext uri="{FF2B5EF4-FFF2-40B4-BE49-F238E27FC236}">
                <a16:creationId xmlns:a16="http://schemas.microsoft.com/office/drawing/2014/main" id="{88943738-AAC9-4816-8E05-B0BF5F0B3367}"/>
              </a:ext>
            </a:extLst>
          </p:cNvPr>
          <p:cNvSpPr>
            <a:spLocks xmlns:a="http://schemas.openxmlformats.org/drawingml/2006/main" noGrp="1"/>
          </p:cNvSpPr>
          <p:nvPr/>
        </p:nvSpPr>
        <p:spPr>
          <a:xfrm xmlns:a="http://schemas.openxmlformats.org/drawingml/2006/main">
            <a:off x="4535424" y="2048256"/>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genes have the same AD direction</a:t>
            </a:r>
          </a:p>
        </p:txBody>
      </p:sp>
      <p:sp>
        <p:nvSpPr>
          <p:cNvPr id="10" name="Rounded Rectangle 9">
            <a:extLst xmlns:a="http://schemas.openxmlformats.org/drawingml/2006/main">
              <a:ext uri="{FF2B5EF4-FFF2-40B4-BE49-F238E27FC236}">
                <a16:creationId xmlns:a16="http://schemas.microsoft.com/office/drawing/2014/main" id="{9C09C538-8BDC-4B39-80AB-2D30E7263B31}"/>
              </a:ext>
            </a:extLst>
          </p:cNvPr>
          <p:cNvSpPr>
            <a:spLocks xmlns:a="http://schemas.openxmlformats.org/drawingml/2006/main" noGrp="1"/>
          </p:cNvSpPr>
          <p:nvPr/>
        </p:nvSpPr>
        <p:spPr>
          <a:xfrm xmlns:a="http://schemas.openxmlformats.org/drawingml/2006/main">
            <a:off x="8083296" y="1389888"/>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7A8EBF3-50B2-4CC3-BEC8-2FAAB654E0FB}"/>
              </a:ext>
            </a:extLst>
          </p:cNvPr>
          <p:cNvSpPr>
            <a:spLocks xmlns:a="http://schemas.openxmlformats.org/drawingml/2006/main" noGrp="1"/>
          </p:cNvSpPr>
          <p:nvPr/>
        </p:nvSpPr>
        <p:spPr>
          <a:xfrm xmlns:a="http://schemas.openxmlformats.org/drawingml/2006/main">
            <a:off x="8247888" y="1517904"/>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BH = 0.0417</a:t>
            </a:r>
          </a:p>
        </p:txBody>
      </p:sp>
      <p:sp>
        <p:nvSpPr>
          <p:cNvPr id="12" name="TextBox 11">
            <a:extLst xmlns:a="http://schemas.openxmlformats.org/drawingml/2006/main">
              <a:ext uri="{FF2B5EF4-FFF2-40B4-BE49-F238E27FC236}">
                <a16:creationId xmlns:a16="http://schemas.microsoft.com/office/drawing/2014/main" id="{1E1FC778-0DBC-4885-802B-F114AFCC49FF}"/>
              </a:ext>
            </a:extLst>
          </p:cNvPr>
          <p:cNvSpPr>
            <a:spLocks xmlns:a="http://schemas.openxmlformats.org/drawingml/2006/main" noGrp="1"/>
          </p:cNvSpPr>
          <p:nvPr/>
        </p:nvSpPr>
        <p:spPr>
          <a:xfrm xmlns:a="http://schemas.openxmlformats.org/drawingml/2006/main">
            <a:off x="8247888" y="2048256"/>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cross-cohort overlap after correction</a:t>
            </a:r>
          </a:p>
        </p:txBody>
      </p:sp>
      <p:sp>
        <p:nvSpPr>
          <p:cNvPr id="13" name="TextBox 12">
            <a:extLst xmlns:a="http://schemas.openxmlformats.org/drawingml/2006/main">
              <a:ext uri="{FF2B5EF4-FFF2-40B4-BE49-F238E27FC236}">
                <a16:creationId xmlns:a16="http://schemas.microsoft.com/office/drawing/2014/main" id="{729EEACE-7AB7-49AB-8CFE-8379EA3FAF06}"/>
              </a:ext>
            </a:extLst>
          </p:cNvPr>
          <p:cNvSpPr>
            <a:spLocks xmlns:a="http://schemas.openxmlformats.org/drawingml/2006/main" noGrp="1"/>
          </p:cNvSpPr>
          <p:nvPr/>
        </p:nvSpPr>
        <p:spPr>
          <a:xfrm xmlns:a="http://schemas.openxmlformats.org/drawingml/2006/main">
            <a:off x="8247888" y="2377440"/>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22 shared versus 15.17 expected</a:t>
            </a:r>
          </a:p>
        </p:txBody>
      </p:sp>
      <p:sp>
        <p:nvSpPr>
          <p:cNvPr id="14" name="Rounded Rectangle 13">
            <a:extLst xmlns:a="http://schemas.openxmlformats.org/drawingml/2006/main">
              <a:ext uri="{FF2B5EF4-FFF2-40B4-BE49-F238E27FC236}">
                <a16:creationId xmlns:a16="http://schemas.microsoft.com/office/drawing/2014/main" id="{C52CC1AA-C592-409D-9C8F-C4C7C5796C52}"/>
              </a:ext>
            </a:extLst>
          </p:cNvPr>
          <p:cNvSpPr>
            <a:spLocks xmlns:a="http://schemas.openxmlformats.org/drawingml/2006/main" noGrp="1"/>
          </p:cNvSpPr>
          <p:nvPr/>
        </p:nvSpPr>
        <p:spPr>
          <a:xfrm xmlns:a="http://schemas.openxmlformats.org/drawingml/2006/main">
            <a:off x="658368" y="2889504"/>
            <a:ext cx="5285232" cy="25786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EC22928-71CD-4979-B6FD-7044B29A7691}"/>
              </a:ext>
            </a:extLst>
          </p:cNvPr>
          <p:cNvSpPr>
            <a:spLocks xmlns:a="http://schemas.openxmlformats.org/drawingml/2006/main" noGrp="1"/>
          </p:cNvSpPr>
          <p:nvPr/>
        </p:nvSpPr>
        <p:spPr>
          <a:xfrm xmlns:a="http://schemas.openxmlformats.org/drawingml/2006/main">
            <a:off x="969264" y="3236976"/>
            <a:ext cx="327355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00" b="1" i="0">
                <a:solidFill>
                  <a:srgbClr val="0F233D"/>
                </a:solidFill>
                <a:latin typeface="Arial"/>
                <a:ea typeface="Arial"/>
                <a:cs typeface="Arial"/>
              </a:rPr>
              <a:t>Mitochondrial DNA</a:t>
            </a:r>
          </a:p>
        </p:txBody>
      </p:sp>
      <p:sp>
        <p:nvSpPr>
          <p:cNvPr id="16" name="TextBox 15">
            <a:extLst xmlns:a="http://schemas.openxmlformats.org/drawingml/2006/main">
              <a:ext uri="{FF2B5EF4-FFF2-40B4-BE49-F238E27FC236}">
                <a16:creationId xmlns:a16="http://schemas.microsoft.com/office/drawing/2014/main" id="{05E7B790-23B2-4282-8021-0D8ED01E8BE6}"/>
              </a:ext>
            </a:extLst>
          </p:cNvPr>
          <p:cNvSpPr>
            <a:spLocks xmlns:a="http://schemas.openxmlformats.org/drawingml/2006/main" noGrp="1"/>
          </p:cNvSpPr>
          <p:nvPr/>
        </p:nvSpPr>
        <p:spPr>
          <a:xfrm xmlns:a="http://schemas.openxmlformats.org/drawingml/2006/main">
            <a:off x="4370832" y="3127248"/>
            <a:ext cx="987552"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3800" b="1" i="0">
                <a:solidFill>
                  <a:srgbClr val="00684D"/>
                </a:solidFill>
                <a:latin typeface="Arial"/>
                <a:ea typeface="Arial"/>
                <a:cs typeface="Arial"/>
              </a:rPr>
              <a:t>↑</a:t>
            </a:r>
          </a:p>
        </p:txBody>
      </p:sp>
      <p:sp>
        <p:nvSpPr>
          <p:cNvPr id="17" name="TextBox 16">
            <a:extLst xmlns:a="http://schemas.openxmlformats.org/drawingml/2006/main">
              <a:ext uri="{FF2B5EF4-FFF2-40B4-BE49-F238E27FC236}">
                <a16:creationId xmlns:a16="http://schemas.microsoft.com/office/drawing/2014/main" id="{21EBDE05-7773-43CF-99DF-996AA2B14BF8}"/>
              </a:ext>
            </a:extLst>
          </p:cNvPr>
          <p:cNvSpPr>
            <a:spLocks xmlns:a="http://schemas.openxmlformats.org/drawingml/2006/main" noGrp="1"/>
          </p:cNvSpPr>
          <p:nvPr/>
        </p:nvSpPr>
        <p:spPr>
          <a:xfrm xmlns:a="http://schemas.openxmlformats.org/drawingml/2006/main">
            <a:off x="969264" y="4023360"/>
            <a:ext cx="46634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1F2730"/>
                </a:solidFill>
                <a:latin typeface="Arial"/>
                <a:ea typeface="Arial"/>
                <a:cs typeface="Arial"/>
              </a:rPr>
              <a:t>9 mtDNA-OXPHOS genes are AD-up in both cohorts</a:t>
            </a:r>
          </a:p>
        </p:txBody>
      </p:sp>
      <p:sp>
        <p:nvSpPr>
          <p:cNvPr id="18" name="Rounded Rectangle 17">
            <a:extLst xmlns:a="http://schemas.openxmlformats.org/drawingml/2006/main">
              <a:ext uri="{FF2B5EF4-FFF2-40B4-BE49-F238E27FC236}">
                <a16:creationId xmlns:a16="http://schemas.microsoft.com/office/drawing/2014/main" id="{21A736C1-D371-4DFB-85A3-D5F9EC58CEDA}"/>
              </a:ext>
            </a:extLst>
          </p:cNvPr>
          <p:cNvSpPr>
            <a:spLocks xmlns:a="http://schemas.openxmlformats.org/drawingml/2006/main" noGrp="1"/>
          </p:cNvSpPr>
          <p:nvPr/>
        </p:nvSpPr>
        <p:spPr>
          <a:xfrm xmlns:a="http://schemas.openxmlformats.org/drawingml/2006/main">
            <a:off x="6236208" y="2889504"/>
            <a:ext cx="5303520" cy="25786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AEA45A9-E7D1-44D5-8311-0C8E2001C095}"/>
              </a:ext>
            </a:extLst>
          </p:cNvPr>
          <p:cNvSpPr>
            <a:spLocks xmlns:a="http://schemas.openxmlformats.org/drawingml/2006/main" noGrp="1"/>
          </p:cNvSpPr>
          <p:nvPr/>
        </p:nvSpPr>
        <p:spPr>
          <a:xfrm xmlns:a="http://schemas.openxmlformats.org/drawingml/2006/main">
            <a:off x="6547104" y="3236976"/>
            <a:ext cx="3456432" cy="3474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700" b="1" i="0">
                <a:solidFill>
                  <a:srgbClr val="0F233D"/>
                </a:solidFill>
                <a:latin typeface="Arial"/>
                <a:ea typeface="Arial"/>
                <a:cs typeface="Arial"/>
              </a:rPr>
              <a:t>Nuclear support systems</a:t>
            </a:r>
          </a:p>
        </p:txBody>
      </p:sp>
      <p:sp>
        <p:nvSpPr>
          <p:cNvPr id="20" name="TextBox 19">
            <a:extLst xmlns:a="http://schemas.openxmlformats.org/drawingml/2006/main">
              <a:ext uri="{FF2B5EF4-FFF2-40B4-BE49-F238E27FC236}">
                <a16:creationId xmlns:a16="http://schemas.microsoft.com/office/drawing/2014/main" id="{05A97C27-82B4-45D6-B9F2-F51E224B071E}"/>
              </a:ext>
            </a:extLst>
          </p:cNvPr>
          <p:cNvSpPr>
            <a:spLocks xmlns:a="http://schemas.openxmlformats.org/drawingml/2006/main" noGrp="1"/>
          </p:cNvSpPr>
          <p:nvPr/>
        </p:nvSpPr>
        <p:spPr>
          <a:xfrm xmlns:a="http://schemas.openxmlformats.org/drawingml/2006/main">
            <a:off x="10094976" y="3127248"/>
            <a:ext cx="987552"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3800" b="1" i="0">
                <a:solidFill>
                  <a:srgbClr val="9E3A00"/>
                </a:solidFill>
                <a:latin typeface="Arial"/>
                <a:ea typeface="Arial"/>
                <a:cs typeface="Arial"/>
              </a:rPr>
              <a:t>↓</a:t>
            </a:r>
          </a:p>
        </p:txBody>
      </p:sp>
      <p:sp>
        <p:nvSpPr>
          <p:cNvPr id="21" name="TextBox 20">
            <a:extLst xmlns:a="http://schemas.openxmlformats.org/drawingml/2006/main">
              <a:ext uri="{FF2B5EF4-FFF2-40B4-BE49-F238E27FC236}">
                <a16:creationId xmlns:a16="http://schemas.microsoft.com/office/drawing/2014/main" id="{FEDF88CC-C203-439A-A4B9-853512E75892}"/>
              </a:ext>
            </a:extLst>
          </p:cNvPr>
          <p:cNvSpPr>
            <a:spLocks xmlns:a="http://schemas.openxmlformats.org/drawingml/2006/main" noGrp="1"/>
          </p:cNvSpPr>
          <p:nvPr/>
        </p:nvSpPr>
        <p:spPr>
          <a:xfrm xmlns:a="http://schemas.openxmlformats.org/drawingml/2006/main">
            <a:off x="6547104" y="3931920"/>
            <a:ext cx="4663440" cy="8229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1F2730"/>
                </a:solidFill>
                <a:latin typeface="Arial"/>
                <a:ea typeface="Arial"/>
                <a:cs typeface="Arial"/>
              </a:rPr>
              <a:t>OXPHOS, import, ribosome, and maintenance genes are AD-down in both cohorts</a:t>
            </a:r>
          </a:p>
        </p:txBody>
      </p:sp>
      <p:sp>
        <p:nvSpPr>
          <p:cNvPr id="22" name="Rounded Rectangle 21">
            <a:extLst xmlns:a="http://schemas.openxmlformats.org/drawingml/2006/main">
              <a:ext uri="{FF2B5EF4-FFF2-40B4-BE49-F238E27FC236}">
                <a16:creationId xmlns:a16="http://schemas.microsoft.com/office/drawing/2014/main" id="{52E1BD7B-24E1-436E-8704-3A9BB378E2B3}"/>
              </a:ext>
            </a:extLst>
          </p:cNvPr>
          <p:cNvSpPr>
            <a:spLocks xmlns:a="http://schemas.openxmlformats.org/drawingml/2006/main" noGrp="1"/>
          </p:cNvSpPr>
          <p:nvPr/>
        </p:nvSpPr>
        <p:spPr>
          <a:xfrm xmlns:a="http://schemas.openxmlformats.org/drawingml/2006/main">
            <a:off x="658368" y="5797296"/>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5D11F732-E17F-4B19-A6DF-B3E7019864C6}"/>
              </a:ext>
            </a:extLst>
          </p:cNvPr>
          <p:cNvSpPr>
            <a:spLocks xmlns:a="http://schemas.openxmlformats.org/drawingml/2006/main" noGrp="1"/>
          </p:cNvSpPr>
          <p:nvPr/>
        </p:nvSpPr>
        <p:spPr>
          <a:xfrm xmlns:a="http://schemas.openxmlformats.org/drawingml/2006/main">
            <a:off x="896112" y="5943600"/>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Identity-resolved sensitivity: 21 shared genes, BH = 0.0486.</a:t>
            </a:r>
          </a:p>
        </p:txBody>
      </p:sp>
    </p:spTree>
    <p:extLst>
      <p:ext uri="{BB962C8B-B14F-4D97-AF65-F5344CB8AC3E}">
        <p14:creationId xmlns:p14="http://schemas.microsoft.com/office/powerpoint/2010/main" val="1930367788"/>
      </p:ext>
    </p:extLst>
  </p:cSld>
</p:sld>
</file>

<file path=ppt/slides/slide5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7141920-9135-499A-86FA-022B8A4032B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Which genes carry the matched inhibitory-neuron signal?</a:t>
            </a:r>
          </a:p>
        </p:txBody>
      </p:sp>
      <p:sp>
        <p:nvSpPr>
          <p:cNvPr id="3" name="TextBox 2">
            <a:extLst xmlns:a="http://schemas.openxmlformats.org/drawingml/2006/main">
              <a:ext uri="{FF2B5EF4-FFF2-40B4-BE49-F238E27FC236}">
                <a16:creationId xmlns:a16="http://schemas.microsoft.com/office/drawing/2014/main" id="{73C71CD7-CDF5-47CA-9D73-AF47E6DC1D7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agreement spans respiratory subunits, transport, import, mitochondrial ribosomes, and maintenance.</a:t>
            </a:r>
          </a:p>
        </p:txBody>
      </p:sp>
      <p:sp>
        <p:nvSpPr>
          <p:cNvPr id="4" name="Rounded Rectangle 3">
            <a:extLst xmlns:a="http://schemas.openxmlformats.org/drawingml/2006/main">
              <a:ext uri="{FF2B5EF4-FFF2-40B4-BE49-F238E27FC236}">
                <a16:creationId xmlns:a16="http://schemas.microsoft.com/office/drawing/2014/main" id="{A238567A-BE19-4CB9-9289-BCA988D2517D}"/>
              </a:ext>
            </a:extLst>
          </p:cNvPr>
          <p:cNvSpPr>
            <a:spLocks xmlns:a="http://schemas.openxmlformats.org/drawingml/2006/main" noGrp="1"/>
          </p:cNvSpPr>
          <p:nvPr/>
        </p:nvSpPr>
        <p:spPr>
          <a:xfrm xmlns:a="http://schemas.openxmlformats.org/drawingml/2006/main">
            <a:off x="658368" y="1353312"/>
            <a:ext cx="5285232" cy="360273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0BB154C-7586-4643-B485-3B1EEAAD8995}"/>
              </a:ext>
            </a:extLst>
          </p:cNvPr>
          <p:cNvSpPr>
            <a:spLocks xmlns:a="http://schemas.openxmlformats.org/drawingml/2006/main" noGrp="1"/>
          </p:cNvSpPr>
          <p:nvPr/>
        </p:nvSpPr>
        <p:spPr>
          <a:xfrm xmlns:a="http://schemas.openxmlformats.org/drawingml/2006/main">
            <a:off x="950976" y="1691640"/>
            <a:ext cx="64008" cy="283464"/>
          </a:xfrm>
          <a:prstGeom xmlns:a="http://schemas.openxmlformats.org/drawingml/2006/main" prst="rect">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C8E6BC7-981A-43D3-8A45-EB2FCC434A4E}"/>
              </a:ext>
            </a:extLst>
          </p:cNvPr>
          <p:cNvSpPr>
            <a:spLocks xmlns:a="http://schemas.openxmlformats.org/drawingml/2006/main" noGrp="1"/>
          </p:cNvSpPr>
          <p:nvPr/>
        </p:nvSpPr>
        <p:spPr>
          <a:xfrm xmlns:a="http://schemas.openxmlformats.org/drawingml/2006/main">
            <a:off x="1097280" y="1664208"/>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9 mtDNA-OXPHOS genes ↑ in both</a:t>
            </a:r>
          </a:p>
        </p:txBody>
      </p:sp>
      <p:sp>
        <p:nvSpPr>
          <p:cNvPr id="7" name="Rounded Rectangle 6">
            <a:extLst xmlns:a="http://schemas.openxmlformats.org/drawingml/2006/main">
              <a:ext uri="{FF2B5EF4-FFF2-40B4-BE49-F238E27FC236}">
                <a16:creationId xmlns:a16="http://schemas.microsoft.com/office/drawing/2014/main" id="{574FAC51-7F33-40DB-AE27-D43AFD85E769}"/>
              </a:ext>
            </a:extLst>
          </p:cNvPr>
          <p:cNvSpPr>
            <a:spLocks xmlns:a="http://schemas.openxmlformats.org/drawingml/2006/main" noGrp="1"/>
          </p:cNvSpPr>
          <p:nvPr/>
        </p:nvSpPr>
        <p:spPr>
          <a:xfrm xmlns:a="http://schemas.openxmlformats.org/drawingml/2006/main">
            <a:off x="950976"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20E6F877-FE86-45C8-84AA-40630E895549}"/>
              </a:ext>
            </a:extLst>
          </p:cNvPr>
          <p:cNvSpPr>
            <a:spLocks xmlns:a="http://schemas.openxmlformats.org/drawingml/2006/main" noGrp="1"/>
          </p:cNvSpPr>
          <p:nvPr/>
        </p:nvSpPr>
        <p:spPr>
          <a:xfrm xmlns:a="http://schemas.openxmlformats.org/drawingml/2006/main">
            <a:off x="1042416"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MT-ATP6</a:t>
            </a:r>
          </a:p>
        </p:txBody>
      </p:sp>
      <p:sp>
        <p:nvSpPr>
          <p:cNvPr id="9" name="Rounded Rectangle 8">
            <a:extLst xmlns:a="http://schemas.openxmlformats.org/drawingml/2006/main">
              <a:ext uri="{FF2B5EF4-FFF2-40B4-BE49-F238E27FC236}">
                <a16:creationId xmlns:a16="http://schemas.microsoft.com/office/drawing/2014/main" id="{5BBFD0A2-393E-4060-9F36-FD8B6C9BFA65}"/>
              </a:ext>
            </a:extLst>
          </p:cNvPr>
          <p:cNvSpPr>
            <a:spLocks xmlns:a="http://schemas.openxmlformats.org/drawingml/2006/main" noGrp="1"/>
          </p:cNvSpPr>
          <p:nvPr/>
        </p:nvSpPr>
        <p:spPr>
          <a:xfrm xmlns:a="http://schemas.openxmlformats.org/drawingml/2006/main">
            <a:off x="2478024"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3E93762-9440-458A-8CFC-05D7BA1BFC2D}"/>
              </a:ext>
            </a:extLst>
          </p:cNvPr>
          <p:cNvSpPr>
            <a:spLocks xmlns:a="http://schemas.openxmlformats.org/drawingml/2006/main" noGrp="1"/>
          </p:cNvSpPr>
          <p:nvPr/>
        </p:nvSpPr>
        <p:spPr>
          <a:xfrm xmlns:a="http://schemas.openxmlformats.org/drawingml/2006/main">
            <a:off x="2569464"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MT-CO2</a:t>
            </a:r>
          </a:p>
        </p:txBody>
      </p:sp>
      <p:sp>
        <p:nvSpPr>
          <p:cNvPr id="11" name="Rounded Rectangle 10">
            <a:extLst xmlns:a="http://schemas.openxmlformats.org/drawingml/2006/main">
              <a:ext uri="{FF2B5EF4-FFF2-40B4-BE49-F238E27FC236}">
                <a16:creationId xmlns:a16="http://schemas.microsoft.com/office/drawing/2014/main" id="{1171B2B7-9E0A-4A84-8B7F-BA91C1AB4279}"/>
              </a:ext>
            </a:extLst>
          </p:cNvPr>
          <p:cNvSpPr>
            <a:spLocks xmlns:a="http://schemas.openxmlformats.org/drawingml/2006/main" noGrp="1"/>
          </p:cNvSpPr>
          <p:nvPr/>
        </p:nvSpPr>
        <p:spPr>
          <a:xfrm xmlns:a="http://schemas.openxmlformats.org/drawingml/2006/main">
            <a:off x="4005072" y="2267712"/>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B3EC02D-C44E-4392-BB9E-1AA71DDB5D93}"/>
              </a:ext>
            </a:extLst>
          </p:cNvPr>
          <p:cNvSpPr>
            <a:spLocks xmlns:a="http://schemas.openxmlformats.org/drawingml/2006/main" noGrp="1"/>
          </p:cNvSpPr>
          <p:nvPr/>
        </p:nvSpPr>
        <p:spPr>
          <a:xfrm xmlns:a="http://schemas.openxmlformats.org/drawingml/2006/main">
            <a:off x="4096511" y="2368296"/>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MT-CO3</a:t>
            </a:r>
          </a:p>
        </p:txBody>
      </p:sp>
      <p:sp>
        <p:nvSpPr>
          <p:cNvPr id="13" name="Rounded Rectangle 12">
            <a:extLst xmlns:a="http://schemas.openxmlformats.org/drawingml/2006/main">
              <a:ext uri="{FF2B5EF4-FFF2-40B4-BE49-F238E27FC236}">
                <a16:creationId xmlns:a16="http://schemas.microsoft.com/office/drawing/2014/main" id="{C8783C2B-A917-46AB-A1EE-C734B385F2E4}"/>
              </a:ext>
            </a:extLst>
          </p:cNvPr>
          <p:cNvSpPr>
            <a:spLocks xmlns:a="http://schemas.openxmlformats.org/drawingml/2006/main" noGrp="1"/>
          </p:cNvSpPr>
          <p:nvPr/>
        </p:nvSpPr>
        <p:spPr>
          <a:xfrm xmlns:a="http://schemas.openxmlformats.org/drawingml/2006/main">
            <a:off x="950976"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DED2432E-722A-42AA-A1E2-8B74EE2A28D8}"/>
              </a:ext>
            </a:extLst>
          </p:cNvPr>
          <p:cNvSpPr>
            <a:spLocks xmlns:a="http://schemas.openxmlformats.org/drawingml/2006/main" noGrp="1"/>
          </p:cNvSpPr>
          <p:nvPr/>
        </p:nvSpPr>
        <p:spPr>
          <a:xfrm xmlns:a="http://schemas.openxmlformats.org/drawingml/2006/main">
            <a:off x="1042416"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MT-CYB</a:t>
            </a:r>
          </a:p>
        </p:txBody>
      </p:sp>
      <p:sp>
        <p:nvSpPr>
          <p:cNvPr id="15" name="Rounded Rectangle 14">
            <a:extLst xmlns:a="http://schemas.openxmlformats.org/drawingml/2006/main">
              <a:ext uri="{FF2B5EF4-FFF2-40B4-BE49-F238E27FC236}">
                <a16:creationId xmlns:a16="http://schemas.microsoft.com/office/drawing/2014/main" id="{BDF2196C-1BD1-4FF0-B623-2E82FCDEC8C3}"/>
              </a:ext>
            </a:extLst>
          </p:cNvPr>
          <p:cNvSpPr>
            <a:spLocks xmlns:a="http://schemas.openxmlformats.org/drawingml/2006/main" noGrp="1"/>
          </p:cNvSpPr>
          <p:nvPr/>
        </p:nvSpPr>
        <p:spPr>
          <a:xfrm xmlns:a="http://schemas.openxmlformats.org/drawingml/2006/main">
            <a:off x="2478024"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091A08BF-16AF-4B58-A566-0552A3C0164B}"/>
              </a:ext>
            </a:extLst>
          </p:cNvPr>
          <p:cNvSpPr>
            <a:spLocks xmlns:a="http://schemas.openxmlformats.org/drawingml/2006/main" noGrp="1"/>
          </p:cNvSpPr>
          <p:nvPr/>
        </p:nvSpPr>
        <p:spPr>
          <a:xfrm xmlns:a="http://schemas.openxmlformats.org/drawingml/2006/main">
            <a:off x="2569464"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MT-ND1</a:t>
            </a:r>
          </a:p>
        </p:txBody>
      </p:sp>
      <p:sp>
        <p:nvSpPr>
          <p:cNvPr id="17" name="Rounded Rectangle 16">
            <a:extLst xmlns:a="http://schemas.openxmlformats.org/drawingml/2006/main">
              <a:ext uri="{FF2B5EF4-FFF2-40B4-BE49-F238E27FC236}">
                <a16:creationId xmlns:a16="http://schemas.microsoft.com/office/drawing/2014/main" id="{A09B3222-631D-4C02-BD7C-C8B4F6716921}"/>
              </a:ext>
            </a:extLst>
          </p:cNvPr>
          <p:cNvSpPr>
            <a:spLocks xmlns:a="http://schemas.openxmlformats.org/drawingml/2006/main" noGrp="1"/>
          </p:cNvSpPr>
          <p:nvPr/>
        </p:nvSpPr>
        <p:spPr>
          <a:xfrm xmlns:a="http://schemas.openxmlformats.org/drawingml/2006/main">
            <a:off x="4005072" y="3017520"/>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A70FDBD-B0EE-475D-B398-3015AEA676E3}"/>
              </a:ext>
            </a:extLst>
          </p:cNvPr>
          <p:cNvSpPr>
            <a:spLocks xmlns:a="http://schemas.openxmlformats.org/drawingml/2006/main" noGrp="1"/>
          </p:cNvSpPr>
          <p:nvPr/>
        </p:nvSpPr>
        <p:spPr>
          <a:xfrm xmlns:a="http://schemas.openxmlformats.org/drawingml/2006/main">
            <a:off x="4096511" y="3118103"/>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MT-ND2</a:t>
            </a:r>
          </a:p>
        </p:txBody>
      </p:sp>
      <p:sp>
        <p:nvSpPr>
          <p:cNvPr id="19" name="Rounded Rectangle 18">
            <a:extLst xmlns:a="http://schemas.openxmlformats.org/drawingml/2006/main">
              <a:ext uri="{FF2B5EF4-FFF2-40B4-BE49-F238E27FC236}">
                <a16:creationId xmlns:a16="http://schemas.microsoft.com/office/drawing/2014/main" id="{9E4EDCEE-330A-4C30-B731-B4AFFDA016A9}"/>
              </a:ext>
            </a:extLst>
          </p:cNvPr>
          <p:cNvSpPr>
            <a:spLocks xmlns:a="http://schemas.openxmlformats.org/drawingml/2006/main" noGrp="1"/>
          </p:cNvSpPr>
          <p:nvPr/>
        </p:nvSpPr>
        <p:spPr>
          <a:xfrm xmlns:a="http://schemas.openxmlformats.org/drawingml/2006/main">
            <a:off x="950976"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93B357DB-153B-4294-B85A-B8EB8A00302C}"/>
              </a:ext>
            </a:extLst>
          </p:cNvPr>
          <p:cNvSpPr>
            <a:spLocks xmlns:a="http://schemas.openxmlformats.org/drawingml/2006/main" noGrp="1"/>
          </p:cNvSpPr>
          <p:nvPr/>
        </p:nvSpPr>
        <p:spPr>
          <a:xfrm xmlns:a="http://schemas.openxmlformats.org/drawingml/2006/main">
            <a:off x="1042416"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MT-ND3</a:t>
            </a:r>
          </a:p>
        </p:txBody>
      </p:sp>
      <p:sp>
        <p:nvSpPr>
          <p:cNvPr id="21" name="Rounded Rectangle 20">
            <a:extLst xmlns:a="http://schemas.openxmlformats.org/drawingml/2006/main">
              <a:ext uri="{FF2B5EF4-FFF2-40B4-BE49-F238E27FC236}">
                <a16:creationId xmlns:a16="http://schemas.microsoft.com/office/drawing/2014/main" id="{DCA6CB8D-35EC-45D1-B544-B245023B6A11}"/>
              </a:ext>
            </a:extLst>
          </p:cNvPr>
          <p:cNvSpPr>
            <a:spLocks xmlns:a="http://schemas.openxmlformats.org/drawingml/2006/main" noGrp="1"/>
          </p:cNvSpPr>
          <p:nvPr/>
        </p:nvSpPr>
        <p:spPr>
          <a:xfrm xmlns:a="http://schemas.openxmlformats.org/drawingml/2006/main">
            <a:off x="2478024"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2" name="TextBox 21">
            <a:extLst xmlns:a="http://schemas.openxmlformats.org/drawingml/2006/main">
              <a:ext uri="{FF2B5EF4-FFF2-40B4-BE49-F238E27FC236}">
                <a16:creationId xmlns:a16="http://schemas.microsoft.com/office/drawing/2014/main" id="{30CB0331-FFB8-4D19-87C8-C8EB747B2B72}"/>
              </a:ext>
            </a:extLst>
          </p:cNvPr>
          <p:cNvSpPr>
            <a:spLocks xmlns:a="http://schemas.openxmlformats.org/drawingml/2006/main" noGrp="1"/>
          </p:cNvSpPr>
          <p:nvPr/>
        </p:nvSpPr>
        <p:spPr>
          <a:xfrm xmlns:a="http://schemas.openxmlformats.org/drawingml/2006/main">
            <a:off x="2569464"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MT-ND4</a:t>
            </a:r>
          </a:p>
        </p:txBody>
      </p:sp>
      <p:sp>
        <p:nvSpPr>
          <p:cNvPr id="23" name="Rounded Rectangle 22">
            <a:extLst xmlns:a="http://schemas.openxmlformats.org/drawingml/2006/main">
              <a:ext uri="{FF2B5EF4-FFF2-40B4-BE49-F238E27FC236}">
                <a16:creationId xmlns:a16="http://schemas.microsoft.com/office/drawing/2014/main" id="{04029D47-3EA5-4D85-9276-1AC2B5CC904A}"/>
              </a:ext>
            </a:extLst>
          </p:cNvPr>
          <p:cNvSpPr>
            <a:spLocks xmlns:a="http://schemas.openxmlformats.org/drawingml/2006/main" noGrp="1"/>
          </p:cNvSpPr>
          <p:nvPr/>
        </p:nvSpPr>
        <p:spPr>
          <a:xfrm xmlns:a="http://schemas.openxmlformats.org/drawingml/2006/main">
            <a:off x="4005072" y="3767328"/>
            <a:ext cx="1325880"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4" name="TextBox 23">
            <a:extLst xmlns:a="http://schemas.openxmlformats.org/drawingml/2006/main">
              <a:ext uri="{FF2B5EF4-FFF2-40B4-BE49-F238E27FC236}">
                <a16:creationId xmlns:a16="http://schemas.microsoft.com/office/drawing/2014/main" id="{A0A26401-7BFB-4C8F-9EA3-C4B6F0E212CA}"/>
              </a:ext>
            </a:extLst>
          </p:cNvPr>
          <p:cNvSpPr>
            <a:spLocks xmlns:a="http://schemas.openxmlformats.org/drawingml/2006/main" noGrp="1"/>
          </p:cNvSpPr>
          <p:nvPr/>
        </p:nvSpPr>
        <p:spPr>
          <a:xfrm xmlns:a="http://schemas.openxmlformats.org/drawingml/2006/main">
            <a:off x="4096511" y="3867912"/>
            <a:ext cx="1143000"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00" b="1" i="0">
                <a:solidFill>
                  <a:srgbClr val="0072B2"/>
                </a:solidFill>
                <a:latin typeface="Arial"/>
                <a:ea typeface="Arial"/>
                <a:cs typeface="Arial"/>
              </a:rPr>
              <a:t>MT-ND4L</a:t>
            </a:r>
          </a:p>
        </p:txBody>
      </p:sp>
      <p:sp>
        <p:nvSpPr>
          <p:cNvPr id="25" name="Rounded Rectangle 24">
            <a:extLst xmlns:a="http://schemas.openxmlformats.org/drawingml/2006/main">
              <a:ext uri="{FF2B5EF4-FFF2-40B4-BE49-F238E27FC236}">
                <a16:creationId xmlns:a16="http://schemas.microsoft.com/office/drawing/2014/main" id="{20673662-2E76-4EEE-AD3E-DBC5A8F792CC}"/>
              </a:ext>
            </a:extLst>
          </p:cNvPr>
          <p:cNvSpPr>
            <a:spLocks xmlns:a="http://schemas.openxmlformats.org/drawingml/2006/main" noGrp="1"/>
          </p:cNvSpPr>
          <p:nvPr/>
        </p:nvSpPr>
        <p:spPr>
          <a:xfrm xmlns:a="http://schemas.openxmlformats.org/drawingml/2006/main">
            <a:off x="6236208" y="1353312"/>
            <a:ext cx="5303520" cy="3602736"/>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Rectangle 25">
            <a:extLst xmlns:a="http://schemas.openxmlformats.org/drawingml/2006/main">
              <a:ext uri="{FF2B5EF4-FFF2-40B4-BE49-F238E27FC236}">
                <a16:creationId xmlns:a16="http://schemas.microsoft.com/office/drawing/2014/main" id="{BA34ED79-956B-413D-B5CE-FEFFF8D61234}"/>
              </a:ext>
            </a:extLst>
          </p:cNvPr>
          <p:cNvSpPr>
            <a:spLocks xmlns:a="http://schemas.openxmlformats.org/drawingml/2006/main" noGrp="1"/>
          </p:cNvSpPr>
          <p:nvPr/>
        </p:nvSpPr>
        <p:spPr>
          <a:xfrm xmlns:a="http://schemas.openxmlformats.org/drawingml/2006/main">
            <a:off x="6528816" y="1691640"/>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7" name="TextBox 26">
            <a:extLst xmlns:a="http://schemas.openxmlformats.org/drawingml/2006/main">
              <a:ext uri="{FF2B5EF4-FFF2-40B4-BE49-F238E27FC236}">
                <a16:creationId xmlns:a16="http://schemas.microsoft.com/office/drawing/2014/main" id="{0ECCD7B4-D946-4D83-A898-FA961ED119BE}"/>
              </a:ext>
            </a:extLst>
          </p:cNvPr>
          <p:cNvSpPr>
            <a:spLocks xmlns:a="http://schemas.openxmlformats.org/drawingml/2006/main" noGrp="1"/>
          </p:cNvSpPr>
          <p:nvPr/>
        </p:nvSpPr>
        <p:spPr>
          <a:xfrm xmlns:a="http://schemas.openxmlformats.org/drawingml/2006/main">
            <a:off x="6675120" y="1664208"/>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8 nuclear or maintenance genes ↓ in both</a:t>
            </a:r>
          </a:p>
        </p:txBody>
      </p:sp>
      <p:sp>
        <p:nvSpPr>
          <p:cNvPr id="28" name="Rounded Rectangle 27">
            <a:extLst xmlns:a="http://schemas.openxmlformats.org/drawingml/2006/main">
              <a:ext uri="{FF2B5EF4-FFF2-40B4-BE49-F238E27FC236}">
                <a16:creationId xmlns:a16="http://schemas.microsoft.com/office/drawing/2014/main" id="{FAA68ABB-712A-45AE-862F-5D741259402E}"/>
              </a:ext>
            </a:extLst>
          </p:cNvPr>
          <p:cNvSpPr>
            <a:spLocks xmlns:a="http://schemas.openxmlformats.org/drawingml/2006/main" noGrp="1"/>
          </p:cNvSpPr>
          <p:nvPr/>
        </p:nvSpPr>
        <p:spPr>
          <a:xfrm xmlns:a="http://schemas.openxmlformats.org/drawingml/2006/main">
            <a:off x="6565392" y="2139696"/>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9" name="TextBox 28">
            <a:extLst xmlns:a="http://schemas.openxmlformats.org/drawingml/2006/main">
              <a:ext uri="{FF2B5EF4-FFF2-40B4-BE49-F238E27FC236}">
                <a16:creationId xmlns:a16="http://schemas.microsoft.com/office/drawing/2014/main" id="{CE661190-7927-4A73-8473-F125B946518C}"/>
              </a:ext>
            </a:extLst>
          </p:cNvPr>
          <p:cNvSpPr>
            <a:spLocks xmlns:a="http://schemas.openxmlformats.org/drawingml/2006/main" noGrp="1"/>
          </p:cNvSpPr>
          <p:nvPr/>
        </p:nvSpPr>
        <p:spPr>
          <a:xfrm xmlns:a="http://schemas.openxmlformats.org/drawingml/2006/main">
            <a:off x="6656831" y="2240279"/>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UQCRFS1</a:t>
            </a:r>
          </a:p>
        </p:txBody>
      </p:sp>
      <p:sp>
        <p:nvSpPr>
          <p:cNvPr id="30" name="Rounded Rectangle 29">
            <a:extLst xmlns:a="http://schemas.openxmlformats.org/drawingml/2006/main">
              <a:ext uri="{FF2B5EF4-FFF2-40B4-BE49-F238E27FC236}">
                <a16:creationId xmlns:a16="http://schemas.microsoft.com/office/drawing/2014/main" id="{BBABDB61-D35F-4ED9-994F-9A0CF5B82E15}"/>
              </a:ext>
            </a:extLst>
          </p:cNvPr>
          <p:cNvSpPr>
            <a:spLocks xmlns:a="http://schemas.openxmlformats.org/drawingml/2006/main" noGrp="1"/>
          </p:cNvSpPr>
          <p:nvPr/>
        </p:nvSpPr>
        <p:spPr>
          <a:xfrm xmlns:a="http://schemas.openxmlformats.org/drawingml/2006/main">
            <a:off x="8833104" y="2139696"/>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1" name="TextBox 30">
            <a:extLst xmlns:a="http://schemas.openxmlformats.org/drawingml/2006/main">
              <a:ext uri="{FF2B5EF4-FFF2-40B4-BE49-F238E27FC236}">
                <a16:creationId xmlns:a16="http://schemas.microsoft.com/office/drawing/2014/main" id="{740B0317-278F-4347-92F7-6319EB85A48D}"/>
              </a:ext>
            </a:extLst>
          </p:cNvPr>
          <p:cNvSpPr>
            <a:spLocks xmlns:a="http://schemas.openxmlformats.org/drawingml/2006/main" noGrp="1"/>
          </p:cNvSpPr>
          <p:nvPr/>
        </p:nvSpPr>
        <p:spPr>
          <a:xfrm xmlns:a="http://schemas.openxmlformats.org/drawingml/2006/main">
            <a:off x="8924544" y="2240279"/>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SLC25A5</a:t>
            </a:r>
          </a:p>
        </p:txBody>
      </p:sp>
      <p:sp>
        <p:nvSpPr>
          <p:cNvPr id="32" name="Rounded Rectangle 31">
            <a:extLst xmlns:a="http://schemas.openxmlformats.org/drawingml/2006/main">
              <a:ext uri="{FF2B5EF4-FFF2-40B4-BE49-F238E27FC236}">
                <a16:creationId xmlns:a16="http://schemas.microsoft.com/office/drawing/2014/main" id="{1D48AAAC-0032-4DDD-83FE-48AE10AEA4C4}"/>
              </a:ext>
            </a:extLst>
          </p:cNvPr>
          <p:cNvSpPr>
            <a:spLocks xmlns:a="http://schemas.openxmlformats.org/drawingml/2006/main" noGrp="1"/>
          </p:cNvSpPr>
          <p:nvPr/>
        </p:nvSpPr>
        <p:spPr>
          <a:xfrm xmlns:a="http://schemas.openxmlformats.org/drawingml/2006/main">
            <a:off x="6565392" y="2761488"/>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3" name="TextBox 32">
            <a:extLst xmlns:a="http://schemas.openxmlformats.org/drawingml/2006/main">
              <a:ext uri="{FF2B5EF4-FFF2-40B4-BE49-F238E27FC236}">
                <a16:creationId xmlns:a16="http://schemas.microsoft.com/office/drawing/2014/main" id="{E53ADCE1-CA88-4B3F-80B5-7456C4A245FC}"/>
              </a:ext>
            </a:extLst>
          </p:cNvPr>
          <p:cNvSpPr>
            <a:spLocks xmlns:a="http://schemas.openxmlformats.org/drawingml/2006/main" noGrp="1"/>
          </p:cNvSpPr>
          <p:nvPr/>
        </p:nvSpPr>
        <p:spPr>
          <a:xfrm xmlns:a="http://schemas.openxmlformats.org/drawingml/2006/main">
            <a:off x="6656831" y="2862072"/>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TIMM13</a:t>
            </a:r>
          </a:p>
        </p:txBody>
      </p:sp>
      <p:sp>
        <p:nvSpPr>
          <p:cNvPr id="34" name="Rounded Rectangle 33">
            <a:extLst xmlns:a="http://schemas.openxmlformats.org/drawingml/2006/main">
              <a:ext uri="{FF2B5EF4-FFF2-40B4-BE49-F238E27FC236}">
                <a16:creationId xmlns:a16="http://schemas.microsoft.com/office/drawing/2014/main" id="{A6ED0EB4-CC97-4758-9DE0-4B394B4EE270}"/>
              </a:ext>
            </a:extLst>
          </p:cNvPr>
          <p:cNvSpPr>
            <a:spLocks xmlns:a="http://schemas.openxmlformats.org/drawingml/2006/main" noGrp="1"/>
          </p:cNvSpPr>
          <p:nvPr/>
        </p:nvSpPr>
        <p:spPr>
          <a:xfrm xmlns:a="http://schemas.openxmlformats.org/drawingml/2006/main">
            <a:off x="8833104" y="2761488"/>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5" name="TextBox 34">
            <a:extLst xmlns:a="http://schemas.openxmlformats.org/drawingml/2006/main">
              <a:ext uri="{FF2B5EF4-FFF2-40B4-BE49-F238E27FC236}">
                <a16:creationId xmlns:a16="http://schemas.microsoft.com/office/drawing/2014/main" id="{0E25720A-91FC-49D1-8D91-9088C37BC187}"/>
              </a:ext>
            </a:extLst>
          </p:cNvPr>
          <p:cNvSpPr>
            <a:spLocks xmlns:a="http://schemas.openxmlformats.org/drawingml/2006/main" noGrp="1"/>
          </p:cNvSpPr>
          <p:nvPr/>
        </p:nvSpPr>
        <p:spPr>
          <a:xfrm xmlns:a="http://schemas.openxmlformats.org/drawingml/2006/main">
            <a:off x="8924544" y="2862072"/>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TIMM17A</a:t>
            </a:r>
          </a:p>
        </p:txBody>
      </p:sp>
      <p:sp>
        <p:nvSpPr>
          <p:cNvPr id="36" name="Rounded Rectangle 35">
            <a:extLst xmlns:a="http://schemas.openxmlformats.org/drawingml/2006/main">
              <a:ext uri="{FF2B5EF4-FFF2-40B4-BE49-F238E27FC236}">
                <a16:creationId xmlns:a16="http://schemas.microsoft.com/office/drawing/2014/main" id="{8D0EAADA-EA66-48E7-B3F4-1F04C0904F51}"/>
              </a:ext>
            </a:extLst>
          </p:cNvPr>
          <p:cNvSpPr>
            <a:spLocks xmlns:a="http://schemas.openxmlformats.org/drawingml/2006/main" noGrp="1"/>
          </p:cNvSpPr>
          <p:nvPr/>
        </p:nvSpPr>
        <p:spPr>
          <a:xfrm xmlns:a="http://schemas.openxmlformats.org/drawingml/2006/main">
            <a:off x="6565392" y="3383280"/>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TextBox 36">
            <a:extLst xmlns:a="http://schemas.openxmlformats.org/drawingml/2006/main">
              <a:ext uri="{FF2B5EF4-FFF2-40B4-BE49-F238E27FC236}">
                <a16:creationId xmlns:a16="http://schemas.microsoft.com/office/drawing/2014/main" id="{D73FE672-1675-4AFF-B10F-F3C3DA4C0FD6}"/>
              </a:ext>
            </a:extLst>
          </p:cNvPr>
          <p:cNvSpPr>
            <a:spLocks xmlns:a="http://schemas.openxmlformats.org/drawingml/2006/main" noGrp="1"/>
          </p:cNvSpPr>
          <p:nvPr/>
        </p:nvSpPr>
        <p:spPr>
          <a:xfrm xmlns:a="http://schemas.openxmlformats.org/drawingml/2006/main">
            <a:off x="6656831" y="3483864"/>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MRPL16</a:t>
            </a:r>
          </a:p>
        </p:txBody>
      </p:sp>
      <p:sp>
        <p:nvSpPr>
          <p:cNvPr id="38" name="Rounded Rectangle 37">
            <a:extLst xmlns:a="http://schemas.openxmlformats.org/drawingml/2006/main">
              <a:ext uri="{FF2B5EF4-FFF2-40B4-BE49-F238E27FC236}">
                <a16:creationId xmlns:a16="http://schemas.microsoft.com/office/drawing/2014/main" id="{9465C8DE-8788-4B61-894D-1FA77641511B}"/>
              </a:ext>
            </a:extLst>
          </p:cNvPr>
          <p:cNvSpPr>
            <a:spLocks xmlns:a="http://schemas.openxmlformats.org/drawingml/2006/main" noGrp="1"/>
          </p:cNvSpPr>
          <p:nvPr/>
        </p:nvSpPr>
        <p:spPr>
          <a:xfrm xmlns:a="http://schemas.openxmlformats.org/drawingml/2006/main">
            <a:off x="8833104" y="3383280"/>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9" name="TextBox 38">
            <a:extLst xmlns:a="http://schemas.openxmlformats.org/drawingml/2006/main">
              <a:ext uri="{FF2B5EF4-FFF2-40B4-BE49-F238E27FC236}">
                <a16:creationId xmlns:a16="http://schemas.microsoft.com/office/drawing/2014/main" id="{0D14650F-E567-4F55-9B53-A70E1B67177B}"/>
              </a:ext>
            </a:extLst>
          </p:cNvPr>
          <p:cNvSpPr>
            <a:spLocks xmlns:a="http://schemas.openxmlformats.org/drawingml/2006/main" noGrp="1"/>
          </p:cNvSpPr>
          <p:nvPr/>
        </p:nvSpPr>
        <p:spPr>
          <a:xfrm xmlns:a="http://schemas.openxmlformats.org/drawingml/2006/main">
            <a:off x="8924544" y="3483864"/>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MRPS34</a:t>
            </a:r>
          </a:p>
        </p:txBody>
      </p:sp>
      <p:sp>
        <p:nvSpPr>
          <p:cNvPr id="40" name="Rounded Rectangle 39">
            <a:extLst xmlns:a="http://schemas.openxmlformats.org/drawingml/2006/main">
              <a:ext uri="{FF2B5EF4-FFF2-40B4-BE49-F238E27FC236}">
                <a16:creationId xmlns:a16="http://schemas.microsoft.com/office/drawing/2014/main" id="{FC6DA421-533E-419C-9152-C997B7449409}"/>
              </a:ext>
            </a:extLst>
          </p:cNvPr>
          <p:cNvSpPr>
            <a:spLocks xmlns:a="http://schemas.openxmlformats.org/drawingml/2006/main" noGrp="1"/>
          </p:cNvSpPr>
          <p:nvPr/>
        </p:nvSpPr>
        <p:spPr>
          <a:xfrm xmlns:a="http://schemas.openxmlformats.org/drawingml/2006/main">
            <a:off x="6565392" y="4005072"/>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1" name="TextBox 40">
            <a:extLst xmlns:a="http://schemas.openxmlformats.org/drawingml/2006/main">
              <a:ext uri="{FF2B5EF4-FFF2-40B4-BE49-F238E27FC236}">
                <a16:creationId xmlns:a16="http://schemas.microsoft.com/office/drawing/2014/main" id="{086D0335-838E-466D-88BE-65362C921125}"/>
              </a:ext>
            </a:extLst>
          </p:cNvPr>
          <p:cNvSpPr>
            <a:spLocks xmlns:a="http://schemas.openxmlformats.org/drawingml/2006/main" noGrp="1"/>
          </p:cNvSpPr>
          <p:nvPr/>
        </p:nvSpPr>
        <p:spPr>
          <a:xfrm xmlns:a="http://schemas.openxmlformats.org/drawingml/2006/main">
            <a:off x="6656831" y="4105656"/>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ENDOG</a:t>
            </a:r>
          </a:p>
        </p:txBody>
      </p:sp>
      <p:sp>
        <p:nvSpPr>
          <p:cNvPr id="42" name="Rounded Rectangle 41">
            <a:extLst xmlns:a="http://schemas.openxmlformats.org/drawingml/2006/main">
              <a:ext uri="{FF2B5EF4-FFF2-40B4-BE49-F238E27FC236}">
                <a16:creationId xmlns:a16="http://schemas.microsoft.com/office/drawing/2014/main" id="{10CD3535-2950-4B88-B210-BE54B8A346C8}"/>
              </a:ext>
            </a:extLst>
          </p:cNvPr>
          <p:cNvSpPr>
            <a:spLocks xmlns:a="http://schemas.openxmlformats.org/drawingml/2006/main" noGrp="1"/>
          </p:cNvSpPr>
          <p:nvPr/>
        </p:nvSpPr>
        <p:spPr>
          <a:xfrm xmlns:a="http://schemas.openxmlformats.org/drawingml/2006/main">
            <a:off x="8833104" y="4005072"/>
            <a:ext cx="1993392" cy="43891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3" name="TextBox 42">
            <a:extLst xmlns:a="http://schemas.openxmlformats.org/drawingml/2006/main">
              <a:ext uri="{FF2B5EF4-FFF2-40B4-BE49-F238E27FC236}">
                <a16:creationId xmlns:a16="http://schemas.microsoft.com/office/drawing/2014/main" id="{281CBB33-160C-4C25-9404-B8B4781F70F5}"/>
              </a:ext>
            </a:extLst>
          </p:cNvPr>
          <p:cNvSpPr>
            <a:spLocks xmlns:a="http://schemas.openxmlformats.org/drawingml/2006/main" noGrp="1"/>
          </p:cNvSpPr>
          <p:nvPr/>
        </p:nvSpPr>
        <p:spPr>
          <a:xfrm xmlns:a="http://schemas.openxmlformats.org/drawingml/2006/main">
            <a:off x="8924544" y="4105656"/>
            <a:ext cx="1810512"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30" b="1" i="0">
                <a:solidFill>
                  <a:srgbClr val="9E3A00"/>
                </a:solidFill>
                <a:latin typeface="Arial"/>
                <a:ea typeface="Arial"/>
                <a:cs typeface="Arial"/>
              </a:rPr>
              <a:t>MTCH1</a:t>
            </a:r>
          </a:p>
        </p:txBody>
      </p:sp>
      <p:sp>
        <p:nvSpPr>
          <p:cNvPr id="44" name="Rounded Rectangle 43">
            <a:extLst xmlns:a="http://schemas.openxmlformats.org/drawingml/2006/main">
              <a:ext uri="{FF2B5EF4-FFF2-40B4-BE49-F238E27FC236}">
                <a16:creationId xmlns:a16="http://schemas.microsoft.com/office/drawing/2014/main" id="{4E440860-7147-4579-B9E0-1945D3EF1CF2}"/>
              </a:ext>
            </a:extLst>
          </p:cNvPr>
          <p:cNvSpPr>
            <a:spLocks xmlns:a="http://schemas.openxmlformats.org/drawingml/2006/main" noGrp="1"/>
          </p:cNvSpPr>
          <p:nvPr/>
        </p:nvSpPr>
        <p:spPr>
          <a:xfrm xmlns:a="http://schemas.openxmlformats.org/drawingml/2006/main">
            <a:off x="658368" y="5230368"/>
            <a:ext cx="5285232" cy="95097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5" name="TextBox 44">
            <a:extLst xmlns:a="http://schemas.openxmlformats.org/drawingml/2006/main">
              <a:ext uri="{FF2B5EF4-FFF2-40B4-BE49-F238E27FC236}">
                <a16:creationId xmlns:a16="http://schemas.microsoft.com/office/drawing/2014/main" id="{F3E5D0AC-ECBE-445D-8D6B-C4442DCF3908}"/>
              </a:ext>
            </a:extLst>
          </p:cNvPr>
          <p:cNvSpPr>
            <a:spLocks xmlns:a="http://schemas.openxmlformats.org/drawingml/2006/main" noGrp="1"/>
          </p:cNvSpPr>
          <p:nvPr/>
        </p:nvSpPr>
        <p:spPr>
          <a:xfrm xmlns:a="http://schemas.openxmlformats.org/drawingml/2006/main">
            <a:off x="932688" y="5449824"/>
            <a:ext cx="2029968"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00684D"/>
                </a:solidFill>
                <a:latin typeface="Arial"/>
                <a:ea typeface="Arial"/>
                <a:cs typeface="Arial"/>
              </a:rPr>
              <a:t>Other concordant genes</a:t>
            </a:r>
          </a:p>
        </p:txBody>
      </p:sp>
      <p:sp>
        <p:nvSpPr>
          <p:cNvPr id="46" name="TextBox 45">
            <a:extLst xmlns:a="http://schemas.openxmlformats.org/drawingml/2006/main">
              <a:ext uri="{FF2B5EF4-FFF2-40B4-BE49-F238E27FC236}">
                <a16:creationId xmlns:a16="http://schemas.microsoft.com/office/drawing/2014/main" id="{D8AC2C88-E4B4-4FB6-8956-990AD7AE975A}"/>
              </a:ext>
            </a:extLst>
          </p:cNvPr>
          <p:cNvSpPr>
            <a:spLocks xmlns:a="http://schemas.openxmlformats.org/drawingml/2006/main" noGrp="1"/>
          </p:cNvSpPr>
          <p:nvPr/>
        </p:nvSpPr>
        <p:spPr>
          <a:xfrm xmlns:a="http://schemas.openxmlformats.org/drawingml/2006/main">
            <a:off x="2816352" y="5422392"/>
            <a:ext cx="277977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200" b="1" i="0">
                <a:solidFill>
                  <a:srgbClr val="1F2730"/>
                </a:solidFill>
                <a:latin typeface="Arial"/>
                <a:ea typeface="Arial"/>
                <a:cs typeface="Arial"/>
              </a:rPr>
              <a:t>DBP ↓   •   PRELID2 ↑</a:t>
            </a:r>
          </a:p>
        </p:txBody>
      </p:sp>
      <p:sp>
        <p:nvSpPr>
          <p:cNvPr id="47" name="Rounded Rectangle 46">
            <a:extLst xmlns:a="http://schemas.openxmlformats.org/drawingml/2006/main">
              <a:ext uri="{FF2B5EF4-FFF2-40B4-BE49-F238E27FC236}">
                <a16:creationId xmlns:a16="http://schemas.microsoft.com/office/drawing/2014/main" id="{663F6E21-C900-4814-90AB-BA9EE26BB292}"/>
              </a:ext>
            </a:extLst>
          </p:cNvPr>
          <p:cNvSpPr>
            <a:spLocks xmlns:a="http://schemas.openxmlformats.org/drawingml/2006/main" noGrp="1"/>
          </p:cNvSpPr>
          <p:nvPr/>
        </p:nvSpPr>
        <p:spPr>
          <a:xfrm xmlns:a="http://schemas.openxmlformats.org/drawingml/2006/main">
            <a:off x="6236208" y="5230368"/>
            <a:ext cx="5303520" cy="95097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8" name="TextBox 47">
            <a:extLst xmlns:a="http://schemas.openxmlformats.org/drawingml/2006/main">
              <a:ext uri="{FF2B5EF4-FFF2-40B4-BE49-F238E27FC236}">
                <a16:creationId xmlns:a16="http://schemas.microsoft.com/office/drawing/2014/main" id="{08C11003-7189-4AE0-B9A7-977E6461EB5C}"/>
              </a:ext>
            </a:extLst>
          </p:cNvPr>
          <p:cNvSpPr>
            <a:spLocks xmlns:a="http://schemas.openxmlformats.org/drawingml/2006/main" noGrp="1"/>
          </p:cNvSpPr>
          <p:nvPr/>
        </p:nvSpPr>
        <p:spPr>
          <a:xfrm xmlns:a="http://schemas.openxmlformats.org/drawingml/2006/main">
            <a:off x="6510528" y="5449824"/>
            <a:ext cx="1773936"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00" b="1" i="0">
                <a:solidFill>
                  <a:srgbClr val="895600"/>
                </a:solidFill>
                <a:latin typeface="Arial"/>
                <a:ea typeface="Arial"/>
                <a:cs typeface="Arial"/>
              </a:rPr>
              <a:t>3 discordant genes</a:t>
            </a:r>
          </a:p>
        </p:txBody>
      </p:sp>
      <p:sp>
        <p:nvSpPr>
          <p:cNvPr id="49" name="TextBox 48">
            <a:extLst xmlns:a="http://schemas.openxmlformats.org/drawingml/2006/main">
              <a:ext uri="{FF2B5EF4-FFF2-40B4-BE49-F238E27FC236}">
                <a16:creationId xmlns:a16="http://schemas.microsoft.com/office/drawing/2014/main" id="{D84AABC3-9771-44B1-9E16-FCE13BC2D2E5}"/>
              </a:ext>
            </a:extLst>
          </p:cNvPr>
          <p:cNvSpPr>
            <a:spLocks xmlns:a="http://schemas.openxmlformats.org/drawingml/2006/main" noGrp="1"/>
          </p:cNvSpPr>
          <p:nvPr/>
        </p:nvSpPr>
        <p:spPr>
          <a:xfrm xmlns:a="http://schemas.openxmlformats.org/drawingml/2006/main">
            <a:off x="8174736" y="5422392"/>
            <a:ext cx="3054096"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1F2730"/>
                </a:solidFill>
                <a:latin typeface="Arial"/>
                <a:ea typeface="Arial"/>
                <a:cs typeface="Arial"/>
              </a:rPr>
              <a:t>HIBCH   •   ISCU   •   TMEM126B</a:t>
            </a:r>
          </a:p>
        </p:txBody>
      </p:sp>
    </p:spTree>
    <p:extLst>
      <p:ext uri="{BB962C8B-B14F-4D97-AF65-F5344CB8AC3E}">
        <p14:creationId xmlns:p14="http://schemas.microsoft.com/office/powerpoint/2010/main" val="1617469554"/>
      </p:ext>
    </p:extLst>
  </p:cSld>
</p:sld>
</file>

<file path=ppt/slides/slide5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F89BDDB-19F9-43E6-B898-18332942BF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one respiratory system depends on two genomes</a:t>
            </a:r>
          </a:p>
        </p:txBody>
      </p:sp>
      <p:sp>
        <p:nvSpPr>
          <p:cNvPr id="3" name="TextBox 2">
            <a:extLst xmlns:a="http://schemas.openxmlformats.org/drawingml/2006/main">
              <a:ext uri="{FF2B5EF4-FFF2-40B4-BE49-F238E27FC236}">
                <a16:creationId xmlns:a16="http://schemas.microsoft.com/office/drawing/2014/main" id="{C6E31DFF-652B-4442-ADF2-A5AB65F6F94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Opposite RNA directions could challenge coordination, but the functional outcome remains unknown.</a:t>
            </a:r>
          </a:p>
        </p:txBody>
      </p:sp>
      <p:sp>
        <p:nvSpPr>
          <p:cNvPr id="4" name="Rounded Rectangle 3">
            <a:extLst xmlns:a="http://schemas.openxmlformats.org/drawingml/2006/main">
              <a:ext uri="{FF2B5EF4-FFF2-40B4-BE49-F238E27FC236}">
                <a16:creationId xmlns:a16="http://schemas.microsoft.com/office/drawing/2014/main" id="{80FA1F4E-346A-40E9-A30B-0C83C1DD8C40}"/>
              </a:ext>
            </a:extLst>
          </p:cNvPr>
          <p:cNvSpPr>
            <a:spLocks xmlns:a="http://schemas.openxmlformats.org/drawingml/2006/main" noGrp="1"/>
          </p:cNvSpPr>
          <p:nvPr/>
        </p:nvSpPr>
        <p:spPr>
          <a:xfrm xmlns:a="http://schemas.openxmlformats.org/drawingml/2006/main">
            <a:off x="658368" y="1444752"/>
            <a:ext cx="3456432" cy="2926080"/>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Oval 4">
            <a:extLst xmlns:a="http://schemas.openxmlformats.org/drawingml/2006/main">
              <a:ext uri="{FF2B5EF4-FFF2-40B4-BE49-F238E27FC236}">
                <a16:creationId xmlns:a16="http://schemas.microsoft.com/office/drawing/2014/main" id="{5F4915F5-1C46-40F3-8E59-A43B43378EA6}"/>
              </a:ext>
            </a:extLst>
          </p:cNvPr>
          <p:cNvSpPr>
            <a:spLocks xmlns:a="http://schemas.openxmlformats.org/drawingml/2006/main" noGrp="1"/>
          </p:cNvSpPr>
          <p:nvPr/>
        </p:nvSpPr>
        <p:spPr>
          <a:xfrm xmlns:a="http://schemas.openxmlformats.org/drawingml/2006/main">
            <a:off x="914400" y="1755648"/>
            <a:ext cx="512064" cy="512064"/>
          </a:xfrm>
          <a:prstGeom xmlns:a="http://schemas.openxmlformats.org/drawingml/2006/main" prst="ellipse">
            <a:avLst/>
          </a:prstGeom>
          <a:solidFill xmlns:a="http://schemas.openxmlformats.org/drawingml/2006/main">
            <a:srgbClr val="0072B2"/>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B51B34E-EBD8-4101-9893-44567F046DBE}"/>
              </a:ext>
            </a:extLst>
          </p:cNvPr>
          <p:cNvSpPr>
            <a:spLocks xmlns:a="http://schemas.openxmlformats.org/drawingml/2006/main" noGrp="1"/>
          </p:cNvSpPr>
          <p:nvPr/>
        </p:nvSpPr>
        <p:spPr>
          <a:xfrm xmlns:a="http://schemas.openxmlformats.org/drawingml/2006/main">
            <a:off x="91440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1</a:t>
            </a:r>
          </a:p>
        </p:txBody>
      </p:sp>
      <p:sp>
        <p:nvSpPr>
          <p:cNvPr id="7" name="TextBox 6">
            <a:extLst xmlns:a="http://schemas.openxmlformats.org/drawingml/2006/main">
              <a:ext uri="{FF2B5EF4-FFF2-40B4-BE49-F238E27FC236}">
                <a16:creationId xmlns:a16="http://schemas.microsoft.com/office/drawing/2014/main" id="{AC336E15-6B87-4A24-BC94-2175198B6CB6}"/>
              </a:ext>
            </a:extLst>
          </p:cNvPr>
          <p:cNvSpPr>
            <a:spLocks xmlns:a="http://schemas.openxmlformats.org/drawingml/2006/main" noGrp="1"/>
          </p:cNvSpPr>
          <p:nvPr/>
        </p:nvSpPr>
        <p:spPr>
          <a:xfrm xmlns:a="http://schemas.openxmlformats.org/drawingml/2006/main">
            <a:off x="157276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1" i="0">
                <a:solidFill>
                  <a:srgbClr val="0F233D"/>
                </a:solidFill>
                <a:latin typeface="Arial"/>
                <a:ea typeface="Arial"/>
                <a:cs typeface="Arial"/>
              </a:rPr>
              <a:t>Two-genome machine</a:t>
            </a:r>
          </a:p>
        </p:txBody>
      </p:sp>
      <p:sp>
        <p:nvSpPr>
          <p:cNvPr id="8" name="TextBox 7">
            <a:extLst xmlns:a="http://schemas.openxmlformats.org/drawingml/2006/main">
              <a:ext uri="{FF2B5EF4-FFF2-40B4-BE49-F238E27FC236}">
                <a16:creationId xmlns:a16="http://schemas.microsoft.com/office/drawing/2014/main" id="{68925F42-4398-4E11-B6EF-79DA1E2328C2}"/>
              </a:ext>
            </a:extLst>
          </p:cNvPr>
          <p:cNvSpPr>
            <a:spLocks xmlns:a="http://schemas.openxmlformats.org/drawingml/2006/main" noGrp="1"/>
          </p:cNvSpPr>
          <p:nvPr/>
        </p:nvSpPr>
        <p:spPr>
          <a:xfrm xmlns:a="http://schemas.openxmlformats.org/drawingml/2006/main">
            <a:off x="95097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0" i="0">
                <a:solidFill>
                  <a:srgbClr val="1F2730"/>
                </a:solidFill>
                <a:latin typeface="Arial"/>
                <a:ea typeface="Arial"/>
                <a:cs typeface="Arial"/>
              </a:rPr>
              <a:t>OXPHOS complexes combine proteins encoded by mitochondrial DNA and nuclear DNA.</a:t>
            </a:r>
          </a:p>
        </p:txBody>
      </p:sp>
      <p:sp>
        <p:nvSpPr>
          <p:cNvPr id="9" name="Rounded Rectangle 8">
            <a:extLst xmlns:a="http://schemas.openxmlformats.org/drawingml/2006/main">
              <a:ext uri="{FF2B5EF4-FFF2-40B4-BE49-F238E27FC236}">
                <a16:creationId xmlns:a16="http://schemas.microsoft.com/office/drawing/2014/main" id="{8C8F44F2-A583-41BD-8AAE-D065D0E3A44C}"/>
              </a:ext>
            </a:extLst>
          </p:cNvPr>
          <p:cNvSpPr>
            <a:spLocks xmlns:a="http://schemas.openxmlformats.org/drawingml/2006/main" noGrp="1"/>
          </p:cNvSpPr>
          <p:nvPr/>
        </p:nvSpPr>
        <p:spPr>
          <a:xfrm xmlns:a="http://schemas.openxmlformats.org/drawingml/2006/main">
            <a:off x="4453128" y="1444752"/>
            <a:ext cx="3456432" cy="2926080"/>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Oval 9">
            <a:extLst xmlns:a="http://schemas.openxmlformats.org/drawingml/2006/main">
              <a:ext uri="{FF2B5EF4-FFF2-40B4-BE49-F238E27FC236}">
                <a16:creationId xmlns:a16="http://schemas.microsoft.com/office/drawing/2014/main" id="{55535B3C-9025-4877-AE27-4F730F4EDCEB}"/>
              </a:ext>
            </a:extLst>
          </p:cNvPr>
          <p:cNvSpPr>
            <a:spLocks xmlns:a="http://schemas.openxmlformats.org/drawingml/2006/main" noGrp="1"/>
          </p:cNvSpPr>
          <p:nvPr/>
        </p:nvSpPr>
        <p:spPr>
          <a:xfrm xmlns:a="http://schemas.openxmlformats.org/drawingml/2006/main">
            <a:off x="4709160" y="1755648"/>
            <a:ext cx="512064" cy="51206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7B9ADB5A-D665-478D-A4C2-D6F552769A60}"/>
              </a:ext>
            </a:extLst>
          </p:cNvPr>
          <p:cNvSpPr>
            <a:spLocks xmlns:a="http://schemas.openxmlformats.org/drawingml/2006/main" noGrp="1"/>
          </p:cNvSpPr>
          <p:nvPr/>
        </p:nvSpPr>
        <p:spPr>
          <a:xfrm xmlns:a="http://schemas.openxmlformats.org/drawingml/2006/main">
            <a:off x="470916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2</a:t>
            </a:r>
          </a:p>
        </p:txBody>
      </p:sp>
      <p:sp>
        <p:nvSpPr>
          <p:cNvPr id="12" name="TextBox 11">
            <a:extLst xmlns:a="http://schemas.openxmlformats.org/drawingml/2006/main">
              <a:ext uri="{FF2B5EF4-FFF2-40B4-BE49-F238E27FC236}">
                <a16:creationId xmlns:a16="http://schemas.microsoft.com/office/drawing/2014/main" id="{A52A05AC-F6B3-4522-9E9D-440CF3FD3009}"/>
              </a:ext>
            </a:extLst>
          </p:cNvPr>
          <p:cNvSpPr>
            <a:spLocks xmlns:a="http://schemas.openxmlformats.org/drawingml/2006/main" noGrp="1"/>
          </p:cNvSpPr>
          <p:nvPr/>
        </p:nvSpPr>
        <p:spPr>
          <a:xfrm xmlns:a="http://schemas.openxmlformats.org/drawingml/2006/main">
            <a:off x="536752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1" i="0">
                <a:solidFill>
                  <a:srgbClr val="0F233D"/>
                </a:solidFill>
                <a:latin typeface="Arial"/>
                <a:ea typeface="Arial"/>
                <a:cs typeface="Arial"/>
              </a:rPr>
              <a:t>Support systems also fall</a:t>
            </a:r>
          </a:p>
        </p:txBody>
      </p:sp>
      <p:sp>
        <p:nvSpPr>
          <p:cNvPr id="13" name="TextBox 12">
            <a:extLst xmlns:a="http://schemas.openxmlformats.org/drawingml/2006/main">
              <a:ext uri="{FF2B5EF4-FFF2-40B4-BE49-F238E27FC236}">
                <a16:creationId xmlns:a16="http://schemas.microsoft.com/office/drawing/2014/main" id="{737F4522-E85C-4374-8AFE-3C93CC6427A3}"/>
              </a:ext>
            </a:extLst>
          </p:cNvPr>
          <p:cNvSpPr>
            <a:spLocks xmlns:a="http://schemas.openxmlformats.org/drawingml/2006/main" noGrp="1"/>
          </p:cNvSpPr>
          <p:nvPr/>
        </p:nvSpPr>
        <p:spPr>
          <a:xfrm xmlns:a="http://schemas.openxmlformats.org/drawingml/2006/main">
            <a:off x="474573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0" i="0">
                <a:solidFill>
                  <a:srgbClr val="1F2730"/>
                </a:solidFill>
                <a:latin typeface="Arial"/>
                <a:ea typeface="Arial"/>
                <a:cs typeface="Arial"/>
              </a:rPr>
              <a:t>Import, mitochondrial-ribosome, transport, and maintenance genes are down in both cohorts.</a:t>
            </a:r>
          </a:p>
        </p:txBody>
      </p:sp>
      <p:sp>
        <p:nvSpPr>
          <p:cNvPr id="14" name="Rounded Rectangle 13">
            <a:extLst xmlns:a="http://schemas.openxmlformats.org/drawingml/2006/main">
              <a:ext uri="{FF2B5EF4-FFF2-40B4-BE49-F238E27FC236}">
                <a16:creationId xmlns:a16="http://schemas.microsoft.com/office/drawing/2014/main" id="{4E5AE5C1-CACE-4CDD-BA6B-58AFC97688E0}"/>
              </a:ext>
            </a:extLst>
          </p:cNvPr>
          <p:cNvSpPr>
            <a:spLocks xmlns:a="http://schemas.openxmlformats.org/drawingml/2006/main" noGrp="1"/>
          </p:cNvSpPr>
          <p:nvPr/>
        </p:nvSpPr>
        <p:spPr>
          <a:xfrm xmlns:a="http://schemas.openxmlformats.org/drawingml/2006/main">
            <a:off x="8247888" y="1444752"/>
            <a:ext cx="3456432" cy="2926080"/>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Oval 14">
            <a:extLst xmlns:a="http://schemas.openxmlformats.org/drawingml/2006/main">
              <a:ext uri="{FF2B5EF4-FFF2-40B4-BE49-F238E27FC236}">
                <a16:creationId xmlns:a16="http://schemas.microsoft.com/office/drawing/2014/main" id="{3C73238A-1805-4B14-9818-C3823CA03A84}"/>
              </a:ext>
            </a:extLst>
          </p:cNvPr>
          <p:cNvSpPr>
            <a:spLocks xmlns:a="http://schemas.openxmlformats.org/drawingml/2006/main" noGrp="1"/>
          </p:cNvSpPr>
          <p:nvPr/>
        </p:nvSpPr>
        <p:spPr>
          <a:xfrm xmlns:a="http://schemas.openxmlformats.org/drawingml/2006/main">
            <a:off x="8503920" y="1755648"/>
            <a:ext cx="512064" cy="512064"/>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TextBox 15">
            <a:extLst xmlns:a="http://schemas.openxmlformats.org/drawingml/2006/main">
              <a:ext uri="{FF2B5EF4-FFF2-40B4-BE49-F238E27FC236}">
                <a16:creationId xmlns:a16="http://schemas.microsoft.com/office/drawing/2014/main" id="{3937DE2F-CA42-4B1A-BBD9-9BDE6CE438CA}"/>
              </a:ext>
            </a:extLst>
          </p:cNvPr>
          <p:cNvSpPr>
            <a:spLocks xmlns:a="http://schemas.openxmlformats.org/drawingml/2006/main" noGrp="1"/>
          </p:cNvSpPr>
          <p:nvPr/>
        </p:nvSpPr>
        <p:spPr>
          <a:xfrm xmlns:a="http://schemas.openxmlformats.org/drawingml/2006/main">
            <a:off x="8503920" y="1874519"/>
            <a:ext cx="512064"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00" b="1" i="0">
                <a:solidFill>
                  <a:srgbClr val="FFFFFF"/>
                </a:solidFill>
                <a:latin typeface="Arial"/>
                <a:ea typeface="Arial"/>
                <a:cs typeface="Arial"/>
              </a:rPr>
              <a:t>3</a:t>
            </a:r>
          </a:p>
        </p:txBody>
      </p:sp>
      <p:sp>
        <p:nvSpPr>
          <p:cNvPr id="17" name="TextBox 16">
            <a:extLst xmlns:a="http://schemas.openxmlformats.org/drawingml/2006/main">
              <a:ext uri="{FF2B5EF4-FFF2-40B4-BE49-F238E27FC236}">
                <a16:creationId xmlns:a16="http://schemas.microsoft.com/office/drawing/2014/main" id="{C903F3CC-926C-4B85-B76F-E6FC31B3195D}"/>
              </a:ext>
            </a:extLst>
          </p:cNvPr>
          <p:cNvSpPr>
            <a:spLocks xmlns:a="http://schemas.openxmlformats.org/drawingml/2006/main" noGrp="1"/>
          </p:cNvSpPr>
          <p:nvPr/>
        </p:nvSpPr>
        <p:spPr>
          <a:xfrm xmlns:a="http://schemas.openxmlformats.org/drawingml/2006/main">
            <a:off x="9162288" y="1773936"/>
            <a:ext cx="2249424"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1" i="0">
                <a:solidFill>
                  <a:srgbClr val="0F233D"/>
                </a:solidFill>
                <a:latin typeface="Arial"/>
                <a:ea typeface="Arial"/>
                <a:cs typeface="Arial"/>
              </a:rPr>
              <a:t>Possible cellular strain</a:t>
            </a:r>
          </a:p>
        </p:txBody>
      </p:sp>
      <p:sp>
        <p:nvSpPr>
          <p:cNvPr id="18" name="TextBox 17">
            <a:extLst xmlns:a="http://schemas.openxmlformats.org/drawingml/2006/main">
              <a:ext uri="{FF2B5EF4-FFF2-40B4-BE49-F238E27FC236}">
                <a16:creationId xmlns:a16="http://schemas.microsoft.com/office/drawing/2014/main" id="{B5EE971D-CCA3-40AB-B239-DC9FA51E5711}"/>
              </a:ext>
            </a:extLst>
          </p:cNvPr>
          <p:cNvSpPr>
            <a:spLocks xmlns:a="http://schemas.openxmlformats.org/drawingml/2006/main" noGrp="1"/>
          </p:cNvSpPr>
          <p:nvPr/>
        </p:nvSpPr>
        <p:spPr>
          <a:xfrm xmlns:a="http://schemas.openxmlformats.org/drawingml/2006/main">
            <a:off x="8540496" y="2542032"/>
            <a:ext cx="2871216" cy="11704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160" b="0" i="0">
                <a:solidFill>
                  <a:srgbClr val="1F2730"/>
                </a:solidFill>
                <a:latin typeface="Arial"/>
                <a:ea typeface="Arial"/>
                <a:cs typeface="Arial"/>
              </a:rPr>
              <a:t>The pattern could reflect compensation, unassembled parts, altered cell state, or mitochondrial stress.</a:t>
            </a:r>
          </a:p>
        </p:txBody>
      </p:sp>
      <p:sp>
        <p:nvSpPr>
          <p:cNvPr id="19" name="Rounded Rectangle 18">
            <a:extLst xmlns:a="http://schemas.openxmlformats.org/drawingml/2006/main">
              <a:ext uri="{FF2B5EF4-FFF2-40B4-BE49-F238E27FC236}">
                <a16:creationId xmlns:a16="http://schemas.microsoft.com/office/drawing/2014/main" id="{A96C6193-504C-4278-BE8F-B54E3187356F}"/>
              </a:ext>
            </a:extLst>
          </p:cNvPr>
          <p:cNvSpPr>
            <a:spLocks xmlns:a="http://schemas.openxmlformats.org/drawingml/2006/main" noGrp="1"/>
          </p:cNvSpPr>
          <p:nvPr/>
        </p:nvSpPr>
        <p:spPr>
          <a:xfrm xmlns:a="http://schemas.openxmlformats.org/drawingml/2006/main">
            <a:off x="658368" y="4736592"/>
            <a:ext cx="10881360" cy="1042415"/>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0" name="TextBox 19">
            <a:extLst xmlns:a="http://schemas.openxmlformats.org/drawingml/2006/main">
              <a:ext uri="{FF2B5EF4-FFF2-40B4-BE49-F238E27FC236}">
                <a16:creationId xmlns:a16="http://schemas.microsoft.com/office/drawing/2014/main" id="{44DB96F8-B5A0-4FA3-808C-4E1766C0D259}"/>
              </a:ext>
            </a:extLst>
          </p:cNvPr>
          <p:cNvSpPr>
            <a:spLocks xmlns:a="http://schemas.openxmlformats.org/drawingml/2006/main" noGrp="1"/>
          </p:cNvSpPr>
          <p:nvPr/>
        </p:nvSpPr>
        <p:spPr>
          <a:xfrm xmlns:a="http://schemas.openxmlformats.org/drawingml/2006/main">
            <a:off x="896112" y="4992624"/>
            <a:ext cx="219456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00" b="1" i="0">
                <a:solidFill>
                  <a:srgbClr val="9E3A00"/>
                </a:solidFill>
                <a:latin typeface="Arial"/>
                <a:ea typeface="Arial"/>
                <a:cs typeface="Arial"/>
              </a:rPr>
              <a:t>Most cautious interpretation</a:t>
            </a:r>
          </a:p>
        </p:txBody>
      </p:sp>
      <p:sp>
        <p:nvSpPr>
          <p:cNvPr id="21" name="TextBox 20">
            <a:extLst xmlns:a="http://schemas.openxmlformats.org/drawingml/2006/main">
              <a:ext uri="{FF2B5EF4-FFF2-40B4-BE49-F238E27FC236}">
                <a16:creationId xmlns:a16="http://schemas.microsoft.com/office/drawing/2014/main" id="{C4612D2D-EB94-410E-98BE-66523814461D}"/>
              </a:ext>
            </a:extLst>
          </p:cNvPr>
          <p:cNvSpPr>
            <a:spLocks xmlns:a="http://schemas.openxmlformats.org/drawingml/2006/main" noGrp="1"/>
          </p:cNvSpPr>
          <p:nvPr/>
        </p:nvSpPr>
        <p:spPr>
          <a:xfrm xmlns:a="http://schemas.openxmlformats.org/drawingml/2006/main">
            <a:off x="3246120" y="4882896"/>
            <a:ext cx="7836408" cy="51206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60" b="1" i="0">
                <a:solidFill>
                  <a:srgbClr val="1F2730"/>
                </a:solidFill>
                <a:latin typeface="Arial"/>
                <a:ea typeface="Arial"/>
                <a:cs typeface="Arial"/>
              </a:rPr>
              <a:t>This is an RNA-level mitonuclear mismatch—not proof that respiratory proteins or ATP production are unbalanced.</a:t>
            </a:r>
          </a:p>
        </p:txBody>
      </p:sp>
    </p:spTree>
    <p:extLst>
      <p:ext uri="{BB962C8B-B14F-4D97-AF65-F5344CB8AC3E}">
        <p14:creationId xmlns:p14="http://schemas.microsoft.com/office/powerpoint/2010/main" val="1344276869"/>
      </p:ext>
    </p:extLst>
  </p:cSld>
</p:sld>
</file>

<file path=ppt/slides/slide5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9007CBC-D162-4FA8-AE54-932D4B487E0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the finding does not prove—and the next evidence needed</a:t>
            </a:r>
          </a:p>
        </p:txBody>
      </p:sp>
      <p:sp>
        <p:nvSpPr>
          <p:cNvPr id="3" name="TextBox 2">
            <a:extLst xmlns:a="http://schemas.openxmlformats.org/drawingml/2006/main">
              <a:ext uri="{FF2B5EF4-FFF2-40B4-BE49-F238E27FC236}">
                <a16:creationId xmlns:a16="http://schemas.microsoft.com/office/drawing/2014/main" id="{A957451A-66D2-4766-B5A8-016AFE827EE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transcript-level mismatch is a testable hypothesis, not a completed mechanism.</a:t>
            </a:r>
          </a:p>
        </p:txBody>
      </p:sp>
      <p:sp>
        <p:nvSpPr>
          <p:cNvPr id="4" name="Rounded Rectangle 3">
            <a:extLst xmlns:a="http://schemas.openxmlformats.org/drawingml/2006/main">
              <a:ext uri="{FF2B5EF4-FFF2-40B4-BE49-F238E27FC236}">
                <a16:creationId xmlns:a16="http://schemas.microsoft.com/office/drawing/2014/main" id="{81BEBC7A-2FE5-4782-A4BF-71630B8E625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3B647996-5C44-4A81-A071-0C51F76EE995}"/>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D3A5210-085C-492A-A66C-B75F63039958}"/>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0482B3EC-6647-4985-9468-43426D8E1E6D}"/>
              </a:ext>
            </a:extLst>
          </p:cNvPr>
          <p:cNvSpPr>
            <a:spLocks xmlns:a="http://schemas.openxmlformats.org/drawingml/2006/main" noGrp="1"/>
          </p:cNvSpPr>
          <p:nvPr/>
        </p:nvSpPr>
        <p:spPr>
          <a:xfrm xmlns:a="http://schemas.openxmlformats.org/drawingml/2006/main">
            <a:off x="950976" y="2249424"/>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6DEA8BD-73FA-4EAB-9797-E2A227A658BF}"/>
              </a:ext>
            </a:extLst>
          </p:cNvPr>
          <p:cNvSpPr>
            <a:spLocks xmlns:a="http://schemas.openxmlformats.org/drawingml/2006/main" noGrp="1"/>
          </p:cNvSpPr>
          <p:nvPr/>
        </p:nvSpPr>
        <p:spPr>
          <a:xfrm xmlns:a="http://schemas.openxmlformats.org/drawingml/2006/main">
            <a:off x="1124712" y="2121408"/>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Physical imbalance of OXPHOS proteins or complexes</a:t>
            </a:r>
          </a:p>
        </p:txBody>
      </p:sp>
      <p:sp>
        <p:nvSpPr>
          <p:cNvPr id="9" name="Oval 8">
            <a:extLst xmlns:a="http://schemas.openxmlformats.org/drawingml/2006/main">
              <a:ext uri="{FF2B5EF4-FFF2-40B4-BE49-F238E27FC236}">
                <a16:creationId xmlns:a16="http://schemas.microsoft.com/office/drawing/2014/main" id="{ED99E4E7-24EA-4819-BCEC-0A9AEBCC51D3}"/>
              </a:ext>
            </a:extLst>
          </p:cNvPr>
          <p:cNvSpPr>
            <a:spLocks xmlns:a="http://schemas.openxmlformats.org/drawingml/2006/main" noGrp="1"/>
          </p:cNvSpPr>
          <p:nvPr/>
        </p:nvSpPr>
        <p:spPr>
          <a:xfrm xmlns:a="http://schemas.openxmlformats.org/drawingml/2006/main">
            <a:off x="950976" y="2999232"/>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64D7331-D513-46E2-80A1-4223ED9CD2DF}"/>
              </a:ext>
            </a:extLst>
          </p:cNvPr>
          <p:cNvSpPr>
            <a:spLocks xmlns:a="http://schemas.openxmlformats.org/drawingml/2006/main" noGrp="1"/>
          </p:cNvSpPr>
          <p:nvPr/>
        </p:nvSpPr>
        <p:spPr>
          <a:xfrm xmlns:a="http://schemas.openxmlformats.org/drawingml/2006/main">
            <a:off x="1124712" y="2871215"/>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Lower ATP, respiration, or higher oxidative stress</a:t>
            </a:r>
          </a:p>
        </p:txBody>
      </p:sp>
      <p:sp>
        <p:nvSpPr>
          <p:cNvPr id="11" name="Oval 10">
            <a:extLst xmlns:a="http://schemas.openxmlformats.org/drawingml/2006/main">
              <a:ext uri="{FF2B5EF4-FFF2-40B4-BE49-F238E27FC236}">
                <a16:creationId xmlns:a16="http://schemas.microsoft.com/office/drawing/2014/main" id="{CAAFD71A-9356-4179-AC55-987E15D97B49}"/>
              </a:ext>
            </a:extLst>
          </p:cNvPr>
          <p:cNvSpPr>
            <a:spLocks xmlns:a="http://schemas.openxmlformats.org/drawingml/2006/main" noGrp="1"/>
          </p:cNvSpPr>
          <p:nvPr/>
        </p:nvSpPr>
        <p:spPr>
          <a:xfrm xmlns:a="http://schemas.openxmlformats.org/drawingml/2006/main">
            <a:off x="950976" y="3749039"/>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5E30417-C349-48B8-A6A5-8B008FBFC05F}"/>
              </a:ext>
            </a:extLst>
          </p:cNvPr>
          <p:cNvSpPr>
            <a:spLocks xmlns:a="http://schemas.openxmlformats.org/drawingml/2006/main" noGrp="1"/>
          </p:cNvSpPr>
          <p:nvPr/>
        </p:nvSpPr>
        <p:spPr>
          <a:xfrm xmlns:a="http://schemas.openxmlformats.org/drawingml/2006/main">
            <a:off x="1124712" y="3621023"/>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A male- or ε3/ε3-specific disease interaction</a:t>
            </a:r>
          </a:p>
        </p:txBody>
      </p:sp>
      <p:sp>
        <p:nvSpPr>
          <p:cNvPr id="13" name="Oval 12">
            <a:extLst xmlns:a="http://schemas.openxmlformats.org/drawingml/2006/main">
              <a:ext uri="{FF2B5EF4-FFF2-40B4-BE49-F238E27FC236}">
                <a16:creationId xmlns:a16="http://schemas.microsoft.com/office/drawing/2014/main" id="{63004944-6C98-4EFF-A6E8-FD4BEF3F7463}"/>
              </a:ext>
            </a:extLst>
          </p:cNvPr>
          <p:cNvSpPr>
            <a:spLocks xmlns:a="http://schemas.openxmlformats.org/drawingml/2006/main" noGrp="1"/>
          </p:cNvSpPr>
          <p:nvPr/>
        </p:nvSpPr>
        <p:spPr>
          <a:xfrm xmlns:a="http://schemas.openxmlformats.org/drawingml/2006/main">
            <a:off x="950976" y="449884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TextBox 13">
            <a:extLst xmlns:a="http://schemas.openxmlformats.org/drawingml/2006/main">
              <a:ext uri="{FF2B5EF4-FFF2-40B4-BE49-F238E27FC236}">
                <a16:creationId xmlns:a16="http://schemas.microsoft.com/office/drawing/2014/main" id="{90F062D3-2B36-419C-A999-539721FE0746}"/>
              </a:ext>
            </a:extLst>
          </p:cNvPr>
          <p:cNvSpPr>
            <a:spLocks xmlns:a="http://schemas.openxmlformats.org/drawingml/2006/main" noGrp="1"/>
          </p:cNvSpPr>
          <p:nvPr/>
        </p:nvSpPr>
        <p:spPr>
          <a:xfrm xmlns:a="http://schemas.openxmlformats.org/drawingml/2006/main">
            <a:off x="1124712" y="4370831"/>
            <a:ext cx="4398264"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Which upstream key driver caused the pattern</a:t>
            </a:r>
          </a:p>
        </p:txBody>
      </p:sp>
      <p:sp>
        <p:nvSpPr>
          <p:cNvPr id="15" name="Rounded Rectangle 14">
            <a:extLst xmlns:a="http://schemas.openxmlformats.org/drawingml/2006/main">
              <a:ext uri="{FF2B5EF4-FFF2-40B4-BE49-F238E27FC236}">
                <a16:creationId xmlns:a16="http://schemas.microsoft.com/office/drawing/2014/main" id="{BBEB48D6-038A-478B-9505-C883AF8EB261}"/>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6" name="Rectangle 15">
            <a:extLst xmlns:a="http://schemas.openxmlformats.org/drawingml/2006/main">
              <a:ext uri="{FF2B5EF4-FFF2-40B4-BE49-F238E27FC236}">
                <a16:creationId xmlns:a16="http://schemas.microsoft.com/office/drawing/2014/main" id="{1A9873BC-6B5D-4269-B2F0-5DD3850655E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BDFDE65-EA69-4A32-ADE0-DF108C9646A5}"/>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8" name="Oval 17">
            <a:extLst xmlns:a="http://schemas.openxmlformats.org/drawingml/2006/main">
              <a:ext uri="{FF2B5EF4-FFF2-40B4-BE49-F238E27FC236}">
                <a16:creationId xmlns:a16="http://schemas.microsoft.com/office/drawing/2014/main" id="{77FB08E1-4B17-45E1-BD17-0E1A89ACDB3D}"/>
              </a:ext>
            </a:extLst>
          </p:cNvPr>
          <p:cNvSpPr>
            <a:spLocks xmlns:a="http://schemas.openxmlformats.org/drawingml/2006/main" noGrp="1"/>
          </p:cNvSpPr>
          <p:nvPr/>
        </p:nvSpPr>
        <p:spPr>
          <a:xfrm xmlns:a="http://schemas.openxmlformats.org/drawingml/2006/main">
            <a:off x="6528816" y="2249424"/>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EB7D9F6D-3A0A-471D-9F87-6A0C5CA6542C}"/>
              </a:ext>
            </a:extLst>
          </p:cNvPr>
          <p:cNvSpPr>
            <a:spLocks xmlns:a="http://schemas.openxmlformats.org/drawingml/2006/main" noGrp="1"/>
          </p:cNvSpPr>
          <p:nvPr/>
        </p:nvSpPr>
        <p:spPr>
          <a:xfrm xmlns:a="http://schemas.openxmlformats.org/drawingml/2006/main">
            <a:off x="6702552" y="2121408"/>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Donor-aware disease × sex × APOE interaction model</a:t>
            </a:r>
          </a:p>
        </p:txBody>
      </p:sp>
      <p:sp>
        <p:nvSpPr>
          <p:cNvPr id="20" name="Oval 19">
            <a:extLst xmlns:a="http://schemas.openxmlformats.org/drawingml/2006/main">
              <a:ext uri="{FF2B5EF4-FFF2-40B4-BE49-F238E27FC236}">
                <a16:creationId xmlns:a16="http://schemas.microsoft.com/office/drawing/2014/main" id="{D834E154-C206-46BA-B7AA-F49AE7F0C014}"/>
              </a:ext>
            </a:extLst>
          </p:cNvPr>
          <p:cNvSpPr>
            <a:spLocks xmlns:a="http://schemas.openxmlformats.org/drawingml/2006/main" noGrp="1"/>
          </p:cNvSpPr>
          <p:nvPr/>
        </p:nvSpPr>
        <p:spPr>
          <a:xfrm xmlns:a="http://schemas.openxmlformats.org/drawingml/2006/main">
            <a:off x="6528816" y="2999232"/>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55F9CF5-2B6C-45BF-91B3-BDF4F3BD1ED0}"/>
              </a:ext>
            </a:extLst>
          </p:cNvPr>
          <p:cNvSpPr>
            <a:spLocks xmlns:a="http://schemas.openxmlformats.org/drawingml/2006/main" noGrp="1"/>
          </p:cNvSpPr>
          <p:nvPr/>
        </p:nvSpPr>
        <p:spPr>
          <a:xfrm xmlns:a="http://schemas.openxmlformats.org/drawingml/2006/main">
            <a:off x="6702552" y="2871215"/>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Paired mtDNA- and nuclear-encoded OXPHOS proteins</a:t>
            </a:r>
          </a:p>
        </p:txBody>
      </p:sp>
      <p:sp>
        <p:nvSpPr>
          <p:cNvPr id="22" name="Oval 21">
            <a:extLst xmlns:a="http://schemas.openxmlformats.org/drawingml/2006/main">
              <a:ext uri="{FF2B5EF4-FFF2-40B4-BE49-F238E27FC236}">
                <a16:creationId xmlns:a16="http://schemas.microsoft.com/office/drawing/2014/main" id="{26501F6B-463F-4ADA-B725-5FC4EB988DB9}"/>
              </a:ext>
            </a:extLst>
          </p:cNvPr>
          <p:cNvSpPr>
            <a:spLocks xmlns:a="http://schemas.openxmlformats.org/drawingml/2006/main" noGrp="1"/>
          </p:cNvSpPr>
          <p:nvPr/>
        </p:nvSpPr>
        <p:spPr>
          <a:xfrm xmlns:a="http://schemas.openxmlformats.org/drawingml/2006/main">
            <a:off x="6528816" y="3749039"/>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3" name="TextBox 22">
            <a:extLst xmlns:a="http://schemas.openxmlformats.org/drawingml/2006/main">
              <a:ext uri="{FF2B5EF4-FFF2-40B4-BE49-F238E27FC236}">
                <a16:creationId xmlns:a16="http://schemas.microsoft.com/office/drawing/2014/main" id="{BF896A35-E0BC-48A7-A807-A5F90A8B8EDC}"/>
              </a:ext>
            </a:extLst>
          </p:cNvPr>
          <p:cNvSpPr>
            <a:spLocks xmlns:a="http://schemas.openxmlformats.org/drawingml/2006/main" noGrp="1"/>
          </p:cNvSpPr>
          <p:nvPr/>
        </p:nvSpPr>
        <p:spPr>
          <a:xfrm xmlns:a="http://schemas.openxmlformats.org/drawingml/2006/main">
            <a:off x="6702552" y="3621023"/>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Respiratory-complex assembly, oxygen use, ATP, and ROS</a:t>
            </a:r>
          </a:p>
        </p:txBody>
      </p:sp>
      <p:sp>
        <p:nvSpPr>
          <p:cNvPr id="24" name="Oval 23">
            <a:extLst xmlns:a="http://schemas.openxmlformats.org/drawingml/2006/main">
              <a:ext uri="{FF2B5EF4-FFF2-40B4-BE49-F238E27FC236}">
                <a16:creationId xmlns:a16="http://schemas.microsoft.com/office/drawing/2014/main" id="{C1DC7F49-436A-4DE2-BE4E-6137BC06044D}"/>
              </a:ext>
            </a:extLst>
          </p:cNvPr>
          <p:cNvSpPr>
            <a:spLocks xmlns:a="http://schemas.openxmlformats.org/drawingml/2006/main" noGrp="1"/>
          </p:cNvSpPr>
          <p:nvPr/>
        </p:nvSpPr>
        <p:spPr>
          <a:xfrm xmlns:a="http://schemas.openxmlformats.org/drawingml/2006/main">
            <a:off x="6528816" y="449884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64EDC214-B227-4EEE-A2EF-7458075F4636}"/>
              </a:ext>
            </a:extLst>
          </p:cNvPr>
          <p:cNvSpPr>
            <a:spLocks xmlns:a="http://schemas.openxmlformats.org/drawingml/2006/main" noGrp="1"/>
          </p:cNvSpPr>
          <p:nvPr/>
        </p:nvSpPr>
        <p:spPr>
          <a:xfrm xmlns:a="http://schemas.openxmlformats.org/drawingml/2006/main">
            <a:off x="6702552" y="4370831"/>
            <a:ext cx="4416551" cy="7498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240" b="0" i="0">
                <a:solidFill>
                  <a:srgbClr val="1F2730"/>
                </a:solidFill>
                <a:latin typeface="Arial"/>
                <a:ea typeface="Arial"/>
                <a:cs typeface="Arial"/>
              </a:rPr>
              <a:t>Perturb candidate drivers and test functional rescue</a:t>
            </a:r>
          </a:p>
        </p:txBody>
      </p:sp>
      <p:sp>
        <p:nvSpPr>
          <p:cNvPr id="26" name="TextBox 25">
            <a:extLst xmlns:a="http://schemas.openxmlformats.org/drawingml/2006/main">
              <a:ext uri="{FF2B5EF4-FFF2-40B4-BE49-F238E27FC236}">
                <a16:creationId xmlns:a16="http://schemas.microsoft.com/office/drawing/2014/main" id="{1AAD8A1E-1B2F-46D6-A47F-3E881E5AD891}"/>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7E4C9A"/>
                </a:solidFill>
                <a:latin typeface="Arial"/>
                <a:ea typeface="Arial"/>
                <a:cs typeface="Arial"/>
              </a:rPr>
              <a:t>SEA-AD strengthens the program observation but cannot replace interaction tests or functional measurements.</a:t>
            </a:r>
          </a:p>
        </p:txBody>
      </p:sp>
    </p:spTree>
    <p:extLst>
      <p:ext uri="{BB962C8B-B14F-4D97-AF65-F5344CB8AC3E}">
        <p14:creationId xmlns:p14="http://schemas.microsoft.com/office/powerpoint/2010/main" val="9807713"/>
      </p:ext>
    </p:extLst>
  </p:cSld>
</p:sld>
</file>

<file path=ppt/slides/slide5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A1E831F-9C83-460B-A9F6-F57B4FD91C2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supports the ingredients—but not this exact mismatch</a:t>
            </a:r>
          </a:p>
        </p:txBody>
      </p:sp>
      <p:sp>
        <p:nvSpPr>
          <p:cNvPr id="3" name="TextBox 2">
            <a:extLst xmlns:a="http://schemas.openxmlformats.org/drawingml/2006/main">
              <a:ext uri="{FF2B5EF4-FFF2-40B4-BE49-F238E27FC236}">
                <a16:creationId xmlns:a16="http://schemas.microsoft.com/office/drawing/2014/main" id="{FFC3B33B-FA26-4DB3-90A1-C59CD3B5D42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Known mitonuclear biology and cell-resolved AD studies make the finding plausible without independently duplicating it.</a:t>
            </a:r>
          </a:p>
        </p:txBody>
      </p:sp>
      <p:sp>
        <p:nvSpPr>
          <p:cNvPr id="4" name="Rounded Rectangle 3">
            <a:extLst xmlns:a="http://schemas.openxmlformats.org/drawingml/2006/main">
              <a:ext uri="{FF2B5EF4-FFF2-40B4-BE49-F238E27FC236}">
                <a16:creationId xmlns:a16="http://schemas.microsoft.com/office/drawing/2014/main" id="{F9060371-20DB-4C6A-8FCA-CF7D5B51DB8B}"/>
              </a:ext>
            </a:extLst>
          </p:cNvPr>
          <p:cNvSpPr>
            <a:spLocks xmlns:a="http://schemas.openxmlformats.org/drawingml/2006/main" noGrp="1"/>
          </p:cNvSpPr>
          <p:nvPr/>
        </p:nvSpPr>
        <p:spPr>
          <a:xfrm xmlns:a="http://schemas.openxmlformats.org/drawingml/2006/main">
            <a:off x="658368" y="1353312"/>
            <a:ext cx="3456432" cy="4169663"/>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39C4ABF-05B2-4485-B2CB-5AC16080D05A}"/>
              </a:ext>
            </a:extLst>
          </p:cNvPr>
          <p:cNvSpPr>
            <a:spLocks xmlns:a="http://schemas.openxmlformats.org/drawingml/2006/main" noGrp="1"/>
          </p:cNvSpPr>
          <p:nvPr/>
        </p:nvSpPr>
        <p:spPr>
          <a:xfrm xmlns:a="http://schemas.openxmlformats.org/drawingml/2006/main">
            <a:off x="93268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072B2"/>
                </a:solidFill>
                <a:latin typeface="Arial"/>
                <a:ea typeface="Arial"/>
                <a:cs typeface="Arial"/>
              </a:rPr>
              <a:t>Mitonuclear biology</a:t>
            </a:r>
          </a:p>
        </p:txBody>
      </p:sp>
      <p:sp>
        <p:nvSpPr>
          <p:cNvPr id="6" name="TextBox 5">
            <a:extLst xmlns:a="http://schemas.openxmlformats.org/drawingml/2006/main">
              <a:ext uri="{FF2B5EF4-FFF2-40B4-BE49-F238E27FC236}">
                <a16:creationId xmlns:a16="http://schemas.microsoft.com/office/drawing/2014/main" id="{E4E8C0BF-18CE-4AFE-A685-EE6B952528DC}"/>
              </a:ext>
            </a:extLst>
          </p:cNvPr>
          <p:cNvSpPr>
            <a:spLocks xmlns:a="http://schemas.openxmlformats.org/drawingml/2006/main" noGrp="1"/>
          </p:cNvSpPr>
          <p:nvPr/>
        </p:nvSpPr>
        <p:spPr>
          <a:xfrm xmlns:a="http://schemas.openxmlformats.org/drawingml/2006/main">
            <a:off x="93268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Two-genome assembly</a:t>
            </a:r>
          </a:p>
        </p:txBody>
      </p:sp>
      <p:sp>
        <p:nvSpPr>
          <p:cNvPr id="7" name="TextBox 6">
            <a:extLst xmlns:a="http://schemas.openxmlformats.org/drawingml/2006/main">
              <a:ext uri="{FF2B5EF4-FFF2-40B4-BE49-F238E27FC236}">
                <a16:creationId xmlns:a16="http://schemas.microsoft.com/office/drawing/2014/main" id="{AFF2BC40-434D-4FBA-A545-2D12E535E323}"/>
              </a:ext>
            </a:extLst>
          </p:cNvPr>
          <p:cNvSpPr>
            <a:spLocks xmlns:a="http://schemas.openxmlformats.org/drawingml/2006/main" noGrp="1"/>
          </p:cNvSpPr>
          <p:nvPr/>
        </p:nvSpPr>
        <p:spPr>
          <a:xfrm xmlns:a="http://schemas.openxmlformats.org/drawingml/2006/main">
            <a:off x="95097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3449C21F-77B6-4B10-A6D6-BCE8CD5DBF86}"/>
              </a:ext>
            </a:extLst>
          </p:cNvPr>
          <p:cNvSpPr>
            <a:spLocks xmlns:a="http://schemas.openxmlformats.org/drawingml/2006/main" noGrp="1"/>
          </p:cNvSpPr>
          <p:nvPr/>
        </p:nvSpPr>
        <p:spPr>
          <a:xfrm xmlns:a="http://schemas.openxmlformats.org/drawingml/2006/main">
            <a:off x="95097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0" i="0">
                <a:solidFill>
                  <a:srgbClr val="1F2730"/>
                </a:solidFill>
                <a:latin typeface="Arial"/>
                <a:ea typeface="Arial"/>
                <a:cs typeface="Arial"/>
              </a:rPr>
              <a:t>OXPHOS requires coordinated mitochondrial- and nuclear-encoded parts.</a:t>
            </a:r>
          </a:p>
        </p:txBody>
      </p:sp>
      <p:sp>
        <p:nvSpPr>
          <p:cNvPr id="9" name="TextBox 8">
            <a:extLst xmlns:a="http://schemas.openxmlformats.org/drawingml/2006/main">
              <a:ext uri="{FF2B5EF4-FFF2-40B4-BE49-F238E27FC236}">
                <a16:creationId xmlns:a16="http://schemas.microsoft.com/office/drawing/2014/main" id="{4601FF6A-C67F-4716-A237-7D321428E363}"/>
              </a:ext>
            </a:extLst>
          </p:cNvPr>
          <p:cNvSpPr>
            <a:spLocks xmlns:a="http://schemas.openxmlformats.org/drawingml/2006/main" noGrp="1"/>
          </p:cNvSpPr>
          <p:nvPr/>
        </p:nvSpPr>
        <p:spPr>
          <a:xfrm xmlns:a="http://schemas.openxmlformats.org/drawingml/2006/main">
            <a:off x="95097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B86DC17D-EE6F-4D02-827E-650F8C66C97D}"/>
              </a:ext>
            </a:extLst>
          </p:cNvPr>
          <p:cNvSpPr>
            <a:spLocks xmlns:a="http://schemas.openxmlformats.org/drawingml/2006/main" noGrp="1"/>
          </p:cNvSpPr>
          <p:nvPr/>
        </p:nvSpPr>
        <p:spPr>
          <a:xfrm xmlns:a="http://schemas.openxmlformats.org/drawingml/2006/main">
            <a:off x="95097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70" b="0" i="0">
                <a:solidFill>
                  <a:srgbClr val="4E5A68"/>
                </a:solidFill>
                <a:latin typeface="Arial"/>
                <a:ea typeface="Arial"/>
                <a:cs typeface="Arial"/>
              </a:rPr>
              <a:t>Does not show protein imbalance in these samples.</a:t>
            </a:r>
          </a:p>
        </p:txBody>
      </p:sp>
      <p:sp>
        <p:nvSpPr>
          <p:cNvPr id="11" name="Rounded Rectangle 10">
            <a:extLst xmlns:a="http://schemas.openxmlformats.org/drawingml/2006/main">
              <a:ext uri="{FF2B5EF4-FFF2-40B4-BE49-F238E27FC236}">
                <a16:creationId xmlns:a16="http://schemas.microsoft.com/office/drawing/2014/main" id="{0B2A38F5-FB2D-4CF3-A9F0-F457BE571D03}"/>
              </a:ext>
            </a:extLst>
          </p:cNvPr>
          <p:cNvSpPr>
            <a:spLocks xmlns:a="http://schemas.openxmlformats.org/drawingml/2006/main" noGrp="1"/>
          </p:cNvSpPr>
          <p:nvPr/>
        </p:nvSpPr>
        <p:spPr>
          <a:xfrm xmlns:a="http://schemas.openxmlformats.org/drawingml/2006/main">
            <a:off x="4453128" y="1353312"/>
            <a:ext cx="3456432" cy="4169663"/>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C6BFD020-53F5-4564-97F4-8BD4130FC6FC}"/>
              </a:ext>
            </a:extLst>
          </p:cNvPr>
          <p:cNvSpPr>
            <a:spLocks xmlns:a="http://schemas.openxmlformats.org/drawingml/2006/main" noGrp="1"/>
          </p:cNvSpPr>
          <p:nvPr/>
        </p:nvSpPr>
        <p:spPr>
          <a:xfrm xmlns:a="http://schemas.openxmlformats.org/drawingml/2006/main">
            <a:off x="472744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6D0A466B-8AB2-45E9-84F1-FFCD242B7E59}"/>
              </a:ext>
            </a:extLst>
          </p:cNvPr>
          <p:cNvSpPr>
            <a:spLocks xmlns:a="http://schemas.openxmlformats.org/drawingml/2006/main" noGrp="1"/>
          </p:cNvSpPr>
          <p:nvPr/>
        </p:nvSpPr>
        <p:spPr>
          <a:xfrm xmlns:a="http://schemas.openxmlformats.org/drawingml/2006/main">
            <a:off x="472744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Sex-aware AD networks</a:t>
            </a:r>
          </a:p>
        </p:txBody>
      </p:sp>
      <p:sp>
        <p:nvSpPr>
          <p:cNvPr id="14" name="TextBox 13">
            <a:extLst xmlns:a="http://schemas.openxmlformats.org/drawingml/2006/main">
              <a:ext uri="{FF2B5EF4-FFF2-40B4-BE49-F238E27FC236}">
                <a16:creationId xmlns:a16="http://schemas.microsoft.com/office/drawing/2014/main" id="{586FD83A-3ACD-4F9D-A2A5-4F124A27883A}"/>
              </a:ext>
            </a:extLst>
          </p:cNvPr>
          <p:cNvSpPr>
            <a:spLocks xmlns:a="http://schemas.openxmlformats.org/drawingml/2006/main" noGrp="1"/>
          </p:cNvSpPr>
          <p:nvPr/>
        </p:nvSpPr>
        <p:spPr>
          <a:xfrm xmlns:a="http://schemas.openxmlformats.org/drawingml/2006/main">
            <a:off x="474573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9EEDF50F-9447-4FD7-800B-EA90B0F6DB82}"/>
              </a:ext>
            </a:extLst>
          </p:cNvPr>
          <p:cNvSpPr>
            <a:spLocks xmlns:a="http://schemas.openxmlformats.org/drawingml/2006/main" noGrp="1"/>
          </p:cNvSpPr>
          <p:nvPr/>
        </p:nvSpPr>
        <p:spPr>
          <a:xfrm xmlns:a="http://schemas.openxmlformats.org/drawingml/2006/main">
            <a:off x="474573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0" i="0">
                <a:solidFill>
                  <a:srgbClr val="1F2730"/>
                </a:solidFill>
                <a:latin typeface="Arial"/>
                <a:ea typeface="Arial"/>
                <a:cs typeface="Arial"/>
              </a:rPr>
              <a:t>Supports analyzing Alzheimer’s biology separately by sex.</a:t>
            </a:r>
          </a:p>
        </p:txBody>
      </p:sp>
      <p:sp>
        <p:nvSpPr>
          <p:cNvPr id="16" name="TextBox 15">
            <a:extLst xmlns:a="http://schemas.openxmlformats.org/drawingml/2006/main">
              <a:ext uri="{FF2B5EF4-FFF2-40B4-BE49-F238E27FC236}">
                <a16:creationId xmlns:a16="http://schemas.microsoft.com/office/drawing/2014/main" id="{6384EE38-F467-440F-9FD8-2D72FFA42C82}"/>
              </a:ext>
            </a:extLst>
          </p:cNvPr>
          <p:cNvSpPr>
            <a:spLocks xmlns:a="http://schemas.openxmlformats.org/drawingml/2006/main" noGrp="1"/>
          </p:cNvSpPr>
          <p:nvPr/>
        </p:nvSpPr>
        <p:spPr>
          <a:xfrm xmlns:a="http://schemas.openxmlformats.org/drawingml/2006/main">
            <a:off x="474573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5A05C343-C7CE-4368-8C99-FBF7A2F6885F}"/>
              </a:ext>
            </a:extLst>
          </p:cNvPr>
          <p:cNvSpPr>
            <a:spLocks xmlns:a="http://schemas.openxmlformats.org/drawingml/2006/main" noGrp="1"/>
          </p:cNvSpPr>
          <p:nvPr/>
        </p:nvSpPr>
        <p:spPr>
          <a:xfrm xmlns:a="http://schemas.openxmlformats.org/drawingml/2006/main">
            <a:off x="474573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70" b="0" i="0">
                <a:solidFill>
                  <a:srgbClr val="4E5A68"/>
                </a:solidFill>
                <a:latin typeface="Arial"/>
                <a:ea typeface="Arial"/>
                <a:cs typeface="Arial"/>
              </a:rPr>
              <a:t>Does not test this exact male ε3/ε3 mismatch.</a:t>
            </a:r>
          </a:p>
        </p:txBody>
      </p:sp>
      <p:sp>
        <p:nvSpPr>
          <p:cNvPr id="18" name="Rounded Rectangle 17">
            <a:extLst xmlns:a="http://schemas.openxmlformats.org/drawingml/2006/main">
              <a:ext uri="{FF2B5EF4-FFF2-40B4-BE49-F238E27FC236}">
                <a16:creationId xmlns:a16="http://schemas.microsoft.com/office/drawing/2014/main" id="{18EF5C68-B1D9-439B-BE8C-543E06DF563B}"/>
              </a:ext>
            </a:extLst>
          </p:cNvPr>
          <p:cNvSpPr>
            <a:spLocks xmlns:a="http://schemas.openxmlformats.org/drawingml/2006/main" noGrp="1"/>
          </p:cNvSpPr>
          <p:nvPr/>
        </p:nvSpPr>
        <p:spPr>
          <a:xfrm xmlns:a="http://schemas.openxmlformats.org/drawingml/2006/main">
            <a:off x="8247888" y="1353312"/>
            <a:ext cx="3456432" cy="4169663"/>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6B41355-BED5-4D8F-9063-8D53F6E2A4AB}"/>
              </a:ext>
            </a:extLst>
          </p:cNvPr>
          <p:cNvSpPr>
            <a:spLocks xmlns:a="http://schemas.openxmlformats.org/drawingml/2006/main" noGrp="1"/>
          </p:cNvSpPr>
          <p:nvPr/>
        </p:nvSpPr>
        <p:spPr>
          <a:xfrm xmlns:a="http://schemas.openxmlformats.org/drawingml/2006/main">
            <a:off x="8522208" y="1645920"/>
            <a:ext cx="290779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C801EF30-8F56-4FC1-9D6C-63768761F467}"/>
              </a:ext>
            </a:extLst>
          </p:cNvPr>
          <p:cNvSpPr>
            <a:spLocks xmlns:a="http://schemas.openxmlformats.org/drawingml/2006/main" noGrp="1"/>
          </p:cNvSpPr>
          <p:nvPr/>
        </p:nvSpPr>
        <p:spPr>
          <a:xfrm xmlns:a="http://schemas.openxmlformats.org/drawingml/2006/main">
            <a:off x="8522208" y="2231136"/>
            <a:ext cx="2907792" cy="42062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Cell-resolved AD responses</a:t>
            </a:r>
          </a:p>
        </p:txBody>
      </p:sp>
      <p:sp>
        <p:nvSpPr>
          <p:cNvPr id="21" name="TextBox 20">
            <a:extLst xmlns:a="http://schemas.openxmlformats.org/drawingml/2006/main">
              <a:ext uri="{FF2B5EF4-FFF2-40B4-BE49-F238E27FC236}">
                <a16:creationId xmlns:a16="http://schemas.microsoft.com/office/drawing/2014/main" id="{E072959F-CF85-425C-9FCB-B3BFE0AF227D}"/>
              </a:ext>
            </a:extLst>
          </p:cNvPr>
          <p:cNvSpPr>
            <a:spLocks xmlns:a="http://schemas.openxmlformats.org/drawingml/2006/main" noGrp="1"/>
          </p:cNvSpPr>
          <p:nvPr/>
        </p:nvSpPr>
        <p:spPr>
          <a:xfrm xmlns:a="http://schemas.openxmlformats.org/drawingml/2006/main">
            <a:off x="8540496" y="292608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7F8B516A-AB2C-4A36-8602-CE0E5358BFDC}"/>
              </a:ext>
            </a:extLst>
          </p:cNvPr>
          <p:cNvSpPr>
            <a:spLocks xmlns:a="http://schemas.openxmlformats.org/drawingml/2006/main" noGrp="1"/>
          </p:cNvSpPr>
          <p:nvPr/>
        </p:nvSpPr>
        <p:spPr>
          <a:xfrm xmlns:a="http://schemas.openxmlformats.org/drawingml/2006/main">
            <a:off x="8540496" y="3218688"/>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00" b="0" i="0">
                <a:solidFill>
                  <a:srgbClr val="1F2730"/>
                </a:solidFill>
                <a:latin typeface="Arial"/>
                <a:ea typeface="Arial"/>
                <a:cs typeface="Arial"/>
              </a:rPr>
              <a:t>Supports strong differences among brain cell populations.</a:t>
            </a:r>
          </a:p>
        </p:txBody>
      </p:sp>
      <p:sp>
        <p:nvSpPr>
          <p:cNvPr id="23" name="TextBox 22">
            <a:extLst xmlns:a="http://schemas.openxmlformats.org/drawingml/2006/main">
              <a:ext uri="{FF2B5EF4-FFF2-40B4-BE49-F238E27FC236}">
                <a16:creationId xmlns:a16="http://schemas.microsoft.com/office/drawing/2014/main" id="{A6ECEF22-FABE-410D-8784-E7F2998E20A6}"/>
              </a:ext>
            </a:extLst>
          </p:cNvPr>
          <p:cNvSpPr>
            <a:spLocks xmlns:a="http://schemas.openxmlformats.org/drawingml/2006/main" noGrp="1"/>
          </p:cNvSpPr>
          <p:nvPr/>
        </p:nvSpPr>
        <p:spPr>
          <a:xfrm xmlns:a="http://schemas.openxmlformats.org/drawingml/2006/main">
            <a:off x="8540496" y="4096512"/>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21FD359D-C558-432B-914A-593D1E0168A9}"/>
              </a:ext>
            </a:extLst>
          </p:cNvPr>
          <p:cNvSpPr>
            <a:spLocks xmlns:a="http://schemas.openxmlformats.org/drawingml/2006/main" noGrp="1"/>
          </p:cNvSpPr>
          <p:nvPr/>
        </p:nvSpPr>
        <p:spPr>
          <a:xfrm xmlns:a="http://schemas.openxmlformats.org/drawingml/2006/main">
            <a:off x="8540496" y="4389120"/>
            <a:ext cx="2871216" cy="65836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70" b="0" i="0">
                <a:solidFill>
                  <a:srgbClr val="4E5A68"/>
                </a:solidFill>
                <a:latin typeface="Arial"/>
                <a:ea typeface="Arial"/>
                <a:cs typeface="Arial"/>
              </a:rPr>
              <a:t>Uses ROSMAP, so it is not independent replication.</a:t>
            </a:r>
          </a:p>
        </p:txBody>
      </p:sp>
      <p:sp>
        <p:nvSpPr>
          <p:cNvPr id="25" name="Rounded Rectangle 24">
            <a:extLst xmlns:a="http://schemas.openxmlformats.org/drawingml/2006/main">
              <a:ext uri="{FF2B5EF4-FFF2-40B4-BE49-F238E27FC236}">
                <a16:creationId xmlns:a16="http://schemas.microsoft.com/office/drawing/2014/main" id="{B37725D5-7D86-4A21-A63D-7705A5353CB5}"/>
              </a:ext>
            </a:extLst>
          </p:cNvPr>
          <p:cNvSpPr>
            <a:spLocks xmlns:a="http://schemas.openxmlformats.org/drawingml/2006/main" noGrp="1"/>
          </p:cNvSpPr>
          <p:nvPr/>
        </p:nvSpPr>
        <p:spPr>
          <a:xfrm xmlns:a="http://schemas.openxmlformats.org/drawingml/2006/main">
            <a:off x="658368" y="5742432"/>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159CF6FA-4A58-409C-9C1D-D761CE118228}"/>
              </a:ext>
            </a:extLst>
          </p:cNvPr>
          <p:cNvSpPr>
            <a:spLocks xmlns:a="http://schemas.openxmlformats.org/drawingml/2006/main" noGrp="1"/>
          </p:cNvSpPr>
          <p:nvPr/>
        </p:nvSpPr>
        <p:spPr>
          <a:xfrm xmlns:a="http://schemas.openxmlformats.org/drawingml/2006/main">
            <a:off x="896112" y="5852160"/>
            <a:ext cx="10405872"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7E4C9A"/>
                </a:solidFill>
                <a:latin typeface="Arial"/>
                <a:ea typeface="Arial"/>
                <a:cs typeface="Arial"/>
              </a:rPr>
              <a:t>Novelty assessment: high—mitonuclear imbalance is known, but this cross-cohort male ε3/ε3 inhibitory-neuron pattern was not identified previously.</a:t>
            </a:r>
          </a:p>
        </p:txBody>
      </p:sp>
    </p:spTree>
    <p:extLst>
      <p:ext uri="{BB962C8B-B14F-4D97-AF65-F5344CB8AC3E}">
        <p14:creationId xmlns:p14="http://schemas.microsoft.com/office/powerpoint/2010/main" val="697186546"/>
      </p:ext>
    </p:extLst>
  </p:cSld>
</p:sld>
</file>

<file path=ppt/slides/slide58.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4ECE486-CA54-4977-8625-3EA1DCB44296}"/>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3</a:t>
            </a:r>
          </a:p>
        </p:txBody>
      </p:sp>
      <p:sp>
        <p:nvSpPr>
          <p:cNvPr id="3" name="Rectangle 2">
            <a:extLst xmlns:a="http://schemas.openxmlformats.org/drawingml/2006/main">
              <a:ext uri="{FF2B5EF4-FFF2-40B4-BE49-F238E27FC236}">
                <a16:creationId xmlns:a16="http://schemas.microsoft.com/office/drawing/2014/main" id="{138471B2-2173-4244-8D10-17BE35E5E136}"/>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4645D77-F763-49F2-A727-2F3A58991A9F}"/>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ε2 cells show coordinated increases from both genomes</a:t>
            </a:r>
          </a:p>
        </p:txBody>
      </p:sp>
      <p:sp>
        <p:nvSpPr>
          <p:cNvPr id="5" name="TextBox 4">
            <a:extLst xmlns:a="http://schemas.openxmlformats.org/drawingml/2006/main">
              <a:ext uri="{FF2B5EF4-FFF2-40B4-BE49-F238E27FC236}">
                <a16:creationId xmlns:a16="http://schemas.microsoft.com/office/drawing/2014/main" id="{756E40B9-C59D-4BAE-B894-B255DC34657F}"/>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5E40BCAB-0F47-47AB-A9D0-246DD9EA3AFF}"/>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47EE485-852A-4E1F-B149-698806EE7684}"/>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2AB918F-F4EF-4C88-85CD-B16EDBBD6506}"/>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8A4456E-170C-4FFB-AC21-DF2280DD295B}"/>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278BE8F-D6C8-4B5E-9FBA-1D3C52140AE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CD5FFA43-332B-40D2-8B89-D38EFFCAB4BB}"/>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2771F0-C602-4C21-9B3E-92F904F7EF39}"/>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F40AA60-FA3E-4F24-9E55-D64A18F27189}"/>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000DDA4A-5D72-41DD-B527-A35D174524D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DD67D77-8008-4EB2-AAAF-977A95B417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E19B0672-1812-442D-B01C-B11154BC8AB0}"/>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C0BE10BC-91E1-4F79-9CC6-930A4D220218}"/>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CFD26F0-03BF-4B2A-B699-0CC95CEC035F}"/>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AFF45227-BD7A-4773-91B1-26BD077F7D7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5C0B8246-35BF-4AAF-8C67-D62A507C2F3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F49557A-AA46-4D8D-8851-D16CDD14D120}"/>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mitochondrial and nuclear OXPHOS RNA mostly increased in female ε2 cells.</a:t>
            </a:r>
          </a:p>
        </p:txBody>
      </p:sp>
    </p:spTree>
    <p:extLst>
      <p:ext uri="{BB962C8B-B14F-4D97-AF65-F5344CB8AC3E}">
        <p14:creationId xmlns:p14="http://schemas.microsoft.com/office/powerpoint/2010/main" val="1417142778"/>
      </p:ext>
    </p:extLst>
  </p:cSld>
</p:sld>
</file>

<file path=ppt/slides/slide5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08ADFB2-0905-45C5-8F69-3585DC82971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ε2 cells raise both mitochondrial and nuclear OXPHOS RNA in AD</a:t>
            </a:r>
          </a:p>
        </p:txBody>
      </p:sp>
      <p:sp>
        <p:nvSpPr>
          <p:cNvPr id="3" name="TextBox 2">
            <a:extLst xmlns:a="http://schemas.openxmlformats.org/drawingml/2006/main">
              <a:ext uri="{FF2B5EF4-FFF2-40B4-BE49-F238E27FC236}">
                <a16:creationId xmlns:a16="http://schemas.microsoft.com/office/drawing/2014/main" id="{45FEE0B3-D031-42B6-AA03-FB4DA928DE3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two genomes move in the same direction at the RNA level, especially in fine excitatory-neuron results.</a:t>
            </a:r>
          </a:p>
        </p:txBody>
      </p:sp>
      <p:sp>
        <p:nvSpPr>
          <p:cNvPr id="4" name="Rounded Rectangle 3">
            <a:extLst xmlns:a="http://schemas.openxmlformats.org/drawingml/2006/main">
              <a:ext uri="{FF2B5EF4-FFF2-40B4-BE49-F238E27FC236}">
                <a16:creationId xmlns:a16="http://schemas.microsoft.com/office/drawing/2014/main" id="{615CD607-31E8-4B00-8C02-834BBE7C7BD2}"/>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6C90F5E-0846-4909-9774-8333DBC3088B}"/>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4D522616-4114-4BA1-B5FD-1BF342F326A4}"/>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FB5F3E0-35DB-4F5C-8DA6-E665DF603B1F}"/>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xmlns:a="http://schemas.openxmlformats.org/drawingml/2006/main">
              <a:ext uri="{FF2B5EF4-FFF2-40B4-BE49-F238E27FC236}">
                <a16:creationId xmlns:a16="http://schemas.microsoft.com/office/drawing/2014/main" id="{81AAE375-C85C-434E-9749-A1D973322FD8}"/>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0BAB63-6C86-40F0-A5CF-58DB3379316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 cell types</a:t>
            </a:r>
          </a:p>
        </p:txBody>
      </p:sp>
      <p:sp>
        <p:nvSpPr>
          <p:cNvPr id="10" name="Rounded Rectangle 9">
            <a:extLst xmlns:a="http://schemas.openxmlformats.org/drawingml/2006/main">
              <a:ext uri="{FF2B5EF4-FFF2-40B4-BE49-F238E27FC236}">
                <a16:creationId xmlns:a16="http://schemas.microsoft.com/office/drawing/2014/main" id="{640BB072-0DE5-4A4B-8633-40676AC2DD3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59BD09F1-B0CE-49CA-8812-B979165F134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AD versus NCI</a:t>
            </a:r>
          </a:p>
        </p:txBody>
      </p:sp>
      <p:sp>
        <p:nvSpPr>
          <p:cNvPr id="12" name="Rounded Rectangle 11">
            <a:extLst xmlns:a="http://schemas.openxmlformats.org/drawingml/2006/main">
              <a:ext uri="{FF2B5EF4-FFF2-40B4-BE49-F238E27FC236}">
                <a16:creationId xmlns:a16="http://schemas.microsoft.com/office/drawing/2014/main" id="{CCFF4350-6F05-4276-B473-B297DCE1FAF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E6151C1-09D4-4C23-A48E-921FE70A771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35B4C088-C07B-495E-8DE3-46A33B87E624}"/>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127 of 128 up</a:t>
            </a:r>
          </a:p>
        </p:txBody>
      </p:sp>
      <p:sp>
        <p:nvSpPr>
          <p:cNvPr id="15" name="TextBox 14">
            <a:extLst xmlns:a="http://schemas.openxmlformats.org/drawingml/2006/main">
              <a:ext uri="{FF2B5EF4-FFF2-40B4-BE49-F238E27FC236}">
                <a16:creationId xmlns:a16="http://schemas.microsoft.com/office/drawing/2014/main" id="{C6F28943-3E6E-4BBB-950C-78E3CFE22210}"/>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mitochondrial genome supplies 13 core OXPHOS subunits.</a:t>
            </a:r>
          </a:p>
        </p:txBody>
      </p:sp>
      <p:sp>
        <p:nvSpPr>
          <p:cNvPr id="16" name="Rounded Rectangle 15">
            <a:extLst xmlns:a="http://schemas.openxmlformats.org/drawingml/2006/main">
              <a:ext uri="{FF2B5EF4-FFF2-40B4-BE49-F238E27FC236}">
                <a16:creationId xmlns:a16="http://schemas.microsoft.com/office/drawing/2014/main" id="{B3F8FAB2-AB08-4807-999C-9A29E0EAD926}"/>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5E57DE2-C8A5-4024-AFEF-21B7B1D37A96}"/>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NUCLEAR DNA</a:t>
            </a:r>
          </a:p>
        </p:txBody>
      </p:sp>
      <p:sp>
        <p:nvSpPr>
          <p:cNvPr id="18" name="TextBox 17">
            <a:extLst xmlns:a="http://schemas.openxmlformats.org/drawingml/2006/main">
              <a:ext uri="{FF2B5EF4-FFF2-40B4-BE49-F238E27FC236}">
                <a16:creationId xmlns:a16="http://schemas.microsoft.com/office/drawing/2014/main" id="{8647837D-D3D4-4731-A23D-F871D75BEB80}"/>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239 of 243 up</a:t>
            </a:r>
          </a:p>
        </p:txBody>
      </p:sp>
      <p:sp>
        <p:nvSpPr>
          <p:cNvPr id="19" name="TextBox 18">
            <a:extLst xmlns:a="http://schemas.openxmlformats.org/drawingml/2006/main">
              <a:ext uri="{FF2B5EF4-FFF2-40B4-BE49-F238E27FC236}">
                <a16:creationId xmlns:a16="http://schemas.microsoft.com/office/drawing/2014/main" id="{81D08820-2DCE-4653-B509-0A6618C668A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nuclear genome supplies most structural OXPHOS subunits.</a:t>
            </a:r>
          </a:p>
        </p:txBody>
      </p:sp>
      <p:sp>
        <p:nvSpPr>
          <p:cNvPr id="20" name="Rounded Rectangle 19">
            <a:extLst xmlns:a="http://schemas.openxmlformats.org/drawingml/2006/main">
              <a:ext uri="{FF2B5EF4-FFF2-40B4-BE49-F238E27FC236}">
                <a16:creationId xmlns:a16="http://schemas.microsoft.com/office/drawing/2014/main" id="{C10ADB4A-6CEB-4F5C-A064-A60E535BCA5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382F0BF-8B66-4367-B4E4-02AF2B343585}"/>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xmlns:a="http://schemas.openxmlformats.org/drawingml/2006/main">
              <a:ext uri="{FF2B5EF4-FFF2-40B4-BE49-F238E27FC236}">
                <a16:creationId xmlns:a16="http://schemas.microsoft.com/office/drawing/2014/main" id="{86755171-8733-4E22-8C19-C708562A8E36}"/>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Coordinated RNA</a:t>
            </a:r>
          </a:p>
        </p:txBody>
      </p:sp>
      <p:sp>
        <p:nvSpPr>
          <p:cNvPr id="23" name="TextBox 22">
            <a:extLst xmlns:a="http://schemas.openxmlformats.org/drawingml/2006/main">
              <a:ext uri="{FF2B5EF4-FFF2-40B4-BE49-F238E27FC236}">
                <a16:creationId xmlns:a16="http://schemas.microsoft.com/office/drawing/2014/main" id="{56550C95-A42B-4A0A-AF6B-EDAF263C268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instruction sets rise together. Protein assembly and ATP remain unmeasured.</a:t>
            </a:r>
          </a:p>
        </p:txBody>
      </p:sp>
      <p:sp>
        <p:nvSpPr>
          <p:cNvPr id="24" name="Rounded Rectangle 23">
            <a:extLst xmlns:a="http://schemas.openxmlformats.org/drawingml/2006/main">
              <a:ext uri="{FF2B5EF4-FFF2-40B4-BE49-F238E27FC236}">
                <a16:creationId xmlns:a16="http://schemas.microsoft.com/office/drawing/2014/main" id="{12FD5B38-A45E-4690-9C15-4C79B2CE5F3A}"/>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637410B8-E789-453C-A907-5ADCCC9E86D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This is a coordinated transcriptional response, not evidence that mitochondria produce more energy.</a:t>
            </a:r>
          </a:p>
        </p:txBody>
      </p:sp>
      <p:sp>
        <p:nvSpPr>
          <p:cNvPr id="26" name="TextBox 25">
            <a:extLst xmlns:a="http://schemas.openxmlformats.org/drawingml/2006/main">
              <a:ext uri="{FF2B5EF4-FFF2-40B4-BE49-F238E27FC236}">
                <a16:creationId xmlns:a16="http://schemas.microsoft.com/office/drawing/2014/main" id="{898B3908-D309-4812-9845-66A299E2C22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1783322414"/>
      </p:ext>
    </p:extLst>
  </p:cSld>
</p:sld>
</file>

<file path=ppt/slides/slide6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BC9E2C-A43A-428C-8D32-D565D0C09F7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female ε2 OXPHOS occurrences are almost uniformly AD-up</a:t>
            </a:r>
          </a:p>
        </p:txBody>
      </p:sp>
      <p:sp>
        <p:nvSpPr>
          <p:cNvPr id="3" name="TextBox 2">
            <a:extLst xmlns:a="http://schemas.openxmlformats.org/drawingml/2006/main">
              <a:ext uri="{FF2B5EF4-FFF2-40B4-BE49-F238E27FC236}">
                <a16:creationId xmlns:a16="http://schemas.microsoft.com/office/drawing/2014/main" id="{8B78A23B-5C0A-4E24-ABAC-8EFD3DBD0D4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Occurrences repeat a gene when it appears in another eligible fine-cell query.</a:t>
            </a:r>
          </a:p>
        </p:txBody>
      </p:sp>
      <p:sp>
        <p:nvSpPr>
          <p:cNvPr id="4" name="Rounded Rectangle 3">
            <a:extLst xmlns:a="http://schemas.openxmlformats.org/drawingml/2006/main">
              <a:ext uri="{FF2B5EF4-FFF2-40B4-BE49-F238E27FC236}">
                <a16:creationId xmlns:a16="http://schemas.microsoft.com/office/drawing/2014/main" id="{690C6019-63E3-4A80-8A7C-577AC9655D7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3979D85-AEF6-4DC8-86D5-170C6E2B4A7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128</a:t>
            </a:r>
          </a:p>
        </p:txBody>
      </p:sp>
      <p:sp>
        <p:nvSpPr>
          <p:cNvPr id="6" name="TextBox 5">
            <a:extLst xmlns:a="http://schemas.openxmlformats.org/drawingml/2006/main">
              <a:ext uri="{FF2B5EF4-FFF2-40B4-BE49-F238E27FC236}">
                <a16:creationId xmlns:a16="http://schemas.microsoft.com/office/drawing/2014/main" id="{25F5AA99-A99A-4836-BDEA-BD8AA79D623E}"/>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xmlns:a="http://schemas.openxmlformats.org/drawingml/2006/main">
              <a:ext uri="{FF2B5EF4-FFF2-40B4-BE49-F238E27FC236}">
                <a16:creationId xmlns:a16="http://schemas.microsoft.com/office/drawing/2014/main" id="{0024E1DE-484B-49AC-A43A-45F8CE93BB80}"/>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127 up, 1 down</a:t>
            </a:r>
          </a:p>
        </p:txBody>
      </p:sp>
      <p:sp>
        <p:nvSpPr>
          <p:cNvPr id="8" name="Rounded Rectangle 7">
            <a:extLst xmlns:a="http://schemas.openxmlformats.org/drawingml/2006/main">
              <a:ext uri="{FF2B5EF4-FFF2-40B4-BE49-F238E27FC236}">
                <a16:creationId xmlns:a16="http://schemas.microsoft.com/office/drawing/2014/main" id="{08BFA9F0-5974-463C-A027-995ECDD47DB3}"/>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C42CBD5-2B07-46FC-87C5-DF4702DD905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243</a:t>
            </a:r>
          </a:p>
        </p:txBody>
      </p:sp>
      <p:sp>
        <p:nvSpPr>
          <p:cNvPr id="10" name="TextBox 9">
            <a:extLst xmlns:a="http://schemas.openxmlformats.org/drawingml/2006/main">
              <a:ext uri="{FF2B5EF4-FFF2-40B4-BE49-F238E27FC236}">
                <a16:creationId xmlns:a16="http://schemas.microsoft.com/office/drawing/2014/main" id="{F674C36B-A52D-4CF0-B90D-21A6784CFCB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xmlns:a="http://schemas.openxmlformats.org/drawingml/2006/main">
              <a:ext uri="{FF2B5EF4-FFF2-40B4-BE49-F238E27FC236}">
                <a16:creationId xmlns:a16="http://schemas.microsoft.com/office/drawing/2014/main" id="{6BBDB451-3509-4807-A5AC-128A5957B884}"/>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239 up, 4 down</a:t>
            </a:r>
          </a:p>
        </p:txBody>
      </p:sp>
      <p:sp>
        <p:nvSpPr>
          <p:cNvPr id="12" name="Rounded Rectangle 11">
            <a:extLst xmlns:a="http://schemas.openxmlformats.org/drawingml/2006/main">
              <a:ext uri="{FF2B5EF4-FFF2-40B4-BE49-F238E27FC236}">
                <a16:creationId xmlns:a16="http://schemas.microsoft.com/office/drawing/2014/main" id="{934FD0CB-E5F7-46C6-9FB5-1C05A08DA8B2}"/>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08BB4F0-342E-4CEF-9AA2-18F4A55B213D}"/>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29</a:t>
            </a:r>
          </a:p>
        </p:txBody>
      </p:sp>
      <p:sp>
        <p:nvSpPr>
          <p:cNvPr id="14" name="TextBox 13">
            <a:extLst xmlns:a="http://schemas.openxmlformats.org/drawingml/2006/main">
              <a:ext uri="{FF2B5EF4-FFF2-40B4-BE49-F238E27FC236}">
                <a16:creationId xmlns:a16="http://schemas.microsoft.com/office/drawing/2014/main" id="{0CE2AB23-53BC-4638-8749-E5BCF950A8AF}"/>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program-call enrichments</a:t>
            </a:r>
          </a:p>
        </p:txBody>
      </p:sp>
      <p:sp>
        <p:nvSpPr>
          <p:cNvPr id="15" name="TextBox 14">
            <a:extLst xmlns:a="http://schemas.openxmlformats.org/drawingml/2006/main">
              <a:ext uri="{FF2B5EF4-FFF2-40B4-BE49-F238E27FC236}">
                <a16:creationId xmlns:a16="http://schemas.microsoft.com/office/drawing/2014/main" id="{F1422170-4328-4392-AF5C-C18E81B73ED6}"/>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20 mtDNA, 9 nuclear</a:t>
            </a:r>
          </a:p>
        </p:txBody>
      </p:sp>
      <p:sp>
        <p:nvSpPr>
          <p:cNvPr id="16" name="Rounded Rectangle 15">
            <a:extLst xmlns:a="http://schemas.openxmlformats.org/drawingml/2006/main">
              <a:ext uri="{FF2B5EF4-FFF2-40B4-BE49-F238E27FC236}">
                <a16:creationId xmlns:a16="http://schemas.microsoft.com/office/drawing/2014/main" id="{082648EB-DE55-4599-9CE8-1ED13F13BBB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5D3823A-19DE-4472-860E-72CC4D79ACA7}"/>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BB547348-8D7D-4F53-8F7B-7E679F66C989}"/>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99% up</a:t>
            </a:r>
          </a:p>
        </p:txBody>
      </p:sp>
      <p:sp>
        <p:nvSpPr>
          <p:cNvPr id="19" name="TextBox 18">
            <a:extLst xmlns:a="http://schemas.openxmlformats.org/drawingml/2006/main">
              <a:ext uri="{FF2B5EF4-FFF2-40B4-BE49-F238E27FC236}">
                <a16:creationId xmlns:a16="http://schemas.microsoft.com/office/drawing/2014/main" id="{6FF06687-1865-42AE-B585-878BF683F694}"/>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127 AD-up and 1 AD-down occurrence across eligible calls</a:t>
            </a:r>
          </a:p>
        </p:txBody>
      </p:sp>
      <p:sp>
        <p:nvSpPr>
          <p:cNvPr id="20" name="Rounded Rectangle 19">
            <a:extLst xmlns:a="http://schemas.openxmlformats.org/drawingml/2006/main">
              <a:ext uri="{FF2B5EF4-FFF2-40B4-BE49-F238E27FC236}">
                <a16:creationId xmlns:a16="http://schemas.microsoft.com/office/drawing/2014/main" id="{1DBC9E74-A637-4BB2-A479-E6D6BDAF3B58}"/>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A7F0D26-0619-47EA-A6A1-8C19ADC3A01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xmlns:a="http://schemas.openxmlformats.org/drawingml/2006/main">
              <a:ext uri="{FF2B5EF4-FFF2-40B4-BE49-F238E27FC236}">
                <a16:creationId xmlns:a16="http://schemas.microsoft.com/office/drawing/2014/main" id="{8C2B5561-5EC5-4B47-BB0A-B05F6D88826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98% up</a:t>
            </a:r>
          </a:p>
        </p:txBody>
      </p:sp>
      <p:sp>
        <p:nvSpPr>
          <p:cNvPr id="23" name="TextBox 22">
            <a:extLst xmlns:a="http://schemas.openxmlformats.org/drawingml/2006/main">
              <a:ext uri="{FF2B5EF4-FFF2-40B4-BE49-F238E27FC236}">
                <a16:creationId xmlns:a16="http://schemas.microsoft.com/office/drawing/2014/main" id="{597D4E02-CBE3-4430-9468-C95E08B5BC15}"/>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239 AD-up and 4 AD-down occurrences across eligible calls</a:t>
            </a:r>
          </a:p>
        </p:txBody>
      </p:sp>
      <p:sp>
        <p:nvSpPr>
          <p:cNvPr id="24" name="Rounded Rectangle 23">
            <a:extLst xmlns:a="http://schemas.openxmlformats.org/drawingml/2006/main">
              <a:ext uri="{FF2B5EF4-FFF2-40B4-BE49-F238E27FC236}">
                <a16:creationId xmlns:a16="http://schemas.microsoft.com/office/drawing/2014/main" id="{F1C2F9FB-7027-498B-8C5E-CFA9B32F0144}"/>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2236BB1-A699-416F-8582-5524110EB2F7}"/>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Fine excitatory neurons</a:t>
            </a:r>
          </a:p>
        </p:txBody>
      </p:sp>
      <p:sp>
        <p:nvSpPr>
          <p:cNvPr id="26" name="TextBox 25">
            <a:extLst xmlns:a="http://schemas.openxmlformats.org/drawingml/2006/main">
              <a:ext uri="{FF2B5EF4-FFF2-40B4-BE49-F238E27FC236}">
                <a16:creationId xmlns:a16="http://schemas.microsoft.com/office/drawing/2014/main" id="{7B94A92C-0FE6-4A87-9730-14E21FEFD9E6}"/>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9/12 and 8/12</a:t>
            </a:r>
          </a:p>
        </p:txBody>
      </p:sp>
      <p:sp>
        <p:nvSpPr>
          <p:cNvPr id="27" name="TextBox 26">
            <a:extLst xmlns:a="http://schemas.openxmlformats.org/drawingml/2006/main">
              <a:ext uri="{FF2B5EF4-FFF2-40B4-BE49-F238E27FC236}">
                <a16:creationId xmlns:a16="http://schemas.microsoft.com/office/drawing/2014/main" id="{963A9B6B-3DE8-4312-AB95-8B51C21BD64E}"/>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mtDNA-up and nuclear-OXPHOS-up enrichment, respectively</a:t>
            </a:r>
          </a:p>
        </p:txBody>
      </p:sp>
      <p:sp>
        <p:nvSpPr>
          <p:cNvPr id="28" name="TextBox 27">
            <a:extLst xmlns:a="http://schemas.openxmlformats.org/drawingml/2006/main">
              <a:ext uri="{FF2B5EF4-FFF2-40B4-BE49-F238E27FC236}">
                <a16:creationId xmlns:a16="http://schemas.microsoft.com/office/drawing/2014/main" id="{F4334579-BDE6-438E-84E0-0C54399AE18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458075466"/>
      </p:ext>
    </p:extLst>
  </p:cSld>
</p:sld>
</file>

<file path=ppt/slides/slide6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B1853A5-994E-46E2-BCD9-22CA9C32B78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Fine-cell evidence supports coordination, while broader tests qualify it</a:t>
            </a:r>
          </a:p>
        </p:txBody>
      </p:sp>
      <p:sp>
        <p:nvSpPr>
          <p:cNvPr id="3" name="TextBox 2">
            <a:extLst xmlns:a="http://schemas.openxmlformats.org/drawingml/2006/main">
              <a:ext uri="{FF2B5EF4-FFF2-40B4-BE49-F238E27FC236}">
                <a16:creationId xmlns:a16="http://schemas.microsoft.com/office/drawing/2014/main" id="{CED22A51-DB6F-4B92-805C-9D316C8C997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project treats fine-cell results as primary and direct broad-cell results as sensitivity evidence.</a:t>
            </a:r>
          </a:p>
        </p:txBody>
      </p:sp>
      <p:sp>
        <p:nvSpPr>
          <p:cNvPr id="4" name="Rounded Rectangle 3">
            <a:extLst xmlns:a="http://schemas.openxmlformats.org/drawingml/2006/main">
              <a:ext uri="{FF2B5EF4-FFF2-40B4-BE49-F238E27FC236}">
                <a16:creationId xmlns:a16="http://schemas.microsoft.com/office/drawing/2014/main" id="{3A6C7F85-F045-4386-B7A4-EA6B72A7075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B52520A-0047-4427-91B1-3EE62DE3F104}"/>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PHASE 11</a:t>
            </a:r>
          </a:p>
        </p:txBody>
      </p:sp>
      <p:sp>
        <p:nvSpPr>
          <p:cNvPr id="6" name="TextBox 5">
            <a:extLst xmlns:a="http://schemas.openxmlformats.org/drawingml/2006/main">
              <a:ext uri="{FF2B5EF4-FFF2-40B4-BE49-F238E27FC236}">
                <a16:creationId xmlns:a16="http://schemas.microsoft.com/office/drawing/2014/main" id="{ABC276E4-FF64-4D51-AE53-9D60FB423C9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Excitatory localization</a:t>
            </a:r>
          </a:p>
        </p:txBody>
      </p:sp>
      <p:sp>
        <p:nvSpPr>
          <p:cNvPr id="7" name="TextBox 6">
            <a:extLst xmlns:a="http://schemas.openxmlformats.org/drawingml/2006/main">
              <a:ext uri="{FF2B5EF4-FFF2-40B4-BE49-F238E27FC236}">
                <a16:creationId xmlns:a16="http://schemas.microsoft.com/office/drawing/2014/main" id="{441224C6-C4A4-4EE8-8AAB-5BF6A3FE672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Nine of 12 fine types enriched mtDNA-up and eight of 12 enriched nuclear OXPHOS-up.</a:t>
            </a:r>
          </a:p>
        </p:txBody>
      </p:sp>
      <p:sp>
        <p:nvSpPr>
          <p:cNvPr id="8" name="Rounded Rectangle 7">
            <a:extLst xmlns:a="http://schemas.openxmlformats.org/drawingml/2006/main">
              <a:ext uri="{FF2B5EF4-FFF2-40B4-BE49-F238E27FC236}">
                <a16:creationId xmlns:a16="http://schemas.microsoft.com/office/drawing/2014/main" id="{E191E617-D79A-4B13-B3AE-72E76F97CD0F}"/>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04144AD-9907-4814-B2E3-280F7CF3C2E8}"/>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DIRECT BROAD ROSMAP</a:t>
            </a:r>
          </a:p>
        </p:txBody>
      </p:sp>
      <p:sp>
        <p:nvSpPr>
          <p:cNvPr id="10" name="TextBox 9">
            <a:extLst xmlns:a="http://schemas.openxmlformats.org/drawingml/2006/main">
              <a:ext uri="{FF2B5EF4-FFF2-40B4-BE49-F238E27FC236}">
                <a16:creationId xmlns:a16="http://schemas.microsoft.com/office/drawing/2014/main" id="{856D1FAC-D9FA-4090-840C-9579AFAD082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Only the nuclear side persists</a:t>
            </a:r>
          </a:p>
        </p:txBody>
      </p:sp>
      <p:sp>
        <p:nvSpPr>
          <p:cNvPr id="11" name="TextBox 10">
            <a:extLst xmlns:a="http://schemas.openxmlformats.org/drawingml/2006/main">
              <a:ext uri="{FF2B5EF4-FFF2-40B4-BE49-F238E27FC236}">
                <a16:creationId xmlns:a16="http://schemas.microsoft.com/office/drawing/2014/main" id="{2CA38377-BFA0-4F99-B085-CDE6E588C02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Excitatory nuclear OXPHOS remained strongly up, while the mtDNA component was not significant.</a:t>
            </a:r>
          </a:p>
        </p:txBody>
      </p:sp>
      <p:sp>
        <p:nvSpPr>
          <p:cNvPr id="12" name="Rounded Rectangle 11">
            <a:extLst xmlns:a="http://schemas.openxmlformats.org/drawingml/2006/main">
              <a:ext uri="{FF2B5EF4-FFF2-40B4-BE49-F238E27FC236}">
                <a16:creationId xmlns:a16="http://schemas.microsoft.com/office/drawing/2014/main" id="{5EEFC995-60E4-4876-8C6A-EADB6260D5B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625C7E5-16CD-4D93-B551-4008E19FAD33}"/>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8914A330-5E1F-4013-B018-561B8F4493B6}"/>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23A27A98-4197-4AFA-B5BB-F540A02FF31C}"/>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female ε2 category was active. Missing coverage adds no evidence for or against the finding.</a:t>
            </a:r>
          </a:p>
        </p:txBody>
      </p:sp>
      <p:sp>
        <p:nvSpPr>
          <p:cNvPr id="16" name="Rounded Rectangle 15">
            <a:extLst xmlns:a="http://schemas.openxmlformats.org/drawingml/2006/main">
              <a:ext uri="{FF2B5EF4-FFF2-40B4-BE49-F238E27FC236}">
                <a16:creationId xmlns:a16="http://schemas.microsoft.com/office/drawing/2014/main" id="{1A6898F8-61A4-4041-BEDA-98E3CB5D450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A85A977-FC6A-4379-959A-9714301A143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coordinated two-genome claim rests mainly on fine-cell ROSMAP evidence.</a:t>
            </a:r>
          </a:p>
        </p:txBody>
      </p:sp>
      <p:sp>
        <p:nvSpPr>
          <p:cNvPr id="18" name="TextBox 17">
            <a:extLst xmlns:a="http://schemas.openxmlformats.org/drawingml/2006/main">
              <a:ext uri="{FF2B5EF4-FFF2-40B4-BE49-F238E27FC236}">
                <a16:creationId xmlns:a16="http://schemas.microsoft.com/office/drawing/2014/main" id="{61512754-2A5B-4911-BAA7-DA57BAA90B6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2042796816"/>
      </p:ext>
    </p:extLst>
  </p:cSld>
</p:sld>
</file>

<file path=ppt/slides/slide6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601813-29EF-4238-9DCE-E978BA98BEA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an ε2-associated response may coordinate both OXPHOS genomes</a:t>
            </a:r>
          </a:p>
        </p:txBody>
      </p:sp>
      <p:sp>
        <p:nvSpPr>
          <p:cNvPr id="3" name="TextBox 2">
            <a:extLst xmlns:a="http://schemas.openxmlformats.org/drawingml/2006/main">
              <a:ext uri="{FF2B5EF4-FFF2-40B4-BE49-F238E27FC236}">
                <a16:creationId xmlns:a16="http://schemas.microsoft.com/office/drawing/2014/main" id="{E9093F75-875C-4040-980C-59BF7BF94D9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APOE ε2 lowers population risk, but a molecular pattern in diseased tissue can still reflect compensation or stress.</a:t>
            </a:r>
          </a:p>
        </p:txBody>
      </p:sp>
      <p:sp>
        <p:nvSpPr>
          <p:cNvPr id="4" name="Rounded Rectangle 3">
            <a:extLst xmlns:a="http://schemas.openxmlformats.org/drawingml/2006/main">
              <a:ext uri="{FF2B5EF4-FFF2-40B4-BE49-F238E27FC236}">
                <a16:creationId xmlns:a16="http://schemas.microsoft.com/office/drawing/2014/main" id="{F8F3EA24-6E25-44FD-8895-B1D141F1500C}"/>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0D8776F-F3E6-4C8A-ACC7-D490392899F6}"/>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BIOLOGICAL CONTRAST</a:t>
            </a:r>
          </a:p>
        </p:txBody>
      </p:sp>
      <p:sp>
        <p:nvSpPr>
          <p:cNvPr id="6" name="TextBox 5">
            <a:extLst xmlns:a="http://schemas.openxmlformats.org/drawingml/2006/main">
              <a:ext uri="{FF2B5EF4-FFF2-40B4-BE49-F238E27FC236}">
                <a16:creationId xmlns:a16="http://schemas.microsoft.com/office/drawing/2014/main" id="{A645CCA1-BA20-45BD-B5F1-31701CBF696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Different from the male ε3/ε3 mismatch</a:t>
            </a:r>
          </a:p>
        </p:txBody>
      </p:sp>
      <p:sp>
        <p:nvSpPr>
          <p:cNvPr id="7" name="TextBox 6">
            <a:extLst xmlns:a="http://schemas.openxmlformats.org/drawingml/2006/main">
              <a:ext uri="{FF2B5EF4-FFF2-40B4-BE49-F238E27FC236}">
                <a16:creationId xmlns:a16="http://schemas.microsoft.com/office/drawing/2014/main" id="{C5A86D1A-7A19-481B-944C-00BB512EEA55}"/>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OXPHOS gene sets move upward instead of separating.</a:t>
            </a:r>
          </a:p>
        </p:txBody>
      </p:sp>
      <p:sp>
        <p:nvSpPr>
          <p:cNvPr id="8" name="Rounded Rectangle 7">
            <a:extLst xmlns:a="http://schemas.openxmlformats.org/drawingml/2006/main">
              <a:ext uri="{FF2B5EF4-FFF2-40B4-BE49-F238E27FC236}">
                <a16:creationId xmlns:a16="http://schemas.microsoft.com/office/drawing/2014/main" id="{9A4BCC61-9636-4A2B-A2CE-63EEE69E6E38}"/>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96F0F40-70A6-4848-A3C8-4C32BE1D34E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POSSIBLE MEANING</a:t>
            </a:r>
          </a:p>
        </p:txBody>
      </p:sp>
      <p:sp>
        <p:nvSpPr>
          <p:cNvPr id="10" name="TextBox 9">
            <a:extLst xmlns:a="http://schemas.openxmlformats.org/drawingml/2006/main">
              <a:ext uri="{FF2B5EF4-FFF2-40B4-BE49-F238E27FC236}">
                <a16:creationId xmlns:a16="http://schemas.microsoft.com/office/drawing/2014/main" id="{C8101B43-A67E-4665-B80D-079DAC2C323C}"/>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Compensation or altered disease state</a:t>
            </a:r>
          </a:p>
        </p:txBody>
      </p:sp>
      <p:sp>
        <p:nvSpPr>
          <p:cNvPr id="11" name="TextBox 10">
            <a:extLst xmlns:a="http://schemas.openxmlformats.org/drawingml/2006/main">
              <a:ext uri="{FF2B5EF4-FFF2-40B4-BE49-F238E27FC236}">
                <a16:creationId xmlns:a16="http://schemas.microsoft.com/office/drawing/2014/main" id="{F13BEB7D-9922-4326-BA53-236575A05E4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cells may increase respiratory instructions in response to inefficient mitochondria.</a:t>
            </a:r>
          </a:p>
        </p:txBody>
      </p:sp>
      <p:sp>
        <p:nvSpPr>
          <p:cNvPr id="12" name="Rounded Rectangle 11">
            <a:extLst xmlns:a="http://schemas.openxmlformats.org/drawingml/2006/main">
              <a:ext uri="{FF2B5EF4-FFF2-40B4-BE49-F238E27FC236}">
                <a16:creationId xmlns:a16="http://schemas.microsoft.com/office/drawing/2014/main" id="{BF7D3617-7BB7-40B0-AA73-01C21E72DE8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1DA468E-DF43-40D4-BB38-376AF1C7C9B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REQUIRED CAUTION</a:t>
            </a:r>
          </a:p>
        </p:txBody>
      </p:sp>
      <p:sp>
        <p:nvSpPr>
          <p:cNvPr id="14" name="TextBox 13">
            <a:extLst xmlns:a="http://schemas.openxmlformats.org/drawingml/2006/main">
              <a:ext uri="{FF2B5EF4-FFF2-40B4-BE49-F238E27FC236}">
                <a16:creationId xmlns:a16="http://schemas.microsoft.com/office/drawing/2014/main" id="{351080BB-A239-4C80-997C-2A88CDB161A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Protection is not established</a:t>
            </a:r>
          </a:p>
        </p:txBody>
      </p:sp>
      <p:sp>
        <p:nvSpPr>
          <p:cNvPr id="15" name="TextBox 14">
            <a:extLst xmlns:a="http://schemas.openxmlformats.org/drawingml/2006/main">
              <a:ext uri="{FF2B5EF4-FFF2-40B4-BE49-F238E27FC236}">
                <a16:creationId xmlns:a16="http://schemas.microsoft.com/office/drawing/2014/main" id="{FC9545C3-7A2A-4865-823B-BFE5DB57A6C8}"/>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Population-level ε2 protection does not make this RNA pattern protective by itself.</a:t>
            </a:r>
          </a:p>
        </p:txBody>
      </p:sp>
      <p:sp>
        <p:nvSpPr>
          <p:cNvPr id="16" name="Rounded Rectangle 15">
            <a:extLst xmlns:a="http://schemas.openxmlformats.org/drawingml/2006/main">
              <a:ext uri="{FF2B5EF4-FFF2-40B4-BE49-F238E27FC236}">
                <a16:creationId xmlns:a16="http://schemas.microsoft.com/office/drawing/2014/main" id="{72B95D4F-865C-4AA6-B047-94D15301D1AE}"/>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804DB52-7FA7-4AAB-8877-BE461C0F6E7A}"/>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CB5FEA1-0D6F-449C-AC3F-4A75E5EEEF19}"/>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result motivates a protective-response hypothesis but does not demonstrate a protective mechanism.</a:t>
            </a:r>
          </a:p>
        </p:txBody>
      </p:sp>
      <p:sp>
        <p:nvSpPr>
          <p:cNvPr id="19" name="TextBox 18">
            <a:extLst xmlns:a="http://schemas.openxmlformats.org/drawingml/2006/main">
              <a:ext uri="{FF2B5EF4-FFF2-40B4-BE49-F238E27FC236}">
                <a16:creationId xmlns:a16="http://schemas.microsoft.com/office/drawing/2014/main" id="{0644A21F-AB48-4E4D-BBF0-4121C8735C9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888850860"/>
      </p:ext>
    </p:extLst>
  </p:cSld>
</p:sld>
</file>

<file path=ppt/slides/slide6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D54C77-E221-4CFC-86B8-C77A3555D89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3 does not prove, and the next evidence needed</a:t>
            </a:r>
          </a:p>
        </p:txBody>
      </p:sp>
      <p:sp>
        <p:nvSpPr>
          <p:cNvPr id="3" name="TextBox 2">
            <a:extLst xmlns:a="http://schemas.openxmlformats.org/drawingml/2006/main">
              <a:ext uri="{FF2B5EF4-FFF2-40B4-BE49-F238E27FC236}">
                <a16:creationId xmlns:a16="http://schemas.microsoft.com/office/drawing/2014/main" id="{0F549F74-1C80-4E9C-A5BE-9E13020D711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5BA66B9B-5913-4764-8D38-0B94A43D0E29}"/>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9FF44744-64E8-429C-96EC-9314D0939B43}"/>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16F1CD8-BCFE-455E-BD1D-34908DEF4310}"/>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BDF3F7B0-1E6E-4DEC-AFD3-92652CE192FC}"/>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52062C0-E53C-4281-AEDA-1958F2EF8319}"/>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Higher OXPHOS protein, complex assembly, or ATP</a:t>
            </a:r>
          </a:p>
        </p:txBody>
      </p:sp>
      <p:sp>
        <p:nvSpPr>
          <p:cNvPr id="9" name="Oval 8">
            <a:extLst xmlns:a="http://schemas.openxmlformats.org/drawingml/2006/main">
              <a:ext uri="{FF2B5EF4-FFF2-40B4-BE49-F238E27FC236}">
                <a16:creationId xmlns:a16="http://schemas.microsoft.com/office/drawing/2014/main" id="{825FBF48-A615-4568-9388-0019E2077A86}"/>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2E13B5A0-EAB4-4188-B8F0-3C1D6DB1E4AB}"/>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by ε2 disease interaction</a:t>
            </a:r>
          </a:p>
        </p:txBody>
      </p:sp>
      <p:sp>
        <p:nvSpPr>
          <p:cNvPr id="11" name="Oval 10">
            <a:extLst xmlns:a="http://schemas.openxmlformats.org/drawingml/2006/main">
              <a:ext uri="{FF2B5EF4-FFF2-40B4-BE49-F238E27FC236}">
                <a16:creationId xmlns:a16="http://schemas.microsoft.com/office/drawing/2014/main" id="{781230EB-DF9C-4ABB-BCBC-34C47F2E974F}"/>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66B191B-9598-472F-B969-D170565B423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replication across donors or cohorts</a:t>
            </a:r>
          </a:p>
        </p:txBody>
      </p:sp>
      <p:sp>
        <p:nvSpPr>
          <p:cNvPr id="13" name="Rounded Rectangle 12">
            <a:extLst xmlns:a="http://schemas.openxmlformats.org/drawingml/2006/main">
              <a:ext uri="{FF2B5EF4-FFF2-40B4-BE49-F238E27FC236}">
                <a16:creationId xmlns:a16="http://schemas.microsoft.com/office/drawing/2014/main" id="{41DB2509-884D-45DD-961D-FC9657975281}"/>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A493BE11-7544-46A0-9363-3EED6D691C32}"/>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F4B1EDB1-8DA2-49ED-980F-D3074B8883DD}"/>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490082C3-DDE8-4A14-B80B-7E3820DDC4DF}"/>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A5895E8-D387-44BF-A381-85E2F51C0F18}"/>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Donor-level disease by sex by APOE interaction model</a:t>
            </a:r>
          </a:p>
        </p:txBody>
      </p:sp>
      <p:sp>
        <p:nvSpPr>
          <p:cNvPr id="18" name="Oval 17">
            <a:extLst xmlns:a="http://schemas.openxmlformats.org/drawingml/2006/main">
              <a:ext uri="{FF2B5EF4-FFF2-40B4-BE49-F238E27FC236}">
                <a16:creationId xmlns:a16="http://schemas.microsoft.com/office/drawing/2014/main" id="{D339FB7C-89DD-478E-90AB-78E6EE27BC78}"/>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8619CA5-15AD-44D1-A923-F9D7E89E86A7}"/>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APOE-isogenic female neuronal and glial models</a:t>
            </a:r>
          </a:p>
        </p:txBody>
      </p:sp>
      <p:sp>
        <p:nvSpPr>
          <p:cNvPr id="20" name="Oval 19">
            <a:extLst xmlns:a="http://schemas.openxmlformats.org/drawingml/2006/main">
              <a:ext uri="{FF2B5EF4-FFF2-40B4-BE49-F238E27FC236}">
                <a16:creationId xmlns:a16="http://schemas.microsoft.com/office/drawing/2014/main" id="{7038F8E9-7C2E-4A5B-BC17-3B4A6EAA9981}"/>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9AF93E4-8EA2-4969-9EC0-A3F83D0FF96E}"/>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OXPHOS protein, ATP, respiration, and stress tolerance</a:t>
            </a:r>
          </a:p>
        </p:txBody>
      </p:sp>
      <p:sp>
        <p:nvSpPr>
          <p:cNvPr id="22" name="TextBox 21">
            <a:extLst xmlns:a="http://schemas.openxmlformats.org/drawingml/2006/main">
              <a:ext uri="{FF2B5EF4-FFF2-40B4-BE49-F238E27FC236}">
                <a16:creationId xmlns:a16="http://schemas.microsoft.com/office/drawing/2014/main" id="{1C848634-9EB2-4A55-B804-C88DA91B4CFE}"/>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040DF977-529E-45D1-A84F-56F3B80E158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1658040671"/>
      </p:ext>
    </p:extLst>
  </p:cSld>
</p:sld>
</file>

<file path=ppt/slides/slide6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85345D8-743B-4F92-856E-EAD323BC0C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3</a:t>
            </a:r>
          </a:p>
        </p:txBody>
      </p:sp>
      <p:sp>
        <p:nvSpPr>
          <p:cNvPr id="3" name="TextBox 2">
            <a:extLst xmlns:a="http://schemas.openxmlformats.org/drawingml/2006/main">
              <a:ext uri="{FF2B5EF4-FFF2-40B4-BE49-F238E27FC236}">
                <a16:creationId xmlns:a16="http://schemas.microsoft.com/office/drawing/2014/main" id="{8F063471-6559-4E80-8221-8E8E2AF2B40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38C23AC6-435A-4B38-9349-5942E7DAA4C2}"/>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1BCAEEB-4B50-4ABA-A8B0-141138736D74}"/>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E61D72E2-F3A7-448B-8E28-1B08522E943E}"/>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xmlns:a="http://schemas.openxmlformats.org/drawingml/2006/main">
              <a:ext uri="{FF2B5EF4-FFF2-40B4-BE49-F238E27FC236}">
                <a16:creationId xmlns:a16="http://schemas.microsoft.com/office/drawing/2014/main" id="{D687DE74-4101-4CE6-8670-93675C247769}"/>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454F7115-1BAA-4921-8EA5-3E94FDE49069}"/>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large Alzheimer’s risk differences among APOE alleles.</a:t>
            </a:r>
          </a:p>
        </p:txBody>
      </p:sp>
      <p:sp>
        <p:nvSpPr>
          <p:cNvPr id="9" name="TextBox 8">
            <a:extLst xmlns:a="http://schemas.openxmlformats.org/drawingml/2006/main">
              <a:ext uri="{FF2B5EF4-FFF2-40B4-BE49-F238E27FC236}">
                <a16:creationId xmlns:a16="http://schemas.microsoft.com/office/drawing/2014/main" id="{F7A4BB6B-4371-4A92-B9E3-2A1BD6D0DEE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DFD8B593-B01A-48F9-BB3C-5E3014169FE2}"/>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explain the observed female ε2 RNA response.</a:t>
            </a:r>
          </a:p>
        </p:txBody>
      </p:sp>
      <p:sp>
        <p:nvSpPr>
          <p:cNvPr id="11" name="Rounded Rectangle 10">
            <a:extLst xmlns:a="http://schemas.openxmlformats.org/drawingml/2006/main">
              <a:ext uri="{FF2B5EF4-FFF2-40B4-BE49-F238E27FC236}">
                <a16:creationId xmlns:a16="http://schemas.microsoft.com/office/drawing/2014/main" id="{48A8DA3D-79F5-4576-B2F1-D754D20871E3}"/>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171C25C-B0DF-4E30-B811-5B7D7B8C2B9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BA2BFD3F-0612-46E2-8E43-4866376D2BC3}"/>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and mitochondria</a:t>
            </a:r>
          </a:p>
        </p:txBody>
      </p:sp>
      <p:sp>
        <p:nvSpPr>
          <p:cNvPr id="14" name="TextBox 13">
            <a:extLst xmlns:a="http://schemas.openxmlformats.org/drawingml/2006/main">
              <a:ext uri="{FF2B5EF4-FFF2-40B4-BE49-F238E27FC236}">
                <a16:creationId xmlns:a16="http://schemas.microsoft.com/office/drawing/2014/main" id="{25365557-B7E5-4D1B-87DE-59982CA620AE}"/>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269B6732-CCEE-4283-8AAE-4B009FFC4C19}"/>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APOE state can alter mitochondrial homeostasis.</a:t>
            </a:r>
          </a:p>
        </p:txBody>
      </p:sp>
      <p:sp>
        <p:nvSpPr>
          <p:cNvPr id="16" name="TextBox 15">
            <a:extLst xmlns:a="http://schemas.openxmlformats.org/drawingml/2006/main">
              <a:ext uri="{FF2B5EF4-FFF2-40B4-BE49-F238E27FC236}">
                <a16:creationId xmlns:a16="http://schemas.microsoft.com/office/drawing/2014/main" id="{7EC2DEB2-A3B7-4A7A-B89F-241825498DE1}"/>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C3723745-3BD7-4BE7-8470-6C4A4EBD304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a different APOE group and experimental context.</a:t>
            </a:r>
          </a:p>
        </p:txBody>
      </p:sp>
      <p:sp>
        <p:nvSpPr>
          <p:cNvPr id="18" name="Rounded Rectangle 17">
            <a:extLst xmlns:a="http://schemas.openxmlformats.org/drawingml/2006/main">
              <a:ext uri="{FF2B5EF4-FFF2-40B4-BE49-F238E27FC236}">
                <a16:creationId xmlns:a16="http://schemas.microsoft.com/office/drawing/2014/main" id="{35D9A967-C87D-4290-958C-CD5FAAE4FBB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7082910-6C3F-4CCD-B1B3-2C7AA23783EF}"/>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xmlns:a="http://schemas.openxmlformats.org/drawingml/2006/main">
              <a:ext uri="{FF2B5EF4-FFF2-40B4-BE49-F238E27FC236}">
                <a16:creationId xmlns:a16="http://schemas.microsoft.com/office/drawing/2014/main" id="{123A1DF3-BCAE-45BE-8442-BDD96635F438}"/>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Sex-aware AD networks</a:t>
            </a:r>
          </a:p>
        </p:txBody>
      </p:sp>
      <p:sp>
        <p:nvSpPr>
          <p:cNvPr id="21" name="TextBox 20">
            <a:extLst xmlns:a="http://schemas.openxmlformats.org/drawingml/2006/main">
              <a:ext uri="{FF2B5EF4-FFF2-40B4-BE49-F238E27FC236}">
                <a16:creationId xmlns:a16="http://schemas.microsoft.com/office/drawing/2014/main" id="{59F07A75-2EE1-4D60-9786-0F23DF2582DC}"/>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66A71E1-1013-4A2B-A10D-B5DFDBF4D5C7}"/>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analyzing Alzheimer’s biology by sex and cell type.</a:t>
            </a:r>
          </a:p>
        </p:txBody>
      </p:sp>
      <p:sp>
        <p:nvSpPr>
          <p:cNvPr id="23" name="TextBox 22">
            <a:extLst xmlns:a="http://schemas.openxmlformats.org/drawingml/2006/main">
              <a:ext uri="{FF2B5EF4-FFF2-40B4-BE49-F238E27FC236}">
                <a16:creationId xmlns:a16="http://schemas.microsoft.com/office/drawing/2014/main" id="{B8AF796C-C116-4095-8204-2CF009C27950}"/>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81CFC136-DBEC-4C06-AE7C-AF8530697833}"/>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report this exact female ε2 program.</a:t>
            </a:r>
          </a:p>
        </p:txBody>
      </p:sp>
      <p:sp>
        <p:nvSpPr>
          <p:cNvPr id="25" name="Rounded Rectangle 24">
            <a:extLst xmlns:a="http://schemas.openxmlformats.org/drawingml/2006/main">
              <a:ext uri="{FF2B5EF4-FFF2-40B4-BE49-F238E27FC236}">
                <a16:creationId xmlns:a16="http://schemas.microsoft.com/office/drawing/2014/main" id="{B8DC183B-16BE-40EC-BF0B-B42D31C88BCC}"/>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3212225-CCEC-4FB4-8350-843AC90B44C7}"/>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9750E182-280E-4F25-A75D-61DA6D25D49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3.</a:t>
            </a:r>
          </a:p>
        </p:txBody>
      </p:sp>
    </p:spTree>
    <p:extLst>
      <p:ext uri="{BB962C8B-B14F-4D97-AF65-F5344CB8AC3E}">
        <p14:creationId xmlns:p14="http://schemas.microsoft.com/office/powerpoint/2010/main" val="914698688"/>
      </p:ext>
    </p:extLst>
  </p:cSld>
</p:sld>
</file>

<file path=ppt/slides/slide6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39B9759-8C24-40FC-9F64-84570C3254D0}"/>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4</a:t>
            </a:r>
          </a:p>
        </p:txBody>
      </p:sp>
      <p:sp>
        <p:nvSpPr>
          <p:cNvPr id="3" name="Rectangle 2">
            <a:extLst xmlns:a="http://schemas.openxmlformats.org/drawingml/2006/main">
              <a:ext uri="{FF2B5EF4-FFF2-40B4-BE49-F238E27FC236}">
                <a16:creationId xmlns:a16="http://schemas.microsoft.com/office/drawing/2014/main" id="{5BBDA2B6-748D-41D9-862D-7E18BB2B5EA2}"/>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D76020A-FCE8-438D-BB31-4DC3B5F14D24}"/>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fine-cell results show a strong nuclear-OXPHOS decrease</a:t>
            </a:r>
          </a:p>
        </p:txBody>
      </p:sp>
      <p:sp>
        <p:nvSpPr>
          <p:cNvPr id="5" name="TextBox 4">
            <a:extLst xmlns:a="http://schemas.openxmlformats.org/drawingml/2006/main">
              <a:ext uri="{FF2B5EF4-FFF2-40B4-BE49-F238E27FC236}">
                <a16:creationId xmlns:a16="http://schemas.microsoft.com/office/drawing/2014/main" id="{E6B72473-605E-4B15-A710-E0E87504CEE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61741430-38B3-41F7-B957-964A801B7A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D464EA5-2FB1-41DE-B66E-27CBBCF1682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47EA8D99-C02A-4788-8BAC-19AB7802536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61EBDF4-CC0C-408C-9B6A-191DD08C45B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6ED3613-1DE2-4ED9-B304-70C3BF6E2F8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4D6D3497-1532-43A3-B90B-868123101E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AA0014-E189-41F8-9EDA-538A301A2B7E}"/>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85CC86D-E673-4A4D-BCD4-A17C265A93D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DF6ECD27-E612-42B2-A097-22AD5D5F4E1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199226C-0ACA-4C10-9CC3-512A6B88301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9ADCB95-7C34-4583-8E5D-733E8F1BC35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D05F1D8-4983-4839-928F-9660ECDD84A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D96C1F8-7416-4C36-AEF3-8C5EC8CB834A}"/>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6D4276BB-3C28-4E39-A937-01C6393F2A2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917F796A-CADC-4639-9BBC-33FD0EE492E7}"/>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3D46ED2-4710-4AF3-A347-5D5DAB51261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The strongest signal is a fine-cell decrease in nuclear-encoded OXPHOS RNA.</a:t>
            </a:r>
          </a:p>
        </p:txBody>
      </p:sp>
    </p:spTree>
    <p:extLst>
      <p:ext uri="{BB962C8B-B14F-4D97-AF65-F5344CB8AC3E}">
        <p14:creationId xmlns:p14="http://schemas.microsoft.com/office/powerpoint/2010/main" val="1039246802"/>
      </p:ext>
    </p:extLst>
  </p:cSld>
</p:sld>
</file>

<file path=ppt/slides/slide6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4847B2B-03F0-4340-9874-86C63B1F255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fine-cell results lower nuclear-encoded OXPHOS RNA in AD</a:t>
            </a:r>
          </a:p>
        </p:txBody>
      </p:sp>
      <p:sp>
        <p:nvSpPr>
          <p:cNvPr id="3" name="TextBox 2">
            <a:extLst xmlns:a="http://schemas.openxmlformats.org/drawingml/2006/main">
              <a:ext uri="{FF2B5EF4-FFF2-40B4-BE49-F238E27FC236}">
                <a16:creationId xmlns:a16="http://schemas.microsoft.com/office/drawing/2014/main" id="{896CB3C7-3B59-48DD-B73F-9AD94CF297D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nuclear side is strongly downward, while mitochondrial-DNA OXPHOS genes show mixed directions.</a:t>
            </a:r>
          </a:p>
        </p:txBody>
      </p:sp>
      <p:sp>
        <p:nvSpPr>
          <p:cNvPr id="4" name="Rounded Rectangle 3">
            <a:extLst xmlns:a="http://schemas.openxmlformats.org/drawingml/2006/main">
              <a:ext uri="{FF2B5EF4-FFF2-40B4-BE49-F238E27FC236}">
                <a16:creationId xmlns:a16="http://schemas.microsoft.com/office/drawing/2014/main" id="{39A86691-49B6-40BA-9B7E-1D0E4F7208F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74921E-CB72-47D6-A24A-B8DE6A60EA3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898814CC-D61C-4493-ADF0-9F4DC2B35D0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9D5293A-18E3-40CD-89F3-26829C1D289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128528F0-0394-45AD-BC8B-27B5537B130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A922C6C-7D42-4015-9F4D-601E45A137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Fine-cell primary</a:t>
            </a:r>
          </a:p>
        </p:txBody>
      </p:sp>
      <p:sp>
        <p:nvSpPr>
          <p:cNvPr id="10" name="Rounded Rectangle 9">
            <a:extLst xmlns:a="http://schemas.openxmlformats.org/drawingml/2006/main">
              <a:ext uri="{FF2B5EF4-FFF2-40B4-BE49-F238E27FC236}">
                <a16:creationId xmlns:a16="http://schemas.microsoft.com/office/drawing/2014/main" id="{1F89F666-EC68-4B12-8245-6A91883251DB}"/>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F0B02DC0-F83E-4862-AFB0-52E4D28EC5CB}"/>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Resolution-sensitive</a:t>
            </a:r>
          </a:p>
        </p:txBody>
      </p:sp>
      <p:sp>
        <p:nvSpPr>
          <p:cNvPr id="12" name="Rounded Rectangle 11">
            <a:extLst xmlns:a="http://schemas.openxmlformats.org/drawingml/2006/main">
              <a:ext uri="{FF2B5EF4-FFF2-40B4-BE49-F238E27FC236}">
                <a16:creationId xmlns:a16="http://schemas.microsoft.com/office/drawing/2014/main" id="{1623AB73-75F2-48FD-B6FD-29F94AEBE1B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5AB7C3F-B362-4884-8570-8BC56E4296D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 OXPHOS</a:t>
            </a:r>
          </a:p>
        </p:txBody>
      </p:sp>
      <p:sp>
        <p:nvSpPr>
          <p:cNvPr id="14" name="TextBox 13">
            <a:extLst xmlns:a="http://schemas.openxmlformats.org/drawingml/2006/main">
              <a:ext uri="{FF2B5EF4-FFF2-40B4-BE49-F238E27FC236}">
                <a16:creationId xmlns:a16="http://schemas.microsoft.com/office/drawing/2014/main" id="{037D3A7F-EC93-4850-BC73-94A191C2147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206 of 216 down</a:t>
            </a:r>
          </a:p>
        </p:txBody>
      </p:sp>
      <p:sp>
        <p:nvSpPr>
          <p:cNvPr id="15" name="TextBox 14">
            <a:extLst xmlns:a="http://schemas.openxmlformats.org/drawingml/2006/main">
              <a:ext uri="{FF2B5EF4-FFF2-40B4-BE49-F238E27FC236}">
                <a16:creationId xmlns:a16="http://schemas.microsoft.com/office/drawing/2014/main" id="{270E3D63-8EB2-4724-B97D-72CAA1CA22B1}"/>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Most structural respiratory-complex subunits come from nuclear DNA.</a:t>
            </a:r>
          </a:p>
        </p:txBody>
      </p:sp>
      <p:sp>
        <p:nvSpPr>
          <p:cNvPr id="16" name="Rounded Rectangle 15">
            <a:extLst xmlns:a="http://schemas.openxmlformats.org/drawingml/2006/main">
              <a:ext uri="{FF2B5EF4-FFF2-40B4-BE49-F238E27FC236}">
                <a16:creationId xmlns:a16="http://schemas.microsoft.com/office/drawing/2014/main" id="{534A9EEA-8A5F-4954-B3B2-93AD43A47D8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A115232-3CD3-4590-A0CD-62FA073A0EE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B30DD619-5891-4A35-AF6F-EF31F4A7E79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Mixed direction</a:t>
            </a:r>
          </a:p>
        </p:txBody>
      </p:sp>
      <p:sp>
        <p:nvSpPr>
          <p:cNvPr id="19" name="TextBox 18">
            <a:extLst xmlns:a="http://schemas.openxmlformats.org/drawingml/2006/main">
              <a:ext uri="{FF2B5EF4-FFF2-40B4-BE49-F238E27FC236}">
                <a16:creationId xmlns:a16="http://schemas.microsoft.com/office/drawing/2014/main" id="{A4E26757-5D41-41B5-8F16-6A64F6AC282B}"/>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mitochondrial genome contributes 26 up and 38 down occurrences.</a:t>
            </a:r>
          </a:p>
        </p:txBody>
      </p:sp>
      <p:sp>
        <p:nvSpPr>
          <p:cNvPr id="20" name="Rounded Rectangle 19">
            <a:extLst xmlns:a="http://schemas.openxmlformats.org/drawingml/2006/main">
              <a:ext uri="{FF2B5EF4-FFF2-40B4-BE49-F238E27FC236}">
                <a16:creationId xmlns:a16="http://schemas.microsoft.com/office/drawing/2014/main" id="{EFDE4554-9BE7-4F1C-9EC1-3AE3669AF389}"/>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91C911D-9BE4-4EAD-901C-EB4A7396FDD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DE347B32-7281-4BAA-9D9B-7BD80806D79B}"/>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Nuclear-sided decrease</a:t>
            </a:r>
          </a:p>
        </p:txBody>
      </p:sp>
      <p:sp>
        <p:nvSpPr>
          <p:cNvPr id="23" name="TextBox 22">
            <a:extLst xmlns:a="http://schemas.openxmlformats.org/drawingml/2006/main">
              <a:ext uri="{FF2B5EF4-FFF2-40B4-BE49-F238E27FC236}">
                <a16:creationId xmlns:a16="http://schemas.microsoft.com/office/drawing/2014/main" id="{8791BB3F-8EB1-406E-ABA1-2F45257FD1DF}"/>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result should not be described as a uniform decrease of all mitochondrial genes.</a:t>
            </a:r>
          </a:p>
        </p:txBody>
      </p:sp>
      <p:sp>
        <p:nvSpPr>
          <p:cNvPr id="24" name="Rounded Rectangle 23">
            <a:extLst xmlns:a="http://schemas.openxmlformats.org/drawingml/2006/main">
              <a:ext uri="{FF2B5EF4-FFF2-40B4-BE49-F238E27FC236}">
                <a16:creationId xmlns:a16="http://schemas.microsoft.com/office/drawing/2014/main" id="{58C107E9-3677-45CB-8CAB-1BE1CEDCE97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3B50EAE-DA13-43C2-AD90-0FF977EECBFB}"/>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finding is specific to fine-cell and KDA-aligned evidence because direct broad-cell results disagree.</a:t>
            </a:r>
          </a:p>
        </p:txBody>
      </p:sp>
      <p:sp>
        <p:nvSpPr>
          <p:cNvPr id="26" name="TextBox 25">
            <a:extLst xmlns:a="http://schemas.openxmlformats.org/drawingml/2006/main">
              <a:ext uri="{FF2B5EF4-FFF2-40B4-BE49-F238E27FC236}">
                <a16:creationId xmlns:a16="http://schemas.microsoft.com/office/drawing/2014/main" id="{A13876BD-CB11-48D9-98A8-C9AB7CDF6D9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262158208"/>
      </p:ext>
    </p:extLst>
  </p:cSld>
</p:sld>
</file>

<file path=ppt/slides/slide6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16E7C6-C798-4825-8ADF-356B5B54EA3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95% of female ε4 nuclear-OXPHOS occurrences are AD-down</a:t>
            </a:r>
          </a:p>
        </p:txBody>
      </p:sp>
      <p:sp>
        <p:nvSpPr>
          <p:cNvPr id="3" name="TextBox 2">
            <a:extLst xmlns:a="http://schemas.openxmlformats.org/drawingml/2006/main">
              <a:ext uri="{FF2B5EF4-FFF2-40B4-BE49-F238E27FC236}">
                <a16:creationId xmlns:a16="http://schemas.microsoft.com/office/drawing/2014/main" id="{A4B8AFD9-E3A2-4DF9-81CD-7C81CE7DADE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mtDNA component is smaller and more mixed than the nuclear component.</a:t>
            </a:r>
          </a:p>
        </p:txBody>
      </p:sp>
      <p:sp>
        <p:nvSpPr>
          <p:cNvPr id="4" name="Rounded Rectangle 3">
            <a:extLst xmlns:a="http://schemas.openxmlformats.org/drawingml/2006/main">
              <a:ext uri="{FF2B5EF4-FFF2-40B4-BE49-F238E27FC236}">
                <a16:creationId xmlns:a16="http://schemas.microsoft.com/office/drawing/2014/main" id="{50746D33-BB30-408B-9C9E-FF12599B34E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D214BFD-9CB2-42A4-89AE-8FFD5BC9576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216</a:t>
            </a:r>
          </a:p>
        </p:txBody>
      </p:sp>
      <p:sp>
        <p:nvSpPr>
          <p:cNvPr id="6" name="TextBox 5">
            <a:extLst xmlns:a="http://schemas.openxmlformats.org/drawingml/2006/main">
              <a:ext uri="{FF2B5EF4-FFF2-40B4-BE49-F238E27FC236}">
                <a16:creationId xmlns:a16="http://schemas.microsoft.com/office/drawing/2014/main" id="{2611586C-DC6A-4FFA-9337-383B37FE6B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7" name="TextBox 6">
            <a:extLst xmlns:a="http://schemas.openxmlformats.org/drawingml/2006/main">
              <a:ext uri="{FF2B5EF4-FFF2-40B4-BE49-F238E27FC236}">
                <a16:creationId xmlns:a16="http://schemas.microsoft.com/office/drawing/2014/main" id="{3FA2DD5C-37CE-47B8-BA0D-4EFF5279FD3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up, 206 down</a:t>
            </a:r>
          </a:p>
        </p:txBody>
      </p:sp>
      <p:sp>
        <p:nvSpPr>
          <p:cNvPr id="8" name="Rounded Rectangle 7">
            <a:extLst xmlns:a="http://schemas.openxmlformats.org/drawingml/2006/main">
              <a:ext uri="{FF2B5EF4-FFF2-40B4-BE49-F238E27FC236}">
                <a16:creationId xmlns:a16="http://schemas.microsoft.com/office/drawing/2014/main" id="{C367C7A9-94DC-4D2B-B71F-0FDBE87A16E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E88F76C-26B3-454D-8275-E2E91DB2450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64</a:t>
            </a:r>
          </a:p>
        </p:txBody>
      </p:sp>
      <p:sp>
        <p:nvSpPr>
          <p:cNvPr id="10" name="TextBox 9">
            <a:extLst xmlns:a="http://schemas.openxmlformats.org/drawingml/2006/main">
              <a:ext uri="{FF2B5EF4-FFF2-40B4-BE49-F238E27FC236}">
                <a16:creationId xmlns:a16="http://schemas.microsoft.com/office/drawing/2014/main" id="{24F47D21-06A0-49A7-843A-35EF63D4EEB1}"/>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11" name="TextBox 10">
            <a:extLst xmlns:a="http://schemas.openxmlformats.org/drawingml/2006/main">
              <a:ext uri="{FF2B5EF4-FFF2-40B4-BE49-F238E27FC236}">
                <a16:creationId xmlns:a16="http://schemas.microsoft.com/office/drawing/2014/main" id="{E00687D7-70B0-4750-B1C7-9FF467343380}"/>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26 up, 38 down</a:t>
            </a:r>
          </a:p>
        </p:txBody>
      </p:sp>
      <p:sp>
        <p:nvSpPr>
          <p:cNvPr id="12" name="Rounded Rectangle 11">
            <a:extLst xmlns:a="http://schemas.openxmlformats.org/drawingml/2006/main">
              <a:ext uri="{FF2B5EF4-FFF2-40B4-BE49-F238E27FC236}">
                <a16:creationId xmlns:a16="http://schemas.microsoft.com/office/drawing/2014/main" id="{1FC6D3C9-53C5-436A-80F4-E4C130F4115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EFE16A-BBAE-434D-B4D4-F4BBF16D1597}"/>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4/13</a:t>
            </a:r>
          </a:p>
        </p:txBody>
      </p:sp>
      <p:sp>
        <p:nvSpPr>
          <p:cNvPr id="14" name="TextBox 13">
            <a:extLst xmlns:a="http://schemas.openxmlformats.org/drawingml/2006/main">
              <a:ext uri="{FF2B5EF4-FFF2-40B4-BE49-F238E27FC236}">
                <a16:creationId xmlns:a16="http://schemas.microsoft.com/office/drawing/2014/main" id="{AC6C476A-D8B0-4988-AB23-A9274BE7A62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xmlns:a="http://schemas.openxmlformats.org/drawingml/2006/main">
              <a:ext uri="{FF2B5EF4-FFF2-40B4-BE49-F238E27FC236}">
                <a16:creationId xmlns:a16="http://schemas.microsoft.com/office/drawing/2014/main" id="{864BD5C9-7313-4258-90C2-44621A549A53}"/>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nuclear-down enrichment</a:t>
            </a:r>
          </a:p>
        </p:txBody>
      </p:sp>
      <p:sp>
        <p:nvSpPr>
          <p:cNvPr id="16" name="Rounded Rectangle 15">
            <a:extLst xmlns:a="http://schemas.openxmlformats.org/drawingml/2006/main">
              <a:ext uri="{FF2B5EF4-FFF2-40B4-BE49-F238E27FC236}">
                <a16:creationId xmlns:a16="http://schemas.microsoft.com/office/drawing/2014/main" id="{20141D58-A058-4EE4-BC6F-0C603708A55B}"/>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9B384E-3324-406A-9BD4-5866F2601348}"/>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18" name="TextBox 17">
            <a:extLst xmlns:a="http://schemas.openxmlformats.org/drawingml/2006/main">
              <a:ext uri="{FF2B5EF4-FFF2-40B4-BE49-F238E27FC236}">
                <a16:creationId xmlns:a16="http://schemas.microsoft.com/office/drawing/2014/main" id="{D711E9C4-E615-4164-8E0E-C48683BB7C4A}"/>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95% down</a:t>
            </a:r>
          </a:p>
        </p:txBody>
      </p:sp>
      <p:sp>
        <p:nvSpPr>
          <p:cNvPr id="19" name="TextBox 18">
            <a:extLst xmlns:a="http://schemas.openxmlformats.org/drawingml/2006/main">
              <a:ext uri="{FF2B5EF4-FFF2-40B4-BE49-F238E27FC236}">
                <a16:creationId xmlns:a16="http://schemas.microsoft.com/office/drawing/2014/main" id="{18248536-6E97-4D19-897C-624A3F6312C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Six eligible calls showed significant nuclear-OXPHOS enrichment</a:t>
            </a:r>
          </a:p>
        </p:txBody>
      </p:sp>
      <p:sp>
        <p:nvSpPr>
          <p:cNvPr id="20" name="Rounded Rectangle 19">
            <a:extLst xmlns:a="http://schemas.openxmlformats.org/drawingml/2006/main">
              <a:ext uri="{FF2B5EF4-FFF2-40B4-BE49-F238E27FC236}">
                <a16:creationId xmlns:a16="http://schemas.microsoft.com/office/drawing/2014/main" id="{5E29091D-B675-49BE-A878-6A96D56F4DD7}"/>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7CA1F7-0F95-4126-9E08-408394415F68}"/>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22" name="TextBox 21">
            <a:extLst xmlns:a="http://schemas.openxmlformats.org/drawingml/2006/main">
              <a:ext uri="{FF2B5EF4-FFF2-40B4-BE49-F238E27FC236}">
                <a16:creationId xmlns:a16="http://schemas.microsoft.com/office/drawing/2014/main" id="{FAE57504-3744-40A4-B02C-4F8FF1267295}"/>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59% down</a:t>
            </a:r>
          </a:p>
        </p:txBody>
      </p:sp>
      <p:sp>
        <p:nvSpPr>
          <p:cNvPr id="23" name="TextBox 22">
            <a:extLst xmlns:a="http://schemas.openxmlformats.org/drawingml/2006/main">
              <a:ext uri="{FF2B5EF4-FFF2-40B4-BE49-F238E27FC236}">
                <a16:creationId xmlns:a16="http://schemas.microsoft.com/office/drawing/2014/main" id="{FC5B3EDE-C98C-45CA-AB93-D3059D42173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Ten calls showed significant enrichment, but direction was not uniform</a:t>
            </a:r>
          </a:p>
        </p:txBody>
      </p:sp>
      <p:sp>
        <p:nvSpPr>
          <p:cNvPr id="24" name="Rounded Rectangle 23">
            <a:extLst xmlns:a="http://schemas.openxmlformats.org/drawingml/2006/main">
              <a:ext uri="{FF2B5EF4-FFF2-40B4-BE49-F238E27FC236}">
                <a16:creationId xmlns:a16="http://schemas.microsoft.com/office/drawing/2014/main" id="{36BA72D2-3B9D-4CFD-9032-9F25BBDF911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54084EDC-C5DD-434C-8042-3C9AE2B5124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Primary localization</a:t>
            </a:r>
          </a:p>
        </p:txBody>
      </p:sp>
      <p:sp>
        <p:nvSpPr>
          <p:cNvPr id="26" name="TextBox 25">
            <a:extLst xmlns:a="http://schemas.openxmlformats.org/drawingml/2006/main">
              <a:ext uri="{FF2B5EF4-FFF2-40B4-BE49-F238E27FC236}">
                <a16:creationId xmlns:a16="http://schemas.microsoft.com/office/drawing/2014/main" id="{C77EC147-AB27-4522-80DF-24CAB245A81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Excitatory fine types</a:t>
            </a:r>
          </a:p>
        </p:txBody>
      </p:sp>
      <p:sp>
        <p:nvSpPr>
          <p:cNvPr id="27" name="TextBox 26">
            <a:extLst xmlns:a="http://schemas.openxmlformats.org/drawingml/2006/main">
              <a:ext uri="{FF2B5EF4-FFF2-40B4-BE49-F238E27FC236}">
                <a16:creationId xmlns:a16="http://schemas.microsoft.com/office/drawing/2014/main" id="{7EFA35EA-3110-4A6D-B50D-300EE9DE777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Four of 13 testable excitatory fine types enriched the nuclear-down program</a:t>
            </a:r>
          </a:p>
        </p:txBody>
      </p:sp>
      <p:sp>
        <p:nvSpPr>
          <p:cNvPr id="28" name="TextBox 27">
            <a:extLst xmlns:a="http://schemas.openxmlformats.org/drawingml/2006/main">
              <a:ext uri="{FF2B5EF4-FFF2-40B4-BE49-F238E27FC236}">
                <a16:creationId xmlns:a16="http://schemas.microsoft.com/office/drawing/2014/main" id="{B058C0B2-41E9-47FB-A657-74B1AF677DA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352845644"/>
      </p:ext>
    </p:extLst>
  </p:cSld>
</p:sld>
</file>

<file path=ppt/slides/slide6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230396-C711-48F4-9F3F-E125CDE36E8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Direct broad-cell results do not reproduce the female ε4 nuclear decrease</a:t>
            </a:r>
          </a:p>
        </p:txBody>
      </p:sp>
      <p:sp>
        <p:nvSpPr>
          <p:cNvPr id="3" name="TextBox 2">
            <a:extLst xmlns:a="http://schemas.openxmlformats.org/drawingml/2006/main">
              <a:ext uri="{FF2B5EF4-FFF2-40B4-BE49-F238E27FC236}">
                <a16:creationId xmlns:a16="http://schemas.microsoft.com/office/drawing/2014/main" id="{90C9A94E-CA5C-479F-A04F-576DC97C1DC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This disagreement lowers confidence that the signal generalizes across resolutions.</a:t>
            </a:r>
          </a:p>
        </p:txBody>
      </p:sp>
      <p:sp>
        <p:nvSpPr>
          <p:cNvPr id="4" name="Rounded Rectangle 3">
            <a:extLst xmlns:a="http://schemas.openxmlformats.org/drawingml/2006/main">
              <a:ext uri="{FF2B5EF4-FFF2-40B4-BE49-F238E27FC236}">
                <a16:creationId xmlns:a16="http://schemas.microsoft.com/office/drawing/2014/main" id="{F5165143-019E-4190-A879-4C33055182B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5FB12EF-F685-41F0-B76D-A60DE55D51F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ROSMAP DIRECT BROAD</a:t>
            </a:r>
          </a:p>
        </p:txBody>
      </p:sp>
      <p:sp>
        <p:nvSpPr>
          <p:cNvPr id="6" name="TextBox 5">
            <a:extLst xmlns:a="http://schemas.openxmlformats.org/drawingml/2006/main">
              <a:ext uri="{FF2B5EF4-FFF2-40B4-BE49-F238E27FC236}">
                <a16:creationId xmlns:a16="http://schemas.microsoft.com/office/drawing/2014/main" id="{FA677EEF-E3B8-454B-9005-52648E8CD2D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Weak positive, not significant</a:t>
            </a:r>
          </a:p>
        </p:txBody>
      </p:sp>
      <p:sp>
        <p:nvSpPr>
          <p:cNvPr id="7" name="TextBox 6">
            <a:extLst xmlns:a="http://schemas.openxmlformats.org/drawingml/2006/main">
              <a:ext uri="{FF2B5EF4-FFF2-40B4-BE49-F238E27FC236}">
                <a16:creationId xmlns:a16="http://schemas.microsoft.com/office/drawing/2014/main" id="{A9ADC9DF-DE25-4165-9BCE-7FDD7797B58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Excitatory nuclear OXPHOS NES was +0.70 with local BH 0.991.</a:t>
            </a:r>
          </a:p>
        </p:txBody>
      </p:sp>
      <p:sp>
        <p:nvSpPr>
          <p:cNvPr id="8" name="Rounded Rectangle 7">
            <a:extLst xmlns:a="http://schemas.openxmlformats.org/drawingml/2006/main">
              <a:ext uri="{FF2B5EF4-FFF2-40B4-BE49-F238E27FC236}">
                <a16:creationId xmlns:a16="http://schemas.microsoft.com/office/drawing/2014/main" id="{889EF010-CCDC-4C5D-8BAC-6BD282885F6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B111569-40F8-417C-BE49-30200131459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SEA-AD DIRECT BROAD</a:t>
            </a:r>
          </a:p>
        </p:txBody>
      </p:sp>
      <p:sp>
        <p:nvSpPr>
          <p:cNvPr id="10" name="TextBox 9">
            <a:extLst xmlns:a="http://schemas.openxmlformats.org/drawingml/2006/main">
              <a:ext uri="{FF2B5EF4-FFF2-40B4-BE49-F238E27FC236}">
                <a16:creationId xmlns:a16="http://schemas.microsoft.com/office/drawing/2014/main" id="{C5392091-01E3-4C10-9025-5BFF104E2A5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Significant positive direction</a:t>
            </a:r>
          </a:p>
        </p:txBody>
      </p:sp>
      <p:sp>
        <p:nvSpPr>
          <p:cNvPr id="11" name="TextBox 10">
            <a:extLst xmlns:a="http://schemas.openxmlformats.org/drawingml/2006/main">
              <a:ext uri="{FF2B5EF4-FFF2-40B4-BE49-F238E27FC236}">
                <a16:creationId xmlns:a16="http://schemas.microsoft.com/office/drawing/2014/main" id="{F8AF9F05-3A6A-431E-902C-6B7B0F1A859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Excitatory nuclear OXPHOS NES was +2.01 with local BH 5.62 × 10⁻⁵.</a:t>
            </a:r>
          </a:p>
        </p:txBody>
      </p:sp>
      <p:sp>
        <p:nvSpPr>
          <p:cNvPr id="12" name="Rounded Rectangle 11">
            <a:extLst xmlns:a="http://schemas.openxmlformats.org/drawingml/2006/main">
              <a:ext uri="{FF2B5EF4-FFF2-40B4-BE49-F238E27FC236}">
                <a16:creationId xmlns:a16="http://schemas.microsoft.com/office/drawing/2014/main" id="{21869939-BD43-4C0D-A433-E130C70A870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CCFB44D-1E4B-485C-ACAF-A84BFF5D40C1}"/>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FINE-CELL KDA</a:t>
            </a:r>
          </a:p>
        </p:txBody>
      </p:sp>
      <p:sp>
        <p:nvSpPr>
          <p:cNvPr id="14" name="TextBox 13">
            <a:extLst xmlns:a="http://schemas.openxmlformats.org/drawingml/2006/main">
              <a:ext uri="{FF2B5EF4-FFF2-40B4-BE49-F238E27FC236}">
                <a16:creationId xmlns:a16="http://schemas.microsoft.com/office/drawing/2014/main" id="{8572C540-E22E-4F44-9781-55EC90D5766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Only one small astrocyte query</a:t>
            </a:r>
          </a:p>
        </p:txBody>
      </p:sp>
      <p:sp>
        <p:nvSpPr>
          <p:cNvPr id="15" name="TextBox 14">
            <a:extLst xmlns:a="http://schemas.openxmlformats.org/drawingml/2006/main">
              <a:ext uri="{FF2B5EF4-FFF2-40B4-BE49-F238E27FC236}">
                <a16:creationId xmlns:a16="http://schemas.microsoft.com/office/drawing/2014/main" id="{10895380-1863-406D-9702-C421FF0FD9ED}"/>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Two genes overlapped and the corrected overlap test was not significant, BH 0.819.</a:t>
            </a:r>
          </a:p>
        </p:txBody>
      </p:sp>
      <p:sp>
        <p:nvSpPr>
          <p:cNvPr id="16" name="Rounded Rectangle 15">
            <a:extLst xmlns:a="http://schemas.openxmlformats.org/drawingml/2006/main">
              <a:ext uri="{FF2B5EF4-FFF2-40B4-BE49-F238E27FC236}">
                <a16:creationId xmlns:a16="http://schemas.microsoft.com/office/drawing/2014/main" id="{A98D7891-F31E-4753-96F8-2CFBC221DFB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C6F6C08-F66F-45E6-81F4-3E8EE9F6334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Describe this as a fine-cell female ε4 signal, not a broad-cell-wide effect.</a:t>
            </a:r>
          </a:p>
        </p:txBody>
      </p:sp>
      <p:sp>
        <p:nvSpPr>
          <p:cNvPr id="18" name="TextBox 17">
            <a:extLst xmlns:a="http://schemas.openxmlformats.org/drawingml/2006/main">
              <a:ext uri="{FF2B5EF4-FFF2-40B4-BE49-F238E27FC236}">
                <a16:creationId xmlns:a16="http://schemas.microsoft.com/office/drawing/2014/main" id="{B5785CCB-AF7F-40C0-99E9-5AC54E8BD2D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842948434"/>
      </p:ext>
    </p:extLst>
  </p:cSld>
</p:sld>
</file>

<file path=ppt/slides/slide6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8284EB6-DC66-4084-8B6F-64336FD34BA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most respiratory-complex instructions come from nuclear DNA</a:t>
            </a:r>
          </a:p>
        </p:txBody>
      </p:sp>
      <p:sp>
        <p:nvSpPr>
          <p:cNvPr id="3" name="TextBox 2">
            <a:extLst xmlns:a="http://schemas.openxmlformats.org/drawingml/2006/main">
              <a:ext uri="{FF2B5EF4-FFF2-40B4-BE49-F238E27FC236}">
                <a16:creationId xmlns:a16="http://schemas.microsoft.com/office/drawing/2014/main" id="{C466DD47-872F-4C62-8377-A4EF3A49870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nuclear-sided reduction could reflect lower respiratory investment, stress, or a shift in cell state.</a:t>
            </a:r>
          </a:p>
        </p:txBody>
      </p:sp>
      <p:sp>
        <p:nvSpPr>
          <p:cNvPr id="4" name="Rounded Rectangle 3">
            <a:extLst xmlns:a="http://schemas.openxmlformats.org/drawingml/2006/main">
              <a:ext uri="{FF2B5EF4-FFF2-40B4-BE49-F238E27FC236}">
                <a16:creationId xmlns:a16="http://schemas.microsoft.com/office/drawing/2014/main" id="{E3B1B35F-17E4-4DE0-AFDA-4B3ED47BAFA9}"/>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B4DC046-8AA5-4E91-887D-A98906E84090}"/>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RESPIRATORY MACHINERY</a:t>
            </a:r>
          </a:p>
        </p:txBody>
      </p:sp>
      <p:sp>
        <p:nvSpPr>
          <p:cNvPr id="6" name="TextBox 5">
            <a:extLst xmlns:a="http://schemas.openxmlformats.org/drawingml/2006/main">
              <a:ext uri="{FF2B5EF4-FFF2-40B4-BE49-F238E27FC236}">
                <a16:creationId xmlns:a16="http://schemas.microsoft.com/office/drawing/2014/main" id="{874D440F-894C-4273-9AB2-B5D3074AAAE7}"/>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Most subunits are nuclear-encoded</a:t>
            </a:r>
          </a:p>
        </p:txBody>
      </p:sp>
      <p:sp>
        <p:nvSpPr>
          <p:cNvPr id="7" name="TextBox 6">
            <a:extLst xmlns:a="http://schemas.openxmlformats.org/drawingml/2006/main">
              <a:ext uri="{FF2B5EF4-FFF2-40B4-BE49-F238E27FC236}">
                <a16:creationId xmlns:a16="http://schemas.microsoft.com/office/drawing/2014/main" id="{23E9BE30-1213-49F7-B09C-1418F354AE1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broad RNA decrease could affect the supply of respiratory-complex parts.</a:t>
            </a:r>
          </a:p>
        </p:txBody>
      </p:sp>
      <p:sp>
        <p:nvSpPr>
          <p:cNvPr id="8" name="Rounded Rectangle 7">
            <a:extLst xmlns:a="http://schemas.openxmlformats.org/drawingml/2006/main">
              <a:ext uri="{FF2B5EF4-FFF2-40B4-BE49-F238E27FC236}">
                <a16:creationId xmlns:a16="http://schemas.microsoft.com/office/drawing/2014/main" id="{04293C45-DC1A-40F9-8632-91036F829E49}"/>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E261050-2EAF-4BA5-AF33-03400EE963A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APOE CONTEXT</a:t>
            </a:r>
          </a:p>
        </p:txBody>
      </p:sp>
      <p:sp>
        <p:nvSpPr>
          <p:cNvPr id="10" name="TextBox 9">
            <a:extLst xmlns:a="http://schemas.openxmlformats.org/drawingml/2006/main">
              <a:ext uri="{FF2B5EF4-FFF2-40B4-BE49-F238E27FC236}">
                <a16:creationId xmlns:a16="http://schemas.microsoft.com/office/drawing/2014/main" id="{09FC0182-46A2-4020-8435-213138674BC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ε4 makes the hypothesis important</a:t>
            </a:r>
          </a:p>
        </p:txBody>
      </p:sp>
      <p:sp>
        <p:nvSpPr>
          <p:cNvPr id="11" name="TextBox 10">
            <a:extLst xmlns:a="http://schemas.openxmlformats.org/drawingml/2006/main">
              <a:ext uri="{FF2B5EF4-FFF2-40B4-BE49-F238E27FC236}">
                <a16:creationId xmlns:a16="http://schemas.microsoft.com/office/drawing/2014/main" id="{12D72163-D70F-4797-96D1-5442314CE3D3}"/>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ε4 strongly increases late-onset Alzheimer’s risk at the population level.</a:t>
            </a:r>
          </a:p>
        </p:txBody>
      </p:sp>
      <p:sp>
        <p:nvSpPr>
          <p:cNvPr id="12" name="Rounded Rectangle 11">
            <a:extLst xmlns:a="http://schemas.openxmlformats.org/drawingml/2006/main">
              <a:ext uri="{FF2B5EF4-FFF2-40B4-BE49-F238E27FC236}">
                <a16:creationId xmlns:a16="http://schemas.microsoft.com/office/drawing/2014/main" id="{A71F567C-33CB-4608-886E-DCC40B898C0C}"/>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F20F9C6-2CBB-4777-8A74-FE8BA83A8D8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RESOLUTION WARNING</a:t>
            </a:r>
          </a:p>
        </p:txBody>
      </p:sp>
      <p:sp>
        <p:nvSpPr>
          <p:cNvPr id="14" name="TextBox 13">
            <a:extLst xmlns:a="http://schemas.openxmlformats.org/drawingml/2006/main">
              <a:ext uri="{FF2B5EF4-FFF2-40B4-BE49-F238E27FC236}">
                <a16:creationId xmlns:a16="http://schemas.microsoft.com/office/drawing/2014/main" id="{7B508054-B88B-448D-9F25-D5D8DA0F08B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Broad-cell direction reverses</a:t>
            </a:r>
          </a:p>
        </p:txBody>
      </p:sp>
      <p:sp>
        <p:nvSpPr>
          <p:cNvPr id="15" name="TextBox 14">
            <a:extLst xmlns:a="http://schemas.openxmlformats.org/drawingml/2006/main">
              <a:ext uri="{FF2B5EF4-FFF2-40B4-BE49-F238E27FC236}">
                <a16:creationId xmlns:a16="http://schemas.microsoft.com/office/drawing/2014/main" id="{A7FF3F70-622D-4082-8EEA-32B4CF420D07}"/>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Subtype composition or other aggregation effects may influence the fine-cell pattern.</a:t>
            </a:r>
          </a:p>
        </p:txBody>
      </p:sp>
      <p:sp>
        <p:nvSpPr>
          <p:cNvPr id="16" name="Rounded Rectangle 15">
            <a:extLst xmlns:a="http://schemas.openxmlformats.org/drawingml/2006/main">
              <a:ext uri="{FF2B5EF4-FFF2-40B4-BE49-F238E27FC236}">
                <a16:creationId xmlns:a16="http://schemas.microsoft.com/office/drawing/2014/main" id="{8C891208-1195-4DBE-B866-2D4F14AC8FF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640AEFF-653E-4E88-BB8D-F975F5126A7F}"/>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E915A7F-791C-41A5-A90B-0BC6B338FEF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fine-cell signal warrants follow-up, but the broad-cell disagreement must stay visible.</a:t>
            </a:r>
          </a:p>
        </p:txBody>
      </p:sp>
      <p:sp>
        <p:nvSpPr>
          <p:cNvPr id="19" name="TextBox 18">
            <a:extLst xmlns:a="http://schemas.openxmlformats.org/drawingml/2006/main">
              <a:ext uri="{FF2B5EF4-FFF2-40B4-BE49-F238E27FC236}">
                <a16:creationId xmlns:a16="http://schemas.microsoft.com/office/drawing/2014/main" id="{0279031F-23C7-4529-BA45-8485067CB21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14857928"/>
      </p:ext>
    </p:extLst>
  </p:cSld>
</p:sld>
</file>

<file path=ppt/slides/slide7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6823FC-2A1C-4B34-B637-3CA89486647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4 does not prove, and the next evidence needed</a:t>
            </a:r>
          </a:p>
        </p:txBody>
      </p:sp>
      <p:sp>
        <p:nvSpPr>
          <p:cNvPr id="3" name="TextBox 2">
            <a:extLst xmlns:a="http://schemas.openxmlformats.org/drawingml/2006/main">
              <a:ext uri="{FF2B5EF4-FFF2-40B4-BE49-F238E27FC236}">
                <a16:creationId xmlns:a16="http://schemas.microsoft.com/office/drawing/2014/main" id="{416070F9-7630-4FC7-9721-D7AC838969B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E7C81AF3-0BF3-47C5-86AB-99E8D45F2C46}"/>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8000589-94A0-4BBD-B0BB-97BA6695299F}"/>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2651A58-9500-44C7-BB29-5B5DA526AC03}"/>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B29F2E91-F7A6-4C93-8595-D3FC62C2B0F7}"/>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0A57F30-9CCB-4FD1-941B-BA2297C6A0B7}"/>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Reduced respiration, ATP, or respiratory-complex abundance</a:t>
            </a:r>
          </a:p>
        </p:txBody>
      </p:sp>
      <p:sp>
        <p:nvSpPr>
          <p:cNvPr id="9" name="Oval 8">
            <a:extLst xmlns:a="http://schemas.openxmlformats.org/drawingml/2006/main">
              <a:ext uri="{FF2B5EF4-FFF2-40B4-BE49-F238E27FC236}">
                <a16:creationId xmlns:a16="http://schemas.microsoft.com/office/drawing/2014/main" id="{0E8C8D2D-A55D-43C2-AC79-671FD2E2B27C}"/>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3049DFD-3864-4C68-A9DD-0831D5BF7DFE}"/>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by ε4 causal interaction</a:t>
            </a:r>
          </a:p>
        </p:txBody>
      </p:sp>
      <p:sp>
        <p:nvSpPr>
          <p:cNvPr id="11" name="Oval 10">
            <a:extLst xmlns:a="http://schemas.openxmlformats.org/drawingml/2006/main">
              <a:ext uri="{FF2B5EF4-FFF2-40B4-BE49-F238E27FC236}">
                <a16:creationId xmlns:a16="http://schemas.microsoft.com/office/drawing/2014/main" id="{AA3EDFA5-591C-4259-80C5-0D786C72C25C}"/>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3E0EA0D-B2A0-40BB-9FD1-4B553E8D5B08}"/>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uniform decrease across all mitochondrial genes</a:t>
            </a:r>
          </a:p>
        </p:txBody>
      </p:sp>
      <p:sp>
        <p:nvSpPr>
          <p:cNvPr id="13" name="Rounded Rectangle 12">
            <a:extLst xmlns:a="http://schemas.openxmlformats.org/drawingml/2006/main">
              <a:ext uri="{FF2B5EF4-FFF2-40B4-BE49-F238E27FC236}">
                <a16:creationId xmlns:a16="http://schemas.microsoft.com/office/drawing/2014/main" id="{BB2DE5DF-0997-4572-9145-E2D4623D4459}"/>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F3B450FF-905F-4D82-8F6B-AAEF36FBEB1D}"/>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EAAA677-84B0-492A-9C88-2629897CF53C}"/>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AB41422-A94A-4F57-A7C6-B1A30A616E86}"/>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5D4EC82-F4F5-4D56-97E6-D833739B9911}"/>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Show every contributing broad and fine cell type</a:t>
            </a:r>
          </a:p>
        </p:txBody>
      </p:sp>
      <p:sp>
        <p:nvSpPr>
          <p:cNvPr id="18" name="Oval 17">
            <a:extLst xmlns:a="http://schemas.openxmlformats.org/drawingml/2006/main">
              <a:ext uri="{FF2B5EF4-FFF2-40B4-BE49-F238E27FC236}">
                <a16:creationId xmlns:a16="http://schemas.microsoft.com/office/drawing/2014/main" id="{7406DF8C-513B-449E-9C98-03517828E607}"/>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A13D49E9-628D-4287-8C11-4351373FD27A}"/>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donor-level disease by sex by ε4 interactions</a:t>
            </a:r>
          </a:p>
        </p:txBody>
      </p:sp>
      <p:sp>
        <p:nvSpPr>
          <p:cNvPr id="20" name="Oval 19">
            <a:extLst xmlns:a="http://schemas.openxmlformats.org/drawingml/2006/main">
              <a:ext uri="{FF2B5EF4-FFF2-40B4-BE49-F238E27FC236}">
                <a16:creationId xmlns:a16="http://schemas.microsoft.com/office/drawing/2014/main" id="{8EC3D292-D163-4C9A-B5A2-8D4EB2F6AAF9}"/>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9A7809D-027F-45D6-B784-7E73CA90CC0B}"/>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respiratory-complex proteins and function</a:t>
            </a:r>
          </a:p>
        </p:txBody>
      </p:sp>
      <p:sp>
        <p:nvSpPr>
          <p:cNvPr id="22" name="TextBox 21">
            <a:extLst xmlns:a="http://schemas.openxmlformats.org/drawingml/2006/main">
              <a:ext uri="{FF2B5EF4-FFF2-40B4-BE49-F238E27FC236}">
                <a16:creationId xmlns:a16="http://schemas.microsoft.com/office/drawing/2014/main" id="{A7A63688-1928-4DC4-B417-35037F029C7F}"/>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5DA10E22-915B-42C1-B33E-3A8093BA20B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1994551427"/>
      </p:ext>
    </p:extLst>
  </p:cSld>
</p:sld>
</file>

<file path=ppt/slides/slide7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8C40590-71AC-4C4D-A67D-0830EDF1B98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4</a:t>
            </a:r>
          </a:p>
        </p:txBody>
      </p:sp>
      <p:sp>
        <p:nvSpPr>
          <p:cNvPr id="3" name="TextBox 2">
            <a:extLst xmlns:a="http://schemas.openxmlformats.org/drawingml/2006/main">
              <a:ext uri="{FF2B5EF4-FFF2-40B4-BE49-F238E27FC236}">
                <a16:creationId xmlns:a16="http://schemas.microsoft.com/office/drawing/2014/main" id="{8B4123C0-53E7-4530-B8FD-83F2DC61A6A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CEFC189B-338C-4FB8-A899-371B4554D071}"/>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3FDB348-D11A-4E1D-B039-68758C28185B}"/>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Schmukler et al. 2020</a:t>
            </a:r>
          </a:p>
        </p:txBody>
      </p:sp>
      <p:sp>
        <p:nvSpPr>
          <p:cNvPr id="6" name="TextBox 5">
            <a:extLst xmlns:a="http://schemas.openxmlformats.org/drawingml/2006/main">
              <a:ext uri="{FF2B5EF4-FFF2-40B4-BE49-F238E27FC236}">
                <a16:creationId xmlns:a16="http://schemas.microsoft.com/office/drawing/2014/main" id="{0D4984E5-FAE7-40C9-AE61-3D566A1E0915}"/>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7" name="TextBox 6">
            <a:extLst xmlns:a="http://schemas.openxmlformats.org/drawingml/2006/main">
              <a:ext uri="{FF2B5EF4-FFF2-40B4-BE49-F238E27FC236}">
                <a16:creationId xmlns:a16="http://schemas.microsoft.com/office/drawing/2014/main" id="{D4FD2E75-1220-441B-926F-DEF7213E5B59}"/>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51666C0A-FAEC-4586-9035-29FCF9C2837C}"/>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Links APOE4 models to mitochondrial dynamics and mitophagy.</a:t>
            </a:r>
          </a:p>
        </p:txBody>
      </p:sp>
      <p:sp>
        <p:nvSpPr>
          <p:cNvPr id="9" name="TextBox 8">
            <a:extLst xmlns:a="http://schemas.openxmlformats.org/drawingml/2006/main">
              <a:ext uri="{FF2B5EF4-FFF2-40B4-BE49-F238E27FC236}">
                <a16:creationId xmlns:a16="http://schemas.microsoft.com/office/drawing/2014/main" id="{C20664A6-60FE-4657-B500-B5BF43697864}"/>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9254D0C-D77D-4368-8BB2-4B694D4B1E53}"/>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reproduce the nuclear-OXPHOS transcript pattern.</a:t>
            </a:r>
          </a:p>
        </p:txBody>
      </p:sp>
      <p:sp>
        <p:nvSpPr>
          <p:cNvPr id="11" name="Rounded Rectangle 10">
            <a:extLst xmlns:a="http://schemas.openxmlformats.org/drawingml/2006/main">
              <a:ext uri="{FF2B5EF4-FFF2-40B4-BE49-F238E27FC236}">
                <a16:creationId xmlns:a16="http://schemas.microsoft.com/office/drawing/2014/main" id="{FABCE98F-F22F-4B91-91E2-3E4F790D1F85}"/>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D38BFD6-1BE9-451D-8A76-029AD290F947}"/>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8033BCD3-113D-4007-BB72-3BDF025C0DF2}"/>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astrocytes</a:t>
            </a:r>
          </a:p>
        </p:txBody>
      </p:sp>
      <p:sp>
        <p:nvSpPr>
          <p:cNvPr id="14" name="TextBox 13">
            <a:extLst xmlns:a="http://schemas.openxmlformats.org/drawingml/2006/main">
              <a:ext uri="{FF2B5EF4-FFF2-40B4-BE49-F238E27FC236}">
                <a16:creationId xmlns:a16="http://schemas.microsoft.com/office/drawing/2014/main" id="{12949E16-F32A-477E-9432-0BF74E8C5FF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50FC22AC-8BBA-448A-BFCA-77D9E8A039B8}"/>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APOE4 state to impaired mitochondrial homeostasis.</a:t>
            </a:r>
          </a:p>
        </p:txBody>
      </p:sp>
      <p:sp>
        <p:nvSpPr>
          <p:cNvPr id="16" name="TextBox 15">
            <a:extLst xmlns:a="http://schemas.openxmlformats.org/drawingml/2006/main">
              <a:ext uri="{FF2B5EF4-FFF2-40B4-BE49-F238E27FC236}">
                <a16:creationId xmlns:a16="http://schemas.microsoft.com/office/drawing/2014/main" id="{63C44BE8-4AF6-40C1-A9AD-C10AC164F936}"/>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B54E93C2-E812-4EE6-8301-A43E5841C1F2}"/>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Different cell context and experimental design.</a:t>
            </a:r>
          </a:p>
        </p:txBody>
      </p:sp>
      <p:sp>
        <p:nvSpPr>
          <p:cNvPr id="18" name="Rounded Rectangle 17">
            <a:extLst xmlns:a="http://schemas.openxmlformats.org/drawingml/2006/main">
              <a:ext uri="{FF2B5EF4-FFF2-40B4-BE49-F238E27FC236}">
                <a16:creationId xmlns:a16="http://schemas.microsoft.com/office/drawing/2014/main" id="{92589BE4-7F80-4DA2-911C-363BA86ADA58}"/>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C661FB0-5058-43DE-B243-D0EF9CF4EF16}"/>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362A90CB-A637-445E-8B51-2350713A7075}"/>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Cell-resolved AD responses</a:t>
            </a:r>
          </a:p>
        </p:txBody>
      </p:sp>
      <p:sp>
        <p:nvSpPr>
          <p:cNvPr id="21" name="TextBox 20">
            <a:extLst xmlns:a="http://schemas.openxmlformats.org/drawingml/2006/main">
              <a:ext uri="{FF2B5EF4-FFF2-40B4-BE49-F238E27FC236}">
                <a16:creationId xmlns:a16="http://schemas.microsoft.com/office/drawing/2014/main" id="{597F2BA8-2007-4A85-8BC9-506143C0F9A4}"/>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CB6986F3-CF18-475A-94F9-C9A8F952B1EE}"/>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strong differences among brain cell states.</a:t>
            </a:r>
          </a:p>
        </p:txBody>
      </p:sp>
      <p:sp>
        <p:nvSpPr>
          <p:cNvPr id="23" name="TextBox 22">
            <a:extLst xmlns:a="http://schemas.openxmlformats.org/drawingml/2006/main">
              <a:ext uri="{FF2B5EF4-FFF2-40B4-BE49-F238E27FC236}">
                <a16:creationId xmlns:a16="http://schemas.microsoft.com/office/drawing/2014/main" id="{7F919ED5-2F8B-4B99-8353-035EAC9329C6}"/>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37C881AE-9707-4DF5-B032-CB8AD6F94FF0}"/>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and is not an independent replication.</a:t>
            </a:r>
          </a:p>
        </p:txBody>
      </p:sp>
      <p:sp>
        <p:nvSpPr>
          <p:cNvPr id="25" name="Rounded Rectangle 24">
            <a:extLst xmlns:a="http://schemas.openxmlformats.org/drawingml/2006/main">
              <a:ext uri="{FF2B5EF4-FFF2-40B4-BE49-F238E27FC236}">
                <a16:creationId xmlns:a16="http://schemas.microsoft.com/office/drawing/2014/main" id="{D22B9BBF-BCFD-4539-B9CA-7DDE989A13D7}"/>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BD11175-1C40-4C76-8D0F-A629CB55862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DFB25C7-8506-447F-9433-F4FF1B7A4F0B}"/>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4.</a:t>
            </a:r>
          </a:p>
        </p:txBody>
      </p:sp>
    </p:spTree>
    <p:extLst>
      <p:ext uri="{BB962C8B-B14F-4D97-AF65-F5344CB8AC3E}">
        <p14:creationId xmlns:p14="http://schemas.microsoft.com/office/powerpoint/2010/main" val="687861937"/>
      </p:ext>
    </p:extLst>
  </p:cSld>
</p:sld>
</file>

<file path=ppt/slides/slide7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EF2E26F-2CDF-4E65-8BA1-34F46AD706D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5</a:t>
            </a:r>
          </a:p>
        </p:txBody>
      </p:sp>
      <p:sp>
        <p:nvSpPr>
          <p:cNvPr id="3" name="Rectangle 2">
            <a:extLst xmlns:a="http://schemas.openxmlformats.org/drawingml/2006/main">
              <a:ext uri="{FF2B5EF4-FFF2-40B4-BE49-F238E27FC236}">
                <a16:creationId xmlns:a16="http://schemas.microsoft.com/office/drawing/2014/main" id="{679FEE76-9C69-4E79-9D0E-33754FA43E2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AA141759-D659-44D6-8951-9C9972B5510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ε2 cells show broad decreases across both OXPHOS genomes</a:t>
            </a:r>
          </a:p>
        </p:txBody>
      </p:sp>
      <p:sp>
        <p:nvSpPr>
          <p:cNvPr id="5" name="TextBox 4">
            <a:extLst xmlns:a="http://schemas.openxmlformats.org/drawingml/2006/main">
              <a:ext uri="{FF2B5EF4-FFF2-40B4-BE49-F238E27FC236}">
                <a16:creationId xmlns:a16="http://schemas.microsoft.com/office/drawing/2014/main" id="{444133BC-3F24-48B3-8674-96DDA42DC308}"/>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7D622FD7-0151-4AF9-A487-7DE2060478D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58018-9D15-438B-8510-E212F9931423}"/>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32E41CE8-CDFA-44D4-A17F-1D85D2DF329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F14DF69-6E24-4830-A88A-57EB39EAA40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88A9BC0-42FC-41E9-8C8D-8862108F070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86A3D6A-050D-454B-A2A4-F432AE04DA3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1E439F-F7F3-4C2D-9AED-A1B048E90A44}"/>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2023D3E-15BB-4049-A8AD-079F974409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B5C00B5F-F220-4649-BE0A-E55B74FD74DA}"/>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D486C808-47D2-42CB-AACF-203A868DF3F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CEEC43C-DBFF-4642-9E0A-F21A82A46B5C}"/>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8A202477-1FEE-4A36-810D-A2539DCF225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D363E3D9-9544-4D85-BFEB-2823E795F07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10748D0A-7A11-478D-861B-3D0939C13BAA}"/>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184BAA67-2B8F-485F-9374-B6D5A8BAC42F}"/>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09FD795-F30A-4125-BD47-A454AEFBD2C8}"/>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Both mtDNA and nuclear OXPHOS RNA are broadly lower, but query size strongly affects KDA yield.</a:t>
            </a:r>
          </a:p>
        </p:txBody>
      </p:sp>
    </p:spTree>
    <p:extLst>
      <p:ext uri="{BB962C8B-B14F-4D97-AF65-F5344CB8AC3E}">
        <p14:creationId xmlns:p14="http://schemas.microsoft.com/office/powerpoint/2010/main" val="683266284"/>
      </p:ext>
    </p:extLst>
  </p:cSld>
</p:sld>
</file>

<file path=ppt/slides/slide7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C286BED-F564-486A-BCC8-11405F5499E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cells lower both mitochondrial and nuclear OXPHOS RNA in AD</a:t>
            </a:r>
          </a:p>
        </p:txBody>
      </p:sp>
      <p:sp>
        <p:nvSpPr>
          <p:cNvPr id="3" name="TextBox 2">
            <a:extLst xmlns:a="http://schemas.openxmlformats.org/drawingml/2006/main">
              <a:ext uri="{FF2B5EF4-FFF2-40B4-BE49-F238E27FC236}">
                <a16:creationId xmlns:a16="http://schemas.microsoft.com/office/drawing/2014/main" id="{3D2C08D8-D9F5-4F06-B850-B7758BAABFF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This is the strongest coordinated downward OXPHOS pattern in ROSMAP.</a:t>
            </a:r>
          </a:p>
        </p:txBody>
      </p:sp>
      <p:sp>
        <p:nvSpPr>
          <p:cNvPr id="4" name="Rounded Rectangle 3">
            <a:extLst xmlns:a="http://schemas.openxmlformats.org/drawingml/2006/main">
              <a:ext uri="{FF2B5EF4-FFF2-40B4-BE49-F238E27FC236}">
                <a16:creationId xmlns:a16="http://schemas.microsoft.com/office/drawing/2014/main" id="{AF633511-2899-4B97-9AB6-D15EDC6E6558}"/>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44AC28-46AD-4350-B6AE-F9533B31B94F}"/>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E0A46577-F0BD-402F-8EC0-3EA55F4145E5}"/>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9CC54C5A-2B30-48CC-AA93-BD5183BD696A}"/>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ε2</a:t>
            </a:r>
          </a:p>
        </p:txBody>
      </p:sp>
      <p:sp>
        <p:nvSpPr>
          <p:cNvPr id="8" name="Rounded Rectangle 7">
            <a:extLst xmlns:a="http://schemas.openxmlformats.org/drawingml/2006/main">
              <a:ext uri="{FF2B5EF4-FFF2-40B4-BE49-F238E27FC236}">
                <a16:creationId xmlns:a16="http://schemas.microsoft.com/office/drawing/2014/main" id="{50151338-65D5-4E79-A86F-F25D1C48D69A}"/>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C526B50-273F-448E-82DE-6DA8ECEE9FC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Both genomes down</a:t>
            </a:r>
          </a:p>
        </p:txBody>
      </p:sp>
      <p:sp>
        <p:nvSpPr>
          <p:cNvPr id="10" name="Rounded Rectangle 9">
            <a:extLst xmlns:a="http://schemas.openxmlformats.org/drawingml/2006/main">
              <a:ext uri="{FF2B5EF4-FFF2-40B4-BE49-F238E27FC236}">
                <a16:creationId xmlns:a16="http://schemas.microsoft.com/office/drawing/2014/main" id="{0B34286A-226C-482A-A665-5A8CD6EC5CFC}"/>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90E08D2-330A-472E-8033-832F01D56BAE}"/>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Large queries</a:t>
            </a:r>
          </a:p>
        </p:txBody>
      </p:sp>
      <p:sp>
        <p:nvSpPr>
          <p:cNvPr id="12" name="Rounded Rectangle 11">
            <a:extLst xmlns:a="http://schemas.openxmlformats.org/drawingml/2006/main">
              <a:ext uri="{FF2B5EF4-FFF2-40B4-BE49-F238E27FC236}">
                <a16:creationId xmlns:a16="http://schemas.microsoft.com/office/drawing/2014/main" id="{54262262-A93C-4CDF-AB68-A8E1F318B890}"/>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73E70AAA-A0B8-4007-BA8D-B263820634C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MTDNA OXPHOS</a:t>
            </a:r>
          </a:p>
        </p:txBody>
      </p:sp>
      <p:sp>
        <p:nvSpPr>
          <p:cNvPr id="14" name="TextBox 13">
            <a:extLst xmlns:a="http://schemas.openxmlformats.org/drawingml/2006/main">
              <a:ext uri="{FF2B5EF4-FFF2-40B4-BE49-F238E27FC236}">
                <a16:creationId xmlns:a16="http://schemas.microsoft.com/office/drawing/2014/main" id="{8076B748-9DA2-4800-A2FF-5A4ED6F02FBF}"/>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119 of 132 down</a:t>
            </a:r>
          </a:p>
        </p:txBody>
      </p:sp>
      <p:sp>
        <p:nvSpPr>
          <p:cNvPr id="15" name="TextBox 14">
            <a:extLst xmlns:a="http://schemas.openxmlformats.org/drawingml/2006/main">
              <a:ext uri="{FF2B5EF4-FFF2-40B4-BE49-F238E27FC236}">
                <a16:creationId xmlns:a16="http://schemas.microsoft.com/office/drawing/2014/main" id="{38BFA3FB-E15C-416C-9B94-C74F2F0ADFCD}"/>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About 90% of mitochondrial-genome OXPHOS occurrences were lower in AD.</a:t>
            </a:r>
          </a:p>
        </p:txBody>
      </p:sp>
      <p:sp>
        <p:nvSpPr>
          <p:cNvPr id="16" name="Rounded Rectangle 15">
            <a:extLst xmlns:a="http://schemas.openxmlformats.org/drawingml/2006/main">
              <a:ext uri="{FF2B5EF4-FFF2-40B4-BE49-F238E27FC236}">
                <a16:creationId xmlns:a16="http://schemas.microsoft.com/office/drawing/2014/main" id="{27F1F4AA-18FD-4180-9D37-EEB5D5304B4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94082EB-264B-4B5A-8297-C444A4D08140}"/>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 OXPHOS</a:t>
            </a:r>
          </a:p>
        </p:txBody>
      </p:sp>
      <p:sp>
        <p:nvSpPr>
          <p:cNvPr id="18" name="TextBox 17">
            <a:extLst xmlns:a="http://schemas.openxmlformats.org/drawingml/2006/main">
              <a:ext uri="{FF2B5EF4-FFF2-40B4-BE49-F238E27FC236}">
                <a16:creationId xmlns:a16="http://schemas.microsoft.com/office/drawing/2014/main" id="{118FE9BB-5E81-4FCC-B356-42F37286EB45}"/>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404 of 467 down</a:t>
            </a:r>
          </a:p>
        </p:txBody>
      </p:sp>
      <p:sp>
        <p:nvSpPr>
          <p:cNvPr id="19" name="TextBox 18">
            <a:extLst xmlns:a="http://schemas.openxmlformats.org/drawingml/2006/main">
              <a:ext uri="{FF2B5EF4-FFF2-40B4-BE49-F238E27FC236}">
                <a16:creationId xmlns:a16="http://schemas.microsoft.com/office/drawing/2014/main" id="{294A6B3A-48A7-41A4-9C9F-DD509BA8951E}"/>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About 87% of nuclear structural OXPHOS occurrences were lower in AD.</a:t>
            </a:r>
          </a:p>
        </p:txBody>
      </p:sp>
      <p:sp>
        <p:nvSpPr>
          <p:cNvPr id="20" name="Rounded Rectangle 19">
            <a:extLst xmlns:a="http://schemas.openxmlformats.org/drawingml/2006/main">
              <a:ext uri="{FF2B5EF4-FFF2-40B4-BE49-F238E27FC236}">
                <a16:creationId xmlns:a16="http://schemas.microsoft.com/office/drawing/2014/main" id="{58AA7E7F-69E0-4505-8E3C-62A2BB94F23D}"/>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5ADE7F7-B4AE-44FC-847A-765D98C65B77}"/>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KEY DISTINCTION</a:t>
            </a:r>
          </a:p>
        </p:txBody>
      </p:sp>
      <p:sp>
        <p:nvSpPr>
          <p:cNvPr id="22" name="TextBox 21">
            <a:extLst xmlns:a="http://schemas.openxmlformats.org/drawingml/2006/main">
              <a:ext uri="{FF2B5EF4-FFF2-40B4-BE49-F238E27FC236}">
                <a16:creationId xmlns:a16="http://schemas.microsoft.com/office/drawing/2014/main" id="{E6CD5148-E748-4F6A-B1D0-98451BF00C5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Coordinated decrease</a:t>
            </a:r>
          </a:p>
        </p:txBody>
      </p:sp>
      <p:sp>
        <p:nvSpPr>
          <p:cNvPr id="23" name="TextBox 22">
            <a:extLst xmlns:a="http://schemas.openxmlformats.org/drawingml/2006/main">
              <a:ext uri="{FF2B5EF4-FFF2-40B4-BE49-F238E27FC236}">
                <a16:creationId xmlns:a16="http://schemas.microsoft.com/office/drawing/2014/main" id="{414D44C9-D8CE-4D80-B982-C37B9274C8CE}"/>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genomes move downward, unlike a mitonuclear mismatch.</a:t>
            </a:r>
          </a:p>
        </p:txBody>
      </p:sp>
      <p:sp>
        <p:nvSpPr>
          <p:cNvPr id="24" name="Rounded Rectangle 23">
            <a:extLst xmlns:a="http://schemas.openxmlformats.org/drawingml/2006/main">
              <a:ext uri="{FF2B5EF4-FFF2-40B4-BE49-F238E27FC236}">
                <a16:creationId xmlns:a16="http://schemas.microsoft.com/office/drawing/2014/main" id="{35B557CF-AC23-44D3-8493-322B013D4621}"/>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DA97776B-399C-4369-BD4F-5FAE65064E55}"/>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An ε2 allele can be protective at the population level while diseased tissue still shows an unfavorable-looking RNA pattern.</a:t>
            </a:r>
          </a:p>
        </p:txBody>
      </p:sp>
      <p:sp>
        <p:nvSpPr>
          <p:cNvPr id="26" name="TextBox 25">
            <a:extLst xmlns:a="http://schemas.openxmlformats.org/drawingml/2006/main">
              <a:ext uri="{FF2B5EF4-FFF2-40B4-BE49-F238E27FC236}">
                <a16:creationId xmlns:a16="http://schemas.microsoft.com/office/drawing/2014/main" id="{34CA73A5-AC52-41FB-BDBD-3BFBE93E307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453965622"/>
      </p:ext>
    </p:extLst>
  </p:cSld>
</p:sld>
</file>

<file path=ppt/slides/slide7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BD277D-7431-4A7A-A1C7-72AF1F26B21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male ε2 has the broadest downward OXPHOS burden</a:t>
            </a:r>
          </a:p>
        </p:txBody>
      </p:sp>
      <p:sp>
        <p:nvSpPr>
          <p:cNvPr id="3" name="TextBox 2">
            <a:extLst xmlns:a="http://schemas.openxmlformats.org/drawingml/2006/main">
              <a:ext uri="{FF2B5EF4-FFF2-40B4-BE49-F238E27FC236}">
                <a16:creationId xmlns:a16="http://schemas.microsoft.com/office/drawing/2014/main" id="{90923344-F35D-4EFF-A0E6-1084F7A5BE5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Fine-cell pathway results and direct broad-cell sensitivity point mainly downward.</a:t>
            </a:r>
          </a:p>
        </p:txBody>
      </p:sp>
      <p:sp>
        <p:nvSpPr>
          <p:cNvPr id="4" name="Rounded Rectangle 3">
            <a:extLst xmlns:a="http://schemas.openxmlformats.org/drawingml/2006/main">
              <a:ext uri="{FF2B5EF4-FFF2-40B4-BE49-F238E27FC236}">
                <a16:creationId xmlns:a16="http://schemas.microsoft.com/office/drawing/2014/main" id="{815A4D51-038B-4DB5-BB9D-C51DE16B673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624508B-2051-4B1C-8CFD-BB759936A4B0}"/>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132</a:t>
            </a:r>
          </a:p>
        </p:txBody>
      </p:sp>
      <p:sp>
        <p:nvSpPr>
          <p:cNvPr id="6" name="TextBox 5">
            <a:extLst xmlns:a="http://schemas.openxmlformats.org/drawingml/2006/main">
              <a:ext uri="{FF2B5EF4-FFF2-40B4-BE49-F238E27FC236}">
                <a16:creationId xmlns:a16="http://schemas.microsoft.com/office/drawing/2014/main" id="{8CF85EEA-A167-43C8-AFCD-1D6C6354386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xmlns:a="http://schemas.openxmlformats.org/drawingml/2006/main">
              <a:ext uri="{FF2B5EF4-FFF2-40B4-BE49-F238E27FC236}">
                <a16:creationId xmlns:a16="http://schemas.microsoft.com/office/drawing/2014/main" id="{E9B93EE7-DD66-498F-A3CB-2420119AF29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13 up, 119 down</a:t>
            </a:r>
          </a:p>
        </p:txBody>
      </p:sp>
      <p:sp>
        <p:nvSpPr>
          <p:cNvPr id="8" name="Rounded Rectangle 7">
            <a:extLst xmlns:a="http://schemas.openxmlformats.org/drawingml/2006/main">
              <a:ext uri="{FF2B5EF4-FFF2-40B4-BE49-F238E27FC236}">
                <a16:creationId xmlns:a16="http://schemas.microsoft.com/office/drawing/2014/main" id="{67A0F397-F140-4D64-B92B-A6E3A29C0C8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FD5BF0-813B-49E9-A0B0-0F89CDDD3B97}"/>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467</a:t>
            </a:r>
          </a:p>
        </p:txBody>
      </p:sp>
      <p:sp>
        <p:nvSpPr>
          <p:cNvPr id="10" name="TextBox 9">
            <a:extLst xmlns:a="http://schemas.openxmlformats.org/drawingml/2006/main">
              <a:ext uri="{FF2B5EF4-FFF2-40B4-BE49-F238E27FC236}">
                <a16:creationId xmlns:a16="http://schemas.microsoft.com/office/drawing/2014/main" id="{ED6BE81B-2B7A-40DB-904F-8CC485792EC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xmlns:a="http://schemas.openxmlformats.org/drawingml/2006/main">
              <a:ext uri="{FF2B5EF4-FFF2-40B4-BE49-F238E27FC236}">
                <a16:creationId xmlns:a16="http://schemas.microsoft.com/office/drawing/2014/main" id="{3D970A38-BB5D-47A0-B7C7-04DD293709E6}"/>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63 up, 404 down</a:t>
            </a:r>
          </a:p>
        </p:txBody>
      </p:sp>
      <p:sp>
        <p:nvSpPr>
          <p:cNvPr id="12" name="Rounded Rectangle 11">
            <a:extLst xmlns:a="http://schemas.openxmlformats.org/drawingml/2006/main">
              <a:ext uri="{FF2B5EF4-FFF2-40B4-BE49-F238E27FC236}">
                <a16:creationId xmlns:a16="http://schemas.microsoft.com/office/drawing/2014/main" id="{6496313E-1382-41C2-BA3E-34797C7311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73DE1FB-C935-4CE6-AEFC-33DD5D47F466}"/>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29</a:t>
            </a:r>
          </a:p>
        </p:txBody>
      </p:sp>
      <p:sp>
        <p:nvSpPr>
          <p:cNvPr id="14" name="TextBox 13">
            <a:extLst xmlns:a="http://schemas.openxmlformats.org/drawingml/2006/main">
              <a:ext uri="{FF2B5EF4-FFF2-40B4-BE49-F238E27FC236}">
                <a16:creationId xmlns:a16="http://schemas.microsoft.com/office/drawing/2014/main" id="{CF18A02B-0A7A-418F-A578-702C906E2E90}"/>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fine-cell enrichments</a:t>
            </a:r>
          </a:p>
        </p:txBody>
      </p:sp>
      <p:sp>
        <p:nvSpPr>
          <p:cNvPr id="15" name="TextBox 14">
            <a:extLst xmlns:a="http://schemas.openxmlformats.org/drawingml/2006/main">
              <a:ext uri="{FF2B5EF4-FFF2-40B4-BE49-F238E27FC236}">
                <a16:creationId xmlns:a16="http://schemas.microsoft.com/office/drawing/2014/main" id="{768B58E6-3DE9-4A64-ADE5-DAE50470903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12 mtDNA, 17 nuclear</a:t>
            </a:r>
          </a:p>
        </p:txBody>
      </p:sp>
      <p:sp>
        <p:nvSpPr>
          <p:cNvPr id="16" name="Rounded Rectangle 15">
            <a:extLst xmlns:a="http://schemas.openxmlformats.org/drawingml/2006/main">
              <a:ext uri="{FF2B5EF4-FFF2-40B4-BE49-F238E27FC236}">
                <a16:creationId xmlns:a16="http://schemas.microsoft.com/office/drawing/2014/main" id="{E5A95870-C1EA-4EB8-9CF4-5203996357A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4573671-11D6-4F8E-B1D0-41F33E45DE3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8CD198EE-16C1-4164-9FD9-20D0FAB36B4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90% down</a:t>
            </a:r>
          </a:p>
        </p:txBody>
      </p:sp>
      <p:sp>
        <p:nvSpPr>
          <p:cNvPr id="19" name="TextBox 18">
            <a:extLst xmlns:a="http://schemas.openxmlformats.org/drawingml/2006/main">
              <a:ext uri="{FF2B5EF4-FFF2-40B4-BE49-F238E27FC236}">
                <a16:creationId xmlns:a16="http://schemas.microsoft.com/office/drawing/2014/main" id="{A5C5029B-3122-4C07-94E1-F116864314BE}"/>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Thirteen eligible calls showed significant enrichment</a:t>
            </a:r>
          </a:p>
        </p:txBody>
      </p:sp>
      <p:sp>
        <p:nvSpPr>
          <p:cNvPr id="20" name="Rounded Rectangle 19">
            <a:extLst xmlns:a="http://schemas.openxmlformats.org/drawingml/2006/main">
              <a:ext uri="{FF2B5EF4-FFF2-40B4-BE49-F238E27FC236}">
                <a16:creationId xmlns:a16="http://schemas.microsoft.com/office/drawing/2014/main" id="{71D52A82-59E2-4945-8028-CA41F6C9A11E}"/>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947D7A2-4F91-4259-82A1-BB0EA1CBB01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xmlns:a="http://schemas.openxmlformats.org/drawingml/2006/main">
              <a:ext uri="{FF2B5EF4-FFF2-40B4-BE49-F238E27FC236}">
                <a16:creationId xmlns:a16="http://schemas.microsoft.com/office/drawing/2014/main" id="{A11BD4C5-04ED-4483-9A6B-20C61A55CD8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87% down</a:t>
            </a:r>
          </a:p>
        </p:txBody>
      </p:sp>
      <p:sp>
        <p:nvSpPr>
          <p:cNvPr id="23" name="TextBox 22">
            <a:extLst xmlns:a="http://schemas.openxmlformats.org/drawingml/2006/main">
              <a:ext uri="{FF2B5EF4-FFF2-40B4-BE49-F238E27FC236}">
                <a16:creationId xmlns:a16="http://schemas.microsoft.com/office/drawing/2014/main" id="{92AD0BB7-7863-4F61-9BD7-B2D2ED0A88E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Ten eligible calls showed significant enrichment</a:t>
            </a:r>
          </a:p>
        </p:txBody>
      </p:sp>
      <p:sp>
        <p:nvSpPr>
          <p:cNvPr id="24" name="Rounded Rectangle 23">
            <a:extLst xmlns:a="http://schemas.openxmlformats.org/drawingml/2006/main">
              <a:ext uri="{FF2B5EF4-FFF2-40B4-BE49-F238E27FC236}">
                <a16:creationId xmlns:a16="http://schemas.microsoft.com/office/drawing/2014/main" id="{A93000DB-86CF-4280-A9AF-87FD1D9D7947}"/>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41DBCA1F-5166-40A9-9CAB-5643CEBFD24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Excitatory fine types</a:t>
            </a:r>
          </a:p>
        </p:txBody>
      </p:sp>
      <p:sp>
        <p:nvSpPr>
          <p:cNvPr id="26" name="TextBox 25">
            <a:extLst xmlns:a="http://schemas.openxmlformats.org/drawingml/2006/main">
              <a:ext uri="{FF2B5EF4-FFF2-40B4-BE49-F238E27FC236}">
                <a16:creationId xmlns:a16="http://schemas.microsoft.com/office/drawing/2014/main" id="{2262FB5A-6F52-47C7-A4ED-CE564717D57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4/14 and 7/14</a:t>
            </a:r>
          </a:p>
        </p:txBody>
      </p:sp>
      <p:sp>
        <p:nvSpPr>
          <p:cNvPr id="27" name="TextBox 26">
            <a:extLst xmlns:a="http://schemas.openxmlformats.org/drawingml/2006/main">
              <a:ext uri="{FF2B5EF4-FFF2-40B4-BE49-F238E27FC236}">
                <a16:creationId xmlns:a16="http://schemas.microsoft.com/office/drawing/2014/main" id="{B8F6995F-6CE2-4495-A815-7B8D5120FB1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mtDNA-down and nuclear-OXPHOS-down enrichment, respectively</a:t>
            </a:r>
          </a:p>
        </p:txBody>
      </p:sp>
      <p:sp>
        <p:nvSpPr>
          <p:cNvPr id="28" name="TextBox 27">
            <a:extLst xmlns:a="http://schemas.openxmlformats.org/drawingml/2006/main">
              <a:ext uri="{FF2B5EF4-FFF2-40B4-BE49-F238E27FC236}">
                <a16:creationId xmlns:a16="http://schemas.microsoft.com/office/drawing/2014/main" id="{5E8EA963-ED6A-478E-99AF-96AD4AB623C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552304605"/>
      </p:ext>
    </p:extLst>
  </p:cSld>
</p:sld>
</file>

<file path=ppt/slides/slide7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6A0A466-65B9-4B02-9FC4-4A0CF223C3C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ε2 has unusually large mitochondrial queries</a:t>
            </a:r>
          </a:p>
        </p:txBody>
      </p:sp>
      <p:sp>
        <p:nvSpPr>
          <p:cNvPr id="3" name="TextBox 2">
            <a:extLst xmlns:a="http://schemas.openxmlformats.org/drawingml/2006/main">
              <a:ext uri="{FF2B5EF4-FFF2-40B4-BE49-F238E27FC236}">
                <a16:creationId xmlns:a16="http://schemas.microsoft.com/office/drawing/2014/main" id="{678755B5-2808-464C-BE3F-F32B109D9C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Query size can increase the number of network neighborhoods reached and drivers returned.</a:t>
            </a:r>
          </a:p>
        </p:txBody>
      </p:sp>
      <p:sp>
        <p:nvSpPr>
          <p:cNvPr id="4" name="Rounded Rectangle 3">
            <a:extLst xmlns:a="http://schemas.openxmlformats.org/drawingml/2006/main">
              <a:ext uri="{FF2B5EF4-FFF2-40B4-BE49-F238E27FC236}">
                <a16:creationId xmlns:a16="http://schemas.microsoft.com/office/drawing/2014/main" id="{BDCABD88-CDF9-4096-9BD8-9FD4BD2BD3B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9C8BCB1-D1DE-4C49-93A0-C071B997ADB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 MEDIAN</a:t>
            </a:r>
          </a:p>
        </p:txBody>
      </p:sp>
      <p:sp>
        <p:nvSpPr>
          <p:cNvPr id="6" name="TextBox 5">
            <a:extLst xmlns:a="http://schemas.openxmlformats.org/drawingml/2006/main">
              <a:ext uri="{FF2B5EF4-FFF2-40B4-BE49-F238E27FC236}">
                <a16:creationId xmlns:a16="http://schemas.microsoft.com/office/drawing/2014/main" id="{4625E702-DCA4-444B-B0B0-7901133E832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85 query genes</a:t>
            </a:r>
          </a:p>
        </p:txBody>
      </p:sp>
      <p:sp>
        <p:nvSpPr>
          <p:cNvPr id="7" name="TextBox 6">
            <a:extLst xmlns:a="http://schemas.openxmlformats.org/drawingml/2006/main">
              <a:ext uri="{FF2B5EF4-FFF2-40B4-BE49-F238E27FC236}">
                <a16:creationId xmlns:a16="http://schemas.microsoft.com/office/drawing/2014/main" id="{D8DB4B45-4487-4D5E-9743-9C36A6B0B6CE}"/>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median eligible query was more than five times the overall median.</a:t>
            </a:r>
          </a:p>
        </p:txBody>
      </p:sp>
      <p:sp>
        <p:nvSpPr>
          <p:cNvPr id="8" name="Rounded Rectangle 7">
            <a:extLst xmlns:a="http://schemas.openxmlformats.org/drawingml/2006/main">
              <a:ext uri="{FF2B5EF4-FFF2-40B4-BE49-F238E27FC236}">
                <a16:creationId xmlns:a16="http://schemas.microsoft.com/office/drawing/2014/main" id="{D2DEE9FA-A444-440D-B9EC-4568849FCED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5E2B186-5E0C-47B5-8F7B-C775F6D95A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ALL ELIGIBLE CALLS</a:t>
            </a:r>
          </a:p>
        </p:txBody>
      </p:sp>
      <p:sp>
        <p:nvSpPr>
          <p:cNvPr id="10" name="TextBox 9">
            <a:extLst xmlns:a="http://schemas.openxmlformats.org/drawingml/2006/main">
              <a:ext uri="{FF2B5EF4-FFF2-40B4-BE49-F238E27FC236}">
                <a16:creationId xmlns:a16="http://schemas.microsoft.com/office/drawing/2014/main" id="{E927D0C2-C1BB-44DE-94D7-B63E61AAD4D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16.5 query genes</a:t>
            </a:r>
          </a:p>
        </p:txBody>
      </p:sp>
      <p:sp>
        <p:nvSpPr>
          <p:cNvPr id="11" name="TextBox 10">
            <a:extLst xmlns:a="http://schemas.openxmlformats.org/drawingml/2006/main">
              <a:ext uri="{FF2B5EF4-FFF2-40B4-BE49-F238E27FC236}">
                <a16:creationId xmlns:a16="http://schemas.microsoft.com/office/drawing/2014/main" id="{7B2BB62E-46AF-4ACF-B00A-E6BF7669316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overall median shows how unusual the male ε2 query size was.</a:t>
            </a:r>
          </a:p>
        </p:txBody>
      </p:sp>
      <p:sp>
        <p:nvSpPr>
          <p:cNvPr id="12" name="Rounded Rectangle 11">
            <a:extLst xmlns:a="http://schemas.openxmlformats.org/drawingml/2006/main">
              <a:ext uri="{FF2B5EF4-FFF2-40B4-BE49-F238E27FC236}">
                <a16:creationId xmlns:a16="http://schemas.microsoft.com/office/drawing/2014/main" id="{65F6F61B-5B86-4ED5-B8F5-5A13FAEC2D3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0B7689-4FA7-48F5-9F40-9D61578285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D7A8BAE3-2CF9-4C3A-8F56-DE08415FB22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C90626B7-0775-4368-BF4A-E28B97D6014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matching male ε2 category was active, so SEA-AD adds no evidence in either direction.</a:t>
            </a:r>
          </a:p>
        </p:txBody>
      </p:sp>
      <p:sp>
        <p:nvSpPr>
          <p:cNvPr id="16" name="Rounded Rectangle 15">
            <a:extLst xmlns:a="http://schemas.openxmlformats.org/drawingml/2006/main">
              <a:ext uri="{FF2B5EF4-FFF2-40B4-BE49-F238E27FC236}">
                <a16:creationId xmlns:a16="http://schemas.microsoft.com/office/drawing/2014/main" id="{05306AF1-7D7C-4CF2-B3B2-D39FE71A3E60}"/>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24E6BE-8240-49F9-A3F0-81F96F86B21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Large queries confound KDA driver counts, although they do not automatically erase the DEG direction pattern.</a:t>
            </a:r>
          </a:p>
        </p:txBody>
      </p:sp>
      <p:sp>
        <p:nvSpPr>
          <p:cNvPr id="18" name="TextBox 17">
            <a:extLst xmlns:a="http://schemas.openxmlformats.org/drawingml/2006/main">
              <a:ext uri="{FF2B5EF4-FFF2-40B4-BE49-F238E27FC236}">
                <a16:creationId xmlns:a16="http://schemas.microsoft.com/office/drawing/2014/main" id="{262E450D-1633-4695-83AC-C6019F34920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2045540987"/>
      </p:ext>
    </p:extLst>
  </p:cSld>
</p:sld>
</file>

<file path=ppt/slides/slide7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1EA402-C5A0-4E1B-B43F-EED1CD22F6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molecular direction does not directly equal inherited risk</a:t>
            </a:r>
          </a:p>
        </p:txBody>
      </p:sp>
      <p:sp>
        <p:nvSpPr>
          <p:cNvPr id="3" name="TextBox 2">
            <a:extLst xmlns:a="http://schemas.openxmlformats.org/drawingml/2006/main">
              <a:ext uri="{FF2B5EF4-FFF2-40B4-BE49-F238E27FC236}">
                <a16:creationId xmlns:a16="http://schemas.microsoft.com/office/drawing/2014/main" id="{067D81D1-DE61-49CF-B923-71CE71FBCB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downward program could reflect respiratory reduction, altered cell state, or selective survival.</a:t>
            </a:r>
          </a:p>
        </p:txBody>
      </p:sp>
      <p:sp>
        <p:nvSpPr>
          <p:cNvPr id="4" name="Rounded Rectangle 3">
            <a:extLst xmlns:a="http://schemas.openxmlformats.org/drawingml/2006/main">
              <a:ext uri="{FF2B5EF4-FFF2-40B4-BE49-F238E27FC236}">
                <a16:creationId xmlns:a16="http://schemas.microsoft.com/office/drawing/2014/main" id="{011FB5E7-B20B-4700-B4B3-EC4194685D75}"/>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6C5AD6E-D080-4D27-AFE6-E57173C9CCD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POPULATION GENETICS</a:t>
            </a:r>
          </a:p>
        </p:txBody>
      </p:sp>
      <p:sp>
        <p:nvSpPr>
          <p:cNvPr id="6" name="TextBox 5">
            <a:extLst xmlns:a="http://schemas.openxmlformats.org/drawingml/2006/main">
              <a:ext uri="{FF2B5EF4-FFF2-40B4-BE49-F238E27FC236}">
                <a16:creationId xmlns:a16="http://schemas.microsoft.com/office/drawing/2014/main" id="{9DCBD8C7-6EF5-4D51-A91D-4C2BE9AFFAE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ε2 lowers average AD risk</a:t>
            </a:r>
          </a:p>
        </p:txBody>
      </p:sp>
      <p:sp>
        <p:nvSpPr>
          <p:cNvPr id="7" name="TextBox 6">
            <a:extLst xmlns:a="http://schemas.openxmlformats.org/drawingml/2006/main">
              <a:ext uri="{FF2B5EF4-FFF2-40B4-BE49-F238E27FC236}">
                <a16:creationId xmlns:a16="http://schemas.microsoft.com/office/drawing/2014/main" id="{881A60AA-37D5-4EAD-AA8D-B931443EB1C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Risk protection does not predict every molecular state after disease develops.</a:t>
            </a:r>
          </a:p>
        </p:txBody>
      </p:sp>
      <p:sp>
        <p:nvSpPr>
          <p:cNvPr id="8" name="Rounded Rectangle 7">
            <a:extLst xmlns:a="http://schemas.openxmlformats.org/drawingml/2006/main">
              <a:ext uri="{FF2B5EF4-FFF2-40B4-BE49-F238E27FC236}">
                <a16:creationId xmlns:a16="http://schemas.microsoft.com/office/drawing/2014/main" id="{6B2AE7DB-C180-4953-A160-763D03A4508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F2C5F2C-F92E-4969-B5FF-EFC20A09DA8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TISSUE BIOLOGY</a:t>
            </a:r>
          </a:p>
        </p:txBody>
      </p:sp>
      <p:sp>
        <p:nvSpPr>
          <p:cNvPr id="10" name="TextBox 9">
            <a:extLst xmlns:a="http://schemas.openxmlformats.org/drawingml/2006/main">
              <a:ext uri="{FF2B5EF4-FFF2-40B4-BE49-F238E27FC236}">
                <a16:creationId xmlns:a16="http://schemas.microsoft.com/office/drawing/2014/main" id="{4257C55A-E6B2-47C9-848A-CFBFA9DC333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Surviving cells may differ</a:t>
            </a:r>
          </a:p>
        </p:txBody>
      </p:sp>
      <p:sp>
        <p:nvSpPr>
          <p:cNvPr id="11" name="TextBox 10">
            <a:extLst xmlns:a="http://schemas.openxmlformats.org/drawingml/2006/main">
              <a:ext uri="{FF2B5EF4-FFF2-40B4-BE49-F238E27FC236}">
                <a16:creationId xmlns:a16="http://schemas.microsoft.com/office/drawing/2014/main" id="{F5AFB380-15C5-4EF8-AEE9-52CA21D4B29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observed nuclei may represent cells that persist under a particular disease state.</a:t>
            </a:r>
          </a:p>
        </p:txBody>
      </p:sp>
      <p:sp>
        <p:nvSpPr>
          <p:cNvPr id="12" name="Rounded Rectangle 11">
            <a:extLst xmlns:a="http://schemas.openxmlformats.org/drawingml/2006/main">
              <a:ext uri="{FF2B5EF4-FFF2-40B4-BE49-F238E27FC236}">
                <a16:creationId xmlns:a16="http://schemas.microsoft.com/office/drawing/2014/main" id="{D168868F-90BB-4DF9-B31E-58060BC6C9F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A567D2E-D3C8-4434-AF52-FAF6402709B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NETWORK INTERPRETATION</a:t>
            </a:r>
          </a:p>
        </p:txBody>
      </p:sp>
      <p:sp>
        <p:nvSpPr>
          <p:cNvPr id="14" name="TextBox 13">
            <a:extLst xmlns:a="http://schemas.openxmlformats.org/drawingml/2006/main">
              <a:ext uri="{FF2B5EF4-FFF2-40B4-BE49-F238E27FC236}">
                <a16:creationId xmlns:a16="http://schemas.microsoft.com/office/drawing/2014/main" id="{276D68BD-1C7A-4A2D-A6ED-68F1E132DCA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Driver abundance is confounded</a:t>
            </a:r>
          </a:p>
        </p:txBody>
      </p:sp>
      <p:sp>
        <p:nvSpPr>
          <p:cNvPr id="15" name="TextBox 14">
            <a:extLst xmlns:a="http://schemas.openxmlformats.org/drawingml/2006/main">
              <a:ext uri="{FF2B5EF4-FFF2-40B4-BE49-F238E27FC236}">
                <a16:creationId xmlns:a16="http://schemas.microsoft.com/office/drawing/2014/main" id="{7D52DBC3-B64D-4B83-982C-4BC0804328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More query genes create more opportunities for KDA to return candidates.</a:t>
            </a:r>
          </a:p>
        </p:txBody>
      </p:sp>
      <p:sp>
        <p:nvSpPr>
          <p:cNvPr id="16" name="Rounded Rectangle 15">
            <a:extLst xmlns:a="http://schemas.openxmlformats.org/drawingml/2006/main">
              <a:ext uri="{FF2B5EF4-FFF2-40B4-BE49-F238E27FC236}">
                <a16:creationId xmlns:a16="http://schemas.microsoft.com/office/drawing/2014/main" id="{492E22EF-A767-4394-AB9C-6A374B84A56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BA675F-8177-4E3B-A875-82424698D527}"/>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87659E-1E7C-4EAF-BEA0-DF9393F5C275}"/>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DEG direction is interesting, while the unusually high KDA yield needs query-size matching.</a:t>
            </a:r>
          </a:p>
        </p:txBody>
      </p:sp>
      <p:sp>
        <p:nvSpPr>
          <p:cNvPr id="19" name="TextBox 18">
            <a:extLst xmlns:a="http://schemas.openxmlformats.org/drawingml/2006/main">
              <a:ext uri="{FF2B5EF4-FFF2-40B4-BE49-F238E27FC236}">
                <a16:creationId xmlns:a16="http://schemas.microsoft.com/office/drawing/2014/main" id="{179D3CBD-5729-4716-978C-FD3AAA39E80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904794792"/>
      </p:ext>
    </p:extLst>
  </p:cSld>
</p:sld>
</file>

<file path=ppt/slides/slide7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0F0A32F-D6C7-4C8E-86A6-C4CB9D64604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5 does not prove, and the next evidence needed</a:t>
            </a:r>
          </a:p>
        </p:txBody>
      </p:sp>
      <p:sp>
        <p:nvSpPr>
          <p:cNvPr id="3" name="TextBox 2">
            <a:extLst xmlns:a="http://schemas.openxmlformats.org/drawingml/2006/main">
              <a:ext uri="{FF2B5EF4-FFF2-40B4-BE49-F238E27FC236}">
                <a16:creationId xmlns:a16="http://schemas.microsoft.com/office/drawing/2014/main" id="{BF5F9AC7-50F1-4498-8303-44522CE9749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B477CD1A-22C7-48F6-997B-94263F4B49C0}"/>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E35D28A-5D92-4A5C-8821-8B460D1E857B}"/>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7FBE19D-C86D-4097-87A8-7DB8BAFBBA5A}"/>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7E16EC88-28CE-4A96-9E0E-8FE614CAB692}"/>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BA211EC-02CF-443C-93AE-0A7998EE0EE6}"/>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Loss of mitochondrial function or ATP</a:t>
            </a:r>
          </a:p>
        </p:txBody>
      </p:sp>
      <p:sp>
        <p:nvSpPr>
          <p:cNvPr id="9" name="Oval 8">
            <a:extLst xmlns:a="http://schemas.openxmlformats.org/drawingml/2006/main">
              <a:ext uri="{FF2B5EF4-FFF2-40B4-BE49-F238E27FC236}">
                <a16:creationId xmlns:a16="http://schemas.microsoft.com/office/drawing/2014/main" id="{4799BA33-800D-4832-9A98-2F6C11ABC1A8}"/>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5A17805F-D159-41C7-A3DF-74CA535C0A6F}"/>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APOE ε2 caused the downward program</a:t>
            </a:r>
          </a:p>
        </p:txBody>
      </p:sp>
      <p:sp>
        <p:nvSpPr>
          <p:cNvPr id="11" name="Oval 10">
            <a:extLst xmlns:a="http://schemas.openxmlformats.org/drawingml/2006/main">
              <a:ext uri="{FF2B5EF4-FFF2-40B4-BE49-F238E27FC236}">
                <a16:creationId xmlns:a16="http://schemas.microsoft.com/office/drawing/2014/main" id="{9B0F6ECF-FB2B-427F-9BFA-0BE675452C0D}"/>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9519CD5-4337-435C-998E-B0D76F0F2F8A}"/>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male by ε2 interaction or stronger driver biology</a:t>
            </a:r>
          </a:p>
        </p:txBody>
      </p:sp>
      <p:sp>
        <p:nvSpPr>
          <p:cNvPr id="13" name="Rounded Rectangle 12">
            <a:extLst xmlns:a="http://schemas.openxmlformats.org/drawingml/2006/main">
              <a:ext uri="{FF2B5EF4-FFF2-40B4-BE49-F238E27FC236}">
                <a16:creationId xmlns:a16="http://schemas.microsoft.com/office/drawing/2014/main" id="{BB6CCEF8-2FE3-481D-9F1C-3E618F236776}"/>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2B2F35CF-66CD-4BA4-AE8D-969CD8F46FA8}"/>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5CCC071-1384-4885-A763-1435B31F72D1}"/>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6E27A391-3D08-4DF7-BD50-1592A1918395}"/>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B4C7D0A-A00E-4941-AB9D-F13AD3600B3D}"/>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Repeat KDA with query sizes matched across groups</a:t>
            </a:r>
          </a:p>
        </p:txBody>
      </p:sp>
      <p:sp>
        <p:nvSpPr>
          <p:cNvPr id="18" name="Oval 17">
            <a:extLst xmlns:a="http://schemas.openxmlformats.org/drawingml/2006/main">
              <a:ext uri="{FF2B5EF4-FFF2-40B4-BE49-F238E27FC236}">
                <a16:creationId xmlns:a16="http://schemas.microsoft.com/office/drawing/2014/main" id="{21285B16-CB8E-4301-B44D-11BBCB4516AB}"/>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8D64A0B3-CE71-4736-A4CB-9DA3D41322A1}"/>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donor-aware sex and APOE interaction models</a:t>
            </a:r>
          </a:p>
        </p:txBody>
      </p:sp>
      <p:sp>
        <p:nvSpPr>
          <p:cNvPr id="20" name="Oval 19">
            <a:extLst xmlns:a="http://schemas.openxmlformats.org/drawingml/2006/main">
              <a:ext uri="{FF2B5EF4-FFF2-40B4-BE49-F238E27FC236}">
                <a16:creationId xmlns:a16="http://schemas.microsoft.com/office/drawing/2014/main" id="{B5759626-720B-468F-A088-60AD8897A34A}"/>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11B2A70-7FB0-4D1A-A1E3-2F8F7C27BB96}"/>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Test respiratory proteins and function in male ε2 models</a:t>
            </a:r>
          </a:p>
        </p:txBody>
      </p:sp>
      <p:sp>
        <p:nvSpPr>
          <p:cNvPr id="22" name="TextBox 21">
            <a:extLst xmlns:a="http://schemas.openxmlformats.org/drawingml/2006/main">
              <a:ext uri="{FF2B5EF4-FFF2-40B4-BE49-F238E27FC236}">
                <a16:creationId xmlns:a16="http://schemas.microsoft.com/office/drawing/2014/main" id="{B1610400-DFDD-40D0-B2BD-793D7A8CD760}"/>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AD279490-143E-4C3B-ACED-93527F3BC3F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723574086"/>
      </p:ext>
    </p:extLst>
  </p:cSld>
</p:sld>
</file>

<file path=ppt/slides/slide7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2EECCD3-32E9-4799-B078-0328186A382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5</a:t>
            </a:r>
          </a:p>
        </p:txBody>
      </p:sp>
      <p:sp>
        <p:nvSpPr>
          <p:cNvPr id="3" name="TextBox 2">
            <a:extLst xmlns:a="http://schemas.openxmlformats.org/drawingml/2006/main">
              <a:ext uri="{FF2B5EF4-FFF2-40B4-BE49-F238E27FC236}">
                <a16:creationId xmlns:a16="http://schemas.microsoft.com/office/drawing/2014/main" id="{B83245C9-1A4F-4159-A55B-06835EB2C15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FEE309FE-2CC6-4645-81A1-9CA70B59ECCB}"/>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D9CF9D7-C2B8-4D10-B60E-EBD8E3E4D121}"/>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F39FA4C9-46FF-4AF9-A8A0-9F057D7A6B47}"/>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allele risk</a:t>
            </a:r>
          </a:p>
        </p:txBody>
      </p:sp>
      <p:sp>
        <p:nvSpPr>
          <p:cNvPr id="7" name="TextBox 6">
            <a:extLst xmlns:a="http://schemas.openxmlformats.org/drawingml/2006/main">
              <a:ext uri="{FF2B5EF4-FFF2-40B4-BE49-F238E27FC236}">
                <a16:creationId xmlns:a16="http://schemas.microsoft.com/office/drawing/2014/main" id="{E3BB55D8-B954-4C37-B212-71FDD0B75B20}"/>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39850BBF-2F52-401A-8F19-4C831D1C735E}"/>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population-level protection associated with ε2.</a:t>
            </a:r>
          </a:p>
        </p:txBody>
      </p:sp>
      <p:sp>
        <p:nvSpPr>
          <p:cNvPr id="9" name="TextBox 8">
            <a:extLst xmlns:a="http://schemas.openxmlformats.org/drawingml/2006/main">
              <a:ext uri="{FF2B5EF4-FFF2-40B4-BE49-F238E27FC236}">
                <a16:creationId xmlns:a16="http://schemas.microsoft.com/office/drawing/2014/main" id="{2FC401E3-803C-46BE-8656-4375034AA842}"/>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946D9350-046E-4CC6-BA4A-B02DB049C1F4}"/>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predict the molecular state of diseased male ε2 cells.</a:t>
            </a:r>
          </a:p>
        </p:txBody>
      </p:sp>
      <p:sp>
        <p:nvSpPr>
          <p:cNvPr id="11" name="Rounded Rectangle 10">
            <a:extLst xmlns:a="http://schemas.openxmlformats.org/drawingml/2006/main">
              <a:ext uri="{FF2B5EF4-FFF2-40B4-BE49-F238E27FC236}">
                <a16:creationId xmlns:a16="http://schemas.microsoft.com/office/drawing/2014/main" id="{F3D49414-E866-4051-8C1E-2CF5C9B0B5D0}"/>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50ADC2B-B8E2-4CBD-8FD8-133E6FF0BAAF}"/>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DCCF2D89-9588-4B41-AE19-2380E965678D}"/>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Sex-specific AD networks</a:t>
            </a:r>
          </a:p>
        </p:txBody>
      </p:sp>
      <p:sp>
        <p:nvSpPr>
          <p:cNvPr id="14" name="TextBox 13">
            <a:extLst xmlns:a="http://schemas.openxmlformats.org/drawingml/2006/main">
              <a:ext uri="{FF2B5EF4-FFF2-40B4-BE49-F238E27FC236}">
                <a16:creationId xmlns:a16="http://schemas.microsoft.com/office/drawing/2014/main" id="{B7F6D7F7-B557-4536-BF32-AB8C0AADCE78}"/>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BDB25E9D-229E-4B2C-B4A3-C88164419555}"/>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sex-aware cell-resolved analysis.</a:t>
            </a:r>
          </a:p>
        </p:txBody>
      </p:sp>
      <p:sp>
        <p:nvSpPr>
          <p:cNvPr id="16" name="TextBox 15">
            <a:extLst xmlns:a="http://schemas.openxmlformats.org/drawingml/2006/main">
              <a:ext uri="{FF2B5EF4-FFF2-40B4-BE49-F238E27FC236}">
                <a16:creationId xmlns:a16="http://schemas.microsoft.com/office/drawing/2014/main" id="{5FF9F344-78A9-4C9C-B23C-F5E2EF6EFCCB}"/>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73559057-2595-45C1-8AF9-C068FC58D80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report this exact male ε2 decrease.</a:t>
            </a:r>
          </a:p>
        </p:txBody>
      </p:sp>
      <p:sp>
        <p:nvSpPr>
          <p:cNvPr id="18" name="Rounded Rectangle 17">
            <a:extLst xmlns:a="http://schemas.openxmlformats.org/drawingml/2006/main">
              <a:ext uri="{FF2B5EF4-FFF2-40B4-BE49-F238E27FC236}">
                <a16:creationId xmlns:a16="http://schemas.microsoft.com/office/drawing/2014/main" id="{3440115D-D044-4790-A7C4-56C39B0C4628}"/>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CCFD44C0-79A2-42FD-A8CD-CCE2A07859D7}"/>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EB7DAED1-A768-40A3-B470-2623950E9D32}"/>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Cell-state heterogeneity</a:t>
            </a:r>
          </a:p>
        </p:txBody>
      </p:sp>
      <p:sp>
        <p:nvSpPr>
          <p:cNvPr id="21" name="TextBox 20">
            <a:extLst xmlns:a="http://schemas.openxmlformats.org/drawingml/2006/main">
              <a:ext uri="{FF2B5EF4-FFF2-40B4-BE49-F238E27FC236}">
                <a16:creationId xmlns:a16="http://schemas.microsoft.com/office/drawing/2014/main" id="{DDEA53DF-F394-4E28-8387-CDB3D64F7849}"/>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F1BF8061-0CE4-4A14-92B2-C14E1CCF93F8}"/>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Alzheimer’s responses differ among brain cell populations.</a:t>
            </a:r>
          </a:p>
        </p:txBody>
      </p:sp>
      <p:sp>
        <p:nvSpPr>
          <p:cNvPr id="23" name="TextBox 22">
            <a:extLst xmlns:a="http://schemas.openxmlformats.org/drawingml/2006/main">
              <a:ext uri="{FF2B5EF4-FFF2-40B4-BE49-F238E27FC236}">
                <a16:creationId xmlns:a16="http://schemas.microsoft.com/office/drawing/2014/main" id="{A8F93BE3-227F-4761-ACCD-4E2651C422DC}"/>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E5E719CF-4F66-44AD-875C-18F417D34923}"/>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and cannot independently validate this pattern.</a:t>
            </a:r>
          </a:p>
        </p:txBody>
      </p:sp>
      <p:sp>
        <p:nvSpPr>
          <p:cNvPr id="25" name="Rounded Rectangle 24">
            <a:extLst xmlns:a="http://schemas.openxmlformats.org/drawingml/2006/main">
              <a:ext uri="{FF2B5EF4-FFF2-40B4-BE49-F238E27FC236}">
                <a16:creationId xmlns:a16="http://schemas.microsoft.com/office/drawing/2014/main" id="{DE86A240-4B7B-42CC-BD80-2A8B031010EC}"/>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65DF215-5B13-44E3-9C3B-0D412781BBE1}"/>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79D17B3C-8972-40A9-BE8A-51F23F93170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5.</a:t>
            </a:r>
          </a:p>
        </p:txBody>
      </p:sp>
    </p:spTree>
    <p:extLst>
      <p:ext uri="{BB962C8B-B14F-4D97-AF65-F5344CB8AC3E}">
        <p14:creationId xmlns:p14="http://schemas.microsoft.com/office/powerpoint/2010/main" val="1790777695"/>
      </p:ext>
    </p:extLst>
  </p:cSld>
</p:sld>
</file>

<file path=ppt/slides/slide7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BE19B05-BA8A-4AAD-8256-41950FD1AE8D}"/>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6</a:t>
            </a:r>
          </a:p>
        </p:txBody>
      </p:sp>
      <p:sp>
        <p:nvSpPr>
          <p:cNvPr id="3" name="Rectangle 2">
            <a:extLst xmlns:a="http://schemas.openxmlformats.org/drawingml/2006/main">
              <a:ext uri="{FF2B5EF4-FFF2-40B4-BE49-F238E27FC236}">
                <a16:creationId xmlns:a16="http://schemas.microsoft.com/office/drawing/2014/main" id="{9C414A89-DDB8-42A0-9EC6-D293FB14A02B}"/>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6B6825F1-FF14-4CD5-96CA-6ADABC833E68}"/>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Male APOE ε4 cells show a weaker possible mitonuclear mismatch</a:t>
            </a:r>
          </a:p>
        </p:txBody>
      </p:sp>
      <p:sp>
        <p:nvSpPr>
          <p:cNvPr id="5" name="TextBox 4">
            <a:extLst xmlns:a="http://schemas.openxmlformats.org/drawingml/2006/main">
              <a:ext uri="{FF2B5EF4-FFF2-40B4-BE49-F238E27FC236}">
                <a16:creationId xmlns:a16="http://schemas.microsoft.com/office/drawing/2014/main" id="{5D9D1649-587C-4456-8166-A2187405784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Mitochondrial DEG-program finding.</a:t>
            </a:r>
          </a:p>
        </p:txBody>
      </p:sp>
      <p:sp>
        <p:nvSpPr>
          <p:cNvPr id="6" name="Rounded Rectangle 5">
            <a:extLst xmlns:a="http://schemas.openxmlformats.org/drawingml/2006/main">
              <a:ext uri="{FF2B5EF4-FFF2-40B4-BE49-F238E27FC236}">
                <a16:creationId xmlns:a16="http://schemas.microsoft.com/office/drawing/2014/main" id="{33A304A7-B58D-4C4E-A99B-7833A7FA23FA}"/>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BEE6627-F54D-4C1B-AE70-D3BFAE6C28A6}"/>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B651492E-D736-49FB-BB72-A69322B800BF}"/>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B114C09-DD52-47D4-9524-99BEFDE7BF25}"/>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4D7426F-91F4-4023-8BA9-3061DDF9557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5270CF31-5481-440D-B33F-BADDCF5D132C}"/>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2C89362-138A-4072-BCF2-AC08AE17FCD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7458DE17-7623-4714-9E30-190E103E7D83}"/>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1F52A3A3-A0C6-4294-A8A8-435411787EDF}"/>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CC1B79BF-C986-4D02-BD2E-C7260DE1D23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CEBC224F-844D-49AA-8950-F906778CD2E8}"/>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CF549B9-704B-48D1-A9CC-6A29B7C9DD16}"/>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8B7F4820-68C4-4DBF-8007-85F4C1EC83AD}"/>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5AE5697A-FEB6-42FE-8F43-0AB15C40E286}"/>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C4B01E0B-2F27-4747-ACB5-C2FD2A0C2721}"/>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F03B32E-B45F-4290-8A68-D9149DD41445}"/>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mtDNA OXPHOS is mostly up and nuclear OXPHOS is modestly down, with mixed cross-cohort sensitivity.</a:t>
            </a:r>
          </a:p>
        </p:txBody>
      </p:sp>
    </p:spTree>
    <p:extLst>
      <p:ext uri="{BB962C8B-B14F-4D97-AF65-F5344CB8AC3E}">
        <p14:creationId xmlns:p14="http://schemas.microsoft.com/office/powerpoint/2010/main" val="1192407308"/>
      </p:ext>
    </p:extLst>
  </p:cSld>
</p:sld>
</file>

<file path=ppt/slides/slide8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F51D327-FE6B-4D0A-BADE-FE0B68D28D3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Male ε4 cells may separate mitochondrial and nuclear OXPHOS RNA directions</a:t>
            </a:r>
          </a:p>
        </p:txBody>
      </p:sp>
      <p:sp>
        <p:nvSpPr>
          <p:cNvPr id="3" name="TextBox 2">
            <a:extLst xmlns:a="http://schemas.openxmlformats.org/drawingml/2006/main">
              <a:ext uri="{FF2B5EF4-FFF2-40B4-BE49-F238E27FC236}">
                <a16:creationId xmlns:a16="http://schemas.microsoft.com/office/drawing/2014/main" id="{866E4AAE-C2DA-4F9B-94EA-3819FFE9643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direction split resembles male ε3/ε3, but the nuclear decrease is weaker and cross-cohort broad-cell evidence disagrees.</a:t>
            </a:r>
          </a:p>
        </p:txBody>
      </p:sp>
      <p:sp>
        <p:nvSpPr>
          <p:cNvPr id="4" name="Rounded Rectangle 3">
            <a:extLst xmlns:a="http://schemas.openxmlformats.org/drawingml/2006/main">
              <a:ext uri="{FF2B5EF4-FFF2-40B4-BE49-F238E27FC236}">
                <a16:creationId xmlns:a16="http://schemas.microsoft.com/office/drawing/2014/main" id="{DBB05C66-5366-4F96-BB98-5A2B16F87ADC}"/>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6908346-AE80-496F-B440-A54BBFED468C}"/>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Male</a:t>
            </a:r>
          </a:p>
        </p:txBody>
      </p:sp>
      <p:sp>
        <p:nvSpPr>
          <p:cNvPr id="6" name="Rounded Rectangle 5">
            <a:extLst xmlns:a="http://schemas.openxmlformats.org/drawingml/2006/main">
              <a:ext uri="{FF2B5EF4-FFF2-40B4-BE49-F238E27FC236}">
                <a16:creationId xmlns:a16="http://schemas.microsoft.com/office/drawing/2014/main" id="{B9FD771D-AE09-4B06-B711-5406E8C28D3F}"/>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1CD4C10-E134-428F-985D-8F02AF10B30D}"/>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D4E877AF-D3FE-4F76-B9A0-902C832EF70E}"/>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FEC5E80-C583-4798-9C40-FF744018F62B}"/>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Possible mismatch</a:t>
            </a:r>
          </a:p>
        </p:txBody>
      </p:sp>
      <p:sp>
        <p:nvSpPr>
          <p:cNvPr id="10" name="Rounded Rectangle 9">
            <a:extLst xmlns:a="http://schemas.openxmlformats.org/drawingml/2006/main">
              <a:ext uri="{FF2B5EF4-FFF2-40B4-BE49-F238E27FC236}">
                <a16:creationId xmlns:a16="http://schemas.microsoft.com/office/drawing/2014/main" id="{CF923EF2-BD44-484F-9B6C-6EE0E7F4FD97}"/>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828C884-CF67-4323-BBA1-48B292856B1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Needs replication</a:t>
            </a:r>
          </a:p>
        </p:txBody>
      </p:sp>
      <p:sp>
        <p:nvSpPr>
          <p:cNvPr id="12" name="Rounded Rectangle 11">
            <a:extLst xmlns:a="http://schemas.openxmlformats.org/drawingml/2006/main">
              <a:ext uri="{FF2B5EF4-FFF2-40B4-BE49-F238E27FC236}">
                <a16:creationId xmlns:a16="http://schemas.microsoft.com/office/drawing/2014/main" id="{019B40E9-BFC8-4286-BBE1-85E17BAD1A8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DDFE37A-0F2D-41E1-A604-F71E6B424F5F}"/>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MITOCHONDRIAL DNA</a:t>
            </a:r>
          </a:p>
        </p:txBody>
      </p:sp>
      <p:sp>
        <p:nvSpPr>
          <p:cNvPr id="14" name="TextBox 13">
            <a:extLst xmlns:a="http://schemas.openxmlformats.org/drawingml/2006/main">
              <a:ext uri="{FF2B5EF4-FFF2-40B4-BE49-F238E27FC236}">
                <a16:creationId xmlns:a16="http://schemas.microsoft.com/office/drawing/2014/main" id="{E94F56C6-CAC0-4C2A-9D04-AB1C93AB477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87 of 110 up</a:t>
            </a:r>
          </a:p>
        </p:txBody>
      </p:sp>
      <p:sp>
        <p:nvSpPr>
          <p:cNvPr id="15" name="TextBox 14">
            <a:extLst xmlns:a="http://schemas.openxmlformats.org/drawingml/2006/main">
              <a:ext uri="{FF2B5EF4-FFF2-40B4-BE49-F238E27FC236}">
                <a16:creationId xmlns:a16="http://schemas.microsoft.com/office/drawing/2014/main" id="{3B12252E-94C2-421D-B8E5-BC76C9CD82BE}"/>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mtDNA-encoded OXPHOS RNA mostly increases in AD.</a:t>
            </a:r>
          </a:p>
        </p:txBody>
      </p:sp>
      <p:sp>
        <p:nvSpPr>
          <p:cNvPr id="16" name="Rounded Rectangle 15">
            <a:extLst xmlns:a="http://schemas.openxmlformats.org/drawingml/2006/main">
              <a:ext uri="{FF2B5EF4-FFF2-40B4-BE49-F238E27FC236}">
                <a16:creationId xmlns:a16="http://schemas.microsoft.com/office/drawing/2014/main" id="{9AFA687E-D246-4A14-8D2E-A6635ECDA8CD}"/>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7BF302F-CECB-4A9F-A24A-E027071673A0}"/>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NUCLEAR DNA</a:t>
            </a:r>
          </a:p>
        </p:txBody>
      </p:sp>
      <p:sp>
        <p:nvSpPr>
          <p:cNvPr id="18" name="TextBox 17">
            <a:extLst xmlns:a="http://schemas.openxmlformats.org/drawingml/2006/main">
              <a:ext uri="{FF2B5EF4-FFF2-40B4-BE49-F238E27FC236}">
                <a16:creationId xmlns:a16="http://schemas.microsoft.com/office/drawing/2014/main" id="{A2A1D15B-EA5F-477D-AF2B-21FB5A93F2A7}"/>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55 of 89 down</a:t>
            </a:r>
          </a:p>
        </p:txBody>
      </p:sp>
      <p:sp>
        <p:nvSpPr>
          <p:cNvPr id="19" name="TextBox 18">
            <a:extLst xmlns:a="http://schemas.openxmlformats.org/drawingml/2006/main">
              <a:ext uri="{FF2B5EF4-FFF2-40B4-BE49-F238E27FC236}">
                <a16:creationId xmlns:a16="http://schemas.microsoft.com/office/drawing/2014/main" id="{A471FEAF-08F4-405F-9F71-ACEA3114684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Nuclear structural OXPHOS RNA leans downward, but less strongly.</a:t>
            </a:r>
          </a:p>
        </p:txBody>
      </p:sp>
      <p:sp>
        <p:nvSpPr>
          <p:cNvPr id="20" name="Rounded Rectangle 19">
            <a:extLst xmlns:a="http://schemas.openxmlformats.org/drawingml/2006/main">
              <a:ext uri="{FF2B5EF4-FFF2-40B4-BE49-F238E27FC236}">
                <a16:creationId xmlns:a16="http://schemas.microsoft.com/office/drawing/2014/main" id="{127EC019-DEAF-4830-9BDF-E8FC4E5D6C9F}"/>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01E40FA-D200-4AB8-9D14-C59E36BACC7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READING</a:t>
            </a:r>
          </a:p>
        </p:txBody>
      </p:sp>
      <p:sp>
        <p:nvSpPr>
          <p:cNvPr id="22" name="TextBox 21">
            <a:extLst xmlns:a="http://schemas.openxmlformats.org/drawingml/2006/main">
              <a:ext uri="{FF2B5EF4-FFF2-40B4-BE49-F238E27FC236}">
                <a16:creationId xmlns:a16="http://schemas.microsoft.com/office/drawing/2014/main" id="{847AB25A-4A19-469E-B083-E1E9AECA12F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Weaker mismatch</a:t>
            </a:r>
          </a:p>
        </p:txBody>
      </p:sp>
      <p:sp>
        <p:nvSpPr>
          <p:cNvPr id="23" name="TextBox 22">
            <a:extLst xmlns:a="http://schemas.openxmlformats.org/drawingml/2006/main">
              <a:ext uri="{FF2B5EF4-FFF2-40B4-BE49-F238E27FC236}">
                <a16:creationId xmlns:a16="http://schemas.microsoft.com/office/drawing/2014/main" id="{32530C92-1924-49DF-8A13-2600E990EAE4}"/>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two sides differ, but the evidence does not support a definitive mismatch claim.</a:t>
            </a:r>
          </a:p>
        </p:txBody>
      </p:sp>
      <p:sp>
        <p:nvSpPr>
          <p:cNvPr id="24" name="Rounded Rectangle 23">
            <a:extLst xmlns:a="http://schemas.openxmlformats.org/drawingml/2006/main">
              <a:ext uri="{FF2B5EF4-FFF2-40B4-BE49-F238E27FC236}">
                <a16:creationId xmlns:a16="http://schemas.microsoft.com/office/drawing/2014/main" id="{EE73C825-D016-4226-86FF-B3C7A1275FE8}"/>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6847202D-DABD-49F6-9699-6502FC7A5C8E}"/>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pattern is a provisional RNA-level hypothesis, not evidence of unbalanced respiratory proteins.</a:t>
            </a:r>
          </a:p>
        </p:txBody>
      </p:sp>
      <p:sp>
        <p:nvSpPr>
          <p:cNvPr id="26" name="TextBox 25">
            <a:extLst xmlns:a="http://schemas.openxmlformats.org/drawingml/2006/main">
              <a:ext uri="{FF2B5EF4-FFF2-40B4-BE49-F238E27FC236}">
                <a16:creationId xmlns:a16="http://schemas.microsoft.com/office/drawing/2014/main" id="{FB2B3852-8E5B-449A-9079-787A2E6625B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438493806"/>
      </p:ext>
    </p:extLst>
  </p:cSld>
</p:sld>
</file>

<file path=ppt/slides/slide8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A58526-89F3-4E38-BF49-AEBBD936060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ROSMAP: male ε4 shows a clear mtDNA-up tendency and a modest nuclear-down tendency</a:t>
            </a:r>
          </a:p>
        </p:txBody>
      </p:sp>
      <p:sp>
        <p:nvSpPr>
          <p:cNvPr id="3" name="TextBox 2">
            <a:extLst xmlns:a="http://schemas.openxmlformats.org/drawingml/2006/main">
              <a:ext uri="{FF2B5EF4-FFF2-40B4-BE49-F238E27FC236}">
                <a16:creationId xmlns:a16="http://schemas.microsoft.com/office/drawing/2014/main" id="{ECFA4E0E-884F-4652-96F2-167C56BD9EE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nuclear direction is substantially less one-sided than in male ε3/ε3.</a:t>
            </a:r>
          </a:p>
        </p:txBody>
      </p:sp>
      <p:sp>
        <p:nvSpPr>
          <p:cNvPr id="4" name="Rounded Rectangle 3">
            <a:extLst xmlns:a="http://schemas.openxmlformats.org/drawingml/2006/main">
              <a:ext uri="{FF2B5EF4-FFF2-40B4-BE49-F238E27FC236}">
                <a16:creationId xmlns:a16="http://schemas.microsoft.com/office/drawing/2014/main" id="{8839F25B-91B3-46BE-887D-E61B8C50F23C}"/>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C7138D0-B75E-406D-B74A-89AFB1B13312}"/>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110</a:t>
            </a:r>
          </a:p>
        </p:txBody>
      </p:sp>
      <p:sp>
        <p:nvSpPr>
          <p:cNvPr id="6" name="TextBox 5">
            <a:extLst xmlns:a="http://schemas.openxmlformats.org/drawingml/2006/main">
              <a:ext uri="{FF2B5EF4-FFF2-40B4-BE49-F238E27FC236}">
                <a16:creationId xmlns:a16="http://schemas.microsoft.com/office/drawing/2014/main" id="{35317A91-B5E5-4086-970C-D8770C8A9AAE}"/>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7" name="TextBox 6">
            <a:extLst xmlns:a="http://schemas.openxmlformats.org/drawingml/2006/main">
              <a:ext uri="{FF2B5EF4-FFF2-40B4-BE49-F238E27FC236}">
                <a16:creationId xmlns:a16="http://schemas.microsoft.com/office/drawing/2014/main" id="{FB5B17FA-E20B-417B-B6BD-6FAEE0CBA6F0}"/>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87 up, 23 down</a:t>
            </a:r>
          </a:p>
        </p:txBody>
      </p:sp>
      <p:sp>
        <p:nvSpPr>
          <p:cNvPr id="8" name="Rounded Rectangle 7">
            <a:extLst xmlns:a="http://schemas.openxmlformats.org/drawingml/2006/main">
              <a:ext uri="{FF2B5EF4-FFF2-40B4-BE49-F238E27FC236}">
                <a16:creationId xmlns:a16="http://schemas.microsoft.com/office/drawing/2014/main" id="{5B61249A-9F51-456A-BDD9-B5D54681952E}"/>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BDCA7DC-736C-442B-8A2B-26A895ECD84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89</a:t>
            </a:r>
          </a:p>
        </p:txBody>
      </p:sp>
      <p:sp>
        <p:nvSpPr>
          <p:cNvPr id="10" name="TextBox 9">
            <a:extLst xmlns:a="http://schemas.openxmlformats.org/drawingml/2006/main">
              <a:ext uri="{FF2B5EF4-FFF2-40B4-BE49-F238E27FC236}">
                <a16:creationId xmlns:a16="http://schemas.microsoft.com/office/drawing/2014/main" id="{D30E1E56-4519-4229-853B-C5AC802C6F5B}"/>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nuclear-OXPHOS occurrences</a:t>
            </a:r>
          </a:p>
        </p:txBody>
      </p:sp>
      <p:sp>
        <p:nvSpPr>
          <p:cNvPr id="11" name="TextBox 10">
            <a:extLst xmlns:a="http://schemas.openxmlformats.org/drawingml/2006/main">
              <a:ext uri="{FF2B5EF4-FFF2-40B4-BE49-F238E27FC236}">
                <a16:creationId xmlns:a16="http://schemas.microsoft.com/office/drawing/2014/main" id="{1A25E093-3DDF-4EAE-9E85-E28645A8669C}"/>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34 up, 55 down</a:t>
            </a:r>
          </a:p>
        </p:txBody>
      </p:sp>
      <p:sp>
        <p:nvSpPr>
          <p:cNvPr id="12" name="Rounded Rectangle 11">
            <a:extLst xmlns:a="http://schemas.openxmlformats.org/drawingml/2006/main">
              <a:ext uri="{FF2B5EF4-FFF2-40B4-BE49-F238E27FC236}">
                <a16:creationId xmlns:a16="http://schemas.microsoft.com/office/drawing/2014/main" id="{D457E9F9-CA25-410E-B050-7D1E6E146DC3}"/>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D72DAD8-ADBF-4AAD-B91E-03EC7BC07290}"/>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11/13</a:t>
            </a:r>
          </a:p>
        </p:txBody>
      </p:sp>
      <p:sp>
        <p:nvSpPr>
          <p:cNvPr id="14" name="TextBox 13">
            <a:extLst xmlns:a="http://schemas.openxmlformats.org/drawingml/2006/main">
              <a:ext uri="{FF2B5EF4-FFF2-40B4-BE49-F238E27FC236}">
                <a16:creationId xmlns:a16="http://schemas.microsoft.com/office/drawing/2014/main" id="{7CC83DB0-9BCF-47E2-8983-1478D16862E8}"/>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excitatory fine types</a:t>
            </a:r>
          </a:p>
        </p:txBody>
      </p:sp>
      <p:sp>
        <p:nvSpPr>
          <p:cNvPr id="15" name="TextBox 14">
            <a:extLst xmlns:a="http://schemas.openxmlformats.org/drawingml/2006/main">
              <a:ext uri="{FF2B5EF4-FFF2-40B4-BE49-F238E27FC236}">
                <a16:creationId xmlns:a16="http://schemas.microsoft.com/office/drawing/2014/main" id="{4EDDD363-790B-4679-91A8-652C214FE2A1}"/>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mtDNA-up enrichment</a:t>
            </a:r>
          </a:p>
        </p:txBody>
      </p:sp>
      <p:sp>
        <p:nvSpPr>
          <p:cNvPr id="16" name="Rounded Rectangle 15">
            <a:extLst xmlns:a="http://schemas.openxmlformats.org/drawingml/2006/main">
              <a:ext uri="{FF2B5EF4-FFF2-40B4-BE49-F238E27FC236}">
                <a16:creationId xmlns:a16="http://schemas.microsoft.com/office/drawing/2014/main" id="{8B5F62F4-DC64-47A1-A18A-5FD88265ED93}"/>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093E008-61D7-40F6-9A6F-BC2FF076758D}"/>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mtDNA OXPHOS</a:t>
            </a:r>
          </a:p>
        </p:txBody>
      </p:sp>
      <p:sp>
        <p:nvSpPr>
          <p:cNvPr id="18" name="TextBox 17">
            <a:extLst xmlns:a="http://schemas.openxmlformats.org/drawingml/2006/main">
              <a:ext uri="{FF2B5EF4-FFF2-40B4-BE49-F238E27FC236}">
                <a16:creationId xmlns:a16="http://schemas.microsoft.com/office/drawing/2014/main" id="{B707857E-E969-4440-A759-25E1BA124429}"/>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79% up</a:t>
            </a:r>
          </a:p>
        </p:txBody>
      </p:sp>
      <p:sp>
        <p:nvSpPr>
          <p:cNvPr id="19" name="TextBox 18">
            <a:extLst xmlns:a="http://schemas.openxmlformats.org/drawingml/2006/main">
              <a:ext uri="{FF2B5EF4-FFF2-40B4-BE49-F238E27FC236}">
                <a16:creationId xmlns:a16="http://schemas.microsoft.com/office/drawing/2014/main" id="{825E04B9-EB02-49C9-AD11-CA5CE1282DFD}"/>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Fifteen eligible calls showed significant enrichment</a:t>
            </a:r>
          </a:p>
        </p:txBody>
      </p:sp>
      <p:sp>
        <p:nvSpPr>
          <p:cNvPr id="20" name="Rounded Rectangle 19">
            <a:extLst xmlns:a="http://schemas.openxmlformats.org/drawingml/2006/main">
              <a:ext uri="{FF2B5EF4-FFF2-40B4-BE49-F238E27FC236}">
                <a16:creationId xmlns:a16="http://schemas.microsoft.com/office/drawing/2014/main" id="{1EEF9F57-B4FE-490B-8BD7-9C11F26EC805}"/>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87777A6-286D-4DA8-9447-43A8BD798CE7}"/>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22" name="TextBox 21">
            <a:extLst xmlns:a="http://schemas.openxmlformats.org/drawingml/2006/main">
              <a:ext uri="{FF2B5EF4-FFF2-40B4-BE49-F238E27FC236}">
                <a16:creationId xmlns:a16="http://schemas.microsoft.com/office/drawing/2014/main" id="{426D93DF-FA27-484D-978D-B97329F1FB30}"/>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62% down</a:t>
            </a:r>
          </a:p>
        </p:txBody>
      </p:sp>
      <p:sp>
        <p:nvSpPr>
          <p:cNvPr id="23" name="TextBox 22">
            <a:extLst xmlns:a="http://schemas.openxmlformats.org/drawingml/2006/main">
              <a:ext uri="{FF2B5EF4-FFF2-40B4-BE49-F238E27FC236}">
                <a16:creationId xmlns:a16="http://schemas.microsoft.com/office/drawing/2014/main" id="{FCF53A21-6035-4E39-BA20-E4B69FCE5D94}"/>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Only three eligible calls showed significant enrichment</a:t>
            </a:r>
          </a:p>
        </p:txBody>
      </p:sp>
      <p:sp>
        <p:nvSpPr>
          <p:cNvPr id="24" name="Rounded Rectangle 23">
            <a:extLst xmlns:a="http://schemas.openxmlformats.org/drawingml/2006/main">
              <a:ext uri="{FF2B5EF4-FFF2-40B4-BE49-F238E27FC236}">
                <a16:creationId xmlns:a16="http://schemas.microsoft.com/office/drawing/2014/main" id="{C35569EA-A504-4FEF-A234-A7B52E09A639}"/>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E2A3A88-02E2-4D5C-8DC6-503323D5E5C5}"/>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Strength of split</a:t>
            </a:r>
          </a:p>
        </p:txBody>
      </p:sp>
      <p:sp>
        <p:nvSpPr>
          <p:cNvPr id="26" name="TextBox 25">
            <a:extLst xmlns:a="http://schemas.openxmlformats.org/drawingml/2006/main">
              <a:ext uri="{FF2B5EF4-FFF2-40B4-BE49-F238E27FC236}">
                <a16:creationId xmlns:a16="http://schemas.microsoft.com/office/drawing/2014/main" id="{B161D71B-8C91-4EA5-AAFD-66B5A5D14474}"/>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Possible, not definitive</a:t>
            </a:r>
          </a:p>
        </p:txBody>
      </p:sp>
      <p:sp>
        <p:nvSpPr>
          <p:cNvPr id="27" name="TextBox 26">
            <a:extLst xmlns:a="http://schemas.openxmlformats.org/drawingml/2006/main">
              <a:ext uri="{FF2B5EF4-FFF2-40B4-BE49-F238E27FC236}">
                <a16:creationId xmlns:a16="http://schemas.microsoft.com/office/drawing/2014/main" id="{323F2BA4-0FC2-4EFB-8919-5680A33994A4}"/>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nuclear side is too mixed to match the strength of Finding 2</a:t>
            </a:r>
          </a:p>
        </p:txBody>
      </p:sp>
      <p:sp>
        <p:nvSpPr>
          <p:cNvPr id="28" name="TextBox 27">
            <a:extLst xmlns:a="http://schemas.openxmlformats.org/drawingml/2006/main">
              <a:ext uri="{FF2B5EF4-FFF2-40B4-BE49-F238E27FC236}">
                <a16:creationId xmlns:a16="http://schemas.microsoft.com/office/drawing/2014/main" id="{16A19A3D-2BA4-4EC2-AB0C-ECA81CA4AD5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238565285"/>
      </p:ext>
    </p:extLst>
  </p:cSld>
</p:sld>
</file>

<file path=ppt/slides/slide8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B9C1982-3E55-4313-9CE5-CFD54282201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Direct broad-cell evidence agrees in ROSMAP but reverses in SEA-AD</a:t>
            </a:r>
          </a:p>
        </p:txBody>
      </p:sp>
      <p:sp>
        <p:nvSpPr>
          <p:cNvPr id="3" name="TextBox 2">
            <a:extLst xmlns:a="http://schemas.openxmlformats.org/drawingml/2006/main">
              <a:ext uri="{FF2B5EF4-FFF2-40B4-BE49-F238E27FC236}">
                <a16:creationId xmlns:a16="http://schemas.microsoft.com/office/drawing/2014/main" id="{D5AA194A-7D48-410F-B140-EDD62AD58FB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Cross-resolution disagreement keeps the male ε4 mismatch provisional.</a:t>
            </a:r>
          </a:p>
        </p:txBody>
      </p:sp>
      <p:sp>
        <p:nvSpPr>
          <p:cNvPr id="4" name="Rounded Rectangle 3">
            <a:extLst xmlns:a="http://schemas.openxmlformats.org/drawingml/2006/main">
              <a:ext uri="{FF2B5EF4-FFF2-40B4-BE49-F238E27FC236}">
                <a16:creationId xmlns:a16="http://schemas.microsoft.com/office/drawing/2014/main" id="{73F80850-1DD1-48CA-9C04-41340D4E44B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248C75F-F33A-4A18-9BE1-6D4E87512E57}"/>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ROSMAP EXCITATORY</a:t>
            </a:r>
          </a:p>
        </p:txBody>
      </p:sp>
      <p:sp>
        <p:nvSpPr>
          <p:cNvPr id="6" name="TextBox 5">
            <a:extLst xmlns:a="http://schemas.openxmlformats.org/drawingml/2006/main">
              <a:ext uri="{FF2B5EF4-FFF2-40B4-BE49-F238E27FC236}">
                <a16:creationId xmlns:a16="http://schemas.microsoft.com/office/drawing/2014/main" id="{864C8E28-1A3C-4699-ADBE-859F3C0D8C9C}"/>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+2.03 mtDNA NES</a:t>
            </a:r>
          </a:p>
        </p:txBody>
      </p:sp>
      <p:sp>
        <p:nvSpPr>
          <p:cNvPr id="7" name="TextBox 6">
            <a:extLst xmlns:a="http://schemas.openxmlformats.org/drawingml/2006/main">
              <a:ext uri="{FF2B5EF4-FFF2-40B4-BE49-F238E27FC236}">
                <a16:creationId xmlns:a16="http://schemas.microsoft.com/office/drawing/2014/main" id="{03F655E6-FFC7-4631-970A-44D7AFB7CF6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mtDNA-up component survived composition adjustment.</a:t>
            </a:r>
          </a:p>
        </p:txBody>
      </p:sp>
      <p:sp>
        <p:nvSpPr>
          <p:cNvPr id="8" name="Rounded Rectangle 7">
            <a:extLst xmlns:a="http://schemas.openxmlformats.org/drawingml/2006/main">
              <a:ext uri="{FF2B5EF4-FFF2-40B4-BE49-F238E27FC236}">
                <a16:creationId xmlns:a16="http://schemas.microsoft.com/office/drawing/2014/main" id="{7E6B98DB-8D6C-4CAB-BF4E-9C7F83465275}"/>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EEE532F-578A-4EA2-8AA2-22F222211B6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ROSMAP EXCITATORY</a:t>
            </a:r>
          </a:p>
        </p:txBody>
      </p:sp>
      <p:sp>
        <p:nvSpPr>
          <p:cNvPr id="10" name="TextBox 9">
            <a:extLst xmlns:a="http://schemas.openxmlformats.org/drawingml/2006/main">
              <a:ext uri="{FF2B5EF4-FFF2-40B4-BE49-F238E27FC236}">
                <a16:creationId xmlns:a16="http://schemas.microsoft.com/office/drawing/2014/main" id="{32654655-8723-4E99-BD57-5845AA5E34A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−1.72 nuclear NES</a:t>
            </a:r>
          </a:p>
        </p:txBody>
      </p:sp>
      <p:sp>
        <p:nvSpPr>
          <p:cNvPr id="11" name="TextBox 10">
            <a:extLst xmlns:a="http://schemas.openxmlformats.org/drawingml/2006/main">
              <a:ext uri="{FF2B5EF4-FFF2-40B4-BE49-F238E27FC236}">
                <a16:creationId xmlns:a16="http://schemas.microsoft.com/office/drawing/2014/main" id="{D4FE3084-A79F-4FDE-8D72-2E973ED4F01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nuclear-down component also survived composition adjustment.</a:t>
            </a:r>
          </a:p>
        </p:txBody>
      </p:sp>
      <p:sp>
        <p:nvSpPr>
          <p:cNvPr id="12" name="Rounded Rectangle 11">
            <a:extLst xmlns:a="http://schemas.openxmlformats.org/drawingml/2006/main">
              <a:ext uri="{FF2B5EF4-FFF2-40B4-BE49-F238E27FC236}">
                <a16:creationId xmlns:a16="http://schemas.microsoft.com/office/drawing/2014/main" id="{833837A4-38EF-47FE-AB96-23F07DD25D5A}"/>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75B039C5-F3B5-4569-B1E5-C8A190B4B196}"/>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14" name="TextBox 13">
            <a:extLst xmlns:a="http://schemas.openxmlformats.org/drawingml/2006/main">
              <a:ext uri="{FF2B5EF4-FFF2-40B4-BE49-F238E27FC236}">
                <a16:creationId xmlns:a16="http://schemas.microsoft.com/office/drawing/2014/main" id="{E255F907-3726-4ED6-BA97-1B56DA232D5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+2.46 nuclear NES</a:t>
            </a:r>
          </a:p>
        </p:txBody>
      </p:sp>
      <p:sp>
        <p:nvSpPr>
          <p:cNvPr id="15" name="TextBox 14">
            <a:extLst xmlns:a="http://schemas.openxmlformats.org/drawingml/2006/main">
              <a:ext uri="{FF2B5EF4-FFF2-40B4-BE49-F238E27FC236}">
                <a16:creationId xmlns:a16="http://schemas.microsoft.com/office/drawing/2014/main" id="{826F063C-28A4-4A84-B6BB-4F74EAADF36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SEA-AD showed the opposite nuclear direction and no active male ε4 fine-cell KDA query.</a:t>
            </a:r>
          </a:p>
        </p:txBody>
      </p:sp>
      <p:sp>
        <p:nvSpPr>
          <p:cNvPr id="16" name="Rounded Rectangle 15">
            <a:extLst xmlns:a="http://schemas.openxmlformats.org/drawingml/2006/main">
              <a:ext uri="{FF2B5EF4-FFF2-40B4-BE49-F238E27FC236}">
                <a16:creationId xmlns:a16="http://schemas.microsoft.com/office/drawing/2014/main" id="{300DBFEC-3417-4C51-B020-FF44A48774A1}"/>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2029546-FCA5-418B-A6A9-3321BA3150B0}"/>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broad-cell mismatch is not robust across cohorts, and SEA-AD cannot test it at fine-cell KDA resolution.</a:t>
            </a:r>
          </a:p>
        </p:txBody>
      </p:sp>
      <p:sp>
        <p:nvSpPr>
          <p:cNvPr id="18" name="TextBox 17">
            <a:extLst xmlns:a="http://schemas.openxmlformats.org/drawingml/2006/main">
              <a:ext uri="{FF2B5EF4-FFF2-40B4-BE49-F238E27FC236}">
                <a16:creationId xmlns:a16="http://schemas.microsoft.com/office/drawing/2014/main" id="{1DAAF0BF-CE28-4F04-86D8-B3B86F5CF57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1069416022"/>
      </p:ext>
    </p:extLst>
  </p:cSld>
</p:sld>
</file>

<file path=ppt/slides/slide8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405641A-583C-4992-BB25-C4C9E643239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a mismatch outside ε3/ε3 would broaden the hypothesis</a:t>
            </a:r>
          </a:p>
        </p:txBody>
      </p:sp>
      <p:sp>
        <p:nvSpPr>
          <p:cNvPr id="3" name="TextBox 2">
            <a:extLst xmlns:a="http://schemas.openxmlformats.org/drawingml/2006/main">
              <a:ext uri="{FF2B5EF4-FFF2-40B4-BE49-F238E27FC236}">
                <a16:creationId xmlns:a16="http://schemas.microsoft.com/office/drawing/2014/main" id="{58633844-E6EF-4BE9-970C-B818B8CC1EF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If confirmed, the split could represent a general male response or an APOE-dependent gradient.</a:t>
            </a:r>
          </a:p>
        </p:txBody>
      </p:sp>
      <p:sp>
        <p:nvSpPr>
          <p:cNvPr id="4" name="Rounded Rectangle 3">
            <a:extLst xmlns:a="http://schemas.openxmlformats.org/drawingml/2006/main">
              <a:ext uri="{FF2B5EF4-FFF2-40B4-BE49-F238E27FC236}">
                <a16:creationId xmlns:a16="http://schemas.microsoft.com/office/drawing/2014/main" id="{FBF3FBD6-C6C0-4535-80F5-8E418D24ECCB}"/>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821D29E-021F-40F6-88D9-1738C9BDB4B9}"/>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COMPARISON</a:t>
            </a:r>
          </a:p>
        </p:txBody>
      </p:sp>
      <p:sp>
        <p:nvSpPr>
          <p:cNvPr id="6" name="TextBox 5">
            <a:extLst xmlns:a="http://schemas.openxmlformats.org/drawingml/2006/main">
              <a:ext uri="{FF2B5EF4-FFF2-40B4-BE49-F238E27FC236}">
                <a16:creationId xmlns:a16="http://schemas.microsoft.com/office/drawing/2014/main" id="{9B95D7C0-68A2-44B6-8AE3-10803B0BEF75}"/>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Related to Finding 2</a:t>
            </a:r>
          </a:p>
        </p:txBody>
      </p:sp>
      <p:sp>
        <p:nvSpPr>
          <p:cNvPr id="7" name="TextBox 6">
            <a:extLst xmlns:a="http://schemas.openxmlformats.org/drawingml/2006/main">
              <a:ext uri="{FF2B5EF4-FFF2-40B4-BE49-F238E27FC236}">
                <a16:creationId xmlns:a16="http://schemas.microsoft.com/office/drawing/2014/main" id="{3C634A4A-98EB-4C7E-90DD-E2FD0C6976C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Both findings place mtDNA OXPHOS upward and nuclear OXPHOS downward.</a:t>
            </a:r>
          </a:p>
        </p:txBody>
      </p:sp>
      <p:sp>
        <p:nvSpPr>
          <p:cNvPr id="8" name="Rounded Rectangle 7">
            <a:extLst xmlns:a="http://schemas.openxmlformats.org/drawingml/2006/main">
              <a:ext uri="{FF2B5EF4-FFF2-40B4-BE49-F238E27FC236}">
                <a16:creationId xmlns:a16="http://schemas.microsoft.com/office/drawing/2014/main" id="{44A3155E-5365-4F5E-AFD2-554245C06004}"/>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A644B14-4140-4C64-8588-8E8B9A63FFFA}"/>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DIFFERENCE</a:t>
            </a:r>
          </a:p>
        </p:txBody>
      </p:sp>
      <p:sp>
        <p:nvSpPr>
          <p:cNvPr id="10" name="TextBox 9">
            <a:extLst xmlns:a="http://schemas.openxmlformats.org/drawingml/2006/main">
              <a:ext uri="{FF2B5EF4-FFF2-40B4-BE49-F238E27FC236}">
                <a16:creationId xmlns:a16="http://schemas.microsoft.com/office/drawing/2014/main" id="{97870FB4-2C51-4BE1-B022-2E22607B8047}"/>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The ε4 split is weaker</a:t>
            </a:r>
          </a:p>
        </p:txBody>
      </p:sp>
      <p:sp>
        <p:nvSpPr>
          <p:cNvPr id="11" name="TextBox 10">
            <a:extLst xmlns:a="http://schemas.openxmlformats.org/drawingml/2006/main">
              <a:ext uri="{FF2B5EF4-FFF2-40B4-BE49-F238E27FC236}">
                <a16:creationId xmlns:a16="http://schemas.microsoft.com/office/drawing/2014/main" id="{0917A412-A9D7-4B98-842E-4C1E412EED3C}"/>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nuclear component contains many more up occurrences than the male ε3/ε3 result.</a:t>
            </a:r>
          </a:p>
        </p:txBody>
      </p:sp>
      <p:sp>
        <p:nvSpPr>
          <p:cNvPr id="12" name="Rounded Rectangle 11">
            <a:extLst xmlns:a="http://schemas.openxmlformats.org/drawingml/2006/main">
              <a:ext uri="{FF2B5EF4-FFF2-40B4-BE49-F238E27FC236}">
                <a16:creationId xmlns:a16="http://schemas.microsoft.com/office/drawing/2014/main" id="{20DB37EA-5442-450B-925E-213927510EE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95C0462-B63B-42A0-A2F9-871984922E23}"/>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INFERENCE</a:t>
            </a:r>
          </a:p>
        </p:txBody>
      </p:sp>
      <p:sp>
        <p:nvSpPr>
          <p:cNvPr id="14" name="TextBox 13">
            <a:extLst xmlns:a="http://schemas.openxmlformats.org/drawingml/2006/main">
              <a:ext uri="{FF2B5EF4-FFF2-40B4-BE49-F238E27FC236}">
                <a16:creationId xmlns:a16="http://schemas.microsoft.com/office/drawing/2014/main" id="{4585C609-7948-4621-91F5-67CE7ED0E18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 comparisons are required</a:t>
            </a:r>
          </a:p>
        </p:txBody>
      </p:sp>
      <p:sp>
        <p:nvSpPr>
          <p:cNvPr id="15" name="TextBox 14">
            <a:extLst xmlns:a="http://schemas.openxmlformats.org/drawingml/2006/main">
              <a:ext uri="{FF2B5EF4-FFF2-40B4-BE49-F238E27FC236}">
                <a16:creationId xmlns:a16="http://schemas.microsoft.com/office/drawing/2014/main" id="{0BBC561B-EB2C-4DFB-BD6D-952F4250608D}"/>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Separate strata cannot distinguish a general male response from an APOE effect.</a:t>
            </a:r>
          </a:p>
        </p:txBody>
      </p:sp>
      <p:sp>
        <p:nvSpPr>
          <p:cNvPr id="16" name="Rounded Rectangle 15">
            <a:extLst xmlns:a="http://schemas.openxmlformats.org/drawingml/2006/main">
              <a:ext uri="{FF2B5EF4-FFF2-40B4-BE49-F238E27FC236}">
                <a16:creationId xmlns:a16="http://schemas.microsoft.com/office/drawing/2014/main" id="{3D286636-188B-4CE3-950A-6F3D38DF3FDD}"/>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4682283-93A0-457E-86E4-942B19E5A046}"/>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A3BAB5CC-C225-4EBE-BB90-009213F7E39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A prespecified balance score would test the strength of the split directly across groups.</a:t>
            </a:r>
          </a:p>
        </p:txBody>
      </p:sp>
      <p:sp>
        <p:nvSpPr>
          <p:cNvPr id="19" name="TextBox 18">
            <a:extLst xmlns:a="http://schemas.openxmlformats.org/drawingml/2006/main">
              <a:ext uri="{FF2B5EF4-FFF2-40B4-BE49-F238E27FC236}">
                <a16:creationId xmlns:a16="http://schemas.microsoft.com/office/drawing/2014/main" id="{BED7D799-7428-45DE-B9B2-35D1168C1D7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620284458"/>
      </p:ext>
    </p:extLst>
  </p:cSld>
</p:sld>
</file>

<file path=ppt/slides/slide8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E78E523-0835-4163-BC36-CCF786B36EE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6 does not prove, and the next evidence needed</a:t>
            </a:r>
          </a:p>
        </p:txBody>
      </p:sp>
      <p:sp>
        <p:nvSpPr>
          <p:cNvPr id="3" name="TextBox 2">
            <a:extLst xmlns:a="http://schemas.openxmlformats.org/drawingml/2006/main">
              <a:ext uri="{FF2B5EF4-FFF2-40B4-BE49-F238E27FC236}">
                <a16:creationId xmlns:a16="http://schemas.microsoft.com/office/drawing/2014/main" id="{05FEF2B2-947D-4C22-BE17-A61D2FE9BE0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1EE20258-D6CA-44BE-A84E-3E1383A2D905}"/>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2B5057A0-6C26-4788-8B9D-9DFB31EBEF38}"/>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C04538B8-629B-4B6C-A8E4-E564A1721449}"/>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BA27A618-5FFA-410B-9F4A-CAEA4D417E39}"/>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A1F62F8-EFD2-4A8D-94C1-FBBBC012E7E8}"/>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physical imbalance of OXPHOS proteins</a:t>
            </a:r>
          </a:p>
        </p:txBody>
      </p:sp>
      <p:sp>
        <p:nvSpPr>
          <p:cNvPr id="9" name="Oval 8">
            <a:extLst xmlns:a="http://schemas.openxmlformats.org/drawingml/2006/main">
              <a:ext uri="{FF2B5EF4-FFF2-40B4-BE49-F238E27FC236}">
                <a16:creationId xmlns:a16="http://schemas.microsoft.com/office/drawing/2014/main" id="{52F680FE-D019-4BBE-8983-046C59D79FAB}"/>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17E1192A-8E1C-4214-A295-D908922A99E3}"/>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male by ε4 disease interaction</a:t>
            </a:r>
          </a:p>
        </p:txBody>
      </p:sp>
      <p:sp>
        <p:nvSpPr>
          <p:cNvPr id="11" name="Oval 10">
            <a:extLst xmlns:a="http://schemas.openxmlformats.org/drawingml/2006/main">
              <a:ext uri="{FF2B5EF4-FFF2-40B4-BE49-F238E27FC236}">
                <a16:creationId xmlns:a16="http://schemas.microsoft.com/office/drawing/2014/main" id="{E8E5166A-8258-47E9-975E-872AAA6EF8C3}"/>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ABF07DB-33C4-4F84-8029-CE5800B31AA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Cross-cohort robustness at broad or fine resolution</a:t>
            </a:r>
          </a:p>
        </p:txBody>
      </p:sp>
      <p:sp>
        <p:nvSpPr>
          <p:cNvPr id="13" name="Rounded Rectangle 12">
            <a:extLst xmlns:a="http://schemas.openxmlformats.org/drawingml/2006/main">
              <a:ext uri="{FF2B5EF4-FFF2-40B4-BE49-F238E27FC236}">
                <a16:creationId xmlns:a16="http://schemas.microsoft.com/office/drawing/2014/main" id="{F9E68E1D-9E30-4ACD-B0D1-A6A3DA3A4D87}"/>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1020CD90-973C-492E-80B0-339BAA949249}"/>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E4BEDD9F-8007-407A-9CFB-20B2C1B53D8C}"/>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46D0BCF9-C26F-4F8A-AD88-11B48956D1A3}"/>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6950AD8-AFA0-45DE-865A-E819C14F590E}"/>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Freeze a mitonuclear balance score before testing</a:t>
            </a:r>
          </a:p>
        </p:txBody>
      </p:sp>
      <p:sp>
        <p:nvSpPr>
          <p:cNvPr id="18" name="Oval 17">
            <a:extLst xmlns:a="http://schemas.openxmlformats.org/drawingml/2006/main">
              <a:ext uri="{FF2B5EF4-FFF2-40B4-BE49-F238E27FC236}">
                <a16:creationId xmlns:a16="http://schemas.microsoft.com/office/drawing/2014/main" id="{A9270600-42B7-45D3-892E-15825AFDF8EB}"/>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EF62B9C9-D658-4409-B9D5-3A37C08E9CA7}"/>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Compare male ε4 with male ε3/ε3 and female ε4</a:t>
            </a:r>
          </a:p>
        </p:txBody>
      </p:sp>
      <p:sp>
        <p:nvSpPr>
          <p:cNvPr id="20" name="Oval 19">
            <a:extLst xmlns:a="http://schemas.openxmlformats.org/drawingml/2006/main">
              <a:ext uri="{FF2B5EF4-FFF2-40B4-BE49-F238E27FC236}">
                <a16:creationId xmlns:a16="http://schemas.microsoft.com/office/drawing/2014/main" id="{1433335F-9A5E-417A-B093-67A4EB27DDE2}"/>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026048D-B65C-4D41-BC8E-B37EF1F38738}"/>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paired OXPHOS proteins and respiratory function</a:t>
            </a:r>
          </a:p>
        </p:txBody>
      </p:sp>
      <p:sp>
        <p:nvSpPr>
          <p:cNvPr id="22" name="TextBox 21">
            <a:extLst xmlns:a="http://schemas.openxmlformats.org/drawingml/2006/main">
              <a:ext uri="{FF2B5EF4-FFF2-40B4-BE49-F238E27FC236}">
                <a16:creationId xmlns:a16="http://schemas.microsoft.com/office/drawing/2014/main" id="{4BC80B27-665E-4833-AB7B-6A152CEBB20D}"/>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8D4F84C7-55F0-488F-8993-0DFB94B7F28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1396117392"/>
      </p:ext>
    </p:extLst>
  </p:cSld>
</p:sld>
</file>

<file path=ppt/slides/slide8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A2A71E9-ACDA-4765-A7F9-B0CEB1DF662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6</a:t>
            </a:r>
          </a:p>
        </p:txBody>
      </p:sp>
      <p:sp>
        <p:nvSpPr>
          <p:cNvPr id="3" name="TextBox 2">
            <a:extLst xmlns:a="http://schemas.openxmlformats.org/drawingml/2006/main">
              <a:ext uri="{FF2B5EF4-FFF2-40B4-BE49-F238E27FC236}">
                <a16:creationId xmlns:a16="http://schemas.microsoft.com/office/drawing/2014/main" id="{48F05558-F943-4C0C-9C78-73E3EBC443D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0C903E9D-C867-4E6D-B6F1-2D65D2917DF6}"/>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17AE226-23F7-4507-B0B8-8C300C84E9AE}"/>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CE5FF710-8136-46D7-B9C6-284FD0953E34}"/>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ε4 risk</a:t>
            </a:r>
          </a:p>
        </p:txBody>
      </p:sp>
      <p:sp>
        <p:nvSpPr>
          <p:cNvPr id="7" name="TextBox 6">
            <a:extLst xmlns:a="http://schemas.openxmlformats.org/drawingml/2006/main">
              <a:ext uri="{FF2B5EF4-FFF2-40B4-BE49-F238E27FC236}">
                <a16:creationId xmlns:a16="http://schemas.microsoft.com/office/drawing/2014/main" id="{BE9C768D-62BE-407B-828D-D02B15976982}"/>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9BAE84CC-1156-45D1-B3EC-2DE3677830A1}"/>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ε4 as a major common risk allele for late-onset AD.</a:t>
            </a:r>
          </a:p>
        </p:txBody>
      </p:sp>
      <p:sp>
        <p:nvSpPr>
          <p:cNvPr id="9" name="TextBox 8">
            <a:extLst xmlns:a="http://schemas.openxmlformats.org/drawingml/2006/main">
              <a:ext uri="{FF2B5EF4-FFF2-40B4-BE49-F238E27FC236}">
                <a16:creationId xmlns:a16="http://schemas.microsoft.com/office/drawing/2014/main" id="{86212FEB-C905-4023-B4CE-3E39222AAF43}"/>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A6DF6AFE-5D1D-4221-BE74-25CA572331ED}"/>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Risk association does not validate the RNA mismatch.</a:t>
            </a:r>
          </a:p>
        </p:txBody>
      </p:sp>
      <p:sp>
        <p:nvSpPr>
          <p:cNvPr id="11" name="Rounded Rectangle 10">
            <a:extLst xmlns:a="http://schemas.openxmlformats.org/drawingml/2006/main">
              <a:ext uri="{FF2B5EF4-FFF2-40B4-BE49-F238E27FC236}">
                <a16:creationId xmlns:a16="http://schemas.microsoft.com/office/drawing/2014/main" id="{FA5A70B5-ED40-4A94-9C96-69CF00AAD108}"/>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619859B-7770-4E65-9610-E6F7B16750F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A6B440C9-AFA2-4622-B717-DF2B9BEE1DDA}"/>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mitochondrial biology</a:t>
            </a:r>
          </a:p>
        </p:txBody>
      </p:sp>
      <p:sp>
        <p:nvSpPr>
          <p:cNvPr id="14" name="TextBox 13">
            <a:extLst xmlns:a="http://schemas.openxmlformats.org/drawingml/2006/main">
              <a:ext uri="{FF2B5EF4-FFF2-40B4-BE49-F238E27FC236}">
                <a16:creationId xmlns:a16="http://schemas.microsoft.com/office/drawing/2014/main" id="{20C1216D-627E-4BAF-93EC-FF63B2D2A9AB}"/>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F7CF12F-A69F-4AE5-8842-F672880271B2}"/>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APOE4 can alter mitochondrial homeostasis.</a:t>
            </a:r>
          </a:p>
        </p:txBody>
      </p:sp>
      <p:sp>
        <p:nvSpPr>
          <p:cNvPr id="16" name="TextBox 15">
            <a:extLst xmlns:a="http://schemas.openxmlformats.org/drawingml/2006/main">
              <a:ext uri="{FF2B5EF4-FFF2-40B4-BE49-F238E27FC236}">
                <a16:creationId xmlns:a16="http://schemas.microsoft.com/office/drawing/2014/main" id="{D60C0674-C91F-4F95-B95A-6EDEAF6B2D83}"/>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DFEF089C-4CF8-487F-BC4B-57340E96F366}"/>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astrocyte models rather than this male cell context.</a:t>
            </a:r>
          </a:p>
        </p:txBody>
      </p:sp>
      <p:sp>
        <p:nvSpPr>
          <p:cNvPr id="18" name="Rounded Rectangle 17">
            <a:extLst xmlns:a="http://schemas.openxmlformats.org/drawingml/2006/main">
              <a:ext uri="{FF2B5EF4-FFF2-40B4-BE49-F238E27FC236}">
                <a16:creationId xmlns:a16="http://schemas.microsoft.com/office/drawing/2014/main" id="{087EB3B4-9294-4423-B7F0-8277CEE7876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7CBDB310-912D-46D4-9AA6-6CD32DDC683A}"/>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Guo et al. 2023</a:t>
            </a:r>
          </a:p>
        </p:txBody>
      </p:sp>
      <p:sp>
        <p:nvSpPr>
          <p:cNvPr id="20" name="TextBox 19">
            <a:extLst xmlns:a="http://schemas.openxmlformats.org/drawingml/2006/main">
              <a:ext uri="{FF2B5EF4-FFF2-40B4-BE49-F238E27FC236}">
                <a16:creationId xmlns:a16="http://schemas.microsoft.com/office/drawing/2014/main" id="{B57CC57B-E52D-4903-8DEE-48C40C4A2597}"/>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Sex-aware networks</a:t>
            </a:r>
          </a:p>
        </p:txBody>
      </p:sp>
      <p:sp>
        <p:nvSpPr>
          <p:cNvPr id="21" name="TextBox 20">
            <a:extLst xmlns:a="http://schemas.openxmlformats.org/drawingml/2006/main">
              <a:ext uri="{FF2B5EF4-FFF2-40B4-BE49-F238E27FC236}">
                <a16:creationId xmlns:a16="http://schemas.microsoft.com/office/drawing/2014/main" id="{517E81FA-421A-4304-A594-F165D93BA2F1}"/>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209B394-6AA7-4AE2-B249-1B9166E9C76C}"/>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testing Alzheimer’s molecular patterns separately by sex.</a:t>
            </a:r>
          </a:p>
        </p:txBody>
      </p:sp>
      <p:sp>
        <p:nvSpPr>
          <p:cNvPr id="23" name="TextBox 22">
            <a:extLst xmlns:a="http://schemas.openxmlformats.org/drawingml/2006/main">
              <a:ext uri="{FF2B5EF4-FFF2-40B4-BE49-F238E27FC236}">
                <a16:creationId xmlns:a16="http://schemas.microsoft.com/office/drawing/2014/main" id="{C90C4C24-932F-41F6-B2ED-490C4F59A28D}"/>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14A7C164-EF61-40AF-86A9-58D75AA0F8B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the male ε4 mitonuclear split.</a:t>
            </a:r>
          </a:p>
        </p:txBody>
      </p:sp>
      <p:sp>
        <p:nvSpPr>
          <p:cNvPr id="25" name="Rounded Rectangle 24">
            <a:extLst xmlns:a="http://schemas.openxmlformats.org/drawingml/2006/main">
              <a:ext uri="{FF2B5EF4-FFF2-40B4-BE49-F238E27FC236}">
                <a16:creationId xmlns:a16="http://schemas.microsoft.com/office/drawing/2014/main" id="{AF22BE5D-53D8-4A84-8D39-F3A1BF013D0F}"/>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4CE44620-9CD4-47D3-984A-8DA730CB5F67}"/>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CDC6F57E-B3DC-49A7-90F2-CDE08642BAE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6.</a:t>
            </a:r>
          </a:p>
        </p:txBody>
      </p:sp>
    </p:spTree>
    <p:extLst>
      <p:ext uri="{BB962C8B-B14F-4D97-AF65-F5344CB8AC3E}">
        <p14:creationId xmlns:p14="http://schemas.microsoft.com/office/powerpoint/2010/main" val="669556895"/>
      </p:ext>
    </p:extLst>
  </p:cSld>
</p:sld>
</file>

<file path=ppt/slides/slide8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A30096C-D55D-4ABE-BE88-C387D0BC82F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7</a:t>
            </a:r>
          </a:p>
        </p:txBody>
      </p:sp>
      <p:sp>
        <p:nvSpPr>
          <p:cNvPr id="3" name="Rectangle 2">
            <a:extLst xmlns:a="http://schemas.openxmlformats.org/drawingml/2006/main">
              <a:ext uri="{FF2B5EF4-FFF2-40B4-BE49-F238E27FC236}">
                <a16:creationId xmlns:a16="http://schemas.microsoft.com/office/drawing/2014/main" id="{07B0CE75-22FC-4100-8313-E4706E44D4A7}"/>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C3C69431-9FF7-455D-B05B-FDEFC565A9F3}"/>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A cytosolic-ribosome module repeatedly connects to mitochondrial OXPHOS</a:t>
            </a:r>
          </a:p>
        </p:txBody>
      </p:sp>
      <p:sp>
        <p:nvSpPr>
          <p:cNvPr id="5" name="TextBox 4">
            <a:extLst xmlns:a="http://schemas.openxmlformats.org/drawingml/2006/main">
              <a:ext uri="{FF2B5EF4-FFF2-40B4-BE49-F238E27FC236}">
                <a16:creationId xmlns:a16="http://schemas.microsoft.com/office/drawing/2014/main" id="{F8D6A132-DA96-4B45-A6C1-D185F88F3AAE}"/>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network-module finding.</a:t>
            </a:r>
          </a:p>
        </p:txBody>
      </p:sp>
      <p:sp>
        <p:nvSpPr>
          <p:cNvPr id="6" name="Rounded Rectangle 5">
            <a:extLst xmlns:a="http://schemas.openxmlformats.org/drawingml/2006/main">
              <a:ext uri="{FF2B5EF4-FFF2-40B4-BE49-F238E27FC236}">
                <a16:creationId xmlns:a16="http://schemas.microsoft.com/office/drawing/2014/main" id="{5E0DD4EE-16C5-4B5E-8D67-C37838FD31DB}"/>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992BAB1-4CF7-49F2-A7F6-F7C44F5441D2}"/>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7D2E195A-3D64-4006-9A64-A4891184F27E}"/>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EDFA596-292D-43DA-A9B2-AC8E7D6DCF6A}"/>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64A5EBE7-AA63-4C62-B3E7-BE1548BF254A}"/>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5D94ECA2-C6DC-47D4-A59B-8706C781052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E636E218-D1FF-479C-B0D8-E316DCA8565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538101FC-12F6-4201-B4F7-40718E74E9F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A3949646-4552-4DCA-8126-1D1729BF38F6}"/>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CD2DD9D-3B14-4251-A7B1-CDF917C09991}"/>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4557481F-5C9A-45C6-B1DC-49C44F3B9F5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3ABF24A2-A5FD-43C9-9B7C-7067C81CCBDC}"/>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C2634772-17BE-4470-B29B-9F033C6E0A2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E70C0E51-8788-4D9D-BD42-EE7F7D56DFD1}"/>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7BA88BDA-1487-4601-96AB-7683EE0DB8DE}"/>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9022C60-AB20-43D1-B804-5E0878689463}"/>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RPL11, RPS15, and related cytosolic ribosome genes recur near nuclear OXPHOS query genes.</a:t>
            </a:r>
          </a:p>
        </p:txBody>
      </p:sp>
    </p:spTree>
    <p:extLst>
      <p:ext uri="{BB962C8B-B14F-4D97-AF65-F5344CB8AC3E}">
        <p14:creationId xmlns:p14="http://schemas.microsoft.com/office/powerpoint/2010/main" val="1360297034"/>
      </p:ext>
    </p:extLst>
  </p:cSld>
</p:sld>
</file>

<file path=ppt/slides/slide8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DFBB544-D8F6-4A23-8F92-A0EF20B5404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Cytosolic ribosome genes repeatedly connect to mitochondrial OXPHOS queries</a:t>
            </a:r>
          </a:p>
        </p:txBody>
      </p:sp>
      <p:sp>
        <p:nvSpPr>
          <p:cNvPr id="3" name="TextBox 2">
            <a:extLst xmlns:a="http://schemas.openxmlformats.org/drawingml/2006/main">
              <a:ext uri="{FF2B5EF4-FFF2-40B4-BE49-F238E27FC236}">
                <a16:creationId xmlns:a16="http://schemas.microsoft.com/office/drawing/2014/main" id="{F5F948E9-1AF0-4521-BF33-5C488EBD0DF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cytosolic ribosome builds most cellular proteins. The signal is more credible as one module than as 20 independent drivers.</a:t>
            </a:r>
          </a:p>
        </p:txBody>
      </p:sp>
      <p:sp>
        <p:nvSpPr>
          <p:cNvPr id="4" name="Rounded Rectangle 3">
            <a:extLst xmlns:a="http://schemas.openxmlformats.org/drawingml/2006/main">
              <a:ext uri="{FF2B5EF4-FFF2-40B4-BE49-F238E27FC236}">
                <a16:creationId xmlns:a16="http://schemas.microsoft.com/office/drawing/2014/main" id="{7B5F358A-4756-4D54-A5C1-0832FF4DB8B9}"/>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F618BE8-344B-4EF7-BC67-F133103B2DDE}"/>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20 ribosome genes</a:t>
            </a:r>
          </a:p>
        </p:txBody>
      </p:sp>
      <p:sp>
        <p:nvSpPr>
          <p:cNvPr id="6" name="Rounded Rectangle 5">
            <a:extLst xmlns:a="http://schemas.openxmlformats.org/drawingml/2006/main">
              <a:ext uri="{FF2B5EF4-FFF2-40B4-BE49-F238E27FC236}">
                <a16:creationId xmlns:a16="http://schemas.microsoft.com/office/drawing/2014/main" id="{E89E6262-E83F-468C-B5C3-934B522C060F}"/>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02F4112-022A-4367-9B1E-F8B0600D2E81}"/>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19 categories</a:t>
            </a:r>
          </a:p>
        </p:txBody>
      </p:sp>
      <p:sp>
        <p:nvSpPr>
          <p:cNvPr id="8" name="Rounded Rectangle 7">
            <a:extLst xmlns:a="http://schemas.openxmlformats.org/drawingml/2006/main">
              <a:ext uri="{FF2B5EF4-FFF2-40B4-BE49-F238E27FC236}">
                <a16:creationId xmlns:a16="http://schemas.microsoft.com/office/drawing/2014/main" id="{9F478587-B06E-4AAE-AD39-1B83458A175C}"/>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D447518-AEF0-4634-A75A-F701EB75319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RPL11 and RPS15</a:t>
            </a:r>
          </a:p>
        </p:txBody>
      </p:sp>
      <p:sp>
        <p:nvSpPr>
          <p:cNvPr id="10" name="Rounded Rectangle 9">
            <a:extLst xmlns:a="http://schemas.openxmlformats.org/drawingml/2006/main">
              <a:ext uri="{FF2B5EF4-FFF2-40B4-BE49-F238E27FC236}">
                <a16:creationId xmlns:a16="http://schemas.microsoft.com/office/drawing/2014/main" id="{C1064A77-A287-4464-8DB0-F4D1D1C92B61}"/>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A360CBE-6388-4CE9-AD62-23D21E880FC1}"/>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Module-level claim</a:t>
            </a:r>
          </a:p>
        </p:txBody>
      </p:sp>
      <p:sp>
        <p:nvSpPr>
          <p:cNvPr id="12" name="Rounded Rectangle 11">
            <a:extLst xmlns:a="http://schemas.openxmlformats.org/drawingml/2006/main">
              <a:ext uri="{FF2B5EF4-FFF2-40B4-BE49-F238E27FC236}">
                <a16:creationId xmlns:a16="http://schemas.microsoft.com/office/drawing/2014/main" id="{7C4A4FEE-B5D0-4C1C-BC2A-C9D3CC159D54}"/>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29C9D1E-DFCA-49A2-B24F-8A510720E7DD}"/>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PROTEIN PRODUCTION</a:t>
            </a:r>
          </a:p>
        </p:txBody>
      </p:sp>
      <p:sp>
        <p:nvSpPr>
          <p:cNvPr id="14" name="TextBox 13">
            <a:extLst xmlns:a="http://schemas.openxmlformats.org/drawingml/2006/main">
              <a:ext uri="{FF2B5EF4-FFF2-40B4-BE49-F238E27FC236}">
                <a16:creationId xmlns:a16="http://schemas.microsoft.com/office/drawing/2014/main" id="{6046503C-D1FF-484C-B6DD-48E57AB617F6}"/>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Cytosolic ribosome</a:t>
            </a:r>
          </a:p>
        </p:txBody>
      </p:sp>
      <p:sp>
        <p:nvSpPr>
          <p:cNvPr id="15" name="TextBox 14">
            <a:extLst xmlns:a="http://schemas.openxmlformats.org/drawingml/2006/main">
              <a:ext uri="{FF2B5EF4-FFF2-40B4-BE49-F238E27FC236}">
                <a16:creationId xmlns:a16="http://schemas.microsoft.com/office/drawing/2014/main" id="{AF24597A-943C-4FBA-8507-31BB0E72E474}"/>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molecular machine builds most proteins outside mitochondria.</a:t>
            </a:r>
          </a:p>
        </p:txBody>
      </p:sp>
      <p:sp>
        <p:nvSpPr>
          <p:cNvPr id="16" name="Rounded Rectangle 15">
            <a:extLst xmlns:a="http://schemas.openxmlformats.org/drawingml/2006/main">
              <a:ext uri="{FF2B5EF4-FFF2-40B4-BE49-F238E27FC236}">
                <a16:creationId xmlns:a16="http://schemas.microsoft.com/office/drawing/2014/main" id="{839150BF-0612-4C7E-8DE5-4D72DF1AC83E}"/>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CB9F65F-8DEB-4394-8293-29C490762A83}"/>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NETWORK NEIGHBORHOOD</a:t>
            </a:r>
          </a:p>
        </p:txBody>
      </p:sp>
      <p:sp>
        <p:nvSpPr>
          <p:cNvPr id="18" name="TextBox 17">
            <a:extLst xmlns:a="http://schemas.openxmlformats.org/drawingml/2006/main">
              <a:ext uri="{FF2B5EF4-FFF2-40B4-BE49-F238E27FC236}">
                <a16:creationId xmlns:a16="http://schemas.microsoft.com/office/drawing/2014/main" id="{F2E56F0C-C337-4213-AF26-E3694C5C497C}"/>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Nuclear OXPHOS</a:t>
            </a:r>
          </a:p>
        </p:txBody>
      </p:sp>
      <p:sp>
        <p:nvSpPr>
          <p:cNvPr id="19" name="TextBox 18">
            <a:extLst xmlns:a="http://schemas.openxmlformats.org/drawingml/2006/main">
              <a:ext uri="{FF2B5EF4-FFF2-40B4-BE49-F238E27FC236}">
                <a16:creationId xmlns:a16="http://schemas.microsoft.com/office/drawing/2014/main" id="{98BC256B-4C52-4B77-89A0-46093E677641}"/>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Many returned ribosomal genes sit near nuclear genes that encode respiratory parts.</a:t>
            </a:r>
          </a:p>
        </p:txBody>
      </p:sp>
      <p:sp>
        <p:nvSpPr>
          <p:cNvPr id="20" name="Rounded Rectangle 19">
            <a:extLst xmlns:a="http://schemas.openxmlformats.org/drawingml/2006/main">
              <a:ext uri="{FF2B5EF4-FFF2-40B4-BE49-F238E27FC236}">
                <a16:creationId xmlns:a16="http://schemas.microsoft.com/office/drawing/2014/main" id="{E192E207-FA87-4FBB-8BF7-AC2FBF7243A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72387CA-D53D-43E0-BB76-1EA94052DE20}"/>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INTERPRETATION</a:t>
            </a:r>
          </a:p>
        </p:txBody>
      </p:sp>
      <p:sp>
        <p:nvSpPr>
          <p:cNvPr id="22" name="TextBox 21">
            <a:extLst xmlns:a="http://schemas.openxmlformats.org/drawingml/2006/main">
              <a:ext uri="{FF2B5EF4-FFF2-40B4-BE49-F238E27FC236}">
                <a16:creationId xmlns:a16="http://schemas.microsoft.com/office/drawing/2014/main" id="{E7B1DBBA-A9DD-4A8A-9D9F-3C29084EB6F5}"/>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One recurrent module</a:t>
            </a:r>
          </a:p>
        </p:txBody>
      </p:sp>
      <p:sp>
        <p:nvSpPr>
          <p:cNvPr id="23" name="TextBox 22">
            <a:extLst xmlns:a="http://schemas.openxmlformats.org/drawingml/2006/main">
              <a:ext uri="{FF2B5EF4-FFF2-40B4-BE49-F238E27FC236}">
                <a16:creationId xmlns:a16="http://schemas.microsoft.com/office/drawing/2014/main" id="{666C867F-9E8C-4E47-997A-A993B62C5C1D}"/>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Shared biology and network connectivity make the genes non-independent candidates.</a:t>
            </a:r>
          </a:p>
        </p:txBody>
      </p:sp>
      <p:sp>
        <p:nvSpPr>
          <p:cNvPr id="24" name="Rounded Rectangle 23">
            <a:extLst xmlns:a="http://schemas.openxmlformats.org/drawingml/2006/main">
              <a:ext uri="{FF2B5EF4-FFF2-40B4-BE49-F238E27FC236}">
                <a16:creationId xmlns:a16="http://schemas.microsoft.com/office/drawing/2014/main" id="{86D1A0DC-0847-4936-9BD9-E2D134167017}"/>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698503D-46AA-46F9-AFE6-331ADBF5074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analysis prioritizes a ribosome-to-OXPHOS system, not 20 separate proven mitochondrial controllers.</a:t>
            </a:r>
          </a:p>
        </p:txBody>
      </p:sp>
      <p:sp>
        <p:nvSpPr>
          <p:cNvPr id="26" name="TextBox 25">
            <a:extLst xmlns:a="http://schemas.openxmlformats.org/drawingml/2006/main">
              <a:ext uri="{FF2B5EF4-FFF2-40B4-BE49-F238E27FC236}">
                <a16:creationId xmlns:a16="http://schemas.microsoft.com/office/drawing/2014/main" id="{63C7FD32-EC3E-43D7-924F-CE17AE401C1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1213571903"/>
      </p:ext>
    </p:extLst>
  </p:cSld>
</p:sld>
</file>

<file path=ppt/slides/slide8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F03088E-7B7F-40A5-A318-955B4FE0003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cytosolic ribosome genes are strongly over-represented among drivers</a:t>
            </a:r>
          </a:p>
        </p:txBody>
      </p:sp>
      <p:sp>
        <p:nvSpPr>
          <p:cNvPr id="3" name="TextBox 2">
            <a:extLst xmlns:a="http://schemas.openxmlformats.org/drawingml/2006/main">
              <a:ext uri="{FF2B5EF4-FFF2-40B4-BE49-F238E27FC236}">
                <a16:creationId xmlns:a16="http://schemas.microsoft.com/office/drawing/2014/main" id="{04DDBCE3-B07A-4DD9-AFA8-CBAD55D2B79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enrichment test compares 228 unique non-mitochondrial drivers with the exact network background.</a:t>
            </a:r>
          </a:p>
        </p:txBody>
      </p:sp>
      <p:sp>
        <p:nvSpPr>
          <p:cNvPr id="4" name="Rounded Rectangle 3">
            <a:extLst xmlns:a="http://schemas.openxmlformats.org/drawingml/2006/main">
              <a:ext uri="{FF2B5EF4-FFF2-40B4-BE49-F238E27FC236}">
                <a16:creationId xmlns:a16="http://schemas.microsoft.com/office/drawing/2014/main" id="{070465E0-6370-475D-909C-DF9DE1A646C5}"/>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B9C1632-7C2F-4B62-B2DA-D1237A884F2C}"/>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20/228</a:t>
            </a:r>
          </a:p>
        </p:txBody>
      </p:sp>
      <p:sp>
        <p:nvSpPr>
          <p:cNvPr id="6" name="TextBox 5">
            <a:extLst xmlns:a="http://schemas.openxmlformats.org/drawingml/2006/main">
              <a:ext uri="{FF2B5EF4-FFF2-40B4-BE49-F238E27FC236}">
                <a16:creationId xmlns:a16="http://schemas.microsoft.com/office/drawing/2014/main" id="{B45BD6CB-3B2D-45FA-9C27-691CD049C09C}"/>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driver genes in KEGG ribosome</a:t>
            </a:r>
          </a:p>
        </p:txBody>
      </p:sp>
      <p:sp>
        <p:nvSpPr>
          <p:cNvPr id="7" name="TextBox 6">
            <a:extLst xmlns:a="http://schemas.openxmlformats.org/drawingml/2006/main">
              <a:ext uri="{FF2B5EF4-FFF2-40B4-BE49-F238E27FC236}">
                <a16:creationId xmlns:a16="http://schemas.microsoft.com/office/drawing/2014/main" id="{26B151A9-D7BA-4BBA-A3CD-5C6147453967}"/>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8.8% of drivers</a:t>
            </a:r>
          </a:p>
        </p:txBody>
      </p:sp>
      <p:sp>
        <p:nvSpPr>
          <p:cNvPr id="8" name="Rounded Rectangle 7">
            <a:extLst xmlns:a="http://schemas.openxmlformats.org/drawingml/2006/main">
              <a:ext uri="{FF2B5EF4-FFF2-40B4-BE49-F238E27FC236}">
                <a16:creationId xmlns:a16="http://schemas.microsoft.com/office/drawing/2014/main" id="{18E7AB4F-91F3-4F21-A0E9-33F0E55BCC4B}"/>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BEC5A8B-0959-4C55-8BFE-AB540D794AA5}"/>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00684D"/>
                </a:solidFill>
                <a:latin typeface="Arial"/>
                <a:ea typeface="Arial"/>
                <a:cs typeface="Arial"/>
              </a:rPr>
              <a:t>71/11,478</a:t>
            </a:r>
          </a:p>
        </p:txBody>
      </p:sp>
      <p:sp>
        <p:nvSpPr>
          <p:cNvPr id="10" name="TextBox 9">
            <a:extLst xmlns:a="http://schemas.openxmlformats.org/drawingml/2006/main">
              <a:ext uri="{FF2B5EF4-FFF2-40B4-BE49-F238E27FC236}">
                <a16:creationId xmlns:a16="http://schemas.microsoft.com/office/drawing/2014/main" id="{76178430-4303-4D2F-AFC8-9EB6B75A56E2}"/>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ribosome genes in background</a:t>
            </a:r>
          </a:p>
        </p:txBody>
      </p:sp>
      <p:sp>
        <p:nvSpPr>
          <p:cNvPr id="11" name="TextBox 10">
            <a:extLst xmlns:a="http://schemas.openxmlformats.org/drawingml/2006/main">
              <a:ext uri="{FF2B5EF4-FFF2-40B4-BE49-F238E27FC236}">
                <a16:creationId xmlns:a16="http://schemas.microsoft.com/office/drawing/2014/main" id="{36DA09F3-D6BA-4B92-B7B5-D214C36B1071}"/>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0.62% of background</a:t>
            </a:r>
          </a:p>
        </p:txBody>
      </p:sp>
      <p:sp>
        <p:nvSpPr>
          <p:cNvPr id="12" name="Rounded Rectangle 11">
            <a:extLst xmlns:a="http://schemas.openxmlformats.org/drawingml/2006/main">
              <a:ext uri="{FF2B5EF4-FFF2-40B4-BE49-F238E27FC236}">
                <a16:creationId xmlns:a16="http://schemas.microsoft.com/office/drawing/2014/main" id="{B868E2BB-FEAE-47E4-95C6-3CF71804D148}"/>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2C19F39-395A-4FC9-999E-31EA61BC569F}"/>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300" b="1" i="0">
                <a:solidFill>
                  <a:srgbClr val="895600"/>
                </a:solidFill>
                <a:latin typeface="Arial"/>
                <a:ea typeface="Arial"/>
                <a:cs typeface="Arial"/>
              </a:rPr>
              <a:t>3.56 × 10⁻¹⁵</a:t>
            </a:r>
          </a:p>
        </p:txBody>
      </p:sp>
      <p:sp>
        <p:nvSpPr>
          <p:cNvPr id="14" name="TextBox 13">
            <a:extLst xmlns:a="http://schemas.openxmlformats.org/drawingml/2006/main">
              <a:ext uri="{FF2B5EF4-FFF2-40B4-BE49-F238E27FC236}">
                <a16:creationId xmlns:a16="http://schemas.microsoft.com/office/drawing/2014/main" id="{5C6F3150-E512-4764-9B62-2F030B27B8D6}"/>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BH-adjusted enrichment</a:t>
            </a:r>
          </a:p>
        </p:txBody>
      </p:sp>
      <p:sp>
        <p:nvSpPr>
          <p:cNvPr id="15" name="TextBox 14">
            <a:extLst xmlns:a="http://schemas.openxmlformats.org/drawingml/2006/main">
              <a:ext uri="{FF2B5EF4-FFF2-40B4-BE49-F238E27FC236}">
                <a16:creationId xmlns:a16="http://schemas.microsoft.com/office/drawing/2014/main" id="{C5479A13-DB3C-423D-A352-1DA9C260821E}"/>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one-sided hypergeometric</a:t>
            </a:r>
          </a:p>
        </p:txBody>
      </p:sp>
      <p:sp>
        <p:nvSpPr>
          <p:cNvPr id="16" name="Rounded Rectangle 15">
            <a:extLst xmlns:a="http://schemas.openxmlformats.org/drawingml/2006/main">
              <a:ext uri="{FF2B5EF4-FFF2-40B4-BE49-F238E27FC236}">
                <a16:creationId xmlns:a16="http://schemas.microsoft.com/office/drawing/2014/main" id="{3527DFDE-BA14-4702-BCD8-C301A7AEB06E}"/>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F21CF7D-A077-43C8-ACA9-72B49E036694}"/>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Category recurrence</a:t>
            </a:r>
          </a:p>
        </p:txBody>
      </p:sp>
      <p:sp>
        <p:nvSpPr>
          <p:cNvPr id="18" name="TextBox 17">
            <a:extLst xmlns:a="http://schemas.openxmlformats.org/drawingml/2006/main">
              <a:ext uri="{FF2B5EF4-FFF2-40B4-BE49-F238E27FC236}">
                <a16:creationId xmlns:a16="http://schemas.microsoft.com/office/drawing/2014/main" id="{9BD0921F-6F38-4B9F-8885-64432A51DA65}"/>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19 of 29</a:t>
            </a:r>
          </a:p>
        </p:txBody>
      </p:sp>
      <p:sp>
        <p:nvSpPr>
          <p:cNvPr id="19" name="TextBox 18">
            <a:extLst xmlns:a="http://schemas.openxmlformats.org/drawingml/2006/main">
              <a:ext uri="{FF2B5EF4-FFF2-40B4-BE49-F238E27FC236}">
                <a16:creationId xmlns:a16="http://schemas.microsoft.com/office/drawing/2014/main" id="{FF69B278-636A-4731-9D5B-E83CEE98A550}"/>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Ribosome genes occur in 19 categories containing non-mitochondrial drivers</a:t>
            </a:r>
          </a:p>
        </p:txBody>
      </p:sp>
      <p:sp>
        <p:nvSpPr>
          <p:cNvPr id="20" name="Rounded Rectangle 19">
            <a:extLst xmlns:a="http://schemas.openxmlformats.org/drawingml/2006/main">
              <a:ext uri="{FF2B5EF4-FFF2-40B4-BE49-F238E27FC236}">
                <a16:creationId xmlns:a16="http://schemas.microsoft.com/office/drawing/2014/main" id="{27237102-88B2-4F21-8E41-73E22D11A1A8}"/>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4501BF3-DDC5-4C55-B9F7-27CADF7206C6}"/>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Category units</a:t>
            </a:r>
          </a:p>
        </p:txBody>
      </p:sp>
      <p:sp>
        <p:nvSpPr>
          <p:cNvPr id="22" name="TextBox 21">
            <a:extLst xmlns:a="http://schemas.openxmlformats.org/drawingml/2006/main">
              <a:ext uri="{FF2B5EF4-FFF2-40B4-BE49-F238E27FC236}">
                <a16:creationId xmlns:a16="http://schemas.microsoft.com/office/drawing/2014/main" id="{6803D6A2-450E-47B3-AFAC-1F54A320FDE1}"/>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70 of 381</a:t>
            </a:r>
          </a:p>
        </p:txBody>
      </p:sp>
      <p:sp>
        <p:nvSpPr>
          <p:cNvPr id="23" name="TextBox 22">
            <a:extLst xmlns:a="http://schemas.openxmlformats.org/drawingml/2006/main">
              <a:ext uri="{FF2B5EF4-FFF2-40B4-BE49-F238E27FC236}">
                <a16:creationId xmlns:a16="http://schemas.microsoft.com/office/drawing/2014/main" id="{F3762E1C-DCD7-4394-9FCB-80052C34923A}"/>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Ribosome genes comprise 18.4% of non-mitochondrial gene-by-category units</a:t>
            </a:r>
          </a:p>
        </p:txBody>
      </p:sp>
      <p:sp>
        <p:nvSpPr>
          <p:cNvPr id="24" name="Rounded Rectangle 23">
            <a:extLst xmlns:a="http://schemas.openxmlformats.org/drawingml/2006/main">
              <a:ext uri="{FF2B5EF4-FFF2-40B4-BE49-F238E27FC236}">
                <a16:creationId xmlns:a16="http://schemas.microsoft.com/office/drawing/2014/main" id="{305784A7-FB06-45B2-91E0-70535D7D4D3F}"/>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1477520-6929-4135-B126-74E8CF9A7BF1}"/>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Within-call returns</a:t>
            </a:r>
          </a:p>
        </p:txBody>
      </p:sp>
      <p:sp>
        <p:nvSpPr>
          <p:cNvPr id="26" name="TextBox 25">
            <a:extLst xmlns:a="http://schemas.openxmlformats.org/drawingml/2006/main">
              <a:ext uri="{FF2B5EF4-FFF2-40B4-BE49-F238E27FC236}">
                <a16:creationId xmlns:a16="http://schemas.microsoft.com/office/drawing/2014/main" id="{FAD1FA64-59DA-44CB-8DCE-1D0AAA93DBA0}"/>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133 of 623</a:t>
            </a:r>
          </a:p>
        </p:txBody>
      </p:sp>
      <p:sp>
        <p:nvSpPr>
          <p:cNvPr id="27" name="TextBox 26">
            <a:extLst xmlns:a="http://schemas.openxmlformats.org/drawingml/2006/main">
              <a:ext uri="{FF2B5EF4-FFF2-40B4-BE49-F238E27FC236}">
                <a16:creationId xmlns:a16="http://schemas.microsoft.com/office/drawing/2014/main" id="{6259C5B6-DA10-404B-B8FF-6098C752DAF3}"/>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Ribosome genes comprise 21.3% of non-mitochondrial returns</a:t>
            </a:r>
          </a:p>
        </p:txBody>
      </p:sp>
      <p:sp>
        <p:nvSpPr>
          <p:cNvPr id="28" name="TextBox 27">
            <a:extLst xmlns:a="http://schemas.openxmlformats.org/drawingml/2006/main">
              <a:ext uri="{FF2B5EF4-FFF2-40B4-BE49-F238E27FC236}">
                <a16:creationId xmlns:a16="http://schemas.microsoft.com/office/drawing/2014/main" id="{17137BFD-B69D-46EC-B7E2-666D3494F31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984656830"/>
      </p:ext>
    </p:extLst>
  </p:cSld>
</p:sld>
</file>

<file path=ppt/slides/slide8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1ECEB0D-82E5-4A68-A750-B6FFB744DF9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RPL11 and RPS15 anchor the recurrent ribosome module</a:t>
            </a:r>
          </a:p>
        </p:txBody>
      </p:sp>
      <p:sp>
        <p:nvSpPr>
          <p:cNvPr id="3" name="TextBox 2">
            <a:extLst xmlns:a="http://schemas.openxmlformats.org/drawingml/2006/main">
              <a:ext uri="{FF2B5EF4-FFF2-40B4-BE49-F238E27FC236}">
                <a16:creationId xmlns:a16="http://schemas.microsoft.com/office/drawing/2014/main" id="{9C4B00F1-7172-4E70-B7A6-4FE0B604F08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RPL11 has a broad nuclear-OXPHOS neighborhood, while RPS15 recurs across the most categories.</a:t>
            </a:r>
          </a:p>
        </p:txBody>
      </p:sp>
      <p:sp>
        <p:nvSpPr>
          <p:cNvPr id="4" name="Rounded Rectangle 3">
            <a:extLst xmlns:a="http://schemas.openxmlformats.org/drawingml/2006/main">
              <a:ext uri="{FF2B5EF4-FFF2-40B4-BE49-F238E27FC236}">
                <a16:creationId xmlns:a16="http://schemas.microsoft.com/office/drawing/2014/main" id="{A94105D6-9B82-4584-9332-A1A86CF5C02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D41EB52-46A9-4F9F-8911-18CA06570A68}"/>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RPL11 RECURRENCE</a:t>
            </a:r>
          </a:p>
        </p:txBody>
      </p:sp>
      <p:sp>
        <p:nvSpPr>
          <p:cNvPr id="6" name="TextBox 5">
            <a:extLst xmlns:a="http://schemas.openxmlformats.org/drawingml/2006/main">
              <a:ext uri="{FF2B5EF4-FFF2-40B4-BE49-F238E27FC236}">
                <a16:creationId xmlns:a16="http://schemas.microsoft.com/office/drawing/2014/main" id="{84FA191D-3DA5-4D7C-8A90-3A882FB297A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24 calls, 10 categories</a:t>
            </a:r>
          </a:p>
        </p:txBody>
      </p:sp>
      <p:sp>
        <p:nvSpPr>
          <p:cNvPr id="7" name="TextBox 6">
            <a:extLst xmlns:a="http://schemas.openxmlformats.org/drawingml/2006/main">
              <a:ext uri="{FF2B5EF4-FFF2-40B4-BE49-F238E27FC236}">
                <a16:creationId xmlns:a16="http://schemas.microsoft.com/office/drawing/2014/main" id="{5C7198F6-4A48-4023-906E-67C94CAD078C}"/>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calls span all six strata and four broad networks.</a:t>
            </a:r>
          </a:p>
        </p:txBody>
      </p:sp>
      <p:sp>
        <p:nvSpPr>
          <p:cNvPr id="8" name="Rounded Rectangle 7">
            <a:extLst xmlns:a="http://schemas.openxmlformats.org/drawingml/2006/main">
              <a:ext uri="{FF2B5EF4-FFF2-40B4-BE49-F238E27FC236}">
                <a16:creationId xmlns:a16="http://schemas.microsoft.com/office/drawing/2014/main" id="{BD8980A6-18D0-49D1-93F4-4D2C46CEFC19}"/>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B6BAFD5-50B5-404C-B88E-7BE7ECB81A72}"/>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RPL11 NEIGHBORHOOD</a:t>
            </a:r>
          </a:p>
        </p:txBody>
      </p:sp>
      <p:sp>
        <p:nvSpPr>
          <p:cNvPr id="10" name="TextBox 9">
            <a:extLst xmlns:a="http://schemas.openxmlformats.org/drawingml/2006/main">
              <a:ext uri="{FF2B5EF4-FFF2-40B4-BE49-F238E27FC236}">
                <a16:creationId xmlns:a16="http://schemas.microsoft.com/office/drawing/2014/main" id="{1FE26178-FBD9-48F2-88CD-95EE39996AD6}"/>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253 overlaps, 37 genes</a:t>
            </a:r>
          </a:p>
        </p:txBody>
      </p:sp>
      <p:sp>
        <p:nvSpPr>
          <p:cNvPr id="11" name="TextBox 10">
            <a:extLst xmlns:a="http://schemas.openxmlformats.org/drawingml/2006/main">
              <a:ext uri="{FF2B5EF4-FFF2-40B4-BE49-F238E27FC236}">
                <a16:creationId xmlns:a16="http://schemas.microsoft.com/office/drawing/2014/main" id="{23309AD4-C1DB-40A5-B36C-B8B541EA27BB}"/>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Nuclear structural OXPHOS contributes 151 overlaps, including 100 AD-down occurrences.</a:t>
            </a:r>
          </a:p>
        </p:txBody>
      </p:sp>
      <p:sp>
        <p:nvSpPr>
          <p:cNvPr id="12" name="Rounded Rectangle 11">
            <a:extLst xmlns:a="http://schemas.openxmlformats.org/drawingml/2006/main">
              <a:ext uri="{FF2B5EF4-FFF2-40B4-BE49-F238E27FC236}">
                <a16:creationId xmlns:a16="http://schemas.microsoft.com/office/drawing/2014/main" id="{DC5F9ACF-3048-4799-BFC7-1446758F7C5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9751D64-CD33-4E47-B920-0DCC8F68C20B}"/>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RPS15 RECURRENCE</a:t>
            </a:r>
          </a:p>
        </p:txBody>
      </p:sp>
      <p:sp>
        <p:nvSpPr>
          <p:cNvPr id="14" name="TextBox 13">
            <a:extLst xmlns:a="http://schemas.openxmlformats.org/drawingml/2006/main">
              <a:ext uri="{FF2B5EF4-FFF2-40B4-BE49-F238E27FC236}">
                <a16:creationId xmlns:a16="http://schemas.microsoft.com/office/drawing/2014/main" id="{271013E1-5CAF-4208-8AD3-4CE6E39C89DD}"/>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22 calls, 11 categories</a:t>
            </a:r>
          </a:p>
        </p:txBody>
      </p:sp>
      <p:sp>
        <p:nvSpPr>
          <p:cNvPr id="15" name="TextBox 14">
            <a:extLst xmlns:a="http://schemas.openxmlformats.org/drawingml/2006/main">
              <a:ext uri="{FF2B5EF4-FFF2-40B4-BE49-F238E27FC236}">
                <a16:creationId xmlns:a16="http://schemas.microsoft.com/office/drawing/2014/main" id="{1AE2C159-7217-451E-B2C5-CE86DDC2A68B}"/>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RPS15 is the most broadly recurrent individual representative.</a:t>
            </a:r>
          </a:p>
        </p:txBody>
      </p:sp>
      <p:sp>
        <p:nvSpPr>
          <p:cNvPr id="16" name="Rounded Rectangle 15">
            <a:extLst xmlns:a="http://schemas.openxmlformats.org/drawingml/2006/main">
              <a:ext uri="{FF2B5EF4-FFF2-40B4-BE49-F238E27FC236}">
                <a16:creationId xmlns:a16="http://schemas.microsoft.com/office/drawing/2014/main" id="{BECF2EDB-75A0-4EA0-936D-1D86C5C8B0D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78829E4-8A6A-4094-9DD9-26775597AB03}"/>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Frequent RPL11 neighbors include COX7C, UQCRQ, NDUFS5, NDUFA1, ATP5PF, NDUFB9, and NDUFB3.</a:t>
            </a:r>
          </a:p>
        </p:txBody>
      </p:sp>
      <p:sp>
        <p:nvSpPr>
          <p:cNvPr id="18" name="TextBox 17">
            <a:extLst xmlns:a="http://schemas.openxmlformats.org/drawingml/2006/main">
              <a:ext uri="{FF2B5EF4-FFF2-40B4-BE49-F238E27FC236}">
                <a16:creationId xmlns:a16="http://schemas.microsoft.com/office/drawing/2014/main" id="{F272BDC1-E687-440D-9DC3-E26F9536453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192445171"/>
      </p:ext>
    </p:extLst>
  </p:cSld>
</p:sld>
</file>

<file path=ppt/slides/slide9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840BC72-964A-4CD2-B5F9-2B0F797DACE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cellular protein production may track mitochondrial respiratory stress</a:t>
            </a:r>
          </a:p>
        </p:txBody>
      </p:sp>
      <p:sp>
        <p:nvSpPr>
          <p:cNvPr id="3" name="TextBox 2">
            <a:extLst xmlns:a="http://schemas.openxmlformats.org/drawingml/2006/main">
              <a:ext uri="{FF2B5EF4-FFF2-40B4-BE49-F238E27FC236}">
                <a16:creationId xmlns:a16="http://schemas.microsoft.com/office/drawing/2014/main" id="{3F8C7EFD-4F1B-431D-AAAE-56EE2E0D66F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Ribosome stress and OXPHOS changes can be biologically linked, but network topology offers a technical alternative.</a:t>
            </a:r>
          </a:p>
        </p:txBody>
      </p:sp>
      <p:sp>
        <p:nvSpPr>
          <p:cNvPr id="4" name="Rounded Rectangle 3">
            <a:extLst xmlns:a="http://schemas.openxmlformats.org/drawingml/2006/main">
              <a:ext uri="{FF2B5EF4-FFF2-40B4-BE49-F238E27FC236}">
                <a16:creationId xmlns:a16="http://schemas.microsoft.com/office/drawing/2014/main" id="{9619287F-EE6E-41B9-AF6C-20A166E90580}"/>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A503887-5DA6-4131-95DF-76140003FFEB}"/>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BIOLOGICAL MODEL</a:t>
            </a:r>
          </a:p>
        </p:txBody>
      </p:sp>
      <p:sp>
        <p:nvSpPr>
          <p:cNvPr id="6" name="TextBox 5">
            <a:extLst xmlns:a="http://schemas.openxmlformats.org/drawingml/2006/main">
              <a:ext uri="{FF2B5EF4-FFF2-40B4-BE49-F238E27FC236}">
                <a16:creationId xmlns:a16="http://schemas.microsoft.com/office/drawing/2014/main" id="{38DF7140-D0BF-4FD4-BD8E-888370115E53}"/>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Translation and respiration are coupled</a:t>
            </a:r>
          </a:p>
        </p:txBody>
      </p:sp>
      <p:sp>
        <p:nvSpPr>
          <p:cNvPr id="7" name="TextBox 6">
            <a:extLst xmlns:a="http://schemas.openxmlformats.org/drawingml/2006/main">
              <a:ext uri="{FF2B5EF4-FFF2-40B4-BE49-F238E27FC236}">
                <a16:creationId xmlns:a16="http://schemas.microsoft.com/office/drawing/2014/main" id="{F5DD6E54-2AB9-4B9D-9D36-74720FEFCEE9}"/>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Cells must produce nuclear OXPHOS proteins before respiratory complexes can assemble.</a:t>
            </a:r>
          </a:p>
        </p:txBody>
      </p:sp>
      <p:sp>
        <p:nvSpPr>
          <p:cNvPr id="8" name="Rounded Rectangle 7">
            <a:extLst xmlns:a="http://schemas.openxmlformats.org/drawingml/2006/main">
              <a:ext uri="{FF2B5EF4-FFF2-40B4-BE49-F238E27FC236}">
                <a16:creationId xmlns:a16="http://schemas.microsoft.com/office/drawing/2014/main" id="{24F967C4-333E-41D0-8D8C-DD422AE4005D}"/>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81D10F2-B23C-4EC9-96A3-5F3D82C6BC51}"/>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STRESS MODEL</a:t>
            </a:r>
          </a:p>
        </p:txBody>
      </p:sp>
      <p:sp>
        <p:nvSpPr>
          <p:cNvPr id="10" name="TextBox 9">
            <a:extLst xmlns:a="http://schemas.openxmlformats.org/drawingml/2006/main">
              <a:ext uri="{FF2B5EF4-FFF2-40B4-BE49-F238E27FC236}">
                <a16:creationId xmlns:a16="http://schemas.microsoft.com/office/drawing/2014/main" id="{BC0E480D-53C1-4786-9F48-53A6D896EEC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RPL11 can signal ribosomal stress</a:t>
            </a:r>
          </a:p>
        </p:txBody>
      </p:sp>
      <p:sp>
        <p:nvSpPr>
          <p:cNvPr id="11" name="TextBox 10">
            <a:extLst xmlns:a="http://schemas.openxmlformats.org/drawingml/2006/main">
              <a:ext uri="{FF2B5EF4-FFF2-40B4-BE49-F238E27FC236}">
                <a16:creationId xmlns:a16="http://schemas.microsoft.com/office/drawing/2014/main" id="{0615F3DB-50FE-4882-803F-E8F4A376C28E}"/>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Experimental systems connect RPL11 with MDM2 and p53 signaling.</a:t>
            </a:r>
          </a:p>
        </p:txBody>
      </p:sp>
      <p:sp>
        <p:nvSpPr>
          <p:cNvPr id="12" name="Rounded Rectangle 11">
            <a:extLst xmlns:a="http://schemas.openxmlformats.org/drawingml/2006/main">
              <a:ext uri="{FF2B5EF4-FFF2-40B4-BE49-F238E27FC236}">
                <a16:creationId xmlns:a16="http://schemas.microsoft.com/office/drawing/2014/main" id="{CFB3EC32-C6DD-4A23-85B8-FF8FEC1A9AA3}"/>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E484985-B36C-43D8-8C42-091DB1208684}"/>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TECHNICAL MODEL</a:t>
            </a:r>
          </a:p>
        </p:txBody>
      </p:sp>
      <p:sp>
        <p:nvSpPr>
          <p:cNvPr id="14" name="TextBox 13">
            <a:extLst xmlns:a="http://schemas.openxmlformats.org/drawingml/2006/main">
              <a:ext uri="{FF2B5EF4-FFF2-40B4-BE49-F238E27FC236}">
                <a16:creationId xmlns:a16="http://schemas.microsoft.com/office/drawing/2014/main" id="{7D64DB26-CCC4-4DEA-BCE1-0B4A73CC971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Highly connected genes rank easily</a:t>
            </a:r>
          </a:p>
        </p:txBody>
      </p:sp>
      <p:sp>
        <p:nvSpPr>
          <p:cNvPr id="15" name="TextBox 14">
            <a:extLst xmlns:a="http://schemas.openxmlformats.org/drawingml/2006/main">
              <a:ext uri="{FF2B5EF4-FFF2-40B4-BE49-F238E27FC236}">
                <a16:creationId xmlns:a16="http://schemas.microsoft.com/office/drawing/2014/main" id="{7A21DBE8-3B71-4E73-961E-D4E529837872}"/>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Abundant ribosomal genes may receive an advantage in network-based selection.</a:t>
            </a:r>
          </a:p>
        </p:txBody>
      </p:sp>
      <p:sp>
        <p:nvSpPr>
          <p:cNvPr id="16" name="Rounded Rectangle 15">
            <a:extLst xmlns:a="http://schemas.openxmlformats.org/drawingml/2006/main">
              <a:ext uri="{FF2B5EF4-FFF2-40B4-BE49-F238E27FC236}">
                <a16:creationId xmlns:a16="http://schemas.microsoft.com/office/drawing/2014/main" id="{18D03085-4147-44B0-9DA5-45ED7C66777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BDFD376-0BC0-4A41-8A6D-1E5DAD72A905}"/>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11ACFECC-ECC3-4DA5-BE84-F64FE94253F2}"/>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Degree-matched network tests are necessary before interpreting ribosomal recurrence as regulation.</a:t>
            </a:r>
          </a:p>
        </p:txBody>
      </p:sp>
      <p:sp>
        <p:nvSpPr>
          <p:cNvPr id="19" name="TextBox 18">
            <a:extLst xmlns:a="http://schemas.openxmlformats.org/drawingml/2006/main">
              <a:ext uri="{FF2B5EF4-FFF2-40B4-BE49-F238E27FC236}">
                <a16:creationId xmlns:a16="http://schemas.microsoft.com/office/drawing/2014/main" id="{C5AFAAB0-CACB-4F91-BE90-789D85CFED2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2054249622"/>
      </p:ext>
    </p:extLst>
  </p:cSld>
</p:sld>
</file>

<file path=ppt/slides/slide9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5804733-879C-41CC-B029-9964C7F80CC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7 does not prove, and the next evidence needed</a:t>
            </a:r>
          </a:p>
        </p:txBody>
      </p:sp>
      <p:sp>
        <p:nvSpPr>
          <p:cNvPr id="3" name="TextBox 2">
            <a:extLst xmlns:a="http://schemas.openxmlformats.org/drawingml/2006/main">
              <a:ext uri="{FF2B5EF4-FFF2-40B4-BE49-F238E27FC236}">
                <a16:creationId xmlns:a16="http://schemas.microsoft.com/office/drawing/2014/main" id="{5650E44F-F8A0-4F4A-904C-AB9D2A1F387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4CF420AF-DA2A-49F0-85E1-630CB9FBC328}"/>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6456D83B-C654-4A56-BC86-69CB55204F20}"/>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58463B7-1A49-49CF-8926-D7D26A1FBBE9}"/>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365F1BDF-C98B-450A-A8D1-42E1233AF4C4}"/>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53101885-AF4D-451A-9ECC-0889764F1C27}"/>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ribosomal proteins regulate their OXPHOS neighbors</a:t>
            </a:r>
          </a:p>
        </p:txBody>
      </p:sp>
      <p:sp>
        <p:nvSpPr>
          <p:cNvPr id="9" name="Oval 8">
            <a:extLst xmlns:a="http://schemas.openxmlformats.org/drawingml/2006/main">
              <a:ext uri="{FF2B5EF4-FFF2-40B4-BE49-F238E27FC236}">
                <a16:creationId xmlns:a16="http://schemas.microsoft.com/office/drawing/2014/main" id="{ED619F53-D5A8-4D25-96CD-6798FFFED171}"/>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6BE3369C-8B63-4878-B05E-EB5E9782D795}"/>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replication across fine-cell calls</a:t>
            </a:r>
          </a:p>
        </p:txBody>
      </p:sp>
      <p:sp>
        <p:nvSpPr>
          <p:cNvPr id="11" name="Oval 10">
            <a:extLst xmlns:a="http://schemas.openxmlformats.org/drawingml/2006/main">
              <a:ext uri="{FF2B5EF4-FFF2-40B4-BE49-F238E27FC236}">
                <a16:creationId xmlns:a16="http://schemas.microsoft.com/office/drawing/2014/main" id="{75F02FBF-DD87-4E0D-B57A-D65B20ABED5B}"/>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FC595B2E-D648-49A7-92B6-A6599DC2002E}"/>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enrichment survives network-degree controls</a:t>
            </a:r>
          </a:p>
        </p:txBody>
      </p:sp>
      <p:sp>
        <p:nvSpPr>
          <p:cNvPr id="13" name="Rounded Rectangle 12">
            <a:extLst xmlns:a="http://schemas.openxmlformats.org/drawingml/2006/main">
              <a:ext uri="{FF2B5EF4-FFF2-40B4-BE49-F238E27FC236}">
                <a16:creationId xmlns:a16="http://schemas.microsoft.com/office/drawing/2014/main" id="{2E11B984-FF21-4419-8B68-EA30DDEA515D}"/>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786AB69A-770A-4B27-A53A-47D3998A057C}"/>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A476CE9-76A0-432D-94A6-8F2D59DCC767}"/>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03DB64CB-43C3-40C7-8E7E-FC7898E27D18}"/>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7866790-71E9-48A8-AB65-4F604C1A798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Use degree-matched randomized networks</a:t>
            </a:r>
          </a:p>
        </p:txBody>
      </p:sp>
      <p:sp>
        <p:nvSpPr>
          <p:cNvPr id="18" name="Oval 17">
            <a:extLst xmlns:a="http://schemas.openxmlformats.org/drawingml/2006/main">
              <a:ext uri="{FF2B5EF4-FFF2-40B4-BE49-F238E27FC236}">
                <a16:creationId xmlns:a16="http://schemas.microsoft.com/office/drawing/2014/main" id="{7E15F2F3-295D-4A99-9CB9-8F975F00D781}"/>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EC2C3D7-DC0B-44CE-9366-057615F2CCCE}"/>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Repeat KDA after excluding cytosolic-ribosome nodes</a:t>
            </a:r>
          </a:p>
        </p:txBody>
      </p:sp>
      <p:sp>
        <p:nvSpPr>
          <p:cNvPr id="20" name="Oval 19">
            <a:extLst xmlns:a="http://schemas.openxmlformats.org/drawingml/2006/main">
              <a:ext uri="{FF2B5EF4-FFF2-40B4-BE49-F238E27FC236}">
                <a16:creationId xmlns:a16="http://schemas.microsoft.com/office/drawing/2014/main" id="{B9A2A22F-BF60-4385-A22C-2BF2FCFA2995}"/>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0F46C43-E302-49ED-9B2C-86D3E98AF7E9}"/>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RPL11 or RPS15 and measure translation and respiration</a:t>
            </a:r>
          </a:p>
        </p:txBody>
      </p:sp>
      <p:sp>
        <p:nvSpPr>
          <p:cNvPr id="22" name="TextBox 21">
            <a:extLst xmlns:a="http://schemas.openxmlformats.org/drawingml/2006/main">
              <a:ext uri="{FF2B5EF4-FFF2-40B4-BE49-F238E27FC236}">
                <a16:creationId xmlns:a16="http://schemas.microsoft.com/office/drawing/2014/main" id="{6A5CDAC5-1B5E-4425-9E63-1EA53F5CAAB5}"/>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3824A3E6-A9F9-43A4-A793-92ADEAF2774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717706423"/>
      </p:ext>
    </p:extLst>
  </p:cSld>
</p:sld>
</file>

<file path=ppt/slides/slide9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C333D30-89FA-4312-AEC1-36B8E06C111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7</a:t>
            </a:r>
          </a:p>
        </p:txBody>
      </p:sp>
      <p:sp>
        <p:nvSpPr>
          <p:cNvPr id="3" name="TextBox 2">
            <a:extLst xmlns:a="http://schemas.openxmlformats.org/drawingml/2006/main">
              <a:ext uri="{FF2B5EF4-FFF2-40B4-BE49-F238E27FC236}">
                <a16:creationId xmlns:a16="http://schemas.microsoft.com/office/drawing/2014/main" id="{9EACC32D-13D1-49F2-8DF6-04E8F20B0B3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5EF66AB3-A9AD-446A-BC67-5E08F1F79B96}"/>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7FC84C1-18EE-41D8-A7A8-FADA2B4FEEB9}"/>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Ding et al. 2005</a:t>
            </a:r>
          </a:p>
        </p:txBody>
      </p:sp>
      <p:sp>
        <p:nvSpPr>
          <p:cNvPr id="6" name="TextBox 5">
            <a:extLst xmlns:a="http://schemas.openxmlformats.org/drawingml/2006/main">
              <a:ext uri="{FF2B5EF4-FFF2-40B4-BE49-F238E27FC236}">
                <a16:creationId xmlns:a16="http://schemas.microsoft.com/office/drawing/2014/main" id="{66CFE5F6-A264-4A47-8139-41A633D36018}"/>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Ribosome dysfunction in AD</a:t>
            </a:r>
          </a:p>
        </p:txBody>
      </p:sp>
      <p:sp>
        <p:nvSpPr>
          <p:cNvPr id="7" name="TextBox 6">
            <a:extLst xmlns:a="http://schemas.openxmlformats.org/drawingml/2006/main">
              <a:ext uri="{FF2B5EF4-FFF2-40B4-BE49-F238E27FC236}">
                <a16:creationId xmlns:a16="http://schemas.microsoft.com/office/drawing/2014/main" id="{28EC7146-2BD3-47B3-90B9-27D3EEF8C065}"/>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BA28E06B-C23B-4967-9643-E071B00D26FF}"/>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impaired protein synthesis and RNA oxidation in human AD tissue.</a:t>
            </a:r>
          </a:p>
        </p:txBody>
      </p:sp>
      <p:sp>
        <p:nvSpPr>
          <p:cNvPr id="9" name="TextBox 8">
            <a:extLst xmlns:a="http://schemas.openxmlformats.org/drawingml/2006/main">
              <a:ext uri="{FF2B5EF4-FFF2-40B4-BE49-F238E27FC236}">
                <a16:creationId xmlns:a16="http://schemas.microsoft.com/office/drawing/2014/main" id="{3E18336E-B058-4640-9654-6F33E58BFAD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365DBFD-4FA2-4235-BB81-17867B61871F}"/>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the ROSMAP ribosome-to-OXPHOS network.</a:t>
            </a:r>
          </a:p>
        </p:txBody>
      </p:sp>
      <p:sp>
        <p:nvSpPr>
          <p:cNvPr id="11" name="Rounded Rectangle 10">
            <a:extLst xmlns:a="http://schemas.openxmlformats.org/drawingml/2006/main">
              <a:ext uri="{FF2B5EF4-FFF2-40B4-BE49-F238E27FC236}">
                <a16:creationId xmlns:a16="http://schemas.microsoft.com/office/drawing/2014/main" id="{4BB403BE-68DA-4AC0-8655-DD54541523E0}"/>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D7F784D-F01C-4793-9367-C4AF8701C956}"/>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Zhang et al. 2003</a:t>
            </a:r>
          </a:p>
        </p:txBody>
      </p:sp>
      <p:sp>
        <p:nvSpPr>
          <p:cNvPr id="13" name="TextBox 12">
            <a:extLst xmlns:a="http://schemas.openxmlformats.org/drawingml/2006/main">
              <a:ext uri="{FF2B5EF4-FFF2-40B4-BE49-F238E27FC236}">
                <a16:creationId xmlns:a16="http://schemas.microsoft.com/office/drawing/2014/main" id="{E7E32300-4DD4-4EBA-8FA7-189731843BB5}"/>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RPL11 stress signaling</a:t>
            </a:r>
          </a:p>
        </p:txBody>
      </p:sp>
      <p:sp>
        <p:nvSpPr>
          <p:cNvPr id="14" name="TextBox 13">
            <a:extLst xmlns:a="http://schemas.openxmlformats.org/drawingml/2006/main">
              <a:ext uri="{FF2B5EF4-FFF2-40B4-BE49-F238E27FC236}">
                <a16:creationId xmlns:a16="http://schemas.microsoft.com/office/drawing/2014/main" id="{4DEC5479-E630-463C-B82E-67D97BA3BD11}"/>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316CD5EF-B007-4055-A7A5-A1954BC81614}"/>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RPL11 can signal through the MDM2 and p53 pathway.</a:t>
            </a:r>
          </a:p>
        </p:txBody>
      </p:sp>
      <p:sp>
        <p:nvSpPr>
          <p:cNvPr id="16" name="TextBox 15">
            <a:extLst xmlns:a="http://schemas.openxmlformats.org/drawingml/2006/main">
              <a:ext uri="{FF2B5EF4-FFF2-40B4-BE49-F238E27FC236}">
                <a16:creationId xmlns:a16="http://schemas.microsoft.com/office/drawing/2014/main" id="{1EBEB420-E72A-4D33-8191-B41B784A29E1}"/>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69E47C3D-56D9-43BA-B268-5ED4837DD607}"/>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Experimental stress biology does not prove mitochondrial regulation.</a:t>
            </a:r>
          </a:p>
        </p:txBody>
      </p:sp>
      <p:sp>
        <p:nvSpPr>
          <p:cNvPr id="18" name="Rounded Rectangle 17">
            <a:extLst xmlns:a="http://schemas.openxmlformats.org/drawingml/2006/main">
              <a:ext uri="{FF2B5EF4-FFF2-40B4-BE49-F238E27FC236}">
                <a16:creationId xmlns:a16="http://schemas.microsoft.com/office/drawing/2014/main" id="{BD79985C-21FE-48A3-95BB-E7BEA42CECDC}"/>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2896DA6-7088-4B6B-9EEA-0F4503A01F67}"/>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xmlns:a="http://schemas.openxmlformats.org/drawingml/2006/main">
              <a:ext uri="{FF2B5EF4-FFF2-40B4-BE49-F238E27FC236}">
                <a16:creationId xmlns:a16="http://schemas.microsoft.com/office/drawing/2014/main" id="{AB561183-F25C-4F85-B3D0-E28D72ED0504}"/>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Module recurrence</a:t>
            </a:r>
          </a:p>
        </p:txBody>
      </p:sp>
      <p:sp>
        <p:nvSpPr>
          <p:cNvPr id="21" name="TextBox 20">
            <a:extLst xmlns:a="http://schemas.openxmlformats.org/drawingml/2006/main">
              <a:ext uri="{FF2B5EF4-FFF2-40B4-BE49-F238E27FC236}">
                <a16:creationId xmlns:a16="http://schemas.microsoft.com/office/drawing/2014/main" id="{621BFD6C-6867-4FDD-BCE1-A374D40526AE}"/>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B5588C7B-010A-4359-A5D4-23378BA6C9E0}"/>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Multiple ribosomal genes recur across categories and OXPHOS neighborhoods.</a:t>
            </a:r>
          </a:p>
        </p:txBody>
      </p:sp>
      <p:sp>
        <p:nvSpPr>
          <p:cNvPr id="23" name="TextBox 22">
            <a:extLst xmlns:a="http://schemas.openxmlformats.org/drawingml/2006/main">
              <a:ext uri="{FF2B5EF4-FFF2-40B4-BE49-F238E27FC236}">
                <a16:creationId xmlns:a16="http://schemas.microsoft.com/office/drawing/2014/main" id="{7CDE4019-B2BE-4F28-B4F7-4BD2131ED408}"/>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0114D933-4627-4A99-B116-A7F6254C8621}"/>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Shared donors and network connectivity limit independence.</a:t>
            </a:r>
          </a:p>
        </p:txBody>
      </p:sp>
      <p:sp>
        <p:nvSpPr>
          <p:cNvPr id="25" name="Rounded Rectangle 24">
            <a:extLst xmlns:a="http://schemas.openxmlformats.org/drawingml/2006/main">
              <a:ext uri="{FF2B5EF4-FFF2-40B4-BE49-F238E27FC236}">
                <a16:creationId xmlns:a16="http://schemas.microsoft.com/office/drawing/2014/main" id="{C552AB3A-E34F-40D0-BEC3-7292C27F6EE8}"/>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CA0B9314-4708-4685-9F69-7142B6ECC13C}"/>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788D47FA-6766-4E55-B8A6-E8C90A16151A}"/>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7.</a:t>
            </a:r>
          </a:p>
        </p:txBody>
      </p:sp>
    </p:spTree>
    <p:extLst>
      <p:ext uri="{BB962C8B-B14F-4D97-AF65-F5344CB8AC3E}">
        <p14:creationId xmlns:p14="http://schemas.microsoft.com/office/powerpoint/2010/main" val="813181377"/>
      </p:ext>
    </p:extLst>
  </p:cSld>
</p:sld>
</file>

<file path=ppt/slides/slide93.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8C82DA3-855D-4B60-9FDB-23AF3878CB65}"/>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8</a:t>
            </a:r>
          </a:p>
        </p:txBody>
      </p:sp>
      <p:sp>
        <p:nvSpPr>
          <p:cNvPr id="3" name="Rectangle 2">
            <a:extLst xmlns:a="http://schemas.openxmlformats.org/drawingml/2006/main">
              <a:ext uri="{FF2B5EF4-FFF2-40B4-BE49-F238E27FC236}">
                <a16:creationId xmlns:a16="http://schemas.microsoft.com/office/drawing/2014/main" id="{D0A03960-B5C1-46DA-AA0B-605DB7F9871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80942F9A-53CF-4DFE-87B9-5C9F500963A2}"/>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LAMTOR5 links lysosomal nutrient sensing to OXPHOS</a:t>
            </a:r>
          </a:p>
        </p:txBody>
      </p:sp>
      <p:sp>
        <p:nvSpPr>
          <p:cNvPr id="5" name="TextBox 4">
            <a:extLst xmlns:a="http://schemas.openxmlformats.org/drawingml/2006/main">
              <a:ext uri="{FF2B5EF4-FFF2-40B4-BE49-F238E27FC236}">
                <a16:creationId xmlns:a16="http://schemas.microsoft.com/office/drawing/2014/main" id="{EA1BD881-943D-4E87-A6AA-2F687CA5502E}"/>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xmlns:a="http://schemas.openxmlformats.org/drawingml/2006/main">
              <a:ext uri="{FF2B5EF4-FFF2-40B4-BE49-F238E27FC236}">
                <a16:creationId xmlns:a16="http://schemas.microsoft.com/office/drawing/2014/main" id="{DCEE8990-4014-4F1D-9D00-7427414F357C}"/>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8A0B9090-3EB6-47B0-AA7A-C29081739B7E}"/>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A16C7C97-0645-44E7-A27D-2B37C78A107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BCDA1B8-001C-4A44-8D2D-DB5A24930E59}"/>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6DFBCD45-7C59-4FD1-810E-9DF341A99ADB}"/>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61CB01AA-225D-47AB-BE13-CAE5873456BF}"/>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B8BE7EE-9A92-4DDA-B9BF-1EAA5578E42B}"/>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6CDCEE71-D334-445F-8A60-5CC03FA405F2}"/>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AFEC7FB8-3F63-4DB6-A355-64743A007950}"/>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A1174472-58A2-40B0-97F9-807994C7098A}"/>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0ED415DF-CD9D-4C53-9B25-F064E25ED7CD}"/>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5F33F28C-E14F-458F-B7B2-22741C587BB0}"/>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5577357-C5FB-4D5E-8048-0436DAA50F4B}"/>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AE73047E-159F-4BBB-A7A7-11C0661695A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49D2232A-4B6B-4BAB-A528-B6DE729A2F80}"/>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D79C19BF-F4D9-429D-BE0C-6E00EDB0D50D}"/>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LAMTOR5 repeatedly links lysosomal nutrient sensing with mostly decreased nuclear OXPHOS genes.</a:t>
            </a:r>
          </a:p>
        </p:txBody>
      </p:sp>
    </p:spTree>
    <p:extLst>
      <p:ext uri="{BB962C8B-B14F-4D97-AF65-F5344CB8AC3E}">
        <p14:creationId xmlns:p14="http://schemas.microsoft.com/office/powerpoint/2010/main" val="1546403724"/>
      </p:ext>
    </p:extLst>
  </p:cSld>
</p:sld>
</file>

<file path=ppt/slides/slide9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121AF4-5F17-4383-B99F-23608A038B9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LAMTOR5 connects lysosomal nutrient sensing with mitochondrial energy genes</a:t>
            </a:r>
          </a:p>
        </p:txBody>
      </p:sp>
      <p:sp>
        <p:nvSpPr>
          <p:cNvPr id="3" name="TextBox 2">
            <a:extLst xmlns:a="http://schemas.openxmlformats.org/drawingml/2006/main">
              <a:ext uri="{FF2B5EF4-FFF2-40B4-BE49-F238E27FC236}">
                <a16:creationId xmlns:a16="http://schemas.microsoft.com/office/drawing/2014/main" id="{F359CD9C-D123-4C59-A0AC-15CDDFEF909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Lysosomes recycle cellular material and help sense nutrients. LAMTOR5 helps relay that information to mTORC1.</a:t>
            </a:r>
          </a:p>
        </p:txBody>
      </p:sp>
      <p:sp>
        <p:nvSpPr>
          <p:cNvPr id="4" name="Rounded Rectangle 3">
            <a:extLst xmlns:a="http://schemas.openxmlformats.org/drawingml/2006/main">
              <a:ext uri="{FF2B5EF4-FFF2-40B4-BE49-F238E27FC236}">
                <a16:creationId xmlns:a16="http://schemas.microsoft.com/office/drawing/2014/main" id="{C0686943-6724-43E0-9D97-D072207B5F56}"/>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2F75C9D-8F57-4357-9096-351B2F7929E4}"/>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17 neuronal calls</a:t>
            </a:r>
          </a:p>
        </p:txBody>
      </p:sp>
      <p:sp>
        <p:nvSpPr>
          <p:cNvPr id="6" name="Rounded Rectangle 5">
            <a:extLst xmlns:a="http://schemas.openxmlformats.org/drawingml/2006/main">
              <a:ext uri="{FF2B5EF4-FFF2-40B4-BE49-F238E27FC236}">
                <a16:creationId xmlns:a16="http://schemas.microsoft.com/office/drawing/2014/main" id="{6447CFFB-9A99-460C-A181-6A7F299921A0}"/>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6D333C4-9214-492E-A053-2B16782FB7D1}"/>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xmlns:a="http://schemas.openxmlformats.org/drawingml/2006/main">
              <a:ext uri="{FF2B5EF4-FFF2-40B4-BE49-F238E27FC236}">
                <a16:creationId xmlns:a16="http://schemas.microsoft.com/office/drawing/2014/main" id="{B50DB23B-F923-49BD-808D-BEACEC89E56F}"/>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B59CAE3-8450-44F6-9E1E-AEB731EE7A7E}"/>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Lysosome and mTORC1</a:t>
            </a:r>
          </a:p>
        </p:txBody>
      </p:sp>
      <p:sp>
        <p:nvSpPr>
          <p:cNvPr id="10" name="Rounded Rectangle 9">
            <a:extLst xmlns:a="http://schemas.openxmlformats.org/drawingml/2006/main">
              <a:ext uri="{FF2B5EF4-FFF2-40B4-BE49-F238E27FC236}">
                <a16:creationId xmlns:a16="http://schemas.microsoft.com/office/drawing/2014/main" id="{DA6980E2-6984-4D38-A5F2-1C7582EA1EB2}"/>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0EA3F30F-888D-4836-BDCB-FE8E0D1BB166}"/>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Nuclear OXPHOS</a:t>
            </a:r>
          </a:p>
        </p:txBody>
      </p:sp>
      <p:sp>
        <p:nvSpPr>
          <p:cNvPr id="12" name="Rounded Rectangle 11">
            <a:extLst xmlns:a="http://schemas.openxmlformats.org/drawingml/2006/main">
              <a:ext uri="{FF2B5EF4-FFF2-40B4-BE49-F238E27FC236}">
                <a16:creationId xmlns:a16="http://schemas.microsoft.com/office/drawing/2014/main" id="{1274827F-6508-41D8-ABCA-BBDBD2E11D5B}"/>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2D6327C-B1D3-494F-9F63-F095ADAE2EB4}"/>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LYSOSOME</a:t>
            </a:r>
          </a:p>
        </p:txBody>
      </p:sp>
      <p:sp>
        <p:nvSpPr>
          <p:cNvPr id="14" name="TextBox 13">
            <a:extLst xmlns:a="http://schemas.openxmlformats.org/drawingml/2006/main">
              <a:ext uri="{FF2B5EF4-FFF2-40B4-BE49-F238E27FC236}">
                <a16:creationId xmlns:a16="http://schemas.microsoft.com/office/drawing/2014/main" id="{EFEDAECC-6737-4DED-930C-A05E00FB3767}"/>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Recycling and nutrient sensing</a:t>
            </a:r>
          </a:p>
        </p:txBody>
      </p:sp>
      <p:sp>
        <p:nvSpPr>
          <p:cNvPr id="15" name="TextBox 14">
            <a:extLst xmlns:a="http://schemas.openxmlformats.org/drawingml/2006/main">
              <a:ext uri="{FF2B5EF4-FFF2-40B4-BE49-F238E27FC236}">
                <a16:creationId xmlns:a16="http://schemas.microsoft.com/office/drawing/2014/main" id="{FB2E5AFE-33E8-41B1-9867-C2CDC19830A8}"/>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lysosome breaks down material and helps the cell judge nutrient availability.</a:t>
            </a:r>
          </a:p>
        </p:txBody>
      </p:sp>
      <p:sp>
        <p:nvSpPr>
          <p:cNvPr id="16" name="Rounded Rectangle 15">
            <a:extLst xmlns:a="http://schemas.openxmlformats.org/drawingml/2006/main">
              <a:ext uri="{FF2B5EF4-FFF2-40B4-BE49-F238E27FC236}">
                <a16:creationId xmlns:a16="http://schemas.microsoft.com/office/drawing/2014/main" id="{7E93B811-023D-413F-BA28-9FF12B93E72B}"/>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13FB113-87E2-4F79-9D8D-6A60FFEF266A}"/>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LAMTOR5</a:t>
            </a:r>
          </a:p>
        </p:txBody>
      </p:sp>
      <p:sp>
        <p:nvSpPr>
          <p:cNvPr id="18" name="TextBox 17">
            <a:extLst xmlns:a="http://schemas.openxmlformats.org/drawingml/2006/main">
              <a:ext uri="{FF2B5EF4-FFF2-40B4-BE49-F238E27FC236}">
                <a16:creationId xmlns:a16="http://schemas.microsoft.com/office/drawing/2014/main" id="{6AB71A9D-6ECB-4E5B-955A-1E89D770EEAE}"/>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Ragulator component</a:t>
            </a:r>
          </a:p>
        </p:txBody>
      </p:sp>
      <p:sp>
        <p:nvSpPr>
          <p:cNvPr id="19" name="TextBox 18">
            <a:extLst xmlns:a="http://schemas.openxmlformats.org/drawingml/2006/main">
              <a:ext uri="{FF2B5EF4-FFF2-40B4-BE49-F238E27FC236}">
                <a16:creationId xmlns:a16="http://schemas.microsoft.com/office/drawing/2014/main" id="{F936FED7-6000-4CEA-90A0-B1565794E309}"/>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LAMTOR5 helps connect amino-acid sensing at lysosomes to mTORC1 signaling.</a:t>
            </a:r>
          </a:p>
        </p:txBody>
      </p:sp>
      <p:sp>
        <p:nvSpPr>
          <p:cNvPr id="20" name="Rounded Rectangle 19">
            <a:extLst xmlns:a="http://schemas.openxmlformats.org/drawingml/2006/main">
              <a:ext uri="{FF2B5EF4-FFF2-40B4-BE49-F238E27FC236}">
                <a16:creationId xmlns:a16="http://schemas.microsoft.com/office/drawing/2014/main" id="{E7CFBBF7-D2CB-46BA-9933-B93BE7AD21C6}"/>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146252F-853E-4B38-A203-08AB81BCFD4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MITOCHONDRIA</a:t>
            </a:r>
          </a:p>
        </p:txBody>
      </p:sp>
      <p:sp>
        <p:nvSpPr>
          <p:cNvPr id="22" name="TextBox 21">
            <a:extLst xmlns:a="http://schemas.openxmlformats.org/drawingml/2006/main">
              <a:ext uri="{FF2B5EF4-FFF2-40B4-BE49-F238E27FC236}">
                <a16:creationId xmlns:a16="http://schemas.microsoft.com/office/drawing/2014/main" id="{56B4B593-96E2-4789-AE03-4282F26DC2AE}"/>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Mostly decreased nuclear OXPHOS</a:t>
            </a:r>
          </a:p>
        </p:txBody>
      </p:sp>
      <p:sp>
        <p:nvSpPr>
          <p:cNvPr id="23" name="TextBox 22">
            <a:extLst xmlns:a="http://schemas.openxmlformats.org/drawingml/2006/main">
              <a:ext uri="{FF2B5EF4-FFF2-40B4-BE49-F238E27FC236}">
                <a16:creationId xmlns:a16="http://schemas.microsoft.com/office/drawing/2014/main" id="{A749FEA7-7B20-45A2-8571-B5BDA43C267E}"/>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network neighborhood suggests a connection with respiratory investment.</a:t>
            </a:r>
          </a:p>
        </p:txBody>
      </p:sp>
      <p:sp>
        <p:nvSpPr>
          <p:cNvPr id="24" name="Rounded Rectangle 23">
            <a:extLst xmlns:a="http://schemas.openxmlformats.org/drawingml/2006/main">
              <a:ext uri="{FF2B5EF4-FFF2-40B4-BE49-F238E27FC236}">
                <a16:creationId xmlns:a16="http://schemas.microsoft.com/office/drawing/2014/main" id="{B6CE5C23-5CCE-4CB4-AEB9-ADA1B3113CFB}"/>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268397F-3844-4D11-A2F2-7D68DBB8EC7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result proposes a lysosome-to-mitochondria bridge, while KDA cannot prove the direction of control.</a:t>
            </a:r>
          </a:p>
        </p:txBody>
      </p:sp>
      <p:sp>
        <p:nvSpPr>
          <p:cNvPr id="26" name="TextBox 25">
            <a:extLst xmlns:a="http://schemas.openxmlformats.org/drawingml/2006/main">
              <a:ext uri="{FF2B5EF4-FFF2-40B4-BE49-F238E27FC236}">
                <a16:creationId xmlns:a16="http://schemas.microsoft.com/office/drawing/2014/main" id="{C5BC6070-D4A2-4C38-A3AB-2C496411EF9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340319728"/>
      </p:ext>
    </p:extLst>
  </p:cSld>
</p:sld>
</file>

<file path=ppt/slides/slide9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FE618DA0-DD00-42B7-8B97-160374CEBD8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LAMTOR5 recurs in neuronal calls with coherent OXPHOS neighborhoods</a:t>
            </a:r>
          </a:p>
        </p:txBody>
      </p:sp>
      <p:sp>
        <p:nvSpPr>
          <p:cNvPr id="3" name="TextBox 2">
            <a:extLst xmlns:a="http://schemas.openxmlformats.org/drawingml/2006/main">
              <a:ext uri="{FF2B5EF4-FFF2-40B4-BE49-F238E27FC236}">
                <a16:creationId xmlns:a16="http://schemas.microsoft.com/office/drawing/2014/main" id="{01F8EF43-5476-4423-AEE5-45AEFB4FB7C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strongest category scores occur in male ε2 neurons, where query size is unusually large.</a:t>
            </a:r>
          </a:p>
        </p:txBody>
      </p:sp>
      <p:sp>
        <p:nvSpPr>
          <p:cNvPr id="4" name="Rounded Rectangle 3">
            <a:extLst xmlns:a="http://schemas.openxmlformats.org/drawingml/2006/main">
              <a:ext uri="{FF2B5EF4-FFF2-40B4-BE49-F238E27FC236}">
                <a16:creationId xmlns:a16="http://schemas.microsoft.com/office/drawing/2014/main" id="{5B6610EF-EE09-4BBC-888D-3918D4DEA2FE}"/>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E3E1BC-9FE3-4023-9242-6BD6511C5152}"/>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17</a:t>
            </a:r>
          </a:p>
        </p:txBody>
      </p:sp>
      <p:sp>
        <p:nvSpPr>
          <p:cNvPr id="6" name="TextBox 5">
            <a:extLst xmlns:a="http://schemas.openxmlformats.org/drawingml/2006/main">
              <a:ext uri="{FF2B5EF4-FFF2-40B4-BE49-F238E27FC236}">
                <a16:creationId xmlns:a16="http://schemas.microsoft.com/office/drawing/2014/main" id="{200A218C-6159-401C-B82A-9A4416E08542}"/>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neuronal calls</a:t>
            </a:r>
          </a:p>
        </p:txBody>
      </p:sp>
      <p:sp>
        <p:nvSpPr>
          <p:cNvPr id="7" name="TextBox 6">
            <a:extLst xmlns:a="http://schemas.openxmlformats.org/drawingml/2006/main">
              <a:ext uri="{FF2B5EF4-FFF2-40B4-BE49-F238E27FC236}">
                <a16:creationId xmlns:a16="http://schemas.microsoft.com/office/drawing/2014/main" id="{35D93A9F-FD86-4ED2-94D0-7E25DE52C255}"/>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xmlns:a="http://schemas.openxmlformats.org/drawingml/2006/main">
              <a:ext uri="{FF2B5EF4-FFF2-40B4-BE49-F238E27FC236}">
                <a16:creationId xmlns:a16="http://schemas.microsoft.com/office/drawing/2014/main" id="{67640710-8B6F-4AB4-ABCE-B8454C29855F}"/>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D7A83D0-92A8-4A15-835C-AD73A46C8A68}"/>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87</a:t>
            </a:r>
          </a:p>
        </p:txBody>
      </p:sp>
      <p:sp>
        <p:nvSpPr>
          <p:cNvPr id="10" name="TextBox 9">
            <a:extLst xmlns:a="http://schemas.openxmlformats.org/drawingml/2006/main">
              <a:ext uri="{FF2B5EF4-FFF2-40B4-BE49-F238E27FC236}">
                <a16:creationId xmlns:a16="http://schemas.microsoft.com/office/drawing/2014/main" id="{93D960B7-3A3E-4AAE-B921-94D7F1D663E6}"/>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xmlns:a="http://schemas.openxmlformats.org/drawingml/2006/main">
              <a:ext uri="{FF2B5EF4-FFF2-40B4-BE49-F238E27FC236}">
                <a16:creationId xmlns:a16="http://schemas.microsoft.com/office/drawing/2014/main" id="{6A0553C6-6AF6-4034-B1C1-3E7A6C423354}"/>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39 nuclear OXPHOS</a:t>
            </a:r>
          </a:p>
        </p:txBody>
      </p:sp>
      <p:sp>
        <p:nvSpPr>
          <p:cNvPr id="12" name="Rounded Rectangle 11">
            <a:extLst xmlns:a="http://schemas.openxmlformats.org/drawingml/2006/main">
              <a:ext uri="{FF2B5EF4-FFF2-40B4-BE49-F238E27FC236}">
                <a16:creationId xmlns:a16="http://schemas.microsoft.com/office/drawing/2014/main" id="{4EEC72E9-2837-4155-9F47-73542548BE5A}"/>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9156942-89A3-4B13-AB69-795AF9179B7D}"/>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14/17</a:t>
            </a:r>
          </a:p>
        </p:txBody>
      </p:sp>
      <p:sp>
        <p:nvSpPr>
          <p:cNvPr id="14" name="TextBox 13">
            <a:extLst xmlns:a="http://schemas.openxmlformats.org/drawingml/2006/main">
              <a:ext uri="{FF2B5EF4-FFF2-40B4-BE49-F238E27FC236}">
                <a16:creationId xmlns:a16="http://schemas.microsoft.com/office/drawing/2014/main" id="{0AE85854-4DFB-4782-BBC6-801B2488FBD8}"/>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supporting queries</a:t>
            </a:r>
          </a:p>
        </p:txBody>
      </p:sp>
      <p:sp>
        <p:nvSpPr>
          <p:cNvPr id="15" name="TextBox 14">
            <a:extLst xmlns:a="http://schemas.openxmlformats.org/drawingml/2006/main">
              <a:ext uri="{FF2B5EF4-FFF2-40B4-BE49-F238E27FC236}">
                <a16:creationId xmlns:a16="http://schemas.microsoft.com/office/drawing/2014/main" id="{24A0DDAE-34C1-4254-B5B5-A21E0B2DE4A0}"/>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xmlns:a="http://schemas.openxmlformats.org/drawingml/2006/main">
              <a:ext uri="{FF2B5EF4-FFF2-40B4-BE49-F238E27FC236}">
                <a16:creationId xmlns:a16="http://schemas.microsoft.com/office/drawing/2014/main" id="{63BBC23D-B8DA-4EC9-85EE-B8C8AA56DB85}"/>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884227B-DBEB-4EBC-B6EC-C9FB3634F17E}"/>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Nuclear OXPHOS</a:t>
            </a:r>
          </a:p>
        </p:txBody>
      </p:sp>
      <p:sp>
        <p:nvSpPr>
          <p:cNvPr id="18" name="TextBox 17">
            <a:extLst xmlns:a="http://schemas.openxmlformats.org/drawingml/2006/main">
              <a:ext uri="{FF2B5EF4-FFF2-40B4-BE49-F238E27FC236}">
                <a16:creationId xmlns:a16="http://schemas.microsoft.com/office/drawing/2014/main" id="{7FC7A39A-7538-4092-AF60-7ED08CB90D11}"/>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30 of 39 down</a:t>
            </a:r>
          </a:p>
        </p:txBody>
      </p:sp>
      <p:sp>
        <p:nvSpPr>
          <p:cNvPr id="19" name="TextBox 18">
            <a:extLst xmlns:a="http://schemas.openxmlformats.org/drawingml/2006/main">
              <a:ext uri="{FF2B5EF4-FFF2-40B4-BE49-F238E27FC236}">
                <a16:creationId xmlns:a16="http://schemas.microsoft.com/office/drawing/2014/main" id="{EE2A3DAB-129C-4E11-B570-BB69456AF5C7}"/>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Most structural OXPHOS overlaps point toward lower RNA in AD</a:t>
            </a:r>
          </a:p>
        </p:txBody>
      </p:sp>
      <p:sp>
        <p:nvSpPr>
          <p:cNvPr id="20" name="Rounded Rectangle 19">
            <a:extLst xmlns:a="http://schemas.openxmlformats.org/drawingml/2006/main">
              <a:ext uri="{FF2B5EF4-FFF2-40B4-BE49-F238E27FC236}">
                <a16:creationId xmlns:a16="http://schemas.microsoft.com/office/drawing/2014/main" id="{8D50F26C-3B9E-432A-85A1-6CB3EB4AE652}"/>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FDDFEE9-2C9B-49EB-83FB-D942B50AA95D}"/>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Frequent neighbors</a:t>
            </a:r>
          </a:p>
        </p:txBody>
      </p:sp>
      <p:sp>
        <p:nvSpPr>
          <p:cNvPr id="22" name="TextBox 21">
            <a:extLst xmlns:a="http://schemas.openxmlformats.org/drawingml/2006/main">
              <a:ext uri="{FF2B5EF4-FFF2-40B4-BE49-F238E27FC236}">
                <a16:creationId xmlns:a16="http://schemas.microsoft.com/office/drawing/2014/main" id="{FB4E30BB-A429-4D43-8B29-50E0FBFAF62B}"/>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ATP5IF1, CHCHD10, ATP5MC2</a:t>
            </a:r>
          </a:p>
        </p:txBody>
      </p:sp>
      <p:sp>
        <p:nvSpPr>
          <p:cNvPr id="23" name="TextBox 22">
            <a:extLst xmlns:a="http://schemas.openxmlformats.org/drawingml/2006/main">
              <a:ext uri="{FF2B5EF4-FFF2-40B4-BE49-F238E27FC236}">
                <a16:creationId xmlns:a16="http://schemas.microsoft.com/office/drawing/2014/main" id="{6E044256-F590-4040-9072-85C788DC52F6}"/>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Additional repeated genes include NDUFA6, NDUFB6, TMEM11, and MRPL4</a:t>
            </a:r>
          </a:p>
        </p:txBody>
      </p:sp>
      <p:sp>
        <p:nvSpPr>
          <p:cNvPr id="24" name="Rounded Rectangle 23">
            <a:extLst xmlns:a="http://schemas.openxmlformats.org/drawingml/2006/main">
              <a:ext uri="{FF2B5EF4-FFF2-40B4-BE49-F238E27FC236}">
                <a16:creationId xmlns:a16="http://schemas.microsoft.com/office/drawing/2014/main" id="{97E598F9-1D9C-4BC1-919E-ED62F946486D}"/>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6102808-6A62-441A-A105-24DE4EE3966D}"/>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LAMTOR5 itself</a:t>
            </a:r>
          </a:p>
        </p:txBody>
      </p:sp>
      <p:sp>
        <p:nvSpPr>
          <p:cNvPr id="26" name="TextBox 25">
            <a:extLst xmlns:a="http://schemas.openxmlformats.org/drawingml/2006/main">
              <a:ext uri="{FF2B5EF4-FFF2-40B4-BE49-F238E27FC236}">
                <a16:creationId xmlns:a16="http://schemas.microsoft.com/office/drawing/2014/main" id="{D5F21F3A-6495-4024-AFDC-B6370080963F}"/>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DEG in 11 of 17</a:t>
            </a:r>
          </a:p>
        </p:txBody>
      </p:sp>
      <p:sp>
        <p:nvSpPr>
          <p:cNvPr id="27" name="TextBox 26">
            <a:extLst xmlns:a="http://schemas.openxmlformats.org/drawingml/2006/main">
              <a:ext uri="{FF2B5EF4-FFF2-40B4-BE49-F238E27FC236}">
                <a16:creationId xmlns:a16="http://schemas.microsoft.com/office/drawing/2014/main" id="{8FE10D41-31AC-42AA-9565-1A339F415CC2}"/>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Up in female ε2 excitatory calls and down in the strongest male ε2 calls</a:t>
            </a:r>
          </a:p>
        </p:txBody>
      </p:sp>
      <p:sp>
        <p:nvSpPr>
          <p:cNvPr id="28" name="TextBox 27">
            <a:extLst xmlns:a="http://schemas.openxmlformats.org/drawingml/2006/main">
              <a:ext uri="{FF2B5EF4-FFF2-40B4-BE49-F238E27FC236}">
                <a16:creationId xmlns:a16="http://schemas.microsoft.com/office/drawing/2014/main" id="{2A5FE6E7-4B31-4A9A-A655-9E373B606D7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796382022"/>
      </p:ext>
    </p:extLst>
  </p:cSld>
</p:sld>
</file>

<file path=ppt/slides/slide9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69ADDD6-6FED-4518-ADC4-61AB5B43B3E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Other drivers reinforce the lysosome and autophagy axis</a:t>
            </a:r>
          </a:p>
        </p:txBody>
      </p:sp>
      <p:sp>
        <p:nvSpPr>
          <p:cNvPr id="3" name="TextBox 2">
            <a:extLst xmlns:a="http://schemas.openxmlformats.org/drawingml/2006/main">
              <a:ext uri="{FF2B5EF4-FFF2-40B4-BE49-F238E27FC236}">
                <a16:creationId xmlns:a16="http://schemas.microsoft.com/office/drawing/2014/main" id="{A71DAF7A-FC33-4250-B132-374EDD7426B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broader module reduces reliance on a single LAMTOR5 result.</a:t>
            </a:r>
          </a:p>
        </p:txBody>
      </p:sp>
      <p:sp>
        <p:nvSpPr>
          <p:cNvPr id="4" name="Rounded Rectangle 3">
            <a:extLst xmlns:a="http://schemas.openxmlformats.org/drawingml/2006/main">
              <a:ext uri="{FF2B5EF4-FFF2-40B4-BE49-F238E27FC236}">
                <a16:creationId xmlns:a16="http://schemas.microsoft.com/office/drawing/2014/main" id="{F91FC570-216D-46E9-ABB2-8246A7DAD243}"/>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04346BE-47C9-4272-9553-138E219F50AC}"/>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GABARAPL2</a:t>
            </a:r>
          </a:p>
        </p:txBody>
      </p:sp>
      <p:sp>
        <p:nvSpPr>
          <p:cNvPr id="6" name="TextBox 5">
            <a:extLst xmlns:a="http://schemas.openxmlformats.org/drawingml/2006/main">
              <a:ext uri="{FF2B5EF4-FFF2-40B4-BE49-F238E27FC236}">
                <a16:creationId xmlns:a16="http://schemas.microsoft.com/office/drawing/2014/main" id="{C339804A-F7E7-417C-A6F8-D9252341FD0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13 calls, five categories</a:t>
            </a:r>
          </a:p>
        </p:txBody>
      </p:sp>
      <p:sp>
        <p:nvSpPr>
          <p:cNvPr id="7" name="TextBox 6">
            <a:extLst xmlns:a="http://schemas.openxmlformats.org/drawingml/2006/main">
              <a:ext uri="{FF2B5EF4-FFF2-40B4-BE49-F238E27FC236}">
                <a16:creationId xmlns:a16="http://schemas.microsoft.com/office/drawing/2014/main" id="{13A0E292-077A-4A48-9860-B08FEBDADA7B}"/>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Its neighborhoods contain CHCHD2, ATP5MC3, PARK7, and mitochondrial-ribosome genes.</a:t>
            </a:r>
          </a:p>
        </p:txBody>
      </p:sp>
      <p:sp>
        <p:nvSpPr>
          <p:cNvPr id="8" name="Rounded Rectangle 7">
            <a:extLst xmlns:a="http://schemas.openxmlformats.org/drawingml/2006/main">
              <a:ext uri="{FF2B5EF4-FFF2-40B4-BE49-F238E27FC236}">
                <a16:creationId xmlns:a16="http://schemas.microsoft.com/office/drawing/2014/main" id="{A47BA0A2-94C9-4B9E-A118-40501FBFCE1A}"/>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DCBA099-7F42-4EA1-89A4-B7C1D4ED97FE}"/>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ATG101</a:t>
            </a:r>
          </a:p>
        </p:txBody>
      </p:sp>
      <p:sp>
        <p:nvSpPr>
          <p:cNvPr id="10" name="TextBox 9">
            <a:extLst xmlns:a="http://schemas.openxmlformats.org/drawingml/2006/main">
              <a:ext uri="{FF2B5EF4-FFF2-40B4-BE49-F238E27FC236}">
                <a16:creationId xmlns:a16="http://schemas.microsoft.com/office/drawing/2014/main" id="{258D499A-CA8E-414D-AE1A-38C1AB43F0CC}"/>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Six calls, three categories</a:t>
            </a:r>
          </a:p>
        </p:txBody>
      </p:sp>
      <p:sp>
        <p:nvSpPr>
          <p:cNvPr id="11" name="TextBox 10">
            <a:extLst xmlns:a="http://schemas.openxmlformats.org/drawingml/2006/main">
              <a:ext uri="{FF2B5EF4-FFF2-40B4-BE49-F238E27FC236}">
                <a16:creationId xmlns:a16="http://schemas.microsoft.com/office/drawing/2014/main" id="{4E00DD08-A1BA-4244-AA29-9792AE047B2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Its neighborhoods include MRPS34, UQCRFS1, CLPP, and PINK1.</a:t>
            </a:r>
          </a:p>
        </p:txBody>
      </p:sp>
      <p:sp>
        <p:nvSpPr>
          <p:cNvPr id="12" name="Rounded Rectangle 11">
            <a:extLst xmlns:a="http://schemas.openxmlformats.org/drawingml/2006/main">
              <a:ext uri="{FF2B5EF4-FFF2-40B4-BE49-F238E27FC236}">
                <a16:creationId xmlns:a16="http://schemas.microsoft.com/office/drawing/2014/main" id="{487A7ABE-01C7-4C69-94D7-AC83C0C40D13}"/>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9DA3052-4ECB-4DE7-A611-F1AAF9A03EA7}"/>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ATP6AP2</a:t>
            </a:r>
          </a:p>
        </p:txBody>
      </p:sp>
      <p:sp>
        <p:nvSpPr>
          <p:cNvPr id="14" name="TextBox 13">
            <a:extLst xmlns:a="http://schemas.openxmlformats.org/drawingml/2006/main">
              <a:ext uri="{FF2B5EF4-FFF2-40B4-BE49-F238E27FC236}">
                <a16:creationId xmlns:a16="http://schemas.microsoft.com/office/drawing/2014/main" id="{4F6181FC-CA8D-4CD6-8320-59C7AC43DFEC}"/>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Six calls, three categories</a:t>
            </a:r>
          </a:p>
        </p:txBody>
      </p:sp>
      <p:sp>
        <p:nvSpPr>
          <p:cNvPr id="15" name="TextBox 14">
            <a:extLst xmlns:a="http://schemas.openxmlformats.org/drawingml/2006/main">
              <a:ext uri="{FF2B5EF4-FFF2-40B4-BE49-F238E27FC236}">
                <a16:creationId xmlns:a16="http://schemas.microsoft.com/office/drawing/2014/main" id="{882217B3-ECB9-4298-8BF8-98AA9655911E}"/>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It links V-ATPase biology with OXPHOS and mitochondrial protein import.</a:t>
            </a:r>
          </a:p>
        </p:txBody>
      </p:sp>
      <p:sp>
        <p:nvSpPr>
          <p:cNvPr id="16" name="Rounded Rectangle 15">
            <a:extLst xmlns:a="http://schemas.openxmlformats.org/drawingml/2006/main">
              <a:ext uri="{FF2B5EF4-FFF2-40B4-BE49-F238E27FC236}">
                <a16:creationId xmlns:a16="http://schemas.microsoft.com/office/drawing/2014/main" id="{113A5B04-46B9-4535-9497-5F32F45F75A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99DDA78-675A-4FF5-AD9C-85182EE852C9}"/>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SEA-AD had no active call in a matching LAMTOR5 discovery category, so exact-context support is unavailable.</a:t>
            </a:r>
          </a:p>
        </p:txBody>
      </p:sp>
      <p:sp>
        <p:nvSpPr>
          <p:cNvPr id="18" name="TextBox 17">
            <a:extLst xmlns:a="http://schemas.openxmlformats.org/drawingml/2006/main">
              <a:ext uri="{FF2B5EF4-FFF2-40B4-BE49-F238E27FC236}">
                <a16:creationId xmlns:a16="http://schemas.microsoft.com/office/drawing/2014/main" id="{51BF36C0-BFA3-4659-98B7-F6057516225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222871662"/>
      </p:ext>
    </p:extLst>
  </p:cSld>
</p:sld>
</file>

<file path=ppt/slides/slide9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5808FA7-0724-4CE1-A90E-0D6AC164396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nutrient sensing coordinates protein production and oxidative capacity</a:t>
            </a:r>
          </a:p>
        </p:txBody>
      </p:sp>
      <p:sp>
        <p:nvSpPr>
          <p:cNvPr id="3" name="TextBox 2">
            <a:extLst xmlns:a="http://schemas.openxmlformats.org/drawingml/2006/main">
              <a:ext uri="{FF2B5EF4-FFF2-40B4-BE49-F238E27FC236}">
                <a16:creationId xmlns:a16="http://schemas.microsoft.com/office/drawing/2014/main" id="{25715E06-95E2-4FAF-8B17-707536FE4336}"/>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LAMTOR5 sits in a plausible biological position between lysosomes, mTORC1, and mitochondria.</a:t>
            </a:r>
          </a:p>
        </p:txBody>
      </p:sp>
      <p:sp>
        <p:nvSpPr>
          <p:cNvPr id="4" name="Rounded Rectangle 3">
            <a:extLst xmlns:a="http://schemas.openxmlformats.org/drawingml/2006/main">
              <a:ext uri="{FF2B5EF4-FFF2-40B4-BE49-F238E27FC236}">
                <a16:creationId xmlns:a16="http://schemas.microsoft.com/office/drawing/2014/main" id="{344EE80B-4EFE-4C99-9B5B-6104A03D109A}"/>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2A3DC2D-52FA-4702-BC18-C9DBD83C75DC}"/>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NUTRIENT SIGNAL</a:t>
            </a:r>
          </a:p>
        </p:txBody>
      </p:sp>
      <p:sp>
        <p:nvSpPr>
          <p:cNvPr id="6" name="TextBox 5">
            <a:extLst xmlns:a="http://schemas.openxmlformats.org/drawingml/2006/main">
              <a:ext uri="{FF2B5EF4-FFF2-40B4-BE49-F238E27FC236}">
                <a16:creationId xmlns:a16="http://schemas.microsoft.com/office/drawing/2014/main" id="{18FCC223-B68E-4B86-A617-35B83FDA7D0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Amino acids activate mTORC1</a:t>
            </a:r>
          </a:p>
        </p:txBody>
      </p:sp>
      <p:sp>
        <p:nvSpPr>
          <p:cNvPr id="7" name="TextBox 6">
            <a:extLst xmlns:a="http://schemas.openxmlformats.org/drawingml/2006/main">
              <a:ext uri="{FF2B5EF4-FFF2-40B4-BE49-F238E27FC236}">
                <a16:creationId xmlns:a16="http://schemas.microsoft.com/office/drawing/2014/main" id="{22BF6CE5-05B5-43E1-B59E-E5BB65061479}"/>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Ragulator helps position nutrient signaling at the lysosomal surface.</a:t>
            </a:r>
          </a:p>
        </p:txBody>
      </p:sp>
      <p:sp>
        <p:nvSpPr>
          <p:cNvPr id="8" name="Rounded Rectangle 7">
            <a:extLst xmlns:a="http://schemas.openxmlformats.org/drawingml/2006/main">
              <a:ext uri="{FF2B5EF4-FFF2-40B4-BE49-F238E27FC236}">
                <a16:creationId xmlns:a16="http://schemas.microsoft.com/office/drawing/2014/main" id="{31398985-4842-402E-A559-42903A21FA1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8A77284-753F-40D9-9781-52777D83B6E5}"/>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CELLULAR RESPONSE</a:t>
            </a:r>
          </a:p>
        </p:txBody>
      </p:sp>
      <p:sp>
        <p:nvSpPr>
          <p:cNvPr id="10" name="TextBox 9">
            <a:extLst xmlns:a="http://schemas.openxmlformats.org/drawingml/2006/main">
              <a:ext uri="{FF2B5EF4-FFF2-40B4-BE49-F238E27FC236}">
                <a16:creationId xmlns:a16="http://schemas.microsoft.com/office/drawing/2014/main" id="{89814C3A-1FE9-4A28-B230-438E76E7E5E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mTORC1 adjusts protein production</a:t>
            </a:r>
          </a:p>
        </p:txBody>
      </p:sp>
      <p:sp>
        <p:nvSpPr>
          <p:cNvPr id="11" name="TextBox 10">
            <a:extLst xmlns:a="http://schemas.openxmlformats.org/drawingml/2006/main">
              <a:ext uri="{FF2B5EF4-FFF2-40B4-BE49-F238E27FC236}">
                <a16:creationId xmlns:a16="http://schemas.microsoft.com/office/drawing/2014/main" id="{2AF010EB-1765-46EE-8869-44E43F0973E5}"/>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pathway can influence nuclear-encoded mitochondrial proteins and oxidative capacity.</a:t>
            </a:r>
          </a:p>
        </p:txBody>
      </p:sp>
      <p:sp>
        <p:nvSpPr>
          <p:cNvPr id="12" name="Rounded Rectangle 11">
            <a:extLst xmlns:a="http://schemas.openxmlformats.org/drawingml/2006/main">
              <a:ext uri="{FF2B5EF4-FFF2-40B4-BE49-F238E27FC236}">
                <a16:creationId xmlns:a16="http://schemas.microsoft.com/office/drawing/2014/main" id="{1BB90CF3-8865-47A4-A44A-C8B564622900}"/>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39CF768-5BAF-4664-B9DE-9FE3C3FE6F6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AD RELEVANCE</a:t>
            </a:r>
          </a:p>
        </p:txBody>
      </p:sp>
      <p:sp>
        <p:nvSpPr>
          <p:cNvPr id="14" name="TextBox 13">
            <a:extLst xmlns:a="http://schemas.openxmlformats.org/drawingml/2006/main">
              <a:ext uri="{FF2B5EF4-FFF2-40B4-BE49-F238E27FC236}">
                <a16:creationId xmlns:a16="http://schemas.microsoft.com/office/drawing/2014/main" id="{CCF3F909-BF96-4102-9FDD-9FA219E51F4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Aβ can disrupt this communication</a:t>
            </a:r>
          </a:p>
        </p:txBody>
      </p:sp>
      <p:sp>
        <p:nvSpPr>
          <p:cNvPr id="15" name="TextBox 14">
            <a:extLst xmlns:a="http://schemas.openxmlformats.org/drawingml/2006/main">
              <a:ext uri="{FF2B5EF4-FFF2-40B4-BE49-F238E27FC236}">
                <a16:creationId xmlns:a16="http://schemas.microsoft.com/office/drawing/2014/main" id="{FB7F615E-B862-4ECF-BABA-A02AFB8A887B}"/>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Experimental work links neuronal lysosome-to-mitochondria signaling with tau-dependent stress.</a:t>
            </a:r>
          </a:p>
        </p:txBody>
      </p:sp>
      <p:sp>
        <p:nvSpPr>
          <p:cNvPr id="16" name="Rounded Rectangle 15">
            <a:extLst xmlns:a="http://schemas.openxmlformats.org/drawingml/2006/main">
              <a:ext uri="{FF2B5EF4-FFF2-40B4-BE49-F238E27FC236}">
                <a16:creationId xmlns:a16="http://schemas.microsoft.com/office/drawing/2014/main" id="{6B8A541C-CA1C-4F66-9B0F-F86F5507FF1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FA96F3A-D1DB-4D30-B396-2990C557CC38}"/>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C4DF2460-0AC6-49CF-9635-A1084195692B}"/>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Biological plausibility supports perturbation studies but does not validate the inferred LAMTOR5 edges.</a:t>
            </a:r>
          </a:p>
        </p:txBody>
      </p:sp>
      <p:sp>
        <p:nvSpPr>
          <p:cNvPr id="19" name="TextBox 18">
            <a:extLst xmlns:a="http://schemas.openxmlformats.org/drawingml/2006/main">
              <a:ext uri="{FF2B5EF4-FFF2-40B4-BE49-F238E27FC236}">
                <a16:creationId xmlns:a16="http://schemas.microsoft.com/office/drawing/2014/main" id="{4EF0EF42-433F-49FD-AD89-CEE1BE3BF5B8}"/>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828377380"/>
      </p:ext>
    </p:extLst>
  </p:cSld>
</p:sld>
</file>

<file path=ppt/slides/slide9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C4FFB41-BA99-400D-8FA8-A8E62CDC128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8 does not prove, and the next evidence needed</a:t>
            </a:r>
          </a:p>
        </p:txBody>
      </p:sp>
      <p:sp>
        <p:nvSpPr>
          <p:cNvPr id="3" name="TextBox 2">
            <a:extLst xmlns:a="http://schemas.openxmlformats.org/drawingml/2006/main">
              <a:ext uri="{FF2B5EF4-FFF2-40B4-BE49-F238E27FC236}">
                <a16:creationId xmlns:a16="http://schemas.microsoft.com/office/drawing/2014/main" id="{26640BC7-60BB-4538-9A21-BFC7DB4A8FF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DD0D0643-B59D-4677-AC08-CF07E569BCA7}"/>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75CF9AC-B95A-4525-BBE9-DC4246E6671E}"/>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6B01BC86-0C04-45D2-8873-CF6F66F6ADA4}"/>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CE003FB1-6E3A-4FB6-BE17-D1E1DFD659D6}"/>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AC40890-9529-4349-A10B-37AF645C2FE1}"/>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Direct control of the listed OXPHOS genes in AD neurons</a:t>
            </a:r>
          </a:p>
        </p:txBody>
      </p:sp>
      <p:sp>
        <p:nvSpPr>
          <p:cNvPr id="9" name="Oval 8">
            <a:extLst xmlns:a="http://schemas.openxmlformats.org/drawingml/2006/main">
              <a:ext uri="{FF2B5EF4-FFF2-40B4-BE49-F238E27FC236}">
                <a16:creationId xmlns:a16="http://schemas.microsoft.com/office/drawing/2014/main" id="{B10E5288-5DEA-4630-8F84-A34FCB90C810}"/>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180BD80-0DD7-4852-A50B-8C12BDE5AF01}"/>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male ε2 recurrence is independent of large queries</a:t>
            </a:r>
          </a:p>
        </p:txBody>
      </p:sp>
      <p:sp>
        <p:nvSpPr>
          <p:cNvPr id="11" name="Oval 10">
            <a:extLst xmlns:a="http://schemas.openxmlformats.org/drawingml/2006/main">
              <a:ext uri="{FF2B5EF4-FFF2-40B4-BE49-F238E27FC236}">
                <a16:creationId xmlns:a16="http://schemas.microsoft.com/office/drawing/2014/main" id="{0EEECB76-57D7-4B33-897F-AD5B16F0EDF5}"/>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5150344-A58E-456E-B49E-17B5B9C0D4E0}"/>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Final q-value significance for exploratory category scores</a:t>
            </a:r>
          </a:p>
        </p:txBody>
      </p:sp>
      <p:sp>
        <p:nvSpPr>
          <p:cNvPr id="13" name="Rounded Rectangle 12">
            <a:extLst xmlns:a="http://schemas.openxmlformats.org/drawingml/2006/main">
              <a:ext uri="{FF2B5EF4-FFF2-40B4-BE49-F238E27FC236}">
                <a16:creationId xmlns:a16="http://schemas.microsoft.com/office/drawing/2014/main" id="{36CDBB97-6285-4E41-8667-21EF8371A7CB}"/>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FEC0D39E-BDA6-4295-A749-7E5A0E8D9602}"/>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061705E-4541-4478-91FD-83D8CA2267A9}"/>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8E055974-296E-4377-BD2E-C6DAB879CFB1}"/>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1CF7992-DA0E-4C9B-8205-A463F75E71A0}"/>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LAMTOR5 in APOE-isogenic neurons</a:t>
            </a:r>
          </a:p>
        </p:txBody>
      </p:sp>
      <p:sp>
        <p:nvSpPr>
          <p:cNvPr id="18" name="Oval 17">
            <a:extLst xmlns:a="http://schemas.openxmlformats.org/drawingml/2006/main">
              <a:ext uri="{FF2B5EF4-FFF2-40B4-BE49-F238E27FC236}">
                <a16:creationId xmlns:a16="http://schemas.microsoft.com/office/drawing/2014/main" id="{8E6CBFBE-9D34-44C9-94A1-8AD567D511F3}"/>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72A37CE6-47E0-47C7-A16A-F2D8197AFECA}"/>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lysosomal acidity, mTORC1, and autophagic flow</a:t>
            </a:r>
          </a:p>
        </p:txBody>
      </p:sp>
      <p:sp>
        <p:nvSpPr>
          <p:cNvPr id="20" name="Oval 19">
            <a:extLst xmlns:a="http://schemas.openxmlformats.org/drawingml/2006/main">
              <a:ext uri="{FF2B5EF4-FFF2-40B4-BE49-F238E27FC236}">
                <a16:creationId xmlns:a16="http://schemas.microsoft.com/office/drawing/2014/main" id="{A615AA07-B0E3-4F9E-A38C-734B83DF568B}"/>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83FAA71-0996-42B1-A117-5A810B193350}"/>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OXPHOS proteins and respiration in the same cells</a:t>
            </a:r>
          </a:p>
        </p:txBody>
      </p:sp>
      <p:sp>
        <p:nvSpPr>
          <p:cNvPr id="22" name="TextBox 21">
            <a:extLst xmlns:a="http://schemas.openxmlformats.org/drawingml/2006/main">
              <a:ext uri="{FF2B5EF4-FFF2-40B4-BE49-F238E27FC236}">
                <a16:creationId xmlns:a16="http://schemas.microsoft.com/office/drawing/2014/main" id="{61CB428E-45A6-4877-A6E5-511FB8A78A38}"/>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71655F23-4532-4C6F-B927-B47AE285D69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382838238"/>
      </p:ext>
    </p:extLst>
  </p:cSld>
</p:sld>
</file>

<file path=ppt/slides/slide9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0606DE-1031-4133-BC4E-9B718D40342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8</a:t>
            </a:r>
          </a:p>
        </p:txBody>
      </p:sp>
      <p:sp>
        <p:nvSpPr>
          <p:cNvPr id="3" name="TextBox 2">
            <a:extLst xmlns:a="http://schemas.openxmlformats.org/drawingml/2006/main">
              <a:ext uri="{FF2B5EF4-FFF2-40B4-BE49-F238E27FC236}">
                <a16:creationId xmlns:a16="http://schemas.microsoft.com/office/drawing/2014/main" id="{D620462D-1240-4841-B4E5-B075D059C38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97344BDF-884D-4191-A1AF-13033991DC8A}"/>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3B16D4E4-0CAE-47DE-B06F-A9DA580B1E08}"/>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Bar-Peled et al. 2012</a:t>
            </a:r>
          </a:p>
        </p:txBody>
      </p:sp>
      <p:sp>
        <p:nvSpPr>
          <p:cNvPr id="6" name="TextBox 5">
            <a:extLst xmlns:a="http://schemas.openxmlformats.org/drawingml/2006/main">
              <a:ext uri="{FF2B5EF4-FFF2-40B4-BE49-F238E27FC236}">
                <a16:creationId xmlns:a16="http://schemas.microsoft.com/office/drawing/2014/main" id="{8678EFDD-D533-49C7-AAB3-34D93C4C237B}"/>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Ragulator and mTORC1</a:t>
            </a:r>
          </a:p>
        </p:txBody>
      </p:sp>
      <p:sp>
        <p:nvSpPr>
          <p:cNvPr id="7" name="TextBox 6">
            <a:extLst xmlns:a="http://schemas.openxmlformats.org/drawingml/2006/main">
              <a:ext uri="{FF2B5EF4-FFF2-40B4-BE49-F238E27FC236}">
                <a16:creationId xmlns:a16="http://schemas.microsoft.com/office/drawing/2014/main" id="{D4232848-0C8E-4412-B915-836BBE7332E0}"/>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56CD44B-9F47-46B4-AD6B-1057CC4B5DD8}"/>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Places LAMTOR5 in amino-acid sensing at the lysosome.</a:t>
            </a:r>
          </a:p>
        </p:txBody>
      </p:sp>
      <p:sp>
        <p:nvSpPr>
          <p:cNvPr id="9" name="TextBox 8">
            <a:extLst xmlns:a="http://schemas.openxmlformats.org/drawingml/2006/main">
              <a:ext uri="{FF2B5EF4-FFF2-40B4-BE49-F238E27FC236}">
                <a16:creationId xmlns:a16="http://schemas.microsoft.com/office/drawing/2014/main" id="{9A995592-C07A-483B-AF82-A7E0605F5BF0}"/>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77CE5BE1-FF84-4909-8C9B-F14CAE8773E1}"/>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test Alzheimer’s neurons or OXPHOS neighbors.</a:t>
            </a:r>
          </a:p>
        </p:txBody>
      </p:sp>
      <p:sp>
        <p:nvSpPr>
          <p:cNvPr id="11" name="Rounded Rectangle 10">
            <a:extLst xmlns:a="http://schemas.openxmlformats.org/drawingml/2006/main">
              <a:ext uri="{FF2B5EF4-FFF2-40B4-BE49-F238E27FC236}">
                <a16:creationId xmlns:a16="http://schemas.microsoft.com/office/drawing/2014/main" id="{FA0293C0-6906-4FE3-884E-8C0ACB608591}"/>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30869E2-CDF6-48FF-9F14-65C2C6F177AC}"/>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Morita et al. 2013</a:t>
            </a:r>
          </a:p>
        </p:txBody>
      </p:sp>
      <p:sp>
        <p:nvSpPr>
          <p:cNvPr id="13" name="TextBox 12">
            <a:extLst xmlns:a="http://schemas.openxmlformats.org/drawingml/2006/main">
              <a:ext uri="{FF2B5EF4-FFF2-40B4-BE49-F238E27FC236}">
                <a16:creationId xmlns:a16="http://schemas.microsoft.com/office/drawing/2014/main" id="{E0ADE300-B1CD-44F4-9F95-83E47F9E7C25}"/>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mTORC1 and mitochondria</a:t>
            </a:r>
          </a:p>
        </p:txBody>
      </p:sp>
      <p:sp>
        <p:nvSpPr>
          <p:cNvPr id="14" name="TextBox 13">
            <a:extLst xmlns:a="http://schemas.openxmlformats.org/drawingml/2006/main">
              <a:ext uri="{FF2B5EF4-FFF2-40B4-BE49-F238E27FC236}">
                <a16:creationId xmlns:a16="http://schemas.microsoft.com/office/drawing/2014/main" id="{52EBF4CC-FDD5-4062-BB1B-5ABE8CD31826}"/>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C86DF77A-F54C-43D3-BE1B-B6C80E9FBBCD}"/>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Links mTORC1 with mitochondrial protein production and oxidative capacity.</a:t>
            </a:r>
          </a:p>
        </p:txBody>
      </p:sp>
      <p:sp>
        <p:nvSpPr>
          <p:cNvPr id="16" name="TextBox 15">
            <a:extLst xmlns:a="http://schemas.openxmlformats.org/drawingml/2006/main">
              <a:ext uri="{FF2B5EF4-FFF2-40B4-BE49-F238E27FC236}">
                <a16:creationId xmlns:a16="http://schemas.microsoft.com/office/drawing/2014/main" id="{FF113B61-5D92-4ECE-AFCA-E9B61834C2B7}"/>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90ECC58D-3CF0-461A-94CC-2874B851EE9A}"/>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LAMTOR5 as the causal node here.</a:t>
            </a:r>
          </a:p>
        </p:txBody>
      </p:sp>
      <p:sp>
        <p:nvSpPr>
          <p:cNvPr id="18" name="Rounded Rectangle 17">
            <a:extLst xmlns:a="http://schemas.openxmlformats.org/drawingml/2006/main">
              <a:ext uri="{FF2B5EF4-FFF2-40B4-BE49-F238E27FC236}">
                <a16:creationId xmlns:a16="http://schemas.microsoft.com/office/drawing/2014/main" id="{E99D3638-F002-4BE6-B773-53917FDD777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FCB6618-8E29-4F15-8133-79011DE5CBF3}"/>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Norambuena et al. 2018</a:t>
            </a:r>
          </a:p>
        </p:txBody>
      </p:sp>
      <p:sp>
        <p:nvSpPr>
          <p:cNvPr id="20" name="TextBox 19">
            <a:extLst xmlns:a="http://schemas.openxmlformats.org/drawingml/2006/main">
              <a:ext uri="{FF2B5EF4-FFF2-40B4-BE49-F238E27FC236}">
                <a16:creationId xmlns:a16="http://schemas.microsoft.com/office/drawing/2014/main" id="{AB0E36CC-A8B5-4F06-A941-F2B3BCD8CE11}"/>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AD nutrient signaling</a:t>
            </a:r>
          </a:p>
        </p:txBody>
      </p:sp>
      <p:sp>
        <p:nvSpPr>
          <p:cNvPr id="21" name="TextBox 20">
            <a:extLst xmlns:a="http://schemas.openxmlformats.org/drawingml/2006/main">
              <a:ext uri="{FF2B5EF4-FFF2-40B4-BE49-F238E27FC236}">
                <a16:creationId xmlns:a16="http://schemas.microsoft.com/office/drawing/2014/main" id="{250F9EFA-B34F-41A8-BB3B-4D0C5D0F340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670960B3-93A8-4E82-AF92-7C52E57B062B}"/>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Aβ disruption of a neuronal lysosome-to-mitochondria pathway.</a:t>
            </a:r>
          </a:p>
        </p:txBody>
      </p:sp>
      <p:sp>
        <p:nvSpPr>
          <p:cNvPr id="23" name="TextBox 22">
            <a:extLst xmlns:a="http://schemas.openxmlformats.org/drawingml/2006/main">
              <a:ext uri="{FF2B5EF4-FFF2-40B4-BE49-F238E27FC236}">
                <a16:creationId xmlns:a16="http://schemas.microsoft.com/office/drawing/2014/main" id="{F7D8AF45-F4FE-403E-AB41-485EDED38951}"/>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FE5E292C-94ED-43A9-9CD7-271A8618E93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LAMTOR5 was not manipulated in that study.</a:t>
            </a:r>
          </a:p>
        </p:txBody>
      </p:sp>
      <p:sp>
        <p:nvSpPr>
          <p:cNvPr id="25" name="Rounded Rectangle 24">
            <a:extLst xmlns:a="http://schemas.openxmlformats.org/drawingml/2006/main">
              <a:ext uri="{FF2B5EF4-FFF2-40B4-BE49-F238E27FC236}">
                <a16:creationId xmlns:a16="http://schemas.microsoft.com/office/drawing/2014/main" id="{FD73361F-A8F3-4098-AD2F-28191F9609A9}"/>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6D6AA771-BFEA-4960-8190-3B8B934AD53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4E44C07A-D0F2-4A43-BA7D-E13E4DE3089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8.</a:t>
            </a:r>
          </a:p>
        </p:txBody>
      </p:sp>
    </p:spTree>
    <p:extLst>
      <p:ext uri="{BB962C8B-B14F-4D97-AF65-F5344CB8AC3E}">
        <p14:creationId xmlns:p14="http://schemas.microsoft.com/office/powerpoint/2010/main" val="1798133656"/>
      </p:ext>
    </p:extLst>
  </p:cSld>
</p:sld>
</file>

<file path=ppt/slides/slide100.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A6DE2F4-C6B3-44D8-857B-952970A51AFF}"/>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9</a:t>
            </a:r>
          </a:p>
        </p:txBody>
      </p:sp>
      <p:sp>
        <p:nvSpPr>
          <p:cNvPr id="3" name="Rectangle 2">
            <a:extLst xmlns:a="http://schemas.openxmlformats.org/drawingml/2006/main">
              <a:ext uri="{FF2B5EF4-FFF2-40B4-BE49-F238E27FC236}">
                <a16:creationId xmlns:a16="http://schemas.microsoft.com/office/drawing/2014/main" id="{F9261DC5-E2AF-4832-A098-ACAC8644BA4C}"/>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237819F4-9571-433D-85CD-29ECE42A4D16}"/>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WDR82 is linked to a narrow excitatory-neuron mtDNA-up module</a:t>
            </a:r>
          </a:p>
        </p:txBody>
      </p:sp>
      <p:sp>
        <p:nvSpPr>
          <p:cNvPr id="5" name="TextBox 4">
            <a:extLst xmlns:a="http://schemas.openxmlformats.org/drawingml/2006/main">
              <a:ext uri="{FF2B5EF4-FFF2-40B4-BE49-F238E27FC236}">
                <a16:creationId xmlns:a16="http://schemas.microsoft.com/office/drawing/2014/main" id="{E1C76D5E-5A45-4A22-B050-6AF0B40A6D0C}"/>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Focused ROSMAP driver finding.</a:t>
            </a:r>
          </a:p>
        </p:txBody>
      </p:sp>
      <p:sp>
        <p:nvSpPr>
          <p:cNvPr id="6" name="Rounded Rectangle 5">
            <a:extLst xmlns:a="http://schemas.openxmlformats.org/drawingml/2006/main">
              <a:ext uri="{FF2B5EF4-FFF2-40B4-BE49-F238E27FC236}">
                <a16:creationId xmlns:a16="http://schemas.microsoft.com/office/drawing/2014/main" id="{E01B366B-55F5-4EB3-BC06-3DAB98158FB0}"/>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F41554B8-509E-4465-85E2-807035C36D08}"/>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B27ABC8F-91F5-4265-9920-8F5A6E885303}"/>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BE7B6EB-3F0A-4753-8783-5D19EA285717}"/>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8A0443E2-41E7-439E-BEEC-D287382D0614}"/>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05736036-4C6F-499A-8FAD-DD3C6BA3FCAC}"/>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BB60235-261F-4CCC-A521-22428F842443}"/>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45C7DE15-D12F-4F80-A19F-EEB5A98EB77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C2160E2-9246-454A-90A3-46E834C22C4E}"/>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5A7196A-6B65-4D83-893D-895BC44D3097}"/>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86D1155-C7D0-4983-A64D-42A0F351DCC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AD283F2-C660-41EE-9766-307D2F38D656}"/>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11623316-45E1-477F-93B3-7B772E2E2C08}"/>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DD0F5029-7AE9-4DC6-A9DA-2A6ACE5F69A4}"/>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F029BB7B-150C-4C1D-AD53-95A2732CCCA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CF83B68-0D98-4486-8337-05D44ED914D4}"/>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WDR82 appears only in excitatory neurons and sits near a four-gene mtDNA-up neighborhood.</a:t>
            </a:r>
          </a:p>
        </p:txBody>
      </p:sp>
    </p:spTree>
    <p:extLst>
      <p:ext uri="{BB962C8B-B14F-4D97-AF65-F5344CB8AC3E}">
        <p14:creationId xmlns:p14="http://schemas.microsoft.com/office/powerpoint/2010/main" val="1085807738"/>
      </p:ext>
    </p:extLst>
  </p:cSld>
</p:sld>
</file>

<file path=ppt/slides/slide10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2B6F843-65D3-4DC2-AECA-814829ECEEE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WDR82 sits near a focused mtDNA-up signal in excitatory neurons</a:t>
            </a:r>
          </a:p>
        </p:txBody>
      </p:sp>
      <p:sp>
        <p:nvSpPr>
          <p:cNvPr id="3" name="TextBox 2">
            <a:extLst xmlns:a="http://schemas.openxmlformats.org/drawingml/2006/main">
              <a:ext uri="{FF2B5EF4-FFF2-40B4-BE49-F238E27FC236}">
                <a16:creationId xmlns:a16="http://schemas.microsoft.com/office/drawing/2014/main" id="{09CDB6A8-B057-4011-BD78-1953592D7AE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exact neighborhood is narrow, and four recurring mitochondrial genes begin within one long mitochondrial RNA.</a:t>
            </a:r>
          </a:p>
        </p:txBody>
      </p:sp>
      <p:sp>
        <p:nvSpPr>
          <p:cNvPr id="4" name="Rounded Rectangle 3">
            <a:extLst xmlns:a="http://schemas.openxmlformats.org/drawingml/2006/main">
              <a:ext uri="{FF2B5EF4-FFF2-40B4-BE49-F238E27FC236}">
                <a16:creationId xmlns:a16="http://schemas.microsoft.com/office/drawing/2014/main" id="{47F264EC-8CC9-4984-AFD8-786596DC0677}"/>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0FFC7A2-A032-43D6-B811-027913372F87}"/>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Excitatory only</a:t>
            </a:r>
          </a:p>
        </p:txBody>
      </p:sp>
      <p:sp>
        <p:nvSpPr>
          <p:cNvPr id="6" name="Rounded Rectangle 5">
            <a:extLst xmlns:a="http://schemas.openxmlformats.org/drawingml/2006/main">
              <a:ext uri="{FF2B5EF4-FFF2-40B4-BE49-F238E27FC236}">
                <a16:creationId xmlns:a16="http://schemas.microsoft.com/office/drawing/2014/main" id="{FD23F777-13D8-4393-BF91-AC4CC27761EB}"/>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AE3EA2A-8F47-4B4F-8B65-9DAF2B0959BB}"/>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18 calls</a:t>
            </a:r>
          </a:p>
        </p:txBody>
      </p:sp>
      <p:sp>
        <p:nvSpPr>
          <p:cNvPr id="8" name="Rounded Rectangle 7">
            <a:extLst xmlns:a="http://schemas.openxmlformats.org/drawingml/2006/main">
              <a:ext uri="{FF2B5EF4-FFF2-40B4-BE49-F238E27FC236}">
                <a16:creationId xmlns:a16="http://schemas.microsoft.com/office/drawing/2014/main" id="{862B976E-1A09-4A7A-A113-9BB339C4F9F4}"/>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561A465-3D17-4C9A-840B-FCA69CC8FBA1}"/>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Four mtDNA genes</a:t>
            </a:r>
          </a:p>
        </p:txBody>
      </p:sp>
      <p:sp>
        <p:nvSpPr>
          <p:cNvPr id="10" name="Rounded Rectangle 9">
            <a:extLst xmlns:a="http://schemas.openxmlformats.org/drawingml/2006/main">
              <a:ext uri="{FF2B5EF4-FFF2-40B4-BE49-F238E27FC236}">
                <a16:creationId xmlns:a16="http://schemas.microsoft.com/office/drawing/2014/main" id="{FD369C69-550E-4864-9C5E-370DFEE74520}"/>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2A0DF023-447F-42A7-8179-97567E05693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Driver not a strong DEG</a:t>
            </a:r>
          </a:p>
        </p:txBody>
      </p:sp>
      <p:sp>
        <p:nvSpPr>
          <p:cNvPr id="12" name="Rounded Rectangle 11">
            <a:extLst xmlns:a="http://schemas.openxmlformats.org/drawingml/2006/main">
              <a:ext uri="{FF2B5EF4-FFF2-40B4-BE49-F238E27FC236}">
                <a16:creationId xmlns:a16="http://schemas.microsoft.com/office/drawing/2014/main" id="{60570FE2-97FF-4F30-BE56-76C7E595F28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0723DBB-7C4D-48A6-9FFF-3C2845BDC606}"/>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WDR82</a:t>
            </a:r>
          </a:p>
        </p:txBody>
      </p:sp>
      <p:sp>
        <p:nvSpPr>
          <p:cNvPr id="14" name="TextBox 13">
            <a:extLst xmlns:a="http://schemas.openxmlformats.org/drawingml/2006/main">
              <a:ext uri="{FF2B5EF4-FFF2-40B4-BE49-F238E27FC236}">
                <a16:creationId xmlns:a16="http://schemas.microsoft.com/office/drawing/2014/main" id="{401487DF-461F-4067-9C22-DAE704EBD00A}"/>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Chromatin-associated candidate</a:t>
            </a:r>
          </a:p>
        </p:txBody>
      </p:sp>
      <p:sp>
        <p:nvSpPr>
          <p:cNvPr id="15" name="TextBox 14">
            <a:extLst xmlns:a="http://schemas.openxmlformats.org/drawingml/2006/main">
              <a:ext uri="{FF2B5EF4-FFF2-40B4-BE49-F238E27FC236}">
                <a16:creationId xmlns:a16="http://schemas.microsoft.com/office/drawing/2014/main" id="{A9817818-1B1F-47C2-92C0-B450F5FD7683}"/>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WDR82 participates in nuclear chromatin regulation rather than the mitochondrial ribosome.</a:t>
            </a:r>
          </a:p>
        </p:txBody>
      </p:sp>
      <p:sp>
        <p:nvSpPr>
          <p:cNvPr id="16" name="Rounded Rectangle 15">
            <a:extLst xmlns:a="http://schemas.openxmlformats.org/drawingml/2006/main">
              <a:ext uri="{FF2B5EF4-FFF2-40B4-BE49-F238E27FC236}">
                <a16:creationId xmlns:a16="http://schemas.microsoft.com/office/drawing/2014/main" id="{DD4B88B4-4666-43BD-89C6-D379BB4E8C12}"/>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6E28FC7-1275-4747-9941-6E647C2BD34C}"/>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EXACT NEIGHBORHOOD</a:t>
            </a:r>
          </a:p>
        </p:txBody>
      </p:sp>
      <p:sp>
        <p:nvSpPr>
          <p:cNvPr id="18" name="TextBox 17">
            <a:extLst xmlns:a="http://schemas.openxmlformats.org/drawingml/2006/main">
              <a:ext uri="{FF2B5EF4-FFF2-40B4-BE49-F238E27FC236}">
                <a16:creationId xmlns:a16="http://schemas.microsoft.com/office/drawing/2014/main" id="{DB27678E-ED00-49A1-A302-2F3ABEDE6D8D}"/>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MT-ND1, ND3, ND4L, ND5</a:t>
            </a:r>
          </a:p>
        </p:txBody>
      </p:sp>
      <p:sp>
        <p:nvSpPr>
          <p:cNvPr id="19" name="TextBox 18">
            <a:extLst xmlns:a="http://schemas.openxmlformats.org/drawingml/2006/main">
              <a:ext uri="{FF2B5EF4-FFF2-40B4-BE49-F238E27FC236}">
                <a16:creationId xmlns:a16="http://schemas.microsoft.com/office/drawing/2014/main" id="{4A03DAC7-8CD7-4C42-80AC-4E41F060FADC}"/>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four mtDNA genes account for nearly every exact KDA overlap.</a:t>
            </a:r>
          </a:p>
        </p:txBody>
      </p:sp>
      <p:sp>
        <p:nvSpPr>
          <p:cNvPr id="20" name="Rounded Rectangle 19">
            <a:extLst xmlns:a="http://schemas.openxmlformats.org/drawingml/2006/main">
              <a:ext uri="{FF2B5EF4-FFF2-40B4-BE49-F238E27FC236}">
                <a16:creationId xmlns:a16="http://schemas.microsoft.com/office/drawing/2014/main" id="{65594A46-3A96-418C-B524-C4840B8F104F}"/>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B9A2061-C4E3-492B-9B80-6A7A2140BCD0}"/>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DEPENDENCE WARNING</a:t>
            </a:r>
          </a:p>
        </p:txBody>
      </p:sp>
      <p:sp>
        <p:nvSpPr>
          <p:cNvPr id="22" name="TextBox 21">
            <a:extLst xmlns:a="http://schemas.openxmlformats.org/drawingml/2006/main">
              <a:ext uri="{FF2B5EF4-FFF2-40B4-BE49-F238E27FC236}">
                <a16:creationId xmlns:a16="http://schemas.microsoft.com/office/drawing/2014/main" id="{2BAAECB7-AA89-4F07-B1DD-11DB6DC05CFF}"/>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One long starting RNA</a:t>
            </a:r>
          </a:p>
        </p:txBody>
      </p:sp>
      <p:sp>
        <p:nvSpPr>
          <p:cNvPr id="23" name="TextBox 22">
            <a:extLst xmlns:a="http://schemas.openxmlformats.org/drawingml/2006/main">
              <a:ext uri="{FF2B5EF4-FFF2-40B4-BE49-F238E27FC236}">
                <a16:creationId xmlns:a16="http://schemas.microsoft.com/office/drawing/2014/main" id="{D5FDC23C-31E2-4E5F-AC3E-A1891C015365}"/>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mitochondrial heavy strand produces a long RNA that is later cut into gene products.</a:t>
            </a:r>
          </a:p>
        </p:txBody>
      </p:sp>
      <p:sp>
        <p:nvSpPr>
          <p:cNvPr id="24" name="Rounded Rectangle 23">
            <a:extLst xmlns:a="http://schemas.openxmlformats.org/drawingml/2006/main">
              <a:ext uri="{FF2B5EF4-FFF2-40B4-BE49-F238E27FC236}">
                <a16:creationId xmlns:a16="http://schemas.microsoft.com/office/drawing/2014/main" id="{FDFF0E3F-E441-4EAB-9592-E47BE4B0D44B}"/>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FC360B10-0AD0-4C46-86B9-F15B37E225D3}"/>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Four gene names do not provide four independent regulatory observations when they share one starting transcript.</a:t>
            </a:r>
          </a:p>
        </p:txBody>
      </p:sp>
      <p:sp>
        <p:nvSpPr>
          <p:cNvPr id="26" name="TextBox 25">
            <a:extLst xmlns:a="http://schemas.openxmlformats.org/drawingml/2006/main">
              <a:ext uri="{FF2B5EF4-FFF2-40B4-BE49-F238E27FC236}">
                <a16:creationId xmlns:a16="http://schemas.microsoft.com/office/drawing/2014/main" id="{C4097177-B504-4A33-83C2-92F702519BA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706994587"/>
      </p:ext>
    </p:extLst>
  </p:cSld>
</p:sld>
</file>

<file path=ppt/slides/slide10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796B948-329C-415E-9CF6-26C4094BD2E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every WDR82-supporting query contains an enriched mtDNA-up program</a:t>
            </a:r>
          </a:p>
        </p:txBody>
      </p:sp>
      <p:sp>
        <p:nvSpPr>
          <p:cNvPr id="3" name="TextBox 2">
            <a:extLst xmlns:a="http://schemas.openxmlformats.org/drawingml/2006/main">
              <a:ext uri="{FF2B5EF4-FFF2-40B4-BE49-F238E27FC236}">
                <a16:creationId xmlns:a16="http://schemas.microsoft.com/office/drawing/2014/main" id="{AFAD291E-EFAE-4E7A-967B-7776BBD0147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KDA can nominate a gene by network position even when the candidate is not a strong DEG.</a:t>
            </a:r>
          </a:p>
        </p:txBody>
      </p:sp>
      <p:sp>
        <p:nvSpPr>
          <p:cNvPr id="4" name="Rounded Rectangle 3">
            <a:extLst xmlns:a="http://schemas.openxmlformats.org/drawingml/2006/main">
              <a:ext uri="{FF2B5EF4-FFF2-40B4-BE49-F238E27FC236}">
                <a16:creationId xmlns:a16="http://schemas.microsoft.com/office/drawing/2014/main" id="{8FD6FF4E-746E-45F3-A081-166CF533595B}"/>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51D04D5-6BCD-4354-B043-BCE629EE33C4}"/>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18</a:t>
            </a:r>
          </a:p>
        </p:txBody>
      </p:sp>
      <p:sp>
        <p:nvSpPr>
          <p:cNvPr id="6" name="TextBox 5">
            <a:extLst xmlns:a="http://schemas.openxmlformats.org/drawingml/2006/main">
              <a:ext uri="{FF2B5EF4-FFF2-40B4-BE49-F238E27FC236}">
                <a16:creationId xmlns:a16="http://schemas.microsoft.com/office/drawing/2014/main" id="{2236BBA9-91A7-40CE-A0BB-AEFC68CD8EEE}"/>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excitatory calls</a:t>
            </a:r>
          </a:p>
        </p:txBody>
      </p:sp>
      <p:sp>
        <p:nvSpPr>
          <p:cNvPr id="7" name="TextBox 6">
            <a:extLst xmlns:a="http://schemas.openxmlformats.org/drawingml/2006/main">
              <a:ext uri="{FF2B5EF4-FFF2-40B4-BE49-F238E27FC236}">
                <a16:creationId xmlns:a16="http://schemas.microsoft.com/office/drawing/2014/main" id="{D8B6C167-1229-499D-95C6-945479D9FC7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four sex/APOE strata</a:t>
            </a:r>
          </a:p>
        </p:txBody>
      </p:sp>
      <p:sp>
        <p:nvSpPr>
          <p:cNvPr id="8" name="Rounded Rectangle 7">
            <a:extLst xmlns:a="http://schemas.openxmlformats.org/drawingml/2006/main">
              <a:ext uri="{FF2B5EF4-FFF2-40B4-BE49-F238E27FC236}">
                <a16:creationId xmlns:a16="http://schemas.microsoft.com/office/drawing/2014/main" id="{25DACDB5-BB63-416B-BC49-EB0D9D8FC7E4}"/>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1370508-08F2-441C-AE02-6B6D3B856F5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172</a:t>
            </a:r>
          </a:p>
        </p:txBody>
      </p:sp>
      <p:sp>
        <p:nvSpPr>
          <p:cNvPr id="10" name="TextBox 9">
            <a:extLst xmlns:a="http://schemas.openxmlformats.org/drawingml/2006/main">
              <a:ext uri="{FF2B5EF4-FFF2-40B4-BE49-F238E27FC236}">
                <a16:creationId xmlns:a16="http://schemas.microsoft.com/office/drawing/2014/main" id="{14E6401D-BAFC-4A6C-A669-F6A94CFA353C}"/>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mtDNA-OXPHOS occurrences</a:t>
            </a:r>
          </a:p>
        </p:txBody>
      </p:sp>
      <p:sp>
        <p:nvSpPr>
          <p:cNvPr id="11" name="TextBox 10">
            <a:extLst xmlns:a="http://schemas.openxmlformats.org/drawingml/2006/main">
              <a:ext uri="{FF2B5EF4-FFF2-40B4-BE49-F238E27FC236}">
                <a16:creationId xmlns:a16="http://schemas.microsoft.com/office/drawing/2014/main" id="{4D9D31F6-550A-48F1-8FC4-D4EBEC8A0037}"/>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all 172 AD-up</a:t>
            </a:r>
          </a:p>
        </p:txBody>
      </p:sp>
      <p:sp>
        <p:nvSpPr>
          <p:cNvPr id="12" name="Rounded Rectangle 11">
            <a:extLst xmlns:a="http://schemas.openxmlformats.org/drawingml/2006/main">
              <a:ext uri="{FF2B5EF4-FFF2-40B4-BE49-F238E27FC236}">
                <a16:creationId xmlns:a16="http://schemas.microsoft.com/office/drawing/2014/main" id="{BDE3E703-E12A-4F9D-92C9-1E0ABF94737B}"/>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CB5A99A-1A79-4DBC-B388-2428F770EC65}"/>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18/18</a:t>
            </a:r>
          </a:p>
        </p:txBody>
      </p:sp>
      <p:sp>
        <p:nvSpPr>
          <p:cNvPr id="14" name="TextBox 13">
            <a:extLst xmlns:a="http://schemas.openxmlformats.org/drawingml/2006/main">
              <a:ext uri="{FF2B5EF4-FFF2-40B4-BE49-F238E27FC236}">
                <a16:creationId xmlns:a16="http://schemas.microsoft.com/office/drawing/2014/main" id="{86A07C68-3DBC-4C49-985D-4B0E890749E2}"/>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xmlns:a="http://schemas.openxmlformats.org/drawingml/2006/main">
              <a:ext uri="{FF2B5EF4-FFF2-40B4-BE49-F238E27FC236}">
                <a16:creationId xmlns:a16="http://schemas.microsoft.com/office/drawing/2014/main" id="{177DB582-E05C-4993-A604-8C3A4861DC52}"/>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mtDNA OXPHOS</a:t>
            </a:r>
          </a:p>
        </p:txBody>
      </p:sp>
      <p:sp>
        <p:nvSpPr>
          <p:cNvPr id="16" name="Rounded Rectangle 15">
            <a:extLst xmlns:a="http://schemas.openxmlformats.org/drawingml/2006/main">
              <a:ext uri="{FF2B5EF4-FFF2-40B4-BE49-F238E27FC236}">
                <a16:creationId xmlns:a16="http://schemas.microsoft.com/office/drawing/2014/main" id="{64ADBA97-2591-4917-8655-CB19C351EE4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A577C3C-ABD3-4F70-B11B-19BCD15774DE}"/>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Exact KDA overlap</a:t>
            </a:r>
          </a:p>
        </p:txBody>
      </p:sp>
      <p:sp>
        <p:nvSpPr>
          <p:cNvPr id="18" name="TextBox 17">
            <a:extLst xmlns:a="http://schemas.openxmlformats.org/drawingml/2006/main">
              <a:ext uri="{FF2B5EF4-FFF2-40B4-BE49-F238E27FC236}">
                <a16:creationId xmlns:a16="http://schemas.microsoft.com/office/drawing/2014/main" id="{3D653BD3-3075-442E-9DC0-00010DD938FE}"/>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68 of 70</a:t>
            </a:r>
          </a:p>
        </p:txBody>
      </p:sp>
      <p:sp>
        <p:nvSpPr>
          <p:cNvPr id="19" name="TextBox 18">
            <a:extLst xmlns:a="http://schemas.openxmlformats.org/drawingml/2006/main">
              <a:ext uri="{FF2B5EF4-FFF2-40B4-BE49-F238E27FC236}">
                <a16:creationId xmlns:a16="http://schemas.microsoft.com/office/drawing/2014/main" id="{A714C674-5A8A-4546-8B4C-250F4DFA3F91}"/>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Occurrences are MT-ND1, MT-ND3, MT-ND4L, or MT-ND5</a:t>
            </a:r>
          </a:p>
        </p:txBody>
      </p:sp>
      <p:sp>
        <p:nvSpPr>
          <p:cNvPr id="20" name="Rounded Rectangle 19">
            <a:extLst xmlns:a="http://schemas.openxmlformats.org/drawingml/2006/main">
              <a:ext uri="{FF2B5EF4-FFF2-40B4-BE49-F238E27FC236}">
                <a16:creationId xmlns:a16="http://schemas.microsoft.com/office/drawing/2014/main" id="{6E8E0C8C-7F4B-4E2C-9AC4-00B0E122210F}"/>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813D908-77AA-4EC2-8457-2F3AA27C7FE7}"/>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Other overlap</a:t>
            </a:r>
          </a:p>
        </p:txBody>
      </p:sp>
      <p:sp>
        <p:nvSpPr>
          <p:cNvPr id="22" name="TextBox 21">
            <a:extLst xmlns:a="http://schemas.openxmlformats.org/drawingml/2006/main">
              <a:ext uri="{FF2B5EF4-FFF2-40B4-BE49-F238E27FC236}">
                <a16:creationId xmlns:a16="http://schemas.microsoft.com/office/drawing/2014/main" id="{9D28BF30-E253-4B89-A5E5-63303F7F09AD}"/>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2 of 70</a:t>
            </a:r>
          </a:p>
        </p:txBody>
      </p:sp>
      <p:sp>
        <p:nvSpPr>
          <p:cNvPr id="23" name="TextBox 22">
            <a:extLst xmlns:a="http://schemas.openxmlformats.org/drawingml/2006/main">
              <a:ext uri="{FF2B5EF4-FFF2-40B4-BE49-F238E27FC236}">
                <a16:creationId xmlns:a16="http://schemas.microsoft.com/office/drawing/2014/main" id="{B22B4619-F3BE-4FE8-B56E-A179B0E73336}"/>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only other exact overlap gene is PIM1</a:t>
            </a:r>
          </a:p>
        </p:txBody>
      </p:sp>
      <p:sp>
        <p:nvSpPr>
          <p:cNvPr id="24" name="Rounded Rectangle 23">
            <a:extLst xmlns:a="http://schemas.openxmlformats.org/drawingml/2006/main">
              <a:ext uri="{FF2B5EF4-FFF2-40B4-BE49-F238E27FC236}">
                <a16:creationId xmlns:a16="http://schemas.microsoft.com/office/drawing/2014/main" id="{6DA145B3-3CC8-42EB-A1CB-383A6D840DC1}"/>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15BAB0A-9470-4A54-A38A-A18DAAE9A1A8}"/>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WDR82 expression</a:t>
            </a:r>
          </a:p>
        </p:txBody>
      </p:sp>
      <p:sp>
        <p:nvSpPr>
          <p:cNvPr id="26" name="TextBox 25">
            <a:extLst xmlns:a="http://schemas.openxmlformats.org/drawingml/2006/main">
              <a:ext uri="{FF2B5EF4-FFF2-40B4-BE49-F238E27FC236}">
                <a16:creationId xmlns:a16="http://schemas.microsoft.com/office/drawing/2014/main" id="{80C6E07F-2F04-4085-92BF-E42B8450CA75}"/>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0 of 18 paper DEGs</a:t>
            </a:r>
          </a:p>
        </p:txBody>
      </p:sp>
      <p:sp>
        <p:nvSpPr>
          <p:cNvPr id="27" name="TextBox 26">
            <a:extLst xmlns:a="http://schemas.openxmlformats.org/drawingml/2006/main">
              <a:ext uri="{FF2B5EF4-FFF2-40B4-BE49-F238E27FC236}">
                <a16:creationId xmlns:a16="http://schemas.microsoft.com/office/drawing/2014/main" id="{D629ABC0-05A9-41EF-AD94-0E662EC14FA0}"/>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Thirteen calls had FDR below 0.05, but effects stayed below the stored size threshold</a:t>
            </a:r>
          </a:p>
        </p:txBody>
      </p:sp>
      <p:sp>
        <p:nvSpPr>
          <p:cNvPr id="28" name="TextBox 27">
            <a:extLst xmlns:a="http://schemas.openxmlformats.org/drawingml/2006/main">
              <a:ext uri="{FF2B5EF4-FFF2-40B4-BE49-F238E27FC236}">
                <a16:creationId xmlns:a16="http://schemas.microsoft.com/office/drawing/2014/main" id="{F366B51D-05B6-486F-8ACB-FE1D85FE790D}"/>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1946571"/>
      </p:ext>
    </p:extLst>
  </p:cSld>
</p:sld>
</file>

<file path=ppt/slides/slide10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ED3577BC-B712-49C5-8783-0ED5DDDA082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WDR82 recurrence concentrates in female ε3/ε3 excitatory neurons</a:t>
            </a:r>
          </a:p>
        </p:txBody>
      </p:sp>
      <p:sp>
        <p:nvSpPr>
          <p:cNvPr id="3" name="TextBox 2">
            <a:extLst xmlns:a="http://schemas.openxmlformats.org/drawingml/2006/main">
              <a:ext uri="{FF2B5EF4-FFF2-40B4-BE49-F238E27FC236}">
                <a16:creationId xmlns:a16="http://schemas.microsoft.com/office/drawing/2014/main" id="{55BC1B4F-CAE8-42A2-8371-AE7622605D1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candidate appears in four strata but most supporting calls come from one group.</a:t>
            </a:r>
          </a:p>
        </p:txBody>
      </p:sp>
      <p:sp>
        <p:nvSpPr>
          <p:cNvPr id="4" name="Rounded Rectangle 3">
            <a:extLst xmlns:a="http://schemas.openxmlformats.org/drawingml/2006/main">
              <a:ext uri="{FF2B5EF4-FFF2-40B4-BE49-F238E27FC236}">
                <a16:creationId xmlns:a16="http://schemas.microsoft.com/office/drawing/2014/main" id="{00CB042C-54F6-4FBA-985B-24824879868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EB25C6F-53B8-41E4-8AB2-B73C933DFE82}"/>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FEMALE Ε2</a:t>
            </a:r>
          </a:p>
        </p:txBody>
      </p:sp>
      <p:sp>
        <p:nvSpPr>
          <p:cNvPr id="6" name="TextBox 5">
            <a:extLst xmlns:a="http://schemas.openxmlformats.org/drawingml/2006/main">
              <a:ext uri="{FF2B5EF4-FFF2-40B4-BE49-F238E27FC236}">
                <a16:creationId xmlns:a16="http://schemas.microsoft.com/office/drawing/2014/main" id="{F000513F-0312-46CD-A648-A26CBE5522B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2 calls</a:t>
            </a:r>
          </a:p>
        </p:txBody>
      </p:sp>
      <p:sp>
        <p:nvSpPr>
          <p:cNvPr id="7" name="TextBox 6">
            <a:extLst xmlns:a="http://schemas.openxmlformats.org/drawingml/2006/main">
              <a:ext uri="{FF2B5EF4-FFF2-40B4-BE49-F238E27FC236}">
                <a16:creationId xmlns:a16="http://schemas.microsoft.com/office/drawing/2014/main" id="{164AF88A-EA03-4310-BAB3-81FC5ACED44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WDR82 appears in two excitatory fine-cell queries.</a:t>
            </a:r>
          </a:p>
        </p:txBody>
      </p:sp>
      <p:sp>
        <p:nvSpPr>
          <p:cNvPr id="8" name="Rounded Rectangle 7">
            <a:extLst xmlns:a="http://schemas.openxmlformats.org/drawingml/2006/main">
              <a:ext uri="{FF2B5EF4-FFF2-40B4-BE49-F238E27FC236}">
                <a16:creationId xmlns:a16="http://schemas.microsoft.com/office/drawing/2014/main" id="{E362C373-5357-46CE-9D06-755B64ED711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019EC43-6F1F-451C-9E54-6595672D0CC8}"/>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FEMALE Ε3/Ε3</a:t>
            </a:r>
          </a:p>
        </p:txBody>
      </p:sp>
      <p:sp>
        <p:nvSpPr>
          <p:cNvPr id="10" name="TextBox 9">
            <a:extLst xmlns:a="http://schemas.openxmlformats.org/drawingml/2006/main">
              <a:ext uri="{FF2B5EF4-FFF2-40B4-BE49-F238E27FC236}">
                <a16:creationId xmlns:a16="http://schemas.microsoft.com/office/drawing/2014/main" id="{9606A6E2-34B7-4693-8D6C-43D85ABAE7C5}"/>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11 calls</a:t>
            </a:r>
          </a:p>
        </p:txBody>
      </p:sp>
      <p:sp>
        <p:nvSpPr>
          <p:cNvPr id="11" name="TextBox 10">
            <a:extLst xmlns:a="http://schemas.openxmlformats.org/drawingml/2006/main">
              <a:ext uri="{FF2B5EF4-FFF2-40B4-BE49-F238E27FC236}">
                <a16:creationId xmlns:a16="http://schemas.microsoft.com/office/drawing/2014/main" id="{4D0ECC26-9E6E-47FB-B8DD-878423866200}"/>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group supplies most of the WDR82 recurrence and the strongest program support.</a:t>
            </a:r>
          </a:p>
        </p:txBody>
      </p:sp>
      <p:sp>
        <p:nvSpPr>
          <p:cNvPr id="12" name="Rounded Rectangle 11">
            <a:extLst xmlns:a="http://schemas.openxmlformats.org/drawingml/2006/main">
              <a:ext uri="{FF2B5EF4-FFF2-40B4-BE49-F238E27FC236}">
                <a16:creationId xmlns:a16="http://schemas.microsoft.com/office/drawing/2014/main" id="{9A7C7EEB-D71B-456A-BAA9-0E523A953F4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B739942-0EB5-4188-8FF6-288E39BF17B8}"/>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MALE GROUPS</a:t>
            </a:r>
          </a:p>
        </p:txBody>
      </p:sp>
      <p:sp>
        <p:nvSpPr>
          <p:cNvPr id="14" name="TextBox 13">
            <a:extLst xmlns:a="http://schemas.openxmlformats.org/drawingml/2006/main">
              <a:ext uri="{FF2B5EF4-FFF2-40B4-BE49-F238E27FC236}">
                <a16:creationId xmlns:a16="http://schemas.microsoft.com/office/drawing/2014/main" id="{B395D5CF-F802-42FB-B9C1-D6270E06E6E3}"/>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5 calls</a:t>
            </a:r>
          </a:p>
        </p:txBody>
      </p:sp>
      <p:sp>
        <p:nvSpPr>
          <p:cNvPr id="15" name="TextBox 14">
            <a:extLst xmlns:a="http://schemas.openxmlformats.org/drawingml/2006/main">
              <a:ext uri="{FF2B5EF4-FFF2-40B4-BE49-F238E27FC236}">
                <a16:creationId xmlns:a16="http://schemas.microsoft.com/office/drawing/2014/main" id="{8A7ED49C-3956-4B2A-B158-7C40AE0E050F}"/>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Two male ε3/ε3 and three male ε4 excitatory calls also return WDR82.</a:t>
            </a:r>
          </a:p>
        </p:txBody>
      </p:sp>
      <p:sp>
        <p:nvSpPr>
          <p:cNvPr id="16" name="Rounded Rectangle 15">
            <a:extLst xmlns:a="http://schemas.openxmlformats.org/drawingml/2006/main">
              <a:ext uri="{FF2B5EF4-FFF2-40B4-BE49-F238E27FC236}">
                <a16:creationId xmlns:a16="http://schemas.microsoft.com/office/drawing/2014/main" id="{98310792-F3F2-490C-B04A-C84A298FCEE4}"/>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03A01EF-6750-4D05-9993-77C0638107B4}"/>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SEA-AD could return WDR82 in 11 matching excitatory backgrounds but did not, although it supports the female ε3/ε3 mtDNA program.</a:t>
            </a:r>
          </a:p>
        </p:txBody>
      </p:sp>
      <p:sp>
        <p:nvSpPr>
          <p:cNvPr id="18" name="TextBox 17">
            <a:extLst xmlns:a="http://schemas.openxmlformats.org/drawingml/2006/main">
              <a:ext uri="{FF2B5EF4-FFF2-40B4-BE49-F238E27FC236}">
                <a16:creationId xmlns:a16="http://schemas.microsoft.com/office/drawing/2014/main" id="{21669AE7-D5CC-446C-9F5E-7F4ED255012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328813139"/>
      </p:ext>
    </p:extLst>
  </p:cSld>
</p:sld>
</file>

<file path=ppt/slides/slide10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E57B15C-FA8E-42D0-B963-DC46025F0D0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a chromatin candidate may track mitochondrial RNA abundance</a:t>
            </a:r>
          </a:p>
        </p:txBody>
      </p:sp>
      <p:sp>
        <p:nvSpPr>
          <p:cNvPr id="3" name="TextBox 2">
            <a:extLst xmlns:a="http://schemas.openxmlformats.org/drawingml/2006/main">
              <a:ext uri="{FF2B5EF4-FFF2-40B4-BE49-F238E27FC236}">
                <a16:creationId xmlns:a16="http://schemas.microsoft.com/office/drawing/2014/main" id="{B06C8095-1533-4338-A18C-FFDA6CA2D4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signal could reflect transcriptional coupling, global mitochondrial RNA, or network construction.</a:t>
            </a:r>
          </a:p>
        </p:txBody>
      </p:sp>
      <p:sp>
        <p:nvSpPr>
          <p:cNvPr id="4" name="Rounded Rectangle 3">
            <a:extLst xmlns:a="http://schemas.openxmlformats.org/drawingml/2006/main">
              <a:ext uri="{FF2B5EF4-FFF2-40B4-BE49-F238E27FC236}">
                <a16:creationId xmlns:a16="http://schemas.microsoft.com/office/drawing/2014/main" id="{895C1DF2-F876-4518-965C-3A5512E7F96F}"/>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9610171-ADDC-4D5A-BC4E-290CD0825C2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MECHANISTIC HYPOTHESIS</a:t>
            </a:r>
          </a:p>
        </p:txBody>
      </p:sp>
      <p:sp>
        <p:nvSpPr>
          <p:cNvPr id="6" name="TextBox 5">
            <a:extLst xmlns:a="http://schemas.openxmlformats.org/drawingml/2006/main">
              <a:ext uri="{FF2B5EF4-FFF2-40B4-BE49-F238E27FC236}">
                <a16:creationId xmlns:a16="http://schemas.microsoft.com/office/drawing/2014/main" id="{089ABC3D-679B-4132-9B68-3959E398190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Nuclear chromatin state influences mtRNA</a:t>
            </a:r>
          </a:p>
        </p:txBody>
      </p:sp>
      <p:sp>
        <p:nvSpPr>
          <p:cNvPr id="7" name="TextBox 6">
            <a:extLst xmlns:a="http://schemas.openxmlformats.org/drawingml/2006/main">
              <a:ext uri="{FF2B5EF4-FFF2-40B4-BE49-F238E27FC236}">
                <a16:creationId xmlns:a16="http://schemas.microsoft.com/office/drawing/2014/main" id="{70C692F7-A208-403E-82B4-1E71D81F50D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WDR82 could indirectly affect mitochondrial programs through nuclear regulation.</a:t>
            </a:r>
          </a:p>
        </p:txBody>
      </p:sp>
      <p:sp>
        <p:nvSpPr>
          <p:cNvPr id="8" name="Rounded Rectangle 7">
            <a:extLst xmlns:a="http://schemas.openxmlformats.org/drawingml/2006/main">
              <a:ext uri="{FF2B5EF4-FFF2-40B4-BE49-F238E27FC236}">
                <a16:creationId xmlns:a16="http://schemas.microsoft.com/office/drawing/2014/main" id="{9C86A597-D8D9-4B11-8F54-91E488B89F2B}"/>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6ADC6BE-4EC5-4984-825C-2ADFE79B37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ALTERNATIVE EXPLANATION</a:t>
            </a:r>
          </a:p>
        </p:txBody>
      </p:sp>
      <p:sp>
        <p:nvSpPr>
          <p:cNvPr id="10" name="TextBox 9">
            <a:extLst xmlns:a="http://schemas.openxmlformats.org/drawingml/2006/main">
              <a:ext uri="{FF2B5EF4-FFF2-40B4-BE49-F238E27FC236}">
                <a16:creationId xmlns:a16="http://schemas.microsoft.com/office/drawing/2014/main" id="{98BAF5EC-0F0B-45F0-A2A0-3909E4877337}"/>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Mitochondrial read fraction</a:t>
            </a:r>
          </a:p>
        </p:txBody>
      </p:sp>
      <p:sp>
        <p:nvSpPr>
          <p:cNvPr id="11" name="TextBox 10">
            <a:extLst xmlns:a="http://schemas.openxmlformats.org/drawingml/2006/main">
              <a:ext uri="{FF2B5EF4-FFF2-40B4-BE49-F238E27FC236}">
                <a16:creationId xmlns:a16="http://schemas.microsoft.com/office/drawing/2014/main" id="{0B3042C7-B44D-4868-8AD0-8FD9708723E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repeated mtDNA cluster may track overall mitochondrial RNA abundance or sample quality.</a:t>
            </a:r>
          </a:p>
        </p:txBody>
      </p:sp>
      <p:sp>
        <p:nvSpPr>
          <p:cNvPr id="12" name="Rounded Rectangle 11">
            <a:extLst xmlns:a="http://schemas.openxmlformats.org/drawingml/2006/main">
              <a:ext uri="{FF2B5EF4-FFF2-40B4-BE49-F238E27FC236}">
                <a16:creationId xmlns:a16="http://schemas.microsoft.com/office/drawing/2014/main" id="{79E4BDE7-F785-401E-A218-544AE994E86D}"/>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4A6AAC8-7EC5-49C1-8DFB-5FF71E47E44E}"/>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NETWORK EXPLANATION</a:t>
            </a:r>
          </a:p>
        </p:txBody>
      </p:sp>
      <p:sp>
        <p:nvSpPr>
          <p:cNvPr id="14" name="TextBox 13">
            <a:extLst xmlns:a="http://schemas.openxmlformats.org/drawingml/2006/main">
              <a:ext uri="{FF2B5EF4-FFF2-40B4-BE49-F238E27FC236}">
                <a16:creationId xmlns:a16="http://schemas.microsoft.com/office/drawing/2014/main" id="{53677C3F-1BC2-4324-9638-5FB2DFC538B4}"/>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Four linked genes dominate</a:t>
            </a:r>
          </a:p>
        </p:txBody>
      </p:sp>
      <p:sp>
        <p:nvSpPr>
          <p:cNvPr id="15" name="TextBox 14">
            <a:extLst xmlns:a="http://schemas.openxmlformats.org/drawingml/2006/main">
              <a:ext uri="{FF2B5EF4-FFF2-40B4-BE49-F238E27FC236}">
                <a16:creationId xmlns:a16="http://schemas.microsoft.com/office/drawing/2014/main" id="{F0319EB6-B457-4138-A236-1FCA73010574}"/>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narrow neighborhood may amplify one polycistronic signal rather than four mechanisms.</a:t>
            </a:r>
          </a:p>
        </p:txBody>
      </p:sp>
      <p:sp>
        <p:nvSpPr>
          <p:cNvPr id="16" name="Rounded Rectangle 15">
            <a:extLst xmlns:a="http://schemas.openxmlformats.org/drawingml/2006/main">
              <a:ext uri="{FF2B5EF4-FFF2-40B4-BE49-F238E27FC236}">
                <a16:creationId xmlns:a16="http://schemas.microsoft.com/office/drawing/2014/main" id="{69447BE5-0CDC-46E5-B7CE-C76E83C13C8B}"/>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915CA14-8CE6-46E8-8B14-853C11F418F9}"/>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82CA5A8A-58B5-455A-8344-9898C2FF0B5D}"/>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Removing mtDNA query genes is an important sensitivity test before mechanistic interpretation.</a:t>
            </a:r>
          </a:p>
        </p:txBody>
      </p:sp>
      <p:sp>
        <p:nvSpPr>
          <p:cNvPr id="19" name="TextBox 18">
            <a:extLst xmlns:a="http://schemas.openxmlformats.org/drawingml/2006/main">
              <a:ext uri="{FF2B5EF4-FFF2-40B4-BE49-F238E27FC236}">
                <a16:creationId xmlns:a16="http://schemas.microsoft.com/office/drawing/2014/main" id="{96E495E6-072F-4914-9535-2260AB0AB50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229176844"/>
      </p:ext>
    </p:extLst>
  </p:cSld>
</p:sld>
</file>

<file path=ppt/slides/slide10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182F99E-0454-41F1-BE76-09BFD5CC81D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9 does not prove, and the next evidence needed</a:t>
            </a:r>
          </a:p>
        </p:txBody>
      </p:sp>
      <p:sp>
        <p:nvSpPr>
          <p:cNvPr id="3" name="TextBox 2">
            <a:extLst xmlns:a="http://schemas.openxmlformats.org/drawingml/2006/main">
              <a:ext uri="{FF2B5EF4-FFF2-40B4-BE49-F238E27FC236}">
                <a16:creationId xmlns:a16="http://schemas.microsoft.com/office/drawing/2014/main" id="{B84AD215-CBE5-45E2-B19C-3F95B96D49E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3B717963-7A99-458A-9ADC-558C1DFAC43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1C5556C0-A96C-4A08-A5DA-8F9A341ED256}"/>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0AC54AA5-B7E0-47FB-A6BB-7C454B8EF23D}"/>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3C28FEC2-4509-4CA0-A044-311E7FF3CB06}"/>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373B23FE-FECE-4EE1-A2BE-B6657CCCB8C1}"/>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Direct WDR82 binding to mtDNA or control of mtRNA</a:t>
            </a:r>
          </a:p>
        </p:txBody>
      </p:sp>
      <p:sp>
        <p:nvSpPr>
          <p:cNvPr id="9" name="Oval 8">
            <a:extLst xmlns:a="http://schemas.openxmlformats.org/drawingml/2006/main">
              <a:ext uri="{FF2B5EF4-FFF2-40B4-BE49-F238E27FC236}">
                <a16:creationId xmlns:a16="http://schemas.microsoft.com/office/drawing/2014/main" id="{386CF712-FB92-4760-B331-B0B9AC005F9D}"/>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95EC2067-F1CC-40EC-ABD6-3421155D6901}"/>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Four independent mitochondrial regulatory edges</a:t>
            </a:r>
          </a:p>
        </p:txBody>
      </p:sp>
      <p:sp>
        <p:nvSpPr>
          <p:cNvPr id="11" name="Oval 10">
            <a:extLst xmlns:a="http://schemas.openxmlformats.org/drawingml/2006/main">
              <a:ext uri="{FF2B5EF4-FFF2-40B4-BE49-F238E27FC236}">
                <a16:creationId xmlns:a16="http://schemas.microsoft.com/office/drawing/2014/main" id="{7322F1DA-5D86-4267-AC5A-C74314F1D35B}"/>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AB860F9-32CF-436A-A2DD-CCBD9B51AC7A}"/>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Cross-cohort driver replication in SEA-AD</a:t>
            </a:r>
          </a:p>
        </p:txBody>
      </p:sp>
      <p:sp>
        <p:nvSpPr>
          <p:cNvPr id="13" name="Rounded Rectangle 12">
            <a:extLst xmlns:a="http://schemas.openxmlformats.org/drawingml/2006/main">
              <a:ext uri="{FF2B5EF4-FFF2-40B4-BE49-F238E27FC236}">
                <a16:creationId xmlns:a16="http://schemas.microsoft.com/office/drawing/2014/main" id="{C3FC8F51-203A-4C4D-A778-23963659F553}"/>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EF0EF673-ACFD-4FCA-B431-3FA7D461769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8DF10FA-20DF-431C-850F-DE9C280A4E12}"/>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FA192E3-14CB-4C8C-B16F-BC2CB6252E73}"/>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36CEC4B-7650-4D32-8FCD-18F073FB6DC0}"/>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Repeat KDA without mtDNA-encoded query genes</a:t>
            </a:r>
          </a:p>
        </p:txBody>
      </p:sp>
      <p:sp>
        <p:nvSpPr>
          <p:cNvPr id="18" name="Oval 17">
            <a:extLst xmlns:a="http://schemas.openxmlformats.org/drawingml/2006/main">
              <a:ext uri="{FF2B5EF4-FFF2-40B4-BE49-F238E27FC236}">
                <a16:creationId xmlns:a16="http://schemas.microsoft.com/office/drawing/2014/main" id="{2540DAC0-5A84-4731-90D1-1FF3F894603D}"/>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3EF0639-6C75-4BB5-919C-BB41B0F16F28}"/>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Control mitochondrial read fraction and RNA quality</a:t>
            </a:r>
          </a:p>
        </p:txBody>
      </p:sp>
      <p:sp>
        <p:nvSpPr>
          <p:cNvPr id="20" name="Oval 19">
            <a:extLst xmlns:a="http://schemas.openxmlformats.org/drawingml/2006/main">
              <a:ext uri="{FF2B5EF4-FFF2-40B4-BE49-F238E27FC236}">
                <a16:creationId xmlns:a16="http://schemas.microsoft.com/office/drawing/2014/main" id="{ACA77DCB-F78A-4A7E-A295-F45BA0A8AFD1}"/>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ED7401E-5FC0-46E4-9651-336E996F7097}"/>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WDR82 and measure mtRNA, H3K4me3, and respiration</a:t>
            </a:r>
          </a:p>
        </p:txBody>
      </p:sp>
      <p:sp>
        <p:nvSpPr>
          <p:cNvPr id="22" name="TextBox 21">
            <a:extLst xmlns:a="http://schemas.openxmlformats.org/drawingml/2006/main">
              <a:ext uri="{FF2B5EF4-FFF2-40B4-BE49-F238E27FC236}">
                <a16:creationId xmlns:a16="http://schemas.microsoft.com/office/drawing/2014/main" id="{B04729F6-862D-4B2F-AB7A-22170ECA90A6}"/>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48B567E0-2B3F-4302-BCAE-CDA2C15ECA1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426664870"/>
      </p:ext>
    </p:extLst>
  </p:cSld>
</p:sld>
</file>

<file path=ppt/slides/slide10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339ADA1-1264-4D43-BF84-FE3F6710FB7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9</a:t>
            </a:r>
          </a:p>
        </p:txBody>
      </p:sp>
      <p:sp>
        <p:nvSpPr>
          <p:cNvPr id="3" name="TextBox 2">
            <a:extLst xmlns:a="http://schemas.openxmlformats.org/drawingml/2006/main">
              <a:ext uri="{FF2B5EF4-FFF2-40B4-BE49-F238E27FC236}">
                <a16:creationId xmlns:a16="http://schemas.microsoft.com/office/drawing/2014/main" id="{9FF69022-10FC-43B0-BAA5-4043EF6DA07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D261BC36-F294-488B-B684-312D777F957E}"/>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EBEDEAE-B995-40CF-91AF-682213E514F1}"/>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Lee and Skalnik 2008</a:t>
            </a:r>
          </a:p>
        </p:txBody>
      </p:sp>
      <p:sp>
        <p:nvSpPr>
          <p:cNvPr id="6" name="TextBox 5">
            <a:extLst xmlns:a="http://schemas.openxmlformats.org/drawingml/2006/main">
              <a:ext uri="{FF2B5EF4-FFF2-40B4-BE49-F238E27FC236}">
                <a16:creationId xmlns:a16="http://schemas.microsoft.com/office/drawing/2014/main" id="{21F7AFCC-881A-4B36-B978-92626603BBFE}"/>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WDR82 chromatin biology</a:t>
            </a:r>
          </a:p>
        </p:txBody>
      </p:sp>
      <p:sp>
        <p:nvSpPr>
          <p:cNvPr id="7" name="TextBox 6">
            <a:extLst xmlns:a="http://schemas.openxmlformats.org/drawingml/2006/main">
              <a:ext uri="{FF2B5EF4-FFF2-40B4-BE49-F238E27FC236}">
                <a16:creationId xmlns:a16="http://schemas.microsoft.com/office/drawing/2014/main" id="{84B82749-6E60-431C-A6D8-3B5817954A25}"/>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6C21AFCE-3C0C-4917-B701-2522EC77B7BC}"/>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Places WDR82 in SETD1A/B complexes and H3K4 trimethylation.</a:t>
            </a:r>
          </a:p>
        </p:txBody>
      </p:sp>
      <p:sp>
        <p:nvSpPr>
          <p:cNvPr id="9" name="TextBox 8">
            <a:extLst xmlns:a="http://schemas.openxmlformats.org/drawingml/2006/main">
              <a:ext uri="{FF2B5EF4-FFF2-40B4-BE49-F238E27FC236}">
                <a16:creationId xmlns:a16="http://schemas.microsoft.com/office/drawing/2014/main" id="{838C3FFA-354C-4870-8119-095EF82C9F44}"/>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EFCB5B94-737A-422A-A1C9-2F6170977A37}"/>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Provides no direct mitochondrial mechanism.</a:t>
            </a:r>
          </a:p>
        </p:txBody>
      </p:sp>
      <p:sp>
        <p:nvSpPr>
          <p:cNvPr id="11" name="Rounded Rectangle 10">
            <a:extLst xmlns:a="http://schemas.openxmlformats.org/drawingml/2006/main">
              <a:ext uri="{FF2B5EF4-FFF2-40B4-BE49-F238E27FC236}">
                <a16:creationId xmlns:a16="http://schemas.microsoft.com/office/drawing/2014/main" id="{E36E3500-90C9-4469-8EBA-F3BD35B5B277}"/>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CC744286-96AC-4427-83BD-3370ACCD3866}"/>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Mercer et al. 2011</a:t>
            </a:r>
          </a:p>
        </p:txBody>
      </p:sp>
      <p:sp>
        <p:nvSpPr>
          <p:cNvPr id="13" name="TextBox 12">
            <a:extLst xmlns:a="http://schemas.openxmlformats.org/drawingml/2006/main">
              <a:ext uri="{FF2B5EF4-FFF2-40B4-BE49-F238E27FC236}">
                <a16:creationId xmlns:a16="http://schemas.microsoft.com/office/drawing/2014/main" id="{BE5F6A61-72D0-46CE-9F9D-E47F5BC9C60C}"/>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Mitochondrial RNA processing</a:t>
            </a:r>
          </a:p>
        </p:txBody>
      </p:sp>
      <p:sp>
        <p:nvSpPr>
          <p:cNvPr id="14" name="TextBox 13">
            <a:extLst xmlns:a="http://schemas.openxmlformats.org/drawingml/2006/main">
              <a:ext uri="{FF2B5EF4-FFF2-40B4-BE49-F238E27FC236}">
                <a16:creationId xmlns:a16="http://schemas.microsoft.com/office/drawing/2014/main" id="{1F36A31B-0769-4CE5-9CC2-0B9057CF0A4C}"/>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576A8C47-E8F0-4044-9210-F9C8370B4443}"/>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mtDNA genes begin within long polycistronic transcripts.</a:t>
            </a:r>
          </a:p>
        </p:txBody>
      </p:sp>
      <p:sp>
        <p:nvSpPr>
          <p:cNvPr id="16" name="TextBox 15">
            <a:extLst xmlns:a="http://schemas.openxmlformats.org/drawingml/2006/main">
              <a:ext uri="{FF2B5EF4-FFF2-40B4-BE49-F238E27FC236}">
                <a16:creationId xmlns:a16="http://schemas.microsoft.com/office/drawing/2014/main" id="{DD92914E-7AC8-4F6F-9A77-054D9D11213E}"/>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98287521-685F-47B2-9192-4DEA7A0BBA76}"/>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connect WDR82 with mitochondrial transcription.</a:t>
            </a:r>
          </a:p>
        </p:txBody>
      </p:sp>
      <p:sp>
        <p:nvSpPr>
          <p:cNvPr id="18" name="Rounded Rectangle 17">
            <a:extLst xmlns:a="http://schemas.openxmlformats.org/drawingml/2006/main">
              <a:ext uri="{FF2B5EF4-FFF2-40B4-BE49-F238E27FC236}">
                <a16:creationId xmlns:a16="http://schemas.microsoft.com/office/drawing/2014/main" id="{C0B7FC5B-68CB-4457-A32D-CBAEF6AB0E07}"/>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D5EA5C3E-6315-490E-AC21-CDCEF0907C52}"/>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Zhu et al. 2015</a:t>
            </a:r>
          </a:p>
        </p:txBody>
      </p:sp>
      <p:sp>
        <p:nvSpPr>
          <p:cNvPr id="20" name="TextBox 19">
            <a:extLst xmlns:a="http://schemas.openxmlformats.org/drawingml/2006/main">
              <a:ext uri="{FF2B5EF4-FFF2-40B4-BE49-F238E27FC236}">
                <a16:creationId xmlns:a16="http://schemas.microsoft.com/office/drawing/2014/main" id="{A0F99D78-6E4B-43F8-8F49-3B164C774374}"/>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WDR82 in AD expression</a:t>
            </a:r>
          </a:p>
        </p:txBody>
      </p:sp>
      <p:sp>
        <p:nvSpPr>
          <p:cNvPr id="21" name="TextBox 20">
            <a:extLst xmlns:a="http://schemas.openxmlformats.org/drawingml/2006/main">
              <a:ext uri="{FF2B5EF4-FFF2-40B4-BE49-F238E27FC236}">
                <a16:creationId xmlns:a16="http://schemas.microsoft.com/office/drawing/2014/main" id="{96D7A8A8-DF2A-439A-8112-C04F8AE18408}"/>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6B4F1E2-E827-4E5A-8E29-E08154D910DA}"/>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increased WDR82 and hub status in bulk hippocampal reanalysis.</a:t>
            </a:r>
          </a:p>
        </p:txBody>
      </p:sp>
      <p:sp>
        <p:nvSpPr>
          <p:cNvPr id="23" name="TextBox 22">
            <a:extLst xmlns:a="http://schemas.openxmlformats.org/drawingml/2006/main">
              <a:ext uri="{FF2B5EF4-FFF2-40B4-BE49-F238E27FC236}">
                <a16:creationId xmlns:a16="http://schemas.microsoft.com/office/drawing/2014/main" id="{4426865A-B1FE-455C-A9EA-65BF458826C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C3D5CCAB-FB1D-47FA-91EB-C11D14641679}"/>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Bulk reanalysis lacks cell-resolved external validation.</a:t>
            </a:r>
          </a:p>
        </p:txBody>
      </p:sp>
      <p:sp>
        <p:nvSpPr>
          <p:cNvPr id="25" name="Rounded Rectangle 24">
            <a:extLst xmlns:a="http://schemas.openxmlformats.org/drawingml/2006/main">
              <a:ext uri="{FF2B5EF4-FFF2-40B4-BE49-F238E27FC236}">
                <a16:creationId xmlns:a16="http://schemas.microsoft.com/office/drawing/2014/main" id="{EA36AB37-E771-4BE9-8277-71CF154B6892}"/>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6E150D6-F7CB-4C52-90FF-95731FB4C30B}"/>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36C9EEB-C422-448E-B8F8-7FA2D57C8B9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9.</a:t>
            </a:r>
          </a:p>
        </p:txBody>
      </p:sp>
    </p:spTree>
    <p:extLst>
      <p:ext uri="{BB962C8B-B14F-4D97-AF65-F5344CB8AC3E}">
        <p14:creationId xmlns:p14="http://schemas.microsoft.com/office/powerpoint/2010/main" val="1766384617"/>
      </p:ext>
    </p:extLst>
  </p:cSld>
</p:sld>
</file>

<file path=ppt/slides/slide107.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8A37315F-4C9F-42A5-998B-201DF7342692}"/>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10</a:t>
            </a:r>
          </a:p>
        </p:txBody>
      </p:sp>
      <p:sp>
        <p:nvSpPr>
          <p:cNvPr id="3" name="Rectangle 2">
            <a:extLst xmlns:a="http://schemas.openxmlformats.org/drawingml/2006/main">
              <a:ext uri="{FF2B5EF4-FFF2-40B4-BE49-F238E27FC236}">
                <a16:creationId xmlns:a16="http://schemas.microsoft.com/office/drawing/2014/main" id="{D82A6CED-CB25-4C33-866D-9CBDC645DA68}"/>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73FB08E8-8956-4827-88DB-F3103173F13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SELENOM links ER redox biology to mitochondrial protein production</a:t>
            </a:r>
          </a:p>
        </p:txBody>
      </p:sp>
      <p:sp>
        <p:nvSpPr>
          <p:cNvPr id="5" name="TextBox 4">
            <a:extLst xmlns:a="http://schemas.openxmlformats.org/drawingml/2006/main">
              <a:ext uri="{FF2B5EF4-FFF2-40B4-BE49-F238E27FC236}">
                <a16:creationId xmlns:a16="http://schemas.microsoft.com/office/drawing/2014/main" id="{44021B8F-8A41-425E-9D1C-4F81E8BCEE92}"/>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xmlns:a="http://schemas.openxmlformats.org/drawingml/2006/main">
              <a:ext uri="{FF2B5EF4-FFF2-40B4-BE49-F238E27FC236}">
                <a16:creationId xmlns:a16="http://schemas.microsoft.com/office/drawing/2014/main" id="{AAF8E368-C796-44BA-99C7-F77398635149}"/>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C1AD072C-DCFB-460C-92ED-834DD7B72F59}"/>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82DD8406-EFB2-466C-A95A-4F375E658C1D}"/>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169A47A-0070-4249-A45B-C63957021AF8}"/>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1034924A-8F59-439F-A417-A857F4EAFE25}"/>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8AB65C9B-9A68-49FA-AE5E-0207D2669CF0}"/>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E55D9C9-AE40-4312-BFB9-3F1575A02950}"/>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16438963-E7CC-421C-AA39-E9324CC389F8}"/>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523B3C5F-F468-44E8-A6C2-C11568E8ED10}"/>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2B50CB4E-D4FD-4820-928D-07586863E902}"/>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205388F7-7912-49C2-8E12-D36B5FCB51DA}"/>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E3ACC1A0-7A63-4223-A381-1F2CE3B28115}"/>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9B44996-3F63-4110-A49E-1DF8EC29FC4E}"/>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D87BBFCC-07BA-4EFB-BCC0-068D2E0FFF6E}"/>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54571236-B70A-47CE-92CB-D719BDAF2B9D}"/>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0F627F4-DFA9-42C4-AF9D-C3BADE0E4AF6}"/>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SELENOM repeatedly sits near decreased mitochondrial-translation genes in neuronal queries.</a:t>
            </a:r>
          </a:p>
        </p:txBody>
      </p:sp>
    </p:spTree>
    <p:extLst>
      <p:ext uri="{BB962C8B-B14F-4D97-AF65-F5344CB8AC3E}">
        <p14:creationId xmlns:p14="http://schemas.microsoft.com/office/powerpoint/2010/main" val="574884667"/>
      </p:ext>
    </p:extLst>
  </p:cSld>
</p:sld>
</file>

<file path=ppt/slides/slide10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925048A-935D-4BFD-BEEC-32E294D8B83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SELENOM connects ER redox control with mitochondrial protein production</a:t>
            </a:r>
          </a:p>
        </p:txBody>
      </p:sp>
      <p:sp>
        <p:nvSpPr>
          <p:cNvPr id="3" name="TextBox 2">
            <a:extLst xmlns:a="http://schemas.openxmlformats.org/drawingml/2006/main">
              <a:ext uri="{FF2B5EF4-FFF2-40B4-BE49-F238E27FC236}">
                <a16:creationId xmlns:a16="http://schemas.microsoft.com/office/drawing/2014/main" id="{D3BC54F8-229E-4612-9FCF-BB8F5AB9B0A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endoplasmic reticulum, or ER, folds many proteins and helps regulate calcium and oxidation.</a:t>
            </a:r>
          </a:p>
        </p:txBody>
      </p:sp>
      <p:sp>
        <p:nvSpPr>
          <p:cNvPr id="4" name="Rounded Rectangle 3">
            <a:extLst xmlns:a="http://schemas.openxmlformats.org/drawingml/2006/main">
              <a:ext uri="{FF2B5EF4-FFF2-40B4-BE49-F238E27FC236}">
                <a16:creationId xmlns:a16="http://schemas.microsoft.com/office/drawing/2014/main" id="{0CCC3B6B-D7D9-4C2B-A320-6946B7746EA8}"/>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F861887-F1EC-40A3-87E2-912C717D303A}"/>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12 neuronal calls</a:t>
            </a:r>
          </a:p>
        </p:txBody>
      </p:sp>
      <p:sp>
        <p:nvSpPr>
          <p:cNvPr id="6" name="Rounded Rectangle 5">
            <a:extLst xmlns:a="http://schemas.openxmlformats.org/drawingml/2006/main">
              <a:ext uri="{FF2B5EF4-FFF2-40B4-BE49-F238E27FC236}">
                <a16:creationId xmlns:a16="http://schemas.microsoft.com/office/drawing/2014/main" id="{759D17D2-1868-4FEE-B8F9-F0E95F5E4FEA}"/>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E524B19-F525-4D2A-92D8-58C0AE86562C}"/>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All six strata</a:t>
            </a:r>
          </a:p>
        </p:txBody>
      </p:sp>
      <p:sp>
        <p:nvSpPr>
          <p:cNvPr id="8" name="Rounded Rectangle 7">
            <a:extLst xmlns:a="http://schemas.openxmlformats.org/drawingml/2006/main">
              <a:ext uri="{FF2B5EF4-FFF2-40B4-BE49-F238E27FC236}">
                <a16:creationId xmlns:a16="http://schemas.microsoft.com/office/drawing/2014/main" id="{59B65B70-174B-43A0-8922-9C3EDAAB180F}"/>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D30C86C-895A-44E3-94A8-4383A84CC8B2}"/>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ER redox and calcium</a:t>
            </a:r>
          </a:p>
        </p:txBody>
      </p:sp>
      <p:sp>
        <p:nvSpPr>
          <p:cNvPr id="10" name="Rounded Rectangle 9">
            <a:extLst xmlns:a="http://schemas.openxmlformats.org/drawingml/2006/main">
              <a:ext uri="{FF2B5EF4-FFF2-40B4-BE49-F238E27FC236}">
                <a16:creationId xmlns:a16="http://schemas.microsoft.com/office/drawing/2014/main" id="{7B952B3E-3848-4CD9-B2AF-BE8178835C90}"/>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C5917DD-50E9-4250-81C9-51928DC52E77}"/>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Mitochondrial translation</a:t>
            </a:r>
          </a:p>
        </p:txBody>
      </p:sp>
      <p:sp>
        <p:nvSpPr>
          <p:cNvPr id="12" name="Rounded Rectangle 11">
            <a:extLst xmlns:a="http://schemas.openxmlformats.org/drawingml/2006/main">
              <a:ext uri="{FF2B5EF4-FFF2-40B4-BE49-F238E27FC236}">
                <a16:creationId xmlns:a16="http://schemas.microsoft.com/office/drawing/2014/main" id="{4DE8C956-CF25-43E4-AE67-1382D39027E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F06D35F-BCAC-40EF-B246-C1D6799A872E}"/>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SELENOM</a:t>
            </a:r>
          </a:p>
        </p:txBody>
      </p:sp>
      <p:sp>
        <p:nvSpPr>
          <p:cNvPr id="14" name="TextBox 13">
            <a:extLst xmlns:a="http://schemas.openxmlformats.org/drawingml/2006/main">
              <a:ext uri="{FF2B5EF4-FFF2-40B4-BE49-F238E27FC236}">
                <a16:creationId xmlns:a16="http://schemas.microsoft.com/office/drawing/2014/main" id="{442295C3-B4A3-460A-ACB4-FCC56A7F1FE0}"/>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ER redox protein</a:t>
            </a:r>
          </a:p>
        </p:txBody>
      </p:sp>
      <p:sp>
        <p:nvSpPr>
          <p:cNvPr id="15" name="TextBox 14">
            <a:extLst xmlns:a="http://schemas.openxmlformats.org/drawingml/2006/main">
              <a:ext uri="{FF2B5EF4-FFF2-40B4-BE49-F238E27FC236}">
                <a16:creationId xmlns:a16="http://schemas.microsoft.com/office/drawing/2014/main" id="{37911221-0597-4BC4-8833-2698A7CE0348}"/>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selenium-containing protein helps regulate reversible oxidation inside the ER.</a:t>
            </a:r>
          </a:p>
        </p:txBody>
      </p:sp>
      <p:sp>
        <p:nvSpPr>
          <p:cNvPr id="16" name="Rounded Rectangle 15">
            <a:extLst xmlns:a="http://schemas.openxmlformats.org/drawingml/2006/main">
              <a:ext uri="{FF2B5EF4-FFF2-40B4-BE49-F238E27FC236}">
                <a16:creationId xmlns:a16="http://schemas.microsoft.com/office/drawing/2014/main" id="{03CC68D1-D9DA-442E-824B-8ED47687093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86DE238-E9DF-4EB3-9A36-4E6E50BBF8CA}"/>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MITOCHONDRIAL TRANSLATION</a:t>
            </a:r>
          </a:p>
        </p:txBody>
      </p:sp>
      <p:sp>
        <p:nvSpPr>
          <p:cNvPr id="18" name="TextBox 17">
            <a:extLst xmlns:a="http://schemas.openxmlformats.org/drawingml/2006/main">
              <a:ext uri="{FF2B5EF4-FFF2-40B4-BE49-F238E27FC236}">
                <a16:creationId xmlns:a16="http://schemas.microsoft.com/office/drawing/2014/main" id="{77CED781-C8E6-47BF-A3AC-F2754A772C81}"/>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Protein production inside mitochondria</a:t>
            </a:r>
          </a:p>
        </p:txBody>
      </p:sp>
      <p:sp>
        <p:nvSpPr>
          <p:cNvPr id="19" name="TextBox 18">
            <a:extLst xmlns:a="http://schemas.openxmlformats.org/drawingml/2006/main">
              <a:ext uri="{FF2B5EF4-FFF2-40B4-BE49-F238E27FC236}">
                <a16:creationId xmlns:a16="http://schemas.microsoft.com/office/drawing/2014/main" id="{2459F011-6AB6-4E7D-9FBF-8BE2A2ECCE28}"/>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Mitochondrial ribosomes and factors build the proteins encoded by mtDNA.</a:t>
            </a:r>
          </a:p>
        </p:txBody>
      </p:sp>
      <p:sp>
        <p:nvSpPr>
          <p:cNvPr id="20" name="Rounded Rectangle 19">
            <a:extLst xmlns:a="http://schemas.openxmlformats.org/drawingml/2006/main">
              <a:ext uri="{FF2B5EF4-FFF2-40B4-BE49-F238E27FC236}">
                <a16:creationId xmlns:a16="http://schemas.microsoft.com/office/drawing/2014/main" id="{C8C1AA6C-8E07-44FC-BA6D-4D8952303E58}"/>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0BA2804-00A6-4362-9CF6-B4442CA667FB}"/>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OBSERVED LINK</a:t>
            </a:r>
          </a:p>
        </p:txBody>
      </p:sp>
      <p:sp>
        <p:nvSpPr>
          <p:cNvPr id="22" name="TextBox 21">
            <a:extLst xmlns:a="http://schemas.openxmlformats.org/drawingml/2006/main">
              <a:ext uri="{FF2B5EF4-FFF2-40B4-BE49-F238E27FC236}">
                <a16:creationId xmlns:a16="http://schemas.microsoft.com/office/drawing/2014/main" id="{D9D9C46E-1536-47F7-92D7-F3910985FE25}"/>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Translation genes mostly down</a:t>
            </a:r>
          </a:p>
        </p:txBody>
      </p:sp>
      <p:sp>
        <p:nvSpPr>
          <p:cNvPr id="23" name="TextBox 22">
            <a:extLst xmlns:a="http://schemas.openxmlformats.org/drawingml/2006/main">
              <a:ext uri="{FF2B5EF4-FFF2-40B4-BE49-F238E27FC236}">
                <a16:creationId xmlns:a16="http://schemas.microsoft.com/office/drawing/2014/main" id="{6AA0E181-361D-48CB-9FB5-FF568E55A4D6}"/>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exact network neighborhood connects the ER candidate with lower mitochondrial protein-production RNA.</a:t>
            </a:r>
          </a:p>
        </p:txBody>
      </p:sp>
      <p:sp>
        <p:nvSpPr>
          <p:cNvPr id="24" name="Rounded Rectangle 23">
            <a:extLst xmlns:a="http://schemas.openxmlformats.org/drawingml/2006/main">
              <a:ext uri="{FF2B5EF4-FFF2-40B4-BE49-F238E27FC236}">
                <a16:creationId xmlns:a16="http://schemas.microsoft.com/office/drawing/2014/main" id="{0592564E-9542-4F5F-9B24-4FB9546E4AC7}"/>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66ECDC3-B901-402A-BFB6-301059DDAB37}"/>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SELENOM is not part of the mitochondrial ribosome. KDA links two cellular systems through network proximity.</a:t>
            </a:r>
          </a:p>
        </p:txBody>
      </p:sp>
      <p:sp>
        <p:nvSpPr>
          <p:cNvPr id="26" name="TextBox 25">
            <a:extLst xmlns:a="http://schemas.openxmlformats.org/drawingml/2006/main">
              <a:ext uri="{FF2B5EF4-FFF2-40B4-BE49-F238E27FC236}">
                <a16:creationId xmlns:a16="http://schemas.microsoft.com/office/drawing/2014/main" id="{784C0CD6-9440-495F-A70E-7FA72F814E4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446232377"/>
      </p:ext>
    </p:extLst>
  </p:cSld>
</p:sld>
</file>

<file path=ppt/slides/slide10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21B74E3-AB8F-48D2-8577-5E207E6BE41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mitochondrial-translation genes dominate the SELENOM neighborhood</a:t>
            </a:r>
          </a:p>
        </p:txBody>
      </p:sp>
      <p:sp>
        <p:nvSpPr>
          <p:cNvPr id="3" name="TextBox 2">
            <a:extLst xmlns:a="http://schemas.openxmlformats.org/drawingml/2006/main">
              <a:ext uri="{FF2B5EF4-FFF2-40B4-BE49-F238E27FC236}">
                <a16:creationId xmlns:a16="http://schemas.microsoft.com/office/drawing/2014/main" id="{EAF1DA34-721D-4B7F-BC6B-284728F64E1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candidate recurs across groups, so the result is not sex- or APOE-specific.</a:t>
            </a:r>
          </a:p>
        </p:txBody>
      </p:sp>
      <p:sp>
        <p:nvSpPr>
          <p:cNvPr id="4" name="Rounded Rectangle 3">
            <a:extLst xmlns:a="http://schemas.openxmlformats.org/drawingml/2006/main">
              <a:ext uri="{FF2B5EF4-FFF2-40B4-BE49-F238E27FC236}">
                <a16:creationId xmlns:a16="http://schemas.microsoft.com/office/drawing/2014/main" id="{B80902C0-095D-493F-960E-5450F231C91F}"/>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9F4C998-1FAE-4AD5-8F7C-E78DD528019F}"/>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12</a:t>
            </a:r>
          </a:p>
        </p:txBody>
      </p:sp>
      <p:sp>
        <p:nvSpPr>
          <p:cNvPr id="6" name="TextBox 5">
            <a:extLst xmlns:a="http://schemas.openxmlformats.org/drawingml/2006/main">
              <a:ext uri="{FF2B5EF4-FFF2-40B4-BE49-F238E27FC236}">
                <a16:creationId xmlns:a16="http://schemas.microsoft.com/office/drawing/2014/main" id="{E059FF04-A750-46F7-83F4-009DDFB6FCE2}"/>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calls</a:t>
            </a:r>
          </a:p>
        </p:txBody>
      </p:sp>
      <p:sp>
        <p:nvSpPr>
          <p:cNvPr id="7" name="TextBox 6">
            <a:extLst xmlns:a="http://schemas.openxmlformats.org/drawingml/2006/main">
              <a:ext uri="{FF2B5EF4-FFF2-40B4-BE49-F238E27FC236}">
                <a16:creationId xmlns:a16="http://schemas.microsoft.com/office/drawing/2014/main" id="{4D021A94-834F-451B-B75F-D8F125B70D7B}"/>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10 excitatory, 2 inhibitory</a:t>
            </a:r>
          </a:p>
        </p:txBody>
      </p:sp>
      <p:sp>
        <p:nvSpPr>
          <p:cNvPr id="8" name="Rounded Rectangle 7">
            <a:extLst xmlns:a="http://schemas.openxmlformats.org/drawingml/2006/main">
              <a:ext uri="{FF2B5EF4-FFF2-40B4-BE49-F238E27FC236}">
                <a16:creationId xmlns:a16="http://schemas.microsoft.com/office/drawing/2014/main" id="{479C9FF7-EC84-454E-B87F-996E75E637D9}"/>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039420D-4087-467E-A9C4-B27E45272B19}"/>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51</a:t>
            </a:r>
          </a:p>
        </p:txBody>
      </p:sp>
      <p:sp>
        <p:nvSpPr>
          <p:cNvPr id="10" name="TextBox 9">
            <a:extLst xmlns:a="http://schemas.openxmlformats.org/drawingml/2006/main">
              <a:ext uri="{FF2B5EF4-FFF2-40B4-BE49-F238E27FC236}">
                <a16:creationId xmlns:a16="http://schemas.microsoft.com/office/drawing/2014/main" id="{01E3F8C2-F2E3-45F5-8BEA-59E9C2467A8D}"/>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xmlns:a="http://schemas.openxmlformats.org/drawingml/2006/main">
              <a:ext uri="{FF2B5EF4-FFF2-40B4-BE49-F238E27FC236}">
                <a16:creationId xmlns:a16="http://schemas.microsoft.com/office/drawing/2014/main" id="{2CBEA001-8398-49D8-B802-AC7DBDAAD21D}"/>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27 translation genes</a:t>
            </a:r>
          </a:p>
        </p:txBody>
      </p:sp>
      <p:sp>
        <p:nvSpPr>
          <p:cNvPr id="12" name="Rounded Rectangle 11">
            <a:extLst xmlns:a="http://schemas.openxmlformats.org/drawingml/2006/main">
              <a:ext uri="{FF2B5EF4-FFF2-40B4-BE49-F238E27FC236}">
                <a16:creationId xmlns:a16="http://schemas.microsoft.com/office/drawing/2014/main" id="{3FF76E23-954D-4A34-BFF3-E01B70C8B1F4}"/>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776E1F0-8D9D-45F2-8002-F8952774B882}"/>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11/12</a:t>
            </a:r>
          </a:p>
        </p:txBody>
      </p:sp>
      <p:sp>
        <p:nvSpPr>
          <p:cNvPr id="14" name="TextBox 13">
            <a:extLst xmlns:a="http://schemas.openxmlformats.org/drawingml/2006/main">
              <a:ext uri="{FF2B5EF4-FFF2-40B4-BE49-F238E27FC236}">
                <a16:creationId xmlns:a16="http://schemas.microsoft.com/office/drawing/2014/main" id="{7A776ADF-02EC-4E24-8FA5-673EA89B9BC4}"/>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xmlns:a="http://schemas.openxmlformats.org/drawingml/2006/main">
              <a:ext uri="{FF2B5EF4-FFF2-40B4-BE49-F238E27FC236}">
                <a16:creationId xmlns:a16="http://schemas.microsoft.com/office/drawing/2014/main" id="{7C88409E-0F7C-476E-A00A-66C6D8E5315D}"/>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xmlns:a="http://schemas.openxmlformats.org/drawingml/2006/main">
              <a:ext uri="{FF2B5EF4-FFF2-40B4-BE49-F238E27FC236}">
                <a16:creationId xmlns:a16="http://schemas.microsoft.com/office/drawing/2014/main" id="{AB81D0D4-8592-477D-9387-D054683E8367}"/>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C1054FA-D0A0-41E1-845D-89EDCC1076DA}"/>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Translation direction</a:t>
            </a:r>
          </a:p>
        </p:txBody>
      </p:sp>
      <p:sp>
        <p:nvSpPr>
          <p:cNvPr id="18" name="TextBox 17">
            <a:extLst xmlns:a="http://schemas.openxmlformats.org/drawingml/2006/main">
              <a:ext uri="{FF2B5EF4-FFF2-40B4-BE49-F238E27FC236}">
                <a16:creationId xmlns:a16="http://schemas.microsoft.com/office/drawing/2014/main" id="{B27210B7-C4CC-41A0-829C-2D6549BAB350}"/>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22 of 27 down</a:t>
            </a:r>
          </a:p>
        </p:txBody>
      </p:sp>
      <p:sp>
        <p:nvSpPr>
          <p:cNvPr id="19" name="TextBox 18">
            <a:extLst xmlns:a="http://schemas.openxmlformats.org/drawingml/2006/main">
              <a:ext uri="{FF2B5EF4-FFF2-40B4-BE49-F238E27FC236}">
                <a16:creationId xmlns:a16="http://schemas.microsoft.com/office/drawing/2014/main" id="{FFB330F5-B8B2-418A-81AD-1C58BAA57F90}"/>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Most mitochondrial-translation overlaps have lower RNA in AD</a:t>
            </a:r>
          </a:p>
        </p:txBody>
      </p:sp>
      <p:sp>
        <p:nvSpPr>
          <p:cNvPr id="20" name="Rounded Rectangle 19">
            <a:extLst xmlns:a="http://schemas.openxmlformats.org/drawingml/2006/main">
              <a:ext uri="{FF2B5EF4-FFF2-40B4-BE49-F238E27FC236}">
                <a16:creationId xmlns:a16="http://schemas.microsoft.com/office/drawing/2014/main" id="{5124F938-A41A-4805-BD42-7FA0ED50CEBC}"/>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0E69DA5F-5A06-4327-8981-A6CA33BA6746}"/>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Repeated neighbors</a:t>
            </a:r>
          </a:p>
        </p:txBody>
      </p:sp>
      <p:sp>
        <p:nvSpPr>
          <p:cNvPr id="22" name="TextBox 21">
            <a:extLst xmlns:a="http://schemas.openxmlformats.org/drawingml/2006/main">
              <a:ext uri="{FF2B5EF4-FFF2-40B4-BE49-F238E27FC236}">
                <a16:creationId xmlns:a16="http://schemas.microsoft.com/office/drawing/2014/main" id="{8FF084EE-59CB-4E89-96FE-CB67147C78B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MRPS34, TUFM, MRPS7</a:t>
            </a:r>
          </a:p>
        </p:txBody>
      </p:sp>
      <p:sp>
        <p:nvSpPr>
          <p:cNvPr id="23" name="TextBox 22">
            <a:extLst xmlns:a="http://schemas.openxmlformats.org/drawingml/2006/main">
              <a:ext uri="{FF2B5EF4-FFF2-40B4-BE49-F238E27FC236}">
                <a16:creationId xmlns:a16="http://schemas.microsoft.com/office/drawing/2014/main" id="{BCF5FACD-DCE9-4190-8C0C-1B3D2F8BDD93}"/>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CLPP and MRPS26 also recur in the exact KDA neighborhood</a:t>
            </a:r>
          </a:p>
        </p:txBody>
      </p:sp>
      <p:sp>
        <p:nvSpPr>
          <p:cNvPr id="24" name="Rounded Rectangle 23">
            <a:extLst xmlns:a="http://schemas.openxmlformats.org/drawingml/2006/main">
              <a:ext uri="{FF2B5EF4-FFF2-40B4-BE49-F238E27FC236}">
                <a16:creationId xmlns:a16="http://schemas.microsoft.com/office/drawing/2014/main" id="{57AF983D-0F7E-4804-BC13-D1AE82663D19}"/>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B76E8CF5-5C1A-4EC2-ABD3-78A13094D488}"/>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SELENOM itself</a:t>
            </a:r>
          </a:p>
        </p:txBody>
      </p:sp>
      <p:sp>
        <p:nvSpPr>
          <p:cNvPr id="26" name="TextBox 25">
            <a:extLst xmlns:a="http://schemas.openxmlformats.org/drawingml/2006/main">
              <a:ext uri="{FF2B5EF4-FFF2-40B4-BE49-F238E27FC236}">
                <a16:creationId xmlns:a16="http://schemas.microsoft.com/office/drawing/2014/main" id="{3D1F4111-3C4B-46FA-A9AF-1148415B2D36}"/>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DEG in 10 of 12</a:t>
            </a:r>
          </a:p>
        </p:txBody>
      </p:sp>
      <p:sp>
        <p:nvSpPr>
          <p:cNvPr id="27" name="TextBox 26">
            <a:extLst xmlns:a="http://schemas.openxmlformats.org/drawingml/2006/main">
              <a:ext uri="{FF2B5EF4-FFF2-40B4-BE49-F238E27FC236}">
                <a16:creationId xmlns:a16="http://schemas.microsoft.com/office/drawing/2014/main" id="{7B93D71D-961F-4FB5-A06E-D4A15158ADD1}"/>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as well as appearing in the network</a:t>
            </a:r>
          </a:p>
        </p:txBody>
      </p:sp>
      <p:sp>
        <p:nvSpPr>
          <p:cNvPr id="28" name="TextBox 27">
            <a:extLst xmlns:a="http://schemas.openxmlformats.org/drawingml/2006/main">
              <a:ext uri="{FF2B5EF4-FFF2-40B4-BE49-F238E27FC236}">
                <a16:creationId xmlns:a16="http://schemas.microsoft.com/office/drawing/2014/main" id="{0470603D-CABC-4098-85C5-390EB40F902D}"/>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738462503"/>
      </p:ext>
    </p:extLst>
  </p:cSld>
</p:sld>
</file>

<file path=ppt/slides/slide11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0A4EE6E-0343-4FDF-BCD2-55656C5CE61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Cross-cohort and genetic evidence do not yet support SELENOM directly</a:t>
            </a:r>
          </a:p>
        </p:txBody>
      </p:sp>
      <p:sp>
        <p:nvSpPr>
          <p:cNvPr id="3" name="TextBox 2">
            <a:extLst xmlns:a="http://schemas.openxmlformats.org/drawingml/2006/main">
              <a:ext uri="{FF2B5EF4-FFF2-40B4-BE49-F238E27FC236}">
                <a16:creationId xmlns:a16="http://schemas.microsoft.com/office/drawing/2014/main" id="{58FC2311-DB43-4F16-B2F5-7C5FA0E224E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ROSMAP recurrence and coherent neighborhood remain the main evidence.</a:t>
            </a:r>
          </a:p>
        </p:txBody>
      </p:sp>
      <p:sp>
        <p:nvSpPr>
          <p:cNvPr id="4" name="Rounded Rectangle 3">
            <a:extLst xmlns:a="http://schemas.openxmlformats.org/drawingml/2006/main">
              <a:ext uri="{FF2B5EF4-FFF2-40B4-BE49-F238E27FC236}">
                <a16:creationId xmlns:a16="http://schemas.microsoft.com/office/drawing/2014/main" id="{911ABC21-FD78-4DEE-A5D3-635418BB528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62159CA-286E-4728-A718-AAC584AB721D}"/>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SEA-AD TESTABILITY</a:t>
            </a:r>
          </a:p>
        </p:txBody>
      </p:sp>
      <p:sp>
        <p:nvSpPr>
          <p:cNvPr id="6" name="TextBox 5">
            <a:extLst xmlns:a="http://schemas.openxmlformats.org/drawingml/2006/main">
              <a:ext uri="{FF2B5EF4-FFF2-40B4-BE49-F238E27FC236}">
                <a16:creationId xmlns:a16="http://schemas.microsoft.com/office/drawing/2014/main" id="{48E0EAD5-1B12-4153-9406-C3BF595AA83D}"/>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10 matching backgrounds</a:t>
            </a:r>
          </a:p>
        </p:txBody>
      </p:sp>
      <p:sp>
        <p:nvSpPr>
          <p:cNvPr id="7" name="TextBox 6">
            <a:extLst xmlns:a="http://schemas.openxmlformats.org/drawingml/2006/main">
              <a:ext uri="{FF2B5EF4-FFF2-40B4-BE49-F238E27FC236}">
                <a16:creationId xmlns:a16="http://schemas.microsoft.com/office/drawing/2014/main" id="{42B67F14-65F8-4619-B9B6-E7F88A3BCF44}"/>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SELENOM was available in all male ε3/ε3 excitatory networks.</a:t>
            </a:r>
          </a:p>
        </p:txBody>
      </p:sp>
      <p:sp>
        <p:nvSpPr>
          <p:cNvPr id="8" name="Rounded Rectangle 7">
            <a:extLst xmlns:a="http://schemas.openxmlformats.org/drawingml/2006/main">
              <a:ext uri="{FF2B5EF4-FFF2-40B4-BE49-F238E27FC236}">
                <a16:creationId xmlns:a16="http://schemas.microsoft.com/office/drawing/2014/main" id="{7A2F2BC8-BA8C-4ABC-9D2F-2AA2A653D16C}"/>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F25B389-5C17-4BAA-B051-AD0BE181FFA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RETURN</a:t>
            </a:r>
          </a:p>
        </p:txBody>
      </p:sp>
      <p:sp>
        <p:nvSpPr>
          <p:cNvPr id="10" name="TextBox 9">
            <a:extLst xmlns:a="http://schemas.openxmlformats.org/drawingml/2006/main">
              <a:ext uri="{FF2B5EF4-FFF2-40B4-BE49-F238E27FC236}">
                <a16:creationId xmlns:a16="http://schemas.microsoft.com/office/drawing/2014/main" id="{26F8A0E1-7CBA-4146-8FA6-44E6BACC4EC0}"/>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 of 10</a:t>
            </a:r>
          </a:p>
        </p:txBody>
      </p:sp>
      <p:sp>
        <p:nvSpPr>
          <p:cNvPr id="11" name="TextBox 10">
            <a:extLst xmlns:a="http://schemas.openxmlformats.org/drawingml/2006/main">
              <a:ext uri="{FF2B5EF4-FFF2-40B4-BE49-F238E27FC236}">
                <a16:creationId xmlns:a16="http://schemas.microsoft.com/office/drawing/2014/main" id="{6B3E71B3-D882-4840-B944-B21828D430BC}"/>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SEA-AD did not select SELENOM as a key driver in those calls.</a:t>
            </a:r>
          </a:p>
        </p:txBody>
      </p:sp>
      <p:sp>
        <p:nvSpPr>
          <p:cNvPr id="12" name="Rounded Rectangle 11">
            <a:extLst xmlns:a="http://schemas.openxmlformats.org/drawingml/2006/main">
              <a:ext uri="{FF2B5EF4-FFF2-40B4-BE49-F238E27FC236}">
                <a16:creationId xmlns:a16="http://schemas.microsoft.com/office/drawing/2014/main" id="{B20FD01D-B845-4216-AC5B-BE46305DA9B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1B46D3D-636D-496F-9DFC-23FA75F81B41}"/>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HUMAN GENETICS</a:t>
            </a:r>
          </a:p>
        </p:txBody>
      </p:sp>
      <p:sp>
        <p:nvSpPr>
          <p:cNvPr id="14" name="TextBox 13">
            <a:extLst xmlns:a="http://schemas.openxmlformats.org/drawingml/2006/main">
              <a:ext uri="{FF2B5EF4-FFF2-40B4-BE49-F238E27FC236}">
                <a16:creationId xmlns:a16="http://schemas.microsoft.com/office/drawing/2014/main" id="{08D00B65-EE3E-410C-AB29-675883E6AB38}"/>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 direct support found</a:t>
            </a:r>
          </a:p>
        </p:txBody>
      </p:sp>
      <p:sp>
        <p:nvSpPr>
          <p:cNvPr id="15" name="TextBox 14">
            <a:extLst xmlns:a="http://schemas.openxmlformats.org/drawingml/2006/main">
              <a:ext uri="{FF2B5EF4-FFF2-40B4-BE49-F238E27FC236}">
                <a16:creationId xmlns:a16="http://schemas.microsoft.com/office/drawing/2014/main" id="{C26F7CB6-9F28-4BD4-A3B1-DDEC1898AD00}"/>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local genetic screen did not provide direct gene-level support for SELENOM.</a:t>
            </a:r>
          </a:p>
        </p:txBody>
      </p:sp>
      <p:sp>
        <p:nvSpPr>
          <p:cNvPr id="16" name="Rounded Rectangle 15">
            <a:extLst xmlns:a="http://schemas.openxmlformats.org/drawingml/2006/main">
              <a:ext uri="{FF2B5EF4-FFF2-40B4-BE49-F238E27FC236}">
                <a16:creationId xmlns:a16="http://schemas.microsoft.com/office/drawing/2014/main" id="{88A9747E-F53C-41AF-860E-A637215130D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32C4961-AB50-4144-8348-7E6E55FCEB16}"/>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Lack of SEA-AD or genetic support lowers external confidence but does not erase recurrent ROSMAP evidence.</a:t>
            </a:r>
          </a:p>
        </p:txBody>
      </p:sp>
      <p:sp>
        <p:nvSpPr>
          <p:cNvPr id="18" name="TextBox 17">
            <a:extLst xmlns:a="http://schemas.openxmlformats.org/drawingml/2006/main">
              <a:ext uri="{FF2B5EF4-FFF2-40B4-BE49-F238E27FC236}">
                <a16:creationId xmlns:a16="http://schemas.microsoft.com/office/drawing/2014/main" id="{FC2FB94D-AC08-4EA3-ABFA-FF0E45A92F8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705880487"/>
      </p:ext>
    </p:extLst>
  </p:cSld>
</p:sld>
</file>

<file path=ppt/slides/slide11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D961931-DB1A-4D8D-9E59-4FF664EFC7D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ER and mitochondrial stress responses depend on each other</a:t>
            </a:r>
          </a:p>
        </p:txBody>
      </p:sp>
      <p:sp>
        <p:nvSpPr>
          <p:cNvPr id="3" name="TextBox 2">
            <a:extLst xmlns:a="http://schemas.openxmlformats.org/drawingml/2006/main">
              <a:ext uri="{FF2B5EF4-FFF2-40B4-BE49-F238E27FC236}">
                <a16:creationId xmlns:a16="http://schemas.microsoft.com/office/drawing/2014/main" id="{9030C8CA-04A9-4663-8E2C-46DC881652F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Calcium and oxidation move between the ER and mitochondria, influencing protein folding and energy production.</a:t>
            </a:r>
          </a:p>
        </p:txBody>
      </p:sp>
      <p:sp>
        <p:nvSpPr>
          <p:cNvPr id="4" name="Rounded Rectangle 3">
            <a:extLst xmlns:a="http://schemas.openxmlformats.org/drawingml/2006/main">
              <a:ext uri="{FF2B5EF4-FFF2-40B4-BE49-F238E27FC236}">
                <a16:creationId xmlns:a16="http://schemas.microsoft.com/office/drawing/2014/main" id="{084602C6-90C6-454C-BB1E-C05872F85CC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4B183CB-8DE4-4569-B23B-5B4DD3B5D25E}"/>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ER FUNCTION</a:t>
            </a:r>
          </a:p>
        </p:txBody>
      </p:sp>
      <p:sp>
        <p:nvSpPr>
          <p:cNvPr id="6" name="TextBox 5">
            <a:extLst xmlns:a="http://schemas.openxmlformats.org/drawingml/2006/main">
              <a:ext uri="{FF2B5EF4-FFF2-40B4-BE49-F238E27FC236}">
                <a16:creationId xmlns:a16="http://schemas.microsoft.com/office/drawing/2014/main" id="{69D73032-F8F4-4986-B4CB-2E2A57F516E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Protein folding and calcium</a:t>
            </a:r>
          </a:p>
        </p:txBody>
      </p:sp>
      <p:sp>
        <p:nvSpPr>
          <p:cNvPr id="7" name="TextBox 6">
            <a:extLst xmlns:a="http://schemas.openxmlformats.org/drawingml/2006/main">
              <a:ext uri="{FF2B5EF4-FFF2-40B4-BE49-F238E27FC236}">
                <a16:creationId xmlns:a16="http://schemas.microsoft.com/office/drawing/2014/main" id="{DC4A171B-45B3-4A7C-812C-62F3F557E308}"/>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Disrupted ER balance can alter cellular stress signaling.</a:t>
            </a:r>
          </a:p>
        </p:txBody>
      </p:sp>
      <p:sp>
        <p:nvSpPr>
          <p:cNvPr id="8" name="Rounded Rectangle 7">
            <a:extLst xmlns:a="http://schemas.openxmlformats.org/drawingml/2006/main">
              <a:ext uri="{FF2B5EF4-FFF2-40B4-BE49-F238E27FC236}">
                <a16:creationId xmlns:a16="http://schemas.microsoft.com/office/drawing/2014/main" id="{64D82D6D-D8D3-4638-8CBD-F209431DC4F5}"/>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CED050F-F90E-4C37-B63C-51F32FE48A3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MITOCHONDRIAL FUNCTION</a:t>
            </a:r>
          </a:p>
        </p:txBody>
      </p:sp>
      <p:sp>
        <p:nvSpPr>
          <p:cNvPr id="10" name="TextBox 9">
            <a:extLst xmlns:a="http://schemas.openxmlformats.org/drawingml/2006/main">
              <a:ext uri="{FF2B5EF4-FFF2-40B4-BE49-F238E27FC236}">
                <a16:creationId xmlns:a16="http://schemas.microsoft.com/office/drawing/2014/main" id="{BB6D8CA6-6F93-404C-A02B-E57A9FC9FE39}"/>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Translation supplies mtDNA proteins</a:t>
            </a:r>
          </a:p>
        </p:txBody>
      </p:sp>
      <p:sp>
        <p:nvSpPr>
          <p:cNvPr id="11" name="TextBox 10">
            <a:extLst xmlns:a="http://schemas.openxmlformats.org/drawingml/2006/main">
              <a:ext uri="{FF2B5EF4-FFF2-40B4-BE49-F238E27FC236}">
                <a16:creationId xmlns:a16="http://schemas.microsoft.com/office/drawing/2014/main" id="{9C18F9AA-D02B-41C1-BBFB-8DDCCD7C054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Lower translation machinery could affect respiratory-complex assembly.</a:t>
            </a:r>
          </a:p>
        </p:txBody>
      </p:sp>
      <p:sp>
        <p:nvSpPr>
          <p:cNvPr id="12" name="Rounded Rectangle 11">
            <a:extLst xmlns:a="http://schemas.openxmlformats.org/drawingml/2006/main">
              <a:ext uri="{FF2B5EF4-FFF2-40B4-BE49-F238E27FC236}">
                <a16:creationId xmlns:a16="http://schemas.microsoft.com/office/drawing/2014/main" id="{C938B0A7-F1D5-4BF9-908E-FE01BFA437C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289F945-FB3C-4F88-8EC0-7460C543298B}"/>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CANDIDATE MECHANISM</a:t>
            </a:r>
          </a:p>
        </p:txBody>
      </p:sp>
      <p:sp>
        <p:nvSpPr>
          <p:cNvPr id="14" name="TextBox 13">
            <a:extLst xmlns:a="http://schemas.openxmlformats.org/drawingml/2006/main">
              <a:ext uri="{FF2B5EF4-FFF2-40B4-BE49-F238E27FC236}">
                <a16:creationId xmlns:a16="http://schemas.microsoft.com/office/drawing/2014/main" id="{BA2E20E9-9A03-4905-9B10-3AE5DC6CBCD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Cross-organelle stress</a:t>
            </a:r>
          </a:p>
        </p:txBody>
      </p:sp>
      <p:sp>
        <p:nvSpPr>
          <p:cNvPr id="15" name="TextBox 14">
            <a:extLst xmlns:a="http://schemas.openxmlformats.org/drawingml/2006/main">
              <a:ext uri="{FF2B5EF4-FFF2-40B4-BE49-F238E27FC236}">
                <a16:creationId xmlns:a16="http://schemas.microsoft.com/office/drawing/2014/main" id="{70FE139F-123B-4EDA-9549-D0FC6C9E9E16}"/>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SELENOM could influence mitochondria indirectly through ER redox or calcium control.</a:t>
            </a:r>
          </a:p>
        </p:txBody>
      </p:sp>
      <p:sp>
        <p:nvSpPr>
          <p:cNvPr id="16" name="Rounded Rectangle 15">
            <a:extLst xmlns:a="http://schemas.openxmlformats.org/drawingml/2006/main">
              <a:ext uri="{FF2B5EF4-FFF2-40B4-BE49-F238E27FC236}">
                <a16:creationId xmlns:a16="http://schemas.microsoft.com/office/drawing/2014/main" id="{0B195959-579A-4FAC-8465-45BF60AF65C8}"/>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C8773B5-1324-420E-AC08-9270056E69AD}"/>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F92D06E9-C383-4E1A-BF39-EF8478DCEC5C}"/>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A joint ER and mitochondrial perturbation experiment can distinguish specific coupling from general stress.</a:t>
            </a:r>
          </a:p>
        </p:txBody>
      </p:sp>
      <p:sp>
        <p:nvSpPr>
          <p:cNvPr id="19" name="TextBox 18">
            <a:extLst xmlns:a="http://schemas.openxmlformats.org/drawingml/2006/main">
              <a:ext uri="{FF2B5EF4-FFF2-40B4-BE49-F238E27FC236}">
                <a16:creationId xmlns:a16="http://schemas.microsoft.com/office/drawing/2014/main" id="{53A3C184-C731-4574-92B8-EF4A7C9DE4EF}"/>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625634126"/>
      </p:ext>
    </p:extLst>
  </p:cSld>
</p:sld>
</file>

<file path=ppt/slides/slide11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D2E0C6-BA00-4090-AD2C-97A515B2F9E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10 does not prove, and the next evidence needed</a:t>
            </a:r>
          </a:p>
        </p:txBody>
      </p:sp>
      <p:sp>
        <p:nvSpPr>
          <p:cNvPr id="3" name="TextBox 2">
            <a:extLst xmlns:a="http://schemas.openxmlformats.org/drawingml/2006/main">
              <a:ext uri="{FF2B5EF4-FFF2-40B4-BE49-F238E27FC236}">
                <a16:creationId xmlns:a16="http://schemas.microsoft.com/office/drawing/2014/main" id="{6AB3BE6D-961D-45EC-B21E-AB238BAB782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04BC7D62-F917-45B2-8A51-4F1A2C7ECB95}"/>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573FFD7-EFFD-45A9-B766-8D6FF52F5CE5}"/>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EA54B85-BE77-4860-9DA2-1046FC8F76DF}"/>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EEAB249D-0313-40E3-B281-7172851A7D4E}"/>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AB28A4D6-99E6-455D-AC40-6F578EC5996A}"/>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Direct SELENOM control of TUFM or MRPS proteins</a:t>
            </a:r>
          </a:p>
        </p:txBody>
      </p:sp>
      <p:sp>
        <p:nvSpPr>
          <p:cNvPr id="9" name="Oval 8">
            <a:extLst xmlns:a="http://schemas.openxmlformats.org/drawingml/2006/main">
              <a:ext uri="{FF2B5EF4-FFF2-40B4-BE49-F238E27FC236}">
                <a16:creationId xmlns:a16="http://schemas.microsoft.com/office/drawing/2014/main" id="{70ED1DFD-EE7F-4028-8BAB-360EA448059A}"/>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E37B1534-47FF-497E-B90F-51282F66F0E9}"/>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causal effect on mitochondrial translation</a:t>
            </a:r>
          </a:p>
        </p:txBody>
      </p:sp>
      <p:sp>
        <p:nvSpPr>
          <p:cNvPr id="11" name="Oval 10">
            <a:extLst xmlns:a="http://schemas.openxmlformats.org/drawingml/2006/main">
              <a:ext uri="{FF2B5EF4-FFF2-40B4-BE49-F238E27FC236}">
                <a16:creationId xmlns:a16="http://schemas.microsoft.com/office/drawing/2014/main" id="{69AF9A20-C37E-44CB-A236-8A7533A3F670}"/>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5B3F034-D801-4311-842B-29BA16DFCCFA}"/>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human or genetic validation</a:t>
            </a:r>
          </a:p>
        </p:txBody>
      </p:sp>
      <p:sp>
        <p:nvSpPr>
          <p:cNvPr id="13" name="Rounded Rectangle 12">
            <a:extLst xmlns:a="http://schemas.openxmlformats.org/drawingml/2006/main">
              <a:ext uri="{FF2B5EF4-FFF2-40B4-BE49-F238E27FC236}">
                <a16:creationId xmlns:a16="http://schemas.microsoft.com/office/drawing/2014/main" id="{412A8E71-92FB-46E2-9E53-C94264916E3F}"/>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BB6BB246-9327-4C59-8A95-5F2823512109}"/>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3E208DA-BE55-480E-AC3D-C5FB9E7581F0}"/>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C49A0B7-9904-4ECF-B1BA-8C682880AE0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540B22D-F32B-49C1-979D-0D5AE74DAF8D}"/>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and rescue SELENOM in excitatory neurons</a:t>
            </a:r>
          </a:p>
        </p:txBody>
      </p:sp>
      <p:sp>
        <p:nvSpPr>
          <p:cNvPr id="18" name="Oval 17">
            <a:extLst xmlns:a="http://schemas.openxmlformats.org/drawingml/2006/main">
              <a:ext uri="{FF2B5EF4-FFF2-40B4-BE49-F238E27FC236}">
                <a16:creationId xmlns:a16="http://schemas.microsoft.com/office/drawing/2014/main" id="{B6C7C7D7-4F7B-45C4-98DF-ADE20BD13279}"/>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00567C9-47A4-47D3-9613-E11253C8D37F}"/>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ER calcium and redox state</a:t>
            </a:r>
          </a:p>
        </p:txBody>
      </p:sp>
      <p:sp>
        <p:nvSpPr>
          <p:cNvPr id="20" name="Oval 19">
            <a:extLst xmlns:a="http://schemas.openxmlformats.org/drawingml/2006/main">
              <a:ext uri="{FF2B5EF4-FFF2-40B4-BE49-F238E27FC236}">
                <a16:creationId xmlns:a16="http://schemas.microsoft.com/office/drawing/2014/main" id="{9C795723-901F-4364-8AE7-878F36AB7B4D}"/>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36CDEA5-71A7-4BFB-91E7-9BCFE14062B4}"/>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mitochondrial translation, OXPHOS proteins, and respiration</a:t>
            </a:r>
          </a:p>
        </p:txBody>
      </p:sp>
      <p:sp>
        <p:nvSpPr>
          <p:cNvPr id="22" name="TextBox 21">
            <a:extLst xmlns:a="http://schemas.openxmlformats.org/drawingml/2006/main">
              <a:ext uri="{FF2B5EF4-FFF2-40B4-BE49-F238E27FC236}">
                <a16:creationId xmlns:a16="http://schemas.microsoft.com/office/drawing/2014/main" id="{5135C2A4-BC6F-4647-8AD5-F48DA88495C8}"/>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4C3E570E-4101-4CA7-ADE0-D2B827B8E82B}"/>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837816153"/>
      </p:ext>
    </p:extLst>
  </p:cSld>
</p:sld>
</file>

<file path=ppt/slides/slide11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9D8F2BA-EA13-4344-BB28-DCEA1268D94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10</a:t>
            </a:r>
          </a:p>
        </p:txBody>
      </p:sp>
      <p:sp>
        <p:nvSpPr>
          <p:cNvPr id="3" name="TextBox 2">
            <a:extLst xmlns:a="http://schemas.openxmlformats.org/drawingml/2006/main">
              <a:ext uri="{FF2B5EF4-FFF2-40B4-BE49-F238E27FC236}">
                <a16:creationId xmlns:a16="http://schemas.microsoft.com/office/drawing/2014/main" id="{CC084186-73EE-4850-AE7A-77F15A65910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57A73BA5-9171-4E9A-95B6-AF859E9BCD40}"/>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3A1B4E3-73DE-4DB1-8E23-438B4390052D}"/>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Ferguson et al. 2006</a:t>
            </a:r>
          </a:p>
        </p:txBody>
      </p:sp>
      <p:sp>
        <p:nvSpPr>
          <p:cNvPr id="6" name="TextBox 5">
            <a:extLst xmlns:a="http://schemas.openxmlformats.org/drawingml/2006/main">
              <a:ext uri="{FF2B5EF4-FFF2-40B4-BE49-F238E27FC236}">
                <a16:creationId xmlns:a16="http://schemas.microsoft.com/office/drawing/2014/main" id="{B7E6A33E-B068-4D68-9276-D8E4243CBAFF}"/>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SELENOM molecular function</a:t>
            </a:r>
          </a:p>
        </p:txBody>
      </p:sp>
      <p:sp>
        <p:nvSpPr>
          <p:cNvPr id="7" name="TextBox 6">
            <a:extLst xmlns:a="http://schemas.openxmlformats.org/drawingml/2006/main">
              <a:ext uri="{FF2B5EF4-FFF2-40B4-BE49-F238E27FC236}">
                <a16:creationId xmlns:a16="http://schemas.microsoft.com/office/drawing/2014/main" id="{B423AADD-68F7-42DC-8C55-173CBC52095B}"/>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0742ECA0-2C00-4E88-8789-BF08A61F8F6D}"/>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Defines SELENOM as an ER-lumen thioredoxin-like oxidoreductase.</a:t>
            </a:r>
          </a:p>
        </p:txBody>
      </p:sp>
      <p:sp>
        <p:nvSpPr>
          <p:cNvPr id="9" name="TextBox 8">
            <a:extLst xmlns:a="http://schemas.openxmlformats.org/drawingml/2006/main">
              <a:ext uri="{FF2B5EF4-FFF2-40B4-BE49-F238E27FC236}">
                <a16:creationId xmlns:a16="http://schemas.microsoft.com/office/drawing/2014/main" id="{F5C681ED-C22F-409B-8F4A-087032B5111B}"/>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3C10CD6C-F45D-4932-8331-D7AA10FBBDE3}"/>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establish mitochondrial regulation in AD.</a:t>
            </a:r>
          </a:p>
        </p:txBody>
      </p:sp>
      <p:sp>
        <p:nvSpPr>
          <p:cNvPr id="11" name="Rounded Rectangle 10">
            <a:extLst xmlns:a="http://schemas.openxmlformats.org/drawingml/2006/main">
              <a:ext uri="{FF2B5EF4-FFF2-40B4-BE49-F238E27FC236}">
                <a16:creationId xmlns:a16="http://schemas.microsoft.com/office/drawing/2014/main" id="{B1E1B27D-FD26-45EE-8154-2B16B1018FAB}"/>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1EEDCAD3-328B-4EC4-94C3-316A45E9B3C9}"/>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Yim et al. 2009</a:t>
            </a:r>
          </a:p>
        </p:txBody>
      </p:sp>
      <p:sp>
        <p:nvSpPr>
          <p:cNvPr id="13" name="TextBox 12">
            <a:extLst xmlns:a="http://schemas.openxmlformats.org/drawingml/2006/main">
              <a:ext uri="{FF2B5EF4-FFF2-40B4-BE49-F238E27FC236}">
                <a16:creationId xmlns:a16="http://schemas.microsoft.com/office/drawing/2014/main" id="{A5841D23-41FA-429A-9D1F-29AC1219A37D}"/>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Neuronal redox and calcium</a:t>
            </a:r>
          </a:p>
        </p:txBody>
      </p:sp>
      <p:sp>
        <p:nvSpPr>
          <p:cNvPr id="14" name="TextBox 13">
            <a:extLst xmlns:a="http://schemas.openxmlformats.org/drawingml/2006/main">
              <a:ext uri="{FF2B5EF4-FFF2-40B4-BE49-F238E27FC236}">
                <a16:creationId xmlns:a16="http://schemas.microsoft.com/office/drawing/2014/main" id="{BAF7FCCB-92E1-4224-BF2D-D70FDB407B6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B737E11E-28F5-4D49-B55D-0CBB650C860B}"/>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SELENOM with neuronal redox and calcium regulation.</a:t>
            </a:r>
          </a:p>
        </p:txBody>
      </p:sp>
      <p:sp>
        <p:nvSpPr>
          <p:cNvPr id="16" name="TextBox 15">
            <a:extLst xmlns:a="http://schemas.openxmlformats.org/drawingml/2006/main">
              <a:ext uri="{FF2B5EF4-FFF2-40B4-BE49-F238E27FC236}">
                <a16:creationId xmlns:a16="http://schemas.microsoft.com/office/drawing/2014/main" id="{AE4E3E12-130F-4733-8F0E-5766C63E1678}"/>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136EF260-BB56-4396-AA72-743B3C7C95E5}"/>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Experimental evidence does not reproduce the human network.</a:t>
            </a:r>
          </a:p>
        </p:txBody>
      </p:sp>
      <p:sp>
        <p:nvSpPr>
          <p:cNvPr id="18" name="Rounded Rectangle 17">
            <a:extLst xmlns:a="http://schemas.openxmlformats.org/drawingml/2006/main">
              <a:ext uri="{FF2B5EF4-FFF2-40B4-BE49-F238E27FC236}">
                <a16:creationId xmlns:a16="http://schemas.microsoft.com/office/drawing/2014/main" id="{5885393C-5225-4F0A-BED9-7115AC38A846}"/>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900AC170-5527-4A10-9192-E94ECFE18EB5}"/>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Experimental Aβ study</a:t>
            </a:r>
          </a:p>
        </p:txBody>
      </p:sp>
      <p:sp>
        <p:nvSpPr>
          <p:cNvPr id="20" name="TextBox 19">
            <a:extLst xmlns:a="http://schemas.openxmlformats.org/drawingml/2006/main">
              <a:ext uri="{FF2B5EF4-FFF2-40B4-BE49-F238E27FC236}">
                <a16:creationId xmlns:a16="http://schemas.microsoft.com/office/drawing/2014/main" id="{ECA4BFE1-40FC-448E-BA23-245BF5C47412}"/>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SELENOM and AD phenotypes</a:t>
            </a:r>
          </a:p>
        </p:txBody>
      </p:sp>
      <p:sp>
        <p:nvSpPr>
          <p:cNvPr id="21" name="TextBox 20">
            <a:extLst xmlns:a="http://schemas.openxmlformats.org/drawingml/2006/main">
              <a:ext uri="{FF2B5EF4-FFF2-40B4-BE49-F238E27FC236}">
                <a16:creationId xmlns:a16="http://schemas.microsoft.com/office/drawing/2014/main" id="{32415A96-B758-41C0-8122-D6B4D052504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45D4E651-D6ED-4FDB-8C57-33BF50D036AF}"/>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effects on Aβ-related and mitochondrial phenotypes in models.</a:t>
            </a:r>
          </a:p>
        </p:txBody>
      </p:sp>
      <p:sp>
        <p:nvSpPr>
          <p:cNvPr id="23" name="TextBox 22">
            <a:extLst xmlns:a="http://schemas.openxmlformats.org/drawingml/2006/main">
              <a:ext uri="{FF2B5EF4-FFF2-40B4-BE49-F238E27FC236}">
                <a16:creationId xmlns:a16="http://schemas.microsoft.com/office/drawing/2014/main" id="{AACB4F48-A51D-48D7-950D-0931989352BB}"/>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44A4F606-21B2-44D9-A8D0-C23192812317}"/>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Model-system evidence does not prove the ROSMAP edges.</a:t>
            </a:r>
          </a:p>
        </p:txBody>
      </p:sp>
      <p:sp>
        <p:nvSpPr>
          <p:cNvPr id="25" name="Rounded Rectangle 24">
            <a:extLst xmlns:a="http://schemas.openxmlformats.org/drawingml/2006/main">
              <a:ext uri="{FF2B5EF4-FFF2-40B4-BE49-F238E27FC236}">
                <a16:creationId xmlns:a16="http://schemas.microsoft.com/office/drawing/2014/main" id="{89980199-0156-448F-B7C6-E4FDFC8F3595}"/>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AFB7570F-8D64-454C-B200-26CB726C53F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E6965022-98B0-455E-8892-775AE0FFB5C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10.</a:t>
            </a:r>
          </a:p>
        </p:txBody>
      </p:sp>
    </p:spTree>
    <p:extLst>
      <p:ext uri="{BB962C8B-B14F-4D97-AF65-F5344CB8AC3E}">
        <p14:creationId xmlns:p14="http://schemas.microsoft.com/office/powerpoint/2010/main" val="157916035"/>
      </p:ext>
    </p:extLst>
  </p:cSld>
</p:sld>
</file>

<file path=ppt/slides/slide114.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8AE71C3-B903-4E26-A80F-F179F437B99F}"/>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11</a:t>
            </a:r>
          </a:p>
        </p:txBody>
      </p:sp>
      <p:sp>
        <p:nvSpPr>
          <p:cNvPr id="3" name="Rectangle 2">
            <a:extLst xmlns:a="http://schemas.openxmlformats.org/drawingml/2006/main">
              <a:ext uri="{FF2B5EF4-FFF2-40B4-BE49-F238E27FC236}">
                <a16:creationId xmlns:a16="http://schemas.microsoft.com/office/drawing/2014/main" id="{2AF96CC5-472B-4533-A22E-A5C552FA5415}"/>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49DE99C8-9D8F-416F-8040-BDD70E3EBAB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SELENOW connects redox and protein-quality control to respiration</a:t>
            </a:r>
          </a:p>
        </p:txBody>
      </p:sp>
      <p:sp>
        <p:nvSpPr>
          <p:cNvPr id="5" name="TextBox 4">
            <a:extLst xmlns:a="http://schemas.openxmlformats.org/drawingml/2006/main">
              <a:ext uri="{FF2B5EF4-FFF2-40B4-BE49-F238E27FC236}">
                <a16:creationId xmlns:a16="http://schemas.microsoft.com/office/drawing/2014/main" id="{9452CEC1-6E1B-4A65-8B79-583802130A07}"/>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Recurrent ROSMAP driver finding.</a:t>
            </a:r>
          </a:p>
        </p:txBody>
      </p:sp>
      <p:sp>
        <p:nvSpPr>
          <p:cNvPr id="6" name="Rounded Rectangle 5">
            <a:extLst xmlns:a="http://schemas.openxmlformats.org/drawingml/2006/main">
              <a:ext uri="{FF2B5EF4-FFF2-40B4-BE49-F238E27FC236}">
                <a16:creationId xmlns:a16="http://schemas.microsoft.com/office/drawing/2014/main" id="{E22CBE5B-0DE4-47C3-99AC-3A553184D181}"/>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48E6DEDB-C735-4E80-BC67-4AECA14A6699}"/>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0263190D-3F71-4A68-B64B-DE0557DE3B75}"/>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1286501B-5C6D-4F2B-A603-95FC5F42608A}"/>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43878683-A7A6-4791-9464-99AD1AD7FA6F}"/>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DC5220BB-36F0-4523-96B5-FEDC73F3ADF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07B96EE4-E690-4F74-BE82-E4AA97E7B8D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F2625498-03E7-4191-8344-1B2B354EB225}"/>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500F69BB-A3A7-40E1-B493-89E56D9D52EB}"/>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405D5331-ED92-4E62-9E2B-A5607D6CC74F}"/>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7EB28AC4-F9F6-4819-B3D0-1D2617FD7B2A}"/>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01EE904-01D1-4D0D-B66C-E1B718E0E174}"/>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CBB69BA-0A80-4C2F-9339-EB12447333EF}"/>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0A1FC943-E13B-4F93-A7A5-812008EECEC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3BCD8BF1-8926-49EE-BAF2-80D6283B87BA}"/>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9FB8FB4-1B1F-49D7-9D34-1F1262EE2FF9}"/>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SELENOW has a broad mitochondrial neighborhood spanning respiration, translation, and protein quality control.</a:t>
            </a:r>
          </a:p>
        </p:txBody>
      </p:sp>
    </p:spTree>
    <p:extLst>
      <p:ext uri="{BB962C8B-B14F-4D97-AF65-F5344CB8AC3E}">
        <p14:creationId xmlns:p14="http://schemas.microsoft.com/office/powerpoint/2010/main" val="1371807081"/>
      </p:ext>
    </p:extLst>
  </p:cSld>
</p:sld>
</file>

<file path=ppt/slides/slide11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71092ED-78A0-4E0A-B7D8-E9C8BB682A6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SELENOW connects redox balance and mitochondrial protein quality with respiration</a:t>
            </a:r>
          </a:p>
        </p:txBody>
      </p:sp>
      <p:sp>
        <p:nvSpPr>
          <p:cNvPr id="3" name="TextBox 2">
            <a:extLst xmlns:a="http://schemas.openxmlformats.org/drawingml/2006/main">
              <a:ext uri="{FF2B5EF4-FFF2-40B4-BE49-F238E27FC236}">
                <a16:creationId xmlns:a16="http://schemas.microsoft.com/office/drawing/2014/main" id="{14097AC4-DF0C-4E5B-8288-18A112672EE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Redox balance keeps oxidation within a range the cell can tolerate. SELENOW should not be treated as the same mechanism as SELENOM.</a:t>
            </a:r>
          </a:p>
        </p:txBody>
      </p:sp>
      <p:sp>
        <p:nvSpPr>
          <p:cNvPr id="4" name="Rounded Rectangle 3">
            <a:extLst xmlns:a="http://schemas.openxmlformats.org/drawingml/2006/main">
              <a:ext uri="{FF2B5EF4-FFF2-40B4-BE49-F238E27FC236}">
                <a16:creationId xmlns:a16="http://schemas.microsoft.com/office/drawing/2014/main" id="{3BA7FE4B-6C76-456F-B1A5-EEC56BB91FFF}"/>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3B94E2F-9849-4C59-AA76-9518695ABE29}"/>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16 neuronal calls</a:t>
            </a:r>
          </a:p>
        </p:txBody>
      </p:sp>
      <p:sp>
        <p:nvSpPr>
          <p:cNvPr id="6" name="Rounded Rectangle 5">
            <a:extLst xmlns:a="http://schemas.openxmlformats.org/drawingml/2006/main">
              <a:ext uri="{FF2B5EF4-FFF2-40B4-BE49-F238E27FC236}">
                <a16:creationId xmlns:a16="http://schemas.microsoft.com/office/drawing/2014/main" id="{61B89432-C079-4B9E-BA7C-C5A9F080EB91}"/>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C16F0CA-8684-4D40-B1DD-AAFAB6760928}"/>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Six categories</a:t>
            </a:r>
          </a:p>
        </p:txBody>
      </p:sp>
      <p:sp>
        <p:nvSpPr>
          <p:cNvPr id="8" name="Rounded Rectangle 7">
            <a:extLst xmlns:a="http://schemas.openxmlformats.org/drawingml/2006/main">
              <a:ext uri="{FF2B5EF4-FFF2-40B4-BE49-F238E27FC236}">
                <a16:creationId xmlns:a16="http://schemas.microsoft.com/office/drawing/2014/main" id="{3A01FA95-8520-4130-A2B9-131EF843A4BD}"/>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5B5A533-E38B-4593-9033-C841FC610423}"/>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Redox biology</a:t>
            </a:r>
          </a:p>
        </p:txBody>
      </p:sp>
      <p:sp>
        <p:nvSpPr>
          <p:cNvPr id="10" name="Rounded Rectangle 9">
            <a:extLst xmlns:a="http://schemas.openxmlformats.org/drawingml/2006/main">
              <a:ext uri="{FF2B5EF4-FFF2-40B4-BE49-F238E27FC236}">
                <a16:creationId xmlns:a16="http://schemas.microsoft.com/office/drawing/2014/main" id="{8601A96E-7703-47A2-BFCC-D0BDBA431D9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382BF97E-2C7A-4803-A63F-21DB76A05EC0}"/>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Broad mitochondrial neighborhood</a:t>
            </a:r>
          </a:p>
        </p:txBody>
      </p:sp>
      <p:sp>
        <p:nvSpPr>
          <p:cNvPr id="12" name="Rounded Rectangle 11">
            <a:extLst xmlns:a="http://schemas.openxmlformats.org/drawingml/2006/main">
              <a:ext uri="{FF2B5EF4-FFF2-40B4-BE49-F238E27FC236}">
                <a16:creationId xmlns:a16="http://schemas.microsoft.com/office/drawing/2014/main" id="{EA650C1E-A510-40C3-BA62-61E4A8A0C16A}"/>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F9CAEDA-41E6-437C-B7AD-C4610C4CF98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RESPIRATION</a:t>
            </a:r>
          </a:p>
        </p:txBody>
      </p:sp>
      <p:sp>
        <p:nvSpPr>
          <p:cNvPr id="14" name="TextBox 13">
            <a:extLst xmlns:a="http://schemas.openxmlformats.org/drawingml/2006/main">
              <a:ext uri="{FF2B5EF4-FFF2-40B4-BE49-F238E27FC236}">
                <a16:creationId xmlns:a16="http://schemas.microsoft.com/office/drawing/2014/main" id="{8605780C-D738-4FE1-93F6-BDEC83006E8A}"/>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NDUFB11, COA3, CYC1</a:t>
            </a:r>
          </a:p>
        </p:txBody>
      </p:sp>
      <p:sp>
        <p:nvSpPr>
          <p:cNvPr id="15" name="TextBox 14">
            <a:extLst xmlns:a="http://schemas.openxmlformats.org/drawingml/2006/main">
              <a:ext uri="{FF2B5EF4-FFF2-40B4-BE49-F238E27FC236}">
                <a16:creationId xmlns:a16="http://schemas.microsoft.com/office/drawing/2014/main" id="{0633BAC4-C298-4D36-B837-91837F4CFD14}"/>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genes support respiratory-complex function.</a:t>
            </a:r>
          </a:p>
        </p:txBody>
      </p:sp>
      <p:sp>
        <p:nvSpPr>
          <p:cNvPr id="16" name="Rounded Rectangle 15">
            <a:extLst xmlns:a="http://schemas.openxmlformats.org/drawingml/2006/main">
              <a:ext uri="{FF2B5EF4-FFF2-40B4-BE49-F238E27FC236}">
                <a16:creationId xmlns:a16="http://schemas.microsoft.com/office/drawing/2014/main" id="{6293577D-DCF4-4591-8017-096DE898038F}"/>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AE82BB7-AEB2-4F81-AFB4-170F4C2B4526}"/>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PROTEIN PRODUCTION</a:t>
            </a:r>
          </a:p>
        </p:txBody>
      </p:sp>
      <p:sp>
        <p:nvSpPr>
          <p:cNvPr id="18" name="TextBox 17">
            <a:extLst xmlns:a="http://schemas.openxmlformats.org/drawingml/2006/main">
              <a:ext uri="{FF2B5EF4-FFF2-40B4-BE49-F238E27FC236}">
                <a16:creationId xmlns:a16="http://schemas.microsoft.com/office/drawing/2014/main" id="{F464E1D9-5B66-422B-899F-F374D2023D85}"/>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MRPS34 and MRPL34</a:t>
            </a:r>
          </a:p>
        </p:txBody>
      </p:sp>
      <p:sp>
        <p:nvSpPr>
          <p:cNvPr id="19" name="TextBox 18">
            <a:extLst xmlns:a="http://schemas.openxmlformats.org/drawingml/2006/main">
              <a:ext uri="{FF2B5EF4-FFF2-40B4-BE49-F238E27FC236}">
                <a16:creationId xmlns:a16="http://schemas.microsoft.com/office/drawing/2014/main" id="{E4B8A19B-713B-4AD9-92F7-5B0AB19683DD}"/>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genes help mitochondria make their own encoded proteins.</a:t>
            </a:r>
          </a:p>
        </p:txBody>
      </p:sp>
      <p:sp>
        <p:nvSpPr>
          <p:cNvPr id="20" name="Rounded Rectangle 19">
            <a:extLst xmlns:a="http://schemas.openxmlformats.org/drawingml/2006/main">
              <a:ext uri="{FF2B5EF4-FFF2-40B4-BE49-F238E27FC236}">
                <a16:creationId xmlns:a16="http://schemas.microsoft.com/office/drawing/2014/main" id="{738A54D0-AE13-4F8F-8F23-CEF987131147}"/>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772BFD78-5A7B-436C-84D8-22B50F10DAD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QUALITY CONTROL</a:t>
            </a:r>
          </a:p>
        </p:txBody>
      </p:sp>
      <p:sp>
        <p:nvSpPr>
          <p:cNvPr id="22" name="TextBox 21">
            <a:extLst xmlns:a="http://schemas.openxmlformats.org/drawingml/2006/main">
              <a:ext uri="{FF2B5EF4-FFF2-40B4-BE49-F238E27FC236}">
                <a16:creationId xmlns:a16="http://schemas.microsoft.com/office/drawing/2014/main" id="{51AE5BD1-B7D5-4571-8956-2D6D677DDFC8}"/>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CLPP and membrane genes</a:t>
            </a:r>
          </a:p>
        </p:txBody>
      </p:sp>
      <p:sp>
        <p:nvSpPr>
          <p:cNvPr id="23" name="TextBox 22">
            <a:extLst xmlns:a="http://schemas.openxmlformats.org/drawingml/2006/main">
              <a:ext uri="{FF2B5EF4-FFF2-40B4-BE49-F238E27FC236}">
                <a16:creationId xmlns:a16="http://schemas.microsoft.com/office/drawing/2014/main" id="{02630CB0-F4F1-4249-A163-4B8506441031}"/>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Damaged mitochondrial proteins and inner-membrane transport also appear in the neighborhood.</a:t>
            </a:r>
          </a:p>
        </p:txBody>
      </p:sp>
      <p:sp>
        <p:nvSpPr>
          <p:cNvPr id="24" name="Rounded Rectangle 23">
            <a:extLst xmlns:a="http://schemas.openxmlformats.org/drawingml/2006/main">
              <a:ext uri="{FF2B5EF4-FFF2-40B4-BE49-F238E27FC236}">
                <a16:creationId xmlns:a16="http://schemas.microsoft.com/office/drawing/2014/main" id="{F3190ED8-2490-4867-B33B-748A0C59A89D}"/>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1FC7F13-ECFE-4404-A16B-553577B13920}"/>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broad neighborhood suggests a redox and proteostasis system rather than one narrow OXPHOS edge.</a:t>
            </a:r>
          </a:p>
        </p:txBody>
      </p:sp>
      <p:sp>
        <p:nvSpPr>
          <p:cNvPr id="26" name="TextBox 25">
            <a:extLst xmlns:a="http://schemas.openxmlformats.org/drawingml/2006/main">
              <a:ext uri="{FF2B5EF4-FFF2-40B4-BE49-F238E27FC236}">
                <a16:creationId xmlns:a16="http://schemas.microsoft.com/office/drawing/2014/main" id="{A5299DD2-3783-47EF-9842-980E17A5F1C8}"/>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989651908"/>
      </p:ext>
    </p:extLst>
  </p:cSld>
</p:sld>
</file>

<file path=ppt/slides/slide11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D6F3676-589A-4AF1-B6F5-35E35897C6A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ROSMAP: SELENOW recurs across neuronal contexts with 123 mitochondrial overlaps</a:t>
            </a:r>
          </a:p>
        </p:txBody>
      </p:sp>
      <p:sp>
        <p:nvSpPr>
          <p:cNvPr id="3" name="TextBox 2">
            <a:extLst xmlns:a="http://schemas.openxmlformats.org/drawingml/2006/main">
              <a:ext uri="{FF2B5EF4-FFF2-40B4-BE49-F238E27FC236}">
                <a16:creationId xmlns:a16="http://schemas.microsoft.com/office/drawing/2014/main" id="{05B7C524-54A8-402E-88EC-7DF2B8A07EE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supporting calls cover excitatory and inhibitory neurons in four sex/APOE strata.</a:t>
            </a:r>
          </a:p>
        </p:txBody>
      </p:sp>
      <p:sp>
        <p:nvSpPr>
          <p:cNvPr id="4" name="Rounded Rectangle 3">
            <a:extLst xmlns:a="http://schemas.openxmlformats.org/drawingml/2006/main">
              <a:ext uri="{FF2B5EF4-FFF2-40B4-BE49-F238E27FC236}">
                <a16:creationId xmlns:a16="http://schemas.microsoft.com/office/drawing/2014/main" id="{ADC752C9-1673-4D21-A3F9-B202B5C67789}"/>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25F003C-1610-43EE-96A0-1B9801259E3B}"/>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16</a:t>
            </a:r>
          </a:p>
        </p:txBody>
      </p:sp>
      <p:sp>
        <p:nvSpPr>
          <p:cNvPr id="6" name="TextBox 5">
            <a:extLst xmlns:a="http://schemas.openxmlformats.org/drawingml/2006/main">
              <a:ext uri="{FF2B5EF4-FFF2-40B4-BE49-F238E27FC236}">
                <a16:creationId xmlns:a16="http://schemas.microsoft.com/office/drawing/2014/main" id="{13711D29-916C-4E5D-9910-E3FE21D3B2C5}"/>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neuronal calls</a:t>
            </a:r>
          </a:p>
        </p:txBody>
      </p:sp>
      <p:sp>
        <p:nvSpPr>
          <p:cNvPr id="7" name="TextBox 6">
            <a:extLst xmlns:a="http://schemas.openxmlformats.org/drawingml/2006/main">
              <a:ext uri="{FF2B5EF4-FFF2-40B4-BE49-F238E27FC236}">
                <a16:creationId xmlns:a16="http://schemas.microsoft.com/office/drawing/2014/main" id="{AA6447BB-5C78-4AE1-BC98-8FDA71692C8E}"/>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six categories, four strata</a:t>
            </a:r>
          </a:p>
        </p:txBody>
      </p:sp>
      <p:sp>
        <p:nvSpPr>
          <p:cNvPr id="8" name="Rounded Rectangle 7">
            <a:extLst xmlns:a="http://schemas.openxmlformats.org/drawingml/2006/main">
              <a:ext uri="{FF2B5EF4-FFF2-40B4-BE49-F238E27FC236}">
                <a16:creationId xmlns:a16="http://schemas.microsoft.com/office/drawing/2014/main" id="{40D1835E-0C75-464F-8555-03A8ED2937F7}"/>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E3D9FF1-3B53-4FA6-8C9C-7C880F4EBD86}"/>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123</a:t>
            </a:r>
          </a:p>
        </p:txBody>
      </p:sp>
      <p:sp>
        <p:nvSpPr>
          <p:cNvPr id="10" name="TextBox 9">
            <a:extLst xmlns:a="http://schemas.openxmlformats.org/drawingml/2006/main">
              <a:ext uri="{FF2B5EF4-FFF2-40B4-BE49-F238E27FC236}">
                <a16:creationId xmlns:a16="http://schemas.microsoft.com/office/drawing/2014/main" id="{E417C5CA-2976-4AD4-8BC8-563C6F7AE21F}"/>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mitochondrial overlaps</a:t>
            </a:r>
          </a:p>
        </p:txBody>
      </p:sp>
      <p:sp>
        <p:nvSpPr>
          <p:cNvPr id="11" name="TextBox 10">
            <a:extLst xmlns:a="http://schemas.openxmlformats.org/drawingml/2006/main">
              <a:ext uri="{FF2B5EF4-FFF2-40B4-BE49-F238E27FC236}">
                <a16:creationId xmlns:a16="http://schemas.microsoft.com/office/drawing/2014/main" id="{36C19E73-754E-4921-A460-711FAEAB9054}"/>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multiple mitochondrial systems</a:t>
            </a:r>
          </a:p>
        </p:txBody>
      </p:sp>
      <p:sp>
        <p:nvSpPr>
          <p:cNvPr id="12" name="Rounded Rectangle 11">
            <a:extLst xmlns:a="http://schemas.openxmlformats.org/drawingml/2006/main">
              <a:ext uri="{FF2B5EF4-FFF2-40B4-BE49-F238E27FC236}">
                <a16:creationId xmlns:a16="http://schemas.microsoft.com/office/drawing/2014/main" id="{794412BA-44E5-480A-9907-57FE1FFFC65E}"/>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E0C033A-2030-4E05-9D00-89F6B6450D7C}"/>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13/16</a:t>
            </a:r>
          </a:p>
        </p:txBody>
      </p:sp>
      <p:sp>
        <p:nvSpPr>
          <p:cNvPr id="14" name="TextBox 13">
            <a:extLst xmlns:a="http://schemas.openxmlformats.org/drawingml/2006/main">
              <a:ext uri="{FF2B5EF4-FFF2-40B4-BE49-F238E27FC236}">
                <a16:creationId xmlns:a16="http://schemas.microsoft.com/office/drawing/2014/main" id="{AE6DDBDB-F681-4F8A-8135-23AD18DED5C9}"/>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enriched input queries</a:t>
            </a:r>
          </a:p>
        </p:txBody>
      </p:sp>
      <p:sp>
        <p:nvSpPr>
          <p:cNvPr id="15" name="TextBox 14">
            <a:extLst xmlns:a="http://schemas.openxmlformats.org/drawingml/2006/main">
              <a:ext uri="{FF2B5EF4-FFF2-40B4-BE49-F238E27FC236}">
                <a16:creationId xmlns:a16="http://schemas.microsoft.com/office/drawing/2014/main" id="{24806FA7-26E3-450B-BC4D-B6C733064EF4}"/>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nuclear OXPHOS</a:t>
            </a:r>
          </a:p>
        </p:txBody>
      </p:sp>
      <p:sp>
        <p:nvSpPr>
          <p:cNvPr id="16" name="Rounded Rectangle 15">
            <a:extLst xmlns:a="http://schemas.openxmlformats.org/drawingml/2006/main">
              <a:ext uri="{FF2B5EF4-FFF2-40B4-BE49-F238E27FC236}">
                <a16:creationId xmlns:a16="http://schemas.microsoft.com/office/drawing/2014/main" id="{A2BF0066-25F5-449B-827B-C177C6ADDDBD}"/>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0A29D4D-9BA5-4DC7-B1B4-59C1D1123CA7}"/>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Respiration</a:t>
            </a:r>
          </a:p>
        </p:txBody>
      </p:sp>
      <p:sp>
        <p:nvSpPr>
          <p:cNvPr id="18" name="TextBox 17">
            <a:extLst xmlns:a="http://schemas.openxmlformats.org/drawingml/2006/main">
              <a:ext uri="{FF2B5EF4-FFF2-40B4-BE49-F238E27FC236}">
                <a16:creationId xmlns:a16="http://schemas.microsoft.com/office/drawing/2014/main" id="{87D61885-4DE4-4045-9A37-5D789A39518B}"/>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NDUFB11, COA3, CYC1</a:t>
            </a:r>
          </a:p>
        </p:txBody>
      </p:sp>
      <p:sp>
        <p:nvSpPr>
          <p:cNvPr id="19" name="TextBox 18">
            <a:extLst xmlns:a="http://schemas.openxmlformats.org/drawingml/2006/main">
              <a:ext uri="{FF2B5EF4-FFF2-40B4-BE49-F238E27FC236}">
                <a16:creationId xmlns:a16="http://schemas.microsoft.com/office/drawing/2014/main" id="{79F5BAA8-8BAF-4E1A-8303-7C9B8C28E183}"/>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Repeated neighbors support respiratory-complex biology</a:t>
            </a:r>
          </a:p>
        </p:txBody>
      </p:sp>
      <p:sp>
        <p:nvSpPr>
          <p:cNvPr id="20" name="Rounded Rectangle 19">
            <a:extLst xmlns:a="http://schemas.openxmlformats.org/drawingml/2006/main">
              <a:ext uri="{FF2B5EF4-FFF2-40B4-BE49-F238E27FC236}">
                <a16:creationId xmlns:a16="http://schemas.microsoft.com/office/drawing/2014/main" id="{C18E4912-EA5E-44C5-A0CD-1041605918A3}"/>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197C2BA3-D769-4542-AB72-27952583562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Translation and quality</a:t>
            </a:r>
          </a:p>
        </p:txBody>
      </p:sp>
      <p:sp>
        <p:nvSpPr>
          <p:cNvPr id="22" name="TextBox 21">
            <a:extLst xmlns:a="http://schemas.openxmlformats.org/drawingml/2006/main">
              <a:ext uri="{FF2B5EF4-FFF2-40B4-BE49-F238E27FC236}">
                <a16:creationId xmlns:a16="http://schemas.microsoft.com/office/drawing/2014/main" id="{A3F84135-6E23-4160-A1AD-7D9E236F701B}"/>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MRPS34, MRPL34, CLPP</a:t>
            </a:r>
          </a:p>
        </p:txBody>
      </p:sp>
      <p:sp>
        <p:nvSpPr>
          <p:cNvPr id="23" name="TextBox 22">
            <a:extLst xmlns:a="http://schemas.openxmlformats.org/drawingml/2006/main">
              <a:ext uri="{FF2B5EF4-FFF2-40B4-BE49-F238E27FC236}">
                <a16:creationId xmlns:a16="http://schemas.microsoft.com/office/drawing/2014/main" id="{6A053250-5A03-4CEB-A9A6-1F682A5A6781}"/>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neighborhood includes mitochondrial ribosomes and damaged-protein removal</a:t>
            </a:r>
          </a:p>
        </p:txBody>
      </p:sp>
      <p:sp>
        <p:nvSpPr>
          <p:cNvPr id="24" name="Rounded Rectangle 23">
            <a:extLst xmlns:a="http://schemas.openxmlformats.org/drawingml/2006/main">
              <a:ext uri="{FF2B5EF4-FFF2-40B4-BE49-F238E27FC236}">
                <a16:creationId xmlns:a16="http://schemas.microsoft.com/office/drawing/2014/main" id="{18A826BF-A0CC-470F-A7A9-C979E9A778DC}"/>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8C875E17-90E8-4EDD-A9EC-AFCADB08D079}"/>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SELENOW itself</a:t>
            </a:r>
          </a:p>
        </p:txBody>
      </p:sp>
      <p:sp>
        <p:nvSpPr>
          <p:cNvPr id="26" name="TextBox 25">
            <a:extLst xmlns:a="http://schemas.openxmlformats.org/drawingml/2006/main">
              <a:ext uri="{FF2B5EF4-FFF2-40B4-BE49-F238E27FC236}">
                <a16:creationId xmlns:a16="http://schemas.microsoft.com/office/drawing/2014/main" id="{94A72B70-9EAE-47BD-89DC-2ED6E49C7817}"/>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DEG in 10 of 16</a:t>
            </a:r>
          </a:p>
        </p:txBody>
      </p:sp>
      <p:sp>
        <p:nvSpPr>
          <p:cNvPr id="27" name="TextBox 26">
            <a:extLst xmlns:a="http://schemas.openxmlformats.org/drawingml/2006/main">
              <a:ext uri="{FF2B5EF4-FFF2-40B4-BE49-F238E27FC236}">
                <a16:creationId xmlns:a16="http://schemas.microsoft.com/office/drawing/2014/main" id="{D5A4D0BB-353B-4C43-9C04-13BB200592DD}"/>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driver frequently changes expression in its supporting calls</a:t>
            </a:r>
          </a:p>
        </p:txBody>
      </p:sp>
      <p:sp>
        <p:nvSpPr>
          <p:cNvPr id="28" name="TextBox 27">
            <a:extLst xmlns:a="http://schemas.openxmlformats.org/drawingml/2006/main">
              <a:ext uri="{FF2B5EF4-FFF2-40B4-BE49-F238E27FC236}">
                <a16:creationId xmlns:a16="http://schemas.microsoft.com/office/drawing/2014/main" id="{924D7BB5-D679-405F-8996-28407107D93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405486821"/>
      </p:ext>
    </p:extLst>
  </p:cSld>
</p:sld>
</file>

<file path=ppt/slides/slide11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57B449E-C3E5-4225-9432-95F6F127109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SEA-AD adds a weak selenium-theme signal, not SELENOW replication</a:t>
            </a:r>
          </a:p>
        </p:txBody>
      </p:sp>
      <p:sp>
        <p:nvSpPr>
          <p:cNvPr id="3" name="TextBox 2">
            <a:extLst xmlns:a="http://schemas.openxmlformats.org/drawingml/2006/main">
              <a:ext uri="{FF2B5EF4-FFF2-40B4-BE49-F238E27FC236}">
                <a16:creationId xmlns:a16="http://schemas.microsoft.com/office/drawing/2014/main" id="{47C0287B-86C7-432C-B01B-483400C8E54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Exact-gene support and pathway-theme support represent different evidence levels.</a:t>
            </a:r>
          </a:p>
        </p:txBody>
      </p:sp>
      <p:sp>
        <p:nvSpPr>
          <p:cNvPr id="4" name="Rounded Rectangle 3">
            <a:extLst xmlns:a="http://schemas.openxmlformats.org/drawingml/2006/main">
              <a:ext uri="{FF2B5EF4-FFF2-40B4-BE49-F238E27FC236}">
                <a16:creationId xmlns:a16="http://schemas.microsoft.com/office/drawing/2014/main" id="{F28D5C44-6B91-45DF-B918-3EC41353C43B}"/>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842EBB1-0A0E-4045-869A-8653C41C2FD0}"/>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EXCITATORY</a:t>
            </a:r>
          </a:p>
        </p:txBody>
      </p:sp>
      <p:sp>
        <p:nvSpPr>
          <p:cNvPr id="6" name="TextBox 5">
            <a:extLst xmlns:a="http://schemas.openxmlformats.org/drawingml/2006/main">
              <a:ext uri="{FF2B5EF4-FFF2-40B4-BE49-F238E27FC236}">
                <a16:creationId xmlns:a16="http://schemas.microsoft.com/office/drawing/2014/main" id="{06A30C0A-B785-4BA0-AF86-1E772E295CC5}"/>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 of 10 returned</a:t>
            </a:r>
          </a:p>
        </p:txBody>
      </p:sp>
      <p:sp>
        <p:nvSpPr>
          <p:cNvPr id="7" name="TextBox 6">
            <a:extLst xmlns:a="http://schemas.openxmlformats.org/drawingml/2006/main">
              <a:ext uri="{FF2B5EF4-FFF2-40B4-BE49-F238E27FC236}">
                <a16:creationId xmlns:a16="http://schemas.microsoft.com/office/drawing/2014/main" id="{E1436B3A-3F03-4B74-AABB-CC4A6325188C}"/>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SELENOW was available but not selected in matching male ε3/ε3 excitatory calls.</a:t>
            </a:r>
          </a:p>
        </p:txBody>
      </p:sp>
      <p:sp>
        <p:nvSpPr>
          <p:cNvPr id="8" name="Rounded Rectangle 7">
            <a:extLst xmlns:a="http://schemas.openxmlformats.org/drawingml/2006/main">
              <a:ext uri="{FF2B5EF4-FFF2-40B4-BE49-F238E27FC236}">
                <a16:creationId xmlns:a16="http://schemas.microsoft.com/office/drawing/2014/main" id="{966FC93E-F48B-46D5-AD33-5779EB041C1E}"/>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704F28D-7331-42F2-AD7C-D7CB1207105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 INHIBITORY</a:t>
            </a:r>
          </a:p>
        </p:txBody>
      </p:sp>
      <p:sp>
        <p:nvSpPr>
          <p:cNvPr id="10" name="TextBox 9">
            <a:extLst xmlns:a="http://schemas.openxmlformats.org/drawingml/2006/main">
              <a:ext uri="{FF2B5EF4-FFF2-40B4-BE49-F238E27FC236}">
                <a16:creationId xmlns:a16="http://schemas.microsoft.com/office/drawing/2014/main" id="{42461E13-DFF5-4ED0-AEC4-DE6582EB802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 of 8 returned</a:t>
            </a:r>
          </a:p>
        </p:txBody>
      </p:sp>
      <p:sp>
        <p:nvSpPr>
          <p:cNvPr id="11" name="TextBox 10">
            <a:extLst xmlns:a="http://schemas.openxmlformats.org/drawingml/2006/main">
              <a:ext uri="{FF2B5EF4-FFF2-40B4-BE49-F238E27FC236}">
                <a16:creationId xmlns:a16="http://schemas.microsoft.com/office/drawing/2014/main" id="{135310D6-601C-4EA9-A2A9-ABC77DA17DE0}"/>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SELENOW was also available but not selected in matched inhibitory calls.</a:t>
            </a:r>
          </a:p>
        </p:txBody>
      </p:sp>
      <p:sp>
        <p:nvSpPr>
          <p:cNvPr id="12" name="Rounded Rectangle 11">
            <a:extLst xmlns:a="http://schemas.openxmlformats.org/drawingml/2006/main">
              <a:ext uri="{FF2B5EF4-FFF2-40B4-BE49-F238E27FC236}">
                <a16:creationId xmlns:a16="http://schemas.microsoft.com/office/drawing/2014/main" id="{83D1287A-43DB-45DC-A829-57F718A77A9A}"/>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127B9DF-C7E9-40DF-8D17-8944091BA58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RELATED SEA CANDIDATE</a:t>
            </a:r>
          </a:p>
        </p:txBody>
      </p:sp>
      <p:sp>
        <p:nvSpPr>
          <p:cNvPr id="14" name="TextBox 13">
            <a:extLst xmlns:a="http://schemas.openxmlformats.org/drawingml/2006/main">
              <a:ext uri="{FF2B5EF4-FFF2-40B4-BE49-F238E27FC236}">
                <a16:creationId xmlns:a16="http://schemas.microsoft.com/office/drawing/2014/main" id="{78B4B3E3-905B-4EED-983A-EA79158DB9A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SECISBP2 returned once</a:t>
            </a:r>
          </a:p>
        </p:txBody>
      </p:sp>
      <p:sp>
        <p:nvSpPr>
          <p:cNvPr id="15" name="TextBox 14">
            <a:extLst xmlns:a="http://schemas.openxmlformats.org/drawingml/2006/main">
              <a:ext uri="{FF2B5EF4-FFF2-40B4-BE49-F238E27FC236}">
                <a16:creationId xmlns:a16="http://schemas.microsoft.com/office/drawing/2014/main" id="{5647C513-4AFF-404B-853D-B17F8B91373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different selenium-related gene provides only weak thematic support.</a:t>
            </a:r>
          </a:p>
        </p:txBody>
      </p:sp>
      <p:sp>
        <p:nvSpPr>
          <p:cNvPr id="16" name="Rounded Rectangle 15">
            <a:extLst xmlns:a="http://schemas.openxmlformats.org/drawingml/2006/main">
              <a:ext uri="{FF2B5EF4-FFF2-40B4-BE49-F238E27FC236}">
                <a16:creationId xmlns:a16="http://schemas.microsoft.com/office/drawing/2014/main" id="{73F05D64-9DBA-4E2B-BEF2-5C90BCBE0B8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68AE9EC-F312-4D19-9454-B8CB3CB1DDBC}"/>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local genetic screen adds weak transcriptome-wide association support but does not establish causality.</a:t>
            </a:r>
          </a:p>
        </p:txBody>
      </p:sp>
      <p:sp>
        <p:nvSpPr>
          <p:cNvPr id="18" name="TextBox 17">
            <a:extLst xmlns:a="http://schemas.openxmlformats.org/drawingml/2006/main">
              <a:ext uri="{FF2B5EF4-FFF2-40B4-BE49-F238E27FC236}">
                <a16:creationId xmlns:a16="http://schemas.microsoft.com/office/drawing/2014/main" id="{4F591DFF-2309-4A15-B10D-D8F20D38DC9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2090255547"/>
      </p:ext>
    </p:extLst>
  </p:cSld>
</p:sld>
</file>

<file path=ppt/slides/slide11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59C4F7C-3E3A-4074-93EA-54418CF1317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redox balance, tau clearance, and mitochondrial function may converge</a:t>
            </a:r>
          </a:p>
        </p:txBody>
      </p:sp>
      <p:sp>
        <p:nvSpPr>
          <p:cNvPr id="3" name="TextBox 2">
            <a:extLst xmlns:a="http://schemas.openxmlformats.org/drawingml/2006/main">
              <a:ext uri="{FF2B5EF4-FFF2-40B4-BE49-F238E27FC236}">
                <a16:creationId xmlns:a16="http://schemas.microsoft.com/office/drawing/2014/main" id="{026E6A23-3C80-4CAF-AA9D-B75EB07C752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Prior experiments connect SELENOW with respiration in immune cells and tau clearance in an AD mouse model.</a:t>
            </a:r>
          </a:p>
        </p:txBody>
      </p:sp>
      <p:sp>
        <p:nvSpPr>
          <p:cNvPr id="4" name="Rounded Rectangle 3">
            <a:extLst xmlns:a="http://schemas.openxmlformats.org/drawingml/2006/main">
              <a:ext uri="{FF2B5EF4-FFF2-40B4-BE49-F238E27FC236}">
                <a16:creationId xmlns:a16="http://schemas.microsoft.com/office/drawing/2014/main" id="{B6205866-6E27-4598-8F97-E971AE4FE051}"/>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FAE0FC9-CBFE-422D-A551-D9FC13EB50CE}"/>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REDOX CONTROL</a:t>
            </a:r>
          </a:p>
        </p:txBody>
      </p:sp>
      <p:sp>
        <p:nvSpPr>
          <p:cNvPr id="6" name="TextBox 5">
            <a:extLst xmlns:a="http://schemas.openxmlformats.org/drawingml/2006/main">
              <a:ext uri="{FF2B5EF4-FFF2-40B4-BE49-F238E27FC236}">
                <a16:creationId xmlns:a16="http://schemas.microsoft.com/office/drawing/2014/main" id="{1E31C8A3-0EF2-4BD1-8258-FD1DCE9FBBED}"/>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Mitochondria both use and shape redox state</a:t>
            </a:r>
          </a:p>
        </p:txBody>
      </p:sp>
      <p:sp>
        <p:nvSpPr>
          <p:cNvPr id="7" name="TextBox 6">
            <a:extLst xmlns:a="http://schemas.openxmlformats.org/drawingml/2006/main">
              <a:ext uri="{FF2B5EF4-FFF2-40B4-BE49-F238E27FC236}">
                <a16:creationId xmlns:a16="http://schemas.microsoft.com/office/drawing/2014/main" id="{280918D3-265F-4964-9D21-20776EFCB153}"/>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Oxidative imbalance can damage proteins and respiratory machinery.</a:t>
            </a:r>
          </a:p>
        </p:txBody>
      </p:sp>
      <p:sp>
        <p:nvSpPr>
          <p:cNvPr id="8" name="Rounded Rectangle 7">
            <a:extLst xmlns:a="http://schemas.openxmlformats.org/drawingml/2006/main">
              <a:ext uri="{FF2B5EF4-FFF2-40B4-BE49-F238E27FC236}">
                <a16:creationId xmlns:a16="http://schemas.microsoft.com/office/drawing/2014/main" id="{2700DAFB-494F-45AC-9C21-B9F24971AFD7}"/>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0B4C4E9-8BFD-44FD-B33F-2542E5AE6DCF}"/>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PROTEIN QUALITY</a:t>
            </a:r>
          </a:p>
        </p:txBody>
      </p:sp>
      <p:sp>
        <p:nvSpPr>
          <p:cNvPr id="10" name="TextBox 9">
            <a:extLst xmlns:a="http://schemas.openxmlformats.org/drawingml/2006/main">
              <a:ext uri="{FF2B5EF4-FFF2-40B4-BE49-F238E27FC236}">
                <a16:creationId xmlns:a16="http://schemas.microsoft.com/office/drawing/2014/main" id="{CDEA8F95-B30F-4290-A0A7-BBBBEB20D9D2}"/>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CLPP and tau-related evidence</a:t>
            </a:r>
          </a:p>
        </p:txBody>
      </p:sp>
      <p:sp>
        <p:nvSpPr>
          <p:cNvPr id="11" name="TextBox 10">
            <a:extLst xmlns:a="http://schemas.openxmlformats.org/drawingml/2006/main">
              <a:ext uri="{FF2B5EF4-FFF2-40B4-BE49-F238E27FC236}">
                <a16:creationId xmlns:a16="http://schemas.microsoft.com/office/drawing/2014/main" id="{B5B935A5-C288-4A52-A86E-38A947DCD04F}"/>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candidate may connect mitochondrial protein cleanup with broader proteostasis.</a:t>
            </a:r>
          </a:p>
        </p:txBody>
      </p:sp>
      <p:sp>
        <p:nvSpPr>
          <p:cNvPr id="12" name="Rounded Rectangle 11">
            <a:extLst xmlns:a="http://schemas.openxmlformats.org/drawingml/2006/main">
              <a:ext uri="{FF2B5EF4-FFF2-40B4-BE49-F238E27FC236}">
                <a16:creationId xmlns:a16="http://schemas.microsoft.com/office/drawing/2014/main" id="{0221743A-EADC-45F4-A2FD-074B7252A228}"/>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5B97555B-F50F-410B-A290-E24A5D0A3954}"/>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CELL-CONTEXT CAVEAT</a:t>
            </a:r>
          </a:p>
        </p:txBody>
      </p:sp>
      <p:sp>
        <p:nvSpPr>
          <p:cNvPr id="14" name="TextBox 13">
            <a:extLst xmlns:a="http://schemas.openxmlformats.org/drawingml/2006/main">
              <a:ext uri="{FF2B5EF4-FFF2-40B4-BE49-F238E27FC236}">
                <a16:creationId xmlns:a16="http://schemas.microsoft.com/office/drawing/2014/main" id="{03124096-C258-43D0-B354-EF4521E2B2A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Prior models differ</a:t>
            </a:r>
          </a:p>
        </p:txBody>
      </p:sp>
      <p:sp>
        <p:nvSpPr>
          <p:cNvPr id="15" name="TextBox 14">
            <a:extLst xmlns:a="http://schemas.openxmlformats.org/drawingml/2006/main">
              <a:ext uri="{FF2B5EF4-FFF2-40B4-BE49-F238E27FC236}">
                <a16:creationId xmlns:a16="http://schemas.microsoft.com/office/drawing/2014/main" id="{8A30B23A-A43A-4DF4-8D39-DB14F2E185D9}"/>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Macrophage and mouse evidence cannot establish a human neuronal mechanism.</a:t>
            </a:r>
          </a:p>
        </p:txBody>
      </p:sp>
      <p:sp>
        <p:nvSpPr>
          <p:cNvPr id="16" name="Rounded Rectangle 15">
            <a:extLst xmlns:a="http://schemas.openxmlformats.org/drawingml/2006/main">
              <a:ext uri="{FF2B5EF4-FFF2-40B4-BE49-F238E27FC236}">
                <a16:creationId xmlns:a16="http://schemas.microsoft.com/office/drawing/2014/main" id="{5F74BBFF-9AB2-48E0-9DE5-36F181160B2A}"/>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7FD3AE7-B793-41FE-AA6B-CA3B9B8F2DDA}"/>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48073B91-CFF3-471C-8606-5BF4CB427370}"/>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SELENOW and SELENOM share selenium biology but have different neighborhoods and must remain separate hypotheses.</a:t>
            </a:r>
          </a:p>
        </p:txBody>
      </p:sp>
      <p:sp>
        <p:nvSpPr>
          <p:cNvPr id="19" name="TextBox 18">
            <a:extLst xmlns:a="http://schemas.openxmlformats.org/drawingml/2006/main">
              <a:ext uri="{FF2B5EF4-FFF2-40B4-BE49-F238E27FC236}">
                <a16:creationId xmlns:a16="http://schemas.microsoft.com/office/drawing/2014/main" id="{12DC93D3-8AAE-4D96-A4AC-0ED37E3C216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1519536507"/>
      </p:ext>
    </p:extLst>
  </p:cSld>
</p:sld>
</file>

<file path=ppt/slides/slide11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15BA366-CA2D-4D90-8B3F-A43E4C07BC6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11 does not prove, and the next evidence needed</a:t>
            </a:r>
          </a:p>
        </p:txBody>
      </p:sp>
      <p:sp>
        <p:nvSpPr>
          <p:cNvPr id="3" name="TextBox 2">
            <a:extLst xmlns:a="http://schemas.openxmlformats.org/drawingml/2006/main">
              <a:ext uri="{FF2B5EF4-FFF2-40B4-BE49-F238E27FC236}">
                <a16:creationId xmlns:a16="http://schemas.microsoft.com/office/drawing/2014/main" id="{4D818D53-5838-4D37-83CF-09BE9397F3F5}"/>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0EB24A75-CA9F-4C22-98D0-D056F8E157C0}"/>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A14D5245-C411-420F-BC75-02FEFD0AB334}"/>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5E01FA25-2E7D-4270-8386-0D230922CC5D}"/>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0D69C205-C0DF-406D-804F-B23ED5E0B92B}"/>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9C9EA086-C116-4D20-8B58-C3EC998EEC65}"/>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Control of the listed mitochondrial genes in human neurons</a:t>
            </a:r>
          </a:p>
        </p:txBody>
      </p:sp>
      <p:sp>
        <p:nvSpPr>
          <p:cNvPr id="9" name="Oval 8">
            <a:extLst xmlns:a="http://schemas.openxmlformats.org/drawingml/2006/main">
              <a:ext uri="{FF2B5EF4-FFF2-40B4-BE49-F238E27FC236}">
                <a16:creationId xmlns:a16="http://schemas.microsoft.com/office/drawing/2014/main" id="{DAE3FD7A-C895-4DEC-88F7-371E1210F442}"/>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3E3F0F7A-2480-4327-8919-03BC9B8A429E}"/>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Exact cell, sex, or APOE replication</a:t>
            </a:r>
          </a:p>
        </p:txBody>
      </p:sp>
      <p:sp>
        <p:nvSpPr>
          <p:cNvPr id="11" name="Oval 10">
            <a:extLst xmlns:a="http://schemas.openxmlformats.org/drawingml/2006/main">
              <a:ext uri="{FF2B5EF4-FFF2-40B4-BE49-F238E27FC236}">
                <a16:creationId xmlns:a16="http://schemas.microsoft.com/office/drawing/2014/main" id="{9AC8BD9E-101F-40C3-9DB8-C6C5EE2ED2A7}"/>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460B93B-71BA-4A48-842F-4409597E749F}"/>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weak genetic or selenium-theme evidence is causal</a:t>
            </a:r>
          </a:p>
        </p:txBody>
      </p:sp>
      <p:sp>
        <p:nvSpPr>
          <p:cNvPr id="13" name="Rounded Rectangle 12">
            <a:extLst xmlns:a="http://schemas.openxmlformats.org/drawingml/2006/main">
              <a:ext uri="{FF2B5EF4-FFF2-40B4-BE49-F238E27FC236}">
                <a16:creationId xmlns:a16="http://schemas.microsoft.com/office/drawing/2014/main" id="{4BD474CC-C44E-44DA-9B8B-F332D782D5F2}"/>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AA73304E-9817-44F9-97E6-F624788999CF}"/>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5AFE9BF-731D-48AA-BA22-339722E61BF7}"/>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C47F3F06-60EA-445F-8A90-99937E51A44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8139C09-28BD-44F8-8F25-6BF6F13E724A}"/>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SELENOW in excitatory and inhibitory neurons</a:t>
            </a:r>
          </a:p>
        </p:txBody>
      </p:sp>
      <p:sp>
        <p:nvSpPr>
          <p:cNvPr id="18" name="Oval 17">
            <a:extLst xmlns:a="http://schemas.openxmlformats.org/drawingml/2006/main">
              <a:ext uri="{FF2B5EF4-FFF2-40B4-BE49-F238E27FC236}">
                <a16:creationId xmlns:a16="http://schemas.microsoft.com/office/drawing/2014/main" id="{EC72582C-A4E7-48E7-8E54-16795147F1E5}"/>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E32C35C0-91DA-4D44-AF1E-DDDDBEE7F239}"/>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tau clearance, redox state, and protein quality</a:t>
            </a:r>
          </a:p>
        </p:txBody>
      </p:sp>
      <p:sp>
        <p:nvSpPr>
          <p:cNvPr id="20" name="Oval 19">
            <a:extLst xmlns:a="http://schemas.openxmlformats.org/drawingml/2006/main">
              <a:ext uri="{FF2B5EF4-FFF2-40B4-BE49-F238E27FC236}">
                <a16:creationId xmlns:a16="http://schemas.microsoft.com/office/drawing/2014/main" id="{9BBDD8AB-37DD-4ABA-8C96-B6629F41B042}"/>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DD92FDC-7BBF-4902-BB55-879F9B54EC96}"/>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Compare normal SELENOW with a redox-inactive version</a:t>
            </a:r>
          </a:p>
        </p:txBody>
      </p:sp>
      <p:sp>
        <p:nvSpPr>
          <p:cNvPr id="22" name="TextBox 21">
            <a:extLst xmlns:a="http://schemas.openxmlformats.org/drawingml/2006/main">
              <a:ext uri="{FF2B5EF4-FFF2-40B4-BE49-F238E27FC236}">
                <a16:creationId xmlns:a16="http://schemas.microsoft.com/office/drawing/2014/main" id="{2FA1A561-FA43-46CE-AC35-749ADCC42072}"/>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51F1B409-5997-40B9-B94B-8D289C9AFAA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393153378"/>
      </p:ext>
    </p:extLst>
  </p:cSld>
</p:sld>
</file>

<file path=ppt/slides/slide12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D4C1B13-F082-4CDC-A4AF-9CF4CA419A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11</a:t>
            </a:r>
          </a:p>
        </p:txBody>
      </p:sp>
      <p:sp>
        <p:nvSpPr>
          <p:cNvPr id="3" name="TextBox 2">
            <a:extLst xmlns:a="http://schemas.openxmlformats.org/drawingml/2006/main">
              <a:ext uri="{FF2B5EF4-FFF2-40B4-BE49-F238E27FC236}">
                <a16:creationId xmlns:a16="http://schemas.microsoft.com/office/drawing/2014/main" id="{96D5F005-6A5A-4651-B68E-63AD17BBE98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F0FED5C9-94CD-4D86-A2D8-8AD51C417D71}"/>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EB54504-3A9E-474A-9C5B-C2221EC2F142}"/>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Misra et al. 2023</a:t>
            </a:r>
          </a:p>
        </p:txBody>
      </p:sp>
      <p:sp>
        <p:nvSpPr>
          <p:cNvPr id="6" name="TextBox 5">
            <a:extLst xmlns:a="http://schemas.openxmlformats.org/drawingml/2006/main">
              <a:ext uri="{FF2B5EF4-FFF2-40B4-BE49-F238E27FC236}">
                <a16:creationId xmlns:a16="http://schemas.microsoft.com/office/drawing/2014/main" id="{9295E1F1-CEE8-4582-AA06-AE190214E328}"/>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SELENOW and respiration</a:t>
            </a:r>
          </a:p>
        </p:txBody>
      </p:sp>
      <p:sp>
        <p:nvSpPr>
          <p:cNvPr id="7" name="TextBox 6">
            <a:extLst xmlns:a="http://schemas.openxmlformats.org/drawingml/2006/main">
              <a:ext uri="{FF2B5EF4-FFF2-40B4-BE49-F238E27FC236}">
                <a16:creationId xmlns:a16="http://schemas.microsoft.com/office/drawing/2014/main" id="{59D511DE-3F6F-4A68-945C-2E6477BE6D21}"/>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EFC0DA10-90E5-4254-839D-3385C115238A}"/>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SELENOW loss alters redox state and mitochondrial respiration.</a:t>
            </a:r>
          </a:p>
        </p:txBody>
      </p:sp>
      <p:sp>
        <p:nvSpPr>
          <p:cNvPr id="9" name="TextBox 8">
            <a:extLst xmlns:a="http://schemas.openxmlformats.org/drawingml/2006/main">
              <a:ext uri="{FF2B5EF4-FFF2-40B4-BE49-F238E27FC236}">
                <a16:creationId xmlns:a16="http://schemas.microsoft.com/office/drawing/2014/main" id="{AC3A5FEE-019C-4C64-8AA2-7C354EAF7038}"/>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05E63B8B-098A-4DA1-88AC-4E736F8DC4D1}"/>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experiment used macrophages rather than neurons.</a:t>
            </a:r>
          </a:p>
        </p:txBody>
      </p:sp>
      <p:sp>
        <p:nvSpPr>
          <p:cNvPr id="11" name="Rounded Rectangle 10">
            <a:extLst xmlns:a="http://schemas.openxmlformats.org/drawingml/2006/main">
              <a:ext uri="{FF2B5EF4-FFF2-40B4-BE49-F238E27FC236}">
                <a16:creationId xmlns:a16="http://schemas.microsoft.com/office/drawing/2014/main" id="{37B53BB3-FD78-4B18-9876-8FDDEFD2FB91}"/>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6F77C85D-3C0C-4B66-81B2-43CD83A207F4}"/>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Ren et al. 2024</a:t>
            </a:r>
          </a:p>
        </p:txBody>
      </p:sp>
      <p:sp>
        <p:nvSpPr>
          <p:cNvPr id="13" name="TextBox 12">
            <a:extLst xmlns:a="http://schemas.openxmlformats.org/drawingml/2006/main">
              <a:ext uri="{FF2B5EF4-FFF2-40B4-BE49-F238E27FC236}">
                <a16:creationId xmlns:a16="http://schemas.microsoft.com/office/drawing/2014/main" id="{2EECD59F-9AC5-496F-8566-2FB6497259D4}"/>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SELENOW and tau</a:t>
            </a:r>
          </a:p>
        </p:txBody>
      </p:sp>
      <p:sp>
        <p:nvSpPr>
          <p:cNvPr id="14" name="TextBox 13">
            <a:extLst xmlns:a="http://schemas.openxmlformats.org/drawingml/2006/main">
              <a:ext uri="{FF2B5EF4-FFF2-40B4-BE49-F238E27FC236}">
                <a16:creationId xmlns:a16="http://schemas.microsoft.com/office/drawing/2014/main" id="{1D979244-175D-41BA-924D-A31542990FFA}"/>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3CCA367C-5739-441A-85DA-B1ECF37998D0}"/>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improved tau clearance and phenotypes after SELENOW overexpression.</a:t>
            </a:r>
          </a:p>
        </p:txBody>
      </p:sp>
      <p:sp>
        <p:nvSpPr>
          <p:cNvPr id="16" name="TextBox 15">
            <a:extLst xmlns:a="http://schemas.openxmlformats.org/drawingml/2006/main">
              <a:ext uri="{FF2B5EF4-FFF2-40B4-BE49-F238E27FC236}">
                <a16:creationId xmlns:a16="http://schemas.microsoft.com/office/drawing/2014/main" id="{0CD0E5AC-C960-42E4-829C-810A332C4F1A}"/>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964869D1-82F0-431C-B250-BAF278B240F4}"/>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Evidence comes from a 3×Tg-AD mouse model.</a:t>
            </a:r>
          </a:p>
        </p:txBody>
      </p:sp>
      <p:sp>
        <p:nvSpPr>
          <p:cNvPr id="18" name="Rounded Rectangle 17">
            <a:extLst xmlns:a="http://schemas.openxmlformats.org/drawingml/2006/main">
              <a:ext uri="{FF2B5EF4-FFF2-40B4-BE49-F238E27FC236}">
                <a16:creationId xmlns:a16="http://schemas.microsoft.com/office/drawing/2014/main" id="{D8CC1CED-DDDC-47F0-8FE4-B929AD06AE37}"/>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1F0D2DED-9A5B-4AC5-B7DF-FBF7DB80F25E}"/>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xmlns:a="http://schemas.openxmlformats.org/drawingml/2006/main">
              <a:ext uri="{FF2B5EF4-FFF2-40B4-BE49-F238E27FC236}">
                <a16:creationId xmlns:a16="http://schemas.microsoft.com/office/drawing/2014/main" id="{EAB4A8DF-DA0A-443B-A306-D6B44499365C}"/>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Human neuronal neighborhood</a:t>
            </a:r>
          </a:p>
        </p:txBody>
      </p:sp>
      <p:sp>
        <p:nvSpPr>
          <p:cNvPr id="21" name="TextBox 20">
            <a:extLst xmlns:a="http://schemas.openxmlformats.org/drawingml/2006/main">
              <a:ext uri="{FF2B5EF4-FFF2-40B4-BE49-F238E27FC236}">
                <a16:creationId xmlns:a16="http://schemas.microsoft.com/office/drawing/2014/main" id="{4F1E8FE2-26D2-4DC8-832F-EC7C58FF239E}"/>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216CC7A2-6356-43C1-B57D-08179BB5D352}"/>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Adds cell-resolved links to respiration and mitochondrial quality control.</a:t>
            </a:r>
          </a:p>
        </p:txBody>
      </p:sp>
      <p:sp>
        <p:nvSpPr>
          <p:cNvPr id="23" name="TextBox 22">
            <a:extLst xmlns:a="http://schemas.openxmlformats.org/drawingml/2006/main">
              <a:ext uri="{FF2B5EF4-FFF2-40B4-BE49-F238E27FC236}">
                <a16:creationId xmlns:a16="http://schemas.microsoft.com/office/drawing/2014/main" id="{64EF1530-95F7-41A7-8849-59B89EA6652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BDF0DCAC-4AAC-4320-BE04-ECE3BA589D9A}"/>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KDA does not prove direction or causality.</a:t>
            </a:r>
          </a:p>
        </p:txBody>
      </p:sp>
      <p:sp>
        <p:nvSpPr>
          <p:cNvPr id="25" name="Rounded Rectangle 24">
            <a:extLst xmlns:a="http://schemas.openxmlformats.org/drawingml/2006/main">
              <a:ext uri="{FF2B5EF4-FFF2-40B4-BE49-F238E27FC236}">
                <a16:creationId xmlns:a16="http://schemas.microsoft.com/office/drawing/2014/main" id="{4F0A4715-DDA2-4CDE-AE71-17CEC7E27051}"/>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11A637B2-7B70-4294-BAD4-A3A3249195B4}"/>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9B34211D-6E84-4EDB-8DDB-1F756FEAB4C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11.</a:t>
            </a:r>
          </a:p>
        </p:txBody>
      </p:sp>
    </p:spTree>
    <p:extLst>
      <p:ext uri="{BB962C8B-B14F-4D97-AF65-F5344CB8AC3E}">
        <p14:creationId xmlns:p14="http://schemas.microsoft.com/office/powerpoint/2010/main" val="1576970783"/>
      </p:ext>
    </p:extLst>
  </p:cSld>
</p:sld>
</file>

<file path=ppt/slides/slide121.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710151A-41BA-4345-B5EA-DBDC0E3EBEC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12</a:t>
            </a:r>
          </a:p>
        </p:txBody>
      </p:sp>
      <p:sp>
        <p:nvSpPr>
          <p:cNvPr id="3" name="Rectangle 2">
            <a:extLst xmlns:a="http://schemas.openxmlformats.org/drawingml/2006/main">
              <a:ext uri="{FF2B5EF4-FFF2-40B4-BE49-F238E27FC236}">
                <a16:creationId xmlns:a16="http://schemas.microsoft.com/office/drawing/2014/main" id="{E94FA09A-EF68-4F00-A80F-531C6EA3D616}"/>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2787DBD-8C70-4D25-88D9-72B5E4DACBCD}"/>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FFFFFF"/>
                </a:solidFill>
                <a:latin typeface="Arial"/>
                <a:ea typeface="Arial"/>
                <a:cs typeface="Arial"/>
              </a:rPr>
              <a:t>PGK1 links astrocyte glycolysis and hypoxia signaling to mitochondrial quality control</a:t>
            </a:r>
          </a:p>
        </p:txBody>
      </p:sp>
      <p:sp>
        <p:nvSpPr>
          <p:cNvPr id="5" name="TextBox 4">
            <a:extLst xmlns:a="http://schemas.openxmlformats.org/drawingml/2006/main">
              <a:ext uri="{FF2B5EF4-FFF2-40B4-BE49-F238E27FC236}">
                <a16:creationId xmlns:a16="http://schemas.microsoft.com/office/drawing/2014/main" id="{ADB10DF0-F101-4520-BF07-F7B7480D7845}"/>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Focused ROSMAP astrocyte-driver finding.</a:t>
            </a:r>
          </a:p>
        </p:txBody>
      </p:sp>
      <p:sp>
        <p:nvSpPr>
          <p:cNvPr id="6" name="Rounded Rectangle 5">
            <a:extLst xmlns:a="http://schemas.openxmlformats.org/drawingml/2006/main">
              <a:ext uri="{FF2B5EF4-FFF2-40B4-BE49-F238E27FC236}">
                <a16:creationId xmlns:a16="http://schemas.microsoft.com/office/drawing/2014/main" id="{7CFB2E04-3813-43FC-9893-5DEE9CCAE05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5B51999-F34D-420B-93B1-A6B614FD43E0}"/>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08F3A2D7-66CE-4568-A5BF-12B1402165B9}"/>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36DD44B-FC09-4191-8DB8-6631B37C4DDC}"/>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2AFDB70E-DD83-4D0B-8843-56D52672B0C9}"/>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E5EB1731-80B6-43FC-91E5-2E3F6EDA398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9506AB7E-8D50-4482-A99B-7B95338DCCC7}"/>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C5C56F36-1935-43A4-9BB0-E7CD8C5E8549}"/>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9B76A6D1-153F-4CEB-AFE0-7B5B49C084CD}"/>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1F778557-B9A6-404B-941A-1B8DB03D2641}"/>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CBB27D24-647A-4669-95B8-B6FAFA5BCF44}"/>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113B06B5-E934-445A-8FC6-1A87AB9C12A3}"/>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60F4822B-7924-4D23-9A8F-46FB3C48F7F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95AACBF5-703E-4247-81BA-70B08D1DA8D9}"/>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AC274C91-3AF6-4228-8C48-9D6A636387B3}"/>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67457D6-3123-4DBC-B5AA-71628443DB0E}"/>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PGK1 connects astrocyte glycolysis with a narrow BNIP3, BNIP3L, and FAM162A stress neighborhood.</a:t>
            </a:r>
          </a:p>
        </p:txBody>
      </p:sp>
    </p:spTree>
    <p:extLst>
      <p:ext uri="{BB962C8B-B14F-4D97-AF65-F5344CB8AC3E}">
        <p14:creationId xmlns:p14="http://schemas.microsoft.com/office/powerpoint/2010/main" val="1913048432"/>
      </p:ext>
    </p:extLst>
  </p:cSld>
</p:sld>
</file>

<file path=ppt/slides/slide12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0B7F558-6829-4CCA-85E9-8EA5B536584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PGK1 links astrocyte sugar breakdown with removal of damaged mitochondria</a:t>
            </a:r>
          </a:p>
        </p:txBody>
      </p:sp>
      <p:sp>
        <p:nvSpPr>
          <p:cNvPr id="3" name="TextBox 2">
            <a:extLst xmlns:a="http://schemas.openxmlformats.org/drawingml/2006/main">
              <a:ext uri="{FF2B5EF4-FFF2-40B4-BE49-F238E27FC236}">
                <a16:creationId xmlns:a16="http://schemas.microsoft.com/office/drawing/2014/main" id="{89BAE679-B633-4947-8266-01BA18D7062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Glycolysis makes energy from sugar outside mitochondria. Mitophagy is the recycling of damaged mitochondria.</a:t>
            </a:r>
          </a:p>
        </p:txBody>
      </p:sp>
      <p:sp>
        <p:nvSpPr>
          <p:cNvPr id="4" name="Rounded Rectangle 3">
            <a:extLst xmlns:a="http://schemas.openxmlformats.org/drawingml/2006/main">
              <a:ext uri="{FF2B5EF4-FFF2-40B4-BE49-F238E27FC236}">
                <a16:creationId xmlns:a16="http://schemas.microsoft.com/office/drawing/2014/main" id="{47ED80FA-BFC2-43F4-8AAF-62F387718225}"/>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9903C65-BA88-486E-894D-945D8EE3AC3E}"/>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xmlns:a="http://schemas.openxmlformats.org/drawingml/2006/main">
              <a:ext uri="{FF2B5EF4-FFF2-40B4-BE49-F238E27FC236}">
                <a16:creationId xmlns:a16="http://schemas.microsoft.com/office/drawing/2014/main" id="{573FB060-EB71-44AC-8C31-9FBCCF787A3C}"/>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B1689922-1AFD-482B-A71B-C8C8CD42BB45}"/>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Three calls</a:t>
            </a:r>
          </a:p>
        </p:txBody>
      </p:sp>
      <p:sp>
        <p:nvSpPr>
          <p:cNvPr id="8" name="Rounded Rectangle 7">
            <a:extLst xmlns:a="http://schemas.openxmlformats.org/drawingml/2006/main">
              <a:ext uri="{FF2B5EF4-FFF2-40B4-BE49-F238E27FC236}">
                <a16:creationId xmlns:a16="http://schemas.microsoft.com/office/drawing/2014/main" id="{39CAED9D-8232-4695-A11B-D04EA2D5A22C}"/>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019FBA6-3B16-41CF-B91A-0B1301AB159A}"/>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Glycolysis</a:t>
            </a:r>
          </a:p>
        </p:txBody>
      </p:sp>
      <p:sp>
        <p:nvSpPr>
          <p:cNvPr id="10" name="Rounded Rectangle 9">
            <a:extLst xmlns:a="http://schemas.openxmlformats.org/drawingml/2006/main">
              <a:ext uri="{FF2B5EF4-FFF2-40B4-BE49-F238E27FC236}">
                <a16:creationId xmlns:a16="http://schemas.microsoft.com/office/drawing/2014/main" id="{DC571AE3-E827-48D6-8006-A3BBC12F4F3E}"/>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33CB9581-3A5C-435D-AE95-E23A83F8B585}"/>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Hypoxia and mitophagy</a:t>
            </a:r>
          </a:p>
        </p:txBody>
      </p:sp>
      <p:sp>
        <p:nvSpPr>
          <p:cNvPr id="12" name="Rounded Rectangle 11">
            <a:extLst xmlns:a="http://schemas.openxmlformats.org/drawingml/2006/main">
              <a:ext uri="{FF2B5EF4-FFF2-40B4-BE49-F238E27FC236}">
                <a16:creationId xmlns:a16="http://schemas.microsoft.com/office/drawing/2014/main" id="{9EAD06E1-6770-4024-918D-B31A9AFD8229}"/>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39649F30-009B-4A33-89C9-FAAD0B421D28}"/>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PGK1</a:t>
            </a:r>
          </a:p>
        </p:txBody>
      </p:sp>
      <p:sp>
        <p:nvSpPr>
          <p:cNvPr id="14" name="TextBox 13">
            <a:extLst xmlns:a="http://schemas.openxmlformats.org/drawingml/2006/main">
              <a:ext uri="{FF2B5EF4-FFF2-40B4-BE49-F238E27FC236}">
                <a16:creationId xmlns:a16="http://schemas.microsoft.com/office/drawing/2014/main" id="{EB010982-E7FF-4A27-8D2E-698ED72713F3}"/>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Glycolysis gene</a:t>
            </a:r>
          </a:p>
        </p:txBody>
      </p:sp>
      <p:sp>
        <p:nvSpPr>
          <p:cNvPr id="15" name="TextBox 14">
            <a:extLst xmlns:a="http://schemas.openxmlformats.org/drawingml/2006/main">
              <a:ext uri="{FF2B5EF4-FFF2-40B4-BE49-F238E27FC236}">
                <a16:creationId xmlns:a16="http://schemas.microsoft.com/office/drawing/2014/main" id="{FB9899F7-137A-49E3-92E2-593E731D713A}"/>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PGK1 participates in the pathway that breaks down glucose outside mitochondria.</a:t>
            </a:r>
          </a:p>
        </p:txBody>
      </p:sp>
      <p:sp>
        <p:nvSpPr>
          <p:cNvPr id="16" name="Rounded Rectangle 15">
            <a:extLst xmlns:a="http://schemas.openxmlformats.org/drawingml/2006/main">
              <a:ext uri="{FF2B5EF4-FFF2-40B4-BE49-F238E27FC236}">
                <a16:creationId xmlns:a16="http://schemas.microsoft.com/office/drawing/2014/main" id="{F2A82254-E0D0-4592-B2C8-BD2CE3F65455}"/>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97F7430-EFBA-4174-8B86-141500AB5194}"/>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STRESS NEIGHBORHOOD</a:t>
            </a:r>
          </a:p>
        </p:txBody>
      </p:sp>
      <p:sp>
        <p:nvSpPr>
          <p:cNvPr id="18" name="TextBox 17">
            <a:extLst xmlns:a="http://schemas.openxmlformats.org/drawingml/2006/main">
              <a:ext uri="{FF2B5EF4-FFF2-40B4-BE49-F238E27FC236}">
                <a16:creationId xmlns:a16="http://schemas.microsoft.com/office/drawing/2014/main" id="{4956E081-DD2C-4B86-890B-15AAED8FEB6A}"/>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FAM162A and BNIP3</a:t>
            </a:r>
          </a:p>
        </p:txBody>
      </p:sp>
      <p:sp>
        <p:nvSpPr>
          <p:cNvPr id="19" name="TextBox 18">
            <a:extLst xmlns:a="http://schemas.openxmlformats.org/drawingml/2006/main">
              <a:ext uri="{FF2B5EF4-FFF2-40B4-BE49-F238E27FC236}">
                <a16:creationId xmlns:a16="http://schemas.microsoft.com/office/drawing/2014/main" id="{E4B6BE57-7B21-46EB-B4B8-07C7047BE0B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These genes respond to low oxygen and mitochondrial damage.</a:t>
            </a:r>
          </a:p>
        </p:txBody>
      </p:sp>
      <p:sp>
        <p:nvSpPr>
          <p:cNvPr id="20" name="Rounded Rectangle 19">
            <a:extLst xmlns:a="http://schemas.openxmlformats.org/drawingml/2006/main">
              <a:ext uri="{FF2B5EF4-FFF2-40B4-BE49-F238E27FC236}">
                <a16:creationId xmlns:a16="http://schemas.microsoft.com/office/drawing/2014/main" id="{B5B0454C-87F7-46D9-AC9D-C258F8FE505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44A31876-F730-41A3-82E1-26C44DB10FC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MITOCHONDRIAL CLEANUP</a:t>
            </a:r>
          </a:p>
        </p:txBody>
      </p:sp>
      <p:sp>
        <p:nvSpPr>
          <p:cNvPr id="22" name="TextBox 21">
            <a:extLst xmlns:a="http://schemas.openxmlformats.org/drawingml/2006/main">
              <a:ext uri="{FF2B5EF4-FFF2-40B4-BE49-F238E27FC236}">
                <a16:creationId xmlns:a16="http://schemas.microsoft.com/office/drawing/2014/main" id="{0B36BB3D-8B3E-4FE2-92A5-2C31F99320E7}"/>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BNIP3L</a:t>
            </a:r>
          </a:p>
        </p:txBody>
      </p:sp>
      <p:sp>
        <p:nvSpPr>
          <p:cNvPr id="23" name="TextBox 22">
            <a:extLst xmlns:a="http://schemas.openxmlformats.org/drawingml/2006/main">
              <a:ext uri="{FF2B5EF4-FFF2-40B4-BE49-F238E27FC236}">
                <a16:creationId xmlns:a16="http://schemas.microsoft.com/office/drawing/2014/main" id="{80957CE9-3905-4E15-87B7-36C2E3BB9A61}"/>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BNIP3L can help mark damaged mitochondria for recycling.</a:t>
            </a:r>
          </a:p>
        </p:txBody>
      </p:sp>
      <p:sp>
        <p:nvSpPr>
          <p:cNvPr id="24" name="Rounded Rectangle 23">
            <a:extLst xmlns:a="http://schemas.openxmlformats.org/drawingml/2006/main">
              <a:ext uri="{FF2B5EF4-FFF2-40B4-BE49-F238E27FC236}">
                <a16:creationId xmlns:a16="http://schemas.microsoft.com/office/drawing/2014/main" id="{9E619A25-60EB-4338-89D1-FDE97321B67D}"/>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DE2785D-97BD-473E-94DD-1C0B3B017144}"/>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focused neighborhood suggests a glycolysis-to-mitophagy hypothesis, not broad control of all OXPHOS genes.</a:t>
            </a:r>
          </a:p>
        </p:txBody>
      </p:sp>
      <p:sp>
        <p:nvSpPr>
          <p:cNvPr id="26" name="TextBox 25">
            <a:extLst xmlns:a="http://schemas.openxmlformats.org/drawingml/2006/main">
              <a:ext uri="{FF2B5EF4-FFF2-40B4-BE49-F238E27FC236}">
                <a16:creationId xmlns:a16="http://schemas.microsoft.com/office/drawing/2014/main" id="{C933B38F-D8BE-40C3-8955-FF32C9E0B19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189913297"/>
      </p:ext>
    </p:extLst>
  </p:cSld>
</p:sld>
</file>

<file path=ppt/slides/slide12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634ECCD-3005-43E7-8A12-A62269DF1A3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ROSMAP: PGK1 appears in three astrocyte contexts with a three-gene neighborhood</a:t>
            </a:r>
          </a:p>
        </p:txBody>
      </p:sp>
      <p:sp>
        <p:nvSpPr>
          <p:cNvPr id="3" name="TextBox 2">
            <a:extLst xmlns:a="http://schemas.openxmlformats.org/drawingml/2006/main">
              <a:ext uri="{FF2B5EF4-FFF2-40B4-BE49-F238E27FC236}">
                <a16:creationId xmlns:a16="http://schemas.microsoft.com/office/drawing/2014/main" id="{B1237EA6-8A72-4ABB-8504-3CA9DA6E9F48}"/>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category scores rank candidates but are exploratory rather than final q-values.</a:t>
            </a:r>
          </a:p>
        </p:txBody>
      </p:sp>
      <p:sp>
        <p:nvSpPr>
          <p:cNvPr id="4" name="Rounded Rectangle 3">
            <a:extLst xmlns:a="http://schemas.openxmlformats.org/drawingml/2006/main">
              <a:ext uri="{FF2B5EF4-FFF2-40B4-BE49-F238E27FC236}">
                <a16:creationId xmlns:a16="http://schemas.microsoft.com/office/drawing/2014/main" id="{4EB4B218-2773-4039-97D9-0594082EFDE3}"/>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3A6A47F5-78EC-4613-9887-AC2E40047FAD}"/>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xmlns:a="http://schemas.openxmlformats.org/drawingml/2006/main">
              <a:ext uri="{FF2B5EF4-FFF2-40B4-BE49-F238E27FC236}">
                <a16:creationId xmlns:a16="http://schemas.microsoft.com/office/drawing/2014/main" id="{9AF3B4E6-7A86-4790-B7EC-A9935BB2ED18}"/>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astrocyte calls</a:t>
            </a:r>
          </a:p>
        </p:txBody>
      </p:sp>
      <p:sp>
        <p:nvSpPr>
          <p:cNvPr id="7" name="TextBox 6">
            <a:extLst xmlns:a="http://schemas.openxmlformats.org/drawingml/2006/main">
              <a:ext uri="{FF2B5EF4-FFF2-40B4-BE49-F238E27FC236}">
                <a16:creationId xmlns:a16="http://schemas.microsoft.com/office/drawing/2014/main" id="{13242BF1-09E7-4CAB-9664-0FD69FED9A20}"/>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F_e33, F_e4, M_e4</a:t>
            </a:r>
          </a:p>
        </p:txBody>
      </p:sp>
      <p:sp>
        <p:nvSpPr>
          <p:cNvPr id="8" name="Rounded Rectangle 7">
            <a:extLst xmlns:a="http://schemas.openxmlformats.org/drawingml/2006/main">
              <a:ext uri="{FF2B5EF4-FFF2-40B4-BE49-F238E27FC236}">
                <a16:creationId xmlns:a16="http://schemas.microsoft.com/office/drawing/2014/main" id="{A77D6C01-7389-436C-BC46-33941816E951}"/>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D6D1F92-7286-4B38-89BB-33A8D7D2C59A}"/>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8</a:t>
            </a:r>
          </a:p>
        </p:txBody>
      </p:sp>
      <p:sp>
        <p:nvSpPr>
          <p:cNvPr id="10" name="TextBox 9">
            <a:extLst xmlns:a="http://schemas.openxmlformats.org/drawingml/2006/main">
              <a:ext uri="{FF2B5EF4-FFF2-40B4-BE49-F238E27FC236}">
                <a16:creationId xmlns:a16="http://schemas.microsoft.com/office/drawing/2014/main" id="{CE45EA34-F632-4FAF-9783-05EB53CC1CCC}"/>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exact overlap occurrences</a:t>
            </a:r>
          </a:p>
        </p:txBody>
      </p:sp>
      <p:sp>
        <p:nvSpPr>
          <p:cNvPr id="11" name="TextBox 10">
            <a:extLst xmlns:a="http://schemas.openxmlformats.org/drawingml/2006/main">
              <a:ext uri="{FF2B5EF4-FFF2-40B4-BE49-F238E27FC236}">
                <a16:creationId xmlns:a16="http://schemas.microsoft.com/office/drawing/2014/main" id="{2EDDE8DE-BC59-4E4F-B94F-FA088B4109B7}"/>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three genes</a:t>
            </a:r>
          </a:p>
        </p:txBody>
      </p:sp>
      <p:sp>
        <p:nvSpPr>
          <p:cNvPr id="12" name="Rounded Rectangle 11">
            <a:extLst xmlns:a="http://schemas.openxmlformats.org/drawingml/2006/main">
              <a:ext uri="{FF2B5EF4-FFF2-40B4-BE49-F238E27FC236}">
                <a16:creationId xmlns:a16="http://schemas.microsoft.com/office/drawing/2014/main" id="{2A433B62-D50C-42CE-807D-6EE2C629C3CD}"/>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B38FB59-7DDF-4CF3-8FA2-3AC7890FA51F}"/>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3</a:t>
            </a:r>
          </a:p>
        </p:txBody>
      </p:sp>
      <p:sp>
        <p:nvSpPr>
          <p:cNvPr id="14" name="TextBox 13">
            <a:extLst xmlns:a="http://schemas.openxmlformats.org/drawingml/2006/main">
              <a:ext uri="{FF2B5EF4-FFF2-40B4-BE49-F238E27FC236}">
                <a16:creationId xmlns:a16="http://schemas.microsoft.com/office/drawing/2014/main" id="{A21E4E72-49CB-4F47-8158-894559B2D233}"/>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neighbor genes</a:t>
            </a:r>
          </a:p>
        </p:txBody>
      </p:sp>
      <p:sp>
        <p:nvSpPr>
          <p:cNvPr id="15" name="TextBox 14">
            <a:extLst xmlns:a="http://schemas.openxmlformats.org/drawingml/2006/main">
              <a:ext uri="{FF2B5EF4-FFF2-40B4-BE49-F238E27FC236}">
                <a16:creationId xmlns:a16="http://schemas.microsoft.com/office/drawing/2014/main" id="{4EC346BC-0759-4F0B-A2D9-D69060EC70D7}"/>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FAM162A, BNIP3, BNIP3L</a:t>
            </a:r>
          </a:p>
        </p:txBody>
      </p:sp>
      <p:sp>
        <p:nvSpPr>
          <p:cNvPr id="16" name="Rounded Rectangle 15">
            <a:extLst xmlns:a="http://schemas.openxmlformats.org/drawingml/2006/main">
              <a:ext uri="{FF2B5EF4-FFF2-40B4-BE49-F238E27FC236}">
                <a16:creationId xmlns:a16="http://schemas.microsoft.com/office/drawing/2014/main" id="{F7462905-94EB-45AA-A9C1-76483A544358}"/>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DFA5032A-67CF-4A27-807B-6CC6E486B9FC}"/>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xmlns:a="http://schemas.openxmlformats.org/drawingml/2006/main">
              <a:ext uri="{FF2B5EF4-FFF2-40B4-BE49-F238E27FC236}">
                <a16:creationId xmlns:a16="http://schemas.microsoft.com/office/drawing/2014/main" id="{A248D179-49EF-48D7-8640-B8E54FD0980F}"/>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logFC +1.06</a:t>
            </a:r>
          </a:p>
        </p:txBody>
      </p:sp>
      <p:sp>
        <p:nvSpPr>
          <p:cNvPr id="19" name="TextBox 18">
            <a:extLst xmlns:a="http://schemas.openxmlformats.org/drawingml/2006/main">
              <a:ext uri="{FF2B5EF4-FFF2-40B4-BE49-F238E27FC236}">
                <a16:creationId xmlns:a16="http://schemas.microsoft.com/office/drawing/2014/main" id="{CEFE52EB-E3A8-437E-BFB1-C446A7456136}"/>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0" name="Rounded Rectangle 19">
            <a:extLst xmlns:a="http://schemas.openxmlformats.org/drawingml/2006/main">
              <a:ext uri="{FF2B5EF4-FFF2-40B4-BE49-F238E27FC236}">
                <a16:creationId xmlns:a16="http://schemas.microsoft.com/office/drawing/2014/main" id="{163C2D99-61C4-4609-B9F5-A41BE06E79D3}"/>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62CE896-82E2-414F-BCE7-4E4EE5C9FDF2}"/>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2" name="TextBox 21">
            <a:extLst xmlns:a="http://schemas.openxmlformats.org/drawingml/2006/main">
              <a:ext uri="{FF2B5EF4-FFF2-40B4-BE49-F238E27FC236}">
                <a16:creationId xmlns:a16="http://schemas.microsoft.com/office/drawing/2014/main" id="{3D617E52-6E88-4F32-A270-C23075F37CEE}"/>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logFC +0.03</a:t>
            </a:r>
          </a:p>
        </p:txBody>
      </p:sp>
      <p:sp>
        <p:nvSpPr>
          <p:cNvPr id="23" name="TextBox 22">
            <a:extLst xmlns:a="http://schemas.openxmlformats.org/drawingml/2006/main">
              <a:ext uri="{FF2B5EF4-FFF2-40B4-BE49-F238E27FC236}">
                <a16:creationId xmlns:a16="http://schemas.microsoft.com/office/drawing/2014/main" id="{DFAE37E3-B0DD-4A9E-AD0B-213D2BABEFB1}"/>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PGK1 showed almost no expression change and was not a paper DEG</a:t>
            </a:r>
          </a:p>
        </p:txBody>
      </p:sp>
      <p:sp>
        <p:nvSpPr>
          <p:cNvPr id="24" name="Rounded Rectangle 23">
            <a:extLst xmlns:a="http://schemas.openxmlformats.org/drawingml/2006/main">
              <a:ext uri="{FF2B5EF4-FFF2-40B4-BE49-F238E27FC236}">
                <a16:creationId xmlns:a16="http://schemas.microsoft.com/office/drawing/2014/main" id="{56E5093A-5C54-4EFC-BC39-17063F9BEFE2}"/>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967871F-BBF0-43C9-B9DC-FDA1E86BA9E7}"/>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Male ε4</a:t>
            </a:r>
          </a:p>
        </p:txBody>
      </p:sp>
      <p:sp>
        <p:nvSpPr>
          <p:cNvPr id="26" name="TextBox 25">
            <a:extLst xmlns:a="http://schemas.openxmlformats.org/drawingml/2006/main">
              <a:ext uri="{FF2B5EF4-FFF2-40B4-BE49-F238E27FC236}">
                <a16:creationId xmlns:a16="http://schemas.microsoft.com/office/drawing/2014/main" id="{6C1D427A-C9F7-40EE-A46C-C6DCBC736DEB}"/>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logFC +0.95</a:t>
            </a:r>
          </a:p>
        </p:txBody>
      </p:sp>
      <p:sp>
        <p:nvSpPr>
          <p:cNvPr id="27" name="TextBox 26">
            <a:extLst xmlns:a="http://schemas.openxmlformats.org/drawingml/2006/main">
              <a:ext uri="{FF2B5EF4-FFF2-40B4-BE49-F238E27FC236}">
                <a16:creationId xmlns:a16="http://schemas.microsoft.com/office/drawing/2014/main" id="{29D3692D-C336-456D-88CD-3A2ECEEEA0C2}"/>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PGK1 was AD-up and met the report’s DEG threshold</a:t>
            </a:r>
          </a:p>
        </p:txBody>
      </p:sp>
      <p:sp>
        <p:nvSpPr>
          <p:cNvPr id="28" name="TextBox 27">
            <a:extLst xmlns:a="http://schemas.openxmlformats.org/drawingml/2006/main">
              <a:ext uri="{FF2B5EF4-FFF2-40B4-BE49-F238E27FC236}">
                <a16:creationId xmlns:a16="http://schemas.microsoft.com/office/drawing/2014/main" id="{71537B82-32C6-46E0-BDCE-E882267B34C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220810099"/>
      </p:ext>
    </p:extLst>
  </p:cSld>
</p:sld>
</file>

<file path=ppt/slides/slide12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4A312CB-5F0B-4345-92DD-4F0394E290B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The neighborhood is specific, while external support remains limited</a:t>
            </a:r>
          </a:p>
        </p:txBody>
      </p:sp>
      <p:sp>
        <p:nvSpPr>
          <p:cNvPr id="3" name="TextBox 2">
            <a:extLst xmlns:a="http://schemas.openxmlformats.org/drawingml/2006/main">
              <a:ext uri="{FF2B5EF4-FFF2-40B4-BE49-F238E27FC236}">
                <a16:creationId xmlns:a16="http://schemas.microsoft.com/office/drawing/2014/main" id="{34F96E17-5704-4968-8FFC-4A9E6293D58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narrow module can sharpen a hypothesis but also depends heavily on a few genes.</a:t>
            </a:r>
          </a:p>
        </p:txBody>
      </p:sp>
      <p:sp>
        <p:nvSpPr>
          <p:cNvPr id="4" name="Rounded Rectangle 3">
            <a:extLst xmlns:a="http://schemas.openxmlformats.org/drawingml/2006/main">
              <a:ext uri="{FF2B5EF4-FFF2-40B4-BE49-F238E27FC236}">
                <a16:creationId xmlns:a16="http://schemas.microsoft.com/office/drawing/2014/main" id="{2D5AFA68-09C1-4160-BFBC-2E55ECA39EA1}"/>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4485003D-DE1C-4590-B184-70967E3A99AA}"/>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EXACT OVERLAP</a:t>
            </a:r>
          </a:p>
        </p:txBody>
      </p:sp>
      <p:sp>
        <p:nvSpPr>
          <p:cNvPr id="6" name="TextBox 5">
            <a:extLst xmlns:a="http://schemas.openxmlformats.org/drawingml/2006/main">
              <a:ext uri="{FF2B5EF4-FFF2-40B4-BE49-F238E27FC236}">
                <a16:creationId xmlns:a16="http://schemas.microsoft.com/office/drawing/2014/main" id="{EF558C3A-0504-4E58-9BD1-4A923DDCD21E}"/>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FAM162A 3, BNIP3 3, BNIP3L 2</a:t>
            </a:r>
          </a:p>
        </p:txBody>
      </p:sp>
      <p:sp>
        <p:nvSpPr>
          <p:cNvPr id="7" name="TextBox 6">
            <a:extLst xmlns:a="http://schemas.openxmlformats.org/drawingml/2006/main">
              <a:ext uri="{FF2B5EF4-FFF2-40B4-BE49-F238E27FC236}">
                <a16:creationId xmlns:a16="http://schemas.microsoft.com/office/drawing/2014/main" id="{A9C49C52-BD4E-420E-94E4-96753C7A2C0F}"/>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All eight exact occurrences belong to the hypoxia and mitochondrial-quality theme.</a:t>
            </a:r>
          </a:p>
        </p:txBody>
      </p:sp>
      <p:sp>
        <p:nvSpPr>
          <p:cNvPr id="8" name="Rounded Rectangle 7">
            <a:extLst xmlns:a="http://schemas.openxmlformats.org/drawingml/2006/main">
              <a:ext uri="{FF2B5EF4-FFF2-40B4-BE49-F238E27FC236}">
                <a16:creationId xmlns:a16="http://schemas.microsoft.com/office/drawing/2014/main" id="{4BC3BC37-F1EF-4116-9612-1C28E5F6689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9BAEC80D-36F8-4C7E-B96D-17BF8A9893A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SEA-AD</a:t>
            </a:r>
          </a:p>
        </p:txBody>
      </p:sp>
      <p:sp>
        <p:nvSpPr>
          <p:cNvPr id="10" name="TextBox 9">
            <a:extLst xmlns:a="http://schemas.openxmlformats.org/drawingml/2006/main">
              <a:ext uri="{FF2B5EF4-FFF2-40B4-BE49-F238E27FC236}">
                <a16:creationId xmlns:a16="http://schemas.microsoft.com/office/drawing/2014/main" id="{1117AB6D-06AA-4C3A-94B4-03661EA80071}"/>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Present but not returned</a:t>
            </a:r>
          </a:p>
        </p:txBody>
      </p:sp>
      <p:sp>
        <p:nvSpPr>
          <p:cNvPr id="11" name="TextBox 10">
            <a:extLst xmlns:a="http://schemas.openxmlformats.org/drawingml/2006/main">
              <a:ext uri="{FF2B5EF4-FFF2-40B4-BE49-F238E27FC236}">
                <a16:creationId xmlns:a16="http://schemas.microsoft.com/office/drawing/2014/main" id="{DD6B5843-D1D2-420E-8C82-1520D4903537}"/>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PGK1 was available in the only active female ε4 astrocyte network, whose query had only five genes.</a:t>
            </a:r>
          </a:p>
        </p:txBody>
      </p:sp>
      <p:sp>
        <p:nvSpPr>
          <p:cNvPr id="12" name="Rounded Rectangle 11">
            <a:extLst xmlns:a="http://schemas.openxmlformats.org/drawingml/2006/main">
              <a:ext uri="{FF2B5EF4-FFF2-40B4-BE49-F238E27FC236}">
                <a16:creationId xmlns:a16="http://schemas.microsoft.com/office/drawing/2014/main" id="{2B9E94F1-54CA-4A52-AA6A-E5C109DD507C}"/>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8986F0A-AD85-43D2-A63B-73E9D8239DFA}"/>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DISCOVERY OVERLAP</a:t>
            </a:r>
          </a:p>
        </p:txBody>
      </p:sp>
      <p:sp>
        <p:nvSpPr>
          <p:cNvPr id="14" name="TextBox 13">
            <a:extLst xmlns:a="http://schemas.openxmlformats.org/drawingml/2006/main">
              <a:ext uri="{FF2B5EF4-FFF2-40B4-BE49-F238E27FC236}">
                <a16:creationId xmlns:a16="http://schemas.microsoft.com/office/drawing/2014/main" id="{155E189E-0AC7-4D49-929A-D785A6EDF02E}"/>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Mathys et al. uses ROSMAP</a:t>
            </a:r>
          </a:p>
        </p:txBody>
      </p:sp>
      <p:sp>
        <p:nvSpPr>
          <p:cNvPr id="15" name="TextBox 14">
            <a:extLst xmlns:a="http://schemas.openxmlformats.org/drawingml/2006/main">
              <a:ext uri="{FF2B5EF4-FFF2-40B4-BE49-F238E27FC236}">
                <a16:creationId xmlns:a16="http://schemas.microsoft.com/office/drawing/2014/main" id="{43DA6F94-8431-4149-9553-A5AD0E0D73E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Related glial glycolysis evidence may share donors and is not independent validation.</a:t>
            </a:r>
          </a:p>
        </p:txBody>
      </p:sp>
      <p:sp>
        <p:nvSpPr>
          <p:cNvPr id="16" name="Rounded Rectangle 15">
            <a:extLst xmlns:a="http://schemas.openxmlformats.org/drawingml/2006/main">
              <a:ext uri="{FF2B5EF4-FFF2-40B4-BE49-F238E27FC236}">
                <a16:creationId xmlns:a16="http://schemas.microsoft.com/office/drawing/2014/main" id="{BF237AF4-0CF6-4942-96B7-AAEE100F858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CE18774-1FE5-498F-8839-3E3A2A0465B2}"/>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candidate appears across several groups and should not be labeled sex- or APOE-specific.</a:t>
            </a:r>
          </a:p>
        </p:txBody>
      </p:sp>
      <p:sp>
        <p:nvSpPr>
          <p:cNvPr id="18" name="TextBox 17">
            <a:extLst xmlns:a="http://schemas.openxmlformats.org/drawingml/2006/main">
              <a:ext uri="{FF2B5EF4-FFF2-40B4-BE49-F238E27FC236}">
                <a16:creationId xmlns:a16="http://schemas.microsoft.com/office/drawing/2014/main" id="{EC5E3808-9619-4655-9F85-AFF7AF1FFFA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928381432"/>
      </p:ext>
    </p:extLst>
  </p:cSld>
</p:sld>
</file>

<file path=ppt/slides/slide12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F6017EF-9EA4-4B57-B318-A497FEECDA6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astrocytes can rebalance glycolysis and mitochondrial cleanup</a:t>
            </a:r>
          </a:p>
        </p:txBody>
      </p:sp>
      <p:sp>
        <p:nvSpPr>
          <p:cNvPr id="3" name="TextBox 2">
            <a:extLst xmlns:a="http://schemas.openxmlformats.org/drawingml/2006/main">
              <a:ext uri="{FF2B5EF4-FFF2-40B4-BE49-F238E27FC236}">
                <a16:creationId xmlns:a16="http://schemas.microsoft.com/office/drawing/2014/main" id="{EBB140CF-AE96-471A-8FAA-A1B8D0A2348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Astrocytes help regulate energy supply for neurons and respond strongly to Alzheimer’s pathology.</a:t>
            </a:r>
          </a:p>
        </p:txBody>
      </p:sp>
      <p:sp>
        <p:nvSpPr>
          <p:cNvPr id="4" name="Rounded Rectangle 3">
            <a:extLst xmlns:a="http://schemas.openxmlformats.org/drawingml/2006/main">
              <a:ext uri="{FF2B5EF4-FFF2-40B4-BE49-F238E27FC236}">
                <a16:creationId xmlns:a16="http://schemas.microsoft.com/office/drawing/2014/main" id="{5E726C50-2F3E-427E-A57E-1B69F087D0A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3C51008-16CE-431B-94F1-A86C527D75AC}"/>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ENERGY ROUTING</a:t>
            </a:r>
          </a:p>
        </p:txBody>
      </p:sp>
      <p:sp>
        <p:nvSpPr>
          <p:cNvPr id="6" name="TextBox 5">
            <a:extLst xmlns:a="http://schemas.openxmlformats.org/drawingml/2006/main">
              <a:ext uri="{FF2B5EF4-FFF2-40B4-BE49-F238E27FC236}">
                <a16:creationId xmlns:a16="http://schemas.microsoft.com/office/drawing/2014/main" id="{BE031E6D-135D-4F09-874E-FA2CF701A9E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More glycolysis may reduce mitochondrial demand</a:t>
            </a:r>
          </a:p>
        </p:txBody>
      </p:sp>
      <p:sp>
        <p:nvSpPr>
          <p:cNvPr id="7" name="TextBox 6">
            <a:extLst xmlns:a="http://schemas.openxmlformats.org/drawingml/2006/main">
              <a:ext uri="{FF2B5EF4-FFF2-40B4-BE49-F238E27FC236}">
                <a16:creationId xmlns:a16="http://schemas.microsoft.com/office/drawing/2014/main" id="{ED255D3E-6D1A-4D3D-A762-664215183CF9}"/>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Cells can shift ATP production toward glucose breakdown outside mitochondria.</a:t>
            </a:r>
          </a:p>
        </p:txBody>
      </p:sp>
      <p:sp>
        <p:nvSpPr>
          <p:cNvPr id="8" name="Rounded Rectangle 7">
            <a:extLst xmlns:a="http://schemas.openxmlformats.org/drawingml/2006/main">
              <a:ext uri="{FF2B5EF4-FFF2-40B4-BE49-F238E27FC236}">
                <a16:creationId xmlns:a16="http://schemas.microsoft.com/office/drawing/2014/main" id="{CDFC2C7B-D347-481B-AD76-71D110281DFC}"/>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E92DABB1-44F0-4374-96C8-F946BC4B608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DAMAGE RESPONSE</a:t>
            </a:r>
          </a:p>
        </p:txBody>
      </p:sp>
      <p:sp>
        <p:nvSpPr>
          <p:cNvPr id="10" name="TextBox 9">
            <a:extLst xmlns:a="http://schemas.openxmlformats.org/drawingml/2006/main">
              <a:ext uri="{FF2B5EF4-FFF2-40B4-BE49-F238E27FC236}">
                <a16:creationId xmlns:a16="http://schemas.microsoft.com/office/drawing/2014/main" id="{9640C069-87DE-4B35-AE5E-77E1C893AD9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BNIP3 and BNIP3L mark stress</a:t>
            </a:r>
          </a:p>
        </p:txBody>
      </p:sp>
      <p:sp>
        <p:nvSpPr>
          <p:cNvPr id="11" name="TextBox 10">
            <a:extLst xmlns:a="http://schemas.openxmlformats.org/drawingml/2006/main">
              <a:ext uri="{FF2B5EF4-FFF2-40B4-BE49-F238E27FC236}">
                <a16:creationId xmlns:a16="http://schemas.microsoft.com/office/drawing/2014/main" id="{271D10B8-AD24-4DAF-990A-FAD4840513A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Hypoxia-responsive genes can participate in removing damaged mitochondria.</a:t>
            </a:r>
          </a:p>
        </p:txBody>
      </p:sp>
      <p:sp>
        <p:nvSpPr>
          <p:cNvPr id="12" name="Rounded Rectangle 11">
            <a:extLst xmlns:a="http://schemas.openxmlformats.org/drawingml/2006/main">
              <a:ext uri="{FF2B5EF4-FFF2-40B4-BE49-F238E27FC236}">
                <a16:creationId xmlns:a16="http://schemas.microsoft.com/office/drawing/2014/main" id="{845E213E-D488-4151-BC36-F972CF4AA0D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939C0DF5-3B57-4BA0-AB28-51A2B176A785}"/>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AMBIGUOUS CONSEQUENCE</a:t>
            </a:r>
          </a:p>
        </p:txBody>
      </p:sp>
      <p:sp>
        <p:nvSpPr>
          <p:cNvPr id="14" name="TextBox 13">
            <a:extLst xmlns:a="http://schemas.openxmlformats.org/drawingml/2006/main">
              <a:ext uri="{FF2B5EF4-FFF2-40B4-BE49-F238E27FC236}">
                <a16:creationId xmlns:a16="http://schemas.microsoft.com/office/drawing/2014/main" id="{59F13C28-E00C-4C60-B952-145C57CF8A8F}"/>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Adaptive or harmful</a:t>
            </a:r>
          </a:p>
        </p:txBody>
      </p:sp>
      <p:sp>
        <p:nvSpPr>
          <p:cNvPr id="15" name="TextBox 14">
            <a:extLst xmlns:a="http://schemas.openxmlformats.org/drawingml/2006/main">
              <a:ext uri="{FF2B5EF4-FFF2-40B4-BE49-F238E27FC236}">
                <a16:creationId xmlns:a16="http://schemas.microsoft.com/office/drawing/2014/main" id="{CD556C10-4E1A-425E-AAB5-FAB1C75172D3}"/>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Increased glycolysis and mitophagy can protect cells or mark severe stress.</a:t>
            </a:r>
          </a:p>
        </p:txBody>
      </p:sp>
      <p:sp>
        <p:nvSpPr>
          <p:cNvPr id="16" name="Rounded Rectangle 15">
            <a:extLst xmlns:a="http://schemas.openxmlformats.org/drawingml/2006/main">
              <a:ext uri="{FF2B5EF4-FFF2-40B4-BE49-F238E27FC236}">
                <a16:creationId xmlns:a16="http://schemas.microsoft.com/office/drawing/2014/main" id="{63BAF420-B9FE-4A44-A13F-0D02A8A9A64A}"/>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3CAB94A-B4F6-4406-81BE-FD2E512C2323}"/>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A01A1458-C04C-42F4-BA43-C198050F5E54}"/>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A perturbation and rescue design can test whether PGK1 acts upstream of the BNIP3 pathway.</a:t>
            </a:r>
          </a:p>
        </p:txBody>
      </p:sp>
      <p:sp>
        <p:nvSpPr>
          <p:cNvPr id="19" name="TextBox 18">
            <a:extLst xmlns:a="http://schemas.openxmlformats.org/drawingml/2006/main">
              <a:ext uri="{FF2B5EF4-FFF2-40B4-BE49-F238E27FC236}">
                <a16:creationId xmlns:a16="http://schemas.microsoft.com/office/drawing/2014/main" id="{254244C7-7E58-4F56-BDC4-BE79172A313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534842305"/>
      </p:ext>
    </p:extLst>
  </p:cSld>
</p:sld>
</file>

<file path=ppt/slides/slide12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A7D98B6-F7DD-420E-8D2B-D86072B495C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12 does not prove, and the next evidence needed</a:t>
            </a:r>
          </a:p>
        </p:txBody>
      </p:sp>
      <p:sp>
        <p:nvSpPr>
          <p:cNvPr id="3" name="TextBox 2">
            <a:extLst xmlns:a="http://schemas.openxmlformats.org/drawingml/2006/main">
              <a:ext uri="{FF2B5EF4-FFF2-40B4-BE49-F238E27FC236}">
                <a16:creationId xmlns:a16="http://schemas.microsoft.com/office/drawing/2014/main" id="{D2C2129B-4AAA-4465-B5B6-7833BA65001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75033A15-DE31-4C2D-B307-CDACC0D60239}"/>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69184426-E0B1-4868-B75D-BCA3AEEBE81C}"/>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1C7B5CD9-4FFC-46E6-857C-FE139DDA5DE3}"/>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06FBA470-7B10-408F-BC77-A85949E4E30F}"/>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1D4AECD7-8786-44C4-904D-21DDB02E7D47}"/>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PGK1 activates BNIP3 or BNIP3L</a:t>
            </a:r>
          </a:p>
        </p:txBody>
      </p:sp>
      <p:sp>
        <p:nvSpPr>
          <p:cNvPr id="9" name="Oval 8">
            <a:extLst xmlns:a="http://schemas.openxmlformats.org/drawingml/2006/main">
              <a:ext uri="{FF2B5EF4-FFF2-40B4-BE49-F238E27FC236}">
                <a16:creationId xmlns:a16="http://schemas.microsoft.com/office/drawing/2014/main" id="{9587ADE9-C8E6-449B-BE3A-266CF9902B3F}"/>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08DFACA5-4BCF-4F27-9933-0EC5C9821E90}"/>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Whether glycolysis is adaptive or harmful</a:t>
            </a:r>
          </a:p>
        </p:txBody>
      </p:sp>
      <p:sp>
        <p:nvSpPr>
          <p:cNvPr id="11" name="Oval 10">
            <a:extLst xmlns:a="http://schemas.openxmlformats.org/drawingml/2006/main">
              <a:ext uri="{FF2B5EF4-FFF2-40B4-BE49-F238E27FC236}">
                <a16:creationId xmlns:a16="http://schemas.microsoft.com/office/drawing/2014/main" id="{C2FB42A8-2461-4B39-9D49-4D410E1CAF2E}"/>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AA99F17C-E3D7-4431-A8D5-D6DD493ED737}"/>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SEA-AD or donor-independent validation</a:t>
            </a:r>
          </a:p>
        </p:txBody>
      </p:sp>
      <p:sp>
        <p:nvSpPr>
          <p:cNvPr id="13" name="Rounded Rectangle 12">
            <a:extLst xmlns:a="http://schemas.openxmlformats.org/drawingml/2006/main">
              <a:ext uri="{FF2B5EF4-FFF2-40B4-BE49-F238E27FC236}">
                <a16:creationId xmlns:a16="http://schemas.microsoft.com/office/drawing/2014/main" id="{4C681E42-33E3-47D7-A6DA-1CFAAC0D7190}"/>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9502E2F0-999B-42B4-AE98-C0274FA7E735}"/>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189483E-F19A-4BA0-8592-42F6B997070D}"/>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117CCA0B-BB96-4829-9D34-53A503A955DE}"/>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6FAEE3B-3A0A-44F6-B706-DDAA5936420F}"/>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PGK1 in APOE-isogenic astrocytes</a:t>
            </a:r>
          </a:p>
        </p:txBody>
      </p:sp>
      <p:sp>
        <p:nvSpPr>
          <p:cNvPr id="18" name="Oval 17">
            <a:extLst xmlns:a="http://schemas.openxmlformats.org/drawingml/2006/main">
              <a:ext uri="{FF2B5EF4-FFF2-40B4-BE49-F238E27FC236}">
                <a16:creationId xmlns:a16="http://schemas.microsoft.com/office/drawing/2014/main" id="{882F2F4D-9F0C-44B8-ACBD-462E5EBE0A38}"/>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2A9C435E-5B35-4E5B-866E-57195F96B21D}"/>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glycolytic rate and mitophagic flow</a:t>
            </a:r>
          </a:p>
        </p:txBody>
      </p:sp>
      <p:sp>
        <p:nvSpPr>
          <p:cNvPr id="20" name="Oval 19">
            <a:extLst xmlns:a="http://schemas.openxmlformats.org/drawingml/2006/main">
              <a:ext uri="{FF2B5EF4-FFF2-40B4-BE49-F238E27FC236}">
                <a16:creationId xmlns:a16="http://schemas.microsoft.com/office/drawing/2014/main" id="{99845921-7575-45A8-804E-04B85148BDE5}"/>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64793E09-4A45-4BC4-9C48-D7F5C67C0F29}"/>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Block or rescue BNIP3 and BNIP3L while measuring respiration</a:t>
            </a:r>
          </a:p>
        </p:txBody>
      </p:sp>
      <p:sp>
        <p:nvSpPr>
          <p:cNvPr id="22" name="TextBox 21">
            <a:extLst xmlns:a="http://schemas.openxmlformats.org/drawingml/2006/main">
              <a:ext uri="{FF2B5EF4-FFF2-40B4-BE49-F238E27FC236}">
                <a16:creationId xmlns:a16="http://schemas.microsoft.com/office/drawing/2014/main" id="{3037FC5F-496C-4972-AC95-6C654B0A1B47}"/>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6C976223-E1D5-42A7-9DEE-0000689FA25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333079039"/>
      </p:ext>
    </p:extLst>
  </p:cSld>
</p:sld>
</file>

<file path=ppt/slides/slide12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AA72472-335B-421D-8BFE-877C12AA8D0B}"/>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12</a:t>
            </a:r>
          </a:p>
        </p:txBody>
      </p:sp>
      <p:sp>
        <p:nvSpPr>
          <p:cNvPr id="3" name="TextBox 2">
            <a:extLst xmlns:a="http://schemas.openxmlformats.org/drawingml/2006/main">
              <a:ext uri="{FF2B5EF4-FFF2-40B4-BE49-F238E27FC236}">
                <a16:creationId xmlns:a16="http://schemas.microsoft.com/office/drawing/2014/main" id="{C1974586-B6F4-444C-BD73-69D0205D12D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63AF9718-FEB6-4EDB-89BD-8E7C9BB67BBC}"/>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5037E10-1714-4269-8944-52D55D8B0610}"/>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Mathys et al. 2024</a:t>
            </a:r>
          </a:p>
        </p:txBody>
      </p:sp>
      <p:sp>
        <p:nvSpPr>
          <p:cNvPr id="6" name="TextBox 5">
            <a:extLst xmlns:a="http://schemas.openxmlformats.org/drawingml/2006/main">
              <a:ext uri="{FF2B5EF4-FFF2-40B4-BE49-F238E27FC236}">
                <a16:creationId xmlns:a16="http://schemas.microsoft.com/office/drawing/2014/main" id="{A0399F64-B103-4065-8020-6637B2FAB67D}"/>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Glial glycolytic remodeling</a:t>
            </a:r>
          </a:p>
        </p:txBody>
      </p:sp>
      <p:sp>
        <p:nvSpPr>
          <p:cNvPr id="7" name="TextBox 6">
            <a:extLst xmlns:a="http://schemas.openxmlformats.org/drawingml/2006/main">
              <a:ext uri="{FF2B5EF4-FFF2-40B4-BE49-F238E27FC236}">
                <a16:creationId xmlns:a16="http://schemas.microsoft.com/office/drawing/2014/main" id="{AF89A854-4A7E-4A1D-90D0-6B168ECEE337}"/>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FFB07D12-DE55-4C63-8310-242ECC43E331}"/>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glial glycolysis modules containing PGK1 and BNIP3L in human AD.</a:t>
            </a:r>
          </a:p>
        </p:txBody>
      </p:sp>
      <p:sp>
        <p:nvSpPr>
          <p:cNvPr id="9" name="TextBox 8">
            <a:extLst xmlns:a="http://schemas.openxmlformats.org/drawingml/2006/main">
              <a:ext uri="{FF2B5EF4-FFF2-40B4-BE49-F238E27FC236}">
                <a16:creationId xmlns:a16="http://schemas.microsoft.com/office/drawing/2014/main" id="{832660BC-486E-4BBF-8DB9-DA681105A42F}"/>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EEAA9EDC-3BA0-4734-9DE4-DD92E8C7DADA}"/>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so donor overlap must be checked.</a:t>
            </a:r>
          </a:p>
        </p:txBody>
      </p:sp>
      <p:sp>
        <p:nvSpPr>
          <p:cNvPr id="11" name="Rounded Rectangle 10">
            <a:extLst xmlns:a="http://schemas.openxmlformats.org/drawingml/2006/main">
              <a:ext uri="{FF2B5EF4-FFF2-40B4-BE49-F238E27FC236}">
                <a16:creationId xmlns:a16="http://schemas.microsoft.com/office/drawing/2014/main" id="{F2C96634-4AEB-45EF-A344-E44980237E46}"/>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B80C256-A5CF-41EB-ACCF-4920B93F418E}"/>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Schmukler et al. 2020</a:t>
            </a:r>
          </a:p>
        </p:txBody>
      </p:sp>
      <p:sp>
        <p:nvSpPr>
          <p:cNvPr id="13" name="TextBox 12">
            <a:extLst xmlns:a="http://schemas.openxmlformats.org/drawingml/2006/main">
              <a:ext uri="{FF2B5EF4-FFF2-40B4-BE49-F238E27FC236}">
                <a16:creationId xmlns:a16="http://schemas.microsoft.com/office/drawing/2014/main" id="{E98BE54E-0057-433C-B95C-C382524CD479}"/>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astrocyte mitophagy</a:t>
            </a:r>
          </a:p>
        </p:txBody>
      </p:sp>
      <p:sp>
        <p:nvSpPr>
          <p:cNvPr id="14" name="TextBox 13">
            <a:extLst xmlns:a="http://schemas.openxmlformats.org/drawingml/2006/main">
              <a:ext uri="{FF2B5EF4-FFF2-40B4-BE49-F238E27FC236}">
                <a16:creationId xmlns:a16="http://schemas.microsoft.com/office/drawing/2014/main" id="{BFB74E40-3B89-4965-9442-92050071C5C4}"/>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60CE8E85-1C91-4C53-822E-470C06C7B016}"/>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Links APOE4 astrocytes with altered mitochondrial dynamics and mitophagy.</a:t>
            </a:r>
          </a:p>
        </p:txBody>
      </p:sp>
      <p:sp>
        <p:nvSpPr>
          <p:cNvPr id="16" name="TextBox 15">
            <a:extLst xmlns:a="http://schemas.openxmlformats.org/drawingml/2006/main">
              <a:ext uri="{FF2B5EF4-FFF2-40B4-BE49-F238E27FC236}">
                <a16:creationId xmlns:a16="http://schemas.microsoft.com/office/drawing/2014/main" id="{325AF80C-79E3-4D0F-9B2D-C2268452039A}"/>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C33808C9-A74C-45AC-945C-B9AB5BFF9ACA}"/>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demonstrate PGK1 control of BNIP3 genes.</a:t>
            </a:r>
          </a:p>
        </p:txBody>
      </p:sp>
      <p:sp>
        <p:nvSpPr>
          <p:cNvPr id="18" name="Rounded Rectangle 17">
            <a:extLst xmlns:a="http://schemas.openxmlformats.org/drawingml/2006/main">
              <a:ext uri="{FF2B5EF4-FFF2-40B4-BE49-F238E27FC236}">
                <a16:creationId xmlns:a16="http://schemas.microsoft.com/office/drawing/2014/main" id="{16EB823E-A46B-42BA-AA56-439FC30DC0B3}"/>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6624454F-B613-439F-9007-3441866F3B01}"/>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Lee et al. 2023</a:t>
            </a:r>
          </a:p>
        </p:txBody>
      </p:sp>
      <p:sp>
        <p:nvSpPr>
          <p:cNvPr id="20" name="TextBox 19">
            <a:extLst xmlns:a="http://schemas.openxmlformats.org/drawingml/2006/main">
              <a:ext uri="{FF2B5EF4-FFF2-40B4-BE49-F238E27FC236}">
                <a16:creationId xmlns:a16="http://schemas.microsoft.com/office/drawing/2014/main" id="{F344A294-12BB-4EE7-A2FF-32DB6F9156D9}"/>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Astrocyte mitochondrial clearance</a:t>
            </a:r>
          </a:p>
        </p:txBody>
      </p:sp>
      <p:sp>
        <p:nvSpPr>
          <p:cNvPr id="21" name="TextBox 20">
            <a:extLst xmlns:a="http://schemas.openxmlformats.org/drawingml/2006/main">
              <a:ext uri="{FF2B5EF4-FFF2-40B4-BE49-F238E27FC236}">
                <a16:creationId xmlns:a16="http://schemas.microsoft.com/office/drawing/2014/main" id="{6FFF97F4-62D3-4364-952F-BA90793F01D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5E196C6C-A208-4C35-860C-3560592FB001}"/>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lysosomal cholesterol with impaired mitochondrial clearance and respiration.</a:t>
            </a:r>
          </a:p>
        </p:txBody>
      </p:sp>
      <p:sp>
        <p:nvSpPr>
          <p:cNvPr id="23" name="TextBox 22">
            <a:extLst xmlns:a="http://schemas.openxmlformats.org/drawingml/2006/main">
              <a:ext uri="{FF2B5EF4-FFF2-40B4-BE49-F238E27FC236}">
                <a16:creationId xmlns:a16="http://schemas.microsoft.com/office/drawing/2014/main" id="{1E48C5CE-B24A-443C-876F-2E5245D6731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FB8778A3-C083-44C9-974E-D4DEEFC7C0AA}"/>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an experimental APOE4 model rather than these three groups.</a:t>
            </a:r>
          </a:p>
        </p:txBody>
      </p:sp>
      <p:sp>
        <p:nvSpPr>
          <p:cNvPr id="25" name="Rounded Rectangle 24">
            <a:extLst xmlns:a="http://schemas.openxmlformats.org/drawingml/2006/main">
              <a:ext uri="{FF2B5EF4-FFF2-40B4-BE49-F238E27FC236}">
                <a16:creationId xmlns:a16="http://schemas.microsoft.com/office/drawing/2014/main" id="{2E39FECE-7E07-4FBF-BF87-99029D63CED6}"/>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CD7C171E-1E72-48F5-9911-0CA46AD94889}"/>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0C440B5-5F50-4254-A430-6C0F234738B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12.</a:t>
            </a:r>
          </a:p>
        </p:txBody>
      </p:sp>
    </p:spTree>
    <p:extLst>
      <p:ext uri="{BB962C8B-B14F-4D97-AF65-F5344CB8AC3E}">
        <p14:creationId xmlns:p14="http://schemas.microsoft.com/office/powerpoint/2010/main" val="129583006"/>
      </p:ext>
    </p:extLst>
  </p:cSld>
</p:sld>
</file>

<file path=ppt/slides/slide128.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D5F76A8A-F354-48DB-AE5E-549D2446A38E}"/>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13</a:t>
            </a:r>
          </a:p>
        </p:txBody>
      </p:sp>
      <p:sp>
        <p:nvSpPr>
          <p:cNvPr id="3" name="Rectangle 2">
            <a:extLst xmlns:a="http://schemas.openxmlformats.org/drawingml/2006/main">
              <a:ext uri="{FF2B5EF4-FFF2-40B4-BE49-F238E27FC236}">
                <a16:creationId xmlns:a16="http://schemas.microsoft.com/office/drawing/2014/main" id="{3F6CDD18-C317-45FC-992F-203E3DFD6C61}"/>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37BF0920-6207-4318-8DD2-CE736A6128CF}"/>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An OPC FTL and ANKRD11 module links iron handling, GPX4, and autophagy</a:t>
            </a:r>
          </a:p>
        </p:txBody>
      </p:sp>
      <p:sp>
        <p:nvSpPr>
          <p:cNvPr id="5" name="TextBox 4">
            <a:extLst xmlns:a="http://schemas.openxmlformats.org/drawingml/2006/main">
              <a:ext uri="{FF2B5EF4-FFF2-40B4-BE49-F238E27FC236}">
                <a16:creationId xmlns:a16="http://schemas.microsoft.com/office/drawing/2014/main" id="{494CBC75-8C44-499A-AD20-C9BF8080560F}"/>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Focused ROSMAP OPC-module finding.</a:t>
            </a:r>
          </a:p>
        </p:txBody>
      </p:sp>
      <p:sp>
        <p:nvSpPr>
          <p:cNvPr id="6" name="Rounded Rectangle 5">
            <a:extLst xmlns:a="http://schemas.openxmlformats.org/drawingml/2006/main">
              <a:ext uri="{FF2B5EF4-FFF2-40B4-BE49-F238E27FC236}">
                <a16:creationId xmlns:a16="http://schemas.microsoft.com/office/drawing/2014/main" id="{43DDCB73-D997-47AF-828E-7AFD1C6D5EB1}"/>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B92767D-A62F-4697-B971-45A54282D2E2}"/>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965AFF38-DA6F-4225-8265-7BF89C948035}"/>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1489CB2-B02C-462C-925C-B4A4EC9C8C02}"/>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9E7D0E4-FBAB-4096-8BAC-9039126D8EE4}"/>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C08FC1B6-4642-4657-AA88-CFC0EA366B19}"/>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5BBCEBA-F878-42CC-B19F-6A62620CD398}"/>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EFC41CC4-E9F8-4D57-9340-821A6BA5CA5B}"/>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0EB0EA8E-025A-41A1-84F1-0AD484E7627B}"/>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0476EB50-25BD-4677-BF35-A1A6E00FE03C}"/>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E6AFA8F8-AC9D-4AD1-B57A-B3C6DEE3DA4D}"/>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D1981B82-1DB9-40EB-88F5-0AAC561935D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6D504762-0C6A-4DA2-96C0-FFA4B01040A3}"/>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70B9C167-AB72-4F29-AC97-E34A47848704}"/>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76ACDFA9-4BAD-4B4F-918B-C03D0C1AA8C5}"/>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3DB4A9E-B0AF-4D27-8DAC-E3046968A791}"/>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FTL and ANKRD11 share an OPC neighborhood involving iron storage, GPX4, OXPHOS, and autophagy.</a:t>
            </a:r>
          </a:p>
        </p:txBody>
      </p:sp>
    </p:spTree>
    <p:extLst>
      <p:ext uri="{BB962C8B-B14F-4D97-AF65-F5344CB8AC3E}">
        <p14:creationId xmlns:p14="http://schemas.microsoft.com/office/powerpoint/2010/main" val="1745542392"/>
      </p:ext>
    </p:extLst>
  </p:cSld>
</p:sld>
</file>

<file path=ppt/slides/slide12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84D26B4-7711-49C3-85EE-A076C12FED1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An OPC module links iron storage with mitochondrial protection and cleanup</a:t>
            </a:r>
          </a:p>
        </p:txBody>
      </p:sp>
      <p:sp>
        <p:nvSpPr>
          <p:cNvPr id="3" name="TextBox 2">
            <a:extLst xmlns:a="http://schemas.openxmlformats.org/drawingml/2006/main">
              <a:ext uri="{FF2B5EF4-FFF2-40B4-BE49-F238E27FC236}">
                <a16:creationId xmlns:a16="http://schemas.microsoft.com/office/drawing/2014/main" id="{5E1D4E7A-86B1-4168-B437-CA984DE9C8F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OPCs mature into myelin-producing cells. Ferroptosis is cell death caused by iron-dependent damage to membrane fats.</a:t>
            </a:r>
          </a:p>
        </p:txBody>
      </p:sp>
      <p:sp>
        <p:nvSpPr>
          <p:cNvPr id="4" name="Rounded Rectangle 3">
            <a:extLst xmlns:a="http://schemas.openxmlformats.org/drawingml/2006/main">
              <a:ext uri="{FF2B5EF4-FFF2-40B4-BE49-F238E27FC236}">
                <a16:creationId xmlns:a16="http://schemas.microsoft.com/office/drawing/2014/main" id="{A21A3532-B9CC-4F0A-8070-64D137C73AFA}"/>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81CB731B-850F-4D22-859E-0A272DE37783}"/>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OPCs</a:t>
            </a:r>
          </a:p>
        </p:txBody>
      </p:sp>
      <p:sp>
        <p:nvSpPr>
          <p:cNvPr id="6" name="Rounded Rectangle 5">
            <a:extLst xmlns:a="http://schemas.openxmlformats.org/drawingml/2006/main">
              <a:ext uri="{FF2B5EF4-FFF2-40B4-BE49-F238E27FC236}">
                <a16:creationId xmlns:a16="http://schemas.microsoft.com/office/drawing/2014/main" id="{F20BB2FD-99F0-407B-8023-231B2A90106D}"/>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EDA9FC6-A03A-4D97-9E80-3573E4F595D6}"/>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FTL and ANKRD11</a:t>
            </a:r>
          </a:p>
        </p:txBody>
      </p:sp>
      <p:sp>
        <p:nvSpPr>
          <p:cNvPr id="8" name="Rounded Rectangle 7">
            <a:extLst xmlns:a="http://schemas.openxmlformats.org/drawingml/2006/main">
              <a:ext uri="{FF2B5EF4-FFF2-40B4-BE49-F238E27FC236}">
                <a16:creationId xmlns:a16="http://schemas.microsoft.com/office/drawing/2014/main" id="{7B6FCEEA-78A3-49D5-B642-625D0BACDB0B}"/>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C2110A9-1EE6-4DEF-872F-1E676E6DBB31}"/>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Iron and GPX4</a:t>
            </a:r>
          </a:p>
        </p:txBody>
      </p:sp>
      <p:sp>
        <p:nvSpPr>
          <p:cNvPr id="10" name="Rounded Rectangle 9">
            <a:extLst xmlns:a="http://schemas.openxmlformats.org/drawingml/2006/main">
              <a:ext uri="{FF2B5EF4-FFF2-40B4-BE49-F238E27FC236}">
                <a16:creationId xmlns:a16="http://schemas.microsoft.com/office/drawing/2014/main" id="{FA402AC8-451F-49FE-8AE9-DB591F6CADE0}"/>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93BB57BE-BEF3-46E9-AA4C-B450E2461D23}"/>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Ferroptosis not proven</a:t>
            </a:r>
          </a:p>
        </p:txBody>
      </p:sp>
      <p:sp>
        <p:nvSpPr>
          <p:cNvPr id="12" name="Rounded Rectangle 11">
            <a:extLst xmlns:a="http://schemas.openxmlformats.org/drawingml/2006/main">
              <a:ext uri="{FF2B5EF4-FFF2-40B4-BE49-F238E27FC236}">
                <a16:creationId xmlns:a16="http://schemas.microsoft.com/office/drawing/2014/main" id="{84E7A8DD-6394-43FC-99D3-B0C4ADCBD4C8}"/>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44E9292C-3823-47A3-9C3F-C382BFD56681}"/>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IRON STORAGE</a:t>
            </a:r>
          </a:p>
        </p:txBody>
      </p:sp>
      <p:sp>
        <p:nvSpPr>
          <p:cNvPr id="14" name="TextBox 13">
            <a:extLst xmlns:a="http://schemas.openxmlformats.org/drawingml/2006/main">
              <a:ext uri="{FF2B5EF4-FFF2-40B4-BE49-F238E27FC236}">
                <a16:creationId xmlns:a16="http://schemas.microsoft.com/office/drawing/2014/main" id="{F9F0A80B-3BDA-4E44-BF59-0CBB054C3E3C}"/>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FTL and FTH1</a:t>
            </a:r>
          </a:p>
        </p:txBody>
      </p:sp>
      <p:sp>
        <p:nvSpPr>
          <p:cNvPr id="15" name="TextBox 14">
            <a:extLst xmlns:a="http://schemas.openxmlformats.org/drawingml/2006/main">
              <a:ext uri="{FF2B5EF4-FFF2-40B4-BE49-F238E27FC236}">
                <a16:creationId xmlns:a16="http://schemas.microsoft.com/office/drawing/2014/main" id="{F761B7ED-5FD2-4D44-9F67-717668C9C060}"/>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Ferritin stores iron in a safer form and limits damaging free iron.</a:t>
            </a:r>
          </a:p>
        </p:txBody>
      </p:sp>
      <p:sp>
        <p:nvSpPr>
          <p:cNvPr id="16" name="Rounded Rectangle 15">
            <a:extLst xmlns:a="http://schemas.openxmlformats.org/drawingml/2006/main">
              <a:ext uri="{FF2B5EF4-FFF2-40B4-BE49-F238E27FC236}">
                <a16:creationId xmlns:a16="http://schemas.microsoft.com/office/drawing/2014/main" id="{6E20F4ED-5088-4271-8BD3-46AE92E23244}"/>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B56F6015-84E4-475A-AD79-F20BFAA2EC75}"/>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LIPID PROTECTION</a:t>
            </a:r>
          </a:p>
        </p:txBody>
      </p:sp>
      <p:sp>
        <p:nvSpPr>
          <p:cNvPr id="18" name="TextBox 17">
            <a:extLst xmlns:a="http://schemas.openxmlformats.org/drawingml/2006/main">
              <a:ext uri="{FF2B5EF4-FFF2-40B4-BE49-F238E27FC236}">
                <a16:creationId xmlns:a16="http://schemas.microsoft.com/office/drawing/2014/main" id="{CF043283-65B2-4BE6-ABB1-C641E33B07F3}"/>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GPX4</a:t>
            </a:r>
          </a:p>
        </p:txBody>
      </p:sp>
      <p:sp>
        <p:nvSpPr>
          <p:cNvPr id="19" name="TextBox 18">
            <a:extLst xmlns:a="http://schemas.openxmlformats.org/drawingml/2006/main">
              <a:ext uri="{FF2B5EF4-FFF2-40B4-BE49-F238E27FC236}">
                <a16:creationId xmlns:a16="http://schemas.microsoft.com/office/drawing/2014/main" id="{DE8EF361-2531-429E-A404-B3404C55BDDA}"/>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GPX4 helps prevent oxidation of membrane fats.</a:t>
            </a:r>
          </a:p>
        </p:txBody>
      </p:sp>
      <p:sp>
        <p:nvSpPr>
          <p:cNvPr id="20" name="Rounded Rectangle 19">
            <a:extLst xmlns:a="http://schemas.openxmlformats.org/drawingml/2006/main">
              <a:ext uri="{FF2B5EF4-FFF2-40B4-BE49-F238E27FC236}">
                <a16:creationId xmlns:a16="http://schemas.microsoft.com/office/drawing/2014/main" id="{5DA5BE98-9CAA-4AEE-BD02-893380534CA4}"/>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BC534A6-CF9A-4E6A-9AF5-C46405FFD458}"/>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MITOCHONDRIAL CLEANUP</a:t>
            </a:r>
          </a:p>
        </p:txBody>
      </p:sp>
      <p:sp>
        <p:nvSpPr>
          <p:cNvPr id="22" name="TextBox 21">
            <a:extLst xmlns:a="http://schemas.openxmlformats.org/drawingml/2006/main">
              <a:ext uri="{FF2B5EF4-FFF2-40B4-BE49-F238E27FC236}">
                <a16:creationId xmlns:a16="http://schemas.microsoft.com/office/drawing/2014/main" id="{9A78A060-4F1C-4798-AE00-C0ABDF63D762}"/>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Autophagy and stress genes</a:t>
            </a:r>
          </a:p>
        </p:txBody>
      </p:sp>
      <p:sp>
        <p:nvSpPr>
          <p:cNvPr id="23" name="TextBox 22">
            <a:extLst xmlns:a="http://schemas.openxmlformats.org/drawingml/2006/main">
              <a:ext uri="{FF2B5EF4-FFF2-40B4-BE49-F238E27FC236}">
                <a16:creationId xmlns:a16="http://schemas.microsoft.com/office/drawing/2014/main" id="{6E800DCB-E8BC-40A0-9DB7-CA52245745BA}"/>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FIS1, PARK7, and PHB2 connect the neighborhood with mitochondrial quality control.</a:t>
            </a:r>
          </a:p>
        </p:txBody>
      </p:sp>
      <p:sp>
        <p:nvSpPr>
          <p:cNvPr id="24" name="Rounded Rectangle 23">
            <a:extLst xmlns:a="http://schemas.openxmlformats.org/drawingml/2006/main">
              <a:ext uri="{FF2B5EF4-FFF2-40B4-BE49-F238E27FC236}">
                <a16:creationId xmlns:a16="http://schemas.microsoft.com/office/drawing/2014/main" id="{9E20BEBD-65A2-4045-8CD1-C369C5FC3D2A}"/>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214B2D07-6FC5-47E4-B3EC-8C9153932F06}"/>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The evidence supports an iron and autophagy hypothesis. Ferroptosis requires direct lipid-damage and rescue measurements.</a:t>
            </a:r>
          </a:p>
        </p:txBody>
      </p:sp>
      <p:sp>
        <p:nvSpPr>
          <p:cNvPr id="26" name="TextBox 25">
            <a:extLst xmlns:a="http://schemas.openxmlformats.org/drawingml/2006/main">
              <a:ext uri="{FF2B5EF4-FFF2-40B4-BE49-F238E27FC236}">
                <a16:creationId xmlns:a16="http://schemas.microsoft.com/office/drawing/2014/main" id="{9E8AACAC-71DF-4210-92B9-E179D721B9D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2067618088"/>
      </p:ext>
    </p:extLst>
  </p:cSld>
</p:sld>
</file>

<file path=ppt/slides/slide13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0A3A515-B127-46B4-BC2D-130B02BFA19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FTL and ANKRD11 share nearly identical OPC neighborhoods</a:t>
            </a:r>
          </a:p>
        </p:txBody>
      </p:sp>
      <p:sp>
        <p:nvSpPr>
          <p:cNvPr id="3" name="TextBox 2">
            <a:extLst xmlns:a="http://schemas.openxmlformats.org/drawingml/2006/main">
              <a:ext uri="{FF2B5EF4-FFF2-40B4-BE49-F238E27FC236}">
                <a16:creationId xmlns:a16="http://schemas.microsoft.com/office/drawing/2014/main" id="{80C59182-90D5-4B9B-950D-3F3DABEC717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ROSMAP contains one OPC fine type, so the two group-specific calls do not provide broad subtype replication.</a:t>
            </a:r>
          </a:p>
        </p:txBody>
      </p:sp>
      <p:sp>
        <p:nvSpPr>
          <p:cNvPr id="4" name="Rounded Rectangle 3">
            <a:extLst xmlns:a="http://schemas.openxmlformats.org/drawingml/2006/main">
              <a:ext uri="{FF2B5EF4-FFF2-40B4-BE49-F238E27FC236}">
                <a16:creationId xmlns:a16="http://schemas.microsoft.com/office/drawing/2014/main" id="{807A3378-950F-4FB8-B21D-216C8BD17B29}"/>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AA1BF9D-CBDF-4F52-BE37-97C8F287C9F9}"/>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2</a:t>
            </a:r>
          </a:p>
        </p:txBody>
      </p:sp>
      <p:sp>
        <p:nvSpPr>
          <p:cNvPr id="6" name="TextBox 5">
            <a:extLst xmlns:a="http://schemas.openxmlformats.org/drawingml/2006/main">
              <a:ext uri="{FF2B5EF4-FFF2-40B4-BE49-F238E27FC236}">
                <a16:creationId xmlns:a16="http://schemas.microsoft.com/office/drawing/2014/main" id="{A976AFD5-979B-4EFF-9132-718313DFD364}"/>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OPC calls</a:t>
            </a:r>
          </a:p>
        </p:txBody>
      </p:sp>
      <p:sp>
        <p:nvSpPr>
          <p:cNvPr id="7" name="TextBox 6">
            <a:extLst xmlns:a="http://schemas.openxmlformats.org/drawingml/2006/main">
              <a:ext uri="{FF2B5EF4-FFF2-40B4-BE49-F238E27FC236}">
                <a16:creationId xmlns:a16="http://schemas.microsoft.com/office/drawing/2014/main" id="{A081650B-2C0A-4497-AEB2-FEAD8AEE1D47}"/>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F_e33 and M_e2</a:t>
            </a:r>
          </a:p>
        </p:txBody>
      </p:sp>
      <p:sp>
        <p:nvSpPr>
          <p:cNvPr id="8" name="Rounded Rectangle 7">
            <a:extLst xmlns:a="http://schemas.openxmlformats.org/drawingml/2006/main">
              <a:ext uri="{FF2B5EF4-FFF2-40B4-BE49-F238E27FC236}">
                <a16:creationId xmlns:a16="http://schemas.microsoft.com/office/drawing/2014/main" id="{7E5E9991-22C7-4F85-9299-7C2D4225BC6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C930B26-315E-40A1-B589-F86D7E5BDA2C}"/>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4</a:t>
            </a:r>
          </a:p>
        </p:txBody>
      </p:sp>
      <p:sp>
        <p:nvSpPr>
          <p:cNvPr id="10" name="TextBox 9">
            <a:extLst xmlns:a="http://schemas.openxmlformats.org/drawingml/2006/main">
              <a:ext uri="{FF2B5EF4-FFF2-40B4-BE49-F238E27FC236}">
                <a16:creationId xmlns:a16="http://schemas.microsoft.com/office/drawing/2014/main" id="{F494C914-2D0F-461A-807D-3662B9AE615B}"/>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shared core neighbors</a:t>
            </a:r>
          </a:p>
        </p:txBody>
      </p:sp>
      <p:sp>
        <p:nvSpPr>
          <p:cNvPr id="11" name="TextBox 10">
            <a:extLst xmlns:a="http://schemas.openxmlformats.org/drawingml/2006/main">
              <a:ext uri="{FF2B5EF4-FFF2-40B4-BE49-F238E27FC236}">
                <a16:creationId xmlns:a16="http://schemas.microsoft.com/office/drawing/2014/main" id="{8F22BCF5-0C17-4D5F-9294-81EE9037A4CC}"/>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FTH1, GPX4, COX5B, UQCR10</a:t>
            </a:r>
          </a:p>
        </p:txBody>
      </p:sp>
      <p:sp>
        <p:nvSpPr>
          <p:cNvPr id="12" name="Rounded Rectangle 11">
            <a:extLst xmlns:a="http://schemas.openxmlformats.org/drawingml/2006/main">
              <a:ext uri="{FF2B5EF4-FFF2-40B4-BE49-F238E27FC236}">
                <a16:creationId xmlns:a16="http://schemas.microsoft.com/office/drawing/2014/main" id="{8180B172-2F6E-4700-95F8-331684066057}"/>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CEA1114-C969-4C9F-A44B-B9C657EB76CB}"/>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2/2</a:t>
            </a:r>
          </a:p>
        </p:txBody>
      </p:sp>
      <p:sp>
        <p:nvSpPr>
          <p:cNvPr id="14" name="TextBox 13">
            <a:extLst xmlns:a="http://schemas.openxmlformats.org/drawingml/2006/main">
              <a:ext uri="{FF2B5EF4-FFF2-40B4-BE49-F238E27FC236}">
                <a16:creationId xmlns:a16="http://schemas.microsoft.com/office/drawing/2014/main" id="{FE776920-1A4D-4870-A8F1-D035D6520961}"/>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queries enriched</a:t>
            </a:r>
          </a:p>
        </p:txBody>
      </p:sp>
      <p:sp>
        <p:nvSpPr>
          <p:cNvPr id="15" name="TextBox 14">
            <a:extLst xmlns:a="http://schemas.openxmlformats.org/drawingml/2006/main">
              <a:ext uri="{FF2B5EF4-FFF2-40B4-BE49-F238E27FC236}">
                <a16:creationId xmlns:a16="http://schemas.microsoft.com/office/drawing/2014/main" id="{A0848A86-711F-4106-83A1-685D7F59221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mtDNA and nuclear OXPHOS</a:t>
            </a:r>
          </a:p>
        </p:txBody>
      </p:sp>
      <p:sp>
        <p:nvSpPr>
          <p:cNvPr id="16" name="Rounded Rectangle 15">
            <a:extLst xmlns:a="http://schemas.openxmlformats.org/drawingml/2006/main">
              <a:ext uri="{FF2B5EF4-FFF2-40B4-BE49-F238E27FC236}">
                <a16:creationId xmlns:a16="http://schemas.microsoft.com/office/drawing/2014/main" id="{698475F8-CE69-46B6-8314-D74BD6764F93}"/>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983567AB-A7FA-4822-AD40-3C4A945410D9}"/>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18" name="TextBox 17">
            <a:extLst xmlns:a="http://schemas.openxmlformats.org/drawingml/2006/main">
              <a:ext uri="{FF2B5EF4-FFF2-40B4-BE49-F238E27FC236}">
                <a16:creationId xmlns:a16="http://schemas.microsoft.com/office/drawing/2014/main" id="{7D7FCAE9-A983-468D-9001-004BEC178932}"/>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684D"/>
                </a:solidFill>
                <a:latin typeface="Arial"/>
                <a:ea typeface="Arial"/>
                <a:cs typeface="Arial"/>
              </a:rPr>
              <a:t>FTL up</a:t>
            </a:r>
          </a:p>
        </p:txBody>
      </p:sp>
      <p:sp>
        <p:nvSpPr>
          <p:cNvPr id="19" name="TextBox 18">
            <a:extLst xmlns:a="http://schemas.openxmlformats.org/drawingml/2006/main">
              <a:ext uri="{FF2B5EF4-FFF2-40B4-BE49-F238E27FC236}">
                <a16:creationId xmlns:a16="http://schemas.microsoft.com/office/drawing/2014/main" id="{A2261362-E5FD-4C3C-96E9-F15D49870ACF}"/>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FTL met the DEG threshold in the shared OPC fine type</a:t>
            </a:r>
          </a:p>
        </p:txBody>
      </p:sp>
      <p:sp>
        <p:nvSpPr>
          <p:cNvPr id="20" name="Rounded Rectangle 19">
            <a:extLst xmlns:a="http://schemas.openxmlformats.org/drawingml/2006/main">
              <a:ext uri="{FF2B5EF4-FFF2-40B4-BE49-F238E27FC236}">
                <a16:creationId xmlns:a16="http://schemas.microsoft.com/office/drawing/2014/main" id="{AC6EC929-80B9-4F30-A4D2-A22F90751C8D}"/>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5EE455E2-B24A-4140-BA61-9999BDCA9E0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Male ε2</a:t>
            </a:r>
          </a:p>
        </p:txBody>
      </p:sp>
      <p:sp>
        <p:nvSpPr>
          <p:cNvPr id="22" name="TextBox 21">
            <a:extLst xmlns:a="http://schemas.openxmlformats.org/drawingml/2006/main">
              <a:ext uri="{FF2B5EF4-FFF2-40B4-BE49-F238E27FC236}">
                <a16:creationId xmlns:a16="http://schemas.microsoft.com/office/drawing/2014/main" id="{4B1D064E-ADA8-4CFC-9518-8EA5D75A48DA}"/>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9E3A00"/>
                </a:solidFill>
                <a:latin typeface="Arial"/>
                <a:ea typeface="Arial"/>
                <a:cs typeface="Arial"/>
              </a:rPr>
              <a:t>FTL down</a:t>
            </a:r>
          </a:p>
        </p:txBody>
      </p:sp>
      <p:sp>
        <p:nvSpPr>
          <p:cNvPr id="23" name="TextBox 22">
            <a:extLst xmlns:a="http://schemas.openxmlformats.org/drawingml/2006/main">
              <a:ext uri="{FF2B5EF4-FFF2-40B4-BE49-F238E27FC236}">
                <a16:creationId xmlns:a16="http://schemas.microsoft.com/office/drawing/2014/main" id="{9099361F-A8A9-4F96-B281-D4BC483674E9}"/>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FTL changed in the opposite direction in the male ε2 call</a:t>
            </a:r>
          </a:p>
        </p:txBody>
      </p:sp>
      <p:sp>
        <p:nvSpPr>
          <p:cNvPr id="24" name="Rounded Rectangle 23">
            <a:extLst xmlns:a="http://schemas.openxmlformats.org/drawingml/2006/main">
              <a:ext uri="{FF2B5EF4-FFF2-40B4-BE49-F238E27FC236}">
                <a16:creationId xmlns:a16="http://schemas.microsoft.com/office/drawing/2014/main" id="{0EC46CC7-76C7-472F-B0D1-58FEE97A84DF}"/>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3DCE61E4-F5B3-40A8-A7C4-999E6B82621F}"/>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ANKRD11</a:t>
            </a:r>
          </a:p>
        </p:txBody>
      </p:sp>
      <p:sp>
        <p:nvSpPr>
          <p:cNvPr id="26" name="TextBox 25">
            <a:extLst xmlns:a="http://schemas.openxmlformats.org/drawingml/2006/main">
              <a:ext uri="{FF2B5EF4-FFF2-40B4-BE49-F238E27FC236}">
                <a16:creationId xmlns:a16="http://schemas.microsoft.com/office/drawing/2014/main" id="{3D6B138C-3F34-4E27-9C4A-5FD0366EB0CF}"/>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Effect threshold only in M_e2</a:t>
            </a:r>
          </a:p>
        </p:txBody>
      </p:sp>
      <p:sp>
        <p:nvSpPr>
          <p:cNvPr id="27" name="TextBox 26">
            <a:extLst xmlns:a="http://schemas.openxmlformats.org/drawingml/2006/main">
              <a:ext uri="{FF2B5EF4-FFF2-40B4-BE49-F238E27FC236}">
                <a16:creationId xmlns:a16="http://schemas.microsoft.com/office/drawing/2014/main" id="{ACA51FA8-E100-4D8C-8271-0B0575CE4DC5}"/>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current network cannot establish whether ANKRD11 or FTL is upstream</a:t>
            </a:r>
          </a:p>
        </p:txBody>
      </p:sp>
      <p:sp>
        <p:nvSpPr>
          <p:cNvPr id="28" name="TextBox 27">
            <a:extLst xmlns:a="http://schemas.openxmlformats.org/drawingml/2006/main">
              <a:ext uri="{FF2B5EF4-FFF2-40B4-BE49-F238E27FC236}">
                <a16:creationId xmlns:a16="http://schemas.microsoft.com/office/drawing/2014/main" id="{C6D9B92E-17C3-4A5D-8214-746AE2F06B4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562558821"/>
      </p:ext>
    </p:extLst>
  </p:cSld>
</p:sld>
</file>

<file path=ppt/slides/slide13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33D3C8D-631F-46DF-846E-1A1208BFC17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OPC driver enrichment highlights autophagy and iron handling</a:t>
            </a:r>
          </a:p>
        </p:txBody>
      </p:sp>
      <p:sp>
        <p:nvSpPr>
          <p:cNvPr id="3" name="TextBox 2">
            <a:extLst xmlns:a="http://schemas.openxmlformats.org/drawingml/2006/main">
              <a:ext uri="{FF2B5EF4-FFF2-40B4-BE49-F238E27FC236}">
                <a16:creationId xmlns:a16="http://schemas.microsoft.com/office/drawing/2014/main" id="{FB6AE97F-F788-4ABD-A408-FA9502CC398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pathway terms overlap and partly depend on generic ubiquitin and tubulin genes.</a:t>
            </a:r>
          </a:p>
        </p:txBody>
      </p:sp>
      <p:sp>
        <p:nvSpPr>
          <p:cNvPr id="4" name="Rounded Rectangle 3">
            <a:extLst xmlns:a="http://schemas.openxmlformats.org/drawingml/2006/main">
              <a:ext uri="{FF2B5EF4-FFF2-40B4-BE49-F238E27FC236}">
                <a16:creationId xmlns:a16="http://schemas.microsoft.com/office/drawing/2014/main" id="{AD4BFB6F-8E39-41B2-A029-D59C0714CC60}"/>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A44C3B8-2E5B-4119-8242-C3F578C37BE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SELECTIVE AUTOPHAGY</a:t>
            </a:r>
          </a:p>
        </p:txBody>
      </p:sp>
      <p:sp>
        <p:nvSpPr>
          <p:cNvPr id="6" name="TextBox 5">
            <a:extLst xmlns:a="http://schemas.openxmlformats.org/drawingml/2006/main">
              <a:ext uri="{FF2B5EF4-FFF2-40B4-BE49-F238E27FC236}">
                <a16:creationId xmlns:a16="http://schemas.microsoft.com/office/drawing/2014/main" id="{DBF89FCE-59C4-4DE9-AD0A-3B73C97C1876}"/>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BH 9.00 × 10⁻⁵</a:t>
            </a:r>
          </a:p>
        </p:txBody>
      </p:sp>
      <p:sp>
        <p:nvSpPr>
          <p:cNvPr id="7" name="TextBox 6">
            <a:extLst xmlns:a="http://schemas.openxmlformats.org/drawingml/2006/main">
              <a:ext uri="{FF2B5EF4-FFF2-40B4-BE49-F238E27FC236}">
                <a16:creationId xmlns:a16="http://schemas.microsoft.com/office/drawing/2014/main" id="{6A65FDE6-6991-4C06-BA04-0260F8C29B32}"/>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This is the strongest exploratory OPC-driver pathway result.</a:t>
            </a:r>
          </a:p>
        </p:txBody>
      </p:sp>
      <p:sp>
        <p:nvSpPr>
          <p:cNvPr id="8" name="Rounded Rectangle 7">
            <a:extLst xmlns:a="http://schemas.openxmlformats.org/drawingml/2006/main">
              <a:ext uri="{FF2B5EF4-FFF2-40B4-BE49-F238E27FC236}">
                <a16:creationId xmlns:a16="http://schemas.microsoft.com/office/drawing/2014/main" id="{CF6117FB-950A-44F0-BA24-B1A818AC51AA}"/>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7CE2E68C-781B-4070-A809-32BF6ACA970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MITOPHAGY</a:t>
            </a:r>
          </a:p>
        </p:txBody>
      </p:sp>
      <p:sp>
        <p:nvSpPr>
          <p:cNvPr id="10" name="TextBox 9">
            <a:extLst xmlns:a="http://schemas.openxmlformats.org/drawingml/2006/main">
              <a:ext uri="{FF2B5EF4-FFF2-40B4-BE49-F238E27FC236}">
                <a16:creationId xmlns:a16="http://schemas.microsoft.com/office/drawing/2014/main" id="{E45FBE5E-432B-442E-A759-7E7748346D9E}"/>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BH 0.00233</a:t>
            </a:r>
          </a:p>
        </p:txBody>
      </p:sp>
      <p:sp>
        <p:nvSpPr>
          <p:cNvPr id="11" name="TextBox 10">
            <a:extLst xmlns:a="http://schemas.openxmlformats.org/drawingml/2006/main">
              <a:ext uri="{FF2B5EF4-FFF2-40B4-BE49-F238E27FC236}">
                <a16:creationId xmlns:a16="http://schemas.microsoft.com/office/drawing/2014/main" id="{84F9E9EC-72CB-405B-809E-88723EE9A786}"/>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driver list contains genes associated with mitochondrial cleanup.</a:t>
            </a:r>
          </a:p>
        </p:txBody>
      </p:sp>
      <p:sp>
        <p:nvSpPr>
          <p:cNvPr id="12" name="Rounded Rectangle 11">
            <a:extLst xmlns:a="http://schemas.openxmlformats.org/drawingml/2006/main">
              <a:ext uri="{FF2B5EF4-FFF2-40B4-BE49-F238E27FC236}">
                <a16:creationId xmlns:a16="http://schemas.microsoft.com/office/drawing/2014/main" id="{C8E5D028-3638-416D-B044-0094ED1E5664}"/>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C868C8D7-3409-432D-9F05-01E42EC93372}"/>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IRON UPTAKE AND TRANSPORT</a:t>
            </a:r>
          </a:p>
        </p:txBody>
      </p:sp>
      <p:sp>
        <p:nvSpPr>
          <p:cNvPr id="14" name="TextBox 13">
            <a:extLst xmlns:a="http://schemas.openxmlformats.org/drawingml/2006/main">
              <a:ext uri="{FF2B5EF4-FFF2-40B4-BE49-F238E27FC236}">
                <a16:creationId xmlns:a16="http://schemas.microsoft.com/office/drawing/2014/main" id="{A7E76BEF-91FC-400C-9DFB-7C1DC9C4F06B}"/>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BH 0.00968</a:t>
            </a:r>
          </a:p>
        </p:txBody>
      </p:sp>
      <p:sp>
        <p:nvSpPr>
          <p:cNvPr id="15" name="TextBox 14">
            <a:extLst xmlns:a="http://schemas.openxmlformats.org/drawingml/2006/main">
              <a:ext uri="{FF2B5EF4-FFF2-40B4-BE49-F238E27FC236}">
                <a16:creationId xmlns:a16="http://schemas.microsoft.com/office/drawing/2014/main" id="{7557BA89-E344-4BD1-B941-1607D2F8E42B}"/>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FTL, UBB, and UBC contribute to this pathway term.</a:t>
            </a:r>
          </a:p>
        </p:txBody>
      </p:sp>
      <p:sp>
        <p:nvSpPr>
          <p:cNvPr id="16" name="Rounded Rectangle 15">
            <a:extLst xmlns:a="http://schemas.openxmlformats.org/drawingml/2006/main">
              <a:ext uri="{FF2B5EF4-FFF2-40B4-BE49-F238E27FC236}">
                <a16:creationId xmlns:a16="http://schemas.microsoft.com/office/drawing/2014/main" id="{8958CAEE-C55A-448F-97CE-3A27EC1327A8}"/>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F43B4E1E-0506-4FDE-BEE3-B927A0A8609F}"/>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SEA-AD had no active OPC category, so the finding is not evaluable in that cohort.</a:t>
            </a:r>
          </a:p>
        </p:txBody>
      </p:sp>
      <p:sp>
        <p:nvSpPr>
          <p:cNvPr id="18" name="TextBox 17">
            <a:extLst xmlns:a="http://schemas.openxmlformats.org/drawingml/2006/main">
              <a:ext uri="{FF2B5EF4-FFF2-40B4-BE49-F238E27FC236}">
                <a16:creationId xmlns:a16="http://schemas.microsoft.com/office/drawing/2014/main" id="{92484E08-4418-42CE-BC96-7358B2A4B73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1428804894"/>
      </p:ext>
    </p:extLst>
  </p:cSld>
</p:sld>
</file>

<file path=ppt/slides/slide13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506CFD8-63A4-45DF-A66D-F65C9CAC0589}"/>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OPCs may be vulnerable to iron-dependent lipid damage</a:t>
            </a:r>
          </a:p>
        </p:txBody>
      </p:sp>
      <p:sp>
        <p:nvSpPr>
          <p:cNvPr id="3" name="TextBox 2">
            <a:extLst xmlns:a="http://schemas.openxmlformats.org/drawingml/2006/main">
              <a:ext uri="{FF2B5EF4-FFF2-40B4-BE49-F238E27FC236}">
                <a16:creationId xmlns:a16="http://schemas.microsoft.com/office/drawing/2014/main" id="{BA881331-5CBB-41BB-8E29-F74B82E9BB8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Iron storage, GPX4 protection, and mitochondrial quality control converge on a testable vulnerability model.</a:t>
            </a:r>
          </a:p>
        </p:txBody>
      </p:sp>
      <p:sp>
        <p:nvSpPr>
          <p:cNvPr id="4" name="Rounded Rectangle 3">
            <a:extLst xmlns:a="http://schemas.openxmlformats.org/drawingml/2006/main">
              <a:ext uri="{FF2B5EF4-FFF2-40B4-BE49-F238E27FC236}">
                <a16:creationId xmlns:a16="http://schemas.microsoft.com/office/drawing/2014/main" id="{3FBEF97B-4949-4D0B-9762-39D1E229189C}"/>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D2B3AD8-E634-4B41-9516-C9AA21D6132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IRON PRESSURE</a:t>
            </a:r>
          </a:p>
        </p:txBody>
      </p:sp>
      <p:sp>
        <p:nvSpPr>
          <p:cNvPr id="6" name="TextBox 5">
            <a:extLst xmlns:a="http://schemas.openxmlformats.org/drawingml/2006/main">
              <a:ext uri="{FF2B5EF4-FFF2-40B4-BE49-F238E27FC236}">
                <a16:creationId xmlns:a16="http://schemas.microsoft.com/office/drawing/2014/main" id="{BB564195-FE95-412B-9253-888383533B70}"/>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Free iron can promote oxidation</a:t>
            </a:r>
          </a:p>
        </p:txBody>
      </p:sp>
      <p:sp>
        <p:nvSpPr>
          <p:cNvPr id="7" name="TextBox 6">
            <a:extLst xmlns:a="http://schemas.openxmlformats.org/drawingml/2006/main">
              <a:ext uri="{FF2B5EF4-FFF2-40B4-BE49-F238E27FC236}">
                <a16:creationId xmlns:a16="http://schemas.microsoft.com/office/drawing/2014/main" id="{51427753-039B-440F-A451-5F4CDB5A4E3D}"/>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Ferritin changes may indicate altered iron storage or a compensatory response.</a:t>
            </a:r>
          </a:p>
        </p:txBody>
      </p:sp>
      <p:sp>
        <p:nvSpPr>
          <p:cNvPr id="8" name="Rounded Rectangle 7">
            <a:extLst xmlns:a="http://schemas.openxmlformats.org/drawingml/2006/main">
              <a:ext uri="{FF2B5EF4-FFF2-40B4-BE49-F238E27FC236}">
                <a16:creationId xmlns:a16="http://schemas.microsoft.com/office/drawing/2014/main" id="{86705461-EAF2-42EB-B6FB-E62C9D107DD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D58AA05-8D16-4BCB-A79E-4BA97156B327}"/>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MEMBRANE DEFENSE</a:t>
            </a:r>
          </a:p>
        </p:txBody>
      </p:sp>
      <p:sp>
        <p:nvSpPr>
          <p:cNvPr id="10" name="TextBox 9">
            <a:extLst xmlns:a="http://schemas.openxmlformats.org/drawingml/2006/main">
              <a:ext uri="{FF2B5EF4-FFF2-40B4-BE49-F238E27FC236}">
                <a16:creationId xmlns:a16="http://schemas.microsoft.com/office/drawing/2014/main" id="{DDF09B92-2A69-4387-AD40-827E4B37FD88}"/>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GPX4 limits lipid damage</a:t>
            </a:r>
          </a:p>
        </p:txBody>
      </p:sp>
      <p:sp>
        <p:nvSpPr>
          <p:cNvPr id="11" name="TextBox 10">
            <a:extLst xmlns:a="http://schemas.openxmlformats.org/drawingml/2006/main">
              <a:ext uri="{FF2B5EF4-FFF2-40B4-BE49-F238E27FC236}">
                <a16:creationId xmlns:a16="http://schemas.microsoft.com/office/drawing/2014/main" id="{2852A216-72CF-47EA-BA49-A6DD74A16422}"/>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Reduced GPX4 activity can make OPCs vulnerable to iron-dependent injury.</a:t>
            </a:r>
          </a:p>
        </p:txBody>
      </p:sp>
      <p:sp>
        <p:nvSpPr>
          <p:cNvPr id="12" name="Rounded Rectangle 11">
            <a:extLst xmlns:a="http://schemas.openxmlformats.org/drawingml/2006/main">
              <a:ext uri="{FF2B5EF4-FFF2-40B4-BE49-F238E27FC236}">
                <a16:creationId xmlns:a16="http://schemas.microsoft.com/office/drawing/2014/main" id="{D29539D8-DFC5-4066-8AF7-A2B2BBBECF24}"/>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6F961A44-187B-41C6-A6CD-441F5EC747FF}"/>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MECHANISTIC THRESHOLD</a:t>
            </a:r>
          </a:p>
        </p:txBody>
      </p:sp>
      <p:sp>
        <p:nvSpPr>
          <p:cNvPr id="14" name="TextBox 13">
            <a:extLst xmlns:a="http://schemas.openxmlformats.org/drawingml/2006/main">
              <a:ext uri="{FF2B5EF4-FFF2-40B4-BE49-F238E27FC236}">
                <a16:creationId xmlns:a16="http://schemas.microsoft.com/office/drawing/2014/main" id="{6175BC97-30CA-4A35-BAA4-A416015A9769}"/>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Rescue defines ferroptosis</a:t>
            </a:r>
          </a:p>
        </p:txBody>
      </p:sp>
      <p:sp>
        <p:nvSpPr>
          <p:cNvPr id="15" name="TextBox 14">
            <a:extLst xmlns:a="http://schemas.openxmlformats.org/drawingml/2006/main">
              <a:ext uri="{FF2B5EF4-FFF2-40B4-BE49-F238E27FC236}">
                <a16:creationId xmlns:a16="http://schemas.microsoft.com/office/drawing/2014/main" id="{901ECCA5-4DE6-43C7-9A2C-20520B9AB3E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ferroptosis inhibitor must rescue lipid damage and survival before using that label.</a:t>
            </a:r>
          </a:p>
        </p:txBody>
      </p:sp>
      <p:sp>
        <p:nvSpPr>
          <p:cNvPr id="16" name="Rounded Rectangle 15">
            <a:extLst xmlns:a="http://schemas.openxmlformats.org/drawingml/2006/main">
              <a:ext uri="{FF2B5EF4-FFF2-40B4-BE49-F238E27FC236}">
                <a16:creationId xmlns:a16="http://schemas.microsoft.com/office/drawing/2014/main" id="{1E8D6100-EE81-4131-9B8B-9DB33F9906D2}"/>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3B45C713-43BC-4D38-A1B3-C03B628049ED}"/>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5E9BE2D8-C487-4C2B-92F7-2FB49A1DD7CC}"/>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Opposite FTL directions warn against one simple model across sex/APOE groups.</a:t>
            </a:r>
          </a:p>
        </p:txBody>
      </p:sp>
      <p:sp>
        <p:nvSpPr>
          <p:cNvPr id="19" name="TextBox 18">
            <a:extLst xmlns:a="http://schemas.openxmlformats.org/drawingml/2006/main">
              <a:ext uri="{FF2B5EF4-FFF2-40B4-BE49-F238E27FC236}">
                <a16:creationId xmlns:a16="http://schemas.microsoft.com/office/drawing/2014/main" id="{36BE1038-82DA-435F-BAC3-4C637CA7898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582230443"/>
      </p:ext>
    </p:extLst>
  </p:cSld>
</p:sld>
</file>

<file path=ppt/slides/slide13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5A14A75-15DA-4F90-AACD-655674A37C9C}"/>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13 does not prove, and the next evidence needed</a:t>
            </a:r>
          </a:p>
        </p:txBody>
      </p:sp>
      <p:sp>
        <p:nvSpPr>
          <p:cNvPr id="3" name="TextBox 2">
            <a:extLst xmlns:a="http://schemas.openxmlformats.org/drawingml/2006/main">
              <a:ext uri="{FF2B5EF4-FFF2-40B4-BE49-F238E27FC236}">
                <a16:creationId xmlns:a16="http://schemas.microsoft.com/office/drawing/2014/main" id="{67CEEC50-30EC-481D-B7F7-569F1865D5C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EA1B82A7-6A65-4A8B-8E5F-E160ACAF3705}"/>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53B7B1D0-2A06-4D54-98F0-80CC3AFD76B9}"/>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DE4F99D4-51AE-4E8C-AF89-292F3336CC6A}"/>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E1B749AD-224E-43CF-A46A-ADE772B1ED14}"/>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6C61F641-4673-402B-A985-445BFBD1670B}"/>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Ferroptosis in human AD OPCs</a:t>
            </a:r>
          </a:p>
        </p:txBody>
      </p:sp>
      <p:sp>
        <p:nvSpPr>
          <p:cNvPr id="9" name="Oval 8">
            <a:extLst xmlns:a="http://schemas.openxmlformats.org/drawingml/2006/main">
              <a:ext uri="{FF2B5EF4-FFF2-40B4-BE49-F238E27FC236}">
                <a16:creationId xmlns:a16="http://schemas.microsoft.com/office/drawing/2014/main" id="{3FB51A03-3DC6-4B56-9DAD-E8E86F729BDD}"/>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0659D446-8CAC-4E99-85E3-ED504F64285E}"/>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direct ANKRD11 to ferritin or GPX4 mechanism</a:t>
            </a:r>
          </a:p>
        </p:txBody>
      </p:sp>
      <p:sp>
        <p:nvSpPr>
          <p:cNvPr id="11" name="Oval 10">
            <a:extLst xmlns:a="http://schemas.openxmlformats.org/drawingml/2006/main">
              <a:ext uri="{FF2B5EF4-FFF2-40B4-BE49-F238E27FC236}">
                <a16:creationId xmlns:a16="http://schemas.microsoft.com/office/drawing/2014/main" id="{08D17A1F-BF3E-4D1B-BB31-980128F29A60}"/>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DED3833-D758-45E0-B8A8-AAC141A46E85}"/>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Independent recurrence of FTL and ANKRD11 modules</a:t>
            </a:r>
          </a:p>
        </p:txBody>
      </p:sp>
      <p:sp>
        <p:nvSpPr>
          <p:cNvPr id="13" name="Rounded Rectangle 12">
            <a:extLst xmlns:a="http://schemas.openxmlformats.org/drawingml/2006/main">
              <a:ext uri="{FF2B5EF4-FFF2-40B4-BE49-F238E27FC236}">
                <a16:creationId xmlns:a16="http://schemas.microsoft.com/office/drawing/2014/main" id="{C8E3979C-1E86-43E5-A334-9318ECE5C4DF}"/>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038F78E9-B0D6-4D28-BD79-37C1D51BFE56}"/>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FDAF4B6-5930-471D-8698-80B00C9EAF3E}"/>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04A9325C-5DDE-4C0C-8938-EAEEA5F288D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6636D12-FFEB-4F27-96A7-E1929E716BD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free iron, oxidized lipids, and lipid ROS</a:t>
            </a:r>
          </a:p>
        </p:txBody>
      </p:sp>
      <p:sp>
        <p:nvSpPr>
          <p:cNvPr id="18" name="Oval 17">
            <a:extLst xmlns:a="http://schemas.openxmlformats.org/drawingml/2006/main">
              <a:ext uri="{FF2B5EF4-FFF2-40B4-BE49-F238E27FC236}">
                <a16:creationId xmlns:a16="http://schemas.microsoft.com/office/drawing/2014/main" id="{7CAC48DA-28DD-4A5D-9D09-4FF6E58A73FA}"/>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8DB97735-AB2B-4B46-8208-684637AAEF82}"/>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GPX4 activity and OPC survival</a:t>
            </a:r>
          </a:p>
        </p:txBody>
      </p:sp>
      <p:sp>
        <p:nvSpPr>
          <p:cNvPr id="20" name="Oval 19">
            <a:extLst xmlns:a="http://schemas.openxmlformats.org/drawingml/2006/main">
              <a:ext uri="{FF2B5EF4-FFF2-40B4-BE49-F238E27FC236}">
                <a16:creationId xmlns:a16="http://schemas.microsoft.com/office/drawing/2014/main" id="{00BEA33A-3876-458C-83B0-028A99544423}"/>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85D6F84-570F-44B2-A054-BD76D54DA65F}"/>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Test ferroptosis rescue and perturb FTL and ANKRD11 separately</a:t>
            </a:r>
          </a:p>
        </p:txBody>
      </p:sp>
      <p:sp>
        <p:nvSpPr>
          <p:cNvPr id="22" name="TextBox 21">
            <a:extLst xmlns:a="http://schemas.openxmlformats.org/drawingml/2006/main">
              <a:ext uri="{FF2B5EF4-FFF2-40B4-BE49-F238E27FC236}">
                <a16:creationId xmlns:a16="http://schemas.microsoft.com/office/drawing/2014/main" id="{ED23D024-0BE1-4B91-B460-6753269663BA}"/>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EAAD3EBE-E154-46CE-9627-A97CAF598D4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903403908"/>
      </p:ext>
    </p:extLst>
  </p:cSld>
</p:sld>
</file>

<file path=ppt/slides/slide13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DB20F4B-8982-4FA8-860C-C5109ADC0F5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13</a:t>
            </a:r>
          </a:p>
        </p:txBody>
      </p:sp>
      <p:sp>
        <p:nvSpPr>
          <p:cNvPr id="3" name="TextBox 2">
            <a:extLst xmlns:a="http://schemas.openxmlformats.org/drawingml/2006/main">
              <a:ext uri="{FF2B5EF4-FFF2-40B4-BE49-F238E27FC236}">
                <a16:creationId xmlns:a16="http://schemas.microsoft.com/office/drawing/2014/main" id="{BF0E0F79-8798-4112-A21C-783A6BAF1FF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97356E32-6223-422E-92DF-B7A980878552}"/>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B860031-C0EF-4EFB-8CE0-45F1BCBB2EF8}"/>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OPC ferroptosis study</a:t>
            </a:r>
          </a:p>
        </p:txBody>
      </p:sp>
      <p:sp>
        <p:nvSpPr>
          <p:cNvPr id="6" name="TextBox 5">
            <a:extLst xmlns:a="http://schemas.openxmlformats.org/drawingml/2006/main">
              <a:ext uri="{FF2B5EF4-FFF2-40B4-BE49-F238E27FC236}">
                <a16:creationId xmlns:a16="http://schemas.microsoft.com/office/drawing/2014/main" id="{FE783941-7E0B-479B-A83E-07D00160FD63}"/>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GPX4-dependent OPC vulnerability</a:t>
            </a:r>
          </a:p>
        </p:txBody>
      </p:sp>
      <p:sp>
        <p:nvSpPr>
          <p:cNvPr id="7" name="TextBox 6">
            <a:extLst xmlns:a="http://schemas.openxmlformats.org/drawingml/2006/main">
              <a:ext uri="{FF2B5EF4-FFF2-40B4-BE49-F238E27FC236}">
                <a16:creationId xmlns:a16="http://schemas.microsoft.com/office/drawing/2014/main" id="{753F0604-3FB8-40D3-943E-B83654D4F8BB}"/>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857ED14-1F46-4E46-BBAE-47A89F0ECD36}"/>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impaired GPX4 protection can expose OPCs to iron-dependent lipid damage.</a:t>
            </a:r>
          </a:p>
        </p:txBody>
      </p:sp>
      <p:sp>
        <p:nvSpPr>
          <p:cNvPr id="9" name="TextBox 8">
            <a:extLst xmlns:a="http://schemas.openxmlformats.org/drawingml/2006/main">
              <a:ext uri="{FF2B5EF4-FFF2-40B4-BE49-F238E27FC236}">
                <a16:creationId xmlns:a16="http://schemas.microsoft.com/office/drawing/2014/main" id="{A5C0E162-DE28-4F0B-ABDF-C5A103FCD9F2}"/>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2C96941D-F1B6-41BD-AD36-D9B83E14D761}"/>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Experimental OPC vulnerability does not prove human AD ferroptosis.</a:t>
            </a:r>
          </a:p>
        </p:txBody>
      </p:sp>
      <p:sp>
        <p:nvSpPr>
          <p:cNvPr id="11" name="Rounded Rectangle 10">
            <a:extLst xmlns:a="http://schemas.openxmlformats.org/drawingml/2006/main">
              <a:ext uri="{FF2B5EF4-FFF2-40B4-BE49-F238E27FC236}">
                <a16:creationId xmlns:a16="http://schemas.microsoft.com/office/drawing/2014/main" id="{B1360B0C-0DDB-4895-AFDB-A6932C1A0986}"/>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9194F53-DA5A-4929-A9C1-685561AB8BEB}"/>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BMC Biology 2025</a:t>
            </a:r>
          </a:p>
        </p:txBody>
      </p:sp>
      <p:sp>
        <p:nvSpPr>
          <p:cNvPr id="13" name="TextBox 12">
            <a:extLst xmlns:a="http://schemas.openxmlformats.org/drawingml/2006/main">
              <a:ext uri="{FF2B5EF4-FFF2-40B4-BE49-F238E27FC236}">
                <a16:creationId xmlns:a16="http://schemas.microsoft.com/office/drawing/2014/main" id="{32CF6EC9-0361-4C75-9564-6DFCAD75FA9B}"/>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Ferroptosis signatures in AD</a:t>
            </a:r>
          </a:p>
        </p:txBody>
      </p:sp>
      <p:sp>
        <p:nvSpPr>
          <p:cNvPr id="14" name="TextBox 13">
            <a:extLst xmlns:a="http://schemas.openxmlformats.org/drawingml/2006/main">
              <a:ext uri="{FF2B5EF4-FFF2-40B4-BE49-F238E27FC236}">
                <a16:creationId xmlns:a16="http://schemas.microsoft.com/office/drawing/2014/main" id="{69C660CB-5216-4274-BA99-484E9794052A}"/>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CE60262E-B510-4DDD-9D57-A6C65E271C3B}"/>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oxytosis and ferroptosis-related transcriptomic signatures in AD datasets.</a:t>
            </a:r>
          </a:p>
        </p:txBody>
      </p:sp>
      <p:sp>
        <p:nvSpPr>
          <p:cNvPr id="16" name="TextBox 15">
            <a:extLst xmlns:a="http://schemas.openxmlformats.org/drawingml/2006/main">
              <a:ext uri="{FF2B5EF4-FFF2-40B4-BE49-F238E27FC236}">
                <a16:creationId xmlns:a16="http://schemas.microsoft.com/office/drawing/2014/main" id="{9FD1F9B7-04E3-41EC-AB41-FBEED10720CD}"/>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F792BB6C-631D-441C-B442-7A313AAFD8D1}"/>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A transcriptomic signature is not direct cell-death evidence.</a:t>
            </a:r>
          </a:p>
        </p:txBody>
      </p:sp>
      <p:sp>
        <p:nvSpPr>
          <p:cNvPr id="18" name="Rounded Rectangle 17">
            <a:extLst xmlns:a="http://schemas.openxmlformats.org/drawingml/2006/main">
              <a:ext uri="{FF2B5EF4-FFF2-40B4-BE49-F238E27FC236}">
                <a16:creationId xmlns:a16="http://schemas.microsoft.com/office/drawing/2014/main" id="{5702C021-366E-45EC-86A3-C070303EE211}"/>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39BD72D-3D48-40FA-AD94-BCE12137087A}"/>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Current ROSMAP analysis</a:t>
            </a:r>
          </a:p>
        </p:txBody>
      </p:sp>
      <p:sp>
        <p:nvSpPr>
          <p:cNvPr id="20" name="TextBox 19">
            <a:extLst xmlns:a="http://schemas.openxmlformats.org/drawingml/2006/main">
              <a:ext uri="{FF2B5EF4-FFF2-40B4-BE49-F238E27FC236}">
                <a16:creationId xmlns:a16="http://schemas.microsoft.com/office/drawing/2014/main" id="{E27AB1F1-AF08-4E1E-BBDB-F54DEE9E32CB}"/>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Human OPC network module</a:t>
            </a:r>
          </a:p>
        </p:txBody>
      </p:sp>
      <p:sp>
        <p:nvSpPr>
          <p:cNvPr id="21" name="TextBox 20">
            <a:extLst xmlns:a="http://schemas.openxmlformats.org/drawingml/2006/main">
              <a:ext uri="{FF2B5EF4-FFF2-40B4-BE49-F238E27FC236}">
                <a16:creationId xmlns:a16="http://schemas.microsoft.com/office/drawing/2014/main" id="{07999494-00E0-40EC-AD4F-A2FB7DC6EE3D}"/>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580469AE-BE22-456D-B839-7112A6670513}"/>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Adds a focused FTL, ANKRD11, GPX4, and autophagy neighborhood.</a:t>
            </a:r>
          </a:p>
        </p:txBody>
      </p:sp>
      <p:sp>
        <p:nvSpPr>
          <p:cNvPr id="23" name="TextBox 22">
            <a:extLst xmlns:a="http://schemas.openxmlformats.org/drawingml/2006/main">
              <a:ext uri="{FF2B5EF4-FFF2-40B4-BE49-F238E27FC236}">
                <a16:creationId xmlns:a16="http://schemas.microsoft.com/office/drawing/2014/main" id="{C87DD507-DC24-419A-AD6C-DB24564E6A1B}"/>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9166348B-6EA7-4736-8A8C-DA247F38FF25}"/>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Only one OPC fine type contributes to the result.</a:t>
            </a:r>
          </a:p>
        </p:txBody>
      </p:sp>
      <p:sp>
        <p:nvSpPr>
          <p:cNvPr id="25" name="Rounded Rectangle 24">
            <a:extLst xmlns:a="http://schemas.openxmlformats.org/drawingml/2006/main">
              <a:ext uri="{FF2B5EF4-FFF2-40B4-BE49-F238E27FC236}">
                <a16:creationId xmlns:a16="http://schemas.microsoft.com/office/drawing/2014/main" id="{D99DE60E-4C10-49A8-AA49-9A3C923404E9}"/>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5BCD1A6B-D0E6-4AA8-9FC0-DFA60254BEE7}"/>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1843B635-20F7-491C-B8D7-7CFC75D5A6A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13.</a:t>
            </a:r>
          </a:p>
        </p:txBody>
      </p:sp>
    </p:spTree>
    <p:extLst>
      <p:ext uri="{BB962C8B-B14F-4D97-AF65-F5344CB8AC3E}">
        <p14:creationId xmlns:p14="http://schemas.microsoft.com/office/powerpoint/2010/main" val="37462826"/>
      </p:ext>
    </p:extLst>
  </p:cSld>
</p:sld>
</file>

<file path=ppt/slides/slide135.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6010793-3F76-4FAE-A528-E47F6DB6BA19}"/>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14</a:t>
            </a:r>
          </a:p>
        </p:txBody>
      </p:sp>
      <p:sp>
        <p:nvSpPr>
          <p:cNvPr id="3" name="Rectangle 2">
            <a:extLst xmlns:a="http://schemas.openxmlformats.org/drawingml/2006/main">
              <a:ext uri="{FF2B5EF4-FFF2-40B4-BE49-F238E27FC236}">
                <a16:creationId xmlns:a16="http://schemas.microsoft.com/office/drawing/2014/main" id="{3F7B492D-5F19-4E63-83A8-197F4599BBBA}"/>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E7235171-10F1-4FCD-B81B-603DA32E66F7}"/>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PLCG2 is genetically important but its KDA neighborhood is fragile</a:t>
            </a:r>
          </a:p>
        </p:txBody>
      </p:sp>
      <p:sp>
        <p:nvSpPr>
          <p:cNvPr id="5" name="TextBox 4">
            <a:extLst xmlns:a="http://schemas.openxmlformats.org/drawingml/2006/main">
              <a:ext uri="{FF2B5EF4-FFF2-40B4-BE49-F238E27FC236}">
                <a16:creationId xmlns:a16="http://schemas.microsoft.com/office/drawing/2014/main" id="{816B547B-D083-4134-99DC-A6695DA013FD}"/>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Genetically supported, low-confidence network finding.</a:t>
            </a:r>
          </a:p>
        </p:txBody>
      </p:sp>
      <p:sp>
        <p:nvSpPr>
          <p:cNvPr id="6" name="Rounded Rectangle 5">
            <a:extLst xmlns:a="http://schemas.openxmlformats.org/drawingml/2006/main">
              <a:ext uri="{FF2B5EF4-FFF2-40B4-BE49-F238E27FC236}">
                <a16:creationId xmlns:a16="http://schemas.microsoft.com/office/drawing/2014/main" id="{AC106D8A-BE5E-4BC5-9D07-1CEC1C4D2553}"/>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69530756-BF9F-477F-8F72-8DCDDC4EF079}"/>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22E85BC3-EA19-4C30-B58D-C0E7E7599A4F}"/>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AA17FFE-22D8-4710-8A94-7D00E036C76E}"/>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7BD28ADA-ECEC-4C24-A1F5-805FAEC3C453}"/>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925330FA-890C-44A3-BA9C-64776956BF1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0259FA27-E202-4E92-8E89-0E02D1DD53FC}"/>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DC7384A-0610-48B3-9235-81A0F0819020}"/>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E5A0CED-A94C-4FC4-BE4F-A13890A2D0DF}"/>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8D3A9D37-FF64-4363-A566-B550E0A26624}"/>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A02C0FDD-1763-4292-8FDA-0DDAB119FB49}"/>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B773E74F-2C80-4552-9C74-57D94F856409}"/>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36518937-36D3-4B75-90C1-938D5B5FBB92}"/>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20E33752-EF78-4A42-82A7-3F9F387FD14D}"/>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2C0BF287-2411-45FA-9CE4-F456BD2471DE}"/>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E86F8EB-44AA-475F-A1DE-E4E69DD9DB9D}"/>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PLCG2 has strong Alzheimer’s genetics, but every exact mitochondrial KDA overlap is MT-CO1 alone.</a:t>
            </a:r>
          </a:p>
        </p:txBody>
      </p:sp>
    </p:spTree>
    <p:extLst>
      <p:ext uri="{BB962C8B-B14F-4D97-AF65-F5344CB8AC3E}">
        <p14:creationId xmlns:p14="http://schemas.microsoft.com/office/powerpoint/2010/main" val="1845175475"/>
      </p:ext>
    </p:extLst>
  </p:cSld>
</p:sld>
</file>

<file path=ppt/slides/slide13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093D325-92D5-4B5C-BA2D-143040A4BA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PLCG2 has strong genetic support but a one-gene mitochondrial neighborhood</a:t>
            </a:r>
          </a:p>
        </p:txBody>
      </p:sp>
      <p:sp>
        <p:nvSpPr>
          <p:cNvPr id="3" name="TextBox 2">
            <a:extLst xmlns:a="http://schemas.openxmlformats.org/drawingml/2006/main">
              <a:ext uri="{FF2B5EF4-FFF2-40B4-BE49-F238E27FC236}">
                <a16:creationId xmlns:a16="http://schemas.microsoft.com/office/drawing/2014/main" id="{44B461C5-DE2E-4CE4-B5C6-1DA14ACBFE3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PLCG2 encodes a signaling enzyme. KDA selects network position, so a driver does not need to be a DEG.</a:t>
            </a:r>
          </a:p>
        </p:txBody>
      </p:sp>
      <p:sp>
        <p:nvSpPr>
          <p:cNvPr id="4" name="Rounded Rectangle 3">
            <a:extLst xmlns:a="http://schemas.openxmlformats.org/drawingml/2006/main">
              <a:ext uri="{FF2B5EF4-FFF2-40B4-BE49-F238E27FC236}">
                <a16:creationId xmlns:a16="http://schemas.microsoft.com/office/drawing/2014/main" id="{166E4F90-9AE6-449F-A475-233D8B609702}"/>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F44AD01-AF1B-4C22-97B0-553B8EA27251}"/>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 inhibitory neurons</a:t>
            </a:r>
          </a:p>
        </p:txBody>
      </p:sp>
      <p:sp>
        <p:nvSpPr>
          <p:cNvPr id="6" name="Rounded Rectangle 5">
            <a:extLst xmlns:a="http://schemas.openxmlformats.org/drawingml/2006/main">
              <a:ext uri="{FF2B5EF4-FFF2-40B4-BE49-F238E27FC236}">
                <a16:creationId xmlns:a16="http://schemas.microsoft.com/office/drawing/2014/main" id="{F5C00C36-CC9F-4640-A455-354A655E2507}"/>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51DDA22-987F-441E-BF92-D1A170FB56FD}"/>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Six calls</a:t>
            </a:r>
          </a:p>
        </p:txBody>
      </p:sp>
      <p:sp>
        <p:nvSpPr>
          <p:cNvPr id="8" name="Rounded Rectangle 7">
            <a:extLst xmlns:a="http://schemas.openxmlformats.org/drawingml/2006/main">
              <a:ext uri="{FF2B5EF4-FFF2-40B4-BE49-F238E27FC236}">
                <a16:creationId xmlns:a16="http://schemas.microsoft.com/office/drawing/2014/main" id="{7E36A6DD-1894-44EA-839F-DF0A7B4AF68C}"/>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5503480-4166-4D38-9EB0-7EFBEAC65860}"/>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MT-CO1 only</a:t>
            </a:r>
          </a:p>
        </p:txBody>
      </p:sp>
      <p:sp>
        <p:nvSpPr>
          <p:cNvPr id="10" name="Rounded Rectangle 9">
            <a:extLst xmlns:a="http://schemas.openxmlformats.org/drawingml/2006/main">
              <a:ext uri="{FF2B5EF4-FFF2-40B4-BE49-F238E27FC236}">
                <a16:creationId xmlns:a16="http://schemas.microsoft.com/office/drawing/2014/main" id="{F2511350-D2E6-4EA1-BB4C-05C5C141EF6F}"/>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1A7FDBA1-A6D7-45ED-92AB-42AE2DA2B5BD}"/>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Strong gene-level genetics</a:t>
            </a:r>
          </a:p>
        </p:txBody>
      </p:sp>
      <p:sp>
        <p:nvSpPr>
          <p:cNvPr id="12" name="Rounded Rectangle 11">
            <a:extLst xmlns:a="http://schemas.openxmlformats.org/drawingml/2006/main">
              <a:ext uri="{FF2B5EF4-FFF2-40B4-BE49-F238E27FC236}">
                <a16:creationId xmlns:a16="http://schemas.microsoft.com/office/drawing/2014/main" id="{90BA8C6D-D78C-4A4B-926F-45B932056B8C}"/>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E582B67C-C4D0-476D-AAD9-0A6339471D35}"/>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WHY PLCG2 MATTERS</a:t>
            </a:r>
          </a:p>
        </p:txBody>
      </p:sp>
      <p:sp>
        <p:nvSpPr>
          <p:cNvPr id="14" name="TextBox 13">
            <a:extLst xmlns:a="http://schemas.openxmlformats.org/drawingml/2006/main">
              <a:ext uri="{FF2B5EF4-FFF2-40B4-BE49-F238E27FC236}">
                <a16:creationId xmlns:a16="http://schemas.microsoft.com/office/drawing/2014/main" id="{62DF46C9-2AF4-4AD2-B322-185265C6D62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Established AD genetics</a:t>
            </a:r>
          </a:p>
        </p:txBody>
      </p:sp>
      <p:sp>
        <p:nvSpPr>
          <p:cNvPr id="15" name="TextBox 14">
            <a:extLst xmlns:a="http://schemas.openxmlformats.org/drawingml/2006/main">
              <a:ext uri="{FF2B5EF4-FFF2-40B4-BE49-F238E27FC236}">
                <a16:creationId xmlns:a16="http://schemas.microsoft.com/office/drawing/2014/main" id="{540053AF-2D35-47B4-8435-1E270D5963D2}"/>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Human variants make PLCG2 an important Alzheimer’s candidate.</a:t>
            </a:r>
          </a:p>
        </p:txBody>
      </p:sp>
      <p:sp>
        <p:nvSpPr>
          <p:cNvPr id="16" name="Rounded Rectangle 15">
            <a:extLst xmlns:a="http://schemas.openxmlformats.org/drawingml/2006/main">
              <a:ext uri="{FF2B5EF4-FFF2-40B4-BE49-F238E27FC236}">
                <a16:creationId xmlns:a16="http://schemas.microsoft.com/office/drawing/2014/main" id="{7693E574-1BAD-42F9-82B1-1CC8E1799847}"/>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2AFD2A8-3A62-41D3-9692-BF2E2DC69F39}"/>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WHAT KDA FOUND</a:t>
            </a:r>
          </a:p>
        </p:txBody>
      </p:sp>
      <p:sp>
        <p:nvSpPr>
          <p:cNvPr id="18" name="TextBox 17">
            <a:extLst xmlns:a="http://schemas.openxmlformats.org/drawingml/2006/main">
              <a:ext uri="{FF2B5EF4-FFF2-40B4-BE49-F238E27FC236}">
                <a16:creationId xmlns:a16="http://schemas.microsoft.com/office/drawing/2014/main" id="{10C01778-A627-4E41-A9AB-869A2A6C16D9}"/>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Six female inhibitory calls</a:t>
            </a:r>
          </a:p>
        </p:txBody>
      </p:sp>
      <p:sp>
        <p:nvSpPr>
          <p:cNvPr id="19" name="TextBox 18">
            <a:extLst xmlns:a="http://schemas.openxmlformats.org/drawingml/2006/main">
              <a:ext uri="{FF2B5EF4-FFF2-40B4-BE49-F238E27FC236}">
                <a16:creationId xmlns:a16="http://schemas.microsoft.com/office/drawing/2014/main" id="{4B8FBA5F-3B26-4920-A946-B02839B9D338}"/>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candidate appears in ε2, ε3/ε3, and ε4 female groups.</a:t>
            </a:r>
          </a:p>
        </p:txBody>
      </p:sp>
      <p:sp>
        <p:nvSpPr>
          <p:cNvPr id="20" name="Rounded Rectangle 19">
            <a:extLst xmlns:a="http://schemas.openxmlformats.org/drawingml/2006/main">
              <a:ext uri="{FF2B5EF4-FFF2-40B4-BE49-F238E27FC236}">
                <a16:creationId xmlns:a16="http://schemas.microsoft.com/office/drawing/2014/main" id="{DFBEE552-C268-4A09-BAA9-6528EA10624C}"/>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2884ADC8-52AA-4F3E-8212-D7C0B8EC976D}"/>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WHY THE EDGE IS FRAGILE</a:t>
            </a:r>
          </a:p>
        </p:txBody>
      </p:sp>
      <p:sp>
        <p:nvSpPr>
          <p:cNvPr id="22" name="TextBox 21">
            <a:extLst xmlns:a="http://schemas.openxmlformats.org/drawingml/2006/main">
              <a:ext uri="{FF2B5EF4-FFF2-40B4-BE49-F238E27FC236}">
                <a16:creationId xmlns:a16="http://schemas.microsoft.com/office/drawing/2014/main" id="{EAEBF9DD-7C2A-4F53-9FB5-5C4E8518AF8F}"/>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One repeated neighbor</a:t>
            </a:r>
          </a:p>
        </p:txBody>
      </p:sp>
      <p:sp>
        <p:nvSpPr>
          <p:cNvPr id="23" name="TextBox 22">
            <a:extLst xmlns:a="http://schemas.openxmlformats.org/drawingml/2006/main">
              <a:ext uri="{FF2B5EF4-FFF2-40B4-BE49-F238E27FC236}">
                <a16:creationId xmlns:a16="http://schemas.microsoft.com/office/drawing/2014/main" id="{E6E52BAF-6385-43CF-8AB1-373935A78755}"/>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Every exact mitochondrial overlap is MT-CO1 rather than a broad neighborhood.</a:t>
            </a:r>
          </a:p>
        </p:txBody>
      </p:sp>
      <p:sp>
        <p:nvSpPr>
          <p:cNvPr id="24" name="Rounded Rectangle 23">
            <a:extLst xmlns:a="http://schemas.openxmlformats.org/drawingml/2006/main">
              <a:ext uri="{FF2B5EF4-FFF2-40B4-BE49-F238E27FC236}">
                <a16:creationId xmlns:a16="http://schemas.microsoft.com/office/drawing/2014/main" id="{B931485C-64FB-4192-8190-7CD79DA1C4E7}"/>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254F2E07-3DA0-4C85-B7F0-98E886449C05}"/>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Strong genetics supports the gene, but it does not validate this inhibitory-neuron network edge.</a:t>
            </a:r>
          </a:p>
        </p:txBody>
      </p:sp>
      <p:sp>
        <p:nvSpPr>
          <p:cNvPr id="26" name="TextBox 25">
            <a:extLst xmlns:a="http://schemas.openxmlformats.org/drawingml/2006/main">
              <a:ext uri="{FF2B5EF4-FFF2-40B4-BE49-F238E27FC236}">
                <a16:creationId xmlns:a16="http://schemas.microsoft.com/office/drawing/2014/main" id="{5AC6FD27-7E0F-4862-8655-F72FD3AAF11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40466383"/>
      </p:ext>
    </p:extLst>
  </p:cSld>
</p:sld>
</file>

<file path=ppt/slides/slide13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1AEAB08A-21F4-40DC-84DC-1C44C9E09D5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PLCG2 repeats across six calls, but the exact overlap never broadens</a:t>
            </a:r>
          </a:p>
        </p:txBody>
      </p:sp>
      <p:sp>
        <p:nvSpPr>
          <p:cNvPr id="3" name="TextBox 2">
            <a:extLst xmlns:a="http://schemas.openxmlformats.org/drawingml/2006/main">
              <a:ext uri="{FF2B5EF4-FFF2-40B4-BE49-F238E27FC236}">
                <a16:creationId xmlns:a16="http://schemas.microsoft.com/office/drawing/2014/main" id="{63A131CA-A16D-4B9B-8B6B-3EF8CC389B9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Repeated MT-CO1 is not equivalent to several distinct mitochondrial neighbors.</a:t>
            </a:r>
          </a:p>
        </p:txBody>
      </p:sp>
      <p:sp>
        <p:nvSpPr>
          <p:cNvPr id="4" name="Rounded Rectangle 3">
            <a:extLst xmlns:a="http://schemas.openxmlformats.org/drawingml/2006/main">
              <a:ext uri="{FF2B5EF4-FFF2-40B4-BE49-F238E27FC236}">
                <a16:creationId xmlns:a16="http://schemas.microsoft.com/office/drawing/2014/main" id="{B0D59BDB-5D21-458F-8EE1-A6FFA6D98A62}"/>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4D2DCB4-7B01-4D15-8937-3A28B0BBC964}"/>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6</a:t>
            </a:r>
          </a:p>
        </p:txBody>
      </p:sp>
      <p:sp>
        <p:nvSpPr>
          <p:cNvPr id="6" name="TextBox 5">
            <a:extLst xmlns:a="http://schemas.openxmlformats.org/drawingml/2006/main">
              <a:ext uri="{FF2B5EF4-FFF2-40B4-BE49-F238E27FC236}">
                <a16:creationId xmlns:a16="http://schemas.microsoft.com/office/drawing/2014/main" id="{2755BBAF-968F-4751-BA96-47E8F29801B7}"/>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inhibitory calls</a:t>
            </a:r>
          </a:p>
        </p:txBody>
      </p:sp>
      <p:sp>
        <p:nvSpPr>
          <p:cNvPr id="7" name="TextBox 6">
            <a:extLst xmlns:a="http://schemas.openxmlformats.org/drawingml/2006/main">
              <a:ext uri="{FF2B5EF4-FFF2-40B4-BE49-F238E27FC236}">
                <a16:creationId xmlns:a16="http://schemas.microsoft.com/office/drawing/2014/main" id="{6CB66C7D-7DEE-440A-98B9-AE2CF48947FC}"/>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all in female strata</a:t>
            </a:r>
          </a:p>
        </p:txBody>
      </p:sp>
      <p:sp>
        <p:nvSpPr>
          <p:cNvPr id="8" name="Rounded Rectangle 7">
            <a:extLst xmlns:a="http://schemas.openxmlformats.org/drawingml/2006/main">
              <a:ext uri="{FF2B5EF4-FFF2-40B4-BE49-F238E27FC236}">
                <a16:creationId xmlns:a16="http://schemas.microsoft.com/office/drawing/2014/main" id="{67FD2B28-9644-4040-AB8C-97FAA7487221}"/>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3CBDAFE1-E11A-4FED-B4D4-AB18A892C0D1}"/>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637DBB47-0857-4E64-A042-684D0606E8AC}"/>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unique exact overlap gene</a:t>
            </a:r>
          </a:p>
        </p:txBody>
      </p:sp>
      <p:sp>
        <p:nvSpPr>
          <p:cNvPr id="11" name="TextBox 10">
            <a:extLst xmlns:a="http://schemas.openxmlformats.org/drawingml/2006/main">
              <a:ext uri="{FF2B5EF4-FFF2-40B4-BE49-F238E27FC236}">
                <a16:creationId xmlns:a16="http://schemas.microsoft.com/office/drawing/2014/main" id="{AC32FC3E-DC02-43FA-81FE-0850DC422BEE}"/>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MT-CO1</a:t>
            </a:r>
          </a:p>
        </p:txBody>
      </p:sp>
      <p:sp>
        <p:nvSpPr>
          <p:cNvPr id="12" name="Rounded Rectangle 11">
            <a:extLst xmlns:a="http://schemas.openxmlformats.org/drawingml/2006/main">
              <a:ext uri="{FF2B5EF4-FFF2-40B4-BE49-F238E27FC236}">
                <a16:creationId xmlns:a16="http://schemas.microsoft.com/office/drawing/2014/main" id="{BF13CB20-1965-450E-885F-C37BDFC33F76}"/>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10C21AD-8A71-4266-A5E5-63D53E1BF9F3}"/>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0/6</a:t>
            </a:r>
          </a:p>
        </p:txBody>
      </p:sp>
      <p:sp>
        <p:nvSpPr>
          <p:cNvPr id="14" name="TextBox 13">
            <a:extLst xmlns:a="http://schemas.openxmlformats.org/drawingml/2006/main">
              <a:ext uri="{FF2B5EF4-FFF2-40B4-BE49-F238E27FC236}">
                <a16:creationId xmlns:a16="http://schemas.microsoft.com/office/drawing/2014/main" id="{B7689B35-1D42-4D78-AD77-B81A9E11E1A5}"/>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PLCG2 paper DEGs</a:t>
            </a:r>
          </a:p>
        </p:txBody>
      </p:sp>
      <p:sp>
        <p:nvSpPr>
          <p:cNvPr id="15" name="TextBox 14">
            <a:extLst xmlns:a="http://schemas.openxmlformats.org/drawingml/2006/main">
              <a:ext uri="{FF2B5EF4-FFF2-40B4-BE49-F238E27FC236}">
                <a16:creationId xmlns:a16="http://schemas.microsoft.com/office/drawing/2014/main" id="{B348852C-CD76-4997-88B7-EF5C78BE9B1C}"/>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network nomination only</a:t>
            </a:r>
          </a:p>
        </p:txBody>
      </p:sp>
      <p:sp>
        <p:nvSpPr>
          <p:cNvPr id="16" name="Rounded Rectangle 15">
            <a:extLst xmlns:a="http://schemas.openxmlformats.org/drawingml/2006/main">
              <a:ext uri="{FF2B5EF4-FFF2-40B4-BE49-F238E27FC236}">
                <a16:creationId xmlns:a16="http://schemas.microsoft.com/office/drawing/2014/main" id="{7BE7666F-65B3-416B-AA25-3E43369A9BF4}"/>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8D5D83A-A540-4951-B7AE-4AE211818B25}"/>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ε2</a:t>
            </a:r>
          </a:p>
        </p:txBody>
      </p:sp>
      <p:sp>
        <p:nvSpPr>
          <p:cNvPr id="18" name="TextBox 17">
            <a:extLst xmlns:a="http://schemas.openxmlformats.org/drawingml/2006/main">
              <a:ext uri="{FF2B5EF4-FFF2-40B4-BE49-F238E27FC236}">
                <a16:creationId xmlns:a16="http://schemas.microsoft.com/office/drawing/2014/main" id="{7F9B7E88-0219-4542-900F-66664AEAC494}"/>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 call</a:t>
            </a:r>
          </a:p>
        </p:txBody>
      </p:sp>
      <p:sp>
        <p:nvSpPr>
          <p:cNvPr id="19" name="TextBox 18">
            <a:extLst xmlns:a="http://schemas.openxmlformats.org/drawingml/2006/main">
              <a:ext uri="{FF2B5EF4-FFF2-40B4-BE49-F238E27FC236}">
                <a16:creationId xmlns:a16="http://schemas.microsoft.com/office/drawing/2014/main" id="{52F1F161-1620-433E-84E8-165DF8FE30BC}"/>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exact mitochondrial overlap is MT-CO1</a:t>
            </a:r>
          </a:p>
        </p:txBody>
      </p:sp>
      <p:sp>
        <p:nvSpPr>
          <p:cNvPr id="20" name="Rounded Rectangle 19">
            <a:extLst xmlns:a="http://schemas.openxmlformats.org/drawingml/2006/main">
              <a:ext uri="{FF2B5EF4-FFF2-40B4-BE49-F238E27FC236}">
                <a16:creationId xmlns:a16="http://schemas.microsoft.com/office/drawing/2014/main" id="{826A56B8-23C7-4F38-A631-CC68B533EFA3}"/>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33BB00AC-49FA-4154-A137-C26A47EEE246}"/>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ε3/ε3</a:t>
            </a:r>
          </a:p>
        </p:txBody>
      </p:sp>
      <p:sp>
        <p:nvSpPr>
          <p:cNvPr id="22" name="TextBox 21">
            <a:extLst xmlns:a="http://schemas.openxmlformats.org/drawingml/2006/main">
              <a:ext uri="{FF2B5EF4-FFF2-40B4-BE49-F238E27FC236}">
                <a16:creationId xmlns:a16="http://schemas.microsoft.com/office/drawing/2014/main" id="{D3F4B366-363C-4DF3-9E1A-46E18955BB5F}"/>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4 calls</a:t>
            </a:r>
          </a:p>
        </p:txBody>
      </p:sp>
      <p:sp>
        <p:nvSpPr>
          <p:cNvPr id="23" name="TextBox 22">
            <a:extLst xmlns:a="http://schemas.openxmlformats.org/drawingml/2006/main">
              <a:ext uri="{FF2B5EF4-FFF2-40B4-BE49-F238E27FC236}">
                <a16:creationId xmlns:a16="http://schemas.microsoft.com/office/drawing/2014/main" id="{664C3C66-112F-4275-8763-AB8A07C0427F}"/>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All four calls repeat MT-CO1 as the exact overlap</a:t>
            </a:r>
          </a:p>
        </p:txBody>
      </p:sp>
      <p:sp>
        <p:nvSpPr>
          <p:cNvPr id="24" name="Rounded Rectangle 23">
            <a:extLst xmlns:a="http://schemas.openxmlformats.org/drawingml/2006/main">
              <a:ext uri="{FF2B5EF4-FFF2-40B4-BE49-F238E27FC236}">
                <a16:creationId xmlns:a16="http://schemas.microsoft.com/office/drawing/2014/main" id="{0F3A0BBD-284A-4FF2-89B0-B5B197511974}"/>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BD1D858-583B-4461-9856-361B336432C3}"/>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Female ε4</a:t>
            </a:r>
          </a:p>
        </p:txBody>
      </p:sp>
      <p:sp>
        <p:nvSpPr>
          <p:cNvPr id="26" name="TextBox 25">
            <a:extLst xmlns:a="http://schemas.openxmlformats.org/drawingml/2006/main">
              <a:ext uri="{FF2B5EF4-FFF2-40B4-BE49-F238E27FC236}">
                <a16:creationId xmlns:a16="http://schemas.microsoft.com/office/drawing/2014/main" id="{7432B381-69F1-45BC-80C4-4DF6211ABD2B}"/>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1 call</a:t>
            </a:r>
          </a:p>
        </p:txBody>
      </p:sp>
      <p:sp>
        <p:nvSpPr>
          <p:cNvPr id="27" name="TextBox 26">
            <a:extLst xmlns:a="http://schemas.openxmlformats.org/drawingml/2006/main">
              <a:ext uri="{FF2B5EF4-FFF2-40B4-BE49-F238E27FC236}">
                <a16:creationId xmlns:a16="http://schemas.microsoft.com/office/drawing/2014/main" id="{C13C57DF-789B-41DF-B6B9-E715042468D9}"/>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Five MT-CO1 overlaps are AD-up overall and one is AD-down</a:t>
            </a:r>
          </a:p>
        </p:txBody>
      </p:sp>
      <p:sp>
        <p:nvSpPr>
          <p:cNvPr id="28" name="TextBox 27">
            <a:extLst xmlns:a="http://schemas.openxmlformats.org/drawingml/2006/main">
              <a:ext uri="{FF2B5EF4-FFF2-40B4-BE49-F238E27FC236}">
                <a16:creationId xmlns:a16="http://schemas.microsoft.com/office/drawing/2014/main" id="{A537EB35-9372-4F75-8A5B-866F5FAB971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2078655035"/>
      </p:ext>
    </p:extLst>
  </p:cSld>
</p:sld>
</file>

<file path=ppt/slides/slide13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EDE1364-D7CA-4CF1-B2AE-EF408DFA2AFD}"/>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The broader queries support mtDNA OXPHOS, but not a PLCG2 mechanism</a:t>
            </a:r>
          </a:p>
        </p:txBody>
      </p:sp>
      <p:sp>
        <p:nvSpPr>
          <p:cNvPr id="3" name="TextBox 2">
            <a:extLst xmlns:a="http://schemas.openxmlformats.org/drawingml/2006/main">
              <a:ext uri="{FF2B5EF4-FFF2-40B4-BE49-F238E27FC236}">
                <a16:creationId xmlns:a16="http://schemas.microsoft.com/office/drawing/2014/main" id="{9E63CBB6-266E-497C-ABE6-E4895430116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Input-query coherence and exact driver neighborhoods answer different questions.</a:t>
            </a:r>
          </a:p>
        </p:txBody>
      </p:sp>
      <p:sp>
        <p:nvSpPr>
          <p:cNvPr id="4" name="Rounded Rectangle 3">
            <a:extLst xmlns:a="http://schemas.openxmlformats.org/drawingml/2006/main">
              <a:ext uri="{FF2B5EF4-FFF2-40B4-BE49-F238E27FC236}">
                <a16:creationId xmlns:a16="http://schemas.microsoft.com/office/drawing/2014/main" id="{E6EBD8D5-C6F5-4450-8909-B37FF7534469}"/>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1347019-5245-4640-AF94-19E9A8BD164B}"/>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SUPPORTING QUERIES</a:t>
            </a:r>
          </a:p>
        </p:txBody>
      </p:sp>
      <p:sp>
        <p:nvSpPr>
          <p:cNvPr id="6" name="TextBox 5">
            <a:extLst xmlns:a="http://schemas.openxmlformats.org/drawingml/2006/main">
              <a:ext uri="{FF2B5EF4-FFF2-40B4-BE49-F238E27FC236}">
                <a16:creationId xmlns:a16="http://schemas.microsoft.com/office/drawing/2014/main" id="{A73733C9-0E33-4D29-AB20-07CA04C488F9}"/>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41 mtDNA occurrences</a:t>
            </a:r>
          </a:p>
        </p:txBody>
      </p:sp>
      <p:sp>
        <p:nvSpPr>
          <p:cNvPr id="7" name="TextBox 6">
            <a:extLst xmlns:a="http://schemas.openxmlformats.org/drawingml/2006/main">
              <a:ext uri="{FF2B5EF4-FFF2-40B4-BE49-F238E27FC236}">
                <a16:creationId xmlns:a16="http://schemas.microsoft.com/office/drawing/2014/main" id="{9C99F37D-6A64-4BB5-A356-E3A984932740}"/>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six full queries contain 36 AD-up and five AD-down mtDNA-OXPHOS occurrences.</a:t>
            </a:r>
          </a:p>
        </p:txBody>
      </p:sp>
      <p:sp>
        <p:nvSpPr>
          <p:cNvPr id="8" name="Rounded Rectangle 7">
            <a:extLst xmlns:a="http://schemas.openxmlformats.org/drawingml/2006/main">
              <a:ext uri="{FF2B5EF4-FFF2-40B4-BE49-F238E27FC236}">
                <a16:creationId xmlns:a16="http://schemas.microsoft.com/office/drawing/2014/main" id="{58CDD5B0-AB19-4D80-90C0-CD4344D7000E}"/>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2CD33928-E298-4036-90FE-D66CA9054DD1}"/>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PROGRAM ENRICHMENT</a:t>
            </a:r>
          </a:p>
        </p:txBody>
      </p:sp>
      <p:sp>
        <p:nvSpPr>
          <p:cNvPr id="10" name="TextBox 9">
            <a:extLst xmlns:a="http://schemas.openxmlformats.org/drawingml/2006/main">
              <a:ext uri="{FF2B5EF4-FFF2-40B4-BE49-F238E27FC236}">
                <a16:creationId xmlns:a16="http://schemas.microsoft.com/office/drawing/2014/main" id="{C487B9B2-2279-4D72-AFCC-2C7FA261D983}"/>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6 of 6 calls</a:t>
            </a:r>
          </a:p>
        </p:txBody>
      </p:sp>
      <p:sp>
        <p:nvSpPr>
          <p:cNvPr id="11" name="TextBox 10">
            <a:extLst xmlns:a="http://schemas.openxmlformats.org/drawingml/2006/main">
              <a:ext uri="{FF2B5EF4-FFF2-40B4-BE49-F238E27FC236}">
                <a16:creationId xmlns:a16="http://schemas.microsoft.com/office/drawing/2014/main" id="{FF9D7348-86D0-4A2F-8FBF-9FA163317FC0}"/>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All six input queries show significant mtDNA-OXPHOS enrichment.</a:t>
            </a:r>
          </a:p>
        </p:txBody>
      </p:sp>
      <p:sp>
        <p:nvSpPr>
          <p:cNvPr id="12" name="Rounded Rectangle 11">
            <a:extLst xmlns:a="http://schemas.openxmlformats.org/drawingml/2006/main">
              <a:ext uri="{FF2B5EF4-FFF2-40B4-BE49-F238E27FC236}">
                <a16:creationId xmlns:a16="http://schemas.microsoft.com/office/drawing/2014/main" id="{7D216FCD-28AC-4783-AA63-93B016EA6F97}"/>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809FDC78-DEB5-4DF3-973A-A4E3AE4ED526}"/>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19A186B2-77EF-4FDD-9F45-DA99A9E980CE}"/>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454CA942-628E-477D-9881-8D337B0D5101}"/>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female inhibitory category was active, so exact-context support is unavailable.</a:t>
            </a:r>
          </a:p>
        </p:txBody>
      </p:sp>
      <p:sp>
        <p:nvSpPr>
          <p:cNvPr id="16" name="Rounded Rectangle 15">
            <a:extLst xmlns:a="http://schemas.openxmlformats.org/drawingml/2006/main">
              <a:ext uri="{FF2B5EF4-FFF2-40B4-BE49-F238E27FC236}">
                <a16:creationId xmlns:a16="http://schemas.microsoft.com/office/drawing/2014/main" id="{24DAACD2-93F8-4D73-9D1C-092E548B1BC6}"/>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6E3406F3-4C51-4877-AD7A-ED76105BC5FD}"/>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Phase 19b supports PLCG2 at the gene level, while the MT-CO1 network edge remains technically narrow.</a:t>
            </a:r>
          </a:p>
        </p:txBody>
      </p:sp>
      <p:sp>
        <p:nvSpPr>
          <p:cNvPr id="18" name="TextBox 17">
            <a:extLst xmlns:a="http://schemas.openxmlformats.org/drawingml/2006/main">
              <a:ext uri="{FF2B5EF4-FFF2-40B4-BE49-F238E27FC236}">
                <a16:creationId xmlns:a16="http://schemas.microsoft.com/office/drawing/2014/main" id="{8A1493A9-E036-40FA-9A0E-9723EB0E5DF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415672655"/>
      </p:ext>
    </p:extLst>
  </p:cSld>
</p:sld>
</file>

<file path=ppt/slides/slide13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CFA5DF-9BE5-4F46-94F7-35E07D62E40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genetic credibility and network credibility must stay separate</a:t>
            </a:r>
          </a:p>
        </p:txBody>
      </p:sp>
      <p:sp>
        <p:nvSpPr>
          <p:cNvPr id="3" name="TextBox 2">
            <a:extLst xmlns:a="http://schemas.openxmlformats.org/drawingml/2006/main">
              <a:ext uri="{FF2B5EF4-FFF2-40B4-BE49-F238E27FC236}">
                <a16:creationId xmlns:a16="http://schemas.microsoft.com/office/drawing/2014/main" id="{8E4681D4-3C89-4D4C-B8FE-83320DC6AD79}"/>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well-established disease gene can still have an uncertain cell context or network neighborhood.</a:t>
            </a:r>
          </a:p>
        </p:txBody>
      </p:sp>
      <p:sp>
        <p:nvSpPr>
          <p:cNvPr id="4" name="Rounded Rectangle 3">
            <a:extLst xmlns:a="http://schemas.openxmlformats.org/drawingml/2006/main">
              <a:ext uri="{FF2B5EF4-FFF2-40B4-BE49-F238E27FC236}">
                <a16:creationId xmlns:a16="http://schemas.microsoft.com/office/drawing/2014/main" id="{CC389AAE-30B5-4CD6-85A0-6C200FA7AF4E}"/>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BC3D0DB9-8948-44F9-9AF8-6AB61DCC8A11}"/>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GENETIC EVIDENCE</a:t>
            </a:r>
          </a:p>
        </p:txBody>
      </p:sp>
      <p:sp>
        <p:nvSpPr>
          <p:cNvPr id="6" name="TextBox 5">
            <a:extLst xmlns:a="http://schemas.openxmlformats.org/drawingml/2006/main">
              <a:ext uri="{FF2B5EF4-FFF2-40B4-BE49-F238E27FC236}">
                <a16:creationId xmlns:a16="http://schemas.microsoft.com/office/drawing/2014/main" id="{A2C11D2D-BF74-4B47-AC1A-3FF8ADC0246D}"/>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PLCG2 affects AD risk</a:t>
            </a:r>
          </a:p>
        </p:txBody>
      </p:sp>
      <p:sp>
        <p:nvSpPr>
          <p:cNvPr id="7" name="TextBox 6">
            <a:extLst xmlns:a="http://schemas.openxmlformats.org/drawingml/2006/main">
              <a:ext uri="{FF2B5EF4-FFF2-40B4-BE49-F238E27FC236}">
                <a16:creationId xmlns:a16="http://schemas.microsoft.com/office/drawing/2014/main" id="{CCEB27C8-4B86-4AA3-AD17-CC8177BB0944}"/>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protective P522R variant slightly increases a PLCG2 function.</a:t>
            </a:r>
          </a:p>
        </p:txBody>
      </p:sp>
      <p:sp>
        <p:nvSpPr>
          <p:cNvPr id="8" name="Rounded Rectangle 7">
            <a:extLst xmlns:a="http://schemas.openxmlformats.org/drawingml/2006/main">
              <a:ext uri="{FF2B5EF4-FFF2-40B4-BE49-F238E27FC236}">
                <a16:creationId xmlns:a16="http://schemas.microsoft.com/office/drawing/2014/main" id="{3032B4B7-61D3-466B-9833-0956A0371120}"/>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EB79A6C-E23C-4871-AA83-E46FFF31B830}"/>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CELL-CONTEXT QUESTION</a:t>
            </a:r>
          </a:p>
        </p:txBody>
      </p:sp>
      <p:sp>
        <p:nvSpPr>
          <p:cNvPr id="10" name="TextBox 9">
            <a:extLst xmlns:a="http://schemas.openxmlformats.org/drawingml/2006/main">
              <a:ext uri="{FF2B5EF4-FFF2-40B4-BE49-F238E27FC236}">
                <a16:creationId xmlns:a16="http://schemas.microsoft.com/office/drawing/2014/main" id="{A4029145-61A7-4103-A718-9BB28910410B}"/>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Unexpected inhibitory-neuron signal</a:t>
            </a:r>
          </a:p>
        </p:txBody>
      </p:sp>
      <p:sp>
        <p:nvSpPr>
          <p:cNvPr id="11" name="TextBox 10">
            <a:extLst xmlns:a="http://schemas.openxmlformats.org/drawingml/2006/main">
              <a:ext uri="{FF2B5EF4-FFF2-40B4-BE49-F238E27FC236}">
                <a16:creationId xmlns:a16="http://schemas.microsoft.com/office/drawing/2014/main" id="{00E7B8D1-27EB-4039-96AA-AB103412252D}"/>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PLCG2 has historically received more attention in microglia and dentate granule cells.</a:t>
            </a:r>
          </a:p>
        </p:txBody>
      </p:sp>
      <p:sp>
        <p:nvSpPr>
          <p:cNvPr id="12" name="Rounded Rectangle 11">
            <a:extLst xmlns:a="http://schemas.openxmlformats.org/drawingml/2006/main">
              <a:ext uri="{FF2B5EF4-FFF2-40B4-BE49-F238E27FC236}">
                <a16:creationId xmlns:a16="http://schemas.microsoft.com/office/drawing/2014/main" id="{694FC633-9AB1-416E-AB0D-C64EF1E10A69}"/>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1B4695FC-7E5D-4628-A40B-8CDAE00EE405}"/>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NETWORK QUESTION</a:t>
            </a:r>
          </a:p>
        </p:txBody>
      </p:sp>
      <p:sp>
        <p:nvSpPr>
          <p:cNvPr id="14" name="TextBox 13">
            <a:extLst xmlns:a="http://schemas.openxmlformats.org/drawingml/2006/main">
              <a:ext uri="{FF2B5EF4-FFF2-40B4-BE49-F238E27FC236}">
                <a16:creationId xmlns:a16="http://schemas.microsoft.com/office/drawing/2014/main" id="{C84FA76D-D420-49BA-8331-0B207A23336E}"/>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MT-CO1 may be fragile</a:t>
            </a:r>
          </a:p>
        </p:txBody>
      </p:sp>
      <p:sp>
        <p:nvSpPr>
          <p:cNvPr id="15" name="TextBox 14">
            <a:extLst xmlns:a="http://schemas.openxmlformats.org/drawingml/2006/main">
              <a:ext uri="{FF2B5EF4-FFF2-40B4-BE49-F238E27FC236}">
                <a16:creationId xmlns:a16="http://schemas.microsoft.com/office/drawing/2014/main" id="{4077158F-19BE-4C8C-8EF7-D30F5379B364}"/>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Ambient RNA, mixed droplets, labels, or connectivity could contribute to the repeated edge.</a:t>
            </a:r>
          </a:p>
        </p:txBody>
      </p:sp>
      <p:sp>
        <p:nvSpPr>
          <p:cNvPr id="16" name="Rounded Rectangle 15">
            <a:extLst xmlns:a="http://schemas.openxmlformats.org/drawingml/2006/main">
              <a:ext uri="{FF2B5EF4-FFF2-40B4-BE49-F238E27FC236}">
                <a16:creationId xmlns:a16="http://schemas.microsoft.com/office/drawing/2014/main" id="{E8F3ECFB-24B9-44D4-A828-458BFB092CD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B5431DE-D4B3-4E96-8789-721CAF751565}"/>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7D088FFC-4965-4BFB-B4BB-74D4D1B7833D}"/>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PLCG2 remains worth testing, but the first priority is verifying its neuronal presence and neighborhood.</a:t>
            </a:r>
          </a:p>
        </p:txBody>
      </p:sp>
      <p:sp>
        <p:nvSpPr>
          <p:cNvPr id="19" name="TextBox 18">
            <a:extLst xmlns:a="http://schemas.openxmlformats.org/drawingml/2006/main">
              <a:ext uri="{FF2B5EF4-FFF2-40B4-BE49-F238E27FC236}">
                <a16:creationId xmlns:a16="http://schemas.microsoft.com/office/drawing/2014/main" id="{262575BC-0EE3-4687-B065-CC3ECFBAF4A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851008826"/>
      </p:ext>
    </p:extLst>
  </p:cSld>
</p:sld>
</file>

<file path=ppt/slides/slide14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CA46540-7E71-43E3-8346-485E68470143}"/>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14 does not prove, and the next evidence needed</a:t>
            </a:r>
          </a:p>
        </p:txBody>
      </p:sp>
      <p:sp>
        <p:nvSpPr>
          <p:cNvPr id="3" name="TextBox 2">
            <a:extLst xmlns:a="http://schemas.openxmlformats.org/drawingml/2006/main">
              <a:ext uri="{FF2B5EF4-FFF2-40B4-BE49-F238E27FC236}">
                <a16:creationId xmlns:a16="http://schemas.microsoft.com/office/drawing/2014/main" id="{2A151998-81BA-44E7-91CB-EEEF027960B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C8F0062D-B662-4D7B-926A-9EC50263E96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F06E91E9-97AF-458D-A649-FEDC21BA18D4}"/>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A10D564E-29E6-49BB-8693-5C26654AA2B2}"/>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C77D8976-336A-4BB3-B693-5165EB85240B}"/>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468A021F-B914-483C-AE39-341F100AF271}"/>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genetics validates the inhibitory-neuron edge</a:t>
            </a:r>
          </a:p>
        </p:txBody>
      </p:sp>
      <p:sp>
        <p:nvSpPr>
          <p:cNvPr id="9" name="Oval 8">
            <a:extLst xmlns:a="http://schemas.openxmlformats.org/drawingml/2006/main">
              <a:ext uri="{FF2B5EF4-FFF2-40B4-BE49-F238E27FC236}">
                <a16:creationId xmlns:a16="http://schemas.microsoft.com/office/drawing/2014/main" id="{4EF929F6-CDE4-4F96-82EF-F4A427EE0CE3}"/>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42918862-31C3-4EAC-8722-3ABF11615A9D}"/>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broad PLCG2 mitochondrial mechanism</a:t>
            </a:r>
          </a:p>
        </p:txBody>
      </p:sp>
      <p:sp>
        <p:nvSpPr>
          <p:cNvPr id="11" name="Oval 10">
            <a:extLst xmlns:a="http://schemas.openxmlformats.org/drawingml/2006/main">
              <a:ext uri="{FF2B5EF4-FFF2-40B4-BE49-F238E27FC236}">
                <a16:creationId xmlns:a16="http://schemas.microsoft.com/office/drawing/2014/main" id="{D5566734-D656-4761-B1B9-A65B9609AC90}"/>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34137AD2-0672-407F-8EBE-104E8CC6406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female-specific PLCG2 disease interaction</a:t>
            </a:r>
          </a:p>
        </p:txBody>
      </p:sp>
      <p:sp>
        <p:nvSpPr>
          <p:cNvPr id="13" name="Rounded Rectangle 12">
            <a:extLst xmlns:a="http://schemas.openxmlformats.org/drawingml/2006/main">
              <a:ext uri="{FF2B5EF4-FFF2-40B4-BE49-F238E27FC236}">
                <a16:creationId xmlns:a16="http://schemas.microsoft.com/office/drawing/2014/main" id="{B180D863-8618-49A9-A8A7-D5D274CF93D7}"/>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235B378E-7422-4CA6-882B-187232101EF0}"/>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6081397-FE7E-4E83-920A-248E328E2919}"/>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B6FC62F7-6485-42B4-A044-406179032BA8}"/>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7D9F292-E40F-4112-B913-48BBFA3F5C54}"/>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Confirm PLCG2 RNA and protein by spatial or in situ methods</a:t>
            </a:r>
          </a:p>
        </p:txBody>
      </p:sp>
      <p:sp>
        <p:nvSpPr>
          <p:cNvPr id="18" name="Oval 17">
            <a:extLst xmlns:a="http://schemas.openxmlformats.org/drawingml/2006/main">
              <a:ext uri="{FF2B5EF4-FFF2-40B4-BE49-F238E27FC236}">
                <a16:creationId xmlns:a16="http://schemas.microsoft.com/office/drawing/2014/main" id="{D6628816-0BA6-42EC-9A4D-EA16EAAC78E2}"/>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F597B329-CFD5-42B4-904A-C473264F4D42}"/>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Perturb PLCG2 in validated neuronal models</a:t>
            </a:r>
          </a:p>
        </p:txBody>
      </p:sp>
      <p:sp>
        <p:nvSpPr>
          <p:cNvPr id="20" name="Oval 19">
            <a:extLst xmlns:a="http://schemas.openxmlformats.org/drawingml/2006/main">
              <a:ext uri="{FF2B5EF4-FFF2-40B4-BE49-F238E27FC236}">
                <a16:creationId xmlns:a16="http://schemas.microsoft.com/office/drawing/2014/main" id="{44011077-5206-4E63-86DC-4FF1B08D4B42}"/>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CB45353C-2048-4EB1-91B8-C867F4FFF91F}"/>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MT-CO1, other mtRNAs, synapses, and respiration</a:t>
            </a:r>
          </a:p>
        </p:txBody>
      </p:sp>
      <p:sp>
        <p:nvSpPr>
          <p:cNvPr id="22" name="TextBox 21">
            <a:extLst xmlns:a="http://schemas.openxmlformats.org/drawingml/2006/main">
              <a:ext uri="{FF2B5EF4-FFF2-40B4-BE49-F238E27FC236}">
                <a16:creationId xmlns:a16="http://schemas.microsoft.com/office/drawing/2014/main" id="{584D4C50-2472-4A79-AE74-6BAEB40885AD}"/>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09A2FFE2-AAA2-43A2-8B9E-36AD4E4F54A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653299207"/>
      </p:ext>
    </p:extLst>
  </p:cSld>
</p:sld>
</file>

<file path=ppt/slides/slide14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1C631C8-2EDF-46B0-8AF1-CCF8CEA2CF24}"/>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14</a:t>
            </a:r>
          </a:p>
        </p:txBody>
      </p:sp>
      <p:sp>
        <p:nvSpPr>
          <p:cNvPr id="3" name="TextBox 2">
            <a:extLst xmlns:a="http://schemas.openxmlformats.org/drawingml/2006/main">
              <a:ext uri="{FF2B5EF4-FFF2-40B4-BE49-F238E27FC236}">
                <a16:creationId xmlns:a16="http://schemas.microsoft.com/office/drawing/2014/main" id="{77127680-C722-445E-B41F-60BFF2DD028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664907A1-2207-45BA-A984-59615E6C39EB}"/>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78AA1AF-2CAD-4886-8DD5-14A443471E4A}"/>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Phase 19b genetic screen</a:t>
            </a:r>
          </a:p>
        </p:txBody>
      </p:sp>
      <p:sp>
        <p:nvSpPr>
          <p:cNvPr id="6" name="TextBox 5">
            <a:extLst xmlns:a="http://schemas.openxmlformats.org/drawingml/2006/main">
              <a:ext uri="{FF2B5EF4-FFF2-40B4-BE49-F238E27FC236}">
                <a16:creationId xmlns:a16="http://schemas.microsoft.com/office/drawing/2014/main" id="{16F7CB15-6864-4BA6-A771-9D6E37506E9D}"/>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Human gene-level support</a:t>
            </a:r>
          </a:p>
        </p:txBody>
      </p:sp>
      <p:sp>
        <p:nvSpPr>
          <p:cNvPr id="7" name="TextBox 6">
            <a:extLst xmlns:a="http://schemas.openxmlformats.org/drawingml/2006/main">
              <a:ext uri="{FF2B5EF4-FFF2-40B4-BE49-F238E27FC236}">
                <a16:creationId xmlns:a16="http://schemas.microsoft.com/office/drawing/2014/main" id="{117E638B-49DC-4CC6-9C75-A0299E66923F}"/>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51EA66D2-00A0-4D7B-8ADD-C25CAD44987A}"/>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Provides strong local Alzheimer’s support for PLCG2.</a:t>
            </a:r>
          </a:p>
        </p:txBody>
      </p:sp>
      <p:sp>
        <p:nvSpPr>
          <p:cNvPr id="9" name="TextBox 8">
            <a:extLst xmlns:a="http://schemas.openxmlformats.org/drawingml/2006/main">
              <a:ext uri="{FF2B5EF4-FFF2-40B4-BE49-F238E27FC236}">
                <a16:creationId xmlns:a16="http://schemas.microsoft.com/office/drawing/2014/main" id="{6D610A15-B29E-477B-BCA8-3A8E452ECA2A}"/>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F3C9F7CD-E8B8-46FA-A7E6-1C0EF03C4D47}"/>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Gene-level support does not validate cell context or network edges.</a:t>
            </a:r>
          </a:p>
        </p:txBody>
      </p:sp>
      <p:sp>
        <p:nvSpPr>
          <p:cNvPr id="11" name="Rounded Rectangle 10">
            <a:extLst xmlns:a="http://schemas.openxmlformats.org/drawingml/2006/main">
              <a:ext uri="{FF2B5EF4-FFF2-40B4-BE49-F238E27FC236}">
                <a16:creationId xmlns:a16="http://schemas.microsoft.com/office/drawing/2014/main" id="{6C5F8BD3-7B4B-4DCB-8BC6-A6DC2006561A}"/>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FD8CF9C-F2C4-4DEE-A65E-901036E185CE}"/>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PLCG2 P522R study 2019</a:t>
            </a:r>
          </a:p>
        </p:txBody>
      </p:sp>
      <p:sp>
        <p:nvSpPr>
          <p:cNvPr id="13" name="TextBox 12">
            <a:extLst xmlns:a="http://schemas.openxmlformats.org/drawingml/2006/main">
              <a:ext uri="{FF2B5EF4-FFF2-40B4-BE49-F238E27FC236}">
                <a16:creationId xmlns:a16="http://schemas.microsoft.com/office/drawing/2014/main" id="{CE7A865B-2AF4-4D9F-B0BE-358713BB370F}"/>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Protective weak hypermorph</a:t>
            </a:r>
          </a:p>
        </p:txBody>
      </p:sp>
      <p:sp>
        <p:nvSpPr>
          <p:cNvPr id="14" name="TextBox 13">
            <a:extLst xmlns:a="http://schemas.openxmlformats.org/drawingml/2006/main">
              <a:ext uri="{FF2B5EF4-FFF2-40B4-BE49-F238E27FC236}">
                <a16:creationId xmlns:a16="http://schemas.microsoft.com/office/drawing/2014/main" id="{E20C52E4-96D0-4718-A639-D29FA6607D5C}"/>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E0111B5-56EC-46DC-B12B-9AD05E5DFDA6}"/>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the protective variant slightly increases a PLCG2 function.</a:t>
            </a:r>
          </a:p>
        </p:txBody>
      </p:sp>
      <p:sp>
        <p:nvSpPr>
          <p:cNvPr id="16" name="TextBox 15">
            <a:extLst xmlns:a="http://schemas.openxmlformats.org/drawingml/2006/main">
              <a:ext uri="{FF2B5EF4-FFF2-40B4-BE49-F238E27FC236}">
                <a16:creationId xmlns:a16="http://schemas.microsoft.com/office/drawing/2014/main" id="{E32E7CA4-28FA-4DEA-81B5-709C26725135}"/>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6230F760-D54C-42AC-A71B-1A78BE69E220}"/>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Variant biology does not establish the MT-CO1 relationship.</a:t>
            </a:r>
          </a:p>
        </p:txBody>
      </p:sp>
      <p:sp>
        <p:nvSpPr>
          <p:cNvPr id="18" name="Rounded Rectangle 17">
            <a:extLst xmlns:a="http://schemas.openxmlformats.org/drawingml/2006/main">
              <a:ext uri="{FF2B5EF4-FFF2-40B4-BE49-F238E27FC236}">
                <a16:creationId xmlns:a16="http://schemas.microsoft.com/office/drawing/2014/main" id="{CD4DADFC-4659-4311-BBE7-E68B8E8F4029}"/>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5CBE2566-BCF2-48CE-B018-6E90E35EC359}"/>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Nature Genetics 2026</a:t>
            </a:r>
          </a:p>
        </p:txBody>
      </p:sp>
      <p:sp>
        <p:nvSpPr>
          <p:cNvPr id="20" name="TextBox 19">
            <a:extLst xmlns:a="http://schemas.openxmlformats.org/drawingml/2006/main">
              <a:ext uri="{FF2B5EF4-FFF2-40B4-BE49-F238E27FC236}">
                <a16:creationId xmlns:a16="http://schemas.microsoft.com/office/drawing/2014/main" id="{EC258E68-6FAF-4CF7-95B2-0E762C7E8164}"/>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Neuron-intrinsic PLCG2</a:t>
            </a:r>
          </a:p>
        </p:txBody>
      </p:sp>
      <p:sp>
        <p:nvSpPr>
          <p:cNvPr id="21" name="TextBox 20">
            <a:extLst xmlns:a="http://schemas.openxmlformats.org/drawingml/2006/main">
              <a:ext uri="{FF2B5EF4-FFF2-40B4-BE49-F238E27FC236}">
                <a16:creationId xmlns:a16="http://schemas.microsoft.com/office/drawing/2014/main" id="{063E57AE-A5DC-4E29-9318-AA92F7B5A0C9}"/>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1BCAC311-89A2-4FEA-8508-A815E65C476B}"/>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Reports neuronal PLCG2 effects on synapses, Aβ, and tau.</a:t>
            </a:r>
          </a:p>
        </p:txBody>
      </p:sp>
      <p:sp>
        <p:nvSpPr>
          <p:cNvPr id="23" name="TextBox 22">
            <a:extLst xmlns:a="http://schemas.openxmlformats.org/drawingml/2006/main">
              <a:ext uri="{FF2B5EF4-FFF2-40B4-BE49-F238E27FC236}">
                <a16:creationId xmlns:a16="http://schemas.microsoft.com/office/drawing/2014/main" id="{5A2F7B27-A175-45BF-9382-456EE13E2A6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3E4D5A57-793B-4838-BC0B-1CB691D59EEE}"/>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validate a PLCG2 to MT-CO1 regulatory edge.</a:t>
            </a:r>
          </a:p>
        </p:txBody>
      </p:sp>
      <p:sp>
        <p:nvSpPr>
          <p:cNvPr id="25" name="Rounded Rectangle 24">
            <a:extLst xmlns:a="http://schemas.openxmlformats.org/drawingml/2006/main">
              <a:ext uri="{FF2B5EF4-FFF2-40B4-BE49-F238E27FC236}">
                <a16:creationId xmlns:a16="http://schemas.microsoft.com/office/drawing/2014/main" id="{5D350C6C-64CF-487B-8E13-FFDA91D5B740}"/>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27A34C37-51D8-4B08-BBFF-7B9D5FDC0B38}"/>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High, with low network confidence.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95A2FB19-7FC4-4912-8E5D-F08DBA6DF7E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14.</a:t>
            </a:r>
          </a:p>
        </p:txBody>
      </p:sp>
    </p:spTree>
    <p:extLst>
      <p:ext uri="{BB962C8B-B14F-4D97-AF65-F5344CB8AC3E}">
        <p14:creationId xmlns:p14="http://schemas.microsoft.com/office/powerpoint/2010/main" val="1707979883"/>
      </p:ext>
    </p:extLst>
  </p:cSld>
</p:sld>
</file>

<file path=ppt/slides/slide142.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37E3CB1-5775-438D-9DA1-49CAC992F6B6}"/>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15</a:t>
            </a:r>
          </a:p>
        </p:txBody>
      </p:sp>
      <p:sp>
        <p:nvSpPr>
          <p:cNvPr id="3" name="Rectangle 2">
            <a:extLst xmlns:a="http://schemas.openxmlformats.org/drawingml/2006/main">
              <a:ext uri="{FF2B5EF4-FFF2-40B4-BE49-F238E27FC236}">
                <a16:creationId xmlns:a16="http://schemas.microsoft.com/office/drawing/2014/main" id="{92C43A80-2136-442C-B384-C35B1CB1B359}"/>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B600C980-BD9D-4BF8-8952-22A53D4AC471}"/>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Astrocyte APOE is context-dependent, not an ε4-only driver</a:t>
            </a:r>
          </a:p>
        </p:txBody>
      </p:sp>
      <p:sp>
        <p:nvSpPr>
          <p:cNvPr id="5" name="TextBox 4">
            <a:extLst xmlns:a="http://schemas.openxmlformats.org/drawingml/2006/main">
              <a:ext uri="{FF2B5EF4-FFF2-40B4-BE49-F238E27FC236}">
                <a16:creationId xmlns:a16="http://schemas.microsoft.com/office/drawing/2014/main" id="{D9227460-C166-42D2-8252-5AEC381D73D7}"/>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Context-dependent ROSMAP astrocyte-driver finding.</a:t>
            </a:r>
          </a:p>
        </p:txBody>
      </p:sp>
      <p:sp>
        <p:nvSpPr>
          <p:cNvPr id="6" name="Rounded Rectangle 5">
            <a:extLst xmlns:a="http://schemas.openxmlformats.org/drawingml/2006/main">
              <a:ext uri="{FF2B5EF4-FFF2-40B4-BE49-F238E27FC236}">
                <a16:creationId xmlns:a16="http://schemas.microsoft.com/office/drawing/2014/main" id="{63A64C98-D3C6-4584-B347-47B63E386EE6}"/>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23FB803D-05FE-4881-9E4A-E8ABBC59A62A}"/>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521AF801-B4B7-4207-A11B-476DF2A29DB8}"/>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58E3DBA-D04D-4726-BCE3-6B2DC58D21CF}"/>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A27A970D-8949-4225-88C7-1642F5C06F86}"/>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1F84447D-D66D-4F11-A0D0-72AEA39AD2BA}"/>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2D4BEA45-7C29-4617-B503-C0D1286DF475}"/>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9948F1B9-A97F-475B-9FF3-61F5B1CFCBDC}"/>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85E35E94-21F7-44CB-A341-3251C3E16D8C}"/>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E1B840A5-8348-4B5D-9835-0D4E6B17F936}"/>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8D056DB8-6E32-4682-9E21-BB6F5CF80FB7}"/>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5E0845AE-340A-450E-B185-1DF3905E513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701DC2A4-409E-4A41-9E48-12F29BB5EA01}"/>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C0A28C22-AE2B-4D16-A08C-9EAF4D1EA02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4E807728-37B0-453E-AA4F-D0058207C394}"/>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4CAB60B-36D0-40BC-BDAF-D91627809850}"/>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APOE is returned in three astrocyte groups with opposite expression directions and different mitochondrial neighbors.</a:t>
            </a:r>
          </a:p>
        </p:txBody>
      </p:sp>
    </p:spTree>
    <p:extLst>
      <p:ext uri="{BB962C8B-B14F-4D97-AF65-F5344CB8AC3E}">
        <p14:creationId xmlns:p14="http://schemas.microsoft.com/office/powerpoint/2010/main" val="610186053"/>
      </p:ext>
    </p:extLst>
  </p:cSld>
</p:sld>
</file>

<file path=ppt/slides/slide14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6A7BDBBD-F2E8-4E21-A986-B4C42B04967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Astrocyte APOE changes direction across sex and genotype contexts</a:t>
            </a:r>
          </a:p>
        </p:txBody>
      </p:sp>
      <p:sp>
        <p:nvSpPr>
          <p:cNvPr id="3" name="TextBox 2">
            <a:extLst xmlns:a="http://schemas.openxmlformats.org/drawingml/2006/main">
              <a:ext uri="{FF2B5EF4-FFF2-40B4-BE49-F238E27FC236}">
                <a16:creationId xmlns:a16="http://schemas.microsoft.com/office/drawing/2014/main" id="{36AB9882-E63F-4F68-B544-8CBD8E8209F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Astrocytes produce much of the brain’s APOE. Finding the gene in an APOE-stratified analysis does not make the result ε4-specific.</a:t>
            </a:r>
          </a:p>
        </p:txBody>
      </p:sp>
      <p:sp>
        <p:nvSpPr>
          <p:cNvPr id="4" name="Rounded Rectangle 3">
            <a:extLst xmlns:a="http://schemas.openxmlformats.org/drawingml/2006/main">
              <a:ext uri="{FF2B5EF4-FFF2-40B4-BE49-F238E27FC236}">
                <a16:creationId xmlns:a16="http://schemas.microsoft.com/office/drawing/2014/main" id="{DD8DF232-1982-4274-AA47-1C936C7412A1}"/>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10356C74-7804-4F66-BF51-3515A780AF01}"/>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Astrocytes</a:t>
            </a:r>
          </a:p>
        </p:txBody>
      </p:sp>
      <p:sp>
        <p:nvSpPr>
          <p:cNvPr id="6" name="Rounded Rectangle 5">
            <a:extLst xmlns:a="http://schemas.openxmlformats.org/drawingml/2006/main">
              <a:ext uri="{FF2B5EF4-FFF2-40B4-BE49-F238E27FC236}">
                <a16:creationId xmlns:a16="http://schemas.microsoft.com/office/drawing/2014/main" id="{C58BFC2A-77CB-4882-BAA3-2AD0C1B84862}"/>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A4413CA0-E7E7-43FF-9E07-E1DEBC407F4B}"/>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Three groups</a:t>
            </a:r>
          </a:p>
        </p:txBody>
      </p:sp>
      <p:sp>
        <p:nvSpPr>
          <p:cNvPr id="8" name="Rounded Rectangle 7">
            <a:extLst xmlns:a="http://schemas.openxmlformats.org/drawingml/2006/main">
              <a:ext uri="{FF2B5EF4-FFF2-40B4-BE49-F238E27FC236}">
                <a16:creationId xmlns:a16="http://schemas.microsoft.com/office/drawing/2014/main" id="{732AC20B-75E3-455D-946E-3D5BB678EE37}"/>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D437F9F-EB3D-479F-8B5C-6AD920AC6D1F}"/>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Opposite directions</a:t>
            </a:r>
          </a:p>
        </p:txBody>
      </p:sp>
      <p:sp>
        <p:nvSpPr>
          <p:cNvPr id="10" name="Rounded Rectangle 9">
            <a:extLst xmlns:a="http://schemas.openxmlformats.org/drawingml/2006/main">
              <a:ext uri="{FF2B5EF4-FFF2-40B4-BE49-F238E27FC236}">
                <a16:creationId xmlns:a16="http://schemas.microsoft.com/office/drawing/2014/main" id="{D236E57E-D15D-4571-A5E7-0BAB19891F49}"/>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4987A813-A649-48A9-B99F-090F4B17E439}"/>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Not ε4-only</a:t>
            </a:r>
          </a:p>
        </p:txBody>
      </p:sp>
      <p:sp>
        <p:nvSpPr>
          <p:cNvPr id="12" name="Rounded Rectangle 11">
            <a:extLst xmlns:a="http://schemas.openxmlformats.org/drawingml/2006/main">
              <a:ext uri="{FF2B5EF4-FFF2-40B4-BE49-F238E27FC236}">
                <a16:creationId xmlns:a16="http://schemas.microsoft.com/office/drawing/2014/main" id="{B020C3B4-F40F-4DE3-93E3-E76DF0958D26}"/>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5AF1611-9C08-490C-BED2-DD4F6D5FADDE}"/>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FEMALE Ε2</a:t>
            </a:r>
          </a:p>
        </p:txBody>
      </p:sp>
      <p:sp>
        <p:nvSpPr>
          <p:cNvPr id="14" name="TextBox 13">
            <a:extLst xmlns:a="http://schemas.openxmlformats.org/drawingml/2006/main">
              <a:ext uri="{FF2B5EF4-FFF2-40B4-BE49-F238E27FC236}">
                <a16:creationId xmlns:a16="http://schemas.microsoft.com/office/drawing/2014/main" id="{8FFC821C-3412-4A25-B682-AAC3A24FAD17}"/>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APOE up</a:t>
            </a:r>
          </a:p>
        </p:txBody>
      </p:sp>
      <p:sp>
        <p:nvSpPr>
          <p:cNvPr id="15" name="TextBox 14">
            <a:extLst xmlns:a="http://schemas.openxmlformats.org/drawingml/2006/main">
              <a:ext uri="{FF2B5EF4-FFF2-40B4-BE49-F238E27FC236}">
                <a16:creationId xmlns:a16="http://schemas.microsoft.com/office/drawing/2014/main" id="{75418366-6455-4017-BAD7-5B75CD3C1B6B}"/>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logFC is +0.79 in the supporting astrocyte call.</a:t>
            </a:r>
          </a:p>
        </p:txBody>
      </p:sp>
      <p:sp>
        <p:nvSpPr>
          <p:cNvPr id="16" name="Rounded Rectangle 15">
            <a:extLst xmlns:a="http://schemas.openxmlformats.org/drawingml/2006/main">
              <a:ext uri="{FF2B5EF4-FFF2-40B4-BE49-F238E27FC236}">
                <a16:creationId xmlns:a16="http://schemas.microsoft.com/office/drawing/2014/main" id="{28CD9F12-7CEC-4A54-A0C3-22A9B0BE0639}"/>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43E662BE-174F-4E99-80C0-8C0DD68B26AE}"/>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Ε2</a:t>
            </a:r>
          </a:p>
        </p:txBody>
      </p:sp>
      <p:sp>
        <p:nvSpPr>
          <p:cNvPr id="18" name="TextBox 17">
            <a:extLst xmlns:a="http://schemas.openxmlformats.org/drawingml/2006/main">
              <a:ext uri="{FF2B5EF4-FFF2-40B4-BE49-F238E27FC236}">
                <a16:creationId xmlns:a16="http://schemas.microsoft.com/office/drawing/2014/main" id="{8238B63A-5ABD-4C02-87A2-F7BDB4CD4464}"/>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19" name="TextBox 18">
            <a:extLst xmlns:a="http://schemas.openxmlformats.org/drawingml/2006/main">
              <a:ext uri="{FF2B5EF4-FFF2-40B4-BE49-F238E27FC236}">
                <a16:creationId xmlns:a16="http://schemas.microsoft.com/office/drawing/2014/main" id="{84544582-FB55-4290-8C62-5870C9B9A4E6}"/>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logFC is −0.51 in the supporting astrocyte call.</a:t>
            </a:r>
          </a:p>
        </p:txBody>
      </p:sp>
      <p:sp>
        <p:nvSpPr>
          <p:cNvPr id="20" name="Rounded Rectangle 19">
            <a:extLst xmlns:a="http://schemas.openxmlformats.org/drawingml/2006/main">
              <a:ext uri="{FF2B5EF4-FFF2-40B4-BE49-F238E27FC236}">
                <a16:creationId xmlns:a16="http://schemas.microsoft.com/office/drawing/2014/main" id="{B58BE8CF-1963-497D-B53A-37AD8D79FBC5}"/>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896E67C-A867-4A99-84AF-3DD15270A2E4}"/>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MALE Ε4</a:t>
            </a:r>
          </a:p>
        </p:txBody>
      </p:sp>
      <p:sp>
        <p:nvSpPr>
          <p:cNvPr id="22" name="TextBox 21">
            <a:extLst xmlns:a="http://schemas.openxmlformats.org/drawingml/2006/main">
              <a:ext uri="{FF2B5EF4-FFF2-40B4-BE49-F238E27FC236}">
                <a16:creationId xmlns:a16="http://schemas.microsoft.com/office/drawing/2014/main" id="{4BD41357-BFF6-43EB-996A-E0C138475321}"/>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APOE down</a:t>
            </a:r>
          </a:p>
        </p:txBody>
      </p:sp>
      <p:sp>
        <p:nvSpPr>
          <p:cNvPr id="23" name="TextBox 22">
            <a:extLst xmlns:a="http://schemas.openxmlformats.org/drawingml/2006/main">
              <a:ext uri="{FF2B5EF4-FFF2-40B4-BE49-F238E27FC236}">
                <a16:creationId xmlns:a16="http://schemas.microsoft.com/office/drawing/2014/main" id="{055447C2-7613-4BD9-AAFF-EC9F2F17C8CA}"/>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logFC is −1.25 in the supporting astrocyte call.</a:t>
            </a:r>
          </a:p>
        </p:txBody>
      </p:sp>
      <p:sp>
        <p:nvSpPr>
          <p:cNvPr id="24" name="Rounded Rectangle 23">
            <a:extLst xmlns:a="http://schemas.openxmlformats.org/drawingml/2006/main">
              <a:ext uri="{FF2B5EF4-FFF2-40B4-BE49-F238E27FC236}">
                <a16:creationId xmlns:a16="http://schemas.microsoft.com/office/drawing/2014/main" id="{AE33EDB6-0EC7-42DB-96BD-AF35BB41A48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700BDF19-611C-405E-BF29-CE5ED24AA916}"/>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Opposite within-group directions motivate a direct interaction test rather than an ε4-only story.</a:t>
            </a:r>
          </a:p>
        </p:txBody>
      </p:sp>
      <p:sp>
        <p:nvSpPr>
          <p:cNvPr id="26" name="TextBox 25">
            <a:extLst xmlns:a="http://schemas.openxmlformats.org/drawingml/2006/main">
              <a:ext uri="{FF2B5EF4-FFF2-40B4-BE49-F238E27FC236}">
                <a16:creationId xmlns:a16="http://schemas.microsoft.com/office/drawing/2014/main" id="{EDDD9B82-AE3C-4772-908E-CCE271E0C277}"/>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238511375"/>
      </p:ext>
    </p:extLst>
  </p:cSld>
</p:sld>
</file>

<file path=ppt/slides/slide14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00DF12-CAFE-40B2-9E9B-85EFD408CEF2}"/>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APOE is a DEG and KDA candidate in three astrocyte contexts</a:t>
            </a:r>
          </a:p>
        </p:txBody>
      </p:sp>
      <p:sp>
        <p:nvSpPr>
          <p:cNvPr id="3" name="TextBox 2">
            <a:extLst xmlns:a="http://schemas.openxmlformats.org/drawingml/2006/main">
              <a:ext uri="{FF2B5EF4-FFF2-40B4-BE49-F238E27FC236}">
                <a16:creationId xmlns:a16="http://schemas.microsoft.com/office/drawing/2014/main" id="{325838C6-C3C9-4F96-B7FA-FE5A3EE167D7}"/>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context contributes one call, so the evidence is too sparse to define one shared module.</a:t>
            </a:r>
          </a:p>
        </p:txBody>
      </p:sp>
      <p:sp>
        <p:nvSpPr>
          <p:cNvPr id="4" name="Rounded Rectangle 3">
            <a:extLst xmlns:a="http://schemas.openxmlformats.org/drawingml/2006/main">
              <a:ext uri="{FF2B5EF4-FFF2-40B4-BE49-F238E27FC236}">
                <a16:creationId xmlns:a16="http://schemas.microsoft.com/office/drawing/2014/main" id="{1A6B5B46-C3B9-4DC9-9492-CC1F2B1658F7}"/>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F26E5DF5-50E0-4BBF-AC16-B39EBB7C3465}"/>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3</a:t>
            </a:r>
          </a:p>
        </p:txBody>
      </p:sp>
      <p:sp>
        <p:nvSpPr>
          <p:cNvPr id="6" name="TextBox 5">
            <a:extLst xmlns:a="http://schemas.openxmlformats.org/drawingml/2006/main">
              <a:ext uri="{FF2B5EF4-FFF2-40B4-BE49-F238E27FC236}">
                <a16:creationId xmlns:a16="http://schemas.microsoft.com/office/drawing/2014/main" id="{5C6AB7C5-5EDA-4CB5-89E3-A09B2464A57C}"/>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supporting astrocyte calls</a:t>
            </a:r>
          </a:p>
        </p:txBody>
      </p:sp>
      <p:sp>
        <p:nvSpPr>
          <p:cNvPr id="7" name="TextBox 6">
            <a:extLst xmlns:a="http://schemas.openxmlformats.org/drawingml/2006/main">
              <a:ext uri="{FF2B5EF4-FFF2-40B4-BE49-F238E27FC236}">
                <a16:creationId xmlns:a16="http://schemas.microsoft.com/office/drawing/2014/main" id="{C6D0E058-BD7E-418E-995F-65CB332C304A}"/>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F_e2, M_e2, M_e4</a:t>
            </a:r>
          </a:p>
        </p:txBody>
      </p:sp>
      <p:sp>
        <p:nvSpPr>
          <p:cNvPr id="8" name="Rounded Rectangle 7">
            <a:extLst xmlns:a="http://schemas.openxmlformats.org/drawingml/2006/main">
              <a:ext uri="{FF2B5EF4-FFF2-40B4-BE49-F238E27FC236}">
                <a16:creationId xmlns:a16="http://schemas.microsoft.com/office/drawing/2014/main" id="{F50E9667-E827-4070-B895-A93F3CECBEF7}"/>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AEBFD0F4-D759-4A63-94DC-744042D90EB0}"/>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3/3</a:t>
            </a:r>
          </a:p>
        </p:txBody>
      </p:sp>
      <p:sp>
        <p:nvSpPr>
          <p:cNvPr id="10" name="TextBox 9">
            <a:extLst xmlns:a="http://schemas.openxmlformats.org/drawingml/2006/main">
              <a:ext uri="{FF2B5EF4-FFF2-40B4-BE49-F238E27FC236}">
                <a16:creationId xmlns:a16="http://schemas.microsoft.com/office/drawing/2014/main" id="{0D7DE755-0CCB-4FD4-B91E-8477C70A9B8E}"/>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APOE paper DEGs</a:t>
            </a:r>
          </a:p>
        </p:txBody>
      </p:sp>
      <p:sp>
        <p:nvSpPr>
          <p:cNvPr id="11" name="TextBox 10">
            <a:extLst xmlns:a="http://schemas.openxmlformats.org/drawingml/2006/main">
              <a:ext uri="{FF2B5EF4-FFF2-40B4-BE49-F238E27FC236}">
                <a16:creationId xmlns:a16="http://schemas.microsoft.com/office/drawing/2014/main" id="{38403D78-55E1-43D5-998E-024B779759C7}"/>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one up, two down</a:t>
            </a:r>
          </a:p>
        </p:txBody>
      </p:sp>
      <p:sp>
        <p:nvSpPr>
          <p:cNvPr id="12" name="Rounded Rectangle 11">
            <a:extLst xmlns:a="http://schemas.openxmlformats.org/drawingml/2006/main">
              <a:ext uri="{FF2B5EF4-FFF2-40B4-BE49-F238E27FC236}">
                <a16:creationId xmlns:a16="http://schemas.microsoft.com/office/drawing/2014/main" id="{DAF7FECB-1A36-4DFE-9365-4956E7099C8A}"/>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042B230-ED50-4E01-8356-2C12783183A4}"/>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5</a:t>
            </a:r>
          </a:p>
        </p:txBody>
      </p:sp>
      <p:sp>
        <p:nvSpPr>
          <p:cNvPr id="14" name="TextBox 13">
            <a:extLst xmlns:a="http://schemas.openxmlformats.org/drawingml/2006/main">
              <a:ext uri="{FF2B5EF4-FFF2-40B4-BE49-F238E27FC236}">
                <a16:creationId xmlns:a16="http://schemas.microsoft.com/office/drawing/2014/main" id="{A26F21DE-FBAB-41F8-9B41-6761828F62A2}"/>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named mitochondrial neighbors</a:t>
            </a:r>
          </a:p>
        </p:txBody>
      </p:sp>
      <p:sp>
        <p:nvSpPr>
          <p:cNvPr id="15" name="TextBox 14">
            <a:extLst xmlns:a="http://schemas.openxmlformats.org/drawingml/2006/main">
              <a:ext uri="{FF2B5EF4-FFF2-40B4-BE49-F238E27FC236}">
                <a16:creationId xmlns:a16="http://schemas.microsoft.com/office/drawing/2014/main" id="{5FD3454F-4593-43F8-9BF0-AC615839E2D4}"/>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across the three calls</a:t>
            </a:r>
          </a:p>
        </p:txBody>
      </p:sp>
      <p:sp>
        <p:nvSpPr>
          <p:cNvPr id="16" name="Rounded Rectangle 15">
            <a:extLst xmlns:a="http://schemas.openxmlformats.org/drawingml/2006/main">
              <a:ext uri="{FF2B5EF4-FFF2-40B4-BE49-F238E27FC236}">
                <a16:creationId xmlns:a16="http://schemas.microsoft.com/office/drawing/2014/main" id="{136F3A51-D620-4799-923D-1AE7006E05D1}"/>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2AE26FD-C1A8-4F06-B9FA-E065C4A0E6EE}"/>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Protein production</a:t>
            </a:r>
          </a:p>
        </p:txBody>
      </p:sp>
      <p:sp>
        <p:nvSpPr>
          <p:cNvPr id="18" name="TextBox 17">
            <a:extLst xmlns:a="http://schemas.openxmlformats.org/drawingml/2006/main">
              <a:ext uri="{FF2B5EF4-FFF2-40B4-BE49-F238E27FC236}">
                <a16:creationId xmlns:a16="http://schemas.microsoft.com/office/drawing/2014/main" id="{914107AC-8600-4AC6-AE9A-E63906531388}"/>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TUFM</a:t>
            </a:r>
          </a:p>
        </p:txBody>
      </p:sp>
      <p:sp>
        <p:nvSpPr>
          <p:cNvPr id="19" name="TextBox 18">
            <a:extLst xmlns:a="http://schemas.openxmlformats.org/drawingml/2006/main">
              <a:ext uri="{FF2B5EF4-FFF2-40B4-BE49-F238E27FC236}">
                <a16:creationId xmlns:a16="http://schemas.microsoft.com/office/drawing/2014/main" id="{4BAEBC81-29FC-4D0F-88D5-9CB5B4B446E2}"/>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A mitochondrial translation factor appears in the APOE neighborhoods</a:t>
            </a:r>
          </a:p>
        </p:txBody>
      </p:sp>
      <p:sp>
        <p:nvSpPr>
          <p:cNvPr id="20" name="Rounded Rectangle 19">
            <a:extLst xmlns:a="http://schemas.openxmlformats.org/drawingml/2006/main">
              <a:ext uri="{FF2B5EF4-FFF2-40B4-BE49-F238E27FC236}">
                <a16:creationId xmlns:a16="http://schemas.microsoft.com/office/drawing/2014/main" id="{E774AF09-D3E3-4192-A558-B6D99539B702}"/>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D9CB29C-1063-4566-A39E-BF084AFB60DB}"/>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Energy and structure</a:t>
            </a:r>
          </a:p>
        </p:txBody>
      </p:sp>
      <p:sp>
        <p:nvSpPr>
          <p:cNvPr id="22" name="TextBox 21">
            <a:extLst xmlns:a="http://schemas.openxmlformats.org/drawingml/2006/main">
              <a:ext uri="{FF2B5EF4-FFF2-40B4-BE49-F238E27FC236}">
                <a16:creationId xmlns:a16="http://schemas.microsoft.com/office/drawing/2014/main" id="{EA479AA6-47B1-4A30-8349-B80F6793DC6F}"/>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LDHB and CHCHD10</a:t>
            </a:r>
          </a:p>
        </p:txBody>
      </p:sp>
      <p:sp>
        <p:nvSpPr>
          <p:cNvPr id="23" name="TextBox 22">
            <a:extLst xmlns:a="http://schemas.openxmlformats.org/drawingml/2006/main">
              <a:ext uri="{FF2B5EF4-FFF2-40B4-BE49-F238E27FC236}">
                <a16:creationId xmlns:a16="http://schemas.microsoft.com/office/drawing/2014/main" id="{30111D26-E667-4F44-A292-8905CF92B1BE}"/>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neighbors span metabolism and mitochondrial structure or stress</a:t>
            </a:r>
          </a:p>
        </p:txBody>
      </p:sp>
      <p:sp>
        <p:nvSpPr>
          <p:cNvPr id="24" name="Rounded Rectangle 23">
            <a:extLst xmlns:a="http://schemas.openxmlformats.org/drawingml/2006/main">
              <a:ext uri="{FF2B5EF4-FFF2-40B4-BE49-F238E27FC236}">
                <a16:creationId xmlns:a16="http://schemas.microsoft.com/office/drawing/2014/main" id="{E4CECC0F-9D05-4241-A674-CA02C47CDF2C}"/>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F4A2518C-BC25-484E-AEB8-BBC49FBE9802}"/>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ATP synthase</a:t>
            </a:r>
          </a:p>
        </p:txBody>
      </p:sp>
      <p:sp>
        <p:nvSpPr>
          <p:cNvPr id="26" name="TextBox 25">
            <a:extLst xmlns:a="http://schemas.openxmlformats.org/drawingml/2006/main">
              <a:ext uri="{FF2B5EF4-FFF2-40B4-BE49-F238E27FC236}">
                <a16:creationId xmlns:a16="http://schemas.microsoft.com/office/drawing/2014/main" id="{C8C4D6EB-717C-4205-902E-7935BE129C6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ATP5PB and ATP5F1A</a:t>
            </a:r>
          </a:p>
        </p:txBody>
      </p:sp>
      <p:sp>
        <p:nvSpPr>
          <p:cNvPr id="27" name="TextBox 26">
            <a:extLst xmlns:a="http://schemas.openxmlformats.org/drawingml/2006/main">
              <a:ext uri="{FF2B5EF4-FFF2-40B4-BE49-F238E27FC236}">
                <a16:creationId xmlns:a16="http://schemas.microsoft.com/office/drawing/2014/main" id="{5CC055E4-14B1-4781-BA2D-3B99848B5FCB}"/>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Nuclear-encoded respiratory-complex genes also appear</a:t>
            </a:r>
          </a:p>
        </p:txBody>
      </p:sp>
      <p:sp>
        <p:nvSpPr>
          <p:cNvPr id="28" name="TextBox 27">
            <a:extLst xmlns:a="http://schemas.openxmlformats.org/drawingml/2006/main">
              <a:ext uri="{FF2B5EF4-FFF2-40B4-BE49-F238E27FC236}">
                <a16:creationId xmlns:a16="http://schemas.microsoft.com/office/drawing/2014/main" id="{22BBD1F6-6474-44A4-825E-776A502D6C9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056136102"/>
      </p:ext>
    </p:extLst>
  </p:cSld>
</p:sld>
</file>

<file path=ppt/slides/slide14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08AEB1F6-FE5B-4913-9A43-BCF5AA89590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The APOE neighborhoods vary rather than forming one repeated pathway</a:t>
            </a:r>
          </a:p>
        </p:txBody>
      </p:sp>
      <p:sp>
        <p:nvSpPr>
          <p:cNvPr id="3" name="TextBox 2">
            <a:extLst xmlns:a="http://schemas.openxmlformats.org/drawingml/2006/main">
              <a:ext uri="{FF2B5EF4-FFF2-40B4-BE49-F238E27FC236}">
                <a16:creationId xmlns:a16="http://schemas.microsoft.com/office/drawing/2014/main" id="{7A4044D1-0A9A-437D-AFE1-87F48668077D}"/>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Different directions and neighbors may reflect true context or cell-state and sampling differences.</a:t>
            </a:r>
          </a:p>
        </p:txBody>
      </p:sp>
      <p:sp>
        <p:nvSpPr>
          <p:cNvPr id="4" name="Rounded Rectangle 3">
            <a:extLst xmlns:a="http://schemas.openxmlformats.org/drawingml/2006/main">
              <a:ext uri="{FF2B5EF4-FFF2-40B4-BE49-F238E27FC236}">
                <a16:creationId xmlns:a16="http://schemas.microsoft.com/office/drawing/2014/main" id="{815D1395-6282-423E-ADB6-0612F9F5CB34}"/>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916557E-3AE2-42DE-BCBE-291165FE28D5}"/>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DIRECTION</a:t>
            </a:r>
          </a:p>
        </p:txBody>
      </p:sp>
      <p:sp>
        <p:nvSpPr>
          <p:cNvPr id="6" name="TextBox 5">
            <a:extLst xmlns:a="http://schemas.openxmlformats.org/drawingml/2006/main">
              <a:ext uri="{FF2B5EF4-FFF2-40B4-BE49-F238E27FC236}">
                <a16:creationId xmlns:a16="http://schemas.microsoft.com/office/drawing/2014/main" id="{C4B3CF68-50E2-429A-9D0C-A8B7A5493C9A}"/>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+0.79 in F_e2</a:t>
            </a:r>
          </a:p>
        </p:txBody>
      </p:sp>
      <p:sp>
        <p:nvSpPr>
          <p:cNvPr id="7" name="TextBox 6">
            <a:extLst xmlns:a="http://schemas.openxmlformats.org/drawingml/2006/main">
              <a:ext uri="{FF2B5EF4-FFF2-40B4-BE49-F238E27FC236}">
                <a16:creationId xmlns:a16="http://schemas.microsoft.com/office/drawing/2014/main" id="{D027D810-EE0F-4ADC-AC3F-2B76724C3ABF}"/>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female ε2 astrocyte call shows higher APOE RNA in AD.</a:t>
            </a:r>
          </a:p>
        </p:txBody>
      </p:sp>
      <p:sp>
        <p:nvSpPr>
          <p:cNvPr id="8" name="Rounded Rectangle 7">
            <a:extLst xmlns:a="http://schemas.openxmlformats.org/drawingml/2006/main">
              <a:ext uri="{FF2B5EF4-FFF2-40B4-BE49-F238E27FC236}">
                <a16:creationId xmlns:a16="http://schemas.microsoft.com/office/drawing/2014/main" id="{F0C40F7A-A178-4352-BB35-430AF2FD5537}"/>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46F6881C-69D9-4B61-8989-D60024536DD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DIRECTION</a:t>
            </a:r>
          </a:p>
        </p:txBody>
      </p:sp>
      <p:sp>
        <p:nvSpPr>
          <p:cNvPr id="10" name="TextBox 9">
            <a:extLst xmlns:a="http://schemas.openxmlformats.org/drawingml/2006/main">
              <a:ext uri="{FF2B5EF4-FFF2-40B4-BE49-F238E27FC236}">
                <a16:creationId xmlns:a16="http://schemas.microsoft.com/office/drawing/2014/main" id="{2AAC44C0-938F-414E-8005-F3688A67AA50}"/>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−0.51 and −1.25</a:t>
            </a:r>
          </a:p>
        </p:txBody>
      </p:sp>
      <p:sp>
        <p:nvSpPr>
          <p:cNvPr id="11" name="TextBox 10">
            <a:extLst xmlns:a="http://schemas.openxmlformats.org/drawingml/2006/main">
              <a:ext uri="{FF2B5EF4-FFF2-40B4-BE49-F238E27FC236}">
                <a16:creationId xmlns:a16="http://schemas.microsoft.com/office/drawing/2014/main" id="{7C608C16-2A75-44EF-A2A5-F167AF6CDC88}"/>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male ε2 and male ε4 astrocyte calls show lower APOE RNA in AD.</a:t>
            </a:r>
          </a:p>
        </p:txBody>
      </p:sp>
      <p:sp>
        <p:nvSpPr>
          <p:cNvPr id="12" name="Rounded Rectangle 11">
            <a:extLst xmlns:a="http://schemas.openxmlformats.org/drawingml/2006/main">
              <a:ext uri="{FF2B5EF4-FFF2-40B4-BE49-F238E27FC236}">
                <a16:creationId xmlns:a16="http://schemas.microsoft.com/office/drawing/2014/main" id="{75C174F7-932C-4B35-A374-5366A8CDB3E6}"/>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D5CCBA06-917A-492B-9EE3-C1C457BBA8D0}"/>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AAEA81A4-B3D4-4F94-8291-1C7C63377AA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Not evaluable</a:t>
            </a:r>
          </a:p>
        </p:txBody>
      </p:sp>
      <p:sp>
        <p:nvSpPr>
          <p:cNvPr id="15" name="TextBox 14">
            <a:extLst xmlns:a="http://schemas.openxmlformats.org/drawingml/2006/main">
              <a:ext uri="{FF2B5EF4-FFF2-40B4-BE49-F238E27FC236}">
                <a16:creationId xmlns:a16="http://schemas.microsoft.com/office/drawing/2014/main" id="{3C2BAC9E-627C-40CC-937A-DA2C3A7A7347}"/>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None of the three matching categories was active in the supplemental cohort.</a:t>
            </a:r>
          </a:p>
        </p:txBody>
      </p:sp>
      <p:sp>
        <p:nvSpPr>
          <p:cNvPr id="16" name="Rounded Rectangle 15">
            <a:extLst xmlns:a="http://schemas.openxmlformats.org/drawingml/2006/main">
              <a:ext uri="{FF2B5EF4-FFF2-40B4-BE49-F238E27FC236}">
                <a16:creationId xmlns:a16="http://schemas.microsoft.com/office/drawing/2014/main" id="{DC734C10-4507-4E7C-A867-39C680E0F7F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0FAEE19D-4BA7-4C8E-A9CF-D7ADE1D05857}"/>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human genetic importance of APOE does not validate the direction differences or mitochondrial edges.</a:t>
            </a:r>
          </a:p>
        </p:txBody>
      </p:sp>
      <p:sp>
        <p:nvSpPr>
          <p:cNvPr id="18" name="TextBox 17">
            <a:extLst xmlns:a="http://schemas.openxmlformats.org/drawingml/2006/main">
              <a:ext uri="{FF2B5EF4-FFF2-40B4-BE49-F238E27FC236}">
                <a16:creationId xmlns:a16="http://schemas.microsoft.com/office/drawing/2014/main" id="{AE49E544-4312-4BA8-BFA6-0011215785B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435779549"/>
      </p:ext>
    </p:extLst>
  </p:cSld>
</p:sld>
</file>

<file path=ppt/slides/slide146.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B9989B1-C3B4-4F47-8D5B-5B69F0CEA4E8}"/>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APOE biology depends on the cellular and genetic context</a:t>
            </a:r>
          </a:p>
        </p:txBody>
      </p:sp>
      <p:sp>
        <p:nvSpPr>
          <p:cNvPr id="3" name="TextBox 2">
            <a:extLst xmlns:a="http://schemas.openxmlformats.org/drawingml/2006/main">
              <a:ext uri="{FF2B5EF4-FFF2-40B4-BE49-F238E27FC236}">
                <a16:creationId xmlns:a16="http://schemas.microsoft.com/office/drawing/2014/main" id="{E71441AA-787C-42D1-97F7-094466AEFD9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same gene may respond differently across groups even when its population-level risk role is well established.</a:t>
            </a:r>
          </a:p>
        </p:txBody>
      </p:sp>
      <p:sp>
        <p:nvSpPr>
          <p:cNvPr id="4" name="Rounded Rectangle 3">
            <a:extLst xmlns:a="http://schemas.openxmlformats.org/drawingml/2006/main">
              <a:ext uri="{FF2B5EF4-FFF2-40B4-BE49-F238E27FC236}">
                <a16:creationId xmlns:a16="http://schemas.microsoft.com/office/drawing/2014/main" id="{FC9BE70D-1331-4F24-BF9F-398170D8CEC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E49B0D97-B2A0-4F3E-ABBB-390E59F523BB}"/>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CELL SOURCE</a:t>
            </a:r>
          </a:p>
        </p:txBody>
      </p:sp>
      <p:sp>
        <p:nvSpPr>
          <p:cNvPr id="6" name="TextBox 5">
            <a:extLst xmlns:a="http://schemas.openxmlformats.org/drawingml/2006/main">
              <a:ext uri="{FF2B5EF4-FFF2-40B4-BE49-F238E27FC236}">
                <a16:creationId xmlns:a16="http://schemas.microsoft.com/office/drawing/2014/main" id="{89DF3344-B6ED-4599-AEB7-05928B8A7782}"/>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Astrocytes produce APOE</a:t>
            </a:r>
          </a:p>
        </p:txBody>
      </p:sp>
      <p:sp>
        <p:nvSpPr>
          <p:cNvPr id="7" name="TextBox 6">
            <a:extLst xmlns:a="http://schemas.openxmlformats.org/drawingml/2006/main">
              <a:ext uri="{FF2B5EF4-FFF2-40B4-BE49-F238E27FC236}">
                <a16:creationId xmlns:a16="http://schemas.microsoft.com/office/drawing/2014/main" id="{E2C3D62B-D0EA-4553-AA4E-075CAE8C61AC}"/>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cell class makes the candidate biologically plausible.</a:t>
            </a:r>
          </a:p>
        </p:txBody>
      </p:sp>
      <p:sp>
        <p:nvSpPr>
          <p:cNvPr id="8" name="Rounded Rectangle 7">
            <a:extLst xmlns:a="http://schemas.openxmlformats.org/drawingml/2006/main">
              <a:ext uri="{FF2B5EF4-FFF2-40B4-BE49-F238E27FC236}">
                <a16:creationId xmlns:a16="http://schemas.microsoft.com/office/drawing/2014/main" id="{7A25ACB2-946D-42CA-BFB5-4B8BB7B4A916}"/>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F8CAAF42-0B8D-448F-8572-DDB47A8CE6D1}"/>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DISEASE RESPONSE</a:t>
            </a:r>
          </a:p>
        </p:txBody>
      </p:sp>
      <p:sp>
        <p:nvSpPr>
          <p:cNvPr id="10" name="TextBox 9">
            <a:extLst xmlns:a="http://schemas.openxmlformats.org/drawingml/2006/main">
              <a:ext uri="{FF2B5EF4-FFF2-40B4-BE49-F238E27FC236}">
                <a16:creationId xmlns:a16="http://schemas.microsoft.com/office/drawing/2014/main" id="{1E500922-1AFB-4A6E-A5B6-D943617FC939}"/>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Direction changes by group</a:t>
            </a:r>
          </a:p>
        </p:txBody>
      </p:sp>
      <p:sp>
        <p:nvSpPr>
          <p:cNvPr id="11" name="TextBox 10">
            <a:extLst xmlns:a="http://schemas.openxmlformats.org/drawingml/2006/main">
              <a:ext uri="{FF2B5EF4-FFF2-40B4-BE49-F238E27FC236}">
                <a16:creationId xmlns:a16="http://schemas.microsoft.com/office/drawing/2014/main" id="{2BD67977-451C-4627-A3CA-CB36DCA04868}"/>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APOE RNA may reflect different astrocyte states or responses to pathology.</a:t>
            </a:r>
          </a:p>
        </p:txBody>
      </p:sp>
      <p:sp>
        <p:nvSpPr>
          <p:cNvPr id="12" name="Rounded Rectangle 11">
            <a:extLst xmlns:a="http://schemas.openxmlformats.org/drawingml/2006/main">
              <a:ext uri="{FF2B5EF4-FFF2-40B4-BE49-F238E27FC236}">
                <a16:creationId xmlns:a16="http://schemas.microsoft.com/office/drawing/2014/main" id="{91392F38-86F6-4BD3-BEAB-0303DDC5FA1F}"/>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55FD709-F7B7-45FF-ADC0-227F35E7FF2C}"/>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INFERENCE LIMIT</a:t>
            </a:r>
          </a:p>
        </p:txBody>
      </p:sp>
      <p:sp>
        <p:nvSpPr>
          <p:cNvPr id="14" name="TextBox 13">
            <a:extLst xmlns:a="http://schemas.openxmlformats.org/drawingml/2006/main">
              <a:ext uri="{FF2B5EF4-FFF2-40B4-BE49-F238E27FC236}">
                <a16:creationId xmlns:a16="http://schemas.microsoft.com/office/drawing/2014/main" id="{F8609CD8-9955-412A-B034-DD97427671F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400" b="1" i="0">
                <a:solidFill>
                  <a:srgbClr val="0F233D"/>
                </a:solidFill>
                <a:latin typeface="Arial"/>
                <a:ea typeface="Arial"/>
                <a:cs typeface="Arial"/>
              </a:rPr>
              <a:t>Separate tests do not show interaction</a:t>
            </a:r>
          </a:p>
        </p:txBody>
      </p:sp>
      <p:sp>
        <p:nvSpPr>
          <p:cNvPr id="15" name="TextBox 14">
            <a:extLst xmlns:a="http://schemas.openxmlformats.org/drawingml/2006/main">
              <a:ext uri="{FF2B5EF4-FFF2-40B4-BE49-F238E27FC236}">
                <a16:creationId xmlns:a16="http://schemas.microsoft.com/office/drawing/2014/main" id="{6218D191-E4F4-47BC-B8D7-622238F8C1AF}"/>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A formal model must compare disease effects across sex and genotype groups.</a:t>
            </a:r>
          </a:p>
        </p:txBody>
      </p:sp>
      <p:sp>
        <p:nvSpPr>
          <p:cNvPr id="16" name="Rounded Rectangle 15">
            <a:extLst xmlns:a="http://schemas.openxmlformats.org/drawingml/2006/main">
              <a:ext uri="{FF2B5EF4-FFF2-40B4-BE49-F238E27FC236}">
                <a16:creationId xmlns:a16="http://schemas.microsoft.com/office/drawing/2014/main" id="{3BDAA785-1AE5-4B5F-835A-224D59960F5F}"/>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715A4360-632D-4FB4-94F0-E3C3B9B3E4B1}"/>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70060E39-0F8F-4142-ADEC-FC7BEE9A57A3}"/>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The result argues for context-specific APOE models rather than an ε4-only interpretation.</a:t>
            </a:r>
          </a:p>
        </p:txBody>
      </p:sp>
      <p:sp>
        <p:nvSpPr>
          <p:cNvPr id="19" name="TextBox 18">
            <a:extLst xmlns:a="http://schemas.openxmlformats.org/drawingml/2006/main">
              <a:ext uri="{FF2B5EF4-FFF2-40B4-BE49-F238E27FC236}">
                <a16:creationId xmlns:a16="http://schemas.microsoft.com/office/drawing/2014/main" id="{FCAC6F39-395B-44DC-8C7F-FB2B691C5630}"/>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264404184"/>
      </p:ext>
    </p:extLst>
  </p:cSld>
</p:sld>
</file>

<file path=ppt/slides/slide14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637A4B1-0F23-4B28-B2F8-029E484BD465}"/>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15 does not prove, and the next evidence needed</a:t>
            </a:r>
          </a:p>
        </p:txBody>
      </p:sp>
      <p:sp>
        <p:nvSpPr>
          <p:cNvPr id="3" name="TextBox 2">
            <a:extLst xmlns:a="http://schemas.openxmlformats.org/drawingml/2006/main">
              <a:ext uri="{FF2B5EF4-FFF2-40B4-BE49-F238E27FC236}">
                <a16:creationId xmlns:a16="http://schemas.microsoft.com/office/drawing/2014/main" id="{C4211589-5DF8-424E-B07F-9A3D1415634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835D9A16-A54C-4438-81F3-67A57A16AF76}"/>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8843AECE-D933-49DC-95E3-395C9108A192}"/>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74A0A1B8-9C26-498B-A4D0-A9A4F3320FA6}"/>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E95E8463-C794-4306-AA58-CCA169B78A99}"/>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CAF16D9E-2DD7-4F1F-8941-936C7D77F0CF}"/>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APOE regulates the neighboring mitochondrial genes</a:t>
            </a:r>
          </a:p>
        </p:txBody>
      </p:sp>
      <p:sp>
        <p:nvSpPr>
          <p:cNvPr id="9" name="Oval 8">
            <a:extLst xmlns:a="http://schemas.openxmlformats.org/drawingml/2006/main">
              <a:ext uri="{FF2B5EF4-FFF2-40B4-BE49-F238E27FC236}">
                <a16:creationId xmlns:a16="http://schemas.microsoft.com/office/drawing/2014/main" id="{E16DD561-6922-40B1-A418-C44725603E8F}"/>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C1BAA3BF-B3F8-48BC-BCE6-9B4608374562}"/>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One shared astrocyte module across groups</a:t>
            </a:r>
          </a:p>
        </p:txBody>
      </p:sp>
      <p:sp>
        <p:nvSpPr>
          <p:cNvPr id="11" name="Oval 10">
            <a:extLst xmlns:a="http://schemas.openxmlformats.org/drawingml/2006/main">
              <a:ext uri="{FF2B5EF4-FFF2-40B4-BE49-F238E27FC236}">
                <a16:creationId xmlns:a16="http://schemas.microsoft.com/office/drawing/2014/main" id="{2E074677-EFA9-4511-A870-F034FCCBC684}"/>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DD78DB7E-32F6-4360-8806-FC5D2CF1DB78}"/>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sex or genotype interaction from three separate calls</a:t>
            </a:r>
          </a:p>
        </p:txBody>
      </p:sp>
      <p:sp>
        <p:nvSpPr>
          <p:cNvPr id="13" name="Rounded Rectangle 12">
            <a:extLst xmlns:a="http://schemas.openxmlformats.org/drawingml/2006/main">
              <a:ext uri="{FF2B5EF4-FFF2-40B4-BE49-F238E27FC236}">
                <a16:creationId xmlns:a16="http://schemas.microsoft.com/office/drawing/2014/main" id="{B104D396-EF30-4C77-93C7-028136811965}"/>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DD1F0ACC-D716-4B30-AB90-9B704088A36E}"/>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37DF40C1-F4E2-4E08-A914-8E58DDC5F354}"/>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EF2E8255-B64E-499E-A78C-D4CD7ABA050D}"/>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8E61D654-E60F-495D-963F-64E7E179F09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disease by sex by APOE models for astrocyte APOE</a:t>
            </a:r>
          </a:p>
        </p:txBody>
      </p:sp>
      <p:sp>
        <p:nvSpPr>
          <p:cNvPr id="18" name="Oval 17">
            <a:extLst xmlns:a="http://schemas.openxmlformats.org/drawingml/2006/main">
              <a:ext uri="{FF2B5EF4-FFF2-40B4-BE49-F238E27FC236}">
                <a16:creationId xmlns:a16="http://schemas.microsoft.com/office/drawing/2014/main" id="{714454C2-6720-4192-915E-5C3566C0E7BD}"/>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883DE8D6-147D-449E-A0B2-886913105A63}"/>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Use APOE-isogenic astrocytes</a:t>
            </a:r>
          </a:p>
        </p:txBody>
      </p:sp>
      <p:sp>
        <p:nvSpPr>
          <p:cNvPr id="20" name="Oval 19">
            <a:extLst xmlns:a="http://schemas.openxmlformats.org/drawingml/2006/main">
              <a:ext uri="{FF2B5EF4-FFF2-40B4-BE49-F238E27FC236}">
                <a16:creationId xmlns:a16="http://schemas.microsoft.com/office/drawing/2014/main" id="{37A5FCA7-C2E3-4A9A-AF09-A44EC9FE16FF}"/>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7FDFA38B-EEF9-40D6-AFF9-2C6AB5DB7FA9}"/>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lipid handling, neighboring proteins, and mitochondrial function</a:t>
            </a:r>
          </a:p>
        </p:txBody>
      </p:sp>
      <p:sp>
        <p:nvSpPr>
          <p:cNvPr id="22" name="TextBox 21">
            <a:extLst xmlns:a="http://schemas.openxmlformats.org/drawingml/2006/main">
              <a:ext uri="{FF2B5EF4-FFF2-40B4-BE49-F238E27FC236}">
                <a16:creationId xmlns:a16="http://schemas.microsoft.com/office/drawing/2014/main" id="{CDFFDD35-A24B-4C3B-AB00-D1B6A283968C}"/>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C147EC2D-A253-465E-A434-689DD74CBD34}"/>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1331232827"/>
      </p:ext>
    </p:extLst>
  </p:cSld>
</p:sld>
</file>

<file path=ppt/slides/slide14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7D780075-3F37-4C2D-91EB-6EC672CDDE4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15</a:t>
            </a:r>
          </a:p>
        </p:txBody>
      </p:sp>
      <p:sp>
        <p:nvSpPr>
          <p:cNvPr id="3" name="TextBox 2">
            <a:extLst xmlns:a="http://schemas.openxmlformats.org/drawingml/2006/main">
              <a:ext uri="{FF2B5EF4-FFF2-40B4-BE49-F238E27FC236}">
                <a16:creationId xmlns:a16="http://schemas.microsoft.com/office/drawing/2014/main" id="{123A4D24-4729-4F17-91A0-BDAB0DE9F5F1}"/>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2AD410D3-778D-4257-B4F7-C935FC1BCB1A}"/>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5326824-3182-4E74-9E13-A66E89DB648A}"/>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Belloy et al. 2019</a:t>
            </a:r>
          </a:p>
        </p:txBody>
      </p:sp>
      <p:sp>
        <p:nvSpPr>
          <p:cNvPr id="6" name="TextBox 5">
            <a:extLst xmlns:a="http://schemas.openxmlformats.org/drawingml/2006/main">
              <a:ext uri="{FF2B5EF4-FFF2-40B4-BE49-F238E27FC236}">
                <a16:creationId xmlns:a16="http://schemas.microsoft.com/office/drawing/2014/main" id="{ECF8B858-D6B5-4236-8831-BB23F0CA62A2}"/>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 and AD risk</a:t>
            </a:r>
          </a:p>
        </p:txBody>
      </p:sp>
      <p:sp>
        <p:nvSpPr>
          <p:cNvPr id="7" name="TextBox 6">
            <a:extLst xmlns:a="http://schemas.openxmlformats.org/drawingml/2006/main">
              <a:ext uri="{FF2B5EF4-FFF2-40B4-BE49-F238E27FC236}">
                <a16:creationId xmlns:a16="http://schemas.microsoft.com/office/drawing/2014/main" id="{A88A4FAF-9035-489D-AC1D-1C65BACF196E}"/>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2BE66AE4-9945-413A-BA03-2EC63C51EEF6}"/>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Establishes APOE as the strongest common late-onset AD risk locus.</a:t>
            </a:r>
          </a:p>
        </p:txBody>
      </p:sp>
      <p:sp>
        <p:nvSpPr>
          <p:cNvPr id="9" name="TextBox 8">
            <a:extLst xmlns:a="http://schemas.openxmlformats.org/drawingml/2006/main">
              <a:ext uri="{FF2B5EF4-FFF2-40B4-BE49-F238E27FC236}">
                <a16:creationId xmlns:a16="http://schemas.microsoft.com/office/drawing/2014/main" id="{DB7FDA31-6C12-47A2-A130-A99CBE0FCA86}"/>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788D60E7-973F-445B-BF2B-1D31A5383862}"/>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Genetics does not validate these three network neighborhoods.</a:t>
            </a:r>
          </a:p>
        </p:txBody>
      </p:sp>
      <p:sp>
        <p:nvSpPr>
          <p:cNvPr id="11" name="Rounded Rectangle 10">
            <a:extLst xmlns:a="http://schemas.openxmlformats.org/drawingml/2006/main">
              <a:ext uri="{FF2B5EF4-FFF2-40B4-BE49-F238E27FC236}">
                <a16:creationId xmlns:a16="http://schemas.microsoft.com/office/drawing/2014/main" id="{38BA0748-4ADD-492F-89D1-7136F555CC08}"/>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5AB2B353-F721-4AB1-B4E5-562BCC266B23}"/>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Lee et al. 2023</a:t>
            </a:r>
          </a:p>
        </p:txBody>
      </p:sp>
      <p:sp>
        <p:nvSpPr>
          <p:cNvPr id="13" name="TextBox 12">
            <a:extLst xmlns:a="http://schemas.openxmlformats.org/drawingml/2006/main">
              <a:ext uri="{FF2B5EF4-FFF2-40B4-BE49-F238E27FC236}">
                <a16:creationId xmlns:a16="http://schemas.microsoft.com/office/drawing/2014/main" id="{0937C6E6-8D88-4EEF-8381-F79A59F97C10}"/>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astrocyte biology</a:t>
            </a:r>
          </a:p>
        </p:txBody>
      </p:sp>
      <p:sp>
        <p:nvSpPr>
          <p:cNvPr id="14" name="TextBox 13">
            <a:extLst xmlns:a="http://schemas.openxmlformats.org/drawingml/2006/main">
              <a:ext uri="{FF2B5EF4-FFF2-40B4-BE49-F238E27FC236}">
                <a16:creationId xmlns:a16="http://schemas.microsoft.com/office/drawing/2014/main" id="{24D5D30A-BCCB-45BB-AC2C-B4F43B5137AC}"/>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6C3C85B5-A178-449A-BB94-D3DF6B0EF275}"/>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astrocyte APOE state can alter mitochondrial homeostasis.</a:t>
            </a:r>
          </a:p>
        </p:txBody>
      </p:sp>
      <p:sp>
        <p:nvSpPr>
          <p:cNvPr id="16" name="TextBox 15">
            <a:extLst xmlns:a="http://schemas.openxmlformats.org/drawingml/2006/main">
              <a:ext uri="{FF2B5EF4-FFF2-40B4-BE49-F238E27FC236}">
                <a16:creationId xmlns:a16="http://schemas.microsoft.com/office/drawing/2014/main" id="{93E2BBD8-4F2B-42C7-80D9-B9CB222771AB}"/>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6AEB4A02-DAF8-4032-BFEE-C42BB179A865}"/>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explain opposite directions across these groups.</a:t>
            </a:r>
          </a:p>
        </p:txBody>
      </p:sp>
      <p:sp>
        <p:nvSpPr>
          <p:cNvPr id="18" name="Rounded Rectangle 17">
            <a:extLst xmlns:a="http://schemas.openxmlformats.org/drawingml/2006/main">
              <a:ext uri="{FF2B5EF4-FFF2-40B4-BE49-F238E27FC236}">
                <a16:creationId xmlns:a16="http://schemas.microsoft.com/office/drawing/2014/main" id="{C0890806-8E84-482F-B541-F5432EC20A51}"/>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F9B2D66C-60E9-4247-BDCA-713D0EF20938}"/>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Schmukler et al. 2020</a:t>
            </a:r>
          </a:p>
        </p:txBody>
      </p:sp>
      <p:sp>
        <p:nvSpPr>
          <p:cNvPr id="20" name="TextBox 19">
            <a:extLst xmlns:a="http://schemas.openxmlformats.org/drawingml/2006/main">
              <a:ext uri="{FF2B5EF4-FFF2-40B4-BE49-F238E27FC236}">
                <a16:creationId xmlns:a16="http://schemas.microsoft.com/office/drawing/2014/main" id="{342703C5-4F16-4BA3-B9D3-8F9BB5197C0F}"/>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APOE4 and mitophagy</a:t>
            </a:r>
          </a:p>
        </p:txBody>
      </p:sp>
      <p:sp>
        <p:nvSpPr>
          <p:cNvPr id="21" name="TextBox 20">
            <a:extLst xmlns:a="http://schemas.openxmlformats.org/drawingml/2006/main">
              <a:ext uri="{FF2B5EF4-FFF2-40B4-BE49-F238E27FC236}">
                <a16:creationId xmlns:a16="http://schemas.microsoft.com/office/drawing/2014/main" id="{82198E31-F28F-4FB5-BE0D-5DDFB64E2555}"/>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9B71BD56-4AA9-480B-AC56-6080662C25EC}"/>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Connects APOE4 astrocytes with mitochondrial dynamics and cleanup.</a:t>
            </a:r>
          </a:p>
        </p:txBody>
      </p:sp>
      <p:sp>
        <p:nvSpPr>
          <p:cNvPr id="23" name="TextBox 22">
            <a:extLst xmlns:a="http://schemas.openxmlformats.org/drawingml/2006/main">
              <a:ext uri="{FF2B5EF4-FFF2-40B4-BE49-F238E27FC236}">
                <a16:creationId xmlns:a16="http://schemas.microsoft.com/office/drawing/2014/main" id="{EB422183-449C-4AD0-9DA0-68A82C61FEE1}"/>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BA4E32EA-A8B4-48EF-A32B-CAE6FC181CD0}"/>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current KDA result also includes ε2 groups.</a:t>
            </a:r>
          </a:p>
        </p:txBody>
      </p:sp>
      <p:sp>
        <p:nvSpPr>
          <p:cNvPr id="25" name="Rounded Rectangle 24">
            <a:extLst xmlns:a="http://schemas.openxmlformats.org/drawingml/2006/main">
              <a:ext uri="{FF2B5EF4-FFF2-40B4-BE49-F238E27FC236}">
                <a16:creationId xmlns:a16="http://schemas.microsoft.com/office/drawing/2014/main" id="{E6F9C21B-8A92-4B83-8610-DDF8CE010B35}"/>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953DCC0B-609C-4521-8A64-75B47DDAD632}"/>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D281225B-CEF8-42FF-8E86-4C9B490BCC85}"/>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15.</a:t>
            </a:r>
          </a:p>
        </p:txBody>
      </p:sp>
    </p:spTree>
    <p:extLst>
      <p:ext uri="{BB962C8B-B14F-4D97-AF65-F5344CB8AC3E}">
        <p14:creationId xmlns:p14="http://schemas.microsoft.com/office/powerpoint/2010/main" val="95123715"/>
      </p:ext>
    </p:extLst>
  </p:cSld>
</p:sld>
</file>

<file path=ppt/slides/slide149.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5AB4866B-94BF-4EA4-8293-8F2AF3B4095E}"/>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16</a:t>
            </a:r>
          </a:p>
        </p:txBody>
      </p:sp>
      <p:sp>
        <p:nvSpPr>
          <p:cNvPr id="3" name="Rectangle 2">
            <a:extLst xmlns:a="http://schemas.openxmlformats.org/drawingml/2006/main">
              <a:ext uri="{FF2B5EF4-FFF2-40B4-BE49-F238E27FC236}">
                <a16:creationId xmlns:a16="http://schemas.microsoft.com/office/drawing/2014/main" id="{280A5786-1857-45E5-B911-7AD43CD3206E}"/>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5FBD3E44-910B-4A74-B1F5-06205A628E09}"/>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FFFFFF"/>
                </a:solidFill>
                <a:latin typeface="Arial"/>
                <a:ea typeface="Arial"/>
                <a:cs typeface="Arial"/>
              </a:rPr>
              <a:t>Female APOE ε4 vascular cells show a small heat-shock module</a:t>
            </a:r>
          </a:p>
        </p:txBody>
      </p:sp>
      <p:sp>
        <p:nvSpPr>
          <p:cNvPr id="5" name="TextBox 4">
            <a:extLst xmlns:a="http://schemas.openxmlformats.org/drawingml/2006/main">
              <a:ext uri="{FF2B5EF4-FFF2-40B4-BE49-F238E27FC236}">
                <a16:creationId xmlns:a16="http://schemas.microsoft.com/office/drawing/2014/main" id="{6B30A585-D160-4363-9CCB-0E4289900B8B}"/>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Preliminary ROSMAP vascular-module finding.</a:t>
            </a:r>
          </a:p>
        </p:txBody>
      </p:sp>
      <p:sp>
        <p:nvSpPr>
          <p:cNvPr id="6" name="Rounded Rectangle 5">
            <a:extLst xmlns:a="http://schemas.openxmlformats.org/drawingml/2006/main">
              <a:ext uri="{FF2B5EF4-FFF2-40B4-BE49-F238E27FC236}">
                <a16:creationId xmlns:a16="http://schemas.microsoft.com/office/drawing/2014/main" id="{99ABAAFB-BE5E-4CB6-957F-57B24E968874}"/>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1D4951E5-66C5-4A9E-8004-EF5B39EDF480}"/>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C0B97A71-8C0A-42FF-8529-A00BD0B84CFD}"/>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8B0E45B0-CD83-48B6-9E78-F0F0CB00A4E1}"/>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CF5E762F-15E6-4FA5-94C1-E05A61EADB17}"/>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AFBD2A2C-8BDD-4523-A8A0-189BD82A1EB5}"/>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04EA92A-0C9A-4A26-B2B0-64ECAB11B39F}"/>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01E7F6A4-1233-4269-B326-00125A51F923}"/>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36B5FE0B-270D-4DFA-B384-D70CADDDFA31}"/>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BB833B61-1E74-4AA4-B71A-3EC76CE01E12}"/>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BE311415-6D3A-4348-AE42-39600B075F49}"/>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781B1453-AD5A-4DEE-8548-821903613EAB}"/>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055413E8-B841-467D-934E-1A334CA8A4F5}"/>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0FFBBD16-97F9-42CB-854B-16B82A57EEE8}"/>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5616C0C1-C4ED-4097-ACC6-F7FBCB952B23}"/>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187EB02-95FE-45B0-9A86-56BDE382BC71}"/>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Three stress-response drivers define a small female ε4 vascular module across only two eligible calls.</a:t>
            </a:r>
          </a:p>
        </p:txBody>
      </p:sp>
    </p:spTree>
    <p:extLst>
      <p:ext uri="{BB962C8B-B14F-4D97-AF65-F5344CB8AC3E}">
        <p14:creationId xmlns:p14="http://schemas.microsoft.com/office/powerpoint/2010/main" val="557967063"/>
      </p:ext>
    </p:extLst>
  </p:cSld>
</p:sld>
</file>

<file path=ppt/slides/slide15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FF89202-BCA1-4B9B-931E-675F0016DB8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Female ε4 vascular cells prioritize a small protein-stress module</a:t>
            </a:r>
          </a:p>
        </p:txBody>
      </p:sp>
      <p:sp>
        <p:nvSpPr>
          <p:cNvPr id="3" name="TextBox 2">
            <a:extLst xmlns:a="http://schemas.openxmlformats.org/drawingml/2006/main">
              <a:ext uri="{FF2B5EF4-FFF2-40B4-BE49-F238E27FC236}">
                <a16:creationId xmlns:a16="http://schemas.microsoft.com/office/drawing/2014/main" id="{B85E40F5-DDF2-462E-B59D-F2FABD428D7A}"/>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Heat-shock genes protect protein folding during many forms of cell stress. Literal high temperature is not required.</a:t>
            </a:r>
          </a:p>
        </p:txBody>
      </p:sp>
      <p:sp>
        <p:nvSpPr>
          <p:cNvPr id="4" name="Rounded Rectangle 3">
            <a:extLst xmlns:a="http://schemas.openxmlformats.org/drawingml/2006/main">
              <a:ext uri="{FF2B5EF4-FFF2-40B4-BE49-F238E27FC236}">
                <a16:creationId xmlns:a16="http://schemas.microsoft.com/office/drawing/2014/main" id="{9EE5E1AD-6B10-4685-BC84-5F416399F3FA}"/>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A925C89D-2748-49E6-A13D-5C2F53CA3226}"/>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Female</a:t>
            </a:r>
          </a:p>
        </p:txBody>
      </p:sp>
      <p:sp>
        <p:nvSpPr>
          <p:cNvPr id="6" name="Rounded Rectangle 5">
            <a:extLst xmlns:a="http://schemas.openxmlformats.org/drawingml/2006/main">
              <a:ext uri="{FF2B5EF4-FFF2-40B4-BE49-F238E27FC236}">
                <a16:creationId xmlns:a16="http://schemas.microsoft.com/office/drawing/2014/main" id="{A6CF6F6E-1B6C-41D8-80E5-803DEEEE5785}"/>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0BA88055-16B3-44A2-B89E-80332AE7A599}"/>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APOE ε4</a:t>
            </a:r>
          </a:p>
        </p:txBody>
      </p:sp>
      <p:sp>
        <p:nvSpPr>
          <p:cNvPr id="8" name="Rounded Rectangle 7">
            <a:extLst xmlns:a="http://schemas.openxmlformats.org/drawingml/2006/main">
              <a:ext uri="{FF2B5EF4-FFF2-40B4-BE49-F238E27FC236}">
                <a16:creationId xmlns:a16="http://schemas.microsoft.com/office/drawing/2014/main" id="{0599409E-9766-458C-99BF-6F50ECD33ACE}"/>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62D5B4FD-007D-43B1-8D9A-C067A69A15EA}"/>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Vascular cells</a:t>
            </a:r>
          </a:p>
        </p:txBody>
      </p:sp>
      <p:sp>
        <p:nvSpPr>
          <p:cNvPr id="10" name="Rounded Rectangle 9">
            <a:extLst xmlns:a="http://schemas.openxmlformats.org/drawingml/2006/main">
              <a:ext uri="{FF2B5EF4-FFF2-40B4-BE49-F238E27FC236}">
                <a16:creationId xmlns:a16="http://schemas.microsoft.com/office/drawing/2014/main" id="{B22C3E4F-15FA-4E07-AA6A-D7FA723DE406}"/>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D341FE4F-898E-474E-9062-64BB1223A734}"/>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Two eligible calls</a:t>
            </a:r>
          </a:p>
        </p:txBody>
      </p:sp>
      <p:sp>
        <p:nvSpPr>
          <p:cNvPr id="12" name="Rounded Rectangle 11">
            <a:extLst xmlns:a="http://schemas.openxmlformats.org/drawingml/2006/main">
              <a:ext uri="{FF2B5EF4-FFF2-40B4-BE49-F238E27FC236}">
                <a16:creationId xmlns:a16="http://schemas.microsoft.com/office/drawing/2014/main" id="{49903862-D5B7-4E1C-A89F-F9C1137E4313}"/>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B708D6C-9A1A-4E1D-AD08-CA82139F1683}"/>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HSPA1A</a:t>
            </a:r>
          </a:p>
        </p:txBody>
      </p:sp>
      <p:sp>
        <p:nvSpPr>
          <p:cNvPr id="14" name="TextBox 13">
            <a:extLst xmlns:a="http://schemas.openxmlformats.org/drawingml/2006/main">
              <a:ext uri="{FF2B5EF4-FFF2-40B4-BE49-F238E27FC236}">
                <a16:creationId xmlns:a16="http://schemas.microsoft.com/office/drawing/2014/main" id="{7FE7E70C-3615-4D52-B19E-9F375F1A177F}"/>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Stress-response chaperone</a:t>
            </a:r>
          </a:p>
        </p:txBody>
      </p:sp>
      <p:sp>
        <p:nvSpPr>
          <p:cNvPr id="15" name="TextBox 14">
            <a:extLst xmlns:a="http://schemas.openxmlformats.org/drawingml/2006/main">
              <a:ext uri="{FF2B5EF4-FFF2-40B4-BE49-F238E27FC236}">
                <a16:creationId xmlns:a16="http://schemas.microsoft.com/office/drawing/2014/main" id="{9EBADCA5-936B-4174-BFDB-E0D36C179365}"/>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Helps proteins fold correctly or recover after stress.</a:t>
            </a:r>
          </a:p>
        </p:txBody>
      </p:sp>
      <p:sp>
        <p:nvSpPr>
          <p:cNvPr id="16" name="Rounded Rectangle 15">
            <a:extLst xmlns:a="http://schemas.openxmlformats.org/drawingml/2006/main">
              <a:ext uri="{FF2B5EF4-FFF2-40B4-BE49-F238E27FC236}">
                <a16:creationId xmlns:a16="http://schemas.microsoft.com/office/drawing/2014/main" id="{39C6970C-FF6E-48C1-938C-B98E548B3586}"/>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5D3CD1F-22E8-4AF5-BAB4-3A5D7F2BD329}"/>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HSPH1</a:t>
            </a:r>
          </a:p>
        </p:txBody>
      </p:sp>
      <p:sp>
        <p:nvSpPr>
          <p:cNvPr id="18" name="TextBox 17">
            <a:extLst xmlns:a="http://schemas.openxmlformats.org/drawingml/2006/main">
              <a:ext uri="{FF2B5EF4-FFF2-40B4-BE49-F238E27FC236}">
                <a16:creationId xmlns:a16="http://schemas.microsoft.com/office/drawing/2014/main" id="{42AF5F4F-AB48-4BC1-8988-EEAE94EB3C3F}"/>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Protein-recovery chaperone</a:t>
            </a:r>
          </a:p>
        </p:txBody>
      </p:sp>
      <p:sp>
        <p:nvSpPr>
          <p:cNvPr id="19" name="TextBox 18">
            <a:extLst xmlns:a="http://schemas.openxmlformats.org/drawingml/2006/main">
              <a:ext uri="{FF2B5EF4-FFF2-40B4-BE49-F238E27FC236}">
                <a16:creationId xmlns:a16="http://schemas.microsoft.com/office/drawing/2014/main" id="{113471AA-12ED-4B4A-B97A-D1CB9335CD03}"/>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Works with other heat-shock proteins to protect damaged proteins.</a:t>
            </a:r>
          </a:p>
        </p:txBody>
      </p:sp>
      <p:sp>
        <p:nvSpPr>
          <p:cNvPr id="20" name="Rounded Rectangle 19">
            <a:extLst xmlns:a="http://schemas.openxmlformats.org/drawingml/2006/main">
              <a:ext uri="{FF2B5EF4-FFF2-40B4-BE49-F238E27FC236}">
                <a16:creationId xmlns:a16="http://schemas.microsoft.com/office/drawing/2014/main" id="{5B152E72-A344-40C5-8CD9-225BBE48CD26}"/>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EE0AC003-F13D-407A-AAFD-91811A16745B}"/>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PTGES3</a:t>
            </a:r>
          </a:p>
        </p:txBody>
      </p:sp>
      <p:sp>
        <p:nvSpPr>
          <p:cNvPr id="22" name="TextBox 21">
            <a:extLst xmlns:a="http://schemas.openxmlformats.org/drawingml/2006/main">
              <a:ext uri="{FF2B5EF4-FFF2-40B4-BE49-F238E27FC236}">
                <a16:creationId xmlns:a16="http://schemas.microsoft.com/office/drawing/2014/main" id="{1CAE43D6-75CE-48A5-B395-7A219029D2E6}"/>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Chaperone-related protein</a:t>
            </a:r>
          </a:p>
        </p:txBody>
      </p:sp>
      <p:sp>
        <p:nvSpPr>
          <p:cNvPr id="23" name="TextBox 22">
            <a:extLst xmlns:a="http://schemas.openxmlformats.org/drawingml/2006/main">
              <a:ext uri="{FF2B5EF4-FFF2-40B4-BE49-F238E27FC236}">
                <a16:creationId xmlns:a16="http://schemas.microsoft.com/office/drawing/2014/main" id="{2A44BDEA-4451-416A-854C-3838CA6B10A0}"/>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Has protein-folding functions in addition to its other cellular roles.</a:t>
            </a:r>
          </a:p>
        </p:txBody>
      </p:sp>
      <p:sp>
        <p:nvSpPr>
          <p:cNvPr id="24" name="Rounded Rectangle 23">
            <a:extLst xmlns:a="http://schemas.openxmlformats.org/drawingml/2006/main">
              <a:ext uri="{FF2B5EF4-FFF2-40B4-BE49-F238E27FC236}">
                <a16:creationId xmlns:a16="http://schemas.microsoft.com/office/drawing/2014/main" id="{89FAC74D-291F-4F19-B75D-8E746E44DBC9}"/>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CE56B958-D113-459E-99C0-83C778524E9C}"/>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Three related genes create a focused clue, not evidence of a broad vascular stress program.</a:t>
            </a:r>
          </a:p>
        </p:txBody>
      </p:sp>
      <p:sp>
        <p:nvSpPr>
          <p:cNvPr id="26" name="TextBox 25">
            <a:extLst xmlns:a="http://schemas.openxmlformats.org/drawingml/2006/main">
              <a:ext uri="{FF2B5EF4-FFF2-40B4-BE49-F238E27FC236}">
                <a16:creationId xmlns:a16="http://schemas.microsoft.com/office/drawing/2014/main" id="{9ED8D8AC-BD90-4012-A345-4DA869CF9F4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97393502"/>
      </p:ext>
    </p:extLst>
  </p:cSld>
</p:sld>
</file>

<file path=ppt/slides/slide15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C90BE16-71B8-4733-9DF1-56F21DF7206F}"/>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three of five female ε4 vascular candidates are stress-response genes</a:t>
            </a:r>
          </a:p>
        </p:txBody>
      </p:sp>
      <p:sp>
        <p:nvSpPr>
          <p:cNvPr id="3" name="TextBox 2">
            <a:extLst xmlns:a="http://schemas.openxmlformats.org/drawingml/2006/main">
              <a:ext uri="{FF2B5EF4-FFF2-40B4-BE49-F238E27FC236}">
                <a16:creationId xmlns:a16="http://schemas.microsoft.com/office/drawing/2014/main" id="{427EF456-3FF2-40E7-91C9-5ABBE336057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pathway analysis uses the vascular network background and remains exploratory.</a:t>
            </a:r>
          </a:p>
        </p:txBody>
      </p:sp>
      <p:sp>
        <p:nvSpPr>
          <p:cNvPr id="4" name="Rounded Rectangle 3">
            <a:extLst xmlns:a="http://schemas.openxmlformats.org/drawingml/2006/main">
              <a:ext uri="{FF2B5EF4-FFF2-40B4-BE49-F238E27FC236}">
                <a16:creationId xmlns:a16="http://schemas.microsoft.com/office/drawing/2014/main" id="{D8E537D8-0A36-40EB-9362-1964AFD9727D}"/>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91E293BE-D4B1-4C58-853A-22216102DCD5}"/>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5</a:t>
            </a:r>
          </a:p>
        </p:txBody>
      </p:sp>
      <p:sp>
        <p:nvSpPr>
          <p:cNvPr id="6" name="TextBox 5">
            <a:extLst xmlns:a="http://schemas.openxmlformats.org/drawingml/2006/main">
              <a:ext uri="{FF2B5EF4-FFF2-40B4-BE49-F238E27FC236}">
                <a16:creationId xmlns:a16="http://schemas.microsoft.com/office/drawing/2014/main" id="{08C98539-9F26-40F9-B7CE-3A40AB9C4689}"/>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unique non-MT vascular drivers</a:t>
            </a:r>
          </a:p>
        </p:txBody>
      </p:sp>
      <p:sp>
        <p:nvSpPr>
          <p:cNvPr id="7" name="TextBox 6">
            <a:extLst xmlns:a="http://schemas.openxmlformats.org/drawingml/2006/main">
              <a:ext uri="{FF2B5EF4-FFF2-40B4-BE49-F238E27FC236}">
                <a16:creationId xmlns:a16="http://schemas.microsoft.com/office/drawing/2014/main" id="{C9704254-6633-476E-8841-17132A24BE48}"/>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female ε4</a:t>
            </a:r>
          </a:p>
        </p:txBody>
      </p:sp>
      <p:sp>
        <p:nvSpPr>
          <p:cNvPr id="8" name="Rounded Rectangle 7">
            <a:extLst xmlns:a="http://schemas.openxmlformats.org/drawingml/2006/main">
              <a:ext uri="{FF2B5EF4-FFF2-40B4-BE49-F238E27FC236}">
                <a16:creationId xmlns:a16="http://schemas.microsoft.com/office/drawing/2014/main" id="{DDA1DFA2-5DD9-4947-B275-7ECD32063BAD}"/>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250FAAA-594C-4947-80E0-E4D846A0BB31}"/>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3</a:t>
            </a:r>
          </a:p>
        </p:txBody>
      </p:sp>
      <p:sp>
        <p:nvSpPr>
          <p:cNvPr id="10" name="TextBox 9">
            <a:extLst xmlns:a="http://schemas.openxmlformats.org/drawingml/2006/main">
              <a:ext uri="{FF2B5EF4-FFF2-40B4-BE49-F238E27FC236}">
                <a16:creationId xmlns:a16="http://schemas.microsoft.com/office/drawing/2014/main" id="{EC9C26BC-07DB-4E5A-B13A-CEDC1A837F39}"/>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stress-response drivers</a:t>
            </a:r>
          </a:p>
        </p:txBody>
      </p:sp>
      <p:sp>
        <p:nvSpPr>
          <p:cNvPr id="11" name="TextBox 10">
            <a:extLst xmlns:a="http://schemas.openxmlformats.org/drawingml/2006/main">
              <a:ext uri="{FF2B5EF4-FFF2-40B4-BE49-F238E27FC236}">
                <a16:creationId xmlns:a16="http://schemas.microsoft.com/office/drawing/2014/main" id="{529C55DB-158A-43DB-9CCA-72393A0C29D5}"/>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HSPH1, HSPA1A, PTGES3</a:t>
            </a:r>
          </a:p>
        </p:txBody>
      </p:sp>
      <p:sp>
        <p:nvSpPr>
          <p:cNvPr id="12" name="Rounded Rectangle 11">
            <a:extLst xmlns:a="http://schemas.openxmlformats.org/drawingml/2006/main">
              <a:ext uri="{FF2B5EF4-FFF2-40B4-BE49-F238E27FC236}">
                <a16:creationId xmlns:a16="http://schemas.microsoft.com/office/drawing/2014/main" id="{E135656B-22C9-4596-93EF-82BE0911207A}"/>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F2D0C028-F2B2-4941-B318-541C13E00AF9}"/>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2</a:t>
            </a:r>
          </a:p>
        </p:txBody>
      </p:sp>
      <p:sp>
        <p:nvSpPr>
          <p:cNvPr id="14" name="TextBox 13">
            <a:extLst xmlns:a="http://schemas.openxmlformats.org/drawingml/2006/main">
              <a:ext uri="{FF2B5EF4-FFF2-40B4-BE49-F238E27FC236}">
                <a16:creationId xmlns:a16="http://schemas.microsoft.com/office/drawing/2014/main" id="{F4C2800E-6766-4123-A2B9-76474E22EACA}"/>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eligible vascular calls</a:t>
            </a:r>
          </a:p>
        </p:txBody>
      </p:sp>
      <p:sp>
        <p:nvSpPr>
          <p:cNvPr id="15" name="TextBox 14">
            <a:extLst xmlns:a="http://schemas.openxmlformats.org/drawingml/2006/main">
              <a:ext uri="{FF2B5EF4-FFF2-40B4-BE49-F238E27FC236}">
                <a16:creationId xmlns:a16="http://schemas.microsoft.com/office/drawing/2014/main" id="{4B0C3E05-B64D-46B0-BBBE-B74B0CEB7382}"/>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small evidence base</a:t>
            </a:r>
          </a:p>
        </p:txBody>
      </p:sp>
      <p:sp>
        <p:nvSpPr>
          <p:cNvPr id="16" name="Rounded Rectangle 15">
            <a:extLst xmlns:a="http://schemas.openxmlformats.org/drawingml/2006/main">
              <a:ext uri="{FF2B5EF4-FFF2-40B4-BE49-F238E27FC236}">
                <a16:creationId xmlns:a16="http://schemas.microsoft.com/office/drawing/2014/main" id="{80125B71-1B29-498F-ABB1-5203E1F6F8E0}"/>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D45FCE8-7C10-4078-996C-C2278413CEE2}"/>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HSF1 activation</a:t>
            </a:r>
          </a:p>
        </p:txBody>
      </p:sp>
      <p:sp>
        <p:nvSpPr>
          <p:cNvPr id="18" name="TextBox 17">
            <a:extLst xmlns:a="http://schemas.openxmlformats.org/drawingml/2006/main">
              <a:ext uri="{FF2B5EF4-FFF2-40B4-BE49-F238E27FC236}">
                <a16:creationId xmlns:a16="http://schemas.microsoft.com/office/drawing/2014/main" id="{8EF4C5EA-BE03-4C0F-A28B-E17A97A1DFD0}"/>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BH 4.07 × 10⁻⁴</a:t>
            </a:r>
          </a:p>
        </p:txBody>
      </p:sp>
      <p:sp>
        <p:nvSpPr>
          <p:cNvPr id="19" name="TextBox 18">
            <a:extLst xmlns:a="http://schemas.openxmlformats.org/drawingml/2006/main">
              <a:ext uri="{FF2B5EF4-FFF2-40B4-BE49-F238E27FC236}">
                <a16:creationId xmlns:a16="http://schemas.microsoft.com/office/drawing/2014/main" id="{59D9DCB1-EB33-44EA-A320-F64036E48E46}"/>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HSF1 regulates many heat-shock response genes</a:t>
            </a:r>
          </a:p>
        </p:txBody>
      </p:sp>
      <p:sp>
        <p:nvSpPr>
          <p:cNvPr id="20" name="Rounded Rectangle 19">
            <a:extLst xmlns:a="http://schemas.openxmlformats.org/drawingml/2006/main">
              <a:ext uri="{FF2B5EF4-FFF2-40B4-BE49-F238E27FC236}">
                <a16:creationId xmlns:a16="http://schemas.microsoft.com/office/drawing/2014/main" id="{415F7833-5868-41C5-B8E2-B93C67042392}"/>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80284674-0A41-4BB3-9833-BB53FFF4946C}"/>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Cellular heat response</a:t>
            </a:r>
          </a:p>
        </p:txBody>
      </p:sp>
      <p:sp>
        <p:nvSpPr>
          <p:cNvPr id="22" name="TextBox 21">
            <a:extLst xmlns:a="http://schemas.openxmlformats.org/drawingml/2006/main">
              <a:ext uri="{FF2B5EF4-FFF2-40B4-BE49-F238E27FC236}">
                <a16:creationId xmlns:a16="http://schemas.microsoft.com/office/drawing/2014/main" id="{8EB44782-AD0D-4F23-9F1B-6E3212BA1C7D}"/>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BH 0.00383</a:t>
            </a:r>
          </a:p>
        </p:txBody>
      </p:sp>
      <p:sp>
        <p:nvSpPr>
          <p:cNvPr id="23" name="TextBox 22">
            <a:extLst xmlns:a="http://schemas.openxmlformats.org/drawingml/2006/main">
              <a:ext uri="{FF2B5EF4-FFF2-40B4-BE49-F238E27FC236}">
                <a16:creationId xmlns:a16="http://schemas.microsoft.com/office/drawing/2014/main" id="{3E617012-5334-42F1-BD91-44605F77F625}"/>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The term reflects shared stress machinery, not necessarily temperature</a:t>
            </a:r>
          </a:p>
        </p:txBody>
      </p:sp>
      <p:sp>
        <p:nvSpPr>
          <p:cNvPr id="24" name="Rounded Rectangle 23">
            <a:extLst xmlns:a="http://schemas.openxmlformats.org/drawingml/2006/main">
              <a:ext uri="{FF2B5EF4-FFF2-40B4-BE49-F238E27FC236}">
                <a16:creationId xmlns:a16="http://schemas.microsoft.com/office/drawing/2014/main" id="{82DEC458-90B9-43BD-A56C-08551CCBCDCD}"/>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EAB652C-F073-46D1-BFAB-11834D7E9BB7}"/>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Pathway dependence</a:t>
            </a:r>
          </a:p>
        </p:txBody>
      </p:sp>
      <p:sp>
        <p:nvSpPr>
          <p:cNvPr id="26" name="TextBox 25">
            <a:extLst xmlns:a="http://schemas.openxmlformats.org/drawingml/2006/main">
              <a:ext uri="{FF2B5EF4-FFF2-40B4-BE49-F238E27FC236}">
                <a16:creationId xmlns:a16="http://schemas.microsoft.com/office/drawing/2014/main" id="{EFD43A95-3AD4-4059-BB94-955C9625ED63}"/>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Three genes</a:t>
            </a:r>
          </a:p>
        </p:txBody>
      </p:sp>
      <p:sp>
        <p:nvSpPr>
          <p:cNvPr id="27" name="TextBox 26">
            <a:extLst xmlns:a="http://schemas.openxmlformats.org/drawingml/2006/main">
              <a:ext uri="{FF2B5EF4-FFF2-40B4-BE49-F238E27FC236}">
                <a16:creationId xmlns:a16="http://schemas.microsoft.com/office/drawing/2014/main" id="{782AB354-3D21-4821-894F-A2F0132593FE}"/>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Related terms overlap and are driven by a very small candidate set</a:t>
            </a:r>
          </a:p>
        </p:txBody>
      </p:sp>
      <p:sp>
        <p:nvSpPr>
          <p:cNvPr id="28" name="TextBox 27">
            <a:extLst xmlns:a="http://schemas.openxmlformats.org/drawingml/2006/main">
              <a:ext uri="{FF2B5EF4-FFF2-40B4-BE49-F238E27FC236}">
                <a16:creationId xmlns:a16="http://schemas.microsoft.com/office/drawing/2014/main" id="{5A3BBCDC-FAEB-41E9-8659-EE86568EC36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535435366"/>
      </p:ext>
    </p:extLst>
  </p:cSld>
</p:sld>
</file>

<file path=ppt/slides/slide15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69B8E18-004D-46FF-BDE6-F3A9E2E9CD8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Small call count and missing SEA-AD coverage keep the module preliminary</a:t>
            </a:r>
          </a:p>
        </p:txBody>
      </p:sp>
      <p:sp>
        <p:nvSpPr>
          <p:cNvPr id="3" name="TextBox 2">
            <a:extLst xmlns:a="http://schemas.openxmlformats.org/drawingml/2006/main">
              <a:ext uri="{FF2B5EF4-FFF2-40B4-BE49-F238E27FC236}">
                <a16:creationId xmlns:a16="http://schemas.microsoft.com/office/drawing/2014/main" id="{1F0B0B1A-FEA0-4948-AAAD-AF979EA027A6}"/>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evidence level reflects internal sparsity rather than a failed external comparison.</a:t>
            </a:r>
          </a:p>
        </p:txBody>
      </p:sp>
      <p:sp>
        <p:nvSpPr>
          <p:cNvPr id="4" name="Rounded Rectangle 3">
            <a:extLst xmlns:a="http://schemas.openxmlformats.org/drawingml/2006/main">
              <a:ext uri="{FF2B5EF4-FFF2-40B4-BE49-F238E27FC236}">
                <a16:creationId xmlns:a16="http://schemas.microsoft.com/office/drawing/2014/main" id="{44320DAE-8F6A-405E-B228-1E52A1E2E336}"/>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C3CCFE33-5434-4732-B36E-D684F7C88C4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ROSMAP COVERAGE</a:t>
            </a:r>
          </a:p>
        </p:txBody>
      </p:sp>
      <p:sp>
        <p:nvSpPr>
          <p:cNvPr id="6" name="TextBox 5">
            <a:extLst xmlns:a="http://schemas.openxmlformats.org/drawingml/2006/main">
              <a:ext uri="{FF2B5EF4-FFF2-40B4-BE49-F238E27FC236}">
                <a16:creationId xmlns:a16="http://schemas.microsoft.com/office/drawing/2014/main" id="{1AAACB3F-ED8E-4016-8A19-390EFA1E074F}"/>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Two eligible calls</a:t>
            </a:r>
          </a:p>
        </p:txBody>
      </p:sp>
      <p:sp>
        <p:nvSpPr>
          <p:cNvPr id="7" name="TextBox 6">
            <a:extLst xmlns:a="http://schemas.openxmlformats.org/drawingml/2006/main">
              <a:ext uri="{FF2B5EF4-FFF2-40B4-BE49-F238E27FC236}">
                <a16:creationId xmlns:a16="http://schemas.microsoft.com/office/drawing/2014/main" id="{D03A716A-9B2B-4819-A4C8-4C5D7D49C117}"/>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Very few fine-cell comparisons contribute to the vascular result.</a:t>
            </a:r>
          </a:p>
        </p:txBody>
      </p:sp>
      <p:sp>
        <p:nvSpPr>
          <p:cNvPr id="8" name="Rounded Rectangle 7">
            <a:extLst xmlns:a="http://schemas.openxmlformats.org/drawingml/2006/main">
              <a:ext uri="{FF2B5EF4-FFF2-40B4-BE49-F238E27FC236}">
                <a16:creationId xmlns:a16="http://schemas.microsoft.com/office/drawing/2014/main" id="{535093A0-6580-48D4-BF71-13F5B5850EE4}"/>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52E2BAB-F91A-4D75-9134-33F7327C88CB}"/>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PATHWAY OVERLAP</a:t>
            </a:r>
          </a:p>
        </p:txBody>
      </p:sp>
      <p:sp>
        <p:nvSpPr>
          <p:cNvPr id="10" name="TextBox 9">
            <a:extLst xmlns:a="http://schemas.openxmlformats.org/drawingml/2006/main">
              <a:ext uri="{FF2B5EF4-FFF2-40B4-BE49-F238E27FC236}">
                <a16:creationId xmlns:a16="http://schemas.microsoft.com/office/drawing/2014/main" id="{B54E2D0E-CA7A-49F7-9CAA-3FF9D101855F}"/>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Related terms share genes</a:t>
            </a:r>
          </a:p>
        </p:txBody>
      </p:sp>
      <p:sp>
        <p:nvSpPr>
          <p:cNvPr id="11" name="TextBox 10">
            <a:extLst xmlns:a="http://schemas.openxmlformats.org/drawingml/2006/main">
              <a:ext uri="{FF2B5EF4-FFF2-40B4-BE49-F238E27FC236}">
                <a16:creationId xmlns:a16="http://schemas.microsoft.com/office/drawing/2014/main" id="{116C05EC-9A65-4ACE-856B-E3A26D92D36F}"/>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HSF1 activation and heat-response pathways are not independent findings.</a:t>
            </a:r>
          </a:p>
        </p:txBody>
      </p:sp>
      <p:sp>
        <p:nvSpPr>
          <p:cNvPr id="12" name="Rounded Rectangle 11">
            <a:extLst xmlns:a="http://schemas.openxmlformats.org/drawingml/2006/main">
              <a:ext uri="{FF2B5EF4-FFF2-40B4-BE49-F238E27FC236}">
                <a16:creationId xmlns:a16="http://schemas.microsoft.com/office/drawing/2014/main" id="{DB6204E1-2E47-409E-8D6B-004289E01DBB}"/>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1F4F7"/>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60300FD-7711-4369-8838-04195227F51B}"/>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4E5A68"/>
                </a:solidFill>
                <a:latin typeface="Arial"/>
                <a:ea typeface="Arial"/>
                <a:cs typeface="Arial"/>
              </a:rPr>
              <a:t>SEA-AD</a:t>
            </a:r>
          </a:p>
        </p:txBody>
      </p:sp>
      <p:sp>
        <p:nvSpPr>
          <p:cNvPr id="14" name="TextBox 13">
            <a:extLst xmlns:a="http://schemas.openxmlformats.org/drawingml/2006/main">
              <a:ext uri="{FF2B5EF4-FFF2-40B4-BE49-F238E27FC236}">
                <a16:creationId xmlns:a16="http://schemas.microsoft.com/office/drawing/2014/main" id="{28AC0E7A-F83D-43C6-B1D9-A86AF9D94E1A}"/>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No active vascular category</a:t>
            </a:r>
          </a:p>
        </p:txBody>
      </p:sp>
      <p:sp>
        <p:nvSpPr>
          <p:cNvPr id="15" name="TextBox 14">
            <a:extLst xmlns:a="http://schemas.openxmlformats.org/drawingml/2006/main">
              <a:ext uri="{FF2B5EF4-FFF2-40B4-BE49-F238E27FC236}">
                <a16:creationId xmlns:a16="http://schemas.microsoft.com/office/drawing/2014/main" id="{81315B00-F390-4BEA-BC5A-F86E8496C2D8}"/>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supplemental cohort cannot evaluate this context.</a:t>
            </a:r>
          </a:p>
        </p:txBody>
      </p:sp>
      <p:sp>
        <p:nvSpPr>
          <p:cNvPr id="16" name="Rounded Rectangle 15">
            <a:extLst xmlns:a="http://schemas.openxmlformats.org/drawingml/2006/main">
              <a:ext uri="{FF2B5EF4-FFF2-40B4-BE49-F238E27FC236}">
                <a16:creationId xmlns:a16="http://schemas.microsoft.com/office/drawing/2014/main" id="{96170627-5E15-4EB1-8CD7-D8045CA05A47}"/>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3F73A42-4714-4795-A615-2934D60CADD9}"/>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The candidate remains a low-confidence ROSMAP clue because of sparse internal support.</a:t>
            </a:r>
          </a:p>
        </p:txBody>
      </p:sp>
      <p:sp>
        <p:nvSpPr>
          <p:cNvPr id="18" name="TextBox 17">
            <a:extLst xmlns:a="http://schemas.openxmlformats.org/drawingml/2006/main">
              <a:ext uri="{FF2B5EF4-FFF2-40B4-BE49-F238E27FC236}">
                <a16:creationId xmlns:a16="http://schemas.microsoft.com/office/drawing/2014/main" id="{23ECF9F6-5573-4BB9-890C-A890E27E4F18}"/>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1888563001"/>
      </p:ext>
    </p:extLst>
  </p:cSld>
</p:sld>
</file>

<file path=ppt/slides/slide15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DAC85EA-B106-47F3-B616-4971DD6CE97A}"/>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0F233D"/>
                </a:solidFill>
                <a:latin typeface="Arial"/>
                <a:ea typeface="Arial"/>
                <a:cs typeface="Arial"/>
              </a:rPr>
              <a:t>Why this matters: vascular cells protect blood flow and the blood-brain barrier</a:t>
            </a:r>
          </a:p>
        </p:txBody>
      </p:sp>
      <p:sp>
        <p:nvSpPr>
          <p:cNvPr id="3" name="TextBox 2">
            <a:extLst xmlns:a="http://schemas.openxmlformats.org/drawingml/2006/main">
              <a:ext uri="{FF2B5EF4-FFF2-40B4-BE49-F238E27FC236}">
                <a16:creationId xmlns:a16="http://schemas.microsoft.com/office/drawing/2014/main" id="{F7D3D0DC-E68C-472A-A2C7-8BA190070AE6}"/>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protein-protection response could mark vascular strain near Alzheimer’s pathology.</a:t>
            </a:r>
          </a:p>
        </p:txBody>
      </p:sp>
      <p:sp>
        <p:nvSpPr>
          <p:cNvPr id="4" name="Rounded Rectangle 3">
            <a:extLst xmlns:a="http://schemas.openxmlformats.org/drawingml/2006/main">
              <a:ext uri="{FF2B5EF4-FFF2-40B4-BE49-F238E27FC236}">
                <a16:creationId xmlns:a16="http://schemas.microsoft.com/office/drawing/2014/main" id="{E7F04649-B1B3-4FA2-89D0-F6C01808C668}"/>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70C158D1-43DF-422B-88E1-D753312721F7}"/>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VASCULAR ROLE</a:t>
            </a:r>
          </a:p>
        </p:txBody>
      </p:sp>
      <p:sp>
        <p:nvSpPr>
          <p:cNvPr id="6" name="TextBox 5">
            <a:extLst xmlns:a="http://schemas.openxmlformats.org/drawingml/2006/main">
              <a:ext uri="{FF2B5EF4-FFF2-40B4-BE49-F238E27FC236}">
                <a16:creationId xmlns:a16="http://schemas.microsoft.com/office/drawing/2014/main" id="{0EEDEEBE-5497-4302-B526-2608A42999BC}"/>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Maintain brain circulation</a:t>
            </a:r>
          </a:p>
        </p:txBody>
      </p:sp>
      <p:sp>
        <p:nvSpPr>
          <p:cNvPr id="7" name="TextBox 6">
            <a:extLst xmlns:a="http://schemas.openxmlformats.org/drawingml/2006/main">
              <a:ext uri="{FF2B5EF4-FFF2-40B4-BE49-F238E27FC236}">
                <a16:creationId xmlns:a16="http://schemas.microsoft.com/office/drawing/2014/main" id="{FA17E3DB-03B9-4B52-8987-65F2A21A872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Vascular cells help regulate blood flow and barrier function.</a:t>
            </a:r>
          </a:p>
        </p:txBody>
      </p:sp>
      <p:sp>
        <p:nvSpPr>
          <p:cNvPr id="8" name="Rounded Rectangle 7">
            <a:extLst xmlns:a="http://schemas.openxmlformats.org/drawingml/2006/main">
              <a:ext uri="{FF2B5EF4-FFF2-40B4-BE49-F238E27FC236}">
                <a16:creationId xmlns:a16="http://schemas.microsoft.com/office/drawing/2014/main" id="{D7E4F167-CBF3-4549-9A78-B6F26F7A888B}"/>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B421CDDF-1E6A-4E19-ACE8-5D56EA611192}"/>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STRESS RESPONSE</a:t>
            </a:r>
          </a:p>
        </p:txBody>
      </p:sp>
      <p:sp>
        <p:nvSpPr>
          <p:cNvPr id="10" name="TextBox 9">
            <a:extLst xmlns:a="http://schemas.openxmlformats.org/drawingml/2006/main">
              <a:ext uri="{FF2B5EF4-FFF2-40B4-BE49-F238E27FC236}">
                <a16:creationId xmlns:a16="http://schemas.microsoft.com/office/drawing/2014/main" id="{FA3BBC75-0A0D-4D70-8707-2FCE388E22C5}"/>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Chaperones protect proteins</a:t>
            </a:r>
          </a:p>
        </p:txBody>
      </p:sp>
      <p:sp>
        <p:nvSpPr>
          <p:cNvPr id="11" name="TextBox 10">
            <a:extLst xmlns:a="http://schemas.openxmlformats.org/drawingml/2006/main">
              <a:ext uri="{FF2B5EF4-FFF2-40B4-BE49-F238E27FC236}">
                <a16:creationId xmlns:a16="http://schemas.microsoft.com/office/drawing/2014/main" id="{BEBB1C93-915B-45AF-949F-9E4FE971641B}"/>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module may reflect protein damage or a general protective reaction.</a:t>
            </a:r>
          </a:p>
        </p:txBody>
      </p:sp>
      <p:sp>
        <p:nvSpPr>
          <p:cNvPr id="12" name="Rounded Rectangle 11">
            <a:extLst xmlns:a="http://schemas.openxmlformats.org/drawingml/2006/main">
              <a:ext uri="{FF2B5EF4-FFF2-40B4-BE49-F238E27FC236}">
                <a16:creationId xmlns:a16="http://schemas.microsoft.com/office/drawing/2014/main" id="{F457BA7A-3663-4294-850F-F85C1B93F8C3}"/>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AF34E08B-BBCB-46BE-9123-C937FE20D4D8}"/>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UNKNOWN TRIGGER</a:t>
            </a:r>
          </a:p>
        </p:txBody>
      </p:sp>
      <p:sp>
        <p:nvSpPr>
          <p:cNvPr id="14" name="TextBox 13">
            <a:extLst xmlns:a="http://schemas.openxmlformats.org/drawingml/2006/main">
              <a:ext uri="{FF2B5EF4-FFF2-40B4-BE49-F238E27FC236}">
                <a16:creationId xmlns:a16="http://schemas.microsoft.com/office/drawing/2014/main" id="{5BBDFD27-E46B-4ACC-A44E-46666C00A5E5}"/>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Many stresses activate HSF1</a:t>
            </a:r>
          </a:p>
        </p:txBody>
      </p:sp>
      <p:sp>
        <p:nvSpPr>
          <p:cNvPr id="15" name="TextBox 14">
            <a:extLst xmlns:a="http://schemas.openxmlformats.org/drawingml/2006/main">
              <a:ext uri="{FF2B5EF4-FFF2-40B4-BE49-F238E27FC236}">
                <a16:creationId xmlns:a16="http://schemas.microsoft.com/office/drawing/2014/main" id="{B96FA72E-2924-43DD-85DE-56D577391139}"/>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Inflammation, oxidative stress, or other insults could produce the same genes.</a:t>
            </a:r>
          </a:p>
        </p:txBody>
      </p:sp>
      <p:sp>
        <p:nvSpPr>
          <p:cNvPr id="16" name="Rounded Rectangle 15">
            <a:extLst xmlns:a="http://schemas.openxmlformats.org/drawingml/2006/main">
              <a:ext uri="{FF2B5EF4-FFF2-40B4-BE49-F238E27FC236}">
                <a16:creationId xmlns:a16="http://schemas.microsoft.com/office/drawing/2014/main" id="{A3A994EC-0E16-48B8-AC88-C8791ACD88DD}"/>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ECC5BF49-F800-41CD-BE88-2A88EC3ED47C}"/>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402EBAB8-A7D2-4E36-9316-CA9A34CF3760}"/>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Spatial evidence can test whether the stress proteins rise near vascular Alzheimer’s pathology.</a:t>
            </a:r>
          </a:p>
        </p:txBody>
      </p:sp>
      <p:sp>
        <p:nvSpPr>
          <p:cNvPr id="19" name="TextBox 18">
            <a:extLst xmlns:a="http://schemas.openxmlformats.org/drawingml/2006/main">
              <a:ext uri="{FF2B5EF4-FFF2-40B4-BE49-F238E27FC236}">
                <a16:creationId xmlns:a16="http://schemas.microsoft.com/office/drawing/2014/main" id="{E1C67DA2-AE7D-4D60-BE9E-16F58F0C130E}"/>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780574730"/>
      </p:ext>
    </p:extLst>
  </p:cSld>
</p:sld>
</file>

<file path=ppt/slides/slide15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65C122C-AABD-4195-A2C7-7D285211C2D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16 does not prove, and the next evidence needed</a:t>
            </a:r>
          </a:p>
        </p:txBody>
      </p:sp>
      <p:sp>
        <p:nvSpPr>
          <p:cNvPr id="3" name="TextBox 2">
            <a:extLst xmlns:a="http://schemas.openxmlformats.org/drawingml/2006/main">
              <a:ext uri="{FF2B5EF4-FFF2-40B4-BE49-F238E27FC236}">
                <a16:creationId xmlns:a16="http://schemas.microsoft.com/office/drawing/2014/main" id="{0F9A32C3-4064-4A27-9B80-A85C8DDBD20F}"/>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A30BA365-049B-459E-A042-DFB723D9280F}"/>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24983D76-DB1E-4652-8599-AC59F746B347}"/>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EE1EF561-0898-4125-8C1D-2A9EAD478646}"/>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CCBABE0F-2756-458A-9DA2-8D51C9336AEE}"/>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86D2C0FC-4E07-4A8C-906D-A67BB2B78215}"/>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The type of stress that activated the genes</a:t>
            </a:r>
          </a:p>
        </p:txBody>
      </p:sp>
      <p:sp>
        <p:nvSpPr>
          <p:cNvPr id="9" name="Oval 8">
            <a:extLst xmlns:a="http://schemas.openxmlformats.org/drawingml/2006/main">
              <a:ext uri="{FF2B5EF4-FFF2-40B4-BE49-F238E27FC236}">
                <a16:creationId xmlns:a16="http://schemas.microsoft.com/office/drawing/2014/main" id="{110E0C3E-4483-4C8A-8A4D-9E23F7EEB33F}"/>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F6065554-A286-47AC-8640-DA0C5BA20A52}"/>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broad or sustained vascular response</a:t>
            </a:r>
          </a:p>
        </p:txBody>
      </p:sp>
      <p:sp>
        <p:nvSpPr>
          <p:cNvPr id="11" name="Oval 10">
            <a:extLst xmlns:a="http://schemas.openxmlformats.org/drawingml/2006/main">
              <a:ext uri="{FF2B5EF4-FFF2-40B4-BE49-F238E27FC236}">
                <a16:creationId xmlns:a16="http://schemas.microsoft.com/office/drawing/2014/main" id="{45DEE74B-2F99-4E5F-8880-C899541C82AF}"/>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48066F44-EF28-4748-887C-D4C5204D00A5}"/>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female by ε4 disease interaction</a:t>
            </a:r>
          </a:p>
        </p:txBody>
      </p:sp>
      <p:sp>
        <p:nvSpPr>
          <p:cNvPr id="13" name="Rounded Rectangle 12">
            <a:extLst xmlns:a="http://schemas.openxmlformats.org/drawingml/2006/main">
              <a:ext uri="{FF2B5EF4-FFF2-40B4-BE49-F238E27FC236}">
                <a16:creationId xmlns:a16="http://schemas.microsoft.com/office/drawing/2014/main" id="{E939EDE8-36EA-4905-A81B-755416534E2D}"/>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29EB9CBE-FD19-4F1D-A140-85CEECB2CA88}"/>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79C9E5B0-0268-4E16-8192-014C00889CBA}"/>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1DC2BC51-F1AA-4062-A830-278CF14975E8}"/>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AE738993-3945-44EA-8C93-D2F81B533839}"/>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Confirm the module in donor-level vascular data</a:t>
            </a:r>
          </a:p>
        </p:txBody>
      </p:sp>
      <p:sp>
        <p:nvSpPr>
          <p:cNvPr id="18" name="Oval 17">
            <a:extLst xmlns:a="http://schemas.openxmlformats.org/drawingml/2006/main">
              <a:ext uri="{FF2B5EF4-FFF2-40B4-BE49-F238E27FC236}">
                <a16:creationId xmlns:a16="http://schemas.microsoft.com/office/drawing/2014/main" id="{A3542EAD-D9B7-407C-8185-3C931869CA68}"/>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B5C9A346-D2A6-4E09-8335-FB45CF5531E3}"/>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Fit direct disease by sex by ε4 interactions</a:t>
            </a:r>
          </a:p>
        </p:txBody>
      </p:sp>
      <p:sp>
        <p:nvSpPr>
          <p:cNvPr id="20" name="Oval 19">
            <a:extLst xmlns:a="http://schemas.openxmlformats.org/drawingml/2006/main">
              <a:ext uri="{FF2B5EF4-FFF2-40B4-BE49-F238E27FC236}">
                <a16:creationId xmlns:a16="http://schemas.microsoft.com/office/drawing/2014/main" id="{D0EA3927-0015-41DE-9DA7-30CAD3E434C8}"/>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FEEE1A73-9946-43BA-B0B0-F266DC98E6D2}"/>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Measure HSF1 targets spatially near brain vessels</a:t>
            </a:r>
          </a:p>
        </p:txBody>
      </p:sp>
      <p:sp>
        <p:nvSpPr>
          <p:cNvPr id="22" name="TextBox 21">
            <a:extLst xmlns:a="http://schemas.openxmlformats.org/drawingml/2006/main">
              <a:ext uri="{FF2B5EF4-FFF2-40B4-BE49-F238E27FC236}">
                <a16:creationId xmlns:a16="http://schemas.microsoft.com/office/drawing/2014/main" id="{D0B9E282-0801-4ED5-93EE-820E5B46247F}"/>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D8DFC19D-FB9E-4040-BE8C-17FFCB80446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677317868"/>
      </p:ext>
    </p:extLst>
  </p:cSld>
</p:sld>
</file>

<file path=ppt/slides/slide15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3508688B-25B0-4073-AD63-62F146554541}"/>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16</a:t>
            </a:r>
          </a:p>
        </p:txBody>
      </p:sp>
      <p:sp>
        <p:nvSpPr>
          <p:cNvPr id="3" name="TextBox 2">
            <a:extLst xmlns:a="http://schemas.openxmlformats.org/drawingml/2006/main">
              <a:ext uri="{FF2B5EF4-FFF2-40B4-BE49-F238E27FC236}">
                <a16:creationId xmlns:a16="http://schemas.microsoft.com/office/drawing/2014/main" id="{3A41FB36-7742-48B7-AC03-52C491DE8A50}"/>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8F1A5C18-F0A3-484C-8355-D878AB58E483}"/>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2FCB0634-CD4C-49D0-8439-54357424EE06}"/>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Current network ORA</a:t>
            </a:r>
          </a:p>
        </p:txBody>
      </p:sp>
      <p:sp>
        <p:nvSpPr>
          <p:cNvPr id="6" name="TextBox 5">
            <a:extLst xmlns:a="http://schemas.openxmlformats.org/drawingml/2006/main">
              <a:ext uri="{FF2B5EF4-FFF2-40B4-BE49-F238E27FC236}">
                <a16:creationId xmlns:a16="http://schemas.microsoft.com/office/drawing/2014/main" id="{721B77BB-735E-4AB9-B934-9D5E277670EC}"/>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HSF1 activation</a:t>
            </a:r>
          </a:p>
        </p:txBody>
      </p:sp>
      <p:sp>
        <p:nvSpPr>
          <p:cNvPr id="7" name="TextBox 6">
            <a:extLst xmlns:a="http://schemas.openxmlformats.org/drawingml/2006/main">
              <a:ext uri="{FF2B5EF4-FFF2-40B4-BE49-F238E27FC236}">
                <a16:creationId xmlns:a16="http://schemas.microsoft.com/office/drawing/2014/main" id="{57D1B63E-7FED-4F80-BE8D-A69FF07E3C87}"/>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85DB6599-B1DB-4BFF-A9B5-85D4F1974EFD}"/>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enrichment of a focused stress-response pathway in female ε4 vascular drivers.</a:t>
            </a:r>
          </a:p>
        </p:txBody>
      </p:sp>
      <p:sp>
        <p:nvSpPr>
          <p:cNvPr id="9" name="TextBox 8">
            <a:extLst xmlns:a="http://schemas.openxmlformats.org/drawingml/2006/main">
              <a:ext uri="{FF2B5EF4-FFF2-40B4-BE49-F238E27FC236}">
                <a16:creationId xmlns:a16="http://schemas.microsoft.com/office/drawing/2014/main" id="{F1A5F1FA-A819-421D-8A1A-27D5F360CDA9}"/>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8E594356-7431-49A8-83CE-22C6021C1D50}"/>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Only three related genes and two calls drive the result.</a:t>
            </a:r>
          </a:p>
        </p:txBody>
      </p:sp>
      <p:sp>
        <p:nvSpPr>
          <p:cNvPr id="11" name="Rounded Rectangle 10">
            <a:extLst xmlns:a="http://schemas.openxmlformats.org/drawingml/2006/main">
              <a:ext uri="{FF2B5EF4-FFF2-40B4-BE49-F238E27FC236}">
                <a16:creationId xmlns:a16="http://schemas.microsoft.com/office/drawing/2014/main" id="{10535B00-4C24-4B62-A381-20486183AF59}"/>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8620659-5161-4996-94EA-EF786B5AB69F}"/>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Guo et al. 2023</a:t>
            </a:r>
          </a:p>
        </p:txBody>
      </p:sp>
      <p:sp>
        <p:nvSpPr>
          <p:cNvPr id="13" name="TextBox 12">
            <a:extLst xmlns:a="http://schemas.openxmlformats.org/drawingml/2006/main">
              <a:ext uri="{FF2B5EF4-FFF2-40B4-BE49-F238E27FC236}">
                <a16:creationId xmlns:a16="http://schemas.microsoft.com/office/drawing/2014/main" id="{5FD0FD60-67A9-46A2-A0C2-BD00BFD8E136}"/>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 and sex-aware AD networks</a:t>
            </a:r>
          </a:p>
        </p:txBody>
      </p:sp>
      <p:sp>
        <p:nvSpPr>
          <p:cNvPr id="14" name="TextBox 13">
            <a:extLst xmlns:a="http://schemas.openxmlformats.org/drawingml/2006/main">
              <a:ext uri="{FF2B5EF4-FFF2-40B4-BE49-F238E27FC236}">
                <a16:creationId xmlns:a16="http://schemas.microsoft.com/office/drawing/2014/main" id="{FC9A5945-622E-40BE-B724-AAB72173A811}"/>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48320009-CECE-493D-9F64-0DF749B34DA0}"/>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Supports resolving Alzheimer’s responses by cell type and sex.</a:t>
            </a:r>
          </a:p>
        </p:txBody>
      </p:sp>
      <p:sp>
        <p:nvSpPr>
          <p:cNvPr id="16" name="TextBox 15">
            <a:extLst xmlns:a="http://schemas.openxmlformats.org/drawingml/2006/main">
              <a:ext uri="{FF2B5EF4-FFF2-40B4-BE49-F238E27FC236}">
                <a16:creationId xmlns:a16="http://schemas.microsoft.com/office/drawing/2014/main" id="{038C98BE-C6DD-4572-9471-1B4F0500497E}"/>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489DFA65-C5A0-4E5D-A248-63CDCD608FC3}"/>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Does not report this vascular heat-shock module.</a:t>
            </a:r>
          </a:p>
        </p:txBody>
      </p:sp>
      <p:sp>
        <p:nvSpPr>
          <p:cNvPr id="18" name="Rounded Rectangle 17">
            <a:extLst xmlns:a="http://schemas.openxmlformats.org/drawingml/2006/main">
              <a:ext uri="{FF2B5EF4-FFF2-40B4-BE49-F238E27FC236}">
                <a16:creationId xmlns:a16="http://schemas.microsoft.com/office/drawing/2014/main" id="{0D3F8FF3-5BE6-40A1-8F16-B9D6958718E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9B16BB0-7772-4660-AD31-F1FA07319990}"/>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Mathys et al. 2024</a:t>
            </a:r>
          </a:p>
        </p:txBody>
      </p:sp>
      <p:sp>
        <p:nvSpPr>
          <p:cNvPr id="20" name="TextBox 19">
            <a:extLst xmlns:a="http://schemas.openxmlformats.org/drawingml/2006/main">
              <a:ext uri="{FF2B5EF4-FFF2-40B4-BE49-F238E27FC236}">
                <a16:creationId xmlns:a16="http://schemas.microsoft.com/office/drawing/2014/main" id="{406DDA8F-6CA4-4498-A5A5-E31BA22CADE1}"/>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Cell-resolved AD heterogeneity</a:t>
            </a:r>
          </a:p>
        </p:txBody>
      </p:sp>
      <p:sp>
        <p:nvSpPr>
          <p:cNvPr id="21" name="TextBox 20">
            <a:extLst xmlns:a="http://schemas.openxmlformats.org/drawingml/2006/main">
              <a:ext uri="{FF2B5EF4-FFF2-40B4-BE49-F238E27FC236}">
                <a16:creationId xmlns:a16="http://schemas.microsoft.com/office/drawing/2014/main" id="{C769C364-4F69-4CCF-AD7E-FA60268EBAB1}"/>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326090D1-597B-4F2B-9D4E-4B241CA0C409}"/>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Shows that disease-associated states differ across brain cell populations.</a:t>
            </a:r>
          </a:p>
        </p:txBody>
      </p:sp>
      <p:sp>
        <p:nvSpPr>
          <p:cNvPr id="23" name="TextBox 22">
            <a:extLst xmlns:a="http://schemas.openxmlformats.org/drawingml/2006/main">
              <a:ext uri="{FF2B5EF4-FFF2-40B4-BE49-F238E27FC236}">
                <a16:creationId xmlns:a16="http://schemas.microsoft.com/office/drawing/2014/main" id="{EE9AB56D-B3EA-46D2-8BE8-B9CC6C0E1E96}"/>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1954DC6C-F372-4277-9FBD-525101A6EEB1}"/>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Uses ROSMAP and does not independently replicate this module.</a:t>
            </a:r>
          </a:p>
        </p:txBody>
      </p:sp>
      <p:sp>
        <p:nvSpPr>
          <p:cNvPr id="25" name="Rounded Rectangle 24">
            <a:extLst xmlns:a="http://schemas.openxmlformats.org/drawingml/2006/main">
              <a:ext uri="{FF2B5EF4-FFF2-40B4-BE49-F238E27FC236}">
                <a16:creationId xmlns:a16="http://schemas.microsoft.com/office/drawing/2014/main" id="{67D45B71-8398-4BE9-9FDD-5A7ADF10F782}"/>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78701A3A-71A8-430C-BC29-C73627C6FE7E}"/>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5D0984D0-D907-4796-A3AF-1D18E3D37E89}"/>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16.</a:t>
            </a:r>
          </a:p>
        </p:txBody>
      </p:sp>
    </p:spTree>
    <p:extLst>
      <p:ext uri="{BB962C8B-B14F-4D97-AF65-F5344CB8AC3E}">
        <p14:creationId xmlns:p14="http://schemas.microsoft.com/office/powerpoint/2010/main" val="685267547"/>
      </p:ext>
    </p:extLst>
  </p:cSld>
</p:sld>
</file>

<file path=ppt/slides/slide156.xml><?xml version="1.0" encoding="utf-8"?>
<p:sld xmlns:p="http://schemas.openxmlformats.org/presentationml/2006/main">
  <p:cSld>
    <p:bg>
      <p:bgPr>
        <a:solidFill xmlns:a="http://schemas.openxmlformats.org/drawingml/2006/main">
          <a:srgbClr val="0F233D"/>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F1CDD8E-8E4C-47F0-9945-65FF2B55A86A}"/>
              </a:ext>
            </a:extLst>
          </p:cNvPr>
          <p:cNvSpPr>
            <a:spLocks xmlns:a="http://schemas.openxmlformats.org/drawingml/2006/main" noGrp="1"/>
          </p:cNvSpPr>
          <p:nvPr/>
        </p:nvSpPr>
        <p:spPr>
          <a:xfrm xmlns:a="http://schemas.openxmlformats.org/drawingml/2006/main">
            <a:off x="713232" y="612648"/>
            <a:ext cx="2194560" cy="21698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50" b="1" i="0">
                <a:solidFill>
                  <a:srgbClr val="E69F00"/>
                </a:solidFill>
                <a:latin typeface="Arial"/>
                <a:ea typeface="Arial"/>
                <a:cs typeface="Arial"/>
              </a:rPr>
              <a:t>FINDING 17</a:t>
            </a:r>
          </a:p>
        </p:txBody>
      </p:sp>
      <p:sp>
        <p:nvSpPr>
          <p:cNvPr id="3" name="Rectangle 2">
            <a:extLst xmlns:a="http://schemas.openxmlformats.org/drawingml/2006/main">
              <a:ext uri="{FF2B5EF4-FFF2-40B4-BE49-F238E27FC236}">
                <a16:creationId xmlns:a16="http://schemas.microsoft.com/office/drawing/2014/main" id="{155B7172-6FC6-4CFC-95FF-65E112CAAC88}"/>
              </a:ext>
            </a:extLst>
          </p:cNvPr>
          <p:cNvSpPr>
            <a:spLocks xmlns:a="http://schemas.openxmlformats.org/drawingml/2006/main" noGrp="1"/>
          </p:cNvSpPr>
          <p:nvPr/>
        </p:nvSpPr>
        <p:spPr>
          <a:xfrm xmlns:a="http://schemas.openxmlformats.org/drawingml/2006/main">
            <a:off x="713232" y="1152144"/>
            <a:ext cx="91440" cy="2176272"/>
          </a:xfrm>
          <a:prstGeom xmlns:a="http://schemas.openxmlformats.org/drawingml/2006/main" prst="rect">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4" name="TextBox 3">
            <a:extLst xmlns:a="http://schemas.openxmlformats.org/drawingml/2006/main">
              <a:ext uri="{FF2B5EF4-FFF2-40B4-BE49-F238E27FC236}">
                <a16:creationId xmlns:a16="http://schemas.microsoft.com/office/drawing/2014/main" id="{B07CED36-38A0-466B-B238-C3173273DC01}"/>
              </a:ext>
            </a:extLst>
          </p:cNvPr>
          <p:cNvSpPr>
            <a:spLocks xmlns:a="http://schemas.openxmlformats.org/drawingml/2006/main" noGrp="1"/>
          </p:cNvSpPr>
          <p:nvPr/>
        </p:nvSpPr>
        <p:spPr>
          <a:xfrm xmlns:a="http://schemas.openxmlformats.org/drawingml/2006/main">
            <a:off x="1078992" y="1243584"/>
            <a:ext cx="7498079" cy="9601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2000" b="1" i="0">
                <a:solidFill>
                  <a:srgbClr val="FFFFFF"/>
                </a:solidFill>
                <a:latin typeface="Arial"/>
                <a:ea typeface="Arial"/>
                <a:cs typeface="Arial"/>
              </a:rPr>
              <a:t>SEA-AD provides program and cross-context support despite no exact driver matches</a:t>
            </a:r>
          </a:p>
        </p:txBody>
      </p:sp>
      <p:sp>
        <p:nvSpPr>
          <p:cNvPr id="5" name="TextBox 4">
            <a:extLst xmlns:a="http://schemas.openxmlformats.org/drawingml/2006/main">
              <a:ext uri="{FF2B5EF4-FFF2-40B4-BE49-F238E27FC236}">
                <a16:creationId xmlns:a16="http://schemas.microsoft.com/office/drawing/2014/main" id="{4EC73085-128A-4138-A4A9-C93B3B0AD5E0}"/>
              </a:ext>
            </a:extLst>
          </p:cNvPr>
          <p:cNvSpPr>
            <a:spLocks xmlns:a="http://schemas.openxmlformats.org/drawingml/2006/main" noGrp="1"/>
          </p:cNvSpPr>
          <p:nvPr/>
        </p:nvSpPr>
        <p:spPr>
          <a:xfrm xmlns:a="http://schemas.openxmlformats.org/drawingml/2006/main">
            <a:off x="1097280" y="2468880"/>
            <a:ext cx="7406640"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00" b="0" i="0">
                <a:solidFill>
                  <a:srgbClr val="CCDBEA"/>
                </a:solidFill>
                <a:latin typeface="Arial"/>
                <a:ea typeface="Arial"/>
                <a:cs typeface="Arial"/>
              </a:rPr>
              <a:t>Cross-cohort reproducibility finding.</a:t>
            </a:r>
          </a:p>
        </p:txBody>
      </p:sp>
      <p:sp>
        <p:nvSpPr>
          <p:cNvPr id="6" name="Rounded Rectangle 5">
            <a:extLst xmlns:a="http://schemas.openxmlformats.org/drawingml/2006/main">
              <a:ext uri="{FF2B5EF4-FFF2-40B4-BE49-F238E27FC236}">
                <a16:creationId xmlns:a16="http://schemas.microsoft.com/office/drawing/2014/main" id="{2815F048-6CD5-4E68-8355-09E904DC9FC7}"/>
              </a:ext>
            </a:extLst>
          </p:cNvPr>
          <p:cNvSpPr>
            <a:spLocks xmlns:a="http://schemas.openxmlformats.org/drawingml/2006/main" noGrp="1"/>
          </p:cNvSpPr>
          <p:nvPr/>
        </p:nvSpPr>
        <p:spPr>
          <a:xfrm xmlns:a="http://schemas.openxmlformats.org/drawingml/2006/main">
            <a:off x="8942832" y="1170432"/>
            <a:ext cx="2468880" cy="4297680"/>
          </a:xfrm>
          <a:prstGeom xmlns:a="http://schemas.openxmlformats.org/drawingml/2006/main" prst="roundRect">
            <a:avLst/>
          </a:prstGeom>
          <a:solidFill xmlns:a="http://schemas.openxmlformats.org/drawingml/2006/main">
            <a:srgbClr val="1E3B5B"/>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062143CE-18E2-42AE-8983-7DEF2DF7475B}"/>
              </a:ext>
            </a:extLst>
          </p:cNvPr>
          <p:cNvSpPr>
            <a:spLocks xmlns:a="http://schemas.openxmlformats.org/drawingml/2006/main" noGrp="1"/>
          </p:cNvSpPr>
          <p:nvPr/>
        </p:nvSpPr>
        <p:spPr>
          <a:xfrm xmlns:a="http://schemas.openxmlformats.org/drawingml/2006/main">
            <a:off x="9217152" y="1527048"/>
            <a:ext cx="19202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E69F00"/>
                </a:solidFill>
                <a:latin typeface="Arial"/>
                <a:ea typeface="Arial"/>
                <a:cs typeface="Arial"/>
              </a:rPr>
              <a:t>IN THIS FINDING</a:t>
            </a:r>
          </a:p>
        </p:txBody>
      </p:sp>
      <p:sp>
        <p:nvSpPr>
          <p:cNvPr id="8" name="Oval 7">
            <a:extLst xmlns:a="http://schemas.openxmlformats.org/drawingml/2006/main">
              <a:ext uri="{FF2B5EF4-FFF2-40B4-BE49-F238E27FC236}">
                <a16:creationId xmlns:a16="http://schemas.microsoft.com/office/drawing/2014/main" id="{722BEF58-4153-4364-9D90-B400B7E63107}"/>
              </a:ext>
            </a:extLst>
          </p:cNvPr>
          <p:cNvSpPr>
            <a:spLocks xmlns:a="http://schemas.openxmlformats.org/drawingml/2006/main" noGrp="1"/>
          </p:cNvSpPr>
          <p:nvPr/>
        </p:nvSpPr>
        <p:spPr>
          <a:xfrm xmlns:a="http://schemas.openxmlformats.org/drawingml/2006/main">
            <a:off x="9198864" y="2039112"/>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03AC467C-0A18-4A3D-86F0-F72DA388151E}"/>
              </a:ext>
            </a:extLst>
          </p:cNvPr>
          <p:cNvSpPr>
            <a:spLocks xmlns:a="http://schemas.openxmlformats.org/drawingml/2006/main" noGrp="1"/>
          </p:cNvSpPr>
          <p:nvPr/>
        </p:nvSpPr>
        <p:spPr>
          <a:xfrm xmlns:a="http://schemas.openxmlformats.org/drawingml/2006/main">
            <a:off x="9198864" y="2084832"/>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1</a:t>
            </a:r>
          </a:p>
        </p:txBody>
      </p:sp>
      <p:sp>
        <p:nvSpPr>
          <p:cNvPr id="10" name="TextBox 9">
            <a:extLst xmlns:a="http://schemas.openxmlformats.org/drawingml/2006/main">
              <a:ext uri="{FF2B5EF4-FFF2-40B4-BE49-F238E27FC236}">
                <a16:creationId xmlns:a16="http://schemas.microsoft.com/office/drawing/2014/main" id="{3FBDD533-731A-4C39-A879-2D039CAEF308}"/>
              </a:ext>
            </a:extLst>
          </p:cNvPr>
          <p:cNvSpPr>
            <a:spLocks xmlns:a="http://schemas.openxmlformats.org/drawingml/2006/main" noGrp="1"/>
          </p:cNvSpPr>
          <p:nvPr/>
        </p:nvSpPr>
        <p:spPr>
          <a:xfrm xmlns:a="http://schemas.openxmlformats.org/drawingml/2006/main">
            <a:off x="9628632" y="2011680"/>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Plain-language statement</a:t>
            </a:r>
          </a:p>
        </p:txBody>
      </p:sp>
      <p:sp>
        <p:nvSpPr>
          <p:cNvPr id="11" name="Oval 10">
            <a:extLst xmlns:a="http://schemas.openxmlformats.org/drawingml/2006/main">
              <a:ext uri="{FF2B5EF4-FFF2-40B4-BE49-F238E27FC236}">
                <a16:creationId xmlns:a16="http://schemas.microsoft.com/office/drawing/2014/main" id="{1A263ED8-7BAC-4A4C-A249-5D22BFDAEA4E}"/>
              </a:ext>
            </a:extLst>
          </p:cNvPr>
          <p:cNvSpPr>
            <a:spLocks xmlns:a="http://schemas.openxmlformats.org/drawingml/2006/main" noGrp="1"/>
          </p:cNvSpPr>
          <p:nvPr/>
        </p:nvSpPr>
        <p:spPr>
          <a:xfrm xmlns:a="http://schemas.openxmlformats.org/drawingml/2006/main">
            <a:off x="9198864" y="2788920"/>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1E5C0863-D04F-49D7-953B-D5B863642252}"/>
              </a:ext>
            </a:extLst>
          </p:cNvPr>
          <p:cNvSpPr>
            <a:spLocks xmlns:a="http://schemas.openxmlformats.org/drawingml/2006/main" noGrp="1"/>
          </p:cNvSpPr>
          <p:nvPr/>
        </p:nvSpPr>
        <p:spPr>
          <a:xfrm xmlns:a="http://schemas.openxmlformats.org/drawingml/2006/main">
            <a:off x="9198864" y="2834640"/>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2</a:t>
            </a:r>
          </a:p>
        </p:txBody>
      </p:sp>
      <p:sp>
        <p:nvSpPr>
          <p:cNvPr id="13" name="TextBox 12">
            <a:extLst xmlns:a="http://schemas.openxmlformats.org/drawingml/2006/main">
              <a:ext uri="{FF2B5EF4-FFF2-40B4-BE49-F238E27FC236}">
                <a16:creationId xmlns:a16="http://schemas.microsoft.com/office/drawing/2014/main" id="{499D9A72-4A58-4A93-B843-9E91BEF41ECF}"/>
              </a:ext>
            </a:extLst>
          </p:cNvPr>
          <p:cNvSpPr>
            <a:spLocks xmlns:a="http://schemas.openxmlformats.org/drawingml/2006/main" noGrp="1"/>
          </p:cNvSpPr>
          <p:nvPr/>
        </p:nvSpPr>
        <p:spPr>
          <a:xfrm xmlns:a="http://schemas.openxmlformats.org/drawingml/2006/main">
            <a:off x="9628632" y="2761488"/>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ROSMAP evidence</a:t>
            </a:r>
          </a:p>
        </p:txBody>
      </p:sp>
      <p:sp>
        <p:nvSpPr>
          <p:cNvPr id="14" name="Oval 13">
            <a:extLst xmlns:a="http://schemas.openxmlformats.org/drawingml/2006/main">
              <a:ext uri="{FF2B5EF4-FFF2-40B4-BE49-F238E27FC236}">
                <a16:creationId xmlns:a16="http://schemas.microsoft.com/office/drawing/2014/main" id="{59DF7874-5DC6-4469-BFFA-686B66574B51}"/>
              </a:ext>
            </a:extLst>
          </p:cNvPr>
          <p:cNvSpPr>
            <a:spLocks xmlns:a="http://schemas.openxmlformats.org/drawingml/2006/main" noGrp="1"/>
          </p:cNvSpPr>
          <p:nvPr/>
        </p:nvSpPr>
        <p:spPr>
          <a:xfrm xmlns:a="http://schemas.openxmlformats.org/drawingml/2006/main">
            <a:off x="9198864" y="3538727"/>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E1E1ADF-52FC-407C-AEF1-4CFF921CD50D}"/>
              </a:ext>
            </a:extLst>
          </p:cNvPr>
          <p:cNvSpPr>
            <a:spLocks xmlns:a="http://schemas.openxmlformats.org/drawingml/2006/main" noGrp="1"/>
          </p:cNvSpPr>
          <p:nvPr/>
        </p:nvSpPr>
        <p:spPr>
          <a:xfrm xmlns:a="http://schemas.openxmlformats.org/drawingml/2006/main">
            <a:off x="9198864" y="3584448"/>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3</a:t>
            </a:r>
          </a:p>
        </p:txBody>
      </p:sp>
      <p:sp>
        <p:nvSpPr>
          <p:cNvPr id="16" name="TextBox 15">
            <a:extLst xmlns:a="http://schemas.openxmlformats.org/drawingml/2006/main">
              <a:ext uri="{FF2B5EF4-FFF2-40B4-BE49-F238E27FC236}">
                <a16:creationId xmlns:a16="http://schemas.microsoft.com/office/drawing/2014/main" id="{9ECD6740-D8C1-467F-83C9-DFD061E41CD9}"/>
              </a:ext>
            </a:extLst>
          </p:cNvPr>
          <p:cNvSpPr>
            <a:spLocks xmlns:a="http://schemas.openxmlformats.org/drawingml/2006/main" noGrp="1"/>
          </p:cNvSpPr>
          <p:nvPr/>
        </p:nvSpPr>
        <p:spPr>
          <a:xfrm xmlns:a="http://schemas.openxmlformats.org/drawingml/2006/main">
            <a:off x="9628632" y="3511296"/>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Support and context</a:t>
            </a:r>
          </a:p>
        </p:txBody>
      </p:sp>
      <p:sp>
        <p:nvSpPr>
          <p:cNvPr id="17" name="Oval 16">
            <a:extLst xmlns:a="http://schemas.openxmlformats.org/drawingml/2006/main">
              <a:ext uri="{FF2B5EF4-FFF2-40B4-BE49-F238E27FC236}">
                <a16:creationId xmlns:a16="http://schemas.microsoft.com/office/drawing/2014/main" id="{0C0B33DE-F51C-489D-BFB9-2776372B77DD}"/>
              </a:ext>
            </a:extLst>
          </p:cNvPr>
          <p:cNvSpPr>
            <a:spLocks xmlns:a="http://schemas.openxmlformats.org/drawingml/2006/main" noGrp="1"/>
          </p:cNvSpPr>
          <p:nvPr/>
        </p:nvSpPr>
        <p:spPr>
          <a:xfrm xmlns:a="http://schemas.openxmlformats.org/drawingml/2006/main">
            <a:off x="9198864" y="4288536"/>
            <a:ext cx="310896" cy="310896"/>
          </a:xfrm>
          <a:prstGeom xmlns:a="http://schemas.openxmlformats.org/drawingml/2006/main" prst="ellipse">
            <a:avLst/>
          </a:prstGeom>
          <a:solidFill xmlns:a="http://schemas.openxmlformats.org/drawingml/2006/main">
            <a:srgbClr val="E69F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8" name="TextBox 17">
            <a:extLst xmlns:a="http://schemas.openxmlformats.org/drawingml/2006/main">
              <a:ext uri="{FF2B5EF4-FFF2-40B4-BE49-F238E27FC236}">
                <a16:creationId xmlns:a16="http://schemas.microsoft.com/office/drawing/2014/main" id="{6FCA78BE-669F-4026-8AEC-92F11B5AFF2C}"/>
              </a:ext>
            </a:extLst>
          </p:cNvPr>
          <p:cNvSpPr>
            <a:spLocks xmlns:a="http://schemas.openxmlformats.org/drawingml/2006/main" noGrp="1"/>
          </p:cNvSpPr>
          <p:nvPr/>
        </p:nvSpPr>
        <p:spPr>
          <a:xfrm xmlns:a="http://schemas.openxmlformats.org/drawingml/2006/main">
            <a:off x="9198864" y="4334256"/>
            <a:ext cx="310896" cy="1554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819" b="1" i="0">
                <a:solidFill>
                  <a:srgbClr val="0F233D"/>
                </a:solidFill>
                <a:latin typeface="Arial"/>
                <a:ea typeface="Arial"/>
                <a:cs typeface="Arial"/>
              </a:rPr>
              <a:t>4</a:t>
            </a:r>
          </a:p>
        </p:txBody>
      </p:sp>
      <p:sp>
        <p:nvSpPr>
          <p:cNvPr id="19" name="TextBox 18">
            <a:extLst xmlns:a="http://schemas.openxmlformats.org/drawingml/2006/main">
              <a:ext uri="{FF2B5EF4-FFF2-40B4-BE49-F238E27FC236}">
                <a16:creationId xmlns:a16="http://schemas.microsoft.com/office/drawing/2014/main" id="{9EE09A54-D439-4082-9AEA-C89B122CA79C}"/>
              </a:ext>
            </a:extLst>
          </p:cNvPr>
          <p:cNvSpPr>
            <a:spLocks xmlns:a="http://schemas.openxmlformats.org/drawingml/2006/main" noGrp="1"/>
          </p:cNvSpPr>
          <p:nvPr/>
        </p:nvSpPr>
        <p:spPr>
          <a:xfrm xmlns:a="http://schemas.openxmlformats.org/drawingml/2006/main">
            <a:off x="9628632" y="4261104"/>
            <a:ext cx="1444752" cy="47548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110" b="1" i="0">
                <a:solidFill>
                  <a:srgbClr val="FFFFFF"/>
                </a:solidFill>
                <a:latin typeface="Arial"/>
                <a:ea typeface="Arial"/>
                <a:cs typeface="Arial"/>
              </a:rPr>
              <a:t>Meaning, limits, literature</a:t>
            </a:r>
          </a:p>
        </p:txBody>
      </p:sp>
      <p:sp>
        <p:nvSpPr>
          <p:cNvPr id="20" name="Rounded Rectangle 19">
            <a:extLst xmlns:a="http://schemas.openxmlformats.org/drawingml/2006/main">
              <a:ext uri="{FF2B5EF4-FFF2-40B4-BE49-F238E27FC236}">
                <a16:creationId xmlns:a16="http://schemas.microsoft.com/office/drawing/2014/main" id="{A771122C-C83A-45AF-A849-0EC53E27305A}"/>
              </a:ext>
            </a:extLst>
          </p:cNvPr>
          <p:cNvSpPr>
            <a:spLocks xmlns:a="http://schemas.openxmlformats.org/drawingml/2006/main" noGrp="1"/>
          </p:cNvSpPr>
          <p:nvPr/>
        </p:nvSpPr>
        <p:spPr>
          <a:xfrm xmlns:a="http://schemas.openxmlformats.org/drawingml/2006/main">
            <a:off x="1078992" y="4096512"/>
            <a:ext cx="7269480" cy="658368"/>
          </a:xfrm>
          <a:prstGeom xmlns:a="http://schemas.openxmlformats.org/drawingml/2006/main" prst="roundRect">
            <a:avLst/>
          </a:prstGeom>
          <a:solidFill xmlns:a="http://schemas.openxmlformats.org/drawingml/2006/main">
            <a:srgbClr val="1E3B5B"/>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B2BEC5AF-7069-474A-B962-1CBCE4BBC87B}"/>
              </a:ext>
            </a:extLst>
          </p:cNvPr>
          <p:cNvSpPr>
            <a:spLocks xmlns:a="http://schemas.openxmlformats.org/drawingml/2006/main" noGrp="1"/>
          </p:cNvSpPr>
          <p:nvPr/>
        </p:nvSpPr>
        <p:spPr>
          <a:xfrm xmlns:a="http://schemas.openxmlformats.org/drawingml/2006/main">
            <a:off x="1353312" y="4270248"/>
            <a:ext cx="672084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FFFFFF"/>
                </a:solidFill>
                <a:latin typeface="Arial"/>
                <a:ea typeface="Arial"/>
                <a:cs typeface="Arial"/>
              </a:rPr>
              <a:t>Programs agree more strongly than exact driver identities across the two cohort-specific network analyses.</a:t>
            </a:r>
          </a:p>
        </p:txBody>
      </p:sp>
    </p:spTree>
    <p:extLst>
      <p:ext uri="{BB962C8B-B14F-4D97-AF65-F5344CB8AC3E}">
        <p14:creationId xmlns:p14="http://schemas.microsoft.com/office/powerpoint/2010/main" val="2039798513"/>
      </p:ext>
    </p:extLst>
  </p:cSld>
</p:sld>
</file>

<file path=ppt/slides/slide15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C1DF330A-59B8-4C56-BF14-16228D7C79E0}"/>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ROSMAP and SEA-AD agree more on mitochondrial programs than on exact drivers</a:t>
            </a:r>
          </a:p>
        </p:txBody>
      </p:sp>
      <p:sp>
        <p:nvSpPr>
          <p:cNvPr id="3" name="TextBox 2">
            <a:extLst xmlns:a="http://schemas.openxmlformats.org/drawingml/2006/main">
              <a:ext uri="{FF2B5EF4-FFF2-40B4-BE49-F238E27FC236}">
                <a16:creationId xmlns:a16="http://schemas.microsoft.com/office/drawing/2014/main" id="{BE312BEF-4654-4EBA-8CF8-4F682720F0CE}"/>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Exact context means the same gene, sex/APOE group, and broad cell class in both cohorts.</a:t>
            </a:r>
          </a:p>
        </p:txBody>
      </p:sp>
      <p:sp>
        <p:nvSpPr>
          <p:cNvPr id="4" name="Rounded Rectangle 3">
            <a:extLst xmlns:a="http://schemas.openxmlformats.org/drawingml/2006/main">
              <a:ext uri="{FF2B5EF4-FFF2-40B4-BE49-F238E27FC236}">
                <a16:creationId xmlns:a16="http://schemas.microsoft.com/office/drawing/2014/main" id="{21BBC1B0-AE5D-4C34-B1DF-455591D1A32D}"/>
              </a:ext>
            </a:extLst>
          </p:cNvPr>
          <p:cNvSpPr>
            <a:spLocks xmlns:a="http://schemas.openxmlformats.org/drawingml/2006/main" noGrp="1"/>
          </p:cNvSpPr>
          <p:nvPr/>
        </p:nvSpPr>
        <p:spPr>
          <a:xfrm xmlns:a="http://schemas.openxmlformats.org/drawingml/2006/main">
            <a:off x="749808" y="1298448"/>
            <a:ext cx="2542032" cy="438912"/>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62C70D88-CA29-4902-A408-038E3E78D88B}"/>
              </a:ext>
            </a:extLst>
          </p:cNvPr>
          <p:cNvSpPr>
            <a:spLocks xmlns:a="http://schemas.openxmlformats.org/drawingml/2006/main" noGrp="1"/>
          </p:cNvSpPr>
          <p:nvPr/>
        </p:nvSpPr>
        <p:spPr>
          <a:xfrm xmlns:a="http://schemas.openxmlformats.org/drawingml/2006/main">
            <a:off x="841247"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72B2"/>
                </a:solidFill>
                <a:latin typeface="Arial"/>
                <a:ea typeface="Arial"/>
                <a:cs typeface="Arial"/>
              </a:rPr>
              <a:t>ROSMAP discovery</a:t>
            </a:r>
          </a:p>
        </p:txBody>
      </p:sp>
      <p:sp>
        <p:nvSpPr>
          <p:cNvPr id="6" name="Rounded Rectangle 5">
            <a:extLst xmlns:a="http://schemas.openxmlformats.org/drawingml/2006/main">
              <a:ext uri="{FF2B5EF4-FFF2-40B4-BE49-F238E27FC236}">
                <a16:creationId xmlns:a16="http://schemas.microsoft.com/office/drawing/2014/main" id="{1B4B94DC-5846-4CAE-8E60-C2B1F2A97C2D}"/>
              </a:ext>
            </a:extLst>
          </p:cNvPr>
          <p:cNvSpPr>
            <a:spLocks xmlns:a="http://schemas.openxmlformats.org/drawingml/2006/main" noGrp="1"/>
          </p:cNvSpPr>
          <p:nvPr/>
        </p:nvSpPr>
        <p:spPr>
          <a:xfrm xmlns:a="http://schemas.openxmlformats.org/drawingml/2006/main">
            <a:off x="3566160" y="1298448"/>
            <a:ext cx="2542032" cy="438912"/>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7" name="TextBox 6">
            <a:extLst xmlns:a="http://schemas.openxmlformats.org/drawingml/2006/main">
              <a:ext uri="{FF2B5EF4-FFF2-40B4-BE49-F238E27FC236}">
                <a16:creationId xmlns:a16="http://schemas.microsoft.com/office/drawing/2014/main" id="{328B68B7-034B-41D5-A81D-B158583B61CC}"/>
              </a:ext>
            </a:extLst>
          </p:cNvPr>
          <p:cNvSpPr>
            <a:spLocks xmlns:a="http://schemas.openxmlformats.org/drawingml/2006/main" noGrp="1"/>
          </p:cNvSpPr>
          <p:nvPr/>
        </p:nvSpPr>
        <p:spPr>
          <a:xfrm xmlns:a="http://schemas.openxmlformats.org/drawingml/2006/main">
            <a:off x="3657600"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00684D"/>
                </a:solidFill>
                <a:latin typeface="Arial"/>
                <a:ea typeface="Arial"/>
                <a:cs typeface="Arial"/>
              </a:rPr>
              <a:t>SEA-AD support</a:t>
            </a:r>
          </a:p>
        </p:txBody>
      </p:sp>
      <p:sp>
        <p:nvSpPr>
          <p:cNvPr id="8" name="Rounded Rectangle 7">
            <a:extLst xmlns:a="http://schemas.openxmlformats.org/drawingml/2006/main">
              <a:ext uri="{FF2B5EF4-FFF2-40B4-BE49-F238E27FC236}">
                <a16:creationId xmlns:a16="http://schemas.microsoft.com/office/drawing/2014/main" id="{9E3788A9-1BCE-47D9-B1D2-FAD7A41D6122}"/>
              </a:ext>
            </a:extLst>
          </p:cNvPr>
          <p:cNvSpPr>
            <a:spLocks xmlns:a="http://schemas.openxmlformats.org/drawingml/2006/main" noGrp="1"/>
          </p:cNvSpPr>
          <p:nvPr/>
        </p:nvSpPr>
        <p:spPr>
          <a:xfrm xmlns:a="http://schemas.openxmlformats.org/drawingml/2006/main">
            <a:off x="6382512" y="1298448"/>
            <a:ext cx="2542032" cy="438912"/>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1567607-C333-40E8-A008-F9C125B80B44}"/>
              </a:ext>
            </a:extLst>
          </p:cNvPr>
          <p:cNvSpPr>
            <a:spLocks xmlns:a="http://schemas.openxmlformats.org/drawingml/2006/main" noGrp="1"/>
          </p:cNvSpPr>
          <p:nvPr/>
        </p:nvSpPr>
        <p:spPr>
          <a:xfrm xmlns:a="http://schemas.openxmlformats.org/drawingml/2006/main">
            <a:off x="6473952"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895600"/>
                </a:solidFill>
                <a:latin typeface="Arial"/>
                <a:ea typeface="Arial"/>
                <a:cs typeface="Arial"/>
              </a:rPr>
              <a:t>Zero exact non-MT matches</a:t>
            </a:r>
          </a:p>
        </p:txBody>
      </p:sp>
      <p:sp>
        <p:nvSpPr>
          <p:cNvPr id="10" name="Rounded Rectangle 9">
            <a:extLst xmlns:a="http://schemas.openxmlformats.org/drawingml/2006/main">
              <a:ext uri="{FF2B5EF4-FFF2-40B4-BE49-F238E27FC236}">
                <a16:creationId xmlns:a16="http://schemas.microsoft.com/office/drawing/2014/main" id="{E771D704-E76E-4C57-B890-FD69BCCA8C71}"/>
              </a:ext>
            </a:extLst>
          </p:cNvPr>
          <p:cNvSpPr>
            <a:spLocks xmlns:a="http://schemas.openxmlformats.org/drawingml/2006/main" noGrp="1"/>
          </p:cNvSpPr>
          <p:nvPr/>
        </p:nvSpPr>
        <p:spPr>
          <a:xfrm xmlns:a="http://schemas.openxmlformats.org/drawingml/2006/main">
            <a:off x="9198864" y="1298448"/>
            <a:ext cx="2542032" cy="438912"/>
          </a:xfrm>
          <a:prstGeom xmlns:a="http://schemas.openxmlformats.org/drawingml/2006/main" prst="roundRect">
            <a:avLst/>
          </a:prstGeom>
          <a:solidFill xmlns:a="http://schemas.openxmlformats.org/drawingml/2006/main">
            <a:srgbClr val="FDEBE4"/>
          </a:solidFill>
          <a:ln xmlns:a="http://schemas.openxmlformats.org/drawingml/2006/main" w="12700">
            <a:solidFill>
              <a:srgbClr val="D55E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1" name="TextBox 10">
            <a:extLst xmlns:a="http://schemas.openxmlformats.org/drawingml/2006/main">
              <a:ext uri="{FF2B5EF4-FFF2-40B4-BE49-F238E27FC236}">
                <a16:creationId xmlns:a16="http://schemas.microsoft.com/office/drawing/2014/main" id="{AF06A26B-D975-41F9-BC51-F3A9C31C0FB1}"/>
              </a:ext>
            </a:extLst>
          </p:cNvPr>
          <p:cNvSpPr>
            <a:spLocks xmlns:a="http://schemas.openxmlformats.org/drawingml/2006/main" noGrp="1"/>
          </p:cNvSpPr>
          <p:nvPr/>
        </p:nvSpPr>
        <p:spPr>
          <a:xfrm xmlns:a="http://schemas.openxmlformats.org/drawingml/2006/main">
            <a:off x="9290304" y="1399032"/>
            <a:ext cx="2359151" cy="2103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040" b="1" i="0">
                <a:solidFill>
                  <a:srgbClr val="9E3A00"/>
                </a:solidFill>
                <a:latin typeface="Arial"/>
                <a:ea typeface="Arial"/>
                <a:cs typeface="Arial"/>
              </a:rPr>
              <a:t>Three relaxed matches</a:t>
            </a:r>
          </a:p>
        </p:txBody>
      </p:sp>
      <p:sp>
        <p:nvSpPr>
          <p:cNvPr id="12" name="Rounded Rectangle 11">
            <a:extLst xmlns:a="http://schemas.openxmlformats.org/drawingml/2006/main">
              <a:ext uri="{FF2B5EF4-FFF2-40B4-BE49-F238E27FC236}">
                <a16:creationId xmlns:a16="http://schemas.microsoft.com/office/drawing/2014/main" id="{0751C4B3-A0D7-41D1-8561-1FD837E810A3}"/>
              </a:ext>
            </a:extLst>
          </p:cNvPr>
          <p:cNvSpPr>
            <a:spLocks xmlns:a="http://schemas.openxmlformats.org/drawingml/2006/main" noGrp="1"/>
          </p:cNvSpPr>
          <p:nvPr/>
        </p:nvSpPr>
        <p:spPr>
          <a:xfrm xmlns:a="http://schemas.openxmlformats.org/drawingml/2006/main">
            <a:off x="658368" y="197510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32242E3E-2504-47C6-AAE4-926555F0C3F5}"/>
              </a:ext>
            </a:extLst>
          </p:cNvPr>
          <p:cNvSpPr>
            <a:spLocks xmlns:a="http://schemas.openxmlformats.org/drawingml/2006/main" noGrp="1"/>
          </p:cNvSpPr>
          <p:nvPr/>
        </p:nvSpPr>
        <p:spPr>
          <a:xfrm xmlns:a="http://schemas.openxmlformats.org/drawingml/2006/main">
            <a:off x="93268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STRICT COMPARISON</a:t>
            </a:r>
          </a:p>
        </p:txBody>
      </p:sp>
      <p:sp>
        <p:nvSpPr>
          <p:cNvPr id="14" name="TextBox 13">
            <a:extLst xmlns:a="http://schemas.openxmlformats.org/drawingml/2006/main">
              <a:ext uri="{FF2B5EF4-FFF2-40B4-BE49-F238E27FC236}">
                <a16:creationId xmlns:a16="http://schemas.microsoft.com/office/drawing/2014/main" id="{7B514A22-9CC2-4D1B-BE6F-856D30E254C1}"/>
              </a:ext>
            </a:extLst>
          </p:cNvPr>
          <p:cNvSpPr>
            <a:spLocks xmlns:a="http://schemas.openxmlformats.org/drawingml/2006/main" noGrp="1"/>
          </p:cNvSpPr>
          <p:nvPr/>
        </p:nvSpPr>
        <p:spPr>
          <a:xfrm xmlns:a="http://schemas.openxmlformats.org/drawingml/2006/main">
            <a:off x="93268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Same gene and same context</a:t>
            </a:r>
          </a:p>
        </p:txBody>
      </p:sp>
      <p:sp>
        <p:nvSpPr>
          <p:cNvPr id="15" name="TextBox 14">
            <a:extLst xmlns:a="http://schemas.openxmlformats.org/drawingml/2006/main">
              <a:ext uri="{FF2B5EF4-FFF2-40B4-BE49-F238E27FC236}">
                <a16:creationId xmlns:a16="http://schemas.microsoft.com/office/drawing/2014/main" id="{EF09C707-29A1-4F8A-A4D8-35AAD80CBD5B}"/>
              </a:ext>
            </a:extLst>
          </p:cNvPr>
          <p:cNvSpPr>
            <a:spLocks xmlns:a="http://schemas.openxmlformats.org/drawingml/2006/main" noGrp="1"/>
          </p:cNvSpPr>
          <p:nvPr/>
        </p:nvSpPr>
        <p:spPr>
          <a:xfrm xmlns:a="http://schemas.openxmlformats.org/drawingml/2006/main">
            <a:off x="96926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No directly testable non-mitochondrial driver met this strongest support tier.</a:t>
            </a:r>
          </a:p>
        </p:txBody>
      </p:sp>
      <p:sp>
        <p:nvSpPr>
          <p:cNvPr id="16" name="Rounded Rectangle 15">
            <a:extLst xmlns:a="http://schemas.openxmlformats.org/drawingml/2006/main">
              <a:ext uri="{FF2B5EF4-FFF2-40B4-BE49-F238E27FC236}">
                <a16:creationId xmlns:a16="http://schemas.microsoft.com/office/drawing/2014/main" id="{08B5D0FD-4C5F-4485-9137-89C29558F812}"/>
              </a:ext>
            </a:extLst>
          </p:cNvPr>
          <p:cNvSpPr>
            <a:spLocks xmlns:a="http://schemas.openxmlformats.org/drawingml/2006/main" noGrp="1"/>
          </p:cNvSpPr>
          <p:nvPr/>
        </p:nvSpPr>
        <p:spPr>
          <a:xfrm xmlns:a="http://schemas.openxmlformats.org/drawingml/2006/main">
            <a:off x="4453128" y="197510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25EBEDEF-27DB-4788-BA91-021E3F501BE2}"/>
              </a:ext>
            </a:extLst>
          </p:cNvPr>
          <p:cNvSpPr>
            <a:spLocks xmlns:a="http://schemas.openxmlformats.org/drawingml/2006/main" noGrp="1"/>
          </p:cNvSpPr>
          <p:nvPr/>
        </p:nvSpPr>
        <p:spPr>
          <a:xfrm xmlns:a="http://schemas.openxmlformats.org/drawingml/2006/main">
            <a:off x="472744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RELAXED COMPARISON</a:t>
            </a:r>
          </a:p>
        </p:txBody>
      </p:sp>
      <p:sp>
        <p:nvSpPr>
          <p:cNvPr id="18" name="TextBox 17">
            <a:extLst xmlns:a="http://schemas.openxmlformats.org/drawingml/2006/main">
              <a:ext uri="{FF2B5EF4-FFF2-40B4-BE49-F238E27FC236}">
                <a16:creationId xmlns:a16="http://schemas.microsoft.com/office/drawing/2014/main" id="{C5728690-CEEA-4515-A80E-093509495D79}"/>
              </a:ext>
            </a:extLst>
          </p:cNvPr>
          <p:cNvSpPr>
            <a:spLocks xmlns:a="http://schemas.openxmlformats.org/drawingml/2006/main" noGrp="1"/>
          </p:cNvSpPr>
          <p:nvPr/>
        </p:nvSpPr>
        <p:spPr>
          <a:xfrm xmlns:a="http://schemas.openxmlformats.org/drawingml/2006/main">
            <a:off x="472744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Same gene in another context</a:t>
            </a:r>
          </a:p>
        </p:txBody>
      </p:sp>
      <p:sp>
        <p:nvSpPr>
          <p:cNvPr id="19" name="TextBox 18">
            <a:extLst xmlns:a="http://schemas.openxmlformats.org/drawingml/2006/main">
              <a:ext uri="{FF2B5EF4-FFF2-40B4-BE49-F238E27FC236}">
                <a16:creationId xmlns:a16="http://schemas.microsoft.com/office/drawing/2014/main" id="{34158053-375E-4BE5-98C2-FB080CCB758D}"/>
              </a:ext>
            </a:extLst>
          </p:cNvPr>
          <p:cNvSpPr>
            <a:spLocks xmlns:a="http://schemas.openxmlformats.org/drawingml/2006/main" noGrp="1"/>
          </p:cNvSpPr>
          <p:nvPr/>
        </p:nvSpPr>
        <p:spPr>
          <a:xfrm xmlns:a="http://schemas.openxmlformats.org/drawingml/2006/main">
            <a:off x="476402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LAGE3, MIPOL1, and PAPOLA recur across cohorts in partially matched settings.</a:t>
            </a:r>
          </a:p>
        </p:txBody>
      </p:sp>
      <p:sp>
        <p:nvSpPr>
          <p:cNvPr id="20" name="Rounded Rectangle 19">
            <a:extLst xmlns:a="http://schemas.openxmlformats.org/drawingml/2006/main">
              <a:ext uri="{FF2B5EF4-FFF2-40B4-BE49-F238E27FC236}">
                <a16:creationId xmlns:a16="http://schemas.microsoft.com/office/drawing/2014/main" id="{4BFB6052-F03B-4710-A140-C3FC50562AB5}"/>
              </a:ext>
            </a:extLst>
          </p:cNvPr>
          <p:cNvSpPr>
            <a:spLocks xmlns:a="http://schemas.openxmlformats.org/drawingml/2006/main" noGrp="1"/>
          </p:cNvSpPr>
          <p:nvPr/>
        </p:nvSpPr>
        <p:spPr>
          <a:xfrm xmlns:a="http://schemas.openxmlformats.org/drawingml/2006/main">
            <a:off x="8247888" y="197510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AC9F029D-09B5-4F6D-9E40-51D48DFE1A13}"/>
              </a:ext>
            </a:extLst>
          </p:cNvPr>
          <p:cNvSpPr>
            <a:spLocks xmlns:a="http://schemas.openxmlformats.org/drawingml/2006/main" noGrp="1"/>
          </p:cNvSpPr>
          <p:nvPr/>
        </p:nvSpPr>
        <p:spPr>
          <a:xfrm xmlns:a="http://schemas.openxmlformats.org/drawingml/2006/main">
            <a:off x="8522208" y="226771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PROGRAM COMPARISON</a:t>
            </a:r>
          </a:p>
        </p:txBody>
      </p:sp>
      <p:sp>
        <p:nvSpPr>
          <p:cNvPr id="22" name="TextBox 21">
            <a:extLst xmlns:a="http://schemas.openxmlformats.org/drawingml/2006/main">
              <a:ext uri="{FF2B5EF4-FFF2-40B4-BE49-F238E27FC236}">
                <a16:creationId xmlns:a16="http://schemas.microsoft.com/office/drawing/2014/main" id="{FFB4AB60-5B48-44DF-B4F2-AE8197B6DA45}"/>
              </a:ext>
            </a:extLst>
          </p:cNvPr>
          <p:cNvSpPr>
            <a:spLocks xmlns:a="http://schemas.openxmlformats.org/drawingml/2006/main" noGrp="1"/>
          </p:cNvSpPr>
          <p:nvPr/>
        </p:nvSpPr>
        <p:spPr>
          <a:xfrm xmlns:a="http://schemas.openxmlformats.org/drawingml/2006/main">
            <a:off x="8522208" y="272491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Mitochondrial patterns recur</a:t>
            </a:r>
          </a:p>
        </p:txBody>
      </p:sp>
      <p:sp>
        <p:nvSpPr>
          <p:cNvPr id="23" name="TextBox 22">
            <a:extLst xmlns:a="http://schemas.openxmlformats.org/drawingml/2006/main">
              <a:ext uri="{FF2B5EF4-FFF2-40B4-BE49-F238E27FC236}">
                <a16:creationId xmlns:a16="http://schemas.microsoft.com/office/drawing/2014/main" id="{D2065A4A-53DE-46C7-929A-D0A26ECC9D37}"/>
              </a:ext>
            </a:extLst>
          </p:cNvPr>
          <p:cNvSpPr>
            <a:spLocks xmlns:a="http://schemas.openxmlformats.org/drawingml/2006/main" noGrp="1"/>
          </p:cNvSpPr>
          <p:nvPr/>
        </p:nvSpPr>
        <p:spPr>
          <a:xfrm xmlns:a="http://schemas.openxmlformats.org/drawingml/2006/main">
            <a:off x="8558784" y="373075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Female ε3/ε3 and male ε3/ε3 program evidence remains the strongest cross-cohort result.</a:t>
            </a:r>
          </a:p>
        </p:txBody>
      </p:sp>
      <p:sp>
        <p:nvSpPr>
          <p:cNvPr id="24" name="Rounded Rectangle 23">
            <a:extLst xmlns:a="http://schemas.openxmlformats.org/drawingml/2006/main">
              <a:ext uri="{FF2B5EF4-FFF2-40B4-BE49-F238E27FC236}">
                <a16:creationId xmlns:a16="http://schemas.microsoft.com/office/drawing/2014/main" id="{F1A6FBBD-98D1-4345-8C33-FF1DB2D8942C}"/>
              </a:ext>
            </a:extLst>
          </p:cNvPr>
          <p:cNvSpPr>
            <a:spLocks xmlns:a="http://schemas.openxmlformats.org/drawingml/2006/main" noGrp="1"/>
          </p:cNvSpPr>
          <p:nvPr/>
        </p:nvSpPr>
        <p:spPr>
          <a:xfrm xmlns:a="http://schemas.openxmlformats.org/drawingml/2006/main">
            <a:off x="658368" y="5797296"/>
            <a:ext cx="10881360" cy="493776"/>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137C4828-37A1-4E8C-9283-5A90623DF32E}"/>
              </a:ext>
            </a:extLst>
          </p:cNvPr>
          <p:cNvSpPr>
            <a:spLocks xmlns:a="http://schemas.openxmlformats.org/drawingml/2006/main" noGrp="1"/>
          </p:cNvSpPr>
          <p:nvPr/>
        </p:nvSpPr>
        <p:spPr>
          <a:xfrm xmlns:a="http://schemas.openxmlformats.org/drawingml/2006/main">
            <a:off x="896112" y="5925312"/>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Different cohort-specific networks can nominate different genes even when they point to similar mitochondrial biology.</a:t>
            </a:r>
          </a:p>
        </p:txBody>
      </p:sp>
      <p:sp>
        <p:nvSpPr>
          <p:cNvPr id="26" name="TextBox 25">
            <a:extLst xmlns:a="http://schemas.openxmlformats.org/drawingml/2006/main">
              <a:ext uri="{FF2B5EF4-FFF2-40B4-BE49-F238E27FC236}">
                <a16:creationId xmlns:a16="http://schemas.microsoft.com/office/drawing/2014/main" id="{E9C78969-BBFB-4276-8E2A-152139A5D866}"/>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559473946"/>
      </p:ext>
    </p:extLst>
  </p:cSld>
</p:sld>
</file>

<file path=ppt/slides/slide158.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46DAA825-32C1-4009-83A0-9147A0DE81C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Exact matching had little opportunity and produced zero non-MT driver matches</a:t>
            </a:r>
          </a:p>
        </p:txBody>
      </p:sp>
      <p:sp>
        <p:nvSpPr>
          <p:cNvPr id="3" name="TextBox 2">
            <a:extLst xmlns:a="http://schemas.openxmlformats.org/drawingml/2006/main">
              <a:ext uri="{FF2B5EF4-FFF2-40B4-BE49-F238E27FC236}">
                <a16:creationId xmlns:a16="http://schemas.microsoft.com/office/drawing/2014/main" id="{ADAC240A-00F3-4DF4-8F30-44AC3537D922}"/>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A gene absent from the matching SEA-AD network background could never be selected.</a:t>
            </a:r>
          </a:p>
        </p:txBody>
      </p:sp>
      <p:sp>
        <p:nvSpPr>
          <p:cNvPr id="4" name="Rounded Rectangle 3">
            <a:extLst xmlns:a="http://schemas.openxmlformats.org/drawingml/2006/main">
              <a:ext uri="{FF2B5EF4-FFF2-40B4-BE49-F238E27FC236}">
                <a16:creationId xmlns:a16="http://schemas.microsoft.com/office/drawing/2014/main" id="{B440ED95-F404-4D66-AFAE-23B68FD85C7F}"/>
              </a:ext>
            </a:extLst>
          </p:cNvPr>
          <p:cNvSpPr>
            <a:spLocks xmlns:a="http://schemas.openxmlformats.org/drawingml/2006/main" noGrp="1"/>
          </p:cNvSpPr>
          <p:nvPr/>
        </p:nvSpPr>
        <p:spPr>
          <a:xfrm xmlns:a="http://schemas.openxmlformats.org/drawingml/2006/main">
            <a:off x="658368" y="1325880"/>
            <a:ext cx="3456432" cy="1371600"/>
          </a:xfrm>
          <a:prstGeom xmlns:a="http://schemas.openxmlformats.org/drawingml/2006/main" prst="roundRect">
            <a:avLst/>
          </a:prstGeom>
          <a:solidFill xmlns:a="http://schemas.openxmlformats.org/drawingml/2006/main">
            <a:srgbClr val="EBF7FC"/>
          </a:solidFill>
          <a:ln xmlns:a="http://schemas.openxmlformats.org/drawingml/2006/main" w="12700">
            <a:solidFill>
              <a:srgbClr val="0072B2"/>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068299FF-33AD-421B-936C-05D34F585A95}"/>
              </a:ext>
            </a:extLst>
          </p:cNvPr>
          <p:cNvSpPr>
            <a:spLocks xmlns:a="http://schemas.openxmlformats.org/drawingml/2006/main" noGrp="1"/>
          </p:cNvSpPr>
          <p:nvPr/>
        </p:nvSpPr>
        <p:spPr>
          <a:xfrm xmlns:a="http://schemas.openxmlformats.org/drawingml/2006/main">
            <a:off x="822959"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72B2"/>
                </a:solidFill>
                <a:latin typeface="Arial"/>
                <a:ea typeface="Arial"/>
                <a:cs typeface="Arial"/>
              </a:rPr>
              <a:t>83</a:t>
            </a:r>
          </a:p>
        </p:txBody>
      </p:sp>
      <p:sp>
        <p:nvSpPr>
          <p:cNvPr id="6" name="TextBox 5">
            <a:extLst xmlns:a="http://schemas.openxmlformats.org/drawingml/2006/main">
              <a:ext uri="{FF2B5EF4-FFF2-40B4-BE49-F238E27FC236}">
                <a16:creationId xmlns:a16="http://schemas.microsoft.com/office/drawing/2014/main" id="{3B57A4B3-3809-401D-872C-2DF95281AB91}"/>
              </a:ext>
            </a:extLst>
          </p:cNvPr>
          <p:cNvSpPr>
            <a:spLocks xmlns:a="http://schemas.openxmlformats.org/drawingml/2006/main" noGrp="1"/>
          </p:cNvSpPr>
          <p:nvPr/>
        </p:nvSpPr>
        <p:spPr>
          <a:xfrm xmlns:a="http://schemas.openxmlformats.org/drawingml/2006/main">
            <a:off x="822959"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ROSMAP units in testable categories</a:t>
            </a:r>
          </a:p>
        </p:txBody>
      </p:sp>
      <p:sp>
        <p:nvSpPr>
          <p:cNvPr id="7" name="TextBox 6">
            <a:extLst xmlns:a="http://schemas.openxmlformats.org/drawingml/2006/main">
              <a:ext uri="{FF2B5EF4-FFF2-40B4-BE49-F238E27FC236}">
                <a16:creationId xmlns:a16="http://schemas.microsoft.com/office/drawing/2014/main" id="{F0B1C9B0-4634-46E2-AB9D-9DD1CF154BC7}"/>
              </a:ext>
            </a:extLst>
          </p:cNvPr>
          <p:cNvSpPr>
            <a:spLocks xmlns:a="http://schemas.openxmlformats.org/drawingml/2006/main" noGrp="1"/>
          </p:cNvSpPr>
          <p:nvPr/>
        </p:nvSpPr>
        <p:spPr>
          <a:xfrm xmlns:a="http://schemas.openxmlformats.org/drawingml/2006/main">
            <a:off x="822959"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structural opportunity</a:t>
            </a:r>
          </a:p>
        </p:txBody>
      </p:sp>
      <p:sp>
        <p:nvSpPr>
          <p:cNvPr id="8" name="Rounded Rectangle 7">
            <a:extLst xmlns:a="http://schemas.openxmlformats.org/drawingml/2006/main">
              <a:ext uri="{FF2B5EF4-FFF2-40B4-BE49-F238E27FC236}">
                <a16:creationId xmlns:a16="http://schemas.microsoft.com/office/drawing/2014/main" id="{01F0C32D-4EA6-4B09-AB15-6380A367B27E}"/>
              </a:ext>
            </a:extLst>
          </p:cNvPr>
          <p:cNvSpPr>
            <a:spLocks xmlns:a="http://schemas.openxmlformats.org/drawingml/2006/main" noGrp="1"/>
          </p:cNvSpPr>
          <p:nvPr/>
        </p:nvSpPr>
        <p:spPr>
          <a:xfrm xmlns:a="http://schemas.openxmlformats.org/drawingml/2006/main">
            <a:off x="4453128" y="1325880"/>
            <a:ext cx="3456432" cy="1371600"/>
          </a:xfrm>
          <a:prstGeom xmlns:a="http://schemas.openxmlformats.org/drawingml/2006/main" prst="roundRect">
            <a:avLst/>
          </a:prstGeom>
          <a:solidFill xmlns:a="http://schemas.openxmlformats.org/drawingml/2006/main">
            <a:srgbClr val="E4F4EE"/>
          </a:solidFill>
          <a:ln xmlns:a="http://schemas.openxmlformats.org/drawingml/2006/main" w="12700">
            <a:solidFill>
              <a:srgbClr val="009E73"/>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DBF84B71-82EC-470D-9164-5472ADF36C14}"/>
              </a:ext>
            </a:extLst>
          </p:cNvPr>
          <p:cNvSpPr>
            <a:spLocks xmlns:a="http://schemas.openxmlformats.org/drawingml/2006/main" noGrp="1"/>
          </p:cNvSpPr>
          <p:nvPr/>
        </p:nvSpPr>
        <p:spPr>
          <a:xfrm xmlns:a="http://schemas.openxmlformats.org/drawingml/2006/main">
            <a:off x="461772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00684D"/>
                </a:solidFill>
                <a:latin typeface="Arial"/>
                <a:ea typeface="Arial"/>
                <a:cs typeface="Arial"/>
              </a:rPr>
              <a:t>72</a:t>
            </a:r>
          </a:p>
        </p:txBody>
      </p:sp>
      <p:sp>
        <p:nvSpPr>
          <p:cNvPr id="10" name="TextBox 9">
            <a:extLst xmlns:a="http://schemas.openxmlformats.org/drawingml/2006/main">
              <a:ext uri="{FF2B5EF4-FFF2-40B4-BE49-F238E27FC236}">
                <a16:creationId xmlns:a16="http://schemas.microsoft.com/office/drawing/2014/main" id="{FC3CB2D5-1211-4E03-9E0A-98CB1889813D}"/>
              </a:ext>
            </a:extLst>
          </p:cNvPr>
          <p:cNvSpPr>
            <a:spLocks xmlns:a="http://schemas.openxmlformats.org/drawingml/2006/main" noGrp="1"/>
          </p:cNvSpPr>
          <p:nvPr/>
        </p:nvSpPr>
        <p:spPr>
          <a:xfrm xmlns:a="http://schemas.openxmlformats.org/drawingml/2006/main">
            <a:off x="461772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units with gene in SEA background</a:t>
            </a:r>
          </a:p>
        </p:txBody>
      </p:sp>
      <p:sp>
        <p:nvSpPr>
          <p:cNvPr id="11" name="TextBox 10">
            <a:extLst xmlns:a="http://schemas.openxmlformats.org/drawingml/2006/main">
              <a:ext uri="{FF2B5EF4-FFF2-40B4-BE49-F238E27FC236}">
                <a16:creationId xmlns:a16="http://schemas.microsoft.com/office/drawing/2014/main" id="{099D4DEE-027D-4459-9563-E38A8E88F52C}"/>
              </a:ext>
            </a:extLst>
          </p:cNvPr>
          <p:cNvSpPr>
            <a:spLocks xmlns:a="http://schemas.openxmlformats.org/drawingml/2006/main" noGrp="1"/>
          </p:cNvSpPr>
          <p:nvPr/>
        </p:nvSpPr>
        <p:spPr>
          <a:xfrm xmlns:a="http://schemas.openxmlformats.org/drawingml/2006/main">
            <a:off x="461772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genuine KDA opportunity</a:t>
            </a:r>
          </a:p>
        </p:txBody>
      </p:sp>
      <p:sp>
        <p:nvSpPr>
          <p:cNvPr id="12" name="Rounded Rectangle 11">
            <a:extLst xmlns:a="http://schemas.openxmlformats.org/drawingml/2006/main">
              <a:ext uri="{FF2B5EF4-FFF2-40B4-BE49-F238E27FC236}">
                <a16:creationId xmlns:a16="http://schemas.microsoft.com/office/drawing/2014/main" id="{2526A1D1-35C6-4DFB-934C-703CDB713A6D}"/>
              </a:ext>
            </a:extLst>
          </p:cNvPr>
          <p:cNvSpPr>
            <a:spLocks xmlns:a="http://schemas.openxmlformats.org/drawingml/2006/main" noGrp="1"/>
          </p:cNvSpPr>
          <p:nvPr/>
        </p:nvSpPr>
        <p:spPr>
          <a:xfrm xmlns:a="http://schemas.openxmlformats.org/drawingml/2006/main">
            <a:off x="8247888" y="1325880"/>
            <a:ext cx="3456432" cy="1371600"/>
          </a:xfrm>
          <a:prstGeom xmlns:a="http://schemas.openxmlformats.org/drawingml/2006/main" prst="roundRect">
            <a:avLst/>
          </a:prstGeom>
          <a:solidFill xmlns:a="http://schemas.openxmlformats.org/drawingml/2006/main">
            <a:srgbClr val="FDF2D9"/>
          </a:solidFill>
          <a:ln xmlns:a="http://schemas.openxmlformats.org/drawingml/2006/main" w="12700">
            <a:solidFill>
              <a:srgbClr val="E69F00"/>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B8FC5F02-ED2C-4880-B4A9-B88D416C374F}"/>
              </a:ext>
            </a:extLst>
          </p:cNvPr>
          <p:cNvSpPr>
            <a:spLocks xmlns:a="http://schemas.openxmlformats.org/drawingml/2006/main" noGrp="1"/>
          </p:cNvSpPr>
          <p:nvPr/>
        </p:nvSpPr>
        <p:spPr>
          <a:xfrm xmlns:a="http://schemas.openxmlformats.org/drawingml/2006/main">
            <a:off x="8412480" y="1453895"/>
            <a:ext cx="3127248" cy="4846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2800" b="1" i="0">
                <a:solidFill>
                  <a:srgbClr val="895600"/>
                </a:solidFill>
                <a:latin typeface="Arial"/>
                <a:ea typeface="Arial"/>
                <a:cs typeface="Arial"/>
              </a:rPr>
              <a:t>0</a:t>
            </a:r>
          </a:p>
        </p:txBody>
      </p:sp>
      <p:sp>
        <p:nvSpPr>
          <p:cNvPr id="14" name="TextBox 13">
            <a:extLst xmlns:a="http://schemas.openxmlformats.org/drawingml/2006/main">
              <a:ext uri="{FF2B5EF4-FFF2-40B4-BE49-F238E27FC236}">
                <a16:creationId xmlns:a16="http://schemas.microsoft.com/office/drawing/2014/main" id="{D629B002-010E-43F6-84DC-2A1D6B152A63}"/>
              </a:ext>
            </a:extLst>
          </p:cNvPr>
          <p:cNvSpPr>
            <a:spLocks xmlns:a="http://schemas.openxmlformats.org/drawingml/2006/main" noGrp="1"/>
          </p:cNvSpPr>
          <p:nvPr/>
        </p:nvSpPr>
        <p:spPr>
          <a:xfrm xmlns:a="http://schemas.openxmlformats.org/drawingml/2006/main">
            <a:off x="8412480" y="1984248"/>
            <a:ext cx="3127248"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19" b="1" i="0">
                <a:solidFill>
                  <a:srgbClr val="0F233D"/>
                </a:solidFill>
                <a:latin typeface="Arial"/>
                <a:ea typeface="Arial"/>
                <a:cs typeface="Arial"/>
              </a:rPr>
              <a:t>exact same-context returns</a:t>
            </a:r>
          </a:p>
        </p:txBody>
      </p:sp>
      <p:sp>
        <p:nvSpPr>
          <p:cNvPr id="15" name="TextBox 14">
            <a:extLst xmlns:a="http://schemas.openxmlformats.org/drawingml/2006/main">
              <a:ext uri="{FF2B5EF4-FFF2-40B4-BE49-F238E27FC236}">
                <a16:creationId xmlns:a16="http://schemas.microsoft.com/office/drawing/2014/main" id="{914408BB-2D15-46DA-8F5C-007B9A9A62AF}"/>
              </a:ext>
            </a:extLst>
          </p:cNvPr>
          <p:cNvSpPr>
            <a:spLocks xmlns:a="http://schemas.openxmlformats.org/drawingml/2006/main" noGrp="1"/>
          </p:cNvSpPr>
          <p:nvPr/>
        </p:nvSpPr>
        <p:spPr>
          <a:xfrm xmlns:a="http://schemas.openxmlformats.org/drawingml/2006/main">
            <a:off x="8412480" y="2313432"/>
            <a:ext cx="3127248"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880" b="0" i="0">
                <a:solidFill>
                  <a:srgbClr val="4E5A68"/>
                </a:solidFill>
                <a:latin typeface="Arial"/>
                <a:ea typeface="Arial"/>
                <a:cs typeface="Arial"/>
              </a:rPr>
              <a:t>non-mitochondrial drivers</a:t>
            </a:r>
          </a:p>
        </p:txBody>
      </p:sp>
      <p:sp>
        <p:nvSpPr>
          <p:cNvPr id="16" name="Rounded Rectangle 15">
            <a:extLst xmlns:a="http://schemas.openxmlformats.org/drawingml/2006/main">
              <a:ext uri="{FF2B5EF4-FFF2-40B4-BE49-F238E27FC236}">
                <a16:creationId xmlns:a16="http://schemas.microsoft.com/office/drawing/2014/main" id="{A9B2B337-4D1E-486A-BF7D-3723D6CCA1A2}"/>
              </a:ext>
            </a:extLst>
          </p:cNvPr>
          <p:cNvSpPr>
            <a:spLocks xmlns:a="http://schemas.openxmlformats.org/drawingml/2006/main" noGrp="1"/>
          </p:cNvSpPr>
          <p:nvPr/>
        </p:nvSpPr>
        <p:spPr>
          <a:xfrm xmlns:a="http://schemas.openxmlformats.org/drawingml/2006/main">
            <a:off x="749808" y="292608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1AA24594-AD30-4568-8B10-76F5D41FBFD0}"/>
              </a:ext>
            </a:extLst>
          </p:cNvPr>
          <p:cNvSpPr>
            <a:spLocks xmlns:a="http://schemas.openxmlformats.org/drawingml/2006/main" noGrp="1"/>
          </p:cNvSpPr>
          <p:nvPr/>
        </p:nvSpPr>
        <p:spPr>
          <a:xfrm xmlns:a="http://schemas.openxmlformats.org/drawingml/2006/main">
            <a:off x="987552" y="309067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Gene-category opportunities</a:t>
            </a:r>
          </a:p>
        </p:txBody>
      </p:sp>
      <p:sp>
        <p:nvSpPr>
          <p:cNvPr id="18" name="TextBox 17">
            <a:extLst xmlns:a="http://schemas.openxmlformats.org/drawingml/2006/main">
              <a:ext uri="{FF2B5EF4-FFF2-40B4-BE49-F238E27FC236}">
                <a16:creationId xmlns:a16="http://schemas.microsoft.com/office/drawing/2014/main" id="{D0396D35-F0C9-4FB2-8A00-099C672CC073}"/>
              </a:ext>
            </a:extLst>
          </p:cNvPr>
          <p:cNvSpPr>
            <a:spLocks xmlns:a="http://schemas.openxmlformats.org/drawingml/2006/main" noGrp="1"/>
          </p:cNvSpPr>
          <p:nvPr/>
        </p:nvSpPr>
        <p:spPr>
          <a:xfrm xmlns:a="http://schemas.openxmlformats.org/drawingml/2006/main">
            <a:off x="3419856" y="304495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12,941</a:t>
            </a:r>
          </a:p>
        </p:txBody>
      </p:sp>
      <p:sp>
        <p:nvSpPr>
          <p:cNvPr id="19" name="TextBox 18">
            <a:extLst xmlns:a="http://schemas.openxmlformats.org/drawingml/2006/main">
              <a:ext uri="{FF2B5EF4-FFF2-40B4-BE49-F238E27FC236}">
                <a16:creationId xmlns:a16="http://schemas.microsoft.com/office/drawing/2014/main" id="{15BE2D79-C2E0-4380-A768-0253D3A43229}"/>
              </a:ext>
            </a:extLst>
          </p:cNvPr>
          <p:cNvSpPr>
            <a:spLocks xmlns:a="http://schemas.openxmlformats.org/drawingml/2006/main" noGrp="1"/>
          </p:cNvSpPr>
          <p:nvPr/>
        </p:nvSpPr>
        <p:spPr>
          <a:xfrm xmlns:a="http://schemas.openxmlformats.org/drawingml/2006/main">
            <a:off x="5596128" y="304495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Intersected non-mitochondrial opportunities across matching contexts</a:t>
            </a:r>
          </a:p>
        </p:txBody>
      </p:sp>
      <p:sp>
        <p:nvSpPr>
          <p:cNvPr id="20" name="Rounded Rectangle 19">
            <a:extLst xmlns:a="http://schemas.openxmlformats.org/drawingml/2006/main">
              <a:ext uri="{FF2B5EF4-FFF2-40B4-BE49-F238E27FC236}">
                <a16:creationId xmlns:a16="http://schemas.microsoft.com/office/drawing/2014/main" id="{778BBDB5-1C89-4883-86B9-5C2768DB83E6}"/>
              </a:ext>
            </a:extLst>
          </p:cNvPr>
          <p:cNvSpPr>
            <a:spLocks xmlns:a="http://schemas.openxmlformats.org/drawingml/2006/main" noGrp="1"/>
          </p:cNvSpPr>
          <p:nvPr/>
        </p:nvSpPr>
        <p:spPr>
          <a:xfrm xmlns:a="http://schemas.openxmlformats.org/drawingml/2006/main">
            <a:off x="749808" y="3886200"/>
            <a:ext cx="10698480" cy="749808"/>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908E9744-C940-47E4-A257-C78FA8DEB765}"/>
              </a:ext>
            </a:extLst>
          </p:cNvPr>
          <p:cNvSpPr>
            <a:spLocks xmlns:a="http://schemas.openxmlformats.org/drawingml/2006/main" noGrp="1"/>
          </p:cNvSpPr>
          <p:nvPr/>
        </p:nvSpPr>
        <p:spPr>
          <a:xfrm xmlns:a="http://schemas.openxmlformats.org/drawingml/2006/main">
            <a:off x="987552" y="4050791"/>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Expected exact matches</a:t>
            </a:r>
          </a:p>
        </p:txBody>
      </p:sp>
      <p:sp>
        <p:nvSpPr>
          <p:cNvPr id="22" name="TextBox 21">
            <a:extLst xmlns:a="http://schemas.openxmlformats.org/drawingml/2006/main">
              <a:ext uri="{FF2B5EF4-FFF2-40B4-BE49-F238E27FC236}">
                <a16:creationId xmlns:a16="http://schemas.microsoft.com/office/drawing/2014/main" id="{BF557339-C72C-4F44-9E06-2B2AE0FBE3EE}"/>
              </a:ext>
            </a:extLst>
          </p:cNvPr>
          <p:cNvSpPr>
            <a:spLocks xmlns:a="http://schemas.openxmlformats.org/drawingml/2006/main" noGrp="1"/>
          </p:cNvSpPr>
          <p:nvPr/>
        </p:nvSpPr>
        <p:spPr>
          <a:xfrm xmlns:a="http://schemas.openxmlformats.org/drawingml/2006/main">
            <a:off x="3419856" y="400507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072B2"/>
                </a:solidFill>
                <a:latin typeface="Arial"/>
                <a:ea typeface="Arial"/>
                <a:cs typeface="Arial"/>
              </a:rPr>
              <a:t>0.173</a:t>
            </a:r>
          </a:p>
        </p:txBody>
      </p:sp>
      <p:sp>
        <p:nvSpPr>
          <p:cNvPr id="23" name="TextBox 22">
            <a:extLst xmlns:a="http://schemas.openxmlformats.org/drawingml/2006/main">
              <a:ext uri="{FF2B5EF4-FFF2-40B4-BE49-F238E27FC236}">
                <a16:creationId xmlns:a16="http://schemas.microsoft.com/office/drawing/2014/main" id="{4E0B8127-7CE4-475A-A3E9-C676FE6F6853}"/>
              </a:ext>
            </a:extLst>
          </p:cNvPr>
          <p:cNvSpPr>
            <a:spLocks xmlns:a="http://schemas.openxmlformats.org/drawingml/2006/main" noGrp="1"/>
          </p:cNvSpPr>
          <p:nvPr/>
        </p:nvSpPr>
        <p:spPr>
          <a:xfrm xmlns:a="http://schemas.openxmlformats.org/drawingml/2006/main">
            <a:off x="5596128" y="400507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Random expectation was already far below one exact match</a:t>
            </a:r>
          </a:p>
        </p:txBody>
      </p:sp>
      <p:sp>
        <p:nvSpPr>
          <p:cNvPr id="24" name="Rounded Rectangle 23">
            <a:extLst xmlns:a="http://schemas.openxmlformats.org/drawingml/2006/main">
              <a:ext uri="{FF2B5EF4-FFF2-40B4-BE49-F238E27FC236}">
                <a16:creationId xmlns:a16="http://schemas.microsoft.com/office/drawing/2014/main" id="{92B21285-4F01-4083-935C-20BA55CBFA63}"/>
              </a:ext>
            </a:extLst>
          </p:cNvPr>
          <p:cNvSpPr>
            <a:spLocks xmlns:a="http://schemas.openxmlformats.org/drawingml/2006/main" noGrp="1"/>
          </p:cNvSpPr>
          <p:nvPr/>
        </p:nvSpPr>
        <p:spPr>
          <a:xfrm xmlns:a="http://schemas.openxmlformats.org/drawingml/2006/main">
            <a:off x="749808" y="4846320"/>
            <a:ext cx="10698480" cy="749808"/>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5" name="TextBox 24">
            <a:extLst xmlns:a="http://schemas.openxmlformats.org/drawingml/2006/main">
              <a:ext uri="{FF2B5EF4-FFF2-40B4-BE49-F238E27FC236}">
                <a16:creationId xmlns:a16="http://schemas.microsoft.com/office/drawing/2014/main" id="{EE8D61AE-6E22-46B1-88B0-208CB0D0377A}"/>
              </a:ext>
            </a:extLst>
          </p:cNvPr>
          <p:cNvSpPr>
            <a:spLocks xmlns:a="http://schemas.openxmlformats.org/drawingml/2006/main" noGrp="1"/>
          </p:cNvSpPr>
          <p:nvPr/>
        </p:nvSpPr>
        <p:spPr>
          <a:xfrm xmlns:a="http://schemas.openxmlformats.org/drawingml/2006/main">
            <a:off x="987552" y="5010912"/>
            <a:ext cx="2331720" cy="29260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1" i="0">
                <a:solidFill>
                  <a:srgbClr val="0F233D"/>
                </a:solidFill>
                <a:latin typeface="Arial"/>
                <a:ea typeface="Arial"/>
                <a:cs typeface="Arial"/>
              </a:rPr>
              <a:t>One-sided test</a:t>
            </a:r>
          </a:p>
        </p:txBody>
      </p:sp>
      <p:sp>
        <p:nvSpPr>
          <p:cNvPr id="26" name="TextBox 25">
            <a:extLst xmlns:a="http://schemas.openxmlformats.org/drawingml/2006/main">
              <a:ext uri="{FF2B5EF4-FFF2-40B4-BE49-F238E27FC236}">
                <a16:creationId xmlns:a16="http://schemas.microsoft.com/office/drawing/2014/main" id="{095DAEF3-1814-465F-BA0C-0C8451F5DFF7}"/>
              </a:ext>
            </a:extLst>
          </p:cNvPr>
          <p:cNvSpPr>
            <a:spLocks xmlns:a="http://schemas.openxmlformats.org/drawingml/2006/main" noGrp="1"/>
          </p:cNvSpPr>
          <p:nvPr/>
        </p:nvSpPr>
        <p:spPr>
          <a:xfrm xmlns:a="http://schemas.openxmlformats.org/drawingml/2006/main">
            <a:off x="3419856" y="4965192"/>
            <a:ext cx="1975104" cy="36576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895600"/>
                </a:solidFill>
                <a:latin typeface="Arial"/>
                <a:ea typeface="Arial"/>
                <a:cs typeface="Arial"/>
              </a:rPr>
              <a:t>P = 1</a:t>
            </a:r>
          </a:p>
        </p:txBody>
      </p:sp>
      <p:sp>
        <p:nvSpPr>
          <p:cNvPr id="27" name="TextBox 26">
            <a:extLst xmlns:a="http://schemas.openxmlformats.org/drawingml/2006/main">
              <a:ext uri="{FF2B5EF4-FFF2-40B4-BE49-F238E27FC236}">
                <a16:creationId xmlns:a16="http://schemas.microsoft.com/office/drawing/2014/main" id="{04E292C6-FFB8-4535-A358-09932C359B86}"/>
              </a:ext>
            </a:extLst>
          </p:cNvPr>
          <p:cNvSpPr>
            <a:spLocks xmlns:a="http://schemas.openxmlformats.org/drawingml/2006/main" noGrp="1"/>
          </p:cNvSpPr>
          <p:nvPr/>
        </p:nvSpPr>
        <p:spPr>
          <a:xfrm xmlns:a="http://schemas.openxmlformats.org/drawingml/2006/main">
            <a:off x="5596128" y="4965192"/>
            <a:ext cx="5468112" cy="43891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l">
              <a:lnSpc>
                <a:spcPct val="100000"/>
              </a:lnSpc>
              <a:spcBef>
                <a:spcPts val="0"/>
              </a:spcBef>
              <a:spcAft>
                <a:spcPts val="0"/>
              </a:spcAft>
              <a:buNone/>
            </a:pPr>
            <a:r>
              <a:rPr sz="1150" b="0" i="0">
                <a:solidFill>
                  <a:srgbClr val="1F2730"/>
                </a:solidFill>
                <a:latin typeface="Arial"/>
                <a:ea typeface="Arial"/>
                <a:cs typeface="Arial"/>
              </a:rPr>
              <a:t>Zero exact matches is not evidence of active disagreement</a:t>
            </a:r>
          </a:p>
        </p:txBody>
      </p:sp>
      <p:sp>
        <p:nvSpPr>
          <p:cNvPr id="28" name="TextBox 27">
            <a:extLst xmlns:a="http://schemas.openxmlformats.org/drawingml/2006/main">
              <a:ext uri="{FF2B5EF4-FFF2-40B4-BE49-F238E27FC236}">
                <a16:creationId xmlns:a16="http://schemas.microsoft.com/office/drawing/2014/main" id="{8EF39F08-287A-43EE-810B-80043D7E24E3}"/>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272007388"/>
      </p:ext>
    </p:extLst>
  </p:cSld>
</p:sld>
</file>

<file path=ppt/slides/slide159.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92CCC87A-9311-49E5-931E-22745C958446}"/>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Three genes provide context-relaxed cross-cohort support</a:t>
            </a:r>
          </a:p>
        </p:txBody>
      </p:sp>
      <p:sp>
        <p:nvSpPr>
          <p:cNvPr id="3" name="TextBox 2">
            <a:extLst xmlns:a="http://schemas.openxmlformats.org/drawingml/2006/main">
              <a:ext uri="{FF2B5EF4-FFF2-40B4-BE49-F238E27FC236}">
                <a16:creationId xmlns:a16="http://schemas.microsoft.com/office/drawing/2014/main" id="{0BA68A66-12EC-43C9-88C8-84F7C8517D94}"/>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recurrences support general candidate relevance but do not confirm the original sex/APOE and cell context.</a:t>
            </a:r>
          </a:p>
        </p:txBody>
      </p:sp>
      <p:sp>
        <p:nvSpPr>
          <p:cNvPr id="4" name="Rounded Rectangle 3">
            <a:extLst xmlns:a="http://schemas.openxmlformats.org/drawingml/2006/main">
              <a:ext uri="{FF2B5EF4-FFF2-40B4-BE49-F238E27FC236}">
                <a16:creationId xmlns:a16="http://schemas.microsoft.com/office/drawing/2014/main" id="{A54A2310-6726-40FF-B5C1-7387C5D7460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DD11FED0-5DB0-4B82-BB0E-DE0F9FCF7B13}"/>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LAGE3</a:t>
            </a:r>
          </a:p>
        </p:txBody>
      </p:sp>
      <p:sp>
        <p:nvSpPr>
          <p:cNvPr id="6" name="TextBox 5">
            <a:extLst xmlns:a="http://schemas.openxmlformats.org/drawingml/2006/main">
              <a:ext uri="{FF2B5EF4-FFF2-40B4-BE49-F238E27FC236}">
                <a16:creationId xmlns:a16="http://schemas.microsoft.com/office/drawing/2014/main" id="{AAC4ADCF-AA53-4CC3-B11F-D61D4523BD40}"/>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Different group and neuron class</a:t>
            </a:r>
          </a:p>
        </p:txBody>
      </p:sp>
      <p:sp>
        <p:nvSpPr>
          <p:cNvPr id="7" name="TextBox 6">
            <a:extLst xmlns:a="http://schemas.openxmlformats.org/drawingml/2006/main">
              <a:ext uri="{FF2B5EF4-FFF2-40B4-BE49-F238E27FC236}">
                <a16:creationId xmlns:a16="http://schemas.microsoft.com/office/drawing/2014/main" id="{6DEA0B31-FEEA-4EFA-903A-330CAC1DFAD6}"/>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ROSMAP excitatory recurrence and SEA male ε3/ε3 inhibitory recurrence. The SEA neighborhood is mitochondrial.</a:t>
            </a:r>
          </a:p>
        </p:txBody>
      </p:sp>
      <p:sp>
        <p:nvSpPr>
          <p:cNvPr id="8" name="Rounded Rectangle 7">
            <a:extLst xmlns:a="http://schemas.openxmlformats.org/drawingml/2006/main">
              <a:ext uri="{FF2B5EF4-FFF2-40B4-BE49-F238E27FC236}">
                <a16:creationId xmlns:a16="http://schemas.microsoft.com/office/drawing/2014/main" id="{3D490C04-FB3B-45F5-92D2-2E230400F9A3}"/>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C3469C7F-7EAA-4EFF-8466-2086C6C17679}"/>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MIPOL1</a:t>
            </a:r>
          </a:p>
        </p:txBody>
      </p:sp>
      <p:sp>
        <p:nvSpPr>
          <p:cNvPr id="10" name="TextBox 9">
            <a:extLst xmlns:a="http://schemas.openxmlformats.org/drawingml/2006/main">
              <a:ext uri="{FF2B5EF4-FFF2-40B4-BE49-F238E27FC236}">
                <a16:creationId xmlns:a16="http://schemas.microsoft.com/office/drawing/2014/main" id="{21682DBC-6626-4FAC-8759-D6326C9D9D35}"/>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Same male ε3/ε3 stratum</a:t>
            </a:r>
          </a:p>
        </p:txBody>
      </p:sp>
      <p:sp>
        <p:nvSpPr>
          <p:cNvPr id="11" name="TextBox 10">
            <a:extLst xmlns:a="http://schemas.openxmlformats.org/drawingml/2006/main">
              <a:ext uri="{FF2B5EF4-FFF2-40B4-BE49-F238E27FC236}">
                <a16:creationId xmlns:a16="http://schemas.microsoft.com/office/drawing/2014/main" id="{7429F00D-0863-4994-A44F-2FB9DC5FA134}"/>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The broad neuronal class differs, giving the closest partial context match.</a:t>
            </a:r>
          </a:p>
        </p:txBody>
      </p:sp>
      <p:sp>
        <p:nvSpPr>
          <p:cNvPr id="12" name="Rounded Rectangle 11">
            <a:extLst xmlns:a="http://schemas.openxmlformats.org/drawingml/2006/main">
              <a:ext uri="{FF2B5EF4-FFF2-40B4-BE49-F238E27FC236}">
                <a16:creationId xmlns:a16="http://schemas.microsoft.com/office/drawing/2014/main" id="{E6551926-18DE-47E3-BF70-F99F60745C39}"/>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29A3AF84-1BB4-4927-A1AC-DB28702EF2C7}"/>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895600"/>
                </a:solidFill>
                <a:latin typeface="Arial"/>
                <a:ea typeface="Arial"/>
                <a:cs typeface="Arial"/>
              </a:rPr>
              <a:t>PAPOLA</a:t>
            </a:r>
          </a:p>
        </p:txBody>
      </p:sp>
      <p:sp>
        <p:nvSpPr>
          <p:cNvPr id="14" name="TextBox 13">
            <a:extLst xmlns:a="http://schemas.openxmlformats.org/drawingml/2006/main">
              <a:ext uri="{FF2B5EF4-FFF2-40B4-BE49-F238E27FC236}">
                <a16:creationId xmlns:a16="http://schemas.microsoft.com/office/drawing/2014/main" id="{425B5F0E-4346-4692-8F98-D2534DD08380}"/>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Related glial lineage</a:t>
            </a:r>
          </a:p>
        </p:txBody>
      </p:sp>
      <p:sp>
        <p:nvSpPr>
          <p:cNvPr id="15" name="TextBox 14">
            <a:extLst xmlns:a="http://schemas.openxmlformats.org/drawingml/2006/main">
              <a:ext uri="{FF2B5EF4-FFF2-40B4-BE49-F238E27FC236}">
                <a16:creationId xmlns:a16="http://schemas.microsoft.com/office/drawing/2014/main" id="{D0E8AE00-8D13-45C0-813F-2B0CD8CA0932}"/>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ROSMAP OPC and SEA oligodendrocyte results share lineage but not sex/APOE context.</a:t>
            </a:r>
          </a:p>
        </p:txBody>
      </p:sp>
      <p:sp>
        <p:nvSpPr>
          <p:cNvPr id="16" name="Rounded Rectangle 15">
            <a:extLst xmlns:a="http://schemas.openxmlformats.org/drawingml/2006/main">
              <a:ext uri="{FF2B5EF4-FFF2-40B4-BE49-F238E27FC236}">
                <a16:creationId xmlns:a16="http://schemas.microsoft.com/office/drawing/2014/main" id="{FC812E65-BA32-4081-BEE9-F4C7392A7A2E}"/>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C97AC4BE-2CA4-4ED6-9F30-44793C325198}"/>
              </a:ext>
            </a:extLst>
          </p:cNvPr>
          <p:cNvSpPr>
            <a:spLocks xmlns:a="http://schemas.openxmlformats.org/drawingml/2006/main" noGrp="1"/>
          </p:cNvSpPr>
          <p:nvPr/>
        </p:nvSpPr>
        <p:spPr>
          <a:xfrm xmlns:a="http://schemas.openxmlformats.org/drawingml/2006/main">
            <a:off x="896112" y="5888736"/>
            <a:ext cx="10405872"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30" b="1" i="0">
                <a:solidFill>
                  <a:srgbClr val="7E4C9A"/>
                </a:solidFill>
                <a:latin typeface="Arial"/>
                <a:ea typeface="Arial"/>
                <a:cs typeface="Arial"/>
              </a:rPr>
              <a:t>Across all genes, 3 of 43 SEA-AD drivers overlap 228 ROSMAP drivers, odds ratio 3.15 and P 0.0812.</a:t>
            </a:r>
          </a:p>
        </p:txBody>
      </p:sp>
      <p:sp>
        <p:nvSpPr>
          <p:cNvPr id="18" name="TextBox 17">
            <a:extLst xmlns:a="http://schemas.openxmlformats.org/drawingml/2006/main">
              <a:ext uri="{FF2B5EF4-FFF2-40B4-BE49-F238E27FC236}">
                <a16:creationId xmlns:a16="http://schemas.microsoft.com/office/drawing/2014/main" id="{1A082065-DBC4-40EC-AE60-737BD6B53D3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693514982"/>
      </p:ext>
    </p:extLst>
  </p:cSld>
</p:sld>
</file>

<file path=ppt/slides/slide160.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AEF28EA3-33A3-4DF2-80F0-C5A14CCFB4D7}"/>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Why this matters: pathway agreement can survive driver-ranking differences</a:t>
            </a:r>
          </a:p>
        </p:txBody>
      </p:sp>
      <p:sp>
        <p:nvSpPr>
          <p:cNvPr id="3" name="TextBox 2">
            <a:extLst xmlns:a="http://schemas.openxmlformats.org/drawingml/2006/main">
              <a:ext uri="{FF2B5EF4-FFF2-40B4-BE49-F238E27FC236}">
                <a16:creationId xmlns:a16="http://schemas.microsoft.com/office/drawing/2014/main" id="{2186D631-ED69-4B64-9A8D-A9E4E9A8CC8C}"/>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Networks, phenotype labels, available cell types, and query thresholds differ between cohorts.</a:t>
            </a:r>
          </a:p>
        </p:txBody>
      </p:sp>
      <p:sp>
        <p:nvSpPr>
          <p:cNvPr id="4" name="Rounded Rectangle 3">
            <a:extLst xmlns:a="http://schemas.openxmlformats.org/drawingml/2006/main">
              <a:ext uri="{FF2B5EF4-FFF2-40B4-BE49-F238E27FC236}">
                <a16:creationId xmlns:a16="http://schemas.microsoft.com/office/drawing/2014/main" id="{033C0E26-9F12-464F-9F92-8EA6CD73720D}"/>
              </a:ext>
            </a:extLst>
          </p:cNvPr>
          <p:cNvSpPr>
            <a:spLocks xmlns:a="http://schemas.openxmlformats.org/drawingml/2006/main" noGrp="1"/>
          </p:cNvSpPr>
          <p:nvPr/>
        </p:nvSpPr>
        <p:spPr>
          <a:xfrm xmlns:a="http://schemas.openxmlformats.org/drawingml/2006/main">
            <a:off x="658368" y="1426464"/>
            <a:ext cx="3456432" cy="4078224"/>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56E38A9E-1606-4C20-93B0-065A4A460402}"/>
              </a:ext>
            </a:extLst>
          </p:cNvPr>
          <p:cNvSpPr>
            <a:spLocks xmlns:a="http://schemas.openxmlformats.org/drawingml/2006/main" noGrp="1"/>
          </p:cNvSpPr>
          <p:nvPr/>
        </p:nvSpPr>
        <p:spPr>
          <a:xfrm xmlns:a="http://schemas.openxmlformats.org/drawingml/2006/main">
            <a:off x="93268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72B2"/>
                </a:solidFill>
                <a:latin typeface="Arial"/>
                <a:ea typeface="Arial"/>
                <a:cs typeface="Arial"/>
              </a:rPr>
              <a:t>NETWORK STRUCTURE</a:t>
            </a:r>
          </a:p>
        </p:txBody>
      </p:sp>
      <p:sp>
        <p:nvSpPr>
          <p:cNvPr id="6" name="TextBox 5">
            <a:extLst xmlns:a="http://schemas.openxmlformats.org/drawingml/2006/main">
              <a:ext uri="{FF2B5EF4-FFF2-40B4-BE49-F238E27FC236}">
                <a16:creationId xmlns:a16="http://schemas.microsoft.com/office/drawing/2014/main" id="{E5EF60F9-D733-413E-B344-E387AA3236FE}"/>
              </a:ext>
            </a:extLst>
          </p:cNvPr>
          <p:cNvSpPr>
            <a:spLocks xmlns:a="http://schemas.openxmlformats.org/drawingml/2006/main" noGrp="1"/>
          </p:cNvSpPr>
          <p:nvPr/>
        </p:nvSpPr>
        <p:spPr>
          <a:xfrm xmlns:a="http://schemas.openxmlformats.org/drawingml/2006/main">
            <a:off x="93268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Different edges change rankings</a:t>
            </a:r>
          </a:p>
        </p:txBody>
      </p:sp>
      <p:sp>
        <p:nvSpPr>
          <p:cNvPr id="7" name="TextBox 6">
            <a:extLst xmlns:a="http://schemas.openxmlformats.org/drawingml/2006/main">
              <a:ext uri="{FF2B5EF4-FFF2-40B4-BE49-F238E27FC236}">
                <a16:creationId xmlns:a16="http://schemas.microsoft.com/office/drawing/2014/main" id="{476D9EAF-A0A1-4DB0-AD42-A5453BA58DCA}"/>
              </a:ext>
            </a:extLst>
          </p:cNvPr>
          <p:cNvSpPr>
            <a:spLocks xmlns:a="http://schemas.openxmlformats.org/drawingml/2006/main" noGrp="1"/>
          </p:cNvSpPr>
          <p:nvPr/>
        </p:nvSpPr>
        <p:spPr>
          <a:xfrm xmlns:a="http://schemas.openxmlformats.org/drawingml/2006/main">
            <a:off x="96926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Cohort-specific networks can place different genes near the same query program.</a:t>
            </a:r>
          </a:p>
        </p:txBody>
      </p:sp>
      <p:sp>
        <p:nvSpPr>
          <p:cNvPr id="8" name="Rounded Rectangle 7">
            <a:extLst xmlns:a="http://schemas.openxmlformats.org/drawingml/2006/main">
              <a:ext uri="{FF2B5EF4-FFF2-40B4-BE49-F238E27FC236}">
                <a16:creationId xmlns:a16="http://schemas.microsoft.com/office/drawing/2014/main" id="{3FB9A657-E152-445D-BF53-23C6B4BF7AE8}"/>
              </a:ext>
            </a:extLst>
          </p:cNvPr>
          <p:cNvSpPr>
            <a:spLocks xmlns:a="http://schemas.openxmlformats.org/drawingml/2006/main" noGrp="1"/>
          </p:cNvSpPr>
          <p:nvPr/>
        </p:nvSpPr>
        <p:spPr>
          <a:xfrm xmlns:a="http://schemas.openxmlformats.org/drawingml/2006/main">
            <a:off x="4453128" y="1426464"/>
            <a:ext cx="3456432" cy="4078224"/>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9" name="TextBox 8">
            <a:extLst xmlns:a="http://schemas.openxmlformats.org/drawingml/2006/main">
              <a:ext uri="{FF2B5EF4-FFF2-40B4-BE49-F238E27FC236}">
                <a16:creationId xmlns:a16="http://schemas.microsoft.com/office/drawing/2014/main" id="{59F9BE43-550B-4C5B-88C0-3B21FE2A69F3}"/>
              </a:ext>
            </a:extLst>
          </p:cNvPr>
          <p:cNvSpPr>
            <a:spLocks xmlns:a="http://schemas.openxmlformats.org/drawingml/2006/main" noGrp="1"/>
          </p:cNvSpPr>
          <p:nvPr/>
        </p:nvSpPr>
        <p:spPr>
          <a:xfrm xmlns:a="http://schemas.openxmlformats.org/drawingml/2006/main">
            <a:off x="472744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9E3A00"/>
                </a:solidFill>
                <a:latin typeface="Arial"/>
                <a:ea typeface="Arial"/>
                <a:cs typeface="Arial"/>
              </a:rPr>
              <a:t>COVERAGE</a:t>
            </a:r>
          </a:p>
        </p:txBody>
      </p:sp>
      <p:sp>
        <p:nvSpPr>
          <p:cNvPr id="10" name="TextBox 9">
            <a:extLst xmlns:a="http://schemas.openxmlformats.org/drawingml/2006/main">
              <a:ext uri="{FF2B5EF4-FFF2-40B4-BE49-F238E27FC236}">
                <a16:creationId xmlns:a16="http://schemas.microsoft.com/office/drawing/2014/main" id="{834F1894-B8DA-4A9C-BF25-3310879A96D6}"/>
              </a:ext>
            </a:extLst>
          </p:cNvPr>
          <p:cNvSpPr>
            <a:spLocks xmlns:a="http://schemas.openxmlformats.org/drawingml/2006/main" noGrp="1"/>
          </p:cNvSpPr>
          <p:nvPr/>
        </p:nvSpPr>
        <p:spPr>
          <a:xfrm xmlns:a="http://schemas.openxmlformats.org/drawingml/2006/main">
            <a:off x="472744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Only 22 SEA-AD active calls</a:t>
            </a:r>
          </a:p>
        </p:txBody>
      </p:sp>
      <p:sp>
        <p:nvSpPr>
          <p:cNvPr id="11" name="TextBox 10">
            <a:extLst xmlns:a="http://schemas.openxmlformats.org/drawingml/2006/main">
              <a:ext uri="{FF2B5EF4-FFF2-40B4-BE49-F238E27FC236}">
                <a16:creationId xmlns:a16="http://schemas.microsoft.com/office/drawing/2014/main" id="{4530A2DB-2CE2-4567-8DCA-20852B1D00FA}"/>
              </a:ext>
            </a:extLst>
          </p:cNvPr>
          <p:cNvSpPr>
            <a:spLocks xmlns:a="http://schemas.openxmlformats.org/drawingml/2006/main" noGrp="1"/>
          </p:cNvSpPr>
          <p:nvPr/>
        </p:nvSpPr>
        <p:spPr>
          <a:xfrm xmlns:a="http://schemas.openxmlformats.org/drawingml/2006/main">
            <a:off x="476402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Twenty of the 22 calls are male ε3/ε3, leaving most groups poorly covered.</a:t>
            </a:r>
          </a:p>
        </p:txBody>
      </p:sp>
      <p:sp>
        <p:nvSpPr>
          <p:cNvPr id="12" name="Rounded Rectangle 11">
            <a:extLst xmlns:a="http://schemas.openxmlformats.org/drawingml/2006/main">
              <a:ext uri="{FF2B5EF4-FFF2-40B4-BE49-F238E27FC236}">
                <a16:creationId xmlns:a16="http://schemas.microsoft.com/office/drawing/2014/main" id="{B7FEB6B1-0D94-4FC5-91CC-D25E4ED17F21}"/>
              </a:ext>
            </a:extLst>
          </p:cNvPr>
          <p:cNvSpPr>
            <a:spLocks xmlns:a="http://schemas.openxmlformats.org/drawingml/2006/main" noGrp="1"/>
          </p:cNvSpPr>
          <p:nvPr/>
        </p:nvSpPr>
        <p:spPr>
          <a:xfrm xmlns:a="http://schemas.openxmlformats.org/drawingml/2006/main">
            <a:off x="8247888" y="1426464"/>
            <a:ext cx="3456432" cy="4078224"/>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3" name="TextBox 12">
            <a:extLst xmlns:a="http://schemas.openxmlformats.org/drawingml/2006/main">
              <a:ext uri="{FF2B5EF4-FFF2-40B4-BE49-F238E27FC236}">
                <a16:creationId xmlns:a16="http://schemas.microsoft.com/office/drawing/2014/main" id="{0DE97387-C816-47E2-A742-9FB34F97DDC8}"/>
              </a:ext>
            </a:extLst>
          </p:cNvPr>
          <p:cNvSpPr>
            <a:spLocks xmlns:a="http://schemas.openxmlformats.org/drawingml/2006/main" noGrp="1"/>
          </p:cNvSpPr>
          <p:nvPr/>
        </p:nvSpPr>
        <p:spPr>
          <a:xfrm xmlns:a="http://schemas.openxmlformats.org/drawingml/2006/main">
            <a:off x="8522208" y="1719072"/>
            <a:ext cx="2907792"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40" b="1" i="0">
                <a:solidFill>
                  <a:srgbClr val="00684D"/>
                </a:solidFill>
                <a:latin typeface="Arial"/>
                <a:ea typeface="Arial"/>
                <a:cs typeface="Arial"/>
              </a:rPr>
              <a:t>STRONGEST AGREEMENT</a:t>
            </a:r>
          </a:p>
        </p:txBody>
      </p:sp>
      <p:sp>
        <p:nvSpPr>
          <p:cNvPr id="14" name="TextBox 13">
            <a:extLst xmlns:a="http://schemas.openxmlformats.org/drawingml/2006/main">
              <a:ext uri="{FF2B5EF4-FFF2-40B4-BE49-F238E27FC236}">
                <a16:creationId xmlns:a16="http://schemas.microsoft.com/office/drawing/2014/main" id="{0EC2FCF6-23A0-42B7-9A7D-AFE1AD6E11B7}"/>
              </a:ext>
            </a:extLst>
          </p:cNvPr>
          <p:cNvSpPr>
            <a:spLocks xmlns:a="http://schemas.openxmlformats.org/drawingml/2006/main" noGrp="1"/>
          </p:cNvSpPr>
          <p:nvPr/>
        </p:nvSpPr>
        <p:spPr>
          <a:xfrm xmlns:a="http://schemas.openxmlformats.org/drawingml/2006/main">
            <a:off x="8522208" y="2176272"/>
            <a:ext cx="2907792" cy="7132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600" b="1" i="0">
                <a:solidFill>
                  <a:srgbClr val="0F233D"/>
                </a:solidFill>
                <a:latin typeface="Arial"/>
                <a:ea typeface="Arial"/>
                <a:cs typeface="Arial"/>
              </a:rPr>
              <a:t>Two mitochondrial programs</a:t>
            </a:r>
          </a:p>
        </p:txBody>
      </p:sp>
      <p:sp>
        <p:nvSpPr>
          <p:cNvPr id="15" name="TextBox 14">
            <a:extLst xmlns:a="http://schemas.openxmlformats.org/drawingml/2006/main">
              <a:ext uri="{FF2B5EF4-FFF2-40B4-BE49-F238E27FC236}">
                <a16:creationId xmlns:a16="http://schemas.microsoft.com/office/drawing/2014/main" id="{890132DD-EF4B-4828-B512-4F845346CB1A}"/>
              </a:ext>
            </a:extLst>
          </p:cNvPr>
          <p:cNvSpPr>
            <a:spLocks xmlns:a="http://schemas.openxmlformats.org/drawingml/2006/main" noGrp="1"/>
          </p:cNvSpPr>
          <p:nvPr/>
        </p:nvSpPr>
        <p:spPr>
          <a:xfrm xmlns:a="http://schemas.openxmlformats.org/drawingml/2006/main">
            <a:off x="8558784" y="3182112"/>
            <a:ext cx="2834640" cy="148132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220" b="0" i="0">
                <a:solidFill>
                  <a:srgbClr val="1F2730"/>
                </a:solidFill>
                <a:latin typeface="Arial"/>
                <a:ea typeface="Arial"/>
                <a:cs typeface="Arial"/>
              </a:rPr>
              <a:t>Female ε3/ε3 excitatory and male ε3/ε3 inhibitory patterns recur despite different drivers.</a:t>
            </a:r>
          </a:p>
        </p:txBody>
      </p:sp>
      <p:sp>
        <p:nvSpPr>
          <p:cNvPr id="16" name="Rounded Rectangle 15">
            <a:extLst xmlns:a="http://schemas.openxmlformats.org/drawingml/2006/main">
              <a:ext uri="{FF2B5EF4-FFF2-40B4-BE49-F238E27FC236}">
                <a16:creationId xmlns:a16="http://schemas.microsoft.com/office/drawing/2014/main" id="{9A8D19FD-4DEA-4727-BB94-90FDE3BB78E9}"/>
              </a:ext>
            </a:extLst>
          </p:cNvPr>
          <p:cNvSpPr>
            <a:spLocks xmlns:a="http://schemas.openxmlformats.org/drawingml/2006/main" noGrp="1"/>
          </p:cNvSpPr>
          <p:nvPr/>
        </p:nvSpPr>
        <p:spPr>
          <a:xfrm xmlns:a="http://schemas.openxmlformats.org/drawingml/2006/main">
            <a:off x="658368" y="5760720"/>
            <a:ext cx="10881360" cy="530352"/>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80A13A0-0003-43D5-B649-E5F4433E838C}"/>
              </a:ext>
            </a:extLst>
          </p:cNvPr>
          <p:cNvSpPr>
            <a:spLocks xmlns:a="http://schemas.openxmlformats.org/drawingml/2006/main" noGrp="1"/>
          </p:cNvSpPr>
          <p:nvPr/>
        </p:nvSpPr>
        <p:spPr>
          <a:xfrm xmlns:a="http://schemas.openxmlformats.org/drawingml/2006/main">
            <a:off x="877824" y="5897880"/>
            <a:ext cx="1874519"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60" b="1" i="0">
                <a:solidFill>
                  <a:srgbClr val="9E3A00"/>
                </a:solidFill>
                <a:latin typeface="Arial"/>
                <a:ea typeface="Arial"/>
                <a:cs typeface="Arial"/>
              </a:rPr>
              <a:t>Most cautious interpretation</a:t>
            </a:r>
          </a:p>
        </p:txBody>
      </p:sp>
      <p:sp>
        <p:nvSpPr>
          <p:cNvPr id="18" name="TextBox 17">
            <a:extLst xmlns:a="http://schemas.openxmlformats.org/drawingml/2006/main">
              <a:ext uri="{FF2B5EF4-FFF2-40B4-BE49-F238E27FC236}">
                <a16:creationId xmlns:a16="http://schemas.microsoft.com/office/drawing/2014/main" id="{8416ABDE-0FEE-4C5E-AB9C-22433437C54D}"/>
              </a:ext>
            </a:extLst>
          </p:cNvPr>
          <p:cNvSpPr>
            <a:spLocks xmlns:a="http://schemas.openxmlformats.org/drawingml/2006/main" noGrp="1"/>
          </p:cNvSpPr>
          <p:nvPr/>
        </p:nvSpPr>
        <p:spPr>
          <a:xfrm xmlns:a="http://schemas.openxmlformats.org/drawingml/2006/main">
            <a:off x="2788920" y="5861304"/>
            <a:ext cx="8321040" cy="3108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20" b="1" i="0">
                <a:solidFill>
                  <a:srgbClr val="1F2730"/>
                </a:solidFill>
                <a:latin typeface="Arial"/>
                <a:ea typeface="Arial"/>
                <a:cs typeface="Arial"/>
              </a:rPr>
              <a:t>Program support can strengthen a ROSMAP finding without confirming its exact upstream candidate.</a:t>
            </a:r>
          </a:p>
        </p:txBody>
      </p:sp>
      <p:sp>
        <p:nvSpPr>
          <p:cNvPr id="19" name="TextBox 18">
            <a:extLst xmlns:a="http://schemas.openxmlformats.org/drawingml/2006/main">
              <a:ext uri="{FF2B5EF4-FFF2-40B4-BE49-F238E27FC236}">
                <a16:creationId xmlns:a16="http://schemas.microsoft.com/office/drawing/2014/main" id="{33AECBDA-0D87-489E-9D49-3397B0881B41}"/>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159540179"/>
      </p:ext>
    </p:extLst>
  </p:cSld>
</p:sld>
</file>

<file path=ppt/slides/slide161.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2A8C8AAF-6A14-45F1-83DD-038175D9FC29}"/>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What Finding 17 does not prove, and the next evidence needed</a:t>
            </a:r>
          </a:p>
        </p:txBody>
      </p:sp>
      <p:sp>
        <p:nvSpPr>
          <p:cNvPr id="3" name="TextBox 2">
            <a:extLst xmlns:a="http://schemas.openxmlformats.org/drawingml/2006/main">
              <a:ext uri="{FF2B5EF4-FFF2-40B4-BE49-F238E27FC236}">
                <a16:creationId xmlns:a16="http://schemas.microsoft.com/office/drawing/2014/main" id="{0401A84C-572D-46D0-A2B4-3CF8F08387C3}"/>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The current analysis defines a testable hypothesis rather than a completed mechanism.</a:t>
            </a:r>
          </a:p>
        </p:txBody>
      </p:sp>
      <p:sp>
        <p:nvSpPr>
          <p:cNvPr id="4" name="Rounded Rectangle 3">
            <a:extLst xmlns:a="http://schemas.openxmlformats.org/drawingml/2006/main">
              <a:ext uri="{FF2B5EF4-FFF2-40B4-BE49-F238E27FC236}">
                <a16:creationId xmlns:a16="http://schemas.microsoft.com/office/drawing/2014/main" id="{4A038885-6E02-4777-90DD-C1FFFF5E20DD}"/>
              </a:ext>
            </a:extLst>
          </p:cNvPr>
          <p:cNvSpPr>
            <a:spLocks xmlns:a="http://schemas.openxmlformats.org/drawingml/2006/main" noGrp="1"/>
          </p:cNvSpPr>
          <p:nvPr/>
        </p:nvSpPr>
        <p:spPr>
          <a:xfrm xmlns:a="http://schemas.openxmlformats.org/drawingml/2006/main">
            <a:off x="658368" y="1298448"/>
            <a:ext cx="5285232" cy="4498848"/>
          </a:xfrm>
          <a:prstGeom xmlns:a="http://schemas.openxmlformats.org/drawingml/2006/main" prst="roundRect">
            <a:avLst/>
          </a:prstGeom>
          <a:solidFill xmlns:a="http://schemas.openxmlformats.org/drawingml/2006/main">
            <a:srgbClr val="FDEBE4"/>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Rectangle 4">
            <a:extLst xmlns:a="http://schemas.openxmlformats.org/drawingml/2006/main">
              <a:ext uri="{FF2B5EF4-FFF2-40B4-BE49-F238E27FC236}">
                <a16:creationId xmlns:a16="http://schemas.microsoft.com/office/drawing/2014/main" id="{B2ECAD3A-7CD5-4012-9F67-9A725D8D48A5}"/>
              </a:ext>
            </a:extLst>
          </p:cNvPr>
          <p:cNvSpPr>
            <a:spLocks xmlns:a="http://schemas.openxmlformats.org/drawingml/2006/main" noGrp="1"/>
          </p:cNvSpPr>
          <p:nvPr/>
        </p:nvSpPr>
        <p:spPr>
          <a:xfrm xmlns:a="http://schemas.openxmlformats.org/drawingml/2006/main">
            <a:off x="950976" y="1636776"/>
            <a:ext cx="64008" cy="283464"/>
          </a:xfrm>
          <a:prstGeom xmlns:a="http://schemas.openxmlformats.org/drawingml/2006/main" prst="rect">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6" name="TextBox 5">
            <a:extLst xmlns:a="http://schemas.openxmlformats.org/drawingml/2006/main">
              <a:ext uri="{FF2B5EF4-FFF2-40B4-BE49-F238E27FC236}">
                <a16:creationId xmlns:a16="http://schemas.microsoft.com/office/drawing/2014/main" id="{3CDB2F60-7483-479F-9DDA-1A8436D11557}"/>
              </a:ext>
            </a:extLst>
          </p:cNvPr>
          <p:cNvSpPr>
            <a:spLocks xmlns:a="http://schemas.openxmlformats.org/drawingml/2006/main" noGrp="1"/>
          </p:cNvSpPr>
          <p:nvPr/>
        </p:nvSpPr>
        <p:spPr>
          <a:xfrm xmlns:a="http://schemas.openxmlformats.org/drawingml/2006/main">
            <a:off x="1097280" y="1609344"/>
            <a:ext cx="4517136"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Not proven</a:t>
            </a:r>
          </a:p>
        </p:txBody>
      </p:sp>
      <p:sp>
        <p:nvSpPr>
          <p:cNvPr id="7" name="Oval 6">
            <a:extLst xmlns:a="http://schemas.openxmlformats.org/drawingml/2006/main">
              <a:ext uri="{FF2B5EF4-FFF2-40B4-BE49-F238E27FC236}">
                <a16:creationId xmlns:a16="http://schemas.microsoft.com/office/drawing/2014/main" id="{6F7D96FF-7481-41F5-A863-947E23CD85D7}"/>
              </a:ext>
            </a:extLst>
          </p:cNvPr>
          <p:cNvSpPr>
            <a:spLocks xmlns:a="http://schemas.openxmlformats.org/drawingml/2006/main" noGrp="1"/>
          </p:cNvSpPr>
          <p:nvPr/>
        </p:nvSpPr>
        <p:spPr>
          <a:xfrm xmlns:a="http://schemas.openxmlformats.org/drawingml/2006/main">
            <a:off x="950976" y="23042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8" name="TextBox 7">
            <a:extLst xmlns:a="http://schemas.openxmlformats.org/drawingml/2006/main">
              <a:ext uri="{FF2B5EF4-FFF2-40B4-BE49-F238E27FC236}">
                <a16:creationId xmlns:a16="http://schemas.microsoft.com/office/drawing/2014/main" id="{DBAF205D-D935-46C2-AE7C-0F7394E760D6}"/>
              </a:ext>
            </a:extLst>
          </p:cNvPr>
          <p:cNvSpPr>
            <a:spLocks xmlns:a="http://schemas.openxmlformats.org/drawingml/2006/main" noGrp="1"/>
          </p:cNvSpPr>
          <p:nvPr/>
        </p:nvSpPr>
        <p:spPr>
          <a:xfrm xmlns:a="http://schemas.openxmlformats.org/drawingml/2006/main">
            <a:off x="1124712" y="21762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That zero exact matches refutes ROSMAP candidates</a:t>
            </a:r>
          </a:p>
        </p:txBody>
      </p:sp>
      <p:sp>
        <p:nvSpPr>
          <p:cNvPr id="9" name="Oval 8">
            <a:extLst xmlns:a="http://schemas.openxmlformats.org/drawingml/2006/main">
              <a:ext uri="{FF2B5EF4-FFF2-40B4-BE49-F238E27FC236}">
                <a16:creationId xmlns:a16="http://schemas.microsoft.com/office/drawing/2014/main" id="{5CD7FE61-C01D-460C-A9BB-DEB859257B88}"/>
              </a:ext>
            </a:extLst>
          </p:cNvPr>
          <p:cNvSpPr>
            <a:spLocks xmlns:a="http://schemas.openxmlformats.org/drawingml/2006/main" noGrp="1"/>
          </p:cNvSpPr>
          <p:nvPr/>
        </p:nvSpPr>
        <p:spPr>
          <a:xfrm xmlns:a="http://schemas.openxmlformats.org/drawingml/2006/main">
            <a:off x="950976" y="3218688"/>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0" name="TextBox 9">
            <a:extLst xmlns:a="http://schemas.openxmlformats.org/drawingml/2006/main">
              <a:ext uri="{FF2B5EF4-FFF2-40B4-BE49-F238E27FC236}">
                <a16:creationId xmlns:a16="http://schemas.microsoft.com/office/drawing/2014/main" id="{7C72BE04-3FB6-45DC-A571-755640FBDC10}"/>
              </a:ext>
            </a:extLst>
          </p:cNvPr>
          <p:cNvSpPr>
            <a:spLocks xmlns:a="http://schemas.openxmlformats.org/drawingml/2006/main" noGrp="1"/>
          </p:cNvSpPr>
          <p:nvPr/>
        </p:nvSpPr>
        <p:spPr>
          <a:xfrm xmlns:a="http://schemas.openxmlformats.org/drawingml/2006/main">
            <a:off x="1124712" y="30906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Original contexts for LAGE3, MIPOL1, or PAPOLA</a:t>
            </a:r>
          </a:p>
        </p:txBody>
      </p:sp>
      <p:sp>
        <p:nvSpPr>
          <p:cNvPr id="11" name="Oval 10">
            <a:extLst xmlns:a="http://schemas.openxmlformats.org/drawingml/2006/main">
              <a:ext uri="{FF2B5EF4-FFF2-40B4-BE49-F238E27FC236}">
                <a16:creationId xmlns:a16="http://schemas.microsoft.com/office/drawing/2014/main" id="{32ED659D-829A-4B45-BB52-412B2BABB442}"/>
              </a:ext>
            </a:extLst>
          </p:cNvPr>
          <p:cNvSpPr>
            <a:spLocks xmlns:a="http://schemas.openxmlformats.org/drawingml/2006/main" noGrp="1"/>
          </p:cNvSpPr>
          <p:nvPr/>
        </p:nvSpPr>
        <p:spPr>
          <a:xfrm xmlns:a="http://schemas.openxmlformats.org/drawingml/2006/main">
            <a:off x="950976" y="4133087"/>
            <a:ext cx="77724" cy="77724"/>
          </a:xfrm>
          <a:prstGeom xmlns:a="http://schemas.openxmlformats.org/drawingml/2006/main" prst="ellipse">
            <a:avLst/>
          </a:prstGeom>
          <a:solidFill xmlns:a="http://schemas.openxmlformats.org/drawingml/2006/main">
            <a:srgbClr val="D55E00"/>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7D3BF874-C8E6-4DD8-AE42-9EC33F515F36}"/>
              </a:ext>
            </a:extLst>
          </p:cNvPr>
          <p:cNvSpPr>
            <a:spLocks xmlns:a="http://schemas.openxmlformats.org/drawingml/2006/main" noGrp="1"/>
          </p:cNvSpPr>
          <p:nvPr/>
        </p:nvSpPr>
        <p:spPr>
          <a:xfrm xmlns:a="http://schemas.openxmlformats.org/drawingml/2006/main">
            <a:off x="1124712" y="4005072"/>
            <a:ext cx="4398264"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A shared upstream cause for similar mitochondrial programs</a:t>
            </a:r>
          </a:p>
        </p:txBody>
      </p:sp>
      <p:sp>
        <p:nvSpPr>
          <p:cNvPr id="13" name="Rounded Rectangle 12">
            <a:extLst xmlns:a="http://schemas.openxmlformats.org/drawingml/2006/main">
              <a:ext uri="{FF2B5EF4-FFF2-40B4-BE49-F238E27FC236}">
                <a16:creationId xmlns:a16="http://schemas.microsoft.com/office/drawing/2014/main" id="{F84B8D58-C048-4BCD-AD6B-C02443BC451A}"/>
              </a:ext>
            </a:extLst>
          </p:cNvPr>
          <p:cNvSpPr>
            <a:spLocks xmlns:a="http://schemas.openxmlformats.org/drawingml/2006/main" noGrp="1"/>
          </p:cNvSpPr>
          <p:nvPr/>
        </p:nvSpPr>
        <p:spPr>
          <a:xfrm xmlns:a="http://schemas.openxmlformats.org/drawingml/2006/main">
            <a:off x="6236208" y="1298448"/>
            <a:ext cx="5303520" cy="4498848"/>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4" name="Rectangle 13">
            <a:extLst xmlns:a="http://schemas.openxmlformats.org/drawingml/2006/main">
              <a:ext uri="{FF2B5EF4-FFF2-40B4-BE49-F238E27FC236}">
                <a16:creationId xmlns:a16="http://schemas.microsoft.com/office/drawing/2014/main" id="{7139715D-2729-46B7-B54C-C7728952164A}"/>
              </a:ext>
            </a:extLst>
          </p:cNvPr>
          <p:cNvSpPr>
            <a:spLocks xmlns:a="http://schemas.openxmlformats.org/drawingml/2006/main" noGrp="1"/>
          </p:cNvSpPr>
          <p:nvPr/>
        </p:nvSpPr>
        <p:spPr>
          <a:xfrm xmlns:a="http://schemas.openxmlformats.org/drawingml/2006/main">
            <a:off x="6528816" y="1636776"/>
            <a:ext cx="64008" cy="283464"/>
          </a:xfrm>
          <a:prstGeom xmlns:a="http://schemas.openxmlformats.org/drawingml/2006/main" prst="rect">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5" name="TextBox 14">
            <a:extLst xmlns:a="http://schemas.openxmlformats.org/drawingml/2006/main">
              <a:ext uri="{FF2B5EF4-FFF2-40B4-BE49-F238E27FC236}">
                <a16:creationId xmlns:a16="http://schemas.microsoft.com/office/drawing/2014/main" id="{5BA74774-D4C9-47DC-A54D-9E24C00758C4}"/>
              </a:ext>
            </a:extLst>
          </p:cNvPr>
          <p:cNvSpPr>
            <a:spLocks xmlns:a="http://schemas.openxmlformats.org/drawingml/2006/main" noGrp="1"/>
          </p:cNvSpPr>
          <p:nvPr/>
        </p:nvSpPr>
        <p:spPr>
          <a:xfrm xmlns:a="http://schemas.openxmlformats.org/drawingml/2006/main">
            <a:off x="6675120" y="1609344"/>
            <a:ext cx="4535424" cy="32918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520" b="1" i="0">
                <a:solidFill>
                  <a:srgbClr val="0F233D"/>
                </a:solidFill>
                <a:latin typeface="Arial"/>
                <a:ea typeface="Arial"/>
                <a:cs typeface="Arial"/>
              </a:rPr>
              <a:t>Best next tests</a:t>
            </a:r>
          </a:p>
        </p:txBody>
      </p:sp>
      <p:sp>
        <p:nvSpPr>
          <p:cNvPr id="16" name="Oval 15">
            <a:extLst xmlns:a="http://schemas.openxmlformats.org/drawingml/2006/main">
              <a:ext uri="{FF2B5EF4-FFF2-40B4-BE49-F238E27FC236}">
                <a16:creationId xmlns:a16="http://schemas.microsoft.com/office/drawing/2014/main" id="{66DAEF89-C272-4F7B-A7BC-D706EEAB233A}"/>
              </a:ext>
            </a:extLst>
          </p:cNvPr>
          <p:cNvSpPr>
            <a:spLocks xmlns:a="http://schemas.openxmlformats.org/drawingml/2006/main" noGrp="1"/>
          </p:cNvSpPr>
          <p:nvPr/>
        </p:nvSpPr>
        <p:spPr>
          <a:xfrm xmlns:a="http://schemas.openxmlformats.org/drawingml/2006/main">
            <a:off x="6528816" y="23042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7" name="TextBox 16">
            <a:extLst xmlns:a="http://schemas.openxmlformats.org/drawingml/2006/main">
              <a:ext uri="{FF2B5EF4-FFF2-40B4-BE49-F238E27FC236}">
                <a16:creationId xmlns:a16="http://schemas.microsoft.com/office/drawing/2014/main" id="{5342C559-DA01-490D-B5A4-38C9BB3EAC06}"/>
              </a:ext>
            </a:extLst>
          </p:cNvPr>
          <p:cNvSpPr>
            <a:spLocks xmlns:a="http://schemas.openxmlformats.org/drawingml/2006/main" noGrp="1"/>
          </p:cNvSpPr>
          <p:nvPr/>
        </p:nvSpPr>
        <p:spPr>
          <a:xfrm xmlns:a="http://schemas.openxmlformats.org/drawingml/2006/main">
            <a:off x="6702552" y="21762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Freeze driver-associated signed gene sets before validation</a:t>
            </a:r>
          </a:p>
        </p:txBody>
      </p:sp>
      <p:sp>
        <p:nvSpPr>
          <p:cNvPr id="18" name="Oval 17">
            <a:extLst xmlns:a="http://schemas.openxmlformats.org/drawingml/2006/main">
              <a:ext uri="{FF2B5EF4-FFF2-40B4-BE49-F238E27FC236}">
                <a16:creationId xmlns:a16="http://schemas.microsoft.com/office/drawing/2014/main" id="{C88A6372-0E0B-448A-A3B6-520BA29D2FB5}"/>
              </a:ext>
            </a:extLst>
          </p:cNvPr>
          <p:cNvSpPr>
            <a:spLocks xmlns:a="http://schemas.openxmlformats.org/drawingml/2006/main" noGrp="1"/>
          </p:cNvSpPr>
          <p:nvPr/>
        </p:nvSpPr>
        <p:spPr>
          <a:xfrm xmlns:a="http://schemas.openxmlformats.org/drawingml/2006/main">
            <a:off x="6528816" y="3218688"/>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3651C554-9803-46B7-A16E-3613038D5594}"/>
              </a:ext>
            </a:extLst>
          </p:cNvPr>
          <p:cNvSpPr>
            <a:spLocks xmlns:a="http://schemas.openxmlformats.org/drawingml/2006/main" noGrp="1"/>
          </p:cNvSpPr>
          <p:nvPr/>
        </p:nvSpPr>
        <p:spPr>
          <a:xfrm xmlns:a="http://schemas.openxmlformats.org/drawingml/2006/main">
            <a:off x="6702552" y="30906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Harmonize networks, stable IDs, and thresholds</a:t>
            </a:r>
          </a:p>
        </p:txBody>
      </p:sp>
      <p:sp>
        <p:nvSpPr>
          <p:cNvPr id="20" name="Oval 19">
            <a:extLst xmlns:a="http://schemas.openxmlformats.org/drawingml/2006/main">
              <a:ext uri="{FF2B5EF4-FFF2-40B4-BE49-F238E27FC236}">
                <a16:creationId xmlns:a16="http://schemas.microsoft.com/office/drawing/2014/main" id="{4C709F26-04D6-47C5-A04A-E7CE6F1C241A}"/>
              </a:ext>
            </a:extLst>
          </p:cNvPr>
          <p:cNvSpPr>
            <a:spLocks xmlns:a="http://schemas.openxmlformats.org/drawingml/2006/main" noGrp="1"/>
          </p:cNvSpPr>
          <p:nvPr/>
        </p:nvSpPr>
        <p:spPr>
          <a:xfrm xmlns:a="http://schemas.openxmlformats.org/drawingml/2006/main">
            <a:off x="6528816" y="4133087"/>
            <a:ext cx="77724" cy="77724"/>
          </a:xfrm>
          <a:prstGeom xmlns:a="http://schemas.openxmlformats.org/drawingml/2006/main" prst="ellipse">
            <a:avLst/>
          </a:prstGeom>
          <a:solidFill xmlns:a="http://schemas.openxmlformats.org/drawingml/2006/main">
            <a:srgbClr val="009E73"/>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1" name="TextBox 20">
            <a:extLst xmlns:a="http://schemas.openxmlformats.org/drawingml/2006/main">
              <a:ext uri="{FF2B5EF4-FFF2-40B4-BE49-F238E27FC236}">
                <a16:creationId xmlns:a16="http://schemas.microsoft.com/office/drawing/2014/main" id="{6407286D-B69D-43EF-BE74-D885510BE770}"/>
              </a:ext>
            </a:extLst>
          </p:cNvPr>
          <p:cNvSpPr>
            <a:spLocks xmlns:a="http://schemas.openxmlformats.org/drawingml/2006/main" noGrp="1"/>
          </p:cNvSpPr>
          <p:nvPr/>
        </p:nvSpPr>
        <p:spPr>
          <a:xfrm xmlns:a="http://schemas.openxmlformats.org/drawingml/2006/main">
            <a:off x="6702552" y="4005072"/>
            <a:ext cx="4416551" cy="91440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300" b="0" i="0">
                <a:solidFill>
                  <a:srgbClr val="1F2730"/>
                </a:solidFill>
                <a:latin typeface="Arial"/>
                <a:ea typeface="Arial"/>
                <a:cs typeface="Arial"/>
              </a:rPr>
              <a:t>Test matched and related contexts in a larger balanced cohort</a:t>
            </a:r>
          </a:p>
        </p:txBody>
      </p:sp>
      <p:sp>
        <p:nvSpPr>
          <p:cNvPr id="22" name="TextBox 21">
            <a:extLst xmlns:a="http://schemas.openxmlformats.org/drawingml/2006/main">
              <a:ext uri="{FF2B5EF4-FFF2-40B4-BE49-F238E27FC236}">
                <a16:creationId xmlns:a16="http://schemas.microsoft.com/office/drawing/2014/main" id="{DA7B2205-9968-4001-B93E-33EA7F034C16}"/>
              </a:ext>
            </a:extLst>
          </p:cNvPr>
          <p:cNvSpPr>
            <a:spLocks xmlns:a="http://schemas.openxmlformats.org/drawingml/2006/main" noGrp="1"/>
          </p:cNvSpPr>
          <p:nvPr/>
        </p:nvSpPr>
        <p:spPr>
          <a:xfrm xmlns:a="http://schemas.openxmlformats.org/drawingml/2006/main">
            <a:off x="841248" y="6053328"/>
            <a:ext cx="10515600" cy="27432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140" b="1" i="0">
                <a:solidFill>
                  <a:srgbClr val="7E4C9A"/>
                </a:solidFill>
                <a:latin typeface="Arial"/>
                <a:ea typeface="Arial"/>
                <a:cs typeface="Arial"/>
              </a:rPr>
              <a:t>Causal interpretation requires donor-aware statistics, perturbation, and functional measurement.</a:t>
            </a:r>
          </a:p>
        </p:txBody>
      </p:sp>
      <p:sp>
        <p:nvSpPr>
          <p:cNvPr id="23" name="TextBox 22">
            <a:extLst xmlns:a="http://schemas.openxmlformats.org/drawingml/2006/main">
              <a:ext uri="{FF2B5EF4-FFF2-40B4-BE49-F238E27FC236}">
                <a16:creationId xmlns:a16="http://schemas.microsoft.com/office/drawing/2014/main" id="{E9261B5D-E0A4-49E9-B4A7-B92649D46B92}"/>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2070990772"/>
      </p:ext>
    </p:extLst>
  </p:cSld>
</p:sld>
</file>

<file path=ppt/slides/slide16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 name="TextBox 1">
            <a:extLst xmlns:a="http://schemas.openxmlformats.org/drawingml/2006/main">
              <a:ext uri="{FF2B5EF4-FFF2-40B4-BE49-F238E27FC236}">
                <a16:creationId xmlns:a16="http://schemas.microsoft.com/office/drawing/2014/main" id="{BE7F17D0-27B4-40F3-B9A2-6DDD1B9E42BE}"/>
              </a:ext>
            </a:extLst>
          </p:cNvPr>
          <p:cNvSpPr>
            <a:spLocks xmlns:a="http://schemas.openxmlformats.org/drawingml/2006/main" noGrp="1"/>
          </p:cNvSpPr>
          <p:nvPr/>
        </p:nvSpPr>
        <p:spPr>
          <a:xfrm xmlns:a="http://schemas.openxmlformats.org/drawingml/2006/main">
            <a:off x="530352" y="292608"/>
            <a:ext cx="11064240" cy="640080"/>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2200" b="1" i="0">
                <a:solidFill>
                  <a:srgbClr val="0F233D"/>
                </a:solidFill>
                <a:latin typeface="Arial"/>
                <a:ea typeface="Arial"/>
                <a:cs typeface="Arial"/>
              </a:rPr>
              <a:t>Prior research and evidence context for Finding 17</a:t>
            </a:r>
          </a:p>
        </p:txBody>
      </p:sp>
      <p:sp>
        <p:nvSpPr>
          <p:cNvPr id="3" name="TextBox 2">
            <a:extLst xmlns:a="http://schemas.openxmlformats.org/drawingml/2006/main">
              <a:ext uri="{FF2B5EF4-FFF2-40B4-BE49-F238E27FC236}">
                <a16:creationId xmlns:a16="http://schemas.microsoft.com/office/drawing/2014/main" id="{249501AF-445F-4338-8E8F-E34A6D8A9E6B}"/>
              </a:ext>
            </a:extLst>
          </p:cNvPr>
          <p:cNvSpPr>
            <a:spLocks xmlns:a="http://schemas.openxmlformats.org/drawingml/2006/main" noGrp="1"/>
          </p:cNvSpPr>
          <p:nvPr/>
        </p:nvSpPr>
        <p:spPr>
          <a:xfrm xmlns:a="http://schemas.openxmlformats.org/drawingml/2006/main">
            <a:off x="548640" y="969264"/>
            <a:ext cx="10927080" cy="25603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1080" b="0" i="0">
                <a:solidFill>
                  <a:srgbClr val="4E5A68"/>
                </a:solidFill>
                <a:latin typeface="Arial"/>
                <a:ea typeface="Arial"/>
                <a:cs typeface="Arial"/>
              </a:rPr>
              <a:t>Each source supports part of the interpretation. None independently proves the complete finding.</a:t>
            </a:r>
          </a:p>
        </p:txBody>
      </p:sp>
      <p:sp>
        <p:nvSpPr>
          <p:cNvPr id="4" name="Rounded Rectangle 3">
            <a:extLst xmlns:a="http://schemas.openxmlformats.org/drawingml/2006/main">
              <a:ext uri="{FF2B5EF4-FFF2-40B4-BE49-F238E27FC236}">
                <a16:creationId xmlns:a16="http://schemas.microsoft.com/office/drawing/2014/main" id="{CA191AEA-51BD-4391-9423-DF35EC8D10A5}"/>
              </a:ext>
            </a:extLst>
          </p:cNvPr>
          <p:cNvSpPr>
            <a:spLocks xmlns:a="http://schemas.openxmlformats.org/drawingml/2006/main" noGrp="1"/>
          </p:cNvSpPr>
          <p:nvPr/>
        </p:nvSpPr>
        <p:spPr>
          <a:xfrm xmlns:a="http://schemas.openxmlformats.org/drawingml/2006/main">
            <a:off x="658368" y="1353312"/>
            <a:ext cx="3456432" cy="4334256"/>
          </a:xfrm>
          <a:prstGeom xmlns:a="http://schemas.openxmlformats.org/drawingml/2006/main" prst="roundRect">
            <a:avLst/>
          </a:prstGeom>
          <a:solidFill xmlns:a="http://schemas.openxmlformats.org/drawingml/2006/main">
            <a:srgbClr val="EBF7F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5" name="TextBox 4">
            <a:extLst xmlns:a="http://schemas.openxmlformats.org/drawingml/2006/main">
              <a:ext uri="{FF2B5EF4-FFF2-40B4-BE49-F238E27FC236}">
                <a16:creationId xmlns:a16="http://schemas.microsoft.com/office/drawing/2014/main" id="{3F596638-4B6C-4331-9E6A-83F32EE9916B}"/>
              </a:ext>
            </a:extLst>
          </p:cNvPr>
          <p:cNvSpPr>
            <a:spLocks xmlns:a="http://schemas.openxmlformats.org/drawingml/2006/main" noGrp="1"/>
          </p:cNvSpPr>
          <p:nvPr/>
        </p:nvSpPr>
        <p:spPr>
          <a:xfrm xmlns:a="http://schemas.openxmlformats.org/drawingml/2006/main">
            <a:off x="93268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72B2"/>
                </a:solidFill>
                <a:latin typeface="Arial"/>
                <a:ea typeface="Arial"/>
                <a:cs typeface="Arial"/>
              </a:rPr>
              <a:t>Female ε3/ε3 program</a:t>
            </a:r>
          </a:p>
        </p:txBody>
      </p:sp>
      <p:sp>
        <p:nvSpPr>
          <p:cNvPr id="6" name="TextBox 5">
            <a:extLst xmlns:a="http://schemas.openxmlformats.org/drawingml/2006/main">
              <a:ext uri="{FF2B5EF4-FFF2-40B4-BE49-F238E27FC236}">
                <a16:creationId xmlns:a16="http://schemas.microsoft.com/office/drawing/2014/main" id="{95D7659A-8241-4717-A59C-98BD56EFA108}"/>
              </a:ext>
            </a:extLst>
          </p:cNvPr>
          <p:cNvSpPr>
            <a:spLocks xmlns:a="http://schemas.openxmlformats.org/drawingml/2006/main" noGrp="1"/>
          </p:cNvSpPr>
          <p:nvPr/>
        </p:nvSpPr>
        <p:spPr>
          <a:xfrm xmlns:a="http://schemas.openxmlformats.org/drawingml/2006/main">
            <a:off x="93268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Strong but narrow support</a:t>
            </a:r>
          </a:p>
        </p:txBody>
      </p:sp>
      <p:sp>
        <p:nvSpPr>
          <p:cNvPr id="7" name="TextBox 6">
            <a:extLst xmlns:a="http://schemas.openxmlformats.org/drawingml/2006/main">
              <a:ext uri="{FF2B5EF4-FFF2-40B4-BE49-F238E27FC236}">
                <a16:creationId xmlns:a16="http://schemas.microsoft.com/office/drawing/2014/main" id="{7C08F0BB-8318-4CD3-8D79-EE3C7D032E4B}"/>
              </a:ext>
            </a:extLst>
          </p:cNvPr>
          <p:cNvSpPr>
            <a:spLocks xmlns:a="http://schemas.openxmlformats.org/drawingml/2006/main" noGrp="1"/>
          </p:cNvSpPr>
          <p:nvPr/>
        </p:nvSpPr>
        <p:spPr>
          <a:xfrm xmlns:a="http://schemas.openxmlformats.org/drawingml/2006/main">
            <a:off x="95097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72B2"/>
                </a:solidFill>
                <a:latin typeface="Arial"/>
                <a:ea typeface="Arial"/>
                <a:cs typeface="Arial"/>
              </a:rPr>
              <a:t>SUPPORTS</a:t>
            </a:r>
          </a:p>
        </p:txBody>
      </p:sp>
      <p:sp>
        <p:nvSpPr>
          <p:cNvPr id="8" name="TextBox 7">
            <a:extLst xmlns:a="http://schemas.openxmlformats.org/drawingml/2006/main">
              <a:ext uri="{FF2B5EF4-FFF2-40B4-BE49-F238E27FC236}">
                <a16:creationId xmlns:a16="http://schemas.microsoft.com/office/drawing/2014/main" id="{A5EC6D06-54BE-4B44-AF40-E356536BB43F}"/>
              </a:ext>
            </a:extLst>
          </p:cNvPr>
          <p:cNvSpPr>
            <a:spLocks xmlns:a="http://schemas.openxmlformats.org/drawingml/2006/main" noGrp="1"/>
          </p:cNvSpPr>
          <p:nvPr/>
        </p:nvSpPr>
        <p:spPr>
          <a:xfrm xmlns:a="http://schemas.openxmlformats.org/drawingml/2006/main">
            <a:off x="95097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Nine shared mtDNA genes are AD-up in both cohorts and overlap BH is 0.00505.</a:t>
            </a:r>
          </a:p>
        </p:txBody>
      </p:sp>
      <p:sp>
        <p:nvSpPr>
          <p:cNvPr id="9" name="TextBox 8">
            <a:extLst xmlns:a="http://schemas.openxmlformats.org/drawingml/2006/main">
              <a:ext uri="{FF2B5EF4-FFF2-40B4-BE49-F238E27FC236}">
                <a16:creationId xmlns:a16="http://schemas.microsoft.com/office/drawing/2014/main" id="{B8894569-60E7-4348-833B-F6D568F62DD5}"/>
              </a:ext>
            </a:extLst>
          </p:cNvPr>
          <p:cNvSpPr>
            <a:spLocks xmlns:a="http://schemas.openxmlformats.org/drawingml/2006/main" noGrp="1"/>
          </p:cNvSpPr>
          <p:nvPr/>
        </p:nvSpPr>
        <p:spPr>
          <a:xfrm xmlns:a="http://schemas.openxmlformats.org/drawingml/2006/main">
            <a:off x="95097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0" name="TextBox 9">
            <a:extLst xmlns:a="http://schemas.openxmlformats.org/drawingml/2006/main">
              <a:ext uri="{FF2B5EF4-FFF2-40B4-BE49-F238E27FC236}">
                <a16:creationId xmlns:a16="http://schemas.microsoft.com/office/drawing/2014/main" id="{B934DCB9-EEC6-42DF-8BB6-CB122EC99930}"/>
              </a:ext>
            </a:extLst>
          </p:cNvPr>
          <p:cNvSpPr>
            <a:spLocks xmlns:a="http://schemas.openxmlformats.org/drawingml/2006/main" noGrp="1"/>
          </p:cNvSpPr>
          <p:nvPr/>
        </p:nvSpPr>
        <p:spPr>
          <a:xfrm xmlns:a="http://schemas.openxmlformats.org/drawingml/2006/main">
            <a:off x="95097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Only one matched SEA-AD excitatory call was evaluable.</a:t>
            </a:r>
          </a:p>
        </p:txBody>
      </p:sp>
      <p:sp>
        <p:nvSpPr>
          <p:cNvPr id="11" name="Rounded Rectangle 10">
            <a:extLst xmlns:a="http://schemas.openxmlformats.org/drawingml/2006/main">
              <a:ext uri="{FF2B5EF4-FFF2-40B4-BE49-F238E27FC236}">
                <a16:creationId xmlns:a16="http://schemas.microsoft.com/office/drawing/2014/main" id="{B0DF5B9C-C7DC-45B7-A5C2-7FEF846E5B9E}"/>
              </a:ext>
            </a:extLst>
          </p:cNvPr>
          <p:cNvSpPr>
            <a:spLocks xmlns:a="http://schemas.openxmlformats.org/drawingml/2006/main" noGrp="1"/>
          </p:cNvSpPr>
          <p:nvPr/>
        </p:nvSpPr>
        <p:spPr>
          <a:xfrm xmlns:a="http://schemas.openxmlformats.org/drawingml/2006/main">
            <a:off x="4453128" y="1353312"/>
            <a:ext cx="3456432" cy="4334256"/>
          </a:xfrm>
          <a:prstGeom xmlns:a="http://schemas.openxmlformats.org/drawingml/2006/main" prst="roundRect">
            <a:avLst/>
          </a:prstGeom>
          <a:solidFill xmlns:a="http://schemas.openxmlformats.org/drawingml/2006/main">
            <a:srgbClr val="E4F4EE"/>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2" name="TextBox 11">
            <a:extLst xmlns:a="http://schemas.openxmlformats.org/drawingml/2006/main">
              <a:ext uri="{FF2B5EF4-FFF2-40B4-BE49-F238E27FC236}">
                <a16:creationId xmlns:a16="http://schemas.microsoft.com/office/drawing/2014/main" id="{810BA03C-69DB-4568-AA00-5F1D44305117}"/>
              </a:ext>
            </a:extLst>
          </p:cNvPr>
          <p:cNvSpPr>
            <a:spLocks xmlns:a="http://schemas.openxmlformats.org/drawingml/2006/main" noGrp="1"/>
          </p:cNvSpPr>
          <p:nvPr/>
        </p:nvSpPr>
        <p:spPr>
          <a:xfrm xmlns:a="http://schemas.openxmlformats.org/drawingml/2006/main">
            <a:off x="472744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00684D"/>
                </a:solidFill>
                <a:latin typeface="Arial"/>
                <a:ea typeface="Arial"/>
                <a:cs typeface="Arial"/>
              </a:rPr>
              <a:t>Male ε3/ε3 program</a:t>
            </a:r>
          </a:p>
        </p:txBody>
      </p:sp>
      <p:sp>
        <p:nvSpPr>
          <p:cNvPr id="13" name="TextBox 12">
            <a:extLst xmlns:a="http://schemas.openxmlformats.org/drawingml/2006/main">
              <a:ext uri="{FF2B5EF4-FFF2-40B4-BE49-F238E27FC236}">
                <a16:creationId xmlns:a16="http://schemas.microsoft.com/office/drawing/2014/main" id="{A09F1D21-C3A3-4292-A15D-13A1248BFF71}"/>
              </a:ext>
            </a:extLst>
          </p:cNvPr>
          <p:cNvSpPr>
            <a:spLocks xmlns:a="http://schemas.openxmlformats.org/drawingml/2006/main" noGrp="1"/>
          </p:cNvSpPr>
          <p:nvPr/>
        </p:nvSpPr>
        <p:spPr>
          <a:xfrm xmlns:a="http://schemas.openxmlformats.org/drawingml/2006/main">
            <a:off x="472744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Moderate to strong support</a:t>
            </a:r>
          </a:p>
        </p:txBody>
      </p:sp>
      <p:sp>
        <p:nvSpPr>
          <p:cNvPr id="14" name="TextBox 13">
            <a:extLst xmlns:a="http://schemas.openxmlformats.org/drawingml/2006/main">
              <a:ext uri="{FF2B5EF4-FFF2-40B4-BE49-F238E27FC236}">
                <a16:creationId xmlns:a16="http://schemas.microsoft.com/office/drawing/2014/main" id="{8DC78D7D-9D57-4BE7-A626-26EB6E06372F}"/>
              </a:ext>
            </a:extLst>
          </p:cNvPr>
          <p:cNvSpPr>
            <a:spLocks xmlns:a="http://schemas.openxmlformats.org/drawingml/2006/main" noGrp="1"/>
          </p:cNvSpPr>
          <p:nvPr/>
        </p:nvSpPr>
        <p:spPr>
          <a:xfrm xmlns:a="http://schemas.openxmlformats.org/drawingml/2006/main">
            <a:off x="474573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00684D"/>
                </a:solidFill>
                <a:latin typeface="Arial"/>
                <a:ea typeface="Arial"/>
                <a:cs typeface="Arial"/>
              </a:rPr>
              <a:t>SUPPORTS</a:t>
            </a:r>
          </a:p>
        </p:txBody>
      </p:sp>
      <p:sp>
        <p:nvSpPr>
          <p:cNvPr id="15" name="TextBox 14">
            <a:extLst xmlns:a="http://schemas.openxmlformats.org/drawingml/2006/main">
              <a:ext uri="{FF2B5EF4-FFF2-40B4-BE49-F238E27FC236}">
                <a16:creationId xmlns:a16="http://schemas.microsoft.com/office/drawing/2014/main" id="{F87DA702-414E-487B-8AFA-63E3C9FCEC3A}"/>
              </a:ext>
            </a:extLst>
          </p:cNvPr>
          <p:cNvSpPr>
            <a:spLocks xmlns:a="http://schemas.openxmlformats.org/drawingml/2006/main" noGrp="1"/>
          </p:cNvSpPr>
          <p:nvPr/>
        </p:nvSpPr>
        <p:spPr>
          <a:xfrm xmlns:a="http://schemas.openxmlformats.org/drawingml/2006/main">
            <a:off x="474573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Nineteen of 22 shared inhibitory-neuron genes have the same fixed direction.</a:t>
            </a:r>
          </a:p>
        </p:txBody>
      </p:sp>
      <p:sp>
        <p:nvSpPr>
          <p:cNvPr id="16" name="TextBox 15">
            <a:extLst xmlns:a="http://schemas.openxmlformats.org/drawingml/2006/main">
              <a:ext uri="{FF2B5EF4-FFF2-40B4-BE49-F238E27FC236}">
                <a16:creationId xmlns:a16="http://schemas.microsoft.com/office/drawing/2014/main" id="{19CADD17-C69C-4A27-8ECB-97FAB98E3788}"/>
              </a:ext>
            </a:extLst>
          </p:cNvPr>
          <p:cNvSpPr>
            <a:spLocks xmlns:a="http://schemas.openxmlformats.org/drawingml/2006/main" noGrp="1"/>
          </p:cNvSpPr>
          <p:nvPr/>
        </p:nvSpPr>
        <p:spPr>
          <a:xfrm xmlns:a="http://schemas.openxmlformats.org/drawingml/2006/main">
            <a:off x="474573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17" name="TextBox 16">
            <a:extLst xmlns:a="http://schemas.openxmlformats.org/drawingml/2006/main">
              <a:ext uri="{FF2B5EF4-FFF2-40B4-BE49-F238E27FC236}">
                <a16:creationId xmlns:a16="http://schemas.microsoft.com/office/drawing/2014/main" id="{0DC85666-4C4F-4A12-97D1-2455F7AA73F4}"/>
              </a:ext>
            </a:extLst>
          </p:cNvPr>
          <p:cNvSpPr>
            <a:spLocks xmlns:a="http://schemas.openxmlformats.org/drawingml/2006/main" noGrp="1"/>
          </p:cNvSpPr>
          <p:nvPr/>
        </p:nvSpPr>
        <p:spPr>
          <a:xfrm xmlns:a="http://schemas.openxmlformats.org/drawingml/2006/main">
            <a:off x="474573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ROSMAP direct-broad significance is composition-sensitive.</a:t>
            </a:r>
          </a:p>
        </p:txBody>
      </p:sp>
      <p:sp>
        <p:nvSpPr>
          <p:cNvPr id="18" name="Rounded Rectangle 17">
            <a:extLst xmlns:a="http://schemas.openxmlformats.org/drawingml/2006/main">
              <a:ext uri="{FF2B5EF4-FFF2-40B4-BE49-F238E27FC236}">
                <a16:creationId xmlns:a16="http://schemas.microsoft.com/office/drawing/2014/main" id="{289BB1B8-B4BE-4337-B37D-2538C083400F}"/>
              </a:ext>
            </a:extLst>
          </p:cNvPr>
          <p:cNvSpPr>
            <a:spLocks xmlns:a="http://schemas.openxmlformats.org/drawingml/2006/main" noGrp="1"/>
          </p:cNvSpPr>
          <p:nvPr/>
        </p:nvSpPr>
        <p:spPr>
          <a:xfrm xmlns:a="http://schemas.openxmlformats.org/drawingml/2006/main">
            <a:off x="8247888" y="1353312"/>
            <a:ext cx="3456432" cy="4334256"/>
          </a:xfrm>
          <a:prstGeom xmlns:a="http://schemas.openxmlformats.org/drawingml/2006/main" prst="roundRect">
            <a:avLst/>
          </a:prstGeom>
          <a:solidFill xmlns:a="http://schemas.openxmlformats.org/drawingml/2006/main">
            <a:srgbClr val="FDF2D9"/>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19" name="TextBox 18">
            <a:extLst xmlns:a="http://schemas.openxmlformats.org/drawingml/2006/main">
              <a:ext uri="{FF2B5EF4-FFF2-40B4-BE49-F238E27FC236}">
                <a16:creationId xmlns:a16="http://schemas.microsoft.com/office/drawing/2014/main" id="{0E0349AA-1624-44E2-BBCF-9D60E6FBD3B3}"/>
              </a:ext>
            </a:extLst>
          </p:cNvPr>
          <p:cNvSpPr>
            <a:spLocks xmlns:a="http://schemas.openxmlformats.org/drawingml/2006/main" noGrp="1"/>
          </p:cNvSpPr>
          <p:nvPr/>
        </p:nvSpPr>
        <p:spPr>
          <a:xfrm xmlns:a="http://schemas.openxmlformats.org/drawingml/2006/main">
            <a:off x="8522208" y="1645920"/>
            <a:ext cx="2907792" cy="384048"/>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500" b="1" i="0">
                <a:solidFill>
                  <a:srgbClr val="895600"/>
                </a:solidFill>
                <a:latin typeface="Arial"/>
                <a:ea typeface="Arial"/>
                <a:cs typeface="Arial"/>
              </a:rPr>
              <a:t>Global driver overlap</a:t>
            </a:r>
          </a:p>
        </p:txBody>
      </p:sp>
      <p:sp>
        <p:nvSpPr>
          <p:cNvPr id="20" name="TextBox 19">
            <a:extLst xmlns:a="http://schemas.openxmlformats.org/drawingml/2006/main">
              <a:ext uri="{FF2B5EF4-FFF2-40B4-BE49-F238E27FC236}">
                <a16:creationId xmlns:a16="http://schemas.microsoft.com/office/drawing/2014/main" id="{F280AD69-BE1C-48C2-9127-6D7C129632E9}"/>
              </a:ext>
            </a:extLst>
          </p:cNvPr>
          <p:cNvSpPr>
            <a:spLocks xmlns:a="http://schemas.openxmlformats.org/drawingml/2006/main" noGrp="1"/>
          </p:cNvSpPr>
          <p:nvPr/>
        </p:nvSpPr>
        <p:spPr>
          <a:xfrm xmlns:a="http://schemas.openxmlformats.org/drawingml/2006/main">
            <a:off x="8522208" y="2157984"/>
            <a:ext cx="2907792" cy="53035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ctr">
            <a:spAutoFit/>
          </a:bodyPr>
          <a:lstStyle xmlns:a="http://schemas.openxmlformats.org/drawingml/2006/main"/>
          <a:p xmlns:a="http://schemas.openxmlformats.org/drawingml/2006/main">
            <a:pPr algn="ctr">
              <a:lnSpc>
                <a:spcPct val="100000"/>
              </a:lnSpc>
              <a:spcBef>
                <a:spcPts val="0"/>
              </a:spcBef>
              <a:spcAft>
                <a:spcPts val="0"/>
              </a:spcAft>
              <a:buNone/>
            </a:pPr>
            <a:r>
              <a:rPr sz="1350" b="1" i="0">
                <a:solidFill>
                  <a:srgbClr val="0F233D"/>
                </a:solidFill>
                <a:latin typeface="Arial"/>
                <a:ea typeface="Arial"/>
                <a:cs typeface="Arial"/>
              </a:rPr>
              <a:t>Suggestive, not significant</a:t>
            </a:r>
          </a:p>
        </p:txBody>
      </p:sp>
      <p:sp>
        <p:nvSpPr>
          <p:cNvPr id="21" name="TextBox 20">
            <a:extLst xmlns:a="http://schemas.openxmlformats.org/drawingml/2006/main">
              <a:ext uri="{FF2B5EF4-FFF2-40B4-BE49-F238E27FC236}">
                <a16:creationId xmlns:a16="http://schemas.microsoft.com/office/drawing/2014/main" id="{FDBA1D66-212F-494B-A15B-C41380E2B0D6}"/>
              </a:ext>
            </a:extLst>
          </p:cNvPr>
          <p:cNvSpPr>
            <a:spLocks xmlns:a="http://schemas.openxmlformats.org/drawingml/2006/main" noGrp="1"/>
          </p:cNvSpPr>
          <p:nvPr/>
        </p:nvSpPr>
        <p:spPr>
          <a:xfrm xmlns:a="http://schemas.openxmlformats.org/drawingml/2006/main">
            <a:off x="8540496" y="2880360"/>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895600"/>
                </a:solidFill>
                <a:latin typeface="Arial"/>
                <a:ea typeface="Arial"/>
                <a:cs typeface="Arial"/>
              </a:rPr>
              <a:t>SUPPORTS</a:t>
            </a:r>
          </a:p>
        </p:txBody>
      </p:sp>
      <p:sp>
        <p:nvSpPr>
          <p:cNvPr id="22" name="TextBox 21">
            <a:extLst xmlns:a="http://schemas.openxmlformats.org/drawingml/2006/main">
              <a:ext uri="{FF2B5EF4-FFF2-40B4-BE49-F238E27FC236}">
                <a16:creationId xmlns:a16="http://schemas.microsoft.com/office/drawing/2014/main" id="{B06E185D-9B8F-4A0C-9AA8-1606ABEE49CF}"/>
              </a:ext>
            </a:extLst>
          </p:cNvPr>
          <p:cNvSpPr>
            <a:spLocks xmlns:a="http://schemas.openxmlformats.org/drawingml/2006/main" noGrp="1"/>
          </p:cNvSpPr>
          <p:nvPr/>
        </p:nvSpPr>
        <p:spPr>
          <a:xfrm xmlns:a="http://schemas.openxmlformats.org/drawingml/2006/main">
            <a:off x="8540496" y="3145536"/>
            <a:ext cx="2871216" cy="76809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0" i="0">
                <a:solidFill>
                  <a:srgbClr val="1F2730"/>
                </a:solidFill>
                <a:latin typeface="Arial"/>
                <a:ea typeface="Arial"/>
                <a:cs typeface="Arial"/>
              </a:rPr>
              <a:t>Three cross-context genes exceed the random point expectation.</a:t>
            </a:r>
          </a:p>
        </p:txBody>
      </p:sp>
      <p:sp>
        <p:nvSpPr>
          <p:cNvPr id="23" name="TextBox 22">
            <a:extLst xmlns:a="http://schemas.openxmlformats.org/drawingml/2006/main">
              <a:ext uri="{FF2B5EF4-FFF2-40B4-BE49-F238E27FC236}">
                <a16:creationId xmlns:a16="http://schemas.microsoft.com/office/drawing/2014/main" id="{23908DBE-25FA-4BA1-9033-E5896D97CB67}"/>
              </a:ext>
            </a:extLst>
          </p:cNvPr>
          <p:cNvSpPr>
            <a:spLocks xmlns:a="http://schemas.openxmlformats.org/drawingml/2006/main" noGrp="1"/>
          </p:cNvSpPr>
          <p:nvPr/>
        </p:nvSpPr>
        <p:spPr>
          <a:xfrm xmlns:a="http://schemas.openxmlformats.org/drawingml/2006/main">
            <a:off x="8540496" y="4133087"/>
            <a:ext cx="1005840" cy="219456"/>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l">
              <a:lnSpc>
                <a:spcPct val="100000"/>
              </a:lnSpc>
              <a:spcBef>
                <a:spcPts val="0"/>
              </a:spcBef>
              <a:spcAft>
                <a:spcPts val="0"/>
              </a:spcAft>
              <a:buNone/>
            </a:pPr>
            <a:r>
              <a:rPr sz="919" b="1" i="0">
                <a:solidFill>
                  <a:srgbClr val="4E5A68"/>
                </a:solidFill>
                <a:latin typeface="Arial"/>
                <a:ea typeface="Arial"/>
                <a:cs typeface="Arial"/>
              </a:rPr>
              <a:t>BOUNDARY</a:t>
            </a:r>
          </a:p>
        </p:txBody>
      </p:sp>
      <p:sp>
        <p:nvSpPr>
          <p:cNvPr id="24" name="TextBox 23">
            <a:extLst xmlns:a="http://schemas.openxmlformats.org/drawingml/2006/main">
              <a:ext uri="{FF2B5EF4-FFF2-40B4-BE49-F238E27FC236}">
                <a16:creationId xmlns:a16="http://schemas.microsoft.com/office/drawing/2014/main" id="{DD80D345-B728-4C0C-9083-02E0CB61C8FC}"/>
              </a:ext>
            </a:extLst>
          </p:cNvPr>
          <p:cNvSpPr>
            <a:spLocks xmlns:a="http://schemas.openxmlformats.org/drawingml/2006/main" noGrp="1"/>
          </p:cNvSpPr>
          <p:nvPr/>
        </p:nvSpPr>
        <p:spPr>
          <a:xfrm xmlns:a="http://schemas.openxmlformats.org/drawingml/2006/main">
            <a:off x="8540496" y="4398264"/>
            <a:ext cx="2871216" cy="804672"/>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60" b="0" i="0">
                <a:solidFill>
                  <a:srgbClr val="4E5A68"/>
                </a:solidFill>
                <a:latin typeface="Arial"/>
                <a:ea typeface="Arial"/>
                <a:cs typeface="Arial"/>
              </a:rPr>
              <a:t>The gene-level overlap P value is 0.0812.</a:t>
            </a:r>
          </a:p>
        </p:txBody>
      </p:sp>
      <p:sp>
        <p:nvSpPr>
          <p:cNvPr id="25" name="Rounded Rectangle 24">
            <a:extLst xmlns:a="http://schemas.openxmlformats.org/drawingml/2006/main">
              <a:ext uri="{FF2B5EF4-FFF2-40B4-BE49-F238E27FC236}">
                <a16:creationId xmlns:a16="http://schemas.microsoft.com/office/drawing/2014/main" id="{915B11E8-7013-4878-BD53-9FBFA776CD6A}"/>
              </a:ext>
            </a:extLst>
          </p:cNvPr>
          <p:cNvSpPr>
            <a:spLocks xmlns:a="http://schemas.openxmlformats.org/drawingml/2006/main" noGrp="1"/>
          </p:cNvSpPr>
          <p:nvPr/>
        </p:nvSpPr>
        <p:spPr>
          <a:xfrm xmlns:a="http://schemas.openxmlformats.org/drawingml/2006/main">
            <a:off x="658368" y="5833872"/>
            <a:ext cx="10881360" cy="457200"/>
          </a:xfrm>
          <a:prstGeom xmlns:a="http://schemas.openxmlformats.org/drawingml/2006/main" prst="roundRect">
            <a:avLst/>
          </a:prstGeom>
          <a:solidFill xmlns:a="http://schemas.openxmlformats.org/drawingml/2006/main">
            <a:srgbClr val="FFFFFF"/>
          </a:solidFill>
          <a:ln xmlns:a="http://schemas.openxmlformats.org/drawingml/2006/main" w="12700">
            <a:solidFill>
              <a:srgbClr val="E0E7EF"/>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26" name="TextBox 25">
            <a:extLst xmlns:a="http://schemas.openxmlformats.org/drawingml/2006/main">
              <a:ext uri="{FF2B5EF4-FFF2-40B4-BE49-F238E27FC236}">
                <a16:creationId xmlns:a16="http://schemas.microsoft.com/office/drawing/2014/main" id="{F63B0C29-AE66-4812-949A-23FA8E6B0EA5}"/>
              </a:ext>
            </a:extLst>
          </p:cNvPr>
          <p:cNvSpPr>
            <a:spLocks xmlns:a="http://schemas.openxmlformats.org/drawingml/2006/main" noGrp="1"/>
          </p:cNvSpPr>
          <p:nvPr/>
        </p:nvSpPr>
        <p:spPr>
          <a:xfrm xmlns:a="http://schemas.openxmlformats.org/drawingml/2006/main">
            <a:off x="896112" y="5952744"/>
            <a:ext cx="10405872" cy="23774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ctr">
              <a:lnSpc>
                <a:spcPct val="100000"/>
              </a:lnSpc>
              <a:spcBef>
                <a:spcPts val="0"/>
              </a:spcBef>
              <a:spcAft>
                <a:spcPts val="0"/>
              </a:spcAft>
              <a:buNone/>
            </a:pPr>
            <a:r>
              <a:rPr sz="1080" b="1" i="0">
                <a:solidFill>
                  <a:srgbClr val="7E4C9A"/>
                </a:solidFill>
                <a:latin typeface="Arial"/>
                <a:ea typeface="Arial"/>
                <a:cs typeface="Arial"/>
              </a:rPr>
              <a:t>Provisional novelty: Moderate and analytical. Evidence strength and novelty are separate judgments.</a:t>
            </a:r>
          </a:p>
        </p:txBody>
      </p:sp>
      <p:sp>
        <p:nvSpPr>
          <p:cNvPr id="27" name="TextBox 26">
            <a:extLst xmlns:a="http://schemas.openxmlformats.org/drawingml/2006/main">
              <a:ext uri="{FF2B5EF4-FFF2-40B4-BE49-F238E27FC236}">
                <a16:creationId xmlns:a16="http://schemas.microsoft.com/office/drawing/2014/main" id="{307DD67D-4174-4879-87A5-E0944BED8B7C}"/>
              </a:ext>
            </a:extLst>
          </p:cNvPr>
          <p:cNvSpPr>
            <a:spLocks xmlns:a="http://schemas.openxmlformats.org/drawingml/2006/main" noGrp="1"/>
          </p:cNvSpPr>
          <p:nvPr/>
        </p:nvSpPr>
        <p:spPr>
          <a:xfrm xmlns:a="http://schemas.openxmlformats.org/drawingml/2006/main">
            <a:off x="658368" y="6473952"/>
            <a:ext cx="10881360" cy="146304"/>
          </a:xfrm>
          <a:prstGeom xmlns:a="http://schemas.openxmlformats.org/drawingml/2006/main" prst="rect">
            <a:avLst/>
          </a:prstGeom>
          <a:noFill xmlns:a="http://schemas.openxmlformats.org/drawingml/2006/main"/>
        </p:spPr>
        <p:txBody>
          <a:bodyPr xmlns:a="http://schemas.openxmlformats.org/drawingml/2006/main" wrap="square" lIns="27432" tIns="27432" rIns="27432" bIns="27432" anchor="t">
            <a:spAutoFit/>
          </a:bodyPr>
          <a:lstStyle xmlns:a="http://schemas.openxmlformats.org/drawingml/2006/main"/>
          <a:p xmlns:a="http://schemas.openxmlformats.org/drawingml/2006/main">
            <a:pPr algn="r">
              <a:lnSpc>
                <a:spcPct val="100000"/>
              </a:lnSpc>
              <a:spcBef>
                <a:spcPts val="0"/>
              </a:spcBef>
              <a:spcAft>
                <a:spcPts val="0"/>
              </a:spcAft>
              <a:buNone/>
            </a:pPr>
            <a:r>
              <a:rPr sz="730" b="0" i="0">
                <a:solidFill>
                  <a:srgbClr val="4E5A68"/>
                </a:solidFill>
                <a:latin typeface="Arial"/>
                <a:ea typeface="Arial"/>
                <a:cs typeface="Arial"/>
              </a:rPr>
              <a:t>Source: docs/analysis/kda_w_human_validation/rosmap_sex_apoe_broad_kda_analysis.md, Finding 17.</a:t>
            </a:r>
          </a:p>
        </p:txBody>
      </p:sp>
    </p:spTree>
    <p:extLst>
      <p:ext uri="{BB962C8B-B14F-4D97-AF65-F5344CB8AC3E}">
        <p14:creationId xmlns:p14="http://schemas.microsoft.com/office/powerpoint/2010/main" val="132031817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2026-09-19T15:08:58.7860000Z</dcterms:created>
  <dcterms:modified xsi:type="dcterms:W3CDTF">2026-09-19T15:08:58.7860000Z</dcterms:modified>
</coreProperties>
</file>