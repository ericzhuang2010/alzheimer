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723578c9f945cc" /><Relationship Type="http://schemas.openxmlformats.org/officeDocument/2006/relationships/extended-properties" Target="/docProps/app.xml" Id="Rf0626d612cd441da" /><Relationship Type="http://schemas.openxmlformats.org/officeDocument/2006/relationships/officeDocument" Target="/ppt/presentation.xml" Id="R40b8d8888e4f43c0" /></Relationships>
</file>

<file path=ppt/presentation.xml><?xml version="1.0" encoding="utf-8"?>
<p:presentation xmlns:p="http://schemas.openxmlformats.org/presentationml/2006/main">
  <p:sldMasterIdLst>
    <p:sldMasterId xmlns:r="http://schemas.openxmlformats.org/officeDocument/2006/relationships" id="2147483648" r:id="Rd99622b441dc4e9c"/>
  </p:sldMasterIdLst>
  <p:notesMasterIdLst>
    <p:notesMasterId xmlns:r="http://schemas.openxmlformats.org/officeDocument/2006/relationships" r:id="R84361fe245784cd3"/>
  </p:notesMasterIdLst>
  <p:sldIdLst>
    <p:sldId xmlns:r="http://schemas.openxmlformats.org/officeDocument/2006/relationships" id="256" r:id="R789652db83b448bf"/>
    <p:sldId xmlns:r="http://schemas.openxmlformats.org/officeDocument/2006/relationships" id="257" r:id="Rfff2b71490c04a4a"/>
    <p:sldId xmlns:r="http://schemas.openxmlformats.org/officeDocument/2006/relationships" id="258" r:id="Rfd31637bdff64e22"/>
    <p:sldId xmlns:r="http://schemas.openxmlformats.org/officeDocument/2006/relationships" id="259" r:id="R350469ef4b0b447b"/>
    <p:sldId xmlns:r="http://schemas.openxmlformats.org/officeDocument/2006/relationships" id="260" r:id="R8e239622edf04795"/>
    <p:sldId xmlns:r="http://schemas.openxmlformats.org/officeDocument/2006/relationships" id="261" r:id="R853565df677b4d30"/>
    <p:sldId xmlns:r="http://schemas.openxmlformats.org/officeDocument/2006/relationships" id="262" r:id="Rd4336f7c74d84e76"/>
    <p:sldId xmlns:r="http://schemas.openxmlformats.org/officeDocument/2006/relationships" id="263" r:id="R1d30f7ca00f84d27"/>
    <p:sldId xmlns:r="http://schemas.openxmlformats.org/officeDocument/2006/relationships" id="264" r:id="R181f4510928b4702"/>
    <p:sldId xmlns:r="http://schemas.openxmlformats.org/officeDocument/2006/relationships" id="265" r:id="R4bf189d9162e40c1"/>
    <p:sldId xmlns:r="http://schemas.openxmlformats.org/officeDocument/2006/relationships" id="266" r:id="R8ecb3f05ef1e437e"/>
    <p:sldId xmlns:r="http://schemas.openxmlformats.org/officeDocument/2006/relationships" id="267" r:id="Ra186050cdb3149e3"/>
    <p:sldId xmlns:r="http://schemas.openxmlformats.org/officeDocument/2006/relationships" id="268" r:id="R52a473c1b5e34bfb"/>
    <p:sldId xmlns:r="http://schemas.openxmlformats.org/officeDocument/2006/relationships" id="269" r:id="R1560f2aee8e54117"/>
    <p:sldId xmlns:r="http://schemas.openxmlformats.org/officeDocument/2006/relationships" id="270" r:id="R4d81064527b24328"/>
    <p:sldId xmlns:r="http://schemas.openxmlformats.org/officeDocument/2006/relationships" id="271" r:id="R68c3366d21cc46a9"/>
    <p:sldId xmlns:r="http://schemas.openxmlformats.org/officeDocument/2006/relationships" id="272" r:id="Rc64932ad6d00492b"/>
    <p:sldId xmlns:r="http://schemas.openxmlformats.org/officeDocument/2006/relationships" id="273" r:id="R13a4fe5c55ac4101"/>
    <p:sldId xmlns:r="http://schemas.openxmlformats.org/officeDocument/2006/relationships" id="274" r:id="R69dcdd0c46714a58"/>
    <p:sldId xmlns:r="http://schemas.openxmlformats.org/officeDocument/2006/relationships" id="275" r:id="Rea21ead533724a5b"/>
    <p:sldId xmlns:r="http://schemas.openxmlformats.org/officeDocument/2006/relationships" id="276" r:id="R734f92e7749f4988"/>
    <p:sldId xmlns:r="http://schemas.openxmlformats.org/officeDocument/2006/relationships" id="277" r:id="R9cf55876088a46bc"/>
    <p:sldId xmlns:r="http://schemas.openxmlformats.org/officeDocument/2006/relationships" id="278" r:id="R0118e4ca83034c5d"/>
    <p:sldId xmlns:r="http://schemas.openxmlformats.org/officeDocument/2006/relationships" id="279" r:id="R97a3618532e74d5a"/>
    <p:sldId xmlns:r="http://schemas.openxmlformats.org/officeDocument/2006/relationships" id="280" r:id="Re53afe6cef144655"/>
    <p:sldId xmlns:r="http://schemas.openxmlformats.org/officeDocument/2006/relationships" id="281" r:id="Rabea95b62b334f7d"/>
    <p:sldId xmlns:r="http://schemas.openxmlformats.org/officeDocument/2006/relationships" id="282" r:id="R0a3f36cb6fef4dc2"/>
    <p:sldId xmlns:r="http://schemas.openxmlformats.org/officeDocument/2006/relationships" id="283" r:id="R7e90d6c6ddae4e03"/>
    <p:sldId xmlns:r="http://schemas.openxmlformats.org/officeDocument/2006/relationships" id="284" r:id="R0aaf5d81fa284a81"/>
    <p:sldId xmlns:r="http://schemas.openxmlformats.org/officeDocument/2006/relationships" id="285" r:id="R041d6fae5d3c4643"/>
    <p:sldId xmlns:r="http://schemas.openxmlformats.org/officeDocument/2006/relationships" id="286" r:id="R0ae88a9d4fd64159"/>
    <p:sldId xmlns:r="http://schemas.openxmlformats.org/officeDocument/2006/relationships" id="287" r:id="R3cd0992c665044c3"/>
    <p:sldId xmlns:r="http://schemas.openxmlformats.org/officeDocument/2006/relationships" id="288" r:id="R3b38c29d9d98459b"/>
    <p:sldId xmlns:r="http://schemas.openxmlformats.org/officeDocument/2006/relationships" id="289" r:id="R8cd4fa26597a430e"/>
    <p:sldId xmlns:r="http://schemas.openxmlformats.org/officeDocument/2006/relationships" id="290" r:id="Rad0c077bb64b4781"/>
    <p:sldId xmlns:r="http://schemas.openxmlformats.org/officeDocument/2006/relationships" id="291" r:id="R3dc7ff14bfbd4fc0"/>
    <p:sldId xmlns:r="http://schemas.openxmlformats.org/officeDocument/2006/relationships" id="292" r:id="R64db7849a7804b18"/>
    <p:sldId xmlns:r="http://schemas.openxmlformats.org/officeDocument/2006/relationships" id="293" r:id="R59dd64732208440c"/>
    <p:sldId xmlns:r="http://schemas.openxmlformats.org/officeDocument/2006/relationships" id="294" r:id="Rff37a28a7eff4945"/>
    <p:sldId xmlns:r="http://schemas.openxmlformats.org/officeDocument/2006/relationships" id="295" r:id="R4e982689c9c24563"/>
    <p:sldId xmlns:r="http://schemas.openxmlformats.org/officeDocument/2006/relationships" id="296" r:id="R9a122f1694ea49c6"/>
    <p:sldId xmlns:r="http://schemas.openxmlformats.org/officeDocument/2006/relationships" id="297" r:id="R9c3e8498a6d84364"/>
    <p:sldId xmlns:r="http://schemas.openxmlformats.org/officeDocument/2006/relationships" id="298" r:id="Rac499e1cd9d4429e"/>
    <p:sldId xmlns:r="http://schemas.openxmlformats.org/officeDocument/2006/relationships" id="299" r:id="R5343d63d184c40f4"/>
    <p:sldId xmlns:r="http://schemas.openxmlformats.org/officeDocument/2006/relationships" id="300" r:id="Rbe2494c972a947ed"/>
    <p:sldId xmlns:r="http://schemas.openxmlformats.org/officeDocument/2006/relationships" id="301" r:id="R8a19a1f5f8a64968"/>
    <p:sldId xmlns:r="http://schemas.openxmlformats.org/officeDocument/2006/relationships" id="302" r:id="Rfd90d9b9aebf47d8"/>
    <p:sldId xmlns:r="http://schemas.openxmlformats.org/officeDocument/2006/relationships" id="303" r:id="R32fbfee1d6164ef8"/>
    <p:sldId xmlns:r="http://schemas.openxmlformats.org/officeDocument/2006/relationships" id="304" r:id="R76829b0052cf4d63"/>
    <p:sldId xmlns:r="http://schemas.openxmlformats.org/officeDocument/2006/relationships" id="305" r:id="R7cf662d764ab48c7"/>
    <p:sldId xmlns:r="http://schemas.openxmlformats.org/officeDocument/2006/relationships" id="306" r:id="R8b1c484e62e540e9"/>
    <p:sldId xmlns:r="http://schemas.openxmlformats.org/officeDocument/2006/relationships" id="307" r:id="Re9480f85e89e4bdb"/>
    <p:sldId xmlns:r="http://schemas.openxmlformats.org/officeDocument/2006/relationships" id="308" r:id="Rcf975a4add574566"/>
    <p:sldId xmlns:r="http://schemas.openxmlformats.org/officeDocument/2006/relationships" id="309" r:id="R7d594507f7b946cd"/>
    <p:sldId xmlns:r="http://schemas.openxmlformats.org/officeDocument/2006/relationships" id="310" r:id="R9b6aea29b9fa45a4"/>
    <p:sldId xmlns:r="http://schemas.openxmlformats.org/officeDocument/2006/relationships" id="311" r:id="R77c75fe4c28d4de3"/>
    <p:sldId xmlns:r="http://schemas.openxmlformats.org/officeDocument/2006/relationships" id="312" r:id="R592464870d40479b"/>
    <p:sldId xmlns:r="http://schemas.openxmlformats.org/officeDocument/2006/relationships" id="313" r:id="Rb5658e13e6c84a53"/>
    <p:sldId xmlns:r="http://schemas.openxmlformats.org/officeDocument/2006/relationships" id="314" r:id="Ra873059365f74bde"/>
    <p:sldId xmlns:r="http://schemas.openxmlformats.org/officeDocument/2006/relationships" id="315" r:id="R01b16dd27e8847bb"/>
    <p:sldId xmlns:r="http://schemas.openxmlformats.org/officeDocument/2006/relationships" id="316" r:id="R7f4ba2ad89444a10"/>
    <p:sldId xmlns:r="http://schemas.openxmlformats.org/officeDocument/2006/relationships" id="317" r:id="R691c74eeaeab421c"/>
    <p:sldId xmlns:r="http://schemas.openxmlformats.org/officeDocument/2006/relationships" id="318" r:id="Rebf8f7ee4a0c42a3"/>
    <p:sldId xmlns:r="http://schemas.openxmlformats.org/officeDocument/2006/relationships" id="319" r:id="R75da29f2e6f04272"/>
    <p:sldId xmlns:r="http://schemas.openxmlformats.org/officeDocument/2006/relationships" id="320" r:id="R7db605693f714d38"/>
    <p:sldId xmlns:r="http://schemas.openxmlformats.org/officeDocument/2006/relationships" id="321" r:id="R4241e2a2752740a2"/>
    <p:sldId xmlns:r="http://schemas.openxmlformats.org/officeDocument/2006/relationships" id="322" r:id="Ra09f260c6db94242"/>
    <p:sldId xmlns:r="http://schemas.openxmlformats.org/officeDocument/2006/relationships" id="323" r:id="R0a9ce4e369d749b4"/>
    <p:sldId xmlns:r="http://schemas.openxmlformats.org/officeDocument/2006/relationships" id="324" r:id="Rf3d124295b284a75"/>
    <p:sldId xmlns:r="http://schemas.openxmlformats.org/officeDocument/2006/relationships" id="325" r:id="R279563bf5182435b"/>
    <p:sldId xmlns:r="http://schemas.openxmlformats.org/officeDocument/2006/relationships" id="326" r:id="R6ab60688c3c54715"/>
    <p:sldId xmlns:r="http://schemas.openxmlformats.org/officeDocument/2006/relationships" id="327" r:id="R4419f49184ec4633"/>
    <p:sldId xmlns:r="http://schemas.openxmlformats.org/officeDocument/2006/relationships" id="328" r:id="R692b7f5821e6460a"/>
    <p:sldId xmlns:r="http://schemas.openxmlformats.org/officeDocument/2006/relationships" id="329" r:id="Rd01016b759a047c1"/>
    <p:sldId xmlns:r="http://schemas.openxmlformats.org/officeDocument/2006/relationships" id="330" r:id="R67f5a9c45ce44c1c"/>
    <p:sldId xmlns:r="http://schemas.openxmlformats.org/officeDocument/2006/relationships" id="331" r:id="R37e8a1eb92c14869"/>
    <p:sldId xmlns:r="http://schemas.openxmlformats.org/officeDocument/2006/relationships" id="332" r:id="R8f43bcc8bffd4027"/>
    <p:sldId xmlns:r="http://schemas.openxmlformats.org/officeDocument/2006/relationships" id="333" r:id="R9790b02cfe44468b"/>
    <p:sldId xmlns:r="http://schemas.openxmlformats.org/officeDocument/2006/relationships" id="334" r:id="R93fb92973b654ba5"/>
    <p:sldId xmlns:r="http://schemas.openxmlformats.org/officeDocument/2006/relationships" id="335" r:id="R8619a6a305924e44"/>
    <p:sldId xmlns:r="http://schemas.openxmlformats.org/officeDocument/2006/relationships" id="336" r:id="Rf072f3374a9b4495"/>
    <p:sldId xmlns:r="http://schemas.openxmlformats.org/officeDocument/2006/relationships" id="337" r:id="R9d897201fbc34ae2"/>
    <p:sldId xmlns:r="http://schemas.openxmlformats.org/officeDocument/2006/relationships" id="338" r:id="R81ab62f4038a4442"/>
    <p:sldId xmlns:r="http://schemas.openxmlformats.org/officeDocument/2006/relationships" id="339" r:id="R03fc60d5b9594e61"/>
    <p:sldId xmlns:r="http://schemas.openxmlformats.org/officeDocument/2006/relationships" id="340" r:id="Ra125d3dd2c734eb1"/>
    <p:sldId xmlns:r="http://schemas.openxmlformats.org/officeDocument/2006/relationships" id="341" r:id="Rfa5b3cad4ec44c1f"/>
    <p:sldId xmlns:r="http://schemas.openxmlformats.org/officeDocument/2006/relationships" id="342" r:id="Rca3baea6d6884871"/>
    <p:sldId xmlns:r="http://schemas.openxmlformats.org/officeDocument/2006/relationships" id="343" r:id="Rf4c38e7bab8848ec"/>
    <p:sldId xmlns:r="http://schemas.openxmlformats.org/officeDocument/2006/relationships" id="344" r:id="Re66aa3b676c24b37"/>
    <p:sldId xmlns:r="http://schemas.openxmlformats.org/officeDocument/2006/relationships" id="345" r:id="R7769c11d087c4bdd"/>
    <p:sldId xmlns:r="http://schemas.openxmlformats.org/officeDocument/2006/relationships" id="346" r:id="Rb67f7e447b5f4354"/>
    <p:sldId xmlns:r="http://schemas.openxmlformats.org/officeDocument/2006/relationships" id="347" r:id="Re11fe82f25404139"/>
    <p:sldId xmlns:r="http://schemas.openxmlformats.org/officeDocument/2006/relationships" id="348" r:id="R27e013b207f3472e"/>
    <p:sldId xmlns:r="http://schemas.openxmlformats.org/officeDocument/2006/relationships" id="349" r:id="R8447d2430a8c46bf"/>
    <p:sldId xmlns:r="http://schemas.openxmlformats.org/officeDocument/2006/relationships" id="350" r:id="R9fd154dda82a4bfa"/>
    <p:sldId xmlns:r="http://schemas.openxmlformats.org/officeDocument/2006/relationships" id="351" r:id="R38b1498a7b944c25"/>
    <p:sldId xmlns:r="http://schemas.openxmlformats.org/officeDocument/2006/relationships" id="352" r:id="R228f8ba08c584b99"/>
    <p:sldId xmlns:r="http://schemas.openxmlformats.org/officeDocument/2006/relationships" id="353" r:id="R90a0b3f467964374"/>
    <p:sldId xmlns:r="http://schemas.openxmlformats.org/officeDocument/2006/relationships" id="354" r:id="R7c649f116bb34407"/>
    <p:sldId xmlns:r="http://schemas.openxmlformats.org/officeDocument/2006/relationships" id="355" r:id="R3c0e6a04dee64916"/>
    <p:sldId xmlns:r="http://schemas.openxmlformats.org/officeDocument/2006/relationships" id="356" r:id="Rf5abe216025548f3"/>
    <p:sldId xmlns:r="http://schemas.openxmlformats.org/officeDocument/2006/relationships" id="357" r:id="Rc7648dc5b0be46c2"/>
    <p:sldId xmlns:r="http://schemas.openxmlformats.org/officeDocument/2006/relationships" id="358" r:id="Re02dcbe7a6a7403c"/>
    <p:sldId xmlns:r="http://schemas.openxmlformats.org/officeDocument/2006/relationships" id="359" r:id="R3f6e27556e26486f"/>
    <p:sldId xmlns:r="http://schemas.openxmlformats.org/officeDocument/2006/relationships" id="360" r:id="Ra8ee078302da4679"/>
    <p:sldId xmlns:r="http://schemas.openxmlformats.org/officeDocument/2006/relationships" id="361" r:id="Raf1eb1324bab49fa"/>
    <p:sldId xmlns:r="http://schemas.openxmlformats.org/officeDocument/2006/relationships" id="362" r:id="Rb0d2174eba454e23"/>
    <p:sldId xmlns:r="http://schemas.openxmlformats.org/officeDocument/2006/relationships" id="363" r:id="Rac65373849cb489a"/>
    <p:sldId xmlns:r="http://schemas.openxmlformats.org/officeDocument/2006/relationships" id="364" r:id="R8ba09701d570427f"/>
    <p:sldId xmlns:r="http://schemas.openxmlformats.org/officeDocument/2006/relationships" id="365" r:id="Rbe57a271dd784227"/>
    <p:sldId xmlns:r="http://schemas.openxmlformats.org/officeDocument/2006/relationships" id="366" r:id="R11f5d9d082a746d8"/>
    <p:sldId xmlns:r="http://schemas.openxmlformats.org/officeDocument/2006/relationships" id="367" r:id="Rc1f583e5c83140db"/>
    <p:sldId xmlns:r="http://schemas.openxmlformats.org/officeDocument/2006/relationships" id="368" r:id="R78b66f6623a643bb"/>
    <p:sldId xmlns:r="http://schemas.openxmlformats.org/officeDocument/2006/relationships" id="369" r:id="R956eb0382d5549c0"/>
    <p:sldId xmlns:r="http://schemas.openxmlformats.org/officeDocument/2006/relationships" id="370" r:id="Rdc97312726f14147"/>
    <p:sldId xmlns:r="http://schemas.openxmlformats.org/officeDocument/2006/relationships" id="371" r:id="R853279d2cac44fa6"/>
    <p:sldId xmlns:r="http://schemas.openxmlformats.org/officeDocument/2006/relationships" id="372" r:id="Rc60359c61a3647ce"/>
    <p:sldId xmlns:r="http://schemas.openxmlformats.org/officeDocument/2006/relationships" id="373" r:id="R8497c670e81e4dd5"/>
    <p:sldId xmlns:r="http://schemas.openxmlformats.org/officeDocument/2006/relationships" id="374" r:id="R2c40bc2280f54143"/>
    <p:sldId xmlns:r="http://schemas.openxmlformats.org/officeDocument/2006/relationships" id="375" r:id="R54739e3ad2cf4d0f"/>
    <p:sldId xmlns:r="http://schemas.openxmlformats.org/officeDocument/2006/relationships" id="376" r:id="Red0b7eb08e57431a"/>
    <p:sldId xmlns:r="http://schemas.openxmlformats.org/officeDocument/2006/relationships" id="377" r:id="R48587e802b6f4202"/>
    <p:sldId xmlns:r="http://schemas.openxmlformats.org/officeDocument/2006/relationships" id="378" r:id="R57c777e4bdd64c7c"/>
    <p:sldId xmlns:r="http://schemas.openxmlformats.org/officeDocument/2006/relationships" id="379" r:id="Rf00a967070dc4eb2"/>
    <p:sldId xmlns:r="http://schemas.openxmlformats.org/officeDocument/2006/relationships" id="380" r:id="R62623aa6f76b4124"/>
    <p:sldId xmlns:r="http://schemas.openxmlformats.org/officeDocument/2006/relationships" id="381" r:id="R0b8585a1a344429d"/>
    <p:sldId xmlns:r="http://schemas.openxmlformats.org/officeDocument/2006/relationships" id="382" r:id="Raab3ce095bb84ee6"/>
    <p:sldId xmlns:r="http://schemas.openxmlformats.org/officeDocument/2006/relationships" id="383" r:id="Ra934489a008a4e88"/>
    <p:sldId xmlns:r="http://schemas.openxmlformats.org/officeDocument/2006/relationships" id="384" r:id="Rd5dc4fe7c1e94919"/>
    <p:sldId xmlns:r="http://schemas.openxmlformats.org/officeDocument/2006/relationships" id="385" r:id="R9e426b1a94c54b29"/>
    <p:sldId xmlns:r="http://schemas.openxmlformats.org/officeDocument/2006/relationships" id="386" r:id="R3b0ad30ab6d54412"/>
    <p:sldId xmlns:r="http://schemas.openxmlformats.org/officeDocument/2006/relationships" id="387" r:id="R5f919a0585b9426f"/>
    <p:sldId xmlns:r="http://schemas.openxmlformats.org/officeDocument/2006/relationships" id="388" r:id="R1e70c6298daa4c8d"/>
    <p:sldId xmlns:r="http://schemas.openxmlformats.org/officeDocument/2006/relationships" id="389" r:id="Rabf5be2a919e4887"/>
    <p:sldId xmlns:r="http://schemas.openxmlformats.org/officeDocument/2006/relationships" id="390" r:id="Re78197c5cd374069"/>
    <p:sldId xmlns:r="http://schemas.openxmlformats.org/officeDocument/2006/relationships" id="391" r:id="R103187378a204f59"/>
    <p:sldId xmlns:r="http://schemas.openxmlformats.org/officeDocument/2006/relationships" id="392" r:id="R787f0fbc3f4f4917"/>
    <p:sldId xmlns:r="http://schemas.openxmlformats.org/officeDocument/2006/relationships" id="393" r:id="R8d9130a07a8249d6"/>
    <p:sldId xmlns:r="http://schemas.openxmlformats.org/officeDocument/2006/relationships" id="394" r:id="Rf219ca269495414a"/>
    <p:sldId xmlns:r="http://schemas.openxmlformats.org/officeDocument/2006/relationships" id="395" r:id="R42b7556192bb4057"/>
    <p:sldId xmlns:r="http://schemas.openxmlformats.org/officeDocument/2006/relationships" id="396" r:id="R32ca19255a114b59"/>
    <p:sldId xmlns:r="http://schemas.openxmlformats.org/officeDocument/2006/relationships" id="397" r:id="R1df3567ddd8447bd"/>
    <p:sldId xmlns:r="http://schemas.openxmlformats.org/officeDocument/2006/relationships" id="398" r:id="Re00ba77a705241b4"/>
    <p:sldId xmlns:r="http://schemas.openxmlformats.org/officeDocument/2006/relationships" id="399" r:id="Ra7674eaa21d542b3"/>
    <p:sldId xmlns:r="http://schemas.openxmlformats.org/officeDocument/2006/relationships" id="400" r:id="Ra3c5e006e6d241bd"/>
    <p:sldId xmlns:r="http://schemas.openxmlformats.org/officeDocument/2006/relationships" id="401" r:id="Rcd1f5689b6624def"/>
    <p:sldId xmlns:r="http://schemas.openxmlformats.org/officeDocument/2006/relationships" id="402" r:id="R3690a8e61f284af9"/>
    <p:sldId xmlns:r="http://schemas.openxmlformats.org/officeDocument/2006/relationships" id="403" r:id="R81b53cbeb10040ea"/>
    <p:sldId xmlns:r="http://schemas.openxmlformats.org/officeDocument/2006/relationships" id="404" r:id="Rf89c358f0a0746d5"/>
    <p:sldId xmlns:r="http://schemas.openxmlformats.org/officeDocument/2006/relationships" id="405" r:id="Refdeb9ada64649c0"/>
    <p:sldId xmlns:r="http://schemas.openxmlformats.org/officeDocument/2006/relationships" id="406" r:id="R5617bddc35a54f42"/>
    <p:sldId xmlns:r="http://schemas.openxmlformats.org/officeDocument/2006/relationships" id="407" r:id="R9722c3c6eaa64cf6"/>
    <p:sldId xmlns:r="http://schemas.openxmlformats.org/officeDocument/2006/relationships" id="408" r:id="R2a15dad034034c79"/>
    <p:sldId xmlns:r="http://schemas.openxmlformats.org/officeDocument/2006/relationships" id="409" r:id="R058a42fb75034fa9"/>
    <p:sldId xmlns:r="http://schemas.openxmlformats.org/officeDocument/2006/relationships" id="410" r:id="R2d98b239d4084e4c"/>
    <p:sldId xmlns:r="http://schemas.openxmlformats.org/officeDocument/2006/relationships" id="411" r:id="R71398847e4424a1c"/>
    <p:sldId xmlns:r="http://schemas.openxmlformats.org/officeDocument/2006/relationships" id="412" r:id="R0a7975e4da5f46c1"/>
    <p:sldId xmlns:r="http://schemas.openxmlformats.org/officeDocument/2006/relationships" id="413" r:id="R698b2ececbf2409b"/>
    <p:sldId xmlns:r="http://schemas.openxmlformats.org/officeDocument/2006/relationships" id="414" r:id="Rad7a6b6ef1f34ee8"/>
    <p:sldId xmlns:r="http://schemas.openxmlformats.org/officeDocument/2006/relationships" id="415" r:id="R319945f1b8ef4c9d"/>
    <p:sldId xmlns:r="http://schemas.openxmlformats.org/officeDocument/2006/relationships" id="416" r:id="Re92f7ab0f4644e31"/>
    <p:sldId xmlns:r="http://schemas.openxmlformats.org/officeDocument/2006/relationships" id="417" r:id="R2692c15376ae4c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60bfcdea2af46ef" /><Relationship Type="http://schemas.openxmlformats.org/officeDocument/2006/relationships/slideMaster" Target="/ppt/slideMasters/slideMaster1.xml" Id="Rd99622b441dc4e9c" /><Relationship Type="http://schemas.openxmlformats.org/officeDocument/2006/relationships/notesMaster" Target="/ppt/notesMasters/notesMaster1.xml" Id="R84361fe245784cd3" /><Relationship Type="http://schemas.openxmlformats.org/officeDocument/2006/relationships/presProps" Target="/ppt/presProps.xml" Id="Rfce7e659b1374152" /><Relationship Type="http://schemas.openxmlformats.org/officeDocument/2006/relationships/viewProps" Target="/ppt/viewProps.xml" Id="Re164fbfac7d544fe" /><Relationship Type="http://schemas.openxmlformats.org/officeDocument/2006/relationships/tableStyles" Target="/ppt/tableStyles.xml" Id="R6fb83c6420e64eaf" /><Relationship Type="http://schemas.openxmlformats.org/officeDocument/2006/relationships/slide" Target="/ppt/slides/slide1.xml" Id="R789652db83b448bf" /><Relationship Type="http://schemas.openxmlformats.org/officeDocument/2006/relationships/slide" Target="/ppt/slides/slide2.xml" Id="Rfff2b71490c04a4a" /><Relationship Type="http://schemas.openxmlformats.org/officeDocument/2006/relationships/slide" Target="/ppt/slides/slide3.xml" Id="Rfd31637bdff64e22" /><Relationship Type="http://schemas.openxmlformats.org/officeDocument/2006/relationships/slide" Target="/ppt/slides/slide4.xml" Id="R350469ef4b0b447b" /><Relationship Type="http://schemas.openxmlformats.org/officeDocument/2006/relationships/slide" Target="/ppt/slides/slide5.xml" Id="R8e239622edf04795" /><Relationship Type="http://schemas.openxmlformats.org/officeDocument/2006/relationships/slide" Target="/ppt/slides/slide6.xml" Id="R853565df677b4d30" /><Relationship Type="http://schemas.openxmlformats.org/officeDocument/2006/relationships/slide" Target="/ppt/slides/slide7.xml" Id="Rd4336f7c74d84e76" /><Relationship Type="http://schemas.openxmlformats.org/officeDocument/2006/relationships/slide" Target="/ppt/slides/slide8.xml" Id="R1d30f7ca00f84d27" /><Relationship Type="http://schemas.openxmlformats.org/officeDocument/2006/relationships/slide" Target="/ppt/slides/slide9.xml" Id="R181f4510928b4702" /><Relationship Type="http://schemas.openxmlformats.org/officeDocument/2006/relationships/slide" Target="/ppt/slides/slide10.xml" Id="R4bf189d9162e40c1" /><Relationship Type="http://schemas.openxmlformats.org/officeDocument/2006/relationships/slide" Target="/ppt/slides/slide11.xml" Id="R8ecb3f05ef1e437e" /><Relationship Type="http://schemas.openxmlformats.org/officeDocument/2006/relationships/slide" Target="/ppt/slides/slide12.xml" Id="Ra186050cdb3149e3" /><Relationship Type="http://schemas.openxmlformats.org/officeDocument/2006/relationships/slide" Target="/ppt/slides/slide13.xml" Id="R52a473c1b5e34bfb" /><Relationship Type="http://schemas.openxmlformats.org/officeDocument/2006/relationships/slide" Target="/ppt/slides/slide14.xml" Id="R1560f2aee8e54117" /><Relationship Type="http://schemas.openxmlformats.org/officeDocument/2006/relationships/slide" Target="/ppt/slides/slide15.xml" Id="R4d81064527b24328" /><Relationship Type="http://schemas.openxmlformats.org/officeDocument/2006/relationships/slide" Target="/ppt/slides/slide16.xml" Id="R68c3366d21cc46a9" /><Relationship Type="http://schemas.openxmlformats.org/officeDocument/2006/relationships/slide" Target="/ppt/slides/slide17.xml" Id="Rc64932ad6d00492b" /><Relationship Type="http://schemas.openxmlformats.org/officeDocument/2006/relationships/slide" Target="/ppt/slides/slide18.xml" Id="R13a4fe5c55ac4101" /><Relationship Type="http://schemas.openxmlformats.org/officeDocument/2006/relationships/slide" Target="/ppt/slides/slide19.xml" Id="R69dcdd0c46714a58" /><Relationship Type="http://schemas.openxmlformats.org/officeDocument/2006/relationships/slide" Target="/ppt/slides/slide20.xml" Id="Rea21ead533724a5b" /><Relationship Type="http://schemas.openxmlformats.org/officeDocument/2006/relationships/slide" Target="/ppt/slides/slide21.xml" Id="R734f92e7749f4988" /><Relationship Type="http://schemas.openxmlformats.org/officeDocument/2006/relationships/slide" Target="/ppt/slides/slide22.xml" Id="R9cf55876088a46bc" /><Relationship Type="http://schemas.openxmlformats.org/officeDocument/2006/relationships/slide" Target="/ppt/slides/slide23.xml" Id="R0118e4ca83034c5d" /><Relationship Type="http://schemas.openxmlformats.org/officeDocument/2006/relationships/slide" Target="/ppt/slides/slide24.xml" Id="R97a3618532e74d5a" /><Relationship Type="http://schemas.openxmlformats.org/officeDocument/2006/relationships/slide" Target="/ppt/slides/slide25.xml" Id="Re53afe6cef144655" /><Relationship Type="http://schemas.openxmlformats.org/officeDocument/2006/relationships/slide" Target="/ppt/slides/slide26.xml" Id="Rabea95b62b334f7d" /><Relationship Type="http://schemas.openxmlformats.org/officeDocument/2006/relationships/slide" Target="/ppt/slides/slide27.xml" Id="R0a3f36cb6fef4dc2" /><Relationship Type="http://schemas.openxmlformats.org/officeDocument/2006/relationships/slide" Target="/ppt/slides/slide28.xml" Id="R7e90d6c6ddae4e03" /><Relationship Type="http://schemas.openxmlformats.org/officeDocument/2006/relationships/slide" Target="/ppt/slides/slide29.xml" Id="R0aaf5d81fa284a81" /><Relationship Type="http://schemas.openxmlformats.org/officeDocument/2006/relationships/slide" Target="/ppt/slides/slide30.xml" Id="R041d6fae5d3c4643" /><Relationship Type="http://schemas.openxmlformats.org/officeDocument/2006/relationships/slide" Target="/ppt/slides/slide31.xml" Id="R0ae88a9d4fd64159" /><Relationship Type="http://schemas.openxmlformats.org/officeDocument/2006/relationships/slide" Target="/ppt/slides/slide32.xml" Id="R3cd0992c665044c3" /><Relationship Type="http://schemas.openxmlformats.org/officeDocument/2006/relationships/slide" Target="/ppt/slides/slide33.xml" Id="R3b38c29d9d98459b" /><Relationship Type="http://schemas.openxmlformats.org/officeDocument/2006/relationships/slide" Target="/ppt/slides/slide34.xml" Id="R8cd4fa26597a430e" /><Relationship Type="http://schemas.openxmlformats.org/officeDocument/2006/relationships/slide" Target="/ppt/slides/slide35.xml" Id="Rad0c077bb64b4781" /><Relationship Type="http://schemas.openxmlformats.org/officeDocument/2006/relationships/slide" Target="/ppt/slides/slide36.xml" Id="R3dc7ff14bfbd4fc0" /><Relationship Type="http://schemas.openxmlformats.org/officeDocument/2006/relationships/slide" Target="/ppt/slides/slide37.xml" Id="R64db7849a7804b18" /><Relationship Type="http://schemas.openxmlformats.org/officeDocument/2006/relationships/slide" Target="/ppt/slides/slide38.xml" Id="R59dd64732208440c" /><Relationship Type="http://schemas.openxmlformats.org/officeDocument/2006/relationships/slide" Target="/ppt/slides/slide39.xml" Id="Rff37a28a7eff4945" /><Relationship Type="http://schemas.openxmlformats.org/officeDocument/2006/relationships/slide" Target="/ppt/slides/slide40.xml" Id="R4e982689c9c24563" /><Relationship Type="http://schemas.openxmlformats.org/officeDocument/2006/relationships/slide" Target="/ppt/slides/slide41.xml" Id="R9a122f1694ea49c6" /><Relationship Type="http://schemas.openxmlformats.org/officeDocument/2006/relationships/slide" Target="/ppt/slides/slide42.xml" Id="R9c3e8498a6d84364" /><Relationship Type="http://schemas.openxmlformats.org/officeDocument/2006/relationships/slide" Target="/ppt/slides/slide43.xml" Id="Rac499e1cd9d4429e" /><Relationship Type="http://schemas.openxmlformats.org/officeDocument/2006/relationships/slide" Target="/ppt/slides/slide44.xml" Id="R5343d63d184c40f4" /><Relationship Type="http://schemas.openxmlformats.org/officeDocument/2006/relationships/slide" Target="/ppt/slides/slide45.xml" Id="Rbe2494c972a947ed" /><Relationship Type="http://schemas.openxmlformats.org/officeDocument/2006/relationships/slide" Target="/ppt/slides/slide46.xml" Id="R8a19a1f5f8a64968" /><Relationship Type="http://schemas.openxmlformats.org/officeDocument/2006/relationships/slide" Target="/ppt/slides/slide47.xml" Id="Rfd90d9b9aebf47d8" /><Relationship Type="http://schemas.openxmlformats.org/officeDocument/2006/relationships/slide" Target="/ppt/slides/slide48.xml" Id="R32fbfee1d6164ef8" /><Relationship Type="http://schemas.openxmlformats.org/officeDocument/2006/relationships/slide" Target="/ppt/slides/slide49.xml" Id="R76829b0052cf4d63" /><Relationship Type="http://schemas.openxmlformats.org/officeDocument/2006/relationships/slide" Target="/ppt/slides/slide50.xml" Id="R7cf662d764ab48c7" /><Relationship Type="http://schemas.openxmlformats.org/officeDocument/2006/relationships/slide" Target="/ppt/slides/slide51.xml" Id="R8b1c484e62e540e9" /><Relationship Type="http://schemas.openxmlformats.org/officeDocument/2006/relationships/slide" Target="/ppt/slides/slide52.xml" Id="Re9480f85e89e4bdb" /><Relationship Type="http://schemas.openxmlformats.org/officeDocument/2006/relationships/slide" Target="/ppt/slides/slide53.xml" Id="Rcf975a4add574566" /><Relationship Type="http://schemas.openxmlformats.org/officeDocument/2006/relationships/slide" Target="/ppt/slides/slide54.xml" Id="R7d594507f7b946cd" /><Relationship Type="http://schemas.openxmlformats.org/officeDocument/2006/relationships/slide" Target="/ppt/slides/slide55.xml" Id="R9b6aea29b9fa45a4" /><Relationship Type="http://schemas.openxmlformats.org/officeDocument/2006/relationships/slide" Target="/ppt/slides/slide56.xml" Id="R77c75fe4c28d4de3" /><Relationship Type="http://schemas.openxmlformats.org/officeDocument/2006/relationships/slide" Target="/ppt/slides/slide57.xml" Id="R592464870d40479b" /><Relationship Type="http://schemas.openxmlformats.org/officeDocument/2006/relationships/slide" Target="/ppt/slides/slide58.xml" Id="Rb5658e13e6c84a53" /><Relationship Type="http://schemas.openxmlformats.org/officeDocument/2006/relationships/slide" Target="/ppt/slides/slide59.xml" Id="Ra873059365f74bde" /><Relationship Type="http://schemas.openxmlformats.org/officeDocument/2006/relationships/slide" Target="/ppt/slides/slide60.xml" Id="R01b16dd27e8847bb" /><Relationship Type="http://schemas.openxmlformats.org/officeDocument/2006/relationships/slide" Target="/ppt/slides/slide61.xml" Id="R7f4ba2ad89444a10" /><Relationship Type="http://schemas.openxmlformats.org/officeDocument/2006/relationships/slide" Target="/ppt/slides/slide62.xml" Id="R691c74eeaeab421c" /><Relationship Type="http://schemas.openxmlformats.org/officeDocument/2006/relationships/slide" Target="/ppt/slides/slide63.xml" Id="Rebf8f7ee4a0c42a3" /><Relationship Type="http://schemas.openxmlformats.org/officeDocument/2006/relationships/slide" Target="/ppt/slides/slide64.xml" Id="R75da29f2e6f04272" /><Relationship Type="http://schemas.openxmlformats.org/officeDocument/2006/relationships/slide" Target="/ppt/slides/slide65.xml" Id="R7db605693f714d38" /><Relationship Type="http://schemas.openxmlformats.org/officeDocument/2006/relationships/slide" Target="/ppt/slides/slide66.xml" Id="R4241e2a2752740a2" /><Relationship Type="http://schemas.openxmlformats.org/officeDocument/2006/relationships/slide" Target="/ppt/slides/slide67.xml" Id="Ra09f260c6db94242" /><Relationship Type="http://schemas.openxmlformats.org/officeDocument/2006/relationships/slide" Target="/ppt/slides/slide68.xml" Id="R0a9ce4e369d749b4" /><Relationship Type="http://schemas.openxmlformats.org/officeDocument/2006/relationships/slide" Target="/ppt/slides/slide69.xml" Id="Rf3d124295b284a75" /><Relationship Type="http://schemas.openxmlformats.org/officeDocument/2006/relationships/slide" Target="/ppt/slides/slide70.xml" Id="R279563bf5182435b" /><Relationship Type="http://schemas.openxmlformats.org/officeDocument/2006/relationships/slide" Target="/ppt/slides/slide71.xml" Id="R6ab60688c3c54715" /><Relationship Type="http://schemas.openxmlformats.org/officeDocument/2006/relationships/slide" Target="/ppt/slides/slide72.xml" Id="R4419f49184ec4633" /><Relationship Type="http://schemas.openxmlformats.org/officeDocument/2006/relationships/slide" Target="/ppt/slides/slide73.xml" Id="R692b7f5821e6460a" /><Relationship Type="http://schemas.openxmlformats.org/officeDocument/2006/relationships/slide" Target="/ppt/slides/slide74.xml" Id="Rd01016b759a047c1" /><Relationship Type="http://schemas.openxmlformats.org/officeDocument/2006/relationships/slide" Target="/ppt/slides/slide75.xml" Id="R67f5a9c45ce44c1c" /><Relationship Type="http://schemas.openxmlformats.org/officeDocument/2006/relationships/slide" Target="/ppt/slides/slide76.xml" Id="R37e8a1eb92c14869" /><Relationship Type="http://schemas.openxmlformats.org/officeDocument/2006/relationships/slide" Target="/ppt/slides/slide77.xml" Id="R8f43bcc8bffd4027" /><Relationship Type="http://schemas.openxmlformats.org/officeDocument/2006/relationships/slide" Target="/ppt/slides/slide78.xml" Id="R9790b02cfe44468b" /><Relationship Type="http://schemas.openxmlformats.org/officeDocument/2006/relationships/slide" Target="/ppt/slides/slide79.xml" Id="R93fb92973b654ba5" /><Relationship Type="http://schemas.openxmlformats.org/officeDocument/2006/relationships/slide" Target="/ppt/slides/slide80.xml" Id="R8619a6a305924e44" /><Relationship Type="http://schemas.openxmlformats.org/officeDocument/2006/relationships/slide" Target="/ppt/slides/slide81.xml" Id="Rf072f3374a9b4495" /><Relationship Type="http://schemas.openxmlformats.org/officeDocument/2006/relationships/slide" Target="/ppt/slides/slide82.xml" Id="R9d897201fbc34ae2" /><Relationship Type="http://schemas.openxmlformats.org/officeDocument/2006/relationships/slide" Target="/ppt/slides/slide83.xml" Id="R81ab62f4038a4442" /><Relationship Type="http://schemas.openxmlformats.org/officeDocument/2006/relationships/slide" Target="/ppt/slides/slide84.xml" Id="R03fc60d5b9594e61" /><Relationship Type="http://schemas.openxmlformats.org/officeDocument/2006/relationships/slide" Target="/ppt/slides/slide85.xml" Id="Ra125d3dd2c734eb1" /><Relationship Type="http://schemas.openxmlformats.org/officeDocument/2006/relationships/slide" Target="/ppt/slides/slide86.xml" Id="Rfa5b3cad4ec44c1f" /><Relationship Type="http://schemas.openxmlformats.org/officeDocument/2006/relationships/slide" Target="/ppt/slides/slide87.xml" Id="Rca3baea6d6884871" /><Relationship Type="http://schemas.openxmlformats.org/officeDocument/2006/relationships/slide" Target="/ppt/slides/slide88.xml" Id="Rf4c38e7bab8848ec" /><Relationship Type="http://schemas.openxmlformats.org/officeDocument/2006/relationships/slide" Target="/ppt/slides/slide89.xml" Id="Re66aa3b676c24b37" /><Relationship Type="http://schemas.openxmlformats.org/officeDocument/2006/relationships/slide" Target="/ppt/slides/slide90.xml" Id="R7769c11d087c4bdd" /><Relationship Type="http://schemas.openxmlformats.org/officeDocument/2006/relationships/slide" Target="/ppt/slides/slide91.xml" Id="Rb67f7e447b5f4354" /><Relationship Type="http://schemas.openxmlformats.org/officeDocument/2006/relationships/slide" Target="/ppt/slides/slide92.xml" Id="Re11fe82f25404139" /><Relationship Type="http://schemas.openxmlformats.org/officeDocument/2006/relationships/slide" Target="/ppt/slides/slide93.xml" Id="R27e013b207f3472e" /><Relationship Type="http://schemas.openxmlformats.org/officeDocument/2006/relationships/slide" Target="/ppt/slides/slide94.xml" Id="R8447d2430a8c46bf" /><Relationship Type="http://schemas.openxmlformats.org/officeDocument/2006/relationships/slide" Target="/ppt/slides/slide95.xml" Id="R9fd154dda82a4bfa" /><Relationship Type="http://schemas.openxmlformats.org/officeDocument/2006/relationships/slide" Target="/ppt/slides/slide96.xml" Id="R38b1498a7b944c25" /><Relationship Type="http://schemas.openxmlformats.org/officeDocument/2006/relationships/slide" Target="/ppt/slides/slide97.xml" Id="R228f8ba08c584b99" /><Relationship Type="http://schemas.openxmlformats.org/officeDocument/2006/relationships/slide" Target="/ppt/slides/slide98.xml" Id="R90a0b3f467964374" /><Relationship Type="http://schemas.openxmlformats.org/officeDocument/2006/relationships/slide" Target="/ppt/slides/slide99.xml" Id="R7c649f116bb34407" /><Relationship Type="http://schemas.openxmlformats.org/officeDocument/2006/relationships/slide" Target="/ppt/slides/slide100.xml" Id="R3c0e6a04dee64916" /><Relationship Type="http://schemas.openxmlformats.org/officeDocument/2006/relationships/slide" Target="/ppt/slides/slide101.xml" Id="Rf5abe216025548f3" /><Relationship Type="http://schemas.openxmlformats.org/officeDocument/2006/relationships/slide" Target="/ppt/slides/slide102.xml" Id="Rc7648dc5b0be46c2" /><Relationship Type="http://schemas.openxmlformats.org/officeDocument/2006/relationships/slide" Target="/ppt/slides/slide103.xml" Id="Re02dcbe7a6a7403c" /><Relationship Type="http://schemas.openxmlformats.org/officeDocument/2006/relationships/slide" Target="/ppt/slides/slide104.xml" Id="R3f6e27556e26486f" /><Relationship Type="http://schemas.openxmlformats.org/officeDocument/2006/relationships/slide" Target="/ppt/slides/slide105.xml" Id="Ra8ee078302da4679" /><Relationship Type="http://schemas.openxmlformats.org/officeDocument/2006/relationships/slide" Target="/ppt/slides/slide106.xml" Id="Raf1eb1324bab49fa" /><Relationship Type="http://schemas.openxmlformats.org/officeDocument/2006/relationships/slide" Target="/ppt/slides/slide107.xml" Id="Rb0d2174eba454e23" /><Relationship Type="http://schemas.openxmlformats.org/officeDocument/2006/relationships/slide" Target="/ppt/slides/slide108.xml" Id="Rac65373849cb489a" /><Relationship Type="http://schemas.openxmlformats.org/officeDocument/2006/relationships/slide" Target="/ppt/slides/slide109.xml" Id="R8ba09701d570427f" /><Relationship Type="http://schemas.openxmlformats.org/officeDocument/2006/relationships/slide" Target="/ppt/slides/slide110.xml" Id="Rbe57a271dd784227" /><Relationship Type="http://schemas.openxmlformats.org/officeDocument/2006/relationships/slide" Target="/ppt/slides/slide111.xml" Id="R11f5d9d082a746d8" /><Relationship Type="http://schemas.openxmlformats.org/officeDocument/2006/relationships/slide" Target="/ppt/slides/slide112.xml" Id="Rc1f583e5c83140db" /><Relationship Type="http://schemas.openxmlformats.org/officeDocument/2006/relationships/slide" Target="/ppt/slides/slide113.xml" Id="R78b66f6623a643bb" /><Relationship Type="http://schemas.openxmlformats.org/officeDocument/2006/relationships/slide" Target="/ppt/slides/slide114.xml" Id="R956eb0382d5549c0" /><Relationship Type="http://schemas.openxmlformats.org/officeDocument/2006/relationships/slide" Target="/ppt/slides/slide115.xml" Id="Rdc97312726f14147" /><Relationship Type="http://schemas.openxmlformats.org/officeDocument/2006/relationships/slide" Target="/ppt/slides/slide116.xml" Id="R853279d2cac44fa6" /><Relationship Type="http://schemas.openxmlformats.org/officeDocument/2006/relationships/slide" Target="/ppt/slides/slide117.xml" Id="Rc60359c61a3647ce" /><Relationship Type="http://schemas.openxmlformats.org/officeDocument/2006/relationships/slide" Target="/ppt/slides/slide118.xml" Id="R8497c670e81e4dd5" /><Relationship Type="http://schemas.openxmlformats.org/officeDocument/2006/relationships/slide" Target="/ppt/slides/slide119.xml" Id="R2c40bc2280f54143" /><Relationship Type="http://schemas.openxmlformats.org/officeDocument/2006/relationships/slide" Target="/ppt/slides/slide120.xml" Id="R54739e3ad2cf4d0f" /><Relationship Type="http://schemas.openxmlformats.org/officeDocument/2006/relationships/slide" Target="/ppt/slides/slide121.xml" Id="Red0b7eb08e57431a" /><Relationship Type="http://schemas.openxmlformats.org/officeDocument/2006/relationships/slide" Target="/ppt/slides/slide122.xml" Id="R48587e802b6f4202" /><Relationship Type="http://schemas.openxmlformats.org/officeDocument/2006/relationships/slide" Target="/ppt/slides/slide123.xml" Id="R57c777e4bdd64c7c" /><Relationship Type="http://schemas.openxmlformats.org/officeDocument/2006/relationships/slide" Target="/ppt/slides/slide124.xml" Id="Rf00a967070dc4eb2" /><Relationship Type="http://schemas.openxmlformats.org/officeDocument/2006/relationships/slide" Target="/ppt/slides/slide125.xml" Id="R62623aa6f76b4124" /><Relationship Type="http://schemas.openxmlformats.org/officeDocument/2006/relationships/slide" Target="/ppt/slides/slide126.xml" Id="R0b8585a1a344429d" /><Relationship Type="http://schemas.openxmlformats.org/officeDocument/2006/relationships/slide" Target="/ppt/slides/slide127.xml" Id="Raab3ce095bb84ee6" /><Relationship Type="http://schemas.openxmlformats.org/officeDocument/2006/relationships/slide" Target="/ppt/slides/slide128.xml" Id="Ra934489a008a4e88" /><Relationship Type="http://schemas.openxmlformats.org/officeDocument/2006/relationships/slide" Target="/ppt/slides/slide129.xml" Id="Rd5dc4fe7c1e94919" /><Relationship Type="http://schemas.openxmlformats.org/officeDocument/2006/relationships/slide" Target="/ppt/slides/slide130.xml" Id="R9e426b1a94c54b29" /><Relationship Type="http://schemas.openxmlformats.org/officeDocument/2006/relationships/slide" Target="/ppt/slides/slide131.xml" Id="R3b0ad30ab6d54412" /><Relationship Type="http://schemas.openxmlformats.org/officeDocument/2006/relationships/slide" Target="/ppt/slides/slide132.xml" Id="R5f919a0585b9426f" /><Relationship Type="http://schemas.openxmlformats.org/officeDocument/2006/relationships/slide" Target="/ppt/slides/slide133.xml" Id="R1e70c6298daa4c8d" /><Relationship Type="http://schemas.openxmlformats.org/officeDocument/2006/relationships/slide" Target="/ppt/slides/slide134.xml" Id="Rabf5be2a919e4887" /><Relationship Type="http://schemas.openxmlformats.org/officeDocument/2006/relationships/slide" Target="/ppt/slides/slide135.xml" Id="Re78197c5cd374069" /><Relationship Type="http://schemas.openxmlformats.org/officeDocument/2006/relationships/slide" Target="/ppt/slides/slide136.xml" Id="R103187378a204f59" /><Relationship Type="http://schemas.openxmlformats.org/officeDocument/2006/relationships/slide" Target="/ppt/slides/slide137.xml" Id="R787f0fbc3f4f4917" /><Relationship Type="http://schemas.openxmlformats.org/officeDocument/2006/relationships/slide" Target="/ppt/slides/slide138.xml" Id="R8d9130a07a8249d6" /><Relationship Type="http://schemas.openxmlformats.org/officeDocument/2006/relationships/slide" Target="/ppt/slides/slide139.xml" Id="Rf219ca269495414a" /><Relationship Type="http://schemas.openxmlformats.org/officeDocument/2006/relationships/slide" Target="/ppt/slides/slide140.xml" Id="R42b7556192bb4057" /><Relationship Type="http://schemas.openxmlformats.org/officeDocument/2006/relationships/slide" Target="/ppt/slides/slide141.xml" Id="R32ca19255a114b59" /><Relationship Type="http://schemas.openxmlformats.org/officeDocument/2006/relationships/slide" Target="/ppt/slides/slide142.xml" Id="R1df3567ddd8447bd" /><Relationship Type="http://schemas.openxmlformats.org/officeDocument/2006/relationships/slide" Target="/ppt/slides/slide143.xml" Id="Re00ba77a705241b4" /><Relationship Type="http://schemas.openxmlformats.org/officeDocument/2006/relationships/slide" Target="/ppt/slides/slide144.xml" Id="Ra7674eaa21d542b3" /><Relationship Type="http://schemas.openxmlformats.org/officeDocument/2006/relationships/slide" Target="/ppt/slides/slide145.xml" Id="Ra3c5e006e6d241bd" /><Relationship Type="http://schemas.openxmlformats.org/officeDocument/2006/relationships/slide" Target="/ppt/slides/slide146.xml" Id="Rcd1f5689b6624def" /><Relationship Type="http://schemas.openxmlformats.org/officeDocument/2006/relationships/slide" Target="/ppt/slides/slide147.xml" Id="R3690a8e61f284af9" /><Relationship Type="http://schemas.openxmlformats.org/officeDocument/2006/relationships/slide" Target="/ppt/slides/slide148.xml" Id="R81b53cbeb10040ea" /><Relationship Type="http://schemas.openxmlformats.org/officeDocument/2006/relationships/slide" Target="/ppt/slides/slide149.xml" Id="Rf89c358f0a0746d5" /><Relationship Type="http://schemas.openxmlformats.org/officeDocument/2006/relationships/slide" Target="/ppt/slides/slide150.xml" Id="Refdeb9ada64649c0" /><Relationship Type="http://schemas.openxmlformats.org/officeDocument/2006/relationships/slide" Target="/ppt/slides/slide151.xml" Id="R5617bddc35a54f42" /><Relationship Type="http://schemas.openxmlformats.org/officeDocument/2006/relationships/slide" Target="/ppt/slides/slide152.xml" Id="R9722c3c6eaa64cf6" /><Relationship Type="http://schemas.openxmlformats.org/officeDocument/2006/relationships/slide" Target="/ppt/slides/slide153.xml" Id="R2a15dad034034c79" /><Relationship Type="http://schemas.openxmlformats.org/officeDocument/2006/relationships/slide" Target="/ppt/slides/slide154.xml" Id="R058a42fb75034fa9" /><Relationship Type="http://schemas.openxmlformats.org/officeDocument/2006/relationships/slide" Target="/ppt/slides/slide155.xml" Id="R2d98b239d4084e4c" /><Relationship Type="http://schemas.openxmlformats.org/officeDocument/2006/relationships/slide" Target="/ppt/slides/slide156.xml" Id="R71398847e4424a1c" /><Relationship Type="http://schemas.openxmlformats.org/officeDocument/2006/relationships/slide" Target="/ppt/slides/slide157.xml" Id="R0a7975e4da5f46c1" /><Relationship Type="http://schemas.openxmlformats.org/officeDocument/2006/relationships/slide" Target="/ppt/slides/slide158.xml" Id="R698b2ececbf2409b" /><Relationship Type="http://schemas.openxmlformats.org/officeDocument/2006/relationships/slide" Target="/ppt/slides/slide159.xml" Id="Rad7a6b6ef1f34ee8" /><Relationship Type="http://schemas.openxmlformats.org/officeDocument/2006/relationships/slide" Target="/ppt/slides/slide160.xml" Id="R319945f1b8ef4c9d" /><Relationship Type="http://schemas.openxmlformats.org/officeDocument/2006/relationships/slide" Target="/ppt/slides/slide161.xml" Id="Re92f7ab0f4644e31" /><Relationship Type="http://schemas.openxmlformats.org/officeDocument/2006/relationships/slide" Target="/ppt/slides/slide162.xml" Id="R2692c15376ae4c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e8642623b74a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23ee225d7e425d" /><Relationship Type="http://schemas.openxmlformats.org/officeDocument/2006/relationships/notesMaster" Target="/ppt/notesMasters/notesMaster1.xml" Id="R40b8a764b04f48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cf5344c4384a4a" /><Relationship Type="http://schemas.openxmlformats.org/officeDocument/2006/relationships/notesMaster" Target="/ppt/notesMasters/notesMaster1.xml" Id="R6cdc53097a5144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a5c857f69948da" /><Relationship Type="http://schemas.openxmlformats.org/officeDocument/2006/relationships/notesMaster" Target="/ppt/notesMasters/notesMaster1.xml" Id="Re5e240ee9d5c4c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5e494a5b2a4293" /><Relationship Type="http://schemas.openxmlformats.org/officeDocument/2006/relationships/notesMaster" Target="/ppt/notesMasters/notesMaster1.xml" Id="Rbdd9340062154f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3be0ad47534da8" /><Relationship Type="http://schemas.openxmlformats.org/officeDocument/2006/relationships/notesMaster" Target="/ppt/notesMasters/notesMaster1.xml" Id="R90c4b49bb0b345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0e07052a984fb8" /><Relationship Type="http://schemas.openxmlformats.org/officeDocument/2006/relationships/notesMaster" Target="/ppt/notesMasters/notesMaster1.xml" Id="Rdb7360c4d2b646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3f16d9518a4ecb" /><Relationship Type="http://schemas.openxmlformats.org/officeDocument/2006/relationships/notesMaster" Target="/ppt/notesMasters/notesMaster1.xml" Id="Rc4108e2c6c2446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b34b0a6e9f46d1" /><Relationship Type="http://schemas.openxmlformats.org/officeDocument/2006/relationships/notesMaster" Target="/ppt/notesMasters/notesMaster1.xml" Id="Ra8cf90cc527247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6b584dde5d499b" /><Relationship Type="http://schemas.openxmlformats.org/officeDocument/2006/relationships/notesMaster" Target="/ppt/notesMasters/notesMaster1.xml" Id="Re491adc065e743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b7976b5e794421" /><Relationship Type="http://schemas.openxmlformats.org/officeDocument/2006/relationships/notesMaster" Target="/ppt/notesMasters/notesMaster1.xml" Id="R963b955265cc40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363757790143b8" /><Relationship Type="http://schemas.openxmlformats.org/officeDocument/2006/relationships/notesMaster" Target="/ppt/notesMasters/notesMaster1.xml" Id="R0ae6ae2f253640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c789eedc9244cf" /><Relationship Type="http://schemas.openxmlformats.org/officeDocument/2006/relationships/notesMaster" Target="/ppt/notesMasters/notesMaster1.xml" Id="Rea2f12b662c04b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7da2ced7e24926" /><Relationship Type="http://schemas.openxmlformats.org/officeDocument/2006/relationships/notesMaster" Target="/ppt/notesMasters/notesMaster1.xml" Id="R7e54f579cc6b4d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12d304559a427e" /><Relationship Type="http://schemas.openxmlformats.org/officeDocument/2006/relationships/notesMaster" Target="/ppt/notesMasters/notesMaster1.xml" Id="R70fce99a0a9940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e9eafde8d04a45" /><Relationship Type="http://schemas.openxmlformats.org/officeDocument/2006/relationships/notesMaster" Target="/ppt/notesMasters/notesMaster1.xml" Id="Ra38eacb5af8a40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82666cd0684481" /><Relationship Type="http://schemas.openxmlformats.org/officeDocument/2006/relationships/notesMaster" Target="/ppt/notesMasters/notesMaster1.xml" Id="Rb96868cb174343a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8e39a819b7f45c7" /><Relationship Type="http://schemas.openxmlformats.org/officeDocument/2006/relationships/notesMaster" Target="/ppt/notesMasters/notesMaster1.xml" Id="R7dc3df8484394cb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000af30d204687" /><Relationship Type="http://schemas.openxmlformats.org/officeDocument/2006/relationships/notesMaster" Target="/ppt/notesMasters/notesMaster1.xml" Id="R9e48ba0afde742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806a6b1b1045ac" /><Relationship Type="http://schemas.openxmlformats.org/officeDocument/2006/relationships/notesMaster" Target="/ppt/notesMasters/notesMaster1.xml" Id="R34f6a8cbb7f342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10e944bdae4a20" /><Relationship Type="http://schemas.openxmlformats.org/officeDocument/2006/relationships/notesMaster" Target="/ppt/notesMasters/notesMaster1.xml" Id="R3406cae1a5b940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7be36c21df4733" /><Relationship Type="http://schemas.openxmlformats.org/officeDocument/2006/relationships/notesMaster" Target="/ppt/notesMasters/notesMaster1.xml" Id="R434ba7abc5a0497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0cc4908a4024450" /><Relationship Type="http://schemas.openxmlformats.org/officeDocument/2006/relationships/notesMaster" Target="/ppt/notesMasters/notesMaster1.xml" Id="Rbdec45d068e146f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c1acfdae674287" /><Relationship Type="http://schemas.openxmlformats.org/officeDocument/2006/relationships/notesMaster" Target="/ppt/notesMasters/notesMaster1.xml" Id="R2aa466dc3a8942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bd2ab06caeb47d7" /><Relationship Type="http://schemas.openxmlformats.org/officeDocument/2006/relationships/notesMaster" Target="/ppt/notesMasters/notesMaster1.xml" Id="R28111e69cab146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e0c236a8db14071" /><Relationship Type="http://schemas.openxmlformats.org/officeDocument/2006/relationships/notesMaster" Target="/ppt/notesMasters/notesMaster1.xml" Id="R677a603daae1495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4fceb6a2be4608" /><Relationship Type="http://schemas.openxmlformats.org/officeDocument/2006/relationships/notesMaster" Target="/ppt/notesMasters/notesMaster1.xml" Id="R557eff08fc52435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662591ce2a8490f" /><Relationship Type="http://schemas.openxmlformats.org/officeDocument/2006/relationships/notesMaster" Target="/ppt/notesMasters/notesMaster1.xml" Id="R96ab15a404924b1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13bb7a43b1340ab" /><Relationship Type="http://schemas.openxmlformats.org/officeDocument/2006/relationships/notesMaster" Target="/ppt/notesMasters/notesMaster1.xml" Id="R01bb8b73fb3a4b8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ffeb484f324954" /><Relationship Type="http://schemas.openxmlformats.org/officeDocument/2006/relationships/notesMaster" Target="/ppt/notesMasters/notesMaster1.xml" Id="R1d3cfee62a374a6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6669f5adcaa424a" /><Relationship Type="http://schemas.openxmlformats.org/officeDocument/2006/relationships/notesMaster" Target="/ppt/notesMasters/notesMaster1.xml" Id="R5f80f840060a4f1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88c0e5ab7364c89" /><Relationship Type="http://schemas.openxmlformats.org/officeDocument/2006/relationships/notesMaster" Target="/ppt/notesMasters/notesMaster1.xml" Id="Rf9a7610d85b14f1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30fe37c71d74509" /><Relationship Type="http://schemas.openxmlformats.org/officeDocument/2006/relationships/notesMaster" Target="/ppt/notesMasters/notesMaster1.xml" Id="Re9a1b1240c5241e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f8ef72f337f422b" /><Relationship Type="http://schemas.openxmlformats.org/officeDocument/2006/relationships/notesMaster" Target="/ppt/notesMasters/notesMaster1.xml" Id="R2d3a10d28e53479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980ed0369ad40b9" /><Relationship Type="http://schemas.openxmlformats.org/officeDocument/2006/relationships/notesMaster" Target="/ppt/notesMasters/notesMaster1.xml" Id="R5e9303a16a524c9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9556cceaebc4366" /><Relationship Type="http://schemas.openxmlformats.org/officeDocument/2006/relationships/notesMaster" Target="/ppt/notesMasters/notesMaster1.xml" Id="R9cb609a7b60e4d4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f30494657594d26" /><Relationship Type="http://schemas.openxmlformats.org/officeDocument/2006/relationships/notesMaster" Target="/ppt/notesMasters/notesMaster1.xml" Id="R06d92c1323c348c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4e0d98894f44ab7" /><Relationship Type="http://schemas.openxmlformats.org/officeDocument/2006/relationships/notesMaster" Target="/ppt/notesMasters/notesMaster1.xml" Id="R28b5c829c2b74cd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2eb6e8b3f2341ab" /><Relationship Type="http://schemas.openxmlformats.org/officeDocument/2006/relationships/notesMaster" Target="/ppt/notesMasters/notesMaster1.xml" Id="Rd4e642cf82c7455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9c33f07e6db41f3" /><Relationship Type="http://schemas.openxmlformats.org/officeDocument/2006/relationships/notesMaster" Target="/ppt/notesMasters/notesMaster1.xml" Id="R1d37f9e188b64f6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8c3b3eb470142c8" /><Relationship Type="http://schemas.openxmlformats.org/officeDocument/2006/relationships/notesMaster" Target="/ppt/notesMasters/notesMaster1.xml" Id="Rf4ebf05ccfa64a9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1f59df0cf814cd6" /><Relationship Type="http://schemas.openxmlformats.org/officeDocument/2006/relationships/notesMaster" Target="/ppt/notesMasters/notesMaster1.xml" Id="Rb17b3a568ee5482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6002383b7c24a63" /><Relationship Type="http://schemas.openxmlformats.org/officeDocument/2006/relationships/notesMaster" Target="/ppt/notesMasters/notesMaster1.xml" Id="R61e668a3bbbf498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b0c099335d744ec" /><Relationship Type="http://schemas.openxmlformats.org/officeDocument/2006/relationships/notesMaster" Target="/ppt/notesMasters/notesMaster1.xml" Id="Raec9fc44848e4a4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67eaa1e47614a04" /><Relationship Type="http://schemas.openxmlformats.org/officeDocument/2006/relationships/notesMaster" Target="/ppt/notesMasters/notesMaster1.xml" Id="Rac890e84228e4bf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e39012af6f64f75" /><Relationship Type="http://schemas.openxmlformats.org/officeDocument/2006/relationships/notesMaster" Target="/ppt/notesMasters/notesMaster1.xml" Id="R0a61abfb95714f7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87f40461ce24cce" /><Relationship Type="http://schemas.openxmlformats.org/officeDocument/2006/relationships/notesMaster" Target="/ppt/notesMasters/notesMaster1.xml" Id="R4794258dcb734bb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615e94d15a34753" /><Relationship Type="http://schemas.openxmlformats.org/officeDocument/2006/relationships/notesMaster" Target="/ppt/notesMasters/notesMaster1.xml" Id="R15b927dbc5264dc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82b816daa6b4a71" /><Relationship Type="http://schemas.openxmlformats.org/officeDocument/2006/relationships/notesMaster" Target="/ppt/notesMasters/notesMaster1.xml" Id="R4052089aa6da405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99ecfd451904333" /><Relationship Type="http://schemas.openxmlformats.org/officeDocument/2006/relationships/notesMaster" Target="/ppt/notesMasters/notesMaster1.xml" Id="Rbe7ae899112744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2442423cb30423d" /><Relationship Type="http://schemas.openxmlformats.org/officeDocument/2006/relationships/notesMaster" Target="/ppt/notesMasters/notesMaster1.xml" Id="R5cf843217880446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27c858763e24731" /><Relationship Type="http://schemas.openxmlformats.org/officeDocument/2006/relationships/notesMaster" Target="/ppt/notesMasters/notesMaster1.xml" Id="R4188a01e761e49a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50616428f824c42" /><Relationship Type="http://schemas.openxmlformats.org/officeDocument/2006/relationships/notesMaster" Target="/ppt/notesMasters/notesMaster1.xml" Id="Rb4560ef35a28490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3f0e00971d543f6" /><Relationship Type="http://schemas.openxmlformats.org/officeDocument/2006/relationships/notesMaster" Target="/ppt/notesMasters/notesMaster1.xml" Id="R506fbdd8471e4e8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5c982341cee47c0" /><Relationship Type="http://schemas.openxmlformats.org/officeDocument/2006/relationships/notesMaster" Target="/ppt/notesMasters/notesMaster1.xml" Id="R826dcf238e76430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2db7a3be00845a8" /><Relationship Type="http://schemas.openxmlformats.org/officeDocument/2006/relationships/notesMaster" Target="/ppt/notesMasters/notesMaster1.xml" Id="R04f3b7e9a20d4f6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6b54b5db93d4a7d" /><Relationship Type="http://schemas.openxmlformats.org/officeDocument/2006/relationships/notesMaster" Target="/ppt/notesMasters/notesMaster1.xml" Id="R187d6ce0af314ff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3a98f6b542b41c4" /><Relationship Type="http://schemas.openxmlformats.org/officeDocument/2006/relationships/notesMaster" Target="/ppt/notesMasters/notesMaster1.xml" Id="R0624420914d549e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a4dc93082ce4a97" /><Relationship Type="http://schemas.openxmlformats.org/officeDocument/2006/relationships/notesMaster" Target="/ppt/notesMasters/notesMaster1.xml" Id="R3cac292092814c9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d743ac5595c494a" /><Relationship Type="http://schemas.openxmlformats.org/officeDocument/2006/relationships/notesMaster" Target="/ppt/notesMasters/notesMaster1.xml" Id="R64115562aaac4c4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e7fcac347b94b0a" /><Relationship Type="http://schemas.openxmlformats.org/officeDocument/2006/relationships/notesMaster" Target="/ppt/notesMasters/notesMaster1.xml" Id="R53afbf2db0ec4c6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569c849930f4674" /><Relationship Type="http://schemas.openxmlformats.org/officeDocument/2006/relationships/notesMaster" Target="/ppt/notesMasters/notesMaster1.xml" Id="Re3e9f7c7624745e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4536ab0786e471e" /><Relationship Type="http://schemas.openxmlformats.org/officeDocument/2006/relationships/notesMaster" Target="/ppt/notesMasters/notesMaster1.xml" Id="Rf865d361059c4df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b9729ea82574c86" /><Relationship Type="http://schemas.openxmlformats.org/officeDocument/2006/relationships/notesMaster" Target="/ppt/notesMasters/notesMaster1.xml" Id="Ree2ebaa78c87421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a7abc38729a44ac" /><Relationship Type="http://schemas.openxmlformats.org/officeDocument/2006/relationships/notesMaster" Target="/ppt/notesMasters/notesMaster1.xml" Id="Rf4b97f4b53e9466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09ec86218f44403" /><Relationship Type="http://schemas.openxmlformats.org/officeDocument/2006/relationships/notesMaster" Target="/ppt/notesMasters/notesMaster1.xml" Id="R052cc268017d4ac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5564f41f62445d9" /><Relationship Type="http://schemas.openxmlformats.org/officeDocument/2006/relationships/notesMaster" Target="/ppt/notesMasters/notesMaster1.xml" Id="R68086a15e8184f4c"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e9d1c29097a4fd4" /><Relationship Type="http://schemas.openxmlformats.org/officeDocument/2006/relationships/notesMaster" Target="/ppt/notesMasters/notesMaster1.xml" Id="Rfd731c3e42c249b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454663ffef344ff" /><Relationship Type="http://schemas.openxmlformats.org/officeDocument/2006/relationships/notesMaster" Target="/ppt/notesMasters/notesMaster1.xml" Id="R871558e21a4c4f1a"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23c8efead9704833" /><Relationship Type="http://schemas.openxmlformats.org/officeDocument/2006/relationships/notesMaster" Target="/ppt/notesMasters/notesMaster1.xml" Id="R01f1b092bf244632"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83a29074682433f" /><Relationship Type="http://schemas.openxmlformats.org/officeDocument/2006/relationships/notesMaster" Target="/ppt/notesMasters/notesMaster1.xml" Id="Rbcd31b7995b94e0a"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6fff2bf061d4c75" /><Relationship Type="http://schemas.openxmlformats.org/officeDocument/2006/relationships/notesMaster" Target="/ppt/notesMasters/notesMaster1.xml" Id="Rfbabb4822a1042ca"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1d0aaf044a5c492a" /><Relationship Type="http://schemas.openxmlformats.org/officeDocument/2006/relationships/notesMaster" Target="/ppt/notesMasters/notesMaster1.xml" Id="Rb0d4bf470e1a4940"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2532bc56347945a3" /><Relationship Type="http://schemas.openxmlformats.org/officeDocument/2006/relationships/notesMaster" Target="/ppt/notesMasters/notesMaster1.xml" Id="Rbd88485ddf2a4c1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a34596df84f44a4" /><Relationship Type="http://schemas.openxmlformats.org/officeDocument/2006/relationships/notesMaster" Target="/ppt/notesMasters/notesMaster1.xml" Id="R4ac2b9c294fb4714"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879fad9408624183" /><Relationship Type="http://schemas.openxmlformats.org/officeDocument/2006/relationships/notesMaster" Target="/ppt/notesMasters/notesMaster1.xml" Id="R757fef598fe24333"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09b48dc976d94890" /><Relationship Type="http://schemas.openxmlformats.org/officeDocument/2006/relationships/notesMaster" Target="/ppt/notesMasters/notesMaster1.xml" Id="R1d4fefd8035a43fb"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c0f53b402bc9446c" /><Relationship Type="http://schemas.openxmlformats.org/officeDocument/2006/relationships/notesMaster" Target="/ppt/notesMasters/notesMaster1.xml" Id="R01526902d84d4fc5"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450650658ed4feb" /><Relationship Type="http://schemas.openxmlformats.org/officeDocument/2006/relationships/notesMaster" Target="/ppt/notesMasters/notesMaster1.xml" Id="R5dc0d2cc2b4e4dfc"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888bf0a1efd4839" /><Relationship Type="http://schemas.openxmlformats.org/officeDocument/2006/relationships/notesMaster" Target="/ppt/notesMasters/notesMaster1.xml" Id="Rf385868001c942d6"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eb8143a7a919430a" /><Relationship Type="http://schemas.openxmlformats.org/officeDocument/2006/relationships/notesMaster" Target="/ppt/notesMasters/notesMaster1.xml" Id="R3626dc12d8134b3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71a47d247ee74d43" /><Relationship Type="http://schemas.openxmlformats.org/officeDocument/2006/relationships/notesMaster" Target="/ppt/notesMasters/notesMaster1.xml" Id="R10fd378851a54dd8"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8b247f5a99fb4f1d" /><Relationship Type="http://schemas.openxmlformats.org/officeDocument/2006/relationships/notesMaster" Target="/ppt/notesMasters/notesMaster1.xml" Id="R8e754560438b48aa"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a4f0db55e1de41e5" /><Relationship Type="http://schemas.openxmlformats.org/officeDocument/2006/relationships/notesMaster" Target="/ppt/notesMasters/notesMaster1.xml" Id="Rd0aa12f871f947cd"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798cc249fefe4f67" /><Relationship Type="http://schemas.openxmlformats.org/officeDocument/2006/relationships/notesMaster" Target="/ppt/notesMasters/notesMaster1.xml" Id="R2d633a254fd44e99"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d247f58f55004c5f" /><Relationship Type="http://schemas.openxmlformats.org/officeDocument/2006/relationships/notesMaster" Target="/ppt/notesMasters/notesMaster1.xml" Id="R826d82a3af0041e9"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fc8480fe87e44f8e" /><Relationship Type="http://schemas.openxmlformats.org/officeDocument/2006/relationships/notesMaster" Target="/ppt/notesMasters/notesMaster1.xml" Id="Rdf7c95ab9d78449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05ccc5e0c8264768" /><Relationship Type="http://schemas.openxmlformats.org/officeDocument/2006/relationships/notesMaster" Target="/ppt/notesMasters/notesMaster1.xml" Id="R629a3bdf21584691"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4f7b5c5c582442b9" /><Relationship Type="http://schemas.openxmlformats.org/officeDocument/2006/relationships/notesMaster" Target="/ppt/notesMasters/notesMaster1.xml" Id="R8c86d563a628452d"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3c5f1ac2b3d74614" /><Relationship Type="http://schemas.openxmlformats.org/officeDocument/2006/relationships/notesMaster" Target="/ppt/notesMasters/notesMaster1.xml" Id="R630ba9d9a07e46dc"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32fed40b0304827" /><Relationship Type="http://schemas.openxmlformats.org/officeDocument/2006/relationships/notesMaster" Target="/ppt/notesMasters/notesMaster1.xml" Id="R2817ab7467a94c74"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c73328b4246d451f" /><Relationship Type="http://schemas.openxmlformats.org/officeDocument/2006/relationships/notesMaster" Target="/ppt/notesMasters/notesMaster1.xml" Id="Rdd7af025a6e94b73"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1b4c66c525c04c11" /><Relationship Type="http://schemas.openxmlformats.org/officeDocument/2006/relationships/notesMaster" Target="/ppt/notesMasters/notesMaster1.xml" Id="R3a1208bd52e94dd0"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4d0ef10fc20a4795" /><Relationship Type="http://schemas.openxmlformats.org/officeDocument/2006/relationships/notesMaster" Target="/ppt/notesMasters/notesMaster1.xml" Id="R7a672e70ea07445a"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a160c57d678f4b93" /><Relationship Type="http://schemas.openxmlformats.org/officeDocument/2006/relationships/notesMaster" Target="/ppt/notesMasters/notesMaster1.xml" Id="Rf7b46823606449c1"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ce69ccab0292499c" /><Relationship Type="http://schemas.openxmlformats.org/officeDocument/2006/relationships/notesMaster" Target="/ppt/notesMasters/notesMaster1.xml" Id="R957393c50b864919"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976a308ad6b24bf5" /><Relationship Type="http://schemas.openxmlformats.org/officeDocument/2006/relationships/notesMaster" Target="/ppt/notesMasters/notesMaster1.xml" Id="R88b7cc95efe543a4"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9b10b05775434d5b" /><Relationship Type="http://schemas.openxmlformats.org/officeDocument/2006/relationships/notesMaster" Target="/ppt/notesMasters/notesMaster1.xml" Id="R7fca9caa71e740cc"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2050f49837e949cf" /><Relationship Type="http://schemas.openxmlformats.org/officeDocument/2006/relationships/notesMaster" Target="/ppt/notesMasters/notesMaster1.xml" Id="R3cf52c281e0646ea"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ba17e55ee58d475c" /><Relationship Type="http://schemas.openxmlformats.org/officeDocument/2006/relationships/notesMaster" Target="/ppt/notesMasters/notesMaster1.xml" Id="Rceeecdcdc1274074"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c9d26973621940ea" /><Relationship Type="http://schemas.openxmlformats.org/officeDocument/2006/relationships/notesMaster" Target="/ppt/notesMasters/notesMaster1.xml" Id="R05a93b85f6824908"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4abd8835ddba457b" /><Relationship Type="http://schemas.openxmlformats.org/officeDocument/2006/relationships/notesMaster" Target="/ppt/notesMasters/notesMaster1.xml" Id="R89a2eb77844e4108"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2c393a133b3a49b9" /><Relationship Type="http://schemas.openxmlformats.org/officeDocument/2006/relationships/notesMaster" Target="/ppt/notesMasters/notesMaster1.xml" Id="R4b00096055044d3a"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1f0adf1576f143e1" /><Relationship Type="http://schemas.openxmlformats.org/officeDocument/2006/relationships/notesMaster" Target="/ppt/notesMasters/notesMaster1.xml" Id="R83e007f98afd4877"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983c6d74649f4f2b" /><Relationship Type="http://schemas.openxmlformats.org/officeDocument/2006/relationships/notesMaster" Target="/ppt/notesMasters/notesMaster1.xml" Id="Rbde90586b43947c7"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3ec8ebc12cf142e2" /><Relationship Type="http://schemas.openxmlformats.org/officeDocument/2006/relationships/notesMaster" Target="/ppt/notesMasters/notesMaster1.xml" Id="Ra48f932e3e6847cc"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74d180ed38ee4d3e" /><Relationship Type="http://schemas.openxmlformats.org/officeDocument/2006/relationships/notesMaster" Target="/ppt/notesMasters/notesMaster1.xml" Id="R8453625cebdc4c6d"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a708818ea7c247a2" /><Relationship Type="http://schemas.openxmlformats.org/officeDocument/2006/relationships/notesMaster" Target="/ppt/notesMasters/notesMaster1.xml" Id="Rb93d07725e4a4a54"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318e975e1aab46c4" /><Relationship Type="http://schemas.openxmlformats.org/officeDocument/2006/relationships/notesMaster" Target="/ppt/notesMasters/notesMaster1.xml" Id="R3a314fb6b43e4f52"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4e28722481644cd6" /><Relationship Type="http://schemas.openxmlformats.org/officeDocument/2006/relationships/notesMaster" Target="/ppt/notesMasters/notesMaster1.xml" Id="R43103934757d4b61"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d83e8e6d1af74dc4" /><Relationship Type="http://schemas.openxmlformats.org/officeDocument/2006/relationships/notesMaster" Target="/ppt/notesMasters/notesMaster1.xml" Id="R9963c5e0dea34743"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7cd24773e1604411" /><Relationship Type="http://schemas.openxmlformats.org/officeDocument/2006/relationships/notesMaster" Target="/ppt/notesMasters/notesMaster1.xml" Id="Rf8cb17fa20914ef4"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4272441606e94a05" /><Relationship Type="http://schemas.openxmlformats.org/officeDocument/2006/relationships/notesMaster" Target="/ppt/notesMasters/notesMaster1.xml" Id="R78a4f481a2ee42f6"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a6798ce03b6f498e" /><Relationship Type="http://schemas.openxmlformats.org/officeDocument/2006/relationships/notesMaster" Target="/ppt/notesMasters/notesMaster1.xml" Id="R651fe8df955e4c89"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ff8268bc25554d35" /><Relationship Type="http://schemas.openxmlformats.org/officeDocument/2006/relationships/notesMaster" Target="/ppt/notesMasters/notesMaster1.xml" Id="R4fc40fd0e71e4897"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04183d24f99e464b" /><Relationship Type="http://schemas.openxmlformats.org/officeDocument/2006/relationships/notesMaster" Target="/ppt/notesMasters/notesMaster1.xml" Id="R3ef7c60b844248e3"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ac5e46cd2aa412c" /><Relationship Type="http://schemas.openxmlformats.org/officeDocument/2006/relationships/notesMaster" Target="/ppt/notesMasters/notesMaster1.xml" Id="R376a341dfeba4195"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76b392d7ed114dfe" /><Relationship Type="http://schemas.openxmlformats.org/officeDocument/2006/relationships/notesMaster" Target="/ppt/notesMasters/notesMaster1.xml" Id="R644aa4b85b614474"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c15cdc5e33474fed" /><Relationship Type="http://schemas.openxmlformats.org/officeDocument/2006/relationships/notesMaster" Target="/ppt/notesMasters/notesMaster1.xml" Id="R5c05de852fb24135"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377f7ff726b142a0" /><Relationship Type="http://schemas.openxmlformats.org/officeDocument/2006/relationships/notesMaster" Target="/ppt/notesMasters/notesMaster1.xml" Id="Racaa340ae2ca4b59"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3709a1a1c4b54ddd" /><Relationship Type="http://schemas.openxmlformats.org/officeDocument/2006/relationships/notesMaster" Target="/ppt/notesMasters/notesMaster1.xml" Id="R0c6d3a818fb7487e"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3380627f9fae470b" /><Relationship Type="http://schemas.openxmlformats.org/officeDocument/2006/relationships/notesMaster" Target="/ppt/notesMasters/notesMaster1.xml" Id="R8714a99757684e71"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6d343742e0704ab5" /><Relationship Type="http://schemas.openxmlformats.org/officeDocument/2006/relationships/notesMaster" Target="/ppt/notesMasters/notesMaster1.xml" Id="R45d55d55d7844172"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089235c54e754711" /><Relationship Type="http://schemas.openxmlformats.org/officeDocument/2006/relationships/notesMaster" Target="/ppt/notesMasters/notesMaster1.xml" Id="R284f363b079a4bf0"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380ab7335c61474b" /><Relationship Type="http://schemas.openxmlformats.org/officeDocument/2006/relationships/notesMaster" Target="/ppt/notesMasters/notesMaster1.xml" Id="R96ce0614cea147fb"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11b8795e2fd74cd7" /><Relationship Type="http://schemas.openxmlformats.org/officeDocument/2006/relationships/notesMaster" Target="/ppt/notesMasters/notesMaster1.xml" Id="Rcbf2fc2d4b344ab6"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6b147551584a4ba3" /><Relationship Type="http://schemas.openxmlformats.org/officeDocument/2006/relationships/notesMaster" Target="/ppt/notesMasters/notesMaster1.xml" Id="Re8d28da736e24eef"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5c527c2a111e48d8" /><Relationship Type="http://schemas.openxmlformats.org/officeDocument/2006/relationships/notesMaster" Target="/ppt/notesMasters/notesMaster1.xml" Id="R4aa6efd4b0624663"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651545d6fdb4474a" /><Relationship Type="http://schemas.openxmlformats.org/officeDocument/2006/relationships/notesMaster" Target="/ppt/notesMasters/notesMaster1.xml" Id="R4ad1bfd0cf8e4410"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398219465b6e430e" /><Relationship Type="http://schemas.openxmlformats.org/officeDocument/2006/relationships/notesMaster" Target="/ppt/notesMasters/notesMaster1.xml" Id="Raede70a529314d80"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1c0a2ba89a7242a4" /><Relationship Type="http://schemas.openxmlformats.org/officeDocument/2006/relationships/notesMaster" Target="/ppt/notesMasters/notesMaster1.xml" Id="Rc51e896969a649b5"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5e08c1f59ad84ab6" /><Relationship Type="http://schemas.openxmlformats.org/officeDocument/2006/relationships/notesMaster" Target="/ppt/notesMasters/notesMaster1.xml" Id="R28185ae2500c4250"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fde16c7c5fea4440" /><Relationship Type="http://schemas.openxmlformats.org/officeDocument/2006/relationships/notesMaster" Target="/ppt/notesMasters/notesMaster1.xml" Id="Rd965dcb827084c72"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03762af90b634edd" /><Relationship Type="http://schemas.openxmlformats.org/officeDocument/2006/relationships/notesMaster" Target="/ppt/notesMasters/notesMaster1.xml" Id="R47b17dbba5f0465f"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6fd3264992e448f4" /><Relationship Type="http://schemas.openxmlformats.org/officeDocument/2006/relationships/notesMaster" Target="/ppt/notesMasters/notesMaster1.xml" Id="R79d72f816c0949e8"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6f9314d19d994bad" /><Relationship Type="http://schemas.openxmlformats.org/officeDocument/2006/relationships/notesMaster" Target="/ppt/notesMasters/notesMaster1.xml" Id="R00d62a5bf5a74a34"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b48e0e39a0d44ded" /><Relationship Type="http://schemas.openxmlformats.org/officeDocument/2006/relationships/notesMaster" Target="/ppt/notesMasters/notesMaster1.xml" Id="R9960bbf5254f4086"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055fa5300ba14515" /><Relationship Type="http://schemas.openxmlformats.org/officeDocument/2006/relationships/notesMaster" Target="/ppt/notesMasters/notesMaster1.xml" Id="R6128f10c8036400b"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4626759a626c4726" /><Relationship Type="http://schemas.openxmlformats.org/officeDocument/2006/relationships/notesMaster" Target="/ppt/notesMasters/notesMaster1.xml" Id="R0f3539feee0e42aa"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e9c09f05ae434952" /><Relationship Type="http://schemas.openxmlformats.org/officeDocument/2006/relationships/notesMaster" Target="/ppt/notesMasters/notesMaster1.xml" Id="R77306d09be934b4e"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9e8e680760054cb6" /><Relationship Type="http://schemas.openxmlformats.org/officeDocument/2006/relationships/notesMaster" Target="/ppt/notesMasters/notesMaster1.xml" Id="Rd1a6e9a8577b4b8c"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35e1bbff71ea4f3e" /><Relationship Type="http://schemas.openxmlformats.org/officeDocument/2006/relationships/notesMaster" Target="/ppt/notesMasters/notesMaster1.xml" Id="Rdae3b78d11d7443f"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9409747a8bb44a13" /><Relationship Type="http://schemas.openxmlformats.org/officeDocument/2006/relationships/notesMaster" Target="/ppt/notesMasters/notesMaster1.xml" Id="R8dbef91317734788"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ffafcffeb38d4a7a" /><Relationship Type="http://schemas.openxmlformats.org/officeDocument/2006/relationships/notesMaster" Target="/ppt/notesMasters/notesMaster1.xml" Id="Reaab5fe36c354c1b"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c697bf1f8f6a4616" /><Relationship Type="http://schemas.openxmlformats.org/officeDocument/2006/relationships/notesMaster" Target="/ppt/notesMasters/notesMaster1.xml" Id="Re1c6db4c8e324b32"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8553697cf0d04aed" /><Relationship Type="http://schemas.openxmlformats.org/officeDocument/2006/relationships/notesMaster" Target="/ppt/notesMasters/notesMaster1.xml" Id="R4d39b52997944877"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cc0227dcc0cf471b" /><Relationship Type="http://schemas.openxmlformats.org/officeDocument/2006/relationships/notesMaster" Target="/ppt/notesMasters/notesMaster1.xml" Id="R09457db56c1041ed"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b867d4f2a87c4477" /><Relationship Type="http://schemas.openxmlformats.org/officeDocument/2006/relationships/notesMaster" Target="/ppt/notesMasters/notesMaster1.xml" Id="R55a055cce1f948d0"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85f6d6826ff4437a" /><Relationship Type="http://schemas.openxmlformats.org/officeDocument/2006/relationships/notesMaster" Target="/ppt/notesMasters/notesMaster1.xml" Id="Rffb6e17a493d49cc"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af8b122f7f1a4c25" /><Relationship Type="http://schemas.openxmlformats.org/officeDocument/2006/relationships/notesMaster" Target="/ppt/notesMasters/notesMaster1.xml" Id="R5c1b130402f54e0b"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5d7f9cc3f6324f32" /><Relationship Type="http://schemas.openxmlformats.org/officeDocument/2006/relationships/notesMaster" Target="/ppt/notesMasters/notesMaster1.xml" Id="R30adecff77164106"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ecd18e6983e441a0" /><Relationship Type="http://schemas.openxmlformats.org/officeDocument/2006/relationships/notesMaster" Target="/ppt/notesMasters/notesMaster1.xml" Id="R3b7b7eed6a3e452b"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8cc43f6366084f80" /><Relationship Type="http://schemas.openxmlformats.org/officeDocument/2006/relationships/notesMaster" Target="/ppt/notesMasters/notesMaster1.xml" Id="R4fbcb4df4c4c46ce"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10cdc0f5b48442ff" /><Relationship Type="http://schemas.openxmlformats.org/officeDocument/2006/relationships/notesMaster" Target="/ppt/notesMasters/notesMaster1.xml" Id="R07889637aab5490e"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8bd0fa2955e24a3e" /><Relationship Type="http://schemas.openxmlformats.org/officeDocument/2006/relationships/notesMaster" Target="/ppt/notesMasters/notesMaster1.xml" Id="R50324174c3664e32"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42466050b125416f" /><Relationship Type="http://schemas.openxmlformats.org/officeDocument/2006/relationships/notesMaster" Target="/ppt/notesMasters/notesMaster1.xml" Id="Rc1b3a9283d684bb6"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343c12f8259b4eb9" /><Relationship Type="http://schemas.openxmlformats.org/officeDocument/2006/relationships/notesMaster" Target="/ppt/notesMasters/notesMaster1.xml" Id="R2c3e4be5968e4b10"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567c5ac31a704dc1" /><Relationship Type="http://schemas.openxmlformats.org/officeDocument/2006/relationships/notesMaster" Target="/ppt/notesMasters/notesMaster1.xml" Id="R0b6a8f3002534871"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1e6b4ce8dbe94394" /><Relationship Type="http://schemas.openxmlformats.org/officeDocument/2006/relationships/notesMaster" Target="/ppt/notesMasters/notesMaster1.xml" Id="R59d252f26bf64a2c"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6a20f7aefe8647ea" /><Relationship Type="http://schemas.openxmlformats.org/officeDocument/2006/relationships/notesMaster" Target="/ppt/notesMasters/notesMaster1.xml" Id="Rcd1cc93c2da446a9"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f872ce30424048a4" /><Relationship Type="http://schemas.openxmlformats.org/officeDocument/2006/relationships/notesMaster" Target="/ppt/notesMasters/notesMaster1.xml" Id="Rb7dd64d7052640ed"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3eb32fc9fd944444" /><Relationship Type="http://schemas.openxmlformats.org/officeDocument/2006/relationships/notesMaster" Target="/ppt/notesMasters/notesMaster1.xml" Id="R6cfeef55a12d4c72"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db079f6383f84adb" /><Relationship Type="http://schemas.openxmlformats.org/officeDocument/2006/relationships/notesMaster" Target="/ppt/notesMasters/notesMaster1.xml" Id="Rb675d203c1704e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research question and presentation scope.</a:t>
            </a:r>
          </a:p>
          <a:p xmlns:a="http://schemas.openxmlformats.org/drawingml/2006/main">
            <a:endParaRPr/>
          </a:p>
          <a:p xmlns:a="http://schemas.openxmlformats.org/drawingml/2006/main">
            <a:r>
              <a:t>Walk through: This study asks how sex, APOE genotype, and brain cell type shape mitochondrial gene-expression changes in Alzheimer’s disease. ROSMAP provides the primary analysis, and SEA-AD provides supplemental human support. The presentation moves from DEG and pathway framing to KDA, sensitivity analyses, and 17 biological findings.</a:t>
            </a:r>
          </a:p>
          <a:p xmlns:a="http://schemas.openxmlformats.org/drawingml/2006/main">
            <a:endParaRPr/>
          </a:p>
          <a:p xmlns:a="http://schemas.openxmlformats.org/drawingml/2006/main">
            <a:r>
              <a:t>Scientific boundary: The evidence is transcriptomic and exploratory. Separate results within sex/APOE strata do not by themselves establish a disease-by-sex or disease-by-APOE interaction, and RNA abundance does not measure mitochondrial function directly.</a:t>
            </a:r>
          </a:p>
          <a:p xmlns:a="http://schemas.openxmlformats.org/drawingml/2006/main">
            <a:endParaRPr/>
          </a:p>
          <a:p xmlns:a="http://schemas.openxmlformats.org/drawingml/2006/main">
            <a:r>
              <a:t>Transition: Begin with the DEG analysis and define the comparison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differential-expression layer.</a:t>
            </a:r>
          </a:p>
          <a:p xmlns:a="http://schemas.openxmlformats.org/drawingml/2006/main">
            <a:endParaRPr/>
          </a:p>
          <a:p xmlns:a="http://schemas.openxmlformats.org/drawingml/2006/main">
            <a:r>
              <a:t>Walk through: DEG analysis compares disease with the cohort-specific comparison group inside each fine cell type and sex/APOE stratum. These contrast-level results provide the mitochondrial gene lists used for pathway analysis and for the KDA queries.</a:t>
            </a:r>
          </a:p>
          <a:p xmlns:a="http://schemas.openxmlformats.org/drawingml/2006/main">
            <a:endParaRPr/>
          </a:p>
          <a:p xmlns:a="http://schemas.openxmlformats.org/drawingml/2006/main">
            <a:r>
              <a:t>Scientific boundary: A DEG is an RNA-abundance difference, not proof of causal regulation, protein change, or altered mitochondrial function. ROSMAP uses AD versus NCI, whereas SEA-AD uses dementia versus no dementia.</a:t>
            </a:r>
          </a:p>
          <a:p xmlns:a="http://schemas.openxmlformats.org/drawingml/2006/main">
            <a:endParaRPr/>
          </a:p>
          <a:p xmlns:a="http://schemas.openxmlformats.org/drawingml/2006/main">
            <a:r>
              <a:t>Transition: Start by defining a contrast, the unit used for each AD-versus-comparison DEG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Distinguish the contrast unit from the KDA call it may generate.</a:t>
            </a:r>
          </a:p>
          <a:p xmlns:a="http://schemas.openxmlformats.org/drawingml/2006/main">
            <a:endParaRPr/>
          </a:p>
          <a:p xmlns:a="http://schemas.openxmlformats.org/drawingml/2006/main">
            <a:r>
              <a:t>Walk through: A contrast is one AD-versus-NCI comparison within one fine cell type and one sex/APOE group. Therefore, N fine cell types create six N planned contrasts; in ROSMAP, 54 fine types create 324. Source-invalid contrasts are removed, and a valid contrast proceeds to call_key_drivers only when its mapped mitochondrial query contains at least three genes. One completed call can return a list of significant key-driver genes, with each gene appearing at most once in that call.</a:t>
            </a:r>
          </a:p>
          <a:p xmlns:a="http://schemas.openxmlformats.org/drawingml/2006/main">
            <a:endParaRPr/>
          </a:p>
          <a:p xmlns:a="http://schemas.openxmlformats.org/drawingml/2006/main">
            <a:r>
              <a:t>Scientific boundary: A planned contrast is a comparison opportunity, not a completed KDA test or an independent biological replication. A skipped contrast is unavailable rather than a completed null result.</a:t>
            </a:r>
          </a:p>
          <a:p xmlns:a="http://schemas.openxmlformats.org/drawingml/2006/main">
            <a:endParaRPr/>
          </a:p>
          <a:p xmlns:a="http://schemas.openxmlformats.org/drawingml/2006/main">
            <a:r>
              <a:t>Transition: With the contrast defined, summarize all significant DEG results across sex/APOE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complete fine-cell DEG results before pathway analysis.</a:t>
            </a:r>
          </a:p>
          <a:p xmlns:a="http://schemas.openxmlformats.org/drawingml/2006/main">
            <a:endParaRPr/>
          </a:p>
          <a:p xmlns:a="http://schemas.openxmlformats.org/drawingml/2006/main">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xmlns:a="http://schemas.openxmlformats.org/drawingml/2006/main">
            <a:endParaRPr/>
          </a:p>
          <a:p xmlns:a="http://schemas.openxmlformats.org/drawingml/2006/main">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xmlns:a="http://schemas.openxmlformats.org/drawingml/2006/main">
            <a:endParaRPr/>
          </a:p>
          <a:p xmlns:a="http://schemas.openxmlformats.org/drawingml/2006/main">
            <a:r>
              <a:t>Transition: Move from the all-gene DEG counts to pathway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Position pathway analysis between DEG testing and network analysis.</a:t>
            </a:r>
          </a:p>
          <a:p xmlns:a="http://schemas.openxmlformats.org/drawingml/2006/main">
            <a:endParaRPr/>
          </a:p>
          <a:p xmlns:a="http://schemas.openxmlformats.org/drawingml/2006/main">
            <a:r>
              <a:t>Walk through: Pathway analysis asks whether mitochondrial DEG results are concentrated in predefined pathways, including mitochondrial and nuclear OXPHOS, mitochondrial translation, and MICOS or inner-membrane organization. It therefore describes pathway-level signal before network-based driver nomination.</a:t>
            </a:r>
          </a:p>
          <a:p xmlns:a="http://schemas.openxmlformats.org/drawingml/2006/main">
            <a:endParaRPr/>
          </a:p>
          <a:p xmlns:a="http://schemas.openxmlformats.org/drawingml/2006/main">
            <a:r>
              <a:t>Scientific boundary: Pathway enrichment describes the composition or ranking of gene-level results. It does not identify an upstream driver or prove that a pathway is more or less functional.</a:t>
            </a:r>
          </a:p>
          <a:p xmlns:a="http://schemas.openxmlformats.org/drawingml/2006/main">
            <a:endParaRPr/>
          </a:p>
          <a:p xmlns:a="http://schemas.openxmlformats.org/drawingml/2006/main">
            <a:r>
              <a:t>Transition: Introduce the three-level MitoCarta hierarchy used to define the pathway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three MitoCarta pathway levels used in the analysis.</a:t>
            </a:r>
          </a:p>
          <a:p xmlns:a="http://schemas.openxmlformats.org/drawingml/2006/main">
            <a:endParaRPr/>
          </a:p>
          <a:p xmlns:a="http://schemas.openxmlformats.org/drawingml/2006/main">
            <a:r>
              <a:t>Walk through: MitoCarta organizes mitochondrial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xmlns:a="http://schemas.openxmlformats.org/drawingml/2006/main">
            <a:endParaRPr/>
          </a:p>
          <a:p xmlns:a="http://schemas.openxmlformats.org/drawingml/2006/main">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xmlns:a="http://schemas.openxmlformats.org/drawingml/2006/main">
            <a:endParaRPr/>
          </a:p>
          <a:p xmlns:a="http://schemas.openxmlformats.org/drawingml/2006/main">
            <a:r>
              <a:t>Transition: Next, explain how each fine-cell DEG list was tested against these pathway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two-stage pathway analysis and define a significant result.</a:t>
            </a:r>
          </a:p>
          <a:p xmlns:a="http://schemas.openxmlformats.org/drawingml/2006/main">
            <a:endParaRPr/>
          </a:p>
          <a:p xmlns:a="http://schemas.openxmlformats.org/drawingml/2006/main">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xmlns:a="http://schemas.openxmlformats.org/drawingml/2006/main">
            <a:endParaRPr/>
          </a:p>
          <a:p xmlns:a="http://schemas.openxmlformats.org/drawingml/2006/main">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xmlns:a="http://schemas.openxmlformats.org/drawingml/2006/main">
            <a:endParaRPr/>
          </a:p>
          <a:p xmlns:a="http://schemas.openxmlformats.org/drawingml/2006/main">
            <a:r>
              <a:t>Transition: Focus next on four mitochondrial pathways used repeatedly in the later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four mitochondrial pathways highlighted in the focused results.</a:t>
            </a:r>
          </a:p>
          <a:p xmlns:a="http://schemas.openxmlformats.org/drawingml/2006/main">
            <a:endParaRPr/>
          </a:p>
          <a:p xmlns:a="http://schemas.openxmlformats.org/drawingml/2006/main">
            <a:r>
              <a:t>Walk through: The focused analysis highlights four fixed pathway definitions, using the same gene membership in every contrast. The first contains the 13 OXPHOS subunits encoded by mitochondrial DNA. The second contains 86 structural OXPHOS subunits encoded by nuclear DNA. The third contains 155 genes involved in translating proteins inside mitochondria. The fourth contains 19 MIB/MICOS genes that organize the inner mitochondrial membrane and its folds, called cristae.</a:t>
            </a:r>
          </a:p>
          <a:p xmlns:a="http://schemas.openxmlformats.org/drawingml/2006/main">
            <a:endParaRPr/>
          </a:p>
          <a:p xmlns:a="http://schemas.openxmlformats.org/drawingml/2006/main">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xmlns:a="http://schemas.openxmlformats.org/drawingml/2006/main">
            <a:endParaRPr/>
          </a:p>
          <a:p xmlns:a="http://schemas.openxmlformats.org/drawingml/2006/main">
            <a:r>
              <a:t>Transition: Next, explain how fine-cell DEG results are pooled into each overlap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overlap formula and its worked example.</a:t>
            </a:r>
          </a:p>
          <a:p xmlns:a="http://schemas.openxmlformats.org/drawingml/2006/main">
            <a:endParaRPr/>
          </a:p>
          <a:p xmlns:a="http://schemas.openxmlformats.org/drawingml/2006/main">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xmlns:a="http://schemas.openxmlformats.org/drawingml/2006/main">
            <a:endParaRPr/>
          </a:p>
          <a:p xmlns:a="http://schemas.openxmlformats.org/drawingml/2006/main">
            <a:r>
              <a:t>Scientific boundary: Each gene counts once, regardless of how many fine cell types contain it. The percentage does not show the percentage of fine cell types, the direction of change, recurrence across cell types, or pathway enrichment.</a:t>
            </a:r>
          </a:p>
          <a:p xmlns:a="http://schemas.openxmlformats.org/drawingml/2006/main">
            <a:endParaRPr/>
          </a:p>
          <a:p xmlns:a="http://schemas.openxmlformats.org/drawingml/2006/main">
            <a:r>
              <a:t>Transition: Now inspect the calculated pathway-gene coverage across the six sex/APOE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the breadth of pathway-gene overlap with the fine-cell DEG results.</a:t>
            </a:r>
          </a:p>
          <a:p xmlns:a="http://schemas.openxmlformats.org/drawingml/2006/main">
            <a:endParaRPr/>
          </a:p>
          <a:p xmlns:a="http://schemas.openxmlformats.org/drawingml/2006/main">
            <a:r>
              <a:t>Walk through: For each sex/APOE group, a pathway gene is counted once if it was a significant DEG in at least one fine-cell comparison. The denominator is the full frozen pathway size shown on the previous slide. Twelve of the 13 mitochondrial-DNA OXPHOS genes appeared in every group. Male epsilon-2 had the broadest overlap in the other three pathways: 67 of 86 nuclear structural OXPHOS genes, 130 of 155 mitochondrial-translation genes, and 17 of 19 inner-membrane genes. Female epsilon-3 homozygous had narrower overlap in mitochondrial translation and inner-membrane organization.</a:t>
            </a:r>
          </a:p>
          <a:p xmlns:a="http://schemas.openxmlformats.org/drawingml/2006/main">
            <a:endParaRPr/>
          </a:p>
          <a:p xmlns:a="http://schemas.openxmlformats.org/drawingml/2006/main">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xmlns:a="http://schemas.openxmlformats.org/drawingml/2006/main">
            <a:endParaRPr/>
          </a:p>
          <a:p xmlns:a="http://schemas.openxmlformats.org/drawingml/2006/main">
            <a:r>
              <a:t>Transition: Define how the OXPHOS direction percentage is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percentage of OXPHOS DEG occurrences that are upregulated.</a:t>
            </a:r>
          </a:p>
          <a:p xmlns:a="http://schemas.openxmlformats.org/drawingml/2006/main">
            <a:r>
              <a:t/>
            </a:r>
            <a:endParaRPr/>
          </a:p>
          <a:p xmlns:a="http://schemas.openxmlformats.org/drawingml/2006/main">
            <a:r>
              <a:t>Walk through: The calculation is performed separately for each sex/APOE group and each OXPHOS gene set. One occurrence means that one pathway gene is a significant DEG in one fine-cell comparison. The same gene can contribute another occurrence when it is significant in another fine cell type. Divide the number of upregulated occurrences by all upregulated plus downregulated occurrences, then multiply by 100. For male epsilon-3 homozygous mtDNA-encoded OXPHOS, 70 occurrences increased and 11 decreased. Seventy divided by 81 equals 86 percent upregulated. Fifty percent means equal numbers of upregulated and downregulated occurrences. Values above 50 percent favor upregulation, and values below 50 percent favor downregulation.</a:t>
            </a:r>
          </a:p>
          <a:p xmlns:a="http://schemas.openxmlformats.org/drawingml/2006/main">
            <a:r>
              <a:t/>
            </a:r>
            <a:endParaRPr/>
          </a:p>
          <a:p xmlns:a="http://schemas.openxmlformats.org/drawingml/2006/main">
            <a:r>
              <a:t>Scientific boundary: This percentage is not a fold change, the percentage of unique genes, cells, donors, or fine cell types, an enrichment result, or a measure of OXPHOS activity. Repeated occurrences across fine cell types are not independent biological replications.</a:t>
            </a:r>
          </a:p>
          <a:p xmlns:a="http://schemas.openxmlformats.org/drawingml/2006/main">
            <a:r>
              <a:t/>
            </a:r>
            <a:endParaRPr/>
          </a:p>
          <a:p xmlns:a="http://schemas.openxmlformats.org/drawingml/2006/main">
            <a:r>
              <a:t>Transition: Compare the upregulated occurrence percentage across the six sex/APOE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Compare the share of upregulated OXPHOS DEG occurrences across the six sex/APOE groups.</a:t>
            </a:r>
          </a:p>
          <a:p xmlns:a="http://schemas.openxmlformats.org/drawingml/2006/main">
            <a:r>
              <a:t/>
            </a:r>
            <a:endParaRPr/>
          </a:p>
          <a:p xmlns:a="http://schemas.openxmlformats.org/drawingml/2006/main">
            <a:r>
              <a:t>Walk through: OXPHOS, or oxidative phosphorylation, is the mitochondrial process that produces most cellular ATP. Blue bars summarize the 13 OXPHOS genes encoded by mitochondrial DNA, and orange bars summarize 86 structural OXPHOS genes encoded by nuclear DNA. Each value is the number of upregulated occurrences divided by all upregulated plus downregulated occurrences. Fifty percent means the two directions occur equally often. Female epsilon-2 is 99 percent mitochondrial and 98 percent nuclear upregulated. Female epsilon-3 homozygous is 100 percent mitochondrial and 85 percent nuclear upregulated. Female epsilon-4 is 41 percent mitochondrial and 5 percent nuclear upregulated. Male epsilon-2 is 10 percent mitochondrial and 13 percent nuclear upregulated. Male epsilon-3 homozygous shows the clearest split, at 86 percent mitochondrial and 12 percent nuclear upregulated. Male epsilon-4 shows the same split more weakly, at 79 percent mitochondrial and 38 percent nuclear upregulated.</a:t>
            </a:r>
          </a:p>
          <a:p xmlns:a="http://schemas.openxmlformats.org/drawingml/2006/main">
            <a:r>
              <a:t/>
            </a:r>
            <a:endParaRPr/>
          </a:p>
          <a:p xmlns:a="http://schemas.openxmlformats.org/drawingml/2006/main">
            <a:r>
              <a:t>Scientific boundary: The bars show the share of repeated gene-by-fine-cell DEG occurrences that are upregulated. They do not show percent expression change, percent of cells or donors, percent of unique genes, an effect size, pathway enrichment, OXPHOS activity, or a direct statistical interaction between disease, sex, and APOE.</a:t>
            </a:r>
          </a:p>
          <a:p xmlns:a="http://schemas.openxmlformats.org/drawingml/2006/main">
            <a:r>
              <a:t/>
            </a:r>
            <a:endParaRPr/>
          </a:p>
          <a:p xmlns:a="http://schemas.openxmlformats.org/drawingml/2006/main">
            <a:r>
              <a:t>Transition: Focus first on the female epsilon-3 homozygous mitochondrial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Preview the strongest sex/APOE-related mitochondrial DEG pathway.</a:t>
            </a:r>
          </a:p>
          <a:p xmlns:a="http://schemas.openxmlformats.org/drawingml/2006/main">
            <a:endParaRPr/>
          </a:p>
          <a:p xmlns:a="http://schemas.openxmlformats.org/drawingml/2006/main">
            <a:r>
              <a:t>Walk through: Mitochondrial DNA encodes 13 structural subunits of OXPHOS. In female APOE epsilon-3 homozygous ROSMAP comparisons, 12 of 14 excitatory and 13 of 14 inhibitory fine-cell comparisons contained more increased genes from this pathway than expected by chance. In the one matched SEA-AD excitatory comparison, nine of ten genes in the SEA-AD list were the same mtDNA-encoded OXPHOS genes, and all nine increased in disease in both cohorts.</a:t>
            </a:r>
          </a:p>
          <a:p xmlns:a="http://schemas.openxmlformats.org/drawingml/2006/main">
            <a:endParaRPr/>
          </a:p>
          <a:p xmlns:a="http://schemas.openxmlformats.org/drawingml/2006/main">
            <a:r>
              <a:t>Scientific boundary: The SEA-AD support comes from one matched comparison, so it is strong in direction but narrow in coverage. More RNA may reflect compensation or stress and does not demonstrate better energy production.</a:t>
            </a:r>
          </a:p>
          <a:p xmlns:a="http://schemas.openxmlformats.org/drawingml/2006/main">
            <a:endParaRPr/>
          </a:p>
          <a:p xmlns:a="http://schemas.openxmlformats.org/drawingml/2006/main">
            <a:r>
              <a:t>Transition: Contrast it with the male epsilon-3 homozygous split between two genomes.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Preview the male epsilon-3 homozygous split between mitochondrial and nuclear-encoded OXPHOS genes.</a:t>
            </a:r>
          </a:p>
          <a:p xmlns:a="http://schemas.openxmlformats.org/drawingml/2006/main">
            <a:endParaRPr/>
          </a:p>
          <a:p xmlns:a="http://schemas.openxmlformats.org/drawingml/2006/main">
            <a:r>
              <a:t>Walk through: Mitochondrial and nuclear DNA encode structural subunits of the same OXPHOS system. Across eligible male APOE epsilon-3 homozygous ROSMAP fine-cell comparisons, mtDNA-encoded OXPHOS genes appeared 81 times: 70 increased and 11 decreased. Nuclear-encoded structural OXPHOS genes appeared 68 times: 8 increased and 60 decreased. In matched SEA-AD inhibitory-neuron evidence, 19 of 22 shared genes moved in the same direction, including nine mtDNA-encoded OXPHOS genes that increased and several nuclear-encoded OXPHOS genes that decreased.</a:t>
            </a:r>
          </a:p>
          <a:p xmlns:a="http://schemas.openxmlformats.org/drawingml/2006/main">
            <a:endParaRPr/>
          </a:p>
          <a:p xmlns:a="http://schemas.openxmlformats.org/drawingml/2006/main">
            <a:r>
              <a:t>Scientific boundary: Gene appearances repeat genes across fine-cell comparisons and are not independent donors. In addition, the direct broad-cell ROSMAP pattern was no longer statistically clear after accounting for subtype mixture, so this remains a testable RNA-level hypothesis rather than proof of a sex/APOE interaction or impaired energy production.</a:t>
            </a:r>
          </a:p>
          <a:p xmlns:a="http://schemas.openxmlformats.org/drawingml/2006/main">
            <a:endParaRPr/>
          </a:p>
          <a:p xmlns:a="http://schemas.openxmlformats.org/drawingml/2006/main">
            <a:r>
              <a:t>Transition: Now move to Part 3, where mitochondrial DEGs become network-analysis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key-driver-analysis section.</a:t>
            </a:r>
          </a:p>
          <a:p xmlns:a="http://schemas.openxmlformats.org/drawingml/2006/main">
            <a:endParaRPr/>
          </a:p>
          <a:p xmlns:a="http://schemas.openxmlformats.org/drawingml/2006/main">
            <a:r>
              <a:t>Walk through: Part 3 follows mitochondrial DEGs from one fine-cell contrast into one network query, identifies significant returned key drivers, and then aggregates repeated fine-cell evidence within sex/APOE by broad-cell categories using returned-only ACAT.</a:t>
            </a:r>
          </a:p>
          <a:p xmlns:a="http://schemas.openxmlformats.org/drawingml/2006/main">
            <a:endParaRPr/>
          </a:p>
          <a:p xmlns:a="http://schemas.openxmlformats.org/drawingml/2006/main">
            <a:r>
              <a:t>Scientific boundary: KDA nominates network-associated candidate regulators. It does not prove that a returned gene causally controls the mitochondrial pathway, and it does not pool sex/APOE groups.</a:t>
            </a:r>
          </a:p>
          <a:p xmlns:a="http://schemas.openxmlformats.org/drawingml/2006/main">
            <a:endParaRPr/>
          </a:p>
          <a:p xmlns:a="http://schemas.openxmlformats.org/drawingml/2006/main">
            <a:r>
              <a:t>Transition: Before walking through KDA, define the category used to summarize fine-cell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category unit and the fine-cell-to-broad aggregation.</a:t>
            </a:r>
          </a:p>
          <a:p xmlns:a="http://schemas.openxmlformats.org/drawingml/2006/main">
            <a:endParaRPr/>
          </a:p>
          <a:p xmlns:a="http://schemas.openxmlformats.org/drawingml/2006/main">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calls in one category, the returned within-call adjusted P values are combined by equal-weight ACAT into one gene-by-category score.</a:t>
            </a:r>
          </a:p>
          <a:p xmlns:a="http://schemas.openxmlformats.org/drawingml/2006/main">
            <a:endParaRPr/>
          </a:p>
          <a:p xmlns:a="http://schemas.openxmlformats.org/drawingml/2006/main">
            <a:r>
              <a:t>Scientific boundary: Forty-two is the structural design space, not 42 observed negative or positive results. A category may lack an eligible call or a returned non-mitochondrial driver. The ACAT is returned-only: a call in which the gene was not returned does not contribute P equals one.</a:t>
            </a:r>
          </a:p>
          <a:p xmlns:a="http://schemas.openxmlformats.org/drawingml/2006/main">
            <a:endParaRPr/>
          </a:p>
          <a:p xmlns:a="http://schemas.openxmlformats.org/drawingml/2006/main">
            <a:r>
              <a:t>Transition: With categories defined, follow one contrast from DEG analysis to its category-level KDA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Separate contrast, mitochondrial query, KDA call, and category result.</a:t>
            </a:r>
          </a:p>
          <a:p xmlns:a="http://schemas.openxmlformats.org/drawingml/2006/main">
            <a:endParaRPr/>
          </a:p>
          <a:p xmlns:a="http://schemas.openxmlformats.org/drawingml/2006/main">
            <a:r>
              <a:t>Walk through: A contrast is one signed DEG result and contributes one core-MT DEG query. A mapped query of at least three genes becomes one KDA call. A category is one sex/APOE group crossed with one broad network; returned non-MT drivers from eligible fine-cell runs are aggregated within it.</a:t>
            </a:r>
          </a:p>
          <a:p xmlns:a="http://schemas.openxmlformats.org/drawingml/2006/main">
            <a:endParaRPr/>
          </a:p>
          <a:p xmlns:a="http://schemas.openxmlformats.org/drawingml/2006/main">
            <a:r>
              <a:t>Scientific boundary: A candidate driver can be a non-DEG, non-mitochondrial network gene.</a:t>
            </a:r>
          </a:p>
          <a:p xmlns:a="http://schemas.openxmlformats.org/drawingml/2006/main">
            <a:endParaRPr/>
          </a:p>
          <a:p xmlns:a="http://schemas.openxmlformats.org/drawingml/2006/main">
            <a:r>
              <a:t>Transition: Summarize the ROSMAP branch before examining its contrast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ROSMAP as the primary discovery analysis before the detailed funnel.</a:t>
            </a:r>
          </a:p>
          <a:p xmlns:a="http://schemas.openxmlformats.org/drawingml/2006/main">
            <a:endParaRPr/>
          </a:p>
          <a:p xmlns:a="http://schemas.openxmlformats.org/drawingml/2006/main">
            <a:r>
              <a:t>Walk through: ROSMAP starts with 324 planned fine-cell contrasts. Those contrasts produce 194 executable KDA calls and 381 non-mitochondrial gene-by-category combinations, representing 228 distinct genes across 29 populated categories. Each contrast contributes its mitochondrial DEG query, and returned fine-cell evidence is then aggregated within the matching sex/APOE-by-broad-cell category.</a:t>
            </a:r>
          </a:p>
          <a:p xmlns:a="http://schemas.openxmlformats.org/drawingml/2006/main">
            <a:endParaRPr/>
          </a:p>
          <a:p xmlns:a="http://schemas.openxmlformats.org/drawingml/2006/main">
            <a:r>
              <a:t>Scientific boundary: Planned contrasts, executable calls, and gene-by-category combinations are different units. The category results use returned-only ACAT, and the counts are descriptive rather than independent replication counts.</a:t>
            </a:r>
          </a:p>
          <a:p xmlns:a="http://schemas.openxmlformats.org/drawingml/2006/main">
            <a:endParaRPr/>
          </a:p>
          <a:p xmlns:a="http://schemas.openxmlformats.org/drawingml/2006/main">
            <a:r>
              <a:t>Transition: Follow the ROSMAP summary into the contrast-level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324 contrasts become 194 KDA calls.</a:t>
            </a:r>
          </a:p>
          <a:p xmlns:a="http://schemas.openxmlformats.org/drawingml/2006/main">
            <a:endParaRPr/>
          </a:p>
          <a:p xmlns:a="http://schemas.openxmlformats.org/drawingml/2006/main">
            <a:r>
              <a:t>Walk through: Three source contrasts are invalid, 95 valid contrasts have an empty effective query, 32 retain one or two mapped genes, and 194 meet the three-gene floor.</a:t>
            </a:r>
          </a:p>
          <a:p xmlns:a="http://schemas.openxmlformats.org/drawingml/2006/main">
            <a:endParaRPr/>
          </a:p>
          <a:p xmlns:a="http://schemas.openxmlformats.org/drawingml/2006/main">
            <a:r>
              <a:t>Scientific boundary: Skipped contrasts have no KDA result and are not completed null tests.</a:t>
            </a:r>
          </a:p>
          <a:p xmlns:a="http://schemas.openxmlformats.org/drawingml/2006/main">
            <a:endParaRPr/>
          </a:p>
          <a:p xmlns:a="http://schemas.openxmlformats.org/drawingml/2006/main">
            <a:r>
              <a:t>Transition: Clarify the execution gate and the source contrasts that could not be fitted.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Clarify the three-gene execution floor and the three invalid source contrasts.</a:t>
            </a:r>
          </a:p>
          <a:p xmlns:a="http://schemas.openxmlformats.org/drawingml/2006/main">
            <a:endParaRPr/>
          </a:p>
          <a:p xmlns:a="http://schemas.openxmlformats.org/drawingml/2006/main">
            <a:r>
              <a:t>Walk through: All 194 calls meeting the mapped-query floor were completed: 164 returned significant drivers and 30 returned none. The three concrete invalid MAST contrasts remain unavailable.</a:t>
            </a:r>
          </a:p>
          <a:p xmlns:a="http://schemas.openxmlformats.org/drawingml/2006/main">
            <a:endParaRPr/>
          </a:p>
          <a:p xmlns:a="http://schemas.openxmlformats.org/drawingml/2006/main">
            <a:r>
              <a:t>Scientific boundary: The minimum is an execution rule; small queries and low cell counts still require cautious interpretation.</a:t>
            </a:r>
          </a:p>
          <a:p xmlns:a="http://schemas.openxmlformats.org/drawingml/2006/main">
            <a:endParaRPr/>
          </a:p>
          <a:p xmlns:a="http://schemas.openxmlformats.org/drawingml/2006/main">
            <a:r>
              <a:t>Transition: Inspect how the mitochondrial query is constructed.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ROSMAP mitochondrial query.</a:t>
            </a:r>
          </a:p>
          <a:p xmlns:a="http://schemas.openxmlformats.org/drawingml/2006/main">
            <a:endParaRPr/>
          </a:p>
          <a:p xmlns:a="http://schemas.openxmlformats.org/drawingml/2006/main">
            <a:r>
              <a:t>Walk through: The DEG filters identify 4,258 positive and 5,004 negative core-MT memberships. Together these are 9,262 provisional memberships across contrasts; 7,933 remain after network-background mapping. Each contrast contributes one query and at most one KDA call.</a:t>
            </a:r>
          </a:p>
          <a:p xmlns:a="http://schemas.openxmlformats.org/drawingml/2006/main">
            <a:endParaRPr/>
          </a:p>
          <a:p xmlns:a="http://schemas.openxmlformats.org/drawingml/2006/main">
            <a:r>
              <a:t>Scientific boundary: These are repeated memberships across contrasts, not unique genes and not driver counts.</a:t>
            </a:r>
          </a:p>
          <a:p xmlns:a="http://schemas.openxmlformats.org/drawingml/2006/main">
            <a:endParaRPr/>
          </a:p>
          <a:p xmlns:a="http://schemas.openxmlformats.org/drawingml/2006/main">
            <a:r>
              <a:t>Transition: Summarize the returned non-mitochondrial KDA results before examining rankings and recurrence.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scale and distribution of the ROSMAP output.</a:t>
            </a:r>
          </a:p>
          <a:p xmlns:a="http://schemas.openxmlformats.org/drawingml/2006/main">
            <a:endParaRPr/>
          </a:p>
          <a:p xmlns:a="http://schemas.openxmlformats.org/drawingml/2006/main">
            <a:r>
              <a:t>Walk through: The 623 retained non-MT returned rows form 381 gene-by-category units representing 228 genes across 29 categories. The lower panels show their group, network, and recurrence distributions.</a:t>
            </a:r>
          </a:p>
          <a:p xmlns:a="http://schemas.openxmlformats.org/drawingml/2006/main">
            <a:endParaRPr/>
          </a:p>
          <a:p xmlns:a="http://schemas.openxmlformats.org/drawingml/2006/main">
            <a:r>
              <a:t>Scientific boundary: Counts condition on significant within-call returns and unequal call opportunities.</a:t>
            </a:r>
          </a:p>
          <a:p xmlns:a="http://schemas.openxmlformats.org/drawingml/2006/main">
            <a:endParaRPr/>
          </a:p>
          <a:p xmlns:a="http://schemas.openxmlformats.org/drawingml/2006/main">
            <a:r>
              <a:t>Transition: Start with the most recurrent ROSMAP drivers.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category recurrence.</a:t>
            </a:r>
          </a:p>
          <a:p xmlns:a="http://schemas.openxmlformats.org/drawingml/2006/main">
            <a:endParaRPr/>
          </a:p>
          <a:p xmlns:a="http://schemas.openxmlformats.org/drawingml/2006/main">
            <a:r>
              <a:t>Walk through: RPS15 occurs in 11 categories from 22 returned calls. RPL11 occurs in 10 categories from 24 calls. Bar length and the end label show the category count.</a:t>
            </a:r>
          </a:p>
          <a:p xmlns:a="http://schemas.openxmlformats.org/drawingml/2006/main">
            <a:endParaRPr/>
          </a:p>
          <a:p xmlns:a="http://schemas.openxmlformats.org/drawingml/2006/main">
            <a:r>
              <a:t>Scientific boundary: Category presence is descriptive and not independent replication.</a:t>
            </a:r>
          </a:p>
          <a:p xmlns:a="http://schemas.openxmlformats.org/drawingml/2006/main">
            <a:endParaRPr/>
          </a:p>
          <a:p xmlns:a="http://schemas.openxmlformats.org/drawingml/2006/main">
            <a:r>
              <a:t>Transition: Then inspect the ranked top-five display across the 29 populated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ROSMAP top-five results.</a:t>
            </a:r>
          </a:p>
          <a:p xmlns:a="http://schemas.openxmlformats.org/drawingml/2006/main">
            <a:endParaRPr/>
          </a:p>
          <a:p xmlns:a="http://schemas.openxmlformats.org/drawingml/2006/main">
            <a:r>
              <a:t>Walk through: The figure displays up to five non-MT drivers in each of 29 populated categories, for 123 displayed entries. For rows containing more than five drivers, n reports the total number of distinct non-MT driver genes in that category. For a gene returned by one KDA call, the ranking score is that call's within-call BH-adjusted KDA P value. For a gene returned by at least two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returned drivers. Each broad-cell color is held constant across panels.</a:t>
            </a:r>
          </a:p>
          <a:p xmlns:a="http://schemas.openxmlformats.org/drawingml/2006/main">
            <a:endParaRPr/>
          </a:p>
          <a:p xmlns:a="http://schemas.openxmlformats.org/drawingml/2006/main">
            <a:r>
              <a:t>Scientific boundary: Top five is a display cap, and returned-only scores are exploratory without final across-gene FDR control.</a:t>
            </a:r>
          </a:p>
          <a:p xmlns:a="http://schemas.openxmlformats.org/drawingml/2006/main">
            <a:endParaRPr/>
          </a:p>
          <a:p xmlns:a="http://schemas.openxmlformats.org/drawingml/2006/main">
            <a:r>
              <a:t>Transition: Next, view recurrence within each broad cell class, beginning with excitatory neurons.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ROSMAP excitatory-neuron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84 distinct non-mitochondrial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Compare the excitatory-neuron pattern with inhibitory neurons.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ROSMAP inhibitory-neuron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110 distinct non-mitochondrial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Compare the inhibitory-neuron pattern with astrocytes.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ROSMAP astrocyte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21 distinct non-mitochondrial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Compare the astrocyte pattern with OPCs.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ROSMAP OPC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18 distinct non-mitochondrial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Move to the SEA-AD validation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SEA-AD-specific-network analysis.</a:t>
            </a:r>
          </a:p>
          <a:p xmlns:a="http://schemas.openxmlformats.org/drawingml/2006/main">
            <a:endParaRPr/>
          </a:p>
          <a:p xmlns:a="http://schemas.openxmlformats.org/drawingml/2006/main">
            <a:r>
              <a:t>Walk through: The section moves from 774 supertype-by-stratum contrasts to 22 executable KDA calls, then shows top-five, recurrence, and aggregate summaries.</a:t>
            </a:r>
          </a:p>
          <a:p xmlns:a="http://schemas.openxmlformats.org/drawingml/2006/main">
            <a:endParaRPr/>
          </a:p>
          <a:p xmlns:a="http://schemas.openxmlformats.org/drawingml/2006/main">
            <a:r>
              <a:t>Scientific boundary: The active calls are strongly concentrated in M_e33.</a:t>
            </a:r>
          </a:p>
          <a:p xmlns:a="http://schemas.openxmlformats.org/drawingml/2006/main">
            <a:endParaRPr/>
          </a:p>
          <a:p xmlns:a="http://schemas.openxmlformats.org/drawingml/2006/main">
            <a:r>
              <a:t>Transition: Summarize SEA-AD coverage before examining its contrast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SEA-AD as supplemental human validation before the detailed funnel.</a:t>
            </a:r>
          </a:p>
          <a:p xmlns:a="http://schemas.openxmlformats.org/drawingml/2006/main">
            <a:endParaRPr/>
          </a:p>
          <a:p xmlns:a="http://schemas.openxmlformats.org/drawingml/2006/main">
            <a:r>
              <a:t>Walk through: SEA-AD starts with 774 planned supertype-level contrasts. Only 22 meet the source-validity and three-gene query requirements for KDA. These calls return 44 non-mitochondrial gene-by-category combinations, representing 43 distinct genes across five populated categories. The analysis uses SEA-AD-specific networks rather than reusing ROSMAP networks.</a:t>
            </a:r>
          </a:p>
          <a:p xmlns:a="http://schemas.openxmlformats.org/drawingml/2006/main">
            <a:endParaRPr/>
          </a:p>
          <a:p xmlns:a="http://schemas.openxmlformats.org/drawingml/2006/main">
            <a:r>
              <a:t>Scientific boundary: Coverage is sparse and unbalanced: 20 of the 22 calls are in the male epsilon-3 homozygous group. An unavailable category is not a negative validation result, and cohort differences in networks, phenotype, and query coverage limit direct one-to-one comparison.</a:t>
            </a:r>
          </a:p>
          <a:p xmlns:a="http://schemas.openxmlformats.org/drawingml/2006/main">
            <a:endParaRPr/>
          </a:p>
          <a:p xmlns:a="http://schemas.openxmlformats.org/drawingml/2006/main">
            <a:r>
              <a:t>Transition: Follow the SEA-AD summary into the contrast-level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774 SEA-AD contrasts reduce to 22 executable calls.</a:t>
            </a:r>
          </a:p>
          <a:p xmlns:a="http://schemas.openxmlformats.org/drawingml/2006/main">
            <a:endParaRPr/>
          </a:p>
          <a:p xmlns:a="http://schemas.openxmlformats.org/drawingml/2006/main">
            <a:r>
              <a:t>Walk through: There are 393 non-estimable source contrasts, 348 estimable contrasts with an empty FDR-only query, 11 with one or two mapped genes, and 22 meeting the three-gene floor.</a:t>
            </a:r>
          </a:p>
          <a:p xmlns:a="http://schemas.openxmlformats.org/drawingml/2006/main">
            <a:endParaRPr/>
          </a:p>
          <a:p xmlns:a="http://schemas.openxmlformats.org/drawingml/2006/main">
            <a:r>
              <a:t>Scientific boundary: A skipped contrast is unavailable and is not a negative validation result.</a:t>
            </a:r>
          </a:p>
          <a:p xmlns:a="http://schemas.openxmlformats.org/drawingml/2006/main">
            <a:endParaRPr/>
          </a:p>
          <a:p xmlns:a="http://schemas.openxmlformats.org/drawingml/2006/main">
            <a:r>
              <a:t>Transition: Summarize the returned non-mitochondrial SEA-AD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SEA-AD output.</a:t>
            </a:r>
          </a:p>
          <a:p xmlns:a="http://schemas.openxmlformats.org/drawingml/2006/main">
            <a:endParaRPr/>
          </a:p>
          <a:p xmlns:a="http://schemas.openxmlformats.org/drawingml/2006/main">
            <a:r>
              <a:t>Walk through: The 54 retained rows form 44 category units representing 43 genes across five categories. Thirty-nine units and 20 of 22 active calls are M_e33.</a:t>
            </a:r>
          </a:p>
          <a:p xmlns:a="http://schemas.openxmlformats.org/drawingml/2006/main">
            <a:endParaRPr/>
          </a:p>
          <a:p xmlns:a="http://schemas.openxmlformats.org/drawingml/2006/main">
            <a:r>
              <a:t>Scientific boundary: Returned-only scores remain exploratory and are not final-FDR controlled across genes.</a:t>
            </a:r>
          </a:p>
          <a:p xmlns:a="http://schemas.openxmlformats.org/drawingml/2006/main">
            <a:endParaRPr/>
          </a:p>
          <a:p xmlns:a="http://schemas.openxmlformats.org/drawingml/2006/main">
            <a:r>
              <a:t>Transition: Then examine recurrence across SEA-AD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SEA-AD category recurrence.</a:t>
            </a:r>
          </a:p>
          <a:p xmlns:a="http://schemas.openxmlformats.org/drawingml/2006/main">
            <a:endParaRPr/>
          </a:p>
          <a:p xmlns:a="http://schemas.openxmlformats.org/drawingml/2006/main">
            <a:r>
              <a:t>Walk through: PJVK is the only gene present in two categories: M_e33 excitatory and inhibitory neurons. Every other gene on the top-20 display occurs in one category.</a:t>
            </a:r>
          </a:p>
          <a:p xmlns:a="http://schemas.openxmlformats.org/drawingml/2006/main">
            <a:endParaRPr/>
          </a:p>
          <a:p xmlns:a="http://schemas.openxmlformats.org/drawingml/2006/main">
            <a:r>
              <a:t>Scientific boundary: Five return-bearing categories impose a low recurrence ceiling.</a:t>
            </a:r>
          </a:p>
          <a:p xmlns:a="http://schemas.openxmlformats.org/drawingml/2006/main">
            <a:endParaRPr/>
          </a:p>
          <a:p xmlns:a="http://schemas.openxmlformats.org/drawingml/2006/main">
            <a:r>
              <a:t>Transition: Inspect the top-five entries in the five populated SEA-AD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leading SEA-AD non-MT candidates.</a:t>
            </a:r>
          </a:p>
          <a:p xmlns:a="http://schemas.openxmlformats.org/drawingml/2006/main">
            <a:endParaRPr/>
          </a:p>
          <a:p xmlns:a="http://schemas.openxmlformats.org/drawingml/2006/main">
            <a:r>
              <a:t>Walk through: Seventeen entries appear across F_e33 excitatory, F_e4 astrocyte, and three M_e33 categories. As on the ROSMAP display, rows are aligned across female and male panels, colors identify broad cell types consistently, and n gives the total non-MT driver count when a category contains more than five genes. Within each category, one returned call passes through its within-call adjusted KDA P value, while at least two returned calls are combined by ACAT; lower scores rank more strongly.</a:t>
            </a:r>
          </a:p>
          <a:p xmlns:a="http://schemas.openxmlformats.org/drawingml/2006/main">
            <a:endParaRPr/>
          </a:p>
          <a:p xmlns:a="http://schemas.openxmlformats.org/drawingml/2006/main">
            <a:r>
              <a:t>Scientific boundary: Top five is a display cap and the five populated categories expose strong availability imbalance.</a:t>
            </a:r>
          </a:p>
          <a:p xmlns:a="http://schemas.openxmlformats.org/drawingml/2006/main">
            <a:endParaRPr/>
          </a:p>
          <a:p xmlns:a="http://schemas.openxmlformats.org/drawingml/2006/main">
            <a:r>
              <a:t>Transition: Finish the SEA-AD branch with excitatory-neuron recurrence across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SEA-AD excitatory-neuron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27 distinct non-mitochondrial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Move to the sensitivity analyses.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section reserved for all harmonized broad-cell KDA sensitivity analyses.</a:t>
            </a:r>
          </a:p>
          <a:p xmlns:a="http://schemas.openxmlformats.org/drawingml/2006/main">
            <a:endParaRPr/>
          </a:p>
          <a:p xmlns:a="http://schemas.openxmlformats.org/drawingml/2006/main">
            <a:r>
              <a:t>Walk through: Sensitivity checks may address donor support, nuclei-per-profile coverage, DEG query definition, and KDA filtering. The first check raises the disease-arm donor gate from three to five in both cohorts.</a:t>
            </a:r>
          </a:p>
          <a:p xmlns:a="http://schemas.openxmlformats.org/drawingml/2006/main">
            <a:endParaRPr/>
          </a:p>
          <a:p xmlns:a="http://schemas.openxmlformats.org/drawingml/2006/main">
            <a:r>
              <a:t>Scientific boundary: Each test must change one frozen decision at a time and retain its own interpretation boundary. The current test concerns donors per disease arm, not nuclei.</a:t>
            </a:r>
          </a:p>
          <a:p xmlns:a="http://schemas.openxmlformats.org/drawingml/2006/main">
            <a:endParaRPr/>
          </a:p>
          <a:p xmlns:a="http://schemas.openxmlformats.org/drawingml/2006/main">
            <a:r>
              <a:t>Transition: Begin with the numerical consequences of changing the donor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the numerical impact of raising the minimum disease-arm donor count from three to five in both cohorts.</a:t>
            </a:r>
          </a:p>
          <a:p xmlns:a="http://schemas.openxmlformats.org/drawingml/2006/main">
            <a:endParaRPr/>
          </a:p>
          <a:p xmlns:a="http://schemas.openxmlformats.org/drawingml/2006/main">
            <a:r>
              <a:t>Walk through: ROSMAP falls from 42 to 40 eligible contrasts, three to two KDA runs, 39 to 13 returned rows, and 33 to 13 unique non-mitochondrial drivers. SEA-AD falls from 28 to 20 eligible contrasts, while its five KDA runs, 24 returned rows, and 18 unique non-mitochondrial drivers are unchanged.</a:t>
            </a:r>
          </a:p>
          <a:p xmlns:a="http://schemas.openxmlformats.org/drawingml/2006/main">
            <a:endParaRPr/>
          </a:p>
          <a:p xmlns:a="http://schemas.openxmlformats.org/drawingml/2006/main">
            <a:r>
              <a:t>Scientific boundary: The threshold test changes only the donor eligibility gate. It does not change retained contrast models, DEG queries, networks, or KDA settings.</a:t>
            </a:r>
          </a:p>
          <a:p xmlns:a="http://schemas.openxmlformats.org/drawingml/2006/main">
            <a:endParaRPr/>
          </a:p>
          <a:p xmlns:a="http://schemas.openxmlformats.org/drawingml/2006/main">
            <a:r>
              <a:t>Transition: Interpret why the two cohorts respond differently to the donor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cohort-specific and cross-cohort conclusions of the donor-threshold sensitivity analysis.</a:t>
            </a:r>
          </a:p>
          <a:p xmlns:a="http://schemas.openxmlformats.org/drawingml/2006/main">
            <a:endParaRPr/>
          </a:p>
          <a:p xmlns:a="http://schemas.openxmlformats.org/drawingml/2006/main">
            <a:r>
              <a:t>Walk through: ROSMAP loses the low-support Vasculature M_e2 call that generated 26 driver rows. SEA-AD loses eight eligible contrasts, but none had progressed to KDA. Cross-cohort validation remains zero under both donor thresholds; Astrocytes F_e4 is the only exact stratum executed in both cohorts, and it has no shared drivers.</a:t>
            </a:r>
          </a:p>
          <a:p xmlns:a="http://schemas.openxmlformats.org/drawingml/2006/main">
            <a:endParaRPr/>
          </a:p>
          <a:p xmlns:a="http://schemas.openxmlformats.org/drawingml/2006/main">
            <a:r>
              <a:t>Scientific boundary: Contrasts excluded by the stricter donor threshold are unavailable comparisons. They must not be counted as evidence against validation.</a:t>
            </a:r>
          </a:p>
          <a:p xmlns:a="http://schemas.openxmlformats.org/drawingml/2006/main">
            <a:endParaRPr/>
          </a:p>
          <a:p xmlns:a="http://schemas.openxmlformats.org/drawingml/2006/main">
            <a:r>
              <a:t>Transition: Continue with sensitivity to the minimum effective mitochondrial-query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increasing the minimum effective query size changes KDA availability and returned drivers.</a:t>
            </a:r>
          </a:p>
          <a:p xmlns:a="http://schemas.openxmlformats.org/drawingml/2006/main">
            <a:endParaRPr/>
          </a:p>
          <a:p xmlns:a="http://schemas.openxmlformats.org/drawingml/2006/main">
            <a:r>
              <a:t>Walk through: ROSMAP contracts from three calls and 39 returned rows at three genes to one call and 26 rows at ten or more genes. SEA-AD is unchanged at five genes, contracts to three calls and eight rows at ten or twenty genes, and retains two calls and seven rows at thirty genes.</a:t>
            </a:r>
          </a:p>
          <a:p xmlns:a="http://schemas.openxmlformats.org/drawingml/2006/main">
            <a:endParaRPr/>
          </a:p>
          <a:p xmlns:a="http://schemas.openxmlformats.org/drawingml/2006/main">
            <a:r>
              <a:t>Scientific boundary: The donor minimum remains three per disease arm. This exact gating sensitivity drops existing calls; it does not refit DEG models or rerun KDA for retained calls. Significant rows are raw returns, while the final column excludes MT-* genes and deduplicates within cohort.</a:t>
            </a:r>
          </a:p>
          <a:p xmlns:a="http://schemas.openxmlformats.org/drawingml/2006/main">
            <a:endParaRPr/>
          </a:p>
          <a:p xmlns:a="http://schemas.openxmlformats.org/drawingml/2006/main">
            <a:r>
              <a:t>Transition: Identify the calls responsible for the query-size step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which KDA calls drive the query-threshold sensitivity result.</a:t>
            </a:r>
          </a:p>
          <a:p xmlns:a="http://schemas.openxmlformats.org/drawingml/2006/main">
            <a:endParaRPr/>
          </a:p>
          <a:p xmlns:a="http://schemas.openxmlformats.org/drawingml/2006/main">
            <a:r>
              <a:t>Walk through: ROSMAP loses the three-gene OPC call at five and the eight-gene astrocyte call at ten, leaving only the 78-gene low-donor vasculature call. SEA-AD is unchanged at five; at ten it loses its five-gene microglia and nine-gene astrocyte calls, and at thirty it additionally loses the 21-gene oligodendrocyte call.</a:t>
            </a:r>
          </a:p>
          <a:p xmlns:a="http://schemas.openxmlformats.org/drawingml/2006/main">
            <a:endParaRPr/>
          </a:p>
          <a:p xmlns:a="http://schemas.openxmlformats.org/drawingml/2006/main">
            <a:r>
              <a:t>Scientific boundary: Returned MT-* genes are shown only when explaining raw row changes; they are not treated as eligible key drivers.</a:t>
            </a:r>
          </a:p>
          <a:p xmlns:a="http://schemas.openxmlformats.org/drawingml/2006/main">
            <a:endParaRPr/>
          </a:p>
          <a:p xmlns:a="http://schemas.openxmlformats.org/drawingml/2006/main">
            <a:r>
              <a:t>Transition: Finish with the implications for matched-stratum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validation impact and identify the least disruptive query-size sensitivity threshold.</a:t>
            </a:r>
          </a:p>
          <a:p xmlns:a="http://schemas.openxmlformats.org/drawingml/2006/main">
            <a:endParaRPr/>
          </a:p>
          <a:p xmlns:a="http://schemas.openxmlformats.org/drawingml/2006/main">
            <a:r>
              <a:t>Walk through: Non-mitochondrial driver overlap is zero at every threshold. The shared Astrocytes F_e4 stratum remains available at thresholds three and five but disappears from both cohorts at ten. Threshold five is the only stricter floor that preserves all SEA-AD calls and the shared stratum.</a:t>
            </a:r>
          </a:p>
          <a:p xmlns:a="http://schemas.openxmlformats.org/drawingml/2006/main">
            <a:endParaRPr/>
          </a:p>
          <a:p xmlns:a="http://schemas.openxmlformats.org/drawingml/2006/main">
            <a:r>
              <a:t>Scientific boundary: Absence of a matched executed stratum at thresholds ten or higher is an unavailable validation comparison, not negative evidence. The five-gene threshold is a sensitivity reference, not a new confirmatory rule.</a:t>
            </a:r>
          </a:p>
          <a:p xmlns:a="http://schemas.openxmlformats.org/drawingml/2006/main">
            <a:endParaRPr/>
          </a:p>
          <a:p xmlns:a="http://schemas.openxmlformats.org/drawingml/2006/main">
            <a:r>
              <a:t>Transition: Turn from robustness checks to the main biological findings and their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biological interpretation section.</a:t>
            </a:r>
          </a:p>
          <a:p xmlns:a="http://schemas.openxmlformats.org/drawingml/2006/main">
            <a:endParaRPr/>
          </a:p>
          <a:p xmlns:a="http://schemas.openxmlformats.org/drawingml/2006/main">
            <a:r>
              <a:t>Walk through: The next sections translate the DEG, pathway, KDA, and sensitivity results into 17 testable biological findings. They begin with the two cross-cohort OXPHOS patterns, then examine additional sex/APOE programs, candidate key drivers, cross-cell recurrence, and important limits on validation and interpretation.</a:t>
            </a:r>
          </a:p>
          <a:p xmlns:a="http://schemas.openxmlformats.org/drawingml/2006/main">
            <a:endParaRPr/>
          </a:p>
          <a:p xmlns:a="http://schemas.openxmlformats.org/drawingml/2006/main">
            <a:r>
              <a:t>Scientific boundary: These are evidence syntheses, not causal conclusions. SEA-AD support is graded according to matched coverage and may be program-level rather than exact-gene replication.</a:t>
            </a:r>
          </a:p>
          <a:p xmlns:a="http://schemas.openxmlformats.org/drawingml/2006/main">
            <a:endParaRPr/>
          </a:p>
          <a:p xmlns:a="http://schemas.openxmlformats.org/drawingml/2006/main">
            <a:r>
              <a:t>Transition: Begin with Finding 1, the female ε3/ε3 mtDNA-OXPHOS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first biological finding.</a:t>
            </a:r>
          </a:p>
          <a:p xmlns:a="http://schemas.openxmlformats.org/drawingml/2006/main">
            <a:endParaRPr/>
          </a:p>
          <a:p xmlns:a="http://schemas.openxmlformats.org/drawingml/2006/main">
            <a:r>
              <a:t>Walk through: Female APOE epsilon-3 homozygous cells repeatedly show higher mitochondrial-DNA-encoded oxidative-phosphorylation RNA in Alzheimer’s disease. The matched excitatory-neuron program also appears in SEA-AD.</a:t>
            </a:r>
          </a:p>
          <a:p xmlns:a="http://schemas.openxmlformats.org/drawingml/2006/main">
            <a:endParaRPr/>
          </a:p>
          <a:p xmlns:a="http://schemas.openxmlformats.org/drawingml/2006/main">
            <a:r>
              <a:t>Scientific boundary: This section describes a mitochondrial DEG program. It does not identify a causal key driver, prove better energy production, or establish a sex-by-APOE interaction.</a:t>
            </a:r>
          </a:p>
          <a:p xmlns:a="http://schemas.openxmlformats.org/drawingml/2006/main">
            <a:endParaRPr/>
          </a:p>
          <a:p xmlns:a="http://schemas.openxmlformats.org/drawingml/2006/main">
            <a:r>
              <a:t>Transition: State the first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finding without statistical jargon.</a:t>
            </a:r>
          </a:p>
          <a:p xmlns:a="http://schemas.openxmlformats.org/drawingml/2006/main">
            <a:endParaRPr/>
          </a:p>
          <a:p xmlns:a="http://schemas.openxmlformats.org/drawingml/2006/main">
            <a:r>
              <a:t>Walk through: In Alzheimer’s disease, female APOE epsilon-3 homozygous cells repeatedly contain more RNA from mitochondrial OXPHOS genes. Excitatory neurons provide the cleanest comparison across ROSMAP and SEA-AD.</a:t>
            </a:r>
          </a:p>
          <a:p xmlns:a="http://schemas.openxmlformats.org/drawingml/2006/main">
            <a:endParaRPr/>
          </a:p>
          <a:p xmlns:a="http://schemas.openxmlformats.org/drawingml/2006/main">
            <a:r>
              <a:t>Scientific boundary: More RNA is not the same as more protein, more ATP, or healthier mitochondria. The increase could be compensatory or stress related.</a:t>
            </a:r>
          </a:p>
          <a:p xmlns:a="http://schemas.openxmlformats.org/drawingml/2006/main">
            <a:endParaRPr/>
          </a:p>
          <a:p xmlns:a="http://schemas.openxmlformats.org/drawingml/2006/main">
            <a:r>
              <a:t>Transition: Show the ROSMAP numbers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ROSMAP evidence at both stratum and excitatory-neuron levels.</a:t>
            </a:r>
          </a:p>
          <a:p xmlns:a="http://schemas.openxmlformats.org/drawingml/2006/main">
            <a:endParaRPr/>
          </a:p>
          <a:p xmlns:a="http://schemas.openxmlformats.org/drawingml/2006/main">
            <a:r>
              <a:t>Walk through: Before key-driver testing, each eligible mitochondrial-DEG input query was tested for over-representation of the 13 mtDNA-OXPHOS genes against its exact mitochondrial background, with BH correction across four prespecified programs. Across all eligible female epsilon-3 homozygous calls, all 217 mtDNA-OXPHOS occurrences are AD-up, and 29 input queries are enriched. In excitatory neurons, 14 eligible calls contain 123 occurrences, all up, and 12 of 14 input queries are enriched.</a:t>
            </a:r>
          </a:p>
          <a:p xmlns:a="http://schemas.openxmlformats.org/drawingml/2006/main">
            <a:endParaRPr/>
          </a:p>
          <a:p xmlns:a="http://schemas.openxmlformats.org/drawingml/2006/main">
            <a:r>
              <a:t>Scientific boundary: Enrichment describes the composition of a KDA input query; it is not the significance or number of key drivers returned by call_key_drivers. Occurrences repeat genes across calls and are not unique genes, donors, or independent replications.</a:t>
            </a:r>
          </a:p>
          <a:p xmlns:a="http://schemas.openxmlformats.org/drawingml/2006/main">
            <a:endParaRPr/>
          </a:p>
          <a:p xmlns:a="http://schemas.openxmlformats.org/drawingml/2006/main">
            <a:r>
              <a:t>Transition: Ask whether the same excitatory-neuron program appears in SEA-AD.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the matched SEA-AD program evidence.</a:t>
            </a:r>
          </a:p>
          <a:p xmlns:a="http://schemas.openxmlformats.org/drawingml/2006/main">
            <a:endParaRPr/>
          </a:p>
          <a:p xmlns:a="http://schemas.openxmlformats.org/drawingml/2006/main">
            <a:r>
              <a:t>Walk through: The only evaluable female epsilon-3 homozygous excitatory-neuron call has ten effective query genes. Nine are the same mtDNA-OXPHOS genes found in ROSMAP, and all nine are dementia-up. The overlap is larger than expected under the category-specific background model and remains significant after multiple-testing correction.</a:t>
            </a:r>
          </a:p>
          <a:p xmlns:a="http://schemas.openxmlformats.org/drawingml/2006/main">
            <a:endParaRPr/>
          </a:p>
          <a:p xmlns:a="http://schemas.openxmlformats.org/drawingml/2006/main">
            <a:r>
              <a:t>Scientific boundary: This is one SEA-AD call, not broad replication across excitatory subtypes. It validates the direction of the program, not an exact key driver. Exact driver matching is not required in the analysis framework.</a:t>
            </a:r>
          </a:p>
          <a:p xmlns:a="http://schemas.openxmlformats.org/drawingml/2006/main">
            <a:endParaRPr/>
          </a:p>
          <a:p xmlns:a="http://schemas.openxmlformats.org/drawingml/2006/main">
            <a:r>
              <a:t>Transition: Explain why a repeated mitochondrial program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biological importance without claiming improved function.</a:t>
            </a:r>
          </a:p>
          <a:p xmlns:a="http://schemas.openxmlformats.org/drawingml/2006/main">
            <a:endParaRPr/>
          </a:p>
          <a:p xmlns:a="http://schemas.openxmlformats.org/drawingml/2006/main">
            <a:r>
              <a:t>Walk through: Excitatory neurons have high energy requirements, and mtDNA supplies essential respiratory-complex subunits. A repeated upward transcriptional response may reflect an attempt to compensate for inefficient mitochondria or a mitochondrial stress response.</a:t>
            </a:r>
          </a:p>
          <a:p xmlns:a="http://schemas.openxmlformats.org/drawingml/2006/main">
            <a:endParaRPr/>
          </a:p>
          <a:p xmlns:a="http://schemas.openxmlformats.org/drawingml/2006/main">
            <a:r>
              <a:t>Scientific boundary: RNA direction alone cannot distinguish compensation, injury, altered RNA processing, or surviving-cell composition.</a:t>
            </a:r>
          </a:p>
          <a:p xmlns:a="http://schemas.openxmlformats.org/drawingml/2006/main">
            <a:endParaRPr/>
          </a:p>
          <a:p xmlns:a="http://schemas.openxmlformats.org/drawingml/2006/main">
            <a:r>
              <a:t>Transition: Separate the observation from what still needs to be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a:t>
            </a:r>
          </a:p>
          <a:p xmlns:a="http://schemas.openxmlformats.org/drawingml/2006/main">
            <a:endParaRPr/>
          </a:p>
          <a:p xmlns:a="http://schemas.openxmlformats.org/drawingml/2006/main">
            <a:r>
              <a:t>Walk through: The current result measures RNA. Donor-aware interaction models are needed to test sex and APOE specificity. Protein assembly and respiratory assays are needed to determine whether the transcriptional increase improves or impairs mitochondrial function.</a:t>
            </a:r>
          </a:p>
          <a:p xmlns:a="http://schemas.openxmlformats.org/drawingml/2006/main">
            <a:endParaRPr/>
          </a:p>
          <a:p xmlns:a="http://schemas.openxmlformats.org/drawingml/2006/main">
            <a:r>
              <a:t>Scientific boundary: SEA-AD support is valuable but optional. It cannot substitute for donor-aware statistics or functional experiments.</a:t>
            </a:r>
          </a:p>
          <a:p xmlns:a="http://schemas.openxmlformats.org/drawingml/2006/main">
            <a:endParaRPr/>
          </a:p>
          <a:p xmlns:a="http://schemas.openxmlformats.org/drawingml/2006/main">
            <a:r>
              <a:t>Transition: Place the first finding in prior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the finding to prior literature while preserving novelty boundaries.</a:t>
            </a:r>
          </a:p>
          <a:p xmlns:a="http://schemas.openxmlformats.org/drawingml/2006/main">
            <a:endParaRPr/>
          </a:p>
          <a:p xmlns:a="http://schemas.openxmlformats.org/drawingml/2006/main">
            <a:r>
              <a:t>Walk through: Guo and colleagues support sex-aware Alzheimer’s key-driver analysis. Mathys and colleagues show cell-resolved, multiregion disease responses but use ROSMAP, so that paper is supporting discovery-resource context. Lee and colleagues show an APOE–mitochondria link in human APOE4 astrocytes, a different genotype and cell type.</a:t>
            </a:r>
          </a:p>
          <a:p xmlns:a="http://schemas.openxmlformats.org/drawingml/2006/main">
            <a:endParaRPr/>
          </a:p>
          <a:p xmlns:a="http://schemas.openxmlformats.org/drawingml/2006/main">
            <a:r>
              <a:t>Scientific boundary: None of these studies independently establishes the exact female epsilon-3 homozygous excitatory-neuron mtDNA-up pattern.</a:t>
            </a:r>
          </a:p>
          <a:p xmlns:a="http://schemas.openxmlformats.org/drawingml/2006/main">
            <a:endParaRPr/>
          </a:p>
          <a:p xmlns:a="http://schemas.openxmlformats.org/drawingml/2006/main">
            <a:r>
              <a:t>Transition: Proceed to Finding 2, the male ε3/ε3 mitonuclear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second biological finding.</a:t>
            </a:r>
          </a:p>
          <a:p xmlns:a="http://schemas.openxmlformats.org/drawingml/2006/main">
            <a:endParaRPr/>
          </a:p>
          <a:p xmlns:a="http://schemas.openxmlformats.org/drawingml/2006/main">
            <a:r>
              <a:t>Walk through: Male APOE epsilon-3 homozygous cells show opposite RNA directions across the two genomes that encode oxidative-phosphorylation machinery. The matched inhibitory-neuron program also appears in SEA-AD.</a:t>
            </a:r>
          </a:p>
          <a:p xmlns:a="http://schemas.openxmlformats.org/drawingml/2006/main">
            <a:endParaRPr/>
          </a:p>
          <a:p xmlns:a="http://schemas.openxmlformats.org/drawingml/2006/main">
            <a:r>
              <a:t>Scientific boundary: This is a transcript-level mitochondrial program. It does not identify a causal upstream driver, prove protein imbalance, or establish a male-by-APOE interaction.</a:t>
            </a:r>
          </a:p>
          <a:p xmlns:a="http://schemas.openxmlformats.org/drawingml/2006/main">
            <a:endParaRPr/>
          </a:p>
          <a:p xmlns:a="http://schemas.openxmlformats.org/drawingml/2006/main">
            <a:r>
              <a:t>Transition: State the second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mitonuclear mismatch without statistical jargon.</a:t>
            </a:r>
          </a:p>
          <a:p xmlns:a="http://schemas.openxmlformats.org/drawingml/2006/main">
            <a:endParaRPr/>
          </a:p>
          <a:p xmlns:a="http://schemas.openxmlformats.org/drawingml/2006/main">
            <a:r>
              <a:t>Walk through: In male APOE epsilon-3 homozygous cells, mitochondrial-DNA OXPHOS RNA usually rises in Alzheimer’s disease while nuclear-encoded OXPHOS RNA usually falls. Inhibitory neurons provide the clearest cross-cohort support.</a:t>
            </a:r>
          </a:p>
          <a:p xmlns:a="http://schemas.openxmlformats.org/drawingml/2006/main">
            <a:endParaRPr/>
          </a:p>
          <a:p xmlns:a="http://schemas.openxmlformats.org/drawingml/2006/main">
            <a:r>
              <a:t>Scientific boundary: Opposite RNA directions do not demonstrate mismatched proteins, reduced respiration, or unhealthy mitochondria.</a:t>
            </a:r>
          </a:p>
          <a:p xmlns:a="http://schemas.openxmlformats.org/drawingml/2006/main">
            <a:endParaRPr/>
          </a:p>
          <a:p xmlns:a="http://schemas.openxmlformats.org/drawingml/2006/main">
            <a:r>
              <a:t>Transition: Show the ROSMAP numbers behind the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ROSMAP evidence for both genomes.</a:t>
            </a:r>
          </a:p>
          <a:p xmlns:a="http://schemas.openxmlformats.org/drawingml/2006/main">
            <a:endParaRPr/>
          </a:p>
          <a:p xmlns:a="http://schemas.openxmlformats.org/drawingml/2006/main">
            <a:r>
              <a:t>Walk through: Across 31 eligible male epsilon-3 homozygous calls, mtDNA OXPHOS contributes 81 occurrences: 70 up and 11 down. Nuclear OXPHOS contributes 68 occurrences: 8 up and 60 down. Twelve mtDNA input queries and one nuclear input query are enriched.</a:t>
            </a:r>
          </a:p>
          <a:p xmlns:a="http://schemas.openxmlformats.org/drawingml/2006/main">
            <a:endParaRPr/>
          </a:p>
          <a:p xmlns:a="http://schemas.openxmlformats.org/drawingml/2006/main">
            <a:r>
              <a:t>Scientific boundary: Occurrences repeat genes across calls and are not independent donors or replications. Enrichment describes the input query rather than returned key drivers.</a:t>
            </a:r>
          </a:p>
          <a:p xmlns:a="http://schemas.openxmlformats.org/drawingml/2006/main">
            <a:endParaRPr/>
          </a:p>
          <a:p xmlns:a="http://schemas.openxmlformats.org/drawingml/2006/main">
            <a:r>
              <a:t>Transition: Ask whether the matched inhibitory-neuron program appears in SEA-AD.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matched SEA-AD inhibitory-neuron evidence.</a:t>
            </a:r>
          </a:p>
          <a:p xmlns:a="http://schemas.openxmlformats.org/drawingml/2006/main">
            <a:endParaRPr/>
          </a:p>
          <a:p xmlns:a="http://schemas.openxmlformats.org/drawingml/2006/main">
            <a:r>
              <a:t>Walk through: Across 8 evaluable SEA-AD calls, the cohorts share 22 mitochondrial-query genes. Nineteen have the same fixed AD direction and three differ. The overlap is larger than expected and remains significant after multiple-testing correction.</a:t>
            </a:r>
          </a:p>
          <a:p xmlns:a="http://schemas.openxmlformats.org/drawingml/2006/main">
            <a:endParaRPr/>
          </a:p>
          <a:p xmlns:a="http://schemas.openxmlformats.org/drawingml/2006/main">
            <a:r>
              <a:t>Scientific boundary: The result supports a DEG program, not the exact ROSMAP key-driver genes. It remains a narrow comparison concentrated in male epsilon-3 homozygous inhibitory neurons.</a:t>
            </a:r>
          </a:p>
          <a:p xmlns:a="http://schemas.openxmlformats.org/drawingml/2006/main">
            <a:endParaRPr/>
          </a:p>
          <a:p xmlns:a="http://schemas.openxmlformats.org/drawingml/2006/main">
            <a:r>
              <a:t>Transition: Show which genes carry the cross-cohort directional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Name the genes underlying the cross-cohort directional agreement.</a:t>
            </a:r>
          </a:p>
          <a:p xmlns:a="http://schemas.openxmlformats.org/drawingml/2006/main">
            <a:endParaRPr/>
          </a:p>
          <a:p xmlns:a="http://schemas.openxmlformats.org/drawingml/2006/main">
            <a:r>
              <a:t>Walk through: Nine mtDNA OXPHOS genes rise in both cohorts. Eight highlighted nuclear or mitochondrial-support genes fall in both cohorts: UQCRFS1, SLC25A5, TIMM13, TIMM17A, MRPL16, MRPS34, ENDOG, and MTCH1. DBP and PRELID2 complete the nineteen concordant genes.</a:t>
            </a:r>
          </a:p>
          <a:p xmlns:a="http://schemas.openxmlformats.org/drawingml/2006/main">
            <a:endParaRPr/>
          </a:p>
          <a:p xmlns:a="http://schemas.openxmlformats.org/drawingml/2006/main">
            <a:r>
              <a:t>Scientific boundary: HIBCH, ISCU, and TMEM126B point in opposite directions across cohorts. Gene agreement still does not demonstrate protein-complex imbalance.</a:t>
            </a:r>
          </a:p>
          <a:p xmlns:a="http://schemas.openxmlformats.org/drawingml/2006/main">
            <a:endParaRPr/>
          </a:p>
          <a:p xmlns:a="http://schemas.openxmlformats.org/drawingml/2006/main">
            <a:r>
              <a:t>Transition: Explain why opposite directions across two genomes may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biological importance without claiming impaired function.</a:t>
            </a:r>
          </a:p>
          <a:p xmlns:a="http://schemas.openxmlformats.org/drawingml/2006/main">
            <a:endParaRPr/>
          </a:p>
          <a:p xmlns:a="http://schemas.openxmlformats.org/drawingml/2006/main">
            <a:r>
              <a:t>Walk through: Respiratory complexes require matching parts encoded by two genomes. The cross-cohort decrease in import, mitochondrial-ribosome, transport, and maintenance genes makes the pattern broader than a single OXPHOS gene change.</a:t>
            </a:r>
          </a:p>
          <a:p xmlns:a="http://schemas.openxmlformats.org/drawingml/2006/main">
            <a:endParaRPr/>
          </a:p>
          <a:p xmlns:a="http://schemas.openxmlformats.org/drawingml/2006/main">
            <a:r>
              <a:t>Scientific boundary: RNA abundance cannot distinguish compensation, failed assembly, cell-state changes, or altered survival of cell populations.</a:t>
            </a:r>
          </a:p>
          <a:p xmlns:a="http://schemas.openxmlformats.org/drawingml/2006/main">
            <a:endParaRPr/>
          </a:p>
          <a:p xmlns:a="http://schemas.openxmlformats.org/drawingml/2006/main">
            <a:r>
              <a:t>Transition: Separate the observation from what still needs to be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a:t>
            </a:r>
          </a:p>
          <a:p xmlns:a="http://schemas.openxmlformats.org/drawingml/2006/main">
            <a:endParaRPr/>
          </a:p>
          <a:p xmlns:a="http://schemas.openxmlformats.org/drawingml/2006/main">
            <a:r>
              <a:t>Walk through: Donor-aware interaction models are needed to test whether the mismatch differs by sex or APOE group. Paired protein, complex-assembly, respiration, ATP, and oxidative-stress assays are needed to determine functional consequences.</a:t>
            </a:r>
          </a:p>
          <a:p xmlns:a="http://schemas.openxmlformats.org/drawingml/2006/main">
            <a:endParaRPr/>
          </a:p>
          <a:p xmlns:a="http://schemas.openxmlformats.org/drawingml/2006/main">
            <a:r>
              <a:t>Scientific boundary: SEA-AD supplies program-level support but not exact driver replication or causal evidence.</a:t>
            </a:r>
          </a:p>
          <a:p xmlns:a="http://schemas.openxmlformats.org/drawingml/2006/main">
            <a:endParaRPr/>
          </a:p>
          <a:p xmlns:a="http://schemas.openxmlformats.org/drawingml/2006/main">
            <a:r>
              <a:t>Transition: Place the second finding in prior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the finding to prior research while preserving novelty boundaries.</a:t>
            </a:r>
          </a:p>
          <a:p xmlns:a="http://schemas.openxmlformats.org/drawingml/2006/main">
            <a:endParaRPr/>
          </a:p>
          <a:p xmlns:a="http://schemas.openxmlformats.org/drawingml/2006/main">
            <a:r>
              <a:t>Walk through: Established mitonuclear biology explains why opposite directions across the two genomes could matter. Guo and colleagues support sex-aware Alzheimer’s network analysis. Mathys and colleagues support cell-resolved disease heterogeneity but use ROSMAP.</a:t>
            </a:r>
          </a:p>
          <a:p xmlns:a="http://schemas.openxmlformats.org/drawingml/2006/main">
            <a:endParaRPr/>
          </a:p>
          <a:p xmlns:a="http://schemas.openxmlformats.org/drawingml/2006/main">
            <a:r>
              <a:t>Scientific boundary: None of these sources independently establishes the exact male epsilon-3 homozygous inhibitory-neuron pattern. No sex-stratified human-genetic claim is used here.</a:t>
            </a:r>
          </a:p>
          <a:p xmlns:a="http://schemas.openxmlformats.org/drawingml/2006/main">
            <a:endParaRPr/>
          </a:p>
          <a:p xmlns:a="http://schemas.openxmlformats.org/drawingml/2006/main">
            <a:r>
              <a:t>Transition: Proceed to Finding 3, the coordinated female ε2 OXPHOS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3.</a:t>
            </a:r>
          </a:p>
          <a:p xmlns:a="http://schemas.openxmlformats.org/drawingml/2006/main">
            <a:endParaRPr/>
          </a:p>
          <a:p xmlns:a="http://schemas.openxmlformats.org/drawingml/2006/main">
            <a:r>
              <a:t>Walk through: Both mitochondrial and nuclear OXPHOS RNA mostly increased in female ε2 cells.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3 without assuming specialist knowledge.</a:t>
            </a:r>
          </a:p>
          <a:p xmlns:a="http://schemas.openxmlformats.org/drawingml/2006/main">
            <a:endParaRPr/>
          </a:p>
          <a:p xmlns:a="http://schemas.openxmlformats.org/drawingml/2006/main">
            <a:r>
              <a:t>Walk through: The two genomes move in the same direction at the RNA level, especially in fine excitatory-neuron results. This is a coordinated transcriptional response, not evidence that mitochondria produce more energy.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3.</a:t>
            </a:r>
          </a:p>
          <a:p xmlns:a="http://schemas.openxmlformats.org/drawingml/2006/main">
            <a:endParaRPr/>
          </a:p>
          <a:p xmlns:a="http://schemas.openxmlformats.org/drawingml/2006/main">
            <a:r>
              <a:t>Walk through: The three summary metrics and three evidence rows preserve the units used in the analysis. Occurrences repeat a gene when it appears in another eligible fine-cell query.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3 in its internal and supplemental evidence context.</a:t>
            </a:r>
          </a:p>
          <a:p xmlns:a="http://schemas.openxmlformats.org/drawingml/2006/main">
            <a:endParaRPr/>
          </a:p>
          <a:p xmlns:a="http://schemas.openxmlformats.org/drawingml/2006/main">
            <a:r>
              <a:t>Walk through: The project treats fine-cell results as primary and direct broad-cell results as sensitivity evidence. The coordinated two-genome claim rests mainly on fine-cell ROSMAP evidence.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3 may matter without overstating function.</a:t>
            </a:r>
          </a:p>
          <a:p xmlns:a="http://schemas.openxmlformats.org/drawingml/2006/main">
            <a:endParaRPr/>
          </a:p>
          <a:p xmlns:a="http://schemas.openxmlformats.org/drawingml/2006/main">
            <a:r>
              <a:t>Walk through: APOE ε2 lowers population risk, but a molecular pattern in diseased tissue can still reflect compensation or stress. The result motivates a protective-response hypothesis but does not demonstrate a protective mechanism.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3.</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3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4.</a:t>
            </a:r>
          </a:p>
          <a:p xmlns:a="http://schemas.openxmlformats.org/drawingml/2006/main">
            <a:endParaRPr/>
          </a:p>
          <a:p xmlns:a="http://schemas.openxmlformats.org/drawingml/2006/main">
            <a:r>
              <a:t>Walk through: The strongest signal is a fine-cell decrease in nuclear-encoded OXPHOS RNA.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4 without assuming specialist knowledge.</a:t>
            </a:r>
          </a:p>
          <a:p xmlns:a="http://schemas.openxmlformats.org/drawingml/2006/main">
            <a:endParaRPr/>
          </a:p>
          <a:p xmlns:a="http://schemas.openxmlformats.org/drawingml/2006/main">
            <a:r>
              <a:t>Walk through: The nuclear side is strongly downward, while mitochondrial-DNA OXPHOS genes show mixed directions. The finding is specific to fine-cell and KDA-aligned evidence because direct broad-cell results disagree.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4.</a:t>
            </a:r>
          </a:p>
          <a:p xmlns:a="http://schemas.openxmlformats.org/drawingml/2006/main">
            <a:endParaRPr/>
          </a:p>
          <a:p xmlns:a="http://schemas.openxmlformats.org/drawingml/2006/main">
            <a:r>
              <a:t>Walk through: The three summary metrics and three evidence rows preserve the units used in the analysis. The mtDNA component is smaller and more mixed than the nuclear component.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4 in its internal and supplemental evidence context.</a:t>
            </a:r>
          </a:p>
          <a:p xmlns:a="http://schemas.openxmlformats.org/drawingml/2006/main">
            <a:endParaRPr/>
          </a:p>
          <a:p xmlns:a="http://schemas.openxmlformats.org/drawingml/2006/main">
            <a:r>
              <a:t>Walk through: This disagreement lowers confidence that the signal generalizes across resolutions. Describe this as a fine-cell female ε4 signal, not a broad-cell-wide effect.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4 may matter without overstating function.</a:t>
            </a:r>
          </a:p>
          <a:p xmlns:a="http://schemas.openxmlformats.org/drawingml/2006/main">
            <a:endParaRPr/>
          </a:p>
          <a:p xmlns:a="http://schemas.openxmlformats.org/drawingml/2006/main">
            <a:r>
              <a:t>Walk through: A nuclear-sided reduction could reflect lower respiratory investment, stress, or a shift in cell state. The fine-cell signal warrants follow-up, but the broad-cell disagreement must stay visible.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4.</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4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5.</a:t>
            </a:r>
          </a:p>
          <a:p xmlns:a="http://schemas.openxmlformats.org/drawingml/2006/main">
            <a:endParaRPr/>
          </a:p>
          <a:p xmlns:a="http://schemas.openxmlformats.org/drawingml/2006/main">
            <a:r>
              <a:t>Walk through: Both mtDNA and nuclear OXPHOS RNA are broadly lower, but query size strongly affects KDA yield.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5 without assuming specialist knowledge.</a:t>
            </a:r>
          </a:p>
          <a:p xmlns:a="http://schemas.openxmlformats.org/drawingml/2006/main">
            <a:endParaRPr/>
          </a:p>
          <a:p xmlns:a="http://schemas.openxmlformats.org/drawingml/2006/main">
            <a:r>
              <a:t>Walk through: This is the strongest coordinated downward OXPHOS pattern in ROSMAP. An ε2 allele can be protective at the population level while diseased tissue still shows an unfavorable-looking RNA pattern.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5.</a:t>
            </a:r>
          </a:p>
          <a:p xmlns:a="http://schemas.openxmlformats.org/drawingml/2006/main">
            <a:endParaRPr/>
          </a:p>
          <a:p xmlns:a="http://schemas.openxmlformats.org/drawingml/2006/main">
            <a:r>
              <a:t>Walk through: The three summary metrics and three evidence rows preserve the units used in the analysis. Fine-cell pathway results and direct broad-cell sensitivity point mainly downward.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5 in its internal and supplemental evidence context.</a:t>
            </a:r>
          </a:p>
          <a:p xmlns:a="http://schemas.openxmlformats.org/drawingml/2006/main">
            <a:endParaRPr/>
          </a:p>
          <a:p xmlns:a="http://schemas.openxmlformats.org/drawingml/2006/main">
            <a:r>
              <a:t>Walk through: Query size can increase the number of network neighborhoods reached and drivers returned. Large queries confound KDA driver counts, although they do not automatically erase the DEG direction pattern.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5 may matter without overstating function.</a:t>
            </a:r>
          </a:p>
          <a:p xmlns:a="http://schemas.openxmlformats.org/drawingml/2006/main">
            <a:endParaRPr/>
          </a:p>
          <a:p xmlns:a="http://schemas.openxmlformats.org/drawingml/2006/main">
            <a:r>
              <a:t>Walk through: The downward program could reflect respiratory reduction, altered cell state, or selective survival. The DEG direction is interesting, while the unusually high KDA yield needs query-size matching.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5.</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5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6.</a:t>
            </a:r>
          </a:p>
          <a:p xmlns:a="http://schemas.openxmlformats.org/drawingml/2006/main">
            <a:endParaRPr/>
          </a:p>
          <a:p xmlns:a="http://schemas.openxmlformats.org/drawingml/2006/main">
            <a:r>
              <a:t>Walk through: mtDNA OXPHOS is mostly up and nuclear OXPHOS is modestly down, with mixed cross-cohort sensitivity.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6 without assuming specialist knowledge.</a:t>
            </a:r>
          </a:p>
          <a:p xmlns:a="http://schemas.openxmlformats.org/drawingml/2006/main">
            <a:endParaRPr/>
          </a:p>
          <a:p xmlns:a="http://schemas.openxmlformats.org/drawingml/2006/main">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6.</a:t>
            </a:r>
          </a:p>
          <a:p xmlns:a="http://schemas.openxmlformats.org/drawingml/2006/main">
            <a:endParaRPr/>
          </a:p>
          <a:p xmlns:a="http://schemas.openxmlformats.org/drawingml/2006/main">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6 in its internal and supplemental evidence context.</a:t>
            </a:r>
          </a:p>
          <a:p xmlns:a="http://schemas.openxmlformats.org/drawingml/2006/main">
            <a:endParaRPr/>
          </a:p>
          <a:p xmlns:a="http://schemas.openxmlformats.org/drawingml/2006/main">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6 may matter without overstating function.</a:t>
            </a:r>
          </a:p>
          <a:p xmlns:a="http://schemas.openxmlformats.org/drawingml/2006/main">
            <a:endParaRPr/>
          </a:p>
          <a:p xmlns:a="http://schemas.openxmlformats.org/drawingml/2006/main">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6.</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6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7.</a:t>
            </a:r>
          </a:p>
          <a:p xmlns:a="http://schemas.openxmlformats.org/drawingml/2006/main">
            <a:endParaRPr/>
          </a:p>
          <a:p xmlns:a="http://schemas.openxmlformats.org/drawingml/2006/main">
            <a:r>
              <a:t>Walk through: RPL11, RPS15, and related cytosolic ribosome genes recur near nuclear OXPHOS query genes.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7 without assuming specialist knowledge.</a:t>
            </a:r>
          </a:p>
          <a:p xmlns:a="http://schemas.openxmlformats.org/drawingml/2006/main">
            <a:endParaRPr/>
          </a:p>
          <a:p xmlns:a="http://schemas.openxmlformats.org/drawingml/2006/main">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7.</a:t>
            </a:r>
          </a:p>
          <a:p xmlns:a="http://schemas.openxmlformats.org/drawingml/2006/main">
            <a:endParaRPr/>
          </a:p>
          <a:p xmlns:a="http://schemas.openxmlformats.org/drawingml/2006/main">
            <a:r>
              <a:t>Walk through: The three summary metrics and three evidence rows preserve the units used in the analysis. The enrichment test compares 228 unique non-mitochondrial drivers with the exact network background.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7 in its internal and supplemental evidence context.</a:t>
            </a:r>
          </a:p>
          <a:p xmlns:a="http://schemas.openxmlformats.org/drawingml/2006/main">
            <a:endParaRPr/>
          </a:p>
          <a:p xmlns:a="http://schemas.openxmlformats.org/drawingml/2006/main">
            <a:r>
              <a:t>Walk through: RPL11 has a broad nuclear-OXPHOS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7 may matter without overstating function.</a:t>
            </a:r>
          </a:p>
          <a:p xmlns:a="http://schemas.openxmlformats.org/drawingml/2006/main">
            <a:endParaRPr/>
          </a:p>
          <a:p xmlns:a="http://schemas.openxmlformats.org/drawingml/2006/main">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7.</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7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8.</a:t>
            </a:r>
          </a:p>
          <a:p xmlns:a="http://schemas.openxmlformats.org/drawingml/2006/main">
            <a:endParaRPr/>
          </a:p>
          <a:p xmlns:a="http://schemas.openxmlformats.org/drawingml/2006/main">
            <a:r>
              <a:t>Walk through: LAMTOR5 repeatedly links lysosomal nutrient sensing with mostly decreased nuclear OXPHOS genes.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8 without assuming specialist knowledge.</a:t>
            </a:r>
          </a:p>
          <a:p xmlns:a="http://schemas.openxmlformats.org/drawingml/2006/main">
            <a:endParaRPr/>
          </a:p>
          <a:p xmlns:a="http://schemas.openxmlformats.org/drawingml/2006/main">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8.</a:t>
            </a:r>
          </a:p>
          <a:p xmlns:a="http://schemas.openxmlformats.org/drawingml/2006/main">
            <a:endParaRPr/>
          </a:p>
          <a:p xmlns:a="http://schemas.openxmlformats.org/drawingml/2006/main">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8 in its internal and supplemental evidence context.</a:t>
            </a:r>
          </a:p>
          <a:p xmlns:a="http://schemas.openxmlformats.org/drawingml/2006/main">
            <a:endParaRPr/>
          </a:p>
          <a:p xmlns:a="http://schemas.openxmlformats.org/drawingml/2006/main">
            <a:r>
              <a:t>Walk through: The broader module reduces reliance on a single LAMTOR5 result. SEA-AD had no active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8 may matter without overstating function.</a:t>
            </a:r>
          </a:p>
          <a:p xmlns:a="http://schemas.openxmlformats.org/drawingml/2006/main">
            <a:endParaRPr/>
          </a:p>
          <a:p xmlns:a="http://schemas.openxmlformats.org/drawingml/2006/main">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8.</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8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9.</a:t>
            </a:r>
          </a:p>
          <a:p xmlns:a="http://schemas.openxmlformats.org/drawingml/2006/main">
            <a:endParaRPr/>
          </a:p>
          <a:p xmlns:a="http://schemas.openxmlformats.org/drawingml/2006/main">
            <a:r>
              <a:t>Walk through: WDR82 appears only in excitatory neurons and sits near a four-gene mtDNA-up neighborhood.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9 without assuming specialist knowledge.</a:t>
            </a:r>
          </a:p>
          <a:p xmlns:a="http://schemas.openxmlformats.org/drawingml/2006/main">
            <a:endParaRPr/>
          </a:p>
          <a:p xmlns:a="http://schemas.openxmlformats.org/drawingml/2006/main">
            <a:r>
              <a:t>Walk through: The exact neighborhood is narrow, and four recurring mitochondrial genes begin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9.</a:t>
            </a:r>
          </a:p>
          <a:p xmlns:a="http://schemas.openxmlformats.org/drawingml/2006/main">
            <a:endParaRPr/>
          </a:p>
          <a:p xmlns:a="http://schemas.openxmlformats.org/drawingml/2006/main">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9 in its internal and supplemental evidence context.</a:t>
            </a:r>
          </a:p>
          <a:p xmlns:a="http://schemas.openxmlformats.org/drawingml/2006/main">
            <a:endParaRPr/>
          </a:p>
          <a:p xmlns:a="http://schemas.openxmlformats.org/drawingml/2006/main">
            <a:r>
              <a:t>Walk through: The candidate appears in four strata but most supporting calls come from one group. SEA-AD could return WDR82 in 11 matching excitatory backgrounds but did not, although it supports the female ε3/ε3 mtDNA program.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9 may matter without overstating function.</a:t>
            </a:r>
          </a:p>
          <a:p xmlns:a="http://schemas.openxmlformats.org/drawingml/2006/main">
            <a:endParaRPr/>
          </a:p>
          <a:p xmlns:a="http://schemas.openxmlformats.org/drawingml/2006/main">
            <a:r>
              <a:t>Walk through: The signal could reflect transcriptional coupling, global mitochondrial RNA, or network construction. Removing mtDNA query genes is an important sensitivity test before mechanistic interpretation.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9.</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9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10.</a:t>
            </a:r>
          </a:p>
          <a:p xmlns:a="http://schemas.openxmlformats.org/drawingml/2006/main">
            <a:endParaRPr/>
          </a:p>
          <a:p xmlns:a="http://schemas.openxmlformats.org/drawingml/2006/main">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10 without assuming specialist knowledge.</a:t>
            </a:r>
          </a:p>
          <a:p xmlns:a="http://schemas.openxmlformats.org/drawingml/2006/main">
            <a:endParaRPr/>
          </a:p>
          <a:p xmlns:a="http://schemas.openxmlformats.org/drawingml/2006/main">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10.</a:t>
            </a:r>
          </a:p>
          <a:p xmlns:a="http://schemas.openxmlformats.org/drawingml/2006/main">
            <a:endParaRPr/>
          </a:p>
          <a:p xmlns:a="http://schemas.openxmlformats.org/drawingml/2006/main">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10 in its internal and supplemental evidence context.</a:t>
            </a:r>
          </a:p>
          <a:p xmlns:a="http://schemas.openxmlformats.org/drawingml/2006/main">
            <a:endParaRPr/>
          </a:p>
          <a:p xmlns:a="http://schemas.openxmlformats.org/drawingml/2006/main">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10 may matter without overstating function.</a:t>
            </a:r>
          </a:p>
          <a:p xmlns:a="http://schemas.openxmlformats.org/drawingml/2006/main">
            <a:endParaRPr/>
          </a:p>
          <a:p xmlns:a="http://schemas.openxmlformats.org/drawingml/2006/main">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10.</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10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11.</a:t>
            </a:r>
          </a:p>
          <a:p xmlns:a="http://schemas.openxmlformats.org/drawingml/2006/main">
            <a:endParaRPr/>
          </a:p>
          <a:p xmlns:a="http://schemas.openxmlformats.org/drawingml/2006/main">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11 without assuming specialist knowledge.</a:t>
            </a:r>
          </a:p>
          <a:p xmlns:a="http://schemas.openxmlformats.org/drawingml/2006/main">
            <a:endParaRPr/>
          </a:p>
          <a:p xmlns:a="http://schemas.openxmlformats.org/drawingml/2006/main">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11.</a:t>
            </a:r>
          </a:p>
          <a:p xmlns:a="http://schemas.openxmlformats.org/drawingml/2006/main">
            <a:endParaRPr/>
          </a:p>
          <a:p xmlns:a="http://schemas.openxmlformats.org/drawingml/2006/main">
            <a:r>
              <a:t>Walk through: The three summary metrics and three evidence rows preserve the units used in the analysis. The supporting calls cover excitatory and inhibitory neurons in four sex/APOE strata.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11 in its internal and supplemental evidence context.</a:t>
            </a:r>
          </a:p>
          <a:p xmlns:a="http://schemas.openxmlformats.org/drawingml/2006/main">
            <a:endParaRPr/>
          </a:p>
          <a:p xmlns:a="http://schemas.openxmlformats.org/drawingml/2006/main">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11 may matter without overstating function.</a:t>
            </a:r>
          </a:p>
          <a:p xmlns:a="http://schemas.openxmlformats.org/drawingml/2006/main">
            <a:endParaRPr/>
          </a:p>
          <a:p xmlns:a="http://schemas.openxmlformats.org/drawingml/2006/main">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11.</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11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12.</a:t>
            </a:r>
          </a:p>
          <a:p xmlns:a="http://schemas.openxmlformats.org/drawingml/2006/main">
            <a:endParaRPr/>
          </a:p>
          <a:p xmlns:a="http://schemas.openxmlformats.org/drawingml/2006/main">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12 without assuming specialist knowledge.</a:t>
            </a:r>
          </a:p>
          <a:p xmlns:a="http://schemas.openxmlformats.org/drawingml/2006/main">
            <a:endParaRPr/>
          </a:p>
          <a:p xmlns:a="http://schemas.openxmlformats.org/drawingml/2006/main">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12.</a:t>
            </a:r>
          </a:p>
          <a:p xmlns:a="http://schemas.openxmlformats.org/drawingml/2006/main">
            <a:endParaRPr/>
          </a:p>
          <a:p xmlns:a="http://schemas.openxmlformats.org/drawingml/2006/main">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12 in its internal and supplemental evidence context.</a:t>
            </a:r>
          </a:p>
          <a:p xmlns:a="http://schemas.openxmlformats.org/drawingml/2006/main">
            <a:endParaRPr/>
          </a:p>
          <a:p xmlns:a="http://schemas.openxmlformats.org/drawingml/2006/main">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12 may matter without overstating function.</a:t>
            </a:r>
          </a:p>
          <a:p xmlns:a="http://schemas.openxmlformats.org/drawingml/2006/main">
            <a:endParaRPr/>
          </a:p>
          <a:p xmlns:a="http://schemas.openxmlformats.org/drawingml/2006/main">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12.</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12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13.</a:t>
            </a:r>
          </a:p>
          <a:p xmlns:a="http://schemas.openxmlformats.org/drawingml/2006/main">
            <a:endParaRPr/>
          </a:p>
          <a:p xmlns:a="http://schemas.openxmlformats.org/drawingml/2006/main">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13 without assuming specialist knowledge.</a:t>
            </a:r>
          </a:p>
          <a:p xmlns:a="http://schemas.openxmlformats.org/drawingml/2006/main">
            <a:endParaRPr/>
          </a:p>
          <a:p xmlns:a="http://schemas.openxmlformats.org/drawingml/2006/main">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13.</a:t>
            </a:r>
          </a:p>
          <a:p xmlns:a="http://schemas.openxmlformats.org/drawingml/2006/main">
            <a:endParaRPr/>
          </a:p>
          <a:p xmlns:a="http://schemas.openxmlformats.org/drawingml/2006/main">
            <a:r>
              <a:t>Walk through: The three summary metrics and three evidence rows preserve the units used in the analysis. ROSMAP contains one OPC fine type, so the two group-specific calls do not provide broad subtype replication.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13 in its internal and supplemental evidence context.</a:t>
            </a:r>
          </a:p>
          <a:p xmlns:a="http://schemas.openxmlformats.org/drawingml/2006/main">
            <a:endParaRPr/>
          </a:p>
          <a:p xmlns:a="http://schemas.openxmlformats.org/drawingml/2006/main">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13 may matter without overstating function.</a:t>
            </a:r>
          </a:p>
          <a:p xmlns:a="http://schemas.openxmlformats.org/drawingml/2006/main">
            <a:endParaRPr/>
          </a:p>
          <a:p xmlns:a="http://schemas.openxmlformats.org/drawingml/2006/main">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13.</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13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14.</a:t>
            </a:r>
          </a:p>
          <a:p xmlns:a="http://schemas.openxmlformats.org/drawingml/2006/main">
            <a:endParaRPr/>
          </a:p>
          <a:p xmlns:a="http://schemas.openxmlformats.org/drawingml/2006/main">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14 without assuming specialist knowledge.</a:t>
            </a:r>
          </a:p>
          <a:p xmlns:a="http://schemas.openxmlformats.org/drawingml/2006/main">
            <a:endParaRPr/>
          </a:p>
          <a:p xmlns:a="http://schemas.openxmlformats.org/drawingml/2006/main">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14.</a:t>
            </a:r>
          </a:p>
          <a:p xmlns:a="http://schemas.openxmlformats.org/drawingml/2006/main">
            <a:endParaRPr/>
          </a:p>
          <a:p xmlns:a="http://schemas.openxmlformats.org/drawingml/2006/main">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14 in its internal and supplemental evidence context.</a:t>
            </a:r>
          </a:p>
          <a:p xmlns:a="http://schemas.openxmlformats.org/drawingml/2006/main">
            <a:endParaRPr/>
          </a:p>
          <a:p xmlns:a="http://schemas.openxmlformats.org/drawingml/2006/main">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14 may matter without overstating function.</a:t>
            </a:r>
          </a:p>
          <a:p xmlns:a="http://schemas.openxmlformats.org/drawingml/2006/main">
            <a:endParaRPr/>
          </a:p>
          <a:p xmlns:a="http://schemas.openxmlformats.org/drawingml/2006/main">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14.</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14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15.</a:t>
            </a:r>
          </a:p>
          <a:p xmlns:a="http://schemas.openxmlformats.org/drawingml/2006/main">
            <a:endParaRPr/>
          </a:p>
          <a:p xmlns:a="http://schemas.openxmlformats.org/drawingml/2006/main">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15 without assuming specialist knowledge.</a:t>
            </a:r>
          </a:p>
          <a:p xmlns:a="http://schemas.openxmlformats.org/drawingml/2006/main">
            <a:endParaRPr/>
          </a:p>
          <a:p xmlns:a="http://schemas.openxmlformats.org/drawingml/2006/main">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15.</a:t>
            </a:r>
          </a:p>
          <a:p xmlns:a="http://schemas.openxmlformats.org/drawingml/2006/main">
            <a:endParaRPr/>
          </a:p>
          <a:p xmlns:a="http://schemas.openxmlformats.org/drawingml/2006/main">
            <a:r>
              <a:t>Walk through: The three summary metrics and three evidence rows preserve the units used in the analysis. Each context contributes one call, so the evidence is too sparse to define one shared module.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15 in its internal and supplemental evidence context.</a:t>
            </a:r>
          </a:p>
          <a:p xmlns:a="http://schemas.openxmlformats.org/drawingml/2006/main">
            <a:endParaRPr/>
          </a:p>
          <a:p xmlns:a="http://schemas.openxmlformats.org/drawingml/2006/main">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15 may matter without overstating function.</a:t>
            </a:r>
          </a:p>
          <a:p xmlns:a="http://schemas.openxmlformats.org/drawingml/2006/main">
            <a:endParaRPr/>
          </a:p>
          <a:p xmlns:a="http://schemas.openxmlformats.org/drawingml/2006/main">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15.</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15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16.</a:t>
            </a:r>
          </a:p>
          <a:p xmlns:a="http://schemas.openxmlformats.org/drawingml/2006/main">
            <a:endParaRPr/>
          </a:p>
          <a:p xmlns:a="http://schemas.openxmlformats.org/drawingml/2006/main">
            <a:r>
              <a:t>Walk through: Three stress-response drivers define a small female ε4 vascular module across only two eligible calls.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16 without assuming specialist knowledge.</a:t>
            </a:r>
          </a:p>
          <a:p xmlns:a="http://schemas.openxmlformats.org/drawingml/2006/main">
            <a:endParaRPr/>
          </a:p>
          <a:p xmlns:a="http://schemas.openxmlformats.org/drawingml/2006/main">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16.</a:t>
            </a:r>
          </a:p>
          <a:p xmlns:a="http://schemas.openxmlformats.org/drawingml/2006/main">
            <a:endParaRPr/>
          </a:p>
          <a:p xmlns:a="http://schemas.openxmlformats.org/drawingml/2006/main">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16 in its internal and supplemental evidence context.</a:t>
            </a:r>
          </a:p>
          <a:p xmlns:a="http://schemas.openxmlformats.org/drawingml/2006/main">
            <a:endParaRPr/>
          </a:p>
          <a:p xmlns:a="http://schemas.openxmlformats.org/drawingml/2006/main">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16 may matter without overstating function.</a:t>
            </a:r>
          </a:p>
          <a:p xmlns:a="http://schemas.openxmlformats.org/drawingml/2006/main">
            <a:endParaRPr/>
          </a:p>
          <a:p xmlns:a="http://schemas.openxmlformats.org/drawingml/2006/main">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16.</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16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17.</a:t>
            </a:r>
          </a:p>
          <a:p xmlns:a="http://schemas.openxmlformats.org/drawingml/2006/main">
            <a:endParaRPr/>
          </a:p>
          <a:p xmlns:a="http://schemas.openxmlformats.org/drawingml/2006/main">
            <a:r>
              <a:t>Walk through: Programs agree more strongly than exact driver identities across the two cohort-specific network analyses. Source: docs/analysis/kda_w_human_validation/rosmap_sex_apoe_broad_kda_analysis.md, Finding 17.</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17 without assuming specialist knowledge.</a:t>
            </a:r>
          </a:p>
          <a:p xmlns:a="http://schemas.openxmlformats.org/drawingml/2006/main">
            <a:endParaRPr/>
          </a:p>
          <a:p xmlns:a="http://schemas.openxmlformats.org/drawingml/2006/main">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17.</a:t>
            </a:r>
          </a:p>
          <a:p xmlns:a="http://schemas.openxmlformats.org/drawingml/2006/main">
            <a:endParaRPr/>
          </a:p>
          <a:p xmlns:a="http://schemas.openxmlformats.org/drawingml/2006/main">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17 in its internal and supplemental evidence context.</a:t>
            </a:r>
          </a:p>
          <a:p xmlns:a="http://schemas.openxmlformats.org/drawingml/2006/main">
            <a:endParaRPr/>
          </a:p>
          <a:p xmlns:a="http://schemas.openxmlformats.org/drawingml/2006/main">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17 may matter without overstating function.</a:t>
            </a:r>
          </a:p>
          <a:p xmlns:a="http://schemas.openxmlformats.org/drawingml/2006/main">
            <a:endParaRPr/>
          </a:p>
          <a:p xmlns:a="http://schemas.openxmlformats.org/drawingml/2006/main">
            <a:r>
              <a:t>Walk through: Networks, phenotype labels, available cell types, and query thresholds differ between cohorts. Program support can strengthen a ROSMAP finding without confirming its exact upstream candidate. Source: docs/analysis/kda_w_human_validation/rosmap_sex_apoe_broad_kda_analysis.md, Finding 17.</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17.</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17.</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17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17.</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Close by returning to the strongest program-level results and the experiments needed to test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6d52de0f2d48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2e61b409154a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446ff656ca48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7e1e5130254a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a0cf8961ba4d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7616d093644b7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47901daf0a643b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c19a0df08684ca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a04eed45f1b4ec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7795959a6324f4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7cb4c16999d46d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9BA105-4B24-46A8-AF1E-746362AECBE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153A9A4-39A0-4527-BCC8-87E8B379E88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130D54B-796E-481E-8C08-BA01FBA2FB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FC8D336F-2113-4BE9-B57A-0B488AA310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2DB447C-5DD6-487E-8966-80A70E2A14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D45C28-A521-4016-A859-5CDF157072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41D5F0D-3BEC-4F03-B479-F5491D27304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B921A8A-5687-460F-8627-57019F2B30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2A32EE1D-CDAC-4B84-9CDA-9E0A2E101C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6D9969-7263-434E-85BA-616B70F0F6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0E578C-327B-437D-9B83-9555D5872F7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D18478C-FB06-48F7-8BEF-170985AB4892}"/>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AC0CE1F-9B2E-49D7-8D5C-16F25C9832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5769DEF4-BD2C-45AE-B50F-F80E3FEF57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ABBFF11-CE87-4491-8FE1-B34F6F5D60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2E0FD6-7325-4BAE-B158-0AF28703D23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1B9E55E-5FBD-41FE-A156-FBD61AD2E58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92D2BBA-9FF3-4D93-9F11-A7B7707A5CF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4C434C50-7A6B-46C2-9F04-8456F22244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6" name="Footer Placeholder 5">
            <a:extLst xmlns:a="http://schemas.openxmlformats.org/drawingml/2006/main">
              <a:ext uri="{FF2B5EF4-FFF2-40B4-BE49-F238E27FC236}">
                <a16:creationId xmlns:a16="http://schemas.microsoft.com/office/drawing/2014/main" id="{4F378908-8C1E-449A-9A0C-21909ADDF7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FEEC09-795E-489D-9504-3B44CB5AA4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981A13-D01A-4639-9441-9EC57E0140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6EF0EA9-550A-4D7F-858D-12C4362BC177}"/>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ACA97FA-5666-4E7B-AF25-82C69827DAD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81B0157-C047-4AC4-B60B-AC374C2DC854}"/>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62A9E80-ABF2-4CB0-A883-8BAE7511051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F5126AB6-169A-4049-B2B0-415A430E17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8" name="Footer Placeholder 7">
            <a:extLst xmlns:a="http://schemas.openxmlformats.org/drawingml/2006/main">
              <a:ext uri="{FF2B5EF4-FFF2-40B4-BE49-F238E27FC236}">
                <a16:creationId xmlns:a16="http://schemas.microsoft.com/office/drawing/2014/main" id="{F7AAF46D-1D70-4152-B3A5-0E25EA8A8C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3AE2825-6870-4AFD-8C3D-17D9697BC4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2E3350-79AD-454B-BB3B-E545049432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8A11277A-119B-4C22-9FC5-1A4217BC45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4" name="Footer Placeholder 3">
            <a:extLst xmlns:a="http://schemas.openxmlformats.org/drawingml/2006/main">
              <a:ext uri="{FF2B5EF4-FFF2-40B4-BE49-F238E27FC236}">
                <a16:creationId xmlns:a16="http://schemas.microsoft.com/office/drawing/2014/main" id="{8F2E988A-0294-4518-9131-4707DAB254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A7AD5DD-ABB5-44F6-B093-E1499C54A8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BDCC284-4903-4405-85A0-D1A57B9D92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3" name="Footer Placeholder 2">
            <a:extLst xmlns:a="http://schemas.openxmlformats.org/drawingml/2006/main">
              <a:ext uri="{FF2B5EF4-FFF2-40B4-BE49-F238E27FC236}">
                <a16:creationId xmlns:a16="http://schemas.microsoft.com/office/drawing/2014/main" id="{ED141682-5DE1-4CBF-9569-373FE0B9BA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25914B2A-D7F2-4159-8F69-309A5F773B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4EAE9D-CBCA-4A4B-B8D6-7AA34F8FC57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4DB1A8F-971E-4746-AF4B-BFD89C5FAE1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B5F97F2-8320-44DF-AD44-ED692B69593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F591FE0-785C-4A07-B472-DEA202AE0F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6" name="Footer Placeholder 5">
            <a:extLst xmlns:a="http://schemas.openxmlformats.org/drawingml/2006/main">
              <a:ext uri="{FF2B5EF4-FFF2-40B4-BE49-F238E27FC236}">
                <a16:creationId xmlns:a16="http://schemas.microsoft.com/office/drawing/2014/main" id="{58C68A51-38CA-43E0-8B25-5C296B6D72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0C76129-082E-4010-995E-1A5CAB3501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E2586B-36D9-4D69-B104-4DA42CD2CB4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2F09145-3BCD-4CA1-BFED-E06BE6CDF96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1E2E8AB-3FDA-4762-9EBF-75E6F952199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7630AB2-0EAA-400F-BBFF-70171F0B77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6" name="Footer Placeholder 5">
            <a:extLst xmlns:a="http://schemas.openxmlformats.org/drawingml/2006/main">
              <a:ext uri="{FF2B5EF4-FFF2-40B4-BE49-F238E27FC236}">
                <a16:creationId xmlns:a16="http://schemas.microsoft.com/office/drawing/2014/main" id="{27B3CC1A-7049-40A0-8239-F3E2491963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240AA53-86D7-4E25-B6E1-D0C0AA006D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DEBF38-4BA8-4B01-8C99-0E769930C7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04F0F90-D54B-4EF4-8018-5AE775362E9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4096C5B-B3CD-48C2-8D22-17A9C72D93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F4C35787-6E7C-40C7-BA5E-00B865B70B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E8490C8-CEB3-4CE2-A455-02DB222234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C24AAC7-17EB-4F15-841B-6603F68C7477}"/>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A072281-7E51-431F-BA06-B1F8B94C45C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0FBBD04-DEBB-4D2A-B110-D09DD3DFBA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B1EAC1E3-8832-4FA1-9E1C-6641B26179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B44CD56-F4C0-4208-A1CD-85495B3AF2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2eef3bc8f84c25" /><Relationship Type="http://schemas.openxmlformats.org/officeDocument/2006/relationships/slideLayout" Target="/ppt/slideLayouts/slideLayout1.xml" Id="R8d1715a248d94caf" /><Relationship Type="http://schemas.openxmlformats.org/officeDocument/2006/relationships/slideLayout" Target="/ppt/slideLayouts/slideLayout2.xml" Id="Rb7da81ebb5af45c3" /><Relationship Type="http://schemas.openxmlformats.org/officeDocument/2006/relationships/slideLayout" Target="/ppt/slideLayouts/slideLayout3.xml" Id="R2c1de576765e4c56" /><Relationship Type="http://schemas.openxmlformats.org/officeDocument/2006/relationships/slideLayout" Target="/ppt/slideLayouts/slideLayout4.xml" Id="Rb18c8ce4c06b4e49" /><Relationship Type="http://schemas.openxmlformats.org/officeDocument/2006/relationships/slideLayout" Target="/ppt/slideLayouts/slideLayout5.xml" Id="R6192c6cabde94410" /><Relationship Type="http://schemas.openxmlformats.org/officeDocument/2006/relationships/slideLayout" Target="/ppt/slideLayouts/slideLayout6.xml" Id="R92fc951970aa4a3c" /><Relationship Type="http://schemas.openxmlformats.org/officeDocument/2006/relationships/slideLayout" Target="/ppt/slideLayouts/slideLayout7.xml" Id="R616b7ea1f87542b8" /><Relationship Type="http://schemas.openxmlformats.org/officeDocument/2006/relationships/slideLayout" Target="/ppt/slideLayouts/slideLayout8.xml" Id="R5be88135e14d4b0c" /><Relationship Type="http://schemas.openxmlformats.org/officeDocument/2006/relationships/slideLayout" Target="/ppt/slideLayouts/slideLayout9.xml" Id="R731f4c5f2c8e45a5" /><Relationship Type="http://schemas.openxmlformats.org/officeDocument/2006/relationships/slideLayout" Target="/ppt/slideLayouts/slideLayout10.xml" Id="R99db601388bb49b7" /><Relationship Type="http://schemas.openxmlformats.org/officeDocument/2006/relationships/slideLayout" Target="/ppt/slideLayouts/slideLayout11.xml" Id="R9f98e1b3ac5f4d4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39895C2-58CF-4796-9A2F-60BFF31E6F0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7DB0848-96C1-4747-94C1-8CC3A12832B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A3588A0-AE2B-40F4-AA6A-BFC9BE89514C}"/>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EC6D0DB2-A037-4EF8-94A0-B6597B8D83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D5E4468-25E1-4C9F-9E11-193DF27CB83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1715a248d94caf"/>
    <p:sldLayoutId xmlns:r="http://schemas.openxmlformats.org/officeDocument/2006/relationships" id="2147483650" r:id="Rb7da81ebb5af45c3"/>
    <p:sldLayoutId xmlns:r="http://schemas.openxmlformats.org/officeDocument/2006/relationships" id="2147483651" r:id="R2c1de576765e4c56"/>
    <p:sldLayoutId xmlns:r="http://schemas.openxmlformats.org/officeDocument/2006/relationships" id="2147483652" r:id="Rb18c8ce4c06b4e49"/>
    <p:sldLayoutId xmlns:r="http://schemas.openxmlformats.org/officeDocument/2006/relationships" id="2147483653" r:id="R6192c6cabde94410"/>
    <p:sldLayoutId xmlns:r="http://schemas.openxmlformats.org/officeDocument/2006/relationships" id="2147483654" r:id="R92fc951970aa4a3c"/>
    <p:sldLayoutId xmlns:r="http://schemas.openxmlformats.org/officeDocument/2006/relationships" id="2147483655" r:id="R616b7ea1f87542b8"/>
    <p:sldLayoutId xmlns:r="http://schemas.openxmlformats.org/officeDocument/2006/relationships" id="2147483656" r:id="R5be88135e14d4b0c"/>
    <p:sldLayoutId xmlns:r="http://schemas.openxmlformats.org/officeDocument/2006/relationships" id="2147483657" r:id="R731f4c5f2c8e45a5"/>
    <p:sldLayoutId xmlns:r="http://schemas.openxmlformats.org/officeDocument/2006/relationships" id="2147483658" r:id="R99db601388bb49b7"/>
    <p:sldLayoutId xmlns:r="http://schemas.openxmlformats.org/officeDocument/2006/relationships" id="2147483659" r:id="R9f98e1b3ac5f4d40"/>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1550eafbfe54494" /><Relationship Type="http://schemas.openxmlformats.org/officeDocument/2006/relationships/notesSlide" Target="/ppt/notesSlides/notesSlide1.xml" Id="R5c3c32bebc134c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e6b718c50314a81" /><Relationship Type="http://schemas.openxmlformats.org/officeDocument/2006/relationships/notesSlide" Target="/ppt/notesSlides/notesSlide2.xml" Id="R3a088d80ffbd46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8a3ccb108de45f2" /><Relationship Type="http://schemas.openxmlformats.org/officeDocument/2006/relationships/notesSlide" Target="/ppt/notesSlides/notesSlide3.xml" Id="R0477c6cd5b414b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ecb2f269bbc423a" /><Relationship Type="http://schemas.openxmlformats.org/officeDocument/2006/relationships/image" Target="/ppt/media/image.png" Id="Rca940cedb56848c6" /><Relationship Type="http://schemas.openxmlformats.org/officeDocument/2006/relationships/notesSlide" Target="/ppt/notesSlides/notesSlide4.xml" Id="Rf633e462ec5941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6717a5be3404491" /><Relationship Type="http://schemas.openxmlformats.org/officeDocument/2006/relationships/notesSlide" Target="/ppt/notesSlides/notesSlide5.xml" Id="R6c580f62ab8843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b1764407775e4806" /><Relationship Type="http://schemas.openxmlformats.org/officeDocument/2006/relationships/notesSlide" Target="/ppt/notesSlides/notesSlide6.xml" Id="R7f541436f40a4b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3c4b61a124f494b" /><Relationship Type="http://schemas.openxmlformats.org/officeDocument/2006/relationships/notesSlide" Target="/ppt/notesSlides/notesSlide7.xml" Id="R0e6876d860dd4c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3286196ee4c43c0" /><Relationship Type="http://schemas.openxmlformats.org/officeDocument/2006/relationships/notesSlide" Target="/ppt/notesSlides/notesSlide8.xml" Id="Ra1e76a05149d45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6871f6915a5435f" /><Relationship Type="http://schemas.openxmlformats.org/officeDocument/2006/relationships/notesSlide" Target="/ppt/notesSlides/notesSlide9.xml" Id="R019e437efe9f47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561ab31e2cd4764" /><Relationship Type="http://schemas.openxmlformats.org/officeDocument/2006/relationships/image" Target="/ppt/media/image2.png" Id="R52f04eb1c32546cb" /><Relationship Type="http://schemas.openxmlformats.org/officeDocument/2006/relationships/notesSlide" Target="/ppt/notesSlides/notesSlide10.xml" Id="Rd744b281ecb543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301113cf4ce64eb7" /><Relationship Type="http://schemas.openxmlformats.org/officeDocument/2006/relationships/notesSlide" Target="/ppt/notesSlides/notesSlide11.xml" Id="R19cc09034e2d45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1250c86581394f7e" /><Relationship Type="http://schemas.openxmlformats.org/officeDocument/2006/relationships/image" Target="/ppt/media/image3.png" Id="Ra1c0d78310154d60" /><Relationship Type="http://schemas.openxmlformats.org/officeDocument/2006/relationships/chart" Target="/ppt/slides/charts/chart1.xml" Id="Rc4a645d952ea4f1d" /><Relationship Type="http://schemas.openxmlformats.org/officeDocument/2006/relationships/notesSlide" Target="/ppt/notesSlides/notesSlide12.xml" Id="R620dcb1a71054e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499a0d3d2bb046d0" /><Relationship Type="http://schemas.openxmlformats.org/officeDocument/2006/relationships/notesSlide" Target="/ppt/notesSlides/notesSlide13.xml" Id="Red674eb53e9d4b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065526e7d1f149cc" /><Relationship Type="http://schemas.openxmlformats.org/officeDocument/2006/relationships/notesSlide" Target="/ppt/notesSlides/notesSlide14.xml" Id="Re01afcdb382b4f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e1d88da20f4d426a" /><Relationship Type="http://schemas.openxmlformats.org/officeDocument/2006/relationships/notesSlide" Target="/ppt/notesSlides/notesSlide15.xml" Id="R0b1447a090b049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b87c6a0187eb4249" /><Relationship Type="http://schemas.openxmlformats.org/officeDocument/2006/relationships/notesSlide" Target="/ppt/notesSlides/notesSlide16.xml" Id="R6da34440c8064f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cfa36ed2987c4dbd" /><Relationship Type="http://schemas.openxmlformats.org/officeDocument/2006/relationships/notesSlide" Target="/ppt/notesSlides/notesSlide17.xml" Id="R1ba89bb21ed54a1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08c3abdf86834457" /><Relationship Type="http://schemas.openxmlformats.org/officeDocument/2006/relationships/notesSlide" Target="/ppt/notesSlides/notesSlide18.xml" Id="R1384832889a44f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1fec199098a342b7" /><Relationship Type="http://schemas.openxmlformats.org/officeDocument/2006/relationships/notesSlide" Target="/ppt/notesSlides/notesSlide19.xml" Id="R77151ce64f304c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635a82ff96d44f0d" /><Relationship Type="http://schemas.openxmlformats.org/officeDocument/2006/relationships/notesSlide" Target="/ppt/notesSlides/notesSlide20.xml" Id="R0072eaf542da4b3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b194c02109034c3a" /><Relationship Type="http://schemas.openxmlformats.org/officeDocument/2006/relationships/notesSlide" Target="/ppt/notesSlides/notesSlide21.xml" Id="R467073900d3c4ad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b47ff38b22c143d2" /><Relationship Type="http://schemas.openxmlformats.org/officeDocument/2006/relationships/notesSlide" Target="/ppt/notesSlides/notesSlide22.xml" Id="R9c7f1dcb17904d7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63c950d3b7754d9a" /><Relationship Type="http://schemas.openxmlformats.org/officeDocument/2006/relationships/image" Target="/ppt/media/image4.png" Id="R9bb10fcddc4548d6" /><Relationship Type="http://schemas.openxmlformats.org/officeDocument/2006/relationships/notesSlide" Target="/ppt/notesSlides/notesSlide23.xml" Id="Rb65fdbe988544c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b7b7215adaa440c2" /><Relationship Type="http://schemas.openxmlformats.org/officeDocument/2006/relationships/image" Target="/ppt/media/image5.png" Id="R521510fda36e463a" /><Relationship Type="http://schemas.openxmlformats.org/officeDocument/2006/relationships/notesSlide" Target="/ppt/notesSlides/notesSlide24.xml" Id="Rbad0ff2947f54b0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faac3cc23766473e" /><Relationship Type="http://schemas.openxmlformats.org/officeDocument/2006/relationships/image" Target="/ppt/media/image6.png" Id="R5c9d8d502a634d96" /><Relationship Type="http://schemas.openxmlformats.org/officeDocument/2006/relationships/notesSlide" Target="/ppt/notesSlides/notesSlide25.xml" Id="R9fe8a94005c044f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900ac6149d484cca" /><Relationship Type="http://schemas.openxmlformats.org/officeDocument/2006/relationships/image" Target="/ppt/media/image7.png" Id="Ra2e392fb3868431f" /><Relationship Type="http://schemas.openxmlformats.org/officeDocument/2006/relationships/notesSlide" Target="/ppt/notesSlides/notesSlide26.xml" Id="R5485eeaf90f04f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9ceda111b52341e8" /><Relationship Type="http://schemas.openxmlformats.org/officeDocument/2006/relationships/image" Target="/ppt/media/image8.png" Id="Ra21a68b5aa6643f8" /><Relationship Type="http://schemas.openxmlformats.org/officeDocument/2006/relationships/notesSlide" Target="/ppt/notesSlides/notesSlide27.xml" Id="Re56a160ceb8542f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07270c5ee9cf4c87" /><Relationship Type="http://schemas.openxmlformats.org/officeDocument/2006/relationships/image" Target="/ppt/media/image9.png" Id="Rb117933c7d5e4bbd" /><Relationship Type="http://schemas.openxmlformats.org/officeDocument/2006/relationships/notesSlide" Target="/ppt/notesSlides/notesSlide28.xml" Id="Rff42c7c01aaa427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511ec97c5abf4970" /><Relationship Type="http://schemas.openxmlformats.org/officeDocument/2006/relationships/notesSlide" Target="/ppt/notesSlides/notesSlide29.xml" Id="Rf52a63d60fff49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29de0e99e333454e" /><Relationship Type="http://schemas.openxmlformats.org/officeDocument/2006/relationships/notesSlide" Target="/ppt/notesSlides/notesSlide30.xml" Id="Raeb80a27a7f641e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465b3bc100f349d8" /><Relationship Type="http://schemas.openxmlformats.org/officeDocument/2006/relationships/notesSlide" Target="/ppt/notesSlides/notesSlide31.xml" Id="R9354ced0153449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2d1fbc4ed2734b65" /><Relationship Type="http://schemas.openxmlformats.org/officeDocument/2006/relationships/notesSlide" Target="/ppt/notesSlides/notesSlide32.xml" Id="R24a3d9bfaf87485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fcffc5a6006b4084" /><Relationship Type="http://schemas.openxmlformats.org/officeDocument/2006/relationships/image" Target="/ppt/media/image10.png" Id="R5f6819d9359d4a3d" /><Relationship Type="http://schemas.openxmlformats.org/officeDocument/2006/relationships/notesSlide" Target="/ppt/notesSlides/notesSlide33.xml" Id="R4c34df40fce94fc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7f12417a4f1c4dc1" /><Relationship Type="http://schemas.openxmlformats.org/officeDocument/2006/relationships/image" Target="/ppt/media/image11.png" Id="R1f899cb8a67a463b" /><Relationship Type="http://schemas.openxmlformats.org/officeDocument/2006/relationships/notesSlide" Target="/ppt/notesSlides/notesSlide34.xml" Id="Rd8960e5e548d441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5184f4b83e6a4fd2" /><Relationship Type="http://schemas.openxmlformats.org/officeDocument/2006/relationships/image" Target="/ppt/media/image12.png" Id="R851bc428d54c4287" /><Relationship Type="http://schemas.openxmlformats.org/officeDocument/2006/relationships/notesSlide" Target="/ppt/notesSlides/notesSlide35.xml" Id="Ra1b69471dabd4c0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c42b8fd550cd4f1b" /><Relationship Type="http://schemas.openxmlformats.org/officeDocument/2006/relationships/notesSlide" Target="/ppt/notesSlides/notesSlide36.xml" Id="Rd5e80f9977c1402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06e923ac6bda427e" /><Relationship Type="http://schemas.openxmlformats.org/officeDocument/2006/relationships/notesSlide" Target="/ppt/notesSlides/notesSlide37.xml" Id="Re12ad14bceb04b0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575e3d594b084a2b" /><Relationship Type="http://schemas.openxmlformats.org/officeDocument/2006/relationships/notesSlide" Target="/ppt/notesSlides/notesSlide38.xml" Id="Rfcd2cd81f9c5481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87a47b1ed49a4763" /><Relationship Type="http://schemas.openxmlformats.org/officeDocument/2006/relationships/notesSlide" Target="/ppt/notesSlides/notesSlide39.xml" Id="R7fba8ee0a746407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b9d0a9a0e6644b65" /><Relationship Type="http://schemas.openxmlformats.org/officeDocument/2006/relationships/notesSlide" Target="/ppt/notesSlides/notesSlide40.xml" Id="Rca9ea564db8e4e8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627470acc88049ec" /><Relationship Type="http://schemas.openxmlformats.org/officeDocument/2006/relationships/notesSlide" Target="/ppt/notesSlides/notesSlide41.xml" Id="R57d49c8e8eeb4b4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52f6d64ee00a4603" /><Relationship Type="http://schemas.openxmlformats.org/officeDocument/2006/relationships/notesSlide" Target="/ppt/notesSlides/notesSlide42.xml" Id="R36b04d47a8b34a5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9150f0a85d764e2a" /><Relationship Type="http://schemas.openxmlformats.org/officeDocument/2006/relationships/notesSlide" Target="/ppt/notesSlides/notesSlide43.xml" Id="Rbd4bb5dfe4f34b1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57c03b7e0c384881" /><Relationship Type="http://schemas.openxmlformats.org/officeDocument/2006/relationships/notesSlide" Target="/ppt/notesSlides/notesSlide44.xml" Id="Rdb34d139d1ef475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1b40973ca17944fc" /><Relationship Type="http://schemas.openxmlformats.org/officeDocument/2006/relationships/notesSlide" Target="/ppt/notesSlides/notesSlide45.xml" Id="R93415dbd94b04b2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d3efd4461e774f2a" /><Relationship Type="http://schemas.openxmlformats.org/officeDocument/2006/relationships/notesSlide" Target="/ppt/notesSlides/notesSlide46.xml" Id="Rf66df269edec401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d9212f7e22554326" /><Relationship Type="http://schemas.openxmlformats.org/officeDocument/2006/relationships/notesSlide" Target="/ppt/notesSlides/notesSlide47.xml" Id="R9303866ebab849c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9a8a3c249a964b26" /><Relationship Type="http://schemas.openxmlformats.org/officeDocument/2006/relationships/notesSlide" Target="/ppt/notesSlides/notesSlide48.xml" Id="Ra6eb5c503e98411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9aa00b582502431e" /><Relationship Type="http://schemas.openxmlformats.org/officeDocument/2006/relationships/notesSlide" Target="/ppt/notesSlides/notesSlide49.xml" Id="Rec83d589bd43438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c1da8c1e5cff4c44" /><Relationship Type="http://schemas.openxmlformats.org/officeDocument/2006/relationships/notesSlide" Target="/ppt/notesSlides/notesSlide50.xml" Id="R3b8ecd3b4753439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0c542711672949f2" /><Relationship Type="http://schemas.openxmlformats.org/officeDocument/2006/relationships/notesSlide" Target="/ppt/notesSlides/notesSlide51.xml" Id="Rb6d8be67055943c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7.xml" Id="Rf61017607319413d" /><Relationship Type="http://schemas.openxmlformats.org/officeDocument/2006/relationships/notesSlide" Target="/ppt/notesSlides/notesSlide52.xml" Id="R2af62469378c42c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7.xml" Id="R0b091a92c8434204" /><Relationship Type="http://schemas.openxmlformats.org/officeDocument/2006/relationships/notesSlide" Target="/ppt/notesSlides/notesSlide53.xml" Id="R055c312a395142e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7.xml" Id="R0f71f540238f494d" /><Relationship Type="http://schemas.openxmlformats.org/officeDocument/2006/relationships/notesSlide" Target="/ppt/notesSlides/notesSlide54.xml" Id="Rd77368d6ff784ec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7.xml" Id="R755d7f18010d420e" /><Relationship Type="http://schemas.openxmlformats.org/officeDocument/2006/relationships/notesSlide" Target="/ppt/notesSlides/notesSlide55.xml" Id="R868c616aadf6473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7.xml" Id="R3894368237e94d24" /><Relationship Type="http://schemas.openxmlformats.org/officeDocument/2006/relationships/notesSlide" Target="/ppt/notesSlides/notesSlide56.xml" Id="R98899c1545a0446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7.xml" Id="Reaaa44857c384ceb" /><Relationship Type="http://schemas.openxmlformats.org/officeDocument/2006/relationships/notesSlide" Target="/ppt/notesSlides/notesSlide57.xml" Id="Rec30568ab0ab461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7.xml" Id="Rcd94955c1c7e4adc" /><Relationship Type="http://schemas.openxmlformats.org/officeDocument/2006/relationships/notesSlide" Target="/ppt/notesSlides/notesSlide58.xml" Id="Rc12731082a2c4bf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7.xml" Id="Re265bda5804548fa" /><Relationship Type="http://schemas.openxmlformats.org/officeDocument/2006/relationships/notesSlide" Target="/ppt/notesSlides/notesSlide59.xml" Id="R956be56fb6dc400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7.xml" Id="R0c790dd5995f405e" /><Relationship Type="http://schemas.openxmlformats.org/officeDocument/2006/relationships/notesSlide" Target="/ppt/notesSlides/notesSlide60.xml" Id="R406ebc3f91684e2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7.xml" Id="Re906a29fdf2d4025" /><Relationship Type="http://schemas.openxmlformats.org/officeDocument/2006/relationships/notesSlide" Target="/ppt/notesSlides/notesSlide61.xml" Id="R250e1ec0130f44c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7.xml" Id="R362fe16d42304284" /><Relationship Type="http://schemas.openxmlformats.org/officeDocument/2006/relationships/notesSlide" Target="/ppt/notesSlides/notesSlide62.xml" Id="R0fdfdca6512546f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7.xml" Id="Rc439b8f37ff7440f" /><Relationship Type="http://schemas.openxmlformats.org/officeDocument/2006/relationships/notesSlide" Target="/ppt/notesSlides/notesSlide63.xml" Id="Rd334fcdf017b488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7.xml" Id="R15d6a0bb41ca4076" /><Relationship Type="http://schemas.openxmlformats.org/officeDocument/2006/relationships/notesSlide" Target="/ppt/notesSlides/notesSlide64.xml" Id="R3d13568b19a24576" /></Relationships>
</file>

<file path=ppt/slides/_rels/slide65.xml.rels>&#65279;<?xml version="1.0" encoding="utf-8"?><Relationships xmlns="http://schemas.openxmlformats.org/package/2006/relationships"><Relationship Type="http://schemas.openxmlformats.org/officeDocument/2006/relationships/slideLayout" Target="/ppt/slideLayouts/slideLayout7.xml" Id="R396bb30ba22947bc" /><Relationship Type="http://schemas.openxmlformats.org/officeDocument/2006/relationships/notesSlide" Target="/ppt/notesSlides/notesSlide65.xml" Id="R1f9c4d14d16e438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7.xml" Id="R2043e87f41da4c03" /><Relationship Type="http://schemas.openxmlformats.org/officeDocument/2006/relationships/notesSlide" Target="/ppt/notesSlides/notesSlide66.xml" Id="R2768a1bef40a494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97fd0537a6c14f08" /><Relationship Type="http://schemas.openxmlformats.org/officeDocument/2006/relationships/notesSlide" Target="/ppt/notesSlides/notesSlide67.xml" Id="R74da526ca44e422b" /></Relationships>
</file>

<file path=ppt/slides/_rels/slide68.xml.rels>&#65279;<?xml version="1.0" encoding="utf-8"?><Relationships xmlns="http://schemas.openxmlformats.org/package/2006/relationships"><Relationship Type="http://schemas.openxmlformats.org/officeDocument/2006/relationships/slideLayout" Target="/ppt/slideLayouts/slideLayout7.xml" Id="Rdb997e361e754452" /><Relationship Type="http://schemas.openxmlformats.org/officeDocument/2006/relationships/notesSlide" Target="/ppt/notesSlides/notesSlide68.xml" Id="Ra32ed8381d3f4ffd" /></Relationships>
</file>

<file path=ppt/slides/_rels/slide69.xml.rels>&#65279;<?xml version="1.0" encoding="utf-8"?><Relationships xmlns="http://schemas.openxmlformats.org/package/2006/relationships"><Relationship Type="http://schemas.openxmlformats.org/officeDocument/2006/relationships/slideLayout" Target="/ppt/slideLayouts/slideLayout7.xml" Id="R5d2985ac1b89441b" /><Relationship Type="http://schemas.openxmlformats.org/officeDocument/2006/relationships/notesSlide" Target="/ppt/notesSlides/notesSlide69.xml" Id="R2e0628fc60a74a3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7.xml" Id="Ra28a6a950efa4683" /><Relationship Type="http://schemas.openxmlformats.org/officeDocument/2006/relationships/notesSlide" Target="/ppt/notesSlides/notesSlide70.xml" Id="Rd7485f505cd74bb9" /></Relationships>
</file>

<file path=ppt/slides/_rels/slide71.xml.rels>&#65279;<?xml version="1.0" encoding="utf-8"?><Relationships xmlns="http://schemas.openxmlformats.org/package/2006/relationships"><Relationship Type="http://schemas.openxmlformats.org/officeDocument/2006/relationships/slideLayout" Target="/ppt/slideLayouts/slideLayout7.xml" Id="R46fa366234084eb1" /><Relationship Type="http://schemas.openxmlformats.org/officeDocument/2006/relationships/notesSlide" Target="/ppt/notesSlides/notesSlide71.xml" Id="R2e16700c0554481f" /></Relationships>
</file>

<file path=ppt/slides/_rels/slide72.xml.rels>&#65279;<?xml version="1.0" encoding="utf-8"?><Relationships xmlns="http://schemas.openxmlformats.org/package/2006/relationships"><Relationship Type="http://schemas.openxmlformats.org/officeDocument/2006/relationships/slideLayout" Target="/ppt/slideLayouts/slideLayout7.xml" Id="R14b47383be6e4129" /><Relationship Type="http://schemas.openxmlformats.org/officeDocument/2006/relationships/notesSlide" Target="/ppt/notesSlides/notesSlide72.xml" Id="R93c1697a99fd4277" /></Relationships>
</file>

<file path=ppt/slides/_rels/slide73.xml.rels>&#65279;<?xml version="1.0" encoding="utf-8"?><Relationships xmlns="http://schemas.openxmlformats.org/package/2006/relationships"><Relationship Type="http://schemas.openxmlformats.org/officeDocument/2006/relationships/slideLayout" Target="/ppt/slideLayouts/slideLayout7.xml" Id="Rfc275e54b346420e" /><Relationship Type="http://schemas.openxmlformats.org/officeDocument/2006/relationships/notesSlide" Target="/ppt/notesSlides/notesSlide73.xml" Id="R141550830b014de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7.xml" Id="Rc588ee9cea504a8b" /><Relationship Type="http://schemas.openxmlformats.org/officeDocument/2006/relationships/notesSlide" Target="/ppt/notesSlides/notesSlide74.xml" Id="Rf99657fca4ef4a4f" /></Relationships>
</file>

<file path=ppt/slides/_rels/slide75.xml.rels>&#65279;<?xml version="1.0" encoding="utf-8"?><Relationships xmlns="http://schemas.openxmlformats.org/package/2006/relationships"><Relationship Type="http://schemas.openxmlformats.org/officeDocument/2006/relationships/slideLayout" Target="/ppt/slideLayouts/slideLayout7.xml" Id="R832a98545dd14a9f" /><Relationship Type="http://schemas.openxmlformats.org/officeDocument/2006/relationships/notesSlide" Target="/ppt/notesSlides/notesSlide75.xml" Id="Rcd4905ec031f486b" /></Relationships>
</file>

<file path=ppt/slides/_rels/slide76.xml.rels>&#65279;<?xml version="1.0" encoding="utf-8"?><Relationships xmlns="http://schemas.openxmlformats.org/package/2006/relationships"><Relationship Type="http://schemas.openxmlformats.org/officeDocument/2006/relationships/slideLayout" Target="/ppt/slideLayouts/slideLayout7.xml" Id="Rbb471388795c4eb4" /><Relationship Type="http://schemas.openxmlformats.org/officeDocument/2006/relationships/notesSlide" Target="/ppt/notesSlides/notesSlide76.xml" Id="Ra8aae1d8cd61432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7.xml" Id="Ra77d91442ca5479e" /><Relationship Type="http://schemas.openxmlformats.org/officeDocument/2006/relationships/notesSlide" Target="/ppt/notesSlides/notesSlide77.xml" Id="R9aadca70ae144157" /></Relationships>
</file>

<file path=ppt/slides/_rels/slide78.xml.rels>&#65279;<?xml version="1.0" encoding="utf-8"?><Relationships xmlns="http://schemas.openxmlformats.org/package/2006/relationships"><Relationship Type="http://schemas.openxmlformats.org/officeDocument/2006/relationships/slideLayout" Target="/ppt/slideLayouts/slideLayout7.xml" Id="Rd8e62a5bce4b4dda" /><Relationship Type="http://schemas.openxmlformats.org/officeDocument/2006/relationships/notesSlide" Target="/ppt/notesSlides/notesSlide78.xml" Id="Rf2cd4c1d50f1456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7.xml" Id="R2936694c9a134e1f" /><Relationship Type="http://schemas.openxmlformats.org/officeDocument/2006/relationships/notesSlide" Target="/ppt/notesSlides/notesSlide79.xml" Id="R71db1887a0b94a27" /></Relationships>
</file>

<file path=ppt/slides/_rels/slide80.xml.rels>&#65279;<?xml version="1.0" encoding="utf-8"?><Relationships xmlns="http://schemas.openxmlformats.org/package/2006/relationships"><Relationship Type="http://schemas.openxmlformats.org/officeDocument/2006/relationships/slideLayout" Target="/ppt/slideLayouts/slideLayout7.xml" Id="R7cd748803bf744b1" /><Relationship Type="http://schemas.openxmlformats.org/officeDocument/2006/relationships/notesSlide" Target="/ppt/notesSlides/notesSlide80.xml" Id="R79b19c3565234c8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7.xml" Id="R3205f0d0f66c471e" /><Relationship Type="http://schemas.openxmlformats.org/officeDocument/2006/relationships/notesSlide" Target="/ppt/notesSlides/notesSlide81.xml" Id="R1ab60088b0484586" /></Relationships>
</file>

<file path=ppt/slides/_rels/slide82.xml.rels>&#65279;<?xml version="1.0" encoding="utf-8"?><Relationships xmlns="http://schemas.openxmlformats.org/package/2006/relationships"><Relationship Type="http://schemas.openxmlformats.org/officeDocument/2006/relationships/slideLayout" Target="/ppt/slideLayouts/slideLayout7.xml" Id="R3499537e01fe4c51" /><Relationship Type="http://schemas.openxmlformats.org/officeDocument/2006/relationships/notesSlide" Target="/ppt/notesSlides/notesSlide82.xml" Id="Re63a1e288c61491b" /></Relationships>
</file>

<file path=ppt/slides/_rels/slide83.xml.rels>&#65279;<?xml version="1.0" encoding="utf-8"?><Relationships xmlns="http://schemas.openxmlformats.org/package/2006/relationships"><Relationship Type="http://schemas.openxmlformats.org/officeDocument/2006/relationships/slideLayout" Target="/ppt/slideLayouts/slideLayout7.xml" Id="Ra7bf884d43c844e2" /><Relationship Type="http://schemas.openxmlformats.org/officeDocument/2006/relationships/notesSlide" Target="/ppt/notesSlides/notesSlide83.xml" Id="R6c9af3b4845b450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7.xml" Id="Rb9a6297000eb4036" /><Relationship Type="http://schemas.openxmlformats.org/officeDocument/2006/relationships/notesSlide" Target="/ppt/notesSlides/notesSlide84.xml" Id="R7f819e7417764327" /></Relationships>
</file>

<file path=ppt/slides/_rels/slide85.xml.rels>&#65279;<?xml version="1.0" encoding="utf-8"?><Relationships xmlns="http://schemas.openxmlformats.org/package/2006/relationships"><Relationship Type="http://schemas.openxmlformats.org/officeDocument/2006/relationships/slideLayout" Target="/ppt/slideLayouts/slideLayout7.xml" Id="R65a7a10935a546e8" /><Relationship Type="http://schemas.openxmlformats.org/officeDocument/2006/relationships/notesSlide" Target="/ppt/notesSlides/notesSlide85.xml" Id="Rc3c4ed6febe04959" /></Relationships>
</file>

<file path=ppt/slides/_rels/slide86.xml.rels>&#65279;<?xml version="1.0" encoding="utf-8"?><Relationships xmlns="http://schemas.openxmlformats.org/package/2006/relationships"><Relationship Type="http://schemas.openxmlformats.org/officeDocument/2006/relationships/slideLayout" Target="/ppt/slideLayouts/slideLayout7.xml" Id="Rc46884e7880f4b41" /><Relationship Type="http://schemas.openxmlformats.org/officeDocument/2006/relationships/notesSlide" Target="/ppt/notesSlides/notesSlide86.xml" Id="Rdc284b1ee8dc4d2b" /></Relationships>
</file>

<file path=ppt/slides/_rels/slide87.xml.rels>&#65279;<?xml version="1.0" encoding="utf-8"?><Relationships xmlns="http://schemas.openxmlformats.org/package/2006/relationships"><Relationship Type="http://schemas.openxmlformats.org/officeDocument/2006/relationships/slideLayout" Target="/ppt/slideLayouts/slideLayout7.xml" Id="R7615188e98a14800" /><Relationship Type="http://schemas.openxmlformats.org/officeDocument/2006/relationships/notesSlide" Target="/ppt/notesSlides/notesSlide87.xml" Id="R9d4d96cc70424fc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7.xml" Id="Rc03340b515e74fb8" /><Relationship Type="http://schemas.openxmlformats.org/officeDocument/2006/relationships/notesSlide" Target="/ppt/notesSlides/notesSlide88.xml" Id="R7668ee7786314ec1" /></Relationships>
</file>

<file path=ppt/slides/_rels/slide89.xml.rels>&#65279;<?xml version="1.0" encoding="utf-8"?><Relationships xmlns="http://schemas.openxmlformats.org/package/2006/relationships"><Relationship Type="http://schemas.openxmlformats.org/officeDocument/2006/relationships/slideLayout" Target="/ppt/slideLayouts/slideLayout7.xml" Id="R7099f3f23ef94911" /><Relationship Type="http://schemas.openxmlformats.org/officeDocument/2006/relationships/notesSlide" Target="/ppt/notesSlides/notesSlide89.xml" Id="R6aa09a8dcea947d9" /></Relationships>
</file>

<file path=ppt/slides/_rels/slide90.xml.rels>&#65279;<?xml version="1.0" encoding="utf-8"?><Relationships xmlns="http://schemas.openxmlformats.org/package/2006/relationships"><Relationship Type="http://schemas.openxmlformats.org/officeDocument/2006/relationships/slideLayout" Target="/ppt/slideLayouts/slideLayout7.xml" Id="Rdfd932e9ba9c428a" /><Relationship Type="http://schemas.openxmlformats.org/officeDocument/2006/relationships/notesSlide" Target="/ppt/notesSlides/notesSlide90.xml" Id="R38810b4e62b14f88" /></Relationships>
</file>

<file path=ppt/slides/_rels/slide91.xml.rels>&#65279;<?xml version="1.0" encoding="utf-8"?><Relationships xmlns="http://schemas.openxmlformats.org/package/2006/relationships"><Relationship Type="http://schemas.openxmlformats.org/officeDocument/2006/relationships/slideLayout" Target="/ppt/slideLayouts/slideLayout7.xml" Id="R8e18814cc9594d8b" /><Relationship Type="http://schemas.openxmlformats.org/officeDocument/2006/relationships/notesSlide" Target="/ppt/notesSlides/notesSlide91.xml" Id="R1dff509fb6b24431" /></Relationships>
</file>

<file path=ppt/slides/_rels/slide92.xml.rels>&#65279;<?xml version="1.0" encoding="utf-8"?><Relationships xmlns="http://schemas.openxmlformats.org/package/2006/relationships"><Relationship Type="http://schemas.openxmlformats.org/officeDocument/2006/relationships/slideLayout" Target="/ppt/slideLayouts/slideLayout7.xml" Id="R8c7d5d8b417f4261" /><Relationship Type="http://schemas.openxmlformats.org/officeDocument/2006/relationships/notesSlide" Target="/ppt/notesSlides/notesSlide92.xml" Id="Rabd44e452f6f419a" /></Relationships>
</file>

<file path=ppt/slides/_rels/slide93.xml.rels>&#65279;<?xml version="1.0" encoding="utf-8"?><Relationships xmlns="http://schemas.openxmlformats.org/package/2006/relationships"><Relationship Type="http://schemas.openxmlformats.org/officeDocument/2006/relationships/slideLayout" Target="/ppt/slideLayouts/slideLayout7.xml" Id="Rc0a18b54d86d4af7" /><Relationship Type="http://schemas.openxmlformats.org/officeDocument/2006/relationships/notesSlide" Target="/ppt/notesSlides/notesSlide93.xml" Id="Re2216c0c26cb47d7" /></Relationships>
</file>

<file path=ppt/slides/_rels/slide94.xml.rels>&#65279;<?xml version="1.0" encoding="utf-8"?><Relationships xmlns="http://schemas.openxmlformats.org/package/2006/relationships"><Relationship Type="http://schemas.openxmlformats.org/officeDocument/2006/relationships/slideLayout" Target="/ppt/slideLayouts/slideLayout7.xml" Id="Rf463e971d0a24709" /><Relationship Type="http://schemas.openxmlformats.org/officeDocument/2006/relationships/notesSlide" Target="/ppt/notesSlides/notesSlide94.xml" Id="R5b922967c6a74f20" /></Relationships>
</file>

<file path=ppt/slides/_rels/slide95.xml.rels>&#65279;<?xml version="1.0" encoding="utf-8"?><Relationships xmlns="http://schemas.openxmlformats.org/package/2006/relationships"><Relationship Type="http://schemas.openxmlformats.org/officeDocument/2006/relationships/slideLayout" Target="/ppt/slideLayouts/slideLayout7.xml" Id="R3d4b333fef2740d4" /><Relationship Type="http://schemas.openxmlformats.org/officeDocument/2006/relationships/notesSlide" Target="/ppt/notesSlides/notesSlide95.xml" Id="R4b86968e49e5469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7.xml" Id="R2253d45efa9f4dbe" /><Relationship Type="http://schemas.openxmlformats.org/officeDocument/2006/relationships/notesSlide" Target="/ppt/notesSlides/notesSlide96.xml" Id="Rfdb6da9e8d044f48" /></Relationships>
</file>

<file path=ppt/slides/_rels/slide97.xml.rels>&#65279;<?xml version="1.0" encoding="utf-8"?><Relationships xmlns="http://schemas.openxmlformats.org/package/2006/relationships"><Relationship Type="http://schemas.openxmlformats.org/officeDocument/2006/relationships/slideLayout" Target="/ppt/slideLayouts/slideLayout7.xml" Id="R2f8c3aac0a4d4055" /><Relationship Type="http://schemas.openxmlformats.org/officeDocument/2006/relationships/notesSlide" Target="/ppt/notesSlides/notesSlide97.xml" Id="Read0814170ae400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7.xml" Id="R7b9a5fbea9f54ef4" /><Relationship Type="http://schemas.openxmlformats.org/officeDocument/2006/relationships/notesSlide" Target="/ppt/notesSlides/notesSlide98.xml" Id="Rb77033c397e541dc" /></Relationships>
</file>

<file path=ppt/slides/_rels/slide99.xml.rels>&#65279;<?xml version="1.0" encoding="utf-8"?><Relationships xmlns="http://schemas.openxmlformats.org/package/2006/relationships"><Relationship Type="http://schemas.openxmlformats.org/officeDocument/2006/relationships/slideLayout" Target="/ppt/slideLayouts/slideLayout7.xml" Id="Rc97e667286e14b32" /><Relationship Type="http://schemas.openxmlformats.org/officeDocument/2006/relationships/notesSlide" Target="/ppt/notesSlides/notesSlide99.xml" Id="R1162e95752c84793"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7.xml" Id="R515415505e7a4d7d" /><Relationship Type="http://schemas.openxmlformats.org/officeDocument/2006/relationships/notesSlide" Target="/ppt/notesSlides/notesSlide100.xml" Id="Rc6549c2488834270"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7.xml" Id="R5f9bc54dfd4445b3" /><Relationship Type="http://schemas.openxmlformats.org/officeDocument/2006/relationships/notesSlide" Target="/ppt/notesSlides/notesSlide101.xml" Id="Rccd4c12c683d4fd7"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7.xml" Id="R67e5a4970f06414e" /><Relationship Type="http://schemas.openxmlformats.org/officeDocument/2006/relationships/notesSlide" Target="/ppt/notesSlides/notesSlide102.xml" Id="Rb23b282d3cc44ed1"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7.xml" Id="R027d77484cc0454c" /><Relationship Type="http://schemas.openxmlformats.org/officeDocument/2006/relationships/notesSlide" Target="/ppt/notesSlides/notesSlide103.xml" Id="R339ec66ec07b4d28"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7.xml" Id="R3ba432f94aac4d1e" /><Relationship Type="http://schemas.openxmlformats.org/officeDocument/2006/relationships/notesSlide" Target="/ppt/notesSlides/notesSlide104.xml" Id="Rf57bd8e5522f40e2"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7.xml" Id="Rb4b62da7dcc14a25" /><Relationship Type="http://schemas.openxmlformats.org/officeDocument/2006/relationships/notesSlide" Target="/ppt/notesSlides/notesSlide105.xml" Id="R43c57c77e8cd4e39"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7.xml" Id="Rfd040d605354417a" /><Relationship Type="http://schemas.openxmlformats.org/officeDocument/2006/relationships/notesSlide" Target="/ppt/notesSlides/notesSlide106.xml" Id="Rebb439b948c14a59"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7.xml" Id="R71bd708bc14f48d0" /><Relationship Type="http://schemas.openxmlformats.org/officeDocument/2006/relationships/notesSlide" Target="/ppt/notesSlides/notesSlide107.xml" Id="R548d8e2db92c40e3"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7.xml" Id="Red58534283fd4432" /><Relationship Type="http://schemas.openxmlformats.org/officeDocument/2006/relationships/notesSlide" Target="/ppt/notesSlides/notesSlide108.xml" Id="R96c4c7dbc2074060"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7.xml" Id="Rabc9a719403d40d8" /><Relationship Type="http://schemas.openxmlformats.org/officeDocument/2006/relationships/notesSlide" Target="/ppt/notesSlides/notesSlide109.xml" Id="R2db3ed882f4641fc"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7.xml" Id="R9856159f7cf04727" /><Relationship Type="http://schemas.openxmlformats.org/officeDocument/2006/relationships/notesSlide" Target="/ppt/notesSlides/notesSlide110.xml" Id="R53e24c358cf94a6e"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7.xml" Id="Re1e60fec583e452f" /><Relationship Type="http://schemas.openxmlformats.org/officeDocument/2006/relationships/notesSlide" Target="/ppt/notesSlides/notesSlide111.xml" Id="R951fea8627fb436d"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7.xml" Id="R43f9076f47c04dfb" /><Relationship Type="http://schemas.openxmlformats.org/officeDocument/2006/relationships/notesSlide" Target="/ppt/notesSlides/notesSlide112.xml" Id="R8135f452d147412c"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7.xml" Id="R386c58fc6a974cf6" /><Relationship Type="http://schemas.openxmlformats.org/officeDocument/2006/relationships/notesSlide" Target="/ppt/notesSlides/notesSlide113.xml" Id="Rdb4101eaff1945a6"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7.xml" Id="Rcd058b75e6de40e7" /><Relationship Type="http://schemas.openxmlformats.org/officeDocument/2006/relationships/notesSlide" Target="/ppt/notesSlides/notesSlide114.xml" Id="Rdcf1cd1419b74685"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7.xml" Id="R80c43d1a2aca4899" /><Relationship Type="http://schemas.openxmlformats.org/officeDocument/2006/relationships/notesSlide" Target="/ppt/notesSlides/notesSlide115.xml" Id="Rfdb3144af8ec4e7f"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7.xml" Id="Rf237b20f0e234ea9" /><Relationship Type="http://schemas.openxmlformats.org/officeDocument/2006/relationships/notesSlide" Target="/ppt/notesSlides/notesSlide116.xml" Id="R759568be3e9d4f1e"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7.xml" Id="Rdfc398182a864018" /><Relationship Type="http://schemas.openxmlformats.org/officeDocument/2006/relationships/notesSlide" Target="/ppt/notesSlides/notesSlide117.xml" Id="R29a08a8d541b4348"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7.xml" Id="Rdfac82201360458f" /><Relationship Type="http://schemas.openxmlformats.org/officeDocument/2006/relationships/notesSlide" Target="/ppt/notesSlides/notesSlide118.xml" Id="R73690d448b09462b"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7.xml" Id="R57759c4da4c84de4" /><Relationship Type="http://schemas.openxmlformats.org/officeDocument/2006/relationships/notesSlide" Target="/ppt/notesSlides/notesSlide119.xml" Id="R1a6c603d566949bd"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7.xml" Id="R0614b30e2fa24e20" /><Relationship Type="http://schemas.openxmlformats.org/officeDocument/2006/relationships/notesSlide" Target="/ppt/notesSlides/notesSlide120.xml" Id="Raaed9548f2b349c0"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7.xml" Id="R2b3d15e5608b4e7a" /><Relationship Type="http://schemas.openxmlformats.org/officeDocument/2006/relationships/notesSlide" Target="/ppt/notesSlides/notesSlide121.xml" Id="Rbba40117c09d4b92"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7.xml" Id="R9257464be8f44a05" /><Relationship Type="http://schemas.openxmlformats.org/officeDocument/2006/relationships/notesSlide" Target="/ppt/notesSlides/notesSlide122.xml" Id="R840386a1011b4589"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7.xml" Id="R142361917e6e4576" /><Relationship Type="http://schemas.openxmlformats.org/officeDocument/2006/relationships/notesSlide" Target="/ppt/notesSlides/notesSlide123.xml" Id="R67d4210b5c4647fb"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7.xml" Id="R17c5cdd13e01437a" /><Relationship Type="http://schemas.openxmlformats.org/officeDocument/2006/relationships/notesSlide" Target="/ppt/notesSlides/notesSlide124.xml" Id="R318ccd7e36f44624"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7.xml" Id="R5ab05cd0fe214ad6" /><Relationship Type="http://schemas.openxmlformats.org/officeDocument/2006/relationships/notesSlide" Target="/ppt/notesSlides/notesSlide125.xml" Id="R0fb732f53dcb41fe"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7.xml" Id="Rfd532d3352bc4a1c" /><Relationship Type="http://schemas.openxmlformats.org/officeDocument/2006/relationships/notesSlide" Target="/ppt/notesSlides/notesSlide126.xml" Id="R9962147ca11c4617"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7.xml" Id="R67331533b44347d3" /><Relationship Type="http://schemas.openxmlformats.org/officeDocument/2006/relationships/notesSlide" Target="/ppt/notesSlides/notesSlide127.xml" Id="Rc479984419c7471a"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7.xml" Id="R2343d72b371d459f" /><Relationship Type="http://schemas.openxmlformats.org/officeDocument/2006/relationships/notesSlide" Target="/ppt/notesSlides/notesSlide128.xml" Id="R4dc822cd26454062"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7.xml" Id="R657f869a00b048da" /><Relationship Type="http://schemas.openxmlformats.org/officeDocument/2006/relationships/notesSlide" Target="/ppt/notesSlides/notesSlide129.xml" Id="Rea78bc3a35e9432f"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7.xml" Id="Rb30d17dfa74d47fd" /><Relationship Type="http://schemas.openxmlformats.org/officeDocument/2006/relationships/notesSlide" Target="/ppt/notesSlides/notesSlide130.xml" Id="R4728caa7080541d3"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7.xml" Id="R07798900a43e40cc" /><Relationship Type="http://schemas.openxmlformats.org/officeDocument/2006/relationships/notesSlide" Target="/ppt/notesSlides/notesSlide131.xml" Id="R947edb0bd47741a5"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7.xml" Id="R7736aefa8622474b" /><Relationship Type="http://schemas.openxmlformats.org/officeDocument/2006/relationships/notesSlide" Target="/ppt/notesSlides/notesSlide132.xml" Id="R948c1afb95894096"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7.xml" Id="R7d61d35b207142ba" /><Relationship Type="http://schemas.openxmlformats.org/officeDocument/2006/relationships/notesSlide" Target="/ppt/notesSlides/notesSlide133.xml" Id="R3bf508bd81544499"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7.xml" Id="R2edba276e73c4e08" /><Relationship Type="http://schemas.openxmlformats.org/officeDocument/2006/relationships/notesSlide" Target="/ppt/notesSlides/notesSlide134.xml" Id="R587e1f8766fe4964"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7.xml" Id="R3f45e2a70d8b4bd5" /><Relationship Type="http://schemas.openxmlformats.org/officeDocument/2006/relationships/notesSlide" Target="/ppt/notesSlides/notesSlide135.xml" Id="R8f469fc0bfad4db0"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7.xml" Id="R3f9ba73928e24fc9" /><Relationship Type="http://schemas.openxmlformats.org/officeDocument/2006/relationships/notesSlide" Target="/ppt/notesSlides/notesSlide136.xml" Id="R706a5711adef44f9"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7.xml" Id="R1bfc57040ab14515" /><Relationship Type="http://schemas.openxmlformats.org/officeDocument/2006/relationships/notesSlide" Target="/ppt/notesSlides/notesSlide137.xml" Id="Rfe022c566c0c470b"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7.xml" Id="Raecef8663780476b" /><Relationship Type="http://schemas.openxmlformats.org/officeDocument/2006/relationships/notesSlide" Target="/ppt/notesSlides/notesSlide138.xml" Id="R178cb33daa6a425c"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7.xml" Id="R1bcdbde94f4b4394" /><Relationship Type="http://schemas.openxmlformats.org/officeDocument/2006/relationships/notesSlide" Target="/ppt/notesSlides/notesSlide139.xml" Id="Rb3d2570741164f93"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7.xml" Id="R00991c904ed446d7" /><Relationship Type="http://schemas.openxmlformats.org/officeDocument/2006/relationships/notesSlide" Target="/ppt/notesSlides/notesSlide140.xml" Id="Rbee17709c4824867"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7.xml" Id="R3e6f262b02ee4ec5" /><Relationship Type="http://schemas.openxmlformats.org/officeDocument/2006/relationships/notesSlide" Target="/ppt/notesSlides/notesSlide141.xml" Id="R51f3b99375d64708"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7.xml" Id="R8647bcc004d44b7a" /><Relationship Type="http://schemas.openxmlformats.org/officeDocument/2006/relationships/notesSlide" Target="/ppt/notesSlides/notesSlide142.xml" Id="R656bf23a754f48d0"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7.xml" Id="R2b3d6f5d6a704b74" /><Relationship Type="http://schemas.openxmlformats.org/officeDocument/2006/relationships/notesSlide" Target="/ppt/notesSlides/notesSlide143.xml" Id="R671f75d70e464b09"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7.xml" Id="R76e106781e7b473c" /><Relationship Type="http://schemas.openxmlformats.org/officeDocument/2006/relationships/notesSlide" Target="/ppt/notesSlides/notesSlide144.xml" Id="R6449d6f293e047e8"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7.xml" Id="R229688f636274d90" /><Relationship Type="http://schemas.openxmlformats.org/officeDocument/2006/relationships/notesSlide" Target="/ppt/notesSlides/notesSlide145.xml" Id="R9d4cb7af39df4908"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7.xml" Id="R9a1aa77455c5493c" /><Relationship Type="http://schemas.openxmlformats.org/officeDocument/2006/relationships/notesSlide" Target="/ppt/notesSlides/notesSlide146.xml" Id="Rdd3525b58b224b01"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7.xml" Id="R90fd47e5f6b0477f" /><Relationship Type="http://schemas.openxmlformats.org/officeDocument/2006/relationships/notesSlide" Target="/ppt/notesSlides/notesSlide147.xml" Id="R1fb3ad6382a74055"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7.xml" Id="Rebfa2b3706564d0e" /><Relationship Type="http://schemas.openxmlformats.org/officeDocument/2006/relationships/notesSlide" Target="/ppt/notesSlides/notesSlide148.xml" Id="R0671da44de9542f6"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7.xml" Id="R033fd55cea464ecb" /><Relationship Type="http://schemas.openxmlformats.org/officeDocument/2006/relationships/notesSlide" Target="/ppt/notesSlides/notesSlide149.xml" Id="Rfbfd401911e0452d"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7.xml" Id="Rebe6034cd2804c41" /><Relationship Type="http://schemas.openxmlformats.org/officeDocument/2006/relationships/notesSlide" Target="/ppt/notesSlides/notesSlide150.xml" Id="R46f3838ef6774454"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7.xml" Id="Rade4cd1450784652" /><Relationship Type="http://schemas.openxmlformats.org/officeDocument/2006/relationships/notesSlide" Target="/ppt/notesSlides/notesSlide151.xml" Id="R6117eb241d0946a4"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7.xml" Id="R86cd086999aa424c" /><Relationship Type="http://schemas.openxmlformats.org/officeDocument/2006/relationships/notesSlide" Target="/ppt/notesSlides/notesSlide152.xml" Id="R96da4d417d614167"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7.xml" Id="R20c1d890851049a8" /><Relationship Type="http://schemas.openxmlformats.org/officeDocument/2006/relationships/notesSlide" Target="/ppt/notesSlides/notesSlide153.xml" Id="Rb4f675d0e00f47f5"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7.xml" Id="Rb17c10412f7f4f27" /><Relationship Type="http://schemas.openxmlformats.org/officeDocument/2006/relationships/notesSlide" Target="/ppt/notesSlides/notesSlide154.xml" Id="Rdca3a09bf64843dd"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7.xml" Id="R496abe9fbca8416e" /><Relationship Type="http://schemas.openxmlformats.org/officeDocument/2006/relationships/notesSlide" Target="/ppt/notesSlides/notesSlide155.xml" Id="R039f546369834093"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7.xml" Id="R51d245f0d8b740e2" /><Relationship Type="http://schemas.openxmlformats.org/officeDocument/2006/relationships/notesSlide" Target="/ppt/notesSlides/notesSlide156.xml" Id="R308338eea7c04f63"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7.xml" Id="Rf90ebcf5013a447a" /><Relationship Type="http://schemas.openxmlformats.org/officeDocument/2006/relationships/notesSlide" Target="/ppt/notesSlides/notesSlide157.xml" Id="R486050709d884141"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7.xml" Id="Rb67fc61607184fcc" /><Relationship Type="http://schemas.openxmlformats.org/officeDocument/2006/relationships/notesSlide" Target="/ppt/notesSlides/notesSlide158.xml" Id="Rb687a552a70e4cda"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7.xml" Id="Rbc2eae9015fb4521" /><Relationship Type="http://schemas.openxmlformats.org/officeDocument/2006/relationships/notesSlide" Target="/ppt/notesSlides/notesSlide159.xml" Id="R43c2af5eb5274ff4"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7.xml" Id="R09917a6b3a2a4404" /><Relationship Type="http://schemas.openxmlformats.org/officeDocument/2006/relationships/notesSlide" Target="/ppt/notesSlides/notesSlide160.xml" Id="R2f950b42a31e4e79"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7.xml" Id="R42f2c9aca9d44f8d" /><Relationship Type="http://schemas.openxmlformats.org/officeDocument/2006/relationships/notesSlide" Target="/ppt/notesSlides/notesSlide161.xml" Id="R9bf334138a334a6b"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7.xml" Id="R6bdbacf6434a4e52" /><Relationship Type="http://schemas.openxmlformats.org/officeDocument/2006/relationships/notesSlide" Target="/ppt/notesSlides/notesSlide162.xml" Id="Rba160e52b2944f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13 OXPHOS genes encoded by mitochondrial DNA</c:v>
          </c:tx>
          <c:spPr>
            <a:solidFill xmlns:a="http://schemas.openxmlformats.org/drawingml/2006/main">
              <a:srgbClr val="0072B2"/>
            </a:solidFill>
            <a:ln xmlns:a="http://schemas.openxmlformats.org/drawingml/2006/main" w="9525">
              <a:solidFill>
                <a:srgbClr val="0072B2"/>
              </a:solidFill>
              <a:prstDash val="solid"/>
            </a:ln>
          </c:spPr>
          <c:dLbls>
            <c:dLbl>
              <c:idx val="3"/>
              <c:txPr>
                <a:bodyPr xmlns:a="http://schemas.openxmlformats.org/drawingml/2006/main" anchorCtr="1"/>
                <a:lstStyle xmlns:a="http://schemas.openxmlformats.org/drawingml/2006/main"/>
                <a:p xmlns:a="http://schemas.openxmlformats.org/drawingml/2006/main">
                  <a:pPr>
                    <a:defRPr sz="1125" b="1">
                      <a:solidFill>
                        <a:srgbClr val="0072B2"/>
                      </a:solidFill>
                      <a:latin typeface="Arial"/>
                      <a:ea typeface="Arial"/>
                      <a:cs typeface="Arial"/>
                    </a:defRPr>
                  </a:pPr>
                </a:p>
              </c:txPr>
              <c:dLblPos val="outEnd"/>
              <c:showLegendKey val="0"/>
              <c:showVal val="1"/>
              <c:showCatName val="0"/>
              <c:showSerName val="0"/>
              <c:showPercent val="0"/>
              <c:showBubbleSize val="0"/>
            </c:dLbl>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c:formatCode>
                <c:ptCount val="6"/>
                <c:pt idx="0">
                  <c:v>99</c:v>
                </c:pt>
                <c:pt idx="1">
                  <c:v>100</c:v>
                </c:pt>
                <c:pt idx="2">
                  <c:v>41</c:v>
                </c:pt>
                <c:pt idx="3">
                  <c:v>10</c:v>
                </c:pt>
                <c:pt idx="4">
                  <c:v>86</c:v>
                </c:pt>
                <c:pt idx="5">
                  <c:v>79</c:v>
                </c:pt>
              </c:numCache>
            </c:numRef>
          </c:val>
        </c:ser>
        <c:ser>
          <c:idx val="1"/>
          <c:order val="1"/>
          <c:tx>
            <c:v>86 structural OXPHOS genes encoded by nuclear DNA</c:v>
          </c:tx>
          <c:spPr>
            <a:solidFill xmlns:a="http://schemas.openxmlformats.org/drawingml/2006/main">
              <a:srgbClr val="D55E00"/>
            </a:solidFill>
            <a:ln xmlns:a="http://schemas.openxmlformats.org/drawingml/2006/main" w="9525">
              <a:solidFill>
                <a:srgbClr val="D55E00"/>
              </a:solidFill>
              <a:prstDash val="solid"/>
            </a:ln>
          </c:spPr>
          <c:dLbls>
            <c:dLbl>
              <c:idx val="2"/>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1"/>
              <c:showCatName val="0"/>
              <c:showSerName val="0"/>
              <c:showPercent val="0"/>
              <c:showBubbleSize val="0"/>
            </c:dLbl>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c:formatCode>
                <c:ptCount val="6"/>
                <c:pt idx="0">
                  <c:v>98</c:v>
                </c:pt>
                <c:pt idx="1">
                  <c:v>85</c:v>
                </c:pt>
                <c:pt idx="2">
                  <c:v>5</c:v>
                </c:pt>
                <c:pt idx="3">
                  <c:v>13</c:v>
                </c:pt>
                <c:pt idx="4">
                  <c:v>12</c:v>
                </c:pt>
                <c:pt idx="5">
                  <c:v>38</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1"/>
          <c:showCatName val="0"/>
          <c:showSerName val="0"/>
          <c:showPercent val="0"/>
          <c:showBubbleSize val="0"/>
          <c:showLeaderLines val="0"/>
        </c:dLbls>
        <c:gapWidth val="5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67788"/>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1F2730"/>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5DDE6"/>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1F2730"/>
                    </a:solidFill>
                    <a:latin typeface="Arial"/>
                    <a:ea typeface="Arial"/>
                    <a:cs typeface="Arial"/>
                  </a:rPr>
                  <a:t>Upregulated occurrences among all OXPHOS DEG occurrences</a:t>
                </a:r>
              </a:p>
            </c:rich>
          </c:tx>
          <c:overlay val="0"/>
          <c:txPr>
            <a:bodyPr xmlns:a="http://schemas.openxmlformats.org/drawingml/2006/main" anchorCtr="1"/>
            <a:lstStyle xmlns:a="http://schemas.openxmlformats.org/drawingml/2006/main"/>
            <a:p xmlns:a="http://schemas.openxmlformats.org/drawingml/2006/main">
              <a:pPr>
                <a:defRPr sz="1050">
                  <a:solidFill>
                    <a:srgbClr val="1F2730"/>
                  </a:solidFill>
                  <a:latin typeface="Arial"/>
                  <a:ea typeface="Arial"/>
                  <a:cs typeface="Arial"/>
                </a:defRPr>
              </a:pPr>
            </a:p>
          </c:txPr>
        </c:title>
        <c:numFmt formatCode="0&quot;%&quot;"/>
        <c:majorTickMark val="none"/>
        <c:minorTickMark val="none"/>
        <c:spPr>
          <a:ln xmlns:a="http://schemas.openxmlformats.org/drawingml/2006/main" w="9525">
            <a:solidFill>
              <a:srgbClr val="667788"/>
            </a:solidFill>
            <a:prstDash val="solid"/>
          </a:ln>
        </c:spPr>
        <c:txPr>
          <a:bodyPr xmlns:a="http://schemas.openxmlformats.org/drawingml/2006/main" anchorCtr="1"/>
          <a:lstStyle xmlns:a="http://schemas.openxmlformats.org/drawingml/2006/main"/>
          <a:p xmlns:a="http://schemas.openxmlformats.org/drawingml/2006/main">
            <a:pPr>
              <a:defRPr sz="975">
                <a:solidFill>
                  <a:srgbClr val="1F2730"/>
                </a:solidFill>
                <a:latin typeface="Arial"/>
                <a:ea typeface="Arial"/>
                <a:cs typeface="Arial"/>
              </a:defRPr>
            </a:pPr>
          </a:p>
        </c:txPr>
        <c:crossAx val="48650112"/>
        <c:crossBetween val="between"/>
        <c:majorUnit val="25"/>
      </c:valAx>
      <c:spPr>
        <a:solidFill xmlns:a="http://schemas.openxmlformats.org/drawingml/2006/main">
          <a:srgbClr val="FFFFFF"/>
        </a:solidFill>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F27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D116230-CD20-4199-A460-95D3D4C64572}"/>
              </a:ext>
            </a:extLst>
          </p:cNvPr>
          <p:cNvSpPr>
            <a:spLocks xmlns:a="http://schemas.openxmlformats.org/drawingml/2006/main" noGrp="1"/>
          </p:cNvSpPr>
          <p:nvPr/>
        </p:nvSpPr>
        <p:spPr>
          <a:xfrm xmlns:a="http://schemas.openxmlformats.org/drawingml/2006/main">
            <a:off x="713232" y="753174"/>
            <a:ext cx="10287000" cy="193283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Sex, APOE, and Mitochondrial Gene Expression in Alzheimer’s Disease</a:t>
            </a:r>
          </a:p>
          <a:p xmlns:a="http://schemas.openxmlformats.org/drawingml/2006/main">
            <a:endParaRPr sz="3400" b="1">
              <a:solidFill>
                <a:srgbClr val="FFFFFF"/>
              </a:solidFill>
              <a:latin typeface="Arial"/>
              <a:ea typeface="Arial"/>
              <a:cs typeface="Arial"/>
            </a:endParaRPr>
          </a:p>
          <a:p xmlns:a="http://schemas.openxmlformats.org/drawingml/2006/main">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sld>
</file>

<file path=ppt/slides/slide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A316EEB-069D-41A8-577B-5F43F368006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0F86007-9552-FFC3-B183-B90F517A5A0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a:t>
            </a:r>
            <a:r>
              <a:rPr sz="1050" b="1">
                <a:solidFill>
                  <a:srgbClr val="0072B2"/>
                </a:solidFill>
                <a:latin typeface="Arial"/>
                <a:ea typeface="Arial"/>
                <a:cs typeface="Arial"/>
              </a:rPr>
              <a:t>1</a:t>
            </a:r>
            <a:endParaRPr sz="1050" b="1" i="0">
              <a:solidFill>
                <a:srgbClr val="0072B2"/>
              </a:solidFill>
              <a:latin typeface="Arial"/>
              <a:ea typeface="Arial"/>
              <a:cs typeface="Arial"/>
            </a:endParaRPr>
          </a:p>
        </p:txBody>
      </p:sp>
    </p:spTree>
    <p:extLst>
      <p:ext uri="{BB962C8B-B14F-4D97-AF65-F5344CB8AC3E}">
        <p14:creationId xmlns:p14="http://schemas.microsoft.com/office/powerpoint/2010/main" val="1572448250"/>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ABE309-C9E3-48FF-A8F2-A0EF08A29372}"/>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xmlns:a="http://schemas.openxmlformats.org/drawingml/2006/main">
              <a:ext uri="{FF2B5EF4-FFF2-40B4-BE49-F238E27FC236}">
                <a16:creationId xmlns:a16="http://schemas.microsoft.com/office/drawing/2014/main" id="{AFCB9572-86B4-40FF-8174-14DE2FC5F595}"/>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a:t>
            </a:r>
          </a:p>
        </p:txBody>
      </p:sp>
      <p:sp>
        <p:nvSpPr>
          <p:cNvPr id="4" name="Rounded Rectangle 3">
            <a:extLst xmlns:a="http://schemas.openxmlformats.org/drawingml/2006/main">
              <a:ext uri="{FF2B5EF4-FFF2-40B4-BE49-F238E27FC236}">
                <a16:creationId xmlns:a16="http://schemas.microsoft.com/office/drawing/2014/main" id="{783C0F05-8BCC-4C1E-99DB-9C95EA400582}"/>
              </a:ext>
            </a:extLst>
          </p:cNvPr>
          <p:cNvSpPr>
            <a:spLocks xmlns:a="http://schemas.openxmlformats.org/drawingml/2006/main" noGrp="1"/>
          </p:cNvSpPr>
          <p:nvPr/>
        </p:nvSpPr>
        <p:spPr>
          <a:xfrm xmlns:a="http://schemas.openxmlformats.org/drawingml/2006/main">
            <a:off x="603504" y="1261872"/>
            <a:ext cx="2157984" cy="841248"/>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2042E1-1881-4A0D-A856-6BD035FB9B6E}"/>
              </a:ext>
            </a:extLst>
          </p:cNvPr>
          <p:cNvSpPr>
            <a:spLocks xmlns:a="http://schemas.openxmlformats.org/drawingml/2006/main" noGrp="1"/>
          </p:cNvSpPr>
          <p:nvPr/>
        </p:nvSpPr>
        <p:spPr>
          <a:xfrm xmlns:a="http://schemas.openxmlformats.org/drawingml/2006/main">
            <a:off x="713232"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xmlns:a="http://schemas.openxmlformats.org/drawingml/2006/main">
              <a:ext uri="{FF2B5EF4-FFF2-40B4-BE49-F238E27FC236}">
                <a16:creationId xmlns:a16="http://schemas.microsoft.com/office/drawing/2014/main" id="{4CA06EC8-5501-4A49-8CF5-CF9C879F44D2}"/>
              </a:ext>
            </a:extLst>
          </p:cNvPr>
          <p:cNvSpPr>
            <a:spLocks xmlns:a="http://schemas.openxmlformats.org/drawingml/2006/main" noGrp="1"/>
          </p:cNvSpPr>
          <p:nvPr/>
        </p:nvSpPr>
        <p:spPr>
          <a:xfrm xmlns:a="http://schemas.openxmlformats.org/drawingml/2006/main">
            <a:off x="1463040" y="1463040"/>
            <a:ext cx="1188719"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xmlns:a="http://schemas.openxmlformats.org/drawingml/2006/main">
              <a:ext uri="{FF2B5EF4-FFF2-40B4-BE49-F238E27FC236}">
                <a16:creationId xmlns:a16="http://schemas.microsoft.com/office/drawing/2014/main" id="{C2A22B25-B9D1-4F1E-B499-772695760BDA}"/>
              </a:ext>
            </a:extLst>
          </p:cNvPr>
          <p:cNvSpPr>
            <a:spLocks xmlns:a="http://schemas.openxmlformats.org/drawingml/2006/main" noGrp="1"/>
          </p:cNvSpPr>
          <p:nvPr/>
        </p:nvSpPr>
        <p:spPr>
          <a:xfrm xmlns:a="http://schemas.openxmlformats.org/drawingml/2006/main">
            <a:off x="2852928"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xmlns:a="http://schemas.openxmlformats.org/drawingml/2006/main">
              <a:ext uri="{FF2B5EF4-FFF2-40B4-BE49-F238E27FC236}">
                <a16:creationId xmlns:a16="http://schemas.microsoft.com/office/drawing/2014/main" id="{D2148A89-00B9-4DD8-B7DF-A655AEBC4A4E}"/>
              </a:ext>
            </a:extLst>
          </p:cNvPr>
          <p:cNvSpPr>
            <a:spLocks xmlns:a="http://schemas.openxmlformats.org/drawingml/2006/main" noGrp="1"/>
          </p:cNvSpPr>
          <p:nvPr/>
        </p:nvSpPr>
        <p:spPr>
          <a:xfrm xmlns:a="http://schemas.openxmlformats.org/drawingml/2006/main">
            <a:off x="3310128" y="1261872"/>
            <a:ext cx="1975104" cy="84124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2D9BD53-74AD-440A-877E-734044EEC58A}"/>
              </a:ext>
            </a:extLst>
          </p:cNvPr>
          <p:cNvSpPr>
            <a:spLocks xmlns:a="http://schemas.openxmlformats.org/drawingml/2006/main" noGrp="1"/>
          </p:cNvSpPr>
          <p:nvPr/>
        </p:nvSpPr>
        <p:spPr>
          <a:xfrm xmlns:a="http://schemas.openxmlformats.org/drawingml/2006/main">
            <a:off x="3419856"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xmlns:a="http://schemas.openxmlformats.org/drawingml/2006/main">
              <a:ext uri="{FF2B5EF4-FFF2-40B4-BE49-F238E27FC236}">
                <a16:creationId xmlns:a16="http://schemas.microsoft.com/office/drawing/2014/main" id="{A8D6D415-6CCA-4784-A9AD-1A28B381EBFB}"/>
              </a:ext>
            </a:extLst>
          </p:cNvPr>
          <p:cNvSpPr>
            <a:spLocks xmlns:a="http://schemas.openxmlformats.org/drawingml/2006/main" noGrp="1"/>
          </p:cNvSpPr>
          <p:nvPr/>
        </p:nvSpPr>
        <p:spPr>
          <a:xfrm xmlns:a="http://schemas.openxmlformats.org/drawingml/2006/main">
            <a:off x="4169664" y="1463040"/>
            <a:ext cx="1005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xmlns:a="http://schemas.openxmlformats.org/drawingml/2006/main">
              <a:ext uri="{FF2B5EF4-FFF2-40B4-BE49-F238E27FC236}">
                <a16:creationId xmlns:a16="http://schemas.microsoft.com/office/drawing/2014/main" id="{82807640-81E0-4A92-92A6-EBB7277467DE}"/>
              </a:ext>
            </a:extLst>
          </p:cNvPr>
          <p:cNvSpPr>
            <a:spLocks xmlns:a="http://schemas.openxmlformats.org/drawingml/2006/main" noGrp="1"/>
          </p:cNvSpPr>
          <p:nvPr/>
        </p:nvSpPr>
        <p:spPr>
          <a:xfrm xmlns:a="http://schemas.openxmlformats.org/drawingml/2006/main">
            <a:off x="5376672"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xmlns:a="http://schemas.openxmlformats.org/drawingml/2006/main">
              <a:ext uri="{FF2B5EF4-FFF2-40B4-BE49-F238E27FC236}">
                <a16:creationId xmlns:a16="http://schemas.microsoft.com/office/drawing/2014/main" id="{5C1612BB-C0AB-4676-B620-7CFBF03B12A0}"/>
              </a:ext>
            </a:extLst>
          </p:cNvPr>
          <p:cNvSpPr>
            <a:spLocks xmlns:a="http://schemas.openxmlformats.org/drawingml/2006/main" noGrp="1"/>
          </p:cNvSpPr>
          <p:nvPr/>
        </p:nvSpPr>
        <p:spPr>
          <a:xfrm xmlns:a="http://schemas.openxmlformats.org/drawingml/2006/main">
            <a:off x="5833872" y="1261872"/>
            <a:ext cx="2157984" cy="841248"/>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92F8939-D400-412A-94EF-7BC0FF1FB9B1}"/>
              </a:ext>
            </a:extLst>
          </p:cNvPr>
          <p:cNvSpPr>
            <a:spLocks xmlns:a="http://schemas.openxmlformats.org/drawingml/2006/main" noGrp="1"/>
          </p:cNvSpPr>
          <p:nvPr/>
        </p:nvSpPr>
        <p:spPr>
          <a:xfrm xmlns:a="http://schemas.openxmlformats.org/drawingml/2006/main">
            <a:off x="5943600"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xmlns:a="http://schemas.openxmlformats.org/drawingml/2006/main">
              <a:ext uri="{FF2B5EF4-FFF2-40B4-BE49-F238E27FC236}">
                <a16:creationId xmlns:a16="http://schemas.microsoft.com/office/drawing/2014/main" id="{CD39BEE1-7B75-4AC0-B404-2BC9A78F8411}"/>
              </a:ext>
            </a:extLst>
          </p:cNvPr>
          <p:cNvSpPr>
            <a:spLocks xmlns:a="http://schemas.openxmlformats.org/drawingml/2006/main" noGrp="1"/>
          </p:cNvSpPr>
          <p:nvPr/>
        </p:nvSpPr>
        <p:spPr>
          <a:xfrm xmlns:a="http://schemas.openxmlformats.org/drawingml/2006/main">
            <a:off x="6693408" y="1463040"/>
            <a:ext cx="1188719"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xmlns:a="http://schemas.openxmlformats.org/drawingml/2006/main">
              <a:ext uri="{FF2B5EF4-FFF2-40B4-BE49-F238E27FC236}">
                <a16:creationId xmlns:a16="http://schemas.microsoft.com/office/drawing/2014/main" id="{0F149D61-E0B1-43EA-9C60-5C83750A956E}"/>
              </a:ext>
            </a:extLst>
          </p:cNvPr>
          <p:cNvSpPr>
            <a:spLocks xmlns:a="http://schemas.openxmlformats.org/drawingml/2006/main" noGrp="1"/>
          </p:cNvSpPr>
          <p:nvPr/>
        </p:nvSpPr>
        <p:spPr>
          <a:xfrm xmlns:a="http://schemas.openxmlformats.org/drawingml/2006/main">
            <a:off x="8083296"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xmlns:a="http://schemas.openxmlformats.org/drawingml/2006/main">
              <a:ext uri="{FF2B5EF4-FFF2-40B4-BE49-F238E27FC236}">
                <a16:creationId xmlns:a16="http://schemas.microsoft.com/office/drawing/2014/main" id="{295304B1-6E48-4817-80DA-93860307ABB8}"/>
              </a:ext>
            </a:extLst>
          </p:cNvPr>
          <p:cNvSpPr>
            <a:spLocks xmlns:a="http://schemas.openxmlformats.org/drawingml/2006/main" noGrp="1"/>
          </p:cNvSpPr>
          <p:nvPr/>
        </p:nvSpPr>
        <p:spPr>
          <a:xfrm xmlns:a="http://schemas.openxmlformats.org/drawingml/2006/main">
            <a:off x="8540496" y="1261872"/>
            <a:ext cx="3044952" cy="841248"/>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01C2CFF-53CF-4D76-A412-6C11E2CA0186}"/>
              </a:ext>
            </a:extLst>
          </p:cNvPr>
          <p:cNvSpPr>
            <a:spLocks xmlns:a="http://schemas.openxmlformats.org/drawingml/2006/main" noGrp="1"/>
          </p:cNvSpPr>
          <p:nvPr/>
        </p:nvSpPr>
        <p:spPr>
          <a:xfrm xmlns:a="http://schemas.openxmlformats.org/drawingml/2006/main">
            <a:off x="8650224"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xmlns:a="http://schemas.openxmlformats.org/drawingml/2006/main">
              <a:ext uri="{FF2B5EF4-FFF2-40B4-BE49-F238E27FC236}">
                <a16:creationId xmlns:a16="http://schemas.microsoft.com/office/drawing/2014/main" id="{A7BD88E4-29E5-4E20-9001-225028ABFB98}"/>
              </a:ext>
            </a:extLst>
          </p:cNvPr>
          <p:cNvSpPr>
            <a:spLocks xmlns:a="http://schemas.openxmlformats.org/drawingml/2006/main" noGrp="1"/>
          </p:cNvSpPr>
          <p:nvPr/>
        </p:nvSpPr>
        <p:spPr>
          <a:xfrm xmlns:a="http://schemas.openxmlformats.org/drawingml/2006/main">
            <a:off x="9400032" y="1463040"/>
            <a:ext cx="2075688"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xmlns:a="http://schemas.openxmlformats.org/drawingml/2006/main">
              <a:ext uri="{FF2B5EF4-FFF2-40B4-BE49-F238E27FC236}">
                <a16:creationId xmlns:a16="http://schemas.microsoft.com/office/drawing/2014/main" id="{C9776B47-05AA-4A96-8279-73A57EE15FFF}"/>
              </a:ext>
            </a:extLst>
          </p:cNvPr>
          <p:cNvSpPr>
            <a:spLocks xmlns:a="http://schemas.openxmlformats.org/drawingml/2006/main" noGrp="1"/>
          </p:cNvSpPr>
          <p:nvPr/>
        </p:nvSpPr>
        <p:spPr>
          <a:xfrm xmlns:a="http://schemas.openxmlformats.org/drawingml/2006/main">
            <a:off x="621792" y="2212848"/>
            <a:ext cx="10954512" cy="3323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xmlns:a="http://schemas.openxmlformats.org/drawingml/2006/main">
              <a:ext uri="{FF2B5EF4-FFF2-40B4-BE49-F238E27FC236}">
                <a16:creationId xmlns:a16="http://schemas.microsoft.com/office/drawing/2014/main" id="{EADAEADC-96D3-4FD9-84AB-CD1B9DCD3675}"/>
              </a:ext>
            </a:extLst>
          </p:cNvPr>
          <p:cNvSpPr>
            <a:spLocks xmlns:a="http://schemas.openxmlformats.org/drawingml/2006/main" noGrp="1"/>
          </p:cNvSpPr>
          <p:nvPr/>
        </p:nvSpPr>
        <p:spPr>
          <a:xfrm xmlns:a="http://schemas.openxmlformats.org/drawingml/2006/main">
            <a:off x="603504" y="2703142"/>
            <a:ext cx="5422392" cy="321868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48DB1D99-3E39-4EE8-81B1-E579A7B0AB7D}"/>
              </a:ext>
            </a:extLst>
          </p:cNvPr>
          <p:cNvSpPr>
            <a:spLocks xmlns:a="http://schemas.openxmlformats.org/drawingml/2006/main" noGrp="1"/>
          </p:cNvSpPr>
          <p:nvPr/>
        </p:nvSpPr>
        <p:spPr>
          <a:xfrm xmlns:a="http://schemas.openxmlformats.org/drawingml/2006/main">
            <a:off x="877824" y="2986606"/>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558DA8C8-935B-45B6-B3E0-C2E00D6AF0EF}"/>
              </a:ext>
            </a:extLst>
          </p:cNvPr>
          <p:cNvSpPr>
            <a:spLocks xmlns:a="http://schemas.openxmlformats.org/drawingml/2006/main" noGrp="1"/>
          </p:cNvSpPr>
          <p:nvPr/>
        </p:nvSpPr>
        <p:spPr>
          <a:xfrm xmlns:a="http://schemas.openxmlformats.org/drawingml/2006/main">
            <a:off x="1024126" y="2959174"/>
            <a:ext cx="4855465"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One contrast → run DEG and at most one KDA call</a:t>
            </a:r>
          </a:p>
        </p:txBody>
      </p:sp>
      <p:sp>
        <p:nvSpPr>
          <p:cNvPr id="23" name="Rounded Rectangle 22">
            <a:extLst xmlns:a="http://schemas.openxmlformats.org/drawingml/2006/main">
              <a:ext uri="{FF2B5EF4-FFF2-40B4-BE49-F238E27FC236}">
                <a16:creationId xmlns:a16="http://schemas.microsoft.com/office/drawing/2014/main" id="{C4B88BEE-3638-4BD9-9B63-6CC149E79E1B}"/>
              </a:ext>
            </a:extLst>
          </p:cNvPr>
          <p:cNvSpPr>
            <a:spLocks xmlns:a="http://schemas.openxmlformats.org/drawingml/2006/main" noGrp="1"/>
          </p:cNvSpPr>
          <p:nvPr/>
        </p:nvSpPr>
        <p:spPr>
          <a:xfrm xmlns:a="http://schemas.openxmlformats.org/drawingml/2006/main">
            <a:off x="896112" y="3434662"/>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C3149286-B7B6-4FDD-B244-1D2656E7D904}"/>
              </a:ext>
            </a:extLst>
          </p:cNvPr>
          <p:cNvSpPr>
            <a:spLocks xmlns:a="http://schemas.openxmlformats.org/drawingml/2006/main" noGrp="1"/>
          </p:cNvSpPr>
          <p:nvPr/>
        </p:nvSpPr>
        <p:spPr>
          <a:xfrm xmlns:a="http://schemas.openxmlformats.org/drawingml/2006/main">
            <a:off x="932688" y="3507814"/>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xmlns:a="http://schemas.openxmlformats.org/drawingml/2006/main">
              <a:ext uri="{FF2B5EF4-FFF2-40B4-BE49-F238E27FC236}">
                <a16:creationId xmlns:a16="http://schemas.microsoft.com/office/drawing/2014/main" id="{D0B71D92-1D0F-424C-A9F0-0E2D9A5DB977}"/>
              </a:ext>
            </a:extLst>
          </p:cNvPr>
          <p:cNvSpPr>
            <a:spLocks xmlns:a="http://schemas.openxmlformats.org/drawingml/2006/main" noGrp="1"/>
          </p:cNvSpPr>
          <p:nvPr/>
        </p:nvSpPr>
        <p:spPr>
          <a:xfrm xmlns:a="http://schemas.openxmlformats.org/drawingml/2006/main">
            <a:off x="1426464" y="3425518"/>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xmlns:a="http://schemas.openxmlformats.org/drawingml/2006/main">
              <a:ext uri="{FF2B5EF4-FFF2-40B4-BE49-F238E27FC236}">
                <a16:creationId xmlns:a16="http://schemas.microsoft.com/office/drawing/2014/main" id="{8C70D56D-0CCD-495E-8997-2A5B133C8488}"/>
              </a:ext>
            </a:extLst>
          </p:cNvPr>
          <p:cNvSpPr>
            <a:spLocks xmlns:a="http://schemas.openxmlformats.org/drawingml/2006/main" noGrp="1"/>
          </p:cNvSpPr>
          <p:nvPr/>
        </p:nvSpPr>
        <p:spPr>
          <a:xfrm xmlns:a="http://schemas.openxmlformats.org/drawingml/2006/main">
            <a:off x="1426464" y="3690694"/>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xmlns:a="http://schemas.openxmlformats.org/drawingml/2006/main">
              <a:ext uri="{FF2B5EF4-FFF2-40B4-BE49-F238E27FC236}">
                <a16:creationId xmlns:a16="http://schemas.microsoft.com/office/drawing/2014/main" id="{A80F91B4-3516-4DD6-BA0D-268F93A810E7}"/>
              </a:ext>
            </a:extLst>
          </p:cNvPr>
          <p:cNvSpPr>
            <a:spLocks xmlns:a="http://schemas.openxmlformats.org/drawingml/2006/main" noGrp="1"/>
          </p:cNvSpPr>
          <p:nvPr/>
        </p:nvSpPr>
        <p:spPr>
          <a:xfrm xmlns:a="http://schemas.openxmlformats.org/drawingml/2006/main">
            <a:off x="896112" y="4166182"/>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EF04FE43-13D6-484A-B039-B372042A2829}"/>
              </a:ext>
            </a:extLst>
          </p:cNvPr>
          <p:cNvSpPr>
            <a:spLocks xmlns:a="http://schemas.openxmlformats.org/drawingml/2006/main" noGrp="1"/>
          </p:cNvSpPr>
          <p:nvPr/>
        </p:nvSpPr>
        <p:spPr>
          <a:xfrm xmlns:a="http://schemas.openxmlformats.org/drawingml/2006/main">
            <a:off x="932688" y="4239334"/>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xmlns:a="http://schemas.openxmlformats.org/drawingml/2006/main">
              <a:ext uri="{FF2B5EF4-FFF2-40B4-BE49-F238E27FC236}">
                <a16:creationId xmlns:a16="http://schemas.microsoft.com/office/drawing/2014/main" id="{5736C7D4-2035-4552-92AF-07B779DE35AF}"/>
              </a:ext>
            </a:extLst>
          </p:cNvPr>
          <p:cNvSpPr>
            <a:spLocks xmlns:a="http://schemas.openxmlformats.org/drawingml/2006/main" noGrp="1"/>
          </p:cNvSpPr>
          <p:nvPr/>
        </p:nvSpPr>
        <p:spPr>
          <a:xfrm xmlns:a="http://schemas.openxmlformats.org/drawingml/2006/main">
            <a:off x="1426464" y="4157038"/>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xmlns:a="http://schemas.openxmlformats.org/drawingml/2006/main">
              <a:ext uri="{FF2B5EF4-FFF2-40B4-BE49-F238E27FC236}">
                <a16:creationId xmlns:a16="http://schemas.microsoft.com/office/drawing/2014/main" id="{6171DA4D-EC31-46B8-8933-8FDBEF20E69D}"/>
              </a:ext>
            </a:extLst>
          </p:cNvPr>
          <p:cNvSpPr>
            <a:spLocks xmlns:a="http://schemas.openxmlformats.org/drawingml/2006/main" noGrp="1"/>
          </p:cNvSpPr>
          <p:nvPr/>
        </p:nvSpPr>
        <p:spPr>
          <a:xfrm xmlns:a="http://schemas.openxmlformats.org/drawingml/2006/main">
            <a:off x="1426464" y="4422214"/>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mitochondrial queries with ≥3 genes proceed.</a:t>
            </a:r>
          </a:p>
        </p:txBody>
      </p:sp>
      <p:sp>
        <p:nvSpPr>
          <p:cNvPr id="31" name="Rounded Rectangle 30">
            <a:extLst xmlns:a="http://schemas.openxmlformats.org/drawingml/2006/main">
              <a:ext uri="{FF2B5EF4-FFF2-40B4-BE49-F238E27FC236}">
                <a16:creationId xmlns:a16="http://schemas.microsoft.com/office/drawing/2014/main" id="{E2E97212-C405-4666-A760-5F666393EB7A}"/>
              </a:ext>
            </a:extLst>
          </p:cNvPr>
          <p:cNvSpPr>
            <a:spLocks xmlns:a="http://schemas.openxmlformats.org/drawingml/2006/main" noGrp="1"/>
          </p:cNvSpPr>
          <p:nvPr/>
        </p:nvSpPr>
        <p:spPr>
          <a:xfrm xmlns:a="http://schemas.openxmlformats.org/drawingml/2006/main">
            <a:off x="896112" y="4897702"/>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5B0274D2-88AD-45E6-978C-FAF32FE11228}"/>
              </a:ext>
            </a:extLst>
          </p:cNvPr>
          <p:cNvSpPr>
            <a:spLocks xmlns:a="http://schemas.openxmlformats.org/drawingml/2006/main" noGrp="1"/>
          </p:cNvSpPr>
          <p:nvPr/>
        </p:nvSpPr>
        <p:spPr>
          <a:xfrm xmlns:a="http://schemas.openxmlformats.org/drawingml/2006/main">
            <a:off x="932688" y="4970854"/>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xmlns:a="http://schemas.openxmlformats.org/drawingml/2006/main">
              <a:ext uri="{FF2B5EF4-FFF2-40B4-BE49-F238E27FC236}">
                <a16:creationId xmlns:a16="http://schemas.microsoft.com/office/drawing/2014/main" id="{B07195D3-0AF3-4C79-B939-C94D6B45091D}"/>
              </a:ext>
            </a:extLst>
          </p:cNvPr>
          <p:cNvSpPr>
            <a:spLocks xmlns:a="http://schemas.openxmlformats.org/drawingml/2006/main" noGrp="1"/>
          </p:cNvSpPr>
          <p:nvPr/>
        </p:nvSpPr>
        <p:spPr>
          <a:xfrm xmlns:a="http://schemas.openxmlformats.org/drawingml/2006/main">
            <a:off x="1426464" y="4888558"/>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Run call_key_drivers()</a:t>
            </a:r>
          </a:p>
        </p:txBody>
      </p:sp>
      <p:sp>
        <p:nvSpPr>
          <p:cNvPr id="34" name="TextBox 33">
            <a:extLst xmlns:a="http://schemas.openxmlformats.org/drawingml/2006/main">
              <a:ext uri="{FF2B5EF4-FFF2-40B4-BE49-F238E27FC236}">
                <a16:creationId xmlns:a16="http://schemas.microsoft.com/office/drawing/2014/main" id="{85E39F14-A8C0-4769-87B1-B058A6B2CA46}"/>
              </a:ext>
            </a:extLst>
          </p:cNvPr>
          <p:cNvSpPr>
            <a:spLocks xmlns:a="http://schemas.openxmlformats.org/drawingml/2006/main" noGrp="1"/>
          </p:cNvSpPr>
          <p:nvPr/>
        </p:nvSpPr>
        <p:spPr>
          <a:xfrm xmlns:a="http://schemas.openxmlformats.org/drawingml/2006/main">
            <a:off x="1426464" y="5153734"/>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The call returns a list of significant key-driver genes for that contrast.</a:t>
            </a:r>
          </a:p>
        </p:txBody>
      </p:sp>
      <p:sp>
        <p:nvSpPr>
          <p:cNvPr id="35" name="Rounded Rectangle 34">
            <a:extLst xmlns:a="http://schemas.openxmlformats.org/drawingml/2006/main">
              <a:ext uri="{FF2B5EF4-FFF2-40B4-BE49-F238E27FC236}">
                <a16:creationId xmlns:a16="http://schemas.microsoft.com/office/drawing/2014/main" id="{FD51EC53-17DF-4D40-80D7-2125471ACD26}"/>
              </a:ext>
            </a:extLst>
          </p:cNvPr>
          <p:cNvSpPr>
            <a:spLocks xmlns:a="http://schemas.openxmlformats.org/drawingml/2006/main" noGrp="1"/>
          </p:cNvSpPr>
          <p:nvPr/>
        </p:nvSpPr>
        <p:spPr>
          <a:xfrm xmlns:a="http://schemas.openxmlformats.org/drawingml/2006/main">
            <a:off x="896112" y="5537782"/>
            <a:ext cx="4828032" cy="2560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74DE4D49-467D-4B7D-9F80-30601359881A}"/>
              </a:ext>
            </a:extLst>
          </p:cNvPr>
          <p:cNvSpPr>
            <a:spLocks xmlns:a="http://schemas.openxmlformats.org/drawingml/2006/main" noGrp="1"/>
          </p:cNvSpPr>
          <p:nvPr/>
        </p:nvSpPr>
        <p:spPr>
          <a:xfrm xmlns:a="http://schemas.openxmlformats.org/drawingml/2006/main">
            <a:off x="1005840" y="5592646"/>
            <a:ext cx="4608576"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xmlns:a="http://schemas.openxmlformats.org/drawingml/2006/main">
              <a:ext uri="{FF2B5EF4-FFF2-40B4-BE49-F238E27FC236}">
                <a16:creationId xmlns:a16="http://schemas.microsoft.com/office/drawing/2014/main" id="{7D7384FB-D376-4FA3-8A4E-91DC64A3556D}"/>
              </a:ext>
            </a:extLst>
          </p:cNvPr>
          <p:cNvSpPr>
            <a:spLocks xmlns:a="http://schemas.openxmlformats.org/drawingml/2006/main" noGrp="1"/>
          </p:cNvSpPr>
          <p:nvPr/>
        </p:nvSpPr>
        <p:spPr>
          <a:xfrm xmlns:a="http://schemas.openxmlformats.org/drawingml/2006/main">
            <a:off x="6172200" y="2703142"/>
            <a:ext cx="5413248" cy="321868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D3C55418-6D23-4352-AAEC-A0063E0B35DA}"/>
              </a:ext>
            </a:extLst>
          </p:cNvPr>
          <p:cNvSpPr>
            <a:spLocks xmlns:a="http://schemas.openxmlformats.org/drawingml/2006/main" noGrp="1"/>
          </p:cNvSpPr>
          <p:nvPr/>
        </p:nvSpPr>
        <p:spPr>
          <a:xfrm xmlns:a="http://schemas.openxmlformats.org/drawingml/2006/main">
            <a:off x="6446520" y="2986606"/>
            <a:ext cx="64008" cy="283464"/>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212F5AD5-3BB0-487B-A4D6-9676B5C188F7}"/>
              </a:ext>
            </a:extLst>
          </p:cNvPr>
          <p:cNvSpPr>
            <a:spLocks xmlns:a="http://schemas.openxmlformats.org/drawingml/2006/main" noGrp="1"/>
          </p:cNvSpPr>
          <p:nvPr/>
        </p:nvSpPr>
        <p:spPr>
          <a:xfrm xmlns:a="http://schemas.openxmlformats.org/drawingml/2006/main">
            <a:off x="6592824" y="2959174"/>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xmlns:a="http://schemas.openxmlformats.org/drawingml/2006/main">
              <a:ext uri="{FF2B5EF4-FFF2-40B4-BE49-F238E27FC236}">
                <a16:creationId xmlns:a16="http://schemas.microsoft.com/office/drawing/2014/main" id="{C833B54A-2A24-40FC-A71E-FBA7A97EE97B}"/>
              </a:ext>
            </a:extLst>
          </p:cNvPr>
          <p:cNvSpPr>
            <a:spLocks xmlns:a="http://schemas.openxmlformats.org/drawingml/2006/main" noGrp="1"/>
          </p:cNvSpPr>
          <p:nvPr/>
        </p:nvSpPr>
        <p:spPr>
          <a:xfrm xmlns:a="http://schemas.openxmlformats.org/drawingml/2006/main">
            <a:off x="6455664" y="3471238"/>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0248288B-D890-462D-85C6-E307A88B9A36}"/>
              </a:ext>
            </a:extLst>
          </p:cNvPr>
          <p:cNvSpPr>
            <a:spLocks xmlns:a="http://schemas.openxmlformats.org/drawingml/2006/main" noGrp="1"/>
          </p:cNvSpPr>
          <p:nvPr/>
        </p:nvSpPr>
        <p:spPr>
          <a:xfrm xmlns:a="http://schemas.openxmlformats.org/drawingml/2006/main">
            <a:off x="6547104" y="3553534"/>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xmlns:a="http://schemas.openxmlformats.org/drawingml/2006/main">
              <a:ext uri="{FF2B5EF4-FFF2-40B4-BE49-F238E27FC236}">
                <a16:creationId xmlns:a16="http://schemas.microsoft.com/office/drawing/2014/main" id="{4AFBD91A-E125-4874-80EF-554CA4E0D1D5}"/>
              </a:ext>
            </a:extLst>
          </p:cNvPr>
          <p:cNvSpPr>
            <a:spLocks xmlns:a="http://schemas.openxmlformats.org/drawingml/2006/main" noGrp="1"/>
          </p:cNvSpPr>
          <p:nvPr/>
        </p:nvSpPr>
        <p:spPr>
          <a:xfrm xmlns:a="http://schemas.openxmlformats.org/drawingml/2006/main">
            <a:off x="7772400" y="3544390"/>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xmlns:a="http://schemas.openxmlformats.org/drawingml/2006/main">
              <a:ext uri="{FF2B5EF4-FFF2-40B4-BE49-F238E27FC236}">
                <a16:creationId xmlns:a16="http://schemas.microsoft.com/office/drawing/2014/main" id="{2F568DBE-0F43-4C16-85EC-85624CD1870F}"/>
              </a:ext>
            </a:extLst>
          </p:cNvPr>
          <p:cNvSpPr>
            <a:spLocks xmlns:a="http://schemas.openxmlformats.org/drawingml/2006/main" noGrp="1"/>
          </p:cNvSpPr>
          <p:nvPr/>
        </p:nvSpPr>
        <p:spPr>
          <a:xfrm xmlns:a="http://schemas.openxmlformats.org/drawingml/2006/main">
            <a:off x="6455664" y="3946726"/>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036E5509-D6EA-42C3-8C6F-FB5DEF3D7801}"/>
              </a:ext>
            </a:extLst>
          </p:cNvPr>
          <p:cNvSpPr>
            <a:spLocks xmlns:a="http://schemas.openxmlformats.org/drawingml/2006/main" noGrp="1"/>
          </p:cNvSpPr>
          <p:nvPr/>
        </p:nvSpPr>
        <p:spPr>
          <a:xfrm xmlns:a="http://schemas.openxmlformats.org/drawingml/2006/main">
            <a:off x="6547104" y="4029022"/>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xmlns:a="http://schemas.openxmlformats.org/drawingml/2006/main">
              <a:ext uri="{FF2B5EF4-FFF2-40B4-BE49-F238E27FC236}">
                <a16:creationId xmlns:a16="http://schemas.microsoft.com/office/drawing/2014/main" id="{54AF386C-455F-4CEC-B1B5-26D702D3A9A1}"/>
              </a:ext>
            </a:extLst>
          </p:cNvPr>
          <p:cNvSpPr>
            <a:spLocks xmlns:a="http://schemas.openxmlformats.org/drawingml/2006/main" noGrp="1"/>
          </p:cNvSpPr>
          <p:nvPr/>
        </p:nvSpPr>
        <p:spPr>
          <a:xfrm xmlns:a="http://schemas.openxmlformats.org/drawingml/2006/main">
            <a:off x="7772400" y="4019878"/>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xmlns:a="http://schemas.openxmlformats.org/drawingml/2006/main">
              <a:ext uri="{FF2B5EF4-FFF2-40B4-BE49-F238E27FC236}">
                <a16:creationId xmlns:a16="http://schemas.microsoft.com/office/drawing/2014/main" id="{18B1D105-F4F5-499B-8D9D-146C85FFB287}"/>
              </a:ext>
            </a:extLst>
          </p:cNvPr>
          <p:cNvSpPr>
            <a:spLocks xmlns:a="http://schemas.openxmlformats.org/drawingml/2006/main" noGrp="1"/>
          </p:cNvSpPr>
          <p:nvPr/>
        </p:nvSpPr>
        <p:spPr>
          <a:xfrm xmlns:a="http://schemas.openxmlformats.org/drawingml/2006/main">
            <a:off x="6455664" y="4422214"/>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B77E25C2-27B9-44D5-A4AF-032AFFB475AF}"/>
              </a:ext>
            </a:extLst>
          </p:cNvPr>
          <p:cNvSpPr>
            <a:spLocks xmlns:a="http://schemas.openxmlformats.org/drawingml/2006/main" noGrp="1"/>
          </p:cNvSpPr>
          <p:nvPr/>
        </p:nvSpPr>
        <p:spPr>
          <a:xfrm xmlns:a="http://schemas.openxmlformats.org/drawingml/2006/main">
            <a:off x="6547104" y="4504510"/>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xmlns:a="http://schemas.openxmlformats.org/drawingml/2006/main">
              <a:ext uri="{FF2B5EF4-FFF2-40B4-BE49-F238E27FC236}">
                <a16:creationId xmlns:a16="http://schemas.microsoft.com/office/drawing/2014/main" id="{AC14697B-BAA4-4EB2-9A1F-CA4001B9F977}"/>
              </a:ext>
            </a:extLst>
          </p:cNvPr>
          <p:cNvSpPr>
            <a:spLocks xmlns:a="http://schemas.openxmlformats.org/drawingml/2006/main" noGrp="1"/>
          </p:cNvSpPr>
          <p:nvPr/>
        </p:nvSpPr>
        <p:spPr>
          <a:xfrm xmlns:a="http://schemas.openxmlformats.org/drawingml/2006/main">
            <a:off x="7772400" y="4495366"/>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xmlns:a="http://schemas.openxmlformats.org/drawingml/2006/main">
              <a:ext uri="{FF2B5EF4-FFF2-40B4-BE49-F238E27FC236}">
                <a16:creationId xmlns:a16="http://schemas.microsoft.com/office/drawing/2014/main" id="{81D51346-4628-40F8-98C3-7606F98BEA29}"/>
              </a:ext>
            </a:extLst>
          </p:cNvPr>
          <p:cNvSpPr>
            <a:spLocks xmlns:a="http://schemas.openxmlformats.org/drawingml/2006/main" noGrp="1"/>
          </p:cNvSpPr>
          <p:nvPr/>
        </p:nvSpPr>
        <p:spPr>
          <a:xfrm xmlns:a="http://schemas.openxmlformats.org/drawingml/2006/main">
            <a:off x="8558784" y="4842838"/>
            <a:ext cx="64008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xmlns:a="http://schemas.openxmlformats.org/drawingml/2006/main">
              <a:ext uri="{FF2B5EF4-FFF2-40B4-BE49-F238E27FC236}">
                <a16:creationId xmlns:a16="http://schemas.microsoft.com/office/drawing/2014/main" id="{CF1142D9-79EE-4554-A4E0-4F56775D72D0}"/>
              </a:ext>
            </a:extLst>
          </p:cNvPr>
          <p:cNvSpPr>
            <a:spLocks xmlns:a="http://schemas.openxmlformats.org/drawingml/2006/main" noGrp="1"/>
          </p:cNvSpPr>
          <p:nvPr/>
        </p:nvSpPr>
        <p:spPr>
          <a:xfrm xmlns:a="http://schemas.openxmlformats.org/drawingml/2006/main">
            <a:off x="6473952" y="5179861"/>
            <a:ext cx="4809744"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C42809C4-8FDF-4405-A450-1394492DD9DB}"/>
              </a:ext>
            </a:extLst>
          </p:cNvPr>
          <p:cNvSpPr>
            <a:spLocks xmlns:a="http://schemas.openxmlformats.org/drawingml/2006/main" noGrp="1"/>
          </p:cNvSpPr>
          <p:nvPr/>
        </p:nvSpPr>
        <p:spPr>
          <a:xfrm xmlns:a="http://schemas.openxmlformats.org/drawingml/2006/main">
            <a:off x="6656832" y="5326165"/>
            <a:ext cx="44439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650B09C-4D0A-47F0-84CE-851C400294B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xmlns:a="http://schemas.openxmlformats.org/drawingml/2006/main">
              <a:ext uri="{FF2B5EF4-FFF2-40B4-BE49-F238E27FC236}">
                <a16:creationId xmlns:a16="http://schemas.microsoft.com/office/drawing/2014/main" id="{E8473722-5B37-4654-A9C8-AAC87D0440E8}"/>
              </a:ext>
            </a:extLst>
          </p:cNvPr>
          <p:cNvSpPr>
            <a:spLocks xmlns:a="http://schemas.openxmlformats.org/drawingml/2006/main" noGrp="1"/>
          </p:cNvSpPr>
          <p:nvPr/>
        </p:nvSpPr>
        <p:spPr>
          <a:xfrm xmlns:a="http://schemas.openxmlformats.org/drawingml/2006/main">
            <a:off x="548640" y="861567"/>
            <a:ext cx="10561320" cy="2277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xmlns:a="http://schemas.openxmlformats.org/drawingml/2006/main">
              <a:ext uri="{FF2B5EF4-FFF2-40B4-BE49-F238E27FC236}">
                <a16:creationId xmlns:a16="http://schemas.microsoft.com/office/drawing/2014/main" id="{D8AE6BF2-D0CF-42F8-94CD-98CFE6F44DD7}"/>
              </a:ext>
            </a:extLst>
          </p:cNvPr>
          <p:cNvSpPr>
            <a:spLocks xmlns:a="http://schemas.openxmlformats.org/drawingml/2006/main" noGrp="1"/>
          </p:cNvSpPr>
          <p:nvPr/>
        </p:nvSpPr>
        <p:spPr>
          <a:xfrm xmlns:a="http://schemas.openxmlformats.org/drawingml/2006/main">
            <a:off x="658368"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0E5C88F-6CE1-43C6-971F-770E5D4BA0FA}"/>
              </a:ext>
            </a:extLst>
          </p:cNvPr>
          <p:cNvSpPr>
            <a:spLocks xmlns:a="http://schemas.openxmlformats.org/drawingml/2006/main" noGrp="1"/>
          </p:cNvSpPr>
          <p:nvPr/>
        </p:nvSpPr>
        <p:spPr>
          <a:xfrm xmlns:a="http://schemas.openxmlformats.org/drawingml/2006/main">
            <a:off x="822959"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xmlns:a="http://schemas.openxmlformats.org/drawingml/2006/main">
              <a:ext uri="{FF2B5EF4-FFF2-40B4-BE49-F238E27FC236}">
                <a16:creationId xmlns:a16="http://schemas.microsoft.com/office/drawing/2014/main" id="{F99010AA-ED42-4086-B32F-37D37A40B545}"/>
              </a:ext>
            </a:extLst>
          </p:cNvPr>
          <p:cNvSpPr>
            <a:spLocks xmlns:a="http://schemas.openxmlformats.org/drawingml/2006/main" noGrp="1"/>
          </p:cNvSpPr>
          <p:nvPr/>
        </p:nvSpPr>
        <p:spPr>
          <a:xfrm xmlns:a="http://schemas.openxmlformats.org/drawingml/2006/main">
            <a:off x="2048256" y="1314491"/>
            <a:ext cx="1828800" cy="39395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xmlns:a="http://schemas.openxmlformats.org/drawingml/2006/main">
              <a:ext uri="{FF2B5EF4-FFF2-40B4-BE49-F238E27FC236}">
                <a16:creationId xmlns:a16="http://schemas.microsoft.com/office/drawing/2014/main" id="{98A0FD29-D12C-4F6B-A119-773CE09124F6}"/>
              </a:ext>
            </a:extLst>
          </p:cNvPr>
          <p:cNvSpPr>
            <a:spLocks xmlns:a="http://schemas.openxmlformats.org/drawingml/2006/main" noGrp="1"/>
          </p:cNvSpPr>
          <p:nvPr/>
        </p:nvSpPr>
        <p:spPr>
          <a:xfrm xmlns:a="http://schemas.openxmlformats.org/drawingml/2006/main">
            <a:off x="4398264"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E4D690A-DFEA-44D7-A12A-7D5256786E1B}"/>
              </a:ext>
            </a:extLst>
          </p:cNvPr>
          <p:cNvSpPr>
            <a:spLocks xmlns:a="http://schemas.openxmlformats.org/drawingml/2006/main" noGrp="1"/>
          </p:cNvSpPr>
          <p:nvPr/>
        </p:nvSpPr>
        <p:spPr>
          <a:xfrm xmlns:a="http://schemas.openxmlformats.org/drawingml/2006/main">
            <a:off x="4562855"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xmlns:a="http://schemas.openxmlformats.org/drawingml/2006/main">
              <a:ext uri="{FF2B5EF4-FFF2-40B4-BE49-F238E27FC236}">
                <a16:creationId xmlns:a16="http://schemas.microsoft.com/office/drawing/2014/main" id="{26F99527-EECB-4761-8873-875DD10921AF}"/>
              </a:ext>
            </a:extLst>
          </p:cNvPr>
          <p:cNvSpPr>
            <a:spLocks xmlns:a="http://schemas.openxmlformats.org/drawingml/2006/main" noGrp="1"/>
          </p:cNvSpPr>
          <p:nvPr/>
        </p:nvSpPr>
        <p:spPr>
          <a:xfrm xmlns:a="http://schemas.openxmlformats.org/drawingml/2006/main">
            <a:off x="5788152" y="1358734"/>
            <a:ext cx="182880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xmlns:a="http://schemas.openxmlformats.org/drawingml/2006/main">
              <a:ext uri="{FF2B5EF4-FFF2-40B4-BE49-F238E27FC236}">
                <a16:creationId xmlns:a16="http://schemas.microsoft.com/office/drawing/2014/main" id="{CE980754-5288-410C-9D81-9B8EFFDCB7B2}"/>
              </a:ext>
            </a:extLst>
          </p:cNvPr>
          <p:cNvSpPr>
            <a:spLocks xmlns:a="http://schemas.openxmlformats.org/drawingml/2006/main" noGrp="1"/>
          </p:cNvSpPr>
          <p:nvPr/>
        </p:nvSpPr>
        <p:spPr>
          <a:xfrm xmlns:a="http://schemas.openxmlformats.org/drawingml/2006/main">
            <a:off x="8138160"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AFFD5AF3-A618-4E76-B0F5-AA1C8BB43020}"/>
              </a:ext>
            </a:extLst>
          </p:cNvPr>
          <p:cNvSpPr>
            <a:spLocks xmlns:a="http://schemas.openxmlformats.org/drawingml/2006/main" noGrp="1"/>
          </p:cNvSpPr>
          <p:nvPr/>
        </p:nvSpPr>
        <p:spPr>
          <a:xfrm xmlns:a="http://schemas.openxmlformats.org/drawingml/2006/main">
            <a:off x="8302752"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xmlns:a="http://schemas.openxmlformats.org/drawingml/2006/main">
              <a:ext uri="{FF2B5EF4-FFF2-40B4-BE49-F238E27FC236}">
                <a16:creationId xmlns:a16="http://schemas.microsoft.com/office/drawing/2014/main" id="{2B0F084A-B43C-4E28-9D0D-E60D0A60A20B}"/>
              </a:ext>
            </a:extLst>
          </p:cNvPr>
          <p:cNvSpPr>
            <a:spLocks xmlns:a="http://schemas.openxmlformats.org/drawingml/2006/main" noGrp="1"/>
          </p:cNvSpPr>
          <p:nvPr/>
        </p:nvSpPr>
        <p:spPr>
          <a:xfrm xmlns:a="http://schemas.openxmlformats.org/drawingml/2006/main">
            <a:off x="9528048" y="1274065"/>
            <a:ext cx="182880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xmlns:a="http://schemas.openxmlformats.org/drawingml/2006/main">
              <a:ext uri="{FF2B5EF4-FFF2-40B4-BE49-F238E27FC236}">
                <a16:creationId xmlns:a16="http://schemas.microsoft.com/office/drawing/2014/main" id="{C21281E1-0F01-4EAF-AF2A-DC9B0C3B143B}"/>
              </a:ext>
            </a:extLst>
          </p:cNvPr>
          <p:cNvSpPr>
            <a:spLocks xmlns:a="http://schemas.openxmlformats.org/drawingml/2006/main" noGrp="1"/>
          </p:cNvSpPr>
          <p:nvPr/>
        </p:nvSpPr>
        <p:spPr>
          <a:xfrm xmlns:a="http://schemas.openxmlformats.org/drawingml/2006/main">
            <a:off x="9528048" y="1539241"/>
            <a:ext cx="182880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xmlns:a="http://schemas.openxmlformats.org/drawingml/2006/main" noChangeAspect="1"/>
          </p:cNvPicPr>
          <p:nvPr/>
        </p:nvPicPr>
        <p:blipFill>
          <a:blip xmlns:r="http://schemas.openxmlformats.org/officeDocument/2006/relationships" xmlns:a="http://schemas.openxmlformats.org/drawingml/2006/main" r:embed="Rca940cedb56848c6"/>
          <a:stretch xmlns:a="http://schemas.openxmlformats.org/drawingml/2006/main">
            <a:fillRect l="0" t="0" r="0" b="0"/>
          </a:stretch>
        </p:blipFill>
        <p:spPr>
          <a:xfrm xmlns:a="http://schemas.openxmlformats.org/drawingml/2006/main">
            <a:off x="658368" y="2069326"/>
            <a:ext cx="10881360" cy="3139970"/>
          </a:xfrm>
          <a:prstGeom xmlns:a="http://schemas.openxmlformats.org/drawingml/2006/main" prst="rect">
            <a:avLst/>
          </a:prstGeom>
        </p:spPr>
      </p:pic>
      <p:sp>
        <p:nvSpPr>
          <p:cNvPr id="16" name="Rounded Rectangle 15">
            <a:extLst xmlns:a="http://schemas.openxmlformats.org/drawingml/2006/main">
              <a:ext uri="{FF2B5EF4-FFF2-40B4-BE49-F238E27FC236}">
                <a16:creationId xmlns:a16="http://schemas.microsoft.com/office/drawing/2014/main" id="{6694235D-55CF-49EF-A672-C9778E61257F}"/>
              </a:ext>
            </a:extLst>
          </p:cNvPr>
          <p:cNvSpPr>
            <a:spLocks xmlns:a="http://schemas.openxmlformats.org/drawingml/2006/main" noGrp="1"/>
          </p:cNvSpPr>
          <p:nvPr/>
        </p:nvSpPr>
        <p:spPr>
          <a:xfrm xmlns:a="http://schemas.openxmlformats.org/drawingml/2006/main">
            <a:off x="658368" y="5596128"/>
            <a:ext cx="10881360" cy="658368"/>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3EF7780-BF1A-49FD-8AE0-8480E45DC812}"/>
              </a:ext>
            </a:extLst>
          </p:cNvPr>
          <p:cNvSpPr>
            <a:spLocks xmlns:a="http://schemas.openxmlformats.org/drawingml/2006/main" noGrp="1"/>
          </p:cNvSpPr>
          <p:nvPr/>
        </p:nvSpPr>
        <p:spPr>
          <a:xfrm xmlns:a="http://schemas.openxmlformats.org/drawingml/2006/main">
            <a:off x="923544" y="5797296"/>
            <a:ext cx="118872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xmlns:a="http://schemas.openxmlformats.org/drawingml/2006/main">
              <a:ext uri="{FF2B5EF4-FFF2-40B4-BE49-F238E27FC236}">
                <a16:creationId xmlns:a16="http://schemas.microsoft.com/office/drawing/2014/main" id="{BD8B6944-62D2-41F5-BA50-537C49D71BF8}"/>
              </a:ext>
            </a:extLst>
          </p:cNvPr>
          <p:cNvSpPr>
            <a:spLocks xmlns:a="http://schemas.openxmlformats.org/drawingml/2006/main" noGrp="1"/>
          </p:cNvSpPr>
          <p:nvPr/>
        </p:nvSpPr>
        <p:spPr>
          <a:xfrm xmlns:a="http://schemas.openxmlformats.org/drawingml/2006/main">
            <a:off x="2212848" y="5776219"/>
            <a:ext cx="8924544" cy="2616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sld>
</file>

<file path=ppt/slides/slide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6449442-E04A-2746-AD1A-39210122B8CC}"/>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C52DFCBC-DC31-CFCB-BB0B-646BD49CF412}"/>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38155813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 name="mitocarta-hierarchy-background">
            <a:extLst xmlns:a="http://schemas.openxmlformats.org/drawingml/2006/main">
              <a:ext uri="{FF2B5EF4-FFF2-40B4-BE49-F238E27FC236}">
                <a16:creationId xmlns:a16="http://schemas.microsoft.com/office/drawing/2014/main" id="{C32135CE-1DB8-4A86-8CC5-0C743A9946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mitocarta-hierarchy-title">
            <a:extLst xmlns:a="http://schemas.openxmlformats.org/drawingml/2006/main">
              <a:ext uri="{FF2B5EF4-FFF2-40B4-BE49-F238E27FC236}">
                <a16:creationId xmlns:a16="http://schemas.microsoft.com/office/drawing/2014/main" id="{D9B4A397-B91D-45E4-A1A7-81D64922ACB6}"/>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xmlns:a="http://schemas.openxmlformats.org/drawingml/2006/main">
              <a:ext uri="{FF2B5EF4-FFF2-40B4-BE49-F238E27FC236}">
                <a16:creationId xmlns:a16="http://schemas.microsoft.com/office/drawing/2014/main" id="{28C990DB-3CCC-454A-A0A6-54EC6E9CABC9}"/>
              </a:ext>
            </a:extLst>
          </p:cNvPr>
          <p:cNvSpPr>
            <a:spLocks xmlns:a="http://schemas.openxmlformats.org/drawingml/2006/main" noGrp="1"/>
          </p:cNvSpPr>
          <p:nvPr/>
        </p:nvSpPr>
        <p:spPr>
          <a:xfrm xmlns:a="http://schemas.openxmlformats.org/drawingml/2006/main">
            <a:off x="552450" y="9144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groups mitochondrial genes into nested pathways, from broad systems to detailed subpathways.</a:t>
            </a:r>
          </a:p>
        </p:txBody>
      </p:sp>
      <p:sp>
        <p:nvSpPr>
          <p:cNvPr id="4" name="mitocarta-level-1-band">
            <a:extLst xmlns:a="http://schemas.openxmlformats.org/drawingml/2006/main">
              <a:ext uri="{FF2B5EF4-FFF2-40B4-BE49-F238E27FC236}">
                <a16:creationId xmlns:a16="http://schemas.microsoft.com/office/drawing/2014/main" id="{18A9D7A3-88E9-4952-9CAA-1FC2A1ED5F43}"/>
              </a:ext>
            </a:extLst>
          </p:cNvPr>
          <p:cNvSpPr>
            <a:spLocks xmlns:a="http://schemas.openxmlformats.org/drawingml/2006/main" noGrp="1"/>
          </p:cNvSpPr>
          <p:nvPr/>
        </p:nvSpPr>
        <p:spPr>
          <a:xfrm xmlns:a="http://schemas.openxmlformats.org/drawingml/2006/main">
            <a:off x="857250" y="1543050"/>
            <a:ext cx="10477500" cy="990600"/>
          </a:xfrm>
          <a:prstGeom xmlns:a="http://schemas.openxmlformats.org/drawingml/2006/main" prst="roundRect">
            <a:avLst>
              <a:gd name="adj" fmla="val 13462"/>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 name="mitocarta-level-1-level">
            <a:extLst xmlns:a="http://schemas.openxmlformats.org/drawingml/2006/main">
              <a:ext uri="{FF2B5EF4-FFF2-40B4-BE49-F238E27FC236}">
                <a16:creationId xmlns:a16="http://schemas.microsoft.com/office/drawing/2014/main" id="{E9D0E325-D5F5-4481-8B3B-16271FC0DB6E}"/>
              </a:ext>
            </a:extLst>
          </p:cNvPr>
          <p:cNvSpPr>
            <a:spLocks xmlns:a="http://schemas.openxmlformats.org/drawingml/2006/main" noGrp="1"/>
          </p:cNvSpPr>
          <p:nvPr/>
        </p:nvSpPr>
        <p:spPr>
          <a:xfrm xmlns:a="http://schemas.openxmlformats.org/drawingml/2006/main">
            <a:off x="1123950" y="17240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xmlns:a="http://schemas.openxmlformats.org/drawingml/2006/main">
              <a:ext uri="{FF2B5EF4-FFF2-40B4-BE49-F238E27FC236}">
                <a16:creationId xmlns:a16="http://schemas.microsoft.com/office/drawing/2014/main" id="{E9A17CB0-3A4C-45E3-86A2-52E80F61BADE}"/>
              </a:ext>
            </a:extLst>
          </p:cNvPr>
          <p:cNvSpPr>
            <a:spLocks xmlns:a="http://schemas.openxmlformats.org/drawingml/2006/main" noGrp="1"/>
          </p:cNvSpPr>
          <p:nvPr/>
        </p:nvSpPr>
        <p:spPr>
          <a:xfrm xmlns:a="http://schemas.openxmlformats.org/drawingml/2006/main">
            <a:off x="1123950" y="2028825"/>
            <a:ext cx="4505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xmlns:a="http://schemas.openxmlformats.org/drawingml/2006/main">
              <a:ext uri="{FF2B5EF4-FFF2-40B4-BE49-F238E27FC236}">
                <a16:creationId xmlns:a16="http://schemas.microsoft.com/office/drawing/2014/main" id="{9CE53DE4-53D8-4F37-89A9-CEB2184F3052}"/>
              </a:ext>
            </a:extLst>
          </p:cNvPr>
          <p:cNvSpPr>
            <a:spLocks xmlns:a="http://schemas.openxmlformats.org/drawingml/2006/main" noGrp="1"/>
          </p:cNvSpPr>
          <p:nvPr/>
        </p:nvSpPr>
        <p:spPr>
          <a:xfrm xmlns:a="http://schemas.openxmlformats.org/drawingml/2006/main">
            <a:off x="5886450" y="1885950"/>
            <a:ext cx="2828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xmlns:a="http://schemas.openxmlformats.org/drawingml/2006/main">
              <a:ext uri="{FF2B5EF4-FFF2-40B4-BE49-F238E27FC236}">
                <a16:creationId xmlns:a16="http://schemas.microsoft.com/office/drawing/2014/main" id="{A0B6881E-78F2-46CC-90CB-35966ED6AC8E}"/>
              </a:ext>
            </a:extLst>
          </p:cNvPr>
          <p:cNvSpPr>
            <a:spLocks xmlns:a="http://schemas.openxmlformats.org/drawingml/2006/main" noGrp="1"/>
          </p:cNvSpPr>
          <p:nvPr/>
        </p:nvSpPr>
        <p:spPr>
          <a:xfrm xmlns:a="http://schemas.openxmlformats.org/drawingml/2006/main">
            <a:off x="9620250" y="181927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xmlns:a="http://schemas.openxmlformats.org/drawingml/2006/main">
              <a:ext uri="{FF2B5EF4-FFF2-40B4-BE49-F238E27FC236}">
                <a16:creationId xmlns:a16="http://schemas.microsoft.com/office/drawing/2014/main" id="{5DAF0BA4-AC5A-446A-84BE-194A8EF81A1D}"/>
              </a:ext>
            </a:extLst>
          </p:cNvPr>
          <p:cNvSpPr>
            <a:spLocks xmlns:a="http://schemas.openxmlformats.org/drawingml/2006/main" noGrp="1"/>
          </p:cNvSpPr>
          <p:nvPr/>
        </p:nvSpPr>
        <p:spPr>
          <a:xfrm xmlns:a="http://schemas.openxmlformats.org/drawingml/2006/main">
            <a:off x="1619250" y="2705100"/>
            <a:ext cx="8953500" cy="990600"/>
          </a:xfrm>
          <a:prstGeom xmlns:a="http://schemas.openxmlformats.org/drawingml/2006/main" prst="roundRect">
            <a:avLst>
              <a:gd name="adj" fmla="val 13462"/>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0" name="mitocarta-level-2-level">
            <a:extLst xmlns:a="http://schemas.openxmlformats.org/drawingml/2006/main">
              <a:ext uri="{FF2B5EF4-FFF2-40B4-BE49-F238E27FC236}">
                <a16:creationId xmlns:a16="http://schemas.microsoft.com/office/drawing/2014/main" id="{E307DD48-2E33-4870-AB47-AC61B7104C30}"/>
              </a:ext>
            </a:extLst>
          </p:cNvPr>
          <p:cNvSpPr>
            <a:spLocks xmlns:a="http://schemas.openxmlformats.org/drawingml/2006/main" noGrp="1"/>
          </p:cNvSpPr>
          <p:nvPr/>
        </p:nvSpPr>
        <p:spPr>
          <a:xfrm xmlns:a="http://schemas.openxmlformats.org/drawingml/2006/main">
            <a:off x="1885950" y="28860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xmlns:a="http://schemas.openxmlformats.org/drawingml/2006/main">
              <a:ext uri="{FF2B5EF4-FFF2-40B4-BE49-F238E27FC236}">
                <a16:creationId xmlns:a16="http://schemas.microsoft.com/office/drawing/2014/main" id="{2087C0A6-AC42-45D6-A8DF-F8950D8B57CF}"/>
              </a:ext>
            </a:extLst>
          </p:cNvPr>
          <p:cNvSpPr>
            <a:spLocks xmlns:a="http://schemas.openxmlformats.org/drawingml/2006/main" noGrp="1"/>
          </p:cNvSpPr>
          <p:nvPr/>
        </p:nvSpPr>
        <p:spPr>
          <a:xfrm xmlns:a="http://schemas.openxmlformats.org/drawingml/2006/main">
            <a:off x="1885950" y="3190875"/>
            <a:ext cx="385000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xmlns:a="http://schemas.openxmlformats.org/drawingml/2006/main">
              <a:ext uri="{FF2B5EF4-FFF2-40B4-BE49-F238E27FC236}">
                <a16:creationId xmlns:a16="http://schemas.microsoft.com/office/drawing/2014/main" id="{21C35936-7529-43A8-A037-314B375217E3}"/>
              </a:ext>
            </a:extLst>
          </p:cNvPr>
          <p:cNvSpPr>
            <a:spLocks xmlns:a="http://schemas.openxmlformats.org/drawingml/2006/main" noGrp="1"/>
          </p:cNvSpPr>
          <p:nvPr/>
        </p:nvSpPr>
        <p:spPr>
          <a:xfrm xmlns:a="http://schemas.openxmlformats.org/drawingml/2006/main">
            <a:off x="5916930" y="3048000"/>
            <a:ext cx="241744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xmlns:a="http://schemas.openxmlformats.org/drawingml/2006/main">
              <a:ext uri="{FF2B5EF4-FFF2-40B4-BE49-F238E27FC236}">
                <a16:creationId xmlns:a16="http://schemas.microsoft.com/office/drawing/2014/main" id="{D9693E17-B9DB-4D16-B3E6-9AE81C1CE84C}"/>
              </a:ext>
            </a:extLst>
          </p:cNvPr>
          <p:cNvSpPr>
            <a:spLocks xmlns:a="http://schemas.openxmlformats.org/drawingml/2006/main" noGrp="1"/>
          </p:cNvSpPr>
          <p:nvPr/>
        </p:nvSpPr>
        <p:spPr>
          <a:xfrm xmlns:a="http://schemas.openxmlformats.org/drawingml/2006/main">
            <a:off x="8858250" y="298132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xmlns:a="http://schemas.openxmlformats.org/drawingml/2006/main">
              <a:ext uri="{FF2B5EF4-FFF2-40B4-BE49-F238E27FC236}">
                <a16:creationId xmlns:a16="http://schemas.microsoft.com/office/drawing/2014/main" id="{2A8008ED-6648-4AF0-B933-D57921172975}"/>
              </a:ext>
            </a:extLst>
          </p:cNvPr>
          <p:cNvSpPr>
            <a:spLocks xmlns:a="http://schemas.openxmlformats.org/drawingml/2006/main" noGrp="1"/>
          </p:cNvSpPr>
          <p:nvPr/>
        </p:nvSpPr>
        <p:spPr>
          <a:xfrm xmlns:a="http://schemas.openxmlformats.org/drawingml/2006/main">
            <a:off x="2381250" y="3867150"/>
            <a:ext cx="7429500" cy="990600"/>
          </a:xfrm>
          <a:prstGeom xmlns:a="http://schemas.openxmlformats.org/drawingml/2006/main" prst="roundRect">
            <a:avLst>
              <a:gd name="adj" fmla="val 13462"/>
            </a:avLst>
          </a:prstGeom>
          <a:solidFill xmlns:a="http://schemas.openxmlformats.org/drawingml/2006/main">
            <a:srgbClr val="FFF3D6"/>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5" name="mitocarta-level-3-level">
            <a:extLst xmlns:a="http://schemas.openxmlformats.org/drawingml/2006/main">
              <a:ext uri="{FF2B5EF4-FFF2-40B4-BE49-F238E27FC236}">
                <a16:creationId xmlns:a16="http://schemas.microsoft.com/office/drawing/2014/main" id="{81DB79D4-CD73-4A5C-963B-057666B719FB}"/>
              </a:ext>
            </a:extLst>
          </p:cNvPr>
          <p:cNvSpPr>
            <a:spLocks xmlns:a="http://schemas.openxmlformats.org/drawingml/2006/main" noGrp="1"/>
          </p:cNvSpPr>
          <p:nvPr/>
        </p:nvSpPr>
        <p:spPr>
          <a:xfrm xmlns:a="http://schemas.openxmlformats.org/drawingml/2006/main">
            <a:off x="2647950" y="40481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xmlns:a="http://schemas.openxmlformats.org/drawingml/2006/main">
              <a:ext uri="{FF2B5EF4-FFF2-40B4-BE49-F238E27FC236}">
                <a16:creationId xmlns:a16="http://schemas.microsoft.com/office/drawing/2014/main" id="{140C0801-B7C3-4D31-A665-7222FAAD0F71}"/>
              </a:ext>
            </a:extLst>
          </p:cNvPr>
          <p:cNvSpPr>
            <a:spLocks xmlns:a="http://schemas.openxmlformats.org/drawingml/2006/main" noGrp="1"/>
          </p:cNvSpPr>
          <p:nvPr/>
        </p:nvSpPr>
        <p:spPr>
          <a:xfrm xmlns:a="http://schemas.openxmlformats.org/drawingml/2006/main">
            <a:off x="2647950" y="4352925"/>
            <a:ext cx="319468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xmlns:a="http://schemas.openxmlformats.org/drawingml/2006/main">
              <a:ext uri="{FF2B5EF4-FFF2-40B4-BE49-F238E27FC236}">
                <a16:creationId xmlns:a16="http://schemas.microsoft.com/office/drawing/2014/main" id="{A94DF118-F7D1-4507-9C22-4CD1DDAB2A0A}"/>
              </a:ext>
            </a:extLst>
          </p:cNvPr>
          <p:cNvSpPr>
            <a:spLocks xmlns:a="http://schemas.openxmlformats.org/drawingml/2006/main" noGrp="1"/>
          </p:cNvSpPr>
          <p:nvPr/>
        </p:nvSpPr>
        <p:spPr>
          <a:xfrm xmlns:a="http://schemas.openxmlformats.org/drawingml/2006/main">
            <a:off x="5947410" y="4210050"/>
            <a:ext cx="200596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xmlns:a="http://schemas.openxmlformats.org/drawingml/2006/main">
              <a:ext uri="{FF2B5EF4-FFF2-40B4-BE49-F238E27FC236}">
                <a16:creationId xmlns:a16="http://schemas.microsoft.com/office/drawing/2014/main" id="{BB15147C-0D72-4962-85BB-A1B83412BA89}"/>
              </a:ext>
            </a:extLst>
          </p:cNvPr>
          <p:cNvSpPr>
            <a:spLocks xmlns:a="http://schemas.openxmlformats.org/drawingml/2006/main" noGrp="1"/>
          </p:cNvSpPr>
          <p:nvPr/>
        </p:nvSpPr>
        <p:spPr>
          <a:xfrm xmlns:a="http://schemas.openxmlformats.org/drawingml/2006/main">
            <a:off x="8096250" y="414337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xmlns:a="http://schemas.openxmlformats.org/drawingml/2006/main">
              <a:ext uri="{FF2B5EF4-FFF2-40B4-BE49-F238E27FC236}">
                <a16:creationId xmlns:a16="http://schemas.microsoft.com/office/drawing/2014/main" id="{C106CBB7-A914-4CAA-A2D6-1E8DECF94573}"/>
              </a:ext>
            </a:extLst>
          </p:cNvPr>
          <p:cNvSpPr>
            <a:spLocks xmlns:a="http://schemas.openxmlformats.org/drawingml/2006/main" noGrp="1"/>
          </p:cNvSpPr>
          <p:nvPr/>
        </p:nvSpPr>
        <p:spPr>
          <a:xfrm xmlns:a="http://schemas.openxmlformats.org/drawingml/2006/main">
            <a:off x="1238250" y="5362575"/>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xmlns:a="http://schemas.openxmlformats.org/drawingml/2006/main">
              <a:ext uri="{FF2B5EF4-FFF2-40B4-BE49-F238E27FC236}">
                <a16:creationId xmlns:a16="http://schemas.microsoft.com/office/drawing/2014/main" id="{8732A8D5-E54F-4818-8258-7BB4F33E4664}"/>
              </a:ext>
            </a:extLst>
          </p:cNvPr>
          <p:cNvSpPr>
            <a:spLocks xmlns:a="http://schemas.openxmlformats.org/drawingml/2006/main" noGrp="1"/>
          </p:cNvSpPr>
          <p:nvPr/>
        </p:nvSpPr>
        <p:spPr>
          <a:xfrm xmlns:a="http://schemas.openxmlformats.org/drawingml/2006/main">
            <a:off x="1714500" y="5915025"/>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5E59162-7D50-45F5-8596-6A0CAF54D40E}"/>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xmlns:a="http://schemas.openxmlformats.org/drawingml/2006/main">
              <a:ext uri="{FF2B5EF4-FFF2-40B4-BE49-F238E27FC236}">
                <a16:creationId xmlns:a16="http://schemas.microsoft.com/office/drawing/2014/main" id="{769FF051-FBF1-43EE-AA8C-D681240222FC}"/>
              </a:ext>
            </a:extLst>
          </p:cNvPr>
          <p:cNvSpPr>
            <a:spLocks xmlns:a="http://schemas.openxmlformats.org/drawingml/2006/main" noGrp="1"/>
          </p:cNvSpPr>
          <p:nvPr/>
        </p:nvSpPr>
        <p:spPr>
          <a:xfrm xmlns:a="http://schemas.openxmlformats.org/drawingml/2006/main">
            <a:off x="548640" y="895435"/>
            <a:ext cx="10561320" cy="54784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xmlns:a="http://schemas.openxmlformats.org/drawingml/2006/main">
              <a:ext uri="{FF2B5EF4-FFF2-40B4-BE49-F238E27FC236}">
                <a16:creationId xmlns:a16="http://schemas.microsoft.com/office/drawing/2014/main" id="{21F6DD32-03E7-406D-8662-74B6E4CA0213}"/>
              </a:ext>
            </a:extLst>
          </p:cNvPr>
          <p:cNvSpPr>
            <a:spLocks xmlns:a="http://schemas.openxmlformats.org/drawingml/2006/main" noGrp="1"/>
          </p:cNvSpPr>
          <p:nvPr/>
        </p:nvSpPr>
        <p:spPr>
          <a:xfrm xmlns:a="http://schemas.openxmlformats.org/drawingml/2006/main">
            <a:off x="2532888" y="1533294"/>
            <a:ext cx="3273552" cy="195681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47F0ACC6-27A0-494B-BC02-3E33D5E3B40F}"/>
              </a:ext>
            </a:extLst>
          </p:cNvPr>
          <p:cNvSpPr>
            <a:spLocks xmlns:a="http://schemas.openxmlformats.org/drawingml/2006/main" noGrp="1"/>
          </p:cNvSpPr>
          <p:nvPr/>
        </p:nvSpPr>
        <p:spPr>
          <a:xfrm xmlns:a="http://schemas.openxmlformats.org/drawingml/2006/main">
            <a:off x="2752344" y="1734462"/>
            <a:ext cx="438912" cy="438912"/>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3E7BABE-17B8-46CD-A086-0A9B1CCD10CC}"/>
              </a:ext>
            </a:extLst>
          </p:cNvPr>
          <p:cNvSpPr>
            <a:spLocks xmlns:a="http://schemas.openxmlformats.org/drawingml/2006/main" noGrp="1"/>
          </p:cNvSpPr>
          <p:nvPr/>
        </p:nvSpPr>
        <p:spPr>
          <a:xfrm xmlns:a="http://schemas.openxmlformats.org/drawingml/2006/main">
            <a:off x="2752344" y="1807614"/>
            <a:ext cx="43891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xmlns:a="http://schemas.openxmlformats.org/drawingml/2006/main">
              <a:ext uri="{FF2B5EF4-FFF2-40B4-BE49-F238E27FC236}">
                <a16:creationId xmlns:a16="http://schemas.microsoft.com/office/drawing/2014/main" id="{764274CE-BE5B-470A-A8A0-6F4B6C1F75F2}"/>
              </a:ext>
            </a:extLst>
          </p:cNvPr>
          <p:cNvSpPr>
            <a:spLocks xmlns:a="http://schemas.openxmlformats.org/drawingml/2006/main" noGrp="1"/>
          </p:cNvSpPr>
          <p:nvPr/>
        </p:nvSpPr>
        <p:spPr>
          <a:xfrm xmlns:a="http://schemas.openxmlformats.org/drawingml/2006/main">
            <a:off x="3300984" y="1765806"/>
            <a:ext cx="2212848" cy="29392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xmlns:a="http://schemas.openxmlformats.org/drawingml/2006/main">
              <a:ext uri="{FF2B5EF4-FFF2-40B4-BE49-F238E27FC236}">
                <a16:creationId xmlns:a16="http://schemas.microsoft.com/office/drawing/2014/main" id="{3875CAF2-AA9B-4E6E-990B-386C67538437}"/>
              </a:ext>
            </a:extLst>
          </p:cNvPr>
          <p:cNvSpPr>
            <a:spLocks xmlns:a="http://schemas.openxmlformats.org/drawingml/2006/main" noGrp="1"/>
          </p:cNvSpPr>
          <p:nvPr/>
        </p:nvSpPr>
        <p:spPr>
          <a:xfrm xmlns:a="http://schemas.openxmlformats.org/drawingml/2006/main">
            <a:off x="2788920" y="2283102"/>
            <a:ext cx="2761488"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xmlns:a="http://schemas.openxmlformats.org/drawingml/2006/main">
              <a:ext uri="{FF2B5EF4-FFF2-40B4-BE49-F238E27FC236}">
                <a16:creationId xmlns:a16="http://schemas.microsoft.com/office/drawing/2014/main" id="{05559FE8-A77F-43DF-BA75-CB2CA9ADC708}"/>
              </a:ext>
            </a:extLst>
          </p:cNvPr>
          <p:cNvSpPr>
            <a:spLocks xmlns:a="http://schemas.openxmlformats.org/drawingml/2006/main" noGrp="1"/>
          </p:cNvSpPr>
          <p:nvPr/>
        </p:nvSpPr>
        <p:spPr>
          <a:xfrm xmlns:a="http://schemas.openxmlformats.org/drawingml/2006/main">
            <a:off x="5879592" y="2209950"/>
            <a:ext cx="320040"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xmlns:a="http://schemas.openxmlformats.org/drawingml/2006/main">
              <a:ext uri="{FF2B5EF4-FFF2-40B4-BE49-F238E27FC236}">
                <a16:creationId xmlns:a16="http://schemas.microsoft.com/office/drawing/2014/main" id="{330C729C-5E22-4EBB-85FC-7255D6515391}"/>
              </a:ext>
            </a:extLst>
          </p:cNvPr>
          <p:cNvSpPr>
            <a:spLocks xmlns:a="http://schemas.openxmlformats.org/drawingml/2006/main" noGrp="1"/>
          </p:cNvSpPr>
          <p:nvPr/>
        </p:nvSpPr>
        <p:spPr>
          <a:xfrm xmlns:a="http://schemas.openxmlformats.org/drawingml/2006/main">
            <a:off x="6281928" y="1533294"/>
            <a:ext cx="3273552" cy="195681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Oval 10">
            <a:extLst xmlns:a="http://schemas.openxmlformats.org/drawingml/2006/main">
              <a:ext uri="{FF2B5EF4-FFF2-40B4-BE49-F238E27FC236}">
                <a16:creationId xmlns:a16="http://schemas.microsoft.com/office/drawing/2014/main" id="{41DDCC97-6070-4B01-B57B-E8288038B60C}"/>
              </a:ext>
            </a:extLst>
          </p:cNvPr>
          <p:cNvSpPr>
            <a:spLocks xmlns:a="http://schemas.openxmlformats.org/drawingml/2006/main" noGrp="1"/>
          </p:cNvSpPr>
          <p:nvPr/>
        </p:nvSpPr>
        <p:spPr>
          <a:xfrm xmlns:a="http://schemas.openxmlformats.org/drawingml/2006/main">
            <a:off x="6501384" y="1734462"/>
            <a:ext cx="438912" cy="438912"/>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E01FF4C9-E9E4-45A7-A0DC-D99E0777DFA1}"/>
              </a:ext>
            </a:extLst>
          </p:cNvPr>
          <p:cNvSpPr>
            <a:spLocks xmlns:a="http://schemas.openxmlformats.org/drawingml/2006/main" noGrp="1"/>
          </p:cNvSpPr>
          <p:nvPr/>
        </p:nvSpPr>
        <p:spPr>
          <a:xfrm xmlns:a="http://schemas.openxmlformats.org/drawingml/2006/main">
            <a:off x="6501384" y="1807614"/>
            <a:ext cx="43891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78DDF5AD-3CA3-4D24-B279-093EFA64E011}"/>
              </a:ext>
            </a:extLst>
          </p:cNvPr>
          <p:cNvSpPr>
            <a:spLocks xmlns:a="http://schemas.openxmlformats.org/drawingml/2006/main" noGrp="1"/>
          </p:cNvSpPr>
          <p:nvPr/>
        </p:nvSpPr>
        <p:spPr>
          <a:xfrm xmlns:a="http://schemas.openxmlformats.org/drawingml/2006/main">
            <a:off x="7050024" y="1752750"/>
            <a:ext cx="2212848"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xmlns:a="http://schemas.openxmlformats.org/drawingml/2006/main">
              <a:ext uri="{FF2B5EF4-FFF2-40B4-BE49-F238E27FC236}">
                <a16:creationId xmlns:a16="http://schemas.microsoft.com/office/drawing/2014/main" id="{80D4D567-E2A0-4E80-9A43-6C9A44BBB948}"/>
              </a:ext>
            </a:extLst>
          </p:cNvPr>
          <p:cNvSpPr>
            <a:spLocks xmlns:a="http://schemas.openxmlformats.org/drawingml/2006/main" noGrp="1"/>
          </p:cNvSpPr>
          <p:nvPr/>
        </p:nvSpPr>
        <p:spPr>
          <a:xfrm xmlns:a="http://schemas.openxmlformats.org/drawingml/2006/main">
            <a:off x="6537960" y="2283102"/>
            <a:ext cx="2761488"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xmlns:a="http://schemas.openxmlformats.org/drawingml/2006/main">
              <a:ext uri="{FF2B5EF4-FFF2-40B4-BE49-F238E27FC236}">
                <a16:creationId xmlns:a16="http://schemas.microsoft.com/office/drawing/2014/main" id="{EA143ABE-F8BA-4CFF-99EB-D66CC1543856}"/>
              </a:ext>
            </a:extLst>
          </p:cNvPr>
          <p:cNvSpPr>
            <a:spLocks xmlns:a="http://schemas.openxmlformats.org/drawingml/2006/main" noGrp="1"/>
          </p:cNvSpPr>
          <p:nvPr/>
        </p:nvSpPr>
        <p:spPr>
          <a:xfrm xmlns:a="http://schemas.openxmlformats.org/drawingml/2006/main">
            <a:off x="658368" y="3665368"/>
            <a:ext cx="5221224" cy="129844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A5433647-E3A4-43D5-AB13-A4D2117FD47E}"/>
              </a:ext>
            </a:extLst>
          </p:cNvPr>
          <p:cNvSpPr>
            <a:spLocks xmlns:a="http://schemas.openxmlformats.org/drawingml/2006/main" noGrp="1"/>
          </p:cNvSpPr>
          <p:nvPr/>
        </p:nvSpPr>
        <p:spPr>
          <a:xfrm xmlns:a="http://schemas.openxmlformats.org/drawingml/2006/main">
            <a:off x="914400" y="3857392"/>
            <a:ext cx="1325880" cy="40233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xmlns:a="http://schemas.openxmlformats.org/drawingml/2006/main">
              <a:ext uri="{FF2B5EF4-FFF2-40B4-BE49-F238E27FC236}">
                <a16:creationId xmlns:a16="http://schemas.microsoft.com/office/drawing/2014/main" id="{510795E1-2A01-4275-AF3E-5031A13BA258}"/>
              </a:ext>
            </a:extLst>
          </p:cNvPr>
          <p:cNvSpPr>
            <a:spLocks xmlns:a="http://schemas.openxmlformats.org/drawingml/2006/main" noGrp="1"/>
          </p:cNvSpPr>
          <p:nvPr/>
        </p:nvSpPr>
        <p:spPr>
          <a:xfrm xmlns:a="http://schemas.openxmlformats.org/drawingml/2006/main">
            <a:off x="2286000" y="3809440"/>
            <a:ext cx="3264408" cy="4616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xmlns:a="http://schemas.openxmlformats.org/drawingml/2006/main">
              <a:ext uri="{FF2B5EF4-FFF2-40B4-BE49-F238E27FC236}">
                <a16:creationId xmlns:a16="http://schemas.microsoft.com/office/drawing/2014/main" id="{79DD2C72-A719-483B-80F5-35D9D2C7EDA6}"/>
              </a:ext>
            </a:extLst>
          </p:cNvPr>
          <p:cNvSpPr>
            <a:spLocks xmlns:a="http://schemas.openxmlformats.org/drawingml/2006/main" noGrp="1"/>
          </p:cNvSpPr>
          <p:nvPr/>
        </p:nvSpPr>
        <p:spPr>
          <a:xfrm xmlns:a="http://schemas.openxmlformats.org/drawingml/2006/main">
            <a:off x="6044184" y="3665368"/>
            <a:ext cx="5221224" cy="12984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95B58EAA-5BFA-46F1-9D32-39F410AFC4C7}"/>
              </a:ext>
            </a:extLst>
          </p:cNvPr>
          <p:cNvSpPr>
            <a:spLocks xmlns:a="http://schemas.openxmlformats.org/drawingml/2006/main" noGrp="1"/>
          </p:cNvSpPr>
          <p:nvPr/>
        </p:nvSpPr>
        <p:spPr>
          <a:xfrm xmlns:a="http://schemas.openxmlformats.org/drawingml/2006/main">
            <a:off x="6300216" y="3857392"/>
            <a:ext cx="1325880" cy="40233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xmlns:a="http://schemas.openxmlformats.org/drawingml/2006/main">
              <a:ext uri="{FF2B5EF4-FFF2-40B4-BE49-F238E27FC236}">
                <a16:creationId xmlns:a16="http://schemas.microsoft.com/office/drawing/2014/main" id="{EC70D2F9-307F-473F-A384-B3DA9B3DAE35}"/>
              </a:ext>
            </a:extLst>
          </p:cNvPr>
          <p:cNvSpPr>
            <a:spLocks xmlns:a="http://schemas.openxmlformats.org/drawingml/2006/main" noGrp="1"/>
          </p:cNvSpPr>
          <p:nvPr/>
        </p:nvSpPr>
        <p:spPr>
          <a:xfrm xmlns:a="http://schemas.openxmlformats.org/drawingml/2006/main">
            <a:off x="7671816" y="3784241"/>
            <a:ext cx="3264408"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xmlns:a="http://schemas.openxmlformats.org/drawingml/2006/main">
              <a:ext uri="{FF2B5EF4-FFF2-40B4-BE49-F238E27FC236}">
                <a16:creationId xmlns:a16="http://schemas.microsoft.com/office/drawing/2014/main" id="{17A8639B-8386-46C8-883B-9F040DF0AEA4}"/>
              </a:ext>
            </a:extLst>
          </p:cNvPr>
          <p:cNvSpPr>
            <a:spLocks xmlns:a="http://schemas.openxmlformats.org/drawingml/2006/main" noGrp="1"/>
          </p:cNvSpPr>
          <p:nvPr/>
        </p:nvSpPr>
        <p:spPr>
          <a:xfrm xmlns:a="http://schemas.openxmlformats.org/drawingml/2006/main">
            <a:off x="705104" y="5477764"/>
            <a:ext cx="10607040" cy="685800"/>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E9DF413E-8EC8-4159-B483-5A7280BA27D3}"/>
              </a:ext>
            </a:extLst>
          </p:cNvPr>
          <p:cNvSpPr>
            <a:spLocks xmlns:a="http://schemas.openxmlformats.org/drawingml/2006/main" noGrp="1"/>
          </p:cNvSpPr>
          <p:nvPr/>
        </p:nvSpPr>
        <p:spPr>
          <a:xfrm xmlns:a="http://schemas.openxmlformats.org/drawingml/2006/main">
            <a:off x="753533" y="5735659"/>
            <a:ext cx="11887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xmlns:a="http://schemas.openxmlformats.org/drawingml/2006/main">
              <a:ext uri="{FF2B5EF4-FFF2-40B4-BE49-F238E27FC236}">
                <a16:creationId xmlns:a16="http://schemas.microsoft.com/office/drawing/2014/main" id="{1FDFFD77-95B0-42E9-8000-8BF442732085}"/>
              </a:ext>
            </a:extLst>
          </p:cNvPr>
          <p:cNvSpPr>
            <a:spLocks xmlns:a="http://schemas.openxmlformats.org/drawingml/2006/main" noGrp="1"/>
          </p:cNvSpPr>
          <p:nvPr/>
        </p:nvSpPr>
        <p:spPr>
          <a:xfrm xmlns:a="http://schemas.openxmlformats.org/drawingml/2006/main">
            <a:off x="1987973" y="5662507"/>
            <a:ext cx="8732520"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xmlns:a="http://schemas.openxmlformats.org/drawingml/2006/main">
              <a:ext uri="{FF2B5EF4-FFF2-40B4-BE49-F238E27FC236}">
                <a16:creationId xmlns:a16="http://schemas.microsoft.com/office/drawing/2014/main" id="{4E26C294-20E0-40B1-AA27-851451DDE604}"/>
              </a:ext>
            </a:extLst>
          </p:cNvPr>
          <p:cNvSpPr>
            <a:spLocks xmlns:a="http://schemas.openxmlformats.org/drawingml/2006/main" noGrp="1"/>
          </p:cNvSpPr>
          <p:nvPr/>
        </p:nvSpPr>
        <p:spPr>
          <a:xfrm xmlns:a="http://schemas.openxmlformats.org/drawingml/2006/main">
            <a:off x="734570" y="5121235"/>
            <a:ext cx="1060704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7D1B8E3-9AFE-44A7-84AC-59E060C1AB0A}"/>
              </a:ext>
            </a:extLst>
          </p:cNvPr>
          <p:cNvSpPr>
            <a:spLocks xmlns:a="http://schemas.openxmlformats.org/drawingml/2006/main" noGrp="1"/>
          </p:cNvSpPr>
          <p:nvPr/>
        </p:nvSpPr>
        <p:spPr>
          <a:xfrm xmlns:a="http://schemas.openxmlformats.org/drawingml/2006/main">
            <a:off x="530352" y="411480"/>
            <a:ext cx="10652760" cy="43242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xmlns:a="http://schemas.openxmlformats.org/drawingml/2006/main">
              <a:ext uri="{FF2B5EF4-FFF2-40B4-BE49-F238E27FC236}">
                <a16:creationId xmlns:a16="http://schemas.microsoft.com/office/drawing/2014/main" id="{76C30B73-B850-4890-A889-DFA3EAD38926}"/>
              </a:ext>
            </a:extLst>
          </p:cNvPr>
          <p:cNvSpPr>
            <a:spLocks xmlns:a="http://schemas.openxmlformats.org/drawingml/2006/main" noGrp="1"/>
          </p:cNvSpPr>
          <p:nvPr/>
        </p:nvSpPr>
        <p:spPr>
          <a:xfrm xmlns:a="http://schemas.openxmlformats.org/drawingml/2006/main">
            <a:off x="658368" y="1298448"/>
            <a:ext cx="5248656" cy="155448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191EAFF-F0AB-46D5-9D7D-736F342B868E}"/>
              </a:ext>
            </a:extLst>
          </p:cNvPr>
          <p:cNvSpPr>
            <a:spLocks xmlns:a="http://schemas.openxmlformats.org/drawingml/2006/main" noGrp="1"/>
          </p:cNvSpPr>
          <p:nvPr/>
        </p:nvSpPr>
        <p:spPr>
          <a:xfrm xmlns:a="http://schemas.openxmlformats.org/drawingml/2006/main">
            <a:off x="932688" y="1545336"/>
            <a:ext cx="39136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mtDNA-encoded OXPHOS</a:t>
            </a:r>
          </a:p>
        </p:txBody>
      </p:sp>
      <p:sp>
        <p:nvSpPr>
          <p:cNvPr id="6" name="Rounded Rectangle 5">
            <a:extLst xmlns:a="http://schemas.openxmlformats.org/drawingml/2006/main">
              <a:ext uri="{FF2B5EF4-FFF2-40B4-BE49-F238E27FC236}">
                <a16:creationId xmlns:a16="http://schemas.microsoft.com/office/drawing/2014/main" id="{34C8B1B4-9F14-4280-835B-8A4AF2D1B91F}"/>
              </a:ext>
            </a:extLst>
          </p:cNvPr>
          <p:cNvSpPr>
            <a:spLocks xmlns:a="http://schemas.openxmlformats.org/drawingml/2006/main" noGrp="1"/>
          </p:cNvSpPr>
          <p:nvPr/>
        </p:nvSpPr>
        <p:spPr>
          <a:xfrm xmlns:a="http://schemas.openxmlformats.org/drawingml/2006/main">
            <a:off x="4928616" y="1517904"/>
            <a:ext cx="731520" cy="47548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41289BC-A254-47D6-8E0A-0C7D52C5E414}"/>
              </a:ext>
            </a:extLst>
          </p:cNvPr>
          <p:cNvSpPr>
            <a:spLocks xmlns:a="http://schemas.openxmlformats.org/drawingml/2006/main" noGrp="1"/>
          </p:cNvSpPr>
          <p:nvPr/>
        </p:nvSpPr>
        <p:spPr>
          <a:xfrm xmlns:a="http://schemas.openxmlformats.org/drawingml/2006/main">
            <a:off x="4928616" y="1581912"/>
            <a:ext cx="7315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xmlns:a="http://schemas.openxmlformats.org/drawingml/2006/main">
              <a:ext uri="{FF2B5EF4-FFF2-40B4-BE49-F238E27FC236}">
                <a16:creationId xmlns:a16="http://schemas.microsoft.com/office/drawing/2014/main" id="{D486F27E-C593-4CBC-92F0-7774ED084023}"/>
              </a:ext>
            </a:extLst>
          </p:cNvPr>
          <p:cNvSpPr>
            <a:spLocks xmlns:a="http://schemas.openxmlformats.org/drawingml/2006/main" noGrp="1"/>
          </p:cNvSpPr>
          <p:nvPr/>
        </p:nvSpPr>
        <p:spPr>
          <a:xfrm xmlns:a="http://schemas.openxmlformats.org/drawingml/2006/main">
            <a:off x="4928616" y="1819655"/>
            <a:ext cx="73152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xmlns:a="http://schemas.openxmlformats.org/drawingml/2006/main">
              <a:ext uri="{FF2B5EF4-FFF2-40B4-BE49-F238E27FC236}">
                <a16:creationId xmlns:a16="http://schemas.microsoft.com/office/drawing/2014/main" id="{4CD8BB4D-8045-4530-B427-FE0F7658004D}"/>
              </a:ext>
            </a:extLst>
          </p:cNvPr>
          <p:cNvSpPr>
            <a:spLocks xmlns:a="http://schemas.openxmlformats.org/drawingml/2006/main" noGrp="1"/>
          </p:cNvSpPr>
          <p:nvPr/>
        </p:nvSpPr>
        <p:spPr>
          <a:xfrm xmlns:a="http://schemas.openxmlformats.org/drawingml/2006/main">
            <a:off x="932688" y="2103120"/>
            <a:ext cx="4681728"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00" b="0" i="0">
                <a:solidFill>
                  <a:srgbClr val="1F2730"/>
                </a:solidFill>
                <a:latin typeface="Arial"/>
                <a:ea typeface="Arial"/>
                <a:cs typeface="Arial"/>
              </a:rPr>
              <a:t>Core respiratory-complex subunits encoded by mitochondrial DNA.</a:t>
            </a:r>
          </a:p>
        </p:txBody>
      </p:sp>
      <p:sp>
        <p:nvSpPr>
          <p:cNvPr id="10" name="Rounded Rectangle 9">
            <a:extLst xmlns:a="http://schemas.openxmlformats.org/drawingml/2006/main">
              <a:ext uri="{FF2B5EF4-FFF2-40B4-BE49-F238E27FC236}">
                <a16:creationId xmlns:a16="http://schemas.microsoft.com/office/drawing/2014/main" id="{9CF839F5-9891-4E7C-91FA-0AF64503FA1F}"/>
              </a:ext>
            </a:extLst>
          </p:cNvPr>
          <p:cNvSpPr>
            <a:spLocks xmlns:a="http://schemas.openxmlformats.org/drawingml/2006/main" noGrp="1"/>
          </p:cNvSpPr>
          <p:nvPr/>
        </p:nvSpPr>
        <p:spPr>
          <a:xfrm xmlns:a="http://schemas.openxmlformats.org/drawingml/2006/main">
            <a:off x="6281928" y="1298448"/>
            <a:ext cx="5248656" cy="1554480"/>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75967B44-073D-439F-8228-FD11F1FFDE8B}"/>
              </a:ext>
            </a:extLst>
          </p:cNvPr>
          <p:cNvSpPr>
            <a:spLocks xmlns:a="http://schemas.openxmlformats.org/drawingml/2006/main" noGrp="1"/>
          </p:cNvSpPr>
          <p:nvPr/>
        </p:nvSpPr>
        <p:spPr>
          <a:xfrm xmlns:a="http://schemas.openxmlformats.org/drawingml/2006/main">
            <a:off x="6556248" y="1545336"/>
            <a:ext cx="39136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Nuclear structural OXPHOS</a:t>
            </a:r>
          </a:p>
        </p:txBody>
      </p:sp>
      <p:sp>
        <p:nvSpPr>
          <p:cNvPr id="12" name="Rounded Rectangle 11">
            <a:extLst xmlns:a="http://schemas.openxmlformats.org/drawingml/2006/main">
              <a:ext uri="{FF2B5EF4-FFF2-40B4-BE49-F238E27FC236}">
                <a16:creationId xmlns:a16="http://schemas.microsoft.com/office/drawing/2014/main" id="{BC8AE1D1-657D-4DBE-9679-214D81AB0DA0}"/>
              </a:ext>
            </a:extLst>
          </p:cNvPr>
          <p:cNvSpPr>
            <a:spLocks xmlns:a="http://schemas.openxmlformats.org/drawingml/2006/main" noGrp="1"/>
          </p:cNvSpPr>
          <p:nvPr/>
        </p:nvSpPr>
        <p:spPr>
          <a:xfrm xmlns:a="http://schemas.openxmlformats.org/drawingml/2006/main">
            <a:off x="10552176" y="1517904"/>
            <a:ext cx="731520" cy="47548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34ED99B-6F63-4B5A-816E-C1F392EFB88A}"/>
              </a:ext>
            </a:extLst>
          </p:cNvPr>
          <p:cNvSpPr>
            <a:spLocks xmlns:a="http://schemas.openxmlformats.org/drawingml/2006/main" noGrp="1"/>
          </p:cNvSpPr>
          <p:nvPr/>
        </p:nvSpPr>
        <p:spPr>
          <a:xfrm xmlns:a="http://schemas.openxmlformats.org/drawingml/2006/main">
            <a:off x="10552176" y="1581912"/>
            <a:ext cx="7315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xmlns:a="http://schemas.openxmlformats.org/drawingml/2006/main">
              <a:ext uri="{FF2B5EF4-FFF2-40B4-BE49-F238E27FC236}">
                <a16:creationId xmlns:a16="http://schemas.microsoft.com/office/drawing/2014/main" id="{D883BA72-E16B-4926-91CD-EA1C30D2DBA1}"/>
              </a:ext>
            </a:extLst>
          </p:cNvPr>
          <p:cNvSpPr>
            <a:spLocks xmlns:a="http://schemas.openxmlformats.org/drawingml/2006/main" noGrp="1"/>
          </p:cNvSpPr>
          <p:nvPr/>
        </p:nvSpPr>
        <p:spPr>
          <a:xfrm xmlns:a="http://schemas.openxmlformats.org/drawingml/2006/main">
            <a:off x="10552176" y="1819655"/>
            <a:ext cx="73152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xmlns:a="http://schemas.openxmlformats.org/drawingml/2006/main">
              <a:ext uri="{FF2B5EF4-FFF2-40B4-BE49-F238E27FC236}">
                <a16:creationId xmlns:a16="http://schemas.microsoft.com/office/drawing/2014/main" id="{79A776E0-C79F-4F0C-A32E-D1866EEF5C46}"/>
              </a:ext>
            </a:extLst>
          </p:cNvPr>
          <p:cNvSpPr>
            <a:spLocks xmlns:a="http://schemas.openxmlformats.org/drawingml/2006/main" noGrp="1"/>
          </p:cNvSpPr>
          <p:nvPr/>
        </p:nvSpPr>
        <p:spPr>
          <a:xfrm xmlns:a="http://schemas.openxmlformats.org/drawingml/2006/main">
            <a:off x="6556248" y="2103120"/>
            <a:ext cx="4681728"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00" b="0" i="0">
                <a:solidFill>
                  <a:srgbClr val="1F2730"/>
                </a:solidFill>
                <a:latin typeface="Arial"/>
                <a:ea typeface="Arial"/>
                <a:cs typeface="Arial"/>
              </a:rPr>
              <a:t>Structural respiratory-complex subunits encoded by nuclear DNA.</a:t>
            </a:r>
          </a:p>
        </p:txBody>
      </p:sp>
      <p:sp>
        <p:nvSpPr>
          <p:cNvPr id="16" name="Rounded Rectangle 15">
            <a:extLst xmlns:a="http://schemas.openxmlformats.org/drawingml/2006/main">
              <a:ext uri="{FF2B5EF4-FFF2-40B4-BE49-F238E27FC236}">
                <a16:creationId xmlns:a16="http://schemas.microsoft.com/office/drawing/2014/main" id="{526CC8CA-739A-46F1-B520-95335471516B}"/>
              </a:ext>
            </a:extLst>
          </p:cNvPr>
          <p:cNvSpPr>
            <a:spLocks xmlns:a="http://schemas.openxmlformats.org/drawingml/2006/main" noGrp="1"/>
          </p:cNvSpPr>
          <p:nvPr/>
        </p:nvSpPr>
        <p:spPr>
          <a:xfrm xmlns:a="http://schemas.openxmlformats.org/drawingml/2006/main">
            <a:off x="658368" y="3182112"/>
            <a:ext cx="5248656" cy="155448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1B1EA69-A373-4CC9-9F80-7CB08D9F5F45}"/>
              </a:ext>
            </a:extLst>
          </p:cNvPr>
          <p:cNvSpPr>
            <a:spLocks xmlns:a="http://schemas.openxmlformats.org/drawingml/2006/main" noGrp="1"/>
          </p:cNvSpPr>
          <p:nvPr/>
        </p:nvSpPr>
        <p:spPr>
          <a:xfrm xmlns:a="http://schemas.openxmlformats.org/drawingml/2006/main">
            <a:off x="932688" y="3429000"/>
            <a:ext cx="39136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xmlns:a="http://schemas.openxmlformats.org/drawingml/2006/main">
              <a:ext uri="{FF2B5EF4-FFF2-40B4-BE49-F238E27FC236}">
                <a16:creationId xmlns:a16="http://schemas.microsoft.com/office/drawing/2014/main" id="{BF53B588-109A-4290-9377-253109323524}"/>
              </a:ext>
            </a:extLst>
          </p:cNvPr>
          <p:cNvSpPr>
            <a:spLocks xmlns:a="http://schemas.openxmlformats.org/drawingml/2006/main" noGrp="1"/>
          </p:cNvSpPr>
          <p:nvPr/>
        </p:nvSpPr>
        <p:spPr>
          <a:xfrm xmlns:a="http://schemas.openxmlformats.org/drawingml/2006/main">
            <a:off x="4928616" y="3401568"/>
            <a:ext cx="731520" cy="47548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19D23711-31E3-4169-BE39-FAEAE55842D9}"/>
              </a:ext>
            </a:extLst>
          </p:cNvPr>
          <p:cNvSpPr>
            <a:spLocks xmlns:a="http://schemas.openxmlformats.org/drawingml/2006/main" noGrp="1"/>
          </p:cNvSpPr>
          <p:nvPr/>
        </p:nvSpPr>
        <p:spPr>
          <a:xfrm xmlns:a="http://schemas.openxmlformats.org/drawingml/2006/main">
            <a:off x="4928616" y="3465576"/>
            <a:ext cx="7315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xmlns:a="http://schemas.openxmlformats.org/drawingml/2006/main">
              <a:ext uri="{FF2B5EF4-FFF2-40B4-BE49-F238E27FC236}">
                <a16:creationId xmlns:a16="http://schemas.microsoft.com/office/drawing/2014/main" id="{CB1737FE-578C-4CD0-A492-F1BD90D55055}"/>
              </a:ext>
            </a:extLst>
          </p:cNvPr>
          <p:cNvSpPr>
            <a:spLocks xmlns:a="http://schemas.openxmlformats.org/drawingml/2006/main" noGrp="1"/>
          </p:cNvSpPr>
          <p:nvPr/>
        </p:nvSpPr>
        <p:spPr>
          <a:xfrm xmlns:a="http://schemas.openxmlformats.org/drawingml/2006/main">
            <a:off x="4928616" y="3703320"/>
            <a:ext cx="73152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xmlns:a="http://schemas.openxmlformats.org/drawingml/2006/main">
              <a:ext uri="{FF2B5EF4-FFF2-40B4-BE49-F238E27FC236}">
                <a16:creationId xmlns:a16="http://schemas.microsoft.com/office/drawing/2014/main" id="{439B04FD-6FC4-4672-9476-B85E5850150C}"/>
              </a:ext>
            </a:extLst>
          </p:cNvPr>
          <p:cNvSpPr>
            <a:spLocks xmlns:a="http://schemas.openxmlformats.org/drawingml/2006/main" noGrp="1"/>
          </p:cNvSpPr>
          <p:nvPr/>
        </p:nvSpPr>
        <p:spPr>
          <a:xfrm xmlns:a="http://schemas.openxmlformats.org/drawingml/2006/main">
            <a:off x="932688" y="3986784"/>
            <a:ext cx="4681728"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xmlns:a="http://schemas.openxmlformats.org/drawingml/2006/main">
              <a:ext uri="{FF2B5EF4-FFF2-40B4-BE49-F238E27FC236}">
                <a16:creationId xmlns:a16="http://schemas.microsoft.com/office/drawing/2014/main" id="{3997E6C8-CC02-4D09-881C-20FE60682995}"/>
              </a:ext>
            </a:extLst>
          </p:cNvPr>
          <p:cNvSpPr>
            <a:spLocks xmlns:a="http://schemas.openxmlformats.org/drawingml/2006/main" noGrp="1"/>
          </p:cNvSpPr>
          <p:nvPr/>
        </p:nvSpPr>
        <p:spPr>
          <a:xfrm xmlns:a="http://schemas.openxmlformats.org/drawingml/2006/main">
            <a:off x="6281928" y="3182112"/>
            <a:ext cx="5248656" cy="1554480"/>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DB14D6E4-4D55-480A-BC1D-F214033C4A16}"/>
              </a:ext>
            </a:extLst>
          </p:cNvPr>
          <p:cNvSpPr>
            <a:spLocks xmlns:a="http://schemas.openxmlformats.org/drawingml/2006/main" noGrp="1"/>
          </p:cNvSpPr>
          <p:nvPr/>
        </p:nvSpPr>
        <p:spPr>
          <a:xfrm xmlns:a="http://schemas.openxmlformats.org/drawingml/2006/main">
            <a:off x="6556248" y="3429000"/>
            <a:ext cx="39136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xmlns:a="http://schemas.openxmlformats.org/drawingml/2006/main">
              <a:ext uri="{FF2B5EF4-FFF2-40B4-BE49-F238E27FC236}">
                <a16:creationId xmlns:a16="http://schemas.microsoft.com/office/drawing/2014/main" id="{EBB36479-DAC4-4A96-A97F-A7C4CBEAD1BE}"/>
              </a:ext>
            </a:extLst>
          </p:cNvPr>
          <p:cNvSpPr>
            <a:spLocks xmlns:a="http://schemas.openxmlformats.org/drawingml/2006/main" noGrp="1"/>
          </p:cNvSpPr>
          <p:nvPr/>
        </p:nvSpPr>
        <p:spPr>
          <a:xfrm xmlns:a="http://schemas.openxmlformats.org/drawingml/2006/main">
            <a:off x="10552176" y="3401568"/>
            <a:ext cx="731520" cy="47548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2E9166DD-0031-4966-A398-0C70AF5B95FB}"/>
              </a:ext>
            </a:extLst>
          </p:cNvPr>
          <p:cNvSpPr>
            <a:spLocks xmlns:a="http://schemas.openxmlformats.org/drawingml/2006/main" noGrp="1"/>
          </p:cNvSpPr>
          <p:nvPr/>
        </p:nvSpPr>
        <p:spPr>
          <a:xfrm xmlns:a="http://schemas.openxmlformats.org/drawingml/2006/main">
            <a:off x="10552176" y="3465576"/>
            <a:ext cx="7315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xmlns:a="http://schemas.openxmlformats.org/drawingml/2006/main">
              <a:ext uri="{FF2B5EF4-FFF2-40B4-BE49-F238E27FC236}">
                <a16:creationId xmlns:a16="http://schemas.microsoft.com/office/drawing/2014/main" id="{B2208763-11A6-4D06-823D-801A51A3769F}"/>
              </a:ext>
            </a:extLst>
          </p:cNvPr>
          <p:cNvSpPr>
            <a:spLocks xmlns:a="http://schemas.openxmlformats.org/drawingml/2006/main" noGrp="1"/>
          </p:cNvSpPr>
          <p:nvPr/>
        </p:nvSpPr>
        <p:spPr>
          <a:xfrm xmlns:a="http://schemas.openxmlformats.org/drawingml/2006/main">
            <a:off x="10552176" y="3703320"/>
            <a:ext cx="73152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xmlns:a="http://schemas.openxmlformats.org/drawingml/2006/main">
              <a:ext uri="{FF2B5EF4-FFF2-40B4-BE49-F238E27FC236}">
                <a16:creationId xmlns:a16="http://schemas.microsoft.com/office/drawing/2014/main" id="{60EF670B-4939-4139-B603-D1022072D211}"/>
              </a:ext>
            </a:extLst>
          </p:cNvPr>
          <p:cNvSpPr>
            <a:spLocks xmlns:a="http://schemas.openxmlformats.org/drawingml/2006/main" noGrp="1"/>
          </p:cNvSpPr>
          <p:nvPr/>
        </p:nvSpPr>
        <p:spPr>
          <a:xfrm xmlns:a="http://schemas.openxmlformats.org/drawingml/2006/main">
            <a:off x="6556248" y="3986784"/>
            <a:ext cx="4681728"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xmlns:a="http://schemas.openxmlformats.org/drawingml/2006/main">
              <a:ext uri="{FF2B5EF4-FFF2-40B4-BE49-F238E27FC236}">
                <a16:creationId xmlns:a16="http://schemas.microsoft.com/office/drawing/2014/main" id="{21F074FA-CF2F-4087-BE09-4880E2ED30D5}"/>
              </a:ext>
            </a:extLst>
          </p:cNvPr>
          <p:cNvSpPr>
            <a:spLocks xmlns:a="http://schemas.openxmlformats.org/drawingml/2006/main" noGrp="1"/>
          </p:cNvSpPr>
          <p:nvPr/>
        </p:nvSpPr>
        <p:spPr>
          <a:xfrm xmlns:a="http://schemas.openxmlformats.org/drawingml/2006/main">
            <a:off x="658368" y="5138928"/>
            <a:ext cx="10881360" cy="950976"/>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E4829F8C-5C6A-48DB-A931-0E9DAE0E017B}"/>
              </a:ext>
            </a:extLst>
          </p:cNvPr>
          <p:cNvSpPr>
            <a:spLocks xmlns:a="http://schemas.openxmlformats.org/drawingml/2006/main" noGrp="1"/>
          </p:cNvSpPr>
          <p:nvPr/>
        </p:nvSpPr>
        <p:spPr>
          <a:xfrm xmlns:a="http://schemas.openxmlformats.org/drawingml/2006/main">
            <a:off x="932688" y="5321808"/>
            <a:ext cx="157276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xmlns:a="http://schemas.openxmlformats.org/drawingml/2006/main">
              <a:ext uri="{FF2B5EF4-FFF2-40B4-BE49-F238E27FC236}">
                <a16:creationId xmlns:a16="http://schemas.microsoft.com/office/drawing/2014/main" id="{AEB0958F-2F10-42D0-B04E-2CA42DA26A1E}"/>
              </a:ext>
            </a:extLst>
          </p:cNvPr>
          <p:cNvSpPr>
            <a:spLocks xmlns:a="http://schemas.openxmlformats.org/drawingml/2006/main" noGrp="1"/>
          </p:cNvSpPr>
          <p:nvPr/>
        </p:nvSpPr>
        <p:spPr>
          <a:xfrm xmlns:a="http://schemas.openxmlformats.org/drawingml/2006/main">
            <a:off x="2651760" y="5285232"/>
            <a:ext cx="8412480"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overlap-calculation-background">
            <a:extLst xmlns:a="http://schemas.openxmlformats.org/drawingml/2006/main">
              <a:ext uri="{FF2B5EF4-FFF2-40B4-BE49-F238E27FC236}">
                <a16:creationId xmlns:a16="http://schemas.microsoft.com/office/drawing/2014/main" id="{19F0E6B1-E7BA-4A97-8DBA-C2625018C5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erlap-calculation-title">
            <a:extLst xmlns:a="http://schemas.openxmlformats.org/drawingml/2006/main">
              <a:ext uri="{FF2B5EF4-FFF2-40B4-BE49-F238E27FC236}">
                <a16:creationId xmlns:a16="http://schemas.microsoft.com/office/drawing/2014/main" id="{48B855AC-B2C4-4260-A9A5-B622FE249086}"/>
              </a:ext>
            </a:extLst>
          </p:cNvPr>
          <p:cNvSpPr>
            <a:spLocks xmlns:a="http://schemas.openxmlformats.org/drawingml/2006/main" noGrp="1"/>
          </p:cNvSpPr>
          <p:nvPr/>
        </p:nvSpPr>
        <p:spPr>
          <a:xfrm xmlns:a="http://schemas.openxmlformats.org/drawingml/2006/main">
            <a:off x="533400" y="40957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xmlns:a="http://schemas.openxmlformats.org/drawingml/2006/main">
              <a:ext uri="{FF2B5EF4-FFF2-40B4-BE49-F238E27FC236}">
                <a16:creationId xmlns:a16="http://schemas.microsoft.com/office/drawing/2014/main" id="{BDC5796F-FACF-48B1-888D-B81973D1574E}"/>
              </a:ext>
            </a:extLst>
          </p:cNvPr>
          <p:cNvSpPr>
            <a:spLocks xmlns:a="http://schemas.openxmlformats.org/drawingml/2006/main" noGrp="1"/>
          </p:cNvSpPr>
          <p:nvPr/>
        </p:nvSpPr>
        <p:spPr>
          <a:xfrm xmlns:a="http://schemas.openxmlformats.org/drawingml/2006/main">
            <a:off x="723900" y="2691654"/>
            <a:ext cx="2238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xmlns:a="http://schemas.openxmlformats.org/drawingml/2006/main">
              <a:ext uri="{FF2B5EF4-FFF2-40B4-BE49-F238E27FC236}">
                <a16:creationId xmlns:a16="http://schemas.microsoft.com/office/drawing/2014/main" id="{85CBF9CA-CAE0-444D-97BA-72A84AE2BE8A}"/>
              </a:ext>
            </a:extLst>
          </p:cNvPr>
          <p:cNvSpPr>
            <a:spLocks xmlns:a="http://schemas.openxmlformats.org/drawingml/2006/main" noGrp="1"/>
          </p:cNvSpPr>
          <p:nvPr/>
        </p:nvSpPr>
        <p:spPr>
          <a:xfrm xmlns:a="http://schemas.openxmlformats.org/drawingml/2006/main">
            <a:off x="3295650" y="1910604"/>
            <a:ext cx="65722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98889"/>
          </a:bodyPr>
          <a:lstStyle xmlns:a="http://schemas.openxmlformats.org/drawingml/2006/main"/>
          <a:p xmlns:a="http://schemas.openxmlformats.org/drawingml/2006/main">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xmlns:a="http://schemas.openxmlformats.org/drawingml/2006/main">
              <a:ext uri="{FF2B5EF4-FFF2-40B4-BE49-F238E27FC236}">
                <a16:creationId xmlns:a16="http://schemas.microsoft.com/office/drawing/2014/main" id="{9C62E147-60E8-427E-8C60-DDBA5E710950}"/>
              </a:ext>
            </a:extLst>
          </p:cNvPr>
          <p:cNvSpPr>
            <a:spLocks xmlns:a="http://schemas.openxmlformats.org/drawingml/2006/main" noGrp="1"/>
          </p:cNvSpPr>
          <p:nvPr/>
        </p:nvSpPr>
        <p:spPr>
          <a:xfrm xmlns:a="http://schemas.openxmlformats.org/drawingml/2006/main">
            <a:off x="3295650" y="2939304"/>
            <a:ext cx="6572250" cy="0"/>
          </a:xfrm>
          <a:prstGeom xmlns:a="http://schemas.openxmlformats.org/drawingml/2006/main" prst="line">
            <a:avLst/>
          </a:prstGeom>
          <a:noFill xmlns:a="http://schemas.openxmlformats.org/drawingml/2006/main"/>
          <a:ln xmlns:a="http://schemas.openxmlformats.org/drawingml/2006/main" w="23813">
            <a:solidFill>
              <a:srgbClr val="0F233D"/>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formula-denominator">
            <a:extLst xmlns:a="http://schemas.openxmlformats.org/drawingml/2006/main">
              <a:ext uri="{FF2B5EF4-FFF2-40B4-BE49-F238E27FC236}">
                <a16:creationId xmlns:a16="http://schemas.microsoft.com/office/drawing/2014/main" id="{7FCE3506-DDC1-45CD-AD0B-988D6C21CE58}"/>
              </a:ext>
            </a:extLst>
          </p:cNvPr>
          <p:cNvSpPr>
            <a:spLocks xmlns:a="http://schemas.openxmlformats.org/drawingml/2006/main" noGrp="1"/>
          </p:cNvSpPr>
          <p:nvPr/>
        </p:nvSpPr>
        <p:spPr>
          <a:xfrm xmlns:a="http://schemas.openxmlformats.org/drawingml/2006/main">
            <a:off x="3295650" y="3148854"/>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xmlns:a="http://schemas.openxmlformats.org/drawingml/2006/main">
              <a:ext uri="{FF2B5EF4-FFF2-40B4-BE49-F238E27FC236}">
                <a16:creationId xmlns:a16="http://schemas.microsoft.com/office/drawing/2014/main" id="{FAE18DB7-C75E-4491-AC8B-87028C8965CC}"/>
              </a:ext>
            </a:extLst>
          </p:cNvPr>
          <p:cNvSpPr>
            <a:spLocks xmlns:a="http://schemas.openxmlformats.org/drawingml/2006/main" noGrp="1"/>
          </p:cNvSpPr>
          <p:nvPr/>
        </p:nvSpPr>
        <p:spPr>
          <a:xfrm xmlns:a="http://schemas.openxmlformats.org/drawingml/2006/main">
            <a:off x="10077450" y="2691654"/>
            <a:ext cx="1381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xmlns:a="http://schemas.openxmlformats.org/drawingml/2006/main">
              <a:ext uri="{FF2B5EF4-FFF2-40B4-BE49-F238E27FC236}">
                <a16:creationId xmlns:a16="http://schemas.microsoft.com/office/drawing/2014/main" id="{7A94A0E1-E7FA-491B-9D5F-977BE4CEDB34}"/>
              </a:ext>
            </a:extLst>
          </p:cNvPr>
          <p:cNvSpPr>
            <a:spLocks xmlns:a="http://schemas.openxmlformats.org/drawingml/2006/main" noGrp="1"/>
          </p:cNvSpPr>
          <p:nvPr/>
        </p:nvSpPr>
        <p:spPr>
          <a:xfrm xmlns:a="http://schemas.openxmlformats.org/drawingml/2006/main">
            <a:off x="1381125" y="4317628"/>
            <a:ext cx="9429750" cy="1762125"/>
          </a:xfrm>
          <a:prstGeom xmlns:a="http://schemas.openxmlformats.org/drawingml/2006/main" prst="roundRect">
            <a:avLst>
              <a:gd name="adj" fmla="val 8649"/>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9" name="worked-example-label">
            <a:extLst xmlns:a="http://schemas.openxmlformats.org/drawingml/2006/main">
              <a:ext uri="{FF2B5EF4-FFF2-40B4-BE49-F238E27FC236}">
                <a16:creationId xmlns:a16="http://schemas.microsoft.com/office/drawing/2014/main" id="{2D6B93AC-478D-4AB4-85FA-06A6F97BDA4C}"/>
              </a:ext>
            </a:extLst>
          </p:cNvPr>
          <p:cNvSpPr>
            <a:spLocks xmlns:a="http://schemas.openxmlformats.org/drawingml/2006/main" noGrp="1"/>
          </p:cNvSpPr>
          <p:nvPr/>
        </p:nvSpPr>
        <p:spPr>
          <a:xfrm xmlns:a="http://schemas.openxmlformats.org/drawingml/2006/main">
            <a:off x="1857375" y="4622988"/>
            <a:ext cx="847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xmlns:a="http://schemas.openxmlformats.org/drawingml/2006/main">
              <a:ext uri="{FF2B5EF4-FFF2-40B4-BE49-F238E27FC236}">
                <a16:creationId xmlns:a16="http://schemas.microsoft.com/office/drawing/2014/main" id="{0CE14BD2-92A4-4214-9AD4-5B36EF705D5F}"/>
              </a:ext>
            </a:extLst>
          </p:cNvPr>
          <p:cNvSpPr>
            <a:spLocks xmlns:a="http://schemas.openxmlformats.org/drawingml/2006/main" noGrp="1"/>
          </p:cNvSpPr>
          <p:nvPr/>
        </p:nvSpPr>
        <p:spPr>
          <a:xfrm xmlns:a="http://schemas.openxmlformats.org/drawingml/2006/main">
            <a:off x="1857375" y="5137338"/>
            <a:ext cx="847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D6851B-2665-4B39-9E54-29EA09D75374}"/>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xmlns:a="http://schemas.openxmlformats.org/drawingml/2006/main">
              <a:ext uri="{FF2B5EF4-FFF2-40B4-BE49-F238E27FC236}">
                <a16:creationId xmlns:a16="http://schemas.microsoft.com/office/drawing/2014/main" id="{202906A2-37D3-4429-9040-3FB6B411CE9C}"/>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xmlns:a="http://schemas.openxmlformats.org/drawingml/2006/main" noChangeAspect="1"/>
          </p:cNvPicPr>
          <p:nvPr/>
        </p:nvPicPr>
        <p:blipFill>
          <a:blip xmlns:r="http://schemas.openxmlformats.org/officeDocument/2006/relationships" xmlns:a="http://schemas.openxmlformats.org/drawingml/2006/main" r:embed="R52f04eb1c32546cb"/>
          <a:stretch xmlns:a="http://schemas.openxmlformats.org/drawingml/2006/main">
            <a:fillRect l="0" t="0" r="0" b="0"/>
          </a:stretch>
        </p:blipFill>
        <p:spPr>
          <a:xfrm xmlns:a="http://schemas.openxmlformats.org/drawingml/2006/main">
            <a:off x="658368" y="1360188"/>
            <a:ext cx="10881360" cy="3991318"/>
          </a:xfrm>
          <a:prstGeom xmlns:a="http://schemas.openxmlformats.org/drawingml/2006/main" prst="rect">
            <a:avLst/>
          </a:prstGeom>
        </p:spPr>
      </p:pic>
      <p:sp>
        <p:nvSpPr>
          <p:cNvPr id="5" name="Rounded Rectangle 4">
            <a:extLst xmlns:a="http://schemas.openxmlformats.org/drawingml/2006/main">
              <a:ext uri="{FF2B5EF4-FFF2-40B4-BE49-F238E27FC236}">
                <a16:creationId xmlns:a16="http://schemas.microsoft.com/office/drawing/2014/main" id="{CE733A69-C72D-4B96-8FC3-7663882BDDC8}"/>
              </a:ext>
            </a:extLst>
          </p:cNvPr>
          <p:cNvSpPr>
            <a:spLocks xmlns:a="http://schemas.openxmlformats.org/drawingml/2006/main" noGrp="1"/>
          </p:cNvSpPr>
          <p:nvPr/>
        </p:nvSpPr>
        <p:spPr>
          <a:xfrm xmlns:a="http://schemas.openxmlformats.org/drawingml/2006/main">
            <a:off x="658368" y="5614416"/>
            <a:ext cx="10881360" cy="658368"/>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FE0CB97-0983-4919-8A05-A1A1D07850DF}"/>
              </a:ext>
            </a:extLst>
          </p:cNvPr>
          <p:cNvSpPr>
            <a:spLocks xmlns:a="http://schemas.openxmlformats.org/drawingml/2006/main" noGrp="1"/>
          </p:cNvSpPr>
          <p:nvPr/>
        </p:nvSpPr>
        <p:spPr>
          <a:xfrm xmlns:a="http://schemas.openxmlformats.org/drawingml/2006/main">
            <a:off x="932688" y="5806440"/>
            <a:ext cx="138988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xmlns:a="http://schemas.openxmlformats.org/drawingml/2006/main">
              <a:ext uri="{FF2B5EF4-FFF2-40B4-BE49-F238E27FC236}">
                <a16:creationId xmlns:a16="http://schemas.microsoft.com/office/drawing/2014/main" id="{1C2DC68E-7E8D-4FDC-BFB1-795A5C6534E6}"/>
              </a:ext>
            </a:extLst>
          </p:cNvPr>
          <p:cNvSpPr>
            <a:spLocks xmlns:a="http://schemas.openxmlformats.org/drawingml/2006/main" noGrp="1"/>
          </p:cNvSpPr>
          <p:nvPr/>
        </p:nvSpPr>
        <p:spPr>
          <a:xfrm xmlns:a="http://schemas.openxmlformats.org/drawingml/2006/main">
            <a:off x="2468880" y="5751576"/>
            <a:ext cx="86319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7" name="direction-formula-background">
            <a:extLst xmlns:a="http://schemas.openxmlformats.org/drawingml/2006/main">
              <a:ext uri="{FF2B5EF4-FFF2-40B4-BE49-F238E27FC236}">
                <a16:creationId xmlns:a16="http://schemas.microsoft.com/office/drawing/2014/main" id="{25ABB92D-ECD7-4CD0-8EC8-3E97BA5ECA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direction-formula-title">
            <a:extLst xmlns:a="http://schemas.openxmlformats.org/drawingml/2006/main">
              <a:ext uri="{FF2B5EF4-FFF2-40B4-BE49-F238E27FC236}">
                <a16:creationId xmlns:a16="http://schemas.microsoft.com/office/drawing/2014/main" id="{AE051D85-F47D-4AD6-893D-6C8E7D3161BE}"/>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xmlns:a="http://schemas.openxmlformats.org/drawingml/2006/main">
              <a:ext uri="{FF2B5EF4-FFF2-40B4-BE49-F238E27FC236}">
                <a16:creationId xmlns:a16="http://schemas.microsoft.com/office/drawing/2014/main" id="{28486D60-6F13-489B-8CDC-A572FA2FB822}"/>
              </a:ext>
            </a:extLst>
          </p:cNvPr>
          <p:cNvSpPr>
            <a:spLocks xmlns:a="http://schemas.openxmlformats.org/drawingml/2006/main" noGrp="1"/>
          </p:cNvSpPr>
          <p:nvPr/>
        </p:nvSpPr>
        <p:spPr>
          <a:xfrm xmlns:a="http://schemas.openxmlformats.org/drawingml/2006/main">
            <a:off x="552450" y="9239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xmlns:a="http://schemas.openxmlformats.org/drawingml/2006/main">
              <a:ext uri="{FF2B5EF4-FFF2-40B4-BE49-F238E27FC236}">
                <a16:creationId xmlns:a16="http://schemas.microsoft.com/office/drawing/2014/main" id="{00B2A2A6-2FD4-487B-8E74-155D0BBFB263}"/>
              </a:ext>
            </a:extLst>
          </p:cNvPr>
          <p:cNvSpPr>
            <a:spLocks xmlns:a="http://schemas.openxmlformats.org/drawingml/2006/main" noGrp="1"/>
          </p:cNvSpPr>
          <p:nvPr/>
        </p:nvSpPr>
        <p:spPr>
          <a:xfrm xmlns:a="http://schemas.openxmlformats.org/drawingml/2006/main">
            <a:off x="1000125" y="1504950"/>
            <a:ext cx="10191750" cy="1885950"/>
          </a:xfrm>
          <a:prstGeom xmlns:a="http://schemas.openxmlformats.org/drawingml/2006/main" prst="roundRect">
            <a:avLst>
              <a:gd name="adj" fmla="val 8081"/>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 name="direction-formula-label">
            <a:extLst xmlns:a="http://schemas.openxmlformats.org/drawingml/2006/main">
              <a:ext uri="{FF2B5EF4-FFF2-40B4-BE49-F238E27FC236}">
                <a16:creationId xmlns:a16="http://schemas.microsoft.com/office/drawing/2014/main" id="{1A56C8AB-0418-4085-95EC-B42427F12956}"/>
              </a:ext>
            </a:extLst>
          </p:cNvPr>
          <p:cNvSpPr>
            <a:spLocks xmlns:a="http://schemas.openxmlformats.org/drawingml/2006/main" noGrp="1"/>
          </p:cNvSpPr>
          <p:nvPr/>
        </p:nvSpPr>
        <p:spPr>
          <a:xfrm xmlns:a="http://schemas.openxmlformats.org/drawingml/2006/main">
            <a:off x="1143000" y="21336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66"/>
          </a:bodyPr>
          <a:lstStyle xmlns:a="http://schemas.openxmlformats.org/drawingml/2006/main"/>
          <a:p xmlns:a="http://schemas.openxmlformats.org/drawingml/2006/main">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xmlns:a="http://schemas.openxmlformats.org/drawingml/2006/main">
              <a:ext uri="{FF2B5EF4-FFF2-40B4-BE49-F238E27FC236}">
                <a16:creationId xmlns:a16="http://schemas.microsoft.com/office/drawing/2014/main" id="{8F22A7C5-55F4-4E36-9453-F5ED053F2050}"/>
              </a:ext>
            </a:extLst>
          </p:cNvPr>
          <p:cNvSpPr>
            <a:spLocks xmlns:a="http://schemas.openxmlformats.org/drawingml/2006/main" noGrp="1"/>
          </p:cNvSpPr>
          <p:nvPr/>
        </p:nvSpPr>
        <p:spPr>
          <a:xfrm xmlns:a="http://schemas.openxmlformats.org/drawingml/2006/main">
            <a:off x="4400550" y="1743075"/>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a:bodyPr>
          <a:lstStyle xmlns:a="http://schemas.openxmlformats.org/drawingml/2006/main"/>
          <a:p xmlns:a="http://schemas.openxmlformats.org/drawingml/2006/main">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xmlns:a="http://schemas.openxmlformats.org/drawingml/2006/main">
              <a:ext uri="{FF2B5EF4-FFF2-40B4-BE49-F238E27FC236}">
                <a16:creationId xmlns:a16="http://schemas.microsoft.com/office/drawing/2014/main" id="{DCE5E515-7AA6-4088-80B7-07A00CA1A1FB}"/>
              </a:ext>
            </a:extLst>
          </p:cNvPr>
          <p:cNvSpPr>
            <a:spLocks xmlns:a="http://schemas.openxmlformats.org/drawingml/2006/main" noGrp="1"/>
          </p:cNvSpPr>
          <p:nvPr/>
        </p:nvSpPr>
        <p:spPr>
          <a:xfrm xmlns:a="http://schemas.openxmlformats.org/drawingml/2006/main">
            <a:off x="4476750" y="2400300"/>
            <a:ext cx="5476875" cy="0"/>
          </a:xfrm>
          <a:prstGeom xmlns:a="http://schemas.openxmlformats.org/drawingml/2006/main" prst="line">
            <a:avLst/>
          </a:prstGeom>
          <a:noFill xmlns:a="http://schemas.openxmlformats.org/drawingml/2006/main"/>
          <a:ln xmlns:a="http://schemas.openxmlformats.org/drawingml/2006/main" w="23813">
            <a:solidFill>
              <a:srgbClr val="0F233D"/>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direction-formula-denominator">
            <a:extLst xmlns:a="http://schemas.openxmlformats.org/drawingml/2006/main">
              <a:ext uri="{FF2B5EF4-FFF2-40B4-BE49-F238E27FC236}">
                <a16:creationId xmlns:a16="http://schemas.microsoft.com/office/drawing/2014/main" id="{5F3CFBCC-997F-4F30-9D9B-DFC0C9AA67C2}"/>
              </a:ext>
            </a:extLst>
          </p:cNvPr>
          <p:cNvSpPr>
            <a:spLocks xmlns:a="http://schemas.openxmlformats.org/drawingml/2006/main" noGrp="1"/>
          </p:cNvSpPr>
          <p:nvPr/>
        </p:nvSpPr>
        <p:spPr>
          <a:xfrm xmlns:a="http://schemas.openxmlformats.org/drawingml/2006/main">
            <a:off x="4400550" y="2543175"/>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xmlns:a="http://schemas.openxmlformats.org/drawingml/2006/main">
              <a:ext uri="{FF2B5EF4-FFF2-40B4-BE49-F238E27FC236}">
                <a16:creationId xmlns:a16="http://schemas.microsoft.com/office/drawing/2014/main" id="{EB01F018-37C2-4C63-864D-CDA16EA5A332}"/>
              </a:ext>
            </a:extLst>
          </p:cNvPr>
          <p:cNvSpPr>
            <a:spLocks xmlns:a="http://schemas.openxmlformats.org/drawingml/2006/main" noGrp="1"/>
          </p:cNvSpPr>
          <p:nvPr/>
        </p:nvSpPr>
        <p:spPr>
          <a:xfrm xmlns:a="http://schemas.openxmlformats.org/drawingml/2006/main">
            <a:off x="10134600" y="2133600"/>
            <a:ext cx="91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xmlns:a="http://schemas.openxmlformats.org/drawingml/2006/main">
              <a:ext uri="{FF2B5EF4-FFF2-40B4-BE49-F238E27FC236}">
                <a16:creationId xmlns:a16="http://schemas.microsoft.com/office/drawing/2014/main" id="{8C0FA3DB-02A9-46F2-AB6C-6C0BC5F3494B}"/>
              </a:ext>
            </a:extLst>
          </p:cNvPr>
          <p:cNvSpPr>
            <a:spLocks xmlns:a="http://schemas.openxmlformats.org/drawingml/2006/main" noGrp="1"/>
          </p:cNvSpPr>
          <p:nvPr/>
        </p:nvSpPr>
        <p:spPr>
          <a:xfrm xmlns:a="http://schemas.openxmlformats.org/drawingml/2006/main">
            <a:off x="1143000" y="3600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xmlns:a="http://schemas.openxmlformats.org/drawingml/2006/main">
              <a:ext uri="{FF2B5EF4-FFF2-40B4-BE49-F238E27FC236}">
                <a16:creationId xmlns:a16="http://schemas.microsoft.com/office/drawing/2014/main" id="{4A4B1164-3B13-455C-A204-DC47BE324F4E}"/>
              </a:ext>
            </a:extLst>
          </p:cNvPr>
          <p:cNvSpPr>
            <a:spLocks xmlns:a="http://schemas.openxmlformats.org/drawingml/2006/main" noGrp="1"/>
          </p:cNvSpPr>
          <p:nvPr/>
        </p:nvSpPr>
        <p:spPr>
          <a:xfrm xmlns:a="http://schemas.openxmlformats.org/drawingml/2006/main">
            <a:off x="1524000" y="4229100"/>
            <a:ext cx="9144000" cy="1238250"/>
          </a:xfrm>
          <a:prstGeom xmlns:a="http://schemas.openxmlformats.org/drawingml/2006/main" prst="roundRect">
            <a:avLst>
              <a:gd name="adj" fmla="val 12308"/>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2" name="direction-example-label">
            <a:extLst xmlns:a="http://schemas.openxmlformats.org/drawingml/2006/main">
              <a:ext uri="{FF2B5EF4-FFF2-40B4-BE49-F238E27FC236}">
                <a16:creationId xmlns:a16="http://schemas.microsoft.com/office/drawing/2014/main" id="{DD39F9E9-7D49-4BD8-AC6E-644ABF159B48}"/>
              </a:ext>
            </a:extLst>
          </p:cNvPr>
          <p:cNvSpPr>
            <a:spLocks xmlns:a="http://schemas.openxmlformats.org/drawingml/2006/main" noGrp="1"/>
          </p:cNvSpPr>
          <p:nvPr/>
        </p:nvSpPr>
        <p:spPr>
          <a:xfrm xmlns:a="http://schemas.openxmlformats.org/drawingml/2006/main">
            <a:off x="1952625" y="4429125"/>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mtDNA-encoded OXPHOS</a:t>
            </a:r>
          </a:p>
        </p:txBody>
      </p:sp>
      <p:sp>
        <p:nvSpPr>
          <p:cNvPr id="13" name="direction-example-calculation">
            <a:extLst xmlns:a="http://schemas.openxmlformats.org/drawingml/2006/main">
              <a:ext uri="{FF2B5EF4-FFF2-40B4-BE49-F238E27FC236}">
                <a16:creationId xmlns:a16="http://schemas.microsoft.com/office/drawing/2014/main" id="{33B5E7EC-043A-49BC-A2B4-06D42CCAEA44}"/>
              </a:ext>
            </a:extLst>
          </p:cNvPr>
          <p:cNvSpPr>
            <a:spLocks xmlns:a="http://schemas.openxmlformats.org/drawingml/2006/main" noGrp="1"/>
          </p:cNvSpPr>
          <p:nvPr/>
        </p:nvSpPr>
        <p:spPr>
          <a:xfrm xmlns:a="http://schemas.openxmlformats.org/drawingml/2006/main">
            <a:off x="1952625" y="48387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xmlns:a="http://schemas.openxmlformats.org/drawingml/2006/main">
              <a:ext uri="{FF2B5EF4-FFF2-40B4-BE49-F238E27FC236}">
                <a16:creationId xmlns:a16="http://schemas.microsoft.com/office/drawing/2014/main" id="{DE281373-4DE5-4682-A3E3-9B19408BAB52}"/>
              </a:ext>
            </a:extLst>
          </p:cNvPr>
          <p:cNvSpPr>
            <a:spLocks xmlns:a="http://schemas.openxmlformats.org/drawingml/2006/main" noGrp="1"/>
          </p:cNvSpPr>
          <p:nvPr/>
        </p:nvSpPr>
        <p:spPr>
          <a:xfrm xmlns:a="http://schemas.openxmlformats.org/drawingml/2006/main">
            <a:off x="1000125" y="5791200"/>
            <a:ext cx="10191750" cy="590550"/>
          </a:xfrm>
          <a:prstGeom xmlns:a="http://schemas.openxmlformats.org/drawingml/2006/main" prst="roundRect">
            <a:avLst>
              <a:gd name="adj" fmla="val 19355"/>
            </a:avLst>
          </a:prstGeom>
          <a:solidFill xmlns:a="http://schemas.openxmlformats.org/drawingml/2006/main">
            <a:srgbClr val="F1F4F7"/>
          </a:solidFill>
          <a:ln xmlns:a="http://schemas.openxmlformats.org/drawingml/2006/main" w="9525">
            <a:solidFill>
              <a:srgbClr val="D8E2EC"/>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direction-reading-label">
            <a:extLst xmlns:a="http://schemas.openxmlformats.org/drawingml/2006/main">
              <a:ext uri="{FF2B5EF4-FFF2-40B4-BE49-F238E27FC236}">
                <a16:creationId xmlns:a16="http://schemas.microsoft.com/office/drawing/2014/main" id="{DE4F20A9-5D22-492D-8F29-00AF265C1FE6}"/>
              </a:ext>
            </a:extLst>
          </p:cNvPr>
          <p:cNvSpPr>
            <a:spLocks xmlns:a="http://schemas.openxmlformats.org/drawingml/2006/main" noGrp="1"/>
          </p:cNvSpPr>
          <p:nvPr/>
        </p:nvSpPr>
        <p:spPr>
          <a:xfrm xmlns:a="http://schemas.openxmlformats.org/drawingml/2006/main">
            <a:off x="1276350" y="5953125"/>
            <a:ext cx="1666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xmlns:a="http://schemas.openxmlformats.org/drawingml/2006/main">
              <a:ext uri="{FF2B5EF4-FFF2-40B4-BE49-F238E27FC236}">
                <a16:creationId xmlns:a16="http://schemas.microsoft.com/office/drawing/2014/main" id="{191E78E3-6505-4ACF-BE68-F0D5576FD62F}"/>
              </a:ext>
            </a:extLst>
          </p:cNvPr>
          <p:cNvSpPr>
            <a:spLocks xmlns:a="http://schemas.openxmlformats.org/drawingml/2006/main" noGrp="1"/>
          </p:cNvSpPr>
          <p:nvPr/>
        </p:nvSpPr>
        <p:spPr>
          <a:xfrm xmlns:a="http://schemas.openxmlformats.org/drawingml/2006/main">
            <a:off x="3000375" y="5915025"/>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879"/>
          </a:bodyPr>
          <a:lstStyle xmlns:a="http://schemas.openxmlformats.org/drawingml/2006/main"/>
          <a:p xmlns:a="http://schemas.openxmlformats.org/drawingml/2006/main">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xmlns:a="http://schemas.openxmlformats.org/drawingml/2006/main">
              <a:ext uri="{FF2B5EF4-FFF2-40B4-BE49-F238E27FC236}">
                <a16:creationId xmlns:a16="http://schemas.microsoft.com/office/drawing/2014/main" id="{DB7827B5-F477-46CC-8245-06D3C7CFD6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sp>
      <p:sp>
        <p:nvSpPr>
          <p:cNvPr id="19" name="up-share-formula-title">
            <a:extLst xmlns:a="http://schemas.openxmlformats.org/drawingml/2006/main">
              <a:ext uri="{FF2B5EF4-FFF2-40B4-BE49-F238E27FC236}">
                <a16:creationId xmlns:a16="http://schemas.microsoft.com/office/drawing/2014/main" id="{CA72B7DF-28B9-415A-B391-FB9A668E36C0}"/>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xmlns:a="http://schemas.openxmlformats.org/drawingml/2006/main">
              <a:ext uri="{FF2B5EF4-FFF2-40B4-BE49-F238E27FC236}">
                <a16:creationId xmlns:a16="http://schemas.microsoft.com/office/drawing/2014/main" id="{8FF32862-B423-4FC0-A4E2-CE901DA50769}"/>
              </a:ext>
            </a:extLst>
          </p:cNvPr>
          <p:cNvSpPr>
            <a:spLocks xmlns:a="http://schemas.openxmlformats.org/drawingml/2006/main" noGrp="1"/>
          </p:cNvSpPr>
          <p:nvPr/>
        </p:nvSpPr>
        <p:spPr>
          <a:xfrm xmlns:a="http://schemas.openxmlformats.org/drawingml/2006/main">
            <a:off x="552450" y="9239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xmlns:a="http://schemas.openxmlformats.org/drawingml/2006/main">
              <a:ext uri="{FF2B5EF4-FFF2-40B4-BE49-F238E27FC236}">
                <a16:creationId xmlns:a16="http://schemas.microsoft.com/office/drawing/2014/main" id="{77C87227-DDC2-4764-A233-E6C5B5C2D7C9}"/>
              </a:ext>
            </a:extLst>
          </p:cNvPr>
          <p:cNvSpPr>
            <a:spLocks xmlns:a="http://schemas.openxmlformats.org/drawingml/2006/main" noGrp="1"/>
          </p:cNvSpPr>
          <p:nvPr/>
        </p:nvSpPr>
        <p:spPr>
          <a:xfrm xmlns:a="http://schemas.openxmlformats.org/drawingml/2006/main">
            <a:off x="1000125" y="1504950"/>
            <a:ext cx="10191750" cy="1885950"/>
          </a:xfrm>
          <a:prstGeom xmlns:a="http://schemas.openxmlformats.org/drawingml/2006/main" prst="roundRect">
            <a:avLst>
              <a:gd name="adj" fmla="val 8081"/>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up-share-formula-label">
            <a:extLst xmlns:a="http://schemas.openxmlformats.org/drawingml/2006/main">
              <a:ext uri="{FF2B5EF4-FFF2-40B4-BE49-F238E27FC236}">
                <a16:creationId xmlns:a16="http://schemas.microsoft.com/office/drawing/2014/main" id="{5225047C-5F4B-4615-83EC-3511B0F30833}"/>
              </a:ext>
            </a:extLst>
          </p:cNvPr>
          <p:cNvSpPr>
            <a:spLocks xmlns:a="http://schemas.openxmlformats.org/drawingml/2006/main" noGrp="1"/>
          </p:cNvSpPr>
          <p:nvPr/>
        </p:nvSpPr>
        <p:spPr>
          <a:xfrm xmlns:a="http://schemas.openxmlformats.org/drawingml/2006/main">
            <a:off x="1238250" y="213360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428"/>
          </a:bodyPr>
          <a:lstStyle xmlns:a="http://schemas.openxmlformats.org/drawingml/2006/main"/>
          <a:p xmlns:a="http://schemas.openxmlformats.org/drawingml/2006/main">
            <a:pPr algn="r">
              <a:defRPr sz="2025" b="1">
                <a:solidFill>
                  <a:srgbClr val="0F233D"/>
                </a:solidFill>
                <a:latin typeface="Arial"/>
                <a:ea typeface="Arial"/>
                <a:cs typeface="Arial"/>
              </a:defRPr>
            </a:pPr>
            <a:r>
              <a:rPr sz="2025" b="1">
                <a:solidFill>
                  <a:srgbClr val="0F233D"/>
                </a:solidFill>
                <a:latin typeface="Arial"/>
                <a:ea typeface="Arial"/>
                <a:cs typeface="Arial"/>
              </a:rPr>
              <a:t>Upregulated occurrence % =</a:t>
            </a:r>
          </a:p>
        </p:txBody>
      </p:sp>
      <p:sp>
        <p:nvSpPr>
          <p:cNvPr id="23" name="up-share-formula-numerator">
            <a:extLst xmlns:a="http://schemas.openxmlformats.org/drawingml/2006/main">
              <a:ext uri="{FF2B5EF4-FFF2-40B4-BE49-F238E27FC236}">
                <a16:creationId xmlns:a16="http://schemas.microsoft.com/office/drawing/2014/main" id="{CCF4AE38-235C-46FB-A305-712BCF932F26}"/>
              </a:ext>
            </a:extLst>
          </p:cNvPr>
          <p:cNvSpPr>
            <a:spLocks xmlns:a="http://schemas.openxmlformats.org/drawingml/2006/main" noGrp="1"/>
          </p:cNvSpPr>
          <p:nvPr/>
        </p:nvSpPr>
        <p:spPr>
          <a:xfrm xmlns:a="http://schemas.openxmlformats.org/drawingml/2006/main">
            <a:off x="4762500" y="17907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xmlns:a="http://schemas.openxmlformats.org/drawingml/2006/main">
              <a:ext uri="{FF2B5EF4-FFF2-40B4-BE49-F238E27FC236}">
                <a16:creationId xmlns:a16="http://schemas.microsoft.com/office/drawing/2014/main" id="{E3FBE86D-D202-457C-8666-D282B8D0A1D8}"/>
              </a:ext>
            </a:extLst>
          </p:cNvPr>
          <p:cNvSpPr>
            <a:spLocks xmlns:a="http://schemas.openxmlformats.org/drawingml/2006/main" noGrp="1"/>
          </p:cNvSpPr>
          <p:nvPr/>
        </p:nvSpPr>
        <p:spPr>
          <a:xfrm xmlns:a="http://schemas.openxmlformats.org/drawingml/2006/main">
            <a:off x="4619625" y="2400300"/>
            <a:ext cx="5048250" cy="0"/>
          </a:xfrm>
          <a:prstGeom xmlns:a="http://schemas.openxmlformats.org/drawingml/2006/main" prst="line">
            <a:avLst/>
          </a:prstGeom>
          <a:noFill xmlns:a="http://schemas.openxmlformats.org/drawingml/2006/main"/>
          <a:ln xmlns:a="http://schemas.openxmlformats.org/drawingml/2006/main" w="23813">
            <a:solidFill>
              <a:srgbClr val="0F233D"/>
            </a:solidFill>
            <a:prstDash val="solid"/>
          </a:ln>
        </p:spPr>
      </p:sp>
      <p:sp>
        <p:nvSpPr>
          <p:cNvPr id="25" name="up-share-formula-denominator">
            <a:extLst xmlns:a="http://schemas.openxmlformats.org/drawingml/2006/main">
              <a:ext uri="{FF2B5EF4-FFF2-40B4-BE49-F238E27FC236}">
                <a16:creationId xmlns:a16="http://schemas.microsoft.com/office/drawing/2014/main" id="{DBDCF446-9B3F-4C03-A7F4-92FBCD31D12A}"/>
              </a:ext>
            </a:extLst>
          </p:cNvPr>
          <p:cNvSpPr>
            <a:spLocks xmlns:a="http://schemas.openxmlformats.org/drawingml/2006/main" noGrp="1"/>
          </p:cNvSpPr>
          <p:nvPr/>
        </p:nvSpPr>
        <p:spPr>
          <a:xfrm xmlns:a="http://schemas.openxmlformats.org/drawingml/2006/main">
            <a:off x="4524375" y="2543175"/>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17"/>
          </a:bodyPr>
          <a:lstStyle xmlns:a="http://schemas.openxmlformats.org/drawingml/2006/main"/>
          <a:p xmlns:a="http://schemas.openxmlformats.org/drawingml/2006/main">
            <a:pPr algn="ctr">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xmlns:a="http://schemas.openxmlformats.org/drawingml/2006/main">
              <a:ext uri="{FF2B5EF4-FFF2-40B4-BE49-F238E27FC236}">
                <a16:creationId xmlns:a16="http://schemas.microsoft.com/office/drawing/2014/main" id="{6A5DA46D-4DC9-48FB-B26B-F2E233F44F56}"/>
              </a:ext>
            </a:extLst>
          </p:cNvPr>
          <p:cNvSpPr>
            <a:spLocks xmlns:a="http://schemas.openxmlformats.org/drawingml/2006/main" noGrp="1"/>
          </p:cNvSpPr>
          <p:nvPr/>
        </p:nvSpPr>
        <p:spPr>
          <a:xfrm xmlns:a="http://schemas.openxmlformats.org/drawingml/2006/main">
            <a:off x="9906000" y="2133600"/>
            <a:ext cx="95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xmlns:a="http://schemas.openxmlformats.org/drawingml/2006/main">
              <a:ext uri="{FF2B5EF4-FFF2-40B4-BE49-F238E27FC236}">
                <a16:creationId xmlns:a16="http://schemas.microsoft.com/office/drawing/2014/main" id="{DCE1DC3B-6052-460B-9ADD-A76B40B6B907}"/>
              </a:ext>
            </a:extLst>
          </p:cNvPr>
          <p:cNvSpPr>
            <a:spLocks xmlns:a="http://schemas.openxmlformats.org/drawingml/2006/main" noGrp="1"/>
          </p:cNvSpPr>
          <p:nvPr/>
        </p:nvSpPr>
        <p:spPr>
          <a:xfrm xmlns:a="http://schemas.openxmlformats.org/drawingml/2006/main">
            <a:off x="1143000" y="3600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28" name="up-share-example-surface">
            <a:extLst xmlns:a="http://schemas.openxmlformats.org/drawingml/2006/main">
              <a:ext uri="{FF2B5EF4-FFF2-40B4-BE49-F238E27FC236}">
                <a16:creationId xmlns:a16="http://schemas.microsoft.com/office/drawing/2014/main" id="{D0DF9963-FAEE-43A0-B1CB-3FD378548B3E}"/>
              </a:ext>
            </a:extLst>
          </p:cNvPr>
          <p:cNvSpPr>
            <a:spLocks xmlns:a="http://schemas.openxmlformats.org/drawingml/2006/main" noGrp="1"/>
          </p:cNvSpPr>
          <p:nvPr/>
        </p:nvSpPr>
        <p:spPr>
          <a:xfrm xmlns:a="http://schemas.openxmlformats.org/drawingml/2006/main">
            <a:off x="1524000" y="4229100"/>
            <a:ext cx="9144000" cy="1238250"/>
          </a:xfrm>
          <a:prstGeom xmlns:a="http://schemas.openxmlformats.org/drawingml/2006/main" prst="roundRect">
            <a:avLst>
              <a:gd name="adj" fmla="val 12308"/>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up-share-example-label">
            <a:extLst xmlns:a="http://schemas.openxmlformats.org/drawingml/2006/main">
              <a:ext uri="{FF2B5EF4-FFF2-40B4-BE49-F238E27FC236}">
                <a16:creationId xmlns:a16="http://schemas.microsoft.com/office/drawing/2014/main" id="{D11C88DD-C380-40C9-81E5-E7456C900B3C}"/>
              </a:ext>
            </a:extLst>
          </p:cNvPr>
          <p:cNvSpPr>
            <a:spLocks xmlns:a="http://schemas.openxmlformats.org/drawingml/2006/main" noGrp="1"/>
          </p:cNvSpPr>
          <p:nvPr/>
        </p:nvSpPr>
        <p:spPr>
          <a:xfrm xmlns:a="http://schemas.openxmlformats.org/drawingml/2006/main">
            <a:off x="1952625" y="4429125"/>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00684D"/>
                </a:solidFill>
                <a:latin typeface="Arial"/>
                <a:ea typeface="Arial"/>
                <a:cs typeface="Arial"/>
              </a:defRPr>
            </a:pPr>
            <a:r>
              <a:rPr sz="1350" b="1">
                <a:solidFill>
                  <a:srgbClr val="00684D"/>
                </a:solidFill>
                <a:latin typeface="Arial"/>
                <a:ea typeface="Arial"/>
                <a:cs typeface="Arial"/>
              </a:rPr>
              <a:t>Example: male ε3/ε3, mtDNA-encoded OXPHOS</a:t>
            </a:r>
          </a:p>
        </p:txBody>
      </p:sp>
      <p:sp>
        <p:nvSpPr>
          <p:cNvPr id="30" name="up-share-example-calculation">
            <a:extLst xmlns:a="http://schemas.openxmlformats.org/drawingml/2006/main">
              <a:ext uri="{FF2B5EF4-FFF2-40B4-BE49-F238E27FC236}">
                <a16:creationId xmlns:a16="http://schemas.microsoft.com/office/drawing/2014/main" id="{9FB20DA7-A3E4-41B5-A24D-B2FDB728CE3A}"/>
              </a:ext>
            </a:extLst>
          </p:cNvPr>
          <p:cNvSpPr>
            <a:spLocks xmlns:a="http://schemas.openxmlformats.org/drawingml/2006/main" noGrp="1"/>
          </p:cNvSpPr>
          <p:nvPr/>
        </p:nvSpPr>
        <p:spPr>
          <a:xfrm xmlns:a="http://schemas.openxmlformats.org/drawingml/2006/main">
            <a:off x="1952625" y="48387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xmlns:a="http://schemas.openxmlformats.org/drawingml/2006/main">
              <a:ext uri="{FF2B5EF4-FFF2-40B4-BE49-F238E27FC236}">
                <a16:creationId xmlns:a16="http://schemas.microsoft.com/office/drawing/2014/main" id="{4696BC3D-D28E-43DA-BB5D-FD36EE5246AF}"/>
              </a:ext>
            </a:extLst>
          </p:cNvPr>
          <p:cNvSpPr>
            <a:spLocks xmlns:a="http://schemas.openxmlformats.org/drawingml/2006/main" noGrp="1"/>
          </p:cNvSpPr>
          <p:nvPr/>
        </p:nvSpPr>
        <p:spPr>
          <a:xfrm xmlns:a="http://schemas.openxmlformats.org/drawingml/2006/main">
            <a:off x="1000125" y="5791200"/>
            <a:ext cx="10191750" cy="590550"/>
          </a:xfrm>
          <a:prstGeom xmlns:a="http://schemas.openxmlformats.org/drawingml/2006/main" prst="roundRect">
            <a:avLst>
              <a:gd name="adj" fmla="val 19355"/>
            </a:avLst>
          </a:prstGeom>
          <a:solidFill xmlns:a="http://schemas.openxmlformats.org/drawingml/2006/main">
            <a:srgbClr val="F1F4F7"/>
          </a:solidFill>
          <a:ln xmlns:a="http://schemas.openxmlformats.org/drawingml/2006/main" w="9525">
            <a:solidFill>
              <a:srgbClr val="D8E2EC"/>
            </a:solidFill>
            <a:prstDash val="solid"/>
          </a:ln>
        </p:spPr>
      </p:sp>
      <p:sp>
        <p:nvSpPr>
          <p:cNvPr id="32" name="up-share-reading-label">
            <a:extLst xmlns:a="http://schemas.openxmlformats.org/drawingml/2006/main">
              <a:ext uri="{FF2B5EF4-FFF2-40B4-BE49-F238E27FC236}">
                <a16:creationId xmlns:a16="http://schemas.microsoft.com/office/drawing/2014/main" id="{B51FF050-10FD-41F8-8B1C-B4184177D914}"/>
              </a:ext>
            </a:extLst>
          </p:cNvPr>
          <p:cNvSpPr>
            <a:spLocks xmlns:a="http://schemas.openxmlformats.org/drawingml/2006/main" noGrp="1"/>
          </p:cNvSpPr>
          <p:nvPr/>
        </p:nvSpPr>
        <p:spPr>
          <a:xfrm xmlns:a="http://schemas.openxmlformats.org/drawingml/2006/main">
            <a:off x="1276350" y="5953125"/>
            <a:ext cx="1666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xmlns:a="http://schemas.openxmlformats.org/drawingml/2006/main">
              <a:ext uri="{FF2B5EF4-FFF2-40B4-BE49-F238E27FC236}">
                <a16:creationId xmlns:a16="http://schemas.microsoft.com/office/drawing/2014/main" id="{1DDE390F-3A32-47AE-AD4F-EB333B9A3A8C}"/>
              </a:ext>
            </a:extLst>
          </p:cNvPr>
          <p:cNvSpPr>
            <a:spLocks xmlns:a="http://schemas.openxmlformats.org/drawingml/2006/main" noGrp="1"/>
          </p:cNvSpPr>
          <p:nvPr/>
        </p:nvSpPr>
        <p:spPr>
          <a:xfrm xmlns:a="http://schemas.openxmlformats.org/drawingml/2006/main">
            <a:off x="3000375" y="5876925"/>
            <a:ext cx="790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FFB8A0-DEAC-440E-806C-3B607915AFBB}"/>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xmlns:a="http://schemas.openxmlformats.org/drawingml/2006/main">
              <a:ext uri="{FF2B5EF4-FFF2-40B4-BE49-F238E27FC236}">
                <a16:creationId xmlns:a16="http://schemas.microsoft.com/office/drawing/2014/main" id="{F2B80348-3939-45C0-ACEB-4A1F32F42960}"/>
              </a:ext>
            </a:extLst>
          </p:cNvPr>
          <p:cNvSpPr>
            <a:spLocks xmlns:a="http://schemas.openxmlformats.org/drawingml/2006/main" noGrp="1"/>
          </p:cNvSpPr>
          <p:nvPr/>
        </p:nvSpPr>
        <p:spPr>
          <a:xfrm xmlns:a="http://schemas.openxmlformats.org/drawingml/2006/main">
            <a:off x="1140312" y="1173838"/>
            <a:ext cx="9877313" cy="3323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xmlns:a="http://schemas.openxmlformats.org/drawingml/2006/main">
              <a:ext uri="{FF2B5EF4-FFF2-40B4-BE49-F238E27FC236}">
                <a16:creationId xmlns:a16="http://schemas.microsoft.com/office/drawing/2014/main" id="{7BFC1DB3-DFD2-40A6-BEF9-C7D358422FDC}"/>
              </a:ext>
            </a:extLst>
          </p:cNvPr>
          <p:cNvSpPr>
            <a:spLocks xmlns:a="http://schemas.openxmlformats.org/drawingml/2006/main" noGrp="1"/>
          </p:cNvSpPr>
          <p:nvPr/>
        </p:nvSpPr>
        <p:spPr>
          <a:xfrm xmlns:a="http://schemas.openxmlformats.org/drawingml/2006/main">
            <a:off x="658368" y="5650992"/>
            <a:ext cx="10881360" cy="640080"/>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D7D15E47-25EF-48E5-9080-CEFB5FCC0506}"/>
              </a:ext>
            </a:extLst>
          </p:cNvPr>
          <p:cNvSpPr>
            <a:spLocks xmlns:a="http://schemas.openxmlformats.org/drawingml/2006/main" noGrp="1"/>
          </p:cNvSpPr>
          <p:nvPr/>
        </p:nvSpPr>
        <p:spPr>
          <a:xfrm xmlns:a="http://schemas.openxmlformats.org/drawingml/2006/main">
            <a:off x="932688" y="5843016"/>
            <a:ext cx="111556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xmlns:a="http://schemas.openxmlformats.org/drawingml/2006/main">
              <a:ext uri="{FF2B5EF4-FFF2-40B4-BE49-F238E27FC236}">
                <a16:creationId xmlns:a16="http://schemas.microsoft.com/office/drawing/2014/main" id="{B7B88507-A599-4037-BD24-A84D179AFD21}"/>
              </a:ext>
            </a:extLst>
          </p:cNvPr>
          <p:cNvSpPr>
            <a:spLocks xmlns:a="http://schemas.openxmlformats.org/drawingml/2006/main" noGrp="1"/>
          </p:cNvSpPr>
          <p:nvPr/>
        </p:nvSpPr>
        <p:spPr>
          <a:xfrm xmlns:a="http://schemas.openxmlformats.org/drawingml/2006/main">
            <a:off x="2148840" y="5797296"/>
            <a:ext cx="897940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mitochondrial-encoded genes rise while nuclear-encoded genes fall.</a:t>
            </a:r>
          </a:p>
        </p:txBody>
      </p:sp>
      <p:pic>
        <p:nvPicPr>
          <p:cNvPr id="22" name="Diverging paired bar chart of dominant Alzheimer’s disease direction for the 13 mitochondrial-DNA-encoded OXPHOS genes and 86 nuclear-DNA-encoded structural OXPHOS genes across female and male APOE epsilon-2, epsilon-3 homozygous, and epsilon-4 groups."/>
          <p:cNvPicPr>
            <a:picLocks xmlns:a="http://schemas.openxmlformats.org/drawingml/2006/main" noChangeAspect="1"/>
          </p:cNvPicPr>
          <p:nvPr/>
        </p:nvPicPr>
        <p:blipFill>
          <a:blip xmlns:r="http://schemas.openxmlformats.org/officeDocument/2006/relationships" xmlns:a="http://schemas.openxmlformats.org/drawingml/2006/main" r:embed="Ra1c0d78310154d60"/>
          <a:stretch xmlns:a="http://schemas.openxmlformats.org/drawingml/2006/main">
            <a:fillRect l="0" t="0" r="0" b="0"/>
          </a:stretch>
        </p:blipFill>
        <p:spPr>
          <a:xfrm xmlns:a="http://schemas.openxmlformats.org/drawingml/2006/main">
            <a:off x="612648" y="1758132"/>
            <a:ext cx="10972800" cy="3232007"/>
          </a:xfrm>
          <a:prstGeom xmlns:a="http://schemas.openxmlformats.org/drawingml/2006/main" prst="rect">
            <a:avLst/>
          </a:prstGeom>
        </p:spPr>
      </p:pic>
      <p:sp>
        <p:nvSpPr>
          <p:cNvPr id="9" name="up-share-chart-background">
            <a:extLst xmlns:a="http://schemas.openxmlformats.org/drawingml/2006/main">
              <a:ext uri="{FF2B5EF4-FFF2-40B4-BE49-F238E27FC236}">
                <a16:creationId xmlns:a16="http://schemas.microsoft.com/office/drawing/2014/main" id="{A7FCC31A-D553-4F8C-90C5-76C8D92ED4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sp>
      <p:sp>
        <p:nvSpPr>
          <p:cNvPr id="10" name="up-share-chart-title">
            <a:extLst xmlns:a="http://schemas.openxmlformats.org/drawingml/2006/main">
              <a:ext uri="{FF2B5EF4-FFF2-40B4-BE49-F238E27FC236}">
                <a16:creationId xmlns:a16="http://schemas.microsoft.com/office/drawing/2014/main" id="{934D88E0-1F5E-48C6-96EF-0C7968253718}"/>
              </a:ext>
            </a:extLst>
          </p:cNvPr>
          <p:cNvSpPr>
            <a:spLocks xmlns:a="http://schemas.openxmlformats.org/drawingml/2006/main" noGrp="1"/>
          </p:cNvSpPr>
          <p:nvPr/>
        </p:nvSpPr>
        <p:spPr>
          <a:xfrm xmlns:a="http://schemas.openxmlformats.org/drawingml/2006/main">
            <a:off x="552450" y="428625"/>
            <a:ext cx="1076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xmlns:a="http://schemas.openxmlformats.org/drawingml/2006/main">
              <a:ext uri="{FF2B5EF4-FFF2-40B4-BE49-F238E27FC236}">
                <a16:creationId xmlns:a16="http://schemas.microsoft.com/office/drawing/2014/main" id="{E9A00097-63F0-40BD-A147-14925D7427B9}"/>
              </a:ext>
            </a:extLst>
          </p:cNvPr>
          <p:cNvSpPr>
            <a:spLocks xmlns:a="http://schemas.openxmlformats.org/drawingml/2006/main" noGrp="1"/>
          </p:cNvSpPr>
          <p:nvPr/>
        </p:nvSpPr>
        <p:spPr>
          <a:xfrm xmlns:a="http://schemas.openxmlformats.org/drawingml/2006/main">
            <a:off x="1162050" y="1143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xmlns:a="http://schemas.openxmlformats.org/drawingml/2006/main">
              <a:ext uri="{FF2B5EF4-FFF2-40B4-BE49-F238E27FC236}">
                <a16:creationId xmlns:a16="http://schemas.microsoft.com/office/drawing/2014/main" id="{7D6852CA-AD2D-4641-8099-18A43252D9FD}"/>
              </a:ext>
            </a:extLst>
          </p:cNvPr>
          <p:cNvSpPr>
            <a:spLocks xmlns:a="http://schemas.openxmlformats.org/drawingml/2006/main" noGrp="1"/>
          </p:cNvSpPr>
          <p:nvPr/>
        </p:nvSpPr>
        <p:spPr>
          <a:xfrm xmlns:a="http://schemas.openxmlformats.org/drawingml/2006/main">
            <a:off x="714375" y="158115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7" name="Chart"/>
          <p:cNvGraphicFramePr/>
          <p:nvPr/>
        </p:nvGraphicFramePr>
        <p:xfrm>
          <a:off xmlns:a="http://schemas.openxmlformats.org/drawingml/2006/main" x="714375" y="1790700"/>
          <a:ext xmlns:a="http://schemas.openxmlformats.org/drawingml/2006/main" cx="10763250" cy="3381375"/>
        </p:xfrm>
        <a:graphic xmlns:a="http://schemas.openxmlformats.org/drawingml/2006/main">
          <a:graphicData uri="http://schemas.openxmlformats.org/drawingml/2006/chart">
            <c:chart xmlns:r="http://schemas.openxmlformats.org/officeDocument/2006/relationships" xmlns:c="http://schemas.openxmlformats.org/drawingml/2006/chart" r:id="Rc4a645d952ea4f1d"/>
          </a:graphicData>
        </a:graphic>
      </p:graphicFrame>
      <p:sp>
        <p:nvSpPr>
          <p:cNvPr id="14" name="up-share-key-contrast-surface">
            <a:extLst xmlns:a="http://schemas.openxmlformats.org/drawingml/2006/main">
              <a:ext uri="{FF2B5EF4-FFF2-40B4-BE49-F238E27FC236}">
                <a16:creationId xmlns:a16="http://schemas.microsoft.com/office/drawing/2014/main" id="{3865291D-99E5-4663-AE4A-7F1877DD7694}"/>
              </a:ext>
            </a:extLst>
          </p:cNvPr>
          <p:cNvSpPr>
            <a:spLocks xmlns:a="http://schemas.openxmlformats.org/drawingml/2006/main" noGrp="1"/>
          </p:cNvSpPr>
          <p:nvPr/>
        </p:nvSpPr>
        <p:spPr>
          <a:xfrm xmlns:a="http://schemas.openxmlformats.org/drawingml/2006/main">
            <a:off x="647700" y="5638800"/>
            <a:ext cx="10896600" cy="657225"/>
          </a:xfrm>
          <a:prstGeom xmlns:a="http://schemas.openxmlformats.org/drawingml/2006/main" prst="roundRect">
            <a:avLst>
              <a:gd name="adj" fmla="val 17391"/>
            </a:avLst>
          </a:prstGeom>
          <a:solidFill xmlns:a="http://schemas.openxmlformats.org/drawingml/2006/main">
            <a:srgbClr val="F1F4F7"/>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up-share-key-contrast-label">
            <a:extLst xmlns:a="http://schemas.openxmlformats.org/drawingml/2006/main">
              <a:ext uri="{FF2B5EF4-FFF2-40B4-BE49-F238E27FC236}">
                <a16:creationId xmlns:a16="http://schemas.microsoft.com/office/drawing/2014/main" id="{4ABE7DEF-737F-434E-80AB-83D4981FB7D4}"/>
              </a:ext>
            </a:extLst>
          </p:cNvPr>
          <p:cNvSpPr>
            <a:spLocks xmlns:a="http://schemas.openxmlformats.org/drawingml/2006/main" noGrp="1"/>
          </p:cNvSpPr>
          <p:nvPr/>
        </p:nvSpPr>
        <p:spPr>
          <a:xfrm xmlns:a="http://schemas.openxmlformats.org/drawingml/2006/main">
            <a:off x="952500" y="5867400"/>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xmlns:a="http://schemas.openxmlformats.org/drawingml/2006/main">
              <a:ext uri="{FF2B5EF4-FFF2-40B4-BE49-F238E27FC236}">
                <a16:creationId xmlns:a16="http://schemas.microsoft.com/office/drawing/2014/main" id="{844D065E-9A9D-44DA-9239-22281DFD517A}"/>
              </a:ext>
            </a:extLst>
          </p:cNvPr>
          <p:cNvSpPr>
            <a:spLocks xmlns:a="http://schemas.openxmlformats.org/drawingml/2006/main" noGrp="1"/>
          </p:cNvSpPr>
          <p:nvPr/>
        </p:nvSpPr>
        <p:spPr>
          <a:xfrm xmlns:a="http://schemas.openxmlformats.org/drawingml/2006/main">
            <a:off x="2171700" y="5762625"/>
            <a:ext cx="8953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mitochondrial-encoded genes rise while nuclear-encoded genes fall.</a:t>
            </a:r>
          </a:p>
        </p:txBody>
      </p:sp>
    </p:spTree>
    <p:extLst>
      <p:ext uri="{BB962C8B-B14F-4D97-AF65-F5344CB8AC3E}">
        <p14:creationId xmlns:p14="http://schemas.microsoft.com/office/powerpoint/2010/main" val="492696482"/>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C9E28A8-6AB5-4D99-8FB0-E4E6F025BF34}"/>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Female ε3/ε3 neurons repeatedly increase mtDNA-encoded OXPHOS RNA</a:t>
            </a:r>
          </a:p>
        </p:txBody>
      </p:sp>
      <p:sp>
        <p:nvSpPr>
          <p:cNvPr id="3" name="TextBox 2">
            <a:extLst xmlns:a="http://schemas.openxmlformats.org/drawingml/2006/main">
              <a:ext uri="{FF2B5EF4-FFF2-40B4-BE49-F238E27FC236}">
                <a16:creationId xmlns:a16="http://schemas.microsoft.com/office/drawing/2014/main" id="{A6070E1C-868F-4419-AB83-9C0861A1AEEB}"/>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This is the clearest sex/APOE-related mitochondrial RNA pattern.</a:t>
            </a:r>
          </a:p>
        </p:txBody>
      </p:sp>
      <p:sp>
        <p:nvSpPr>
          <p:cNvPr id="4" name="Rounded Rectangle 3">
            <a:extLst xmlns:a="http://schemas.openxmlformats.org/drawingml/2006/main">
              <a:ext uri="{FF2B5EF4-FFF2-40B4-BE49-F238E27FC236}">
                <a16:creationId xmlns:a16="http://schemas.microsoft.com/office/drawing/2014/main" id="{7BCBC643-025D-4181-A396-54FAFA268579}"/>
              </a:ext>
            </a:extLst>
          </p:cNvPr>
          <p:cNvSpPr>
            <a:spLocks xmlns:a="http://schemas.openxmlformats.org/drawingml/2006/main" noGrp="1"/>
          </p:cNvSpPr>
          <p:nvPr/>
        </p:nvSpPr>
        <p:spPr>
          <a:xfrm xmlns:a="http://schemas.openxmlformats.org/drawingml/2006/main">
            <a:off x="658368" y="1234440"/>
            <a:ext cx="10881360" cy="65836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E8D81E4-9B29-4829-8EB4-71B668C3134C}"/>
              </a:ext>
            </a:extLst>
          </p:cNvPr>
          <p:cNvSpPr>
            <a:spLocks xmlns:a="http://schemas.openxmlformats.org/drawingml/2006/main" noGrp="1"/>
          </p:cNvSpPr>
          <p:nvPr/>
        </p:nvSpPr>
        <p:spPr>
          <a:xfrm xmlns:a="http://schemas.openxmlformats.org/drawingml/2006/main">
            <a:off x="941832" y="1435608"/>
            <a:ext cx="103144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20" b="1" i="0">
                <a:solidFill>
                  <a:srgbClr val="0F233D"/>
                </a:solidFill>
                <a:latin typeface="Arial"/>
                <a:ea typeface="Arial"/>
                <a:cs typeface="Arial"/>
              </a:rPr>
              <a:t>Mitochondrial DNA encodes 13 structural subunits of OXPHOS.</a:t>
            </a:r>
          </a:p>
        </p:txBody>
      </p:sp>
      <p:sp>
        <p:nvSpPr>
          <p:cNvPr id="6" name="Rounded Rectangle 5">
            <a:extLst xmlns:a="http://schemas.openxmlformats.org/drawingml/2006/main">
              <a:ext uri="{FF2B5EF4-FFF2-40B4-BE49-F238E27FC236}">
                <a16:creationId xmlns:a16="http://schemas.microsoft.com/office/drawing/2014/main" id="{39E41BEA-3C5F-4B56-916E-3345C72265CB}"/>
              </a:ext>
            </a:extLst>
          </p:cNvPr>
          <p:cNvSpPr>
            <a:spLocks xmlns:a="http://schemas.openxmlformats.org/drawingml/2006/main" noGrp="1"/>
          </p:cNvSpPr>
          <p:nvPr/>
        </p:nvSpPr>
        <p:spPr>
          <a:xfrm xmlns:a="http://schemas.openxmlformats.org/drawingml/2006/main">
            <a:off x="658368" y="2130552"/>
            <a:ext cx="6876288" cy="278892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E95863A-60E7-4164-8CF7-6B5CDC8E71B7}"/>
              </a:ext>
            </a:extLst>
          </p:cNvPr>
          <p:cNvSpPr>
            <a:spLocks xmlns:a="http://schemas.openxmlformats.org/drawingml/2006/main" noGrp="1"/>
          </p:cNvSpPr>
          <p:nvPr/>
        </p:nvSpPr>
        <p:spPr>
          <a:xfrm xmlns:a="http://schemas.openxmlformats.org/drawingml/2006/main">
            <a:off x="941832" y="2423160"/>
            <a:ext cx="6309360"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072B2"/>
                </a:solidFill>
                <a:latin typeface="Arial"/>
                <a:ea typeface="Arial"/>
                <a:cs typeface="Arial"/>
              </a:rPr>
              <a:t>ROSMAP FINE-CELL RESULTS</a:t>
            </a:r>
          </a:p>
        </p:txBody>
      </p:sp>
      <p:sp>
        <p:nvSpPr>
          <p:cNvPr id="8" name="TextBox 7">
            <a:extLst xmlns:a="http://schemas.openxmlformats.org/drawingml/2006/main">
              <a:ext uri="{FF2B5EF4-FFF2-40B4-BE49-F238E27FC236}">
                <a16:creationId xmlns:a16="http://schemas.microsoft.com/office/drawing/2014/main" id="{D9FC9BBF-12BD-4268-8BAD-E3ED60F8DF7E}"/>
              </a:ext>
            </a:extLst>
          </p:cNvPr>
          <p:cNvSpPr>
            <a:spLocks xmlns:a="http://schemas.openxmlformats.org/drawingml/2006/main" noGrp="1"/>
          </p:cNvSpPr>
          <p:nvPr/>
        </p:nvSpPr>
        <p:spPr>
          <a:xfrm xmlns:a="http://schemas.openxmlformats.org/drawingml/2006/main">
            <a:off x="941832" y="2779776"/>
            <a:ext cx="6309360"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More increased mtDNA-encoded OXPHOS genes than expected by chance</a:t>
            </a:r>
          </a:p>
        </p:txBody>
      </p:sp>
      <p:sp>
        <p:nvSpPr>
          <p:cNvPr id="9" name="Rounded Rectangle 8">
            <a:extLst xmlns:a="http://schemas.openxmlformats.org/drawingml/2006/main">
              <a:ext uri="{FF2B5EF4-FFF2-40B4-BE49-F238E27FC236}">
                <a16:creationId xmlns:a16="http://schemas.microsoft.com/office/drawing/2014/main" id="{B7A638E5-1E58-4361-9F7A-E9F2E7EAC9D2}"/>
              </a:ext>
            </a:extLst>
          </p:cNvPr>
          <p:cNvSpPr>
            <a:spLocks xmlns:a="http://schemas.openxmlformats.org/drawingml/2006/main" noGrp="1"/>
          </p:cNvSpPr>
          <p:nvPr/>
        </p:nvSpPr>
        <p:spPr>
          <a:xfrm xmlns:a="http://schemas.openxmlformats.org/drawingml/2006/main">
            <a:off x="941832" y="3255264"/>
            <a:ext cx="2944368" cy="148132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362E876-952A-4C3B-A984-FB0AA6715224}"/>
              </a:ext>
            </a:extLst>
          </p:cNvPr>
          <p:cNvSpPr>
            <a:spLocks xmlns:a="http://schemas.openxmlformats.org/drawingml/2006/main" noGrp="1"/>
          </p:cNvSpPr>
          <p:nvPr/>
        </p:nvSpPr>
        <p:spPr>
          <a:xfrm xmlns:a="http://schemas.openxmlformats.org/drawingml/2006/main">
            <a:off x="1143000" y="3419856"/>
            <a:ext cx="254203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2700" b="1" i="0">
                <a:solidFill>
                  <a:srgbClr val="0072B2"/>
                </a:solidFill>
                <a:latin typeface="Arial"/>
                <a:ea typeface="Arial"/>
                <a:cs typeface="Arial"/>
              </a:rPr>
              <a:t>12 of 14</a:t>
            </a:r>
          </a:p>
        </p:txBody>
      </p:sp>
      <p:sp>
        <p:nvSpPr>
          <p:cNvPr id="11" name="TextBox 10">
            <a:extLst xmlns:a="http://schemas.openxmlformats.org/drawingml/2006/main">
              <a:ext uri="{FF2B5EF4-FFF2-40B4-BE49-F238E27FC236}">
                <a16:creationId xmlns:a16="http://schemas.microsoft.com/office/drawing/2014/main" id="{EBD1E294-3982-469C-A82F-CB780EC7FCE0}"/>
              </a:ext>
            </a:extLst>
          </p:cNvPr>
          <p:cNvSpPr>
            <a:spLocks xmlns:a="http://schemas.openxmlformats.org/drawingml/2006/main" noGrp="1"/>
          </p:cNvSpPr>
          <p:nvPr/>
        </p:nvSpPr>
        <p:spPr>
          <a:xfrm xmlns:a="http://schemas.openxmlformats.org/drawingml/2006/main">
            <a:off x="1143000" y="3941064"/>
            <a:ext cx="2542032"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0F233D"/>
                </a:solidFill>
                <a:latin typeface="Arial"/>
                <a:ea typeface="Arial"/>
                <a:cs typeface="Arial"/>
              </a:rPr>
              <a:t>excitatory comparisons</a:t>
            </a:r>
          </a:p>
        </p:txBody>
      </p:sp>
      <p:sp>
        <p:nvSpPr>
          <p:cNvPr id="12" name="TextBox 11">
            <a:extLst xmlns:a="http://schemas.openxmlformats.org/drawingml/2006/main">
              <a:ext uri="{FF2B5EF4-FFF2-40B4-BE49-F238E27FC236}">
                <a16:creationId xmlns:a16="http://schemas.microsoft.com/office/drawing/2014/main" id="{817C9481-B32E-4486-83AC-B31E3F5DEA85}"/>
              </a:ext>
            </a:extLst>
          </p:cNvPr>
          <p:cNvSpPr>
            <a:spLocks xmlns:a="http://schemas.openxmlformats.org/drawingml/2006/main" noGrp="1"/>
          </p:cNvSpPr>
          <p:nvPr/>
        </p:nvSpPr>
        <p:spPr>
          <a:xfrm xmlns:a="http://schemas.openxmlformats.org/drawingml/2006/main">
            <a:off x="1143000" y="4279392"/>
            <a:ext cx="25420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showed this upward pattern</a:t>
            </a:r>
          </a:p>
        </p:txBody>
      </p:sp>
      <p:sp>
        <p:nvSpPr>
          <p:cNvPr id="13" name="Rounded Rectangle 12">
            <a:extLst xmlns:a="http://schemas.openxmlformats.org/drawingml/2006/main">
              <a:ext uri="{FF2B5EF4-FFF2-40B4-BE49-F238E27FC236}">
                <a16:creationId xmlns:a16="http://schemas.microsoft.com/office/drawing/2014/main" id="{171FADA3-2539-46DD-AC3B-0ED084739D98}"/>
              </a:ext>
            </a:extLst>
          </p:cNvPr>
          <p:cNvSpPr>
            <a:spLocks xmlns:a="http://schemas.openxmlformats.org/drawingml/2006/main" noGrp="1"/>
          </p:cNvSpPr>
          <p:nvPr/>
        </p:nvSpPr>
        <p:spPr>
          <a:xfrm xmlns:a="http://schemas.openxmlformats.org/drawingml/2006/main">
            <a:off x="4251960" y="3255264"/>
            <a:ext cx="2944368" cy="148132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3CF9B2C6-8D4C-43DB-826C-B4D918F0070D}"/>
              </a:ext>
            </a:extLst>
          </p:cNvPr>
          <p:cNvSpPr>
            <a:spLocks xmlns:a="http://schemas.openxmlformats.org/drawingml/2006/main" noGrp="1"/>
          </p:cNvSpPr>
          <p:nvPr/>
        </p:nvSpPr>
        <p:spPr>
          <a:xfrm xmlns:a="http://schemas.openxmlformats.org/drawingml/2006/main">
            <a:off x="4453128" y="3419856"/>
            <a:ext cx="254203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2700" b="1" i="0">
                <a:solidFill>
                  <a:srgbClr val="0072B2"/>
                </a:solidFill>
                <a:latin typeface="Arial"/>
                <a:ea typeface="Arial"/>
                <a:cs typeface="Arial"/>
              </a:rPr>
              <a:t>13 of 14</a:t>
            </a:r>
          </a:p>
        </p:txBody>
      </p:sp>
      <p:sp>
        <p:nvSpPr>
          <p:cNvPr id="15" name="TextBox 14">
            <a:extLst xmlns:a="http://schemas.openxmlformats.org/drawingml/2006/main">
              <a:ext uri="{FF2B5EF4-FFF2-40B4-BE49-F238E27FC236}">
                <a16:creationId xmlns:a16="http://schemas.microsoft.com/office/drawing/2014/main" id="{3D4C054C-FE13-4ABB-B74A-74FFCB777C9C}"/>
              </a:ext>
            </a:extLst>
          </p:cNvPr>
          <p:cNvSpPr>
            <a:spLocks xmlns:a="http://schemas.openxmlformats.org/drawingml/2006/main" noGrp="1"/>
          </p:cNvSpPr>
          <p:nvPr/>
        </p:nvSpPr>
        <p:spPr>
          <a:xfrm xmlns:a="http://schemas.openxmlformats.org/drawingml/2006/main">
            <a:off x="4453128" y="3941064"/>
            <a:ext cx="2542032"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0F233D"/>
                </a:solidFill>
                <a:latin typeface="Arial"/>
                <a:ea typeface="Arial"/>
                <a:cs typeface="Arial"/>
              </a:rPr>
              <a:t>inhibitory comparisons</a:t>
            </a:r>
          </a:p>
        </p:txBody>
      </p:sp>
      <p:sp>
        <p:nvSpPr>
          <p:cNvPr id="16" name="TextBox 15">
            <a:extLst xmlns:a="http://schemas.openxmlformats.org/drawingml/2006/main">
              <a:ext uri="{FF2B5EF4-FFF2-40B4-BE49-F238E27FC236}">
                <a16:creationId xmlns:a16="http://schemas.microsoft.com/office/drawing/2014/main" id="{B34F0A8A-AB5B-434F-B6A0-081CF67875DB}"/>
              </a:ext>
            </a:extLst>
          </p:cNvPr>
          <p:cNvSpPr>
            <a:spLocks xmlns:a="http://schemas.openxmlformats.org/drawingml/2006/main" noGrp="1"/>
          </p:cNvSpPr>
          <p:nvPr/>
        </p:nvSpPr>
        <p:spPr>
          <a:xfrm xmlns:a="http://schemas.openxmlformats.org/drawingml/2006/main">
            <a:off x="4453128" y="4279392"/>
            <a:ext cx="25420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showed this upward pattern</a:t>
            </a:r>
          </a:p>
        </p:txBody>
      </p:sp>
      <p:sp>
        <p:nvSpPr>
          <p:cNvPr id="17" name="Rounded Rectangle 16">
            <a:extLst xmlns:a="http://schemas.openxmlformats.org/drawingml/2006/main">
              <a:ext uri="{FF2B5EF4-FFF2-40B4-BE49-F238E27FC236}">
                <a16:creationId xmlns:a16="http://schemas.microsoft.com/office/drawing/2014/main" id="{04B17719-080D-4442-8121-65427B590AA2}"/>
              </a:ext>
            </a:extLst>
          </p:cNvPr>
          <p:cNvSpPr>
            <a:spLocks xmlns:a="http://schemas.openxmlformats.org/drawingml/2006/main" noGrp="1"/>
          </p:cNvSpPr>
          <p:nvPr/>
        </p:nvSpPr>
        <p:spPr>
          <a:xfrm xmlns:a="http://schemas.openxmlformats.org/drawingml/2006/main">
            <a:off x="7790688" y="2130552"/>
            <a:ext cx="3749039" cy="278892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1D12BD3-8C69-4179-AC0F-03A1E6CBFCAD}"/>
              </a:ext>
            </a:extLst>
          </p:cNvPr>
          <p:cNvSpPr>
            <a:spLocks xmlns:a="http://schemas.openxmlformats.org/drawingml/2006/main" noGrp="1"/>
          </p:cNvSpPr>
          <p:nvPr/>
        </p:nvSpPr>
        <p:spPr>
          <a:xfrm xmlns:a="http://schemas.openxmlformats.org/drawingml/2006/main">
            <a:off x="8083296" y="2423160"/>
            <a:ext cx="3163824"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0684D"/>
                </a:solidFill>
                <a:latin typeface="Arial"/>
                <a:ea typeface="Arial"/>
                <a:cs typeface="Arial"/>
              </a:rPr>
              <a:t>SEA-AD SUPPORT</a:t>
            </a:r>
          </a:p>
        </p:txBody>
      </p:sp>
      <p:sp>
        <p:nvSpPr>
          <p:cNvPr id="19" name="TextBox 18">
            <a:extLst xmlns:a="http://schemas.openxmlformats.org/drawingml/2006/main">
              <a:ext uri="{FF2B5EF4-FFF2-40B4-BE49-F238E27FC236}">
                <a16:creationId xmlns:a16="http://schemas.microsoft.com/office/drawing/2014/main" id="{40882B85-EE06-4ED9-B918-39A38646F940}"/>
              </a:ext>
            </a:extLst>
          </p:cNvPr>
          <p:cNvSpPr>
            <a:spLocks xmlns:a="http://schemas.openxmlformats.org/drawingml/2006/main" noGrp="1"/>
          </p:cNvSpPr>
          <p:nvPr/>
        </p:nvSpPr>
        <p:spPr>
          <a:xfrm xmlns:a="http://schemas.openxmlformats.org/drawingml/2006/main">
            <a:off x="8083296" y="2779776"/>
            <a:ext cx="3163824"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One matched excitatory comparison</a:t>
            </a:r>
          </a:p>
        </p:txBody>
      </p:sp>
      <p:sp>
        <p:nvSpPr>
          <p:cNvPr id="20" name="TextBox 19">
            <a:extLst xmlns:a="http://schemas.openxmlformats.org/drawingml/2006/main">
              <a:ext uri="{FF2B5EF4-FFF2-40B4-BE49-F238E27FC236}">
                <a16:creationId xmlns:a16="http://schemas.microsoft.com/office/drawing/2014/main" id="{E3E09B84-10F6-4612-A297-D28C74B2BA08}"/>
              </a:ext>
            </a:extLst>
          </p:cNvPr>
          <p:cNvSpPr>
            <a:spLocks xmlns:a="http://schemas.openxmlformats.org/drawingml/2006/main" noGrp="1"/>
          </p:cNvSpPr>
          <p:nvPr/>
        </p:nvSpPr>
        <p:spPr>
          <a:xfrm xmlns:a="http://schemas.openxmlformats.org/drawingml/2006/main">
            <a:off x="8083296" y="3447288"/>
            <a:ext cx="3163824"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9 of 10</a:t>
            </a:r>
          </a:p>
        </p:txBody>
      </p:sp>
      <p:sp>
        <p:nvSpPr>
          <p:cNvPr id="21" name="TextBox 20">
            <a:extLst xmlns:a="http://schemas.openxmlformats.org/drawingml/2006/main">
              <a:ext uri="{FF2B5EF4-FFF2-40B4-BE49-F238E27FC236}">
                <a16:creationId xmlns:a16="http://schemas.microsoft.com/office/drawing/2014/main" id="{8FB54593-645C-4C84-8F30-D721184779F5}"/>
              </a:ext>
            </a:extLst>
          </p:cNvPr>
          <p:cNvSpPr>
            <a:spLocks xmlns:a="http://schemas.openxmlformats.org/drawingml/2006/main" noGrp="1"/>
          </p:cNvSpPr>
          <p:nvPr/>
        </p:nvSpPr>
        <p:spPr>
          <a:xfrm xmlns:a="http://schemas.openxmlformats.org/drawingml/2006/main">
            <a:off x="8174736" y="3968496"/>
            <a:ext cx="2980944"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40" b="0" i="0">
                <a:solidFill>
                  <a:srgbClr val="1F2730"/>
                </a:solidFill>
                <a:latin typeface="Arial"/>
                <a:ea typeface="Arial"/>
                <a:cs typeface="Arial"/>
              </a:rPr>
              <a:t>genes were the same mtDNA-encoded OXPHOS genes seen in ROSMAP</a:t>
            </a:r>
          </a:p>
        </p:txBody>
      </p:sp>
      <p:sp>
        <p:nvSpPr>
          <p:cNvPr id="22" name="TextBox 21">
            <a:extLst xmlns:a="http://schemas.openxmlformats.org/drawingml/2006/main">
              <a:ext uri="{FF2B5EF4-FFF2-40B4-BE49-F238E27FC236}">
                <a16:creationId xmlns:a16="http://schemas.microsoft.com/office/drawing/2014/main" id="{343EDC46-EFE7-4A30-8216-E06D073D25DC}"/>
              </a:ext>
            </a:extLst>
          </p:cNvPr>
          <p:cNvSpPr>
            <a:spLocks xmlns:a="http://schemas.openxmlformats.org/drawingml/2006/main" noGrp="1"/>
          </p:cNvSpPr>
          <p:nvPr/>
        </p:nvSpPr>
        <p:spPr>
          <a:xfrm xmlns:a="http://schemas.openxmlformats.org/drawingml/2006/main">
            <a:off x="8083296" y="4517136"/>
            <a:ext cx="3163824"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80" b="1" i="0">
                <a:solidFill>
                  <a:srgbClr val="00684D"/>
                </a:solidFill>
                <a:latin typeface="Arial"/>
                <a:ea typeface="Arial"/>
                <a:cs typeface="Arial"/>
              </a:rPr>
              <a:t>All 9 increased in disease in both cohorts.</a:t>
            </a:r>
          </a:p>
        </p:txBody>
      </p:sp>
      <p:sp>
        <p:nvSpPr>
          <p:cNvPr id="23" name="Rounded Rectangle 22">
            <a:extLst xmlns:a="http://schemas.openxmlformats.org/drawingml/2006/main">
              <a:ext uri="{FF2B5EF4-FFF2-40B4-BE49-F238E27FC236}">
                <a16:creationId xmlns:a16="http://schemas.microsoft.com/office/drawing/2014/main" id="{D2420D3D-5EEE-4D81-9835-9433CFEA6415}"/>
              </a:ext>
            </a:extLst>
          </p:cNvPr>
          <p:cNvSpPr>
            <a:spLocks xmlns:a="http://schemas.openxmlformats.org/drawingml/2006/main" noGrp="1"/>
          </p:cNvSpPr>
          <p:nvPr/>
        </p:nvSpPr>
        <p:spPr>
          <a:xfrm xmlns:a="http://schemas.openxmlformats.org/drawingml/2006/main">
            <a:off x="658368" y="5212080"/>
            <a:ext cx="10881360" cy="85953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7A523A4D-34A6-4CB7-9380-26D44C632D9B}"/>
              </a:ext>
            </a:extLst>
          </p:cNvPr>
          <p:cNvSpPr>
            <a:spLocks xmlns:a="http://schemas.openxmlformats.org/drawingml/2006/main" noGrp="1"/>
          </p:cNvSpPr>
          <p:nvPr/>
        </p:nvSpPr>
        <p:spPr>
          <a:xfrm xmlns:a="http://schemas.openxmlformats.org/drawingml/2006/main">
            <a:off x="941832" y="5468112"/>
            <a:ext cx="1572768"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1" i="0">
                <a:solidFill>
                  <a:srgbClr val="895600"/>
                </a:solidFill>
                <a:latin typeface="Arial"/>
                <a:ea typeface="Arial"/>
                <a:cs typeface="Arial"/>
              </a:rPr>
              <a:t>Most careful reading</a:t>
            </a:r>
          </a:p>
        </p:txBody>
      </p:sp>
      <p:sp>
        <p:nvSpPr>
          <p:cNvPr id="25" name="TextBox 24">
            <a:extLst xmlns:a="http://schemas.openxmlformats.org/drawingml/2006/main">
              <a:ext uri="{FF2B5EF4-FFF2-40B4-BE49-F238E27FC236}">
                <a16:creationId xmlns:a16="http://schemas.microsoft.com/office/drawing/2014/main" id="{597DE94C-F94B-4A76-BFD2-32FCDCD40F57}"/>
              </a:ext>
            </a:extLst>
          </p:cNvPr>
          <p:cNvSpPr>
            <a:spLocks xmlns:a="http://schemas.openxmlformats.org/drawingml/2006/main" noGrp="1"/>
          </p:cNvSpPr>
          <p:nvPr/>
        </p:nvSpPr>
        <p:spPr>
          <a:xfrm xmlns:a="http://schemas.openxmlformats.org/drawingml/2006/main">
            <a:off x="2615184" y="5431536"/>
            <a:ext cx="846734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A repeated mitochondrial response that may reflect compensation or stress—not proof of better energy production.</a:t>
            </a:r>
          </a:p>
        </p:txBody>
      </p:sp>
    </p:spTree>
    <p:extLst>
      <p:ext uri="{BB962C8B-B14F-4D97-AF65-F5344CB8AC3E}">
        <p14:creationId xmlns:p14="http://schemas.microsoft.com/office/powerpoint/2010/main" val="1639054672"/>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B49871B-AAE6-4857-A1A6-F3CFB8854340}"/>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Male ε3/ε3 cells show opposite directions in two OXPHOS gene sets</a:t>
            </a:r>
          </a:p>
        </p:txBody>
      </p:sp>
      <p:sp>
        <p:nvSpPr>
          <p:cNvPr id="3" name="TextBox 2">
            <a:extLst xmlns:a="http://schemas.openxmlformats.org/drawingml/2006/main">
              <a:ext uri="{FF2B5EF4-FFF2-40B4-BE49-F238E27FC236}">
                <a16:creationId xmlns:a16="http://schemas.microsoft.com/office/drawing/2014/main" id="{6C98ED2E-5974-472C-9E62-5E8B4597CD17}"/>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Mitochondrial and nuclear DNA encode structural subunits of the same OXPHOS system.</a:t>
            </a:r>
          </a:p>
        </p:txBody>
      </p:sp>
      <p:sp>
        <p:nvSpPr>
          <p:cNvPr id="4" name="Rounded Rectangle 3">
            <a:extLst xmlns:a="http://schemas.openxmlformats.org/drawingml/2006/main">
              <a:ext uri="{FF2B5EF4-FFF2-40B4-BE49-F238E27FC236}">
                <a16:creationId xmlns:a16="http://schemas.microsoft.com/office/drawing/2014/main" id="{90A9C57C-A4B4-44EA-8280-B84C4C83D6C9}"/>
              </a:ext>
            </a:extLst>
          </p:cNvPr>
          <p:cNvSpPr>
            <a:spLocks xmlns:a="http://schemas.openxmlformats.org/drawingml/2006/main" noGrp="1"/>
          </p:cNvSpPr>
          <p:nvPr/>
        </p:nvSpPr>
        <p:spPr>
          <a:xfrm xmlns:a="http://schemas.openxmlformats.org/drawingml/2006/main">
            <a:off x="658368" y="1700784"/>
            <a:ext cx="5065776" cy="239572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217CCD7-2AFB-4CBE-ABE7-B2D3BEFA52E6}"/>
              </a:ext>
            </a:extLst>
          </p:cNvPr>
          <p:cNvSpPr>
            <a:spLocks xmlns:a="http://schemas.openxmlformats.org/drawingml/2006/main" noGrp="1"/>
          </p:cNvSpPr>
          <p:nvPr/>
        </p:nvSpPr>
        <p:spPr>
          <a:xfrm xmlns:a="http://schemas.openxmlformats.org/drawingml/2006/main">
            <a:off x="932688" y="1984248"/>
            <a:ext cx="4517136"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13 mtDNA-encoded OXPHOS genes</a:t>
            </a:r>
          </a:p>
        </p:txBody>
      </p:sp>
      <p:sp>
        <p:nvSpPr>
          <p:cNvPr id="6" name="TextBox 5">
            <a:extLst xmlns:a="http://schemas.openxmlformats.org/drawingml/2006/main">
              <a:ext uri="{FF2B5EF4-FFF2-40B4-BE49-F238E27FC236}">
                <a16:creationId xmlns:a16="http://schemas.microsoft.com/office/drawing/2014/main" id="{0F35F568-C054-4926-9581-9999D8CC8A08}"/>
              </a:ext>
            </a:extLst>
          </p:cNvPr>
          <p:cNvSpPr>
            <a:spLocks xmlns:a="http://schemas.openxmlformats.org/drawingml/2006/main" noGrp="1"/>
          </p:cNvSpPr>
          <p:nvPr/>
        </p:nvSpPr>
        <p:spPr>
          <a:xfrm xmlns:a="http://schemas.openxmlformats.org/drawingml/2006/main">
            <a:off x="932688" y="2487168"/>
            <a:ext cx="4517136"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3100" b="1" i="0">
                <a:solidFill>
                  <a:srgbClr val="0072B2"/>
                </a:solidFill>
                <a:latin typeface="Arial"/>
                <a:ea typeface="Arial"/>
                <a:cs typeface="Arial"/>
              </a:rPr>
              <a:t>70 ↑  |  11 ↓</a:t>
            </a:r>
          </a:p>
        </p:txBody>
      </p:sp>
      <p:sp>
        <p:nvSpPr>
          <p:cNvPr id="7" name="TextBox 6">
            <a:extLst xmlns:a="http://schemas.openxmlformats.org/drawingml/2006/main">
              <a:ext uri="{FF2B5EF4-FFF2-40B4-BE49-F238E27FC236}">
                <a16:creationId xmlns:a16="http://schemas.microsoft.com/office/drawing/2014/main" id="{3FB8FD68-833E-4ABE-B645-756A5EFCB394}"/>
              </a:ext>
            </a:extLst>
          </p:cNvPr>
          <p:cNvSpPr>
            <a:spLocks xmlns:a="http://schemas.openxmlformats.org/drawingml/2006/main" noGrp="1"/>
          </p:cNvSpPr>
          <p:nvPr/>
        </p:nvSpPr>
        <p:spPr>
          <a:xfrm xmlns:a="http://schemas.openxmlformats.org/drawingml/2006/main">
            <a:off x="932688" y="3108960"/>
            <a:ext cx="451713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86% increased in AD</a:t>
            </a:r>
          </a:p>
        </p:txBody>
      </p:sp>
      <p:sp>
        <p:nvSpPr>
          <p:cNvPr id="8" name="TextBox 7">
            <a:extLst xmlns:a="http://schemas.openxmlformats.org/drawingml/2006/main">
              <a:ext uri="{FF2B5EF4-FFF2-40B4-BE49-F238E27FC236}">
                <a16:creationId xmlns:a16="http://schemas.microsoft.com/office/drawing/2014/main" id="{0897D158-1410-4DE3-8483-35628EA4881A}"/>
              </a:ext>
            </a:extLst>
          </p:cNvPr>
          <p:cNvSpPr>
            <a:spLocks xmlns:a="http://schemas.openxmlformats.org/drawingml/2006/main" noGrp="1"/>
          </p:cNvSpPr>
          <p:nvPr/>
        </p:nvSpPr>
        <p:spPr>
          <a:xfrm xmlns:a="http://schemas.openxmlformats.org/drawingml/2006/main">
            <a:off x="1097280" y="3557016"/>
            <a:ext cx="418795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4E5A68"/>
                </a:solidFill>
                <a:latin typeface="Arial"/>
                <a:ea typeface="Arial"/>
                <a:cs typeface="Arial"/>
              </a:rPr>
              <a:t>81 gene appearances across fine-cell comparisons</a:t>
            </a:r>
          </a:p>
        </p:txBody>
      </p:sp>
      <p:sp>
        <p:nvSpPr>
          <p:cNvPr id="9" name="Rounded Rectangle 8">
            <a:extLst xmlns:a="http://schemas.openxmlformats.org/drawingml/2006/main">
              <a:ext uri="{FF2B5EF4-FFF2-40B4-BE49-F238E27FC236}">
                <a16:creationId xmlns:a16="http://schemas.microsoft.com/office/drawing/2014/main" id="{C09E3ED7-6F1E-4F97-8056-2973F33A8021}"/>
              </a:ext>
            </a:extLst>
          </p:cNvPr>
          <p:cNvSpPr>
            <a:spLocks xmlns:a="http://schemas.openxmlformats.org/drawingml/2006/main" noGrp="1"/>
          </p:cNvSpPr>
          <p:nvPr/>
        </p:nvSpPr>
        <p:spPr>
          <a:xfrm xmlns:a="http://schemas.openxmlformats.org/drawingml/2006/main">
            <a:off x="6473952" y="1700784"/>
            <a:ext cx="5065776" cy="239572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766828F8-FDBD-48E6-A056-5E00E989E4C4}"/>
              </a:ext>
            </a:extLst>
          </p:cNvPr>
          <p:cNvSpPr>
            <a:spLocks xmlns:a="http://schemas.openxmlformats.org/drawingml/2006/main" noGrp="1"/>
          </p:cNvSpPr>
          <p:nvPr/>
        </p:nvSpPr>
        <p:spPr>
          <a:xfrm xmlns:a="http://schemas.openxmlformats.org/drawingml/2006/main">
            <a:off x="6748272" y="1984248"/>
            <a:ext cx="4517136"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86 nuclear-encoded structural OXPHOS genes</a:t>
            </a:r>
          </a:p>
        </p:txBody>
      </p:sp>
      <p:sp>
        <p:nvSpPr>
          <p:cNvPr id="11" name="TextBox 10">
            <a:extLst xmlns:a="http://schemas.openxmlformats.org/drawingml/2006/main">
              <a:ext uri="{FF2B5EF4-FFF2-40B4-BE49-F238E27FC236}">
                <a16:creationId xmlns:a16="http://schemas.microsoft.com/office/drawing/2014/main" id="{EB9AC218-69E5-435A-BA56-CFF95C9459DC}"/>
              </a:ext>
            </a:extLst>
          </p:cNvPr>
          <p:cNvSpPr>
            <a:spLocks xmlns:a="http://schemas.openxmlformats.org/drawingml/2006/main" noGrp="1"/>
          </p:cNvSpPr>
          <p:nvPr/>
        </p:nvSpPr>
        <p:spPr>
          <a:xfrm xmlns:a="http://schemas.openxmlformats.org/drawingml/2006/main">
            <a:off x="6748272" y="2487168"/>
            <a:ext cx="4517136"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3100" b="1" i="0">
                <a:solidFill>
                  <a:srgbClr val="9E3A00"/>
                </a:solidFill>
                <a:latin typeface="Arial"/>
                <a:ea typeface="Arial"/>
                <a:cs typeface="Arial"/>
              </a:rPr>
              <a:t>8 ↑  |  60 ↓</a:t>
            </a:r>
          </a:p>
        </p:txBody>
      </p:sp>
      <p:sp>
        <p:nvSpPr>
          <p:cNvPr id="12" name="TextBox 11">
            <a:extLst xmlns:a="http://schemas.openxmlformats.org/drawingml/2006/main">
              <a:ext uri="{FF2B5EF4-FFF2-40B4-BE49-F238E27FC236}">
                <a16:creationId xmlns:a16="http://schemas.microsoft.com/office/drawing/2014/main" id="{122337BA-E9D0-473F-94CE-CF1DC0514613}"/>
              </a:ext>
            </a:extLst>
          </p:cNvPr>
          <p:cNvSpPr>
            <a:spLocks xmlns:a="http://schemas.openxmlformats.org/drawingml/2006/main" noGrp="1"/>
          </p:cNvSpPr>
          <p:nvPr/>
        </p:nvSpPr>
        <p:spPr>
          <a:xfrm xmlns:a="http://schemas.openxmlformats.org/drawingml/2006/main">
            <a:off x="6748272" y="3108960"/>
            <a:ext cx="451713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88% decreased in AD</a:t>
            </a:r>
          </a:p>
        </p:txBody>
      </p:sp>
      <p:sp>
        <p:nvSpPr>
          <p:cNvPr id="13" name="TextBox 12">
            <a:extLst xmlns:a="http://schemas.openxmlformats.org/drawingml/2006/main">
              <a:ext uri="{FF2B5EF4-FFF2-40B4-BE49-F238E27FC236}">
                <a16:creationId xmlns:a16="http://schemas.microsoft.com/office/drawing/2014/main" id="{65B89702-B23B-4137-AAF2-7E11BBCCFE29}"/>
              </a:ext>
            </a:extLst>
          </p:cNvPr>
          <p:cNvSpPr>
            <a:spLocks xmlns:a="http://schemas.openxmlformats.org/drawingml/2006/main" noGrp="1"/>
          </p:cNvSpPr>
          <p:nvPr/>
        </p:nvSpPr>
        <p:spPr>
          <a:xfrm xmlns:a="http://schemas.openxmlformats.org/drawingml/2006/main">
            <a:off x="6912864" y="3557016"/>
            <a:ext cx="418795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4E5A68"/>
                </a:solidFill>
                <a:latin typeface="Arial"/>
                <a:ea typeface="Arial"/>
                <a:cs typeface="Arial"/>
              </a:rPr>
              <a:t>68 gene appearances across fine-cell comparisons</a:t>
            </a:r>
          </a:p>
        </p:txBody>
      </p:sp>
      <p:sp>
        <p:nvSpPr>
          <p:cNvPr id="14" name="TextBox 13">
            <a:extLst xmlns:a="http://schemas.openxmlformats.org/drawingml/2006/main">
              <a:ext uri="{FF2B5EF4-FFF2-40B4-BE49-F238E27FC236}">
                <a16:creationId xmlns:a16="http://schemas.microsoft.com/office/drawing/2014/main" id="{831878F7-379C-4FE2-8529-540739525133}"/>
              </a:ext>
            </a:extLst>
          </p:cNvPr>
          <p:cNvSpPr>
            <a:spLocks xmlns:a="http://schemas.openxmlformats.org/drawingml/2006/main" noGrp="1"/>
          </p:cNvSpPr>
          <p:nvPr/>
        </p:nvSpPr>
        <p:spPr>
          <a:xfrm xmlns:a="http://schemas.openxmlformats.org/drawingml/2006/main">
            <a:off x="5705856" y="2505456"/>
            <a:ext cx="768096"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700" b="1" i="0">
                <a:solidFill>
                  <a:srgbClr val="6C7988"/>
                </a:solidFill>
                <a:latin typeface="Arial"/>
                <a:ea typeface="Arial"/>
                <a:cs typeface="Arial"/>
              </a:rPr>
              <a:t>↔</a:t>
            </a:r>
          </a:p>
        </p:txBody>
      </p:sp>
      <p:sp>
        <p:nvSpPr>
          <p:cNvPr id="15" name="Rounded Rectangle 14">
            <a:extLst xmlns:a="http://schemas.openxmlformats.org/drawingml/2006/main">
              <a:ext uri="{FF2B5EF4-FFF2-40B4-BE49-F238E27FC236}">
                <a16:creationId xmlns:a16="http://schemas.microsoft.com/office/drawing/2014/main" id="{8447C4F8-AE97-4CA6-A0FB-A9E0CE0B1EC8}"/>
              </a:ext>
            </a:extLst>
          </p:cNvPr>
          <p:cNvSpPr>
            <a:spLocks xmlns:a="http://schemas.openxmlformats.org/drawingml/2006/main" noGrp="1"/>
          </p:cNvSpPr>
          <p:nvPr/>
        </p:nvSpPr>
        <p:spPr>
          <a:xfrm xmlns:a="http://schemas.openxmlformats.org/drawingml/2006/main">
            <a:off x="658368" y="4370832"/>
            <a:ext cx="6876288" cy="1353312"/>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AB8161E3-0518-42A4-85A5-57AF2D5CAD19}"/>
              </a:ext>
            </a:extLst>
          </p:cNvPr>
          <p:cNvSpPr>
            <a:spLocks xmlns:a="http://schemas.openxmlformats.org/drawingml/2006/main" noGrp="1"/>
          </p:cNvSpPr>
          <p:nvPr/>
        </p:nvSpPr>
        <p:spPr>
          <a:xfrm xmlns:a="http://schemas.openxmlformats.org/drawingml/2006/main">
            <a:off x="941832" y="4617720"/>
            <a:ext cx="630936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70" b="1" i="0">
                <a:solidFill>
                  <a:srgbClr val="00684D"/>
                </a:solidFill>
                <a:latin typeface="Arial"/>
                <a:ea typeface="Arial"/>
                <a:cs typeface="Arial"/>
              </a:rPr>
              <a:t>SEA-AD MATCHED INHIBITORY-NEURON SUPPORT</a:t>
            </a:r>
          </a:p>
        </p:txBody>
      </p:sp>
      <p:sp>
        <p:nvSpPr>
          <p:cNvPr id="17" name="TextBox 16">
            <a:extLst xmlns:a="http://schemas.openxmlformats.org/drawingml/2006/main">
              <a:ext uri="{FF2B5EF4-FFF2-40B4-BE49-F238E27FC236}">
                <a16:creationId xmlns:a16="http://schemas.microsoft.com/office/drawing/2014/main" id="{0E0978BB-8D12-4E23-9AB6-E35C2905034B}"/>
              </a:ext>
            </a:extLst>
          </p:cNvPr>
          <p:cNvSpPr>
            <a:spLocks xmlns:a="http://schemas.openxmlformats.org/drawingml/2006/main" noGrp="1"/>
          </p:cNvSpPr>
          <p:nvPr/>
        </p:nvSpPr>
        <p:spPr>
          <a:xfrm xmlns:a="http://schemas.openxmlformats.org/drawingml/2006/main">
            <a:off x="941832" y="4965192"/>
            <a:ext cx="63093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700" b="1" i="0">
                <a:solidFill>
                  <a:srgbClr val="0F233D"/>
                </a:solidFill>
                <a:latin typeface="Arial"/>
                <a:ea typeface="Arial"/>
                <a:cs typeface="Arial"/>
              </a:rPr>
              <a:t>19 of 22 shared genes moved in the same direction</a:t>
            </a:r>
          </a:p>
        </p:txBody>
      </p:sp>
      <p:sp>
        <p:nvSpPr>
          <p:cNvPr id="18" name="TextBox 17">
            <a:extLst xmlns:a="http://schemas.openxmlformats.org/drawingml/2006/main">
              <a:ext uri="{FF2B5EF4-FFF2-40B4-BE49-F238E27FC236}">
                <a16:creationId xmlns:a16="http://schemas.microsoft.com/office/drawing/2014/main" id="{FE13CC44-DA0E-4417-8C03-7D844CC982A7}"/>
              </a:ext>
            </a:extLst>
          </p:cNvPr>
          <p:cNvSpPr>
            <a:spLocks xmlns:a="http://schemas.openxmlformats.org/drawingml/2006/main" noGrp="1"/>
          </p:cNvSpPr>
          <p:nvPr/>
        </p:nvSpPr>
        <p:spPr>
          <a:xfrm xmlns:a="http://schemas.openxmlformats.org/drawingml/2006/main">
            <a:off x="941832" y="5340096"/>
            <a:ext cx="630936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Nine mtDNA-encoded OXPHOS genes rose while several nuclear-encoded OXPHOS genes fell.</a:t>
            </a:r>
          </a:p>
        </p:txBody>
      </p:sp>
      <p:sp>
        <p:nvSpPr>
          <p:cNvPr id="19" name="Rounded Rectangle 18">
            <a:extLst xmlns:a="http://schemas.openxmlformats.org/drawingml/2006/main">
              <a:ext uri="{FF2B5EF4-FFF2-40B4-BE49-F238E27FC236}">
                <a16:creationId xmlns:a16="http://schemas.microsoft.com/office/drawing/2014/main" id="{2B79BC13-837B-4BE9-8BF8-A5E7209E8E64}"/>
              </a:ext>
            </a:extLst>
          </p:cNvPr>
          <p:cNvSpPr>
            <a:spLocks xmlns:a="http://schemas.openxmlformats.org/drawingml/2006/main" noGrp="1"/>
          </p:cNvSpPr>
          <p:nvPr/>
        </p:nvSpPr>
        <p:spPr>
          <a:xfrm xmlns:a="http://schemas.openxmlformats.org/drawingml/2006/main">
            <a:off x="7790688" y="4370832"/>
            <a:ext cx="3749039" cy="1353312"/>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4CB5AA00-FE8D-44E8-9225-A3C94CDA477C}"/>
              </a:ext>
            </a:extLst>
          </p:cNvPr>
          <p:cNvSpPr>
            <a:spLocks xmlns:a="http://schemas.openxmlformats.org/drawingml/2006/main" noGrp="1"/>
          </p:cNvSpPr>
          <p:nvPr/>
        </p:nvSpPr>
        <p:spPr>
          <a:xfrm xmlns:a="http://schemas.openxmlformats.org/drawingml/2006/main">
            <a:off x="8083296" y="4617720"/>
            <a:ext cx="3163824"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70" b="1" i="0">
                <a:solidFill>
                  <a:srgbClr val="895600"/>
                </a:solidFill>
                <a:latin typeface="Arial"/>
                <a:ea typeface="Arial"/>
                <a:cs typeface="Arial"/>
              </a:rPr>
              <a:t>IMPORTANT LIMIT</a:t>
            </a:r>
          </a:p>
        </p:txBody>
      </p:sp>
      <p:sp>
        <p:nvSpPr>
          <p:cNvPr id="21" name="TextBox 20">
            <a:extLst xmlns:a="http://schemas.openxmlformats.org/drawingml/2006/main">
              <a:ext uri="{FF2B5EF4-FFF2-40B4-BE49-F238E27FC236}">
                <a16:creationId xmlns:a16="http://schemas.microsoft.com/office/drawing/2014/main" id="{29F17AB5-CCF0-4E97-99F8-8907FC8D605E}"/>
              </a:ext>
            </a:extLst>
          </p:cNvPr>
          <p:cNvSpPr>
            <a:spLocks xmlns:a="http://schemas.openxmlformats.org/drawingml/2006/main" noGrp="1"/>
          </p:cNvSpPr>
          <p:nvPr/>
        </p:nvSpPr>
        <p:spPr>
          <a:xfrm xmlns:a="http://schemas.openxmlformats.org/drawingml/2006/main">
            <a:off x="8083296" y="4965192"/>
            <a:ext cx="3163824"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20" b="0" i="0">
                <a:solidFill>
                  <a:srgbClr val="1F2730"/>
                </a:solidFill>
                <a:latin typeface="Arial"/>
                <a:ea typeface="Arial"/>
                <a:cs typeface="Arial"/>
              </a:rPr>
              <a:t>The broad-cell ROSMAP result was no longer statistically clear after accounting for subtype mixture.</a:t>
            </a:r>
          </a:p>
        </p:txBody>
      </p:sp>
      <p:sp>
        <p:nvSpPr>
          <p:cNvPr id="22" name="TextBox 21">
            <a:extLst xmlns:a="http://schemas.openxmlformats.org/drawingml/2006/main">
              <a:ext uri="{FF2B5EF4-FFF2-40B4-BE49-F238E27FC236}">
                <a16:creationId xmlns:a16="http://schemas.microsoft.com/office/drawing/2014/main" id="{8947FD7C-12DE-4646-B405-6E40D638E409}"/>
              </a:ext>
            </a:extLst>
          </p:cNvPr>
          <p:cNvSpPr>
            <a:spLocks xmlns:a="http://schemas.openxmlformats.org/drawingml/2006/main" noGrp="1"/>
          </p:cNvSpPr>
          <p:nvPr/>
        </p:nvSpPr>
        <p:spPr>
          <a:xfrm xmlns:a="http://schemas.openxmlformats.org/drawingml/2006/main">
            <a:off x="694944" y="5989320"/>
            <a:ext cx="1078992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80" b="0" i="1">
                <a:solidFill>
                  <a:srgbClr val="4E5A68"/>
                </a:solidFill>
                <a:latin typeface="Arial"/>
                <a:ea typeface="Arial"/>
                <a:cs typeface="Arial"/>
              </a:rPr>
              <a:t>Each percentage uses gene-by-fine-cell DEG occurrences; a gene can recur across comparisons.</a:t>
            </a:r>
          </a:p>
        </p:txBody>
      </p:sp>
    </p:spTree>
    <p:extLst>
      <p:ext uri="{BB962C8B-B14F-4D97-AF65-F5344CB8AC3E}">
        <p14:creationId xmlns:p14="http://schemas.microsoft.com/office/powerpoint/2010/main" val="730415278"/>
      </p:ext>
    </p:extLst>
  </p:cSld>
</p:sld>
</file>

<file path=ppt/slides/slide1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0A38812-820E-43AA-AEA6-5D3C98C983E1}"/>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a:t>
            </a:r>
            <a:r>
              <a:rPr sz="1050" b="1">
                <a:solidFill>
                  <a:srgbClr val="0072B2"/>
                </a:solidFill>
                <a:latin typeface="Arial"/>
                <a:ea typeface="Arial"/>
                <a:cs typeface="Arial"/>
              </a:rPr>
              <a:t>3</a:t>
            </a:r>
            <a:endParaRPr sz="1050" b="1" i="0">
              <a:solidFill>
                <a:srgbClr val="0072B2"/>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B029E37C-4342-4CDA-8A77-437F6147B463}"/>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F756A2B-C51E-4074-A29B-8354303A5F96}"/>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KDA analysis</a:t>
            </a:r>
          </a:p>
        </p:txBody>
      </p:sp>
      <p:sp>
        <p:nvSpPr>
          <p:cNvPr id="6" name="Rounded Rectangle 5">
            <a:extLst xmlns:a="http://schemas.openxmlformats.org/drawingml/2006/main">
              <a:ext uri="{FF2B5EF4-FFF2-40B4-BE49-F238E27FC236}">
                <a16:creationId xmlns:a16="http://schemas.microsoft.com/office/drawing/2014/main" id="{B83AEE6C-0C4B-4977-BEEB-80A7144C7C9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13A4AF5-D8B1-41D0-AA6F-13D5CC8DBC3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BDF530FF-5B80-4445-971C-3E93F262580E}"/>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3B20975-3211-4AF5-9570-0EB0D9AD689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4B591A55-3D73-4ECA-BE0D-C3ACADE17C01}"/>
              </a:ext>
            </a:extLst>
          </p:cNvPr>
          <p:cNvSpPr>
            <a:spLocks xmlns:a="http://schemas.openxmlformats.org/drawingml/2006/main" noGrp="1"/>
          </p:cNvSpPr>
          <p:nvPr/>
        </p:nvSpPr>
        <p:spPr>
          <a:xfrm xmlns:a="http://schemas.openxmlformats.org/drawingml/2006/main">
            <a:off x="9628632" y="203482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D0513708-4DE7-443D-9851-630F8E71D76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08C1D71-67D0-44D5-864E-C04624C18AFA}"/>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E3EEDA7-BA00-4CDB-BFDE-9F2883F95298}"/>
              </a:ext>
            </a:extLst>
          </p:cNvPr>
          <p:cNvSpPr>
            <a:spLocks xmlns:a="http://schemas.openxmlformats.org/drawingml/2006/main" noGrp="1"/>
          </p:cNvSpPr>
          <p:nvPr/>
        </p:nvSpPr>
        <p:spPr>
          <a:xfrm xmlns:a="http://schemas.openxmlformats.org/drawingml/2006/main">
            <a:off x="9628632" y="2790427"/>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Call key </a:t>
            </a:r>
            <a:r>
              <a:rPr sz="1110" b="1">
                <a:solidFill>
                  <a:srgbClr val="FFFFFF"/>
                </a:solidFill>
                <a:latin typeface="Arial"/>
                <a:ea typeface="Arial"/>
                <a:cs typeface="Arial"/>
              </a:rPr>
              <a:t>driver</a:t>
            </a:r>
            <a:endParaRPr sz="1110" b="1" i="0">
              <a:solidFill>
                <a:srgbClr val="FFFFFF"/>
              </a:solidFill>
              <a:latin typeface="Arial"/>
              <a:ea typeface="Arial"/>
              <a:cs typeface="Arial"/>
            </a:endParaRPr>
          </a:p>
        </p:txBody>
      </p:sp>
      <p:sp>
        <p:nvSpPr>
          <p:cNvPr id="14" name="Oval 13">
            <a:extLst xmlns:a="http://schemas.openxmlformats.org/drawingml/2006/main">
              <a:ext uri="{FF2B5EF4-FFF2-40B4-BE49-F238E27FC236}">
                <a16:creationId xmlns:a16="http://schemas.microsoft.com/office/drawing/2014/main" id="{2BFBCCAC-5C0E-417E-8013-1A19463D7077}"/>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B6D520-0795-4F7E-A96C-A74455F24ED6}"/>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C755F62-BD64-4F6E-B193-416C9CE4E9C5}"/>
              </a:ext>
            </a:extLst>
          </p:cNvPr>
          <p:cNvSpPr>
            <a:spLocks xmlns:a="http://schemas.openxmlformats.org/drawingml/2006/main" noGrp="1"/>
          </p:cNvSpPr>
          <p:nvPr/>
        </p:nvSpPr>
        <p:spPr>
          <a:xfrm xmlns:a="http://schemas.openxmlformats.org/drawingml/2006/main">
            <a:off x="9628632" y="3551805"/>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5225D091-C2ED-4309-ACD3-2E65A4BFB68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133959B-4CEB-4D27-A9C6-57EADC2D811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BA6D3EF5-7783-4F39-99AB-618E5BD525A9}"/>
              </a:ext>
            </a:extLst>
          </p:cNvPr>
          <p:cNvSpPr>
            <a:spLocks xmlns:a="http://schemas.openxmlformats.org/drawingml/2006/main" noGrp="1"/>
          </p:cNvSpPr>
          <p:nvPr/>
        </p:nvSpPr>
        <p:spPr>
          <a:xfrm xmlns:a="http://schemas.openxmlformats.org/drawingml/2006/main">
            <a:off x="9628632" y="4295829"/>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B453143-B114-4286-963B-B60E1F13106E}"/>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xmlns:a="http://schemas.openxmlformats.org/drawingml/2006/main">
              <a:ext uri="{FF2B5EF4-FFF2-40B4-BE49-F238E27FC236}">
                <a16:creationId xmlns:a16="http://schemas.microsoft.com/office/drawing/2014/main" id="{00B92CF1-041B-48A9-9F2B-1D4B3D840791}"/>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xmlns:a="http://schemas.openxmlformats.org/drawingml/2006/main">
              <a:ext uri="{FF2B5EF4-FFF2-40B4-BE49-F238E27FC236}">
                <a16:creationId xmlns:a16="http://schemas.microsoft.com/office/drawing/2014/main" id="{8F8DFE99-15B0-4AD0-B8BD-DD4144C10CB2}"/>
              </a:ext>
            </a:extLst>
          </p:cNvPr>
          <p:cNvSpPr>
            <a:spLocks xmlns:a="http://schemas.openxmlformats.org/drawingml/2006/main" noGrp="1"/>
          </p:cNvSpPr>
          <p:nvPr/>
        </p:nvSpPr>
        <p:spPr>
          <a:xfrm xmlns:a="http://schemas.openxmlformats.org/drawingml/2006/main">
            <a:off x="603504" y="1134548"/>
            <a:ext cx="2029968" cy="1042415"/>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696CC436-7D92-4989-8C7D-6F150120999E}"/>
              </a:ext>
            </a:extLst>
          </p:cNvPr>
          <p:cNvSpPr>
            <a:spLocks xmlns:a="http://schemas.openxmlformats.org/drawingml/2006/main" noGrp="1"/>
          </p:cNvSpPr>
          <p:nvPr/>
        </p:nvSpPr>
        <p:spPr>
          <a:xfrm xmlns:a="http://schemas.openxmlformats.org/drawingml/2006/main">
            <a:off x="768096"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xmlns:a="http://schemas.openxmlformats.org/drawingml/2006/main">
              <a:ext uri="{FF2B5EF4-FFF2-40B4-BE49-F238E27FC236}">
                <a16:creationId xmlns:a16="http://schemas.microsoft.com/office/drawing/2014/main" id="{8A82ECB7-407D-40A6-A935-1A410D12F99E}"/>
              </a:ext>
            </a:extLst>
          </p:cNvPr>
          <p:cNvSpPr>
            <a:spLocks xmlns:a="http://schemas.openxmlformats.org/drawingml/2006/main" noGrp="1"/>
          </p:cNvSpPr>
          <p:nvPr/>
        </p:nvSpPr>
        <p:spPr>
          <a:xfrm xmlns:a="http://schemas.openxmlformats.org/drawingml/2006/main">
            <a:off x="1408176" y="1308284"/>
            <a:ext cx="1069848"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xmlns:a="http://schemas.openxmlformats.org/drawingml/2006/main">
              <a:ext uri="{FF2B5EF4-FFF2-40B4-BE49-F238E27FC236}">
                <a16:creationId xmlns:a16="http://schemas.microsoft.com/office/drawing/2014/main" id="{A2B1E95F-AD75-4D02-A1AB-E953465AEF70}"/>
              </a:ext>
            </a:extLst>
          </p:cNvPr>
          <p:cNvSpPr>
            <a:spLocks xmlns:a="http://schemas.openxmlformats.org/drawingml/2006/main" noGrp="1"/>
          </p:cNvSpPr>
          <p:nvPr/>
        </p:nvSpPr>
        <p:spPr>
          <a:xfrm xmlns:a="http://schemas.openxmlformats.org/drawingml/2006/main">
            <a:off x="1408176" y="1628324"/>
            <a:ext cx="10698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xmlns:a="http://schemas.openxmlformats.org/drawingml/2006/main">
              <a:ext uri="{FF2B5EF4-FFF2-40B4-BE49-F238E27FC236}">
                <a16:creationId xmlns:a16="http://schemas.microsoft.com/office/drawing/2014/main" id="{1431877B-7942-4330-AA1D-D8F2E271D1A8}"/>
              </a:ext>
            </a:extLst>
          </p:cNvPr>
          <p:cNvSpPr>
            <a:spLocks xmlns:a="http://schemas.openxmlformats.org/drawingml/2006/main" noGrp="1"/>
          </p:cNvSpPr>
          <p:nvPr/>
        </p:nvSpPr>
        <p:spPr>
          <a:xfrm xmlns:a="http://schemas.openxmlformats.org/drawingml/2006/main">
            <a:off x="2724912"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xmlns:a="http://schemas.openxmlformats.org/drawingml/2006/main">
              <a:ext uri="{FF2B5EF4-FFF2-40B4-BE49-F238E27FC236}">
                <a16:creationId xmlns:a16="http://schemas.microsoft.com/office/drawing/2014/main" id="{35BBD3CD-DEF6-4352-9ADC-C0E86905865E}"/>
              </a:ext>
            </a:extLst>
          </p:cNvPr>
          <p:cNvSpPr>
            <a:spLocks xmlns:a="http://schemas.openxmlformats.org/drawingml/2006/main" noGrp="1"/>
          </p:cNvSpPr>
          <p:nvPr/>
        </p:nvSpPr>
        <p:spPr>
          <a:xfrm xmlns:a="http://schemas.openxmlformats.org/drawingml/2006/main">
            <a:off x="3200400" y="1134548"/>
            <a:ext cx="2542032" cy="1042415"/>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10764ED-0D24-49E4-AC0E-6E83A96A1D22}"/>
              </a:ext>
            </a:extLst>
          </p:cNvPr>
          <p:cNvSpPr>
            <a:spLocks xmlns:a="http://schemas.openxmlformats.org/drawingml/2006/main" noGrp="1"/>
          </p:cNvSpPr>
          <p:nvPr/>
        </p:nvSpPr>
        <p:spPr>
          <a:xfrm xmlns:a="http://schemas.openxmlformats.org/drawingml/2006/main">
            <a:off x="3364992"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xmlns:a="http://schemas.openxmlformats.org/drawingml/2006/main">
              <a:ext uri="{FF2B5EF4-FFF2-40B4-BE49-F238E27FC236}">
                <a16:creationId xmlns:a16="http://schemas.microsoft.com/office/drawing/2014/main" id="{D925246A-A4C6-4FA4-847E-0D5ABF59052E}"/>
              </a:ext>
            </a:extLst>
          </p:cNvPr>
          <p:cNvSpPr>
            <a:spLocks xmlns:a="http://schemas.openxmlformats.org/drawingml/2006/main" noGrp="1"/>
          </p:cNvSpPr>
          <p:nvPr/>
        </p:nvSpPr>
        <p:spPr>
          <a:xfrm xmlns:a="http://schemas.openxmlformats.org/drawingml/2006/main">
            <a:off x="4005072" y="1308284"/>
            <a:ext cx="1581911"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xmlns:a="http://schemas.openxmlformats.org/drawingml/2006/main">
              <a:ext uri="{FF2B5EF4-FFF2-40B4-BE49-F238E27FC236}">
                <a16:creationId xmlns:a16="http://schemas.microsoft.com/office/drawing/2014/main" id="{6C7A4290-E4A9-4AE0-A569-E41B00922F9B}"/>
              </a:ext>
            </a:extLst>
          </p:cNvPr>
          <p:cNvSpPr>
            <a:spLocks xmlns:a="http://schemas.openxmlformats.org/drawingml/2006/main" noGrp="1"/>
          </p:cNvSpPr>
          <p:nvPr/>
        </p:nvSpPr>
        <p:spPr>
          <a:xfrm xmlns:a="http://schemas.openxmlformats.org/drawingml/2006/main">
            <a:off x="4005072" y="1628324"/>
            <a:ext cx="1581911"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xmlns:a="http://schemas.openxmlformats.org/drawingml/2006/main">
              <a:ext uri="{FF2B5EF4-FFF2-40B4-BE49-F238E27FC236}">
                <a16:creationId xmlns:a16="http://schemas.microsoft.com/office/drawing/2014/main" id="{AE44AE31-1C47-4592-84C3-1865FC46D572}"/>
              </a:ext>
            </a:extLst>
          </p:cNvPr>
          <p:cNvSpPr>
            <a:spLocks xmlns:a="http://schemas.openxmlformats.org/drawingml/2006/main" noGrp="1"/>
          </p:cNvSpPr>
          <p:nvPr/>
        </p:nvSpPr>
        <p:spPr>
          <a:xfrm xmlns:a="http://schemas.openxmlformats.org/drawingml/2006/main">
            <a:off x="5833872"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xmlns:a="http://schemas.openxmlformats.org/drawingml/2006/main">
              <a:ext uri="{FF2B5EF4-FFF2-40B4-BE49-F238E27FC236}">
                <a16:creationId xmlns:a16="http://schemas.microsoft.com/office/drawing/2014/main" id="{4A65B7AF-CB5C-43C3-8CA1-C66BA5F7BB03}"/>
              </a:ext>
            </a:extLst>
          </p:cNvPr>
          <p:cNvSpPr>
            <a:spLocks xmlns:a="http://schemas.openxmlformats.org/drawingml/2006/main" noGrp="1"/>
          </p:cNvSpPr>
          <p:nvPr/>
        </p:nvSpPr>
        <p:spPr>
          <a:xfrm xmlns:a="http://schemas.openxmlformats.org/drawingml/2006/main">
            <a:off x="6309360" y="1134548"/>
            <a:ext cx="2121408" cy="1042415"/>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47D5A70-7BA9-4192-8B5D-9889D220F1BA}"/>
              </a:ext>
            </a:extLst>
          </p:cNvPr>
          <p:cNvSpPr>
            <a:spLocks xmlns:a="http://schemas.openxmlformats.org/drawingml/2006/main" noGrp="1"/>
          </p:cNvSpPr>
          <p:nvPr/>
        </p:nvSpPr>
        <p:spPr>
          <a:xfrm xmlns:a="http://schemas.openxmlformats.org/drawingml/2006/main">
            <a:off x="6473952"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xmlns:a="http://schemas.openxmlformats.org/drawingml/2006/main">
              <a:ext uri="{FF2B5EF4-FFF2-40B4-BE49-F238E27FC236}">
                <a16:creationId xmlns:a16="http://schemas.microsoft.com/office/drawing/2014/main" id="{0F52C426-33FB-46C6-BDF1-EC028753A731}"/>
              </a:ext>
            </a:extLst>
          </p:cNvPr>
          <p:cNvSpPr>
            <a:spLocks xmlns:a="http://schemas.openxmlformats.org/drawingml/2006/main" noGrp="1"/>
          </p:cNvSpPr>
          <p:nvPr/>
        </p:nvSpPr>
        <p:spPr>
          <a:xfrm xmlns:a="http://schemas.openxmlformats.org/drawingml/2006/main">
            <a:off x="7114032" y="1308284"/>
            <a:ext cx="1161287"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xmlns:a="http://schemas.openxmlformats.org/drawingml/2006/main">
              <a:ext uri="{FF2B5EF4-FFF2-40B4-BE49-F238E27FC236}">
                <a16:creationId xmlns:a16="http://schemas.microsoft.com/office/drawing/2014/main" id="{59907BBC-FFB6-4080-BC97-1947882A4001}"/>
              </a:ext>
            </a:extLst>
          </p:cNvPr>
          <p:cNvSpPr>
            <a:spLocks xmlns:a="http://schemas.openxmlformats.org/drawingml/2006/main" noGrp="1"/>
          </p:cNvSpPr>
          <p:nvPr/>
        </p:nvSpPr>
        <p:spPr>
          <a:xfrm xmlns:a="http://schemas.openxmlformats.org/drawingml/2006/main">
            <a:off x="7114032" y="1628324"/>
            <a:ext cx="1161287"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xmlns:a="http://schemas.openxmlformats.org/drawingml/2006/main">
              <a:ext uri="{FF2B5EF4-FFF2-40B4-BE49-F238E27FC236}">
                <a16:creationId xmlns:a16="http://schemas.microsoft.com/office/drawing/2014/main" id="{D98D2DB5-3A0E-4623-B0B8-FA5465C503C1}"/>
              </a:ext>
            </a:extLst>
          </p:cNvPr>
          <p:cNvSpPr>
            <a:spLocks xmlns:a="http://schemas.openxmlformats.org/drawingml/2006/main" noGrp="1"/>
          </p:cNvSpPr>
          <p:nvPr/>
        </p:nvSpPr>
        <p:spPr>
          <a:xfrm xmlns:a="http://schemas.openxmlformats.org/drawingml/2006/main">
            <a:off x="8522208"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xmlns:a="http://schemas.openxmlformats.org/drawingml/2006/main">
              <a:ext uri="{FF2B5EF4-FFF2-40B4-BE49-F238E27FC236}">
                <a16:creationId xmlns:a16="http://schemas.microsoft.com/office/drawing/2014/main" id="{EB94EC70-314C-4BA8-95D7-349F2F373427}"/>
              </a:ext>
            </a:extLst>
          </p:cNvPr>
          <p:cNvSpPr>
            <a:spLocks xmlns:a="http://schemas.openxmlformats.org/drawingml/2006/main" noGrp="1"/>
          </p:cNvSpPr>
          <p:nvPr/>
        </p:nvSpPr>
        <p:spPr>
          <a:xfrm xmlns:a="http://schemas.openxmlformats.org/drawingml/2006/main">
            <a:off x="8997696" y="1134548"/>
            <a:ext cx="2587752" cy="1042415"/>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866134D-FCEE-4C41-9D80-037CE574FA56}"/>
              </a:ext>
            </a:extLst>
          </p:cNvPr>
          <p:cNvSpPr>
            <a:spLocks xmlns:a="http://schemas.openxmlformats.org/drawingml/2006/main" noGrp="1"/>
          </p:cNvSpPr>
          <p:nvPr/>
        </p:nvSpPr>
        <p:spPr>
          <a:xfrm xmlns:a="http://schemas.openxmlformats.org/drawingml/2006/main">
            <a:off x="9162288"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xmlns:a="http://schemas.openxmlformats.org/drawingml/2006/main">
              <a:ext uri="{FF2B5EF4-FFF2-40B4-BE49-F238E27FC236}">
                <a16:creationId xmlns:a16="http://schemas.microsoft.com/office/drawing/2014/main" id="{BC64DA88-8BB9-43CD-A70B-6AA5550C15DE}"/>
              </a:ext>
            </a:extLst>
          </p:cNvPr>
          <p:cNvSpPr>
            <a:spLocks xmlns:a="http://schemas.openxmlformats.org/drawingml/2006/main" noGrp="1"/>
          </p:cNvSpPr>
          <p:nvPr/>
        </p:nvSpPr>
        <p:spPr>
          <a:xfrm xmlns:a="http://schemas.openxmlformats.org/drawingml/2006/main">
            <a:off x="9802368" y="1308284"/>
            <a:ext cx="16276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xmlns:a="http://schemas.openxmlformats.org/drawingml/2006/main">
              <a:ext uri="{FF2B5EF4-FFF2-40B4-BE49-F238E27FC236}">
                <a16:creationId xmlns:a16="http://schemas.microsoft.com/office/drawing/2014/main" id="{CBBD629D-ADE0-46F7-A435-73FFBE662FDB}"/>
              </a:ext>
            </a:extLst>
          </p:cNvPr>
          <p:cNvSpPr>
            <a:spLocks xmlns:a="http://schemas.openxmlformats.org/drawingml/2006/main" noGrp="1"/>
          </p:cNvSpPr>
          <p:nvPr/>
        </p:nvSpPr>
        <p:spPr>
          <a:xfrm xmlns:a="http://schemas.openxmlformats.org/drawingml/2006/main">
            <a:off x="9802368" y="1628324"/>
            <a:ext cx="1627632"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xmlns:a="http://schemas.openxmlformats.org/drawingml/2006/main">
              <a:ext uri="{FF2B5EF4-FFF2-40B4-BE49-F238E27FC236}">
                <a16:creationId xmlns:a16="http://schemas.microsoft.com/office/drawing/2014/main" id="{B494B280-69DC-4470-9F05-DC79C8BCD8ED}"/>
              </a:ext>
            </a:extLst>
          </p:cNvPr>
          <p:cNvSpPr>
            <a:spLocks xmlns:a="http://schemas.openxmlformats.org/drawingml/2006/main" noGrp="1"/>
          </p:cNvSpPr>
          <p:nvPr/>
        </p:nvSpPr>
        <p:spPr>
          <a:xfrm xmlns:a="http://schemas.openxmlformats.org/drawingml/2006/main">
            <a:off x="603504" y="2487860"/>
            <a:ext cx="5422392" cy="288950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Rectangle 23">
            <a:extLst xmlns:a="http://schemas.openxmlformats.org/drawingml/2006/main">
              <a:ext uri="{FF2B5EF4-FFF2-40B4-BE49-F238E27FC236}">
                <a16:creationId xmlns:a16="http://schemas.microsoft.com/office/drawing/2014/main" id="{5DA32A0B-167A-47CC-85FD-83F23A6AFD1E}"/>
              </a:ext>
            </a:extLst>
          </p:cNvPr>
          <p:cNvSpPr>
            <a:spLocks xmlns:a="http://schemas.openxmlformats.org/drawingml/2006/main" noGrp="1"/>
          </p:cNvSpPr>
          <p:nvPr/>
        </p:nvSpPr>
        <p:spPr>
          <a:xfrm xmlns:a="http://schemas.openxmlformats.org/drawingml/2006/main">
            <a:off x="877824" y="2771324"/>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04FEA757-4833-4D66-A8E3-ED58955CE4E2}"/>
              </a:ext>
            </a:extLst>
          </p:cNvPr>
          <p:cNvSpPr>
            <a:spLocks xmlns:a="http://schemas.openxmlformats.org/drawingml/2006/main" noGrp="1"/>
          </p:cNvSpPr>
          <p:nvPr/>
        </p:nvSpPr>
        <p:spPr>
          <a:xfrm xmlns:a="http://schemas.openxmlformats.org/drawingml/2006/main">
            <a:off x="1024127" y="2743892"/>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xmlns:a="http://schemas.openxmlformats.org/drawingml/2006/main">
              <a:ext uri="{FF2B5EF4-FFF2-40B4-BE49-F238E27FC236}">
                <a16:creationId xmlns:a16="http://schemas.microsoft.com/office/drawing/2014/main" id="{5B63075E-CC09-4D81-B8B3-08C85EEAA6A9}"/>
              </a:ext>
            </a:extLst>
          </p:cNvPr>
          <p:cNvSpPr>
            <a:spLocks xmlns:a="http://schemas.openxmlformats.org/drawingml/2006/main" noGrp="1"/>
          </p:cNvSpPr>
          <p:nvPr/>
        </p:nvSpPr>
        <p:spPr>
          <a:xfrm xmlns:a="http://schemas.openxmlformats.org/drawingml/2006/main">
            <a:off x="896112" y="3383972"/>
            <a:ext cx="7863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xmlns:a="http://schemas.openxmlformats.org/drawingml/2006/main">
              <a:ext uri="{FF2B5EF4-FFF2-40B4-BE49-F238E27FC236}">
                <a16:creationId xmlns:a16="http://schemas.microsoft.com/office/drawing/2014/main" id="{589BB5D0-CCAD-42B8-9BE6-E9E82F4819E6}"/>
              </a:ext>
            </a:extLst>
          </p:cNvPr>
          <p:cNvSpPr>
            <a:spLocks xmlns:a="http://schemas.openxmlformats.org/drawingml/2006/main" noGrp="1"/>
          </p:cNvSpPr>
          <p:nvPr/>
        </p:nvSpPr>
        <p:spPr>
          <a:xfrm xmlns:a="http://schemas.openxmlformats.org/drawingml/2006/main">
            <a:off x="896112" y="4005763"/>
            <a:ext cx="7863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xmlns:a="http://schemas.openxmlformats.org/drawingml/2006/main">
              <a:ext uri="{FF2B5EF4-FFF2-40B4-BE49-F238E27FC236}">
                <a16:creationId xmlns:a16="http://schemas.microsoft.com/office/drawing/2014/main" id="{BA674D85-7891-4E55-BFD8-0A44638823AE}"/>
              </a:ext>
            </a:extLst>
          </p:cNvPr>
          <p:cNvSpPr>
            <a:spLocks xmlns:a="http://schemas.openxmlformats.org/drawingml/2006/main" noGrp="1"/>
          </p:cNvSpPr>
          <p:nvPr/>
        </p:nvSpPr>
        <p:spPr>
          <a:xfrm xmlns:a="http://schemas.openxmlformats.org/drawingml/2006/main">
            <a:off x="17007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F03F4139-214F-4285-9BA1-A595E003B025}"/>
              </a:ext>
            </a:extLst>
          </p:cNvPr>
          <p:cNvSpPr>
            <a:spLocks xmlns:a="http://schemas.openxmlformats.org/drawingml/2006/main" noGrp="1"/>
          </p:cNvSpPr>
          <p:nvPr/>
        </p:nvSpPr>
        <p:spPr>
          <a:xfrm xmlns:a="http://schemas.openxmlformats.org/drawingml/2006/main">
            <a:off x="17739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xmlns:a="http://schemas.openxmlformats.org/drawingml/2006/main">
              <a:ext uri="{FF2B5EF4-FFF2-40B4-BE49-F238E27FC236}">
                <a16:creationId xmlns:a16="http://schemas.microsoft.com/office/drawing/2014/main" id="{002F3515-4D2F-4F16-BF98-13BD06D63850}"/>
              </a:ext>
            </a:extLst>
          </p:cNvPr>
          <p:cNvSpPr>
            <a:spLocks xmlns:a="http://schemas.openxmlformats.org/drawingml/2006/main" noGrp="1"/>
          </p:cNvSpPr>
          <p:nvPr/>
        </p:nvSpPr>
        <p:spPr>
          <a:xfrm xmlns:a="http://schemas.openxmlformats.org/drawingml/2006/main">
            <a:off x="17007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1C36D793-3530-42C0-8140-1E7A28CF30C4}"/>
              </a:ext>
            </a:extLst>
          </p:cNvPr>
          <p:cNvSpPr>
            <a:spLocks xmlns:a="http://schemas.openxmlformats.org/drawingml/2006/main" noGrp="1"/>
          </p:cNvSpPr>
          <p:nvPr/>
        </p:nvSpPr>
        <p:spPr>
          <a:xfrm xmlns:a="http://schemas.openxmlformats.org/drawingml/2006/main">
            <a:off x="17739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xmlns:a="http://schemas.openxmlformats.org/drawingml/2006/main">
              <a:ext uri="{FF2B5EF4-FFF2-40B4-BE49-F238E27FC236}">
                <a16:creationId xmlns:a16="http://schemas.microsoft.com/office/drawing/2014/main" id="{9C1A7CE5-E1A6-40B0-B8BD-4266BF069827}"/>
              </a:ext>
            </a:extLst>
          </p:cNvPr>
          <p:cNvSpPr>
            <a:spLocks xmlns:a="http://schemas.openxmlformats.org/drawingml/2006/main" noGrp="1"/>
          </p:cNvSpPr>
          <p:nvPr/>
        </p:nvSpPr>
        <p:spPr>
          <a:xfrm xmlns:a="http://schemas.openxmlformats.org/drawingml/2006/main">
            <a:off x="30723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4925B471-BF86-42D8-8276-2FF6DDDDBB18}"/>
              </a:ext>
            </a:extLst>
          </p:cNvPr>
          <p:cNvSpPr>
            <a:spLocks xmlns:a="http://schemas.openxmlformats.org/drawingml/2006/main" noGrp="1"/>
          </p:cNvSpPr>
          <p:nvPr/>
        </p:nvSpPr>
        <p:spPr>
          <a:xfrm xmlns:a="http://schemas.openxmlformats.org/drawingml/2006/main">
            <a:off x="31455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xmlns:a="http://schemas.openxmlformats.org/drawingml/2006/main">
              <a:ext uri="{FF2B5EF4-FFF2-40B4-BE49-F238E27FC236}">
                <a16:creationId xmlns:a16="http://schemas.microsoft.com/office/drawing/2014/main" id="{F2142C82-5F53-493A-BE90-4BA2F922B9AD}"/>
              </a:ext>
            </a:extLst>
          </p:cNvPr>
          <p:cNvSpPr>
            <a:spLocks xmlns:a="http://schemas.openxmlformats.org/drawingml/2006/main" noGrp="1"/>
          </p:cNvSpPr>
          <p:nvPr/>
        </p:nvSpPr>
        <p:spPr>
          <a:xfrm xmlns:a="http://schemas.openxmlformats.org/drawingml/2006/main">
            <a:off x="30723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E990F137-911D-407D-95C3-9DCF01FCABAB}"/>
              </a:ext>
            </a:extLst>
          </p:cNvPr>
          <p:cNvSpPr>
            <a:spLocks xmlns:a="http://schemas.openxmlformats.org/drawingml/2006/main" noGrp="1"/>
          </p:cNvSpPr>
          <p:nvPr/>
        </p:nvSpPr>
        <p:spPr>
          <a:xfrm xmlns:a="http://schemas.openxmlformats.org/drawingml/2006/main">
            <a:off x="31455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xmlns:a="http://schemas.openxmlformats.org/drawingml/2006/main">
              <a:ext uri="{FF2B5EF4-FFF2-40B4-BE49-F238E27FC236}">
                <a16:creationId xmlns:a16="http://schemas.microsoft.com/office/drawing/2014/main" id="{6DC4B910-710E-4996-8C48-6BD291CECE0A}"/>
              </a:ext>
            </a:extLst>
          </p:cNvPr>
          <p:cNvSpPr>
            <a:spLocks xmlns:a="http://schemas.openxmlformats.org/drawingml/2006/main" noGrp="1"/>
          </p:cNvSpPr>
          <p:nvPr/>
        </p:nvSpPr>
        <p:spPr>
          <a:xfrm xmlns:a="http://schemas.openxmlformats.org/drawingml/2006/main">
            <a:off x="44439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56E00175-9B35-4406-AF53-796D05AAF164}"/>
              </a:ext>
            </a:extLst>
          </p:cNvPr>
          <p:cNvSpPr>
            <a:spLocks xmlns:a="http://schemas.openxmlformats.org/drawingml/2006/main" noGrp="1"/>
          </p:cNvSpPr>
          <p:nvPr/>
        </p:nvSpPr>
        <p:spPr>
          <a:xfrm xmlns:a="http://schemas.openxmlformats.org/drawingml/2006/main">
            <a:off x="45171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xmlns:a="http://schemas.openxmlformats.org/drawingml/2006/main">
              <a:ext uri="{FF2B5EF4-FFF2-40B4-BE49-F238E27FC236}">
                <a16:creationId xmlns:a16="http://schemas.microsoft.com/office/drawing/2014/main" id="{325485EA-C4E4-4B5A-B1CA-7462544B97C6}"/>
              </a:ext>
            </a:extLst>
          </p:cNvPr>
          <p:cNvSpPr>
            <a:spLocks xmlns:a="http://schemas.openxmlformats.org/drawingml/2006/main" noGrp="1"/>
          </p:cNvSpPr>
          <p:nvPr/>
        </p:nvSpPr>
        <p:spPr>
          <a:xfrm xmlns:a="http://schemas.openxmlformats.org/drawingml/2006/main">
            <a:off x="44439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F714AAAA-B4A9-43AD-A0E4-351E14DE3F41}"/>
              </a:ext>
            </a:extLst>
          </p:cNvPr>
          <p:cNvSpPr>
            <a:spLocks xmlns:a="http://schemas.openxmlformats.org/drawingml/2006/main" noGrp="1"/>
          </p:cNvSpPr>
          <p:nvPr/>
        </p:nvSpPr>
        <p:spPr>
          <a:xfrm xmlns:a="http://schemas.openxmlformats.org/drawingml/2006/main">
            <a:off x="45171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xmlns:a="http://schemas.openxmlformats.org/drawingml/2006/main">
              <a:ext uri="{FF2B5EF4-FFF2-40B4-BE49-F238E27FC236}">
                <a16:creationId xmlns:a16="http://schemas.microsoft.com/office/drawing/2014/main" id="{13C3DEEE-8B63-4F17-949B-EE21B1731C09}"/>
              </a:ext>
            </a:extLst>
          </p:cNvPr>
          <p:cNvSpPr>
            <a:spLocks xmlns:a="http://schemas.openxmlformats.org/drawingml/2006/main" noGrp="1"/>
          </p:cNvSpPr>
          <p:nvPr/>
        </p:nvSpPr>
        <p:spPr>
          <a:xfrm xmlns:a="http://schemas.openxmlformats.org/drawingml/2006/main">
            <a:off x="896112" y="4664132"/>
            <a:ext cx="4809744"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xmlns:a="http://schemas.openxmlformats.org/drawingml/2006/main">
              <a:ext uri="{FF2B5EF4-FFF2-40B4-BE49-F238E27FC236}">
                <a16:creationId xmlns:a16="http://schemas.microsoft.com/office/drawing/2014/main" id="{6A6C5A5F-CCF6-4E84-841D-077E84133767}"/>
              </a:ext>
            </a:extLst>
          </p:cNvPr>
          <p:cNvSpPr>
            <a:spLocks xmlns:a="http://schemas.openxmlformats.org/drawingml/2006/main" noGrp="1"/>
          </p:cNvSpPr>
          <p:nvPr/>
        </p:nvSpPr>
        <p:spPr>
          <a:xfrm xmlns:a="http://schemas.openxmlformats.org/drawingml/2006/main">
            <a:off x="6172200" y="2487860"/>
            <a:ext cx="5413248" cy="288950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Rectangle 41">
            <a:extLst xmlns:a="http://schemas.openxmlformats.org/drawingml/2006/main">
              <a:ext uri="{FF2B5EF4-FFF2-40B4-BE49-F238E27FC236}">
                <a16:creationId xmlns:a16="http://schemas.microsoft.com/office/drawing/2014/main" id="{F7604787-0199-47D3-9DFF-47AEBCB849D0}"/>
              </a:ext>
            </a:extLst>
          </p:cNvPr>
          <p:cNvSpPr>
            <a:spLocks xmlns:a="http://schemas.openxmlformats.org/drawingml/2006/main" noGrp="1"/>
          </p:cNvSpPr>
          <p:nvPr/>
        </p:nvSpPr>
        <p:spPr>
          <a:xfrm xmlns:a="http://schemas.openxmlformats.org/drawingml/2006/main">
            <a:off x="6446520" y="2771324"/>
            <a:ext cx="64008" cy="283464"/>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3484896B-2FE2-4D4C-8BAF-A6753F03A45A}"/>
              </a:ext>
            </a:extLst>
          </p:cNvPr>
          <p:cNvSpPr>
            <a:spLocks xmlns:a="http://schemas.openxmlformats.org/drawingml/2006/main" noGrp="1"/>
          </p:cNvSpPr>
          <p:nvPr/>
        </p:nvSpPr>
        <p:spPr>
          <a:xfrm xmlns:a="http://schemas.openxmlformats.org/drawingml/2006/main">
            <a:off x="6592824" y="2743892"/>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xmlns:a="http://schemas.openxmlformats.org/drawingml/2006/main">
              <a:ext uri="{FF2B5EF4-FFF2-40B4-BE49-F238E27FC236}">
                <a16:creationId xmlns:a16="http://schemas.microsoft.com/office/drawing/2014/main" id="{06CA765D-3399-4D97-A3AC-C2D9311C7292}"/>
              </a:ext>
            </a:extLst>
          </p:cNvPr>
          <p:cNvSpPr>
            <a:spLocks xmlns:a="http://schemas.openxmlformats.org/drawingml/2006/main" noGrp="1"/>
          </p:cNvSpPr>
          <p:nvPr/>
        </p:nvSpPr>
        <p:spPr>
          <a:xfrm xmlns:a="http://schemas.openxmlformats.org/drawingml/2006/main">
            <a:off x="6446520" y="323766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17D76026-8450-4E92-AE17-B1A278E1E126}"/>
              </a:ext>
            </a:extLst>
          </p:cNvPr>
          <p:cNvSpPr>
            <a:spLocks xmlns:a="http://schemas.openxmlformats.org/drawingml/2006/main" noGrp="1"/>
          </p:cNvSpPr>
          <p:nvPr/>
        </p:nvSpPr>
        <p:spPr>
          <a:xfrm xmlns:a="http://schemas.openxmlformats.org/drawingml/2006/main">
            <a:off x="6556248" y="333825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xmlns:a="http://schemas.openxmlformats.org/drawingml/2006/main">
              <a:ext uri="{FF2B5EF4-FFF2-40B4-BE49-F238E27FC236}">
                <a16:creationId xmlns:a16="http://schemas.microsoft.com/office/drawing/2014/main" id="{4435C50D-673E-4420-9054-2BF44683ADBF}"/>
              </a:ext>
            </a:extLst>
          </p:cNvPr>
          <p:cNvSpPr>
            <a:spLocks xmlns:a="http://schemas.openxmlformats.org/drawingml/2006/main" noGrp="1"/>
          </p:cNvSpPr>
          <p:nvPr/>
        </p:nvSpPr>
        <p:spPr>
          <a:xfrm xmlns:a="http://schemas.openxmlformats.org/drawingml/2006/main">
            <a:off x="6446520" y="374058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7CA50A34-12D6-4C4C-B402-E572FD4A1AE9}"/>
              </a:ext>
            </a:extLst>
          </p:cNvPr>
          <p:cNvSpPr>
            <a:spLocks xmlns:a="http://schemas.openxmlformats.org/drawingml/2006/main" noGrp="1"/>
          </p:cNvSpPr>
          <p:nvPr/>
        </p:nvSpPr>
        <p:spPr>
          <a:xfrm xmlns:a="http://schemas.openxmlformats.org/drawingml/2006/main">
            <a:off x="6556248" y="384117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xmlns:a="http://schemas.openxmlformats.org/drawingml/2006/main">
              <a:ext uri="{FF2B5EF4-FFF2-40B4-BE49-F238E27FC236}">
                <a16:creationId xmlns:a16="http://schemas.microsoft.com/office/drawing/2014/main" id="{6922206C-048C-41CD-9AD0-934269F4B68C}"/>
              </a:ext>
            </a:extLst>
          </p:cNvPr>
          <p:cNvSpPr>
            <a:spLocks xmlns:a="http://schemas.openxmlformats.org/drawingml/2006/main" noGrp="1"/>
          </p:cNvSpPr>
          <p:nvPr/>
        </p:nvSpPr>
        <p:spPr>
          <a:xfrm xmlns:a="http://schemas.openxmlformats.org/drawingml/2006/main">
            <a:off x="6446520" y="424350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22B6329A-8794-4F20-AE32-4E22A22ADBE6}"/>
              </a:ext>
            </a:extLst>
          </p:cNvPr>
          <p:cNvSpPr>
            <a:spLocks xmlns:a="http://schemas.openxmlformats.org/drawingml/2006/main" noGrp="1"/>
          </p:cNvSpPr>
          <p:nvPr/>
        </p:nvSpPr>
        <p:spPr>
          <a:xfrm xmlns:a="http://schemas.openxmlformats.org/drawingml/2006/main">
            <a:off x="6556248" y="434409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xmlns:a="http://schemas.openxmlformats.org/drawingml/2006/main">
              <a:ext uri="{FF2B5EF4-FFF2-40B4-BE49-F238E27FC236}">
                <a16:creationId xmlns:a16="http://schemas.microsoft.com/office/drawing/2014/main" id="{4E37577C-AAD9-4458-8BE2-0DB0FAE4F33A}"/>
              </a:ext>
            </a:extLst>
          </p:cNvPr>
          <p:cNvSpPr>
            <a:spLocks xmlns:a="http://schemas.openxmlformats.org/drawingml/2006/main" noGrp="1"/>
          </p:cNvSpPr>
          <p:nvPr/>
        </p:nvSpPr>
        <p:spPr>
          <a:xfrm xmlns:a="http://schemas.openxmlformats.org/drawingml/2006/main">
            <a:off x="6446520" y="474642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19ECF647-C4C2-4EBE-B7D9-117AB20695EF}"/>
              </a:ext>
            </a:extLst>
          </p:cNvPr>
          <p:cNvSpPr>
            <a:spLocks xmlns:a="http://schemas.openxmlformats.org/drawingml/2006/main" noGrp="1"/>
          </p:cNvSpPr>
          <p:nvPr/>
        </p:nvSpPr>
        <p:spPr>
          <a:xfrm xmlns:a="http://schemas.openxmlformats.org/drawingml/2006/main">
            <a:off x="6556248" y="484701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xmlns:a="http://schemas.openxmlformats.org/drawingml/2006/main">
              <a:ext uri="{FF2B5EF4-FFF2-40B4-BE49-F238E27FC236}">
                <a16:creationId xmlns:a16="http://schemas.microsoft.com/office/drawing/2014/main" id="{99C1AC61-AA6A-4A31-A36B-4D2604F2BF3A}"/>
              </a:ext>
            </a:extLst>
          </p:cNvPr>
          <p:cNvSpPr>
            <a:spLocks xmlns:a="http://schemas.openxmlformats.org/drawingml/2006/main" noGrp="1"/>
          </p:cNvSpPr>
          <p:nvPr/>
        </p:nvSpPr>
        <p:spPr>
          <a:xfrm xmlns:a="http://schemas.openxmlformats.org/drawingml/2006/main">
            <a:off x="8979408" y="323766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8EBFD78F-6A4C-42A4-8988-EBA51CF70B33}"/>
              </a:ext>
            </a:extLst>
          </p:cNvPr>
          <p:cNvSpPr>
            <a:spLocks xmlns:a="http://schemas.openxmlformats.org/drawingml/2006/main" noGrp="1"/>
          </p:cNvSpPr>
          <p:nvPr/>
        </p:nvSpPr>
        <p:spPr>
          <a:xfrm xmlns:a="http://schemas.openxmlformats.org/drawingml/2006/main">
            <a:off x="9089136" y="333825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xmlns:a="http://schemas.openxmlformats.org/drawingml/2006/main">
              <a:ext uri="{FF2B5EF4-FFF2-40B4-BE49-F238E27FC236}">
                <a16:creationId xmlns:a16="http://schemas.microsoft.com/office/drawing/2014/main" id="{5AA63555-0C23-471F-BCAA-992D3B431350}"/>
              </a:ext>
            </a:extLst>
          </p:cNvPr>
          <p:cNvSpPr>
            <a:spLocks xmlns:a="http://schemas.openxmlformats.org/drawingml/2006/main" noGrp="1"/>
          </p:cNvSpPr>
          <p:nvPr/>
        </p:nvSpPr>
        <p:spPr>
          <a:xfrm xmlns:a="http://schemas.openxmlformats.org/drawingml/2006/main">
            <a:off x="8979408" y="374058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B4A771FC-E47D-4201-8C0A-FACABB49166E}"/>
              </a:ext>
            </a:extLst>
          </p:cNvPr>
          <p:cNvSpPr>
            <a:spLocks xmlns:a="http://schemas.openxmlformats.org/drawingml/2006/main" noGrp="1"/>
          </p:cNvSpPr>
          <p:nvPr/>
        </p:nvSpPr>
        <p:spPr>
          <a:xfrm xmlns:a="http://schemas.openxmlformats.org/drawingml/2006/main">
            <a:off x="9089136" y="384117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xmlns:a="http://schemas.openxmlformats.org/drawingml/2006/main">
              <a:ext uri="{FF2B5EF4-FFF2-40B4-BE49-F238E27FC236}">
                <a16:creationId xmlns:a16="http://schemas.microsoft.com/office/drawing/2014/main" id="{8FC98E53-B787-4823-B69B-8F788A089A85}"/>
              </a:ext>
            </a:extLst>
          </p:cNvPr>
          <p:cNvSpPr>
            <a:spLocks xmlns:a="http://schemas.openxmlformats.org/drawingml/2006/main" noGrp="1"/>
          </p:cNvSpPr>
          <p:nvPr/>
        </p:nvSpPr>
        <p:spPr>
          <a:xfrm xmlns:a="http://schemas.openxmlformats.org/drawingml/2006/main">
            <a:off x="8979408" y="424350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TextBox 56">
            <a:extLst xmlns:a="http://schemas.openxmlformats.org/drawingml/2006/main">
              <a:ext uri="{FF2B5EF4-FFF2-40B4-BE49-F238E27FC236}">
                <a16:creationId xmlns:a16="http://schemas.microsoft.com/office/drawing/2014/main" id="{735B5593-297E-4656-A489-677258F64C1F}"/>
              </a:ext>
            </a:extLst>
          </p:cNvPr>
          <p:cNvSpPr>
            <a:spLocks xmlns:a="http://schemas.openxmlformats.org/drawingml/2006/main" noGrp="1"/>
          </p:cNvSpPr>
          <p:nvPr/>
        </p:nvSpPr>
        <p:spPr>
          <a:xfrm xmlns:a="http://schemas.openxmlformats.org/drawingml/2006/main">
            <a:off x="9089136" y="434409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xmlns:a="http://schemas.openxmlformats.org/drawingml/2006/main">
              <a:ext uri="{FF2B5EF4-FFF2-40B4-BE49-F238E27FC236}">
                <a16:creationId xmlns:a16="http://schemas.microsoft.com/office/drawing/2014/main" id="{031661F2-BBCE-4BEA-8C61-B69A1AFDD975}"/>
              </a:ext>
            </a:extLst>
          </p:cNvPr>
          <p:cNvSpPr>
            <a:spLocks xmlns:a="http://schemas.openxmlformats.org/drawingml/2006/main" noGrp="1"/>
          </p:cNvSpPr>
          <p:nvPr/>
        </p:nvSpPr>
        <p:spPr>
          <a:xfrm xmlns:a="http://schemas.openxmlformats.org/drawingml/2006/main">
            <a:off x="603504" y="5493303"/>
            <a:ext cx="10981944" cy="60350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TextBox 58">
            <a:extLst xmlns:a="http://schemas.openxmlformats.org/drawingml/2006/main">
              <a:ext uri="{FF2B5EF4-FFF2-40B4-BE49-F238E27FC236}">
                <a16:creationId xmlns:a16="http://schemas.microsoft.com/office/drawing/2014/main" id="{9EAEE7F6-4272-41C2-9E39-4B7A20B11B59}"/>
              </a:ext>
            </a:extLst>
          </p:cNvPr>
          <p:cNvSpPr>
            <a:spLocks xmlns:a="http://schemas.openxmlformats.org/drawingml/2006/main" noGrp="1"/>
          </p:cNvSpPr>
          <p:nvPr/>
        </p:nvSpPr>
        <p:spPr>
          <a:xfrm xmlns:a="http://schemas.openxmlformats.org/drawingml/2006/main">
            <a:off x="859536" y="5657895"/>
            <a:ext cx="129844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xmlns:a="http://schemas.openxmlformats.org/drawingml/2006/main">
              <a:ext uri="{FF2B5EF4-FFF2-40B4-BE49-F238E27FC236}">
                <a16:creationId xmlns:a16="http://schemas.microsoft.com/office/drawing/2014/main" id="{B4F93260-CACC-42D8-A296-C2812E9E1907}"/>
              </a:ext>
            </a:extLst>
          </p:cNvPr>
          <p:cNvSpPr>
            <a:spLocks xmlns:a="http://schemas.openxmlformats.org/drawingml/2006/main" noGrp="1"/>
          </p:cNvSpPr>
          <p:nvPr/>
        </p:nvSpPr>
        <p:spPr>
          <a:xfrm xmlns:a="http://schemas.openxmlformats.org/drawingml/2006/main">
            <a:off x="2139696" y="5612175"/>
            <a:ext cx="3072384"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xmlns:a="http://schemas.openxmlformats.org/drawingml/2006/main">
              <a:ext uri="{FF2B5EF4-FFF2-40B4-BE49-F238E27FC236}">
                <a16:creationId xmlns:a16="http://schemas.microsoft.com/office/drawing/2014/main" id="{802138E5-FD06-4CDD-944B-42FE9F7A853E}"/>
              </a:ext>
            </a:extLst>
          </p:cNvPr>
          <p:cNvSpPr>
            <a:spLocks xmlns:a="http://schemas.openxmlformats.org/drawingml/2006/main" noGrp="1"/>
          </p:cNvSpPr>
          <p:nvPr/>
        </p:nvSpPr>
        <p:spPr>
          <a:xfrm xmlns:a="http://schemas.openxmlformats.org/drawingml/2006/main">
            <a:off x="5157216" y="5621319"/>
            <a:ext cx="61447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calls and returned drivers.</a:t>
            </a:r>
          </a:p>
        </p:txBody>
      </p:sp>
      <p:sp>
        <p:nvSpPr>
          <p:cNvPr id="62" name="TextBox 61">
            <a:extLst xmlns:a="http://schemas.openxmlformats.org/drawingml/2006/main">
              <a:ext uri="{FF2B5EF4-FFF2-40B4-BE49-F238E27FC236}">
                <a16:creationId xmlns:a16="http://schemas.microsoft.com/office/drawing/2014/main" id="{A7CB8CE8-B4BA-4BDE-9C49-8FAB5177F6A8}"/>
              </a:ext>
            </a:extLst>
          </p:cNvPr>
          <p:cNvSpPr>
            <a:spLocks xmlns:a="http://schemas.openxmlformats.org/drawingml/2006/main" noGrp="1"/>
          </p:cNvSpPr>
          <p:nvPr/>
        </p:nvSpPr>
        <p:spPr>
          <a:xfrm xmlns:a="http://schemas.openxmlformats.org/drawingml/2006/main">
            <a:off x="603504" y="2231828"/>
            <a:ext cx="10981944"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1" i="0">
                <a:solidFill>
                  <a:srgbClr val="9E3A00"/>
                </a:solidFill>
                <a:latin typeface="Arial"/>
                <a:ea typeface="Arial"/>
                <a:cs typeface="Arial"/>
              </a:rPr>
              <a:t>Key-driver genes are ranked separately within each category.</a:t>
            </a:r>
          </a:p>
        </p:txBody>
      </p:sp>
      <p:sp>
        <p:nvSpPr>
          <p:cNvPr id="63" name="Rounded Rectangle 62">
            <a:extLst xmlns:a="http://schemas.openxmlformats.org/drawingml/2006/main">
              <a:ext uri="{FF2B5EF4-FFF2-40B4-BE49-F238E27FC236}">
                <a16:creationId xmlns:a16="http://schemas.microsoft.com/office/drawing/2014/main" id="{B83C867B-6719-61CC-B78E-6D222519F57E}"/>
              </a:ext>
            </a:extLst>
          </p:cNvPr>
          <p:cNvSpPr>
            <a:spLocks xmlns:a="http://schemas.openxmlformats.org/drawingml/2006/main" noGrp="1"/>
          </p:cNvSpPr>
          <p:nvPr/>
        </p:nvSpPr>
        <p:spPr>
          <a:xfrm xmlns:a="http://schemas.openxmlformats.org/drawingml/2006/main">
            <a:off x="603504" y="6217231"/>
            <a:ext cx="10981944"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4" name="TextBox 63">
            <a:extLst xmlns:a="http://schemas.openxmlformats.org/drawingml/2006/main">
              <a:ext uri="{FF2B5EF4-FFF2-40B4-BE49-F238E27FC236}">
                <a16:creationId xmlns:a16="http://schemas.microsoft.com/office/drawing/2014/main" id="{C194CD37-5809-AAED-3984-64508649098C}"/>
              </a:ext>
            </a:extLst>
          </p:cNvPr>
          <p:cNvSpPr>
            <a:spLocks xmlns:a="http://schemas.openxmlformats.org/drawingml/2006/main" noGrp="1"/>
          </p:cNvSpPr>
          <p:nvPr/>
        </p:nvSpPr>
        <p:spPr>
          <a:xfrm xmlns:a="http://schemas.openxmlformats.org/drawingml/2006/main">
            <a:off x="822960" y="6336103"/>
            <a:ext cx="1053388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returned values are combined by equal-weight, returned-only ACAT.</a:t>
            </a:r>
          </a:p>
        </p:txBody>
      </p:sp>
    </p:spTree>
    <p:extLst>
      <p:ext uri="{BB962C8B-B14F-4D97-AF65-F5344CB8AC3E}">
        <p14:creationId xmlns:p14="http://schemas.microsoft.com/office/powerpoint/2010/main" val="489644293"/>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DD221FFC-B8D1-496E-A536-22D57CBEFE4E}"/>
              </a:ext>
            </a:extLst>
          </p:cNvPr>
          <p:cNvSpPr>
            <a:spLocks xmlns:a="http://schemas.openxmlformats.org/drawingml/2006/main" noGrp="1"/>
          </p:cNvSpPr>
          <p:nvPr/>
        </p:nvSpPr>
        <p:spPr>
          <a:xfrm xmlns:a="http://schemas.openxmlformats.org/drawingml/2006/main">
            <a:off x="530352" y="411480"/>
            <a:ext cx="10652760" cy="43242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Four steps: run DEG per contrast, one KDA query per contrast</a:t>
            </a:r>
          </a:p>
        </p:txBody>
      </p:sp>
      <p:sp>
        <p:nvSpPr>
          <p:cNvPr id="5" name="Rounded Rectangle 4">
            <a:extLst xmlns:a="http://schemas.openxmlformats.org/drawingml/2006/main">
              <a:ext uri="{FF2B5EF4-FFF2-40B4-BE49-F238E27FC236}">
                <a16:creationId xmlns:a16="http://schemas.microsoft.com/office/drawing/2014/main" id="{46E88943-8734-4E23-A8AF-1BFDF11E7331}"/>
              </a:ext>
            </a:extLst>
          </p:cNvPr>
          <p:cNvSpPr>
            <a:spLocks xmlns:a="http://schemas.openxmlformats.org/drawingml/2006/main" noGrp="1"/>
          </p:cNvSpPr>
          <p:nvPr/>
        </p:nvSpPr>
        <p:spPr>
          <a:xfrm xmlns:a="http://schemas.openxmlformats.org/drawingml/2006/main">
            <a:off x="603504" y="1371600"/>
            <a:ext cx="2587752" cy="4233672"/>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289406B0-EF9A-4E79-B36A-4427A6153B61}"/>
              </a:ext>
            </a:extLst>
          </p:cNvPr>
          <p:cNvSpPr>
            <a:spLocks xmlns:a="http://schemas.openxmlformats.org/drawingml/2006/main" noGrp="1"/>
          </p:cNvSpPr>
          <p:nvPr/>
        </p:nvSpPr>
        <p:spPr>
          <a:xfrm xmlns:a="http://schemas.openxmlformats.org/drawingml/2006/main">
            <a:off x="804672" y="1627632"/>
            <a:ext cx="438912" cy="438912"/>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F1C6F10-E5E1-4BB4-A387-04C150B20AA8}"/>
              </a:ext>
            </a:extLst>
          </p:cNvPr>
          <p:cNvSpPr>
            <a:spLocks xmlns:a="http://schemas.openxmlformats.org/drawingml/2006/main" noGrp="1"/>
          </p:cNvSpPr>
          <p:nvPr/>
        </p:nvSpPr>
        <p:spPr>
          <a:xfrm xmlns:a="http://schemas.openxmlformats.org/drawingml/2006/main">
            <a:off x="804672" y="1719072"/>
            <a:ext cx="438912"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xmlns:a="http://schemas.openxmlformats.org/drawingml/2006/main">
              <a:ext uri="{FF2B5EF4-FFF2-40B4-BE49-F238E27FC236}">
                <a16:creationId xmlns:a16="http://schemas.microsoft.com/office/drawing/2014/main" id="{F22D91EF-D9BC-409A-9ACA-8738658F8584}"/>
              </a:ext>
            </a:extLst>
          </p:cNvPr>
          <p:cNvSpPr>
            <a:spLocks xmlns:a="http://schemas.openxmlformats.org/drawingml/2006/main" noGrp="1"/>
          </p:cNvSpPr>
          <p:nvPr/>
        </p:nvSpPr>
        <p:spPr>
          <a:xfrm xmlns:a="http://schemas.openxmlformats.org/drawingml/2006/main">
            <a:off x="804672" y="2267712"/>
            <a:ext cx="2157984"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xmlns:a="http://schemas.openxmlformats.org/drawingml/2006/main">
              <a:ext uri="{FF2B5EF4-FFF2-40B4-BE49-F238E27FC236}">
                <a16:creationId xmlns:a16="http://schemas.microsoft.com/office/drawing/2014/main" id="{60C194DE-54EB-476E-8EDE-572C60849D23}"/>
              </a:ext>
            </a:extLst>
          </p:cNvPr>
          <p:cNvSpPr>
            <a:spLocks xmlns:a="http://schemas.openxmlformats.org/drawingml/2006/main" noGrp="1"/>
          </p:cNvSpPr>
          <p:nvPr/>
        </p:nvSpPr>
        <p:spPr>
          <a:xfrm xmlns:a="http://schemas.openxmlformats.org/drawingml/2006/main">
            <a:off x="804672" y="3017520"/>
            <a:ext cx="2157984"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xmlns:a="http://schemas.openxmlformats.org/drawingml/2006/main">
              <a:ext uri="{FF2B5EF4-FFF2-40B4-BE49-F238E27FC236}">
                <a16:creationId xmlns:a16="http://schemas.microsoft.com/office/drawing/2014/main" id="{6146D296-CE83-45BB-AD0D-3A7A6C16FE5F}"/>
              </a:ext>
            </a:extLst>
          </p:cNvPr>
          <p:cNvSpPr>
            <a:spLocks xmlns:a="http://schemas.openxmlformats.org/drawingml/2006/main" noGrp="1"/>
          </p:cNvSpPr>
          <p:nvPr/>
        </p:nvSpPr>
        <p:spPr>
          <a:xfrm xmlns:a="http://schemas.openxmlformats.org/drawingml/2006/main">
            <a:off x="786384" y="3840480"/>
            <a:ext cx="2194560" cy="1097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6A2FDC54-9072-421A-B955-DD62AE6235F9}"/>
              </a:ext>
            </a:extLst>
          </p:cNvPr>
          <p:cNvSpPr>
            <a:spLocks xmlns:a="http://schemas.openxmlformats.org/drawingml/2006/main" noGrp="1"/>
          </p:cNvSpPr>
          <p:nvPr/>
        </p:nvSpPr>
        <p:spPr>
          <a:xfrm xmlns:a="http://schemas.openxmlformats.org/drawingml/2006/main">
            <a:off x="932688" y="4192099"/>
            <a:ext cx="1901952" cy="4031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xmlns:a="http://schemas.openxmlformats.org/drawingml/2006/main">
              <a:ext uri="{FF2B5EF4-FFF2-40B4-BE49-F238E27FC236}">
                <a16:creationId xmlns:a16="http://schemas.microsoft.com/office/drawing/2014/main" id="{3D6A8284-7A31-4380-B904-A0B59015231A}"/>
              </a:ext>
            </a:extLst>
          </p:cNvPr>
          <p:cNvSpPr>
            <a:spLocks xmlns:a="http://schemas.openxmlformats.org/drawingml/2006/main" noGrp="1"/>
          </p:cNvSpPr>
          <p:nvPr/>
        </p:nvSpPr>
        <p:spPr>
          <a:xfrm xmlns:a="http://schemas.openxmlformats.org/drawingml/2006/main">
            <a:off x="3438144" y="1371600"/>
            <a:ext cx="2587752" cy="423367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Oval 12">
            <a:extLst xmlns:a="http://schemas.openxmlformats.org/drawingml/2006/main">
              <a:ext uri="{FF2B5EF4-FFF2-40B4-BE49-F238E27FC236}">
                <a16:creationId xmlns:a16="http://schemas.microsoft.com/office/drawing/2014/main" id="{1B9491F2-A95B-404C-9125-3CAAEE2F4998}"/>
              </a:ext>
            </a:extLst>
          </p:cNvPr>
          <p:cNvSpPr>
            <a:spLocks xmlns:a="http://schemas.openxmlformats.org/drawingml/2006/main" noGrp="1"/>
          </p:cNvSpPr>
          <p:nvPr/>
        </p:nvSpPr>
        <p:spPr>
          <a:xfrm xmlns:a="http://schemas.openxmlformats.org/drawingml/2006/main">
            <a:off x="3639312" y="1627632"/>
            <a:ext cx="438912" cy="438912"/>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22387C4-7931-4CE7-BDE7-F35D8D087AE8}"/>
              </a:ext>
            </a:extLst>
          </p:cNvPr>
          <p:cNvSpPr>
            <a:spLocks xmlns:a="http://schemas.openxmlformats.org/drawingml/2006/main" noGrp="1"/>
          </p:cNvSpPr>
          <p:nvPr/>
        </p:nvSpPr>
        <p:spPr>
          <a:xfrm xmlns:a="http://schemas.openxmlformats.org/drawingml/2006/main">
            <a:off x="3639312" y="1719072"/>
            <a:ext cx="438912"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xmlns:a="http://schemas.openxmlformats.org/drawingml/2006/main">
              <a:ext uri="{FF2B5EF4-FFF2-40B4-BE49-F238E27FC236}">
                <a16:creationId xmlns:a16="http://schemas.microsoft.com/office/drawing/2014/main" id="{F0443E6F-1577-4127-9A0B-40BE604BD958}"/>
              </a:ext>
            </a:extLst>
          </p:cNvPr>
          <p:cNvSpPr>
            <a:spLocks xmlns:a="http://schemas.openxmlformats.org/drawingml/2006/main" noGrp="1"/>
          </p:cNvSpPr>
          <p:nvPr/>
        </p:nvSpPr>
        <p:spPr>
          <a:xfrm xmlns:a="http://schemas.openxmlformats.org/drawingml/2006/main">
            <a:off x="3639312" y="2267712"/>
            <a:ext cx="2157984"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900" b="1" i="0">
                <a:solidFill>
                  <a:srgbClr val="0F233D"/>
                </a:solidFill>
                <a:latin typeface="Arial"/>
                <a:ea typeface="Arial"/>
                <a:cs typeface="Arial"/>
              </a:rPr>
              <a:t>Mitochondrial query</a:t>
            </a:r>
          </a:p>
        </p:txBody>
      </p:sp>
      <p:sp>
        <p:nvSpPr>
          <p:cNvPr id="16" name="TextBox 15">
            <a:extLst xmlns:a="http://schemas.openxmlformats.org/drawingml/2006/main">
              <a:ext uri="{FF2B5EF4-FFF2-40B4-BE49-F238E27FC236}">
                <a16:creationId xmlns:a16="http://schemas.microsoft.com/office/drawing/2014/main" id="{7001D801-ADA4-403D-BAD3-04BAFAA2F71C}"/>
              </a:ext>
            </a:extLst>
          </p:cNvPr>
          <p:cNvSpPr>
            <a:spLocks xmlns:a="http://schemas.openxmlformats.org/drawingml/2006/main" noGrp="1"/>
          </p:cNvSpPr>
          <p:nvPr/>
        </p:nvSpPr>
        <p:spPr>
          <a:xfrm xmlns:a="http://schemas.openxmlformats.org/drawingml/2006/main">
            <a:off x="3639312" y="3017520"/>
            <a:ext cx="2157984" cy="2554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072B2"/>
                </a:solidFill>
                <a:latin typeface="Arial"/>
                <a:ea typeface="Arial"/>
                <a:cs typeface="Arial"/>
              </a:rPr>
              <a:t>MT DEGs</a:t>
            </a:r>
          </a:p>
        </p:txBody>
      </p:sp>
      <p:sp>
        <p:nvSpPr>
          <p:cNvPr id="17" name="Rounded Rectangle 16">
            <a:extLst xmlns:a="http://schemas.openxmlformats.org/drawingml/2006/main">
              <a:ext uri="{FF2B5EF4-FFF2-40B4-BE49-F238E27FC236}">
                <a16:creationId xmlns:a16="http://schemas.microsoft.com/office/drawing/2014/main" id="{A3D98377-F5A3-4F8F-BAB6-FDC375C4B716}"/>
              </a:ext>
            </a:extLst>
          </p:cNvPr>
          <p:cNvSpPr>
            <a:spLocks xmlns:a="http://schemas.openxmlformats.org/drawingml/2006/main" noGrp="1"/>
          </p:cNvSpPr>
          <p:nvPr/>
        </p:nvSpPr>
        <p:spPr>
          <a:xfrm xmlns:a="http://schemas.openxmlformats.org/drawingml/2006/main">
            <a:off x="3621024" y="3840480"/>
            <a:ext cx="2194560" cy="1097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57EF9E3C-D045-44CE-881A-1A65D09E147D}"/>
              </a:ext>
            </a:extLst>
          </p:cNvPr>
          <p:cNvSpPr>
            <a:spLocks xmlns:a="http://schemas.openxmlformats.org/drawingml/2006/main" noGrp="1"/>
          </p:cNvSpPr>
          <p:nvPr/>
        </p:nvSpPr>
        <p:spPr>
          <a:xfrm xmlns:a="http://schemas.openxmlformats.org/drawingml/2006/main">
            <a:off x="3767328" y="4192099"/>
            <a:ext cx="1901952" cy="4031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30" b="0" i="0">
                <a:solidFill>
                  <a:srgbClr val="4E5A68"/>
                </a:solidFill>
                <a:latin typeface="Arial"/>
                <a:ea typeface="Arial"/>
                <a:cs typeface="Arial"/>
              </a:rPr>
              <a:t>Build query per contrast with MT DEGs</a:t>
            </a:r>
          </a:p>
        </p:txBody>
      </p:sp>
      <p:sp>
        <p:nvSpPr>
          <p:cNvPr id="19" name="Rounded Rectangle 18">
            <a:extLst xmlns:a="http://schemas.openxmlformats.org/drawingml/2006/main">
              <a:ext uri="{FF2B5EF4-FFF2-40B4-BE49-F238E27FC236}">
                <a16:creationId xmlns:a16="http://schemas.microsoft.com/office/drawing/2014/main" id="{DF469515-F5B8-43BD-8069-1C1E5125CEA0}"/>
              </a:ext>
            </a:extLst>
          </p:cNvPr>
          <p:cNvSpPr>
            <a:spLocks xmlns:a="http://schemas.openxmlformats.org/drawingml/2006/main" noGrp="1"/>
          </p:cNvSpPr>
          <p:nvPr/>
        </p:nvSpPr>
        <p:spPr>
          <a:xfrm xmlns:a="http://schemas.openxmlformats.org/drawingml/2006/main">
            <a:off x="6272784" y="1371600"/>
            <a:ext cx="2587752" cy="423367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Oval 19">
            <a:extLst xmlns:a="http://schemas.openxmlformats.org/drawingml/2006/main">
              <a:ext uri="{FF2B5EF4-FFF2-40B4-BE49-F238E27FC236}">
                <a16:creationId xmlns:a16="http://schemas.microsoft.com/office/drawing/2014/main" id="{D04E537C-15DA-48A6-89FB-F8113B7AC3F0}"/>
              </a:ext>
            </a:extLst>
          </p:cNvPr>
          <p:cNvSpPr>
            <a:spLocks xmlns:a="http://schemas.openxmlformats.org/drawingml/2006/main" noGrp="1"/>
          </p:cNvSpPr>
          <p:nvPr/>
        </p:nvSpPr>
        <p:spPr>
          <a:xfrm xmlns:a="http://schemas.openxmlformats.org/drawingml/2006/main">
            <a:off x="6473952" y="1627632"/>
            <a:ext cx="438912" cy="438912"/>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99C0C3F9-A3D6-433E-8DFC-3418EFBC3EA7}"/>
              </a:ext>
            </a:extLst>
          </p:cNvPr>
          <p:cNvSpPr>
            <a:spLocks xmlns:a="http://schemas.openxmlformats.org/drawingml/2006/main" noGrp="1"/>
          </p:cNvSpPr>
          <p:nvPr/>
        </p:nvSpPr>
        <p:spPr>
          <a:xfrm xmlns:a="http://schemas.openxmlformats.org/drawingml/2006/main">
            <a:off x="6473952" y="1719072"/>
            <a:ext cx="438912"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xmlns:a="http://schemas.openxmlformats.org/drawingml/2006/main">
              <a:ext uri="{FF2B5EF4-FFF2-40B4-BE49-F238E27FC236}">
                <a16:creationId xmlns:a16="http://schemas.microsoft.com/office/drawing/2014/main" id="{FADF91BF-7B86-4FED-A4B7-C7F5A4F14485}"/>
              </a:ext>
            </a:extLst>
          </p:cNvPr>
          <p:cNvSpPr>
            <a:spLocks xmlns:a="http://schemas.openxmlformats.org/drawingml/2006/main" noGrp="1"/>
          </p:cNvSpPr>
          <p:nvPr/>
        </p:nvSpPr>
        <p:spPr>
          <a:xfrm xmlns:a="http://schemas.openxmlformats.org/drawingml/2006/main">
            <a:off x="6473952" y="2267712"/>
            <a:ext cx="2157984"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900" b="1" i="0">
                <a:solidFill>
                  <a:srgbClr val="0F233D"/>
                </a:solidFill>
                <a:latin typeface="Arial"/>
                <a:ea typeface="Arial"/>
                <a:cs typeface="Arial"/>
              </a:rPr>
              <a:t>KDA run</a:t>
            </a:r>
          </a:p>
        </p:txBody>
      </p:sp>
      <p:sp>
        <p:nvSpPr>
          <p:cNvPr id="23" name="TextBox 22">
            <a:extLst xmlns:a="http://schemas.openxmlformats.org/drawingml/2006/main">
              <a:ext uri="{FF2B5EF4-FFF2-40B4-BE49-F238E27FC236}">
                <a16:creationId xmlns:a16="http://schemas.microsoft.com/office/drawing/2014/main" id="{B842083C-0C8D-4B4B-B1A5-57F55B7604BB}"/>
              </a:ext>
            </a:extLst>
          </p:cNvPr>
          <p:cNvSpPr>
            <a:spLocks xmlns:a="http://schemas.openxmlformats.org/drawingml/2006/main" noGrp="1"/>
          </p:cNvSpPr>
          <p:nvPr/>
        </p:nvSpPr>
        <p:spPr>
          <a:xfrm xmlns:a="http://schemas.openxmlformats.org/drawingml/2006/main">
            <a:off x="6473952" y="3017520"/>
            <a:ext cx="2157984" cy="2554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a:solidFill>
                  <a:srgbClr val="0072B2"/>
                </a:solidFill>
                <a:latin typeface="Arial"/>
                <a:ea typeface="Arial"/>
                <a:cs typeface="Arial"/>
              </a:rPr>
              <a:t>Use c</a:t>
            </a:r>
            <a:r>
              <a:rPr sz="1300" b="1" i="0">
                <a:solidFill>
                  <a:srgbClr val="0072B2"/>
                </a:solidFill>
                <a:latin typeface="Arial"/>
                <a:ea typeface="Arial"/>
                <a:cs typeface="Arial"/>
              </a:rPr>
              <a:t>all_key_drivers</a:t>
            </a:r>
          </a:p>
        </p:txBody>
      </p:sp>
      <p:sp>
        <p:nvSpPr>
          <p:cNvPr id="24" name="Rounded Rectangle 23">
            <a:extLst xmlns:a="http://schemas.openxmlformats.org/drawingml/2006/main">
              <a:ext uri="{FF2B5EF4-FFF2-40B4-BE49-F238E27FC236}">
                <a16:creationId xmlns:a16="http://schemas.microsoft.com/office/drawing/2014/main" id="{73FCD190-7E9B-4971-809E-FDF0267FFC24}"/>
              </a:ext>
            </a:extLst>
          </p:cNvPr>
          <p:cNvSpPr>
            <a:spLocks xmlns:a="http://schemas.openxmlformats.org/drawingml/2006/main" noGrp="1"/>
          </p:cNvSpPr>
          <p:nvPr/>
        </p:nvSpPr>
        <p:spPr>
          <a:xfrm xmlns:a="http://schemas.openxmlformats.org/drawingml/2006/main">
            <a:off x="6455664" y="3840480"/>
            <a:ext cx="2194560" cy="1097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4BA8FC0-C20F-4CB2-9C47-48A6A6F99B5D}"/>
              </a:ext>
            </a:extLst>
          </p:cNvPr>
          <p:cNvSpPr>
            <a:spLocks xmlns:a="http://schemas.openxmlformats.org/drawingml/2006/main" noGrp="1"/>
          </p:cNvSpPr>
          <p:nvPr/>
        </p:nvSpPr>
        <p:spPr>
          <a:xfrm xmlns:a="http://schemas.openxmlformats.org/drawingml/2006/main">
            <a:off x="6601968" y="4105152"/>
            <a:ext cx="1940298" cy="57708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30" b="0" i="0">
                <a:solidFill>
                  <a:srgbClr val="4E5A68"/>
                </a:solidFill>
                <a:latin typeface="Arial"/>
                <a:ea typeface="Arial"/>
                <a:cs typeface="Arial"/>
              </a:rPr>
              <a:t>KDA run for valid DEG contrast valid</a:t>
            </a:r>
          </a:p>
          <a:p xmlns:a="http://schemas.openxmlformats.org/drawingml/2006/main">
            <a:pPr algn="ctr">
              <a:lnSpc>
                <a:spcPct val="100000"/>
              </a:lnSpc>
              <a:spcBef>
                <a:spcPts val="0"/>
              </a:spcBef>
              <a:spcAft>
                <a:spcPts val="0"/>
              </a:spcAft>
              <a:buNone/>
            </a:pPr>
            <a:r>
              <a:rPr sz="1130">
                <a:solidFill>
                  <a:srgbClr val="4E5A68"/>
                </a:solidFill>
                <a:latin typeface="Arial"/>
                <a:ea typeface="Arial"/>
                <a:cs typeface="Arial"/>
              </a:rPr>
              <a:t>n</a:t>
            </a:r>
            <a:r>
              <a:rPr sz="1130" b="0" i="0">
                <a:solidFill>
                  <a:srgbClr val="4E5A68"/>
                </a:solidFill>
                <a:latin typeface="Arial"/>
                <a:ea typeface="Arial"/>
                <a:cs typeface="Arial"/>
              </a:rPr>
              <a:t>umber of genes in query ≥ 3</a:t>
            </a:r>
          </a:p>
        </p:txBody>
      </p:sp>
      <p:sp>
        <p:nvSpPr>
          <p:cNvPr id="26" name="Rounded Rectangle 25">
            <a:extLst xmlns:a="http://schemas.openxmlformats.org/drawingml/2006/main">
              <a:ext uri="{FF2B5EF4-FFF2-40B4-BE49-F238E27FC236}">
                <a16:creationId xmlns:a16="http://schemas.microsoft.com/office/drawing/2014/main" id="{ECCE965F-10FE-43B6-9A15-9DB9A4A772BA}"/>
              </a:ext>
            </a:extLst>
          </p:cNvPr>
          <p:cNvSpPr>
            <a:spLocks xmlns:a="http://schemas.openxmlformats.org/drawingml/2006/main" noGrp="1"/>
          </p:cNvSpPr>
          <p:nvPr/>
        </p:nvSpPr>
        <p:spPr>
          <a:xfrm xmlns:a="http://schemas.openxmlformats.org/drawingml/2006/main">
            <a:off x="9107424" y="1371600"/>
            <a:ext cx="2587752" cy="423367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0F316496-2745-40F5-8FA3-A536F057DFD9}"/>
              </a:ext>
            </a:extLst>
          </p:cNvPr>
          <p:cNvSpPr>
            <a:spLocks xmlns:a="http://schemas.openxmlformats.org/drawingml/2006/main" noGrp="1"/>
          </p:cNvSpPr>
          <p:nvPr/>
        </p:nvSpPr>
        <p:spPr>
          <a:xfrm xmlns:a="http://schemas.openxmlformats.org/drawingml/2006/main">
            <a:off x="9308592" y="1627632"/>
            <a:ext cx="438912" cy="438912"/>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D6A51F87-D6F7-46B1-805E-981A290663B3}"/>
              </a:ext>
            </a:extLst>
          </p:cNvPr>
          <p:cNvSpPr>
            <a:spLocks xmlns:a="http://schemas.openxmlformats.org/drawingml/2006/main" noGrp="1"/>
          </p:cNvSpPr>
          <p:nvPr/>
        </p:nvSpPr>
        <p:spPr>
          <a:xfrm xmlns:a="http://schemas.openxmlformats.org/drawingml/2006/main">
            <a:off x="9308592" y="1719072"/>
            <a:ext cx="438912"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xmlns:a="http://schemas.openxmlformats.org/drawingml/2006/main">
              <a:ext uri="{FF2B5EF4-FFF2-40B4-BE49-F238E27FC236}">
                <a16:creationId xmlns:a16="http://schemas.microsoft.com/office/drawing/2014/main" id="{081F480E-EA43-4A99-9E7F-3B8C8BB6E908}"/>
              </a:ext>
            </a:extLst>
          </p:cNvPr>
          <p:cNvSpPr>
            <a:spLocks xmlns:a="http://schemas.openxmlformats.org/drawingml/2006/main" noGrp="1"/>
          </p:cNvSpPr>
          <p:nvPr/>
        </p:nvSpPr>
        <p:spPr>
          <a:xfrm xmlns:a="http://schemas.openxmlformats.org/drawingml/2006/main">
            <a:off x="9308592" y="2267712"/>
            <a:ext cx="2157984"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xmlns:a="http://schemas.openxmlformats.org/drawingml/2006/main">
              <a:ext uri="{FF2B5EF4-FFF2-40B4-BE49-F238E27FC236}">
                <a16:creationId xmlns:a16="http://schemas.microsoft.com/office/drawing/2014/main" id="{3CFF8CEC-C169-4B64-A39A-03FB9E8AAF1C}"/>
              </a:ext>
            </a:extLst>
          </p:cNvPr>
          <p:cNvSpPr>
            <a:spLocks xmlns:a="http://schemas.openxmlformats.org/drawingml/2006/main" noGrp="1"/>
          </p:cNvSpPr>
          <p:nvPr/>
        </p:nvSpPr>
        <p:spPr>
          <a:xfrm xmlns:a="http://schemas.openxmlformats.org/drawingml/2006/main">
            <a:off x="9308592" y="3017520"/>
            <a:ext cx="2157984"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xmlns:a="http://schemas.openxmlformats.org/drawingml/2006/main">
              <a:ext uri="{FF2B5EF4-FFF2-40B4-BE49-F238E27FC236}">
                <a16:creationId xmlns:a16="http://schemas.microsoft.com/office/drawing/2014/main" id="{8A9606BF-576C-4D4A-A6E8-E536878F1F74}"/>
              </a:ext>
            </a:extLst>
          </p:cNvPr>
          <p:cNvSpPr>
            <a:spLocks xmlns:a="http://schemas.openxmlformats.org/drawingml/2006/main" noGrp="1"/>
          </p:cNvSpPr>
          <p:nvPr/>
        </p:nvSpPr>
        <p:spPr>
          <a:xfrm xmlns:a="http://schemas.openxmlformats.org/drawingml/2006/main">
            <a:off x="9290304" y="3840480"/>
            <a:ext cx="2194560" cy="1097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F51EDF7F-2A80-4AA9-B0A2-6B07730F92E2}"/>
              </a:ext>
            </a:extLst>
          </p:cNvPr>
          <p:cNvSpPr>
            <a:spLocks xmlns:a="http://schemas.openxmlformats.org/drawingml/2006/main" noGrp="1"/>
          </p:cNvSpPr>
          <p:nvPr/>
        </p:nvSpPr>
        <p:spPr>
          <a:xfrm xmlns:a="http://schemas.openxmlformats.org/drawingml/2006/main">
            <a:off x="9436608" y="4105152"/>
            <a:ext cx="1901952" cy="57708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779EDE79-0614-4A92-8566-773ED2EA23CD}"/>
              </a:ext>
            </a:extLst>
          </p:cNvPr>
          <p:cNvSpPr>
            <a:spLocks xmlns:a="http://schemas.openxmlformats.org/drawingml/2006/main" noGrp="1"/>
          </p:cNvSpPr>
          <p:nvPr/>
        </p:nvSpPr>
        <p:spPr>
          <a:xfrm xmlns:a="http://schemas.openxmlformats.org/drawingml/2006/main">
            <a:off x="530352" y="411480"/>
            <a:ext cx="10652760" cy="43242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xmlns:a="http://schemas.openxmlformats.org/drawingml/2006/main">
              <a:ext uri="{FF2B5EF4-FFF2-40B4-BE49-F238E27FC236}">
                <a16:creationId xmlns:a16="http://schemas.microsoft.com/office/drawing/2014/main" id="{3FEB1C88-6A15-4B1A-BBD6-1FA27ECDACC0}"/>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mitochondrial DEG query; significant non-MT returns are aggregated by category.</a:t>
            </a:r>
          </a:p>
        </p:txBody>
      </p:sp>
      <p:sp>
        <p:nvSpPr>
          <p:cNvPr id="5" name="Rounded Rectangle 4">
            <a:extLst xmlns:a="http://schemas.openxmlformats.org/drawingml/2006/main">
              <a:ext uri="{FF2B5EF4-FFF2-40B4-BE49-F238E27FC236}">
                <a16:creationId xmlns:a16="http://schemas.microsoft.com/office/drawing/2014/main" id="{27608705-C0F9-4C50-AAB2-99C73BD442DE}"/>
              </a:ext>
            </a:extLst>
          </p:cNvPr>
          <p:cNvSpPr>
            <a:spLocks xmlns:a="http://schemas.openxmlformats.org/drawingml/2006/main" noGrp="1"/>
          </p:cNvSpPr>
          <p:nvPr/>
        </p:nvSpPr>
        <p:spPr>
          <a:xfrm xmlns:a="http://schemas.openxmlformats.org/drawingml/2006/main">
            <a:off x="3250039" y="1352441"/>
            <a:ext cx="5358384" cy="4325112"/>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9B893E04-674A-446C-B5F9-1C79FA8DE7F3}"/>
              </a:ext>
            </a:extLst>
          </p:cNvPr>
          <p:cNvSpPr>
            <a:spLocks xmlns:a="http://schemas.openxmlformats.org/drawingml/2006/main" noGrp="1"/>
          </p:cNvSpPr>
          <p:nvPr/>
        </p:nvSpPr>
        <p:spPr>
          <a:xfrm xmlns:a="http://schemas.openxmlformats.org/drawingml/2006/main">
            <a:off x="3533503" y="1645049"/>
            <a:ext cx="2926080" cy="20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xmlns:a="http://schemas.openxmlformats.org/drawingml/2006/main">
              <a:ext uri="{FF2B5EF4-FFF2-40B4-BE49-F238E27FC236}">
                <a16:creationId xmlns:a16="http://schemas.microsoft.com/office/drawing/2014/main" id="{25B1F69F-9624-4F57-995F-1475F9FBCC31}"/>
              </a:ext>
            </a:extLst>
          </p:cNvPr>
          <p:cNvSpPr>
            <a:spLocks xmlns:a="http://schemas.openxmlformats.org/drawingml/2006/main" noGrp="1"/>
          </p:cNvSpPr>
          <p:nvPr/>
        </p:nvSpPr>
        <p:spPr>
          <a:xfrm xmlns:a="http://schemas.openxmlformats.org/drawingml/2006/main">
            <a:off x="3533503" y="1955945"/>
            <a:ext cx="4526280"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xmlns:a="http://schemas.openxmlformats.org/drawingml/2006/main">
              <a:ext uri="{FF2B5EF4-FFF2-40B4-BE49-F238E27FC236}">
                <a16:creationId xmlns:a16="http://schemas.microsoft.com/office/drawing/2014/main" id="{131DAE2C-A674-40CC-9E86-7DDA6D405B44}"/>
              </a:ext>
            </a:extLst>
          </p:cNvPr>
          <p:cNvSpPr>
            <a:spLocks xmlns:a="http://schemas.openxmlformats.org/drawingml/2006/main" noGrp="1"/>
          </p:cNvSpPr>
          <p:nvPr/>
        </p:nvSpPr>
        <p:spPr>
          <a:xfrm xmlns:a="http://schemas.openxmlformats.org/drawingml/2006/main">
            <a:off x="3533503" y="2714897"/>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1F88DCF-24B7-442A-B0EE-B2ACA02D3CFC}"/>
              </a:ext>
            </a:extLst>
          </p:cNvPr>
          <p:cNvSpPr>
            <a:spLocks xmlns:a="http://schemas.openxmlformats.org/drawingml/2006/main" noGrp="1"/>
          </p:cNvSpPr>
          <p:nvPr/>
        </p:nvSpPr>
        <p:spPr>
          <a:xfrm xmlns:a="http://schemas.openxmlformats.org/drawingml/2006/main">
            <a:off x="3679806" y="2806337"/>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xmlns:a="http://schemas.openxmlformats.org/drawingml/2006/main">
              <a:ext uri="{FF2B5EF4-FFF2-40B4-BE49-F238E27FC236}">
                <a16:creationId xmlns:a16="http://schemas.microsoft.com/office/drawing/2014/main" id="{D4176951-406A-42E1-9F48-A3C018324ADE}"/>
              </a:ext>
            </a:extLst>
          </p:cNvPr>
          <p:cNvSpPr>
            <a:spLocks xmlns:a="http://schemas.openxmlformats.org/drawingml/2006/main" noGrp="1"/>
          </p:cNvSpPr>
          <p:nvPr/>
        </p:nvSpPr>
        <p:spPr>
          <a:xfrm xmlns:a="http://schemas.openxmlformats.org/drawingml/2006/main">
            <a:off x="3679806" y="3263537"/>
            <a:ext cx="1124712"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xmlns:a="http://schemas.openxmlformats.org/drawingml/2006/main">
              <a:ext uri="{FF2B5EF4-FFF2-40B4-BE49-F238E27FC236}">
                <a16:creationId xmlns:a16="http://schemas.microsoft.com/office/drawing/2014/main" id="{7F0049E5-A5A1-4945-891F-A8C8F12A0024}"/>
              </a:ext>
            </a:extLst>
          </p:cNvPr>
          <p:cNvSpPr>
            <a:spLocks xmlns:a="http://schemas.openxmlformats.org/drawingml/2006/main" noGrp="1"/>
          </p:cNvSpPr>
          <p:nvPr/>
        </p:nvSpPr>
        <p:spPr>
          <a:xfrm xmlns:a="http://schemas.openxmlformats.org/drawingml/2006/main">
            <a:off x="5115415" y="2714897"/>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B7F68E63-208C-422D-A0B5-6179738B0C27}"/>
              </a:ext>
            </a:extLst>
          </p:cNvPr>
          <p:cNvSpPr>
            <a:spLocks xmlns:a="http://schemas.openxmlformats.org/drawingml/2006/main" noGrp="1"/>
          </p:cNvSpPr>
          <p:nvPr/>
        </p:nvSpPr>
        <p:spPr>
          <a:xfrm xmlns:a="http://schemas.openxmlformats.org/drawingml/2006/main">
            <a:off x="5261719" y="2806337"/>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xmlns:a="http://schemas.openxmlformats.org/drawingml/2006/main">
              <a:ext uri="{FF2B5EF4-FFF2-40B4-BE49-F238E27FC236}">
                <a16:creationId xmlns:a16="http://schemas.microsoft.com/office/drawing/2014/main" id="{9859AB75-DB6D-41F0-853B-54347BB96C6E}"/>
              </a:ext>
            </a:extLst>
          </p:cNvPr>
          <p:cNvSpPr>
            <a:spLocks xmlns:a="http://schemas.openxmlformats.org/drawingml/2006/main" noGrp="1"/>
          </p:cNvSpPr>
          <p:nvPr/>
        </p:nvSpPr>
        <p:spPr>
          <a:xfrm xmlns:a="http://schemas.openxmlformats.org/drawingml/2006/main">
            <a:off x="5261719" y="3263537"/>
            <a:ext cx="1124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xmlns:a="http://schemas.openxmlformats.org/drawingml/2006/main">
              <a:ext uri="{FF2B5EF4-FFF2-40B4-BE49-F238E27FC236}">
                <a16:creationId xmlns:a16="http://schemas.microsoft.com/office/drawing/2014/main" id="{F00CBE22-A234-44B9-A9F5-3EC4E3F1D58E}"/>
              </a:ext>
            </a:extLst>
          </p:cNvPr>
          <p:cNvSpPr>
            <a:spLocks xmlns:a="http://schemas.openxmlformats.org/drawingml/2006/main" noGrp="1"/>
          </p:cNvSpPr>
          <p:nvPr/>
        </p:nvSpPr>
        <p:spPr>
          <a:xfrm xmlns:a="http://schemas.openxmlformats.org/drawingml/2006/main">
            <a:off x="6697327" y="2714897"/>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0E06DD3-6407-4A49-BEFA-3682641CBF5C}"/>
              </a:ext>
            </a:extLst>
          </p:cNvPr>
          <p:cNvSpPr>
            <a:spLocks xmlns:a="http://schemas.openxmlformats.org/drawingml/2006/main" noGrp="1"/>
          </p:cNvSpPr>
          <p:nvPr/>
        </p:nvSpPr>
        <p:spPr>
          <a:xfrm xmlns:a="http://schemas.openxmlformats.org/drawingml/2006/main">
            <a:off x="6843631" y="2806337"/>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xmlns:a="http://schemas.openxmlformats.org/drawingml/2006/main">
              <a:ext uri="{FF2B5EF4-FFF2-40B4-BE49-F238E27FC236}">
                <a16:creationId xmlns:a16="http://schemas.microsoft.com/office/drawing/2014/main" id="{142AF64B-9BFC-4A90-AD8B-D7E163774C97}"/>
              </a:ext>
            </a:extLst>
          </p:cNvPr>
          <p:cNvSpPr>
            <a:spLocks xmlns:a="http://schemas.openxmlformats.org/drawingml/2006/main" noGrp="1"/>
          </p:cNvSpPr>
          <p:nvPr/>
        </p:nvSpPr>
        <p:spPr>
          <a:xfrm xmlns:a="http://schemas.openxmlformats.org/drawingml/2006/main">
            <a:off x="6843631" y="3263537"/>
            <a:ext cx="1124712" cy="3508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xmlns:a="http://schemas.openxmlformats.org/drawingml/2006/main">
              <a:ext uri="{FF2B5EF4-FFF2-40B4-BE49-F238E27FC236}">
                <a16:creationId xmlns:a16="http://schemas.microsoft.com/office/drawing/2014/main" id="{339ABBE7-E584-44D6-8F8D-E5C2606637D4}"/>
              </a:ext>
            </a:extLst>
          </p:cNvPr>
          <p:cNvSpPr>
            <a:spLocks xmlns:a="http://schemas.openxmlformats.org/drawingml/2006/main" noGrp="1"/>
          </p:cNvSpPr>
          <p:nvPr/>
        </p:nvSpPr>
        <p:spPr>
          <a:xfrm xmlns:a="http://schemas.openxmlformats.org/drawingml/2006/main">
            <a:off x="3542647" y="4121569"/>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291635AF-955E-44E9-A5E8-68948BABEAE9}"/>
              </a:ext>
            </a:extLst>
          </p:cNvPr>
          <p:cNvSpPr>
            <a:spLocks xmlns:a="http://schemas.openxmlformats.org/drawingml/2006/main" noGrp="1"/>
          </p:cNvSpPr>
          <p:nvPr/>
        </p:nvSpPr>
        <p:spPr>
          <a:xfrm xmlns:a="http://schemas.openxmlformats.org/drawingml/2006/main">
            <a:off x="3716383" y="4022489"/>
            <a:ext cx="4361688"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xmlns:a="http://schemas.openxmlformats.org/drawingml/2006/main">
              <a:ext uri="{FF2B5EF4-FFF2-40B4-BE49-F238E27FC236}">
                <a16:creationId xmlns:a16="http://schemas.microsoft.com/office/drawing/2014/main" id="{979C2EA2-60E9-465D-B9F7-5F9C1C7D8CE8}"/>
              </a:ext>
            </a:extLst>
          </p:cNvPr>
          <p:cNvSpPr>
            <a:spLocks xmlns:a="http://schemas.openxmlformats.org/drawingml/2006/main" noGrp="1"/>
          </p:cNvSpPr>
          <p:nvPr/>
        </p:nvSpPr>
        <p:spPr>
          <a:xfrm xmlns:a="http://schemas.openxmlformats.org/drawingml/2006/main">
            <a:off x="3542647" y="4560481"/>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69861B28-248C-45E2-BBCA-01BD80FE7D6B}"/>
              </a:ext>
            </a:extLst>
          </p:cNvPr>
          <p:cNvSpPr>
            <a:spLocks xmlns:a="http://schemas.openxmlformats.org/drawingml/2006/main" noGrp="1"/>
          </p:cNvSpPr>
          <p:nvPr/>
        </p:nvSpPr>
        <p:spPr>
          <a:xfrm xmlns:a="http://schemas.openxmlformats.org/drawingml/2006/main">
            <a:off x="3716383" y="4461400"/>
            <a:ext cx="4361688"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a:solidFill>
                  <a:srgbClr val="1F2730"/>
                </a:solidFill>
                <a:latin typeface="Arial"/>
                <a:ea typeface="Arial"/>
                <a:cs typeface="Arial"/>
              </a:rPr>
              <a:t>Aggregate</a:t>
            </a:r>
            <a:r>
              <a:rPr sz="1150" b="0" i="0">
                <a:solidFill>
                  <a:srgbClr val="1F2730"/>
                </a:solidFill>
                <a:latin typeface="Arial"/>
                <a:ea typeface="Arial"/>
                <a:cs typeface="Arial"/>
              </a:rPr>
              <a:t> KDA returned key driver using ACAT for each category</a:t>
            </a:r>
          </a:p>
        </p:txBody>
      </p:sp>
      <p:sp>
        <p:nvSpPr>
          <p:cNvPr id="21" name="Oval 20">
            <a:extLst xmlns:a="http://schemas.openxmlformats.org/drawingml/2006/main">
              <a:ext uri="{FF2B5EF4-FFF2-40B4-BE49-F238E27FC236}">
                <a16:creationId xmlns:a16="http://schemas.microsoft.com/office/drawing/2014/main" id="{83E07CEC-DB81-450C-AA53-1C5A7367B796}"/>
              </a:ext>
            </a:extLst>
          </p:cNvPr>
          <p:cNvSpPr>
            <a:spLocks xmlns:a="http://schemas.openxmlformats.org/drawingml/2006/main" noGrp="1"/>
          </p:cNvSpPr>
          <p:nvPr/>
        </p:nvSpPr>
        <p:spPr>
          <a:xfrm xmlns:a="http://schemas.openxmlformats.org/drawingml/2006/main">
            <a:off x="3542647" y="4982033"/>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1CAF4877-CC06-4E3F-95B9-FDCE34881447}"/>
              </a:ext>
            </a:extLst>
          </p:cNvPr>
          <p:cNvSpPr>
            <a:spLocks xmlns:a="http://schemas.openxmlformats.org/drawingml/2006/main" noGrp="1"/>
          </p:cNvSpPr>
          <p:nvPr/>
        </p:nvSpPr>
        <p:spPr>
          <a:xfrm xmlns:a="http://schemas.openxmlformats.org/drawingml/2006/main">
            <a:off x="3716383" y="4900313"/>
            <a:ext cx="4361688" cy="4093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A3919200-AC9E-432B-826D-4705661A81E3}"/>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xmlns:a="http://schemas.openxmlformats.org/drawingml/2006/main">
              <a:ext uri="{FF2B5EF4-FFF2-40B4-BE49-F238E27FC236}">
                <a16:creationId xmlns:a16="http://schemas.microsoft.com/office/drawing/2014/main" id="{E799108D-CE17-4E26-8790-18B878427A34}"/>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Each contrast contributes one mitochondrial DEG query and at most one KDA call.</a:t>
            </a:r>
          </a:p>
        </p:txBody>
      </p:sp>
      <p:sp>
        <p:nvSpPr>
          <p:cNvPr id="5" name="Rounded Rectangle 4">
            <a:extLst xmlns:a="http://schemas.openxmlformats.org/drawingml/2006/main">
              <a:ext uri="{FF2B5EF4-FFF2-40B4-BE49-F238E27FC236}">
                <a16:creationId xmlns:a16="http://schemas.microsoft.com/office/drawing/2014/main" id="{D4570BFE-168B-48A1-8D2B-09179C0DF271}"/>
              </a:ext>
            </a:extLst>
          </p:cNvPr>
          <p:cNvSpPr>
            <a:spLocks xmlns:a="http://schemas.openxmlformats.org/drawingml/2006/main" noGrp="1"/>
          </p:cNvSpPr>
          <p:nvPr/>
        </p:nvSpPr>
        <p:spPr>
          <a:xfrm xmlns:a="http://schemas.openxmlformats.org/drawingml/2006/main">
            <a:off x="621792" y="1344168"/>
            <a:ext cx="3346704" cy="1207008"/>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2F1CF8F7-FE27-4A3E-AC96-ED76BDE146F9}"/>
              </a:ext>
            </a:extLst>
          </p:cNvPr>
          <p:cNvSpPr>
            <a:spLocks xmlns:a="http://schemas.openxmlformats.org/drawingml/2006/main" noGrp="1"/>
          </p:cNvSpPr>
          <p:nvPr/>
        </p:nvSpPr>
        <p:spPr>
          <a:xfrm xmlns:a="http://schemas.openxmlformats.org/drawingml/2006/main">
            <a:off x="841248" y="1591056"/>
            <a:ext cx="2907792"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xmlns:a="http://schemas.openxmlformats.org/drawingml/2006/main">
              <a:ext uri="{FF2B5EF4-FFF2-40B4-BE49-F238E27FC236}">
                <a16:creationId xmlns:a16="http://schemas.microsoft.com/office/drawing/2014/main" id="{5078B9DE-FA37-427E-9361-5C7DD6305FA4}"/>
              </a:ext>
            </a:extLst>
          </p:cNvPr>
          <p:cNvSpPr>
            <a:spLocks xmlns:a="http://schemas.openxmlformats.org/drawingml/2006/main" noGrp="1"/>
          </p:cNvSpPr>
          <p:nvPr/>
        </p:nvSpPr>
        <p:spPr>
          <a:xfrm xmlns:a="http://schemas.openxmlformats.org/drawingml/2006/main">
            <a:off x="841248" y="1993392"/>
            <a:ext cx="2907792" cy="24622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xmlns:a="http://schemas.openxmlformats.org/drawingml/2006/main">
              <a:ext uri="{FF2B5EF4-FFF2-40B4-BE49-F238E27FC236}">
                <a16:creationId xmlns:a16="http://schemas.microsoft.com/office/drawing/2014/main" id="{BEE0BFF6-A4AB-4AFC-835E-2D7B3A50E865}"/>
              </a:ext>
            </a:extLst>
          </p:cNvPr>
          <p:cNvSpPr>
            <a:spLocks xmlns:a="http://schemas.openxmlformats.org/drawingml/2006/main" noGrp="1"/>
          </p:cNvSpPr>
          <p:nvPr/>
        </p:nvSpPr>
        <p:spPr>
          <a:xfrm xmlns:a="http://schemas.openxmlformats.org/drawingml/2006/main">
            <a:off x="4315968" y="1344168"/>
            <a:ext cx="3529584" cy="1207008"/>
          </a:xfrm>
          <a:prstGeom xmlns:a="http://schemas.openxmlformats.org/drawingml/2006/main" prst="roundRect">
            <a:avLst/>
          </a:prstGeom>
          <a:solidFill xmlns:a="http://schemas.openxmlformats.org/drawingml/2006/main">
            <a:srgbClr val="EBF7FC"/>
          </a:solidFill>
          <a:ln xmlns:a="http://schemas.openxmlformats.org/drawingml/2006/main" w="12700">
            <a:solidFill>
              <a:srgbClr val="56B4E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7CE176B-D535-4DB8-9796-B825E7E478DF}"/>
              </a:ext>
            </a:extLst>
          </p:cNvPr>
          <p:cNvSpPr>
            <a:spLocks xmlns:a="http://schemas.openxmlformats.org/drawingml/2006/main" noGrp="1"/>
          </p:cNvSpPr>
          <p:nvPr/>
        </p:nvSpPr>
        <p:spPr>
          <a:xfrm xmlns:a="http://schemas.openxmlformats.org/drawingml/2006/main">
            <a:off x="4535424" y="1591056"/>
            <a:ext cx="3090672"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xmlns:a="http://schemas.openxmlformats.org/drawingml/2006/main">
              <a:ext uri="{FF2B5EF4-FFF2-40B4-BE49-F238E27FC236}">
                <a16:creationId xmlns:a16="http://schemas.microsoft.com/office/drawing/2014/main" id="{F9808C7C-B4BA-4C0F-9B71-F4DFB09D01AF}"/>
              </a:ext>
            </a:extLst>
          </p:cNvPr>
          <p:cNvSpPr>
            <a:spLocks xmlns:a="http://schemas.openxmlformats.org/drawingml/2006/main" noGrp="1"/>
          </p:cNvSpPr>
          <p:nvPr/>
        </p:nvSpPr>
        <p:spPr>
          <a:xfrm xmlns:a="http://schemas.openxmlformats.org/drawingml/2006/main">
            <a:off x="4535424" y="1993392"/>
            <a:ext cx="30906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xmlns:a="http://schemas.openxmlformats.org/drawingml/2006/main">
              <a:ext uri="{FF2B5EF4-FFF2-40B4-BE49-F238E27FC236}">
                <a16:creationId xmlns:a16="http://schemas.microsoft.com/office/drawing/2014/main" id="{0FFBF54A-AEB3-416E-8B74-08B60A90324A}"/>
              </a:ext>
            </a:extLst>
          </p:cNvPr>
          <p:cNvSpPr>
            <a:spLocks xmlns:a="http://schemas.openxmlformats.org/drawingml/2006/main" noGrp="1"/>
          </p:cNvSpPr>
          <p:nvPr/>
        </p:nvSpPr>
        <p:spPr>
          <a:xfrm xmlns:a="http://schemas.openxmlformats.org/drawingml/2006/main">
            <a:off x="8193024" y="1344168"/>
            <a:ext cx="3364992" cy="120700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2D4ADF4-17FC-4F7E-BAFD-E7A0341DE829}"/>
              </a:ext>
            </a:extLst>
          </p:cNvPr>
          <p:cNvSpPr>
            <a:spLocks xmlns:a="http://schemas.openxmlformats.org/drawingml/2006/main" noGrp="1"/>
          </p:cNvSpPr>
          <p:nvPr/>
        </p:nvSpPr>
        <p:spPr>
          <a:xfrm xmlns:a="http://schemas.openxmlformats.org/drawingml/2006/main">
            <a:off x="8310880" y="1591056"/>
            <a:ext cx="3145536"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194 call_key_drivers calls</a:t>
            </a:r>
          </a:p>
        </p:txBody>
      </p:sp>
      <p:sp>
        <p:nvSpPr>
          <p:cNvPr id="13" name="TextBox 12">
            <a:extLst xmlns:a="http://schemas.openxmlformats.org/drawingml/2006/main">
              <a:ext uri="{FF2B5EF4-FFF2-40B4-BE49-F238E27FC236}">
                <a16:creationId xmlns:a16="http://schemas.microsoft.com/office/drawing/2014/main" id="{4F912C2A-B3B5-4610-AC2F-804BACAD6DF9}"/>
              </a:ext>
            </a:extLst>
          </p:cNvPr>
          <p:cNvSpPr>
            <a:spLocks xmlns:a="http://schemas.openxmlformats.org/drawingml/2006/main" noGrp="1"/>
          </p:cNvSpPr>
          <p:nvPr/>
        </p:nvSpPr>
        <p:spPr>
          <a:xfrm xmlns:a="http://schemas.openxmlformats.org/drawingml/2006/main">
            <a:off x="8412480" y="1993392"/>
            <a:ext cx="2926080" cy="3754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xmlns:a="http://schemas.openxmlformats.org/drawingml/2006/main">
              <a:ext uri="{FF2B5EF4-FFF2-40B4-BE49-F238E27FC236}">
                <a16:creationId xmlns:a16="http://schemas.microsoft.com/office/drawing/2014/main" id="{C7830466-3CB6-4F40-8141-C2D2D4C39423}"/>
              </a:ext>
            </a:extLst>
          </p:cNvPr>
          <p:cNvSpPr>
            <a:spLocks xmlns:a="http://schemas.openxmlformats.org/drawingml/2006/main" noGrp="1"/>
          </p:cNvSpPr>
          <p:nvPr/>
        </p:nvSpPr>
        <p:spPr>
          <a:xfrm xmlns:a="http://schemas.openxmlformats.org/drawingml/2006/main">
            <a:off x="1840696" y="2898648"/>
            <a:ext cx="562356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19C4B8D4-4EB0-4607-A86A-56D8B2EAA411}"/>
              </a:ext>
            </a:extLst>
          </p:cNvPr>
          <p:cNvSpPr>
            <a:spLocks xmlns:a="http://schemas.openxmlformats.org/drawingml/2006/main" noGrp="1"/>
          </p:cNvSpPr>
          <p:nvPr/>
        </p:nvSpPr>
        <p:spPr>
          <a:xfrm xmlns:a="http://schemas.openxmlformats.org/drawingml/2006/main">
            <a:off x="1895560" y="2953512"/>
            <a:ext cx="551383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xmlns:a="http://schemas.openxmlformats.org/drawingml/2006/main">
              <a:ext uri="{FF2B5EF4-FFF2-40B4-BE49-F238E27FC236}">
                <a16:creationId xmlns:a16="http://schemas.microsoft.com/office/drawing/2014/main" id="{5BEB0C3C-1A6C-4075-8B14-23F615D5F23F}"/>
              </a:ext>
            </a:extLst>
          </p:cNvPr>
          <p:cNvSpPr>
            <a:spLocks xmlns:a="http://schemas.openxmlformats.org/drawingml/2006/main" noGrp="1"/>
          </p:cNvSpPr>
          <p:nvPr/>
        </p:nvSpPr>
        <p:spPr>
          <a:xfrm xmlns:a="http://schemas.openxmlformats.org/drawingml/2006/main">
            <a:off x="7464256" y="2898648"/>
            <a:ext cx="109728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B6176161-58EB-4AC1-ABDA-F959ADE88043}"/>
              </a:ext>
            </a:extLst>
          </p:cNvPr>
          <p:cNvSpPr>
            <a:spLocks xmlns:a="http://schemas.openxmlformats.org/drawingml/2006/main" noGrp="1"/>
          </p:cNvSpPr>
          <p:nvPr/>
        </p:nvSpPr>
        <p:spPr>
          <a:xfrm xmlns:a="http://schemas.openxmlformats.org/drawingml/2006/main">
            <a:off x="7519120" y="2953512"/>
            <a:ext cx="98755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xmlns:a="http://schemas.openxmlformats.org/drawingml/2006/main">
              <a:ext uri="{FF2B5EF4-FFF2-40B4-BE49-F238E27FC236}">
                <a16:creationId xmlns:a16="http://schemas.microsoft.com/office/drawing/2014/main" id="{0A8DA921-F671-4828-B56A-12943D06FBB1}"/>
              </a:ext>
            </a:extLst>
          </p:cNvPr>
          <p:cNvSpPr>
            <a:spLocks xmlns:a="http://schemas.openxmlformats.org/drawingml/2006/main" noGrp="1"/>
          </p:cNvSpPr>
          <p:nvPr/>
        </p:nvSpPr>
        <p:spPr>
          <a:xfrm xmlns:a="http://schemas.openxmlformats.org/drawingml/2006/main">
            <a:off x="8561536" y="2898648"/>
            <a:ext cx="1874519"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4658F41-AE85-470A-8714-16469112AF56}"/>
              </a:ext>
            </a:extLst>
          </p:cNvPr>
          <p:cNvSpPr>
            <a:spLocks xmlns:a="http://schemas.openxmlformats.org/drawingml/2006/main" noGrp="1"/>
          </p:cNvSpPr>
          <p:nvPr/>
        </p:nvSpPr>
        <p:spPr>
          <a:xfrm xmlns:a="http://schemas.openxmlformats.org/drawingml/2006/main">
            <a:off x="8616400" y="2953512"/>
            <a:ext cx="1764791"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0" b="1" i="0">
                <a:solidFill>
                  <a:srgbClr val="FFFFFF"/>
                </a:solidFill>
                <a:latin typeface="Arial"/>
                <a:ea typeface="Arial"/>
                <a:cs typeface="Arial"/>
              </a:rPr>
              <a:t>KDA called?</a:t>
            </a:r>
          </a:p>
        </p:txBody>
      </p:sp>
      <p:sp>
        <p:nvSpPr>
          <p:cNvPr id="22" name="Rectangle 21">
            <a:extLst xmlns:a="http://schemas.openxmlformats.org/drawingml/2006/main">
              <a:ext uri="{FF2B5EF4-FFF2-40B4-BE49-F238E27FC236}">
                <a16:creationId xmlns:a16="http://schemas.microsoft.com/office/drawing/2014/main" id="{3B1CFD8E-95BE-4FBB-987C-ACE7EC2E6B6E}"/>
              </a:ext>
            </a:extLst>
          </p:cNvPr>
          <p:cNvSpPr>
            <a:spLocks xmlns:a="http://schemas.openxmlformats.org/drawingml/2006/main" noGrp="1"/>
          </p:cNvSpPr>
          <p:nvPr/>
        </p:nvSpPr>
        <p:spPr>
          <a:xfrm xmlns:a="http://schemas.openxmlformats.org/drawingml/2006/main">
            <a:off x="1840696" y="3328415"/>
            <a:ext cx="5623560"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CF9AFC4C-5427-43C5-939B-8E4FAF9944F2}"/>
              </a:ext>
            </a:extLst>
          </p:cNvPr>
          <p:cNvSpPr>
            <a:spLocks xmlns:a="http://schemas.openxmlformats.org/drawingml/2006/main" noGrp="1"/>
          </p:cNvSpPr>
          <p:nvPr/>
        </p:nvSpPr>
        <p:spPr>
          <a:xfrm xmlns:a="http://schemas.openxmlformats.org/drawingml/2006/main">
            <a:off x="1895560" y="3460790"/>
            <a:ext cx="5513832" cy="2015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xmlns:a="http://schemas.openxmlformats.org/drawingml/2006/main">
              <a:ext uri="{FF2B5EF4-FFF2-40B4-BE49-F238E27FC236}">
                <a16:creationId xmlns:a16="http://schemas.microsoft.com/office/drawing/2014/main" id="{15D7B162-1EA6-474F-BC3E-74248A659E00}"/>
              </a:ext>
            </a:extLst>
          </p:cNvPr>
          <p:cNvSpPr>
            <a:spLocks xmlns:a="http://schemas.openxmlformats.org/drawingml/2006/main" noGrp="1"/>
          </p:cNvSpPr>
          <p:nvPr/>
        </p:nvSpPr>
        <p:spPr>
          <a:xfrm xmlns:a="http://schemas.openxmlformats.org/drawingml/2006/main">
            <a:off x="7464256" y="3328415"/>
            <a:ext cx="1097280"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0D309079-6F7E-49D0-B45F-DACFA33A3B8D}"/>
              </a:ext>
            </a:extLst>
          </p:cNvPr>
          <p:cNvSpPr>
            <a:spLocks xmlns:a="http://schemas.openxmlformats.org/drawingml/2006/main" noGrp="1"/>
          </p:cNvSpPr>
          <p:nvPr/>
        </p:nvSpPr>
        <p:spPr>
          <a:xfrm xmlns:a="http://schemas.openxmlformats.org/drawingml/2006/main">
            <a:off x="7519120" y="3374135"/>
            <a:ext cx="98755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xmlns:a="http://schemas.openxmlformats.org/drawingml/2006/main">
              <a:ext uri="{FF2B5EF4-FFF2-40B4-BE49-F238E27FC236}">
                <a16:creationId xmlns:a16="http://schemas.microsoft.com/office/drawing/2014/main" id="{E8B3A0BF-B854-44C8-8072-5460012D169E}"/>
              </a:ext>
            </a:extLst>
          </p:cNvPr>
          <p:cNvSpPr>
            <a:spLocks xmlns:a="http://schemas.openxmlformats.org/drawingml/2006/main" noGrp="1"/>
          </p:cNvSpPr>
          <p:nvPr/>
        </p:nvSpPr>
        <p:spPr>
          <a:xfrm xmlns:a="http://schemas.openxmlformats.org/drawingml/2006/main">
            <a:off x="8561536" y="3328415"/>
            <a:ext cx="1874519"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52F1BD26-81DA-4CA3-9648-69C83178385A}"/>
              </a:ext>
            </a:extLst>
          </p:cNvPr>
          <p:cNvSpPr>
            <a:spLocks xmlns:a="http://schemas.openxmlformats.org/drawingml/2006/main" noGrp="1"/>
          </p:cNvSpPr>
          <p:nvPr/>
        </p:nvSpPr>
        <p:spPr>
          <a:xfrm xmlns:a="http://schemas.openxmlformats.org/drawingml/2006/main">
            <a:off x="8616400" y="3374135"/>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xmlns:a="http://schemas.openxmlformats.org/drawingml/2006/main">
              <a:ext uri="{FF2B5EF4-FFF2-40B4-BE49-F238E27FC236}">
                <a16:creationId xmlns:a16="http://schemas.microsoft.com/office/drawing/2014/main" id="{835D28EB-C5ED-43AA-A4C4-B4615A95964E}"/>
              </a:ext>
            </a:extLst>
          </p:cNvPr>
          <p:cNvSpPr>
            <a:spLocks xmlns:a="http://schemas.openxmlformats.org/drawingml/2006/main" noGrp="1"/>
          </p:cNvSpPr>
          <p:nvPr/>
        </p:nvSpPr>
        <p:spPr>
          <a:xfrm xmlns:a="http://schemas.openxmlformats.org/drawingml/2006/main">
            <a:off x="1840696" y="3776472"/>
            <a:ext cx="5623560"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25F22931-D29F-4703-92C2-B4265EC63138}"/>
              </a:ext>
            </a:extLst>
          </p:cNvPr>
          <p:cNvSpPr>
            <a:spLocks xmlns:a="http://schemas.openxmlformats.org/drawingml/2006/main" noGrp="1"/>
          </p:cNvSpPr>
          <p:nvPr/>
        </p:nvSpPr>
        <p:spPr>
          <a:xfrm xmlns:a="http://schemas.openxmlformats.org/drawingml/2006/main">
            <a:off x="1895560" y="3908846"/>
            <a:ext cx="5513832" cy="2015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xmlns:a="http://schemas.openxmlformats.org/drawingml/2006/main">
              <a:ext uri="{FF2B5EF4-FFF2-40B4-BE49-F238E27FC236}">
                <a16:creationId xmlns:a16="http://schemas.microsoft.com/office/drawing/2014/main" id="{65B15CB0-A324-4490-ABBE-EA981FFFDC2D}"/>
              </a:ext>
            </a:extLst>
          </p:cNvPr>
          <p:cNvSpPr>
            <a:spLocks xmlns:a="http://schemas.openxmlformats.org/drawingml/2006/main" noGrp="1"/>
          </p:cNvSpPr>
          <p:nvPr/>
        </p:nvSpPr>
        <p:spPr>
          <a:xfrm xmlns:a="http://schemas.openxmlformats.org/drawingml/2006/main">
            <a:off x="7464256" y="3776472"/>
            <a:ext cx="1097280"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F2DA721B-6205-42E7-8624-021A6BEE45C7}"/>
              </a:ext>
            </a:extLst>
          </p:cNvPr>
          <p:cNvSpPr>
            <a:spLocks xmlns:a="http://schemas.openxmlformats.org/drawingml/2006/main" noGrp="1"/>
          </p:cNvSpPr>
          <p:nvPr/>
        </p:nvSpPr>
        <p:spPr>
          <a:xfrm xmlns:a="http://schemas.openxmlformats.org/drawingml/2006/main">
            <a:off x="7519120" y="3822191"/>
            <a:ext cx="98755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xmlns:a="http://schemas.openxmlformats.org/drawingml/2006/main">
              <a:ext uri="{FF2B5EF4-FFF2-40B4-BE49-F238E27FC236}">
                <a16:creationId xmlns:a16="http://schemas.microsoft.com/office/drawing/2014/main" id="{69B0A2F4-62B9-4BC5-ADD1-6869FBEACD94}"/>
              </a:ext>
            </a:extLst>
          </p:cNvPr>
          <p:cNvSpPr>
            <a:spLocks xmlns:a="http://schemas.openxmlformats.org/drawingml/2006/main" noGrp="1"/>
          </p:cNvSpPr>
          <p:nvPr/>
        </p:nvSpPr>
        <p:spPr>
          <a:xfrm xmlns:a="http://schemas.openxmlformats.org/drawingml/2006/main">
            <a:off x="8561536" y="3776472"/>
            <a:ext cx="1874519"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6253741D-16CE-4801-9A63-2B08A57E1EFE}"/>
              </a:ext>
            </a:extLst>
          </p:cNvPr>
          <p:cNvSpPr>
            <a:spLocks xmlns:a="http://schemas.openxmlformats.org/drawingml/2006/main" noGrp="1"/>
          </p:cNvSpPr>
          <p:nvPr/>
        </p:nvSpPr>
        <p:spPr>
          <a:xfrm xmlns:a="http://schemas.openxmlformats.org/drawingml/2006/main">
            <a:off x="8616400" y="3822191"/>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xmlns:a="http://schemas.openxmlformats.org/drawingml/2006/main">
              <a:ext uri="{FF2B5EF4-FFF2-40B4-BE49-F238E27FC236}">
                <a16:creationId xmlns:a16="http://schemas.microsoft.com/office/drawing/2014/main" id="{A09CF610-E418-4987-ADF1-20C8F95B8ED7}"/>
              </a:ext>
            </a:extLst>
          </p:cNvPr>
          <p:cNvSpPr>
            <a:spLocks xmlns:a="http://schemas.openxmlformats.org/drawingml/2006/main" noGrp="1"/>
          </p:cNvSpPr>
          <p:nvPr/>
        </p:nvSpPr>
        <p:spPr>
          <a:xfrm xmlns:a="http://schemas.openxmlformats.org/drawingml/2006/main">
            <a:off x="1840696" y="4224527"/>
            <a:ext cx="5623560"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2E0B1B61-3C01-41CC-B807-A377B95A85D7}"/>
              </a:ext>
            </a:extLst>
          </p:cNvPr>
          <p:cNvSpPr>
            <a:spLocks xmlns:a="http://schemas.openxmlformats.org/drawingml/2006/main" noGrp="1"/>
          </p:cNvSpPr>
          <p:nvPr/>
        </p:nvSpPr>
        <p:spPr>
          <a:xfrm xmlns:a="http://schemas.openxmlformats.org/drawingml/2006/main">
            <a:off x="1895560" y="4356132"/>
            <a:ext cx="551383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xmlns:a="http://schemas.openxmlformats.org/drawingml/2006/main">
              <a:ext uri="{FF2B5EF4-FFF2-40B4-BE49-F238E27FC236}">
                <a16:creationId xmlns:a16="http://schemas.microsoft.com/office/drawing/2014/main" id="{DB42E127-BC1D-4E6D-8837-BD21F2534455}"/>
              </a:ext>
            </a:extLst>
          </p:cNvPr>
          <p:cNvSpPr>
            <a:spLocks xmlns:a="http://schemas.openxmlformats.org/drawingml/2006/main" noGrp="1"/>
          </p:cNvSpPr>
          <p:nvPr/>
        </p:nvSpPr>
        <p:spPr>
          <a:xfrm xmlns:a="http://schemas.openxmlformats.org/drawingml/2006/main">
            <a:off x="7464256" y="4224527"/>
            <a:ext cx="1097280"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532D6E6D-3851-4729-AF80-81DB087CD678}"/>
              </a:ext>
            </a:extLst>
          </p:cNvPr>
          <p:cNvSpPr>
            <a:spLocks xmlns:a="http://schemas.openxmlformats.org/drawingml/2006/main" noGrp="1"/>
          </p:cNvSpPr>
          <p:nvPr/>
        </p:nvSpPr>
        <p:spPr>
          <a:xfrm xmlns:a="http://schemas.openxmlformats.org/drawingml/2006/main">
            <a:off x="7519120" y="4270247"/>
            <a:ext cx="98755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xmlns:a="http://schemas.openxmlformats.org/drawingml/2006/main">
              <a:ext uri="{FF2B5EF4-FFF2-40B4-BE49-F238E27FC236}">
                <a16:creationId xmlns:a16="http://schemas.microsoft.com/office/drawing/2014/main" id="{26BCA652-FACA-46DD-A87D-8FB0F4CF3F0C}"/>
              </a:ext>
            </a:extLst>
          </p:cNvPr>
          <p:cNvSpPr>
            <a:spLocks xmlns:a="http://schemas.openxmlformats.org/drawingml/2006/main" noGrp="1"/>
          </p:cNvSpPr>
          <p:nvPr/>
        </p:nvSpPr>
        <p:spPr>
          <a:xfrm xmlns:a="http://schemas.openxmlformats.org/drawingml/2006/main">
            <a:off x="8561536" y="4224527"/>
            <a:ext cx="1874519"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A1E62925-63B8-478F-BADE-3EE2BEEF64D1}"/>
              </a:ext>
            </a:extLst>
          </p:cNvPr>
          <p:cNvSpPr>
            <a:spLocks xmlns:a="http://schemas.openxmlformats.org/drawingml/2006/main" noGrp="1"/>
          </p:cNvSpPr>
          <p:nvPr/>
        </p:nvSpPr>
        <p:spPr>
          <a:xfrm xmlns:a="http://schemas.openxmlformats.org/drawingml/2006/main">
            <a:off x="8616400" y="4270247"/>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xmlns:a="http://schemas.openxmlformats.org/drawingml/2006/main">
              <a:ext uri="{FF2B5EF4-FFF2-40B4-BE49-F238E27FC236}">
                <a16:creationId xmlns:a16="http://schemas.microsoft.com/office/drawing/2014/main" id="{946D51ED-B773-4A59-A563-E5995A9F7C4C}"/>
              </a:ext>
            </a:extLst>
          </p:cNvPr>
          <p:cNvSpPr>
            <a:spLocks xmlns:a="http://schemas.openxmlformats.org/drawingml/2006/main" noGrp="1"/>
          </p:cNvSpPr>
          <p:nvPr/>
        </p:nvSpPr>
        <p:spPr>
          <a:xfrm xmlns:a="http://schemas.openxmlformats.org/drawingml/2006/main">
            <a:off x="1840696" y="4672583"/>
            <a:ext cx="5623560"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4C271131-778E-4071-BE35-F3C0C6EBD5D5}"/>
              </a:ext>
            </a:extLst>
          </p:cNvPr>
          <p:cNvSpPr>
            <a:spLocks xmlns:a="http://schemas.openxmlformats.org/drawingml/2006/main" noGrp="1"/>
          </p:cNvSpPr>
          <p:nvPr/>
        </p:nvSpPr>
        <p:spPr>
          <a:xfrm xmlns:a="http://schemas.openxmlformats.org/drawingml/2006/main">
            <a:off x="1895560" y="4804958"/>
            <a:ext cx="5513832" cy="2015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xmlns:a="http://schemas.openxmlformats.org/drawingml/2006/main">
              <a:ext uri="{FF2B5EF4-FFF2-40B4-BE49-F238E27FC236}">
                <a16:creationId xmlns:a16="http://schemas.microsoft.com/office/drawing/2014/main" id="{F66F6FEE-61DB-4D88-9D28-388732A5C411}"/>
              </a:ext>
            </a:extLst>
          </p:cNvPr>
          <p:cNvSpPr>
            <a:spLocks xmlns:a="http://schemas.openxmlformats.org/drawingml/2006/main" noGrp="1"/>
          </p:cNvSpPr>
          <p:nvPr/>
        </p:nvSpPr>
        <p:spPr>
          <a:xfrm xmlns:a="http://schemas.openxmlformats.org/drawingml/2006/main">
            <a:off x="7464256" y="4672583"/>
            <a:ext cx="1097280"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058FE669-B813-4CD1-AFD9-6A4EE5504BF3}"/>
              </a:ext>
            </a:extLst>
          </p:cNvPr>
          <p:cNvSpPr>
            <a:spLocks xmlns:a="http://schemas.openxmlformats.org/drawingml/2006/main" noGrp="1"/>
          </p:cNvSpPr>
          <p:nvPr/>
        </p:nvSpPr>
        <p:spPr>
          <a:xfrm xmlns:a="http://schemas.openxmlformats.org/drawingml/2006/main">
            <a:off x="7519120" y="4804958"/>
            <a:ext cx="987552" cy="2015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xmlns:a="http://schemas.openxmlformats.org/drawingml/2006/main">
              <a:ext uri="{FF2B5EF4-FFF2-40B4-BE49-F238E27FC236}">
                <a16:creationId xmlns:a16="http://schemas.microsoft.com/office/drawing/2014/main" id="{A77F395D-C843-4144-BECA-554D9E093459}"/>
              </a:ext>
            </a:extLst>
          </p:cNvPr>
          <p:cNvSpPr>
            <a:spLocks xmlns:a="http://schemas.openxmlformats.org/drawingml/2006/main" noGrp="1"/>
          </p:cNvSpPr>
          <p:nvPr/>
        </p:nvSpPr>
        <p:spPr>
          <a:xfrm xmlns:a="http://schemas.openxmlformats.org/drawingml/2006/main">
            <a:off x="8561536" y="4672583"/>
            <a:ext cx="1874519"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E0378C35-7078-4616-B124-6AB9128C801C}"/>
              </a:ext>
            </a:extLst>
          </p:cNvPr>
          <p:cNvSpPr>
            <a:spLocks xmlns:a="http://schemas.openxmlformats.org/drawingml/2006/main" noGrp="1"/>
          </p:cNvSpPr>
          <p:nvPr/>
        </p:nvSpPr>
        <p:spPr>
          <a:xfrm xmlns:a="http://schemas.openxmlformats.org/drawingml/2006/main">
            <a:off x="8616400" y="4718303"/>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xmlns:a="http://schemas.openxmlformats.org/drawingml/2006/main">
              <a:ext uri="{FF2B5EF4-FFF2-40B4-BE49-F238E27FC236}">
                <a16:creationId xmlns:a16="http://schemas.microsoft.com/office/drawing/2014/main" id="{2E95D688-F803-4F47-9B15-661C835F8AC3}"/>
              </a:ext>
            </a:extLst>
          </p:cNvPr>
          <p:cNvSpPr>
            <a:spLocks xmlns:a="http://schemas.openxmlformats.org/drawingml/2006/main" noGrp="1"/>
          </p:cNvSpPr>
          <p:nvPr/>
        </p:nvSpPr>
        <p:spPr>
          <a:xfrm xmlns:a="http://schemas.openxmlformats.org/drawingml/2006/main">
            <a:off x="1840696" y="5128754"/>
            <a:ext cx="5623560" cy="448056"/>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Box 62">
            <a:extLst xmlns:a="http://schemas.openxmlformats.org/drawingml/2006/main">
              <a:ext uri="{FF2B5EF4-FFF2-40B4-BE49-F238E27FC236}">
                <a16:creationId xmlns:a16="http://schemas.microsoft.com/office/drawing/2014/main" id="{7CCF1CAD-EE89-43AE-BA0A-8F81BFB13332}"/>
              </a:ext>
            </a:extLst>
          </p:cNvPr>
          <p:cNvSpPr>
            <a:spLocks xmlns:a="http://schemas.openxmlformats.org/drawingml/2006/main" noGrp="1"/>
          </p:cNvSpPr>
          <p:nvPr/>
        </p:nvSpPr>
        <p:spPr>
          <a:xfrm xmlns:a="http://schemas.openxmlformats.org/drawingml/2006/main">
            <a:off x="1895560" y="5174474"/>
            <a:ext cx="551383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xmlns:a="http://schemas.openxmlformats.org/drawingml/2006/main">
              <a:ext uri="{FF2B5EF4-FFF2-40B4-BE49-F238E27FC236}">
                <a16:creationId xmlns:a16="http://schemas.microsoft.com/office/drawing/2014/main" id="{D4E5FF6D-041D-48B3-A534-553122085191}"/>
              </a:ext>
            </a:extLst>
          </p:cNvPr>
          <p:cNvSpPr>
            <a:spLocks xmlns:a="http://schemas.openxmlformats.org/drawingml/2006/main" noGrp="1"/>
          </p:cNvSpPr>
          <p:nvPr/>
        </p:nvSpPr>
        <p:spPr>
          <a:xfrm xmlns:a="http://schemas.openxmlformats.org/drawingml/2006/main">
            <a:off x="7464256" y="5128754"/>
            <a:ext cx="1097280" cy="448056"/>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Box 64">
            <a:extLst xmlns:a="http://schemas.openxmlformats.org/drawingml/2006/main">
              <a:ext uri="{FF2B5EF4-FFF2-40B4-BE49-F238E27FC236}">
                <a16:creationId xmlns:a16="http://schemas.microsoft.com/office/drawing/2014/main" id="{88968CAA-2223-4B19-B8BB-68DFF1C662E7}"/>
              </a:ext>
            </a:extLst>
          </p:cNvPr>
          <p:cNvSpPr>
            <a:spLocks xmlns:a="http://schemas.openxmlformats.org/drawingml/2006/main" noGrp="1"/>
          </p:cNvSpPr>
          <p:nvPr/>
        </p:nvSpPr>
        <p:spPr>
          <a:xfrm xmlns:a="http://schemas.openxmlformats.org/drawingml/2006/main">
            <a:off x="7519120" y="5174474"/>
            <a:ext cx="98755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xmlns:a="http://schemas.openxmlformats.org/drawingml/2006/main">
              <a:ext uri="{FF2B5EF4-FFF2-40B4-BE49-F238E27FC236}">
                <a16:creationId xmlns:a16="http://schemas.microsoft.com/office/drawing/2014/main" id="{82A2FD34-1E61-44FB-AD23-F8CF957EF011}"/>
              </a:ext>
            </a:extLst>
          </p:cNvPr>
          <p:cNvSpPr>
            <a:spLocks xmlns:a="http://schemas.openxmlformats.org/drawingml/2006/main" noGrp="1"/>
          </p:cNvSpPr>
          <p:nvPr/>
        </p:nvSpPr>
        <p:spPr>
          <a:xfrm xmlns:a="http://schemas.openxmlformats.org/drawingml/2006/main">
            <a:off x="8561536" y="5128754"/>
            <a:ext cx="1874519" cy="448056"/>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TextBox 66">
            <a:extLst xmlns:a="http://schemas.openxmlformats.org/drawingml/2006/main">
              <a:ext uri="{FF2B5EF4-FFF2-40B4-BE49-F238E27FC236}">
                <a16:creationId xmlns:a16="http://schemas.microsoft.com/office/drawing/2014/main" id="{010C3224-E842-4D81-8131-6FCF88F9E722}"/>
              </a:ext>
            </a:extLst>
          </p:cNvPr>
          <p:cNvSpPr>
            <a:spLocks xmlns:a="http://schemas.openxmlformats.org/drawingml/2006/main" noGrp="1"/>
          </p:cNvSpPr>
          <p:nvPr/>
        </p:nvSpPr>
        <p:spPr>
          <a:xfrm xmlns:a="http://schemas.openxmlformats.org/drawingml/2006/main">
            <a:off x="8616400" y="5174474"/>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1" i="0">
                <a:solidFill>
                  <a:srgbClr val="1F2730"/>
                </a:solidFill>
                <a:latin typeface="Arial"/>
                <a:ea typeface="Arial"/>
                <a:cs typeface="Arial"/>
              </a:rPr>
              <a:t>194 calls</a:t>
            </a:r>
          </a:p>
        </p:txBody>
      </p:sp>
    </p:spTree>
    <p:extLst>
      <p:ext uri="{BB962C8B-B14F-4D97-AF65-F5344CB8AC3E}">
        <p14:creationId xmlns:p14="http://schemas.microsoft.com/office/powerpoint/2010/main" val="970849934"/>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94FFD812-B704-40B9-875C-AE2409EDCD40}"/>
              </a:ext>
            </a:extLst>
          </p:cNvPr>
          <p:cNvSpPr>
            <a:spLocks xmlns:a="http://schemas.openxmlformats.org/drawingml/2006/main" noGrp="1"/>
          </p:cNvSpPr>
          <p:nvPr/>
        </p:nvSpPr>
        <p:spPr>
          <a:xfrm xmlns:a="http://schemas.openxmlformats.org/drawingml/2006/main">
            <a:off x="530352" y="411480"/>
            <a:ext cx="10652760" cy="3785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a:solidFill>
                  <a:srgbClr val="0F233D"/>
                </a:solidFill>
                <a:latin typeface="Arial"/>
                <a:ea typeface="Arial"/>
                <a:cs typeface="Arial"/>
              </a:rPr>
              <a:t>S</a:t>
            </a:r>
            <a:r>
              <a:rPr sz="2100" b="1" i="0">
                <a:solidFill>
                  <a:srgbClr val="0F233D"/>
                </a:solidFill>
                <a:latin typeface="Arial"/>
                <a:ea typeface="Arial"/>
                <a:cs typeface="Arial"/>
              </a:rPr>
              <a:t>ource validity and query size decide whether KDA is called</a:t>
            </a:r>
          </a:p>
        </p:txBody>
      </p:sp>
      <p:sp>
        <p:nvSpPr>
          <p:cNvPr id="5" name="Rounded Rectangle 4">
            <a:extLst xmlns:a="http://schemas.openxmlformats.org/drawingml/2006/main">
              <a:ext uri="{FF2B5EF4-FFF2-40B4-BE49-F238E27FC236}">
                <a16:creationId xmlns:a16="http://schemas.microsoft.com/office/drawing/2014/main" id="{6A4C48F9-8630-4221-B343-DCC27E4D63B8}"/>
              </a:ext>
            </a:extLst>
          </p:cNvPr>
          <p:cNvSpPr>
            <a:spLocks xmlns:a="http://schemas.openxmlformats.org/drawingml/2006/main" noGrp="1"/>
          </p:cNvSpPr>
          <p:nvPr/>
        </p:nvSpPr>
        <p:spPr>
          <a:xfrm xmlns:a="http://schemas.openxmlformats.org/drawingml/2006/main">
            <a:off x="603504" y="1344168"/>
            <a:ext cx="4663440" cy="44805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EA7129F0-43AE-494F-BC7A-EB9E0E9C5E7F}"/>
              </a:ext>
            </a:extLst>
          </p:cNvPr>
          <p:cNvSpPr>
            <a:spLocks xmlns:a="http://schemas.openxmlformats.org/drawingml/2006/main" noGrp="1"/>
          </p:cNvSpPr>
          <p:nvPr/>
        </p:nvSpPr>
        <p:spPr>
          <a:xfrm xmlns:a="http://schemas.openxmlformats.org/drawingml/2006/main">
            <a:off x="868680" y="1645920"/>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6BBEA52-DBDE-4F3F-8340-7D32A98DC683}"/>
              </a:ext>
            </a:extLst>
          </p:cNvPr>
          <p:cNvSpPr>
            <a:spLocks xmlns:a="http://schemas.openxmlformats.org/drawingml/2006/main" noGrp="1"/>
          </p:cNvSpPr>
          <p:nvPr/>
        </p:nvSpPr>
        <p:spPr>
          <a:xfrm xmlns:a="http://schemas.openxmlformats.org/drawingml/2006/main">
            <a:off x="1014983" y="1618488"/>
            <a:ext cx="395020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xmlns:a="http://schemas.openxmlformats.org/drawingml/2006/main">
              <a:ext uri="{FF2B5EF4-FFF2-40B4-BE49-F238E27FC236}">
                <a16:creationId xmlns:a16="http://schemas.microsoft.com/office/drawing/2014/main" id="{94EB16BC-E4F1-4108-A86F-267BC5C551AD}"/>
              </a:ext>
            </a:extLst>
          </p:cNvPr>
          <p:cNvSpPr>
            <a:spLocks xmlns:a="http://schemas.openxmlformats.org/drawingml/2006/main" noGrp="1"/>
          </p:cNvSpPr>
          <p:nvPr/>
        </p:nvSpPr>
        <p:spPr>
          <a:xfrm xmlns:a="http://schemas.openxmlformats.org/drawingml/2006/main">
            <a:off x="868680" y="2112264"/>
            <a:ext cx="1847088" cy="1024128"/>
          </a:xfrm>
          <a:prstGeom xmlns:a="http://schemas.openxmlformats.org/drawingml/2006/main" prst="roundRect">
            <a:avLst/>
          </a:prstGeom>
          <a:solidFill xmlns:a="http://schemas.openxmlformats.org/drawingml/2006/main">
            <a:srgbClr val="E4F0F8"/>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8BFF435-EA7F-4E02-B514-49B4F6E85805}"/>
              </a:ext>
            </a:extLst>
          </p:cNvPr>
          <p:cNvSpPr>
            <a:spLocks xmlns:a="http://schemas.openxmlformats.org/drawingml/2006/main" noGrp="1"/>
          </p:cNvSpPr>
          <p:nvPr/>
        </p:nvSpPr>
        <p:spPr>
          <a:xfrm xmlns:a="http://schemas.openxmlformats.org/drawingml/2006/main">
            <a:off x="1014983" y="2203704"/>
            <a:ext cx="155448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xmlns:a="http://schemas.openxmlformats.org/drawingml/2006/main">
              <a:ext uri="{FF2B5EF4-FFF2-40B4-BE49-F238E27FC236}">
                <a16:creationId xmlns:a16="http://schemas.microsoft.com/office/drawing/2014/main" id="{F1F779AE-11F4-47BB-A762-0C85248FEA1D}"/>
              </a:ext>
            </a:extLst>
          </p:cNvPr>
          <p:cNvSpPr>
            <a:spLocks xmlns:a="http://schemas.openxmlformats.org/drawingml/2006/main" noGrp="1"/>
          </p:cNvSpPr>
          <p:nvPr/>
        </p:nvSpPr>
        <p:spPr>
          <a:xfrm xmlns:a="http://schemas.openxmlformats.org/drawingml/2006/main">
            <a:off x="2926080" y="2112264"/>
            <a:ext cx="1847088" cy="102412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B1758C03-E750-4979-9F7F-FAA6429A1A3F}"/>
              </a:ext>
            </a:extLst>
          </p:cNvPr>
          <p:cNvSpPr>
            <a:spLocks xmlns:a="http://schemas.openxmlformats.org/drawingml/2006/main" noGrp="1"/>
          </p:cNvSpPr>
          <p:nvPr/>
        </p:nvSpPr>
        <p:spPr>
          <a:xfrm xmlns:a="http://schemas.openxmlformats.org/drawingml/2006/main">
            <a:off x="3072384" y="2203704"/>
            <a:ext cx="1554480" cy="44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xmlns:a="http://schemas.openxmlformats.org/drawingml/2006/main">
              <a:ext uri="{FF2B5EF4-FFF2-40B4-BE49-F238E27FC236}">
                <a16:creationId xmlns:a16="http://schemas.microsoft.com/office/drawing/2014/main" id="{5AEC8C97-5663-4403-A365-080CCAFA7518}"/>
              </a:ext>
            </a:extLst>
          </p:cNvPr>
          <p:cNvSpPr>
            <a:spLocks xmlns:a="http://schemas.openxmlformats.org/drawingml/2006/main" noGrp="1"/>
          </p:cNvSpPr>
          <p:nvPr/>
        </p:nvSpPr>
        <p:spPr>
          <a:xfrm xmlns:a="http://schemas.openxmlformats.org/drawingml/2006/main">
            <a:off x="3072384" y="2660904"/>
            <a:ext cx="1554480" cy="3262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xmlns:a="http://schemas.openxmlformats.org/drawingml/2006/main">
              <a:ext uri="{FF2B5EF4-FFF2-40B4-BE49-F238E27FC236}">
                <a16:creationId xmlns:a16="http://schemas.microsoft.com/office/drawing/2014/main" id="{10BAEFA5-98B8-4FD8-A11C-0E387F6B85F4}"/>
              </a:ext>
            </a:extLst>
          </p:cNvPr>
          <p:cNvSpPr>
            <a:spLocks xmlns:a="http://schemas.openxmlformats.org/drawingml/2006/main" noGrp="1"/>
          </p:cNvSpPr>
          <p:nvPr/>
        </p:nvSpPr>
        <p:spPr>
          <a:xfrm xmlns:a="http://schemas.openxmlformats.org/drawingml/2006/main">
            <a:off x="877824" y="3621024"/>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690BED9-450F-4977-B163-55149B093DDA}"/>
              </a:ext>
            </a:extLst>
          </p:cNvPr>
          <p:cNvSpPr>
            <a:spLocks xmlns:a="http://schemas.openxmlformats.org/drawingml/2006/main" noGrp="1"/>
          </p:cNvSpPr>
          <p:nvPr/>
        </p:nvSpPr>
        <p:spPr>
          <a:xfrm xmlns:a="http://schemas.openxmlformats.org/drawingml/2006/main">
            <a:off x="1051560" y="3493008"/>
            <a:ext cx="3867911"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0" i="0">
                <a:solidFill>
                  <a:srgbClr val="1F2730"/>
                </a:solidFill>
                <a:latin typeface="Arial"/>
                <a:ea typeface="Arial"/>
                <a:cs typeface="Arial"/>
              </a:rPr>
              <a:t>All 194 validated completed calls enter the aggregate.</a:t>
            </a:r>
          </a:p>
        </p:txBody>
      </p:sp>
      <p:sp>
        <p:nvSpPr>
          <p:cNvPr id="16" name="Oval 15">
            <a:extLst xmlns:a="http://schemas.openxmlformats.org/drawingml/2006/main">
              <a:ext uri="{FF2B5EF4-FFF2-40B4-BE49-F238E27FC236}">
                <a16:creationId xmlns:a16="http://schemas.microsoft.com/office/drawing/2014/main" id="{0E22A6DB-CC7F-4DB3-9F06-4220288F8CAC}"/>
              </a:ext>
            </a:extLst>
          </p:cNvPr>
          <p:cNvSpPr>
            <a:spLocks xmlns:a="http://schemas.openxmlformats.org/drawingml/2006/main" noGrp="1"/>
          </p:cNvSpPr>
          <p:nvPr/>
        </p:nvSpPr>
        <p:spPr>
          <a:xfrm xmlns:a="http://schemas.openxmlformats.org/drawingml/2006/main">
            <a:off x="877824" y="4224527"/>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070BACD-2A71-4901-9976-0EFDFEEA75DA}"/>
              </a:ext>
            </a:extLst>
          </p:cNvPr>
          <p:cNvSpPr>
            <a:spLocks xmlns:a="http://schemas.openxmlformats.org/drawingml/2006/main" noGrp="1"/>
          </p:cNvSpPr>
          <p:nvPr/>
        </p:nvSpPr>
        <p:spPr>
          <a:xfrm xmlns:a="http://schemas.openxmlformats.org/drawingml/2006/main">
            <a:off x="1051560" y="4096511"/>
            <a:ext cx="3867911"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xmlns:a="http://schemas.openxmlformats.org/drawingml/2006/main">
              <a:ext uri="{FF2B5EF4-FFF2-40B4-BE49-F238E27FC236}">
                <a16:creationId xmlns:a16="http://schemas.microsoft.com/office/drawing/2014/main" id="{A92AF517-4CB5-472F-828F-8D876959A25F}"/>
              </a:ext>
            </a:extLst>
          </p:cNvPr>
          <p:cNvSpPr>
            <a:spLocks xmlns:a="http://schemas.openxmlformats.org/drawingml/2006/main" noGrp="1"/>
          </p:cNvSpPr>
          <p:nvPr/>
        </p:nvSpPr>
        <p:spPr>
          <a:xfrm xmlns:a="http://schemas.openxmlformats.org/drawingml/2006/main">
            <a:off x="877824" y="4828031"/>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81104E5-BCE0-464F-9E64-5103995A4D18}"/>
              </a:ext>
            </a:extLst>
          </p:cNvPr>
          <p:cNvSpPr>
            <a:spLocks xmlns:a="http://schemas.openxmlformats.org/drawingml/2006/main" noGrp="1"/>
          </p:cNvSpPr>
          <p:nvPr/>
        </p:nvSpPr>
        <p:spPr>
          <a:xfrm xmlns:a="http://schemas.openxmlformats.org/drawingml/2006/main">
            <a:off x="1051560" y="4700016"/>
            <a:ext cx="3867911"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0" i="0">
                <a:solidFill>
                  <a:srgbClr val="1F2730"/>
                </a:solidFill>
                <a:latin typeface="Arial"/>
                <a:ea typeface="Arial"/>
                <a:cs typeface="Arial"/>
              </a:rPr>
              <a:t>The 164 significant calls returned 1,833 rows before mitochondrial filtering.</a:t>
            </a:r>
          </a:p>
        </p:txBody>
      </p:sp>
      <p:sp>
        <p:nvSpPr>
          <p:cNvPr id="20" name="Rounded Rectangle 19">
            <a:extLst xmlns:a="http://schemas.openxmlformats.org/drawingml/2006/main">
              <a:ext uri="{FF2B5EF4-FFF2-40B4-BE49-F238E27FC236}">
                <a16:creationId xmlns:a16="http://schemas.microsoft.com/office/drawing/2014/main" id="{1936370E-3C65-4BFE-B81C-F6A09158745F}"/>
              </a:ext>
            </a:extLst>
          </p:cNvPr>
          <p:cNvSpPr>
            <a:spLocks xmlns:a="http://schemas.openxmlformats.org/drawingml/2006/main" noGrp="1"/>
          </p:cNvSpPr>
          <p:nvPr/>
        </p:nvSpPr>
        <p:spPr>
          <a:xfrm xmlns:a="http://schemas.openxmlformats.org/drawingml/2006/main">
            <a:off x="5532120" y="1344168"/>
            <a:ext cx="6035040" cy="4480560"/>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01D8C6B2-E2CA-4BEC-8B41-6FAAF6E50FCA}"/>
              </a:ext>
            </a:extLst>
          </p:cNvPr>
          <p:cNvSpPr>
            <a:spLocks xmlns:a="http://schemas.openxmlformats.org/drawingml/2006/main" noGrp="1"/>
          </p:cNvSpPr>
          <p:nvPr/>
        </p:nvSpPr>
        <p:spPr>
          <a:xfrm xmlns:a="http://schemas.openxmlformats.org/drawingml/2006/main">
            <a:off x="5824728" y="1645920"/>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0E47F582-8212-433C-916F-D27A1E7767FE}"/>
              </a:ext>
            </a:extLst>
          </p:cNvPr>
          <p:cNvSpPr>
            <a:spLocks xmlns:a="http://schemas.openxmlformats.org/drawingml/2006/main" noGrp="1"/>
          </p:cNvSpPr>
          <p:nvPr/>
        </p:nvSpPr>
        <p:spPr>
          <a:xfrm xmlns:a="http://schemas.openxmlformats.org/drawingml/2006/main">
            <a:off x="5971032" y="1618488"/>
            <a:ext cx="5294376"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xmlns:a="http://schemas.openxmlformats.org/drawingml/2006/main">
              <a:ext uri="{FF2B5EF4-FFF2-40B4-BE49-F238E27FC236}">
                <a16:creationId xmlns:a16="http://schemas.microsoft.com/office/drawing/2014/main" id="{59BD84AB-21C2-4E27-AD34-674BA135B973}"/>
              </a:ext>
            </a:extLst>
          </p:cNvPr>
          <p:cNvSpPr>
            <a:spLocks xmlns:a="http://schemas.openxmlformats.org/drawingml/2006/main" noGrp="1"/>
          </p:cNvSpPr>
          <p:nvPr/>
        </p:nvSpPr>
        <p:spPr>
          <a:xfrm xmlns:a="http://schemas.openxmlformats.org/drawingml/2006/main">
            <a:off x="5843016" y="2148840"/>
            <a:ext cx="5330952" cy="4862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xmlns:a="http://schemas.openxmlformats.org/drawingml/2006/main">
              <a:ext uri="{FF2B5EF4-FFF2-40B4-BE49-F238E27FC236}">
                <a16:creationId xmlns:a16="http://schemas.microsoft.com/office/drawing/2014/main" id="{73CDC9C2-50C7-4D3C-AF7E-55F140D966FD}"/>
              </a:ext>
            </a:extLst>
          </p:cNvPr>
          <p:cNvSpPr>
            <a:spLocks xmlns:a="http://schemas.openxmlformats.org/drawingml/2006/main" noGrp="1"/>
          </p:cNvSpPr>
          <p:nvPr/>
        </p:nvSpPr>
        <p:spPr>
          <a:xfrm xmlns:a="http://schemas.openxmlformats.org/drawingml/2006/main">
            <a:off x="5843016" y="2898648"/>
            <a:ext cx="233172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9D9FDC4C-4A3A-4DD8-A597-002E76FF6C21}"/>
              </a:ext>
            </a:extLst>
          </p:cNvPr>
          <p:cNvSpPr>
            <a:spLocks xmlns:a="http://schemas.openxmlformats.org/drawingml/2006/main" noGrp="1"/>
          </p:cNvSpPr>
          <p:nvPr/>
        </p:nvSpPr>
        <p:spPr>
          <a:xfrm xmlns:a="http://schemas.openxmlformats.org/drawingml/2006/main">
            <a:off x="5897879" y="2953512"/>
            <a:ext cx="2221991"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xmlns:a="http://schemas.openxmlformats.org/drawingml/2006/main">
              <a:ext uri="{FF2B5EF4-FFF2-40B4-BE49-F238E27FC236}">
                <a16:creationId xmlns:a16="http://schemas.microsoft.com/office/drawing/2014/main" id="{85FFE06F-8F01-4BA0-89A6-B4F53ACB4FF0}"/>
              </a:ext>
            </a:extLst>
          </p:cNvPr>
          <p:cNvSpPr>
            <a:spLocks xmlns:a="http://schemas.openxmlformats.org/drawingml/2006/main" noGrp="1"/>
          </p:cNvSpPr>
          <p:nvPr/>
        </p:nvSpPr>
        <p:spPr>
          <a:xfrm xmlns:a="http://schemas.openxmlformats.org/drawingml/2006/main">
            <a:off x="8174736" y="2898648"/>
            <a:ext cx="91440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CB39C004-A0AF-427C-BF60-B3241F6BA651}"/>
              </a:ext>
            </a:extLst>
          </p:cNvPr>
          <p:cNvSpPr>
            <a:spLocks xmlns:a="http://schemas.openxmlformats.org/drawingml/2006/main" noGrp="1"/>
          </p:cNvSpPr>
          <p:nvPr/>
        </p:nvSpPr>
        <p:spPr>
          <a:xfrm xmlns:a="http://schemas.openxmlformats.org/drawingml/2006/main">
            <a:off x="8229600" y="2953512"/>
            <a:ext cx="80467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xmlns:a="http://schemas.openxmlformats.org/drawingml/2006/main">
              <a:ext uri="{FF2B5EF4-FFF2-40B4-BE49-F238E27FC236}">
                <a16:creationId xmlns:a16="http://schemas.microsoft.com/office/drawing/2014/main" id="{C5618740-BC50-4D9F-BAE2-F661C433628F}"/>
              </a:ext>
            </a:extLst>
          </p:cNvPr>
          <p:cNvSpPr>
            <a:spLocks xmlns:a="http://schemas.openxmlformats.org/drawingml/2006/main" noGrp="1"/>
          </p:cNvSpPr>
          <p:nvPr/>
        </p:nvSpPr>
        <p:spPr>
          <a:xfrm xmlns:a="http://schemas.openxmlformats.org/drawingml/2006/main">
            <a:off x="9089136" y="2898648"/>
            <a:ext cx="105156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0676A43F-524F-4BE8-8BFF-4CEE71D7E5FC}"/>
              </a:ext>
            </a:extLst>
          </p:cNvPr>
          <p:cNvSpPr>
            <a:spLocks xmlns:a="http://schemas.openxmlformats.org/drawingml/2006/main" noGrp="1"/>
          </p:cNvSpPr>
          <p:nvPr/>
        </p:nvSpPr>
        <p:spPr>
          <a:xfrm xmlns:a="http://schemas.openxmlformats.org/drawingml/2006/main">
            <a:off x="9144000" y="2953512"/>
            <a:ext cx="941831"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xmlns:a="http://schemas.openxmlformats.org/drawingml/2006/main">
              <a:ext uri="{FF2B5EF4-FFF2-40B4-BE49-F238E27FC236}">
                <a16:creationId xmlns:a16="http://schemas.microsoft.com/office/drawing/2014/main" id="{B3804DD9-B104-45E3-92C1-8288B3253BB1}"/>
              </a:ext>
            </a:extLst>
          </p:cNvPr>
          <p:cNvSpPr>
            <a:spLocks xmlns:a="http://schemas.openxmlformats.org/drawingml/2006/main" noGrp="1"/>
          </p:cNvSpPr>
          <p:nvPr/>
        </p:nvSpPr>
        <p:spPr>
          <a:xfrm xmlns:a="http://schemas.openxmlformats.org/drawingml/2006/main">
            <a:off x="10140696" y="2898648"/>
            <a:ext cx="105156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3AF1CD17-1ACA-4789-951B-FF6442209312}"/>
              </a:ext>
            </a:extLst>
          </p:cNvPr>
          <p:cNvSpPr>
            <a:spLocks xmlns:a="http://schemas.openxmlformats.org/drawingml/2006/main" noGrp="1"/>
          </p:cNvSpPr>
          <p:nvPr/>
        </p:nvSpPr>
        <p:spPr>
          <a:xfrm xmlns:a="http://schemas.openxmlformats.org/drawingml/2006/main">
            <a:off x="10195560" y="2953512"/>
            <a:ext cx="941831"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xmlns:a="http://schemas.openxmlformats.org/drawingml/2006/main">
              <a:ext uri="{FF2B5EF4-FFF2-40B4-BE49-F238E27FC236}">
                <a16:creationId xmlns:a16="http://schemas.microsoft.com/office/drawing/2014/main" id="{889F38DA-EFFD-4A17-BC7D-B9B78B35D9FC}"/>
              </a:ext>
            </a:extLst>
          </p:cNvPr>
          <p:cNvSpPr>
            <a:spLocks xmlns:a="http://schemas.openxmlformats.org/drawingml/2006/main" noGrp="1"/>
          </p:cNvSpPr>
          <p:nvPr/>
        </p:nvSpPr>
        <p:spPr>
          <a:xfrm xmlns:a="http://schemas.openxmlformats.org/drawingml/2006/main">
            <a:off x="5843016" y="3328415"/>
            <a:ext cx="233172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7706D989-B23A-486D-A9F7-E1CB60522E53}"/>
              </a:ext>
            </a:extLst>
          </p:cNvPr>
          <p:cNvSpPr>
            <a:spLocks xmlns:a="http://schemas.openxmlformats.org/drawingml/2006/main" noGrp="1"/>
          </p:cNvSpPr>
          <p:nvPr/>
        </p:nvSpPr>
        <p:spPr>
          <a:xfrm xmlns:a="http://schemas.openxmlformats.org/drawingml/2006/main">
            <a:off x="5897879" y="3374135"/>
            <a:ext cx="222199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xmlns:a="http://schemas.openxmlformats.org/drawingml/2006/main">
              <a:ext uri="{FF2B5EF4-FFF2-40B4-BE49-F238E27FC236}">
                <a16:creationId xmlns:a16="http://schemas.microsoft.com/office/drawing/2014/main" id="{91F1B9A0-A745-4ED4-BD8A-ECD1E2033340}"/>
              </a:ext>
            </a:extLst>
          </p:cNvPr>
          <p:cNvSpPr>
            <a:spLocks xmlns:a="http://schemas.openxmlformats.org/drawingml/2006/main" noGrp="1"/>
          </p:cNvSpPr>
          <p:nvPr/>
        </p:nvSpPr>
        <p:spPr>
          <a:xfrm xmlns:a="http://schemas.openxmlformats.org/drawingml/2006/main">
            <a:off x="8174736" y="3328415"/>
            <a:ext cx="9144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8E4E0F78-09C0-419B-81B4-6FC5357B2A68}"/>
              </a:ext>
            </a:extLst>
          </p:cNvPr>
          <p:cNvSpPr>
            <a:spLocks xmlns:a="http://schemas.openxmlformats.org/drawingml/2006/main" noGrp="1"/>
          </p:cNvSpPr>
          <p:nvPr/>
        </p:nvSpPr>
        <p:spPr>
          <a:xfrm xmlns:a="http://schemas.openxmlformats.org/drawingml/2006/main">
            <a:off x="8229600" y="3374135"/>
            <a:ext cx="80467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xmlns:a="http://schemas.openxmlformats.org/drawingml/2006/main">
              <a:ext uri="{FF2B5EF4-FFF2-40B4-BE49-F238E27FC236}">
                <a16:creationId xmlns:a16="http://schemas.microsoft.com/office/drawing/2014/main" id="{3FD8BA6C-ED61-44BF-8DBE-846F0D27DE36}"/>
              </a:ext>
            </a:extLst>
          </p:cNvPr>
          <p:cNvSpPr>
            <a:spLocks xmlns:a="http://schemas.openxmlformats.org/drawingml/2006/main" noGrp="1"/>
          </p:cNvSpPr>
          <p:nvPr/>
        </p:nvSpPr>
        <p:spPr>
          <a:xfrm xmlns:a="http://schemas.openxmlformats.org/drawingml/2006/main">
            <a:off x="9089136" y="3328415"/>
            <a:ext cx="10515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3649F84B-A5B6-4B86-B786-AD084099D13C}"/>
              </a:ext>
            </a:extLst>
          </p:cNvPr>
          <p:cNvSpPr>
            <a:spLocks xmlns:a="http://schemas.openxmlformats.org/drawingml/2006/main" noGrp="1"/>
          </p:cNvSpPr>
          <p:nvPr/>
        </p:nvSpPr>
        <p:spPr>
          <a:xfrm xmlns:a="http://schemas.openxmlformats.org/drawingml/2006/main">
            <a:off x="9144000" y="3374135"/>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xmlns:a="http://schemas.openxmlformats.org/drawingml/2006/main">
              <a:ext uri="{FF2B5EF4-FFF2-40B4-BE49-F238E27FC236}">
                <a16:creationId xmlns:a16="http://schemas.microsoft.com/office/drawing/2014/main" id="{863FD31A-062E-4867-86C0-B6AD67E657DD}"/>
              </a:ext>
            </a:extLst>
          </p:cNvPr>
          <p:cNvSpPr>
            <a:spLocks xmlns:a="http://schemas.openxmlformats.org/drawingml/2006/main" noGrp="1"/>
          </p:cNvSpPr>
          <p:nvPr/>
        </p:nvSpPr>
        <p:spPr>
          <a:xfrm xmlns:a="http://schemas.openxmlformats.org/drawingml/2006/main">
            <a:off x="10140696" y="3328415"/>
            <a:ext cx="10515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7F425D5C-EB06-48A6-B5EF-4349DD606950}"/>
              </a:ext>
            </a:extLst>
          </p:cNvPr>
          <p:cNvSpPr>
            <a:spLocks xmlns:a="http://schemas.openxmlformats.org/drawingml/2006/main" noGrp="1"/>
          </p:cNvSpPr>
          <p:nvPr/>
        </p:nvSpPr>
        <p:spPr>
          <a:xfrm xmlns:a="http://schemas.openxmlformats.org/drawingml/2006/main">
            <a:off x="10195560" y="3374135"/>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xmlns:a="http://schemas.openxmlformats.org/drawingml/2006/main">
              <a:ext uri="{FF2B5EF4-FFF2-40B4-BE49-F238E27FC236}">
                <a16:creationId xmlns:a16="http://schemas.microsoft.com/office/drawing/2014/main" id="{B6976721-DBD2-406D-BAB0-B5E0FA0EF649}"/>
              </a:ext>
            </a:extLst>
          </p:cNvPr>
          <p:cNvSpPr>
            <a:spLocks xmlns:a="http://schemas.openxmlformats.org/drawingml/2006/main" noGrp="1"/>
          </p:cNvSpPr>
          <p:nvPr/>
        </p:nvSpPr>
        <p:spPr>
          <a:xfrm xmlns:a="http://schemas.openxmlformats.org/drawingml/2006/main">
            <a:off x="5843016" y="3785615"/>
            <a:ext cx="2331720" cy="457200"/>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9A439FC0-6DD3-4F4B-80C9-DFD4636351E8}"/>
              </a:ext>
            </a:extLst>
          </p:cNvPr>
          <p:cNvSpPr>
            <a:spLocks xmlns:a="http://schemas.openxmlformats.org/drawingml/2006/main" noGrp="1"/>
          </p:cNvSpPr>
          <p:nvPr/>
        </p:nvSpPr>
        <p:spPr>
          <a:xfrm xmlns:a="http://schemas.openxmlformats.org/drawingml/2006/main">
            <a:off x="5897879" y="3831335"/>
            <a:ext cx="222199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xmlns:a="http://schemas.openxmlformats.org/drawingml/2006/main">
              <a:ext uri="{FF2B5EF4-FFF2-40B4-BE49-F238E27FC236}">
                <a16:creationId xmlns:a16="http://schemas.microsoft.com/office/drawing/2014/main" id="{55B2FB10-AC0F-4E77-B85E-E895C9C0B612}"/>
              </a:ext>
            </a:extLst>
          </p:cNvPr>
          <p:cNvSpPr>
            <a:spLocks xmlns:a="http://schemas.openxmlformats.org/drawingml/2006/main" noGrp="1"/>
          </p:cNvSpPr>
          <p:nvPr/>
        </p:nvSpPr>
        <p:spPr>
          <a:xfrm xmlns:a="http://schemas.openxmlformats.org/drawingml/2006/main">
            <a:off x="8174736" y="3785615"/>
            <a:ext cx="914400" cy="457200"/>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7095ADD2-F7B8-4524-B164-B885378DB3D6}"/>
              </a:ext>
            </a:extLst>
          </p:cNvPr>
          <p:cNvSpPr>
            <a:spLocks xmlns:a="http://schemas.openxmlformats.org/drawingml/2006/main" noGrp="1"/>
          </p:cNvSpPr>
          <p:nvPr/>
        </p:nvSpPr>
        <p:spPr>
          <a:xfrm xmlns:a="http://schemas.openxmlformats.org/drawingml/2006/main">
            <a:off x="8229600" y="3831335"/>
            <a:ext cx="80467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xmlns:a="http://schemas.openxmlformats.org/drawingml/2006/main">
              <a:ext uri="{FF2B5EF4-FFF2-40B4-BE49-F238E27FC236}">
                <a16:creationId xmlns:a16="http://schemas.microsoft.com/office/drawing/2014/main" id="{12D2C864-5084-4982-98DE-DDA79A091028}"/>
              </a:ext>
            </a:extLst>
          </p:cNvPr>
          <p:cNvSpPr>
            <a:spLocks xmlns:a="http://schemas.openxmlformats.org/drawingml/2006/main" noGrp="1"/>
          </p:cNvSpPr>
          <p:nvPr/>
        </p:nvSpPr>
        <p:spPr>
          <a:xfrm xmlns:a="http://schemas.openxmlformats.org/drawingml/2006/main">
            <a:off x="9089136" y="3785615"/>
            <a:ext cx="1051560" cy="457200"/>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91D97A44-FA35-41FA-90C6-92D81B74B6BA}"/>
              </a:ext>
            </a:extLst>
          </p:cNvPr>
          <p:cNvSpPr>
            <a:spLocks xmlns:a="http://schemas.openxmlformats.org/drawingml/2006/main" noGrp="1"/>
          </p:cNvSpPr>
          <p:nvPr/>
        </p:nvSpPr>
        <p:spPr>
          <a:xfrm xmlns:a="http://schemas.openxmlformats.org/drawingml/2006/main">
            <a:off x="9144000" y="3831335"/>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xmlns:a="http://schemas.openxmlformats.org/drawingml/2006/main">
              <a:ext uri="{FF2B5EF4-FFF2-40B4-BE49-F238E27FC236}">
                <a16:creationId xmlns:a16="http://schemas.microsoft.com/office/drawing/2014/main" id="{D1B7EA3C-3E6B-4E7B-BE30-1ECA7D452F54}"/>
              </a:ext>
            </a:extLst>
          </p:cNvPr>
          <p:cNvSpPr>
            <a:spLocks xmlns:a="http://schemas.openxmlformats.org/drawingml/2006/main" noGrp="1"/>
          </p:cNvSpPr>
          <p:nvPr/>
        </p:nvSpPr>
        <p:spPr>
          <a:xfrm xmlns:a="http://schemas.openxmlformats.org/drawingml/2006/main">
            <a:off x="10140696" y="3785615"/>
            <a:ext cx="1051560" cy="457200"/>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B4B7F4C1-9F2F-49AD-BB70-E9DF95753D81}"/>
              </a:ext>
            </a:extLst>
          </p:cNvPr>
          <p:cNvSpPr>
            <a:spLocks xmlns:a="http://schemas.openxmlformats.org/drawingml/2006/main" noGrp="1"/>
          </p:cNvSpPr>
          <p:nvPr/>
        </p:nvSpPr>
        <p:spPr>
          <a:xfrm xmlns:a="http://schemas.openxmlformats.org/drawingml/2006/main">
            <a:off x="10195560" y="3831335"/>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xmlns:a="http://schemas.openxmlformats.org/drawingml/2006/main">
              <a:ext uri="{FF2B5EF4-FFF2-40B4-BE49-F238E27FC236}">
                <a16:creationId xmlns:a16="http://schemas.microsoft.com/office/drawing/2014/main" id="{D2F20C1D-F78F-4C83-A90B-093BCB57B5DF}"/>
              </a:ext>
            </a:extLst>
          </p:cNvPr>
          <p:cNvSpPr>
            <a:spLocks xmlns:a="http://schemas.openxmlformats.org/drawingml/2006/main" noGrp="1"/>
          </p:cNvSpPr>
          <p:nvPr/>
        </p:nvSpPr>
        <p:spPr>
          <a:xfrm xmlns:a="http://schemas.openxmlformats.org/drawingml/2006/main">
            <a:off x="5843016" y="4242816"/>
            <a:ext cx="233172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903E20B3-CF4F-4A93-801D-30F7E8029068}"/>
              </a:ext>
            </a:extLst>
          </p:cNvPr>
          <p:cNvSpPr>
            <a:spLocks xmlns:a="http://schemas.openxmlformats.org/drawingml/2006/main" noGrp="1"/>
          </p:cNvSpPr>
          <p:nvPr/>
        </p:nvSpPr>
        <p:spPr>
          <a:xfrm xmlns:a="http://schemas.openxmlformats.org/drawingml/2006/main">
            <a:off x="5897879" y="4288536"/>
            <a:ext cx="222199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xmlns:a="http://schemas.openxmlformats.org/drawingml/2006/main">
              <a:ext uri="{FF2B5EF4-FFF2-40B4-BE49-F238E27FC236}">
                <a16:creationId xmlns:a16="http://schemas.microsoft.com/office/drawing/2014/main" id="{E1DA88D7-AE9C-489E-8372-8CCC2159709C}"/>
              </a:ext>
            </a:extLst>
          </p:cNvPr>
          <p:cNvSpPr>
            <a:spLocks xmlns:a="http://schemas.openxmlformats.org/drawingml/2006/main" noGrp="1"/>
          </p:cNvSpPr>
          <p:nvPr/>
        </p:nvSpPr>
        <p:spPr>
          <a:xfrm xmlns:a="http://schemas.openxmlformats.org/drawingml/2006/main">
            <a:off x="8174736" y="4242816"/>
            <a:ext cx="9144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0F1DC7C2-CBC8-420E-8449-41E5F062D0FE}"/>
              </a:ext>
            </a:extLst>
          </p:cNvPr>
          <p:cNvSpPr>
            <a:spLocks xmlns:a="http://schemas.openxmlformats.org/drawingml/2006/main" noGrp="1"/>
          </p:cNvSpPr>
          <p:nvPr/>
        </p:nvSpPr>
        <p:spPr>
          <a:xfrm xmlns:a="http://schemas.openxmlformats.org/drawingml/2006/main">
            <a:off x="8229600" y="4288536"/>
            <a:ext cx="80467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xmlns:a="http://schemas.openxmlformats.org/drawingml/2006/main">
              <a:ext uri="{FF2B5EF4-FFF2-40B4-BE49-F238E27FC236}">
                <a16:creationId xmlns:a16="http://schemas.microsoft.com/office/drawing/2014/main" id="{910C581E-1DAD-46E7-A140-7E7BD4780D86}"/>
              </a:ext>
            </a:extLst>
          </p:cNvPr>
          <p:cNvSpPr>
            <a:spLocks xmlns:a="http://schemas.openxmlformats.org/drawingml/2006/main" noGrp="1"/>
          </p:cNvSpPr>
          <p:nvPr/>
        </p:nvSpPr>
        <p:spPr>
          <a:xfrm xmlns:a="http://schemas.openxmlformats.org/drawingml/2006/main">
            <a:off x="9089136" y="4242816"/>
            <a:ext cx="10515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156B8896-EB75-41CE-A156-2660FFC8BAF4}"/>
              </a:ext>
            </a:extLst>
          </p:cNvPr>
          <p:cNvSpPr>
            <a:spLocks xmlns:a="http://schemas.openxmlformats.org/drawingml/2006/main" noGrp="1"/>
          </p:cNvSpPr>
          <p:nvPr/>
        </p:nvSpPr>
        <p:spPr>
          <a:xfrm xmlns:a="http://schemas.openxmlformats.org/drawingml/2006/main">
            <a:off x="9144000" y="4288536"/>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xmlns:a="http://schemas.openxmlformats.org/drawingml/2006/main">
              <a:ext uri="{FF2B5EF4-FFF2-40B4-BE49-F238E27FC236}">
                <a16:creationId xmlns:a16="http://schemas.microsoft.com/office/drawing/2014/main" id="{1B1BB3F7-04AA-44BA-8B8D-F3858EDA1925}"/>
              </a:ext>
            </a:extLst>
          </p:cNvPr>
          <p:cNvSpPr>
            <a:spLocks xmlns:a="http://schemas.openxmlformats.org/drawingml/2006/main" noGrp="1"/>
          </p:cNvSpPr>
          <p:nvPr/>
        </p:nvSpPr>
        <p:spPr>
          <a:xfrm xmlns:a="http://schemas.openxmlformats.org/drawingml/2006/main">
            <a:off x="10140696" y="4242816"/>
            <a:ext cx="10515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0523E08A-8422-4F00-872A-58443A885589}"/>
              </a:ext>
            </a:extLst>
          </p:cNvPr>
          <p:cNvSpPr>
            <a:spLocks xmlns:a="http://schemas.openxmlformats.org/drawingml/2006/main" noGrp="1"/>
          </p:cNvSpPr>
          <p:nvPr/>
        </p:nvSpPr>
        <p:spPr>
          <a:xfrm xmlns:a="http://schemas.openxmlformats.org/drawingml/2006/main">
            <a:off x="10195560" y="4288536"/>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xmlns:a="http://schemas.openxmlformats.org/drawingml/2006/main">
              <a:ext uri="{FF2B5EF4-FFF2-40B4-BE49-F238E27FC236}">
                <a16:creationId xmlns:a16="http://schemas.microsoft.com/office/drawing/2014/main" id="{5DA43788-B436-482C-B52E-17CA35FF74BA}"/>
              </a:ext>
            </a:extLst>
          </p:cNvPr>
          <p:cNvSpPr>
            <a:spLocks xmlns:a="http://schemas.openxmlformats.org/drawingml/2006/main" noGrp="1"/>
          </p:cNvSpPr>
          <p:nvPr/>
        </p:nvSpPr>
        <p:spPr>
          <a:xfrm xmlns:a="http://schemas.openxmlformats.org/drawingml/2006/main">
            <a:off x="5961888" y="4882896"/>
            <a:ext cx="5029200"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215A4499-ABED-41B4-B689-BBEB37944934}"/>
              </a:ext>
            </a:extLst>
          </p:cNvPr>
          <p:cNvSpPr>
            <a:spLocks xmlns:a="http://schemas.openxmlformats.org/drawingml/2006/main" noGrp="1"/>
          </p:cNvSpPr>
          <p:nvPr/>
        </p:nvSpPr>
        <p:spPr>
          <a:xfrm xmlns:a="http://schemas.openxmlformats.org/drawingml/2006/main">
            <a:off x="530352" y="411480"/>
            <a:ext cx="10652760" cy="3785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a:solidFill>
                  <a:srgbClr val="0F233D"/>
                </a:solidFill>
                <a:latin typeface="Arial"/>
                <a:ea typeface="Arial"/>
                <a:cs typeface="Arial"/>
              </a:rPr>
              <a:t>M</a:t>
            </a:r>
            <a:r>
              <a:rPr sz="2100" b="1" i="0">
                <a:solidFill>
                  <a:srgbClr val="0F233D"/>
                </a:solidFill>
                <a:latin typeface="Arial"/>
                <a:ea typeface="Arial"/>
                <a:cs typeface="Arial"/>
              </a:rPr>
              <a:t>itochondrial query genes</a:t>
            </a:r>
          </a:p>
        </p:txBody>
      </p:sp>
      <p:sp>
        <p:nvSpPr>
          <p:cNvPr id="5" name="Rounded Rectangle 4">
            <a:extLst xmlns:a="http://schemas.openxmlformats.org/drawingml/2006/main">
              <a:ext uri="{FF2B5EF4-FFF2-40B4-BE49-F238E27FC236}">
                <a16:creationId xmlns:a16="http://schemas.microsoft.com/office/drawing/2014/main" id="{8DE7C9FC-F4F5-4C9D-BE4B-F8CC2DEE3039}"/>
              </a:ext>
            </a:extLst>
          </p:cNvPr>
          <p:cNvSpPr>
            <a:spLocks xmlns:a="http://schemas.openxmlformats.org/drawingml/2006/main" noGrp="1"/>
          </p:cNvSpPr>
          <p:nvPr/>
        </p:nvSpPr>
        <p:spPr>
          <a:xfrm xmlns:a="http://schemas.openxmlformats.org/drawingml/2006/main">
            <a:off x="603504" y="1353312"/>
            <a:ext cx="3721608" cy="4526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CCF4AEC8-028E-4049-8919-A3A6BC909D71}"/>
              </a:ext>
            </a:extLst>
          </p:cNvPr>
          <p:cNvSpPr>
            <a:spLocks xmlns:a="http://schemas.openxmlformats.org/drawingml/2006/main" noGrp="1"/>
          </p:cNvSpPr>
          <p:nvPr/>
        </p:nvSpPr>
        <p:spPr>
          <a:xfrm xmlns:a="http://schemas.openxmlformats.org/drawingml/2006/main">
            <a:off x="859536" y="1655064"/>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99E86D80-4F35-4E9D-B4CF-F31E5727EF07}"/>
              </a:ext>
            </a:extLst>
          </p:cNvPr>
          <p:cNvSpPr>
            <a:spLocks xmlns:a="http://schemas.openxmlformats.org/drawingml/2006/main" noGrp="1"/>
          </p:cNvSpPr>
          <p:nvPr/>
        </p:nvSpPr>
        <p:spPr>
          <a:xfrm xmlns:a="http://schemas.openxmlformats.org/drawingml/2006/main">
            <a:off x="1005839" y="1627632"/>
            <a:ext cx="3035808"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xmlns:a="http://schemas.openxmlformats.org/drawingml/2006/main">
              <a:ext uri="{FF2B5EF4-FFF2-40B4-BE49-F238E27FC236}">
                <a16:creationId xmlns:a16="http://schemas.microsoft.com/office/drawing/2014/main" id="{A0151829-EEB6-4971-BDF2-C77BF1063965}"/>
              </a:ext>
            </a:extLst>
          </p:cNvPr>
          <p:cNvSpPr>
            <a:spLocks xmlns:a="http://schemas.openxmlformats.org/drawingml/2006/main" noGrp="1"/>
          </p:cNvSpPr>
          <p:nvPr/>
        </p:nvSpPr>
        <p:spPr>
          <a:xfrm xmlns:a="http://schemas.openxmlformats.org/drawingml/2006/main">
            <a:off x="859536" y="2267712"/>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578213C-EE6C-40FF-960C-489204F531A0}"/>
              </a:ext>
            </a:extLst>
          </p:cNvPr>
          <p:cNvSpPr>
            <a:spLocks xmlns:a="http://schemas.openxmlformats.org/drawingml/2006/main" noGrp="1"/>
          </p:cNvSpPr>
          <p:nvPr/>
        </p:nvSpPr>
        <p:spPr>
          <a:xfrm xmlns:a="http://schemas.openxmlformats.org/drawingml/2006/main">
            <a:off x="1033271" y="2139696"/>
            <a:ext cx="299008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xmlns:a="http://schemas.openxmlformats.org/drawingml/2006/main">
              <a:ext uri="{FF2B5EF4-FFF2-40B4-BE49-F238E27FC236}">
                <a16:creationId xmlns:a16="http://schemas.microsoft.com/office/drawing/2014/main" id="{C0ADBA6A-AFFB-488D-A107-5DC268F15299}"/>
              </a:ext>
            </a:extLst>
          </p:cNvPr>
          <p:cNvSpPr>
            <a:spLocks xmlns:a="http://schemas.openxmlformats.org/drawingml/2006/main" noGrp="1"/>
          </p:cNvSpPr>
          <p:nvPr/>
        </p:nvSpPr>
        <p:spPr>
          <a:xfrm xmlns:a="http://schemas.openxmlformats.org/drawingml/2006/main">
            <a:off x="859536" y="2834640"/>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229298B-06BB-400F-83B1-AAAC4072591F}"/>
              </a:ext>
            </a:extLst>
          </p:cNvPr>
          <p:cNvSpPr>
            <a:spLocks xmlns:a="http://schemas.openxmlformats.org/drawingml/2006/main" noGrp="1"/>
          </p:cNvSpPr>
          <p:nvPr/>
        </p:nvSpPr>
        <p:spPr>
          <a:xfrm xmlns:a="http://schemas.openxmlformats.org/drawingml/2006/main">
            <a:off x="1033271" y="2706624"/>
            <a:ext cx="299008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xmlns:a="http://schemas.openxmlformats.org/drawingml/2006/main">
              <a:ext uri="{FF2B5EF4-FFF2-40B4-BE49-F238E27FC236}">
                <a16:creationId xmlns:a16="http://schemas.microsoft.com/office/drawing/2014/main" id="{B822E0FE-0F09-484C-9F2D-B2B7E0D7E11C}"/>
              </a:ext>
            </a:extLst>
          </p:cNvPr>
          <p:cNvSpPr>
            <a:spLocks xmlns:a="http://schemas.openxmlformats.org/drawingml/2006/main" noGrp="1"/>
          </p:cNvSpPr>
          <p:nvPr/>
        </p:nvSpPr>
        <p:spPr>
          <a:xfrm xmlns:a="http://schemas.openxmlformats.org/drawingml/2006/main">
            <a:off x="859536" y="3401568"/>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F6D8D062-AAD8-4621-AB56-9EF8A120EB96}"/>
              </a:ext>
            </a:extLst>
          </p:cNvPr>
          <p:cNvSpPr>
            <a:spLocks xmlns:a="http://schemas.openxmlformats.org/drawingml/2006/main" noGrp="1"/>
          </p:cNvSpPr>
          <p:nvPr/>
        </p:nvSpPr>
        <p:spPr>
          <a:xfrm xmlns:a="http://schemas.openxmlformats.org/drawingml/2006/main">
            <a:off x="1033271" y="3273552"/>
            <a:ext cx="299008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xmlns:a="http://schemas.openxmlformats.org/drawingml/2006/main">
              <a:ext uri="{FF2B5EF4-FFF2-40B4-BE49-F238E27FC236}">
                <a16:creationId xmlns:a16="http://schemas.microsoft.com/office/drawing/2014/main" id="{CCAFE78C-2226-4809-9008-90D8C39DB040}"/>
              </a:ext>
            </a:extLst>
          </p:cNvPr>
          <p:cNvSpPr>
            <a:spLocks xmlns:a="http://schemas.openxmlformats.org/drawingml/2006/main" noGrp="1"/>
          </p:cNvSpPr>
          <p:nvPr/>
        </p:nvSpPr>
        <p:spPr>
          <a:xfrm xmlns:a="http://schemas.openxmlformats.org/drawingml/2006/main">
            <a:off x="859536" y="3968496"/>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06C362E-61A0-4B7A-9DDC-433728001AB4}"/>
              </a:ext>
            </a:extLst>
          </p:cNvPr>
          <p:cNvSpPr>
            <a:spLocks xmlns:a="http://schemas.openxmlformats.org/drawingml/2006/main" noGrp="1"/>
          </p:cNvSpPr>
          <p:nvPr/>
        </p:nvSpPr>
        <p:spPr>
          <a:xfrm xmlns:a="http://schemas.openxmlformats.org/drawingml/2006/main">
            <a:off x="1033271" y="3840480"/>
            <a:ext cx="2990088" cy="4370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xmlns:a="http://schemas.openxmlformats.org/drawingml/2006/main">
              <a:ext uri="{FF2B5EF4-FFF2-40B4-BE49-F238E27FC236}">
                <a16:creationId xmlns:a16="http://schemas.microsoft.com/office/drawing/2014/main" id="{885F3F40-EE89-4AEF-B303-0BFAF284546A}"/>
              </a:ext>
            </a:extLst>
          </p:cNvPr>
          <p:cNvSpPr>
            <a:spLocks xmlns:a="http://schemas.openxmlformats.org/drawingml/2006/main" noGrp="1"/>
          </p:cNvSpPr>
          <p:nvPr/>
        </p:nvSpPr>
        <p:spPr>
          <a:xfrm xmlns:a="http://schemas.openxmlformats.org/drawingml/2006/main">
            <a:off x="859536" y="4709160"/>
            <a:ext cx="3145536" cy="786384"/>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982A7A1-7F77-4ECF-AC6A-EF1F25B01E18}"/>
              </a:ext>
            </a:extLst>
          </p:cNvPr>
          <p:cNvSpPr>
            <a:spLocks xmlns:a="http://schemas.openxmlformats.org/drawingml/2006/main" noGrp="1"/>
          </p:cNvSpPr>
          <p:nvPr/>
        </p:nvSpPr>
        <p:spPr>
          <a:xfrm xmlns:a="http://schemas.openxmlformats.org/drawingml/2006/main">
            <a:off x="1042415" y="4910328"/>
            <a:ext cx="2788920" cy="4001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Query = DEG rule ∩ core_mito_protein</a:t>
            </a:r>
          </a:p>
        </p:txBody>
      </p:sp>
      <p:sp>
        <p:nvSpPr>
          <p:cNvPr id="18" name="Rounded Rectangle 17">
            <a:extLst xmlns:a="http://schemas.openxmlformats.org/drawingml/2006/main">
              <a:ext uri="{FF2B5EF4-FFF2-40B4-BE49-F238E27FC236}">
                <a16:creationId xmlns:a16="http://schemas.microsoft.com/office/drawing/2014/main" id="{5A52CA99-AEDD-4D14-99E8-8BF8B35356DA}"/>
              </a:ext>
            </a:extLst>
          </p:cNvPr>
          <p:cNvSpPr>
            <a:spLocks xmlns:a="http://schemas.openxmlformats.org/drawingml/2006/main" noGrp="1"/>
          </p:cNvSpPr>
          <p:nvPr/>
        </p:nvSpPr>
        <p:spPr>
          <a:xfrm xmlns:a="http://schemas.openxmlformats.org/drawingml/2006/main">
            <a:off x="4626864" y="1426464"/>
            <a:ext cx="2066543"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3F8606F2-D8ED-44DD-A74F-F996D893CA39}"/>
              </a:ext>
            </a:extLst>
          </p:cNvPr>
          <p:cNvSpPr>
            <a:spLocks xmlns:a="http://schemas.openxmlformats.org/drawingml/2006/main" noGrp="1"/>
          </p:cNvSpPr>
          <p:nvPr/>
        </p:nvSpPr>
        <p:spPr>
          <a:xfrm xmlns:a="http://schemas.openxmlformats.org/drawingml/2006/main">
            <a:off x="4773168" y="1517904"/>
            <a:ext cx="1773935"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xmlns:a="http://schemas.openxmlformats.org/drawingml/2006/main">
              <a:ext uri="{FF2B5EF4-FFF2-40B4-BE49-F238E27FC236}">
                <a16:creationId xmlns:a16="http://schemas.microsoft.com/office/drawing/2014/main" id="{9A48D853-A6A4-42BF-BC6B-58F9AE08341A}"/>
              </a:ext>
            </a:extLst>
          </p:cNvPr>
          <p:cNvSpPr>
            <a:spLocks xmlns:a="http://schemas.openxmlformats.org/drawingml/2006/main" noGrp="1"/>
          </p:cNvSpPr>
          <p:nvPr/>
        </p:nvSpPr>
        <p:spPr>
          <a:xfrm xmlns:a="http://schemas.openxmlformats.org/drawingml/2006/main">
            <a:off x="4773168" y="1975104"/>
            <a:ext cx="1773935"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xmlns:a="http://schemas.openxmlformats.org/drawingml/2006/main">
              <a:ext uri="{FF2B5EF4-FFF2-40B4-BE49-F238E27FC236}">
                <a16:creationId xmlns:a16="http://schemas.microsoft.com/office/drawing/2014/main" id="{E69D2FA1-B7C3-42AE-9C87-740739AA506D}"/>
              </a:ext>
            </a:extLst>
          </p:cNvPr>
          <p:cNvSpPr>
            <a:spLocks xmlns:a="http://schemas.openxmlformats.org/drawingml/2006/main" noGrp="1"/>
          </p:cNvSpPr>
          <p:nvPr/>
        </p:nvSpPr>
        <p:spPr>
          <a:xfrm xmlns:a="http://schemas.openxmlformats.org/drawingml/2006/main">
            <a:off x="6858000" y="1426464"/>
            <a:ext cx="2066543" cy="12801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906724E-D0B9-463E-9CE1-8AFF558DEE52}"/>
              </a:ext>
            </a:extLst>
          </p:cNvPr>
          <p:cNvSpPr>
            <a:spLocks xmlns:a="http://schemas.openxmlformats.org/drawingml/2006/main" noGrp="1"/>
          </p:cNvSpPr>
          <p:nvPr/>
        </p:nvSpPr>
        <p:spPr>
          <a:xfrm xmlns:a="http://schemas.openxmlformats.org/drawingml/2006/main">
            <a:off x="7004304" y="1517904"/>
            <a:ext cx="1773935"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xmlns:a="http://schemas.openxmlformats.org/drawingml/2006/main">
              <a:ext uri="{FF2B5EF4-FFF2-40B4-BE49-F238E27FC236}">
                <a16:creationId xmlns:a16="http://schemas.microsoft.com/office/drawing/2014/main" id="{4BE34CB8-3AB4-4355-AAF2-1D74AB37BAF8}"/>
              </a:ext>
            </a:extLst>
          </p:cNvPr>
          <p:cNvSpPr>
            <a:spLocks xmlns:a="http://schemas.openxmlformats.org/drawingml/2006/main" noGrp="1"/>
          </p:cNvSpPr>
          <p:nvPr/>
        </p:nvSpPr>
        <p:spPr>
          <a:xfrm xmlns:a="http://schemas.openxmlformats.org/drawingml/2006/main">
            <a:off x="7004304" y="1975104"/>
            <a:ext cx="1773935"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xmlns:a="http://schemas.openxmlformats.org/drawingml/2006/main">
              <a:ext uri="{FF2B5EF4-FFF2-40B4-BE49-F238E27FC236}">
                <a16:creationId xmlns:a16="http://schemas.microsoft.com/office/drawing/2014/main" id="{69B3690B-6382-4AC7-9E7C-489107BE6259}"/>
              </a:ext>
            </a:extLst>
          </p:cNvPr>
          <p:cNvSpPr>
            <a:spLocks xmlns:a="http://schemas.openxmlformats.org/drawingml/2006/main" noGrp="1"/>
          </p:cNvSpPr>
          <p:nvPr/>
        </p:nvSpPr>
        <p:spPr>
          <a:xfrm xmlns:a="http://schemas.openxmlformats.org/drawingml/2006/main">
            <a:off x="7004304" y="2414016"/>
            <a:ext cx="1773935"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xmlns:a="http://schemas.openxmlformats.org/drawingml/2006/main">
              <a:ext uri="{FF2B5EF4-FFF2-40B4-BE49-F238E27FC236}">
                <a16:creationId xmlns:a16="http://schemas.microsoft.com/office/drawing/2014/main" id="{658A74AD-25F6-4091-B072-DA06336F1B1B}"/>
              </a:ext>
            </a:extLst>
          </p:cNvPr>
          <p:cNvSpPr>
            <a:spLocks xmlns:a="http://schemas.openxmlformats.org/drawingml/2006/main" noGrp="1"/>
          </p:cNvSpPr>
          <p:nvPr/>
        </p:nvSpPr>
        <p:spPr>
          <a:xfrm xmlns:a="http://schemas.openxmlformats.org/drawingml/2006/main">
            <a:off x="9089136" y="1426464"/>
            <a:ext cx="2066543" cy="12801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AC6B67BD-53DA-4B1B-B4D9-A66F7CC6F87C}"/>
              </a:ext>
            </a:extLst>
          </p:cNvPr>
          <p:cNvSpPr>
            <a:spLocks xmlns:a="http://schemas.openxmlformats.org/drawingml/2006/main" noGrp="1"/>
          </p:cNvSpPr>
          <p:nvPr/>
        </p:nvSpPr>
        <p:spPr>
          <a:xfrm xmlns:a="http://schemas.openxmlformats.org/drawingml/2006/main">
            <a:off x="9235440" y="1517904"/>
            <a:ext cx="1773935"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xmlns:a="http://schemas.openxmlformats.org/drawingml/2006/main">
              <a:ext uri="{FF2B5EF4-FFF2-40B4-BE49-F238E27FC236}">
                <a16:creationId xmlns:a16="http://schemas.microsoft.com/office/drawing/2014/main" id="{5A085EBF-A4E2-4594-96C0-0B5797A10083}"/>
              </a:ext>
            </a:extLst>
          </p:cNvPr>
          <p:cNvSpPr>
            <a:spLocks xmlns:a="http://schemas.openxmlformats.org/drawingml/2006/main" noGrp="1"/>
          </p:cNvSpPr>
          <p:nvPr/>
        </p:nvSpPr>
        <p:spPr>
          <a:xfrm xmlns:a="http://schemas.openxmlformats.org/drawingml/2006/main">
            <a:off x="9235440" y="1975104"/>
            <a:ext cx="1773935"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core-MT query genes</a:t>
            </a:r>
          </a:p>
        </p:txBody>
      </p:sp>
      <p:sp>
        <p:nvSpPr>
          <p:cNvPr id="28" name="TextBox 27">
            <a:extLst xmlns:a="http://schemas.openxmlformats.org/drawingml/2006/main">
              <a:ext uri="{FF2B5EF4-FFF2-40B4-BE49-F238E27FC236}">
                <a16:creationId xmlns:a16="http://schemas.microsoft.com/office/drawing/2014/main" id="{8C904E69-0137-4825-A2DB-91EC93BCDF6D}"/>
              </a:ext>
            </a:extLst>
          </p:cNvPr>
          <p:cNvSpPr>
            <a:spLocks xmlns:a="http://schemas.openxmlformats.org/drawingml/2006/main" noGrp="1"/>
          </p:cNvSpPr>
          <p:nvPr/>
        </p:nvSpPr>
        <p:spPr>
          <a:xfrm xmlns:a="http://schemas.openxmlformats.org/drawingml/2006/main">
            <a:off x="9235440" y="2414016"/>
            <a:ext cx="1773935"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xmlns:a="http://schemas.openxmlformats.org/drawingml/2006/main">
              <a:ext uri="{FF2B5EF4-FFF2-40B4-BE49-F238E27FC236}">
                <a16:creationId xmlns:a16="http://schemas.microsoft.com/office/drawing/2014/main" id="{75FF7E4C-5D0A-47DA-8950-FE7DA023D128}"/>
              </a:ext>
            </a:extLst>
          </p:cNvPr>
          <p:cNvSpPr>
            <a:spLocks xmlns:a="http://schemas.openxmlformats.org/drawingml/2006/main" noGrp="1"/>
          </p:cNvSpPr>
          <p:nvPr/>
        </p:nvSpPr>
        <p:spPr>
          <a:xfrm xmlns:a="http://schemas.openxmlformats.org/drawingml/2006/main">
            <a:off x="4626864" y="3017520"/>
            <a:ext cx="6528816" cy="239572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5E5D0AEF-3CE0-496D-9A6B-9793B89FCBCB}"/>
              </a:ext>
            </a:extLst>
          </p:cNvPr>
          <p:cNvSpPr>
            <a:spLocks xmlns:a="http://schemas.openxmlformats.org/drawingml/2006/main" noGrp="1"/>
          </p:cNvSpPr>
          <p:nvPr/>
        </p:nvSpPr>
        <p:spPr>
          <a:xfrm xmlns:a="http://schemas.openxmlformats.org/drawingml/2006/main">
            <a:off x="4901184" y="3291840"/>
            <a:ext cx="310896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xmlns:a="http://schemas.openxmlformats.org/drawingml/2006/main">
              <a:ext uri="{FF2B5EF4-FFF2-40B4-BE49-F238E27FC236}">
                <a16:creationId xmlns:a16="http://schemas.microsoft.com/office/drawing/2014/main" id="{79EB081A-365D-415F-A7A1-700793E28812}"/>
              </a:ext>
            </a:extLst>
          </p:cNvPr>
          <p:cNvSpPr>
            <a:spLocks xmlns:a="http://schemas.openxmlformats.org/drawingml/2006/main" noGrp="1"/>
          </p:cNvSpPr>
          <p:nvPr/>
        </p:nvSpPr>
        <p:spPr>
          <a:xfrm xmlns:a="http://schemas.openxmlformats.org/drawingml/2006/main">
            <a:off x="4919472" y="3694176"/>
            <a:ext cx="5806440" cy="324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750" b="1" i="0">
                <a:solidFill>
                  <a:srgbClr val="0F233D"/>
                </a:solidFill>
                <a:latin typeface="Arial"/>
                <a:ea typeface="Arial"/>
                <a:cs typeface="Arial"/>
              </a:rPr>
              <a:t>9,262 provisional query genes</a:t>
            </a:r>
          </a:p>
        </p:txBody>
      </p:sp>
      <p:sp>
        <p:nvSpPr>
          <p:cNvPr id="32" name="TextBox 31">
            <a:extLst xmlns:a="http://schemas.openxmlformats.org/drawingml/2006/main">
              <a:ext uri="{FF2B5EF4-FFF2-40B4-BE49-F238E27FC236}">
                <a16:creationId xmlns:a16="http://schemas.microsoft.com/office/drawing/2014/main" id="{C60C4732-1566-462C-8E78-496CB14F271F}"/>
              </a:ext>
            </a:extLst>
          </p:cNvPr>
          <p:cNvSpPr>
            <a:spLocks xmlns:a="http://schemas.openxmlformats.org/drawingml/2006/main" noGrp="1"/>
          </p:cNvSpPr>
          <p:nvPr/>
        </p:nvSpPr>
        <p:spPr>
          <a:xfrm xmlns:a="http://schemas.openxmlformats.org/drawingml/2006/main">
            <a:off x="4919472" y="4133087"/>
            <a:ext cx="5321808" cy="2554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xmlns:a="http://schemas.openxmlformats.org/drawingml/2006/main">
              <a:ext uri="{FF2B5EF4-FFF2-40B4-BE49-F238E27FC236}">
                <a16:creationId xmlns:a16="http://schemas.microsoft.com/office/drawing/2014/main" id="{7248E692-28A0-4C03-A384-7F8EC33D7A39}"/>
              </a:ext>
            </a:extLst>
          </p:cNvPr>
          <p:cNvSpPr>
            <a:spLocks xmlns:a="http://schemas.openxmlformats.org/drawingml/2006/main" noGrp="1"/>
          </p:cNvSpPr>
          <p:nvPr/>
        </p:nvSpPr>
        <p:spPr>
          <a:xfrm xmlns:a="http://schemas.openxmlformats.org/drawingml/2006/main">
            <a:off x="4919472" y="4626864"/>
            <a:ext cx="5806440" cy="3323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800" b="1" i="0">
                <a:solidFill>
                  <a:srgbClr val="009E73"/>
                </a:solidFill>
                <a:latin typeface="Arial"/>
                <a:ea typeface="Arial"/>
                <a:cs typeface="Arial"/>
              </a:rPr>
              <a:t>= 7,933 query genes</a:t>
            </a:r>
          </a:p>
        </p:txBody>
      </p:sp>
      <p:sp>
        <p:nvSpPr>
          <p:cNvPr id="34" name="TextBox 33">
            <a:extLst xmlns:a="http://schemas.openxmlformats.org/drawingml/2006/main">
              <a:ext uri="{FF2B5EF4-FFF2-40B4-BE49-F238E27FC236}">
                <a16:creationId xmlns:a16="http://schemas.microsoft.com/office/drawing/2014/main" id="{CD45A583-6B16-40E3-B6F3-8D38E9354DC5}"/>
              </a:ext>
            </a:extLst>
          </p:cNvPr>
          <p:cNvSpPr>
            <a:spLocks xmlns:a="http://schemas.openxmlformats.org/drawingml/2006/main" noGrp="1"/>
          </p:cNvSpPr>
          <p:nvPr/>
        </p:nvSpPr>
        <p:spPr>
          <a:xfrm xmlns:a="http://schemas.openxmlformats.org/drawingml/2006/main">
            <a:off x="4928616" y="5074920"/>
            <a:ext cx="5422392"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72F691C-43D8-4399-B191-59852569AB5A}"/>
              </a:ext>
            </a:extLst>
          </p:cNvPr>
          <p:cNvSpPr>
            <a:spLocks xmlns:a="http://schemas.openxmlformats.org/drawingml/2006/main" noGrp="1"/>
          </p:cNvSpPr>
          <p:nvPr/>
        </p:nvSpPr>
        <p:spPr>
          <a:xfrm xmlns:a="http://schemas.openxmlformats.org/drawingml/2006/main">
            <a:off x="530352" y="411480"/>
            <a:ext cx="10652760" cy="70173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a:solidFill>
                  <a:srgbClr val="0F233D"/>
                </a:solidFill>
                <a:latin typeface="Arial"/>
                <a:ea typeface="Arial"/>
                <a:cs typeface="Arial"/>
              </a:rPr>
              <a:t>ROSMAP KDA summary</a:t>
            </a:r>
            <a:r>
              <a:rPr sz="2100" b="1" i="0">
                <a:solidFill>
                  <a:srgbClr val="0F233D"/>
                </a:solidFill>
                <a:latin typeface="Arial"/>
                <a:ea typeface="Arial"/>
                <a:cs typeface="Arial"/>
              </a:rPr>
              <a:t>: 381 non-MT gene x category combinations represent 228 distinct genes</a:t>
            </a:r>
          </a:p>
        </p:txBody>
      </p:sp>
      <p:sp>
        <p:nvSpPr>
          <p:cNvPr id="5" name="Rounded Rectangle 4">
            <a:extLst xmlns:a="http://schemas.openxmlformats.org/drawingml/2006/main">
              <a:ext uri="{FF2B5EF4-FFF2-40B4-BE49-F238E27FC236}">
                <a16:creationId xmlns:a16="http://schemas.microsoft.com/office/drawing/2014/main" id="{5F8E1F0F-EC09-48D5-B3D5-CDE2A120B8ED}"/>
              </a:ext>
            </a:extLst>
          </p:cNvPr>
          <p:cNvSpPr>
            <a:spLocks xmlns:a="http://schemas.openxmlformats.org/drawingml/2006/main" noGrp="1"/>
          </p:cNvSpPr>
          <p:nvPr/>
        </p:nvSpPr>
        <p:spPr>
          <a:xfrm xmlns:a="http://schemas.openxmlformats.org/drawingml/2006/main">
            <a:off x="658368"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FCB72B2-40C8-4FFA-8C93-F91DEF5292C7}"/>
              </a:ext>
            </a:extLst>
          </p:cNvPr>
          <p:cNvSpPr>
            <a:spLocks xmlns:a="http://schemas.openxmlformats.org/drawingml/2006/main" noGrp="1"/>
          </p:cNvSpPr>
          <p:nvPr/>
        </p:nvSpPr>
        <p:spPr>
          <a:xfrm xmlns:a="http://schemas.openxmlformats.org/drawingml/2006/main">
            <a:off x="804672"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xmlns:a="http://schemas.openxmlformats.org/drawingml/2006/main">
              <a:ext uri="{FF2B5EF4-FFF2-40B4-BE49-F238E27FC236}">
                <a16:creationId xmlns:a16="http://schemas.microsoft.com/office/drawing/2014/main" id="{5F450053-A28A-4BA6-8887-B2E16530F34A}"/>
              </a:ext>
            </a:extLst>
          </p:cNvPr>
          <p:cNvSpPr>
            <a:spLocks xmlns:a="http://schemas.openxmlformats.org/drawingml/2006/main" noGrp="1"/>
          </p:cNvSpPr>
          <p:nvPr/>
        </p:nvSpPr>
        <p:spPr>
          <a:xfrm xmlns:a="http://schemas.openxmlformats.org/drawingml/2006/main">
            <a:off x="804672" y="1938528"/>
            <a:ext cx="1645920" cy="606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900" b="1">
                <a:solidFill>
                  <a:srgbClr val="4E5A68"/>
                </a:solidFill>
                <a:latin typeface="Arial"/>
                <a:ea typeface="Arial"/>
                <a:cs typeface="Arial"/>
              </a:rPr>
              <a:t>non-MT gene returned from call_key_driver (before aggregation)</a:t>
            </a:r>
          </a:p>
          <a:p xmlns:a="http://schemas.openxmlformats.org/drawingml/2006/main">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xmlns:a="http://schemas.openxmlformats.org/drawingml/2006/main">
              <a:ext uri="{FF2B5EF4-FFF2-40B4-BE49-F238E27FC236}">
                <a16:creationId xmlns:a16="http://schemas.microsoft.com/office/drawing/2014/main" id="{99981A44-1C12-4123-A49F-585412D7AFF7}"/>
              </a:ext>
            </a:extLst>
          </p:cNvPr>
          <p:cNvSpPr>
            <a:spLocks xmlns:a="http://schemas.openxmlformats.org/drawingml/2006/main" noGrp="1"/>
          </p:cNvSpPr>
          <p:nvPr/>
        </p:nvSpPr>
        <p:spPr>
          <a:xfrm xmlns:a="http://schemas.openxmlformats.org/drawingml/2006/main">
            <a:off x="2798064"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4EF7B2A-4954-49A6-9B47-51FCB9C085BD}"/>
              </a:ext>
            </a:extLst>
          </p:cNvPr>
          <p:cNvSpPr>
            <a:spLocks xmlns:a="http://schemas.openxmlformats.org/drawingml/2006/main" noGrp="1"/>
          </p:cNvSpPr>
          <p:nvPr/>
        </p:nvSpPr>
        <p:spPr>
          <a:xfrm xmlns:a="http://schemas.openxmlformats.org/drawingml/2006/main">
            <a:off x="2944368"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xmlns:a="http://schemas.openxmlformats.org/drawingml/2006/main">
              <a:ext uri="{FF2B5EF4-FFF2-40B4-BE49-F238E27FC236}">
                <a16:creationId xmlns:a16="http://schemas.microsoft.com/office/drawing/2014/main" id="{C3F09E70-D53D-401E-B7D5-721C2785CBEC}"/>
              </a:ext>
            </a:extLst>
          </p:cNvPr>
          <p:cNvSpPr>
            <a:spLocks xmlns:a="http://schemas.openxmlformats.org/drawingml/2006/main" noGrp="1"/>
          </p:cNvSpPr>
          <p:nvPr/>
        </p:nvSpPr>
        <p:spPr>
          <a:xfrm xmlns:a="http://schemas.openxmlformats.org/drawingml/2006/main">
            <a:off x="2944368" y="1938528"/>
            <a:ext cx="1645920" cy="3508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non-MT gene × category combinations</a:t>
            </a:r>
          </a:p>
        </p:txBody>
      </p:sp>
      <p:sp>
        <p:nvSpPr>
          <p:cNvPr id="11" name="Rounded Rectangle 10">
            <a:extLst xmlns:a="http://schemas.openxmlformats.org/drawingml/2006/main">
              <a:ext uri="{FF2B5EF4-FFF2-40B4-BE49-F238E27FC236}">
                <a16:creationId xmlns:a16="http://schemas.microsoft.com/office/drawing/2014/main" id="{6689581A-ED20-4F0C-AA15-1AE5E7CB9D6F}"/>
              </a:ext>
            </a:extLst>
          </p:cNvPr>
          <p:cNvSpPr>
            <a:spLocks xmlns:a="http://schemas.openxmlformats.org/drawingml/2006/main" noGrp="1"/>
          </p:cNvSpPr>
          <p:nvPr/>
        </p:nvSpPr>
        <p:spPr>
          <a:xfrm xmlns:a="http://schemas.openxmlformats.org/drawingml/2006/main">
            <a:off x="4937760"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1E91F98-ED6C-4488-8DD7-E36F5B0AC9A7}"/>
              </a:ext>
            </a:extLst>
          </p:cNvPr>
          <p:cNvSpPr>
            <a:spLocks xmlns:a="http://schemas.openxmlformats.org/drawingml/2006/main" noGrp="1"/>
          </p:cNvSpPr>
          <p:nvPr/>
        </p:nvSpPr>
        <p:spPr>
          <a:xfrm xmlns:a="http://schemas.openxmlformats.org/drawingml/2006/main">
            <a:off x="5084064"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xmlns:a="http://schemas.openxmlformats.org/drawingml/2006/main">
              <a:ext uri="{FF2B5EF4-FFF2-40B4-BE49-F238E27FC236}">
                <a16:creationId xmlns:a16="http://schemas.microsoft.com/office/drawing/2014/main" id="{288C696D-CF39-4EF6-B4B8-3B8E29725F75}"/>
              </a:ext>
            </a:extLst>
          </p:cNvPr>
          <p:cNvSpPr>
            <a:spLocks xmlns:a="http://schemas.openxmlformats.org/drawingml/2006/main" noGrp="1"/>
          </p:cNvSpPr>
          <p:nvPr/>
        </p:nvSpPr>
        <p:spPr>
          <a:xfrm xmlns:a="http://schemas.openxmlformats.org/drawingml/2006/main">
            <a:off x="5084064"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xmlns:a="http://schemas.openxmlformats.org/drawingml/2006/main">
              <a:ext uri="{FF2B5EF4-FFF2-40B4-BE49-F238E27FC236}">
                <a16:creationId xmlns:a16="http://schemas.microsoft.com/office/drawing/2014/main" id="{B9655AB7-C84D-40BD-ADC4-9492EA67959C}"/>
              </a:ext>
            </a:extLst>
          </p:cNvPr>
          <p:cNvSpPr>
            <a:spLocks xmlns:a="http://schemas.openxmlformats.org/drawingml/2006/main" noGrp="1"/>
          </p:cNvSpPr>
          <p:nvPr/>
        </p:nvSpPr>
        <p:spPr>
          <a:xfrm xmlns:a="http://schemas.openxmlformats.org/drawingml/2006/main">
            <a:off x="7077456"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5BE7D19B-D31A-47FF-B1E7-26E6AD0B4197}"/>
              </a:ext>
            </a:extLst>
          </p:cNvPr>
          <p:cNvSpPr>
            <a:spLocks xmlns:a="http://schemas.openxmlformats.org/drawingml/2006/main" noGrp="1"/>
          </p:cNvSpPr>
          <p:nvPr/>
        </p:nvSpPr>
        <p:spPr>
          <a:xfrm xmlns:a="http://schemas.openxmlformats.org/drawingml/2006/main">
            <a:off x="7223760"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xmlns:a="http://schemas.openxmlformats.org/drawingml/2006/main">
              <a:ext uri="{FF2B5EF4-FFF2-40B4-BE49-F238E27FC236}">
                <a16:creationId xmlns:a16="http://schemas.microsoft.com/office/drawing/2014/main" id="{EB178ADB-DEA9-456E-BBF6-22D358F15D49}"/>
              </a:ext>
            </a:extLst>
          </p:cNvPr>
          <p:cNvSpPr>
            <a:spLocks xmlns:a="http://schemas.openxmlformats.org/drawingml/2006/main" noGrp="1"/>
          </p:cNvSpPr>
          <p:nvPr/>
        </p:nvSpPr>
        <p:spPr>
          <a:xfrm xmlns:a="http://schemas.openxmlformats.org/drawingml/2006/main">
            <a:off x="7223760"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categories with non-MT returns</a:t>
            </a:r>
          </a:p>
        </p:txBody>
      </p:sp>
      <p:sp>
        <p:nvSpPr>
          <p:cNvPr id="17" name="Rounded Rectangle 16">
            <a:extLst xmlns:a="http://schemas.openxmlformats.org/drawingml/2006/main">
              <a:ext uri="{FF2B5EF4-FFF2-40B4-BE49-F238E27FC236}">
                <a16:creationId xmlns:a16="http://schemas.microsoft.com/office/drawing/2014/main" id="{2BBA2494-4EF1-43C4-90F3-59BDAF9D9BEB}"/>
              </a:ext>
            </a:extLst>
          </p:cNvPr>
          <p:cNvSpPr>
            <a:spLocks xmlns:a="http://schemas.openxmlformats.org/drawingml/2006/main" noGrp="1"/>
          </p:cNvSpPr>
          <p:nvPr/>
        </p:nvSpPr>
        <p:spPr>
          <a:xfrm xmlns:a="http://schemas.openxmlformats.org/drawingml/2006/main">
            <a:off x="9217152"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4E22C672-9FA5-42B0-8258-3B27F10D6A07}"/>
              </a:ext>
            </a:extLst>
          </p:cNvPr>
          <p:cNvSpPr>
            <a:spLocks xmlns:a="http://schemas.openxmlformats.org/drawingml/2006/main" noGrp="1"/>
          </p:cNvSpPr>
          <p:nvPr/>
        </p:nvSpPr>
        <p:spPr>
          <a:xfrm xmlns:a="http://schemas.openxmlformats.org/drawingml/2006/main">
            <a:off x="9363456"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xmlns:a="http://schemas.openxmlformats.org/drawingml/2006/main">
              <a:ext uri="{FF2B5EF4-FFF2-40B4-BE49-F238E27FC236}">
                <a16:creationId xmlns:a16="http://schemas.microsoft.com/office/drawing/2014/main" id="{E52876D5-BB9F-4E3C-9AD5-0233BA13CE45}"/>
              </a:ext>
            </a:extLst>
          </p:cNvPr>
          <p:cNvSpPr>
            <a:spLocks xmlns:a="http://schemas.openxmlformats.org/drawingml/2006/main" noGrp="1"/>
          </p:cNvSpPr>
          <p:nvPr/>
        </p:nvSpPr>
        <p:spPr>
          <a:xfrm xmlns:a="http://schemas.openxmlformats.org/drawingml/2006/main">
            <a:off x="9363456"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xmlns:a="http://schemas.openxmlformats.org/drawingml/2006/main">
              <a:ext uri="{FF2B5EF4-FFF2-40B4-BE49-F238E27FC236}">
                <a16:creationId xmlns:a16="http://schemas.microsoft.com/office/drawing/2014/main" id="{6344C532-B670-480E-A4EC-1C16491D7C61}"/>
              </a:ext>
            </a:extLst>
          </p:cNvPr>
          <p:cNvSpPr>
            <a:spLocks xmlns:a="http://schemas.openxmlformats.org/drawingml/2006/main" noGrp="1"/>
          </p:cNvSpPr>
          <p:nvPr/>
        </p:nvSpPr>
        <p:spPr>
          <a:xfrm xmlns:a="http://schemas.openxmlformats.org/drawingml/2006/main">
            <a:off x="658368" y="2871216"/>
            <a:ext cx="5266944" cy="2834640"/>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39C60D81-49EF-488F-AA35-9B23234333DB}"/>
              </a:ext>
            </a:extLst>
          </p:cNvPr>
          <p:cNvSpPr>
            <a:spLocks xmlns:a="http://schemas.openxmlformats.org/drawingml/2006/main" noGrp="1"/>
          </p:cNvSpPr>
          <p:nvPr/>
        </p:nvSpPr>
        <p:spPr>
          <a:xfrm xmlns:a="http://schemas.openxmlformats.org/drawingml/2006/main">
            <a:off x="932688" y="3191256"/>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BAE0462A-9ED8-4454-A164-28B033EF2A53}"/>
              </a:ext>
            </a:extLst>
          </p:cNvPr>
          <p:cNvSpPr>
            <a:spLocks xmlns:a="http://schemas.openxmlformats.org/drawingml/2006/main" noGrp="1"/>
          </p:cNvSpPr>
          <p:nvPr/>
        </p:nvSpPr>
        <p:spPr>
          <a:xfrm xmlns:a="http://schemas.openxmlformats.org/drawingml/2006/main">
            <a:off x="1078992" y="3163824"/>
            <a:ext cx="4572000"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Where non-MT driver units occur</a:t>
            </a:r>
          </a:p>
        </p:txBody>
      </p:sp>
      <p:sp>
        <p:nvSpPr>
          <p:cNvPr id="23" name="TextBox 22">
            <a:extLst xmlns:a="http://schemas.openxmlformats.org/drawingml/2006/main">
              <a:ext uri="{FF2B5EF4-FFF2-40B4-BE49-F238E27FC236}">
                <a16:creationId xmlns:a16="http://schemas.microsoft.com/office/drawing/2014/main" id="{541E13B5-4E6A-402C-A5DA-1B27BA3AA5DD}"/>
              </a:ext>
            </a:extLst>
          </p:cNvPr>
          <p:cNvSpPr>
            <a:spLocks xmlns:a="http://schemas.openxmlformats.org/drawingml/2006/main" noGrp="1"/>
          </p:cNvSpPr>
          <p:nvPr/>
        </p:nvSpPr>
        <p:spPr>
          <a:xfrm xmlns:a="http://schemas.openxmlformats.org/drawingml/2006/main">
            <a:off x="941832" y="3685032"/>
            <a:ext cx="1874519"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xmlns:a="http://schemas.openxmlformats.org/drawingml/2006/main">
              <a:ext uri="{FF2B5EF4-FFF2-40B4-BE49-F238E27FC236}">
                <a16:creationId xmlns:a16="http://schemas.microsoft.com/office/drawing/2014/main" id="{F3960DED-7D97-470A-9484-45F765CC75AC}"/>
              </a:ext>
            </a:extLst>
          </p:cNvPr>
          <p:cNvSpPr>
            <a:spLocks xmlns:a="http://schemas.openxmlformats.org/drawingml/2006/main" noGrp="1"/>
          </p:cNvSpPr>
          <p:nvPr/>
        </p:nvSpPr>
        <p:spPr>
          <a:xfrm xmlns:a="http://schemas.openxmlformats.org/drawingml/2006/main">
            <a:off x="941832" y="4023360"/>
            <a:ext cx="4544568"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xmlns:a="http://schemas.openxmlformats.org/drawingml/2006/main">
              <a:ext uri="{FF2B5EF4-FFF2-40B4-BE49-F238E27FC236}">
                <a16:creationId xmlns:a16="http://schemas.microsoft.com/office/drawing/2014/main" id="{8B75E5CD-75EB-4449-B32E-D12075F51E15}"/>
              </a:ext>
            </a:extLst>
          </p:cNvPr>
          <p:cNvSpPr>
            <a:spLocks xmlns:a="http://schemas.openxmlformats.org/drawingml/2006/main" noGrp="1"/>
          </p:cNvSpPr>
          <p:nvPr/>
        </p:nvSpPr>
        <p:spPr>
          <a:xfrm xmlns:a="http://schemas.openxmlformats.org/drawingml/2006/main">
            <a:off x="941832" y="4718304"/>
            <a:ext cx="1874519"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xmlns:a="http://schemas.openxmlformats.org/drawingml/2006/main">
              <a:ext uri="{FF2B5EF4-FFF2-40B4-BE49-F238E27FC236}">
                <a16:creationId xmlns:a16="http://schemas.microsoft.com/office/drawing/2014/main" id="{A3609D55-F968-46EF-BBC1-BE9FE71580C8}"/>
              </a:ext>
            </a:extLst>
          </p:cNvPr>
          <p:cNvSpPr>
            <a:spLocks xmlns:a="http://schemas.openxmlformats.org/drawingml/2006/main" noGrp="1"/>
          </p:cNvSpPr>
          <p:nvPr/>
        </p:nvSpPr>
        <p:spPr>
          <a:xfrm xmlns:a="http://schemas.openxmlformats.org/drawingml/2006/main">
            <a:off x="941832" y="5010912"/>
            <a:ext cx="454456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xmlns:a="http://schemas.openxmlformats.org/drawingml/2006/main">
              <a:ext uri="{FF2B5EF4-FFF2-40B4-BE49-F238E27FC236}">
                <a16:creationId xmlns:a16="http://schemas.microsoft.com/office/drawing/2014/main" id="{47D4805F-D784-4954-A1BD-31BEE9FA297D}"/>
              </a:ext>
            </a:extLst>
          </p:cNvPr>
          <p:cNvSpPr>
            <a:spLocks xmlns:a="http://schemas.openxmlformats.org/drawingml/2006/main" noGrp="1"/>
          </p:cNvSpPr>
          <p:nvPr/>
        </p:nvSpPr>
        <p:spPr>
          <a:xfrm xmlns:a="http://schemas.openxmlformats.org/drawingml/2006/main">
            <a:off x="6181344" y="2871216"/>
            <a:ext cx="5010912" cy="283464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Rectangle 27">
            <a:extLst xmlns:a="http://schemas.openxmlformats.org/drawingml/2006/main">
              <a:ext uri="{FF2B5EF4-FFF2-40B4-BE49-F238E27FC236}">
                <a16:creationId xmlns:a16="http://schemas.microsoft.com/office/drawing/2014/main" id="{5BCC4F7E-85B8-4D41-944E-15A4307874F6}"/>
              </a:ext>
            </a:extLst>
          </p:cNvPr>
          <p:cNvSpPr>
            <a:spLocks xmlns:a="http://schemas.openxmlformats.org/drawingml/2006/main" noGrp="1"/>
          </p:cNvSpPr>
          <p:nvPr/>
        </p:nvSpPr>
        <p:spPr>
          <a:xfrm xmlns:a="http://schemas.openxmlformats.org/drawingml/2006/main">
            <a:off x="6455664" y="319125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46AE0B48-62D3-4E26-B2E4-CF01DD1AC486}"/>
              </a:ext>
            </a:extLst>
          </p:cNvPr>
          <p:cNvSpPr>
            <a:spLocks xmlns:a="http://schemas.openxmlformats.org/drawingml/2006/main" noGrp="1"/>
          </p:cNvSpPr>
          <p:nvPr/>
        </p:nvSpPr>
        <p:spPr>
          <a:xfrm xmlns:a="http://schemas.openxmlformats.org/drawingml/2006/main">
            <a:off x="6601968" y="3163824"/>
            <a:ext cx="4315968"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xmlns:a="http://schemas.openxmlformats.org/drawingml/2006/main">
              <a:ext uri="{FF2B5EF4-FFF2-40B4-BE49-F238E27FC236}">
                <a16:creationId xmlns:a16="http://schemas.microsoft.com/office/drawing/2014/main" id="{636EEA92-F41C-4FF9-A923-6729FC705521}"/>
              </a:ext>
            </a:extLst>
          </p:cNvPr>
          <p:cNvSpPr>
            <a:spLocks xmlns:a="http://schemas.openxmlformats.org/drawingml/2006/main" noGrp="1"/>
          </p:cNvSpPr>
          <p:nvPr/>
        </p:nvSpPr>
        <p:spPr>
          <a:xfrm xmlns:a="http://schemas.openxmlformats.org/drawingml/2006/main">
            <a:off x="6473952" y="3675887"/>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xmlns:a="http://schemas.openxmlformats.org/drawingml/2006/main">
              <a:ext uri="{FF2B5EF4-FFF2-40B4-BE49-F238E27FC236}">
                <a16:creationId xmlns:a16="http://schemas.microsoft.com/office/drawing/2014/main" id="{DEF75826-B228-41E5-91FF-42A57C002E40}"/>
              </a:ext>
            </a:extLst>
          </p:cNvPr>
          <p:cNvSpPr>
            <a:spLocks xmlns:a="http://schemas.openxmlformats.org/drawingml/2006/main" noGrp="1"/>
          </p:cNvSpPr>
          <p:nvPr/>
        </p:nvSpPr>
        <p:spPr>
          <a:xfrm xmlns:a="http://schemas.openxmlformats.org/drawingml/2006/main">
            <a:off x="7891272" y="3703320"/>
            <a:ext cx="2395728"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8A307577-F80F-46C4-8C7B-0F7979026918}"/>
              </a:ext>
            </a:extLst>
          </p:cNvPr>
          <p:cNvSpPr>
            <a:spLocks xmlns:a="http://schemas.openxmlformats.org/drawingml/2006/main" noGrp="1"/>
          </p:cNvSpPr>
          <p:nvPr/>
        </p:nvSpPr>
        <p:spPr>
          <a:xfrm xmlns:a="http://schemas.openxmlformats.org/drawingml/2006/main">
            <a:off x="10442448" y="3675887"/>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xmlns:a="http://schemas.openxmlformats.org/drawingml/2006/main">
              <a:ext uri="{FF2B5EF4-FFF2-40B4-BE49-F238E27FC236}">
                <a16:creationId xmlns:a16="http://schemas.microsoft.com/office/drawing/2014/main" id="{1FE6CB5A-A943-4A0E-96BC-A846C6227B91}"/>
              </a:ext>
            </a:extLst>
          </p:cNvPr>
          <p:cNvSpPr>
            <a:spLocks xmlns:a="http://schemas.openxmlformats.org/drawingml/2006/main" noGrp="1"/>
          </p:cNvSpPr>
          <p:nvPr/>
        </p:nvSpPr>
        <p:spPr>
          <a:xfrm xmlns:a="http://schemas.openxmlformats.org/drawingml/2006/main">
            <a:off x="6473952" y="3968496"/>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xmlns:a="http://schemas.openxmlformats.org/drawingml/2006/main">
              <a:ext uri="{FF2B5EF4-FFF2-40B4-BE49-F238E27FC236}">
                <a16:creationId xmlns:a16="http://schemas.microsoft.com/office/drawing/2014/main" id="{DB34BC49-2FF9-4221-B17C-1D5EE03703CC}"/>
              </a:ext>
            </a:extLst>
          </p:cNvPr>
          <p:cNvSpPr>
            <a:spLocks xmlns:a="http://schemas.openxmlformats.org/drawingml/2006/main" noGrp="1"/>
          </p:cNvSpPr>
          <p:nvPr/>
        </p:nvSpPr>
        <p:spPr>
          <a:xfrm xmlns:a="http://schemas.openxmlformats.org/drawingml/2006/main">
            <a:off x="7891272" y="3995928"/>
            <a:ext cx="2177934"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7D89DA8B-6223-4B22-9B22-27979EC32E5A}"/>
              </a:ext>
            </a:extLst>
          </p:cNvPr>
          <p:cNvSpPr>
            <a:spLocks xmlns:a="http://schemas.openxmlformats.org/drawingml/2006/main" noGrp="1"/>
          </p:cNvSpPr>
          <p:nvPr/>
        </p:nvSpPr>
        <p:spPr>
          <a:xfrm xmlns:a="http://schemas.openxmlformats.org/drawingml/2006/main">
            <a:off x="10442448" y="3968496"/>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xmlns:a="http://schemas.openxmlformats.org/drawingml/2006/main">
              <a:ext uri="{FF2B5EF4-FFF2-40B4-BE49-F238E27FC236}">
                <a16:creationId xmlns:a16="http://schemas.microsoft.com/office/drawing/2014/main" id="{B9783288-FA8E-4083-980C-E5682BED9CBB}"/>
              </a:ext>
            </a:extLst>
          </p:cNvPr>
          <p:cNvSpPr>
            <a:spLocks xmlns:a="http://schemas.openxmlformats.org/drawingml/2006/main" noGrp="1"/>
          </p:cNvSpPr>
          <p:nvPr/>
        </p:nvSpPr>
        <p:spPr>
          <a:xfrm xmlns:a="http://schemas.openxmlformats.org/drawingml/2006/main">
            <a:off x="6473952" y="4261103"/>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xmlns:a="http://schemas.openxmlformats.org/drawingml/2006/main">
              <a:ext uri="{FF2B5EF4-FFF2-40B4-BE49-F238E27FC236}">
                <a16:creationId xmlns:a16="http://schemas.microsoft.com/office/drawing/2014/main" id="{860394BE-0508-4B60-93FD-518C22F4517D}"/>
              </a:ext>
            </a:extLst>
          </p:cNvPr>
          <p:cNvSpPr>
            <a:spLocks xmlns:a="http://schemas.openxmlformats.org/drawingml/2006/main" noGrp="1"/>
          </p:cNvSpPr>
          <p:nvPr/>
        </p:nvSpPr>
        <p:spPr>
          <a:xfrm xmlns:a="http://schemas.openxmlformats.org/drawingml/2006/main">
            <a:off x="7891272" y="4288536"/>
            <a:ext cx="1742347"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B2902C57-197B-4C3D-B183-C47ACEDC3831}"/>
              </a:ext>
            </a:extLst>
          </p:cNvPr>
          <p:cNvSpPr>
            <a:spLocks xmlns:a="http://schemas.openxmlformats.org/drawingml/2006/main" noGrp="1"/>
          </p:cNvSpPr>
          <p:nvPr/>
        </p:nvSpPr>
        <p:spPr>
          <a:xfrm xmlns:a="http://schemas.openxmlformats.org/drawingml/2006/main">
            <a:off x="10442448" y="4261103"/>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xmlns:a="http://schemas.openxmlformats.org/drawingml/2006/main">
              <a:ext uri="{FF2B5EF4-FFF2-40B4-BE49-F238E27FC236}">
                <a16:creationId xmlns:a16="http://schemas.microsoft.com/office/drawing/2014/main" id="{B893E2FF-040D-4C59-9844-FC37A83293A3}"/>
              </a:ext>
            </a:extLst>
          </p:cNvPr>
          <p:cNvSpPr>
            <a:spLocks xmlns:a="http://schemas.openxmlformats.org/drawingml/2006/main" noGrp="1"/>
          </p:cNvSpPr>
          <p:nvPr/>
        </p:nvSpPr>
        <p:spPr>
          <a:xfrm xmlns:a="http://schemas.openxmlformats.org/drawingml/2006/main">
            <a:off x="6473952" y="4553712"/>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xmlns:a="http://schemas.openxmlformats.org/drawingml/2006/main">
              <a:ext uri="{FF2B5EF4-FFF2-40B4-BE49-F238E27FC236}">
                <a16:creationId xmlns:a16="http://schemas.microsoft.com/office/drawing/2014/main" id="{A765CF75-CFC2-4AF8-BD8A-B53EDBF271F8}"/>
              </a:ext>
            </a:extLst>
          </p:cNvPr>
          <p:cNvSpPr>
            <a:spLocks xmlns:a="http://schemas.openxmlformats.org/drawingml/2006/main" noGrp="1"/>
          </p:cNvSpPr>
          <p:nvPr/>
        </p:nvSpPr>
        <p:spPr>
          <a:xfrm xmlns:a="http://schemas.openxmlformats.org/drawingml/2006/main">
            <a:off x="7891272" y="4581144"/>
            <a:ext cx="1524554"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76F8F2DF-CA1B-42CC-9A73-753A938A556D}"/>
              </a:ext>
            </a:extLst>
          </p:cNvPr>
          <p:cNvSpPr>
            <a:spLocks xmlns:a="http://schemas.openxmlformats.org/drawingml/2006/main" noGrp="1"/>
          </p:cNvSpPr>
          <p:nvPr/>
        </p:nvSpPr>
        <p:spPr>
          <a:xfrm xmlns:a="http://schemas.openxmlformats.org/drawingml/2006/main">
            <a:off x="10442448" y="4553712"/>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xmlns:a="http://schemas.openxmlformats.org/drawingml/2006/main">
              <a:ext uri="{FF2B5EF4-FFF2-40B4-BE49-F238E27FC236}">
                <a16:creationId xmlns:a16="http://schemas.microsoft.com/office/drawing/2014/main" id="{C612AC7A-D16F-4870-94FC-8A17EAFC29D9}"/>
              </a:ext>
            </a:extLst>
          </p:cNvPr>
          <p:cNvSpPr>
            <a:spLocks xmlns:a="http://schemas.openxmlformats.org/drawingml/2006/main" noGrp="1"/>
          </p:cNvSpPr>
          <p:nvPr/>
        </p:nvSpPr>
        <p:spPr>
          <a:xfrm xmlns:a="http://schemas.openxmlformats.org/drawingml/2006/main">
            <a:off x="6473952" y="4846320"/>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xmlns:a="http://schemas.openxmlformats.org/drawingml/2006/main">
              <a:ext uri="{FF2B5EF4-FFF2-40B4-BE49-F238E27FC236}">
                <a16:creationId xmlns:a16="http://schemas.microsoft.com/office/drawing/2014/main" id="{D2AD86A1-F340-4B14-A0FC-623E225596BF}"/>
              </a:ext>
            </a:extLst>
          </p:cNvPr>
          <p:cNvSpPr>
            <a:spLocks xmlns:a="http://schemas.openxmlformats.org/drawingml/2006/main" noGrp="1"/>
          </p:cNvSpPr>
          <p:nvPr/>
        </p:nvSpPr>
        <p:spPr>
          <a:xfrm xmlns:a="http://schemas.openxmlformats.org/drawingml/2006/main">
            <a:off x="7891272" y="4873752"/>
            <a:ext cx="1524554"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9B477462-606B-48D9-8DA8-22B3E45C662C}"/>
              </a:ext>
            </a:extLst>
          </p:cNvPr>
          <p:cNvSpPr>
            <a:spLocks xmlns:a="http://schemas.openxmlformats.org/drawingml/2006/main" noGrp="1"/>
          </p:cNvSpPr>
          <p:nvPr/>
        </p:nvSpPr>
        <p:spPr>
          <a:xfrm xmlns:a="http://schemas.openxmlformats.org/drawingml/2006/main">
            <a:off x="10442448" y="4846320"/>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xmlns:a="http://schemas.openxmlformats.org/drawingml/2006/main">
              <a:ext uri="{FF2B5EF4-FFF2-40B4-BE49-F238E27FC236}">
                <a16:creationId xmlns:a16="http://schemas.microsoft.com/office/drawing/2014/main" id="{3D215224-4931-41F6-8127-BFB85EC1146D}"/>
              </a:ext>
            </a:extLst>
          </p:cNvPr>
          <p:cNvSpPr>
            <a:spLocks xmlns:a="http://schemas.openxmlformats.org/drawingml/2006/main" noGrp="1"/>
          </p:cNvSpPr>
          <p:nvPr/>
        </p:nvSpPr>
        <p:spPr>
          <a:xfrm xmlns:a="http://schemas.openxmlformats.org/drawingml/2006/main">
            <a:off x="6473952" y="5138927"/>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xmlns:a="http://schemas.openxmlformats.org/drawingml/2006/main">
              <a:ext uri="{FF2B5EF4-FFF2-40B4-BE49-F238E27FC236}">
                <a16:creationId xmlns:a16="http://schemas.microsoft.com/office/drawing/2014/main" id="{2E6D6079-43B0-468C-8BD6-C0FB33E5F229}"/>
              </a:ext>
            </a:extLst>
          </p:cNvPr>
          <p:cNvSpPr>
            <a:spLocks xmlns:a="http://schemas.openxmlformats.org/drawingml/2006/main" noGrp="1"/>
          </p:cNvSpPr>
          <p:nvPr/>
        </p:nvSpPr>
        <p:spPr>
          <a:xfrm xmlns:a="http://schemas.openxmlformats.org/drawingml/2006/main">
            <a:off x="7891272" y="5166359"/>
            <a:ext cx="1306760"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BFCF83AE-E576-4AC6-B8B3-207260CA5A97}"/>
              </a:ext>
            </a:extLst>
          </p:cNvPr>
          <p:cNvSpPr>
            <a:spLocks xmlns:a="http://schemas.openxmlformats.org/drawingml/2006/main" noGrp="1"/>
          </p:cNvSpPr>
          <p:nvPr/>
        </p:nvSpPr>
        <p:spPr>
          <a:xfrm xmlns:a="http://schemas.openxmlformats.org/drawingml/2006/main">
            <a:off x="10442448" y="5138927"/>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xmlns:a="http://schemas.openxmlformats.org/drawingml/2006/main">
              <a:ext uri="{FF2B5EF4-FFF2-40B4-BE49-F238E27FC236}">
                <a16:creationId xmlns:a16="http://schemas.microsoft.com/office/drawing/2014/main" id="{1E742D18-C756-4BE3-951D-E47E47DE4E04}"/>
              </a:ext>
            </a:extLst>
          </p:cNvPr>
          <p:cNvSpPr>
            <a:spLocks xmlns:a="http://schemas.openxmlformats.org/drawingml/2006/main" noGrp="1"/>
          </p:cNvSpPr>
          <p:nvPr/>
        </p:nvSpPr>
        <p:spPr>
          <a:xfrm xmlns:a="http://schemas.openxmlformats.org/drawingml/2006/main">
            <a:off x="6473952" y="5477256"/>
            <a:ext cx="4334256"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call counts.</a:t>
            </a:r>
          </a:p>
        </p:txBody>
      </p:sp>
    </p:spTree>
    <p:extLst>
      <p:ext uri="{BB962C8B-B14F-4D97-AF65-F5344CB8AC3E}">
        <p14:creationId xmlns:p14="http://schemas.microsoft.com/office/powerpoint/2010/main" val="1344629618"/>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80D5145-8B7B-4D85-AB27-CA73D0EC15A0}"/>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xmlns:a="http://schemas.openxmlformats.org/drawingml/2006/main">
              <a:ext uri="{FF2B5EF4-FFF2-40B4-BE49-F238E27FC236}">
                <a16:creationId xmlns:a16="http://schemas.microsoft.com/office/drawing/2014/main" id="{E09643F1-0DF0-4E7A-905C-7A370D90D80A}"/>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xmlns:a="http://schemas.openxmlformats.org/drawingml/2006/main">
              <a:ext uri="{FF2B5EF4-FFF2-40B4-BE49-F238E27FC236}">
                <a16:creationId xmlns:a16="http://schemas.microsoft.com/office/drawing/2014/main" id="{326A8434-79BA-4E7F-86B9-4CC737E0D66C}"/>
              </a:ext>
            </a:extLst>
          </p:cNvPr>
          <p:cNvSpPr>
            <a:spLocks xmlns:a="http://schemas.openxmlformats.org/drawingml/2006/main" noGrp="1"/>
          </p:cNvSpPr>
          <p:nvPr/>
        </p:nvSpPr>
        <p:spPr>
          <a:xfrm xmlns:a="http://schemas.openxmlformats.org/drawingml/2006/main">
            <a:off x="429768" y="1161288"/>
            <a:ext cx="6547104" cy="49377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2" name="Uniform-blue bar chart of the twenty ROSMAP non-MT genes appearing in the most sex/APOE by broad-cell categories"/>
          <p:cNvPicPr>
            <a:picLocks xmlns:a="http://schemas.openxmlformats.org/drawingml/2006/main" noChangeAspect="1"/>
          </p:cNvPicPr>
          <p:nvPr/>
        </p:nvPicPr>
        <p:blipFill>
          <a:blip xmlns:r="http://schemas.openxmlformats.org/officeDocument/2006/relationships" xmlns:a="http://schemas.openxmlformats.org/drawingml/2006/main" r:embed="R9bb10fcddc4548d6"/>
          <a:stretch xmlns:a="http://schemas.openxmlformats.org/drawingml/2006/main">
            <a:fillRect l="0" t="0" r="0" b="0"/>
          </a:stretch>
        </p:blipFill>
        <p:spPr>
          <a:xfrm xmlns:a="http://schemas.openxmlformats.org/drawingml/2006/main">
            <a:off x="996696" y="1252728"/>
            <a:ext cx="5413248" cy="4736592"/>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568B3E97-0DA5-4527-8636-19A50D6F2A3D}"/>
              </a:ext>
            </a:extLst>
          </p:cNvPr>
          <p:cNvSpPr>
            <a:spLocks xmlns:a="http://schemas.openxmlformats.org/drawingml/2006/main" noGrp="1"/>
          </p:cNvSpPr>
          <p:nvPr/>
        </p:nvSpPr>
        <p:spPr>
          <a:xfrm xmlns:a="http://schemas.openxmlformats.org/drawingml/2006/main">
            <a:off x="7232904" y="1298448"/>
            <a:ext cx="4343400" cy="4553712"/>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F930DCB1-3CD0-45D3-8567-E38D0A2A5882}"/>
              </a:ext>
            </a:extLst>
          </p:cNvPr>
          <p:cNvSpPr>
            <a:spLocks xmlns:a="http://schemas.openxmlformats.org/drawingml/2006/main" noGrp="1"/>
          </p:cNvSpPr>
          <p:nvPr/>
        </p:nvSpPr>
        <p:spPr>
          <a:xfrm xmlns:a="http://schemas.openxmlformats.org/drawingml/2006/main">
            <a:off x="7516368" y="1618488"/>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531F2DC-A921-4954-BFC4-3DB577D19584}"/>
              </a:ext>
            </a:extLst>
          </p:cNvPr>
          <p:cNvSpPr>
            <a:spLocks xmlns:a="http://schemas.openxmlformats.org/drawingml/2006/main" noGrp="1"/>
          </p:cNvSpPr>
          <p:nvPr/>
        </p:nvSpPr>
        <p:spPr>
          <a:xfrm xmlns:a="http://schemas.openxmlformats.org/drawingml/2006/main">
            <a:off x="7662672" y="1591056"/>
            <a:ext cx="363016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xmlns:a="http://schemas.openxmlformats.org/drawingml/2006/main">
              <a:ext uri="{FF2B5EF4-FFF2-40B4-BE49-F238E27FC236}">
                <a16:creationId xmlns:a16="http://schemas.microsoft.com/office/drawing/2014/main" id="{023F2F40-FB35-4767-8BCA-94639FED2743}"/>
              </a:ext>
            </a:extLst>
          </p:cNvPr>
          <p:cNvSpPr>
            <a:spLocks xmlns:a="http://schemas.openxmlformats.org/drawingml/2006/main" noGrp="1"/>
          </p:cNvSpPr>
          <p:nvPr/>
        </p:nvSpPr>
        <p:spPr>
          <a:xfrm xmlns:a="http://schemas.openxmlformats.org/drawingml/2006/main">
            <a:off x="7525512" y="2212848"/>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98B0313-B8B7-42BF-A686-C63F061ED88E}"/>
              </a:ext>
            </a:extLst>
          </p:cNvPr>
          <p:cNvSpPr>
            <a:spLocks xmlns:a="http://schemas.openxmlformats.org/drawingml/2006/main" noGrp="1"/>
          </p:cNvSpPr>
          <p:nvPr/>
        </p:nvSpPr>
        <p:spPr>
          <a:xfrm xmlns:a="http://schemas.openxmlformats.org/drawingml/2006/main">
            <a:off x="7699248" y="2084831"/>
            <a:ext cx="3502151"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xmlns:a="http://schemas.openxmlformats.org/drawingml/2006/main">
              <a:ext uri="{FF2B5EF4-FFF2-40B4-BE49-F238E27FC236}">
                <a16:creationId xmlns:a16="http://schemas.microsoft.com/office/drawing/2014/main" id="{7612F583-FF86-4B89-9757-930CFF01DE40}"/>
              </a:ext>
            </a:extLst>
          </p:cNvPr>
          <p:cNvSpPr>
            <a:spLocks xmlns:a="http://schemas.openxmlformats.org/drawingml/2006/main" noGrp="1"/>
          </p:cNvSpPr>
          <p:nvPr/>
        </p:nvSpPr>
        <p:spPr>
          <a:xfrm xmlns:a="http://schemas.openxmlformats.org/drawingml/2006/main">
            <a:off x="7525512" y="2770632"/>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928DA47-67C4-474B-A326-08F4822AB0BC}"/>
              </a:ext>
            </a:extLst>
          </p:cNvPr>
          <p:cNvSpPr>
            <a:spLocks xmlns:a="http://schemas.openxmlformats.org/drawingml/2006/main" noGrp="1"/>
          </p:cNvSpPr>
          <p:nvPr/>
        </p:nvSpPr>
        <p:spPr>
          <a:xfrm xmlns:a="http://schemas.openxmlformats.org/drawingml/2006/main">
            <a:off x="7699248" y="2642615"/>
            <a:ext cx="3502151" cy="4031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RPS15: 11 categories, 6 groups, 4 networks.</a:t>
            </a:r>
          </a:p>
        </p:txBody>
      </p:sp>
      <p:sp>
        <p:nvSpPr>
          <p:cNvPr id="16" name="Oval 15">
            <a:extLst xmlns:a="http://schemas.openxmlformats.org/drawingml/2006/main">
              <a:ext uri="{FF2B5EF4-FFF2-40B4-BE49-F238E27FC236}">
                <a16:creationId xmlns:a16="http://schemas.microsoft.com/office/drawing/2014/main" id="{088D031B-E132-4BC1-9CEC-0301C7DB254C}"/>
              </a:ext>
            </a:extLst>
          </p:cNvPr>
          <p:cNvSpPr>
            <a:spLocks xmlns:a="http://schemas.openxmlformats.org/drawingml/2006/main" noGrp="1"/>
          </p:cNvSpPr>
          <p:nvPr/>
        </p:nvSpPr>
        <p:spPr>
          <a:xfrm xmlns:a="http://schemas.openxmlformats.org/drawingml/2006/main">
            <a:off x="7525512" y="3328415"/>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0A554CA-AC15-464E-B7AD-2C92321C7AB5}"/>
              </a:ext>
            </a:extLst>
          </p:cNvPr>
          <p:cNvSpPr>
            <a:spLocks xmlns:a="http://schemas.openxmlformats.org/drawingml/2006/main" noGrp="1"/>
          </p:cNvSpPr>
          <p:nvPr/>
        </p:nvSpPr>
        <p:spPr>
          <a:xfrm xmlns:a="http://schemas.openxmlformats.org/drawingml/2006/main">
            <a:off x="7699248" y="3200399"/>
            <a:ext cx="3502151" cy="4031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RPL11: 10 categories, 6 groups, 4 networks.</a:t>
            </a:r>
          </a:p>
        </p:txBody>
      </p:sp>
    </p:spTree>
    <p:extLst>
      <p:ext uri="{BB962C8B-B14F-4D97-AF65-F5344CB8AC3E}">
        <p14:creationId xmlns:p14="http://schemas.microsoft.com/office/powerpoint/2010/main" val="1569113822"/>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CD75244-BEFA-4D8B-B23E-F54D13406000}"/>
              </a:ext>
            </a:extLst>
          </p:cNvPr>
          <p:cNvSpPr>
            <a:spLocks xmlns:a="http://schemas.openxmlformats.org/drawingml/2006/main" noGrp="1"/>
          </p:cNvSpPr>
          <p:nvPr/>
        </p:nvSpPr>
        <p:spPr>
          <a:xfrm xmlns:a="http://schemas.openxmlformats.org/drawingml/2006/main">
            <a:off x="530352" y="411480"/>
            <a:ext cx="10652760" cy="3785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Top five: 123 non-MT entries across 29 categories</a:t>
            </a:r>
          </a:p>
        </p:txBody>
      </p:sp>
      <p:pic>
        <p:nvPicPr>
          <p:cNvPr id="6" name="ROSMAP top-five non-MT key drivers with aligned sex rows, broad-cell colors, score definition, and total category gene counts"/>
          <p:cNvPicPr>
            <a:picLocks xmlns:a="http://schemas.openxmlformats.org/drawingml/2006/main" noChangeAspect="1"/>
          </p:cNvPicPr>
          <p:nvPr/>
        </p:nvPicPr>
        <p:blipFill>
          <a:blip xmlns:r="http://schemas.openxmlformats.org/officeDocument/2006/relationships" xmlns:a="http://schemas.openxmlformats.org/drawingml/2006/main" r:embed="R521510fda36e463a"/>
          <a:stretch xmlns:a="http://schemas.openxmlformats.org/drawingml/2006/main">
            <a:fillRect l="0" t="0" r="0" b="0"/>
          </a:stretch>
        </p:blipFill>
        <p:spPr>
          <a:xfrm xmlns:a="http://schemas.openxmlformats.org/drawingml/2006/main">
            <a:off x="612648" y="795528"/>
            <a:ext cx="10972800" cy="5971032"/>
          </a:xfrm>
          <a:prstGeom xmlns:a="http://schemas.openxmlformats.org/drawingml/2006/main" prst="rect">
            <a:avLst/>
          </a:prstGeom>
        </p:spPr>
      </p:pic>
    </p:spTree>
    <p:extLst>
      <p:ext uri="{BB962C8B-B14F-4D97-AF65-F5344CB8AC3E}">
        <p14:creationId xmlns:p14="http://schemas.microsoft.com/office/powerpoint/2010/main" val="768081472"/>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9EECD5F-43AF-429F-99A6-8BCC0CC0AAB0}"/>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ROSMAP excitatory-neuron drivers recur across sex/APOE groups</a:t>
            </a:r>
          </a:p>
        </p:txBody>
      </p:sp>
      <p:sp>
        <p:nvSpPr>
          <p:cNvPr id="3" name="TextBox 2">
            <a:extLst xmlns:a="http://schemas.openxmlformats.org/drawingml/2006/main">
              <a:ext uri="{FF2B5EF4-FFF2-40B4-BE49-F238E27FC236}">
                <a16:creationId xmlns:a16="http://schemas.microsoft.com/office/drawing/2014/main" id="{F419552D-EF44-456A-82C8-09F89FCC75AC}"/>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84 unique non-MT genes across 153 gene × category combinations; columns are ordered by recurrence, then alphabetically.</a:t>
            </a:r>
          </a:p>
        </p:txBody>
      </p:sp>
      <p:pic>
        <p:nvPicPr>
          <p:cNvPr id="7" name="ROSMAP excitatory-neuron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5c9d8d502a634d96"/>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1230641777"/>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27AB68E-ADB7-4C21-9795-C3B8768F454B}"/>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ROSMAP inhibitory-neuron drivers recur across sex/APOE groups</a:t>
            </a:r>
          </a:p>
        </p:txBody>
      </p:sp>
      <p:sp>
        <p:nvSpPr>
          <p:cNvPr id="3" name="TextBox 2">
            <a:extLst xmlns:a="http://schemas.openxmlformats.org/drawingml/2006/main">
              <a:ext uri="{FF2B5EF4-FFF2-40B4-BE49-F238E27FC236}">
                <a16:creationId xmlns:a16="http://schemas.microsoft.com/office/drawing/2014/main" id="{E90E3D63-A248-47CC-9F22-AAAC4D57896C}"/>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110 unique non-MT genes across 146 gene × category combinations; columns are ordered by recurrence, then alphabetically.</a:t>
            </a:r>
          </a:p>
        </p:txBody>
      </p:sp>
      <p:pic>
        <p:nvPicPr>
          <p:cNvPr id="7" name="ROSMAP inhibitory-neuron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a2e392fb3868431f"/>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1250894171"/>
      </p:ext>
    </p:extLst>
  </p:cSld>
</p:sld>
</file>

<file path=ppt/slides/slide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B812381-4105-4451-9E9A-6D56B5685FD6}"/>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ROSMAP astrocyte drivers recur across sex/APOE groups</a:t>
            </a:r>
          </a:p>
        </p:txBody>
      </p:sp>
      <p:sp>
        <p:nvSpPr>
          <p:cNvPr id="3" name="TextBox 2">
            <a:extLst xmlns:a="http://schemas.openxmlformats.org/drawingml/2006/main">
              <a:ext uri="{FF2B5EF4-FFF2-40B4-BE49-F238E27FC236}">
                <a16:creationId xmlns:a16="http://schemas.microsoft.com/office/drawing/2014/main" id="{009EB049-383F-4285-97AC-446DA36958E2}"/>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21 unique non-MT genes across 32 gene × category combinations; columns are ordered by recurrence, then alphabetically.</a:t>
            </a:r>
          </a:p>
        </p:txBody>
      </p:sp>
      <p:pic>
        <p:nvPicPr>
          <p:cNvPr id="7" name="ROSMAP astrocyte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a21a68b5aa6643f8"/>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1116939906"/>
      </p:ext>
    </p:extLst>
  </p:cSld>
</p:sld>
</file>

<file path=ppt/slides/slide2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B87EF32-2793-460B-8C1D-32D0574BC4C3}"/>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ROSMAP OPC drivers recur across sex/APOE groups</a:t>
            </a:r>
          </a:p>
        </p:txBody>
      </p:sp>
      <p:sp>
        <p:nvSpPr>
          <p:cNvPr id="3" name="TextBox 2">
            <a:extLst xmlns:a="http://schemas.openxmlformats.org/drawingml/2006/main">
              <a:ext uri="{FF2B5EF4-FFF2-40B4-BE49-F238E27FC236}">
                <a16:creationId xmlns:a16="http://schemas.microsoft.com/office/drawing/2014/main" id="{1928DD11-801D-4409-891E-FA749AC96A4F}"/>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18 unique non-MT genes across 21 gene × category combinations; columns are ordered by recurrence, then alphabetically.</a:t>
            </a:r>
          </a:p>
        </p:txBody>
      </p:sp>
      <p:pic>
        <p:nvPicPr>
          <p:cNvPr id="7" name="ROSMAP OPC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b117933c7d5e4bbd"/>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852401269"/>
      </p:ext>
    </p:extLst>
  </p:cSld>
</p:sld>
</file>

<file path=ppt/slides/slide2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F569C9E-D5CE-444A-96FB-F4D407E28AC3}"/>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9E73"/>
                </a:solidFill>
                <a:latin typeface="Arial"/>
                <a:ea typeface="Arial"/>
                <a:cs typeface="Arial"/>
              </a:rPr>
              <a:t>PART </a:t>
            </a:r>
            <a:r>
              <a:rPr sz="1050" b="1">
                <a:solidFill>
                  <a:srgbClr val="009E73"/>
                </a:solidFill>
                <a:latin typeface="Arial"/>
                <a:ea typeface="Arial"/>
                <a:cs typeface="Arial"/>
              </a:rPr>
              <a:t>4</a:t>
            </a:r>
            <a:endParaRPr sz="1050" b="1" i="0">
              <a:solidFill>
                <a:srgbClr val="009E73"/>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F2BA23F8-CF15-4B72-8BB2-D57E6CA0166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3DC0AD6-4299-4D0F-961F-96F0FB854F2D}"/>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xmlns:a="http://schemas.openxmlformats.org/drawingml/2006/main">
              <a:ext uri="{FF2B5EF4-FFF2-40B4-BE49-F238E27FC236}">
                <a16:creationId xmlns:a16="http://schemas.microsoft.com/office/drawing/2014/main" id="{F0D7FE17-E245-404D-80E1-239C6047FE4B}"/>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3251616-1E09-4A84-857B-CC40EAF794CB}"/>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17E07A8E-BBA6-4DDE-8AF7-797D7EF21C77}"/>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27F1BCE-39EA-40B8-8D6A-32B1CFF4BBA0}"/>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7E0B846-5D25-4AAF-820D-ADE26EB228EA}"/>
              </a:ext>
            </a:extLst>
          </p:cNvPr>
          <p:cNvSpPr>
            <a:spLocks xmlns:a="http://schemas.openxmlformats.org/drawingml/2006/main" noGrp="1"/>
          </p:cNvSpPr>
          <p:nvPr/>
        </p:nvSpPr>
        <p:spPr>
          <a:xfrm xmlns:a="http://schemas.openxmlformats.org/drawingml/2006/main">
            <a:off x="9628632" y="2011680"/>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25BC35C0-8EB4-4CB9-B6DC-12707E7E0DC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F3E593C-CE4C-44A9-AA30-21B82C7AFD46}"/>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557AEFD-363D-42FB-B1C6-16E766E0557D}"/>
              </a:ext>
            </a:extLst>
          </p:cNvPr>
          <p:cNvSpPr>
            <a:spLocks xmlns:a="http://schemas.openxmlformats.org/drawingml/2006/main" noGrp="1"/>
          </p:cNvSpPr>
          <p:nvPr/>
        </p:nvSpPr>
        <p:spPr>
          <a:xfrm xmlns:a="http://schemas.openxmlformats.org/drawingml/2006/main">
            <a:off x="9628632" y="276148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Call key driver</a:t>
            </a:r>
          </a:p>
        </p:txBody>
      </p:sp>
      <p:sp>
        <p:nvSpPr>
          <p:cNvPr id="14" name="Oval 13">
            <a:extLst xmlns:a="http://schemas.openxmlformats.org/drawingml/2006/main">
              <a:ext uri="{FF2B5EF4-FFF2-40B4-BE49-F238E27FC236}">
                <a16:creationId xmlns:a16="http://schemas.microsoft.com/office/drawing/2014/main" id="{76022DFA-4C8F-40E9-AEFC-D847CF926B9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8763030-A0D4-403C-B577-1D252BB5289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AA043817-07B6-4981-9CE4-DEAE214BE66C}"/>
              </a:ext>
            </a:extLst>
          </p:cNvPr>
          <p:cNvSpPr>
            <a:spLocks xmlns:a="http://schemas.openxmlformats.org/drawingml/2006/main" noGrp="1"/>
          </p:cNvSpPr>
          <p:nvPr/>
        </p:nvSpPr>
        <p:spPr>
          <a:xfrm xmlns:a="http://schemas.openxmlformats.org/drawingml/2006/main">
            <a:off x="9628632" y="3511296"/>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674AE4D7-1D34-4866-989F-DE4C41BF6661}"/>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0DB2C69-CC33-4708-BF6C-708EE3B38B85}"/>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44C318C-EA1D-4BAC-ADDA-C0B26C695230}"/>
              </a:ext>
            </a:extLst>
          </p:cNvPr>
          <p:cNvSpPr>
            <a:spLocks xmlns:a="http://schemas.openxmlformats.org/drawingml/2006/main" noGrp="1"/>
          </p:cNvSpPr>
          <p:nvPr/>
        </p:nvSpPr>
        <p:spPr>
          <a:xfrm xmlns:a="http://schemas.openxmlformats.org/drawingml/2006/main">
            <a:off x="9628632" y="4261104"/>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4820217C-C0C2-5165-22E5-F8E5797B0969}"/>
              </a:ext>
            </a:extLst>
          </p:cNvPr>
          <p:cNvSpPr>
            <a:spLocks xmlns:a="http://schemas.openxmlformats.org/drawingml/2006/main" noGrp="1"/>
          </p:cNvSpPr>
          <p:nvPr/>
        </p:nvSpPr>
        <p:spPr>
          <a:xfrm xmlns:a="http://schemas.openxmlformats.org/drawingml/2006/main">
            <a:off x="530352" y="411480"/>
            <a:ext cx="10652760" cy="43242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xmlns:a="http://schemas.openxmlformats.org/drawingml/2006/main">
              <a:ext uri="{FF2B5EF4-FFF2-40B4-BE49-F238E27FC236}">
                <a16:creationId xmlns:a16="http://schemas.microsoft.com/office/drawing/2014/main" id="{A1C4930B-8D6F-B90D-804F-1BE1686DEDF9}"/>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mitochondrial DEG query; significant non-MT returns are aggregated by category.</a:t>
            </a:r>
          </a:p>
        </p:txBody>
      </p:sp>
      <p:sp>
        <p:nvSpPr>
          <p:cNvPr id="23" name="Rounded Rectangle 22">
            <a:extLst xmlns:a="http://schemas.openxmlformats.org/drawingml/2006/main">
              <a:ext uri="{FF2B5EF4-FFF2-40B4-BE49-F238E27FC236}">
                <a16:creationId xmlns:a16="http://schemas.microsoft.com/office/drawing/2014/main" id="{F20FD518-1F4A-331F-FBD2-F57F5FAA0AAD}"/>
              </a:ext>
            </a:extLst>
          </p:cNvPr>
          <p:cNvSpPr>
            <a:spLocks xmlns:a="http://schemas.openxmlformats.org/drawingml/2006/main" noGrp="1"/>
          </p:cNvSpPr>
          <p:nvPr/>
        </p:nvSpPr>
        <p:spPr>
          <a:xfrm xmlns:a="http://schemas.openxmlformats.org/drawingml/2006/main">
            <a:off x="3127683" y="1430818"/>
            <a:ext cx="5358384" cy="43251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DAFDBE9E-6ABC-4DEF-4205-F1E82872DEDF}"/>
              </a:ext>
            </a:extLst>
          </p:cNvPr>
          <p:cNvSpPr>
            <a:spLocks xmlns:a="http://schemas.openxmlformats.org/drawingml/2006/main" noGrp="1"/>
          </p:cNvSpPr>
          <p:nvPr/>
        </p:nvSpPr>
        <p:spPr>
          <a:xfrm xmlns:a="http://schemas.openxmlformats.org/drawingml/2006/main">
            <a:off x="3411147" y="1723426"/>
            <a:ext cx="2926080" cy="20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xmlns:a="http://schemas.openxmlformats.org/drawingml/2006/main">
              <a:ext uri="{FF2B5EF4-FFF2-40B4-BE49-F238E27FC236}">
                <a16:creationId xmlns:a16="http://schemas.microsoft.com/office/drawing/2014/main" id="{C08A9B8D-DCB8-F1E9-92CC-8909156FCDDF}"/>
              </a:ext>
            </a:extLst>
          </p:cNvPr>
          <p:cNvSpPr>
            <a:spLocks xmlns:a="http://schemas.openxmlformats.org/drawingml/2006/main" noGrp="1"/>
          </p:cNvSpPr>
          <p:nvPr/>
        </p:nvSpPr>
        <p:spPr>
          <a:xfrm xmlns:a="http://schemas.openxmlformats.org/drawingml/2006/main">
            <a:off x="3411147" y="2034322"/>
            <a:ext cx="4526280"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Do drivers return in an independent human cohort?</a:t>
            </a:r>
          </a:p>
        </p:txBody>
      </p:sp>
      <p:sp>
        <p:nvSpPr>
          <p:cNvPr id="26" name="Rounded Rectangle 25">
            <a:extLst xmlns:a="http://schemas.openxmlformats.org/drawingml/2006/main">
              <a:ext uri="{FF2B5EF4-FFF2-40B4-BE49-F238E27FC236}">
                <a16:creationId xmlns:a16="http://schemas.microsoft.com/office/drawing/2014/main" id="{0B078D71-6BC9-1CEF-1971-223819588041}"/>
              </a:ext>
            </a:extLst>
          </p:cNvPr>
          <p:cNvSpPr>
            <a:spLocks xmlns:a="http://schemas.openxmlformats.org/drawingml/2006/main" noGrp="1"/>
          </p:cNvSpPr>
          <p:nvPr/>
        </p:nvSpPr>
        <p:spPr>
          <a:xfrm xmlns:a="http://schemas.openxmlformats.org/drawingml/2006/main">
            <a:off x="3411147" y="2793274"/>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64EEDEE-DC0D-59BD-5FB8-DA778676454A}"/>
              </a:ext>
            </a:extLst>
          </p:cNvPr>
          <p:cNvSpPr>
            <a:spLocks xmlns:a="http://schemas.openxmlformats.org/drawingml/2006/main" noGrp="1"/>
          </p:cNvSpPr>
          <p:nvPr/>
        </p:nvSpPr>
        <p:spPr>
          <a:xfrm xmlns:a="http://schemas.openxmlformats.org/drawingml/2006/main">
            <a:off x="3557451" y="2884714"/>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xmlns:a="http://schemas.openxmlformats.org/drawingml/2006/main">
              <a:ext uri="{FF2B5EF4-FFF2-40B4-BE49-F238E27FC236}">
                <a16:creationId xmlns:a16="http://schemas.microsoft.com/office/drawing/2014/main" id="{5CE77759-350E-C5E6-AFA3-99091A03E630}"/>
              </a:ext>
            </a:extLst>
          </p:cNvPr>
          <p:cNvSpPr>
            <a:spLocks xmlns:a="http://schemas.openxmlformats.org/drawingml/2006/main" noGrp="1"/>
          </p:cNvSpPr>
          <p:nvPr/>
        </p:nvSpPr>
        <p:spPr>
          <a:xfrm xmlns:a="http://schemas.openxmlformats.org/drawingml/2006/main">
            <a:off x="3557451" y="3341914"/>
            <a:ext cx="1124712"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xmlns:a="http://schemas.openxmlformats.org/drawingml/2006/main">
              <a:ext uri="{FF2B5EF4-FFF2-40B4-BE49-F238E27FC236}">
                <a16:creationId xmlns:a16="http://schemas.microsoft.com/office/drawing/2014/main" id="{4400346E-7B11-A714-29D9-69BD721FA136}"/>
              </a:ext>
            </a:extLst>
          </p:cNvPr>
          <p:cNvSpPr>
            <a:spLocks xmlns:a="http://schemas.openxmlformats.org/drawingml/2006/main" noGrp="1"/>
          </p:cNvSpPr>
          <p:nvPr/>
        </p:nvSpPr>
        <p:spPr>
          <a:xfrm xmlns:a="http://schemas.openxmlformats.org/drawingml/2006/main">
            <a:off x="4993058" y="2793274"/>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C2547233-A652-C0AF-EDEB-2732D1A4DBE5}"/>
              </a:ext>
            </a:extLst>
          </p:cNvPr>
          <p:cNvSpPr>
            <a:spLocks xmlns:a="http://schemas.openxmlformats.org/drawingml/2006/main" noGrp="1"/>
          </p:cNvSpPr>
          <p:nvPr/>
        </p:nvSpPr>
        <p:spPr>
          <a:xfrm xmlns:a="http://schemas.openxmlformats.org/drawingml/2006/main">
            <a:off x="5139362" y="2884714"/>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xmlns:a="http://schemas.openxmlformats.org/drawingml/2006/main">
              <a:ext uri="{FF2B5EF4-FFF2-40B4-BE49-F238E27FC236}">
                <a16:creationId xmlns:a16="http://schemas.microsoft.com/office/drawing/2014/main" id="{37BF3831-B296-5FA6-E586-B64CB5A56F02}"/>
              </a:ext>
            </a:extLst>
          </p:cNvPr>
          <p:cNvSpPr>
            <a:spLocks xmlns:a="http://schemas.openxmlformats.org/drawingml/2006/main" noGrp="1"/>
          </p:cNvSpPr>
          <p:nvPr/>
        </p:nvSpPr>
        <p:spPr>
          <a:xfrm xmlns:a="http://schemas.openxmlformats.org/drawingml/2006/main">
            <a:off x="5139362" y="3341914"/>
            <a:ext cx="1124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xmlns:a="http://schemas.openxmlformats.org/drawingml/2006/main">
              <a:ext uri="{FF2B5EF4-FFF2-40B4-BE49-F238E27FC236}">
                <a16:creationId xmlns:a16="http://schemas.microsoft.com/office/drawing/2014/main" id="{6961CA91-699A-CD79-78FA-A69D94C8C539}"/>
              </a:ext>
            </a:extLst>
          </p:cNvPr>
          <p:cNvSpPr>
            <a:spLocks xmlns:a="http://schemas.openxmlformats.org/drawingml/2006/main" noGrp="1"/>
          </p:cNvSpPr>
          <p:nvPr/>
        </p:nvSpPr>
        <p:spPr>
          <a:xfrm xmlns:a="http://schemas.openxmlformats.org/drawingml/2006/main">
            <a:off x="6574971" y="2793274"/>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0E527466-4679-43D5-549D-87E4FEF6E2F4}"/>
              </a:ext>
            </a:extLst>
          </p:cNvPr>
          <p:cNvSpPr>
            <a:spLocks xmlns:a="http://schemas.openxmlformats.org/drawingml/2006/main" noGrp="1"/>
          </p:cNvSpPr>
          <p:nvPr/>
        </p:nvSpPr>
        <p:spPr>
          <a:xfrm xmlns:a="http://schemas.openxmlformats.org/drawingml/2006/main">
            <a:off x="6721275" y="2884714"/>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xmlns:a="http://schemas.openxmlformats.org/drawingml/2006/main">
              <a:ext uri="{FF2B5EF4-FFF2-40B4-BE49-F238E27FC236}">
                <a16:creationId xmlns:a16="http://schemas.microsoft.com/office/drawing/2014/main" id="{EDC5CEC5-620B-4088-6D42-A47D837F8D78}"/>
              </a:ext>
            </a:extLst>
          </p:cNvPr>
          <p:cNvSpPr>
            <a:spLocks xmlns:a="http://schemas.openxmlformats.org/drawingml/2006/main" noGrp="1"/>
          </p:cNvSpPr>
          <p:nvPr/>
        </p:nvSpPr>
        <p:spPr>
          <a:xfrm xmlns:a="http://schemas.openxmlformats.org/drawingml/2006/main">
            <a:off x="6721275" y="3341914"/>
            <a:ext cx="1124712" cy="3508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xmlns:a="http://schemas.openxmlformats.org/drawingml/2006/main">
              <a:ext uri="{FF2B5EF4-FFF2-40B4-BE49-F238E27FC236}">
                <a16:creationId xmlns:a16="http://schemas.microsoft.com/office/drawing/2014/main" id="{567ADC53-49F7-0D93-2D5C-98E88AC7F699}"/>
              </a:ext>
            </a:extLst>
          </p:cNvPr>
          <p:cNvSpPr>
            <a:spLocks xmlns:a="http://schemas.openxmlformats.org/drawingml/2006/main" noGrp="1"/>
          </p:cNvSpPr>
          <p:nvPr/>
        </p:nvSpPr>
        <p:spPr>
          <a:xfrm xmlns:a="http://schemas.openxmlformats.org/drawingml/2006/main">
            <a:off x="3420291" y="4194159"/>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FD250839-97A3-EB02-9405-2850B7C3014C}"/>
              </a:ext>
            </a:extLst>
          </p:cNvPr>
          <p:cNvSpPr>
            <a:spLocks xmlns:a="http://schemas.openxmlformats.org/drawingml/2006/main" noGrp="1"/>
          </p:cNvSpPr>
          <p:nvPr/>
        </p:nvSpPr>
        <p:spPr>
          <a:xfrm xmlns:a="http://schemas.openxmlformats.org/drawingml/2006/main">
            <a:off x="3594027" y="4100866"/>
            <a:ext cx="4361688"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xmlns:a="http://schemas.openxmlformats.org/drawingml/2006/main">
              <a:ext uri="{FF2B5EF4-FFF2-40B4-BE49-F238E27FC236}">
                <a16:creationId xmlns:a16="http://schemas.microsoft.com/office/drawing/2014/main" id="{C5D3AF96-1713-66D2-750A-9E07D3BF2492}"/>
              </a:ext>
            </a:extLst>
          </p:cNvPr>
          <p:cNvSpPr>
            <a:spLocks xmlns:a="http://schemas.openxmlformats.org/drawingml/2006/main" noGrp="1"/>
          </p:cNvSpPr>
          <p:nvPr/>
        </p:nvSpPr>
        <p:spPr>
          <a:xfrm xmlns:a="http://schemas.openxmlformats.org/drawingml/2006/main">
            <a:off x="3420291" y="4621495"/>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FCD02414-1091-B30C-75CC-F2C2C3983D92}"/>
              </a:ext>
            </a:extLst>
          </p:cNvPr>
          <p:cNvSpPr>
            <a:spLocks xmlns:a="http://schemas.openxmlformats.org/drawingml/2006/main" noGrp="1"/>
          </p:cNvSpPr>
          <p:nvPr/>
        </p:nvSpPr>
        <p:spPr>
          <a:xfrm xmlns:a="http://schemas.openxmlformats.org/drawingml/2006/main">
            <a:off x="3594027" y="4539777"/>
            <a:ext cx="4361688"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1150">
                <a:solidFill>
                  <a:srgbClr val="1F2730"/>
                </a:solidFill>
                <a:latin typeface="Arial"/>
                <a:ea typeface="Arial"/>
                <a:cs typeface="Arial"/>
              </a:rPr>
              <a:t>Final 44 combinations represent 43 unique genes in 5 categories</a:t>
            </a:r>
          </a:p>
        </p:txBody>
      </p:sp>
      <p:sp>
        <p:nvSpPr>
          <p:cNvPr id="39" name="Oval 38">
            <a:extLst xmlns:a="http://schemas.openxmlformats.org/drawingml/2006/main">
              <a:ext uri="{FF2B5EF4-FFF2-40B4-BE49-F238E27FC236}">
                <a16:creationId xmlns:a16="http://schemas.microsoft.com/office/drawing/2014/main" id="{79E8A492-0E0F-E92C-8D7C-1EDE7DD70821}"/>
              </a:ext>
            </a:extLst>
          </p:cNvPr>
          <p:cNvSpPr>
            <a:spLocks xmlns:a="http://schemas.openxmlformats.org/drawingml/2006/main" noGrp="1"/>
          </p:cNvSpPr>
          <p:nvPr/>
        </p:nvSpPr>
        <p:spPr>
          <a:xfrm xmlns:a="http://schemas.openxmlformats.org/drawingml/2006/main">
            <a:off x="3420291" y="5066196"/>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extBox 1">
            <a:extLst xmlns:a="http://schemas.openxmlformats.org/drawingml/2006/main">
              <a:ext uri="{FF2B5EF4-FFF2-40B4-BE49-F238E27FC236}">
                <a16:creationId xmlns:a16="http://schemas.microsoft.com/office/drawing/2014/main" id="{4F058FC1-77DB-E3CD-AAE6-D629960B57E1}"/>
              </a:ext>
            </a:extLst>
          </p:cNvPr>
          <p:cNvSpPr>
            <a:spLocks xmlns:a="http://schemas.openxmlformats.org/drawingml/2006/main" noGrp="1"/>
          </p:cNvSpPr>
          <p:nvPr/>
        </p:nvSpPr>
        <p:spPr>
          <a:xfrm xmlns:a="http://schemas.openxmlformats.org/drawingml/2006/main">
            <a:off x="3601744" y="4993116"/>
            <a:ext cx="4361688"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1150">
                <a:solidFill>
                  <a:srgbClr val="1F2730"/>
                </a:solidFill>
                <a:latin typeface="Arial"/>
                <a:ea typeface="Arial"/>
                <a:cs typeface="Arial"/>
              </a:rPr>
              <a:t>20 of 22 calls are M_e33.</a:t>
            </a:r>
          </a:p>
        </p:txBody>
      </p:sp>
    </p:spTree>
    <p:extLst>
      <p:ext uri="{BB962C8B-B14F-4D97-AF65-F5344CB8AC3E}">
        <p14:creationId xmlns:p14="http://schemas.microsoft.com/office/powerpoint/2010/main" val="2690829238"/>
      </p:ext>
    </p:extLst>
  </p:cSld>
</p:sld>
</file>

<file path=ppt/slides/slide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A731D2A-B116-490A-A83D-7899BE439E0B}"/>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xmlns:a="http://schemas.openxmlformats.org/drawingml/2006/main">
              <a:ext uri="{FF2B5EF4-FFF2-40B4-BE49-F238E27FC236}">
                <a16:creationId xmlns:a16="http://schemas.microsoft.com/office/drawing/2014/main" id="{0F5EC579-272D-4700-8B38-0263DDE652E8}"/>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One mitochondrial DEG query per supertype × sex/APOE contrast.</a:t>
            </a:r>
          </a:p>
        </p:txBody>
      </p:sp>
      <p:sp>
        <p:nvSpPr>
          <p:cNvPr id="4" name="Rounded Rectangle 3">
            <a:extLst xmlns:a="http://schemas.openxmlformats.org/drawingml/2006/main">
              <a:ext uri="{FF2B5EF4-FFF2-40B4-BE49-F238E27FC236}">
                <a16:creationId xmlns:a16="http://schemas.microsoft.com/office/drawing/2014/main" id="{756EB20F-A424-44D2-962B-C48792D776EA}"/>
              </a:ext>
            </a:extLst>
          </p:cNvPr>
          <p:cNvSpPr>
            <a:spLocks xmlns:a="http://schemas.openxmlformats.org/drawingml/2006/main" noGrp="1"/>
          </p:cNvSpPr>
          <p:nvPr/>
        </p:nvSpPr>
        <p:spPr>
          <a:xfrm xmlns:a="http://schemas.openxmlformats.org/drawingml/2006/main">
            <a:off x="640080" y="1344168"/>
            <a:ext cx="3383280" cy="1197864"/>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84AFF86-E79D-4767-A7FA-9893CC7D90C1}"/>
              </a:ext>
            </a:extLst>
          </p:cNvPr>
          <p:cNvSpPr>
            <a:spLocks xmlns:a="http://schemas.openxmlformats.org/drawingml/2006/main" noGrp="1"/>
          </p:cNvSpPr>
          <p:nvPr/>
        </p:nvSpPr>
        <p:spPr>
          <a:xfrm xmlns:a="http://schemas.openxmlformats.org/drawingml/2006/main">
            <a:off x="868680" y="1591056"/>
            <a:ext cx="292608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xmlns:a="http://schemas.openxmlformats.org/drawingml/2006/main">
              <a:ext uri="{FF2B5EF4-FFF2-40B4-BE49-F238E27FC236}">
                <a16:creationId xmlns:a16="http://schemas.microsoft.com/office/drawing/2014/main" id="{7E596793-2A55-49C5-B984-C2CFA9EF73FA}"/>
              </a:ext>
            </a:extLst>
          </p:cNvPr>
          <p:cNvSpPr>
            <a:spLocks xmlns:a="http://schemas.openxmlformats.org/drawingml/2006/main" noGrp="1"/>
          </p:cNvSpPr>
          <p:nvPr/>
        </p:nvSpPr>
        <p:spPr>
          <a:xfrm xmlns:a="http://schemas.openxmlformats.org/drawingml/2006/main">
            <a:off x="868680" y="1993392"/>
            <a:ext cx="292608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xmlns:a="http://schemas.openxmlformats.org/drawingml/2006/main">
              <a:ext uri="{FF2B5EF4-FFF2-40B4-BE49-F238E27FC236}">
                <a16:creationId xmlns:a16="http://schemas.microsoft.com/office/drawing/2014/main" id="{0B49FCD5-4828-4431-A44D-718D46EF7FC1}"/>
              </a:ext>
            </a:extLst>
          </p:cNvPr>
          <p:cNvSpPr>
            <a:spLocks xmlns:a="http://schemas.openxmlformats.org/drawingml/2006/main" noGrp="1"/>
          </p:cNvSpPr>
          <p:nvPr/>
        </p:nvSpPr>
        <p:spPr>
          <a:xfrm xmlns:a="http://schemas.openxmlformats.org/drawingml/2006/main">
            <a:off x="4407408" y="1344168"/>
            <a:ext cx="3383280" cy="1197864"/>
          </a:xfrm>
          <a:prstGeom xmlns:a="http://schemas.openxmlformats.org/drawingml/2006/main" prst="roundRect">
            <a:avLst/>
          </a:prstGeom>
          <a:solidFill xmlns:a="http://schemas.openxmlformats.org/drawingml/2006/main">
            <a:srgbClr val="EBF7FC"/>
          </a:solidFill>
          <a:ln xmlns:a="http://schemas.openxmlformats.org/drawingml/2006/main" w="12700">
            <a:solidFill>
              <a:srgbClr val="56B4E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12BA46-0D7D-4D46-8BF1-D8823CBDDB3E}"/>
              </a:ext>
            </a:extLst>
          </p:cNvPr>
          <p:cNvSpPr>
            <a:spLocks xmlns:a="http://schemas.openxmlformats.org/drawingml/2006/main" noGrp="1"/>
          </p:cNvSpPr>
          <p:nvPr/>
        </p:nvSpPr>
        <p:spPr>
          <a:xfrm xmlns:a="http://schemas.openxmlformats.org/drawingml/2006/main">
            <a:off x="4636008" y="1591056"/>
            <a:ext cx="2926080"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xmlns:a="http://schemas.openxmlformats.org/drawingml/2006/main">
              <a:ext uri="{FF2B5EF4-FFF2-40B4-BE49-F238E27FC236}">
                <a16:creationId xmlns:a16="http://schemas.microsoft.com/office/drawing/2014/main" id="{48F6E372-621D-414C-B37C-B22565F0A23B}"/>
              </a:ext>
            </a:extLst>
          </p:cNvPr>
          <p:cNvSpPr>
            <a:spLocks xmlns:a="http://schemas.openxmlformats.org/drawingml/2006/main" noGrp="1"/>
          </p:cNvSpPr>
          <p:nvPr/>
        </p:nvSpPr>
        <p:spPr>
          <a:xfrm xmlns:a="http://schemas.openxmlformats.org/drawingml/2006/main">
            <a:off x="4636008" y="1993392"/>
            <a:ext cx="292608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xmlns:a="http://schemas.openxmlformats.org/drawingml/2006/main">
              <a:ext uri="{FF2B5EF4-FFF2-40B4-BE49-F238E27FC236}">
                <a16:creationId xmlns:a16="http://schemas.microsoft.com/office/drawing/2014/main" id="{0587407E-5675-491D-84B8-41C2C270987A}"/>
              </a:ext>
            </a:extLst>
          </p:cNvPr>
          <p:cNvSpPr>
            <a:spLocks xmlns:a="http://schemas.openxmlformats.org/drawingml/2006/main" noGrp="1"/>
          </p:cNvSpPr>
          <p:nvPr/>
        </p:nvSpPr>
        <p:spPr>
          <a:xfrm xmlns:a="http://schemas.openxmlformats.org/drawingml/2006/main">
            <a:off x="8174736" y="1344168"/>
            <a:ext cx="3383280" cy="1197864"/>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85475A39-8B85-46D8-907E-216127FB6D36}"/>
              </a:ext>
            </a:extLst>
          </p:cNvPr>
          <p:cNvSpPr>
            <a:spLocks xmlns:a="http://schemas.openxmlformats.org/drawingml/2006/main" noGrp="1"/>
          </p:cNvSpPr>
          <p:nvPr/>
        </p:nvSpPr>
        <p:spPr>
          <a:xfrm xmlns:a="http://schemas.openxmlformats.org/drawingml/2006/main">
            <a:off x="8403336" y="1591056"/>
            <a:ext cx="2926080"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22 </a:t>
            </a:r>
            <a:r>
              <a:rPr sz="1900" b="1">
                <a:solidFill>
                  <a:srgbClr val="0F233D"/>
                </a:solidFill>
                <a:latin typeface="Arial"/>
                <a:ea typeface="Arial"/>
                <a:cs typeface="Arial"/>
              </a:rPr>
              <a:t>call_key_drivers calls</a:t>
            </a:r>
            <a:endParaRPr sz="1900" b="1" i="0">
              <a:solidFill>
                <a:srgbClr val="0F233D"/>
              </a:solidFill>
              <a:latin typeface="Arial"/>
              <a:ea typeface="Arial"/>
              <a:cs typeface="Arial"/>
            </a:endParaRPr>
          </a:p>
        </p:txBody>
      </p:sp>
      <p:sp>
        <p:nvSpPr>
          <p:cNvPr id="12" name="TextBox 11">
            <a:extLst xmlns:a="http://schemas.openxmlformats.org/drawingml/2006/main">
              <a:ext uri="{FF2B5EF4-FFF2-40B4-BE49-F238E27FC236}">
                <a16:creationId xmlns:a16="http://schemas.microsoft.com/office/drawing/2014/main" id="{16511654-4C4F-4768-A8F3-B6513E48A740}"/>
              </a:ext>
            </a:extLst>
          </p:cNvPr>
          <p:cNvSpPr>
            <a:spLocks xmlns:a="http://schemas.openxmlformats.org/drawingml/2006/main" noGrp="1"/>
          </p:cNvSpPr>
          <p:nvPr/>
        </p:nvSpPr>
        <p:spPr>
          <a:xfrm xmlns:a="http://schemas.openxmlformats.org/drawingml/2006/main">
            <a:off x="8403336" y="1993392"/>
            <a:ext cx="2926080" cy="4339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xmlns:a="http://schemas.openxmlformats.org/drawingml/2006/main">
              <a:ext uri="{FF2B5EF4-FFF2-40B4-BE49-F238E27FC236}">
                <a16:creationId xmlns:a16="http://schemas.microsoft.com/office/drawing/2014/main" id="{536E8183-C004-4650-A415-65110217BD92}"/>
              </a:ext>
            </a:extLst>
          </p:cNvPr>
          <p:cNvSpPr>
            <a:spLocks xmlns:a="http://schemas.openxmlformats.org/drawingml/2006/main" noGrp="1"/>
          </p:cNvSpPr>
          <p:nvPr/>
        </p:nvSpPr>
        <p:spPr>
          <a:xfrm xmlns:a="http://schemas.openxmlformats.org/drawingml/2006/main">
            <a:off x="786384" y="2834640"/>
            <a:ext cx="580644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A7C68209-0576-4AD6-BC4D-4DFEB9D31F19}"/>
              </a:ext>
            </a:extLst>
          </p:cNvPr>
          <p:cNvSpPr>
            <a:spLocks xmlns:a="http://schemas.openxmlformats.org/drawingml/2006/main" noGrp="1"/>
          </p:cNvSpPr>
          <p:nvPr/>
        </p:nvSpPr>
        <p:spPr>
          <a:xfrm xmlns:a="http://schemas.openxmlformats.org/drawingml/2006/main">
            <a:off x="841247" y="2889504"/>
            <a:ext cx="569671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xmlns:a="http://schemas.openxmlformats.org/drawingml/2006/main">
              <a:ext uri="{FF2B5EF4-FFF2-40B4-BE49-F238E27FC236}">
                <a16:creationId xmlns:a16="http://schemas.microsoft.com/office/drawing/2014/main" id="{1694A8C1-05B5-47F1-85AF-E37DCB16D88D}"/>
              </a:ext>
            </a:extLst>
          </p:cNvPr>
          <p:cNvSpPr>
            <a:spLocks xmlns:a="http://schemas.openxmlformats.org/drawingml/2006/main" noGrp="1"/>
          </p:cNvSpPr>
          <p:nvPr/>
        </p:nvSpPr>
        <p:spPr>
          <a:xfrm xmlns:a="http://schemas.openxmlformats.org/drawingml/2006/main">
            <a:off x="6592824" y="2834640"/>
            <a:ext cx="1115568"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3488BB40-F98F-40EB-B99F-0B652DEF4505}"/>
              </a:ext>
            </a:extLst>
          </p:cNvPr>
          <p:cNvSpPr>
            <a:spLocks xmlns:a="http://schemas.openxmlformats.org/drawingml/2006/main" noGrp="1"/>
          </p:cNvSpPr>
          <p:nvPr/>
        </p:nvSpPr>
        <p:spPr>
          <a:xfrm xmlns:a="http://schemas.openxmlformats.org/drawingml/2006/main">
            <a:off x="6647688" y="2889504"/>
            <a:ext cx="1005840"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xmlns:a="http://schemas.openxmlformats.org/drawingml/2006/main">
              <a:ext uri="{FF2B5EF4-FFF2-40B4-BE49-F238E27FC236}">
                <a16:creationId xmlns:a16="http://schemas.microsoft.com/office/drawing/2014/main" id="{78125995-9B01-4654-8667-F3D91A68BD02}"/>
              </a:ext>
            </a:extLst>
          </p:cNvPr>
          <p:cNvSpPr>
            <a:spLocks xmlns:a="http://schemas.openxmlformats.org/drawingml/2006/main" noGrp="1"/>
          </p:cNvSpPr>
          <p:nvPr/>
        </p:nvSpPr>
        <p:spPr>
          <a:xfrm xmlns:a="http://schemas.openxmlformats.org/drawingml/2006/main">
            <a:off x="7708392" y="2834640"/>
            <a:ext cx="361188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2D4EB2C-346E-4F90-B606-E8B9EAC67D6C}"/>
              </a:ext>
            </a:extLst>
          </p:cNvPr>
          <p:cNvSpPr>
            <a:spLocks xmlns:a="http://schemas.openxmlformats.org/drawingml/2006/main" noGrp="1"/>
          </p:cNvSpPr>
          <p:nvPr/>
        </p:nvSpPr>
        <p:spPr>
          <a:xfrm xmlns:a="http://schemas.openxmlformats.org/drawingml/2006/main">
            <a:off x="7763256" y="2889504"/>
            <a:ext cx="350215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FFFFFF"/>
                </a:solidFill>
                <a:latin typeface="Arial"/>
                <a:ea typeface="Arial"/>
                <a:cs typeface="Arial"/>
              </a:rPr>
              <a:t>KDA called?</a:t>
            </a:r>
          </a:p>
        </p:txBody>
      </p:sp>
      <p:sp>
        <p:nvSpPr>
          <p:cNvPr id="19" name="Rectangle 18">
            <a:extLst xmlns:a="http://schemas.openxmlformats.org/drawingml/2006/main">
              <a:ext uri="{FF2B5EF4-FFF2-40B4-BE49-F238E27FC236}">
                <a16:creationId xmlns:a16="http://schemas.microsoft.com/office/drawing/2014/main" id="{DEEE23B6-51E8-4740-8D90-1F2F8B9A946B}"/>
              </a:ext>
            </a:extLst>
          </p:cNvPr>
          <p:cNvSpPr>
            <a:spLocks xmlns:a="http://schemas.openxmlformats.org/drawingml/2006/main" noGrp="1"/>
          </p:cNvSpPr>
          <p:nvPr/>
        </p:nvSpPr>
        <p:spPr>
          <a:xfrm xmlns:a="http://schemas.openxmlformats.org/drawingml/2006/main">
            <a:off x="786384" y="3264408"/>
            <a:ext cx="5806440"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FFFF9712-557B-4CF9-A5D5-E47185AC98E3}"/>
              </a:ext>
            </a:extLst>
          </p:cNvPr>
          <p:cNvSpPr>
            <a:spLocks xmlns:a="http://schemas.openxmlformats.org/drawingml/2006/main" noGrp="1"/>
          </p:cNvSpPr>
          <p:nvPr/>
        </p:nvSpPr>
        <p:spPr>
          <a:xfrm xmlns:a="http://schemas.openxmlformats.org/drawingml/2006/main">
            <a:off x="841247" y="3386869"/>
            <a:ext cx="5696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xmlns:a="http://schemas.openxmlformats.org/drawingml/2006/main">
              <a:ext uri="{FF2B5EF4-FFF2-40B4-BE49-F238E27FC236}">
                <a16:creationId xmlns:a16="http://schemas.microsoft.com/office/drawing/2014/main" id="{3115DB27-6DCB-41DA-9890-57EC7150C278}"/>
              </a:ext>
            </a:extLst>
          </p:cNvPr>
          <p:cNvSpPr>
            <a:spLocks xmlns:a="http://schemas.openxmlformats.org/drawingml/2006/main" noGrp="1"/>
          </p:cNvSpPr>
          <p:nvPr/>
        </p:nvSpPr>
        <p:spPr>
          <a:xfrm xmlns:a="http://schemas.openxmlformats.org/drawingml/2006/main">
            <a:off x="6592824" y="3264408"/>
            <a:ext cx="1115568"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FA8BEB43-DF32-46E3-89D4-2B1E4306F415}"/>
              </a:ext>
            </a:extLst>
          </p:cNvPr>
          <p:cNvSpPr>
            <a:spLocks xmlns:a="http://schemas.openxmlformats.org/drawingml/2006/main" noGrp="1"/>
          </p:cNvSpPr>
          <p:nvPr/>
        </p:nvSpPr>
        <p:spPr>
          <a:xfrm xmlns:a="http://schemas.openxmlformats.org/drawingml/2006/main">
            <a:off x="6647688" y="3310128"/>
            <a:ext cx="1005840"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xmlns:a="http://schemas.openxmlformats.org/drawingml/2006/main">
              <a:ext uri="{FF2B5EF4-FFF2-40B4-BE49-F238E27FC236}">
                <a16:creationId xmlns:a16="http://schemas.microsoft.com/office/drawing/2014/main" id="{B84BCB48-6570-4822-828F-338499D6A131}"/>
              </a:ext>
            </a:extLst>
          </p:cNvPr>
          <p:cNvSpPr>
            <a:spLocks xmlns:a="http://schemas.openxmlformats.org/drawingml/2006/main" noGrp="1"/>
          </p:cNvSpPr>
          <p:nvPr/>
        </p:nvSpPr>
        <p:spPr>
          <a:xfrm xmlns:a="http://schemas.openxmlformats.org/drawingml/2006/main">
            <a:off x="7708392" y="3264408"/>
            <a:ext cx="3611880"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08E03D5A-5501-4016-BBCC-2C201A5B44EF}"/>
              </a:ext>
            </a:extLst>
          </p:cNvPr>
          <p:cNvSpPr>
            <a:spLocks xmlns:a="http://schemas.openxmlformats.org/drawingml/2006/main" noGrp="1"/>
          </p:cNvSpPr>
          <p:nvPr/>
        </p:nvSpPr>
        <p:spPr>
          <a:xfrm xmlns:a="http://schemas.openxmlformats.org/drawingml/2006/main">
            <a:off x="7763256" y="3310128"/>
            <a:ext cx="350215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xmlns:a="http://schemas.openxmlformats.org/drawingml/2006/main">
              <a:ext uri="{FF2B5EF4-FFF2-40B4-BE49-F238E27FC236}">
                <a16:creationId xmlns:a16="http://schemas.microsoft.com/office/drawing/2014/main" id="{C9FD0460-FED0-489F-B99B-9A944E679918}"/>
              </a:ext>
            </a:extLst>
          </p:cNvPr>
          <p:cNvSpPr>
            <a:spLocks xmlns:a="http://schemas.openxmlformats.org/drawingml/2006/main" noGrp="1"/>
          </p:cNvSpPr>
          <p:nvPr/>
        </p:nvSpPr>
        <p:spPr>
          <a:xfrm xmlns:a="http://schemas.openxmlformats.org/drawingml/2006/main">
            <a:off x="786384" y="3694176"/>
            <a:ext cx="5806440"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362E6B6B-2993-4D8E-998F-465FAB9FCA2E}"/>
              </a:ext>
            </a:extLst>
          </p:cNvPr>
          <p:cNvSpPr>
            <a:spLocks xmlns:a="http://schemas.openxmlformats.org/drawingml/2006/main" noGrp="1"/>
          </p:cNvSpPr>
          <p:nvPr/>
        </p:nvSpPr>
        <p:spPr>
          <a:xfrm xmlns:a="http://schemas.openxmlformats.org/drawingml/2006/main">
            <a:off x="841247" y="3816637"/>
            <a:ext cx="5696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xmlns:a="http://schemas.openxmlformats.org/drawingml/2006/main">
              <a:ext uri="{FF2B5EF4-FFF2-40B4-BE49-F238E27FC236}">
                <a16:creationId xmlns:a16="http://schemas.microsoft.com/office/drawing/2014/main" id="{4CA86A09-4680-437D-8C83-FD1A85F5237B}"/>
              </a:ext>
            </a:extLst>
          </p:cNvPr>
          <p:cNvSpPr>
            <a:spLocks xmlns:a="http://schemas.openxmlformats.org/drawingml/2006/main" noGrp="1"/>
          </p:cNvSpPr>
          <p:nvPr/>
        </p:nvSpPr>
        <p:spPr>
          <a:xfrm xmlns:a="http://schemas.openxmlformats.org/drawingml/2006/main">
            <a:off x="6592824" y="3694176"/>
            <a:ext cx="1115568"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84A62820-632F-4DA2-9BAA-EA9ADC94D734}"/>
              </a:ext>
            </a:extLst>
          </p:cNvPr>
          <p:cNvSpPr>
            <a:spLocks xmlns:a="http://schemas.openxmlformats.org/drawingml/2006/main" noGrp="1"/>
          </p:cNvSpPr>
          <p:nvPr/>
        </p:nvSpPr>
        <p:spPr>
          <a:xfrm xmlns:a="http://schemas.openxmlformats.org/drawingml/2006/main">
            <a:off x="6647688" y="3739896"/>
            <a:ext cx="1005840"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xmlns:a="http://schemas.openxmlformats.org/drawingml/2006/main">
              <a:ext uri="{FF2B5EF4-FFF2-40B4-BE49-F238E27FC236}">
                <a16:creationId xmlns:a16="http://schemas.microsoft.com/office/drawing/2014/main" id="{6DA52366-3F22-429F-B145-2B9FC59B1AD8}"/>
              </a:ext>
            </a:extLst>
          </p:cNvPr>
          <p:cNvSpPr>
            <a:spLocks xmlns:a="http://schemas.openxmlformats.org/drawingml/2006/main" noGrp="1"/>
          </p:cNvSpPr>
          <p:nvPr/>
        </p:nvSpPr>
        <p:spPr>
          <a:xfrm xmlns:a="http://schemas.openxmlformats.org/drawingml/2006/main">
            <a:off x="7708392" y="3694176"/>
            <a:ext cx="3611880"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74D709C5-6EB0-461D-8820-445C30B578AE}"/>
              </a:ext>
            </a:extLst>
          </p:cNvPr>
          <p:cNvSpPr>
            <a:spLocks xmlns:a="http://schemas.openxmlformats.org/drawingml/2006/main" noGrp="1"/>
          </p:cNvSpPr>
          <p:nvPr/>
        </p:nvSpPr>
        <p:spPr>
          <a:xfrm xmlns:a="http://schemas.openxmlformats.org/drawingml/2006/main">
            <a:off x="7763256" y="3739896"/>
            <a:ext cx="350215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xmlns:a="http://schemas.openxmlformats.org/drawingml/2006/main">
              <a:ext uri="{FF2B5EF4-FFF2-40B4-BE49-F238E27FC236}">
                <a16:creationId xmlns:a16="http://schemas.microsoft.com/office/drawing/2014/main" id="{579DE40C-8DF4-4E4B-A8F9-CFD822ED624C}"/>
              </a:ext>
            </a:extLst>
          </p:cNvPr>
          <p:cNvSpPr>
            <a:spLocks xmlns:a="http://schemas.openxmlformats.org/drawingml/2006/main" noGrp="1"/>
          </p:cNvSpPr>
          <p:nvPr/>
        </p:nvSpPr>
        <p:spPr>
          <a:xfrm xmlns:a="http://schemas.openxmlformats.org/drawingml/2006/main">
            <a:off x="786384" y="4123944"/>
            <a:ext cx="5806440"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EC85DE27-E270-4AD6-B949-B0CD64F744D2}"/>
              </a:ext>
            </a:extLst>
          </p:cNvPr>
          <p:cNvSpPr>
            <a:spLocks xmlns:a="http://schemas.openxmlformats.org/drawingml/2006/main" noGrp="1"/>
          </p:cNvSpPr>
          <p:nvPr/>
        </p:nvSpPr>
        <p:spPr>
          <a:xfrm xmlns:a="http://schemas.openxmlformats.org/drawingml/2006/main">
            <a:off x="841247" y="4246404"/>
            <a:ext cx="5696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xmlns:a="http://schemas.openxmlformats.org/drawingml/2006/main">
              <a:ext uri="{FF2B5EF4-FFF2-40B4-BE49-F238E27FC236}">
                <a16:creationId xmlns:a16="http://schemas.microsoft.com/office/drawing/2014/main" id="{71922BEC-EBBD-464F-9A93-CB0E6CD0C65C}"/>
              </a:ext>
            </a:extLst>
          </p:cNvPr>
          <p:cNvSpPr>
            <a:spLocks xmlns:a="http://schemas.openxmlformats.org/drawingml/2006/main" noGrp="1"/>
          </p:cNvSpPr>
          <p:nvPr/>
        </p:nvSpPr>
        <p:spPr>
          <a:xfrm xmlns:a="http://schemas.openxmlformats.org/drawingml/2006/main">
            <a:off x="6592824" y="4123944"/>
            <a:ext cx="1115568"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FE7D493B-F1C6-44AE-82B1-5CA4C20101D7}"/>
              </a:ext>
            </a:extLst>
          </p:cNvPr>
          <p:cNvSpPr>
            <a:spLocks xmlns:a="http://schemas.openxmlformats.org/drawingml/2006/main" noGrp="1"/>
          </p:cNvSpPr>
          <p:nvPr/>
        </p:nvSpPr>
        <p:spPr>
          <a:xfrm xmlns:a="http://schemas.openxmlformats.org/drawingml/2006/main">
            <a:off x="6647688" y="4169663"/>
            <a:ext cx="1005840"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xmlns:a="http://schemas.openxmlformats.org/drawingml/2006/main">
              <a:ext uri="{FF2B5EF4-FFF2-40B4-BE49-F238E27FC236}">
                <a16:creationId xmlns:a16="http://schemas.microsoft.com/office/drawing/2014/main" id="{0467B988-F2CC-4B87-A622-D85C4DBA4E32}"/>
              </a:ext>
            </a:extLst>
          </p:cNvPr>
          <p:cNvSpPr>
            <a:spLocks xmlns:a="http://schemas.openxmlformats.org/drawingml/2006/main" noGrp="1"/>
          </p:cNvSpPr>
          <p:nvPr/>
        </p:nvSpPr>
        <p:spPr>
          <a:xfrm xmlns:a="http://schemas.openxmlformats.org/drawingml/2006/main">
            <a:off x="7708392" y="4123944"/>
            <a:ext cx="3611880"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9E333520-32E2-48D9-ABDD-7299433B2B08}"/>
              </a:ext>
            </a:extLst>
          </p:cNvPr>
          <p:cNvSpPr>
            <a:spLocks xmlns:a="http://schemas.openxmlformats.org/drawingml/2006/main" noGrp="1"/>
          </p:cNvSpPr>
          <p:nvPr/>
        </p:nvSpPr>
        <p:spPr>
          <a:xfrm xmlns:a="http://schemas.openxmlformats.org/drawingml/2006/main">
            <a:off x="7763256" y="4169663"/>
            <a:ext cx="350215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xmlns:a="http://schemas.openxmlformats.org/drawingml/2006/main">
              <a:ext uri="{FF2B5EF4-FFF2-40B4-BE49-F238E27FC236}">
                <a16:creationId xmlns:a16="http://schemas.microsoft.com/office/drawing/2014/main" id="{373FF968-D279-4D47-AA68-6925D273751F}"/>
              </a:ext>
            </a:extLst>
          </p:cNvPr>
          <p:cNvSpPr>
            <a:spLocks xmlns:a="http://schemas.openxmlformats.org/drawingml/2006/main" noGrp="1"/>
          </p:cNvSpPr>
          <p:nvPr/>
        </p:nvSpPr>
        <p:spPr>
          <a:xfrm xmlns:a="http://schemas.openxmlformats.org/drawingml/2006/main">
            <a:off x="786384" y="4553712"/>
            <a:ext cx="5806440"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8EC3745D-B09B-40CC-B2E1-181BDBE1B929}"/>
              </a:ext>
            </a:extLst>
          </p:cNvPr>
          <p:cNvSpPr>
            <a:spLocks xmlns:a="http://schemas.openxmlformats.org/drawingml/2006/main" noGrp="1"/>
          </p:cNvSpPr>
          <p:nvPr/>
        </p:nvSpPr>
        <p:spPr>
          <a:xfrm xmlns:a="http://schemas.openxmlformats.org/drawingml/2006/main">
            <a:off x="841247" y="4676173"/>
            <a:ext cx="5696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xmlns:a="http://schemas.openxmlformats.org/drawingml/2006/main">
              <a:ext uri="{FF2B5EF4-FFF2-40B4-BE49-F238E27FC236}">
                <a16:creationId xmlns:a16="http://schemas.microsoft.com/office/drawing/2014/main" id="{0150717B-B47C-4BDA-A2A1-B24E1F4599D4}"/>
              </a:ext>
            </a:extLst>
          </p:cNvPr>
          <p:cNvSpPr>
            <a:spLocks xmlns:a="http://schemas.openxmlformats.org/drawingml/2006/main" noGrp="1"/>
          </p:cNvSpPr>
          <p:nvPr/>
        </p:nvSpPr>
        <p:spPr>
          <a:xfrm xmlns:a="http://schemas.openxmlformats.org/drawingml/2006/main">
            <a:off x="6592824" y="4553712"/>
            <a:ext cx="1115568"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1DA071E-0FA1-4CBC-84A7-C23543004197}"/>
              </a:ext>
            </a:extLst>
          </p:cNvPr>
          <p:cNvSpPr>
            <a:spLocks xmlns:a="http://schemas.openxmlformats.org/drawingml/2006/main" noGrp="1"/>
          </p:cNvSpPr>
          <p:nvPr/>
        </p:nvSpPr>
        <p:spPr>
          <a:xfrm xmlns:a="http://schemas.openxmlformats.org/drawingml/2006/main">
            <a:off x="6647688" y="4676173"/>
            <a:ext cx="1005840"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xmlns:a="http://schemas.openxmlformats.org/drawingml/2006/main">
              <a:ext uri="{FF2B5EF4-FFF2-40B4-BE49-F238E27FC236}">
                <a16:creationId xmlns:a16="http://schemas.microsoft.com/office/drawing/2014/main" id="{3304B9D0-ADAD-40D3-8239-89117C09D517}"/>
              </a:ext>
            </a:extLst>
          </p:cNvPr>
          <p:cNvSpPr>
            <a:spLocks xmlns:a="http://schemas.openxmlformats.org/drawingml/2006/main" noGrp="1"/>
          </p:cNvSpPr>
          <p:nvPr/>
        </p:nvSpPr>
        <p:spPr>
          <a:xfrm xmlns:a="http://schemas.openxmlformats.org/drawingml/2006/main">
            <a:off x="7708392" y="4553712"/>
            <a:ext cx="3611880"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TextBox 41">
            <a:extLst xmlns:a="http://schemas.openxmlformats.org/drawingml/2006/main">
              <a:ext uri="{FF2B5EF4-FFF2-40B4-BE49-F238E27FC236}">
                <a16:creationId xmlns:a16="http://schemas.microsoft.com/office/drawing/2014/main" id="{B1DDC8C2-5FD0-4512-B9FC-411C8E88417C}"/>
              </a:ext>
            </a:extLst>
          </p:cNvPr>
          <p:cNvSpPr>
            <a:spLocks xmlns:a="http://schemas.openxmlformats.org/drawingml/2006/main" noGrp="1"/>
          </p:cNvSpPr>
          <p:nvPr/>
        </p:nvSpPr>
        <p:spPr>
          <a:xfrm xmlns:a="http://schemas.openxmlformats.org/drawingml/2006/main">
            <a:off x="7763256" y="4676173"/>
            <a:ext cx="350215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xmlns:a="http://schemas.openxmlformats.org/drawingml/2006/main">
              <a:ext uri="{FF2B5EF4-FFF2-40B4-BE49-F238E27FC236}">
                <a16:creationId xmlns:a16="http://schemas.microsoft.com/office/drawing/2014/main" id="{1A0998C8-CEB6-4A92-AEB6-BE2E7DFBE2BE}"/>
              </a:ext>
            </a:extLst>
          </p:cNvPr>
          <p:cNvSpPr>
            <a:spLocks xmlns:a="http://schemas.openxmlformats.org/drawingml/2006/main" noGrp="1"/>
          </p:cNvSpPr>
          <p:nvPr/>
        </p:nvSpPr>
        <p:spPr>
          <a:xfrm xmlns:a="http://schemas.openxmlformats.org/drawingml/2006/main">
            <a:off x="786384" y="5002700"/>
            <a:ext cx="5806440" cy="429768"/>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016DB5F1-DB8C-4310-AB69-2478EC5FD16D}"/>
              </a:ext>
            </a:extLst>
          </p:cNvPr>
          <p:cNvSpPr>
            <a:spLocks xmlns:a="http://schemas.openxmlformats.org/drawingml/2006/main" noGrp="1"/>
          </p:cNvSpPr>
          <p:nvPr/>
        </p:nvSpPr>
        <p:spPr>
          <a:xfrm xmlns:a="http://schemas.openxmlformats.org/drawingml/2006/main">
            <a:off x="841247" y="5048420"/>
            <a:ext cx="569671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xmlns:a="http://schemas.openxmlformats.org/drawingml/2006/main">
              <a:ext uri="{FF2B5EF4-FFF2-40B4-BE49-F238E27FC236}">
                <a16:creationId xmlns:a16="http://schemas.microsoft.com/office/drawing/2014/main" id="{7EAC4715-A720-42B1-ACB8-5E6F721C19D0}"/>
              </a:ext>
            </a:extLst>
          </p:cNvPr>
          <p:cNvSpPr>
            <a:spLocks xmlns:a="http://schemas.openxmlformats.org/drawingml/2006/main" noGrp="1"/>
          </p:cNvSpPr>
          <p:nvPr/>
        </p:nvSpPr>
        <p:spPr>
          <a:xfrm xmlns:a="http://schemas.openxmlformats.org/drawingml/2006/main">
            <a:off x="6592824" y="5002700"/>
            <a:ext cx="1115568" cy="429768"/>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TextBox 51">
            <a:extLst xmlns:a="http://schemas.openxmlformats.org/drawingml/2006/main">
              <a:ext uri="{FF2B5EF4-FFF2-40B4-BE49-F238E27FC236}">
                <a16:creationId xmlns:a16="http://schemas.microsoft.com/office/drawing/2014/main" id="{0B08F8C0-BAE5-4956-9882-32026D2C2130}"/>
              </a:ext>
            </a:extLst>
          </p:cNvPr>
          <p:cNvSpPr>
            <a:spLocks xmlns:a="http://schemas.openxmlformats.org/drawingml/2006/main" noGrp="1"/>
          </p:cNvSpPr>
          <p:nvPr/>
        </p:nvSpPr>
        <p:spPr>
          <a:xfrm xmlns:a="http://schemas.openxmlformats.org/drawingml/2006/main">
            <a:off x="6647688" y="5048420"/>
            <a:ext cx="1005840"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xmlns:a="http://schemas.openxmlformats.org/drawingml/2006/main">
              <a:ext uri="{FF2B5EF4-FFF2-40B4-BE49-F238E27FC236}">
                <a16:creationId xmlns:a16="http://schemas.microsoft.com/office/drawing/2014/main" id="{2318E8FD-D164-4CE7-BE87-ECC1C74B6293}"/>
              </a:ext>
            </a:extLst>
          </p:cNvPr>
          <p:cNvSpPr>
            <a:spLocks xmlns:a="http://schemas.openxmlformats.org/drawingml/2006/main" noGrp="1"/>
          </p:cNvSpPr>
          <p:nvPr/>
        </p:nvSpPr>
        <p:spPr>
          <a:xfrm xmlns:a="http://schemas.openxmlformats.org/drawingml/2006/main">
            <a:off x="7708392" y="5002700"/>
            <a:ext cx="3611880" cy="429768"/>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TextBox 53">
            <a:extLst xmlns:a="http://schemas.openxmlformats.org/drawingml/2006/main">
              <a:ext uri="{FF2B5EF4-FFF2-40B4-BE49-F238E27FC236}">
                <a16:creationId xmlns:a16="http://schemas.microsoft.com/office/drawing/2014/main" id="{DF7B247E-0514-4A15-99C2-80063D536100}"/>
              </a:ext>
            </a:extLst>
          </p:cNvPr>
          <p:cNvSpPr>
            <a:spLocks xmlns:a="http://schemas.openxmlformats.org/drawingml/2006/main" noGrp="1"/>
          </p:cNvSpPr>
          <p:nvPr/>
        </p:nvSpPr>
        <p:spPr>
          <a:xfrm xmlns:a="http://schemas.openxmlformats.org/drawingml/2006/main">
            <a:off x="7763256" y="5048420"/>
            <a:ext cx="350215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1F2730"/>
                </a:solidFill>
                <a:latin typeface="Arial"/>
                <a:ea typeface="Arial"/>
                <a:cs typeface="Arial"/>
              </a:rPr>
              <a:t>22 calls</a:t>
            </a:r>
          </a:p>
        </p:txBody>
      </p:sp>
      <p:sp>
        <p:nvSpPr>
          <p:cNvPr id="55" name="TextBox 54">
            <a:extLst xmlns:a="http://schemas.openxmlformats.org/drawingml/2006/main">
              <a:ext uri="{FF2B5EF4-FFF2-40B4-BE49-F238E27FC236}">
                <a16:creationId xmlns:a16="http://schemas.microsoft.com/office/drawing/2014/main" id="{B84EA5A0-1787-45A7-8C9F-AC2330E54895}"/>
              </a:ext>
            </a:extLst>
          </p:cNvPr>
          <p:cNvSpPr>
            <a:spLocks xmlns:a="http://schemas.openxmlformats.org/drawingml/2006/main" noGrp="1"/>
          </p:cNvSpPr>
          <p:nvPr/>
        </p:nvSpPr>
        <p:spPr>
          <a:xfrm xmlns:a="http://schemas.openxmlformats.org/drawingml/2006/main">
            <a:off x="804672" y="5551340"/>
            <a:ext cx="1060704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calls, one F_e33 call, and one F_e4 call.</a:t>
            </a:r>
          </a:p>
        </p:txBody>
      </p:sp>
    </p:spTree>
    <p:extLst>
      <p:ext uri="{BB962C8B-B14F-4D97-AF65-F5344CB8AC3E}">
        <p14:creationId xmlns:p14="http://schemas.microsoft.com/office/powerpoint/2010/main" val="2029726359"/>
      </p:ext>
    </p:extLst>
  </p:cSld>
</p:sld>
</file>

<file path=ppt/slides/slide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43969B7-9D27-4716-9CC1-20BB99E1000F}"/>
              </a:ext>
            </a:extLst>
          </p:cNvPr>
          <p:cNvSpPr>
            <a:spLocks xmlns:a="http://schemas.openxmlformats.org/drawingml/2006/main" noGrp="1"/>
          </p:cNvSpPr>
          <p:nvPr/>
        </p:nvSpPr>
        <p:spPr>
          <a:xfrm xmlns:a="http://schemas.openxmlformats.org/drawingml/2006/main">
            <a:off x="530352" y="411480"/>
            <a:ext cx="10652760" cy="8094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SEA-AD KDA summary: 44 non-MT gene x category combinations represent 43 distinct genes</a:t>
            </a:r>
          </a:p>
        </p:txBody>
      </p:sp>
      <p:sp>
        <p:nvSpPr>
          <p:cNvPr id="3" name="Rounded Rectangle 2">
            <a:extLst xmlns:a="http://schemas.openxmlformats.org/drawingml/2006/main">
              <a:ext uri="{FF2B5EF4-FFF2-40B4-BE49-F238E27FC236}">
                <a16:creationId xmlns:a16="http://schemas.microsoft.com/office/drawing/2014/main" id="{266CB8E9-F00B-4186-B28B-E531AE500285}"/>
              </a:ext>
            </a:extLst>
          </p:cNvPr>
          <p:cNvSpPr>
            <a:spLocks xmlns:a="http://schemas.openxmlformats.org/drawingml/2006/main" noGrp="1"/>
          </p:cNvSpPr>
          <p:nvPr/>
        </p:nvSpPr>
        <p:spPr>
          <a:xfrm xmlns:a="http://schemas.openxmlformats.org/drawingml/2006/main">
            <a:off x="658368"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D586E91-0BBE-4562-BD66-1CC83A41D50A}"/>
              </a:ext>
            </a:extLst>
          </p:cNvPr>
          <p:cNvSpPr>
            <a:spLocks xmlns:a="http://schemas.openxmlformats.org/drawingml/2006/main" noGrp="1"/>
          </p:cNvSpPr>
          <p:nvPr/>
        </p:nvSpPr>
        <p:spPr>
          <a:xfrm xmlns:a="http://schemas.openxmlformats.org/drawingml/2006/main">
            <a:off x="804672"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xmlns:a="http://schemas.openxmlformats.org/drawingml/2006/main">
              <a:ext uri="{FF2B5EF4-FFF2-40B4-BE49-F238E27FC236}">
                <a16:creationId xmlns:a16="http://schemas.microsoft.com/office/drawing/2014/main" id="{C0806F58-2CBE-4AB7-B28A-D0E40AE7D203}"/>
              </a:ext>
            </a:extLst>
          </p:cNvPr>
          <p:cNvSpPr>
            <a:spLocks xmlns:a="http://schemas.openxmlformats.org/drawingml/2006/main" noGrp="1"/>
          </p:cNvSpPr>
          <p:nvPr/>
        </p:nvSpPr>
        <p:spPr>
          <a:xfrm xmlns:a="http://schemas.openxmlformats.org/drawingml/2006/main">
            <a:off x="804672" y="1938528"/>
            <a:ext cx="1645920" cy="49859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non-MT gene returned from call_key_driver (before aggregation)</a:t>
            </a:r>
          </a:p>
        </p:txBody>
      </p:sp>
      <p:sp>
        <p:nvSpPr>
          <p:cNvPr id="6" name="Rounded Rectangle 5">
            <a:extLst xmlns:a="http://schemas.openxmlformats.org/drawingml/2006/main">
              <a:ext uri="{FF2B5EF4-FFF2-40B4-BE49-F238E27FC236}">
                <a16:creationId xmlns:a16="http://schemas.microsoft.com/office/drawing/2014/main" id="{817055C6-2BF3-4CF7-B0CF-EE8E00A91A3F}"/>
              </a:ext>
            </a:extLst>
          </p:cNvPr>
          <p:cNvSpPr>
            <a:spLocks xmlns:a="http://schemas.openxmlformats.org/drawingml/2006/main" noGrp="1"/>
          </p:cNvSpPr>
          <p:nvPr/>
        </p:nvSpPr>
        <p:spPr>
          <a:xfrm xmlns:a="http://schemas.openxmlformats.org/drawingml/2006/main">
            <a:off x="2798063"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E414772-612D-467A-9081-053E8DB72155}"/>
              </a:ext>
            </a:extLst>
          </p:cNvPr>
          <p:cNvSpPr>
            <a:spLocks xmlns:a="http://schemas.openxmlformats.org/drawingml/2006/main" noGrp="1"/>
          </p:cNvSpPr>
          <p:nvPr/>
        </p:nvSpPr>
        <p:spPr>
          <a:xfrm xmlns:a="http://schemas.openxmlformats.org/drawingml/2006/main">
            <a:off x="2944368"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xmlns:a="http://schemas.openxmlformats.org/drawingml/2006/main">
              <a:ext uri="{FF2B5EF4-FFF2-40B4-BE49-F238E27FC236}">
                <a16:creationId xmlns:a16="http://schemas.microsoft.com/office/drawing/2014/main" id="{83E2F100-F6CB-40EF-9D57-57FD6C94428E}"/>
              </a:ext>
            </a:extLst>
          </p:cNvPr>
          <p:cNvSpPr>
            <a:spLocks xmlns:a="http://schemas.openxmlformats.org/drawingml/2006/main" noGrp="1"/>
          </p:cNvSpPr>
          <p:nvPr/>
        </p:nvSpPr>
        <p:spPr>
          <a:xfrm xmlns:a="http://schemas.openxmlformats.org/drawingml/2006/main">
            <a:off x="2944368" y="1938528"/>
            <a:ext cx="1645920" cy="3508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xmlns:a="http://schemas.openxmlformats.org/drawingml/2006/main">
              <a:ext uri="{FF2B5EF4-FFF2-40B4-BE49-F238E27FC236}">
                <a16:creationId xmlns:a16="http://schemas.microsoft.com/office/drawing/2014/main" id="{C7DE2D7C-EEC9-4171-963B-D7475A9E150E}"/>
              </a:ext>
            </a:extLst>
          </p:cNvPr>
          <p:cNvSpPr>
            <a:spLocks xmlns:a="http://schemas.openxmlformats.org/drawingml/2006/main" noGrp="1"/>
          </p:cNvSpPr>
          <p:nvPr/>
        </p:nvSpPr>
        <p:spPr>
          <a:xfrm xmlns:a="http://schemas.openxmlformats.org/drawingml/2006/main">
            <a:off x="4937759"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61C40E9-5223-45F4-B44C-5FB233D2D895}"/>
              </a:ext>
            </a:extLst>
          </p:cNvPr>
          <p:cNvSpPr>
            <a:spLocks xmlns:a="http://schemas.openxmlformats.org/drawingml/2006/main" noGrp="1"/>
          </p:cNvSpPr>
          <p:nvPr/>
        </p:nvSpPr>
        <p:spPr>
          <a:xfrm xmlns:a="http://schemas.openxmlformats.org/drawingml/2006/main">
            <a:off x="5084064"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xmlns:a="http://schemas.openxmlformats.org/drawingml/2006/main">
              <a:ext uri="{FF2B5EF4-FFF2-40B4-BE49-F238E27FC236}">
                <a16:creationId xmlns:a16="http://schemas.microsoft.com/office/drawing/2014/main" id="{AB834481-730D-4593-8326-D382E238D0D4}"/>
              </a:ext>
            </a:extLst>
          </p:cNvPr>
          <p:cNvSpPr>
            <a:spLocks xmlns:a="http://schemas.openxmlformats.org/drawingml/2006/main" noGrp="1"/>
          </p:cNvSpPr>
          <p:nvPr/>
        </p:nvSpPr>
        <p:spPr>
          <a:xfrm xmlns:a="http://schemas.openxmlformats.org/drawingml/2006/main">
            <a:off x="5084064"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xmlns:a="http://schemas.openxmlformats.org/drawingml/2006/main">
              <a:ext uri="{FF2B5EF4-FFF2-40B4-BE49-F238E27FC236}">
                <a16:creationId xmlns:a16="http://schemas.microsoft.com/office/drawing/2014/main" id="{046BD997-623C-4AE5-B790-588E4444AAFE}"/>
              </a:ext>
            </a:extLst>
          </p:cNvPr>
          <p:cNvSpPr>
            <a:spLocks xmlns:a="http://schemas.openxmlformats.org/drawingml/2006/main" noGrp="1"/>
          </p:cNvSpPr>
          <p:nvPr/>
        </p:nvSpPr>
        <p:spPr>
          <a:xfrm xmlns:a="http://schemas.openxmlformats.org/drawingml/2006/main">
            <a:off x="7077455"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AB67BD00-AE48-4A0D-AD00-63D7745D6BDD}"/>
              </a:ext>
            </a:extLst>
          </p:cNvPr>
          <p:cNvSpPr>
            <a:spLocks xmlns:a="http://schemas.openxmlformats.org/drawingml/2006/main" noGrp="1"/>
          </p:cNvSpPr>
          <p:nvPr/>
        </p:nvSpPr>
        <p:spPr>
          <a:xfrm xmlns:a="http://schemas.openxmlformats.org/drawingml/2006/main">
            <a:off x="7223759"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xmlns:a="http://schemas.openxmlformats.org/drawingml/2006/main">
              <a:ext uri="{FF2B5EF4-FFF2-40B4-BE49-F238E27FC236}">
                <a16:creationId xmlns:a16="http://schemas.microsoft.com/office/drawing/2014/main" id="{714FFE85-704F-4E2D-86BE-84362B31FAFE}"/>
              </a:ext>
            </a:extLst>
          </p:cNvPr>
          <p:cNvSpPr>
            <a:spLocks xmlns:a="http://schemas.openxmlformats.org/drawingml/2006/main" noGrp="1"/>
          </p:cNvSpPr>
          <p:nvPr/>
        </p:nvSpPr>
        <p:spPr>
          <a:xfrm xmlns:a="http://schemas.openxmlformats.org/drawingml/2006/main">
            <a:off x="7223759"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categories with returns</a:t>
            </a:r>
          </a:p>
        </p:txBody>
      </p:sp>
      <p:sp>
        <p:nvSpPr>
          <p:cNvPr id="15" name="Rounded Rectangle 14">
            <a:extLst xmlns:a="http://schemas.openxmlformats.org/drawingml/2006/main">
              <a:ext uri="{FF2B5EF4-FFF2-40B4-BE49-F238E27FC236}">
                <a16:creationId xmlns:a16="http://schemas.microsoft.com/office/drawing/2014/main" id="{BBB2D1C1-9E60-40C9-B0D8-6D9E8BB2BFF3}"/>
              </a:ext>
            </a:extLst>
          </p:cNvPr>
          <p:cNvSpPr>
            <a:spLocks xmlns:a="http://schemas.openxmlformats.org/drawingml/2006/main" noGrp="1"/>
          </p:cNvSpPr>
          <p:nvPr/>
        </p:nvSpPr>
        <p:spPr>
          <a:xfrm xmlns:a="http://schemas.openxmlformats.org/drawingml/2006/main">
            <a:off x="9217152"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BD937122-BFF3-40DB-AE09-638A1D6F355D}"/>
              </a:ext>
            </a:extLst>
          </p:cNvPr>
          <p:cNvSpPr>
            <a:spLocks xmlns:a="http://schemas.openxmlformats.org/drawingml/2006/main" noGrp="1"/>
          </p:cNvSpPr>
          <p:nvPr/>
        </p:nvSpPr>
        <p:spPr>
          <a:xfrm xmlns:a="http://schemas.openxmlformats.org/drawingml/2006/main">
            <a:off x="9363456"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xmlns:a="http://schemas.openxmlformats.org/drawingml/2006/main">
              <a:ext uri="{FF2B5EF4-FFF2-40B4-BE49-F238E27FC236}">
                <a16:creationId xmlns:a16="http://schemas.microsoft.com/office/drawing/2014/main" id="{5A21E9DF-589A-40DA-92D1-FAAF462E8D5C}"/>
              </a:ext>
            </a:extLst>
          </p:cNvPr>
          <p:cNvSpPr>
            <a:spLocks xmlns:a="http://schemas.openxmlformats.org/drawingml/2006/main" noGrp="1"/>
          </p:cNvSpPr>
          <p:nvPr/>
        </p:nvSpPr>
        <p:spPr>
          <a:xfrm xmlns:a="http://schemas.openxmlformats.org/drawingml/2006/main">
            <a:off x="9363456"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xmlns:a="http://schemas.openxmlformats.org/drawingml/2006/main">
              <a:ext uri="{FF2B5EF4-FFF2-40B4-BE49-F238E27FC236}">
                <a16:creationId xmlns:a16="http://schemas.microsoft.com/office/drawing/2014/main" id="{F53A1BB7-26D4-4255-B160-1B1ECCA99BE1}"/>
              </a:ext>
            </a:extLst>
          </p:cNvPr>
          <p:cNvSpPr>
            <a:spLocks xmlns:a="http://schemas.openxmlformats.org/drawingml/2006/main" noGrp="1"/>
          </p:cNvSpPr>
          <p:nvPr/>
        </p:nvSpPr>
        <p:spPr>
          <a:xfrm xmlns:a="http://schemas.openxmlformats.org/drawingml/2006/main">
            <a:off x="658368" y="2871216"/>
            <a:ext cx="5266944" cy="283464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919BDC2A-9B9F-4374-A7DC-563CED8A9DE1}"/>
              </a:ext>
            </a:extLst>
          </p:cNvPr>
          <p:cNvSpPr>
            <a:spLocks xmlns:a="http://schemas.openxmlformats.org/drawingml/2006/main" noGrp="1"/>
          </p:cNvSpPr>
          <p:nvPr/>
        </p:nvSpPr>
        <p:spPr>
          <a:xfrm xmlns:a="http://schemas.openxmlformats.org/drawingml/2006/main">
            <a:off x="932688" y="319125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5749611-28D0-4B77-A610-0D1241272AD7}"/>
              </a:ext>
            </a:extLst>
          </p:cNvPr>
          <p:cNvSpPr>
            <a:spLocks xmlns:a="http://schemas.openxmlformats.org/drawingml/2006/main" noGrp="1"/>
          </p:cNvSpPr>
          <p:nvPr/>
        </p:nvSpPr>
        <p:spPr>
          <a:xfrm xmlns:a="http://schemas.openxmlformats.org/drawingml/2006/main">
            <a:off x="1078992" y="3163824"/>
            <a:ext cx="4572000"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xmlns:a="http://schemas.openxmlformats.org/drawingml/2006/main">
              <a:ext uri="{FF2B5EF4-FFF2-40B4-BE49-F238E27FC236}">
                <a16:creationId xmlns:a16="http://schemas.microsoft.com/office/drawing/2014/main" id="{51FBEE82-1AAF-4A5B-BEE7-B5273ACBACFB}"/>
              </a:ext>
            </a:extLst>
          </p:cNvPr>
          <p:cNvSpPr>
            <a:spLocks xmlns:a="http://schemas.openxmlformats.org/drawingml/2006/main" noGrp="1"/>
          </p:cNvSpPr>
          <p:nvPr/>
        </p:nvSpPr>
        <p:spPr>
          <a:xfrm xmlns:a="http://schemas.openxmlformats.org/drawingml/2006/main">
            <a:off x="941832" y="3685032"/>
            <a:ext cx="1874519"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xmlns:a="http://schemas.openxmlformats.org/drawingml/2006/main">
              <a:ext uri="{FF2B5EF4-FFF2-40B4-BE49-F238E27FC236}">
                <a16:creationId xmlns:a16="http://schemas.microsoft.com/office/drawing/2014/main" id="{2BADE5CD-0D71-420F-AAC7-A81D98015224}"/>
              </a:ext>
            </a:extLst>
          </p:cNvPr>
          <p:cNvSpPr>
            <a:spLocks xmlns:a="http://schemas.openxmlformats.org/drawingml/2006/main" noGrp="1"/>
          </p:cNvSpPr>
          <p:nvPr/>
        </p:nvSpPr>
        <p:spPr>
          <a:xfrm xmlns:a="http://schemas.openxmlformats.org/drawingml/2006/main">
            <a:off x="941832" y="4023360"/>
            <a:ext cx="4544568"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xmlns:a="http://schemas.openxmlformats.org/drawingml/2006/main">
              <a:ext uri="{FF2B5EF4-FFF2-40B4-BE49-F238E27FC236}">
                <a16:creationId xmlns:a16="http://schemas.microsoft.com/office/drawing/2014/main" id="{934D0CBE-1EA8-44E3-9253-7C7679855DA3}"/>
              </a:ext>
            </a:extLst>
          </p:cNvPr>
          <p:cNvSpPr>
            <a:spLocks xmlns:a="http://schemas.openxmlformats.org/drawingml/2006/main" noGrp="1"/>
          </p:cNvSpPr>
          <p:nvPr/>
        </p:nvSpPr>
        <p:spPr>
          <a:xfrm xmlns:a="http://schemas.openxmlformats.org/drawingml/2006/main">
            <a:off x="941832" y="4718304"/>
            <a:ext cx="1874519"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xmlns:a="http://schemas.openxmlformats.org/drawingml/2006/main">
              <a:ext uri="{FF2B5EF4-FFF2-40B4-BE49-F238E27FC236}">
                <a16:creationId xmlns:a16="http://schemas.microsoft.com/office/drawing/2014/main" id="{EE7A5776-CF45-454B-B504-83B259C0FDE1}"/>
              </a:ext>
            </a:extLst>
          </p:cNvPr>
          <p:cNvSpPr>
            <a:spLocks xmlns:a="http://schemas.openxmlformats.org/drawingml/2006/main" noGrp="1"/>
          </p:cNvSpPr>
          <p:nvPr/>
        </p:nvSpPr>
        <p:spPr>
          <a:xfrm xmlns:a="http://schemas.openxmlformats.org/drawingml/2006/main">
            <a:off x="941832" y="5010912"/>
            <a:ext cx="454456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xmlns:a="http://schemas.openxmlformats.org/drawingml/2006/main">
              <a:ext uri="{FF2B5EF4-FFF2-40B4-BE49-F238E27FC236}">
                <a16:creationId xmlns:a16="http://schemas.microsoft.com/office/drawing/2014/main" id="{A242F848-502E-4E2C-BE15-FCF81556BAB7}"/>
              </a:ext>
            </a:extLst>
          </p:cNvPr>
          <p:cNvSpPr>
            <a:spLocks xmlns:a="http://schemas.openxmlformats.org/drawingml/2006/main" noGrp="1"/>
          </p:cNvSpPr>
          <p:nvPr/>
        </p:nvSpPr>
        <p:spPr>
          <a:xfrm xmlns:a="http://schemas.openxmlformats.org/drawingml/2006/main">
            <a:off x="6181344" y="2871216"/>
            <a:ext cx="5010912" cy="283464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56B4E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Rectangle 25">
            <a:extLst xmlns:a="http://schemas.openxmlformats.org/drawingml/2006/main">
              <a:ext uri="{FF2B5EF4-FFF2-40B4-BE49-F238E27FC236}">
                <a16:creationId xmlns:a16="http://schemas.microsoft.com/office/drawing/2014/main" id="{1651B2FF-A649-4167-A154-536CA5377580}"/>
              </a:ext>
            </a:extLst>
          </p:cNvPr>
          <p:cNvSpPr>
            <a:spLocks xmlns:a="http://schemas.openxmlformats.org/drawingml/2006/main" noGrp="1"/>
          </p:cNvSpPr>
          <p:nvPr/>
        </p:nvSpPr>
        <p:spPr>
          <a:xfrm xmlns:a="http://schemas.openxmlformats.org/drawingml/2006/main">
            <a:off x="6455664" y="3191256"/>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1AFD1C8B-0909-4834-B27B-7FCDF6064D16}"/>
              </a:ext>
            </a:extLst>
          </p:cNvPr>
          <p:cNvSpPr>
            <a:spLocks xmlns:a="http://schemas.openxmlformats.org/drawingml/2006/main" noGrp="1"/>
          </p:cNvSpPr>
          <p:nvPr/>
        </p:nvSpPr>
        <p:spPr>
          <a:xfrm xmlns:a="http://schemas.openxmlformats.org/drawingml/2006/main">
            <a:off x="6601968" y="3163824"/>
            <a:ext cx="431596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xmlns:a="http://schemas.openxmlformats.org/drawingml/2006/main">
              <a:ext uri="{FF2B5EF4-FFF2-40B4-BE49-F238E27FC236}">
                <a16:creationId xmlns:a16="http://schemas.microsoft.com/office/drawing/2014/main" id="{48C231C5-C605-4D75-898B-8BFD47BC92EF}"/>
              </a:ext>
            </a:extLst>
          </p:cNvPr>
          <p:cNvSpPr>
            <a:spLocks xmlns:a="http://schemas.openxmlformats.org/drawingml/2006/main" noGrp="1"/>
          </p:cNvSpPr>
          <p:nvPr/>
        </p:nvSpPr>
        <p:spPr>
          <a:xfrm xmlns:a="http://schemas.openxmlformats.org/drawingml/2006/main">
            <a:off x="6473952" y="3803903"/>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34823F20-5A45-4A0A-B19E-4A10F7E169C1}"/>
              </a:ext>
            </a:extLst>
          </p:cNvPr>
          <p:cNvSpPr>
            <a:spLocks xmlns:a="http://schemas.openxmlformats.org/drawingml/2006/main" noGrp="1"/>
          </p:cNvSpPr>
          <p:nvPr/>
        </p:nvSpPr>
        <p:spPr>
          <a:xfrm xmlns:a="http://schemas.openxmlformats.org/drawingml/2006/main">
            <a:off x="6647688" y="3675887"/>
            <a:ext cx="4197096" cy="22467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0" i="0">
                <a:solidFill>
                  <a:srgbClr val="1F2730"/>
                </a:solidFill>
                <a:latin typeface="Arial"/>
                <a:ea typeface="Arial"/>
                <a:cs typeface="Arial"/>
              </a:rPr>
              <a:t>20 call_key_driver with returned results; 2 completed empty.</a:t>
            </a:r>
          </a:p>
        </p:txBody>
      </p:sp>
      <p:sp>
        <p:nvSpPr>
          <p:cNvPr id="30" name="Oval 29">
            <a:extLst xmlns:a="http://schemas.openxmlformats.org/drawingml/2006/main">
              <a:ext uri="{FF2B5EF4-FFF2-40B4-BE49-F238E27FC236}">
                <a16:creationId xmlns:a16="http://schemas.microsoft.com/office/drawing/2014/main" id="{AF468CC1-E16F-46D0-9314-E81F9426FFB1}"/>
              </a:ext>
            </a:extLst>
          </p:cNvPr>
          <p:cNvSpPr>
            <a:spLocks xmlns:a="http://schemas.openxmlformats.org/drawingml/2006/main" noGrp="1"/>
          </p:cNvSpPr>
          <p:nvPr/>
        </p:nvSpPr>
        <p:spPr>
          <a:xfrm xmlns:a="http://schemas.openxmlformats.org/drawingml/2006/main">
            <a:off x="6473952" y="4242816"/>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09C15C00-D3AD-4B6B-ADF9-A831EFF6375E}"/>
              </a:ext>
            </a:extLst>
          </p:cNvPr>
          <p:cNvSpPr>
            <a:spLocks xmlns:a="http://schemas.openxmlformats.org/drawingml/2006/main" noGrp="1"/>
          </p:cNvSpPr>
          <p:nvPr/>
        </p:nvSpPr>
        <p:spPr>
          <a:xfrm xmlns:a="http://schemas.openxmlformats.org/drawingml/2006/main">
            <a:off x="6647688" y="4114800"/>
            <a:ext cx="4197096"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0" i="0">
                <a:solidFill>
                  <a:srgbClr val="1F2730"/>
                </a:solidFill>
                <a:latin typeface="Arial"/>
                <a:ea typeface="Arial"/>
                <a:cs typeface="Arial"/>
              </a:rPr>
              <a:t>112 significant return rows before mitochondrial filtering.</a:t>
            </a:r>
          </a:p>
        </p:txBody>
      </p:sp>
      <p:sp>
        <p:nvSpPr>
          <p:cNvPr id="32" name="Oval 31">
            <a:extLst xmlns:a="http://schemas.openxmlformats.org/drawingml/2006/main">
              <a:ext uri="{FF2B5EF4-FFF2-40B4-BE49-F238E27FC236}">
                <a16:creationId xmlns:a16="http://schemas.microsoft.com/office/drawing/2014/main" id="{EE669660-30A8-420E-AC2D-AE1BDF8C3DC1}"/>
              </a:ext>
            </a:extLst>
          </p:cNvPr>
          <p:cNvSpPr>
            <a:spLocks xmlns:a="http://schemas.openxmlformats.org/drawingml/2006/main" noGrp="1"/>
          </p:cNvSpPr>
          <p:nvPr/>
        </p:nvSpPr>
        <p:spPr>
          <a:xfrm xmlns:a="http://schemas.openxmlformats.org/drawingml/2006/main">
            <a:off x="6473952" y="4681728"/>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331ABCB6-F6D1-4B0E-A15B-C18E837295F3}"/>
              </a:ext>
            </a:extLst>
          </p:cNvPr>
          <p:cNvSpPr>
            <a:spLocks xmlns:a="http://schemas.openxmlformats.org/drawingml/2006/main" noGrp="1"/>
          </p:cNvSpPr>
          <p:nvPr/>
        </p:nvSpPr>
        <p:spPr>
          <a:xfrm xmlns:a="http://schemas.openxmlformats.org/drawingml/2006/main">
            <a:off x="6647688" y="4553712"/>
            <a:ext cx="4197096"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0" i="0">
                <a:solidFill>
                  <a:srgbClr val="1F2730"/>
                </a:solidFill>
                <a:latin typeface="Arial"/>
                <a:ea typeface="Arial"/>
                <a:cs typeface="Arial"/>
              </a:rPr>
              <a:t>58 core-MitoCarta rows excluded.</a:t>
            </a:r>
          </a:p>
        </p:txBody>
      </p:sp>
      <p:sp>
        <p:nvSpPr>
          <p:cNvPr id="34" name="Oval 33">
            <a:extLst xmlns:a="http://schemas.openxmlformats.org/drawingml/2006/main">
              <a:ext uri="{FF2B5EF4-FFF2-40B4-BE49-F238E27FC236}">
                <a16:creationId xmlns:a16="http://schemas.microsoft.com/office/drawing/2014/main" id="{BB1ED601-06B8-4E91-8C71-7E09AD39A38E}"/>
              </a:ext>
            </a:extLst>
          </p:cNvPr>
          <p:cNvSpPr>
            <a:spLocks xmlns:a="http://schemas.openxmlformats.org/drawingml/2006/main" noGrp="1"/>
          </p:cNvSpPr>
          <p:nvPr/>
        </p:nvSpPr>
        <p:spPr>
          <a:xfrm xmlns:a="http://schemas.openxmlformats.org/drawingml/2006/main">
            <a:off x="6473952" y="5120640"/>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3D878F60-9EE8-421F-924E-ED902D22CDF0}"/>
              </a:ext>
            </a:extLst>
          </p:cNvPr>
          <p:cNvSpPr>
            <a:spLocks xmlns:a="http://schemas.openxmlformats.org/drawingml/2006/main" noGrp="1"/>
          </p:cNvSpPr>
          <p:nvPr/>
        </p:nvSpPr>
        <p:spPr>
          <a:xfrm xmlns:a="http://schemas.openxmlformats.org/drawingml/2006/main">
            <a:off x="6647688" y="4992624"/>
            <a:ext cx="4197096"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0" i="0">
                <a:solidFill>
                  <a:srgbClr val="1F2730"/>
                </a:solidFill>
                <a:latin typeface="Arial"/>
                <a:ea typeface="Arial"/>
                <a:cs typeface="Arial"/>
              </a:rPr>
              <a:t>54 non-MT rows retained for aggregation.</a:t>
            </a:r>
          </a:p>
        </p:txBody>
      </p:sp>
    </p:spTree>
    <p:extLst>
      <p:ext uri="{BB962C8B-B14F-4D97-AF65-F5344CB8AC3E}">
        <p14:creationId xmlns:p14="http://schemas.microsoft.com/office/powerpoint/2010/main" val="1830147622"/>
      </p:ext>
    </p:extLst>
  </p:cSld>
</p:sld>
</file>

<file path=ppt/slides/slide3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37E4A77-798C-4247-B980-A05FE07C4206}"/>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xmlns:a="http://schemas.openxmlformats.org/drawingml/2006/main">
              <a:ext uri="{FF2B5EF4-FFF2-40B4-BE49-F238E27FC236}">
                <a16:creationId xmlns:a16="http://schemas.microsoft.com/office/drawing/2014/main" id="{758A32F6-ABDD-47BE-BF44-207ECFBFE9CF}"/>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xmlns:a="http://schemas.openxmlformats.org/drawingml/2006/main">
              <a:ext uri="{FF2B5EF4-FFF2-40B4-BE49-F238E27FC236}">
                <a16:creationId xmlns:a16="http://schemas.microsoft.com/office/drawing/2014/main" id="{4CC57176-FA97-49DD-A2B4-41312067D0D1}"/>
              </a:ext>
            </a:extLst>
          </p:cNvPr>
          <p:cNvSpPr>
            <a:spLocks xmlns:a="http://schemas.openxmlformats.org/drawingml/2006/main" noGrp="1"/>
          </p:cNvSpPr>
          <p:nvPr/>
        </p:nvSpPr>
        <p:spPr>
          <a:xfrm xmlns:a="http://schemas.openxmlformats.org/drawingml/2006/main">
            <a:off x="429768" y="1161288"/>
            <a:ext cx="6547104" cy="49377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5" name="Uniform-blue bar chart of the twenty SEA-AD non-MT genes appearing in the most sex/APOE by broad-cell categories"/>
          <p:cNvPicPr>
            <a:picLocks xmlns:a="http://schemas.openxmlformats.org/drawingml/2006/main" noChangeAspect="1"/>
          </p:cNvPicPr>
          <p:nvPr/>
        </p:nvPicPr>
        <p:blipFill>
          <a:blip xmlns:r="http://schemas.openxmlformats.org/officeDocument/2006/relationships" xmlns:a="http://schemas.openxmlformats.org/drawingml/2006/main" r:embed="R5f6819d9359d4a3d"/>
          <a:stretch xmlns:a="http://schemas.openxmlformats.org/drawingml/2006/main">
            <a:fillRect l="0" t="0" r="0" b="0"/>
          </a:stretch>
        </p:blipFill>
        <p:spPr>
          <a:xfrm xmlns:a="http://schemas.openxmlformats.org/drawingml/2006/main">
            <a:off x="996696" y="1252728"/>
            <a:ext cx="5413248" cy="4736592"/>
          </a:xfrm>
          <a:prstGeom xmlns:a="http://schemas.openxmlformats.org/drawingml/2006/main" prst="rect">
            <a:avLst/>
          </a:prstGeom>
        </p:spPr>
      </p:pic>
      <p:sp>
        <p:nvSpPr>
          <p:cNvPr id="6" name="Rounded Rectangle 5">
            <a:extLst xmlns:a="http://schemas.openxmlformats.org/drawingml/2006/main">
              <a:ext uri="{FF2B5EF4-FFF2-40B4-BE49-F238E27FC236}">
                <a16:creationId xmlns:a16="http://schemas.microsoft.com/office/drawing/2014/main" id="{D0BE8979-34CC-4443-8A5C-C03F194F4331}"/>
              </a:ext>
            </a:extLst>
          </p:cNvPr>
          <p:cNvSpPr>
            <a:spLocks xmlns:a="http://schemas.openxmlformats.org/drawingml/2006/main" noGrp="1"/>
          </p:cNvSpPr>
          <p:nvPr/>
        </p:nvSpPr>
        <p:spPr>
          <a:xfrm xmlns:a="http://schemas.openxmlformats.org/drawingml/2006/main">
            <a:off x="7232904" y="1298448"/>
            <a:ext cx="4343400" cy="45537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EB6C9FC8-AD75-422F-AE1B-D4FA41CA5867}"/>
              </a:ext>
            </a:extLst>
          </p:cNvPr>
          <p:cNvSpPr>
            <a:spLocks xmlns:a="http://schemas.openxmlformats.org/drawingml/2006/main" noGrp="1"/>
          </p:cNvSpPr>
          <p:nvPr/>
        </p:nvSpPr>
        <p:spPr>
          <a:xfrm xmlns:a="http://schemas.openxmlformats.org/drawingml/2006/main">
            <a:off x="7516368" y="1618488"/>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8F7162F-41F2-4707-8065-489B55557CD2}"/>
              </a:ext>
            </a:extLst>
          </p:cNvPr>
          <p:cNvSpPr>
            <a:spLocks xmlns:a="http://schemas.openxmlformats.org/drawingml/2006/main" noGrp="1"/>
          </p:cNvSpPr>
          <p:nvPr/>
        </p:nvSpPr>
        <p:spPr>
          <a:xfrm xmlns:a="http://schemas.openxmlformats.org/drawingml/2006/main">
            <a:off x="7662672" y="1591056"/>
            <a:ext cx="363016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xmlns:a="http://schemas.openxmlformats.org/drawingml/2006/main">
              <a:ext uri="{FF2B5EF4-FFF2-40B4-BE49-F238E27FC236}">
                <a16:creationId xmlns:a16="http://schemas.microsoft.com/office/drawing/2014/main" id="{B244F949-D513-41A3-AB1A-03E5C96C7EE2}"/>
              </a:ext>
            </a:extLst>
          </p:cNvPr>
          <p:cNvSpPr>
            <a:spLocks xmlns:a="http://schemas.openxmlformats.org/drawingml/2006/main" noGrp="1"/>
          </p:cNvSpPr>
          <p:nvPr/>
        </p:nvSpPr>
        <p:spPr>
          <a:xfrm xmlns:a="http://schemas.openxmlformats.org/drawingml/2006/main">
            <a:off x="7525512" y="221284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CA6C543-A6D2-4A87-9D27-F5E53A9B4560}"/>
              </a:ext>
            </a:extLst>
          </p:cNvPr>
          <p:cNvSpPr>
            <a:spLocks xmlns:a="http://schemas.openxmlformats.org/drawingml/2006/main" noGrp="1"/>
          </p:cNvSpPr>
          <p:nvPr/>
        </p:nvSpPr>
        <p:spPr>
          <a:xfrm xmlns:a="http://schemas.openxmlformats.org/drawingml/2006/main">
            <a:off x="7699248" y="2084831"/>
            <a:ext cx="3502151"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xmlns:a="http://schemas.openxmlformats.org/drawingml/2006/main">
              <a:ext uri="{FF2B5EF4-FFF2-40B4-BE49-F238E27FC236}">
                <a16:creationId xmlns:a16="http://schemas.microsoft.com/office/drawing/2014/main" id="{FE607420-6B12-4881-91D4-EA359CCE0F94}"/>
              </a:ext>
            </a:extLst>
          </p:cNvPr>
          <p:cNvSpPr>
            <a:spLocks xmlns:a="http://schemas.openxmlformats.org/drawingml/2006/main" noGrp="1"/>
          </p:cNvSpPr>
          <p:nvPr/>
        </p:nvSpPr>
        <p:spPr>
          <a:xfrm xmlns:a="http://schemas.openxmlformats.org/drawingml/2006/main">
            <a:off x="7525512" y="2770632"/>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EE2DD333-B444-4527-AA61-E8F8CBBC2654}"/>
              </a:ext>
            </a:extLst>
          </p:cNvPr>
          <p:cNvSpPr>
            <a:spLocks xmlns:a="http://schemas.openxmlformats.org/drawingml/2006/main" noGrp="1"/>
          </p:cNvSpPr>
          <p:nvPr/>
        </p:nvSpPr>
        <p:spPr>
          <a:xfrm xmlns:a="http://schemas.openxmlformats.org/drawingml/2006/main">
            <a:off x="7699248" y="2642615"/>
            <a:ext cx="3502151"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xmlns:a="http://schemas.openxmlformats.org/drawingml/2006/main">
              <a:ext uri="{FF2B5EF4-FFF2-40B4-BE49-F238E27FC236}">
                <a16:creationId xmlns:a16="http://schemas.microsoft.com/office/drawing/2014/main" id="{B61A38A8-640E-470D-BAF9-322FC289A16E}"/>
              </a:ext>
            </a:extLst>
          </p:cNvPr>
          <p:cNvSpPr>
            <a:spLocks xmlns:a="http://schemas.openxmlformats.org/drawingml/2006/main" noGrp="1"/>
          </p:cNvSpPr>
          <p:nvPr/>
        </p:nvSpPr>
        <p:spPr>
          <a:xfrm xmlns:a="http://schemas.openxmlformats.org/drawingml/2006/main">
            <a:off x="7525512" y="3328415"/>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4264E7C-353D-4465-B025-C2683A4CA8EE}"/>
              </a:ext>
            </a:extLst>
          </p:cNvPr>
          <p:cNvSpPr>
            <a:spLocks xmlns:a="http://schemas.openxmlformats.org/drawingml/2006/main" noGrp="1"/>
          </p:cNvSpPr>
          <p:nvPr/>
        </p:nvSpPr>
        <p:spPr>
          <a:xfrm xmlns:a="http://schemas.openxmlformats.org/drawingml/2006/main">
            <a:off x="7699248" y="3200399"/>
            <a:ext cx="3502151"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xmlns:a="http://schemas.openxmlformats.org/drawingml/2006/main">
              <a:ext uri="{FF2B5EF4-FFF2-40B4-BE49-F238E27FC236}">
                <a16:creationId xmlns:a16="http://schemas.microsoft.com/office/drawing/2014/main" id="{A7D0E624-43DD-47B3-B5F4-DF565451AC22}"/>
              </a:ext>
            </a:extLst>
          </p:cNvPr>
          <p:cNvSpPr>
            <a:spLocks xmlns:a="http://schemas.openxmlformats.org/drawingml/2006/main" noGrp="1"/>
          </p:cNvSpPr>
          <p:nvPr/>
        </p:nvSpPr>
        <p:spPr>
          <a:xfrm xmlns:a="http://schemas.openxmlformats.org/drawingml/2006/main">
            <a:off x="7516368" y="5074920"/>
            <a:ext cx="3749039" cy="51206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2023417-8596-4D9C-AF25-7E40295D3870}"/>
              </a:ext>
            </a:extLst>
          </p:cNvPr>
          <p:cNvSpPr>
            <a:spLocks xmlns:a="http://schemas.openxmlformats.org/drawingml/2006/main" noGrp="1"/>
          </p:cNvSpPr>
          <p:nvPr/>
        </p:nvSpPr>
        <p:spPr>
          <a:xfrm xmlns:a="http://schemas.openxmlformats.org/drawingml/2006/main">
            <a:off x="7690104" y="5175504"/>
            <a:ext cx="340156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0" b="1" i="0">
                <a:solidFill>
                  <a:srgbClr val="9E3A00"/>
                </a:solidFill>
                <a:latin typeface="Arial"/>
                <a:ea typeface="Arial"/>
                <a:cs typeface="Arial"/>
              </a:rPr>
              <a:t>Only 5 categories return non-MT genes.</a:t>
            </a:r>
          </a:p>
        </p:txBody>
      </p:sp>
    </p:spTree>
    <p:extLst>
      <p:ext uri="{BB962C8B-B14F-4D97-AF65-F5344CB8AC3E}">
        <p14:creationId xmlns:p14="http://schemas.microsoft.com/office/powerpoint/2010/main" val="77059874"/>
      </p:ext>
    </p:extLst>
  </p:cSld>
</p:sld>
</file>

<file path=ppt/slides/slide3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341F45-6A8E-4711-A9EB-CA3AD2B8231F}"/>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Top-five display: 17 non-MT entries across 5 categories</a:t>
            </a:r>
          </a:p>
        </p:txBody>
      </p:sp>
      <p:pic>
        <p:nvPicPr>
          <p:cNvPr id="5" name="SEA-AD top-five non-MT key drivers by sex/APOE and broad-cell category"/>
          <p:cNvPicPr>
            <a:picLocks xmlns:a="http://schemas.openxmlformats.org/drawingml/2006/main" noChangeAspect="1"/>
          </p:cNvPicPr>
          <p:nvPr/>
        </p:nvPicPr>
        <p:blipFill>
          <a:blip xmlns:r="http://schemas.openxmlformats.org/officeDocument/2006/relationships" xmlns:a="http://schemas.openxmlformats.org/drawingml/2006/main" r:embed="R1f899cb8a67a463b"/>
          <a:stretch xmlns:a="http://schemas.openxmlformats.org/drawingml/2006/main">
            <a:fillRect l="0" t="0" r="0" b="0"/>
          </a:stretch>
        </p:blipFill>
        <p:spPr>
          <a:xfrm xmlns:a="http://schemas.openxmlformats.org/drawingml/2006/main">
            <a:off x="612648" y="960120"/>
            <a:ext cx="10972800" cy="5221224"/>
          </a:xfrm>
          <a:prstGeom xmlns:a="http://schemas.openxmlformats.org/drawingml/2006/main" prst="rect">
            <a:avLst/>
          </a:prstGeom>
        </p:spPr>
      </p:pic>
    </p:spTree>
    <p:extLst>
      <p:ext uri="{BB962C8B-B14F-4D97-AF65-F5344CB8AC3E}">
        <p14:creationId xmlns:p14="http://schemas.microsoft.com/office/powerpoint/2010/main" val="2078194467"/>
      </p:ext>
    </p:extLst>
  </p:cSld>
</p:sld>
</file>

<file path=ppt/slides/slide3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0EF2992-4E3C-442C-89F2-7BC097E6D6FF}"/>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SEA-AD excitatory-neuron drivers occur in two sex/APOE groups</a:t>
            </a:r>
          </a:p>
        </p:txBody>
      </p:sp>
      <p:sp>
        <p:nvSpPr>
          <p:cNvPr id="3" name="TextBox 2">
            <a:extLst xmlns:a="http://schemas.openxmlformats.org/drawingml/2006/main">
              <a:ext uri="{FF2B5EF4-FFF2-40B4-BE49-F238E27FC236}">
                <a16:creationId xmlns:a16="http://schemas.microsoft.com/office/drawing/2014/main" id="{957CCBF0-B81D-4307-BF82-7F564C9373DC}"/>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27 unique non-MT genes across 27 gene × category combinations; no gene recurs across sex/APOE categories.</a:t>
            </a:r>
          </a:p>
        </p:txBody>
      </p:sp>
      <p:pic>
        <p:nvPicPr>
          <p:cNvPr id="7" name="SEA-AD excitatory-neuron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851bc428d54c4287"/>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1502807117"/>
      </p:ext>
    </p:extLst>
  </p:cSld>
</p:sld>
</file>

<file path=ppt/slides/slide3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8AB12A-D026-4286-B862-075E45B71C5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PART 4</a:t>
            </a:r>
          </a:p>
        </p:txBody>
      </p:sp>
      <p:sp>
        <p:nvSpPr>
          <p:cNvPr id="3" name="Rectangle 2">
            <a:extLst xmlns:a="http://schemas.openxmlformats.org/drawingml/2006/main">
              <a:ext uri="{FF2B5EF4-FFF2-40B4-BE49-F238E27FC236}">
                <a16:creationId xmlns:a16="http://schemas.microsoft.com/office/drawing/2014/main" id="{9B90BBA1-E9E2-4E17-A6C8-66AF73EEFBD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AF6BA42-08C4-4EA5-A344-09381D0B027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xmlns:a="http://schemas.openxmlformats.org/drawingml/2006/main">
              <a:ext uri="{FF2B5EF4-FFF2-40B4-BE49-F238E27FC236}">
                <a16:creationId xmlns:a16="http://schemas.microsoft.com/office/drawing/2014/main" id="{2067FDA8-407C-4DBE-B763-2AC484C63E1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xmlns:a="http://schemas.openxmlformats.org/drawingml/2006/main">
              <a:ext uri="{FF2B5EF4-FFF2-40B4-BE49-F238E27FC236}">
                <a16:creationId xmlns:a16="http://schemas.microsoft.com/office/drawing/2014/main" id="{3D417846-D3C8-43D7-A99E-359027C6D74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C1A4EC2-5414-418D-9D33-A636ADFB559C}"/>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7D989CA6-1B16-4974-BEE8-CD8009EA7F8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03E7C55-5C6F-4719-AB0F-5EFB8E09B2D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8E80E10-25DA-460A-B848-8A88ABF781AE}"/>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xmlns:a="http://schemas.openxmlformats.org/drawingml/2006/main">
              <a:ext uri="{FF2B5EF4-FFF2-40B4-BE49-F238E27FC236}">
                <a16:creationId xmlns:a16="http://schemas.microsoft.com/office/drawing/2014/main" id="{3CDE8AE7-2294-4DE5-980E-32E501A6C09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5F7ACA8-9E5D-4F7D-9F5E-1C89B8FBD38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0F70274-A525-4BB9-A129-15E33D9F61D7}"/>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xmlns:a="http://schemas.openxmlformats.org/drawingml/2006/main">
              <a:ext uri="{FF2B5EF4-FFF2-40B4-BE49-F238E27FC236}">
                <a16:creationId xmlns:a16="http://schemas.microsoft.com/office/drawing/2014/main" id="{A5541F68-CF6A-4665-AEE6-F8BA0BD62716}"/>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B6A3F6F-C41C-44D9-B1B9-F84CE5103C8B}"/>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1A32B75A-B123-4918-8015-2D4F13003D0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xmlns:a="http://schemas.openxmlformats.org/drawingml/2006/main">
              <a:ext uri="{FF2B5EF4-FFF2-40B4-BE49-F238E27FC236}">
                <a16:creationId xmlns:a16="http://schemas.microsoft.com/office/drawing/2014/main" id="{7E5D2E0A-EEB4-4E1B-BE39-4C5A4649E1E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8954FAC-8826-4644-A259-79B90925CF5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FE01F0D-1D60-41F0-AA9B-D1D892B891B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xmlns:a="http://schemas.openxmlformats.org/drawingml/2006/main">
              <a:ext uri="{FF2B5EF4-FFF2-40B4-BE49-F238E27FC236}">
                <a16:creationId xmlns:a16="http://schemas.microsoft.com/office/drawing/2014/main" id="{CCEC5EAA-C189-406C-9B90-06ED8DBF0FF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F67AE32-97EB-4716-897E-EF1FA7C0A5E9}"/>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sld>
</file>

<file path=ppt/slides/slide3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E157AE5-385F-4998-92BD-BB4A603B962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xmlns:a="http://schemas.openxmlformats.org/drawingml/2006/main">
              <a:ext uri="{FF2B5EF4-FFF2-40B4-BE49-F238E27FC236}">
                <a16:creationId xmlns:a16="http://schemas.microsoft.com/office/drawing/2014/main" id="{ECDC3E0F-6D03-4D8F-9E62-B300E19B3A8A}"/>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ectangle 3">
            <a:extLst xmlns:a="http://schemas.openxmlformats.org/drawingml/2006/main">
              <a:ext uri="{FF2B5EF4-FFF2-40B4-BE49-F238E27FC236}">
                <a16:creationId xmlns:a16="http://schemas.microsoft.com/office/drawing/2014/main" id="{52EFB1AD-A147-4DFC-9787-79D13EC515DD}"/>
              </a:ext>
            </a:extLst>
          </p:cNvPr>
          <p:cNvSpPr>
            <a:spLocks xmlns:a="http://schemas.openxmlformats.org/drawingml/2006/main" noGrp="1"/>
          </p:cNvSpPr>
          <p:nvPr/>
        </p:nvSpPr>
        <p:spPr>
          <a:xfrm xmlns:a="http://schemas.openxmlformats.org/drawingml/2006/main">
            <a:off x="658368" y="1600200"/>
            <a:ext cx="132588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D39602F-1863-43E7-B9CB-9ABE4A5810D3}"/>
              </a:ext>
            </a:extLst>
          </p:cNvPr>
          <p:cNvSpPr>
            <a:spLocks xmlns:a="http://schemas.openxmlformats.org/drawingml/2006/main" noGrp="1"/>
          </p:cNvSpPr>
          <p:nvPr/>
        </p:nvSpPr>
        <p:spPr>
          <a:xfrm xmlns:a="http://schemas.openxmlformats.org/drawingml/2006/main">
            <a:off x="713232" y="1655064"/>
            <a:ext cx="12161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Cohort</a:t>
            </a:r>
          </a:p>
        </p:txBody>
      </p:sp>
      <p:sp>
        <p:nvSpPr>
          <p:cNvPr id="6" name="Rectangle 5">
            <a:extLst xmlns:a="http://schemas.openxmlformats.org/drawingml/2006/main">
              <a:ext uri="{FF2B5EF4-FFF2-40B4-BE49-F238E27FC236}">
                <a16:creationId xmlns:a16="http://schemas.microsoft.com/office/drawing/2014/main" id="{93F1B364-9ED8-44CB-B852-20FCAD3046B4}"/>
              </a:ext>
            </a:extLst>
          </p:cNvPr>
          <p:cNvSpPr>
            <a:spLocks xmlns:a="http://schemas.openxmlformats.org/drawingml/2006/main" noGrp="1"/>
          </p:cNvSpPr>
          <p:nvPr/>
        </p:nvSpPr>
        <p:spPr>
          <a:xfrm xmlns:a="http://schemas.openxmlformats.org/drawingml/2006/main">
            <a:off x="1984248" y="1600200"/>
            <a:ext cx="1874519"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1E533CA-69D1-4178-BB90-51DEF8DE6F62}"/>
              </a:ext>
            </a:extLst>
          </p:cNvPr>
          <p:cNvSpPr>
            <a:spLocks xmlns:a="http://schemas.openxmlformats.org/drawingml/2006/main" noGrp="1"/>
          </p:cNvSpPr>
          <p:nvPr/>
        </p:nvSpPr>
        <p:spPr>
          <a:xfrm xmlns:a="http://schemas.openxmlformats.org/drawingml/2006/main">
            <a:off x="2039112" y="1655064"/>
            <a:ext cx="1764791"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Minimum donors / arm</a:t>
            </a:r>
          </a:p>
        </p:txBody>
      </p:sp>
      <p:sp>
        <p:nvSpPr>
          <p:cNvPr id="8" name="Rectangle 7">
            <a:extLst xmlns:a="http://schemas.openxmlformats.org/drawingml/2006/main">
              <a:ext uri="{FF2B5EF4-FFF2-40B4-BE49-F238E27FC236}">
                <a16:creationId xmlns:a16="http://schemas.microsoft.com/office/drawing/2014/main" id="{EABF5881-6F14-4573-8E95-8FE32DDC5BD2}"/>
              </a:ext>
            </a:extLst>
          </p:cNvPr>
          <p:cNvSpPr>
            <a:spLocks xmlns:a="http://schemas.openxmlformats.org/drawingml/2006/main" noGrp="1"/>
          </p:cNvSpPr>
          <p:nvPr/>
        </p:nvSpPr>
        <p:spPr>
          <a:xfrm xmlns:a="http://schemas.openxmlformats.org/drawingml/2006/main">
            <a:off x="3858768" y="1600200"/>
            <a:ext cx="169164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05E5C59-6963-4310-B06A-1239412C8472}"/>
              </a:ext>
            </a:extLst>
          </p:cNvPr>
          <p:cNvSpPr>
            <a:spLocks xmlns:a="http://schemas.openxmlformats.org/drawingml/2006/main" noGrp="1"/>
          </p:cNvSpPr>
          <p:nvPr/>
        </p:nvSpPr>
        <p:spPr>
          <a:xfrm xmlns:a="http://schemas.openxmlformats.org/drawingml/2006/main">
            <a:off x="3913631" y="1655064"/>
            <a:ext cx="158191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Eligible contrasts</a:t>
            </a:r>
          </a:p>
        </p:txBody>
      </p:sp>
      <p:sp>
        <p:nvSpPr>
          <p:cNvPr id="10" name="Rectangle 9">
            <a:extLst xmlns:a="http://schemas.openxmlformats.org/drawingml/2006/main">
              <a:ext uri="{FF2B5EF4-FFF2-40B4-BE49-F238E27FC236}">
                <a16:creationId xmlns:a16="http://schemas.microsoft.com/office/drawing/2014/main" id="{11425628-55AD-4875-90A3-4E8E53136524}"/>
              </a:ext>
            </a:extLst>
          </p:cNvPr>
          <p:cNvSpPr>
            <a:spLocks xmlns:a="http://schemas.openxmlformats.org/drawingml/2006/main" noGrp="1"/>
          </p:cNvSpPr>
          <p:nvPr/>
        </p:nvSpPr>
        <p:spPr>
          <a:xfrm xmlns:a="http://schemas.openxmlformats.org/drawingml/2006/main">
            <a:off x="5550408" y="1600200"/>
            <a:ext cx="123444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08EE6849-F69E-497E-9FDE-5A99AECDD5E4}"/>
              </a:ext>
            </a:extLst>
          </p:cNvPr>
          <p:cNvSpPr>
            <a:spLocks xmlns:a="http://schemas.openxmlformats.org/drawingml/2006/main" noGrp="1"/>
          </p:cNvSpPr>
          <p:nvPr/>
        </p:nvSpPr>
        <p:spPr>
          <a:xfrm xmlns:a="http://schemas.openxmlformats.org/drawingml/2006/main">
            <a:off x="5605272" y="1655064"/>
            <a:ext cx="112471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KDA runs</a:t>
            </a:r>
          </a:p>
        </p:txBody>
      </p:sp>
      <p:sp>
        <p:nvSpPr>
          <p:cNvPr id="12" name="Rectangle 11">
            <a:extLst xmlns:a="http://schemas.openxmlformats.org/drawingml/2006/main">
              <a:ext uri="{FF2B5EF4-FFF2-40B4-BE49-F238E27FC236}">
                <a16:creationId xmlns:a16="http://schemas.microsoft.com/office/drawing/2014/main" id="{7E186D61-CFBE-4F24-98F1-E4DADF05E502}"/>
              </a:ext>
            </a:extLst>
          </p:cNvPr>
          <p:cNvSpPr>
            <a:spLocks xmlns:a="http://schemas.openxmlformats.org/drawingml/2006/main" noGrp="1"/>
          </p:cNvSpPr>
          <p:nvPr/>
        </p:nvSpPr>
        <p:spPr>
          <a:xfrm xmlns:a="http://schemas.openxmlformats.org/drawingml/2006/main">
            <a:off x="6784848" y="1600200"/>
            <a:ext cx="224028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D159453-4FBD-4D07-B19A-B91C4437664E}"/>
              </a:ext>
            </a:extLst>
          </p:cNvPr>
          <p:cNvSpPr>
            <a:spLocks xmlns:a="http://schemas.openxmlformats.org/drawingml/2006/main" noGrp="1"/>
          </p:cNvSpPr>
          <p:nvPr/>
        </p:nvSpPr>
        <p:spPr>
          <a:xfrm xmlns:a="http://schemas.openxmlformats.org/drawingml/2006/main">
            <a:off x="6839712" y="1655064"/>
            <a:ext cx="21305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Significant driver rows</a:t>
            </a:r>
          </a:p>
        </p:txBody>
      </p:sp>
      <p:sp>
        <p:nvSpPr>
          <p:cNvPr id="14" name="Rectangle 13">
            <a:extLst xmlns:a="http://schemas.openxmlformats.org/drawingml/2006/main">
              <a:ext uri="{FF2B5EF4-FFF2-40B4-BE49-F238E27FC236}">
                <a16:creationId xmlns:a16="http://schemas.microsoft.com/office/drawing/2014/main" id="{1A5D17A1-5516-411B-ADC4-05711EFDE6A1}"/>
              </a:ext>
            </a:extLst>
          </p:cNvPr>
          <p:cNvSpPr>
            <a:spLocks xmlns:a="http://schemas.openxmlformats.org/drawingml/2006/main" noGrp="1"/>
          </p:cNvSpPr>
          <p:nvPr/>
        </p:nvSpPr>
        <p:spPr>
          <a:xfrm xmlns:a="http://schemas.openxmlformats.org/drawingml/2006/main">
            <a:off x="9025128" y="1600200"/>
            <a:ext cx="251460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DDDC111-16AD-45BB-B1B7-8640EEA66478}"/>
              </a:ext>
            </a:extLst>
          </p:cNvPr>
          <p:cNvSpPr>
            <a:spLocks xmlns:a="http://schemas.openxmlformats.org/drawingml/2006/main" noGrp="1"/>
          </p:cNvSpPr>
          <p:nvPr/>
        </p:nvSpPr>
        <p:spPr>
          <a:xfrm xmlns:a="http://schemas.openxmlformats.org/drawingml/2006/main">
            <a:off x="9079992" y="1655064"/>
            <a:ext cx="240487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Unique non-MT drivers</a:t>
            </a:r>
          </a:p>
        </p:txBody>
      </p:sp>
      <p:sp>
        <p:nvSpPr>
          <p:cNvPr id="16" name="Rectangle 15">
            <a:extLst xmlns:a="http://schemas.openxmlformats.org/drawingml/2006/main">
              <a:ext uri="{FF2B5EF4-FFF2-40B4-BE49-F238E27FC236}">
                <a16:creationId xmlns:a16="http://schemas.microsoft.com/office/drawing/2014/main" id="{DB756B7D-7D6B-415B-95CF-6BD2C9EB8C3F}"/>
              </a:ext>
            </a:extLst>
          </p:cNvPr>
          <p:cNvSpPr>
            <a:spLocks xmlns:a="http://schemas.openxmlformats.org/drawingml/2006/main" noGrp="1"/>
          </p:cNvSpPr>
          <p:nvPr/>
        </p:nvSpPr>
        <p:spPr>
          <a:xfrm xmlns:a="http://schemas.openxmlformats.org/drawingml/2006/main">
            <a:off x="658368" y="2295144"/>
            <a:ext cx="132588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B4480E1-503B-4DE4-BA0F-A59A5D708E9A}"/>
              </a:ext>
            </a:extLst>
          </p:cNvPr>
          <p:cNvSpPr>
            <a:spLocks xmlns:a="http://schemas.openxmlformats.org/drawingml/2006/main" noGrp="1"/>
          </p:cNvSpPr>
          <p:nvPr/>
        </p:nvSpPr>
        <p:spPr>
          <a:xfrm xmlns:a="http://schemas.openxmlformats.org/drawingml/2006/main">
            <a:off x="713232" y="2340863"/>
            <a:ext cx="12161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ROSMAP</a:t>
            </a:r>
          </a:p>
        </p:txBody>
      </p:sp>
      <p:sp>
        <p:nvSpPr>
          <p:cNvPr id="18" name="Rectangle 17">
            <a:extLst xmlns:a="http://schemas.openxmlformats.org/drawingml/2006/main">
              <a:ext uri="{FF2B5EF4-FFF2-40B4-BE49-F238E27FC236}">
                <a16:creationId xmlns:a16="http://schemas.microsoft.com/office/drawing/2014/main" id="{13A00F45-4D37-4DB3-9F85-7AAEFC5433C9}"/>
              </a:ext>
            </a:extLst>
          </p:cNvPr>
          <p:cNvSpPr>
            <a:spLocks xmlns:a="http://schemas.openxmlformats.org/drawingml/2006/main" noGrp="1"/>
          </p:cNvSpPr>
          <p:nvPr/>
        </p:nvSpPr>
        <p:spPr>
          <a:xfrm xmlns:a="http://schemas.openxmlformats.org/drawingml/2006/main">
            <a:off x="1984248" y="2295144"/>
            <a:ext cx="1874519"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FF9143E-F4FE-46C7-A678-1CD4FB9C3949}"/>
              </a:ext>
            </a:extLst>
          </p:cNvPr>
          <p:cNvSpPr>
            <a:spLocks xmlns:a="http://schemas.openxmlformats.org/drawingml/2006/main" noGrp="1"/>
          </p:cNvSpPr>
          <p:nvPr/>
        </p:nvSpPr>
        <p:spPr>
          <a:xfrm xmlns:a="http://schemas.openxmlformats.org/drawingml/2006/main">
            <a:off x="2039112" y="2340863"/>
            <a:ext cx="1764791"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C0973F12-F324-440D-ADC8-ED4F31AB2456}"/>
              </a:ext>
            </a:extLst>
          </p:cNvPr>
          <p:cNvSpPr>
            <a:spLocks xmlns:a="http://schemas.openxmlformats.org/drawingml/2006/main" noGrp="1"/>
          </p:cNvSpPr>
          <p:nvPr/>
        </p:nvSpPr>
        <p:spPr>
          <a:xfrm xmlns:a="http://schemas.openxmlformats.org/drawingml/2006/main">
            <a:off x="3858768" y="2295144"/>
            <a:ext cx="169164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A45F1DE-EF3D-4488-AFBA-F34AC423BCDA}"/>
              </a:ext>
            </a:extLst>
          </p:cNvPr>
          <p:cNvSpPr>
            <a:spLocks xmlns:a="http://schemas.openxmlformats.org/drawingml/2006/main" noGrp="1"/>
          </p:cNvSpPr>
          <p:nvPr/>
        </p:nvSpPr>
        <p:spPr>
          <a:xfrm xmlns:a="http://schemas.openxmlformats.org/drawingml/2006/main">
            <a:off x="3913631" y="2340863"/>
            <a:ext cx="15819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42</a:t>
            </a:r>
          </a:p>
        </p:txBody>
      </p:sp>
      <p:sp>
        <p:nvSpPr>
          <p:cNvPr id="22" name="Rectangle 21">
            <a:extLst xmlns:a="http://schemas.openxmlformats.org/drawingml/2006/main">
              <a:ext uri="{FF2B5EF4-FFF2-40B4-BE49-F238E27FC236}">
                <a16:creationId xmlns:a16="http://schemas.microsoft.com/office/drawing/2014/main" id="{A2561808-6858-49C1-B3D5-A3888BCEB5D4}"/>
              </a:ext>
            </a:extLst>
          </p:cNvPr>
          <p:cNvSpPr>
            <a:spLocks xmlns:a="http://schemas.openxmlformats.org/drawingml/2006/main" noGrp="1"/>
          </p:cNvSpPr>
          <p:nvPr/>
        </p:nvSpPr>
        <p:spPr>
          <a:xfrm xmlns:a="http://schemas.openxmlformats.org/drawingml/2006/main">
            <a:off x="5550408" y="2295144"/>
            <a:ext cx="123444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1F72049A-CE35-4BF6-B6B0-A7AB6BA94243}"/>
              </a:ext>
            </a:extLst>
          </p:cNvPr>
          <p:cNvSpPr>
            <a:spLocks xmlns:a="http://schemas.openxmlformats.org/drawingml/2006/main" noGrp="1"/>
          </p:cNvSpPr>
          <p:nvPr/>
        </p:nvSpPr>
        <p:spPr>
          <a:xfrm xmlns:a="http://schemas.openxmlformats.org/drawingml/2006/main">
            <a:off x="5605272" y="2340863"/>
            <a:ext cx="11247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24" name="Rectangle 23">
            <a:extLst xmlns:a="http://schemas.openxmlformats.org/drawingml/2006/main">
              <a:ext uri="{FF2B5EF4-FFF2-40B4-BE49-F238E27FC236}">
                <a16:creationId xmlns:a16="http://schemas.microsoft.com/office/drawing/2014/main" id="{BC00B353-EC81-43F3-992F-D38E4A4724F8}"/>
              </a:ext>
            </a:extLst>
          </p:cNvPr>
          <p:cNvSpPr>
            <a:spLocks xmlns:a="http://schemas.openxmlformats.org/drawingml/2006/main" noGrp="1"/>
          </p:cNvSpPr>
          <p:nvPr/>
        </p:nvSpPr>
        <p:spPr>
          <a:xfrm xmlns:a="http://schemas.openxmlformats.org/drawingml/2006/main">
            <a:off x="6784848" y="2295144"/>
            <a:ext cx="224028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63343D9-CB2A-4D62-8E00-D2C14088B5BA}"/>
              </a:ext>
            </a:extLst>
          </p:cNvPr>
          <p:cNvSpPr>
            <a:spLocks xmlns:a="http://schemas.openxmlformats.org/drawingml/2006/main" noGrp="1"/>
          </p:cNvSpPr>
          <p:nvPr/>
        </p:nvSpPr>
        <p:spPr>
          <a:xfrm xmlns:a="http://schemas.openxmlformats.org/drawingml/2006/main">
            <a:off x="6839712" y="2340863"/>
            <a:ext cx="21305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39</a:t>
            </a:r>
          </a:p>
        </p:txBody>
      </p:sp>
      <p:sp>
        <p:nvSpPr>
          <p:cNvPr id="26" name="Rectangle 25">
            <a:extLst xmlns:a="http://schemas.openxmlformats.org/drawingml/2006/main">
              <a:ext uri="{FF2B5EF4-FFF2-40B4-BE49-F238E27FC236}">
                <a16:creationId xmlns:a16="http://schemas.microsoft.com/office/drawing/2014/main" id="{9CB0F1EE-A725-423D-815A-9E3D6AFC75E2}"/>
              </a:ext>
            </a:extLst>
          </p:cNvPr>
          <p:cNvSpPr>
            <a:spLocks xmlns:a="http://schemas.openxmlformats.org/drawingml/2006/main" noGrp="1"/>
          </p:cNvSpPr>
          <p:nvPr/>
        </p:nvSpPr>
        <p:spPr>
          <a:xfrm xmlns:a="http://schemas.openxmlformats.org/drawingml/2006/main">
            <a:off x="9025128" y="2295144"/>
            <a:ext cx="251460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3A436BF6-52CB-4C6F-8648-B8EE31D09D3D}"/>
              </a:ext>
            </a:extLst>
          </p:cNvPr>
          <p:cNvSpPr>
            <a:spLocks xmlns:a="http://schemas.openxmlformats.org/drawingml/2006/main" noGrp="1"/>
          </p:cNvSpPr>
          <p:nvPr/>
        </p:nvSpPr>
        <p:spPr>
          <a:xfrm xmlns:a="http://schemas.openxmlformats.org/drawingml/2006/main">
            <a:off x="9079992" y="2340863"/>
            <a:ext cx="240487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33</a:t>
            </a:r>
          </a:p>
        </p:txBody>
      </p:sp>
      <p:sp>
        <p:nvSpPr>
          <p:cNvPr id="28" name="Rectangle 27">
            <a:extLst xmlns:a="http://schemas.openxmlformats.org/drawingml/2006/main">
              <a:ext uri="{FF2B5EF4-FFF2-40B4-BE49-F238E27FC236}">
                <a16:creationId xmlns:a16="http://schemas.microsoft.com/office/drawing/2014/main" id="{F3E7C28E-A736-4022-86DF-50EAA788E231}"/>
              </a:ext>
            </a:extLst>
          </p:cNvPr>
          <p:cNvSpPr>
            <a:spLocks xmlns:a="http://schemas.openxmlformats.org/drawingml/2006/main" noGrp="1"/>
          </p:cNvSpPr>
          <p:nvPr/>
        </p:nvSpPr>
        <p:spPr>
          <a:xfrm xmlns:a="http://schemas.openxmlformats.org/drawingml/2006/main">
            <a:off x="658368" y="2953511"/>
            <a:ext cx="132588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1FA6A28B-A341-41E2-9E4F-9856AE6E504E}"/>
              </a:ext>
            </a:extLst>
          </p:cNvPr>
          <p:cNvSpPr>
            <a:spLocks xmlns:a="http://schemas.openxmlformats.org/drawingml/2006/main" noGrp="1"/>
          </p:cNvSpPr>
          <p:nvPr/>
        </p:nvSpPr>
        <p:spPr>
          <a:xfrm xmlns:a="http://schemas.openxmlformats.org/drawingml/2006/main">
            <a:off x="713232" y="2999231"/>
            <a:ext cx="12161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ROSMAP</a:t>
            </a:r>
          </a:p>
        </p:txBody>
      </p:sp>
      <p:sp>
        <p:nvSpPr>
          <p:cNvPr id="30" name="Rectangle 29">
            <a:extLst xmlns:a="http://schemas.openxmlformats.org/drawingml/2006/main">
              <a:ext uri="{FF2B5EF4-FFF2-40B4-BE49-F238E27FC236}">
                <a16:creationId xmlns:a16="http://schemas.microsoft.com/office/drawing/2014/main" id="{944BDA5D-F929-4476-BEEC-18FD66FB2A38}"/>
              </a:ext>
            </a:extLst>
          </p:cNvPr>
          <p:cNvSpPr>
            <a:spLocks xmlns:a="http://schemas.openxmlformats.org/drawingml/2006/main" noGrp="1"/>
          </p:cNvSpPr>
          <p:nvPr/>
        </p:nvSpPr>
        <p:spPr>
          <a:xfrm xmlns:a="http://schemas.openxmlformats.org/drawingml/2006/main">
            <a:off x="1984248" y="2953511"/>
            <a:ext cx="1874519"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C8EE0249-3EF2-47A9-B094-628AA1595BE3}"/>
              </a:ext>
            </a:extLst>
          </p:cNvPr>
          <p:cNvSpPr>
            <a:spLocks xmlns:a="http://schemas.openxmlformats.org/drawingml/2006/main" noGrp="1"/>
          </p:cNvSpPr>
          <p:nvPr/>
        </p:nvSpPr>
        <p:spPr>
          <a:xfrm xmlns:a="http://schemas.openxmlformats.org/drawingml/2006/main">
            <a:off x="2039112" y="2999231"/>
            <a:ext cx="1764791"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32" name="Rectangle 31">
            <a:extLst xmlns:a="http://schemas.openxmlformats.org/drawingml/2006/main">
              <a:ext uri="{FF2B5EF4-FFF2-40B4-BE49-F238E27FC236}">
                <a16:creationId xmlns:a16="http://schemas.microsoft.com/office/drawing/2014/main" id="{4E819EB3-7A2E-42B9-AAA0-8532AEB63CD8}"/>
              </a:ext>
            </a:extLst>
          </p:cNvPr>
          <p:cNvSpPr>
            <a:spLocks xmlns:a="http://schemas.openxmlformats.org/drawingml/2006/main" noGrp="1"/>
          </p:cNvSpPr>
          <p:nvPr/>
        </p:nvSpPr>
        <p:spPr>
          <a:xfrm xmlns:a="http://schemas.openxmlformats.org/drawingml/2006/main">
            <a:off x="3858768" y="2953511"/>
            <a:ext cx="169164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786D589B-85BF-4C56-A23B-CE4C4103E213}"/>
              </a:ext>
            </a:extLst>
          </p:cNvPr>
          <p:cNvSpPr>
            <a:spLocks xmlns:a="http://schemas.openxmlformats.org/drawingml/2006/main" noGrp="1"/>
          </p:cNvSpPr>
          <p:nvPr/>
        </p:nvSpPr>
        <p:spPr>
          <a:xfrm xmlns:a="http://schemas.openxmlformats.org/drawingml/2006/main">
            <a:off x="3913631" y="2999231"/>
            <a:ext cx="15819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40</a:t>
            </a:r>
          </a:p>
        </p:txBody>
      </p:sp>
      <p:sp>
        <p:nvSpPr>
          <p:cNvPr id="34" name="Rectangle 33">
            <a:extLst xmlns:a="http://schemas.openxmlformats.org/drawingml/2006/main">
              <a:ext uri="{FF2B5EF4-FFF2-40B4-BE49-F238E27FC236}">
                <a16:creationId xmlns:a16="http://schemas.microsoft.com/office/drawing/2014/main" id="{EF5374FC-8A3E-4DDF-852E-EF34A44D7C6D}"/>
              </a:ext>
            </a:extLst>
          </p:cNvPr>
          <p:cNvSpPr>
            <a:spLocks xmlns:a="http://schemas.openxmlformats.org/drawingml/2006/main" noGrp="1"/>
          </p:cNvSpPr>
          <p:nvPr/>
        </p:nvSpPr>
        <p:spPr>
          <a:xfrm xmlns:a="http://schemas.openxmlformats.org/drawingml/2006/main">
            <a:off x="5550408" y="2953511"/>
            <a:ext cx="123444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3FC400BE-B7E7-461D-9208-9D8497E95B8E}"/>
              </a:ext>
            </a:extLst>
          </p:cNvPr>
          <p:cNvSpPr>
            <a:spLocks xmlns:a="http://schemas.openxmlformats.org/drawingml/2006/main" noGrp="1"/>
          </p:cNvSpPr>
          <p:nvPr/>
        </p:nvSpPr>
        <p:spPr>
          <a:xfrm xmlns:a="http://schemas.openxmlformats.org/drawingml/2006/main">
            <a:off x="5605272" y="2999231"/>
            <a:ext cx="11247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a:t>
            </a:r>
          </a:p>
        </p:txBody>
      </p:sp>
      <p:sp>
        <p:nvSpPr>
          <p:cNvPr id="36" name="Rectangle 35">
            <a:extLst xmlns:a="http://schemas.openxmlformats.org/drawingml/2006/main">
              <a:ext uri="{FF2B5EF4-FFF2-40B4-BE49-F238E27FC236}">
                <a16:creationId xmlns:a16="http://schemas.microsoft.com/office/drawing/2014/main" id="{399538D4-4CF5-4209-9C9A-64A8F11DF286}"/>
              </a:ext>
            </a:extLst>
          </p:cNvPr>
          <p:cNvSpPr>
            <a:spLocks xmlns:a="http://schemas.openxmlformats.org/drawingml/2006/main" noGrp="1"/>
          </p:cNvSpPr>
          <p:nvPr/>
        </p:nvSpPr>
        <p:spPr>
          <a:xfrm xmlns:a="http://schemas.openxmlformats.org/drawingml/2006/main">
            <a:off x="6784848" y="2953511"/>
            <a:ext cx="224028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54FF62B8-0590-4BD1-92A8-AD2D5BB026C8}"/>
              </a:ext>
            </a:extLst>
          </p:cNvPr>
          <p:cNvSpPr>
            <a:spLocks xmlns:a="http://schemas.openxmlformats.org/drawingml/2006/main" noGrp="1"/>
          </p:cNvSpPr>
          <p:nvPr/>
        </p:nvSpPr>
        <p:spPr>
          <a:xfrm xmlns:a="http://schemas.openxmlformats.org/drawingml/2006/main">
            <a:off x="6839712" y="2999231"/>
            <a:ext cx="21305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13</a:t>
            </a:r>
          </a:p>
        </p:txBody>
      </p:sp>
      <p:sp>
        <p:nvSpPr>
          <p:cNvPr id="38" name="Rectangle 37">
            <a:extLst xmlns:a="http://schemas.openxmlformats.org/drawingml/2006/main">
              <a:ext uri="{FF2B5EF4-FFF2-40B4-BE49-F238E27FC236}">
                <a16:creationId xmlns:a16="http://schemas.microsoft.com/office/drawing/2014/main" id="{06EB9644-F2CF-45A1-959D-603E8CD5D86C}"/>
              </a:ext>
            </a:extLst>
          </p:cNvPr>
          <p:cNvSpPr>
            <a:spLocks xmlns:a="http://schemas.openxmlformats.org/drawingml/2006/main" noGrp="1"/>
          </p:cNvSpPr>
          <p:nvPr/>
        </p:nvSpPr>
        <p:spPr>
          <a:xfrm xmlns:a="http://schemas.openxmlformats.org/drawingml/2006/main">
            <a:off x="9025128" y="2953511"/>
            <a:ext cx="251460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AA1B2C64-CCE5-4A4E-9921-AEE95B599F9B}"/>
              </a:ext>
            </a:extLst>
          </p:cNvPr>
          <p:cNvSpPr>
            <a:spLocks xmlns:a="http://schemas.openxmlformats.org/drawingml/2006/main" noGrp="1"/>
          </p:cNvSpPr>
          <p:nvPr/>
        </p:nvSpPr>
        <p:spPr>
          <a:xfrm xmlns:a="http://schemas.openxmlformats.org/drawingml/2006/main">
            <a:off x="9079992" y="2999231"/>
            <a:ext cx="240487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13</a:t>
            </a:r>
          </a:p>
        </p:txBody>
      </p:sp>
      <p:sp>
        <p:nvSpPr>
          <p:cNvPr id="40" name="Rectangle 39">
            <a:extLst xmlns:a="http://schemas.openxmlformats.org/drawingml/2006/main">
              <a:ext uri="{FF2B5EF4-FFF2-40B4-BE49-F238E27FC236}">
                <a16:creationId xmlns:a16="http://schemas.microsoft.com/office/drawing/2014/main" id="{95D55EAE-7DF3-4FC2-B614-F5D9C6FA830C}"/>
              </a:ext>
            </a:extLst>
          </p:cNvPr>
          <p:cNvSpPr>
            <a:spLocks xmlns:a="http://schemas.openxmlformats.org/drawingml/2006/main" noGrp="1"/>
          </p:cNvSpPr>
          <p:nvPr/>
        </p:nvSpPr>
        <p:spPr>
          <a:xfrm xmlns:a="http://schemas.openxmlformats.org/drawingml/2006/main">
            <a:off x="658368" y="3611879"/>
            <a:ext cx="132588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7B5FC0A3-BD61-4958-A0B6-D851B824A050}"/>
              </a:ext>
            </a:extLst>
          </p:cNvPr>
          <p:cNvSpPr>
            <a:spLocks xmlns:a="http://schemas.openxmlformats.org/drawingml/2006/main" noGrp="1"/>
          </p:cNvSpPr>
          <p:nvPr/>
        </p:nvSpPr>
        <p:spPr>
          <a:xfrm xmlns:a="http://schemas.openxmlformats.org/drawingml/2006/main">
            <a:off x="713232" y="3657599"/>
            <a:ext cx="12161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SEA-AD</a:t>
            </a:r>
          </a:p>
        </p:txBody>
      </p:sp>
      <p:sp>
        <p:nvSpPr>
          <p:cNvPr id="42" name="Rectangle 41">
            <a:extLst xmlns:a="http://schemas.openxmlformats.org/drawingml/2006/main">
              <a:ext uri="{FF2B5EF4-FFF2-40B4-BE49-F238E27FC236}">
                <a16:creationId xmlns:a16="http://schemas.microsoft.com/office/drawing/2014/main" id="{837DC8A3-C0BC-4315-A07D-7FC6D3917F17}"/>
              </a:ext>
            </a:extLst>
          </p:cNvPr>
          <p:cNvSpPr>
            <a:spLocks xmlns:a="http://schemas.openxmlformats.org/drawingml/2006/main" noGrp="1"/>
          </p:cNvSpPr>
          <p:nvPr/>
        </p:nvSpPr>
        <p:spPr>
          <a:xfrm xmlns:a="http://schemas.openxmlformats.org/drawingml/2006/main">
            <a:off x="1984248" y="3611879"/>
            <a:ext cx="1874519"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D7E8A7A6-C7AC-42C4-85D9-4BE0055EA1EF}"/>
              </a:ext>
            </a:extLst>
          </p:cNvPr>
          <p:cNvSpPr>
            <a:spLocks xmlns:a="http://schemas.openxmlformats.org/drawingml/2006/main" noGrp="1"/>
          </p:cNvSpPr>
          <p:nvPr/>
        </p:nvSpPr>
        <p:spPr>
          <a:xfrm xmlns:a="http://schemas.openxmlformats.org/drawingml/2006/main">
            <a:off x="2039112" y="3657599"/>
            <a:ext cx="1764791"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44" name="Rectangle 43">
            <a:extLst xmlns:a="http://schemas.openxmlformats.org/drawingml/2006/main">
              <a:ext uri="{FF2B5EF4-FFF2-40B4-BE49-F238E27FC236}">
                <a16:creationId xmlns:a16="http://schemas.microsoft.com/office/drawing/2014/main" id="{035E4221-3951-4076-B8D9-7BA63621A3AC}"/>
              </a:ext>
            </a:extLst>
          </p:cNvPr>
          <p:cNvSpPr>
            <a:spLocks xmlns:a="http://schemas.openxmlformats.org/drawingml/2006/main" noGrp="1"/>
          </p:cNvSpPr>
          <p:nvPr/>
        </p:nvSpPr>
        <p:spPr>
          <a:xfrm xmlns:a="http://schemas.openxmlformats.org/drawingml/2006/main">
            <a:off x="3858768" y="3611879"/>
            <a:ext cx="169164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80686635-2772-42F8-8FB3-C9608E246277}"/>
              </a:ext>
            </a:extLst>
          </p:cNvPr>
          <p:cNvSpPr>
            <a:spLocks xmlns:a="http://schemas.openxmlformats.org/drawingml/2006/main" noGrp="1"/>
          </p:cNvSpPr>
          <p:nvPr/>
        </p:nvSpPr>
        <p:spPr>
          <a:xfrm xmlns:a="http://schemas.openxmlformats.org/drawingml/2006/main">
            <a:off x="3913631" y="3657599"/>
            <a:ext cx="15819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28</a:t>
            </a:r>
          </a:p>
        </p:txBody>
      </p:sp>
      <p:sp>
        <p:nvSpPr>
          <p:cNvPr id="46" name="Rectangle 45">
            <a:extLst xmlns:a="http://schemas.openxmlformats.org/drawingml/2006/main">
              <a:ext uri="{FF2B5EF4-FFF2-40B4-BE49-F238E27FC236}">
                <a16:creationId xmlns:a16="http://schemas.microsoft.com/office/drawing/2014/main" id="{A4DD2FC0-31B7-4416-8521-7B5299B698B4}"/>
              </a:ext>
            </a:extLst>
          </p:cNvPr>
          <p:cNvSpPr>
            <a:spLocks xmlns:a="http://schemas.openxmlformats.org/drawingml/2006/main" noGrp="1"/>
          </p:cNvSpPr>
          <p:nvPr/>
        </p:nvSpPr>
        <p:spPr>
          <a:xfrm xmlns:a="http://schemas.openxmlformats.org/drawingml/2006/main">
            <a:off x="5550408" y="3611879"/>
            <a:ext cx="123444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148ABD20-60DE-42FC-9C3A-F5B4532AC201}"/>
              </a:ext>
            </a:extLst>
          </p:cNvPr>
          <p:cNvSpPr>
            <a:spLocks xmlns:a="http://schemas.openxmlformats.org/drawingml/2006/main" noGrp="1"/>
          </p:cNvSpPr>
          <p:nvPr/>
        </p:nvSpPr>
        <p:spPr>
          <a:xfrm xmlns:a="http://schemas.openxmlformats.org/drawingml/2006/main">
            <a:off x="5605272" y="3657599"/>
            <a:ext cx="11247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48" name="Rectangle 47">
            <a:extLst xmlns:a="http://schemas.openxmlformats.org/drawingml/2006/main">
              <a:ext uri="{FF2B5EF4-FFF2-40B4-BE49-F238E27FC236}">
                <a16:creationId xmlns:a16="http://schemas.microsoft.com/office/drawing/2014/main" id="{37D6BB0F-6BD5-4EB8-A575-89A4B611B1A2}"/>
              </a:ext>
            </a:extLst>
          </p:cNvPr>
          <p:cNvSpPr>
            <a:spLocks xmlns:a="http://schemas.openxmlformats.org/drawingml/2006/main" noGrp="1"/>
          </p:cNvSpPr>
          <p:nvPr/>
        </p:nvSpPr>
        <p:spPr>
          <a:xfrm xmlns:a="http://schemas.openxmlformats.org/drawingml/2006/main">
            <a:off x="6784848" y="3611879"/>
            <a:ext cx="224028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682AA69D-24C6-44D2-A540-5C3428CBC47E}"/>
              </a:ext>
            </a:extLst>
          </p:cNvPr>
          <p:cNvSpPr>
            <a:spLocks xmlns:a="http://schemas.openxmlformats.org/drawingml/2006/main" noGrp="1"/>
          </p:cNvSpPr>
          <p:nvPr/>
        </p:nvSpPr>
        <p:spPr>
          <a:xfrm xmlns:a="http://schemas.openxmlformats.org/drawingml/2006/main">
            <a:off x="6839712" y="3657599"/>
            <a:ext cx="21305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24</a:t>
            </a:r>
          </a:p>
        </p:txBody>
      </p:sp>
      <p:sp>
        <p:nvSpPr>
          <p:cNvPr id="50" name="Rectangle 49">
            <a:extLst xmlns:a="http://schemas.openxmlformats.org/drawingml/2006/main">
              <a:ext uri="{FF2B5EF4-FFF2-40B4-BE49-F238E27FC236}">
                <a16:creationId xmlns:a16="http://schemas.microsoft.com/office/drawing/2014/main" id="{FC321E55-DE59-4E47-8760-A799434A12C7}"/>
              </a:ext>
            </a:extLst>
          </p:cNvPr>
          <p:cNvSpPr>
            <a:spLocks xmlns:a="http://schemas.openxmlformats.org/drawingml/2006/main" noGrp="1"/>
          </p:cNvSpPr>
          <p:nvPr/>
        </p:nvSpPr>
        <p:spPr>
          <a:xfrm xmlns:a="http://schemas.openxmlformats.org/drawingml/2006/main">
            <a:off x="9025128" y="3611879"/>
            <a:ext cx="251460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A0ED0DB8-05CB-42A8-BCBE-B1944A8CE622}"/>
              </a:ext>
            </a:extLst>
          </p:cNvPr>
          <p:cNvSpPr>
            <a:spLocks xmlns:a="http://schemas.openxmlformats.org/drawingml/2006/main" noGrp="1"/>
          </p:cNvSpPr>
          <p:nvPr/>
        </p:nvSpPr>
        <p:spPr>
          <a:xfrm xmlns:a="http://schemas.openxmlformats.org/drawingml/2006/main">
            <a:off x="9079992" y="3657599"/>
            <a:ext cx="240487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18</a:t>
            </a:r>
          </a:p>
        </p:txBody>
      </p:sp>
      <p:sp>
        <p:nvSpPr>
          <p:cNvPr id="52" name="Rectangle 51">
            <a:extLst xmlns:a="http://schemas.openxmlformats.org/drawingml/2006/main">
              <a:ext uri="{FF2B5EF4-FFF2-40B4-BE49-F238E27FC236}">
                <a16:creationId xmlns:a16="http://schemas.microsoft.com/office/drawing/2014/main" id="{28D441B8-7018-4AD9-9B8B-26489334227D}"/>
              </a:ext>
            </a:extLst>
          </p:cNvPr>
          <p:cNvSpPr>
            <a:spLocks xmlns:a="http://schemas.openxmlformats.org/drawingml/2006/main" noGrp="1"/>
          </p:cNvSpPr>
          <p:nvPr/>
        </p:nvSpPr>
        <p:spPr>
          <a:xfrm xmlns:a="http://schemas.openxmlformats.org/drawingml/2006/main">
            <a:off x="658368" y="4270248"/>
            <a:ext cx="132588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73CDDF38-5B0C-454E-89F5-044BA4FC30D3}"/>
              </a:ext>
            </a:extLst>
          </p:cNvPr>
          <p:cNvSpPr>
            <a:spLocks xmlns:a="http://schemas.openxmlformats.org/drawingml/2006/main" noGrp="1"/>
          </p:cNvSpPr>
          <p:nvPr/>
        </p:nvSpPr>
        <p:spPr>
          <a:xfrm xmlns:a="http://schemas.openxmlformats.org/drawingml/2006/main">
            <a:off x="713232" y="4315968"/>
            <a:ext cx="12161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SEA-AD</a:t>
            </a:r>
          </a:p>
        </p:txBody>
      </p:sp>
      <p:sp>
        <p:nvSpPr>
          <p:cNvPr id="54" name="Rectangle 53">
            <a:extLst xmlns:a="http://schemas.openxmlformats.org/drawingml/2006/main">
              <a:ext uri="{FF2B5EF4-FFF2-40B4-BE49-F238E27FC236}">
                <a16:creationId xmlns:a16="http://schemas.microsoft.com/office/drawing/2014/main" id="{923DC4A5-F692-4A34-B0E9-8A84596DCB25}"/>
              </a:ext>
            </a:extLst>
          </p:cNvPr>
          <p:cNvSpPr>
            <a:spLocks xmlns:a="http://schemas.openxmlformats.org/drawingml/2006/main" noGrp="1"/>
          </p:cNvSpPr>
          <p:nvPr/>
        </p:nvSpPr>
        <p:spPr>
          <a:xfrm xmlns:a="http://schemas.openxmlformats.org/drawingml/2006/main">
            <a:off x="1984248" y="4270248"/>
            <a:ext cx="1874519"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7D6FAFEB-70C8-4DB8-B2AC-AD18F1CB974A}"/>
              </a:ext>
            </a:extLst>
          </p:cNvPr>
          <p:cNvSpPr>
            <a:spLocks xmlns:a="http://schemas.openxmlformats.org/drawingml/2006/main" noGrp="1"/>
          </p:cNvSpPr>
          <p:nvPr/>
        </p:nvSpPr>
        <p:spPr>
          <a:xfrm xmlns:a="http://schemas.openxmlformats.org/drawingml/2006/main">
            <a:off x="2039112" y="4315968"/>
            <a:ext cx="1764791"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56" name="Rectangle 55">
            <a:extLst xmlns:a="http://schemas.openxmlformats.org/drawingml/2006/main">
              <a:ext uri="{FF2B5EF4-FFF2-40B4-BE49-F238E27FC236}">
                <a16:creationId xmlns:a16="http://schemas.microsoft.com/office/drawing/2014/main" id="{314D0AEC-7334-49D5-A18F-29616B1EBE5B}"/>
              </a:ext>
            </a:extLst>
          </p:cNvPr>
          <p:cNvSpPr>
            <a:spLocks xmlns:a="http://schemas.openxmlformats.org/drawingml/2006/main" noGrp="1"/>
          </p:cNvSpPr>
          <p:nvPr/>
        </p:nvSpPr>
        <p:spPr>
          <a:xfrm xmlns:a="http://schemas.openxmlformats.org/drawingml/2006/main">
            <a:off x="3858768" y="4270248"/>
            <a:ext cx="169164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TextBox 56">
            <a:extLst xmlns:a="http://schemas.openxmlformats.org/drawingml/2006/main">
              <a:ext uri="{FF2B5EF4-FFF2-40B4-BE49-F238E27FC236}">
                <a16:creationId xmlns:a16="http://schemas.microsoft.com/office/drawing/2014/main" id="{77F09C46-33F3-433C-BA3B-A0EA77C07084}"/>
              </a:ext>
            </a:extLst>
          </p:cNvPr>
          <p:cNvSpPr>
            <a:spLocks xmlns:a="http://schemas.openxmlformats.org/drawingml/2006/main" noGrp="1"/>
          </p:cNvSpPr>
          <p:nvPr/>
        </p:nvSpPr>
        <p:spPr>
          <a:xfrm xmlns:a="http://schemas.openxmlformats.org/drawingml/2006/main">
            <a:off x="3913631" y="4315968"/>
            <a:ext cx="15819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20</a:t>
            </a:r>
          </a:p>
        </p:txBody>
      </p:sp>
      <p:sp>
        <p:nvSpPr>
          <p:cNvPr id="58" name="Rectangle 57">
            <a:extLst xmlns:a="http://schemas.openxmlformats.org/drawingml/2006/main">
              <a:ext uri="{FF2B5EF4-FFF2-40B4-BE49-F238E27FC236}">
                <a16:creationId xmlns:a16="http://schemas.microsoft.com/office/drawing/2014/main" id="{6713E0D5-79F5-4DDD-9BA0-BF030889C732}"/>
              </a:ext>
            </a:extLst>
          </p:cNvPr>
          <p:cNvSpPr>
            <a:spLocks xmlns:a="http://schemas.openxmlformats.org/drawingml/2006/main" noGrp="1"/>
          </p:cNvSpPr>
          <p:nvPr/>
        </p:nvSpPr>
        <p:spPr>
          <a:xfrm xmlns:a="http://schemas.openxmlformats.org/drawingml/2006/main">
            <a:off x="5550408" y="4270248"/>
            <a:ext cx="123444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TextBox 58">
            <a:extLst xmlns:a="http://schemas.openxmlformats.org/drawingml/2006/main">
              <a:ext uri="{FF2B5EF4-FFF2-40B4-BE49-F238E27FC236}">
                <a16:creationId xmlns:a16="http://schemas.microsoft.com/office/drawing/2014/main" id="{6E3C8A50-F5FB-441B-9F3D-88D3DD6322D8}"/>
              </a:ext>
            </a:extLst>
          </p:cNvPr>
          <p:cNvSpPr>
            <a:spLocks xmlns:a="http://schemas.openxmlformats.org/drawingml/2006/main" noGrp="1"/>
          </p:cNvSpPr>
          <p:nvPr/>
        </p:nvSpPr>
        <p:spPr>
          <a:xfrm xmlns:a="http://schemas.openxmlformats.org/drawingml/2006/main">
            <a:off x="5605272" y="4315968"/>
            <a:ext cx="11247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60" name="Rectangle 59">
            <a:extLst xmlns:a="http://schemas.openxmlformats.org/drawingml/2006/main">
              <a:ext uri="{FF2B5EF4-FFF2-40B4-BE49-F238E27FC236}">
                <a16:creationId xmlns:a16="http://schemas.microsoft.com/office/drawing/2014/main" id="{552CD726-D594-47F2-B43D-F55651AD2DED}"/>
              </a:ext>
            </a:extLst>
          </p:cNvPr>
          <p:cNvSpPr>
            <a:spLocks xmlns:a="http://schemas.openxmlformats.org/drawingml/2006/main" noGrp="1"/>
          </p:cNvSpPr>
          <p:nvPr/>
        </p:nvSpPr>
        <p:spPr>
          <a:xfrm xmlns:a="http://schemas.openxmlformats.org/drawingml/2006/main">
            <a:off x="6784848" y="4270248"/>
            <a:ext cx="224028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TextBox 60">
            <a:extLst xmlns:a="http://schemas.openxmlformats.org/drawingml/2006/main">
              <a:ext uri="{FF2B5EF4-FFF2-40B4-BE49-F238E27FC236}">
                <a16:creationId xmlns:a16="http://schemas.microsoft.com/office/drawing/2014/main" id="{6963C5AA-8FF5-4723-8EA6-265936CB53E3}"/>
              </a:ext>
            </a:extLst>
          </p:cNvPr>
          <p:cNvSpPr>
            <a:spLocks xmlns:a="http://schemas.openxmlformats.org/drawingml/2006/main" noGrp="1"/>
          </p:cNvSpPr>
          <p:nvPr/>
        </p:nvSpPr>
        <p:spPr>
          <a:xfrm xmlns:a="http://schemas.openxmlformats.org/drawingml/2006/main">
            <a:off x="6839712" y="4315968"/>
            <a:ext cx="21305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24</a:t>
            </a:r>
          </a:p>
        </p:txBody>
      </p:sp>
      <p:sp>
        <p:nvSpPr>
          <p:cNvPr id="62" name="Rectangle 61">
            <a:extLst xmlns:a="http://schemas.openxmlformats.org/drawingml/2006/main">
              <a:ext uri="{FF2B5EF4-FFF2-40B4-BE49-F238E27FC236}">
                <a16:creationId xmlns:a16="http://schemas.microsoft.com/office/drawing/2014/main" id="{BD1C9B48-B020-4F62-911C-5549D51A86C1}"/>
              </a:ext>
            </a:extLst>
          </p:cNvPr>
          <p:cNvSpPr>
            <a:spLocks xmlns:a="http://schemas.openxmlformats.org/drawingml/2006/main" noGrp="1"/>
          </p:cNvSpPr>
          <p:nvPr/>
        </p:nvSpPr>
        <p:spPr>
          <a:xfrm xmlns:a="http://schemas.openxmlformats.org/drawingml/2006/main">
            <a:off x="9025128" y="4270248"/>
            <a:ext cx="251460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Box 62">
            <a:extLst xmlns:a="http://schemas.openxmlformats.org/drawingml/2006/main">
              <a:ext uri="{FF2B5EF4-FFF2-40B4-BE49-F238E27FC236}">
                <a16:creationId xmlns:a16="http://schemas.microsoft.com/office/drawing/2014/main" id="{30991699-F390-424B-8315-0B1D9AAFC171}"/>
              </a:ext>
            </a:extLst>
          </p:cNvPr>
          <p:cNvSpPr>
            <a:spLocks xmlns:a="http://schemas.openxmlformats.org/drawingml/2006/main" noGrp="1"/>
          </p:cNvSpPr>
          <p:nvPr/>
        </p:nvSpPr>
        <p:spPr>
          <a:xfrm xmlns:a="http://schemas.openxmlformats.org/drawingml/2006/main">
            <a:off x="9079992" y="4315968"/>
            <a:ext cx="240487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18</a:t>
            </a:r>
          </a:p>
        </p:txBody>
      </p:sp>
      <p:sp>
        <p:nvSpPr>
          <p:cNvPr id="64" name="Rounded Rectangle 63">
            <a:extLst xmlns:a="http://schemas.openxmlformats.org/drawingml/2006/main">
              <a:ext uri="{FF2B5EF4-FFF2-40B4-BE49-F238E27FC236}">
                <a16:creationId xmlns:a16="http://schemas.microsoft.com/office/drawing/2014/main" id="{58501E3D-15AC-4B72-AFDE-369A2DAB52AC}"/>
              </a:ext>
            </a:extLst>
          </p:cNvPr>
          <p:cNvSpPr>
            <a:spLocks xmlns:a="http://schemas.openxmlformats.org/drawingml/2006/main" noGrp="1"/>
          </p:cNvSpPr>
          <p:nvPr/>
        </p:nvSpPr>
        <p:spPr>
          <a:xfrm xmlns:a="http://schemas.openxmlformats.org/drawingml/2006/main">
            <a:off x="658368" y="5157216"/>
            <a:ext cx="10881360" cy="658368"/>
          </a:xfrm>
          <a:prstGeom xmlns:a="http://schemas.openxmlformats.org/drawingml/2006/main" prst="roundRect">
            <a:avLst/>
          </a:prstGeom>
          <a:solidFill xmlns:a="http://schemas.openxmlformats.org/drawingml/2006/main">
            <a:srgbClr val="EBF7FC"/>
          </a:solidFill>
          <a:ln xmlns:a="http://schemas.openxmlformats.org/drawingml/2006/main" w="12700">
            <a:solidFill>
              <a:srgbClr val="56B4E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Box 64">
            <a:extLst xmlns:a="http://schemas.openxmlformats.org/drawingml/2006/main">
              <a:ext uri="{FF2B5EF4-FFF2-40B4-BE49-F238E27FC236}">
                <a16:creationId xmlns:a16="http://schemas.microsoft.com/office/drawing/2014/main" id="{0C666860-7E66-4DA1-B72C-5064A9EA14BF}"/>
              </a:ext>
            </a:extLst>
          </p:cNvPr>
          <p:cNvSpPr>
            <a:spLocks xmlns:a="http://schemas.openxmlformats.org/drawingml/2006/main" noGrp="1"/>
          </p:cNvSpPr>
          <p:nvPr/>
        </p:nvSpPr>
        <p:spPr>
          <a:xfrm xmlns:a="http://schemas.openxmlformats.org/drawingml/2006/main">
            <a:off x="914400" y="5340096"/>
            <a:ext cx="10369296"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0F233D"/>
                </a:solidFill>
                <a:latin typeface="Arial"/>
                <a:ea typeface="Arial"/>
                <a:cs typeface="Arial"/>
              </a:rPr>
              <a:t>Driver rows count significant returned KDA rows. Unique non-MT drivers exclude MT-* genes and are deduplicated within each cohort.</a:t>
            </a:r>
          </a:p>
        </p:txBody>
      </p:sp>
      <p:sp>
        <p:nvSpPr>
          <p:cNvPr id="66" name="TextBox 65">
            <a:extLst xmlns:a="http://schemas.openxmlformats.org/drawingml/2006/main">
              <a:ext uri="{FF2B5EF4-FFF2-40B4-BE49-F238E27FC236}">
                <a16:creationId xmlns:a16="http://schemas.microsoft.com/office/drawing/2014/main" id="{44AD29C3-4F84-4906-8BDE-2A5DE3981BB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Phase 22 and VH14 run manifests/returns; donor-per-arm 3-vs-5 sensitivity assessment (2026-09-11).</a:t>
            </a:r>
          </a:p>
        </p:txBody>
      </p:sp>
    </p:spTree>
    <p:extLst>
      <p:ext uri="{BB962C8B-B14F-4D97-AF65-F5344CB8AC3E}">
        <p14:creationId xmlns:p14="http://schemas.microsoft.com/office/powerpoint/2010/main" val="105920596"/>
      </p:ext>
    </p:extLst>
  </p:cSld>
</p:sld>
</file>

<file path=ppt/slides/slide3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25F3B0C-B71A-431A-8FF4-50F3C7BD892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xmlns:a="http://schemas.openxmlformats.org/drawingml/2006/main">
              <a:ext uri="{FF2B5EF4-FFF2-40B4-BE49-F238E27FC236}">
                <a16:creationId xmlns:a16="http://schemas.microsoft.com/office/drawing/2014/main" id="{199BDF02-6FDB-46E4-9E8E-E1E54A1D02E5}"/>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xmlns:a="http://schemas.openxmlformats.org/drawingml/2006/main">
              <a:ext uri="{FF2B5EF4-FFF2-40B4-BE49-F238E27FC236}">
                <a16:creationId xmlns:a16="http://schemas.microsoft.com/office/drawing/2014/main" id="{18DD6D7A-22B8-4849-B84F-B817AC43335A}"/>
              </a:ext>
            </a:extLst>
          </p:cNvPr>
          <p:cNvSpPr>
            <a:spLocks xmlns:a="http://schemas.openxmlformats.org/drawingml/2006/main" noGrp="1"/>
          </p:cNvSpPr>
          <p:nvPr/>
        </p:nvSpPr>
        <p:spPr>
          <a:xfrm xmlns:a="http://schemas.openxmlformats.org/drawingml/2006/main">
            <a:off x="658368" y="1298448"/>
            <a:ext cx="10881360" cy="477316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553A19D-A8C1-44B5-995C-6011828E9382}"/>
              </a:ext>
            </a:extLst>
          </p:cNvPr>
          <p:cNvSpPr>
            <a:spLocks xmlns:a="http://schemas.openxmlformats.org/drawingml/2006/main" noGrp="1"/>
          </p:cNvSpPr>
          <p:nvPr/>
        </p:nvSpPr>
        <p:spPr>
          <a:xfrm xmlns:a="http://schemas.openxmlformats.org/drawingml/2006/main">
            <a:off x="960120" y="1554480"/>
            <a:ext cx="219456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xmlns:a="http://schemas.openxmlformats.org/drawingml/2006/main">
              <a:ext uri="{FF2B5EF4-FFF2-40B4-BE49-F238E27FC236}">
                <a16:creationId xmlns:a16="http://schemas.microsoft.com/office/drawing/2014/main" id="{09C4D1D7-8BB9-4E7F-B109-8B2FFB6A0DDE}"/>
              </a:ext>
            </a:extLst>
          </p:cNvPr>
          <p:cNvSpPr>
            <a:spLocks xmlns:a="http://schemas.openxmlformats.org/drawingml/2006/main" noGrp="1"/>
          </p:cNvSpPr>
          <p:nvPr/>
        </p:nvSpPr>
        <p:spPr>
          <a:xfrm xmlns:a="http://schemas.openxmlformats.org/drawingml/2006/main">
            <a:off x="960120" y="2048256"/>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A881ABF-427F-4249-8522-B0545E7035F2}"/>
              </a:ext>
            </a:extLst>
          </p:cNvPr>
          <p:cNvSpPr>
            <a:spLocks xmlns:a="http://schemas.openxmlformats.org/drawingml/2006/main" noGrp="1"/>
          </p:cNvSpPr>
          <p:nvPr/>
        </p:nvSpPr>
        <p:spPr>
          <a:xfrm xmlns:a="http://schemas.openxmlformats.org/drawingml/2006/main">
            <a:off x="1133856" y="1920240"/>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ROSMAP loses the Vasculature × M_e2 4-versus-3-donor call, which alone generated 26 driver rows. This removes the low-support result dominating the ROSMAP release.</a:t>
            </a:r>
          </a:p>
        </p:txBody>
      </p:sp>
      <p:sp>
        <p:nvSpPr>
          <p:cNvPr id="8" name="Oval 7">
            <a:extLst xmlns:a="http://schemas.openxmlformats.org/drawingml/2006/main">
              <a:ext uri="{FF2B5EF4-FFF2-40B4-BE49-F238E27FC236}">
                <a16:creationId xmlns:a16="http://schemas.microsoft.com/office/drawing/2014/main" id="{949466EA-35CA-4B4C-831D-4E1D7D555C89}"/>
              </a:ext>
            </a:extLst>
          </p:cNvPr>
          <p:cNvSpPr>
            <a:spLocks xmlns:a="http://schemas.openxmlformats.org/drawingml/2006/main" noGrp="1"/>
          </p:cNvSpPr>
          <p:nvPr/>
        </p:nvSpPr>
        <p:spPr>
          <a:xfrm xmlns:a="http://schemas.openxmlformats.org/drawingml/2006/main">
            <a:off x="960120" y="2816352"/>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AACCE04-F5AF-44D8-AD25-CB898B224716}"/>
              </a:ext>
            </a:extLst>
          </p:cNvPr>
          <p:cNvSpPr>
            <a:spLocks xmlns:a="http://schemas.openxmlformats.org/drawingml/2006/main" noGrp="1"/>
          </p:cNvSpPr>
          <p:nvPr/>
        </p:nvSpPr>
        <p:spPr>
          <a:xfrm xmlns:a="http://schemas.openxmlformats.org/drawingml/2006/main">
            <a:off x="1133856" y="2688336"/>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mitochondrial queries. Therefore, all five KDA runs and all returned drivers remain unchanged.</a:t>
            </a:r>
          </a:p>
        </p:txBody>
      </p:sp>
      <p:sp>
        <p:nvSpPr>
          <p:cNvPr id="10" name="Oval 9">
            <a:extLst xmlns:a="http://schemas.openxmlformats.org/drawingml/2006/main">
              <a:ext uri="{FF2B5EF4-FFF2-40B4-BE49-F238E27FC236}">
                <a16:creationId xmlns:a16="http://schemas.microsoft.com/office/drawing/2014/main" id="{9EDE846E-BE18-49ED-AF44-A28A775CB2F8}"/>
              </a:ext>
            </a:extLst>
          </p:cNvPr>
          <p:cNvSpPr>
            <a:spLocks xmlns:a="http://schemas.openxmlformats.org/drawingml/2006/main" noGrp="1"/>
          </p:cNvSpPr>
          <p:nvPr/>
        </p:nvSpPr>
        <p:spPr>
          <a:xfrm xmlns:a="http://schemas.openxmlformats.org/drawingml/2006/main">
            <a:off x="960120" y="3584448"/>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D77A8E0-48BA-4289-9E74-C3ED04DCFE7D}"/>
              </a:ext>
            </a:extLst>
          </p:cNvPr>
          <p:cNvSpPr>
            <a:spLocks xmlns:a="http://schemas.openxmlformats.org/drawingml/2006/main" noGrp="1"/>
          </p:cNvSpPr>
          <p:nvPr/>
        </p:nvSpPr>
        <p:spPr>
          <a:xfrm xmlns:a="http://schemas.openxmlformats.org/drawingml/2006/main">
            <a:off x="1133856" y="3456432"/>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xmlns:a="http://schemas.openxmlformats.org/drawingml/2006/main">
              <a:ext uri="{FF2B5EF4-FFF2-40B4-BE49-F238E27FC236}">
                <a16:creationId xmlns:a16="http://schemas.microsoft.com/office/drawing/2014/main" id="{58E91864-B2AC-4AD6-B45A-053A9C688D3D}"/>
              </a:ext>
            </a:extLst>
          </p:cNvPr>
          <p:cNvSpPr>
            <a:spLocks xmlns:a="http://schemas.openxmlformats.org/drawingml/2006/main" noGrp="1"/>
          </p:cNvSpPr>
          <p:nvPr/>
        </p:nvSpPr>
        <p:spPr>
          <a:xfrm xmlns:a="http://schemas.openxmlformats.org/drawingml/2006/main">
            <a:off x="960120" y="4352544"/>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D37C508-F16A-4298-89AA-59DA37EA865D}"/>
              </a:ext>
            </a:extLst>
          </p:cNvPr>
          <p:cNvSpPr>
            <a:spLocks xmlns:a="http://schemas.openxmlformats.org/drawingml/2006/main" noGrp="1"/>
          </p:cNvSpPr>
          <p:nvPr/>
        </p:nvSpPr>
        <p:spPr>
          <a:xfrm xmlns:a="http://schemas.openxmlformats.org/drawingml/2006/main">
            <a:off x="1133856" y="4224528"/>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drivers.</a:t>
            </a:r>
          </a:p>
        </p:txBody>
      </p:sp>
      <p:sp>
        <p:nvSpPr>
          <p:cNvPr id="14" name="Oval 13">
            <a:extLst xmlns:a="http://schemas.openxmlformats.org/drawingml/2006/main">
              <a:ext uri="{FF2B5EF4-FFF2-40B4-BE49-F238E27FC236}">
                <a16:creationId xmlns:a16="http://schemas.microsoft.com/office/drawing/2014/main" id="{4A72CDD2-DCA4-4F37-9176-B43911D86A73}"/>
              </a:ext>
            </a:extLst>
          </p:cNvPr>
          <p:cNvSpPr>
            <a:spLocks xmlns:a="http://schemas.openxmlformats.org/drawingml/2006/main" noGrp="1"/>
          </p:cNvSpPr>
          <p:nvPr/>
        </p:nvSpPr>
        <p:spPr>
          <a:xfrm xmlns:a="http://schemas.openxmlformats.org/drawingml/2006/main">
            <a:off x="960120" y="5120640"/>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EDF81818-C64B-49A7-8FA6-01AD143DCED6}"/>
              </a:ext>
            </a:extLst>
          </p:cNvPr>
          <p:cNvSpPr>
            <a:spLocks xmlns:a="http://schemas.openxmlformats.org/drawingml/2006/main" noGrp="1"/>
          </p:cNvSpPr>
          <p:nvPr/>
        </p:nvSpPr>
        <p:spPr>
          <a:xfrm xmlns:a="http://schemas.openxmlformats.org/drawingml/2006/main">
            <a:off x="1133856" y="4992624"/>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
        <p:nvSpPr>
          <p:cNvPr id="16" name="TextBox 15">
            <a:extLst xmlns:a="http://schemas.openxmlformats.org/drawingml/2006/main">
              <a:ext uri="{FF2B5EF4-FFF2-40B4-BE49-F238E27FC236}">
                <a16:creationId xmlns:a16="http://schemas.microsoft.com/office/drawing/2014/main" id="{9FCC67DD-7554-4476-84BD-25F10B7671E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Phase 22 and VH14 run manifests/returns; donor-per-arm 3-vs-5 sensitivity assessment (2026-09-11).</a:t>
            </a:r>
          </a:p>
        </p:txBody>
      </p:sp>
    </p:spTree>
    <p:extLst>
      <p:ext uri="{BB962C8B-B14F-4D97-AF65-F5344CB8AC3E}">
        <p14:creationId xmlns:p14="http://schemas.microsoft.com/office/powerpoint/2010/main" val="382545354"/>
      </p:ext>
    </p:extLst>
  </p:cSld>
</p:sld>
</file>

<file path=ppt/slides/slide3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DD7CA38-4263-4922-B9E4-152F9F619F7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xmlns:a="http://schemas.openxmlformats.org/drawingml/2006/main">
              <a:ext uri="{FF2B5EF4-FFF2-40B4-BE49-F238E27FC236}">
                <a16:creationId xmlns:a16="http://schemas.microsoft.com/office/drawing/2014/main" id="{8B6DDF63-06AA-4896-A112-1C337B681D39}"/>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Minimum effective genes after network mapping; donor minimum held at 3 per disease arm.</a:t>
            </a:r>
          </a:p>
        </p:txBody>
      </p:sp>
      <p:sp>
        <p:nvSpPr>
          <p:cNvPr id="4" name="Rectangle 3">
            <a:extLst xmlns:a="http://schemas.openxmlformats.org/drawingml/2006/main">
              <a:ext uri="{FF2B5EF4-FFF2-40B4-BE49-F238E27FC236}">
                <a16:creationId xmlns:a16="http://schemas.microsoft.com/office/drawing/2014/main" id="{F9DF9097-007C-4CBD-92F2-DF8EF21F3CDA}"/>
              </a:ext>
            </a:extLst>
          </p:cNvPr>
          <p:cNvSpPr>
            <a:spLocks xmlns:a="http://schemas.openxmlformats.org/drawingml/2006/main" noGrp="1"/>
          </p:cNvSpPr>
          <p:nvPr/>
        </p:nvSpPr>
        <p:spPr>
          <a:xfrm xmlns:a="http://schemas.openxmlformats.org/drawingml/2006/main">
            <a:off x="539496" y="1371600"/>
            <a:ext cx="109728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5171831-019E-48DD-AD50-F176E9E78576}"/>
              </a:ext>
            </a:extLst>
          </p:cNvPr>
          <p:cNvSpPr>
            <a:spLocks xmlns:a="http://schemas.openxmlformats.org/drawingml/2006/main" noGrp="1"/>
          </p:cNvSpPr>
          <p:nvPr/>
        </p:nvSpPr>
        <p:spPr>
          <a:xfrm xmlns:a="http://schemas.openxmlformats.org/drawingml/2006/main">
            <a:off x="594359" y="1426464"/>
            <a:ext cx="987552"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Cohort</a:t>
            </a:r>
          </a:p>
        </p:txBody>
      </p:sp>
      <p:sp>
        <p:nvSpPr>
          <p:cNvPr id="6" name="Rectangle 5">
            <a:extLst xmlns:a="http://schemas.openxmlformats.org/drawingml/2006/main">
              <a:ext uri="{FF2B5EF4-FFF2-40B4-BE49-F238E27FC236}">
                <a16:creationId xmlns:a16="http://schemas.microsoft.com/office/drawing/2014/main" id="{D6691509-3067-4EB2-965B-1E0E5F77FE4C}"/>
              </a:ext>
            </a:extLst>
          </p:cNvPr>
          <p:cNvSpPr>
            <a:spLocks xmlns:a="http://schemas.openxmlformats.org/drawingml/2006/main" noGrp="1"/>
          </p:cNvSpPr>
          <p:nvPr/>
        </p:nvSpPr>
        <p:spPr>
          <a:xfrm xmlns:a="http://schemas.openxmlformats.org/drawingml/2006/main">
            <a:off x="1636776" y="1371600"/>
            <a:ext cx="132588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8675E2A-BCD8-47E4-A554-C75039387E85}"/>
              </a:ext>
            </a:extLst>
          </p:cNvPr>
          <p:cNvSpPr>
            <a:spLocks xmlns:a="http://schemas.openxmlformats.org/drawingml/2006/main" noGrp="1"/>
          </p:cNvSpPr>
          <p:nvPr/>
        </p:nvSpPr>
        <p:spPr>
          <a:xfrm xmlns:a="http://schemas.openxmlformats.org/drawingml/2006/main">
            <a:off x="1691640" y="1426464"/>
            <a:ext cx="1216152"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Minimum query genes</a:t>
            </a:r>
          </a:p>
        </p:txBody>
      </p:sp>
      <p:sp>
        <p:nvSpPr>
          <p:cNvPr id="8" name="Rectangle 7">
            <a:extLst xmlns:a="http://schemas.openxmlformats.org/drawingml/2006/main">
              <a:ext uri="{FF2B5EF4-FFF2-40B4-BE49-F238E27FC236}">
                <a16:creationId xmlns:a16="http://schemas.microsoft.com/office/drawing/2014/main" id="{16228AAB-FE57-4B8F-9337-AE131A1C8CF5}"/>
              </a:ext>
            </a:extLst>
          </p:cNvPr>
          <p:cNvSpPr>
            <a:spLocks xmlns:a="http://schemas.openxmlformats.org/drawingml/2006/main" noGrp="1"/>
          </p:cNvSpPr>
          <p:nvPr/>
        </p:nvSpPr>
        <p:spPr>
          <a:xfrm xmlns:a="http://schemas.openxmlformats.org/drawingml/2006/main">
            <a:off x="2962656" y="1371600"/>
            <a:ext cx="178308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AE06F7D-C693-4B4E-89B6-F05CDD3EB6BE}"/>
              </a:ext>
            </a:extLst>
          </p:cNvPr>
          <p:cNvSpPr>
            <a:spLocks xmlns:a="http://schemas.openxmlformats.org/drawingml/2006/main" noGrp="1"/>
          </p:cNvSpPr>
          <p:nvPr/>
        </p:nvSpPr>
        <p:spPr>
          <a:xfrm xmlns:a="http://schemas.openxmlformats.org/drawingml/2006/main">
            <a:off x="3017520" y="1426464"/>
            <a:ext cx="1673352"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Source-estimable contrasts</a:t>
            </a:r>
          </a:p>
        </p:txBody>
      </p:sp>
      <p:sp>
        <p:nvSpPr>
          <p:cNvPr id="10" name="Rectangle 9">
            <a:extLst xmlns:a="http://schemas.openxmlformats.org/drawingml/2006/main">
              <a:ext uri="{FF2B5EF4-FFF2-40B4-BE49-F238E27FC236}">
                <a16:creationId xmlns:a16="http://schemas.microsoft.com/office/drawing/2014/main" id="{A7DC2A01-D05E-4D29-A52A-E76862908454}"/>
              </a:ext>
            </a:extLst>
          </p:cNvPr>
          <p:cNvSpPr>
            <a:spLocks xmlns:a="http://schemas.openxmlformats.org/drawingml/2006/main" noGrp="1"/>
          </p:cNvSpPr>
          <p:nvPr/>
        </p:nvSpPr>
        <p:spPr>
          <a:xfrm xmlns:a="http://schemas.openxmlformats.org/drawingml/2006/main">
            <a:off x="4745736" y="1371600"/>
            <a:ext cx="173736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19A73275-6480-473E-A100-8F193BA88188}"/>
              </a:ext>
            </a:extLst>
          </p:cNvPr>
          <p:cNvSpPr>
            <a:spLocks xmlns:a="http://schemas.openxmlformats.org/drawingml/2006/main" noGrp="1"/>
          </p:cNvSpPr>
          <p:nvPr/>
        </p:nvSpPr>
        <p:spPr>
          <a:xfrm xmlns:a="http://schemas.openxmlformats.org/drawingml/2006/main">
            <a:off x="4800600" y="1426464"/>
            <a:ext cx="1627631"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Query-passing contrasts</a:t>
            </a:r>
          </a:p>
        </p:txBody>
      </p:sp>
      <p:sp>
        <p:nvSpPr>
          <p:cNvPr id="12" name="Rectangle 11">
            <a:extLst xmlns:a="http://schemas.openxmlformats.org/drawingml/2006/main">
              <a:ext uri="{FF2B5EF4-FFF2-40B4-BE49-F238E27FC236}">
                <a16:creationId xmlns:a16="http://schemas.microsoft.com/office/drawing/2014/main" id="{83004C7C-2E64-4132-A9A4-71645D7B8F17}"/>
              </a:ext>
            </a:extLst>
          </p:cNvPr>
          <p:cNvSpPr>
            <a:spLocks xmlns:a="http://schemas.openxmlformats.org/drawingml/2006/main" noGrp="1"/>
          </p:cNvSpPr>
          <p:nvPr/>
        </p:nvSpPr>
        <p:spPr>
          <a:xfrm xmlns:a="http://schemas.openxmlformats.org/drawingml/2006/main">
            <a:off x="6483096" y="1371600"/>
            <a:ext cx="105156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0D475DD-B022-4339-87C7-C40904E90410}"/>
              </a:ext>
            </a:extLst>
          </p:cNvPr>
          <p:cNvSpPr>
            <a:spLocks xmlns:a="http://schemas.openxmlformats.org/drawingml/2006/main" noGrp="1"/>
          </p:cNvSpPr>
          <p:nvPr/>
        </p:nvSpPr>
        <p:spPr>
          <a:xfrm xmlns:a="http://schemas.openxmlformats.org/drawingml/2006/main">
            <a:off x="6537959" y="1426464"/>
            <a:ext cx="941831"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KDA runs</a:t>
            </a:r>
          </a:p>
        </p:txBody>
      </p:sp>
      <p:sp>
        <p:nvSpPr>
          <p:cNvPr id="14" name="Rectangle 13">
            <a:extLst xmlns:a="http://schemas.openxmlformats.org/drawingml/2006/main">
              <a:ext uri="{FF2B5EF4-FFF2-40B4-BE49-F238E27FC236}">
                <a16:creationId xmlns:a16="http://schemas.microsoft.com/office/drawing/2014/main" id="{AA366187-E9AD-4D59-B558-84BB882F9DA7}"/>
              </a:ext>
            </a:extLst>
          </p:cNvPr>
          <p:cNvSpPr>
            <a:spLocks xmlns:a="http://schemas.openxmlformats.org/drawingml/2006/main" noGrp="1"/>
          </p:cNvSpPr>
          <p:nvPr/>
        </p:nvSpPr>
        <p:spPr>
          <a:xfrm xmlns:a="http://schemas.openxmlformats.org/drawingml/2006/main">
            <a:off x="7534656" y="1371600"/>
            <a:ext cx="1993392"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FA83CCF-A99E-4817-A8C0-572B99A0CAED}"/>
              </a:ext>
            </a:extLst>
          </p:cNvPr>
          <p:cNvSpPr>
            <a:spLocks xmlns:a="http://schemas.openxmlformats.org/drawingml/2006/main" noGrp="1"/>
          </p:cNvSpPr>
          <p:nvPr/>
        </p:nvSpPr>
        <p:spPr>
          <a:xfrm xmlns:a="http://schemas.openxmlformats.org/drawingml/2006/main">
            <a:off x="7589520" y="1426464"/>
            <a:ext cx="1883664"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Significant KD rows</a:t>
            </a:r>
          </a:p>
        </p:txBody>
      </p:sp>
      <p:sp>
        <p:nvSpPr>
          <p:cNvPr id="16" name="Rectangle 15">
            <a:extLst xmlns:a="http://schemas.openxmlformats.org/drawingml/2006/main">
              <a:ext uri="{FF2B5EF4-FFF2-40B4-BE49-F238E27FC236}">
                <a16:creationId xmlns:a16="http://schemas.microsoft.com/office/drawing/2014/main" id="{B36D802F-CD5F-453E-B54F-FD621E30F9DA}"/>
              </a:ext>
            </a:extLst>
          </p:cNvPr>
          <p:cNvSpPr>
            <a:spLocks xmlns:a="http://schemas.openxmlformats.org/drawingml/2006/main" noGrp="1"/>
          </p:cNvSpPr>
          <p:nvPr/>
        </p:nvSpPr>
        <p:spPr>
          <a:xfrm xmlns:a="http://schemas.openxmlformats.org/drawingml/2006/main">
            <a:off x="9528048" y="1371600"/>
            <a:ext cx="2121408"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BF77F7B-7F1F-4D12-8778-42218A68A9D3}"/>
              </a:ext>
            </a:extLst>
          </p:cNvPr>
          <p:cNvSpPr>
            <a:spLocks xmlns:a="http://schemas.openxmlformats.org/drawingml/2006/main" noGrp="1"/>
          </p:cNvSpPr>
          <p:nvPr/>
        </p:nvSpPr>
        <p:spPr>
          <a:xfrm xmlns:a="http://schemas.openxmlformats.org/drawingml/2006/main">
            <a:off x="9582912" y="1426464"/>
            <a:ext cx="2011679"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Unique non-MT KDs</a:t>
            </a:r>
          </a:p>
        </p:txBody>
      </p:sp>
      <p:sp>
        <p:nvSpPr>
          <p:cNvPr id="18" name="Rectangle 17">
            <a:extLst xmlns:a="http://schemas.openxmlformats.org/drawingml/2006/main">
              <a:ext uri="{FF2B5EF4-FFF2-40B4-BE49-F238E27FC236}">
                <a16:creationId xmlns:a16="http://schemas.microsoft.com/office/drawing/2014/main" id="{D4C04B78-789D-4737-9533-19DDAA7C1601}"/>
              </a:ext>
            </a:extLst>
          </p:cNvPr>
          <p:cNvSpPr>
            <a:spLocks xmlns:a="http://schemas.openxmlformats.org/drawingml/2006/main" noGrp="1"/>
          </p:cNvSpPr>
          <p:nvPr/>
        </p:nvSpPr>
        <p:spPr>
          <a:xfrm xmlns:a="http://schemas.openxmlformats.org/drawingml/2006/main">
            <a:off x="539496" y="2002536"/>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63BAAC32-6E5B-49E5-9113-B1F20BFE28C4}"/>
              </a:ext>
            </a:extLst>
          </p:cNvPr>
          <p:cNvSpPr>
            <a:spLocks xmlns:a="http://schemas.openxmlformats.org/drawingml/2006/main" noGrp="1"/>
          </p:cNvSpPr>
          <p:nvPr/>
        </p:nvSpPr>
        <p:spPr>
          <a:xfrm xmlns:a="http://schemas.openxmlformats.org/drawingml/2006/main">
            <a:off x="594359" y="2048255"/>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20" name="Rectangle 19">
            <a:extLst xmlns:a="http://schemas.openxmlformats.org/drawingml/2006/main">
              <a:ext uri="{FF2B5EF4-FFF2-40B4-BE49-F238E27FC236}">
                <a16:creationId xmlns:a16="http://schemas.microsoft.com/office/drawing/2014/main" id="{BB72EC37-20AA-457F-9AB1-61E5D9DA4140}"/>
              </a:ext>
            </a:extLst>
          </p:cNvPr>
          <p:cNvSpPr>
            <a:spLocks xmlns:a="http://schemas.openxmlformats.org/drawingml/2006/main" noGrp="1"/>
          </p:cNvSpPr>
          <p:nvPr/>
        </p:nvSpPr>
        <p:spPr>
          <a:xfrm xmlns:a="http://schemas.openxmlformats.org/drawingml/2006/main">
            <a:off x="1636776" y="2002536"/>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30BB733-FC4C-46C3-92E3-CEB3223AA0E7}"/>
              </a:ext>
            </a:extLst>
          </p:cNvPr>
          <p:cNvSpPr>
            <a:spLocks xmlns:a="http://schemas.openxmlformats.org/drawingml/2006/main" noGrp="1"/>
          </p:cNvSpPr>
          <p:nvPr/>
        </p:nvSpPr>
        <p:spPr>
          <a:xfrm xmlns:a="http://schemas.openxmlformats.org/drawingml/2006/main">
            <a:off x="1691640" y="2048255"/>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2" name="Rectangle 21">
            <a:extLst xmlns:a="http://schemas.openxmlformats.org/drawingml/2006/main">
              <a:ext uri="{FF2B5EF4-FFF2-40B4-BE49-F238E27FC236}">
                <a16:creationId xmlns:a16="http://schemas.microsoft.com/office/drawing/2014/main" id="{F571AD81-CB6E-4DF6-8BA5-B120EA9A1403}"/>
              </a:ext>
            </a:extLst>
          </p:cNvPr>
          <p:cNvSpPr>
            <a:spLocks xmlns:a="http://schemas.openxmlformats.org/drawingml/2006/main" noGrp="1"/>
          </p:cNvSpPr>
          <p:nvPr/>
        </p:nvSpPr>
        <p:spPr>
          <a:xfrm xmlns:a="http://schemas.openxmlformats.org/drawingml/2006/main">
            <a:off x="2962656" y="2002536"/>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4E5A0FC6-C26E-4751-BECD-55061DFD488B}"/>
              </a:ext>
            </a:extLst>
          </p:cNvPr>
          <p:cNvSpPr>
            <a:spLocks xmlns:a="http://schemas.openxmlformats.org/drawingml/2006/main" noGrp="1"/>
          </p:cNvSpPr>
          <p:nvPr/>
        </p:nvSpPr>
        <p:spPr>
          <a:xfrm xmlns:a="http://schemas.openxmlformats.org/drawingml/2006/main">
            <a:off x="3017520" y="2048255"/>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24" name="Rectangle 23">
            <a:extLst xmlns:a="http://schemas.openxmlformats.org/drawingml/2006/main">
              <a:ext uri="{FF2B5EF4-FFF2-40B4-BE49-F238E27FC236}">
                <a16:creationId xmlns:a16="http://schemas.microsoft.com/office/drawing/2014/main" id="{122610C6-2C6D-4137-856A-ADCF252BE042}"/>
              </a:ext>
            </a:extLst>
          </p:cNvPr>
          <p:cNvSpPr>
            <a:spLocks xmlns:a="http://schemas.openxmlformats.org/drawingml/2006/main" noGrp="1"/>
          </p:cNvSpPr>
          <p:nvPr/>
        </p:nvSpPr>
        <p:spPr>
          <a:xfrm xmlns:a="http://schemas.openxmlformats.org/drawingml/2006/main">
            <a:off x="4745736" y="2002536"/>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1439ACC2-479D-4C90-893C-0002ED1C25E1}"/>
              </a:ext>
            </a:extLst>
          </p:cNvPr>
          <p:cNvSpPr>
            <a:spLocks xmlns:a="http://schemas.openxmlformats.org/drawingml/2006/main" noGrp="1"/>
          </p:cNvSpPr>
          <p:nvPr/>
        </p:nvSpPr>
        <p:spPr>
          <a:xfrm xmlns:a="http://schemas.openxmlformats.org/drawingml/2006/main">
            <a:off x="4800600" y="2048255"/>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6" name="Rectangle 25">
            <a:extLst xmlns:a="http://schemas.openxmlformats.org/drawingml/2006/main">
              <a:ext uri="{FF2B5EF4-FFF2-40B4-BE49-F238E27FC236}">
                <a16:creationId xmlns:a16="http://schemas.microsoft.com/office/drawing/2014/main" id="{886BB4BB-75F2-44CC-B094-6ED5C81235BD}"/>
              </a:ext>
            </a:extLst>
          </p:cNvPr>
          <p:cNvSpPr>
            <a:spLocks xmlns:a="http://schemas.openxmlformats.org/drawingml/2006/main" noGrp="1"/>
          </p:cNvSpPr>
          <p:nvPr/>
        </p:nvSpPr>
        <p:spPr>
          <a:xfrm xmlns:a="http://schemas.openxmlformats.org/drawingml/2006/main">
            <a:off x="6483096" y="2002536"/>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CFE88007-9F11-43FB-9F24-36F53E4392CE}"/>
              </a:ext>
            </a:extLst>
          </p:cNvPr>
          <p:cNvSpPr>
            <a:spLocks xmlns:a="http://schemas.openxmlformats.org/drawingml/2006/main" noGrp="1"/>
          </p:cNvSpPr>
          <p:nvPr/>
        </p:nvSpPr>
        <p:spPr>
          <a:xfrm xmlns:a="http://schemas.openxmlformats.org/drawingml/2006/main">
            <a:off x="6537959" y="2048255"/>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8" name="Rectangle 27">
            <a:extLst xmlns:a="http://schemas.openxmlformats.org/drawingml/2006/main">
              <a:ext uri="{FF2B5EF4-FFF2-40B4-BE49-F238E27FC236}">
                <a16:creationId xmlns:a16="http://schemas.microsoft.com/office/drawing/2014/main" id="{23630290-8779-4B2F-AD33-5149BC6CDF6E}"/>
              </a:ext>
            </a:extLst>
          </p:cNvPr>
          <p:cNvSpPr>
            <a:spLocks xmlns:a="http://schemas.openxmlformats.org/drawingml/2006/main" noGrp="1"/>
          </p:cNvSpPr>
          <p:nvPr/>
        </p:nvSpPr>
        <p:spPr>
          <a:xfrm xmlns:a="http://schemas.openxmlformats.org/drawingml/2006/main">
            <a:off x="7534656" y="2002536"/>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2EDF97C9-0354-4B07-A4C6-2F050E03F8AA}"/>
              </a:ext>
            </a:extLst>
          </p:cNvPr>
          <p:cNvSpPr>
            <a:spLocks xmlns:a="http://schemas.openxmlformats.org/drawingml/2006/main" noGrp="1"/>
          </p:cNvSpPr>
          <p:nvPr/>
        </p:nvSpPr>
        <p:spPr>
          <a:xfrm xmlns:a="http://schemas.openxmlformats.org/drawingml/2006/main">
            <a:off x="7589520" y="2048255"/>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39</a:t>
            </a:r>
          </a:p>
        </p:txBody>
      </p:sp>
      <p:sp>
        <p:nvSpPr>
          <p:cNvPr id="30" name="Rectangle 29">
            <a:extLst xmlns:a="http://schemas.openxmlformats.org/drawingml/2006/main">
              <a:ext uri="{FF2B5EF4-FFF2-40B4-BE49-F238E27FC236}">
                <a16:creationId xmlns:a16="http://schemas.microsoft.com/office/drawing/2014/main" id="{4DE06070-690D-4830-83CC-82280097316C}"/>
              </a:ext>
            </a:extLst>
          </p:cNvPr>
          <p:cNvSpPr>
            <a:spLocks xmlns:a="http://schemas.openxmlformats.org/drawingml/2006/main" noGrp="1"/>
          </p:cNvSpPr>
          <p:nvPr/>
        </p:nvSpPr>
        <p:spPr>
          <a:xfrm xmlns:a="http://schemas.openxmlformats.org/drawingml/2006/main">
            <a:off x="9528048" y="2002536"/>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578C1C25-CD6C-4E34-8EE4-5E6F10E82749}"/>
              </a:ext>
            </a:extLst>
          </p:cNvPr>
          <p:cNvSpPr>
            <a:spLocks xmlns:a="http://schemas.openxmlformats.org/drawingml/2006/main" noGrp="1"/>
          </p:cNvSpPr>
          <p:nvPr/>
        </p:nvSpPr>
        <p:spPr>
          <a:xfrm xmlns:a="http://schemas.openxmlformats.org/drawingml/2006/main">
            <a:off x="9582912" y="2048255"/>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33</a:t>
            </a:r>
          </a:p>
        </p:txBody>
      </p:sp>
      <p:sp>
        <p:nvSpPr>
          <p:cNvPr id="32" name="Rectangle 31">
            <a:extLst xmlns:a="http://schemas.openxmlformats.org/drawingml/2006/main">
              <a:ext uri="{FF2B5EF4-FFF2-40B4-BE49-F238E27FC236}">
                <a16:creationId xmlns:a16="http://schemas.microsoft.com/office/drawing/2014/main" id="{804D1610-9C5B-4FD7-8130-BF8BADB69243}"/>
              </a:ext>
            </a:extLst>
          </p:cNvPr>
          <p:cNvSpPr>
            <a:spLocks xmlns:a="http://schemas.openxmlformats.org/drawingml/2006/main" noGrp="1"/>
          </p:cNvSpPr>
          <p:nvPr/>
        </p:nvSpPr>
        <p:spPr>
          <a:xfrm xmlns:a="http://schemas.openxmlformats.org/drawingml/2006/main">
            <a:off x="539496" y="2395728"/>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F83D7EA7-8AED-43F7-A1B1-A5F30CF7C087}"/>
              </a:ext>
            </a:extLst>
          </p:cNvPr>
          <p:cNvSpPr>
            <a:spLocks xmlns:a="http://schemas.openxmlformats.org/drawingml/2006/main" noGrp="1"/>
          </p:cNvSpPr>
          <p:nvPr/>
        </p:nvSpPr>
        <p:spPr>
          <a:xfrm xmlns:a="http://schemas.openxmlformats.org/drawingml/2006/main">
            <a:off x="594359" y="2441448"/>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34" name="Rectangle 33">
            <a:extLst xmlns:a="http://schemas.openxmlformats.org/drawingml/2006/main">
              <a:ext uri="{FF2B5EF4-FFF2-40B4-BE49-F238E27FC236}">
                <a16:creationId xmlns:a16="http://schemas.microsoft.com/office/drawing/2014/main" id="{19EDD134-00F2-45E1-8DCD-826B665128AF}"/>
              </a:ext>
            </a:extLst>
          </p:cNvPr>
          <p:cNvSpPr>
            <a:spLocks xmlns:a="http://schemas.openxmlformats.org/drawingml/2006/main" noGrp="1"/>
          </p:cNvSpPr>
          <p:nvPr/>
        </p:nvSpPr>
        <p:spPr>
          <a:xfrm xmlns:a="http://schemas.openxmlformats.org/drawingml/2006/main">
            <a:off x="1636776" y="2395728"/>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C497DD64-91DD-48B9-8116-AE97391206A8}"/>
              </a:ext>
            </a:extLst>
          </p:cNvPr>
          <p:cNvSpPr>
            <a:spLocks xmlns:a="http://schemas.openxmlformats.org/drawingml/2006/main" noGrp="1"/>
          </p:cNvSpPr>
          <p:nvPr/>
        </p:nvSpPr>
        <p:spPr>
          <a:xfrm xmlns:a="http://schemas.openxmlformats.org/drawingml/2006/main">
            <a:off x="1691640" y="2441448"/>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36" name="Rectangle 35">
            <a:extLst xmlns:a="http://schemas.openxmlformats.org/drawingml/2006/main">
              <a:ext uri="{FF2B5EF4-FFF2-40B4-BE49-F238E27FC236}">
                <a16:creationId xmlns:a16="http://schemas.microsoft.com/office/drawing/2014/main" id="{20914F76-E133-4AC1-AB59-37058FAF554A}"/>
              </a:ext>
            </a:extLst>
          </p:cNvPr>
          <p:cNvSpPr>
            <a:spLocks xmlns:a="http://schemas.openxmlformats.org/drawingml/2006/main" noGrp="1"/>
          </p:cNvSpPr>
          <p:nvPr/>
        </p:nvSpPr>
        <p:spPr>
          <a:xfrm xmlns:a="http://schemas.openxmlformats.org/drawingml/2006/main">
            <a:off x="2962656" y="2395728"/>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95DBCBC1-9641-4DE6-BC15-8AA9EB9A396F}"/>
              </a:ext>
            </a:extLst>
          </p:cNvPr>
          <p:cNvSpPr>
            <a:spLocks xmlns:a="http://schemas.openxmlformats.org/drawingml/2006/main" noGrp="1"/>
          </p:cNvSpPr>
          <p:nvPr/>
        </p:nvSpPr>
        <p:spPr>
          <a:xfrm xmlns:a="http://schemas.openxmlformats.org/drawingml/2006/main">
            <a:off x="3017520" y="2441448"/>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38" name="Rectangle 37">
            <a:extLst xmlns:a="http://schemas.openxmlformats.org/drawingml/2006/main">
              <a:ext uri="{FF2B5EF4-FFF2-40B4-BE49-F238E27FC236}">
                <a16:creationId xmlns:a16="http://schemas.microsoft.com/office/drawing/2014/main" id="{C9B812D0-B598-4433-AAED-20B87A1D1276}"/>
              </a:ext>
            </a:extLst>
          </p:cNvPr>
          <p:cNvSpPr>
            <a:spLocks xmlns:a="http://schemas.openxmlformats.org/drawingml/2006/main" noGrp="1"/>
          </p:cNvSpPr>
          <p:nvPr/>
        </p:nvSpPr>
        <p:spPr>
          <a:xfrm xmlns:a="http://schemas.openxmlformats.org/drawingml/2006/main">
            <a:off x="4745736" y="2395728"/>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C40DB664-36A0-49EA-A597-6E474A473288}"/>
              </a:ext>
            </a:extLst>
          </p:cNvPr>
          <p:cNvSpPr>
            <a:spLocks xmlns:a="http://schemas.openxmlformats.org/drawingml/2006/main" noGrp="1"/>
          </p:cNvSpPr>
          <p:nvPr/>
        </p:nvSpPr>
        <p:spPr>
          <a:xfrm xmlns:a="http://schemas.openxmlformats.org/drawingml/2006/main">
            <a:off x="4800600" y="2441448"/>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40" name="Rectangle 39">
            <a:extLst xmlns:a="http://schemas.openxmlformats.org/drawingml/2006/main">
              <a:ext uri="{FF2B5EF4-FFF2-40B4-BE49-F238E27FC236}">
                <a16:creationId xmlns:a16="http://schemas.microsoft.com/office/drawing/2014/main" id="{18F4D892-8CA3-4475-A46B-92B4555BD2C6}"/>
              </a:ext>
            </a:extLst>
          </p:cNvPr>
          <p:cNvSpPr>
            <a:spLocks xmlns:a="http://schemas.openxmlformats.org/drawingml/2006/main" noGrp="1"/>
          </p:cNvSpPr>
          <p:nvPr/>
        </p:nvSpPr>
        <p:spPr>
          <a:xfrm xmlns:a="http://schemas.openxmlformats.org/drawingml/2006/main">
            <a:off x="6483096" y="2395728"/>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5E3A204D-645F-4C6C-997E-A3DB840608C6}"/>
              </a:ext>
            </a:extLst>
          </p:cNvPr>
          <p:cNvSpPr>
            <a:spLocks xmlns:a="http://schemas.openxmlformats.org/drawingml/2006/main" noGrp="1"/>
          </p:cNvSpPr>
          <p:nvPr/>
        </p:nvSpPr>
        <p:spPr>
          <a:xfrm xmlns:a="http://schemas.openxmlformats.org/drawingml/2006/main">
            <a:off x="6537959" y="2441448"/>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42" name="Rectangle 41">
            <a:extLst xmlns:a="http://schemas.openxmlformats.org/drawingml/2006/main">
              <a:ext uri="{FF2B5EF4-FFF2-40B4-BE49-F238E27FC236}">
                <a16:creationId xmlns:a16="http://schemas.microsoft.com/office/drawing/2014/main" id="{35C81979-5638-477F-ADA7-488666135604}"/>
              </a:ext>
            </a:extLst>
          </p:cNvPr>
          <p:cNvSpPr>
            <a:spLocks xmlns:a="http://schemas.openxmlformats.org/drawingml/2006/main" noGrp="1"/>
          </p:cNvSpPr>
          <p:nvPr/>
        </p:nvSpPr>
        <p:spPr>
          <a:xfrm xmlns:a="http://schemas.openxmlformats.org/drawingml/2006/main">
            <a:off x="7534656" y="2395728"/>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925855F0-86CB-4389-B25C-BF8BD95DBD88}"/>
              </a:ext>
            </a:extLst>
          </p:cNvPr>
          <p:cNvSpPr>
            <a:spLocks xmlns:a="http://schemas.openxmlformats.org/drawingml/2006/main" noGrp="1"/>
          </p:cNvSpPr>
          <p:nvPr/>
        </p:nvSpPr>
        <p:spPr>
          <a:xfrm xmlns:a="http://schemas.openxmlformats.org/drawingml/2006/main">
            <a:off x="7589520" y="2441448"/>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44" name="Rectangle 43">
            <a:extLst xmlns:a="http://schemas.openxmlformats.org/drawingml/2006/main">
              <a:ext uri="{FF2B5EF4-FFF2-40B4-BE49-F238E27FC236}">
                <a16:creationId xmlns:a16="http://schemas.microsoft.com/office/drawing/2014/main" id="{FD9B350F-32C3-4455-AEC0-3F92CDD013E6}"/>
              </a:ext>
            </a:extLst>
          </p:cNvPr>
          <p:cNvSpPr>
            <a:spLocks xmlns:a="http://schemas.openxmlformats.org/drawingml/2006/main" noGrp="1"/>
          </p:cNvSpPr>
          <p:nvPr/>
        </p:nvSpPr>
        <p:spPr>
          <a:xfrm xmlns:a="http://schemas.openxmlformats.org/drawingml/2006/main">
            <a:off x="9528048" y="2395728"/>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237BCF17-C9A8-4506-80D6-0D10808064D3}"/>
              </a:ext>
            </a:extLst>
          </p:cNvPr>
          <p:cNvSpPr>
            <a:spLocks xmlns:a="http://schemas.openxmlformats.org/drawingml/2006/main" noGrp="1"/>
          </p:cNvSpPr>
          <p:nvPr/>
        </p:nvSpPr>
        <p:spPr>
          <a:xfrm xmlns:a="http://schemas.openxmlformats.org/drawingml/2006/main">
            <a:off x="9582912" y="2441448"/>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46" name="Rectangle 45">
            <a:extLst xmlns:a="http://schemas.openxmlformats.org/drawingml/2006/main">
              <a:ext uri="{FF2B5EF4-FFF2-40B4-BE49-F238E27FC236}">
                <a16:creationId xmlns:a16="http://schemas.microsoft.com/office/drawing/2014/main" id="{0F97C6E0-1551-4802-A9E6-E73DBCBB5A01}"/>
              </a:ext>
            </a:extLst>
          </p:cNvPr>
          <p:cNvSpPr>
            <a:spLocks xmlns:a="http://schemas.openxmlformats.org/drawingml/2006/main" noGrp="1"/>
          </p:cNvSpPr>
          <p:nvPr/>
        </p:nvSpPr>
        <p:spPr>
          <a:xfrm xmlns:a="http://schemas.openxmlformats.org/drawingml/2006/main">
            <a:off x="539496" y="2788920"/>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84701F44-EE12-4A73-A25C-5F4355D800D5}"/>
              </a:ext>
            </a:extLst>
          </p:cNvPr>
          <p:cNvSpPr>
            <a:spLocks xmlns:a="http://schemas.openxmlformats.org/drawingml/2006/main" noGrp="1"/>
          </p:cNvSpPr>
          <p:nvPr/>
        </p:nvSpPr>
        <p:spPr>
          <a:xfrm xmlns:a="http://schemas.openxmlformats.org/drawingml/2006/main">
            <a:off x="594359" y="2834639"/>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48" name="Rectangle 47">
            <a:extLst xmlns:a="http://schemas.openxmlformats.org/drawingml/2006/main">
              <a:ext uri="{FF2B5EF4-FFF2-40B4-BE49-F238E27FC236}">
                <a16:creationId xmlns:a16="http://schemas.microsoft.com/office/drawing/2014/main" id="{28548E9D-ED00-4F16-A055-8F5DE74C1A8B}"/>
              </a:ext>
            </a:extLst>
          </p:cNvPr>
          <p:cNvSpPr>
            <a:spLocks xmlns:a="http://schemas.openxmlformats.org/drawingml/2006/main" noGrp="1"/>
          </p:cNvSpPr>
          <p:nvPr/>
        </p:nvSpPr>
        <p:spPr>
          <a:xfrm xmlns:a="http://schemas.openxmlformats.org/drawingml/2006/main">
            <a:off x="1636776" y="2788920"/>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A936383A-B632-46E8-91B5-3F0601DDB4C7}"/>
              </a:ext>
            </a:extLst>
          </p:cNvPr>
          <p:cNvSpPr>
            <a:spLocks xmlns:a="http://schemas.openxmlformats.org/drawingml/2006/main" noGrp="1"/>
          </p:cNvSpPr>
          <p:nvPr/>
        </p:nvSpPr>
        <p:spPr>
          <a:xfrm xmlns:a="http://schemas.openxmlformats.org/drawingml/2006/main">
            <a:off x="1691640" y="2834639"/>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10</a:t>
            </a:r>
          </a:p>
        </p:txBody>
      </p:sp>
      <p:sp>
        <p:nvSpPr>
          <p:cNvPr id="50" name="Rectangle 49">
            <a:extLst xmlns:a="http://schemas.openxmlformats.org/drawingml/2006/main">
              <a:ext uri="{FF2B5EF4-FFF2-40B4-BE49-F238E27FC236}">
                <a16:creationId xmlns:a16="http://schemas.microsoft.com/office/drawing/2014/main" id="{EA19B3D5-AA6E-4A30-9E95-E99657189CF1}"/>
              </a:ext>
            </a:extLst>
          </p:cNvPr>
          <p:cNvSpPr>
            <a:spLocks xmlns:a="http://schemas.openxmlformats.org/drawingml/2006/main" noGrp="1"/>
          </p:cNvSpPr>
          <p:nvPr/>
        </p:nvSpPr>
        <p:spPr>
          <a:xfrm xmlns:a="http://schemas.openxmlformats.org/drawingml/2006/main">
            <a:off x="2962656" y="2788920"/>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CAFF7E6B-2C26-4B54-A63B-C90184CB09D8}"/>
              </a:ext>
            </a:extLst>
          </p:cNvPr>
          <p:cNvSpPr>
            <a:spLocks xmlns:a="http://schemas.openxmlformats.org/drawingml/2006/main" noGrp="1"/>
          </p:cNvSpPr>
          <p:nvPr/>
        </p:nvSpPr>
        <p:spPr>
          <a:xfrm xmlns:a="http://schemas.openxmlformats.org/drawingml/2006/main">
            <a:off x="3017520" y="2834639"/>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52" name="Rectangle 51">
            <a:extLst xmlns:a="http://schemas.openxmlformats.org/drawingml/2006/main">
              <a:ext uri="{FF2B5EF4-FFF2-40B4-BE49-F238E27FC236}">
                <a16:creationId xmlns:a16="http://schemas.microsoft.com/office/drawing/2014/main" id="{8B8949AA-FC80-4EC5-90C7-EEA6DF3A4418}"/>
              </a:ext>
            </a:extLst>
          </p:cNvPr>
          <p:cNvSpPr>
            <a:spLocks xmlns:a="http://schemas.openxmlformats.org/drawingml/2006/main" noGrp="1"/>
          </p:cNvSpPr>
          <p:nvPr/>
        </p:nvSpPr>
        <p:spPr>
          <a:xfrm xmlns:a="http://schemas.openxmlformats.org/drawingml/2006/main">
            <a:off x="4745736" y="2788920"/>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F9792C74-559C-425D-AAAC-2CC93BDB174E}"/>
              </a:ext>
            </a:extLst>
          </p:cNvPr>
          <p:cNvSpPr>
            <a:spLocks xmlns:a="http://schemas.openxmlformats.org/drawingml/2006/main" noGrp="1"/>
          </p:cNvSpPr>
          <p:nvPr/>
        </p:nvSpPr>
        <p:spPr>
          <a:xfrm xmlns:a="http://schemas.openxmlformats.org/drawingml/2006/main">
            <a:off x="4800600" y="2834639"/>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54" name="Rectangle 53">
            <a:extLst xmlns:a="http://schemas.openxmlformats.org/drawingml/2006/main">
              <a:ext uri="{FF2B5EF4-FFF2-40B4-BE49-F238E27FC236}">
                <a16:creationId xmlns:a16="http://schemas.microsoft.com/office/drawing/2014/main" id="{2EB586EB-D0C2-485F-9AFB-6D17D8B88C27}"/>
              </a:ext>
            </a:extLst>
          </p:cNvPr>
          <p:cNvSpPr>
            <a:spLocks xmlns:a="http://schemas.openxmlformats.org/drawingml/2006/main" noGrp="1"/>
          </p:cNvSpPr>
          <p:nvPr/>
        </p:nvSpPr>
        <p:spPr>
          <a:xfrm xmlns:a="http://schemas.openxmlformats.org/drawingml/2006/main">
            <a:off x="6483096" y="2788920"/>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ED13A0EC-ABB2-4F0F-A8A6-839D68D41170}"/>
              </a:ext>
            </a:extLst>
          </p:cNvPr>
          <p:cNvSpPr>
            <a:spLocks xmlns:a="http://schemas.openxmlformats.org/drawingml/2006/main" noGrp="1"/>
          </p:cNvSpPr>
          <p:nvPr/>
        </p:nvSpPr>
        <p:spPr>
          <a:xfrm xmlns:a="http://schemas.openxmlformats.org/drawingml/2006/main">
            <a:off x="6537959" y="2834639"/>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56" name="Rectangle 55">
            <a:extLst xmlns:a="http://schemas.openxmlformats.org/drawingml/2006/main">
              <a:ext uri="{FF2B5EF4-FFF2-40B4-BE49-F238E27FC236}">
                <a16:creationId xmlns:a16="http://schemas.microsoft.com/office/drawing/2014/main" id="{107F0442-1287-49F4-A1F4-8D354E6BD4F4}"/>
              </a:ext>
            </a:extLst>
          </p:cNvPr>
          <p:cNvSpPr>
            <a:spLocks xmlns:a="http://schemas.openxmlformats.org/drawingml/2006/main" noGrp="1"/>
          </p:cNvSpPr>
          <p:nvPr/>
        </p:nvSpPr>
        <p:spPr>
          <a:xfrm xmlns:a="http://schemas.openxmlformats.org/drawingml/2006/main">
            <a:off x="7534656" y="2788920"/>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TextBox 56">
            <a:extLst xmlns:a="http://schemas.openxmlformats.org/drawingml/2006/main">
              <a:ext uri="{FF2B5EF4-FFF2-40B4-BE49-F238E27FC236}">
                <a16:creationId xmlns:a16="http://schemas.microsoft.com/office/drawing/2014/main" id="{3A07734F-7D74-40DE-8E06-4FAEC85A256B}"/>
              </a:ext>
            </a:extLst>
          </p:cNvPr>
          <p:cNvSpPr>
            <a:spLocks xmlns:a="http://schemas.openxmlformats.org/drawingml/2006/main" noGrp="1"/>
          </p:cNvSpPr>
          <p:nvPr/>
        </p:nvSpPr>
        <p:spPr>
          <a:xfrm xmlns:a="http://schemas.openxmlformats.org/drawingml/2006/main">
            <a:off x="7589520" y="2834639"/>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58" name="Rectangle 57">
            <a:extLst xmlns:a="http://schemas.openxmlformats.org/drawingml/2006/main">
              <a:ext uri="{FF2B5EF4-FFF2-40B4-BE49-F238E27FC236}">
                <a16:creationId xmlns:a16="http://schemas.microsoft.com/office/drawing/2014/main" id="{30FBA4E5-0FE7-4017-8028-66D55A5606CF}"/>
              </a:ext>
            </a:extLst>
          </p:cNvPr>
          <p:cNvSpPr>
            <a:spLocks xmlns:a="http://schemas.openxmlformats.org/drawingml/2006/main" noGrp="1"/>
          </p:cNvSpPr>
          <p:nvPr/>
        </p:nvSpPr>
        <p:spPr>
          <a:xfrm xmlns:a="http://schemas.openxmlformats.org/drawingml/2006/main">
            <a:off x="9528048" y="2788920"/>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TextBox 58">
            <a:extLst xmlns:a="http://schemas.openxmlformats.org/drawingml/2006/main">
              <a:ext uri="{FF2B5EF4-FFF2-40B4-BE49-F238E27FC236}">
                <a16:creationId xmlns:a16="http://schemas.microsoft.com/office/drawing/2014/main" id="{D279E0D5-1036-42CC-BF1F-69A9CE730BFB}"/>
              </a:ext>
            </a:extLst>
          </p:cNvPr>
          <p:cNvSpPr>
            <a:spLocks xmlns:a="http://schemas.openxmlformats.org/drawingml/2006/main" noGrp="1"/>
          </p:cNvSpPr>
          <p:nvPr/>
        </p:nvSpPr>
        <p:spPr>
          <a:xfrm xmlns:a="http://schemas.openxmlformats.org/drawingml/2006/main">
            <a:off x="9582912" y="2834639"/>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60" name="Rectangle 59">
            <a:extLst xmlns:a="http://schemas.openxmlformats.org/drawingml/2006/main">
              <a:ext uri="{FF2B5EF4-FFF2-40B4-BE49-F238E27FC236}">
                <a16:creationId xmlns:a16="http://schemas.microsoft.com/office/drawing/2014/main" id="{19AD8C2D-7991-495E-95A3-32C2C0A52A21}"/>
              </a:ext>
            </a:extLst>
          </p:cNvPr>
          <p:cNvSpPr>
            <a:spLocks xmlns:a="http://schemas.openxmlformats.org/drawingml/2006/main" noGrp="1"/>
          </p:cNvSpPr>
          <p:nvPr/>
        </p:nvSpPr>
        <p:spPr>
          <a:xfrm xmlns:a="http://schemas.openxmlformats.org/drawingml/2006/main">
            <a:off x="539496" y="3182112"/>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TextBox 60">
            <a:extLst xmlns:a="http://schemas.openxmlformats.org/drawingml/2006/main">
              <a:ext uri="{FF2B5EF4-FFF2-40B4-BE49-F238E27FC236}">
                <a16:creationId xmlns:a16="http://schemas.microsoft.com/office/drawing/2014/main" id="{75509312-0444-4E4A-ADAE-680E466DBB89}"/>
              </a:ext>
            </a:extLst>
          </p:cNvPr>
          <p:cNvSpPr>
            <a:spLocks xmlns:a="http://schemas.openxmlformats.org/drawingml/2006/main" noGrp="1"/>
          </p:cNvSpPr>
          <p:nvPr/>
        </p:nvSpPr>
        <p:spPr>
          <a:xfrm xmlns:a="http://schemas.openxmlformats.org/drawingml/2006/main">
            <a:off x="594359" y="3227832"/>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62" name="Rectangle 61">
            <a:extLst xmlns:a="http://schemas.openxmlformats.org/drawingml/2006/main">
              <a:ext uri="{FF2B5EF4-FFF2-40B4-BE49-F238E27FC236}">
                <a16:creationId xmlns:a16="http://schemas.microsoft.com/office/drawing/2014/main" id="{7C3B803B-3CCD-4A08-8B2F-237DFE5E2685}"/>
              </a:ext>
            </a:extLst>
          </p:cNvPr>
          <p:cNvSpPr>
            <a:spLocks xmlns:a="http://schemas.openxmlformats.org/drawingml/2006/main" noGrp="1"/>
          </p:cNvSpPr>
          <p:nvPr/>
        </p:nvSpPr>
        <p:spPr>
          <a:xfrm xmlns:a="http://schemas.openxmlformats.org/drawingml/2006/main">
            <a:off x="1636776" y="3182112"/>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Box 62">
            <a:extLst xmlns:a="http://schemas.openxmlformats.org/drawingml/2006/main">
              <a:ext uri="{FF2B5EF4-FFF2-40B4-BE49-F238E27FC236}">
                <a16:creationId xmlns:a16="http://schemas.microsoft.com/office/drawing/2014/main" id="{6794C97F-CF5D-4773-9D68-D26379DFF207}"/>
              </a:ext>
            </a:extLst>
          </p:cNvPr>
          <p:cNvSpPr>
            <a:spLocks xmlns:a="http://schemas.openxmlformats.org/drawingml/2006/main" noGrp="1"/>
          </p:cNvSpPr>
          <p:nvPr/>
        </p:nvSpPr>
        <p:spPr>
          <a:xfrm xmlns:a="http://schemas.openxmlformats.org/drawingml/2006/main">
            <a:off x="1691640" y="3227832"/>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64" name="Rectangle 63">
            <a:extLst xmlns:a="http://schemas.openxmlformats.org/drawingml/2006/main">
              <a:ext uri="{FF2B5EF4-FFF2-40B4-BE49-F238E27FC236}">
                <a16:creationId xmlns:a16="http://schemas.microsoft.com/office/drawing/2014/main" id="{81916FA4-3DAF-4412-A2EA-98391C09369A}"/>
              </a:ext>
            </a:extLst>
          </p:cNvPr>
          <p:cNvSpPr>
            <a:spLocks xmlns:a="http://schemas.openxmlformats.org/drawingml/2006/main" noGrp="1"/>
          </p:cNvSpPr>
          <p:nvPr/>
        </p:nvSpPr>
        <p:spPr>
          <a:xfrm xmlns:a="http://schemas.openxmlformats.org/drawingml/2006/main">
            <a:off x="2962656" y="3182112"/>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Box 64">
            <a:extLst xmlns:a="http://schemas.openxmlformats.org/drawingml/2006/main">
              <a:ext uri="{FF2B5EF4-FFF2-40B4-BE49-F238E27FC236}">
                <a16:creationId xmlns:a16="http://schemas.microsoft.com/office/drawing/2014/main" id="{A6C0AAAC-00B3-4483-B047-8C33BCFC7229}"/>
              </a:ext>
            </a:extLst>
          </p:cNvPr>
          <p:cNvSpPr>
            <a:spLocks xmlns:a="http://schemas.openxmlformats.org/drawingml/2006/main" noGrp="1"/>
          </p:cNvSpPr>
          <p:nvPr/>
        </p:nvSpPr>
        <p:spPr>
          <a:xfrm xmlns:a="http://schemas.openxmlformats.org/drawingml/2006/main">
            <a:off x="3017520" y="3227832"/>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66" name="Rectangle 65">
            <a:extLst xmlns:a="http://schemas.openxmlformats.org/drawingml/2006/main">
              <a:ext uri="{FF2B5EF4-FFF2-40B4-BE49-F238E27FC236}">
                <a16:creationId xmlns:a16="http://schemas.microsoft.com/office/drawing/2014/main" id="{BD6853DB-C69A-4BA6-BB39-3C25991D1671}"/>
              </a:ext>
            </a:extLst>
          </p:cNvPr>
          <p:cNvSpPr>
            <a:spLocks xmlns:a="http://schemas.openxmlformats.org/drawingml/2006/main" noGrp="1"/>
          </p:cNvSpPr>
          <p:nvPr/>
        </p:nvSpPr>
        <p:spPr>
          <a:xfrm xmlns:a="http://schemas.openxmlformats.org/drawingml/2006/main">
            <a:off x="4745736" y="3182112"/>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TextBox 66">
            <a:extLst xmlns:a="http://schemas.openxmlformats.org/drawingml/2006/main">
              <a:ext uri="{FF2B5EF4-FFF2-40B4-BE49-F238E27FC236}">
                <a16:creationId xmlns:a16="http://schemas.microsoft.com/office/drawing/2014/main" id="{2E7C74BE-33C0-41AC-B551-E87F41A09C38}"/>
              </a:ext>
            </a:extLst>
          </p:cNvPr>
          <p:cNvSpPr>
            <a:spLocks xmlns:a="http://schemas.openxmlformats.org/drawingml/2006/main" noGrp="1"/>
          </p:cNvSpPr>
          <p:nvPr/>
        </p:nvSpPr>
        <p:spPr>
          <a:xfrm xmlns:a="http://schemas.openxmlformats.org/drawingml/2006/main">
            <a:off x="4800600" y="3227832"/>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68" name="Rectangle 67">
            <a:extLst xmlns:a="http://schemas.openxmlformats.org/drawingml/2006/main">
              <a:ext uri="{FF2B5EF4-FFF2-40B4-BE49-F238E27FC236}">
                <a16:creationId xmlns:a16="http://schemas.microsoft.com/office/drawing/2014/main" id="{9895C023-0529-4A69-8EDC-D93C9F7A1B6B}"/>
              </a:ext>
            </a:extLst>
          </p:cNvPr>
          <p:cNvSpPr>
            <a:spLocks xmlns:a="http://schemas.openxmlformats.org/drawingml/2006/main" noGrp="1"/>
          </p:cNvSpPr>
          <p:nvPr/>
        </p:nvSpPr>
        <p:spPr>
          <a:xfrm xmlns:a="http://schemas.openxmlformats.org/drawingml/2006/main">
            <a:off x="6483096" y="3182112"/>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9" name="TextBox 68">
            <a:extLst xmlns:a="http://schemas.openxmlformats.org/drawingml/2006/main">
              <a:ext uri="{FF2B5EF4-FFF2-40B4-BE49-F238E27FC236}">
                <a16:creationId xmlns:a16="http://schemas.microsoft.com/office/drawing/2014/main" id="{886E7A43-3C3C-4673-8AEB-D18EB8052010}"/>
              </a:ext>
            </a:extLst>
          </p:cNvPr>
          <p:cNvSpPr>
            <a:spLocks xmlns:a="http://schemas.openxmlformats.org/drawingml/2006/main" noGrp="1"/>
          </p:cNvSpPr>
          <p:nvPr/>
        </p:nvSpPr>
        <p:spPr>
          <a:xfrm xmlns:a="http://schemas.openxmlformats.org/drawingml/2006/main">
            <a:off x="6537959" y="3227832"/>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70" name="Rectangle 69">
            <a:extLst xmlns:a="http://schemas.openxmlformats.org/drawingml/2006/main">
              <a:ext uri="{FF2B5EF4-FFF2-40B4-BE49-F238E27FC236}">
                <a16:creationId xmlns:a16="http://schemas.microsoft.com/office/drawing/2014/main" id="{0840AB6E-9D27-462C-BA2F-C8EEE14925D4}"/>
              </a:ext>
            </a:extLst>
          </p:cNvPr>
          <p:cNvSpPr>
            <a:spLocks xmlns:a="http://schemas.openxmlformats.org/drawingml/2006/main" noGrp="1"/>
          </p:cNvSpPr>
          <p:nvPr/>
        </p:nvSpPr>
        <p:spPr>
          <a:xfrm xmlns:a="http://schemas.openxmlformats.org/drawingml/2006/main">
            <a:off x="7534656" y="3182112"/>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TextBox 70">
            <a:extLst xmlns:a="http://schemas.openxmlformats.org/drawingml/2006/main">
              <a:ext uri="{FF2B5EF4-FFF2-40B4-BE49-F238E27FC236}">
                <a16:creationId xmlns:a16="http://schemas.microsoft.com/office/drawing/2014/main" id="{128453EB-7BA7-4568-958C-92330FA22676}"/>
              </a:ext>
            </a:extLst>
          </p:cNvPr>
          <p:cNvSpPr>
            <a:spLocks xmlns:a="http://schemas.openxmlformats.org/drawingml/2006/main" noGrp="1"/>
          </p:cNvSpPr>
          <p:nvPr/>
        </p:nvSpPr>
        <p:spPr>
          <a:xfrm xmlns:a="http://schemas.openxmlformats.org/drawingml/2006/main">
            <a:off x="7589520" y="3227832"/>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72" name="Rectangle 71">
            <a:extLst xmlns:a="http://schemas.openxmlformats.org/drawingml/2006/main">
              <a:ext uri="{FF2B5EF4-FFF2-40B4-BE49-F238E27FC236}">
                <a16:creationId xmlns:a16="http://schemas.microsoft.com/office/drawing/2014/main" id="{281708DF-076A-497F-89C4-58AD44B2AADE}"/>
              </a:ext>
            </a:extLst>
          </p:cNvPr>
          <p:cNvSpPr>
            <a:spLocks xmlns:a="http://schemas.openxmlformats.org/drawingml/2006/main" noGrp="1"/>
          </p:cNvSpPr>
          <p:nvPr/>
        </p:nvSpPr>
        <p:spPr>
          <a:xfrm xmlns:a="http://schemas.openxmlformats.org/drawingml/2006/main">
            <a:off x="9528048" y="3182112"/>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3" name="TextBox 72">
            <a:extLst xmlns:a="http://schemas.openxmlformats.org/drawingml/2006/main">
              <a:ext uri="{FF2B5EF4-FFF2-40B4-BE49-F238E27FC236}">
                <a16:creationId xmlns:a16="http://schemas.microsoft.com/office/drawing/2014/main" id="{0FE44145-AA80-4A8A-B986-3177B8935C73}"/>
              </a:ext>
            </a:extLst>
          </p:cNvPr>
          <p:cNvSpPr>
            <a:spLocks xmlns:a="http://schemas.openxmlformats.org/drawingml/2006/main" noGrp="1"/>
          </p:cNvSpPr>
          <p:nvPr/>
        </p:nvSpPr>
        <p:spPr>
          <a:xfrm xmlns:a="http://schemas.openxmlformats.org/drawingml/2006/main">
            <a:off x="9582912" y="3227832"/>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74" name="Rectangle 73">
            <a:extLst xmlns:a="http://schemas.openxmlformats.org/drawingml/2006/main">
              <a:ext uri="{FF2B5EF4-FFF2-40B4-BE49-F238E27FC236}">
                <a16:creationId xmlns:a16="http://schemas.microsoft.com/office/drawing/2014/main" id="{418FC3C3-518C-4751-B409-1CC1D7F1C700}"/>
              </a:ext>
            </a:extLst>
          </p:cNvPr>
          <p:cNvSpPr>
            <a:spLocks xmlns:a="http://schemas.openxmlformats.org/drawingml/2006/main" noGrp="1"/>
          </p:cNvSpPr>
          <p:nvPr/>
        </p:nvSpPr>
        <p:spPr>
          <a:xfrm xmlns:a="http://schemas.openxmlformats.org/drawingml/2006/main">
            <a:off x="539496" y="3575304"/>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TextBox 74">
            <a:extLst xmlns:a="http://schemas.openxmlformats.org/drawingml/2006/main">
              <a:ext uri="{FF2B5EF4-FFF2-40B4-BE49-F238E27FC236}">
                <a16:creationId xmlns:a16="http://schemas.microsoft.com/office/drawing/2014/main" id="{C2CBFC71-271C-4E43-8FCA-F47D24DE7E97}"/>
              </a:ext>
            </a:extLst>
          </p:cNvPr>
          <p:cNvSpPr>
            <a:spLocks xmlns:a="http://schemas.openxmlformats.org/drawingml/2006/main" noGrp="1"/>
          </p:cNvSpPr>
          <p:nvPr/>
        </p:nvSpPr>
        <p:spPr>
          <a:xfrm xmlns:a="http://schemas.openxmlformats.org/drawingml/2006/main">
            <a:off x="594359" y="3621024"/>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76" name="Rectangle 75">
            <a:extLst xmlns:a="http://schemas.openxmlformats.org/drawingml/2006/main">
              <a:ext uri="{FF2B5EF4-FFF2-40B4-BE49-F238E27FC236}">
                <a16:creationId xmlns:a16="http://schemas.microsoft.com/office/drawing/2014/main" id="{927D5DDB-A136-4884-B3CA-4640E9EF73EE}"/>
              </a:ext>
            </a:extLst>
          </p:cNvPr>
          <p:cNvSpPr>
            <a:spLocks xmlns:a="http://schemas.openxmlformats.org/drawingml/2006/main" noGrp="1"/>
          </p:cNvSpPr>
          <p:nvPr/>
        </p:nvSpPr>
        <p:spPr>
          <a:xfrm xmlns:a="http://schemas.openxmlformats.org/drawingml/2006/main">
            <a:off x="1636776" y="3575304"/>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TextBox 76">
            <a:extLst xmlns:a="http://schemas.openxmlformats.org/drawingml/2006/main">
              <a:ext uri="{FF2B5EF4-FFF2-40B4-BE49-F238E27FC236}">
                <a16:creationId xmlns:a16="http://schemas.microsoft.com/office/drawing/2014/main" id="{5B9A1903-BB45-48E9-B6AC-78FE87D8AF2D}"/>
              </a:ext>
            </a:extLst>
          </p:cNvPr>
          <p:cNvSpPr>
            <a:spLocks xmlns:a="http://schemas.openxmlformats.org/drawingml/2006/main" noGrp="1"/>
          </p:cNvSpPr>
          <p:nvPr/>
        </p:nvSpPr>
        <p:spPr>
          <a:xfrm xmlns:a="http://schemas.openxmlformats.org/drawingml/2006/main">
            <a:off x="1691640" y="3621024"/>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78" name="Rectangle 77">
            <a:extLst xmlns:a="http://schemas.openxmlformats.org/drawingml/2006/main">
              <a:ext uri="{FF2B5EF4-FFF2-40B4-BE49-F238E27FC236}">
                <a16:creationId xmlns:a16="http://schemas.microsoft.com/office/drawing/2014/main" id="{F96CDBAE-AEEA-4D19-A6E4-FB8FF514DC91}"/>
              </a:ext>
            </a:extLst>
          </p:cNvPr>
          <p:cNvSpPr>
            <a:spLocks xmlns:a="http://schemas.openxmlformats.org/drawingml/2006/main" noGrp="1"/>
          </p:cNvSpPr>
          <p:nvPr/>
        </p:nvSpPr>
        <p:spPr>
          <a:xfrm xmlns:a="http://schemas.openxmlformats.org/drawingml/2006/main">
            <a:off x="2962656" y="3575304"/>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TextBox 78">
            <a:extLst xmlns:a="http://schemas.openxmlformats.org/drawingml/2006/main">
              <a:ext uri="{FF2B5EF4-FFF2-40B4-BE49-F238E27FC236}">
                <a16:creationId xmlns:a16="http://schemas.microsoft.com/office/drawing/2014/main" id="{0992729A-2836-4F48-A890-687566185401}"/>
              </a:ext>
            </a:extLst>
          </p:cNvPr>
          <p:cNvSpPr>
            <a:spLocks xmlns:a="http://schemas.openxmlformats.org/drawingml/2006/main" noGrp="1"/>
          </p:cNvSpPr>
          <p:nvPr/>
        </p:nvSpPr>
        <p:spPr>
          <a:xfrm xmlns:a="http://schemas.openxmlformats.org/drawingml/2006/main">
            <a:off x="3017520" y="3621024"/>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80" name="Rectangle 79">
            <a:extLst xmlns:a="http://schemas.openxmlformats.org/drawingml/2006/main">
              <a:ext uri="{FF2B5EF4-FFF2-40B4-BE49-F238E27FC236}">
                <a16:creationId xmlns:a16="http://schemas.microsoft.com/office/drawing/2014/main" id="{518F1605-E39A-456C-AEEF-587D4FA8D0EA}"/>
              </a:ext>
            </a:extLst>
          </p:cNvPr>
          <p:cNvSpPr>
            <a:spLocks xmlns:a="http://schemas.openxmlformats.org/drawingml/2006/main" noGrp="1"/>
          </p:cNvSpPr>
          <p:nvPr/>
        </p:nvSpPr>
        <p:spPr>
          <a:xfrm xmlns:a="http://schemas.openxmlformats.org/drawingml/2006/main">
            <a:off x="4745736" y="3575304"/>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TextBox 80">
            <a:extLst xmlns:a="http://schemas.openxmlformats.org/drawingml/2006/main">
              <a:ext uri="{FF2B5EF4-FFF2-40B4-BE49-F238E27FC236}">
                <a16:creationId xmlns:a16="http://schemas.microsoft.com/office/drawing/2014/main" id="{B9B2F867-5920-4E3A-8064-A36E6AAB6D8D}"/>
              </a:ext>
            </a:extLst>
          </p:cNvPr>
          <p:cNvSpPr>
            <a:spLocks xmlns:a="http://schemas.openxmlformats.org/drawingml/2006/main" noGrp="1"/>
          </p:cNvSpPr>
          <p:nvPr/>
        </p:nvSpPr>
        <p:spPr>
          <a:xfrm xmlns:a="http://schemas.openxmlformats.org/drawingml/2006/main">
            <a:off x="4800600" y="3621024"/>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82" name="Rectangle 81">
            <a:extLst xmlns:a="http://schemas.openxmlformats.org/drawingml/2006/main">
              <a:ext uri="{FF2B5EF4-FFF2-40B4-BE49-F238E27FC236}">
                <a16:creationId xmlns:a16="http://schemas.microsoft.com/office/drawing/2014/main" id="{87835A37-E4AC-4373-83F4-1CC28D30C43F}"/>
              </a:ext>
            </a:extLst>
          </p:cNvPr>
          <p:cNvSpPr>
            <a:spLocks xmlns:a="http://schemas.openxmlformats.org/drawingml/2006/main" noGrp="1"/>
          </p:cNvSpPr>
          <p:nvPr/>
        </p:nvSpPr>
        <p:spPr>
          <a:xfrm xmlns:a="http://schemas.openxmlformats.org/drawingml/2006/main">
            <a:off x="6483096" y="3575304"/>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TextBox 82">
            <a:extLst xmlns:a="http://schemas.openxmlformats.org/drawingml/2006/main">
              <a:ext uri="{FF2B5EF4-FFF2-40B4-BE49-F238E27FC236}">
                <a16:creationId xmlns:a16="http://schemas.microsoft.com/office/drawing/2014/main" id="{078B3459-8EE8-4416-AE6D-C5493D006692}"/>
              </a:ext>
            </a:extLst>
          </p:cNvPr>
          <p:cNvSpPr>
            <a:spLocks xmlns:a="http://schemas.openxmlformats.org/drawingml/2006/main" noGrp="1"/>
          </p:cNvSpPr>
          <p:nvPr/>
        </p:nvSpPr>
        <p:spPr>
          <a:xfrm xmlns:a="http://schemas.openxmlformats.org/drawingml/2006/main">
            <a:off x="6537959" y="3621024"/>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84" name="Rectangle 83">
            <a:extLst xmlns:a="http://schemas.openxmlformats.org/drawingml/2006/main">
              <a:ext uri="{FF2B5EF4-FFF2-40B4-BE49-F238E27FC236}">
                <a16:creationId xmlns:a16="http://schemas.microsoft.com/office/drawing/2014/main" id="{31067DB4-7FEA-4BB7-A056-C54C265C5F72}"/>
              </a:ext>
            </a:extLst>
          </p:cNvPr>
          <p:cNvSpPr>
            <a:spLocks xmlns:a="http://schemas.openxmlformats.org/drawingml/2006/main" noGrp="1"/>
          </p:cNvSpPr>
          <p:nvPr/>
        </p:nvSpPr>
        <p:spPr>
          <a:xfrm xmlns:a="http://schemas.openxmlformats.org/drawingml/2006/main">
            <a:off x="7534656" y="3575304"/>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TextBox 84">
            <a:extLst xmlns:a="http://schemas.openxmlformats.org/drawingml/2006/main">
              <a:ext uri="{FF2B5EF4-FFF2-40B4-BE49-F238E27FC236}">
                <a16:creationId xmlns:a16="http://schemas.microsoft.com/office/drawing/2014/main" id="{0923E753-F0A2-426C-9A1E-1BB6CA4CBBE7}"/>
              </a:ext>
            </a:extLst>
          </p:cNvPr>
          <p:cNvSpPr>
            <a:spLocks xmlns:a="http://schemas.openxmlformats.org/drawingml/2006/main" noGrp="1"/>
          </p:cNvSpPr>
          <p:nvPr/>
        </p:nvSpPr>
        <p:spPr>
          <a:xfrm xmlns:a="http://schemas.openxmlformats.org/drawingml/2006/main">
            <a:off x="7589520" y="3621024"/>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86" name="Rectangle 85">
            <a:extLst xmlns:a="http://schemas.openxmlformats.org/drawingml/2006/main">
              <a:ext uri="{FF2B5EF4-FFF2-40B4-BE49-F238E27FC236}">
                <a16:creationId xmlns:a16="http://schemas.microsoft.com/office/drawing/2014/main" id="{073C3899-D771-4070-89B7-3B11B08D223C}"/>
              </a:ext>
            </a:extLst>
          </p:cNvPr>
          <p:cNvSpPr>
            <a:spLocks xmlns:a="http://schemas.openxmlformats.org/drawingml/2006/main" noGrp="1"/>
          </p:cNvSpPr>
          <p:nvPr/>
        </p:nvSpPr>
        <p:spPr>
          <a:xfrm xmlns:a="http://schemas.openxmlformats.org/drawingml/2006/main">
            <a:off x="9528048" y="3575304"/>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7" name="TextBox 86">
            <a:extLst xmlns:a="http://schemas.openxmlformats.org/drawingml/2006/main">
              <a:ext uri="{FF2B5EF4-FFF2-40B4-BE49-F238E27FC236}">
                <a16:creationId xmlns:a16="http://schemas.microsoft.com/office/drawing/2014/main" id="{072364D5-419A-4128-8EF8-4B2DD89475B8}"/>
              </a:ext>
            </a:extLst>
          </p:cNvPr>
          <p:cNvSpPr>
            <a:spLocks xmlns:a="http://schemas.openxmlformats.org/drawingml/2006/main" noGrp="1"/>
          </p:cNvSpPr>
          <p:nvPr/>
        </p:nvSpPr>
        <p:spPr>
          <a:xfrm xmlns:a="http://schemas.openxmlformats.org/drawingml/2006/main">
            <a:off x="9582912" y="3621024"/>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88" name="Rectangle 87">
            <a:extLst xmlns:a="http://schemas.openxmlformats.org/drawingml/2006/main">
              <a:ext uri="{FF2B5EF4-FFF2-40B4-BE49-F238E27FC236}">
                <a16:creationId xmlns:a16="http://schemas.microsoft.com/office/drawing/2014/main" id="{952C059B-41D4-4E68-849E-705C14FA845F}"/>
              </a:ext>
            </a:extLst>
          </p:cNvPr>
          <p:cNvSpPr>
            <a:spLocks xmlns:a="http://schemas.openxmlformats.org/drawingml/2006/main" noGrp="1"/>
          </p:cNvSpPr>
          <p:nvPr/>
        </p:nvSpPr>
        <p:spPr>
          <a:xfrm xmlns:a="http://schemas.openxmlformats.org/drawingml/2006/main">
            <a:off x="539496" y="3968496"/>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9" name="TextBox 88">
            <a:extLst xmlns:a="http://schemas.openxmlformats.org/drawingml/2006/main">
              <a:ext uri="{FF2B5EF4-FFF2-40B4-BE49-F238E27FC236}">
                <a16:creationId xmlns:a16="http://schemas.microsoft.com/office/drawing/2014/main" id="{2F217F5C-7F8A-489E-BAC2-59937561C65B}"/>
              </a:ext>
            </a:extLst>
          </p:cNvPr>
          <p:cNvSpPr>
            <a:spLocks xmlns:a="http://schemas.openxmlformats.org/drawingml/2006/main" noGrp="1"/>
          </p:cNvSpPr>
          <p:nvPr/>
        </p:nvSpPr>
        <p:spPr>
          <a:xfrm xmlns:a="http://schemas.openxmlformats.org/drawingml/2006/main">
            <a:off x="594359" y="4014215"/>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90" name="Rectangle 89">
            <a:extLst xmlns:a="http://schemas.openxmlformats.org/drawingml/2006/main">
              <a:ext uri="{FF2B5EF4-FFF2-40B4-BE49-F238E27FC236}">
                <a16:creationId xmlns:a16="http://schemas.microsoft.com/office/drawing/2014/main" id="{F902DB61-06CF-4EE7-BC09-D9269A46952B}"/>
              </a:ext>
            </a:extLst>
          </p:cNvPr>
          <p:cNvSpPr>
            <a:spLocks xmlns:a="http://schemas.openxmlformats.org/drawingml/2006/main" noGrp="1"/>
          </p:cNvSpPr>
          <p:nvPr/>
        </p:nvSpPr>
        <p:spPr>
          <a:xfrm xmlns:a="http://schemas.openxmlformats.org/drawingml/2006/main">
            <a:off x="1636776" y="3968496"/>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TextBox 90">
            <a:extLst xmlns:a="http://schemas.openxmlformats.org/drawingml/2006/main">
              <a:ext uri="{FF2B5EF4-FFF2-40B4-BE49-F238E27FC236}">
                <a16:creationId xmlns:a16="http://schemas.microsoft.com/office/drawing/2014/main" id="{F677374C-7057-47F5-A7C0-23AEF067428B}"/>
              </a:ext>
            </a:extLst>
          </p:cNvPr>
          <p:cNvSpPr>
            <a:spLocks xmlns:a="http://schemas.openxmlformats.org/drawingml/2006/main" noGrp="1"/>
          </p:cNvSpPr>
          <p:nvPr/>
        </p:nvSpPr>
        <p:spPr>
          <a:xfrm xmlns:a="http://schemas.openxmlformats.org/drawingml/2006/main">
            <a:off x="1691640" y="4014215"/>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92" name="Rectangle 91">
            <a:extLst xmlns:a="http://schemas.openxmlformats.org/drawingml/2006/main">
              <a:ext uri="{FF2B5EF4-FFF2-40B4-BE49-F238E27FC236}">
                <a16:creationId xmlns:a16="http://schemas.microsoft.com/office/drawing/2014/main" id="{72E285BF-91B4-4980-9B93-CDDDB006037B}"/>
              </a:ext>
            </a:extLst>
          </p:cNvPr>
          <p:cNvSpPr>
            <a:spLocks xmlns:a="http://schemas.openxmlformats.org/drawingml/2006/main" noGrp="1"/>
          </p:cNvSpPr>
          <p:nvPr/>
        </p:nvSpPr>
        <p:spPr>
          <a:xfrm xmlns:a="http://schemas.openxmlformats.org/drawingml/2006/main">
            <a:off x="2962656" y="3968496"/>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3" name="TextBox 92">
            <a:extLst xmlns:a="http://schemas.openxmlformats.org/drawingml/2006/main">
              <a:ext uri="{FF2B5EF4-FFF2-40B4-BE49-F238E27FC236}">
                <a16:creationId xmlns:a16="http://schemas.microsoft.com/office/drawing/2014/main" id="{66D588D2-C58A-4F74-BD35-D1DDB259CEF6}"/>
              </a:ext>
            </a:extLst>
          </p:cNvPr>
          <p:cNvSpPr>
            <a:spLocks xmlns:a="http://schemas.openxmlformats.org/drawingml/2006/main" noGrp="1"/>
          </p:cNvSpPr>
          <p:nvPr/>
        </p:nvSpPr>
        <p:spPr>
          <a:xfrm xmlns:a="http://schemas.openxmlformats.org/drawingml/2006/main">
            <a:off x="3017520" y="4014215"/>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94" name="Rectangle 93">
            <a:extLst xmlns:a="http://schemas.openxmlformats.org/drawingml/2006/main">
              <a:ext uri="{FF2B5EF4-FFF2-40B4-BE49-F238E27FC236}">
                <a16:creationId xmlns:a16="http://schemas.microsoft.com/office/drawing/2014/main" id="{99B3C97B-7E09-4985-8907-DE9DE715BC51}"/>
              </a:ext>
            </a:extLst>
          </p:cNvPr>
          <p:cNvSpPr>
            <a:spLocks xmlns:a="http://schemas.openxmlformats.org/drawingml/2006/main" noGrp="1"/>
          </p:cNvSpPr>
          <p:nvPr/>
        </p:nvSpPr>
        <p:spPr>
          <a:xfrm xmlns:a="http://schemas.openxmlformats.org/drawingml/2006/main">
            <a:off x="4745736" y="3968496"/>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5" name="TextBox 94">
            <a:extLst xmlns:a="http://schemas.openxmlformats.org/drawingml/2006/main">
              <a:ext uri="{FF2B5EF4-FFF2-40B4-BE49-F238E27FC236}">
                <a16:creationId xmlns:a16="http://schemas.microsoft.com/office/drawing/2014/main" id="{B5F10E3A-AD32-4F42-9371-252446A87B7B}"/>
              </a:ext>
            </a:extLst>
          </p:cNvPr>
          <p:cNvSpPr>
            <a:spLocks xmlns:a="http://schemas.openxmlformats.org/drawingml/2006/main" noGrp="1"/>
          </p:cNvSpPr>
          <p:nvPr/>
        </p:nvSpPr>
        <p:spPr>
          <a:xfrm xmlns:a="http://schemas.openxmlformats.org/drawingml/2006/main">
            <a:off x="4800600" y="4014215"/>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96" name="Rectangle 95">
            <a:extLst xmlns:a="http://schemas.openxmlformats.org/drawingml/2006/main">
              <a:ext uri="{FF2B5EF4-FFF2-40B4-BE49-F238E27FC236}">
                <a16:creationId xmlns:a16="http://schemas.microsoft.com/office/drawing/2014/main" id="{5A4E2C11-9412-456B-8F0D-C24D28401180}"/>
              </a:ext>
            </a:extLst>
          </p:cNvPr>
          <p:cNvSpPr>
            <a:spLocks xmlns:a="http://schemas.openxmlformats.org/drawingml/2006/main" noGrp="1"/>
          </p:cNvSpPr>
          <p:nvPr/>
        </p:nvSpPr>
        <p:spPr>
          <a:xfrm xmlns:a="http://schemas.openxmlformats.org/drawingml/2006/main">
            <a:off x="6483096" y="3968496"/>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7" name="TextBox 96">
            <a:extLst xmlns:a="http://schemas.openxmlformats.org/drawingml/2006/main">
              <a:ext uri="{FF2B5EF4-FFF2-40B4-BE49-F238E27FC236}">
                <a16:creationId xmlns:a16="http://schemas.microsoft.com/office/drawing/2014/main" id="{F54AB65E-5CD1-4E15-A933-97BDBCEC43AE}"/>
              </a:ext>
            </a:extLst>
          </p:cNvPr>
          <p:cNvSpPr>
            <a:spLocks xmlns:a="http://schemas.openxmlformats.org/drawingml/2006/main" noGrp="1"/>
          </p:cNvSpPr>
          <p:nvPr/>
        </p:nvSpPr>
        <p:spPr>
          <a:xfrm xmlns:a="http://schemas.openxmlformats.org/drawingml/2006/main">
            <a:off x="6537959" y="4014215"/>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98" name="Rectangle 97">
            <a:extLst xmlns:a="http://schemas.openxmlformats.org/drawingml/2006/main">
              <a:ext uri="{FF2B5EF4-FFF2-40B4-BE49-F238E27FC236}">
                <a16:creationId xmlns:a16="http://schemas.microsoft.com/office/drawing/2014/main" id="{6EB4FE67-939C-492F-815B-F0A5F47FA91A}"/>
              </a:ext>
            </a:extLst>
          </p:cNvPr>
          <p:cNvSpPr>
            <a:spLocks xmlns:a="http://schemas.openxmlformats.org/drawingml/2006/main" noGrp="1"/>
          </p:cNvSpPr>
          <p:nvPr/>
        </p:nvSpPr>
        <p:spPr>
          <a:xfrm xmlns:a="http://schemas.openxmlformats.org/drawingml/2006/main">
            <a:off x="7534656" y="3968496"/>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9" name="TextBox 98">
            <a:extLst xmlns:a="http://schemas.openxmlformats.org/drawingml/2006/main">
              <a:ext uri="{FF2B5EF4-FFF2-40B4-BE49-F238E27FC236}">
                <a16:creationId xmlns:a16="http://schemas.microsoft.com/office/drawing/2014/main" id="{E97C47D1-A072-4592-A0F2-C567D2393D06}"/>
              </a:ext>
            </a:extLst>
          </p:cNvPr>
          <p:cNvSpPr>
            <a:spLocks xmlns:a="http://schemas.openxmlformats.org/drawingml/2006/main" noGrp="1"/>
          </p:cNvSpPr>
          <p:nvPr/>
        </p:nvSpPr>
        <p:spPr>
          <a:xfrm xmlns:a="http://schemas.openxmlformats.org/drawingml/2006/main">
            <a:off x="7589520" y="4014215"/>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100" name="Rectangle 99">
            <a:extLst xmlns:a="http://schemas.openxmlformats.org/drawingml/2006/main">
              <a:ext uri="{FF2B5EF4-FFF2-40B4-BE49-F238E27FC236}">
                <a16:creationId xmlns:a16="http://schemas.microsoft.com/office/drawing/2014/main" id="{0B6543D6-C062-4FA6-8820-EE39A76EB408}"/>
              </a:ext>
            </a:extLst>
          </p:cNvPr>
          <p:cNvSpPr>
            <a:spLocks xmlns:a="http://schemas.openxmlformats.org/drawingml/2006/main" noGrp="1"/>
          </p:cNvSpPr>
          <p:nvPr/>
        </p:nvSpPr>
        <p:spPr>
          <a:xfrm xmlns:a="http://schemas.openxmlformats.org/drawingml/2006/main">
            <a:off x="9528048" y="3968496"/>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1" name="TextBox 100">
            <a:extLst xmlns:a="http://schemas.openxmlformats.org/drawingml/2006/main">
              <a:ext uri="{FF2B5EF4-FFF2-40B4-BE49-F238E27FC236}">
                <a16:creationId xmlns:a16="http://schemas.microsoft.com/office/drawing/2014/main" id="{0B1575F2-085E-4EFB-ADFC-01542D964EDB}"/>
              </a:ext>
            </a:extLst>
          </p:cNvPr>
          <p:cNvSpPr>
            <a:spLocks xmlns:a="http://schemas.openxmlformats.org/drawingml/2006/main" noGrp="1"/>
          </p:cNvSpPr>
          <p:nvPr/>
        </p:nvSpPr>
        <p:spPr>
          <a:xfrm xmlns:a="http://schemas.openxmlformats.org/drawingml/2006/main">
            <a:off x="9582912" y="4014215"/>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18</a:t>
            </a:r>
          </a:p>
        </p:txBody>
      </p:sp>
      <p:sp>
        <p:nvSpPr>
          <p:cNvPr id="102" name="Rectangle 101">
            <a:extLst xmlns:a="http://schemas.openxmlformats.org/drawingml/2006/main">
              <a:ext uri="{FF2B5EF4-FFF2-40B4-BE49-F238E27FC236}">
                <a16:creationId xmlns:a16="http://schemas.microsoft.com/office/drawing/2014/main" id="{5B91EB37-DDC0-4F18-9471-0C4ACAEB45C3}"/>
              </a:ext>
            </a:extLst>
          </p:cNvPr>
          <p:cNvSpPr>
            <a:spLocks xmlns:a="http://schemas.openxmlformats.org/drawingml/2006/main" noGrp="1"/>
          </p:cNvSpPr>
          <p:nvPr/>
        </p:nvSpPr>
        <p:spPr>
          <a:xfrm xmlns:a="http://schemas.openxmlformats.org/drawingml/2006/main">
            <a:off x="539496" y="4361688"/>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3" name="TextBox 102">
            <a:extLst xmlns:a="http://schemas.openxmlformats.org/drawingml/2006/main">
              <a:ext uri="{FF2B5EF4-FFF2-40B4-BE49-F238E27FC236}">
                <a16:creationId xmlns:a16="http://schemas.microsoft.com/office/drawing/2014/main" id="{BA34D914-D38E-47B4-885F-85F8E45BF6A4}"/>
              </a:ext>
            </a:extLst>
          </p:cNvPr>
          <p:cNvSpPr>
            <a:spLocks xmlns:a="http://schemas.openxmlformats.org/drawingml/2006/main" noGrp="1"/>
          </p:cNvSpPr>
          <p:nvPr/>
        </p:nvSpPr>
        <p:spPr>
          <a:xfrm xmlns:a="http://schemas.openxmlformats.org/drawingml/2006/main">
            <a:off x="594359" y="4407407"/>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04" name="Rectangle 103">
            <a:extLst xmlns:a="http://schemas.openxmlformats.org/drawingml/2006/main">
              <a:ext uri="{FF2B5EF4-FFF2-40B4-BE49-F238E27FC236}">
                <a16:creationId xmlns:a16="http://schemas.microsoft.com/office/drawing/2014/main" id="{B33A4BFC-7D42-4F7B-904F-40C0AAEDF159}"/>
              </a:ext>
            </a:extLst>
          </p:cNvPr>
          <p:cNvSpPr>
            <a:spLocks xmlns:a="http://schemas.openxmlformats.org/drawingml/2006/main" noGrp="1"/>
          </p:cNvSpPr>
          <p:nvPr/>
        </p:nvSpPr>
        <p:spPr>
          <a:xfrm xmlns:a="http://schemas.openxmlformats.org/drawingml/2006/main">
            <a:off x="1636776" y="4361688"/>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TextBox 104">
            <a:extLst xmlns:a="http://schemas.openxmlformats.org/drawingml/2006/main">
              <a:ext uri="{FF2B5EF4-FFF2-40B4-BE49-F238E27FC236}">
                <a16:creationId xmlns:a16="http://schemas.microsoft.com/office/drawing/2014/main" id="{1E2107B1-2656-4377-9715-7955E47336A4}"/>
              </a:ext>
            </a:extLst>
          </p:cNvPr>
          <p:cNvSpPr>
            <a:spLocks xmlns:a="http://schemas.openxmlformats.org/drawingml/2006/main" noGrp="1"/>
          </p:cNvSpPr>
          <p:nvPr/>
        </p:nvSpPr>
        <p:spPr>
          <a:xfrm xmlns:a="http://schemas.openxmlformats.org/drawingml/2006/main">
            <a:off x="1691640" y="4407407"/>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06" name="Rectangle 105">
            <a:extLst xmlns:a="http://schemas.openxmlformats.org/drawingml/2006/main">
              <a:ext uri="{FF2B5EF4-FFF2-40B4-BE49-F238E27FC236}">
                <a16:creationId xmlns:a16="http://schemas.microsoft.com/office/drawing/2014/main" id="{A978462F-5206-4D6B-8BFB-B87ED251E488}"/>
              </a:ext>
            </a:extLst>
          </p:cNvPr>
          <p:cNvSpPr>
            <a:spLocks xmlns:a="http://schemas.openxmlformats.org/drawingml/2006/main" noGrp="1"/>
          </p:cNvSpPr>
          <p:nvPr/>
        </p:nvSpPr>
        <p:spPr>
          <a:xfrm xmlns:a="http://schemas.openxmlformats.org/drawingml/2006/main">
            <a:off x="2962656" y="4361688"/>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 name="TextBox 106">
            <a:extLst xmlns:a="http://schemas.openxmlformats.org/drawingml/2006/main">
              <a:ext uri="{FF2B5EF4-FFF2-40B4-BE49-F238E27FC236}">
                <a16:creationId xmlns:a16="http://schemas.microsoft.com/office/drawing/2014/main" id="{1038FDBB-2DD8-43BE-9859-785D12375E6B}"/>
              </a:ext>
            </a:extLst>
          </p:cNvPr>
          <p:cNvSpPr>
            <a:spLocks xmlns:a="http://schemas.openxmlformats.org/drawingml/2006/main" noGrp="1"/>
          </p:cNvSpPr>
          <p:nvPr/>
        </p:nvSpPr>
        <p:spPr>
          <a:xfrm xmlns:a="http://schemas.openxmlformats.org/drawingml/2006/main">
            <a:off x="3017520" y="4407407"/>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08" name="Rectangle 107">
            <a:extLst xmlns:a="http://schemas.openxmlformats.org/drawingml/2006/main">
              <a:ext uri="{FF2B5EF4-FFF2-40B4-BE49-F238E27FC236}">
                <a16:creationId xmlns:a16="http://schemas.microsoft.com/office/drawing/2014/main" id="{120005CA-D45D-4B3F-893B-312828447A58}"/>
              </a:ext>
            </a:extLst>
          </p:cNvPr>
          <p:cNvSpPr>
            <a:spLocks xmlns:a="http://schemas.openxmlformats.org/drawingml/2006/main" noGrp="1"/>
          </p:cNvSpPr>
          <p:nvPr/>
        </p:nvSpPr>
        <p:spPr>
          <a:xfrm xmlns:a="http://schemas.openxmlformats.org/drawingml/2006/main">
            <a:off x="4745736" y="4361688"/>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 name="TextBox 108">
            <a:extLst xmlns:a="http://schemas.openxmlformats.org/drawingml/2006/main">
              <a:ext uri="{FF2B5EF4-FFF2-40B4-BE49-F238E27FC236}">
                <a16:creationId xmlns:a16="http://schemas.microsoft.com/office/drawing/2014/main" id="{8EFABEDA-52F4-4846-91ED-78BBB08D4C46}"/>
              </a:ext>
            </a:extLst>
          </p:cNvPr>
          <p:cNvSpPr>
            <a:spLocks xmlns:a="http://schemas.openxmlformats.org/drawingml/2006/main" noGrp="1"/>
          </p:cNvSpPr>
          <p:nvPr/>
        </p:nvSpPr>
        <p:spPr>
          <a:xfrm xmlns:a="http://schemas.openxmlformats.org/drawingml/2006/main">
            <a:off x="4800600" y="4407407"/>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10" name="Rectangle 109">
            <a:extLst xmlns:a="http://schemas.openxmlformats.org/drawingml/2006/main">
              <a:ext uri="{FF2B5EF4-FFF2-40B4-BE49-F238E27FC236}">
                <a16:creationId xmlns:a16="http://schemas.microsoft.com/office/drawing/2014/main" id="{D2E52D41-83E5-4637-A1DE-5792FADADBB2}"/>
              </a:ext>
            </a:extLst>
          </p:cNvPr>
          <p:cNvSpPr>
            <a:spLocks xmlns:a="http://schemas.openxmlformats.org/drawingml/2006/main" noGrp="1"/>
          </p:cNvSpPr>
          <p:nvPr/>
        </p:nvSpPr>
        <p:spPr>
          <a:xfrm xmlns:a="http://schemas.openxmlformats.org/drawingml/2006/main">
            <a:off x="6483096" y="4361688"/>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 name="TextBox 110">
            <a:extLst xmlns:a="http://schemas.openxmlformats.org/drawingml/2006/main">
              <a:ext uri="{FF2B5EF4-FFF2-40B4-BE49-F238E27FC236}">
                <a16:creationId xmlns:a16="http://schemas.microsoft.com/office/drawing/2014/main" id="{CD8EC12A-BE30-4E72-8EB5-5E873129DCB2}"/>
              </a:ext>
            </a:extLst>
          </p:cNvPr>
          <p:cNvSpPr>
            <a:spLocks xmlns:a="http://schemas.openxmlformats.org/drawingml/2006/main" noGrp="1"/>
          </p:cNvSpPr>
          <p:nvPr/>
        </p:nvSpPr>
        <p:spPr>
          <a:xfrm xmlns:a="http://schemas.openxmlformats.org/drawingml/2006/main">
            <a:off x="6537959" y="4407407"/>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12" name="Rectangle 111">
            <a:extLst xmlns:a="http://schemas.openxmlformats.org/drawingml/2006/main">
              <a:ext uri="{FF2B5EF4-FFF2-40B4-BE49-F238E27FC236}">
                <a16:creationId xmlns:a16="http://schemas.microsoft.com/office/drawing/2014/main" id="{0237321B-E474-4A78-9CF2-25A019D594A0}"/>
              </a:ext>
            </a:extLst>
          </p:cNvPr>
          <p:cNvSpPr>
            <a:spLocks xmlns:a="http://schemas.openxmlformats.org/drawingml/2006/main" noGrp="1"/>
          </p:cNvSpPr>
          <p:nvPr/>
        </p:nvSpPr>
        <p:spPr>
          <a:xfrm xmlns:a="http://schemas.openxmlformats.org/drawingml/2006/main">
            <a:off x="7534656" y="4361688"/>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3" name="TextBox 112">
            <a:extLst xmlns:a="http://schemas.openxmlformats.org/drawingml/2006/main">
              <a:ext uri="{FF2B5EF4-FFF2-40B4-BE49-F238E27FC236}">
                <a16:creationId xmlns:a16="http://schemas.microsoft.com/office/drawing/2014/main" id="{EA8DEF18-F978-4B45-B61E-EAF62232D547}"/>
              </a:ext>
            </a:extLst>
          </p:cNvPr>
          <p:cNvSpPr>
            <a:spLocks xmlns:a="http://schemas.openxmlformats.org/drawingml/2006/main" noGrp="1"/>
          </p:cNvSpPr>
          <p:nvPr/>
        </p:nvSpPr>
        <p:spPr>
          <a:xfrm xmlns:a="http://schemas.openxmlformats.org/drawingml/2006/main">
            <a:off x="7589520" y="4407407"/>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114" name="Rectangle 113">
            <a:extLst xmlns:a="http://schemas.openxmlformats.org/drawingml/2006/main">
              <a:ext uri="{FF2B5EF4-FFF2-40B4-BE49-F238E27FC236}">
                <a16:creationId xmlns:a16="http://schemas.microsoft.com/office/drawing/2014/main" id="{B4ABD203-6884-47A5-85A7-2BD9B90CEAB5}"/>
              </a:ext>
            </a:extLst>
          </p:cNvPr>
          <p:cNvSpPr>
            <a:spLocks xmlns:a="http://schemas.openxmlformats.org/drawingml/2006/main" noGrp="1"/>
          </p:cNvSpPr>
          <p:nvPr/>
        </p:nvSpPr>
        <p:spPr>
          <a:xfrm xmlns:a="http://schemas.openxmlformats.org/drawingml/2006/main">
            <a:off x="9528048" y="4361688"/>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5" name="TextBox 114">
            <a:extLst xmlns:a="http://schemas.openxmlformats.org/drawingml/2006/main">
              <a:ext uri="{FF2B5EF4-FFF2-40B4-BE49-F238E27FC236}">
                <a16:creationId xmlns:a16="http://schemas.microsoft.com/office/drawing/2014/main" id="{70D19842-5723-41CB-8566-83B56CBBADA8}"/>
              </a:ext>
            </a:extLst>
          </p:cNvPr>
          <p:cNvSpPr>
            <a:spLocks xmlns:a="http://schemas.openxmlformats.org/drawingml/2006/main" noGrp="1"/>
          </p:cNvSpPr>
          <p:nvPr/>
        </p:nvSpPr>
        <p:spPr>
          <a:xfrm xmlns:a="http://schemas.openxmlformats.org/drawingml/2006/main">
            <a:off x="9582912" y="4407407"/>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18</a:t>
            </a:r>
          </a:p>
        </p:txBody>
      </p:sp>
      <p:sp>
        <p:nvSpPr>
          <p:cNvPr id="116" name="Rectangle 115">
            <a:extLst xmlns:a="http://schemas.openxmlformats.org/drawingml/2006/main">
              <a:ext uri="{FF2B5EF4-FFF2-40B4-BE49-F238E27FC236}">
                <a16:creationId xmlns:a16="http://schemas.microsoft.com/office/drawing/2014/main" id="{FB99DBB0-5235-463C-BE67-BDBD62E844FB}"/>
              </a:ext>
            </a:extLst>
          </p:cNvPr>
          <p:cNvSpPr>
            <a:spLocks xmlns:a="http://schemas.openxmlformats.org/drawingml/2006/main" noGrp="1"/>
          </p:cNvSpPr>
          <p:nvPr/>
        </p:nvSpPr>
        <p:spPr>
          <a:xfrm xmlns:a="http://schemas.openxmlformats.org/drawingml/2006/main">
            <a:off x="539496" y="4754879"/>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7" name="TextBox 116">
            <a:extLst xmlns:a="http://schemas.openxmlformats.org/drawingml/2006/main">
              <a:ext uri="{FF2B5EF4-FFF2-40B4-BE49-F238E27FC236}">
                <a16:creationId xmlns:a16="http://schemas.microsoft.com/office/drawing/2014/main" id="{A67ADCE6-DA5E-4E9A-A618-3CC89AEA3694}"/>
              </a:ext>
            </a:extLst>
          </p:cNvPr>
          <p:cNvSpPr>
            <a:spLocks xmlns:a="http://schemas.openxmlformats.org/drawingml/2006/main" noGrp="1"/>
          </p:cNvSpPr>
          <p:nvPr/>
        </p:nvSpPr>
        <p:spPr>
          <a:xfrm xmlns:a="http://schemas.openxmlformats.org/drawingml/2006/main">
            <a:off x="594359" y="4800599"/>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18" name="Rectangle 117">
            <a:extLst xmlns:a="http://schemas.openxmlformats.org/drawingml/2006/main">
              <a:ext uri="{FF2B5EF4-FFF2-40B4-BE49-F238E27FC236}">
                <a16:creationId xmlns:a16="http://schemas.microsoft.com/office/drawing/2014/main" id="{174A0344-C9A4-4E03-A2F3-D42434999D8E}"/>
              </a:ext>
            </a:extLst>
          </p:cNvPr>
          <p:cNvSpPr>
            <a:spLocks xmlns:a="http://schemas.openxmlformats.org/drawingml/2006/main" noGrp="1"/>
          </p:cNvSpPr>
          <p:nvPr/>
        </p:nvSpPr>
        <p:spPr>
          <a:xfrm xmlns:a="http://schemas.openxmlformats.org/drawingml/2006/main">
            <a:off x="1636776" y="4754879"/>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9" name="TextBox 118">
            <a:extLst xmlns:a="http://schemas.openxmlformats.org/drawingml/2006/main">
              <a:ext uri="{FF2B5EF4-FFF2-40B4-BE49-F238E27FC236}">
                <a16:creationId xmlns:a16="http://schemas.microsoft.com/office/drawing/2014/main" id="{AE161817-B22E-4EE0-833B-7A9225A559C7}"/>
              </a:ext>
            </a:extLst>
          </p:cNvPr>
          <p:cNvSpPr>
            <a:spLocks xmlns:a="http://schemas.openxmlformats.org/drawingml/2006/main" noGrp="1"/>
          </p:cNvSpPr>
          <p:nvPr/>
        </p:nvSpPr>
        <p:spPr>
          <a:xfrm xmlns:a="http://schemas.openxmlformats.org/drawingml/2006/main">
            <a:off x="1691640" y="4800599"/>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10</a:t>
            </a:r>
          </a:p>
        </p:txBody>
      </p:sp>
      <p:sp>
        <p:nvSpPr>
          <p:cNvPr id="120" name="Rectangle 119">
            <a:extLst xmlns:a="http://schemas.openxmlformats.org/drawingml/2006/main">
              <a:ext uri="{FF2B5EF4-FFF2-40B4-BE49-F238E27FC236}">
                <a16:creationId xmlns:a16="http://schemas.microsoft.com/office/drawing/2014/main" id="{D6F0C7F6-D6EC-4371-AF96-7596965B6978}"/>
              </a:ext>
            </a:extLst>
          </p:cNvPr>
          <p:cNvSpPr>
            <a:spLocks xmlns:a="http://schemas.openxmlformats.org/drawingml/2006/main" noGrp="1"/>
          </p:cNvSpPr>
          <p:nvPr/>
        </p:nvSpPr>
        <p:spPr>
          <a:xfrm xmlns:a="http://schemas.openxmlformats.org/drawingml/2006/main">
            <a:off x="2962656" y="4754879"/>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1" name="TextBox 120">
            <a:extLst xmlns:a="http://schemas.openxmlformats.org/drawingml/2006/main">
              <a:ext uri="{FF2B5EF4-FFF2-40B4-BE49-F238E27FC236}">
                <a16:creationId xmlns:a16="http://schemas.microsoft.com/office/drawing/2014/main" id="{2927A733-40C4-4128-B692-8421E94E39A5}"/>
              </a:ext>
            </a:extLst>
          </p:cNvPr>
          <p:cNvSpPr>
            <a:spLocks xmlns:a="http://schemas.openxmlformats.org/drawingml/2006/main" noGrp="1"/>
          </p:cNvSpPr>
          <p:nvPr/>
        </p:nvSpPr>
        <p:spPr>
          <a:xfrm xmlns:a="http://schemas.openxmlformats.org/drawingml/2006/main">
            <a:off x="3017520" y="4800599"/>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22" name="Rectangle 121">
            <a:extLst xmlns:a="http://schemas.openxmlformats.org/drawingml/2006/main">
              <a:ext uri="{FF2B5EF4-FFF2-40B4-BE49-F238E27FC236}">
                <a16:creationId xmlns:a16="http://schemas.microsoft.com/office/drawing/2014/main" id="{5FA7BB60-3D2C-470E-AA97-75247ECFCB67}"/>
              </a:ext>
            </a:extLst>
          </p:cNvPr>
          <p:cNvSpPr>
            <a:spLocks xmlns:a="http://schemas.openxmlformats.org/drawingml/2006/main" noGrp="1"/>
          </p:cNvSpPr>
          <p:nvPr/>
        </p:nvSpPr>
        <p:spPr>
          <a:xfrm xmlns:a="http://schemas.openxmlformats.org/drawingml/2006/main">
            <a:off x="4745736" y="4754879"/>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3" name="TextBox 122">
            <a:extLst xmlns:a="http://schemas.openxmlformats.org/drawingml/2006/main">
              <a:ext uri="{FF2B5EF4-FFF2-40B4-BE49-F238E27FC236}">
                <a16:creationId xmlns:a16="http://schemas.microsoft.com/office/drawing/2014/main" id="{1C40FB65-9679-4BB1-A27E-6592B78EB6FA}"/>
              </a:ext>
            </a:extLst>
          </p:cNvPr>
          <p:cNvSpPr>
            <a:spLocks xmlns:a="http://schemas.openxmlformats.org/drawingml/2006/main" noGrp="1"/>
          </p:cNvSpPr>
          <p:nvPr/>
        </p:nvSpPr>
        <p:spPr>
          <a:xfrm xmlns:a="http://schemas.openxmlformats.org/drawingml/2006/main">
            <a:off x="4800600" y="4800599"/>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24" name="Rectangle 123">
            <a:extLst xmlns:a="http://schemas.openxmlformats.org/drawingml/2006/main">
              <a:ext uri="{FF2B5EF4-FFF2-40B4-BE49-F238E27FC236}">
                <a16:creationId xmlns:a16="http://schemas.microsoft.com/office/drawing/2014/main" id="{BD430CE1-BAF1-49D7-971F-05A2F578126C}"/>
              </a:ext>
            </a:extLst>
          </p:cNvPr>
          <p:cNvSpPr>
            <a:spLocks xmlns:a="http://schemas.openxmlformats.org/drawingml/2006/main" noGrp="1"/>
          </p:cNvSpPr>
          <p:nvPr/>
        </p:nvSpPr>
        <p:spPr>
          <a:xfrm xmlns:a="http://schemas.openxmlformats.org/drawingml/2006/main">
            <a:off x="6483096" y="4754879"/>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5" name="TextBox 124">
            <a:extLst xmlns:a="http://schemas.openxmlformats.org/drawingml/2006/main">
              <a:ext uri="{FF2B5EF4-FFF2-40B4-BE49-F238E27FC236}">
                <a16:creationId xmlns:a16="http://schemas.microsoft.com/office/drawing/2014/main" id="{270F0ADF-B1A3-4A2D-8749-D0C5118E07A5}"/>
              </a:ext>
            </a:extLst>
          </p:cNvPr>
          <p:cNvSpPr>
            <a:spLocks xmlns:a="http://schemas.openxmlformats.org/drawingml/2006/main" noGrp="1"/>
          </p:cNvSpPr>
          <p:nvPr/>
        </p:nvSpPr>
        <p:spPr>
          <a:xfrm xmlns:a="http://schemas.openxmlformats.org/drawingml/2006/main">
            <a:off x="6537959" y="4800599"/>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26" name="Rectangle 125">
            <a:extLst xmlns:a="http://schemas.openxmlformats.org/drawingml/2006/main">
              <a:ext uri="{FF2B5EF4-FFF2-40B4-BE49-F238E27FC236}">
                <a16:creationId xmlns:a16="http://schemas.microsoft.com/office/drawing/2014/main" id="{F236603D-2A6A-4472-8E5C-EDDED22CEB22}"/>
              </a:ext>
            </a:extLst>
          </p:cNvPr>
          <p:cNvSpPr>
            <a:spLocks xmlns:a="http://schemas.openxmlformats.org/drawingml/2006/main" noGrp="1"/>
          </p:cNvSpPr>
          <p:nvPr/>
        </p:nvSpPr>
        <p:spPr>
          <a:xfrm xmlns:a="http://schemas.openxmlformats.org/drawingml/2006/main">
            <a:off x="7534656" y="4754879"/>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7" name="TextBox 126">
            <a:extLst xmlns:a="http://schemas.openxmlformats.org/drawingml/2006/main">
              <a:ext uri="{FF2B5EF4-FFF2-40B4-BE49-F238E27FC236}">
                <a16:creationId xmlns:a16="http://schemas.microsoft.com/office/drawing/2014/main" id="{8113F2B4-22B9-4C78-8296-CCE11C97A6FA}"/>
              </a:ext>
            </a:extLst>
          </p:cNvPr>
          <p:cNvSpPr>
            <a:spLocks xmlns:a="http://schemas.openxmlformats.org/drawingml/2006/main" noGrp="1"/>
          </p:cNvSpPr>
          <p:nvPr/>
        </p:nvSpPr>
        <p:spPr>
          <a:xfrm xmlns:a="http://schemas.openxmlformats.org/drawingml/2006/main">
            <a:off x="7589520" y="4800599"/>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8</a:t>
            </a:r>
          </a:p>
        </p:txBody>
      </p:sp>
      <p:sp>
        <p:nvSpPr>
          <p:cNvPr id="128" name="Rectangle 127">
            <a:extLst xmlns:a="http://schemas.openxmlformats.org/drawingml/2006/main">
              <a:ext uri="{FF2B5EF4-FFF2-40B4-BE49-F238E27FC236}">
                <a16:creationId xmlns:a16="http://schemas.microsoft.com/office/drawing/2014/main" id="{F27D690A-CE2F-4B05-AD17-A27266B55A39}"/>
              </a:ext>
            </a:extLst>
          </p:cNvPr>
          <p:cNvSpPr>
            <a:spLocks xmlns:a="http://schemas.openxmlformats.org/drawingml/2006/main" noGrp="1"/>
          </p:cNvSpPr>
          <p:nvPr/>
        </p:nvSpPr>
        <p:spPr>
          <a:xfrm xmlns:a="http://schemas.openxmlformats.org/drawingml/2006/main">
            <a:off x="9528048" y="4754879"/>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9" name="TextBox 128">
            <a:extLst xmlns:a="http://schemas.openxmlformats.org/drawingml/2006/main">
              <a:ext uri="{FF2B5EF4-FFF2-40B4-BE49-F238E27FC236}">
                <a16:creationId xmlns:a16="http://schemas.microsoft.com/office/drawing/2014/main" id="{C4A5D840-07D0-4EC1-8F7D-C9783A6325D3}"/>
              </a:ext>
            </a:extLst>
          </p:cNvPr>
          <p:cNvSpPr>
            <a:spLocks xmlns:a="http://schemas.openxmlformats.org/drawingml/2006/main" noGrp="1"/>
          </p:cNvSpPr>
          <p:nvPr/>
        </p:nvSpPr>
        <p:spPr>
          <a:xfrm xmlns:a="http://schemas.openxmlformats.org/drawingml/2006/main">
            <a:off x="9582912" y="4800599"/>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30" name="Rectangle 129">
            <a:extLst xmlns:a="http://schemas.openxmlformats.org/drawingml/2006/main">
              <a:ext uri="{FF2B5EF4-FFF2-40B4-BE49-F238E27FC236}">
                <a16:creationId xmlns:a16="http://schemas.microsoft.com/office/drawing/2014/main" id="{F3E8E601-9E78-4962-AC2C-302DE9F1B157}"/>
              </a:ext>
            </a:extLst>
          </p:cNvPr>
          <p:cNvSpPr>
            <a:spLocks xmlns:a="http://schemas.openxmlformats.org/drawingml/2006/main" noGrp="1"/>
          </p:cNvSpPr>
          <p:nvPr/>
        </p:nvSpPr>
        <p:spPr>
          <a:xfrm xmlns:a="http://schemas.openxmlformats.org/drawingml/2006/main">
            <a:off x="539496" y="5148072"/>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1" name="TextBox 130">
            <a:extLst xmlns:a="http://schemas.openxmlformats.org/drawingml/2006/main">
              <a:ext uri="{FF2B5EF4-FFF2-40B4-BE49-F238E27FC236}">
                <a16:creationId xmlns:a16="http://schemas.microsoft.com/office/drawing/2014/main" id="{91468D41-AF83-43FC-AACC-938B70E8C15A}"/>
              </a:ext>
            </a:extLst>
          </p:cNvPr>
          <p:cNvSpPr>
            <a:spLocks xmlns:a="http://schemas.openxmlformats.org/drawingml/2006/main" noGrp="1"/>
          </p:cNvSpPr>
          <p:nvPr/>
        </p:nvSpPr>
        <p:spPr>
          <a:xfrm xmlns:a="http://schemas.openxmlformats.org/drawingml/2006/main">
            <a:off x="594359" y="5193792"/>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32" name="Rectangle 131">
            <a:extLst xmlns:a="http://schemas.openxmlformats.org/drawingml/2006/main">
              <a:ext uri="{FF2B5EF4-FFF2-40B4-BE49-F238E27FC236}">
                <a16:creationId xmlns:a16="http://schemas.microsoft.com/office/drawing/2014/main" id="{EB7E49AF-BC3E-4284-82A6-F2435A48E3CF}"/>
              </a:ext>
            </a:extLst>
          </p:cNvPr>
          <p:cNvSpPr>
            <a:spLocks xmlns:a="http://schemas.openxmlformats.org/drawingml/2006/main" noGrp="1"/>
          </p:cNvSpPr>
          <p:nvPr/>
        </p:nvSpPr>
        <p:spPr>
          <a:xfrm xmlns:a="http://schemas.openxmlformats.org/drawingml/2006/main">
            <a:off x="1636776" y="5148072"/>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3" name="TextBox 132">
            <a:extLst xmlns:a="http://schemas.openxmlformats.org/drawingml/2006/main">
              <a:ext uri="{FF2B5EF4-FFF2-40B4-BE49-F238E27FC236}">
                <a16:creationId xmlns:a16="http://schemas.microsoft.com/office/drawing/2014/main" id="{6D55FECA-02B6-4531-841F-42C8B2995D62}"/>
              </a:ext>
            </a:extLst>
          </p:cNvPr>
          <p:cNvSpPr>
            <a:spLocks xmlns:a="http://schemas.openxmlformats.org/drawingml/2006/main" noGrp="1"/>
          </p:cNvSpPr>
          <p:nvPr/>
        </p:nvSpPr>
        <p:spPr>
          <a:xfrm xmlns:a="http://schemas.openxmlformats.org/drawingml/2006/main">
            <a:off x="1691640" y="5193792"/>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134" name="Rectangle 133">
            <a:extLst xmlns:a="http://schemas.openxmlformats.org/drawingml/2006/main">
              <a:ext uri="{FF2B5EF4-FFF2-40B4-BE49-F238E27FC236}">
                <a16:creationId xmlns:a16="http://schemas.microsoft.com/office/drawing/2014/main" id="{BE27EE3D-19E6-4A9B-B99B-72B4EEBF43A2}"/>
              </a:ext>
            </a:extLst>
          </p:cNvPr>
          <p:cNvSpPr>
            <a:spLocks xmlns:a="http://schemas.openxmlformats.org/drawingml/2006/main" noGrp="1"/>
          </p:cNvSpPr>
          <p:nvPr/>
        </p:nvSpPr>
        <p:spPr>
          <a:xfrm xmlns:a="http://schemas.openxmlformats.org/drawingml/2006/main">
            <a:off x="2962656" y="5148072"/>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5" name="TextBox 134">
            <a:extLst xmlns:a="http://schemas.openxmlformats.org/drawingml/2006/main">
              <a:ext uri="{FF2B5EF4-FFF2-40B4-BE49-F238E27FC236}">
                <a16:creationId xmlns:a16="http://schemas.microsoft.com/office/drawing/2014/main" id="{C6F33C06-695A-4A85-AA5F-5D30B2D1989C}"/>
              </a:ext>
            </a:extLst>
          </p:cNvPr>
          <p:cNvSpPr>
            <a:spLocks xmlns:a="http://schemas.openxmlformats.org/drawingml/2006/main" noGrp="1"/>
          </p:cNvSpPr>
          <p:nvPr/>
        </p:nvSpPr>
        <p:spPr>
          <a:xfrm xmlns:a="http://schemas.openxmlformats.org/drawingml/2006/main">
            <a:off x="3017520" y="5193792"/>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36" name="Rectangle 135">
            <a:extLst xmlns:a="http://schemas.openxmlformats.org/drawingml/2006/main">
              <a:ext uri="{FF2B5EF4-FFF2-40B4-BE49-F238E27FC236}">
                <a16:creationId xmlns:a16="http://schemas.microsoft.com/office/drawing/2014/main" id="{218870A9-A634-4AEE-994D-B77E9BC87EC1}"/>
              </a:ext>
            </a:extLst>
          </p:cNvPr>
          <p:cNvSpPr>
            <a:spLocks xmlns:a="http://schemas.openxmlformats.org/drawingml/2006/main" noGrp="1"/>
          </p:cNvSpPr>
          <p:nvPr/>
        </p:nvSpPr>
        <p:spPr>
          <a:xfrm xmlns:a="http://schemas.openxmlformats.org/drawingml/2006/main">
            <a:off x="4745736" y="5148072"/>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7" name="TextBox 136">
            <a:extLst xmlns:a="http://schemas.openxmlformats.org/drawingml/2006/main">
              <a:ext uri="{FF2B5EF4-FFF2-40B4-BE49-F238E27FC236}">
                <a16:creationId xmlns:a16="http://schemas.microsoft.com/office/drawing/2014/main" id="{7335227D-596D-4F4C-8BA1-A14CBF0125EE}"/>
              </a:ext>
            </a:extLst>
          </p:cNvPr>
          <p:cNvSpPr>
            <a:spLocks xmlns:a="http://schemas.openxmlformats.org/drawingml/2006/main" noGrp="1"/>
          </p:cNvSpPr>
          <p:nvPr/>
        </p:nvSpPr>
        <p:spPr>
          <a:xfrm xmlns:a="http://schemas.openxmlformats.org/drawingml/2006/main">
            <a:off x="4800600" y="5193792"/>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38" name="Rectangle 137">
            <a:extLst xmlns:a="http://schemas.openxmlformats.org/drawingml/2006/main">
              <a:ext uri="{FF2B5EF4-FFF2-40B4-BE49-F238E27FC236}">
                <a16:creationId xmlns:a16="http://schemas.microsoft.com/office/drawing/2014/main" id="{FF3FDDEE-7E9C-4C7F-9780-1250EB398AC3}"/>
              </a:ext>
            </a:extLst>
          </p:cNvPr>
          <p:cNvSpPr>
            <a:spLocks xmlns:a="http://schemas.openxmlformats.org/drawingml/2006/main" noGrp="1"/>
          </p:cNvSpPr>
          <p:nvPr/>
        </p:nvSpPr>
        <p:spPr>
          <a:xfrm xmlns:a="http://schemas.openxmlformats.org/drawingml/2006/main">
            <a:off x="6483096" y="5148072"/>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9" name="TextBox 138">
            <a:extLst xmlns:a="http://schemas.openxmlformats.org/drawingml/2006/main">
              <a:ext uri="{FF2B5EF4-FFF2-40B4-BE49-F238E27FC236}">
                <a16:creationId xmlns:a16="http://schemas.microsoft.com/office/drawing/2014/main" id="{7B41ABE7-C898-4D84-9726-ABA7BCFB0EBB}"/>
              </a:ext>
            </a:extLst>
          </p:cNvPr>
          <p:cNvSpPr>
            <a:spLocks xmlns:a="http://schemas.openxmlformats.org/drawingml/2006/main" noGrp="1"/>
          </p:cNvSpPr>
          <p:nvPr/>
        </p:nvSpPr>
        <p:spPr>
          <a:xfrm xmlns:a="http://schemas.openxmlformats.org/drawingml/2006/main">
            <a:off x="6537959" y="5193792"/>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40" name="Rectangle 139">
            <a:extLst xmlns:a="http://schemas.openxmlformats.org/drawingml/2006/main">
              <a:ext uri="{FF2B5EF4-FFF2-40B4-BE49-F238E27FC236}">
                <a16:creationId xmlns:a16="http://schemas.microsoft.com/office/drawing/2014/main" id="{4C10B616-1D1E-49CD-82F3-79B1AFD9FBEE}"/>
              </a:ext>
            </a:extLst>
          </p:cNvPr>
          <p:cNvSpPr>
            <a:spLocks xmlns:a="http://schemas.openxmlformats.org/drawingml/2006/main" noGrp="1"/>
          </p:cNvSpPr>
          <p:nvPr/>
        </p:nvSpPr>
        <p:spPr>
          <a:xfrm xmlns:a="http://schemas.openxmlformats.org/drawingml/2006/main">
            <a:off x="7534656" y="5148072"/>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1" name="TextBox 140">
            <a:extLst xmlns:a="http://schemas.openxmlformats.org/drawingml/2006/main">
              <a:ext uri="{FF2B5EF4-FFF2-40B4-BE49-F238E27FC236}">
                <a16:creationId xmlns:a16="http://schemas.microsoft.com/office/drawing/2014/main" id="{0C7B774C-F7F0-4D7E-AFE6-BC4D42F50A5B}"/>
              </a:ext>
            </a:extLst>
          </p:cNvPr>
          <p:cNvSpPr>
            <a:spLocks xmlns:a="http://schemas.openxmlformats.org/drawingml/2006/main" noGrp="1"/>
          </p:cNvSpPr>
          <p:nvPr/>
        </p:nvSpPr>
        <p:spPr>
          <a:xfrm xmlns:a="http://schemas.openxmlformats.org/drawingml/2006/main">
            <a:off x="7589520" y="5193792"/>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8</a:t>
            </a:r>
          </a:p>
        </p:txBody>
      </p:sp>
      <p:sp>
        <p:nvSpPr>
          <p:cNvPr id="142" name="Rectangle 141">
            <a:extLst xmlns:a="http://schemas.openxmlformats.org/drawingml/2006/main">
              <a:ext uri="{FF2B5EF4-FFF2-40B4-BE49-F238E27FC236}">
                <a16:creationId xmlns:a16="http://schemas.microsoft.com/office/drawing/2014/main" id="{06E51B0F-B3CA-4848-800D-055C62D7D358}"/>
              </a:ext>
            </a:extLst>
          </p:cNvPr>
          <p:cNvSpPr>
            <a:spLocks xmlns:a="http://schemas.openxmlformats.org/drawingml/2006/main" noGrp="1"/>
          </p:cNvSpPr>
          <p:nvPr/>
        </p:nvSpPr>
        <p:spPr>
          <a:xfrm xmlns:a="http://schemas.openxmlformats.org/drawingml/2006/main">
            <a:off x="9528048" y="5148072"/>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3" name="TextBox 142">
            <a:extLst xmlns:a="http://schemas.openxmlformats.org/drawingml/2006/main">
              <a:ext uri="{FF2B5EF4-FFF2-40B4-BE49-F238E27FC236}">
                <a16:creationId xmlns:a16="http://schemas.microsoft.com/office/drawing/2014/main" id="{3E87654A-AA19-4504-BB1A-184F03A923DD}"/>
              </a:ext>
            </a:extLst>
          </p:cNvPr>
          <p:cNvSpPr>
            <a:spLocks xmlns:a="http://schemas.openxmlformats.org/drawingml/2006/main" noGrp="1"/>
          </p:cNvSpPr>
          <p:nvPr/>
        </p:nvSpPr>
        <p:spPr>
          <a:xfrm xmlns:a="http://schemas.openxmlformats.org/drawingml/2006/main">
            <a:off x="9582912" y="5193792"/>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44" name="Rectangle 143">
            <a:extLst xmlns:a="http://schemas.openxmlformats.org/drawingml/2006/main">
              <a:ext uri="{FF2B5EF4-FFF2-40B4-BE49-F238E27FC236}">
                <a16:creationId xmlns:a16="http://schemas.microsoft.com/office/drawing/2014/main" id="{47973AE5-F7DD-4418-8193-35094A910C0A}"/>
              </a:ext>
            </a:extLst>
          </p:cNvPr>
          <p:cNvSpPr>
            <a:spLocks xmlns:a="http://schemas.openxmlformats.org/drawingml/2006/main" noGrp="1"/>
          </p:cNvSpPr>
          <p:nvPr/>
        </p:nvSpPr>
        <p:spPr>
          <a:xfrm xmlns:a="http://schemas.openxmlformats.org/drawingml/2006/main">
            <a:off x="539496" y="5541264"/>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5" name="TextBox 144">
            <a:extLst xmlns:a="http://schemas.openxmlformats.org/drawingml/2006/main">
              <a:ext uri="{FF2B5EF4-FFF2-40B4-BE49-F238E27FC236}">
                <a16:creationId xmlns:a16="http://schemas.microsoft.com/office/drawing/2014/main" id="{3D4495D7-AFED-499C-A57C-9AF9BC123ADE}"/>
              </a:ext>
            </a:extLst>
          </p:cNvPr>
          <p:cNvSpPr>
            <a:spLocks xmlns:a="http://schemas.openxmlformats.org/drawingml/2006/main" noGrp="1"/>
          </p:cNvSpPr>
          <p:nvPr/>
        </p:nvSpPr>
        <p:spPr>
          <a:xfrm xmlns:a="http://schemas.openxmlformats.org/drawingml/2006/main">
            <a:off x="594359" y="5586984"/>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46" name="Rectangle 145">
            <a:extLst xmlns:a="http://schemas.openxmlformats.org/drawingml/2006/main">
              <a:ext uri="{FF2B5EF4-FFF2-40B4-BE49-F238E27FC236}">
                <a16:creationId xmlns:a16="http://schemas.microsoft.com/office/drawing/2014/main" id="{09764EF9-DC2E-480A-9A80-A060DA109A2D}"/>
              </a:ext>
            </a:extLst>
          </p:cNvPr>
          <p:cNvSpPr>
            <a:spLocks xmlns:a="http://schemas.openxmlformats.org/drawingml/2006/main" noGrp="1"/>
          </p:cNvSpPr>
          <p:nvPr/>
        </p:nvSpPr>
        <p:spPr>
          <a:xfrm xmlns:a="http://schemas.openxmlformats.org/drawingml/2006/main">
            <a:off x="1636776" y="5541264"/>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7" name="TextBox 146">
            <a:extLst xmlns:a="http://schemas.openxmlformats.org/drawingml/2006/main">
              <a:ext uri="{FF2B5EF4-FFF2-40B4-BE49-F238E27FC236}">
                <a16:creationId xmlns:a16="http://schemas.microsoft.com/office/drawing/2014/main" id="{1EE63A5B-74B5-4B0A-AFF1-69BC20C3C100}"/>
              </a:ext>
            </a:extLst>
          </p:cNvPr>
          <p:cNvSpPr>
            <a:spLocks xmlns:a="http://schemas.openxmlformats.org/drawingml/2006/main" noGrp="1"/>
          </p:cNvSpPr>
          <p:nvPr/>
        </p:nvSpPr>
        <p:spPr>
          <a:xfrm xmlns:a="http://schemas.openxmlformats.org/drawingml/2006/main">
            <a:off x="1691640" y="5586984"/>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148" name="Rectangle 147">
            <a:extLst xmlns:a="http://schemas.openxmlformats.org/drawingml/2006/main">
              <a:ext uri="{FF2B5EF4-FFF2-40B4-BE49-F238E27FC236}">
                <a16:creationId xmlns:a16="http://schemas.microsoft.com/office/drawing/2014/main" id="{10817D56-AF8C-4DC9-B9C8-9350476003EC}"/>
              </a:ext>
            </a:extLst>
          </p:cNvPr>
          <p:cNvSpPr>
            <a:spLocks xmlns:a="http://schemas.openxmlformats.org/drawingml/2006/main" noGrp="1"/>
          </p:cNvSpPr>
          <p:nvPr/>
        </p:nvSpPr>
        <p:spPr>
          <a:xfrm xmlns:a="http://schemas.openxmlformats.org/drawingml/2006/main">
            <a:off x="2962656" y="5541264"/>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9" name="TextBox 148">
            <a:extLst xmlns:a="http://schemas.openxmlformats.org/drawingml/2006/main">
              <a:ext uri="{FF2B5EF4-FFF2-40B4-BE49-F238E27FC236}">
                <a16:creationId xmlns:a16="http://schemas.microsoft.com/office/drawing/2014/main" id="{2D29FFB0-72C0-46D5-936C-49C064A2E6B2}"/>
              </a:ext>
            </a:extLst>
          </p:cNvPr>
          <p:cNvSpPr>
            <a:spLocks xmlns:a="http://schemas.openxmlformats.org/drawingml/2006/main" noGrp="1"/>
          </p:cNvSpPr>
          <p:nvPr/>
        </p:nvSpPr>
        <p:spPr>
          <a:xfrm xmlns:a="http://schemas.openxmlformats.org/drawingml/2006/main">
            <a:off x="3017520" y="5586984"/>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50" name="Rectangle 149">
            <a:extLst xmlns:a="http://schemas.openxmlformats.org/drawingml/2006/main">
              <a:ext uri="{FF2B5EF4-FFF2-40B4-BE49-F238E27FC236}">
                <a16:creationId xmlns:a16="http://schemas.microsoft.com/office/drawing/2014/main" id="{5115B694-0AC0-4143-B748-AC66F1AE640A}"/>
              </a:ext>
            </a:extLst>
          </p:cNvPr>
          <p:cNvSpPr>
            <a:spLocks xmlns:a="http://schemas.openxmlformats.org/drawingml/2006/main" noGrp="1"/>
          </p:cNvSpPr>
          <p:nvPr/>
        </p:nvSpPr>
        <p:spPr>
          <a:xfrm xmlns:a="http://schemas.openxmlformats.org/drawingml/2006/main">
            <a:off x="4745736" y="5541264"/>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1" name="TextBox 150">
            <a:extLst xmlns:a="http://schemas.openxmlformats.org/drawingml/2006/main">
              <a:ext uri="{FF2B5EF4-FFF2-40B4-BE49-F238E27FC236}">
                <a16:creationId xmlns:a16="http://schemas.microsoft.com/office/drawing/2014/main" id="{48B3C840-5E67-4ADF-B2C2-1F5642A589E2}"/>
              </a:ext>
            </a:extLst>
          </p:cNvPr>
          <p:cNvSpPr>
            <a:spLocks xmlns:a="http://schemas.openxmlformats.org/drawingml/2006/main" noGrp="1"/>
          </p:cNvSpPr>
          <p:nvPr/>
        </p:nvSpPr>
        <p:spPr>
          <a:xfrm xmlns:a="http://schemas.openxmlformats.org/drawingml/2006/main">
            <a:off x="4800600" y="5586984"/>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152" name="Rectangle 151">
            <a:extLst xmlns:a="http://schemas.openxmlformats.org/drawingml/2006/main">
              <a:ext uri="{FF2B5EF4-FFF2-40B4-BE49-F238E27FC236}">
                <a16:creationId xmlns:a16="http://schemas.microsoft.com/office/drawing/2014/main" id="{1D63FB17-27DA-4AFF-B9F8-10F0949DF449}"/>
              </a:ext>
            </a:extLst>
          </p:cNvPr>
          <p:cNvSpPr>
            <a:spLocks xmlns:a="http://schemas.openxmlformats.org/drawingml/2006/main" noGrp="1"/>
          </p:cNvSpPr>
          <p:nvPr/>
        </p:nvSpPr>
        <p:spPr>
          <a:xfrm xmlns:a="http://schemas.openxmlformats.org/drawingml/2006/main">
            <a:off x="6483096" y="5541264"/>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3" name="TextBox 152">
            <a:extLst xmlns:a="http://schemas.openxmlformats.org/drawingml/2006/main">
              <a:ext uri="{FF2B5EF4-FFF2-40B4-BE49-F238E27FC236}">
                <a16:creationId xmlns:a16="http://schemas.microsoft.com/office/drawing/2014/main" id="{0AC90D80-EEFD-424C-B2E0-FA33E0C0FC6F}"/>
              </a:ext>
            </a:extLst>
          </p:cNvPr>
          <p:cNvSpPr>
            <a:spLocks xmlns:a="http://schemas.openxmlformats.org/drawingml/2006/main" noGrp="1"/>
          </p:cNvSpPr>
          <p:nvPr/>
        </p:nvSpPr>
        <p:spPr>
          <a:xfrm xmlns:a="http://schemas.openxmlformats.org/drawingml/2006/main">
            <a:off x="6537959" y="5586984"/>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154" name="Rectangle 153">
            <a:extLst xmlns:a="http://schemas.openxmlformats.org/drawingml/2006/main">
              <a:ext uri="{FF2B5EF4-FFF2-40B4-BE49-F238E27FC236}">
                <a16:creationId xmlns:a16="http://schemas.microsoft.com/office/drawing/2014/main" id="{1724C57B-88B0-4095-A226-693E2E0D1918}"/>
              </a:ext>
            </a:extLst>
          </p:cNvPr>
          <p:cNvSpPr>
            <a:spLocks xmlns:a="http://schemas.openxmlformats.org/drawingml/2006/main" noGrp="1"/>
          </p:cNvSpPr>
          <p:nvPr/>
        </p:nvSpPr>
        <p:spPr>
          <a:xfrm xmlns:a="http://schemas.openxmlformats.org/drawingml/2006/main">
            <a:off x="7534656" y="5541264"/>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5" name="TextBox 154">
            <a:extLst xmlns:a="http://schemas.openxmlformats.org/drawingml/2006/main">
              <a:ext uri="{FF2B5EF4-FFF2-40B4-BE49-F238E27FC236}">
                <a16:creationId xmlns:a16="http://schemas.microsoft.com/office/drawing/2014/main" id="{72314DD4-9DFA-4C30-A89B-F17F62F0A1EB}"/>
              </a:ext>
            </a:extLst>
          </p:cNvPr>
          <p:cNvSpPr>
            <a:spLocks xmlns:a="http://schemas.openxmlformats.org/drawingml/2006/main" noGrp="1"/>
          </p:cNvSpPr>
          <p:nvPr/>
        </p:nvSpPr>
        <p:spPr>
          <a:xfrm xmlns:a="http://schemas.openxmlformats.org/drawingml/2006/main">
            <a:off x="7589520" y="5586984"/>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7</a:t>
            </a:r>
          </a:p>
        </p:txBody>
      </p:sp>
      <p:sp>
        <p:nvSpPr>
          <p:cNvPr id="156" name="Rectangle 155">
            <a:extLst xmlns:a="http://schemas.openxmlformats.org/drawingml/2006/main">
              <a:ext uri="{FF2B5EF4-FFF2-40B4-BE49-F238E27FC236}">
                <a16:creationId xmlns:a16="http://schemas.microsoft.com/office/drawing/2014/main" id="{1F845FCC-B191-4EB7-B896-BF813DFA93A9}"/>
              </a:ext>
            </a:extLst>
          </p:cNvPr>
          <p:cNvSpPr>
            <a:spLocks xmlns:a="http://schemas.openxmlformats.org/drawingml/2006/main" noGrp="1"/>
          </p:cNvSpPr>
          <p:nvPr/>
        </p:nvSpPr>
        <p:spPr>
          <a:xfrm xmlns:a="http://schemas.openxmlformats.org/drawingml/2006/main">
            <a:off x="9528048" y="5541264"/>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7" name="TextBox 156">
            <a:extLst xmlns:a="http://schemas.openxmlformats.org/drawingml/2006/main">
              <a:ext uri="{FF2B5EF4-FFF2-40B4-BE49-F238E27FC236}">
                <a16:creationId xmlns:a16="http://schemas.microsoft.com/office/drawing/2014/main" id="{555F28BC-8CDB-4280-863D-086D12A3E3BD}"/>
              </a:ext>
            </a:extLst>
          </p:cNvPr>
          <p:cNvSpPr>
            <a:spLocks xmlns:a="http://schemas.openxmlformats.org/drawingml/2006/main" noGrp="1"/>
          </p:cNvSpPr>
          <p:nvPr/>
        </p:nvSpPr>
        <p:spPr>
          <a:xfrm xmlns:a="http://schemas.openxmlformats.org/drawingml/2006/main">
            <a:off x="9582912" y="5586984"/>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58" name="TextBox 157">
            <a:extLst xmlns:a="http://schemas.openxmlformats.org/drawingml/2006/main">
              <a:ext uri="{FF2B5EF4-FFF2-40B4-BE49-F238E27FC236}">
                <a16:creationId xmlns:a16="http://schemas.microsoft.com/office/drawing/2014/main" id="{91D95B2B-6A03-4120-A4B1-ECB0DF033B17}"/>
              </a:ext>
            </a:extLst>
          </p:cNvPr>
          <p:cNvSpPr>
            <a:spLocks xmlns:a="http://schemas.openxmlformats.org/drawingml/2006/main" noGrp="1"/>
          </p:cNvSpPr>
          <p:nvPr/>
        </p:nvSpPr>
        <p:spPr>
          <a:xfrm xmlns:a="http://schemas.openxmlformats.org/drawingml/2006/main">
            <a:off x="640080" y="6089904"/>
            <a:ext cx="1092708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40" b="1" i="0">
                <a:solidFill>
                  <a:srgbClr val="4E5A68"/>
                </a:solidFill>
                <a:latin typeface="Arial"/>
                <a:ea typeface="Arial"/>
                <a:cs typeface="Arial"/>
              </a:rPr>
              <a:t>One query is used per contrast, so query-passing contrasts and KDA runs are identical here.</a:t>
            </a:r>
          </a:p>
        </p:txBody>
      </p:sp>
      <p:sp>
        <p:nvSpPr>
          <p:cNvPr id="159" name="TextBox 158">
            <a:extLst xmlns:a="http://schemas.openxmlformats.org/drawingml/2006/main">
              <a:ext uri="{FF2B5EF4-FFF2-40B4-BE49-F238E27FC236}">
                <a16:creationId xmlns:a16="http://schemas.microsoft.com/office/drawing/2014/main" id="{D6DBEB14-1BFC-4485-A77D-B7DFE9B0A14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736324470"/>
      </p:ext>
    </p:extLst>
  </p:cSld>
</p:sld>
</file>

<file path=ppt/slides/slide4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5D5142B-73D5-401A-889E-21C7F4AD8199}"/>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xmlns:a="http://schemas.openxmlformats.org/drawingml/2006/main">
              <a:ext uri="{FF2B5EF4-FFF2-40B4-BE49-F238E27FC236}">
                <a16:creationId xmlns:a16="http://schemas.microsoft.com/office/drawing/2014/main" id="{12B0B9B9-9C13-454A-91CD-4B17282B04B4}"/>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Only seven current KDA calls determine the entire threshold response.</a:t>
            </a:r>
          </a:p>
        </p:txBody>
      </p:sp>
      <p:sp>
        <p:nvSpPr>
          <p:cNvPr id="4" name="Rounded Rectangle 3">
            <a:extLst xmlns:a="http://schemas.openxmlformats.org/drawingml/2006/main">
              <a:ext uri="{FF2B5EF4-FFF2-40B4-BE49-F238E27FC236}">
                <a16:creationId xmlns:a16="http://schemas.microsoft.com/office/drawing/2014/main" id="{5939264F-CD01-4609-B3B6-BC3D2173D1A2}"/>
              </a:ext>
            </a:extLst>
          </p:cNvPr>
          <p:cNvSpPr>
            <a:spLocks xmlns:a="http://schemas.openxmlformats.org/drawingml/2006/main" noGrp="1"/>
          </p:cNvSpPr>
          <p:nvPr/>
        </p:nvSpPr>
        <p:spPr>
          <a:xfrm xmlns:a="http://schemas.openxmlformats.org/drawingml/2006/main">
            <a:off x="502920" y="1307592"/>
            <a:ext cx="5449824" cy="45537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33D89EAA-04AC-4428-85C2-E75351B872DC}"/>
              </a:ext>
            </a:extLst>
          </p:cNvPr>
          <p:cNvSpPr>
            <a:spLocks xmlns:a="http://schemas.openxmlformats.org/drawingml/2006/main" noGrp="1"/>
          </p:cNvSpPr>
          <p:nvPr/>
        </p:nvSpPr>
        <p:spPr>
          <a:xfrm xmlns:a="http://schemas.openxmlformats.org/drawingml/2006/main">
            <a:off x="804672" y="1600200"/>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46DBA5F4-82BA-4632-91E2-22A0093AC4F1}"/>
              </a:ext>
            </a:extLst>
          </p:cNvPr>
          <p:cNvSpPr>
            <a:spLocks xmlns:a="http://schemas.openxmlformats.org/drawingml/2006/main" noGrp="1"/>
          </p:cNvSpPr>
          <p:nvPr/>
        </p:nvSpPr>
        <p:spPr>
          <a:xfrm xmlns:a="http://schemas.openxmlformats.org/drawingml/2006/main">
            <a:off x="950976" y="1572768"/>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xmlns:a="http://schemas.openxmlformats.org/drawingml/2006/main">
              <a:ext uri="{FF2B5EF4-FFF2-40B4-BE49-F238E27FC236}">
                <a16:creationId xmlns:a16="http://schemas.microsoft.com/office/drawing/2014/main" id="{F0E2D69C-0909-49A8-BACA-3FD4C5361E89}"/>
              </a:ext>
            </a:extLst>
          </p:cNvPr>
          <p:cNvSpPr>
            <a:spLocks xmlns:a="http://schemas.openxmlformats.org/drawingml/2006/main" noGrp="1"/>
          </p:cNvSpPr>
          <p:nvPr/>
        </p:nvSpPr>
        <p:spPr>
          <a:xfrm xmlns:a="http://schemas.openxmlformats.org/drawingml/2006/main">
            <a:off x="822960" y="2276856"/>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4F28648-FDBC-48D6-8367-D968DA1EDFE9}"/>
              </a:ext>
            </a:extLst>
          </p:cNvPr>
          <p:cNvSpPr>
            <a:spLocks xmlns:a="http://schemas.openxmlformats.org/drawingml/2006/main" noGrp="1"/>
          </p:cNvSpPr>
          <p:nvPr/>
        </p:nvSpPr>
        <p:spPr>
          <a:xfrm xmlns:a="http://schemas.openxmlformats.org/drawingml/2006/main">
            <a:off x="996696" y="21488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xmlns:a="http://schemas.openxmlformats.org/drawingml/2006/main">
              <a:ext uri="{FF2B5EF4-FFF2-40B4-BE49-F238E27FC236}">
                <a16:creationId xmlns:a16="http://schemas.microsoft.com/office/drawing/2014/main" id="{87C553DE-F15C-4338-9F1B-F8B4FF5A8880}"/>
              </a:ext>
            </a:extLst>
          </p:cNvPr>
          <p:cNvSpPr>
            <a:spLocks xmlns:a="http://schemas.openxmlformats.org/drawingml/2006/main" noGrp="1"/>
          </p:cNvSpPr>
          <p:nvPr/>
        </p:nvSpPr>
        <p:spPr>
          <a:xfrm xmlns:a="http://schemas.openxmlformats.org/drawingml/2006/main">
            <a:off x="822960" y="2962656"/>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623ED30C-E19C-44B5-AC2D-1AA197B9E97A}"/>
              </a:ext>
            </a:extLst>
          </p:cNvPr>
          <p:cNvSpPr>
            <a:spLocks xmlns:a="http://schemas.openxmlformats.org/drawingml/2006/main" noGrp="1"/>
          </p:cNvSpPr>
          <p:nvPr/>
        </p:nvSpPr>
        <p:spPr>
          <a:xfrm xmlns:a="http://schemas.openxmlformats.org/drawingml/2006/main">
            <a:off x="996696" y="28346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5 removes OPCs × F_e4: 9 driver rows.</a:t>
            </a:r>
          </a:p>
        </p:txBody>
      </p:sp>
      <p:sp>
        <p:nvSpPr>
          <p:cNvPr id="11" name="Oval 10">
            <a:extLst xmlns:a="http://schemas.openxmlformats.org/drawingml/2006/main">
              <a:ext uri="{FF2B5EF4-FFF2-40B4-BE49-F238E27FC236}">
                <a16:creationId xmlns:a16="http://schemas.microsoft.com/office/drawing/2014/main" id="{D5535587-2405-4EFD-ACA9-BE6BEFF55BB9}"/>
              </a:ext>
            </a:extLst>
          </p:cNvPr>
          <p:cNvSpPr>
            <a:spLocks xmlns:a="http://schemas.openxmlformats.org/drawingml/2006/main" noGrp="1"/>
          </p:cNvSpPr>
          <p:nvPr/>
        </p:nvSpPr>
        <p:spPr>
          <a:xfrm xmlns:a="http://schemas.openxmlformats.org/drawingml/2006/main">
            <a:off x="822960" y="3648456"/>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0FFB377-CFAB-4245-809A-47D9DD159CBA}"/>
              </a:ext>
            </a:extLst>
          </p:cNvPr>
          <p:cNvSpPr>
            <a:spLocks xmlns:a="http://schemas.openxmlformats.org/drawingml/2006/main" noGrp="1"/>
          </p:cNvSpPr>
          <p:nvPr/>
        </p:nvSpPr>
        <p:spPr>
          <a:xfrm xmlns:a="http://schemas.openxmlformats.org/drawingml/2006/main">
            <a:off x="996696" y="35204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xmlns:a="http://schemas.openxmlformats.org/drawingml/2006/main">
              <a:ext uri="{FF2B5EF4-FFF2-40B4-BE49-F238E27FC236}">
                <a16:creationId xmlns:a16="http://schemas.microsoft.com/office/drawing/2014/main" id="{0C990DB7-448A-4173-A175-5204336581FB}"/>
              </a:ext>
            </a:extLst>
          </p:cNvPr>
          <p:cNvSpPr>
            <a:spLocks xmlns:a="http://schemas.openxmlformats.org/drawingml/2006/main" noGrp="1"/>
          </p:cNvSpPr>
          <p:nvPr/>
        </p:nvSpPr>
        <p:spPr>
          <a:xfrm xmlns:a="http://schemas.openxmlformats.org/drawingml/2006/main">
            <a:off x="822960" y="4334255"/>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A25A188-67C0-4708-9EBE-32F947AB2111}"/>
              </a:ext>
            </a:extLst>
          </p:cNvPr>
          <p:cNvSpPr>
            <a:spLocks xmlns:a="http://schemas.openxmlformats.org/drawingml/2006/main" noGrp="1"/>
          </p:cNvSpPr>
          <p:nvPr/>
        </p:nvSpPr>
        <p:spPr>
          <a:xfrm xmlns:a="http://schemas.openxmlformats.org/drawingml/2006/main">
            <a:off x="996696" y="42062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call remains: 26 rows and 20 unique non-MT drivers.</a:t>
            </a:r>
          </a:p>
        </p:txBody>
      </p:sp>
      <p:sp>
        <p:nvSpPr>
          <p:cNvPr id="15" name="Rounded Rectangle 14">
            <a:extLst xmlns:a="http://schemas.openxmlformats.org/drawingml/2006/main">
              <a:ext uri="{FF2B5EF4-FFF2-40B4-BE49-F238E27FC236}">
                <a16:creationId xmlns:a16="http://schemas.microsoft.com/office/drawing/2014/main" id="{A0A9E3D7-B52B-453D-9E9D-7A7E5FF94D8B}"/>
              </a:ext>
            </a:extLst>
          </p:cNvPr>
          <p:cNvSpPr>
            <a:spLocks xmlns:a="http://schemas.openxmlformats.org/drawingml/2006/main" noGrp="1"/>
          </p:cNvSpPr>
          <p:nvPr/>
        </p:nvSpPr>
        <p:spPr>
          <a:xfrm xmlns:a="http://schemas.openxmlformats.org/drawingml/2006/main">
            <a:off x="822960" y="5102352"/>
            <a:ext cx="4828032"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2656F1E4-97E9-4654-8779-562BAF5FFB8A}"/>
              </a:ext>
            </a:extLst>
          </p:cNvPr>
          <p:cNvSpPr>
            <a:spLocks xmlns:a="http://schemas.openxmlformats.org/drawingml/2006/main" noGrp="1"/>
          </p:cNvSpPr>
          <p:nvPr/>
        </p:nvSpPr>
        <p:spPr>
          <a:xfrm xmlns:a="http://schemas.openxmlformats.org/drawingml/2006/main">
            <a:off x="987552" y="5230368"/>
            <a:ext cx="449884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90" b="1" i="0">
                <a:solidFill>
                  <a:srgbClr val="9E3A00"/>
                </a:solidFill>
                <a:latin typeface="Arial"/>
                <a:ea typeface="Arial"/>
                <a:cs typeface="Arial"/>
              </a:rPr>
              <a:t>A higher query floor increases domination by the low-donor vasculature result.</a:t>
            </a:r>
          </a:p>
        </p:txBody>
      </p:sp>
      <p:sp>
        <p:nvSpPr>
          <p:cNvPr id="17" name="Rounded Rectangle 16">
            <a:extLst xmlns:a="http://schemas.openxmlformats.org/drawingml/2006/main">
              <a:ext uri="{FF2B5EF4-FFF2-40B4-BE49-F238E27FC236}">
                <a16:creationId xmlns:a16="http://schemas.microsoft.com/office/drawing/2014/main" id="{6BF95F09-A98D-4C46-B981-8FC5F5BF4BE6}"/>
              </a:ext>
            </a:extLst>
          </p:cNvPr>
          <p:cNvSpPr>
            <a:spLocks xmlns:a="http://schemas.openxmlformats.org/drawingml/2006/main" noGrp="1"/>
          </p:cNvSpPr>
          <p:nvPr/>
        </p:nvSpPr>
        <p:spPr>
          <a:xfrm xmlns:a="http://schemas.openxmlformats.org/drawingml/2006/main">
            <a:off x="6236208" y="1307592"/>
            <a:ext cx="5449824" cy="45537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5FF8A6FF-C90A-4B6B-B6E9-64E158351E2E}"/>
              </a:ext>
            </a:extLst>
          </p:cNvPr>
          <p:cNvSpPr>
            <a:spLocks xmlns:a="http://schemas.openxmlformats.org/drawingml/2006/main" noGrp="1"/>
          </p:cNvSpPr>
          <p:nvPr/>
        </p:nvSpPr>
        <p:spPr>
          <a:xfrm xmlns:a="http://schemas.openxmlformats.org/drawingml/2006/main">
            <a:off x="6537960" y="1600200"/>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98B63E41-8CF5-40D3-884D-7A160DE38A8A}"/>
              </a:ext>
            </a:extLst>
          </p:cNvPr>
          <p:cNvSpPr>
            <a:spLocks xmlns:a="http://schemas.openxmlformats.org/drawingml/2006/main" noGrp="1"/>
          </p:cNvSpPr>
          <p:nvPr/>
        </p:nvSpPr>
        <p:spPr>
          <a:xfrm xmlns:a="http://schemas.openxmlformats.org/drawingml/2006/main">
            <a:off x="6684264" y="1572768"/>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xmlns:a="http://schemas.openxmlformats.org/drawingml/2006/main">
              <a:ext uri="{FF2B5EF4-FFF2-40B4-BE49-F238E27FC236}">
                <a16:creationId xmlns:a16="http://schemas.microsoft.com/office/drawing/2014/main" id="{757AED1A-3849-4EEA-AAF3-76C47271ACD0}"/>
              </a:ext>
            </a:extLst>
          </p:cNvPr>
          <p:cNvSpPr>
            <a:spLocks xmlns:a="http://schemas.openxmlformats.org/drawingml/2006/main" noGrp="1"/>
          </p:cNvSpPr>
          <p:nvPr/>
        </p:nvSpPr>
        <p:spPr>
          <a:xfrm xmlns:a="http://schemas.openxmlformats.org/drawingml/2006/main">
            <a:off x="6556248" y="2276856"/>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FA6B1CF2-4779-4DB9-A331-D87F938851DC}"/>
              </a:ext>
            </a:extLst>
          </p:cNvPr>
          <p:cNvSpPr>
            <a:spLocks xmlns:a="http://schemas.openxmlformats.org/drawingml/2006/main" noGrp="1"/>
          </p:cNvSpPr>
          <p:nvPr/>
        </p:nvSpPr>
        <p:spPr>
          <a:xfrm xmlns:a="http://schemas.openxmlformats.org/drawingml/2006/main">
            <a:off x="6729984" y="21488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xmlns:a="http://schemas.openxmlformats.org/drawingml/2006/main">
              <a:ext uri="{FF2B5EF4-FFF2-40B4-BE49-F238E27FC236}">
                <a16:creationId xmlns:a16="http://schemas.microsoft.com/office/drawing/2014/main" id="{E3C9BDB4-C631-48CF-885D-1C3DB78A0503}"/>
              </a:ext>
            </a:extLst>
          </p:cNvPr>
          <p:cNvSpPr>
            <a:spLocks xmlns:a="http://schemas.openxmlformats.org/drawingml/2006/main" noGrp="1"/>
          </p:cNvSpPr>
          <p:nvPr/>
        </p:nvSpPr>
        <p:spPr>
          <a:xfrm xmlns:a="http://schemas.openxmlformats.org/drawingml/2006/main">
            <a:off x="6556248" y="2962656"/>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264091AD-A59A-469A-A4FC-21734DD4EDA5}"/>
              </a:ext>
            </a:extLst>
          </p:cNvPr>
          <p:cNvSpPr>
            <a:spLocks xmlns:a="http://schemas.openxmlformats.org/drawingml/2006/main" noGrp="1"/>
          </p:cNvSpPr>
          <p:nvPr/>
        </p:nvSpPr>
        <p:spPr>
          <a:xfrm xmlns:a="http://schemas.openxmlformats.org/drawingml/2006/main">
            <a:off x="6729984" y="28346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xmlns:a="http://schemas.openxmlformats.org/drawingml/2006/main">
              <a:ext uri="{FF2B5EF4-FFF2-40B4-BE49-F238E27FC236}">
                <a16:creationId xmlns:a16="http://schemas.microsoft.com/office/drawing/2014/main" id="{1299D460-8499-4A92-8F1F-7D42F18E4D8D}"/>
              </a:ext>
            </a:extLst>
          </p:cNvPr>
          <p:cNvSpPr>
            <a:spLocks xmlns:a="http://schemas.openxmlformats.org/drawingml/2006/main" noGrp="1"/>
          </p:cNvSpPr>
          <p:nvPr/>
        </p:nvSpPr>
        <p:spPr>
          <a:xfrm xmlns:a="http://schemas.openxmlformats.org/drawingml/2006/main">
            <a:off x="6556248" y="3648456"/>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7DFB561-BD63-45A7-8257-070D21EBDC6E}"/>
              </a:ext>
            </a:extLst>
          </p:cNvPr>
          <p:cNvSpPr>
            <a:spLocks xmlns:a="http://schemas.openxmlformats.org/drawingml/2006/main" noGrp="1"/>
          </p:cNvSpPr>
          <p:nvPr/>
        </p:nvSpPr>
        <p:spPr>
          <a:xfrm xmlns:a="http://schemas.openxmlformats.org/drawingml/2006/main">
            <a:off x="6729984" y="35204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non-MT drivers.</a:t>
            </a:r>
          </a:p>
        </p:txBody>
      </p:sp>
      <p:sp>
        <p:nvSpPr>
          <p:cNvPr id="26" name="Oval 25">
            <a:extLst xmlns:a="http://schemas.openxmlformats.org/drawingml/2006/main">
              <a:ext uri="{FF2B5EF4-FFF2-40B4-BE49-F238E27FC236}">
                <a16:creationId xmlns:a16="http://schemas.microsoft.com/office/drawing/2014/main" id="{2E13B9CA-B7CD-481C-AD01-00EB7A400D34}"/>
              </a:ext>
            </a:extLst>
          </p:cNvPr>
          <p:cNvSpPr>
            <a:spLocks xmlns:a="http://schemas.openxmlformats.org/drawingml/2006/main" noGrp="1"/>
          </p:cNvSpPr>
          <p:nvPr/>
        </p:nvSpPr>
        <p:spPr>
          <a:xfrm xmlns:a="http://schemas.openxmlformats.org/drawingml/2006/main">
            <a:off x="6556248" y="4334255"/>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7EF7E134-9599-461E-ABD6-081165AABE01}"/>
              </a:ext>
            </a:extLst>
          </p:cNvPr>
          <p:cNvSpPr>
            <a:spLocks xmlns:a="http://schemas.openxmlformats.org/drawingml/2006/main" noGrp="1"/>
          </p:cNvSpPr>
          <p:nvPr/>
        </p:nvSpPr>
        <p:spPr>
          <a:xfrm xmlns:a="http://schemas.openxmlformats.org/drawingml/2006/main">
            <a:off x="6729984" y="42062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return is MT-*.</a:t>
            </a:r>
          </a:p>
        </p:txBody>
      </p:sp>
      <p:sp>
        <p:nvSpPr>
          <p:cNvPr id="28" name="Rounded Rectangle 27">
            <a:extLst xmlns:a="http://schemas.openxmlformats.org/drawingml/2006/main">
              <a:ext uri="{FF2B5EF4-FFF2-40B4-BE49-F238E27FC236}">
                <a16:creationId xmlns:a16="http://schemas.microsoft.com/office/drawing/2014/main" id="{A22678DE-800F-4254-9C18-3439C8C97CB9}"/>
              </a:ext>
            </a:extLst>
          </p:cNvPr>
          <p:cNvSpPr>
            <a:spLocks xmlns:a="http://schemas.openxmlformats.org/drawingml/2006/main" noGrp="1"/>
          </p:cNvSpPr>
          <p:nvPr/>
        </p:nvSpPr>
        <p:spPr>
          <a:xfrm xmlns:a="http://schemas.openxmlformats.org/drawingml/2006/main">
            <a:off x="6556248" y="5102352"/>
            <a:ext cx="4828032"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B67F2240-3E3A-4D90-83E9-DB10AAD115E8}"/>
              </a:ext>
            </a:extLst>
          </p:cNvPr>
          <p:cNvSpPr>
            <a:spLocks xmlns:a="http://schemas.openxmlformats.org/drawingml/2006/main" noGrp="1"/>
          </p:cNvSpPr>
          <p:nvPr/>
        </p:nvSpPr>
        <p:spPr>
          <a:xfrm xmlns:a="http://schemas.openxmlformats.org/drawingml/2006/main">
            <a:off x="6720840" y="5230368"/>
            <a:ext cx="449884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90" b="1" i="0">
                <a:solidFill>
                  <a:srgbClr val="00684D"/>
                </a:solidFill>
                <a:latin typeface="Arial"/>
                <a:ea typeface="Arial"/>
                <a:cs typeface="Arial"/>
              </a:rPr>
              <a:t>The non-MT driver count reaches 3 at minimum 10 and stays there through 30.</a:t>
            </a:r>
          </a:p>
        </p:txBody>
      </p:sp>
      <p:sp>
        <p:nvSpPr>
          <p:cNvPr id="30" name="TextBox 29">
            <a:extLst xmlns:a="http://schemas.openxmlformats.org/drawingml/2006/main">
              <a:ext uri="{FF2B5EF4-FFF2-40B4-BE49-F238E27FC236}">
                <a16:creationId xmlns:a16="http://schemas.microsoft.com/office/drawing/2014/main" id="{9BDF0613-AC92-49E0-8F4F-B025EE89769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90187376"/>
      </p:ext>
    </p:extLst>
  </p:cSld>
</p:sld>
</file>

<file path=ppt/slides/slide4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2731036-4FFC-4F91-9FF2-26D11A6ECFAD}"/>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xmlns:a="http://schemas.openxmlformats.org/drawingml/2006/main">
              <a:ext uri="{FF2B5EF4-FFF2-40B4-BE49-F238E27FC236}">
                <a16:creationId xmlns:a16="http://schemas.microsoft.com/office/drawing/2014/main" id="{D62C39FD-4DA3-4A57-9177-DFA36F2AAA38}"/>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driver validation.</a:t>
            </a:r>
          </a:p>
        </p:txBody>
      </p:sp>
      <p:sp>
        <p:nvSpPr>
          <p:cNvPr id="4" name="Rounded Rectangle 3">
            <a:extLst xmlns:a="http://schemas.openxmlformats.org/drawingml/2006/main">
              <a:ext uri="{FF2B5EF4-FFF2-40B4-BE49-F238E27FC236}">
                <a16:creationId xmlns:a16="http://schemas.microsoft.com/office/drawing/2014/main" id="{DAA28129-9BD7-47B6-95F8-1B07BD5E692D}"/>
              </a:ext>
            </a:extLst>
          </p:cNvPr>
          <p:cNvSpPr>
            <a:spLocks xmlns:a="http://schemas.openxmlformats.org/drawingml/2006/main" noGrp="1"/>
          </p:cNvSpPr>
          <p:nvPr/>
        </p:nvSpPr>
        <p:spPr>
          <a:xfrm xmlns:a="http://schemas.openxmlformats.org/drawingml/2006/main">
            <a:off x="658368" y="1325880"/>
            <a:ext cx="10881360" cy="352958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48640B9-5DD0-44AC-8449-495D2DA6F1C7}"/>
              </a:ext>
            </a:extLst>
          </p:cNvPr>
          <p:cNvSpPr>
            <a:spLocks xmlns:a="http://schemas.openxmlformats.org/drawingml/2006/main" noGrp="1"/>
          </p:cNvSpPr>
          <p:nvPr/>
        </p:nvSpPr>
        <p:spPr>
          <a:xfrm xmlns:a="http://schemas.openxmlformats.org/drawingml/2006/main">
            <a:off x="960120" y="1609344"/>
            <a:ext cx="292608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xmlns:a="http://schemas.openxmlformats.org/drawingml/2006/main">
              <a:ext uri="{FF2B5EF4-FFF2-40B4-BE49-F238E27FC236}">
                <a16:creationId xmlns:a16="http://schemas.microsoft.com/office/drawing/2014/main" id="{E7AD175D-F44B-4DBD-AC94-B8E42AA5F7BC}"/>
              </a:ext>
            </a:extLst>
          </p:cNvPr>
          <p:cNvSpPr>
            <a:spLocks xmlns:a="http://schemas.openxmlformats.org/drawingml/2006/main" noGrp="1"/>
          </p:cNvSpPr>
          <p:nvPr/>
        </p:nvSpPr>
        <p:spPr>
          <a:xfrm xmlns:a="http://schemas.openxmlformats.org/drawingml/2006/main">
            <a:off x="960120" y="2139696"/>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0B5477AB-962A-4E60-AF5F-3B9DA47CB453}"/>
              </a:ext>
            </a:extLst>
          </p:cNvPr>
          <p:cNvSpPr>
            <a:spLocks xmlns:a="http://schemas.openxmlformats.org/drawingml/2006/main" noGrp="1"/>
          </p:cNvSpPr>
          <p:nvPr/>
        </p:nvSpPr>
        <p:spPr>
          <a:xfrm xmlns:a="http://schemas.openxmlformats.org/drawingml/2006/main">
            <a:off x="1133856" y="2011680"/>
            <a:ext cx="9838944"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Cross-cohort non-MT driver overlap remains zero at every tested threshold.</a:t>
            </a:r>
          </a:p>
        </p:txBody>
      </p:sp>
      <p:sp>
        <p:nvSpPr>
          <p:cNvPr id="8" name="Oval 7">
            <a:extLst xmlns:a="http://schemas.openxmlformats.org/drawingml/2006/main">
              <a:ext uri="{FF2B5EF4-FFF2-40B4-BE49-F238E27FC236}">
                <a16:creationId xmlns:a16="http://schemas.microsoft.com/office/drawing/2014/main" id="{0501F2F9-81F1-4E04-BDD8-9B2D5258750E}"/>
              </a:ext>
            </a:extLst>
          </p:cNvPr>
          <p:cNvSpPr>
            <a:spLocks xmlns:a="http://schemas.openxmlformats.org/drawingml/2006/main" noGrp="1"/>
          </p:cNvSpPr>
          <p:nvPr/>
        </p:nvSpPr>
        <p:spPr>
          <a:xfrm xmlns:a="http://schemas.openxmlformats.org/drawingml/2006/main">
            <a:off x="960120" y="2798064"/>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587782B-22A2-4B58-9C5D-7DB981CBB690}"/>
              </a:ext>
            </a:extLst>
          </p:cNvPr>
          <p:cNvSpPr>
            <a:spLocks xmlns:a="http://schemas.openxmlformats.org/drawingml/2006/main" noGrp="1"/>
          </p:cNvSpPr>
          <p:nvPr/>
        </p:nvSpPr>
        <p:spPr>
          <a:xfrm xmlns:a="http://schemas.openxmlformats.org/drawingml/2006/main">
            <a:off x="1133856" y="2670048"/>
            <a:ext cx="9838944"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drivers.</a:t>
            </a:r>
          </a:p>
        </p:txBody>
      </p:sp>
      <p:sp>
        <p:nvSpPr>
          <p:cNvPr id="10" name="Oval 9">
            <a:extLst xmlns:a="http://schemas.openxmlformats.org/drawingml/2006/main">
              <a:ext uri="{FF2B5EF4-FFF2-40B4-BE49-F238E27FC236}">
                <a16:creationId xmlns:a16="http://schemas.microsoft.com/office/drawing/2014/main" id="{0985D27D-B823-4F63-850A-8BB2A8DCA8BF}"/>
              </a:ext>
            </a:extLst>
          </p:cNvPr>
          <p:cNvSpPr>
            <a:spLocks xmlns:a="http://schemas.openxmlformats.org/drawingml/2006/main" noGrp="1"/>
          </p:cNvSpPr>
          <p:nvPr/>
        </p:nvSpPr>
        <p:spPr>
          <a:xfrm xmlns:a="http://schemas.openxmlformats.org/drawingml/2006/main">
            <a:off x="960120" y="3456432"/>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7681996-84B2-4DE4-9FE2-4A7287F67C67}"/>
              </a:ext>
            </a:extLst>
          </p:cNvPr>
          <p:cNvSpPr>
            <a:spLocks xmlns:a="http://schemas.openxmlformats.org/drawingml/2006/main" noGrp="1"/>
          </p:cNvSpPr>
          <p:nvPr/>
        </p:nvSpPr>
        <p:spPr>
          <a:xfrm xmlns:a="http://schemas.openxmlformats.org/drawingml/2006/main">
            <a:off x="1133856" y="3328415"/>
            <a:ext cx="9838944"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xmlns:a="http://schemas.openxmlformats.org/drawingml/2006/main">
              <a:ext uri="{FF2B5EF4-FFF2-40B4-BE49-F238E27FC236}">
                <a16:creationId xmlns:a16="http://schemas.microsoft.com/office/drawing/2014/main" id="{4AD3A0FC-67E5-45D2-BE48-99351E6AC8C0}"/>
              </a:ext>
            </a:extLst>
          </p:cNvPr>
          <p:cNvSpPr>
            <a:spLocks xmlns:a="http://schemas.openxmlformats.org/drawingml/2006/main" noGrp="1"/>
          </p:cNvSpPr>
          <p:nvPr/>
        </p:nvSpPr>
        <p:spPr>
          <a:xfrm xmlns:a="http://schemas.openxmlformats.org/drawingml/2006/main">
            <a:off x="960120" y="4114799"/>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04D3795-30FE-4634-B674-CCD9391C98B4}"/>
              </a:ext>
            </a:extLst>
          </p:cNvPr>
          <p:cNvSpPr>
            <a:spLocks xmlns:a="http://schemas.openxmlformats.org/drawingml/2006/main" noGrp="1"/>
          </p:cNvSpPr>
          <p:nvPr/>
        </p:nvSpPr>
        <p:spPr>
          <a:xfrm xmlns:a="http://schemas.openxmlformats.org/drawingml/2006/main">
            <a:off x="1133856" y="3986783"/>
            <a:ext cx="9838944"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call.</a:t>
            </a:r>
          </a:p>
        </p:txBody>
      </p:sp>
      <p:sp>
        <p:nvSpPr>
          <p:cNvPr id="14" name="Rounded Rectangle 13">
            <a:extLst xmlns:a="http://schemas.openxmlformats.org/drawingml/2006/main">
              <a:ext uri="{FF2B5EF4-FFF2-40B4-BE49-F238E27FC236}">
                <a16:creationId xmlns:a16="http://schemas.microsoft.com/office/drawing/2014/main" id="{C0B90091-304E-4D9D-8AF2-8727270FB4C8}"/>
              </a:ext>
            </a:extLst>
          </p:cNvPr>
          <p:cNvSpPr>
            <a:spLocks xmlns:a="http://schemas.openxmlformats.org/drawingml/2006/main" noGrp="1"/>
          </p:cNvSpPr>
          <p:nvPr/>
        </p:nvSpPr>
        <p:spPr>
          <a:xfrm xmlns:a="http://schemas.openxmlformats.org/drawingml/2006/main">
            <a:off x="658368" y="5138928"/>
            <a:ext cx="10881360" cy="77724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E616050-8935-4902-BB75-1283A4204EB3}"/>
              </a:ext>
            </a:extLst>
          </p:cNvPr>
          <p:cNvSpPr>
            <a:spLocks xmlns:a="http://schemas.openxmlformats.org/drawingml/2006/main" noGrp="1"/>
          </p:cNvSpPr>
          <p:nvPr/>
        </p:nvSpPr>
        <p:spPr>
          <a:xfrm xmlns:a="http://schemas.openxmlformats.org/drawingml/2006/main">
            <a:off x="914400" y="5340096"/>
            <a:ext cx="10369296"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xmlns:a="http://schemas.openxmlformats.org/drawingml/2006/main">
              <a:ext uri="{FF2B5EF4-FFF2-40B4-BE49-F238E27FC236}">
                <a16:creationId xmlns:a16="http://schemas.microsoft.com/office/drawing/2014/main" id="{440544A2-27EB-4A8D-90F7-2971FFD5C50A}"/>
              </a:ext>
            </a:extLst>
          </p:cNvPr>
          <p:cNvSpPr>
            <a:spLocks xmlns:a="http://schemas.openxmlformats.org/drawingml/2006/main" noGrp="1"/>
          </p:cNvSpPr>
          <p:nvPr/>
        </p:nvSpPr>
        <p:spPr>
          <a:xfrm xmlns:a="http://schemas.openxmlformats.org/drawingml/2006/main">
            <a:off x="914400" y="5632704"/>
            <a:ext cx="103692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run and the only matched cross-cohort stratum.</a:t>
            </a:r>
          </a:p>
        </p:txBody>
      </p:sp>
      <p:sp>
        <p:nvSpPr>
          <p:cNvPr id="17" name="TextBox 16">
            <a:extLst xmlns:a="http://schemas.openxmlformats.org/drawingml/2006/main">
              <a:ext uri="{FF2B5EF4-FFF2-40B4-BE49-F238E27FC236}">
                <a16:creationId xmlns:a16="http://schemas.microsoft.com/office/drawing/2014/main" id="{129137BB-0E41-4AAD-9940-B1D85B14547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1095739359"/>
      </p:ext>
    </p:extLst>
  </p:cSld>
</p:sld>
</file>

<file path=ppt/slides/slide4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CEED15BB-A501-7FB7-FD95-303970C34A77}"/>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1E95D6F-12BB-832F-CD3D-727DAFEFB6A8}"/>
              </a:ext>
            </a:extLst>
          </p:cNvPr>
          <p:cNvSpPr>
            <a:spLocks xmlns:a="http://schemas.openxmlformats.org/drawingml/2006/main" noGrp="1"/>
          </p:cNvSpPr>
          <p:nvPr/>
        </p:nvSpPr>
        <p:spPr>
          <a:xfrm xmlns:a="http://schemas.openxmlformats.org/drawingml/2006/main">
            <a:off x="713232" y="612648"/>
            <a:ext cx="219456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BB962C8B-B14F-4D97-AF65-F5344CB8AC3E}">
        <p14:creationId xmlns:p14="http://schemas.microsoft.com/office/powerpoint/2010/main" val="686704019"/>
      </p:ext>
    </p:extLst>
  </p:cSld>
</p:sld>
</file>

<file path=ppt/slides/slide43.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2EAEA5C-C8A9-4613-8C0C-F852EA9F568B}"/>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xmlns:a="http://schemas.openxmlformats.org/drawingml/2006/main">
              <a:ext uri="{FF2B5EF4-FFF2-40B4-BE49-F238E27FC236}">
                <a16:creationId xmlns:a16="http://schemas.microsoft.com/office/drawing/2014/main" id="{3B5CE9DA-02F6-45CB-82B1-5B51626912F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2C82376-515E-4BC4-AB74-CDB0A113DFED}"/>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FFFFFF"/>
                </a:solidFill>
                <a:latin typeface="Arial"/>
                <a:ea typeface="Arial"/>
                <a:cs typeface="Arial"/>
              </a:rPr>
              <a:t>Female APOE ε3/ε3 excitatory neurons show a reproducible mtDNA-OXPHOS increase</a:t>
            </a:r>
          </a:p>
        </p:txBody>
      </p:sp>
      <p:sp>
        <p:nvSpPr>
          <p:cNvPr id="5" name="TextBox 4">
            <a:extLst xmlns:a="http://schemas.openxmlformats.org/drawingml/2006/main">
              <a:ext uri="{FF2B5EF4-FFF2-40B4-BE49-F238E27FC236}">
                <a16:creationId xmlns:a16="http://schemas.microsoft.com/office/drawing/2014/main" id="{ABD64F1D-6D65-4657-8920-B21C23BC4133}"/>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A mitochondrial DEG-program finding, not an identified upstream key driver.</a:t>
            </a:r>
          </a:p>
        </p:txBody>
      </p:sp>
      <p:sp>
        <p:nvSpPr>
          <p:cNvPr id="6" name="Rounded Rectangle 5">
            <a:extLst xmlns:a="http://schemas.openxmlformats.org/drawingml/2006/main">
              <a:ext uri="{FF2B5EF4-FFF2-40B4-BE49-F238E27FC236}">
                <a16:creationId xmlns:a16="http://schemas.microsoft.com/office/drawing/2014/main" id="{34E0ABAC-67E4-40F8-9669-78A49DD79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F94795F-DBCB-4875-AB3A-F194EC1F06F1}"/>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D54CAFC9-5CFB-41BD-BDA0-EF2426297699}"/>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B93F141-862A-46A7-8709-1CD099813C3D}"/>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86E4D91-2C00-493D-807F-3794CDCD150B}"/>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0750FA47-1898-4838-BE6A-74C319AE052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DED5175-98F8-43D7-8773-283594ABBDE3}"/>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2133B16D-F51E-4BE2-BBD2-081AF8E3C220}"/>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222AAAA-C164-425B-9350-3F447103C87C}"/>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9078990-BE1C-48B0-A6B8-29581B7E1CAA}"/>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F6663891-7441-48F4-B939-1E71CD727891}"/>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xmlns:a="http://schemas.openxmlformats.org/drawingml/2006/main">
              <a:ext uri="{FF2B5EF4-FFF2-40B4-BE49-F238E27FC236}">
                <a16:creationId xmlns:a16="http://schemas.microsoft.com/office/drawing/2014/main" id="{80EBB8DB-43E2-4F2A-97AF-E1463B5EFB2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90F30C7-B84D-4FB0-A4DE-1A5FC5698B4E}"/>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C787F9A3-3CAD-449B-AA09-9C76EAFDB58E}"/>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85323ECB-521C-4237-AF84-44BE8F32CD4D}"/>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B802350-BEC6-48F2-870F-29D8C0D5C40A}"/>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SEA-AD can support the same biological pattern without matching the exact key driver.</a:t>
            </a:r>
          </a:p>
        </p:txBody>
      </p:sp>
    </p:spTree>
    <p:extLst>
      <p:ext uri="{BB962C8B-B14F-4D97-AF65-F5344CB8AC3E}">
        <p14:creationId xmlns:p14="http://schemas.microsoft.com/office/powerpoint/2010/main" val="425918138"/>
      </p:ext>
    </p:extLst>
  </p:cSld>
</p:sld>
</file>

<file path=ppt/slides/slide4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B044F1F-1ABD-4D0A-8F0B-681D66C1A91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Female ε3/ε3 cells (especially excitatory neurons) raise mtDNA energy-gene RNA in AD</a:t>
            </a:r>
          </a:p>
        </p:txBody>
      </p:sp>
      <p:sp>
        <p:nvSpPr>
          <p:cNvPr id="3" name="TextBox 2">
            <a:extLst xmlns:a="http://schemas.openxmlformats.org/drawingml/2006/main">
              <a:ext uri="{FF2B5EF4-FFF2-40B4-BE49-F238E27FC236}">
                <a16:creationId xmlns:a16="http://schemas.microsoft.com/office/drawing/2014/main" id="{515E76ED-6A59-406E-8089-417BDE580C2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result is repeated across ROSMAP calls and receives program-level support from SEA-AD.</a:t>
            </a:r>
          </a:p>
        </p:txBody>
      </p:sp>
      <p:sp>
        <p:nvSpPr>
          <p:cNvPr id="4" name="Rounded Rectangle 3">
            <a:extLst xmlns:a="http://schemas.openxmlformats.org/drawingml/2006/main">
              <a:ext uri="{FF2B5EF4-FFF2-40B4-BE49-F238E27FC236}">
                <a16:creationId xmlns:a16="http://schemas.microsoft.com/office/drawing/2014/main" id="{AA4AC83A-3FBC-485B-880B-B5B0458B8079}"/>
              </a:ext>
            </a:extLst>
          </p:cNvPr>
          <p:cNvSpPr>
            <a:spLocks xmlns:a="http://schemas.openxmlformats.org/drawingml/2006/main" noGrp="1"/>
          </p:cNvSpPr>
          <p:nvPr/>
        </p:nvSpPr>
        <p:spPr>
          <a:xfrm xmlns:a="http://schemas.openxmlformats.org/drawingml/2006/main">
            <a:off x="1024128" y="1353312"/>
            <a:ext cx="1920240"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27D5D64-ED97-4494-BE56-EBEEE62CD4D0}"/>
              </a:ext>
            </a:extLst>
          </p:cNvPr>
          <p:cNvSpPr>
            <a:spLocks xmlns:a="http://schemas.openxmlformats.org/drawingml/2006/main" noGrp="1"/>
          </p:cNvSpPr>
          <p:nvPr/>
        </p:nvSpPr>
        <p:spPr>
          <a:xfrm xmlns:a="http://schemas.openxmlformats.org/drawingml/2006/main">
            <a:off x="1115568" y="1453896"/>
            <a:ext cx="173736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D0B0C734-01ED-475F-B954-0FE60F88F2C2}"/>
              </a:ext>
            </a:extLst>
          </p:cNvPr>
          <p:cNvSpPr>
            <a:spLocks xmlns:a="http://schemas.openxmlformats.org/drawingml/2006/main" noGrp="1"/>
          </p:cNvSpPr>
          <p:nvPr/>
        </p:nvSpPr>
        <p:spPr>
          <a:xfrm xmlns:a="http://schemas.openxmlformats.org/drawingml/2006/main">
            <a:off x="3218688" y="1353312"/>
            <a:ext cx="2212848"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85DC248-7CF2-4975-9306-53F576C3A3F3}"/>
              </a:ext>
            </a:extLst>
          </p:cNvPr>
          <p:cNvSpPr>
            <a:spLocks xmlns:a="http://schemas.openxmlformats.org/drawingml/2006/main" noGrp="1"/>
          </p:cNvSpPr>
          <p:nvPr/>
        </p:nvSpPr>
        <p:spPr>
          <a:xfrm xmlns:a="http://schemas.openxmlformats.org/drawingml/2006/main">
            <a:off x="3310128" y="1453896"/>
            <a:ext cx="202996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xmlns:a="http://schemas.openxmlformats.org/drawingml/2006/main">
              <a:ext uri="{FF2B5EF4-FFF2-40B4-BE49-F238E27FC236}">
                <a16:creationId xmlns:a16="http://schemas.microsoft.com/office/drawing/2014/main" id="{3AB56433-6330-4E5B-A03A-0D04DD099496}"/>
              </a:ext>
            </a:extLst>
          </p:cNvPr>
          <p:cNvSpPr>
            <a:spLocks xmlns:a="http://schemas.openxmlformats.org/drawingml/2006/main" noGrp="1"/>
          </p:cNvSpPr>
          <p:nvPr/>
        </p:nvSpPr>
        <p:spPr>
          <a:xfrm xmlns:a="http://schemas.openxmlformats.org/drawingml/2006/main">
            <a:off x="5705856" y="1353312"/>
            <a:ext cx="2432304"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A2A1115-4137-4A36-A46A-41F40755B622}"/>
              </a:ext>
            </a:extLst>
          </p:cNvPr>
          <p:cNvSpPr>
            <a:spLocks xmlns:a="http://schemas.openxmlformats.org/drawingml/2006/main" noGrp="1"/>
          </p:cNvSpPr>
          <p:nvPr/>
        </p:nvSpPr>
        <p:spPr>
          <a:xfrm xmlns:a="http://schemas.openxmlformats.org/drawingml/2006/main">
            <a:off x="5797296" y="1453896"/>
            <a:ext cx="2249424"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xmlns:a="http://schemas.openxmlformats.org/drawingml/2006/main">
              <a:ext uri="{FF2B5EF4-FFF2-40B4-BE49-F238E27FC236}">
                <a16:creationId xmlns:a16="http://schemas.microsoft.com/office/drawing/2014/main" id="{574799C2-CF17-459D-91E9-70B819B78EB9}"/>
              </a:ext>
            </a:extLst>
          </p:cNvPr>
          <p:cNvSpPr>
            <a:spLocks xmlns:a="http://schemas.openxmlformats.org/drawingml/2006/main" noGrp="1"/>
          </p:cNvSpPr>
          <p:nvPr/>
        </p:nvSpPr>
        <p:spPr>
          <a:xfrm xmlns:a="http://schemas.openxmlformats.org/drawingml/2006/main">
            <a:off x="8412480" y="1353312"/>
            <a:ext cx="2578608"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90D7B8DD-CD91-47E6-9973-24078DC4CF8B}"/>
              </a:ext>
            </a:extLst>
          </p:cNvPr>
          <p:cNvSpPr>
            <a:spLocks xmlns:a="http://schemas.openxmlformats.org/drawingml/2006/main" noGrp="1"/>
          </p:cNvSpPr>
          <p:nvPr/>
        </p:nvSpPr>
        <p:spPr>
          <a:xfrm xmlns:a="http://schemas.openxmlformats.org/drawingml/2006/main">
            <a:off x="8503919" y="1453896"/>
            <a:ext cx="239572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xmlns:a="http://schemas.openxmlformats.org/drawingml/2006/main">
              <a:ext uri="{FF2B5EF4-FFF2-40B4-BE49-F238E27FC236}">
                <a16:creationId xmlns:a16="http://schemas.microsoft.com/office/drawing/2014/main" id="{6B01C44E-8A6D-4ACD-B5B0-6312A120CBC1}"/>
              </a:ext>
            </a:extLst>
          </p:cNvPr>
          <p:cNvSpPr>
            <a:spLocks xmlns:a="http://schemas.openxmlformats.org/drawingml/2006/main" noGrp="1"/>
          </p:cNvSpPr>
          <p:nvPr/>
        </p:nvSpPr>
        <p:spPr>
          <a:xfrm xmlns:a="http://schemas.openxmlformats.org/drawingml/2006/main">
            <a:off x="749808" y="2066543"/>
            <a:ext cx="10698480" cy="283464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F36BA67-ED29-41BE-BD84-B18FABE2CA22}"/>
              </a:ext>
            </a:extLst>
          </p:cNvPr>
          <p:cNvSpPr>
            <a:spLocks xmlns:a="http://schemas.openxmlformats.org/drawingml/2006/main" noGrp="1"/>
          </p:cNvSpPr>
          <p:nvPr/>
        </p:nvSpPr>
        <p:spPr>
          <a:xfrm xmlns:a="http://schemas.openxmlformats.org/drawingml/2006/main">
            <a:off x="1115568" y="2532888"/>
            <a:ext cx="3017520"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F233D"/>
                </a:solidFill>
                <a:latin typeface="Arial"/>
                <a:ea typeface="Arial"/>
                <a:cs typeface="Arial"/>
              </a:rPr>
              <a:t>Mitochondrial DNA</a:t>
            </a:r>
          </a:p>
        </p:txBody>
      </p:sp>
      <p:sp>
        <p:nvSpPr>
          <p:cNvPr id="14" name="TextBox 13">
            <a:extLst xmlns:a="http://schemas.openxmlformats.org/drawingml/2006/main">
              <a:ext uri="{FF2B5EF4-FFF2-40B4-BE49-F238E27FC236}">
                <a16:creationId xmlns:a16="http://schemas.microsoft.com/office/drawing/2014/main" id="{B808481D-718F-4842-807C-5AA9E803C37D}"/>
              </a:ext>
            </a:extLst>
          </p:cNvPr>
          <p:cNvSpPr>
            <a:spLocks xmlns:a="http://schemas.openxmlformats.org/drawingml/2006/main" noGrp="1"/>
          </p:cNvSpPr>
          <p:nvPr/>
        </p:nvSpPr>
        <p:spPr>
          <a:xfrm xmlns:a="http://schemas.openxmlformats.org/drawingml/2006/main">
            <a:off x="1115568" y="3108960"/>
            <a:ext cx="3017520"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1F2730"/>
                </a:solidFill>
                <a:latin typeface="Arial"/>
                <a:ea typeface="Arial"/>
                <a:cs typeface="Arial"/>
              </a:rPr>
              <a:t>makes RNA instructions
for OXPHOS parts</a:t>
            </a:r>
          </a:p>
        </p:txBody>
      </p:sp>
      <p:sp>
        <p:nvSpPr>
          <p:cNvPr id="15" name="TextBox 14">
            <a:extLst xmlns:a="http://schemas.openxmlformats.org/drawingml/2006/main">
              <a:ext uri="{FF2B5EF4-FFF2-40B4-BE49-F238E27FC236}">
                <a16:creationId xmlns:a16="http://schemas.microsoft.com/office/drawing/2014/main" id="{34A38E06-808B-4DBC-84B7-B0DCCCE65514}"/>
              </a:ext>
            </a:extLst>
          </p:cNvPr>
          <p:cNvSpPr>
            <a:spLocks xmlns:a="http://schemas.openxmlformats.org/drawingml/2006/main" noGrp="1"/>
          </p:cNvSpPr>
          <p:nvPr/>
        </p:nvSpPr>
        <p:spPr>
          <a:xfrm xmlns:a="http://schemas.openxmlformats.org/drawingml/2006/main">
            <a:off x="4590288" y="2880360"/>
            <a:ext cx="914400" cy="6766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xmlns:a="http://schemas.openxmlformats.org/drawingml/2006/main">
              <a:ext uri="{FF2B5EF4-FFF2-40B4-BE49-F238E27FC236}">
                <a16:creationId xmlns:a16="http://schemas.microsoft.com/office/drawing/2014/main" id="{C07D0BB6-E278-4ED9-873F-178358A80ED7}"/>
              </a:ext>
            </a:extLst>
          </p:cNvPr>
          <p:cNvSpPr>
            <a:spLocks xmlns:a="http://schemas.openxmlformats.org/drawingml/2006/main" noGrp="1"/>
          </p:cNvSpPr>
          <p:nvPr/>
        </p:nvSpPr>
        <p:spPr>
          <a:xfrm xmlns:a="http://schemas.openxmlformats.org/drawingml/2006/main">
            <a:off x="5833872" y="2532888"/>
            <a:ext cx="2926080"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xmlns:a="http://schemas.openxmlformats.org/drawingml/2006/main">
              <a:ext uri="{FF2B5EF4-FFF2-40B4-BE49-F238E27FC236}">
                <a16:creationId xmlns:a16="http://schemas.microsoft.com/office/drawing/2014/main" id="{FB189D88-BC57-415E-BBA7-B40A4B0E74B3}"/>
              </a:ext>
            </a:extLst>
          </p:cNvPr>
          <p:cNvSpPr>
            <a:spLocks xmlns:a="http://schemas.openxmlformats.org/drawingml/2006/main" noGrp="1"/>
          </p:cNvSpPr>
          <p:nvPr/>
        </p:nvSpPr>
        <p:spPr>
          <a:xfrm xmlns:a="http://schemas.openxmlformats.org/drawingml/2006/main">
            <a:off x="8887968" y="2587752"/>
            <a:ext cx="1133856" cy="11521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xmlns:a="http://schemas.openxmlformats.org/drawingml/2006/main">
              <a:ext uri="{FF2B5EF4-FFF2-40B4-BE49-F238E27FC236}">
                <a16:creationId xmlns:a16="http://schemas.microsoft.com/office/drawing/2014/main" id="{B59759B8-2C33-455B-AA6A-ADCAEDC593E8}"/>
              </a:ext>
            </a:extLst>
          </p:cNvPr>
          <p:cNvSpPr>
            <a:spLocks xmlns:a="http://schemas.openxmlformats.org/drawingml/2006/main" noGrp="1"/>
          </p:cNvSpPr>
          <p:nvPr/>
        </p:nvSpPr>
        <p:spPr>
          <a:xfrm xmlns:a="http://schemas.openxmlformats.org/drawingml/2006/main">
            <a:off x="5596128" y="3136392"/>
            <a:ext cx="3401568"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80" b="1" i="0">
                <a:solidFill>
                  <a:srgbClr val="1F2730"/>
                </a:solidFill>
                <a:latin typeface="Arial"/>
                <a:ea typeface="Arial"/>
                <a:cs typeface="Arial"/>
              </a:rPr>
              <a:t>more mtDNA-OXPHOS RNA
in AD than in the comparison group</a:t>
            </a:r>
          </a:p>
        </p:txBody>
      </p:sp>
      <p:sp>
        <p:nvSpPr>
          <p:cNvPr id="19" name="Rounded Rectangle 18">
            <a:extLst xmlns:a="http://schemas.openxmlformats.org/drawingml/2006/main">
              <a:ext uri="{FF2B5EF4-FFF2-40B4-BE49-F238E27FC236}">
                <a16:creationId xmlns:a16="http://schemas.microsoft.com/office/drawing/2014/main" id="{DF0611BE-3342-4FDE-A989-60D2197AE405}"/>
              </a:ext>
            </a:extLst>
          </p:cNvPr>
          <p:cNvSpPr>
            <a:spLocks xmlns:a="http://schemas.openxmlformats.org/drawingml/2006/main" noGrp="1"/>
          </p:cNvSpPr>
          <p:nvPr/>
        </p:nvSpPr>
        <p:spPr>
          <a:xfrm xmlns:a="http://schemas.openxmlformats.org/drawingml/2006/main">
            <a:off x="749808" y="5230368"/>
            <a:ext cx="10698480" cy="69494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167EC3F6-1DCC-4C95-8C82-A4F04FD76544}"/>
              </a:ext>
            </a:extLst>
          </p:cNvPr>
          <p:cNvSpPr>
            <a:spLocks xmlns:a="http://schemas.openxmlformats.org/drawingml/2006/main" noGrp="1"/>
          </p:cNvSpPr>
          <p:nvPr/>
        </p:nvSpPr>
        <p:spPr>
          <a:xfrm xmlns:a="http://schemas.openxmlformats.org/drawingml/2006/main">
            <a:off x="987552" y="5431536"/>
            <a:ext cx="102229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7E4C9A"/>
                </a:solidFill>
                <a:latin typeface="Arial"/>
                <a:ea typeface="Arial"/>
                <a:cs typeface="Arial"/>
              </a:rPr>
              <a:t>Plain meaning: the cells make more RNA instructions for mitochondrial energy-system parts.</a:t>
            </a:r>
          </a:p>
        </p:txBody>
      </p:sp>
      <p:sp>
        <p:nvSpPr>
          <p:cNvPr id="21" name="TextBox 20">
            <a:extLst xmlns:a="http://schemas.openxmlformats.org/drawingml/2006/main">
              <a:ext uri="{FF2B5EF4-FFF2-40B4-BE49-F238E27FC236}">
                <a16:creationId xmlns:a16="http://schemas.microsoft.com/office/drawing/2014/main" id="{BEA1B3FE-0204-468E-B285-5C23BE91433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Finding 1 synthesis; ROSMAP discovery with supplemental SEA-AD program support.</a:t>
            </a:r>
          </a:p>
        </p:txBody>
      </p:sp>
    </p:spTree>
    <p:extLst>
      <p:ext uri="{BB962C8B-B14F-4D97-AF65-F5344CB8AC3E}">
        <p14:creationId xmlns:p14="http://schemas.microsoft.com/office/powerpoint/2010/main" val="1892964177"/>
      </p:ext>
    </p:extLst>
  </p:cSld>
</p:sld>
</file>

<file path=ppt/slides/slide4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9A384A-7A4A-4863-A573-B5BF9F11190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the female ε3/ε3 mtDNA-OXPHOS signal is consistently AD-up</a:t>
            </a:r>
          </a:p>
        </p:txBody>
      </p:sp>
      <p:sp>
        <p:nvSpPr>
          <p:cNvPr id="4" name="Rounded Rectangle 3">
            <a:extLst xmlns:a="http://schemas.openxmlformats.org/drawingml/2006/main">
              <a:ext uri="{FF2B5EF4-FFF2-40B4-BE49-F238E27FC236}">
                <a16:creationId xmlns:a16="http://schemas.microsoft.com/office/drawing/2014/main" id="{ECBBD7C1-5CD4-4521-8FF3-D64CCD516E5C}"/>
              </a:ext>
            </a:extLst>
          </p:cNvPr>
          <p:cNvSpPr>
            <a:spLocks xmlns:a="http://schemas.openxmlformats.org/drawingml/2006/main" noGrp="1"/>
          </p:cNvSpPr>
          <p:nvPr/>
        </p:nvSpPr>
        <p:spPr>
          <a:xfrm xmlns:a="http://schemas.openxmlformats.org/drawingml/2006/main">
            <a:off x="658368" y="2402699"/>
            <a:ext cx="10881360" cy="11338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7C5A574-BC49-484D-9EE8-4581842795EE}"/>
              </a:ext>
            </a:extLst>
          </p:cNvPr>
          <p:cNvSpPr>
            <a:spLocks xmlns:a="http://schemas.openxmlformats.org/drawingml/2006/main" noGrp="1"/>
          </p:cNvSpPr>
          <p:nvPr/>
        </p:nvSpPr>
        <p:spPr>
          <a:xfrm xmlns:a="http://schemas.openxmlformats.org/drawingml/2006/main">
            <a:off x="3730752" y="2688342"/>
            <a:ext cx="4809744"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000" b="1" i="0">
                <a:solidFill>
                  <a:srgbClr val="0072B2"/>
                </a:solidFill>
                <a:latin typeface="Arial"/>
                <a:ea typeface="Arial"/>
                <a:cs typeface="Arial"/>
              </a:rPr>
              <a:t>217 / 217 mtDNA-OXPHOS occurrences were AD-up</a:t>
            </a:r>
          </a:p>
        </p:txBody>
      </p:sp>
      <p:sp>
        <p:nvSpPr>
          <p:cNvPr id="7" name="TextBox 6">
            <a:extLst xmlns:a="http://schemas.openxmlformats.org/drawingml/2006/main">
              <a:ext uri="{FF2B5EF4-FFF2-40B4-BE49-F238E27FC236}">
                <a16:creationId xmlns:a16="http://schemas.microsoft.com/office/drawing/2014/main" id="{8557A361-83E3-46C3-9ED2-8824F70BA33C}"/>
              </a:ext>
            </a:extLst>
          </p:cNvPr>
          <p:cNvSpPr>
            <a:spLocks xmlns:a="http://schemas.openxmlformats.org/drawingml/2006/main" noGrp="1"/>
          </p:cNvSpPr>
          <p:nvPr/>
        </p:nvSpPr>
        <p:spPr>
          <a:xfrm xmlns:a="http://schemas.openxmlformats.org/drawingml/2006/main">
            <a:off x="8613648" y="2825940"/>
            <a:ext cx="2560320" cy="24006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00" b="1" i="0">
                <a:solidFill>
                  <a:srgbClr val="4E5A68"/>
                </a:solidFill>
                <a:latin typeface="Arial"/>
                <a:ea typeface="Arial"/>
                <a:cs typeface="Arial"/>
              </a:rPr>
              <a:t>29 F_e33 input queries enriched</a:t>
            </a:r>
          </a:p>
        </p:txBody>
      </p:sp>
      <p:sp>
        <p:nvSpPr>
          <p:cNvPr id="8" name="Rectangle 7">
            <a:extLst xmlns:a="http://schemas.openxmlformats.org/drawingml/2006/main">
              <a:ext uri="{FF2B5EF4-FFF2-40B4-BE49-F238E27FC236}">
                <a16:creationId xmlns:a16="http://schemas.microsoft.com/office/drawing/2014/main" id="{DDFC3800-4C7F-4A91-8AB1-911E83C21F47}"/>
              </a:ext>
            </a:extLst>
          </p:cNvPr>
          <p:cNvSpPr>
            <a:spLocks xmlns:a="http://schemas.openxmlformats.org/drawingml/2006/main" noGrp="1"/>
          </p:cNvSpPr>
          <p:nvPr/>
        </p:nvSpPr>
        <p:spPr>
          <a:xfrm xmlns:a="http://schemas.openxmlformats.org/drawingml/2006/main">
            <a:off x="822960" y="3911459"/>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B033C06-FC81-48EB-A493-B65D6F687FB5}"/>
              </a:ext>
            </a:extLst>
          </p:cNvPr>
          <p:cNvSpPr>
            <a:spLocks xmlns:a="http://schemas.openxmlformats.org/drawingml/2006/main" noGrp="1"/>
          </p:cNvSpPr>
          <p:nvPr/>
        </p:nvSpPr>
        <p:spPr>
          <a:xfrm xmlns:a="http://schemas.openxmlformats.org/drawingml/2006/main">
            <a:off x="969264" y="3884027"/>
            <a:ext cx="10387584"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xmlns:a="http://schemas.openxmlformats.org/drawingml/2006/main">
              <a:ext uri="{FF2B5EF4-FFF2-40B4-BE49-F238E27FC236}">
                <a16:creationId xmlns:a16="http://schemas.microsoft.com/office/drawing/2014/main" id="{37072A8D-E6F1-4F46-A677-AF6EC3872EAF}"/>
              </a:ext>
            </a:extLst>
          </p:cNvPr>
          <p:cNvSpPr>
            <a:spLocks xmlns:a="http://schemas.openxmlformats.org/drawingml/2006/main" noGrp="1"/>
          </p:cNvSpPr>
          <p:nvPr/>
        </p:nvSpPr>
        <p:spPr>
          <a:xfrm xmlns:a="http://schemas.openxmlformats.org/drawingml/2006/main">
            <a:off x="822960" y="4432667"/>
            <a:ext cx="3255264"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940C169-80D6-4CCC-B256-D0096F52BA60}"/>
              </a:ext>
            </a:extLst>
          </p:cNvPr>
          <p:cNvSpPr>
            <a:spLocks xmlns:a="http://schemas.openxmlformats.org/drawingml/2006/main" noGrp="1"/>
          </p:cNvSpPr>
          <p:nvPr/>
        </p:nvSpPr>
        <p:spPr>
          <a:xfrm xmlns:a="http://schemas.openxmlformats.org/drawingml/2006/main">
            <a:off x="987552" y="4560683"/>
            <a:ext cx="2926080"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xmlns:a="http://schemas.openxmlformats.org/drawingml/2006/main">
              <a:ext uri="{FF2B5EF4-FFF2-40B4-BE49-F238E27FC236}">
                <a16:creationId xmlns:a16="http://schemas.microsoft.com/office/drawing/2014/main" id="{131575DD-DCF1-470C-AFD7-7261A2130067}"/>
              </a:ext>
            </a:extLst>
          </p:cNvPr>
          <p:cNvSpPr>
            <a:spLocks xmlns:a="http://schemas.openxmlformats.org/drawingml/2006/main" noGrp="1"/>
          </p:cNvSpPr>
          <p:nvPr/>
        </p:nvSpPr>
        <p:spPr>
          <a:xfrm xmlns:a="http://schemas.openxmlformats.org/drawingml/2006/main">
            <a:off x="987552" y="5091035"/>
            <a:ext cx="2926080" cy="21223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xmlns:a="http://schemas.openxmlformats.org/drawingml/2006/main">
              <a:ext uri="{FF2B5EF4-FFF2-40B4-BE49-F238E27FC236}">
                <a16:creationId xmlns:a16="http://schemas.microsoft.com/office/drawing/2014/main" id="{21900610-13B3-4EB5-B45E-381F8D68E466}"/>
              </a:ext>
            </a:extLst>
          </p:cNvPr>
          <p:cNvSpPr>
            <a:spLocks xmlns:a="http://schemas.openxmlformats.org/drawingml/2006/main" noGrp="1"/>
          </p:cNvSpPr>
          <p:nvPr/>
        </p:nvSpPr>
        <p:spPr>
          <a:xfrm xmlns:a="http://schemas.openxmlformats.org/drawingml/2006/main">
            <a:off x="4462272" y="4432667"/>
            <a:ext cx="3255264"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EE7BE3BB-092A-435E-AE34-69336CCD976C}"/>
              </a:ext>
            </a:extLst>
          </p:cNvPr>
          <p:cNvSpPr>
            <a:spLocks xmlns:a="http://schemas.openxmlformats.org/drawingml/2006/main" noGrp="1"/>
          </p:cNvSpPr>
          <p:nvPr/>
        </p:nvSpPr>
        <p:spPr>
          <a:xfrm xmlns:a="http://schemas.openxmlformats.org/drawingml/2006/main">
            <a:off x="4626864" y="4560683"/>
            <a:ext cx="2926080"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xmlns:a="http://schemas.openxmlformats.org/drawingml/2006/main">
              <a:ext uri="{FF2B5EF4-FFF2-40B4-BE49-F238E27FC236}">
                <a16:creationId xmlns:a16="http://schemas.microsoft.com/office/drawing/2014/main" id="{874B3382-6DE7-4669-98B0-2EBBCFE51CA5}"/>
              </a:ext>
            </a:extLst>
          </p:cNvPr>
          <p:cNvSpPr>
            <a:spLocks xmlns:a="http://schemas.openxmlformats.org/drawingml/2006/main" noGrp="1"/>
          </p:cNvSpPr>
          <p:nvPr/>
        </p:nvSpPr>
        <p:spPr>
          <a:xfrm xmlns:a="http://schemas.openxmlformats.org/drawingml/2006/main">
            <a:off x="4626864" y="5091035"/>
            <a:ext cx="292608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DEG occurrences</a:t>
            </a:r>
          </a:p>
        </p:txBody>
      </p:sp>
      <p:sp>
        <p:nvSpPr>
          <p:cNvPr id="16" name="Rounded Rectangle 15">
            <a:extLst xmlns:a="http://schemas.openxmlformats.org/drawingml/2006/main">
              <a:ext uri="{FF2B5EF4-FFF2-40B4-BE49-F238E27FC236}">
                <a16:creationId xmlns:a16="http://schemas.microsoft.com/office/drawing/2014/main" id="{7BEBD8D8-AA58-4FB9-8DE6-C310C2812410}"/>
              </a:ext>
            </a:extLst>
          </p:cNvPr>
          <p:cNvSpPr>
            <a:spLocks xmlns:a="http://schemas.openxmlformats.org/drawingml/2006/main" noGrp="1"/>
          </p:cNvSpPr>
          <p:nvPr/>
        </p:nvSpPr>
        <p:spPr>
          <a:xfrm xmlns:a="http://schemas.openxmlformats.org/drawingml/2006/main">
            <a:off x="8101583" y="4432667"/>
            <a:ext cx="3255264" cy="11430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A317F82-12DC-4FA1-A65A-735DF2578A27}"/>
              </a:ext>
            </a:extLst>
          </p:cNvPr>
          <p:cNvSpPr>
            <a:spLocks xmlns:a="http://schemas.openxmlformats.org/drawingml/2006/main" noGrp="1"/>
          </p:cNvSpPr>
          <p:nvPr/>
        </p:nvSpPr>
        <p:spPr>
          <a:xfrm xmlns:a="http://schemas.openxmlformats.org/drawingml/2006/main">
            <a:off x="8266175" y="4560683"/>
            <a:ext cx="2926080"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12/14</a:t>
            </a:r>
          </a:p>
        </p:txBody>
      </p:sp>
      <p:sp>
        <p:nvSpPr>
          <p:cNvPr id="18" name="TextBox 17">
            <a:extLst xmlns:a="http://schemas.openxmlformats.org/drawingml/2006/main">
              <a:ext uri="{FF2B5EF4-FFF2-40B4-BE49-F238E27FC236}">
                <a16:creationId xmlns:a16="http://schemas.microsoft.com/office/drawing/2014/main" id="{689B7B38-7AA5-4864-A93A-51C81459A594}"/>
              </a:ext>
            </a:extLst>
          </p:cNvPr>
          <p:cNvSpPr>
            <a:spLocks xmlns:a="http://schemas.openxmlformats.org/drawingml/2006/main" noGrp="1"/>
          </p:cNvSpPr>
          <p:nvPr/>
        </p:nvSpPr>
        <p:spPr>
          <a:xfrm xmlns:a="http://schemas.openxmlformats.org/drawingml/2006/main">
            <a:off x="8266175" y="5091035"/>
            <a:ext cx="292608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KDA input queries enriched</a:t>
            </a:r>
          </a:p>
        </p:txBody>
      </p:sp>
      <p:sp>
        <p:nvSpPr>
          <p:cNvPr id="19" name="Rounded Rectangle 18">
            <a:extLst xmlns:a="http://schemas.openxmlformats.org/drawingml/2006/main">
              <a:ext uri="{FF2B5EF4-FFF2-40B4-BE49-F238E27FC236}">
                <a16:creationId xmlns:a16="http://schemas.microsoft.com/office/drawing/2014/main" id="{111CC3A6-1B5D-4A64-8308-AD8C656EC246}"/>
              </a:ext>
            </a:extLst>
          </p:cNvPr>
          <p:cNvSpPr>
            <a:spLocks xmlns:a="http://schemas.openxmlformats.org/drawingml/2006/main" noGrp="1"/>
          </p:cNvSpPr>
          <p:nvPr/>
        </p:nvSpPr>
        <p:spPr>
          <a:xfrm xmlns:a="http://schemas.openxmlformats.org/drawingml/2006/main">
            <a:off x="822960" y="5880464"/>
            <a:ext cx="10533888" cy="60350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ctangle 19">
            <a:extLst xmlns:a="http://schemas.openxmlformats.org/drawingml/2006/main">
              <a:ext uri="{FF2B5EF4-FFF2-40B4-BE49-F238E27FC236}">
                <a16:creationId xmlns:a16="http://schemas.microsoft.com/office/drawing/2014/main" id="{B9432BB9-196A-4B83-BF88-F362828F559D}"/>
              </a:ext>
            </a:extLst>
          </p:cNvPr>
          <p:cNvSpPr>
            <a:spLocks xmlns:a="http://schemas.openxmlformats.org/drawingml/2006/main" noGrp="1"/>
          </p:cNvSpPr>
          <p:nvPr/>
        </p:nvSpPr>
        <p:spPr>
          <a:xfrm xmlns:a="http://schemas.openxmlformats.org/drawingml/2006/main">
            <a:off x="1042415" y="6142595"/>
            <a:ext cx="8924544" cy="182880"/>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8F193D5-6095-4F4D-A363-B705B9523607}"/>
              </a:ext>
            </a:extLst>
          </p:cNvPr>
          <p:cNvSpPr>
            <a:spLocks xmlns:a="http://schemas.openxmlformats.org/drawingml/2006/main" noGrp="1"/>
          </p:cNvSpPr>
          <p:nvPr/>
        </p:nvSpPr>
        <p:spPr>
          <a:xfrm xmlns:a="http://schemas.openxmlformats.org/drawingml/2006/main">
            <a:off x="1042415" y="5895707"/>
            <a:ext cx="219456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xmlns:a="http://schemas.openxmlformats.org/drawingml/2006/main">
              <a:ext uri="{FF2B5EF4-FFF2-40B4-BE49-F238E27FC236}">
                <a16:creationId xmlns:a16="http://schemas.microsoft.com/office/drawing/2014/main" id="{C5F40C86-C6A3-4BF6-98A0-CD69CC071E4B}"/>
              </a:ext>
            </a:extLst>
          </p:cNvPr>
          <p:cNvSpPr>
            <a:spLocks xmlns:a="http://schemas.openxmlformats.org/drawingml/2006/main" noGrp="1"/>
          </p:cNvSpPr>
          <p:nvPr/>
        </p:nvSpPr>
        <p:spPr>
          <a:xfrm xmlns:a="http://schemas.openxmlformats.org/drawingml/2006/main">
            <a:off x="9948672" y="5895707"/>
            <a:ext cx="1133856"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xmlns:a="http://schemas.openxmlformats.org/drawingml/2006/main">
              <a:ext uri="{FF2B5EF4-FFF2-40B4-BE49-F238E27FC236}">
                <a16:creationId xmlns:a16="http://schemas.microsoft.com/office/drawing/2014/main" id="{7A26DA41-6A03-4CC9-BACC-DA751FFA8E7B}"/>
              </a:ext>
            </a:extLst>
          </p:cNvPr>
          <p:cNvSpPr>
            <a:spLocks xmlns:a="http://schemas.openxmlformats.org/drawingml/2006/main" noGrp="1"/>
          </p:cNvSpPr>
          <p:nvPr/>
        </p:nvSpPr>
        <p:spPr>
          <a:xfrm xmlns:a="http://schemas.openxmlformats.org/drawingml/2006/main">
            <a:off x="658368" y="1210479"/>
            <a:ext cx="10881360" cy="586527"/>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808A5551-66D5-4B83-AAA6-63525B06F404}"/>
              </a:ext>
            </a:extLst>
          </p:cNvPr>
          <p:cNvSpPr>
            <a:spLocks xmlns:a="http://schemas.openxmlformats.org/drawingml/2006/main" noGrp="1"/>
          </p:cNvSpPr>
          <p:nvPr/>
        </p:nvSpPr>
        <p:spPr>
          <a:xfrm xmlns:a="http://schemas.openxmlformats.org/drawingml/2006/main">
            <a:off x="1060704" y="1330657"/>
            <a:ext cx="10058400" cy="4247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00" b="1" i="0">
                <a:solidFill>
                  <a:srgbClr val="FF0000"/>
                </a:solidFill>
                <a:latin typeface="Arial"/>
                <a:ea typeface="Arial"/>
                <a:cs typeface="Arial"/>
              </a:rPr>
              <a:t>Enriched</a:t>
            </a:r>
            <a:r>
              <a:rPr sz="1200" b="0" i="0">
                <a:solidFill>
                  <a:srgbClr val="4E5A68"/>
                </a:solidFill>
                <a:latin typeface="Arial"/>
                <a:ea typeface="Arial"/>
                <a:cs typeface="Arial"/>
              </a:rPr>
              <a:t> = more mtDNA-OXPHOS genes than expected by chance in the exact background (BH-adjusted P &lt; 0.05)</a:t>
            </a:r>
            <a:r>
              <a:rPr sz="1200">
                <a:solidFill>
                  <a:srgbClr val="4E5A68"/>
                </a:solidFill>
                <a:latin typeface="Arial"/>
                <a:ea typeface="Arial"/>
                <a:cs typeface="Arial"/>
              </a:rPr>
              <a:t>, test genes in input query to call_key_drivers().</a:t>
            </a:r>
            <a:endParaRPr sz="1200" b="0" i="0">
              <a:solidFill>
                <a:srgbClr val="4E5A68"/>
              </a:solidFill>
              <a:latin typeface="Arial"/>
              <a:ea typeface="Arial"/>
              <a:cs typeface="Arial"/>
            </a:endParaRPr>
          </a:p>
        </p:txBody>
      </p:sp>
      <p:sp>
        <p:nvSpPr>
          <p:cNvPr id="26" name="Rectangle 25">
            <a:extLst xmlns:a="http://schemas.openxmlformats.org/drawingml/2006/main">
              <a:ext uri="{FF2B5EF4-FFF2-40B4-BE49-F238E27FC236}">
                <a16:creationId xmlns:a16="http://schemas.microsoft.com/office/drawing/2014/main" id="{A3EE13A9-22D5-50A2-11CE-AB3CAD176957}"/>
              </a:ext>
            </a:extLst>
          </p:cNvPr>
          <p:cNvSpPr>
            <a:spLocks xmlns:a="http://schemas.openxmlformats.org/drawingml/2006/main" noGrp="1"/>
          </p:cNvSpPr>
          <p:nvPr/>
        </p:nvSpPr>
        <p:spPr>
          <a:xfrm xmlns:a="http://schemas.openxmlformats.org/drawingml/2006/main">
            <a:off x="809895" y="2008624"/>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15B8895-9C9B-00FA-D032-13DF052A1BD1}"/>
              </a:ext>
            </a:extLst>
          </p:cNvPr>
          <p:cNvSpPr>
            <a:spLocks xmlns:a="http://schemas.openxmlformats.org/drawingml/2006/main" noGrp="1"/>
          </p:cNvSpPr>
          <p:nvPr/>
        </p:nvSpPr>
        <p:spPr>
          <a:xfrm xmlns:a="http://schemas.openxmlformats.org/drawingml/2006/main">
            <a:off x="956199" y="1981192"/>
            <a:ext cx="10387584"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For all eligible F_e33 calls</a:t>
            </a:r>
          </a:p>
        </p:txBody>
      </p:sp>
    </p:spTree>
    <p:extLst>
      <p:ext uri="{BB962C8B-B14F-4D97-AF65-F5344CB8AC3E}">
        <p14:creationId xmlns:p14="http://schemas.microsoft.com/office/powerpoint/2010/main" val="331932660"/>
      </p:ext>
    </p:extLst>
  </p:cSld>
</p:sld>
</file>

<file path=ppt/slides/slide4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56D2DCA-6440-4FC8-ADC6-70416DB822C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SEA-AD adds narrow but strong support for the excitatory-neuron program</a:t>
            </a:r>
          </a:p>
        </p:txBody>
      </p:sp>
      <p:sp>
        <p:nvSpPr>
          <p:cNvPr id="3" name="TextBox 2">
            <a:extLst xmlns:a="http://schemas.openxmlformats.org/drawingml/2006/main">
              <a:ext uri="{FF2B5EF4-FFF2-40B4-BE49-F238E27FC236}">
                <a16:creationId xmlns:a16="http://schemas.microsoft.com/office/drawing/2014/main" id="{57C75997-8929-4D69-A9F0-62952DF2C73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Only one matched female ε3/ε3 excitatory call was evaluable, so support is strong in direction but limited in coverage.</a:t>
            </a:r>
          </a:p>
        </p:txBody>
      </p:sp>
      <p:sp>
        <p:nvSpPr>
          <p:cNvPr id="4" name="Rounded Rectangle 3">
            <a:extLst xmlns:a="http://schemas.openxmlformats.org/drawingml/2006/main">
              <a:ext uri="{FF2B5EF4-FFF2-40B4-BE49-F238E27FC236}">
                <a16:creationId xmlns:a16="http://schemas.microsoft.com/office/drawing/2014/main" id="{8C4139BF-7618-4986-9D53-5EF567B29CD6}"/>
              </a:ext>
            </a:extLst>
          </p:cNvPr>
          <p:cNvSpPr>
            <a:spLocks xmlns:a="http://schemas.openxmlformats.org/drawingml/2006/main" noGrp="1"/>
          </p:cNvSpPr>
          <p:nvPr/>
        </p:nvSpPr>
        <p:spPr>
          <a:xfrm xmlns:a="http://schemas.openxmlformats.org/drawingml/2006/main">
            <a:off x="713232" y="1371600"/>
            <a:ext cx="3273552"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BE2FF06-B7A9-4AEC-9585-668D9E48A9C9}"/>
              </a:ext>
            </a:extLst>
          </p:cNvPr>
          <p:cNvSpPr>
            <a:spLocks xmlns:a="http://schemas.openxmlformats.org/drawingml/2006/main" noGrp="1"/>
          </p:cNvSpPr>
          <p:nvPr/>
        </p:nvSpPr>
        <p:spPr>
          <a:xfrm xmlns:a="http://schemas.openxmlformats.org/drawingml/2006/main">
            <a:off x="877824" y="1499616"/>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xmlns:a="http://schemas.openxmlformats.org/drawingml/2006/main">
              <a:ext uri="{FF2B5EF4-FFF2-40B4-BE49-F238E27FC236}">
                <a16:creationId xmlns:a16="http://schemas.microsoft.com/office/drawing/2014/main" id="{6BA52C5B-057E-49B8-8749-CCB6EA7832A8}"/>
              </a:ext>
            </a:extLst>
          </p:cNvPr>
          <p:cNvSpPr>
            <a:spLocks xmlns:a="http://schemas.openxmlformats.org/drawingml/2006/main" noGrp="1"/>
          </p:cNvSpPr>
          <p:nvPr/>
        </p:nvSpPr>
        <p:spPr>
          <a:xfrm xmlns:a="http://schemas.openxmlformats.org/drawingml/2006/main">
            <a:off x="877824" y="2029967"/>
            <a:ext cx="29443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SEA query genes are shared mtDNA-OXPHOS genes</a:t>
            </a:r>
          </a:p>
        </p:txBody>
      </p:sp>
      <p:sp>
        <p:nvSpPr>
          <p:cNvPr id="7" name="Rounded Rectangle 6">
            <a:extLst xmlns:a="http://schemas.openxmlformats.org/drawingml/2006/main">
              <a:ext uri="{FF2B5EF4-FFF2-40B4-BE49-F238E27FC236}">
                <a16:creationId xmlns:a16="http://schemas.microsoft.com/office/drawing/2014/main" id="{90943F31-8715-48FB-9D25-65D2570FE648}"/>
              </a:ext>
            </a:extLst>
          </p:cNvPr>
          <p:cNvSpPr>
            <a:spLocks xmlns:a="http://schemas.openxmlformats.org/drawingml/2006/main" noGrp="1"/>
          </p:cNvSpPr>
          <p:nvPr/>
        </p:nvSpPr>
        <p:spPr>
          <a:xfrm xmlns:a="http://schemas.openxmlformats.org/drawingml/2006/main">
            <a:off x="713232" y="2807208"/>
            <a:ext cx="3273552"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CECCD25-F81C-44BD-B1BE-6CCD007CCAFF}"/>
              </a:ext>
            </a:extLst>
          </p:cNvPr>
          <p:cNvSpPr>
            <a:spLocks xmlns:a="http://schemas.openxmlformats.org/drawingml/2006/main" noGrp="1"/>
          </p:cNvSpPr>
          <p:nvPr/>
        </p:nvSpPr>
        <p:spPr>
          <a:xfrm xmlns:a="http://schemas.openxmlformats.org/drawingml/2006/main">
            <a:off x="877824" y="2935224"/>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xmlns:a="http://schemas.openxmlformats.org/drawingml/2006/main">
              <a:ext uri="{FF2B5EF4-FFF2-40B4-BE49-F238E27FC236}">
                <a16:creationId xmlns:a16="http://schemas.microsoft.com/office/drawing/2014/main" id="{B2BC4AF6-22C0-4101-A1EC-194EF2F07DA1}"/>
              </a:ext>
            </a:extLst>
          </p:cNvPr>
          <p:cNvSpPr>
            <a:spLocks xmlns:a="http://schemas.openxmlformats.org/drawingml/2006/main" noGrp="1"/>
          </p:cNvSpPr>
          <p:nvPr/>
        </p:nvSpPr>
        <p:spPr>
          <a:xfrm xmlns:a="http://schemas.openxmlformats.org/drawingml/2006/main">
            <a:off x="877824" y="3465576"/>
            <a:ext cx="29443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xmlns:a="http://schemas.openxmlformats.org/drawingml/2006/main">
              <a:ext uri="{FF2B5EF4-FFF2-40B4-BE49-F238E27FC236}">
                <a16:creationId xmlns:a16="http://schemas.microsoft.com/office/drawing/2014/main" id="{EAA86796-15D8-42E8-A625-E146CA6C3481}"/>
              </a:ext>
            </a:extLst>
          </p:cNvPr>
          <p:cNvSpPr>
            <a:spLocks xmlns:a="http://schemas.openxmlformats.org/drawingml/2006/main" noGrp="1"/>
          </p:cNvSpPr>
          <p:nvPr/>
        </p:nvSpPr>
        <p:spPr>
          <a:xfrm xmlns:a="http://schemas.openxmlformats.org/drawingml/2006/main">
            <a:off x="713232" y="4242816"/>
            <a:ext cx="327355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15DA7CE-911F-44E8-9A2F-474FE65548FF}"/>
              </a:ext>
            </a:extLst>
          </p:cNvPr>
          <p:cNvSpPr>
            <a:spLocks xmlns:a="http://schemas.openxmlformats.org/drawingml/2006/main" noGrp="1"/>
          </p:cNvSpPr>
          <p:nvPr/>
        </p:nvSpPr>
        <p:spPr>
          <a:xfrm xmlns:a="http://schemas.openxmlformats.org/drawingml/2006/main">
            <a:off x="877824" y="4370831"/>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xmlns:a="http://schemas.openxmlformats.org/drawingml/2006/main">
              <a:ext uri="{FF2B5EF4-FFF2-40B4-BE49-F238E27FC236}">
                <a16:creationId xmlns:a16="http://schemas.microsoft.com/office/drawing/2014/main" id="{9ADD6921-AD74-4B94-AB0A-D0B2CFFAC018}"/>
              </a:ext>
            </a:extLst>
          </p:cNvPr>
          <p:cNvSpPr>
            <a:spLocks xmlns:a="http://schemas.openxmlformats.org/drawingml/2006/main" noGrp="1"/>
          </p:cNvSpPr>
          <p:nvPr/>
        </p:nvSpPr>
        <p:spPr>
          <a:xfrm xmlns:a="http://schemas.openxmlformats.org/drawingml/2006/main">
            <a:off x="877824" y="4901183"/>
            <a:ext cx="29443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xmlns:a="http://schemas.openxmlformats.org/drawingml/2006/main">
              <a:ext uri="{FF2B5EF4-FFF2-40B4-BE49-F238E27FC236}">
                <a16:creationId xmlns:a16="http://schemas.microsoft.com/office/drawing/2014/main" id="{04AF87D9-8701-44A2-A573-D4F8BFC9199F}"/>
              </a:ext>
            </a:extLst>
          </p:cNvPr>
          <p:cNvSpPr>
            <a:spLocks xmlns:a="http://schemas.openxmlformats.org/drawingml/2006/main" noGrp="1"/>
          </p:cNvSpPr>
          <p:nvPr/>
        </p:nvSpPr>
        <p:spPr>
          <a:xfrm xmlns:a="http://schemas.openxmlformats.org/drawingml/2006/main">
            <a:off x="877824" y="5230368"/>
            <a:ext cx="294436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xmlns:a="http://schemas.openxmlformats.org/drawingml/2006/main">
              <a:ext uri="{FF2B5EF4-FFF2-40B4-BE49-F238E27FC236}">
                <a16:creationId xmlns:a16="http://schemas.microsoft.com/office/drawing/2014/main" id="{41A2725F-0694-4957-AE4A-FD6EC15292FD}"/>
              </a:ext>
            </a:extLst>
          </p:cNvPr>
          <p:cNvSpPr>
            <a:spLocks xmlns:a="http://schemas.openxmlformats.org/drawingml/2006/main" noGrp="1"/>
          </p:cNvSpPr>
          <p:nvPr/>
        </p:nvSpPr>
        <p:spPr>
          <a:xfrm xmlns:a="http://schemas.openxmlformats.org/drawingml/2006/main">
            <a:off x="4315968" y="1371600"/>
            <a:ext cx="7150608" cy="433425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ectangle 14">
            <a:extLst xmlns:a="http://schemas.openxmlformats.org/drawingml/2006/main">
              <a:ext uri="{FF2B5EF4-FFF2-40B4-BE49-F238E27FC236}">
                <a16:creationId xmlns:a16="http://schemas.microsoft.com/office/drawing/2014/main" id="{ACEB790C-B7A7-447A-8FDC-7C5664E31F24}"/>
              </a:ext>
            </a:extLst>
          </p:cNvPr>
          <p:cNvSpPr>
            <a:spLocks xmlns:a="http://schemas.openxmlformats.org/drawingml/2006/main" noGrp="1"/>
          </p:cNvSpPr>
          <p:nvPr/>
        </p:nvSpPr>
        <p:spPr>
          <a:xfrm xmlns:a="http://schemas.openxmlformats.org/drawingml/2006/main">
            <a:off x="4608576" y="1691640"/>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4F275946-0725-45E6-843F-95BBC8C7CAFC}"/>
              </a:ext>
            </a:extLst>
          </p:cNvPr>
          <p:cNvSpPr>
            <a:spLocks xmlns:a="http://schemas.openxmlformats.org/drawingml/2006/main" noGrp="1"/>
          </p:cNvSpPr>
          <p:nvPr/>
        </p:nvSpPr>
        <p:spPr>
          <a:xfrm xmlns:a="http://schemas.openxmlformats.org/drawingml/2006/main">
            <a:off x="4754880" y="1664208"/>
            <a:ext cx="63642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xmlns:a="http://schemas.openxmlformats.org/drawingml/2006/main">
              <a:ext uri="{FF2B5EF4-FFF2-40B4-BE49-F238E27FC236}">
                <a16:creationId xmlns:a16="http://schemas.microsoft.com/office/drawing/2014/main" id="{CAD8F1F9-49BD-489B-A42F-855641139CE9}"/>
              </a:ext>
            </a:extLst>
          </p:cNvPr>
          <p:cNvSpPr>
            <a:spLocks xmlns:a="http://schemas.openxmlformats.org/drawingml/2006/main" noGrp="1"/>
          </p:cNvSpPr>
          <p:nvPr/>
        </p:nvSpPr>
        <p:spPr>
          <a:xfrm xmlns:a="http://schemas.openxmlformats.org/drawingml/2006/main">
            <a:off x="4626864"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11F70E4-676B-43C5-B532-4C6DDBAE917C}"/>
              </a:ext>
            </a:extLst>
          </p:cNvPr>
          <p:cNvSpPr>
            <a:spLocks xmlns:a="http://schemas.openxmlformats.org/drawingml/2006/main" noGrp="1"/>
          </p:cNvSpPr>
          <p:nvPr/>
        </p:nvSpPr>
        <p:spPr>
          <a:xfrm xmlns:a="http://schemas.openxmlformats.org/drawingml/2006/main">
            <a:off x="4718303"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xmlns:a="http://schemas.openxmlformats.org/drawingml/2006/main">
              <a:ext uri="{FF2B5EF4-FFF2-40B4-BE49-F238E27FC236}">
                <a16:creationId xmlns:a16="http://schemas.microsoft.com/office/drawing/2014/main" id="{28889E98-08F5-4EA2-B5E9-BF6C95FC4AE3}"/>
              </a:ext>
            </a:extLst>
          </p:cNvPr>
          <p:cNvSpPr>
            <a:spLocks xmlns:a="http://schemas.openxmlformats.org/drawingml/2006/main" noGrp="1"/>
          </p:cNvSpPr>
          <p:nvPr/>
        </p:nvSpPr>
        <p:spPr>
          <a:xfrm xmlns:a="http://schemas.openxmlformats.org/drawingml/2006/main">
            <a:off x="6729983"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13AF5785-B372-4F0A-B5EE-9CA243B074C7}"/>
              </a:ext>
            </a:extLst>
          </p:cNvPr>
          <p:cNvSpPr>
            <a:spLocks xmlns:a="http://schemas.openxmlformats.org/drawingml/2006/main" noGrp="1"/>
          </p:cNvSpPr>
          <p:nvPr/>
        </p:nvSpPr>
        <p:spPr>
          <a:xfrm xmlns:a="http://schemas.openxmlformats.org/drawingml/2006/main">
            <a:off x="6821423"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xmlns:a="http://schemas.openxmlformats.org/drawingml/2006/main">
              <a:ext uri="{FF2B5EF4-FFF2-40B4-BE49-F238E27FC236}">
                <a16:creationId xmlns:a16="http://schemas.microsoft.com/office/drawing/2014/main" id="{53655F11-2343-48DD-91C0-608962052EEA}"/>
              </a:ext>
            </a:extLst>
          </p:cNvPr>
          <p:cNvSpPr>
            <a:spLocks xmlns:a="http://schemas.openxmlformats.org/drawingml/2006/main" noGrp="1"/>
          </p:cNvSpPr>
          <p:nvPr/>
        </p:nvSpPr>
        <p:spPr>
          <a:xfrm xmlns:a="http://schemas.openxmlformats.org/drawingml/2006/main">
            <a:off x="8833104"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9F497667-459B-41E4-A14A-F2D5989BAC9F}"/>
              </a:ext>
            </a:extLst>
          </p:cNvPr>
          <p:cNvSpPr>
            <a:spLocks xmlns:a="http://schemas.openxmlformats.org/drawingml/2006/main" noGrp="1"/>
          </p:cNvSpPr>
          <p:nvPr/>
        </p:nvSpPr>
        <p:spPr>
          <a:xfrm xmlns:a="http://schemas.openxmlformats.org/drawingml/2006/main">
            <a:off x="8924544"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xmlns:a="http://schemas.openxmlformats.org/drawingml/2006/main">
              <a:ext uri="{FF2B5EF4-FFF2-40B4-BE49-F238E27FC236}">
                <a16:creationId xmlns:a16="http://schemas.microsoft.com/office/drawing/2014/main" id="{88514EA0-9428-48CB-BEA4-1FC3FCA51D15}"/>
              </a:ext>
            </a:extLst>
          </p:cNvPr>
          <p:cNvSpPr>
            <a:spLocks xmlns:a="http://schemas.openxmlformats.org/drawingml/2006/main" noGrp="1"/>
          </p:cNvSpPr>
          <p:nvPr/>
        </p:nvSpPr>
        <p:spPr>
          <a:xfrm xmlns:a="http://schemas.openxmlformats.org/drawingml/2006/main">
            <a:off x="4626864"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65BFBB08-39FF-42FC-8B5C-979C25BA3C13}"/>
              </a:ext>
            </a:extLst>
          </p:cNvPr>
          <p:cNvSpPr>
            <a:spLocks xmlns:a="http://schemas.openxmlformats.org/drawingml/2006/main" noGrp="1"/>
          </p:cNvSpPr>
          <p:nvPr/>
        </p:nvSpPr>
        <p:spPr>
          <a:xfrm xmlns:a="http://schemas.openxmlformats.org/drawingml/2006/main">
            <a:off x="4718303"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xmlns:a="http://schemas.openxmlformats.org/drawingml/2006/main">
              <a:ext uri="{FF2B5EF4-FFF2-40B4-BE49-F238E27FC236}">
                <a16:creationId xmlns:a16="http://schemas.microsoft.com/office/drawing/2014/main" id="{1FB03E35-E519-4ABD-A350-B0B73DEF330D}"/>
              </a:ext>
            </a:extLst>
          </p:cNvPr>
          <p:cNvSpPr>
            <a:spLocks xmlns:a="http://schemas.openxmlformats.org/drawingml/2006/main" noGrp="1"/>
          </p:cNvSpPr>
          <p:nvPr/>
        </p:nvSpPr>
        <p:spPr>
          <a:xfrm xmlns:a="http://schemas.openxmlformats.org/drawingml/2006/main">
            <a:off x="6729983"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BC938378-EC21-405A-9015-88126D16BFF6}"/>
              </a:ext>
            </a:extLst>
          </p:cNvPr>
          <p:cNvSpPr>
            <a:spLocks xmlns:a="http://schemas.openxmlformats.org/drawingml/2006/main" noGrp="1"/>
          </p:cNvSpPr>
          <p:nvPr/>
        </p:nvSpPr>
        <p:spPr>
          <a:xfrm xmlns:a="http://schemas.openxmlformats.org/drawingml/2006/main">
            <a:off x="6821423"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xmlns:a="http://schemas.openxmlformats.org/drawingml/2006/main">
              <a:ext uri="{FF2B5EF4-FFF2-40B4-BE49-F238E27FC236}">
                <a16:creationId xmlns:a16="http://schemas.microsoft.com/office/drawing/2014/main" id="{654B293A-1D64-4775-A6A4-BE65C26A1FF7}"/>
              </a:ext>
            </a:extLst>
          </p:cNvPr>
          <p:cNvSpPr>
            <a:spLocks xmlns:a="http://schemas.openxmlformats.org/drawingml/2006/main" noGrp="1"/>
          </p:cNvSpPr>
          <p:nvPr/>
        </p:nvSpPr>
        <p:spPr>
          <a:xfrm xmlns:a="http://schemas.openxmlformats.org/drawingml/2006/main">
            <a:off x="8833104"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B52AD8F-EDD8-4C34-A877-8829A680EF2B}"/>
              </a:ext>
            </a:extLst>
          </p:cNvPr>
          <p:cNvSpPr>
            <a:spLocks xmlns:a="http://schemas.openxmlformats.org/drawingml/2006/main" noGrp="1"/>
          </p:cNvSpPr>
          <p:nvPr/>
        </p:nvSpPr>
        <p:spPr>
          <a:xfrm xmlns:a="http://schemas.openxmlformats.org/drawingml/2006/main">
            <a:off x="8924544"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xmlns:a="http://schemas.openxmlformats.org/drawingml/2006/main">
              <a:ext uri="{FF2B5EF4-FFF2-40B4-BE49-F238E27FC236}">
                <a16:creationId xmlns:a16="http://schemas.microsoft.com/office/drawing/2014/main" id="{163336B0-1C3F-47A7-9CF3-B5551FCC3669}"/>
              </a:ext>
            </a:extLst>
          </p:cNvPr>
          <p:cNvSpPr>
            <a:spLocks xmlns:a="http://schemas.openxmlformats.org/drawingml/2006/main" noGrp="1"/>
          </p:cNvSpPr>
          <p:nvPr/>
        </p:nvSpPr>
        <p:spPr>
          <a:xfrm xmlns:a="http://schemas.openxmlformats.org/drawingml/2006/main">
            <a:off x="4626864"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1463F87-EB9A-4B85-8E11-C5961CA95310}"/>
              </a:ext>
            </a:extLst>
          </p:cNvPr>
          <p:cNvSpPr>
            <a:spLocks xmlns:a="http://schemas.openxmlformats.org/drawingml/2006/main" noGrp="1"/>
          </p:cNvSpPr>
          <p:nvPr/>
        </p:nvSpPr>
        <p:spPr>
          <a:xfrm xmlns:a="http://schemas.openxmlformats.org/drawingml/2006/main">
            <a:off x="4718303"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xmlns:a="http://schemas.openxmlformats.org/drawingml/2006/main">
              <a:ext uri="{FF2B5EF4-FFF2-40B4-BE49-F238E27FC236}">
                <a16:creationId xmlns:a16="http://schemas.microsoft.com/office/drawing/2014/main" id="{DA78BB86-560D-465E-853B-8709711AC76C}"/>
              </a:ext>
            </a:extLst>
          </p:cNvPr>
          <p:cNvSpPr>
            <a:spLocks xmlns:a="http://schemas.openxmlformats.org/drawingml/2006/main" noGrp="1"/>
          </p:cNvSpPr>
          <p:nvPr/>
        </p:nvSpPr>
        <p:spPr>
          <a:xfrm xmlns:a="http://schemas.openxmlformats.org/drawingml/2006/main">
            <a:off x="6729983"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FCD6E3EF-3EA1-45FC-8A36-71F17563A453}"/>
              </a:ext>
            </a:extLst>
          </p:cNvPr>
          <p:cNvSpPr>
            <a:spLocks xmlns:a="http://schemas.openxmlformats.org/drawingml/2006/main" noGrp="1"/>
          </p:cNvSpPr>
          <p:nvPr/>
        </p:nvSpPr>
        <p:spPr>
          <a:xfrm xmlns:a="http://schemas.openxmlformats.org/drawingml/2006/main">
            <a:off x="6821423"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xmlns:a="http://schemas.openxmlformats.org/drawingml/2006/main">
              <a:ext uri="{FF2B5EF4-FFF2-40B4-BE49-F238E27FC236}">
                <a16:creationId xmlns:a16="http://schemas.microsoft.com/office/drawing/2014/main" id="{DB2F1ABD-2547-4C59-8D56-6E9F4049067B}"/>
              </a:ext>
            </a:extLst>
          </p:cNvPr>
          <p:cNvSpPr>
            <a:spLocks xmlns:a="http://schemas.openxmlformats.org/drawingml/2006/main" noGrp="1"/>
          </p:cNvSpPr>
          <p:nvPr/>
        </p:nvSpPr>
        <p:spPr>
          <a:xfrm xmlns:a="http://schemas.openxmlformats.org/drawingml/2006/main">
            <a:off x="8833104"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2B3495B9-FC33-4BB1-BD9D-AEA2D3999F0E}"/>
              </a:ext>
            </a:extLst>
          </p:cNvPr>
          <p:cNvSpPr>
            <a:spLocks xmlns:a="http://schemas.openxmlformats.org/drawingml/2006/main" noGrp="1"/>
          </p:cNvSpPr>
          <p:nvPr/>
        </p:nvSpPr>
        <p:spPr>
          <a:xfrm xmlns:a="http://schemas.openxmlformats.org/drawingml/2006/main">
            <a:off x="8924544"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xmlns:a="http://schemas.openxmlformats.org/drawingml/2006/main">
              <a:ext uri="{FF2B5EF4-FFF2-40B4-BE49-F238E27FC236}">
                <a16:creationId xmlns:a16="http://schemas.microsoft.com/office/drawing/2014/main" id="{B37771B0-73EB-4918-A9F6-1BC3F202E5AA}"/>
              </a:ext>
            </a:extLst>
          </p:cNvPr>
          <p:cNvSpPr>
            <a:spLocks xmlns:a="http://schemas.openxmlformats.org/drawingml/2006/main" noGrp="1"/>
          </p:cNvSpPr>
          <p:nvPr/>
        </p:nvSpPr>
        <p:spPr>
          <a:xfrm xmlns:a="http://schemas.openxmlformats.org/drawingml/2006/main">
            <a:off x="4626864" y="4828032"/>
            <a:ext cx="6272784" cy="54864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1B6AB063-6B63-4EA7-9907-FC63046875D9}"/>
              </a:ext>
            </a:extLst>
          </p:cNvPr>
          <p:cNvSpPr>
            <a:spLocks xmlns:a="http://schemas.openxmlformats.org/drawingml/2006/main" noGrp="1"/>
          </p:cNvSpPr>
          <p:nvPr/>
        </p:nvSpPr>
        <p:spPr>
          <a:xfrm xmlns:a="http://schemas.openxmlformats.org/drawingml/2006/main">
            <a:off x="4828032" y="4992624"/>
            <a:ext cx="587044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00" b="1" i="0">
                <a:solidFill>
                  <a:srgbClr val="00684D"/>
                </a:solidFill>
                <a:latin typeface="Arial"/>
                <a:ea typeface="Arial"/>
                <a:cs typeface="Arial"/>
              </a:rPr>
              <a:t>Every shared gene points upward in both datasets.</a:t>
            </a:r>
          </a:p>
        </p:txBody>
      </p:sp>
      <p:sp>
        <p:nvSpPr>
          <p:cNvPr id="37" name="TextBox 36">
            <a:extLst xmlns:a="http://schemas.openxmlformats.org/drawingml/2006/main">
              <a:ext uri="{FF2B5EF4-FFF2-40B4-BE49-F238E27FC236}">
                <a16:creationId xmlns:a16="http://schemas.microsoft.com/office/drawing/2014/main" id="{0435DDB5-56F9-4CAD-A36C-1FB0D9BA8C96}"/>
              </a:ext>
            </a:extLst>
          </p:cNvPr>
          <p:cNvSpPr>
            <a:spLocks xmlns:a="http://schemas.openxmlformats.org/drawingml/2006/main" noGrp="1"/>
          </p:cNvSpPr>
          <p:nvPr/>
        </p:nvSpPr>
        <p:spPr>
          <a:xfrm xmlns:a="http://schemas.openxmlformats.org/drawingml/2006/main">
            <a:off x="859536" y="5971032"/>
            <a:ext cx="10479024"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7E4C9A"/>
                </a:solidFill>
                <a:latin typeface="Arial"/>
                <a:ea typeface="Arial"/>
                <a:cs typeface="Arial"/>
              </a:rPr>
              <a:t>Program-level support is useful even though SEA-AD does not select the same upstream driver.</a:t>
            </a:r>
          </a:p>
        </p:txBody>
      </p:sp>
    </p:spTree>
    <p:extLst>
      <p:ext uri="{BB962C8B-B14F-4D97-AF65-F5344CB8AC3E}">
        <p14:creationId xmlns:p14="http://schemas.microsoft.com/office/powerpoint/2010/main" val="1110494785"/>
      </p:ext>
    </p:extLst>
  </p:cSld>
</p:sld>
</file>

<file path=ppt/slides/slide4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CCA654A-AB07-4E8B-BA1D-A8745CB8EC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mounting a coordinated mitochondrial response</a:t>
            </a:r>
          </a:p>
        </p:txBody>
      </p:sp>
      <p:sp>
        <p:nvSpPr>
          <p:cNvPr id="3" name="TextBox 2">
            <a:extLst xmlns:a="http://schemas.openxmlformats.org/drawingml/2006/main">
              <a:ext uri="{FF2B5EF4-FFF2-40B4-BE49-F238E27FC236}">
                <a16:creationId xmlns:a16="http://schemas.microsoft.com/office/drawing/2014/main" id="{B99129EA-A2AE-46B0-8E3F-650537ACB88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xmlns:a="http://schemas.openxmlformats.org/drawingml/2006/main">
              <a:ext uri="{FF2B5EF4-FFF2-40B4-BE49-F238E27FC236}">
                <a16:creationId xmlns:a16="http://schemas.microsoft.com/office/drawing/2014/main" id="{3F1E3BBD-14B7-4A02-B94E-67585B5D8D48}"/>
              </a:ext>
            </a:extLst>
          </p:cNvPr>
          <p:cNvSpPr>
            <a:spLocks xmlns:a="http://schemas.openxmlformats.org/drawingml/2006/main" noGrp="1"/>
          </p:cNvSpPr>
          <p:nvPr/>
        </p:nvSpPr>
        <p:spPr>
          <a:xfrm xmlns:a="http://schemas.openxmlformats.org/drawingml/2006/main">
            <a:off x="658368" y="1444752"/>
            <a:ext cx="3456432" cy="292608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8F5142AC-4C6A-4EA2-AFC8-2728EB6DF64F}"/>
              </a:ext>
            </a:extLst>
          </p:cNvPr>
          <p:cNvSpPr>
            <a:spLocks xmlns:a="http://schemas.openxmlformats.org/drawingml/2006/main" noGrp="1"/>
          </p:cNvSpPr>
          <p:nvPr/>
        </p:nvSpPr>
        <p:spPr>
          <a:xfrm xmlns:a="http://schemas.openxmlformats.org/drawingml/2006/main">
            <a:off x="914400" y="1755648"/>
            <a:ext cx="512064" cy="51206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82E2D5C6-C022-45AF-B4C2-A43A7FF17B8B}"/>
              </a:ext>
            </a:extLst>
          </p:cNvPr>
          <p:cNvSpPr>
            <a:spLocks xmlns:a="http://schemas.openxmlformats.org/drawingml/2006/main" noGrp="1"/>
          </p:cNvSpPr>
          <p:nvPr/>
        </p:nvSpPr>
        <p:spPr>
          <a:xfrm xmlns:a="http://schemas.openxmlformats.org/drawingml/2006/main">
            <a:off x="91440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xmlns:a="http://schemas.openxmlformats.org/drawingml/2006/main">
              <a:ext uri="{FF2B5EF4-FFF2-40B4-BE49-F238E27FC236}">
                <a16:creationId xmlns:a16="http://schemas.microsoft.com/office/drawing/2014/main" id="{380516AF-6A39-4FEB-BB55-12201169B8D9}"/>
              </a:ext>
            </a:extLst>
          </p:cNvPr>
          <p:cNvSpPr>
            <a:spLocks xmlns:a="http://schemas.openxmlformats.org/drawingml/2006/main" noGrp="1"/>
          </p:cNvSpPr>
          <p:nvPr/>
        </p:nvSpPr>
        <p:spPr>
          <a:xfrm xmlns:a="http://schemas.openxmlformats.org/drawingml/2006/main">
            <a:off x="1572768" y="1773936"/>
            <a:ext cx="224942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xmlns:a="http://schemas.openxmlformats.org/drawingml/2006/main">
              <a:ext uri="{FF2B5EF4-FFF2-40B4-BE49-F238E27FC236}">
                <a16:creationId xmlns:a16="http://schemas.microsoft.com/office/drawing/2014/main" id="{73B618EF-651F-449B-9C83-89A5D4523DA3}"/>
              </a:ext>
            </a:extLst>
          </p:cNvPr>
          <p:cNvSpPr>
            <a:spLocks xmlns:a="http://schemas.openxmlformats.org/drawingml/2006/main" noGrp="1"/>
          </p:cNvSpPr>
          <p:nvPr/>
        </p:nvSpPr>
        <p:spPr>
          <a:xfrm xmlns:a="http://schemas.openxmlformats.org/drawingml/2006/main">
            <a:off x="95097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xmlns:a="http://schemas.openxmlformats.org/drawingml/2006/main">
              <a:ext uri="{FF2B5EF4-FFF2-40B4-BE49-F238E27FC236}">
                <a16:creationId xmlns:a16="http://schemas.microsoft.com/office/drawing/2014/main" id="{BEB91B40-BDC4-472D-9374-07C6725FDCBD}"/>
              </a:ext>
            </a:extLst>
          </p:cNvPr>
          <p:cNvSpPr>
            <a:spLocks xmlns:a="http://schemas.openxmlformats.org/drawingml/2006/main" noGrp="1"/>
          </p:cNvSpPr>
          <p:nvPr/>
        </p:nvSpPr>
        <p:spPr>
          <a:xfrm xmlns:a="http://schemas.openxmlformats.org/drawingml/2006/main">
            <a:off x="4453128" y="1444752"/>
            <a:ext cx="3456432" cy="292608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9A65E5DC-1AAC-4450-AFD0-D7826B5DEAE0}"/>
              </a:ext>
            </a:extLst>
          </p:cNvPr>
          <p:cNvSpPr>
            <a:spLocks xmlns:a="http://schemas.openxmlformats.org/drawingml/2006/main" noGrp="1"/>
          </p:cNvSpPr>
          <p:nvPr/>
        </p:nvSpPr>
        <p:spPr>
          <a:xfrm xmlns:a="http://schemas.openxmlformats.org/drawingml/2006/main">
            <a:off x="4709160" y="1755648"/>
            <a:ext cx="512064" cy="51206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9B2D1F9B-9B71-49A6-9999-3FE1F8A78E7C}"/>
              </a:ext>
            </a:extLst>
          </p:cNvPr>
          <p:cNvSpPr>
            <a:spLocks xmlns:a="http://schemas.openxmlformats.org/drawingml/2006/main" noGrp="1"/>
          </p:cNvSpPr>
          <p:nvPr/>
        </p:nvSpPr>
        <p:spPr>
          <a:xfrm xmlns:a="http://schemas.openxmlformats.org/drawingml/2006/main">
            <a:off x="470916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xmlns:a="http://schemas.openxmlformats.org/drawingml/2006/main">
              <a:ext uri="{FF2B5EF4-FFF2-40B4-BE49-F238E27FC236}">
                <a16:creationId xmlns:a16="http://schemas.microsoft.com/office/drawing/2014/main" id="{969D0F82-104E-4BEF-B341-49D46A6D1A8C}"/>
              </a:ext>
            </a:extLst>
          </p:cNvPr>
          <p:cNvSpPr>
            <a:spLocks xmlns:a="http://schemas.openxmlformats.org/drawingml/2006/main" noGrp="1"/>
          </p:cNvSpPr>
          <p:nvPr/>
        </p:nvSpPr>
        <p:spPr>
          <a:xfrm xmlns:a="http://schemas.openxmlformats.org/drawingml/2006/main">
            <a:off x="5367528" y="1773936"/>
            <a:ext cx="224942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Essential mtDNA parts</a:t>
            </a:r>
          </a:p>
        </p:txBody>
      </p:sp>
      <p:sp>
        <p:nvSpPr>
          <p:cNvPr id="13" name="TextBox 12">
            <a:extLst xmlns:a="http://schemas.openxmlformats.org/drawingml/2006/main">
              <a:ext uri="{FF2B5EF4-FFF2-40B4-BE49-F238E27FC236}">
                <a16:creationId xmlns:a16="http://schemas.microsoft.com/office/drawing/2014/main" id="{AD5164C9-0653-483A-A83B-798C6BD58C43}"/>
              </a:ext>
            </a:extLst>
          </p:cNvPr>
          <p:cNvSpPr>
            <a:spLocks xmlns:a="http://schemas.openxmlformats.org/drawingml/2006/main" noGrp="1"/>
          </p:cNvSpPr>
          <p:nvPr/>
        </p:nvSpPr>
        <p:spPr>
          <a:xfrm xmlns:a="http://schemas.openxmlformats.org/drawingml/2006/main">
            <a:off x="474573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00" b="0" i="0">
                <a:solidFill>
                  <a:srgbClr val="1F2730"/>
                </a:solidFill>
                <a:latin typeface="Arial"/>
                <a:ea typeface="Arial"/>
                <a:cs typeface="Arial"/>
              </a:rPr>
              <a:t>The mitochondrial genome encodes 13 core OXPHOS proteins needed for the respiratory system.</a:t>
            </a:r>
          </a:p>
        </p:txBody>
      </p:sp>
      <p:sp>
        <p:nvSpPr>
          <p:cNvPr id="14" name="Rounded Rectangle 13">
            <a:extLst xmlns:a="http://schemas.openxmlformats.org/drawingml/2006/main">
              <a:ext uri="{FF2B5EF4-FFF2-40B4-BE49-F238E27FC236}">
                <a16:creationId xmlns:a16="http://schemas.microsoft.com/office/drawing/2014/main" id="{A63BD49F-492F-49A8-8701-D94C1DE8F87D}"/>
              </a:ext>
            </a:extLst>
          </p:cNvPr>
          <p:cNvSpPr>
            <a:spLocks xmlns:a="http://schemas.openxmlformats.org/drawingml/2006/main" noGrp="1"/>
          </p:cNvSpPr>
          <p:nvPr/>
        </p:nvSpPr>
        <p:spPr>
          <a:xfrm xmlns:a="http://schemas.openxmlformats.org/drawingml/2006/main">
            <a:off x="8247888" y="1444752"/>
            <a:ext cx="3456432" cy="2926080"/>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4DA3D490-7D99-463B-8604-7EDF75732275}"/>
              </a:ext>
            </a:extLst>
          </p:cNvPr>
          <p:cNvSpPr>
            <a:spLocks xmlns:a="http://schemas.openxmlformats.org/drawingml/2006/main" noGrp="1"/>
          </p:cNvSpPr>
          <p:nvPr/>
        </p:nvSpPr>
        <p:spPr>
          <a:xfrm xmlns:a="http://schemas.openxmlformats.org/drawingml/2006/main">
            <a:off x="8503920" y="1755648"/>
            <a:ext cx="512064" cy="512064"/>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12242748-53CE-4A4C-BCD5-10502CC6D3BD}"/>
              </a:ext>
            </a:extLst>
          </p:cNvPr>
          <p:cNvSpPr>
            <a:spLocks xmlns:a="http://schemas.openxmlformats.org/drawingml/2006/main" noGrp="1"/>
          </p:cNvSpPr>
          <p:nvPr/>
        </p:nvSpPr>
        <p:spPr>
          <a:xfrm xmlns:a="http://schemas.openxmlformats.org/drawingml/2006/main">
            <a:off x="850392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xmlns:a="http://schemas.openxmlformats.org/drawingml/2006/main">
              <a:ext uri="{FF2B5EF4-FFF2-40B4-BE49-F238E27FC236}">
                <a16:creationId xmlns:a16="http://schemas.microsoft.com/office/drawing/2014/main" id="{588883E8-7003-4329-BB64-A8502198D660}"/>
              </a:ext>
            </a:extLst>
          </p:cNvPr>
          <p:cNvSpPr>
            <a:spLocks xmlns:a="http://schemas.openxmlformats.org/drawingml/2006/main" noGrp="1"/>
          </p:cNvSpPr>
          <p:nvPr/>
        </p:nvSpPr>
        <p:spPr>
          <a:xfrm xmlns:a="http://schemas.openxmlformats.org/drawingml/2006/main">
            <a:off x="9162288" y="1773936"/>
            <a:ext cx="224942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xmlns:a="http://schemas.openxmlformats.org/drawingml/2006/main">
              <a:ext uri="{FF2B5EF4-FFF2-40B4-BE49-F238E27FC236}">
                <a16:creationId xmlns:a16="http://schemas.microsoft.com/office/drawing/2014/main" id="{5F19A3CD-3D44-4938-90FF-50898D83B761}"/>
              </a:ext>
            </a:extLst>
          </p:cNvPr>
          <p:cNvSpPr>
            <a:spLocks xmlns:a="http://schemas.openxmlformats.org/drawingml/2006/main" noGrp="1"/>
          </p:cNvSpPr>
          <p:nvPr/>
        </p:nvSpPr>
        <p:spPr>
          <a:xfrm xmlns:a="http://schemas.openxmlformats.org/drawingml/2006/main">
            <a:off x="854049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00" b="0" i="0">
                <a:solidFill>
                  <a:srgbClr val="1F2730"/>
                </a:solidFill>
                <a:latin typeface="Arial"/>
                <a:ea typeface="Arial"/>
                <a:cs typeface="Arial"/>
              </a:rPr>
              <a:t>The same upward RNA program appears across ROSMAP calls and in the matched SEA-AD comparison.</a:t>
            </a:r>
          </a:p>
        </p:txBody>
      </p:sp>
      <p:sp>
        <p:nvSpPr>
          <p:cNvPr id="19" name="Rounded Rectangle 18">
            <a:extLst xmlns:a="http://schemas.openxmlformats.org/drawingml/2006/main">
              <a:ext uri="{FF2B5EF4-FFF2-40B4-BE49-F238E27FC236}">
                <a16:creationId xmlns:a16="http://schemas.microsoft.com/office/drawing/2014/main" id="{E2D5DF43-11A8-4F0E-9BBD-EFE3CF9F45F3}"/>
              </a:ext>
            </a:extLst>
          </p:cNvPr>
          <p:cNvSpPr>
            <a:spLocks xmlns:a="http://schemas.openxmlformats.org/drawingml/2006/main" noGrp="1"/>
          </p:cNvSpPr>
          <p:nvPr/>
        </p:nvSpPr>
        <p:spPr>
          <a:xfrm xmlns:a="http://schemas.openxmlformats.org/drawingml/2006/main">
            <a:off x="658368" y="4736592"/>
            <a:ext cx="10881360" cy="1042415"/>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CC970E90-991B-45D4-B5BD-5B5891C6F68C}"/>
              </a:ext>
            </a:extLst>
          </p:cNvPr>
          <p:cNvSpPr>
            <a:spLocks xmlns:a="http://schemas.openxmlformats.org/drawingml/2006/main" noGrp="1"/>
          </p:cNvSpPr>
          <p:nvPr/>
        </p:nvSpPr>
        <p:spPr>
          <a:xfrm xmlns:a="http://schemas.openxmlformats.org/drawingml/2006/main">
            <a:off x="896112" y="4992624"/>
            <a:ext cx="219456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xmlns:a="http://schemas.openxmlformats.org/drawingml/2006/main">
              <a:ext uri="{FF2B5EF4-FFF2-40B4-BE49-F238E27FC236}">
                <a16:creationId xmlns:a16="http://schemas.microsoft.com/office/drawing/2014/main" id="{7EB9ECA3-37D5-4D30-BB16-F102C2520C90}"/>
              </a:ext>
            </a:extLst>
          </p:cNvPr>
          <p:cNvSpPr>
            <a:spLocks xmlns:a="http://schemas.openxmlformats.org/drawingml/2006/main" noGrp="1"/>
          </p:cNvSpPr>
          <p:nvPr/>
        </p:nvSpPr>
        <p:spPr>
          <a:xfrm xmlns:a="http://schemas.openxmlformats.org/drawingml/2006/main">
            <a:off x="3246120" y="4919472"/>
            <a:ext cx="7836408"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response—not evidence that mitochondria make more ATP.</a:t>
            </a:r>
          </a:p>
        </p:txBody>
      </p:sp>
    </p:spTree>
    <p:extLst>
      <p:ext uri="{BB962C8B-B14F-4D97-AF65-F5344CB8AC3E}">
        <p14:creationId xmlns:p14="http://schemas.microsoft.com/office/powerpoint/2010/main" val="118677421"/>
      </p:ext>
    </p:extLst>
  </p:cSld>
</p:sld>
</file>

<file path=ppt/slides/slide4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8C3AB9D-548E-40B1-B1DB-E255E1F441C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the finding does not prove—and the next evidence needed</a:t>
            </a:r>
          </a:p>
        </p:txBody>
      </p:sp>
      <p:sp>
        <p:nvSpPr>
          <p:cNvPr id="3" name="TextBox 2">
            <a:extLst xmlns:a="http://schemas.openxmlformats.org/drawingml/2006/main">
              <a:ext uri="{FF2B5EF4-FFF2-40B4-BE49-F238E27FC236}">
                <a16:creationId xmlns:a16="http://schemas.microsoft.com/office/drawing/2014/main" id="{AEE759E3-221F-41CD-834B-FD7BFDB7EC5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RNA-program evidence generates a testable mechanism; it does not finish the mechanism.</a:t>
            </a:r>
          </a:p>
        </p:txBody>
      </p:sp>
      <p:sp>
        <p:nvSpPr>
          <p:cNvPr id="4" name="Rounded Rectangle 3">
            <a:extLst xmlns:a="http://schemas.openxmlformats.org/drawingml/2006/main">
              <a:ext uri="{FF2B5EF4-FFF2-40B4-BE49-F238E27FC236}">
                <a16:creationId xmlns:a16="http://schemas.microsoft.com/office/drawing/2014/main" id="{6DF60FD9-435C-445F-AFE1-2154907C8B70}"/>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08092FE-DF35-424C-9739-DE19A60E021D}"/>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37AFEEA-D007-4056-98D6-23C47C001AA2}"/>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21C13DD7-A8DA-46CE-AD90-81BB4E81E0C9}"/>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800B9F7-282E-49F7-B831-6E6BE7C9AD15}"/>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More OXPHOS protein, respiration, or ATP production</a:t>
            </a:r>
          </a:p>
        </p:txBody>
      </p:sp>
      <p:sp>
        <p:nvSpPr>
          <p:cNvPr id="9" name="Oval 8">
            <a:extLst xmlns:a="http://schemas.openxmlformats.org/drawingml/2006/main">
              <a:ext uri="{FF2B5EF4-FFF2-40B4-BE49-F238E27FC236}">
                <a16:creationId xmlns:a16="http://schemas.microsoft.com/office/drawing/2014/main" id="{748AB00F-5BF5-4D9F-910A-A57571DE6F01}"/>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F8C0462-616E-41C2-8AAE-98D124CA5550}"/>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 or ε3/ε3-specific disease effect</a:t>
            </a:r>
          </a:p>
        </p:txBody>
      </p:sp>
      <p:sp>
        <p:nvSpPr>
          <p:cNvPr id="11" name="Oval 10">
            <a:extLst xmlns:a="http://schemas.openxmlformats.org/drawingml/2006/main">
              <a:ext uri="{FF2B5EF4-FFF2-40B4-BE49-F238E27FC236}">
                <a16:creationId xmlns:a16="http://schemas.microsoft.com/office/drawing/2014/main" id="{4E0A03FD-DBE6-476E-9EE5-D63EC83A6E47}"/>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73F2430-556C-412C-B33D-4311C9F57492}"/>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Which upstream key driver caused the RNA increase</a:t>
            </a:r>
          </a:p>
        </p:txBody>
      </p:sp>
      <p:sp>
        <p:nvSpPr>
          <p:cNvPr id="13" name="Rounded Rectangle 12">
            <a:extLst xmlns:a="http://schemas.openxmlformats.org/drawingml/2006/main">
              <a:ext uri="{FF2B5EF4-FFF2-40B4-BE49-F238E27FC236}">
                <a16:creationId xmlns:a16="http://schemas.microsoft.com/office/drawing/2014/main" id="{97C58CDA-796A-4819-9057-AFC87C2AA4E7}"/>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DFEBD149-D6AE-4E12-AD54-0E4A890365C5}"/>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57FDAEFD-E03B-491F-8404-5EB3362FA374}"/>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AAB9A2AC-9395-4AD2-940F-77E4721D102F}"/>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334B42D-DAD8-4A73-8114-0C5B327562BA}"/>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Donor-aware disease × sex × APOE interaction model</a:t>
            </a:r>
          </a:p>
        </p:txBody>
      </p:sp>
      <p:sp>
        <p:nvSpPr>
          <p:cNvPr id="18" name="Oval 17">
            <a:extLst xmlns:a="http://schemas.openxmlformats.org/drawingml/2006/main">
              <a:ext uri="{FF2B5EF4-FFF2-40B4-BE49-F238E27FC236}">
                <a16:creationId xmlns:a16="http://schemas.microsoft.com/office/drawing/2014/main" id="{58249B90-537F-4C2D-9710-23D270AD83E6}"/>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0107D0F6-BCD2-4018-9B8D-AD5579C63102}"/>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OXPHOS protein abundance and complex assembly</a:t>
            </a:r>
          </a:p>
        </p:txBody>
      </p:sp>
      <p:sp>
        <p:nvSpPr>
          <p:cNvPr id="20" name="Oval 19">
            <a:extLst xmlns:a="http://schemas.openxmlformats.org/drawingml/2006/main">
              <a:ext uri="{FF2B5EF4-FFF2-40B4-BE49-F238E27FC236}">
                <a16:creationId xmlns:a16="http://schemas.microsoft.com/office/drawing/2014/main" id="{00C27A16-5258-4D73-A6CE-2A4CD99CC9DF}"/>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C922C75-C928-4658-A28F-517ED2AD3183}"/>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Oxygen consumption, membrane potential, and ATP</a:t>
            </a:r>
          </a:p>
        </p:txBody>
      </p:sp>
      <p:sp>
        <p:nvSpPr>
          <p:cNvPr id="22" name="TextBox 21">
            <a:extLst xmlns:a="http://schemas.openxmlformats.org/drawingml/2006/main">
              <a:ext uri="{FF2B5EF4-FFF2-40B4-BE49-F238E27FC236}">
                <a16:creationId xmlns:a16="http://schemas.microsoft.com/office/drawing/2014/main" id="{99984907-9288-4E04-AEEC-A2CACABFCFAE}"/>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A causal claim requires perturbation and functional rescue—not only another expression dataset.</a:t>
            </a:r>
          </a:p>
        </p:txBody>
      </p:sp>
    </p:spTree>
    <p:extLst>
      <p:ext uri="{BB962C8B-B14F-4D97-AF65-F5344CB8AC3E}">
        <p14:creationId xmlns:p14="http://schemas.microsoft.com/office/powerpoint/2010/main" val="660530884"/>
      </p:ext>
    </p:extLst>
  </p:cSld>
</p:sld>
</file>

<file path=ppt/slides/slide4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78B5F9-322B-4386-A785-C37404D5BAC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xmlns:a="http://schemas.openxmlformats.org/drawingml/2006/main">
              <a:ext uri="{FF2B5EF4-FFF2-40B4-BE49-F238E27FC236}">
                <a16:creationId xmlns:a16="http://schemas.microsoft.com/office/drawing/2014/main" id="{81CF9610-7B95-4B5F-B65C-16227BB579F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xmlns:a="http://schemas.openxmlformats.org/drawingml/2006/main">
              <a:ext uri="{FF2B5EF4-FFF2-40B4-BE49-F238E27FC236}">
                <a16:creationId xmlns:a16="http://schemas.microsoft.com/office/drawing/2014/main" id="{394C9100-E676-4B83-BBF5-208FF175DCC7}"/>
              </a:ext>
            </a:extLst>
          </p:cNvPr>
          <p:cNvSpPr>
            <a:spLocks xmlns:a="http://schemas.openxmlformats.org/drawingml/2006/main" noGrp="1"/>
          </p:cNvSpPr>
          <p:nvPr/>
        </p:nvSpPr>
        <p:spPr>
          <a:xfrm xmlns:a="http://schemas.openxmlformats.org/drawingml/2006/main">
            <a:off x="658368" y="1353312"/>
            <a:ext cx="3456432" cy="4169663"/>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71738A-BFCA-46D3-B314-8F7BC03CEBF9}"/>
              </a:ext>
            </a:extLst>
          </p:cNvPr>
          <p:cNvSpPr>
            <a:spLocks xmlns:a="http://schemas.openxmlformats.org/drawingml/2006/main" noGrp="1"/>
          </p:cNvSpPr>
          <p:nvPr/>
        </p:nvSpPr>
        <p:spPr>
          <a:xfrm xmlns:a="http://schemas.openxmlformats.org/drawingml/2006/main">
            <a:off x="93268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xmlns:a="http://schemas.openxmlformats.org/drawingml/2006/main">
              <a:ext uri="{FF2B5EF4-FFF2-40B4-BE49-F238E27FC236}">
                <a16:creationId xmlns:a16="http://schemas.microsoft.com/office/drawing/2014/main" id="{C6B97ED5-851E-44EE-BCBE-CD2D5F21106D}"/>
              </a:ext>
            </a:extLst>
          </p:cNvPr>
          <p:cNvSpPr>
            <a:spLocks xmlns:a="http://schemas.openxmlformats.org/drawingml/2006/main" noGrp="1"/>
          </p:cNvSpPr>
          <p:nvPr/>
        </p:nvSpPr>
        <p:spPr>
          <a:xfrm xmlns:a="http://schemas.openxmlformats.org/drawingml/2006/main">
            <a:off x="93268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xmlns:a="http://schemas.openxmlformats.org/drawingml/2006/main">
              <a:ext uri="{FF2B5EF4-FFF2-40B4-BE49-F238E27FC236}">
                <a16:creationId xmlns:a16="http://schemas.microsoft.com/office/drawing/2014/main" id="{3F863A1C-2D8D-4748-BAD0-697A8716AA65}"/>
              </a:ext>
            </a:extLst>
          </p:cNvPr>
          <p:cNvSpPr>
            <a:spLocks xmlns:a="http://schemas.openxmlformats.org/drawingml/2006/main" noGrp="1"/>
          </p:cNvSpPr>
          <p:nvPr/>
        </p:nvSpPr>
        <p:spPr>
          <a:xfrm xmlns:a="http://schemas.openxmlformats.org/drawingml/2006/main">
            <a:off x="95097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248D306-76C9-45EB-960F-CD5C7D675957}"/>
              </a:ext>
            </a:extLst>
          </p:cNvPr>
          <p:cNvSpPr>
            <a:spLocks xmlns:a="http://schemas.openxmlformats.org/drawingml/2006/main" noGrp="1"/>
          </p:cNvSpPr>
          <p:nvPr/>
        </p:nvSpPr>
        <p:spPr>
          <a:xfrm xmlns:a="http://schemas.openxmlformats.org/drawingml/2006/main">
            <a:off x="95097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xmlns:a="http://schemas.openxmlformats.org/drawingml/2006/main">
              <a:ext uri="{FF2B5EF4-FFF2-40B4-BE49-F238E27FC236}">
                <a16:creationId xmlns:a16="http://schemas.microsoft.com/office/drawing/2014/main" id="{FE198E2D-1E7A-47A1-ABD2-F6EB57BDE7D1}"/>
              </a:ext>
            </a:extLst>
          </p:cNvPr>
          <p:cNvSpPr>
            <a:spLocks xmlns:a="http://schemas.openxmlformats.org/drawingml/2006/main" noGrp="1"/>
          </p:cNvSpPr>
          <p:nvPr/>
        </p:nvSpPr>
        <p:spPr>
          <a:xfrm xmlns:a="http://schemas.openxmlformats.org/drawingml/2006/main">
            <a:off x="95097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A62546F6-86E1-4B50-A624-902AFFE83666}"/>
              </a:ext>
            </a:extLst>
          </p:cNvPr>
          <p:cNvSpPr>
            <a:spLocks xmlns:a="http://schemas.openxmlformats.org/drawingml/2006/main" noGrp="1"/>
          </p:cNvSpPr>
          <p:nvPr/>
        </p:nvSpPr>
        <p:spPr>
          <a:xfrm xmlns:a="http://schemas.openxmlformats.org/drawingml/2006/main">
            <a:off x="95097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Does not test this exact mtDNA program.</a:t>
            </a:r>
          </a:p>
        </p:txBody>
      </p:sp>
      <p:sp>
        <p:nvSpPr>
          <p:cNvPr id="11" name="Rounded Rectangle 10">
            <a:extLst xmlns:a="http://schemas.openxmlformats.org/drawingml/2006/main">
              <a:ext uri="{FF2B5EF4-FFF2-40B4-BE49-F238E27FC236}">
                <a16:creationId xmlns:a16="http://schemas.microsoft.com/office/drawing/2014/main" id="{99DA58C5-0667-4403-9E80-28206F6D5529}"/>
              </a:ext>
            </a:extLst>
          </p:cNvPr>
          <p:cNvSpPr>
            <a:spLocks xmlns:a="http://schemas.openxmlformats.org/drawingml/2006/main" noGrp="1"/>
          </p:cNvSpPr>
          <p:nvPr/>
        </p:nvSpPr>
        <p:spPr>
          <a:xfrm xmlns:a="http://schemas.openxmlformats.org/drawingml/2006/main">
            <a:off x="4453128" y="1353312"/>
            <a:ext cx="3456432" cy="4169663"/>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B9D63C74-7D1D-4243-A747-9DFFB3A7A462}"/>
              </a:ext>
            </a:extLst>
          </p:cNvPr>
          <p:cNvSpPr>
            <a:spLocks xmlns:a="http://schemas.openxmlformats.org/drawingml/2006/main" noGrp="1"/>
          </p:cNvSpPr>
          <p:nvPr/>
        </p:nvSpPr>
        <p:spPr>
          <a:xfrm xmlns:a="http://schemas.openxmlformats.org/drawingml/2006/main">
            <a:off x="472744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xmlns:a="http://schemas.openxmlformats.org/drawingml/2006/main">
              <a:ext uri="{FF2B5EF4-FFF2-40B4-BE49-F238E27FC236}">
                <a16:creationId xmlns:a16="http://schemas.microsoft.com/office/drawing/2014/main" id="{8B139909-1E60-4B7D-9E5A-7BE7C0E71598}"/>
              </a:ext>
            </a:extLst>
          </p:cNvPr>
          <p:cNvSpPr>
            <a:spLocks xmlns:a="http://schemas.openxmlformats.org/drawingml/2006/main" noGrp="1"/>
          </p:cNvSpPr>
          <p:nvPr/>
        </p:nvSpPr>
        <p:spPr>
          <a:xfrm xmlns:a="http://schemas.openxmlformats.org/drawingml/2006/main">
            <a:off x="472744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xmlns:a="http://schemas.openxmlformats.org/drawingml/2006/main">
              <a:ext uri="{FF2B5EF4-FFF2-40B4-BE49-F238E27FC236}">
                <a16:creationId xmlns:a16="http://schemas.microsoft.com/office/drawing/2014/main" id="{D07D753A-5819-43D5-9D8E-692D4BCC19D7}"/>
              </a:ext>
            </a:extLst>
          </p:cNvPr>
          <p:cNvSpPr>
            <a:spLocks xmlns:a="http://schemas.openxmlformats.org/drawingml/2006/main" noGrp="1"/>
          </p:cNvSpPr>
          <p:nvPr/>
        </p:nvSpPr>
        <p:spPr>
          <a:xfrm xmlns:a="http://schemas.openxmlformats.org/drawingml/2006/main">
            <a:off x="474573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094C5EDA-62A5-4BA8-9214-4716D14A290F}"/>
              </a:ext>
            </a:extLst>
          </p:cNvPr>
          <p:cNvSpPr>
            <a:spLocks xmlns:a="http://schemas.openxmlformats.org/drawingml/2006/main" noGrp="1"/>
          </p:cNvSpPr>
          <p:nvPr/>
        </p:nvSpPr>
        <p:spPr>
          <a:xfrm xmlns:a="http://schemas.openxmlformats.org/drawingml/2006/main">
            <a:off x="474573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xmlns:a="http://schemas.openxmlformats.org/drawingml/2006/main">
              <a:ext uri="{FF2B5EF4-FFF2-40B4-BE49-F238E27FC236}">
                <a16:creationId xmlns:a16="http://schemas.microsoft.com/office/drawing/2014/main" id="{88F43116-0C65-4488-A9FA-1811F9FE34AD}"/>
              </a:ext>
            </a:extLst>
          </p:cNvPr>
          <p:cNvSpPr>
            <a:spLocks xmlns:a="http://schemas.openxmlformats.org/drawingml/2006/main" noGrp="1"/>
          </p:cNvSpPr>
          <p:nvPr/>
        </p:nvSpPr>
        <p:spPr>
          <a:xfrm xmlns:a="http://schemas.openxmlformats.org/drawingml/2006/main">
            <a:off x="474573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7F77D202-D2A9-435A-BC07-B5EFCE7D469E}"/>
              </a:ext>
            </a:extLst>
          </p:cNvPr>
          <p:cNvSpPr>
            <a:spLocks xmlns:a="http://schemas.openxmlformats.org/drawingml/2006/main" noGrp="1"/>
          </p:cNvSpPr>
          <p:nvPr/>
        </p:nvSpPr>
        <p:spPr>
          <a:xfrm xmlns:a="http://schemas.openxmlformats.org/drawingml/2006/main">
            <a:off x="474573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xmlns:a="http://schemas.openxmlformats.org/drawingml/2006/main">
              <a:ext uri="{FF2B5EF4-FFF2-40B4-BE49-F238E27FC236}">
                <a16:creationId xmlns:a16="http://schemas.microsoft.com/office/drawing/2014/main" id="{6B8728A4-00D1-4FE0-B181-2C5422370349}"/>
              </a:ext>
            </a:extLst>
          </p:cNvPr>
          <p:cNvSpPr>
            <a:spLocks xmlns:a="http://schemas.openxmlformats.org/drawingml/2006/main" noGrp="1"/>
          </p:cNvSpPr>
          <p:nvPr/>
        </p:nvSpPr>
        <p:spPr>
          <a:xfrm xmlns:a="http://schemas.openxmlformats.org/drawingml/2006/main">
            <a:off x="8247888" y="1353312"/>
            <a:ext cx="3456432" cy="4169663"/>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7DD6AA2-4D33-4522-829A-91B4C555BCB3}"/>
              </a:ext>
            </a:extLst>
          </p:cNvPr>
          <p:cNvSpPr>
            <a:spLocks xmlns:a="http://schemas.openxmlformats.org/drawingml/2006/main" noGrp="1"/>
          </p:cNvSpPr>
          <p:nvPr/>
        </p:nvSpPr>
        <p:spPr>
          <a:xfrm xmlns:a="http://schemas.openxmlformats.org/drawingml/2006/main">
            <a:off x="852220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xmlns:a="http://schemas.openxmlformats.org/drawingml/2006/main">
              <a:ext uri="{FF2B5EF4-FFF2-40B4-BE49-F238E27FC236}">
                <a16:creationId xmlns:a16="http://schemas.microsoft.com/office/drawing/2014/main" id="{D3350B37-7599-494A-99BD-AE1E6AAD4AA5}"/>
              </a:ext>
            </a:extLst>
          </p:cNvPr>
          <p:cNvSpPr>
            <a:spLocks xmlns:a="http://schemas.openxmlformats.org/drawingml/2006/main" noGrp="1"/>
          </p:cNvSpPr>
          <p:nvPr/>
        </p:nvSpPr>
        <p:spPr>
          <a:xfrm xmlns:a="http://schemas.openxmlformats.org/drawingml/2006/main">
            <a:off x="852220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xmlns:a="http://schemas.openxmlformats.org/drawingml/2006/main">
              <a:ext uri="{FF2B5EF4-FFF2-40B4-BE49-F238E27FC236}">
                <a16:creationId xmlns:a16="http://schemas.microsoft.com/office/drawing/2014/main" id="{5772E729-F288-432E-B988-644CE4473BF0}"/>
              </a:ext>
            </a:extLst>
          </p:cNvPr>
          <p:cNvSpPr>
            <a:spLocks xmlns:a="http://schemas.openxmlformats.org/drawingml/2006/main" noGrp="1"/>
          </p:cNvSpPr>
          <p:nvPr/>
        </p:nvSpPr>
        <p:spPr>
          <a:xfrm xmlns:a="http://schemas.openxmlformats.org/drawingml/2006/main">
            <a:off x="854049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37A3CE70-752E-44EA-8215-399BC87A0B06}"/>
              </a:ext>
            </a:extLst>
          </p:cNvPr>
          <p:cNvSpPr>
            <a:spLocks xmlns:a="http://schemas.openxmlformats.org/drawingml/2006/main" noGrp="1"/>
          </p:cNvSpPr>
          <p:nvPr/>
        </p:nvSpPr>
        <p:spPr>
          <a:xfrm xmlns:a="http://schemas.openxmlformats.org/drawingml/2006/main">
            <a:off x="854049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xmlns:a="http://schemas.openxmlformats.org/drawingml/2006/main">
              <a:ext uri="{FF2B5EF4-FFF2-40B4-BE49-F238E27FC236}">
                <a16:creationId xmlns:a16="http://schemas.microsoft.com/office/drawing/2014/main" id="{1D0B974E-5CAB-4B97-9C99-4892975302B5}"/>
              </a:ext>
            </a:extLst>
          </p:cNvPr>
          <p:cNvSpPr>
            <a:spLocks xmlns:a="http://schemas.openxmlformats.org/drawingml/2006/main" noGrp="1"/>
          </p:cNvSpPr>
          <p:nvPr/>
        </p:nvSpPr>
        <p:spPr>
          <a:xfrm xmlns:a="http://schemas.openxmlformats.org/drawingml/2006/main">
            <a:off x="854049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CB1EF16E-4104-415B-9EE6-BFEB0DEE37AA}"/>
              </a:ext>
            </a:extLst>
          </p:cNvPr>
          <p:cNvSpPr>
            <a:spLocks xmlns:a="http://schemas.openxmlformats.org/drawingml/2006/main" noGrp="1"/>
          </p:cNvSpPr>
          <p:nvPr/>
        </p:nvSpPr>
        <p:spPr>
          <a:xfrm xmlns:a="http://schemas.openxmlformats.org/drawingml/2006/main">
            <a:off x="854049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xmlns:a="http://schemas.openxmlformats.org/drawingml/2006/main">
              <a:ext uri="{FF2B5EF4-FFF2-40B4-BE49-F238E27FC236}">
                <a16:creationId xmlns:a16="http://schemas.microsoft.com/office/drawing/2014/main" id="{99DC217A-C5DA-41D7-BA8B-F4026C1DFE30}"/>
              </a:ext>
            </a:extLst>
          </p:cNvPr>
          <p:cNvSpPr>
            <a:spLocks xmlns:a="http://schemas.openxmlformats.org/drawingml/2006/main" noGrp="1"/>
          </p:cNvSpPr>
          <p:nvPr/>
        </p:nvSpPr>
        <p:spPr>
          <a:xfrm xmlns:a="http://schemas.openxmlformats.org/drawingml/2006/main">
            <a:off x="658368" y="5742432"/>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8B586943-769E-49E5-85F0-0DDD8D4EDDA4}"/>
              </a:ext>
            </a:extLst>
          </p:cNvPr>
          <p:cNvSpPr>
            <a:spLocks xmlns:a="http://schemas.openxmlformats.org/drawingml/2006/main" noGrp="1"/>
          </p:cNvSpPr>
          <p:nvPr/>
        </p:nvSpPr>
        <p:spPr>
          <a:xfrm xmlns:a="http://schemas.openxmlformats.org/drawingml/2006/main">
            <a:off x="896112" y="5897880"/>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sld>
</file>

<file path=ppt/slides/slide50.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1F9124A-1A92-4E9C-B8C1-0F36083BD1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xmlns:a="http://schemas.openxmlformats.org/drawingml/2006/main">
              <a:ext uri="{FF2B5EF4-FFF2-40B4-BE49-F238E27FC236}">
                <a16:creationId xmlns:a16="http://schemas.microsoft.com/office/drawing/2014/main" id="{F29E777B-DE41-4CC4-A223-0DAE0AF9458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F2EE16-EB2B-4E46-B9D4-E66404F13B03}"/>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FFFFFF"/>
                </a:solidFill>
                <a:latin typeface="Arial"/>
                <a:ea typeface="Arial"/>
                <a:cs typeface="Arial"/>
              </a:rPr>
              <a:t>Male APOE ε3/ε3 cells show a mtDNA-up, nuclear-OXPHOS-down mismatch</a:t>
            </a:r>
          </a:p>
        </p:txBody>
      </p:sp>
      <p:sp>
        <p:nvSpPr>
          <p:cNvPr id="5" name="TextBox 4">
            <a:extLst xmlns:a="http://schemas.openxmlformats.org/drawingml/2006/main">
              <a:ext uri="{FF2B5EF4-FFF2-40B4-BE49-F238E27FC236}">
                <a16:creationId xmlns:a16="http://schemas.microsoft.com/office/drawing/2014/main" id="{A588FD2C-EB60-4577-8821-E5F5021BA1C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A mitochondrial DEG-program finding, not an identified upstream key driver.</a:t>
            </a:r>
          </a:p>
        </p:txBody>
      </p:sp>
      <p:sp>
        <p:nvSpPr>
          <p:cNvPr id="6" name="Rounded Rectangle 5">
            <a:extLst xmlns:a="http://schemas.openxmlformats.org/drawingml/2006/main">
              <a:ext uri="{FF2B5EF4-FFF2-40B4-BE49-F238E27FC236}">
                <a16:creationId xmlns:a16="http://schemas.microsoft.com/office/drawing/2014/main" id="{4AB68BF7-738C-44F8-84C1-D77201484E6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D86FA87E-93AC-45B3-84EA-A3CA04235AE7}"/>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97A04348-1C76-4D1C-B8AC-3EAF85E045F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52F1C3F-7A36-4E03-A6C4-0613900CEA2D}"/>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552BAB4-2207-4F4D-8992-69750669E91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7A656E3B-C25F-4358-8744-6B69A65324AB}"/>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857FEE0-4FA6-4463-9B7D-74746D463189}"/>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A57F751B-861E-4858-BE4F-8A6DD59F1938}"/>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973D29A-9145-4E4D-89F5-AC1BCDB8D5B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D7D48CD-32D2-496C-BA2E-A10C4966E0B8}"/>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698853C-FD5E-4454-95DC-0E479B798FB5}"/>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xmlns:a="http://schemas.openxmlformats.org/drawingml/2006/main">
              <a:ext uri="{FF2B5EF4-FFF2-40B4-BE49-F238E27FC236}">
                <a16:creationId xmlns:a16="http://schemas.microsoft.com/office/drawing/2014/main" id="{AE991DE2-7759-4369-BB68-091CD975BA85}"/>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5E18EF7-8353-4915-84F5-D0AADCED05F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C1059528-957D-41CF-8D38-5860BE5B5CD5}"/>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9783892-98D7-4CBA-9CBA-83A45F37F2E5}"/>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E3B01D2-604E-44C2-A51B-87CA43C45395}"/>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exact ROSMAP drivers.</a:t>
            </a:r>
          </a:p>
        </p:txBody>
      </p:sp>
    </p:spTree>
    <p:extLst>
      <p:ext uri="{BB962C8B-B14F-4D97-AF65-F5344CB8AC3E}">
        <p14:creationId xmlns:p14="http://schemas.microsoft.com/office/powerpoint/2010/main" val="1980501130"/>
      </p:ext>
    </p:extLst>
  </p:cSld>
</p:sld>
</file>

<file path=ppt/slides/slide5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B3EDD71-7F75-4FE2-8F11-10F0B9E568D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Male ε3/ε3 cells raise mtDNA energy-gene RNA while lowering nuclear energy-gene RNA</a:t>
            </a:r>
          </a:p>
        </p:txBody>
      </p:sp>
      <p:sp>
        <p:nvSpPr>
          <p:cNvPr id="3" name="TextBox 2">
            <a:extLst xmlns:a="http://schemas.openxmlformats.org/drawingml/2006/main">
              <a:ext uri="{FF2B5EF4-FFF2-40B4-BE49-F238E27FC236}">
                <a16:creationId xmlns:a16="http://schemas.microsoft.com/office/drawing/2014/main" id="{02698264-837A-4235-8D99-EC3D63D97BD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two genomes often move in opposite directions; matched inhibitory neurons show the pattern in SEA-AD.</a:t>
            </a:r>
          </a:p>
        </p:txBody>
      </p:sp>
      <p:sp>
        <p:nvSpPr>
          <p:cNvPr id="4" name="Rounded Rectangle 3">
            <a:extLst xmlns:a="http://schemas.openxmlformats.org/drawingml/2006/main">
              <a:ext uri="{FF2B5EF4-FFF2-40B4-BE49-F238E27FC236}">
                <a16:creationId xmlns:a16="http://schemas.microsoft.com/office/drawing/2014/main" id="{397E169F-A1C0-44A6-9812-A2BC35F60F22}"/>
              </a:ext>
            </a:extLst>
          </p:cNvPr>
          <p:cNvSpPr>
            <a:spLocks xmlns:a="http://schemas.openxmlformats.org/drawingml/2006/main" noGrp="1"/>
          </p:cNvSpPr>
          <p:nvPr/>
        </p:nvSpPr>
        <p:spPr>
          <a:xfrm xmlns:a="http://schemas.openxmlformats.org/drawingml/2006/main">
            <a:off x="1024128" y="1353312"/>
            <a:ext cx="1920240"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2C7E636-8347-42FB-B8CE-ECB30E056362}"/>
              </a:ext>
            </a:extLst>
          </p:cNvPr>
          <p:cNvSpPr>
            <a:spLocks xmlns:a="http://schemas.openxmlformats.org/drawingml/2006/main" noGrp="1"/>
          </p:cNvSpPr>
          <p:nvPr/>
        </p:nvSpPr>
        <p:spPr>
          <a:xfrm xmlns:a="http://schemas.openxmlformats.org/drawingml/2006/main">
            <a:off x="1115568" y="1453896"/>
            <a:ext cx="173736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080E6272-1353-49C9-9122-5FE680AC7958}"/>
              </a:ext>
            </a:extLst>
          </p:cNvPr>
          <p:cNvSpPr>
            <a:spLocks xmlns:a="http://schemas.openxmlformats.org/drawingml/2006/main" noGrp="1"/>
          </p:cNvSpPr>
          <p:nvPr/>
        </p:nvSpPr>
        <p:spPr>
          <a:xfrm xmlns:a="http://schemas.openxmlformats.org/drawingml/2006/main">
            <a:off x="3218688" y="1353312"/>
            <a:ext cx="2212848"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7F5CC54D-8B7F-4617-A22B-EA9AB2170A91}"/>
              </a:ext>
            </a:extLst>
          </p:cNvPr>
          <p:cNvSpPr>
            <a:spLocks xmlns:a="http://schemas.openxmlformats.org/drawingml/2006/main" noGrp="1"/>
          </p:cNvSpPr>
          <p:nvPr/>
        </p:nvSpPr>
        <p:spPr>
          <a:xfrm xmlns:a="http://schemas.openxmlformats.org/drawingml/2006/main">
            <a:off x="3310128" y="1453896"/>
            <a:ext cx="202996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xmlns:a="http://schemas.openxmlformats.org/drawingml/2006/main">
              <a:ext uri="{FF2B5EF4-FFF2-40B4-BE49-F238E27FC236}">
                <a16:creationId xmlns:a16="http://schemas.microsoft.com/office/drawing/2014/main" id="{E37D0E96-E63A-4D64-B1AD-FFEF11108557}"/>
              </a:ext>
            </a:extLst>
          </p:cNvPr>
          <p:cNvSpPr>
            <a:spLocks xmlns:a="http://schemas.openxmlformats.org/drawingml/2006/main" noGrp="1"/>
          </p:cNvSpPr>
          <p:nvPr/>
        </p:nvSpPr>
        <p:spPr>
          <a:xfrm xmlns:a="http://schemas.openxmlformats.org/drawingml/2006/main">
            <a:off x="5705856" y="1353312"/>
            <a:ext cx="2432304"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2EC3789-9769-4D18-A494-38C1F2CBEFD3}"/>
              </a:ext>
            </a:extLst>
          </p:cNvPr>
          <p:cNvSpPr>
            <a:spLocks xmlns:a="http://schemas.openxmlformats.org/drawingml/2006/main" noGrp="1"/>
          </p:cNvSpPr>
          <p:nvPr/>
        </p:nvSpPr>
        <p:spPr>
          <a:xfrm xmlns:a="http://schemas.openxmlformats.org/drawingml/2006/main">
            <a:off x="5797296" y="1453896"/>
            <a:ext cx="2249424"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xmlns:a="http://schemas.openxmlformats.org/drawingml/2006/main">
              <a:ext uri="{FF2B5EF4-FFF2-40B4-BE49-F238E27FC236}">
                <a16:creationId xmlns:a16="http://schemas.microsoft.com/office/drawing/2014/main" id="{60146EAA-D4F4-45A4-9355-40543682B813}"/>
              </a:ext>
            </a:extLst>
          </p:cNvPr>
          <p:cNvSpPr>
            <a:spLocks xmlns:a="http://schemas.openxmlformats.org/drawingml/2006/main" noGrp="1"/>
          </p:cNvSpPr>
          <p:nvPr/>
        </p:nvSpPr>
        <p:spPr>
          <a:xfrm xmlns:a="http://schemas.openxmlformats.org/drawingml/2006/main">
            <a:off x="8412480" y="1353312"/>
            <a:ext cx="2578608"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96D18F2-A872-41A6-97F4-F5C7EF050809}"/>
              </a:ext>
            </a:extLst>
          </p:cNvPr>
          <p:cNvSpPr>
            <a:spLocks xmlns:a="http://schemas.openxmlformats.org/drawingml/2006/main" noGrp="1"/>
          </p:cNvSpPr>
          <p:nvPr/>
        </p:nvSpPr>
        <p:spPr>
          <a:xfrm xmlns:a="http://schemas.openxmlformats.org/drawingml/2006/main">
            <a:off x="8503919" y="1453896"/>
            <a:ext cx="239572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xmlns:a="http://schemas.openxmlformats.org/drawingml/2006/main">
              <a:ext uri="{FF2B5EF4-FFF2-40B4-BE49-F238E27FC236}">
                <a16:creationId xmlns:a16="http://schemas.microsoft.com/office/drawing/2014/main" id="{6D84102F-E14A-43A2-A63D-C515B39DDDC8}"/>
              </a:ext>
            </a:extLst>
          </p:cNvPr>
          <p:cNvSpPr>
            <a:spLocks xmlns:a="http://schemas.openxmlformats.org/drawingml/2006/main" noGrp="1"/>
          </p:cNvSpPr>
          <p:nvPr/>
        </p:nvSpPr>
        <p:spPr>
          <a:xfrm xmlns:a="http://schemas.openxmlformats.org/drawingml/2006/main">
            <a:off x="749808" y="2084831"/>
            <a:ext cx="5047488" cy="276148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9273371-8277-45C0-BF8D-3E927D545CAB}"/>
              </a:ext>
            </a:extLst>
          </p:cNvPr>
          <p:cNvSpPr>
            <a:spLocks xmlns:a="http://schemas.openxmlformats.org/drawingml/2006/main" noGrp="1"/>
          </p:cNvSpPr>
          <p:nvPr/>
        </p:nvSpPr>
        <p:spPr>
          <a:xfrm xmlns:a="http://schemas.openxmlformats.org/drawingml/2006/main">
            <a:off x="1024128" y="2468880"/>
            <a:ext cx="4498848"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F233D"/>
                </a:solidFill>
                <a:latin typeface="Arial"/>
                <a:ea typeface="Arial"/>
                <a:cs typeface="Arial"/>
              </a:rPr>
              <a:t>Mitochondrial DNA</a:t>
            </a:r>
          </a:p>
        </p:txBody>
      </p:sp>
      <p:sp>
        <p:nvSpPr>
          <p:cNvPr id="14" name="TextBox 13">
            <a:extLst xmlns:a="http://schemas.openxmlformats.org/drawingml/2006/main">
              <a:ext uri="{FF2B5EF4-FFF2-40B4-BE49-F238E27FC236}">
                <a16:creationId xmlns:a16="http://schemas.microsoft.com/office/drawing/2014/main" id="{EC86CDF9-4226-49D3-AC82-153B477F37E8}"/>
              </a:ext>
            </a:extLst>
          </p:cNvPr>
          <p:cNvSpPr>
            <a:spLocks xmlns:a="http://schemas.openxmlformats.org/drawingml/2006/main" noGrp="1"/>
          </p:cNvSpPr>
          <p:nvPr/>
        </p:nvSpPr>
        <p:spPr>
          <a:xfrm xmlns:a="http://schemas.openxmlformats.org/drawingml/2006/main">
            <a:off x="1188720" y="2953512"/>
            <a:ext cx="1188720"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xmlns:a="http://schemas.openxmlformats.org/drawingml/2006/main">
              <a:ext uri="{FF2B5EF4-FFF2-40B4-BE49-F238E27FC236}">
                <a16:creationId xmlns:a16="http://schemas.microsoft.com/office/drawing/2014/main" id="{10DFCD5E-8BA6-4D59-9D89-DB09251C5134}"/>
              </a:ext>
            </a:extLst>
          </p:cNvPr>
          <p:cNvSpPr>
            <a:spLocks xmlns:a="http://schemas.openxmlformats.org/drawingml/2006/main" noGrp="1"/>
          </p:cNvSpPr>
          <p:nvPr/>
        </p:nvSpPr>
        <p:spPr>
          <a:xfrm xmlns:a="http://schemas.openxmlformats.org/drawingml/2006/main">
            <a:off x="2267712" y="3099816"/>
            <a:ext cx="2944368"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1F2730"/>
                </a:solidFill>
                <a:latin typeface="Arial"/>
                <a:ea typeface="Arial"/>
                <a:cs typeface="Arial"/>
              </a:rPr>
              <a:t>mtDNA-OXPHOS RNA
mostly increases in AD</a:t>
            </a:r>
          </a:p>
        </p:txBody>
      </p:sp>
      <p:sp>
        <p:nvSpPr>
          <p:cNvPr id="16" name="Rounded Rectangle 15">
            <a:extLst xmlns:a="http://schemas.openxmlformats.org/drawingml/2006/main">
              <a:ext uri="{FF2B5EF4-FFF2-40B4-BE49-F238E27FC236}">
                <a16:creationId xmlns:a16="http://schemas.microsoft.com/office/drawing/2014/main" id="{F2C9BFD7-5374-4B5C-A818-B7754BFF8571}"/>
              </a:ext>
            </a:extLst>
          </p:cNvPr>
          <p:cNvSpPr>
            <a:spLocks xmlns:a="http://schemas.openxmlformats.org/drawingml/2006/main" noGrp="1"/>
          </p:cNvSpPr>
          <p:nvPr/>
        </p:nvSpPr>
        <p:spPr>
          <a:xfrm xmlns:a="http://schemas.openxmlformats.org/drawingml/2006/main">
            <a:off x="6382512" y="2084831"/>
            <a:ext cx="5065776" cy="276148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B10E5A-F95E-4833-9E71-C100046AE67B}"/>
              </a:ext>
            </a:extLst>
          </p:cNvPr>
          <p:cNvSpPr>
            <a:spLocks xmlns:a="http://schemas.openxmlformats.org/drawingml/2006/main" noGrp="1"/>
          </p:cNvSpPr>
          <p:nvPr/>
        </p:nvSpPr>
        <p:spPr>
          <a:xfrm xmlns:a="http://schemas.openxmlformats.org/drawingml/2006/main">
            <a:off x="6656832" y="2468880"/>
            <a:ext cx="4517136"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F233D"/>
                </a:solidFill>
                <a:latin typeface="Arial"/>
                <a:ea typeface="Arial"/>
                <a:cs typeface="Arial"/>
              </a:rPr>
              <a:t>Nuclear DNA</a:t>
            </a:r>
          </a:p>
        </p:txBody>
      </p:sp>
      <p:sp>
        <p:nvSpPr>
          <p:cNvPr id="18" name="TextBox 17">
            <a:extLst xmlns:a="http://schemas.openxmlformats.org/drawingml/2006/main">
              <a:ext uri="{FF2B5EF4-FFF2-40B4-BE49-F238E27FC236}">
                <a16:creationId xmlns:a16="http://schemas.microsoft.com/office/drawing/2014/main" id="{3FB05672-2D66-45B7-9F63-D10F46741A3D}"/>
              </a:ext>
            </a:extLst>
          </p:cNvPr>
          <p:cNvSpPr>
            <a:spLocks xmlns:a="http://schemas.openxmlformats.org/drawingml/2006/main" noGrp="1"/>
          </p:cNvSpPr>
          <p:nvPr/>
        </p:nvSpPr>
        <p:spPr>
          <a:xfrm xmlns:a="http://schemas.openxmlformats.org/drawingml/2006/main">
            <a:off x="6821424" y="2953512"/>
            <a:ext cx="1188720"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xmlns:a="http://schemas.openxmlformats.org/drawingml/2006/main">
              <a:ext uri="{FF2B5EF4-FFF2-40B4-BE49-F238E27FC236}">
                <a16:creationId xmlns:a16="http://schemas.microsoft.com/office/drawing/2014/main" id="{951C76EB-DABD-49D9-AD3C-D22A60A26F75}"/>
              </a:ext>
            </a:extLst>
          </p:cNvPr>
          <p:cNvSpPr>
            <a:spLocks xmlns:a="http://schemas.openxmlformats.org/drawingml/2006/main" noGrp="1"/>
          </p:cNvSpPr>
          <p:nvPr/>
        </p:nvSpPr>
        <p:spPr>
          <a:xfrm xmlns:a="http://schemas.openxmlformats.org/drawingml/2006/main">
            <a:off x="7900416" y="3099816"/>
            <a:ext cx="296265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1F2730"/>
                </a:solidFill>
                <a:latin typeface="Arial"/>
                <a:ea typeface="Arial"/>
                <a:cs typeface="Arial"/>
              </a:rPr>
              <a:t>nuclear OXPHOS RNA
mostly decreases in AD</a:t>
            </a:r>
          </a:p>
        </p:txBody>
      </p:sp>
      <p:sp>
        <p:nvSpPr>
          <p:cNvPr id="20" name="Rounded Rectangle 19">
            <a:extLst xmlns:a="http://schemas.openxmlformats.org/drawingml/2006/main">
              <a:ext uri="{FF2B5EF4-FFF2-40B4-BE49-F238E27FC236}">
                <a16:creationId xmlns:a16="http://schemas.microsoft.com/office/drawing/2014/main" id="{9191A2DE-8434-4DED-9FA6-D055D1E9F3CC}"/>
              </a:ext>
            </a:extLst>
          </p:cNvPr>
          <p:cNvSpPr>
            <a:spLocks xmlns:a="http://schemas.openxmlformats.org/drawingml/2006/main" noGrp="1"/>
          </p:cNvSpPr>
          <p:nvPr/>
        </p:nvSpPr>
        <p:spPr>
          <a:xfrm xmlns:a="http://schemas.openxmlformats.org/drawingml/2006/main">
            <a:off x="749808" y="5230368"/>
            <a:ext cx="10698480" cy="69494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916A2FE-9DEB-444D-B9B7-8EF09A72E49E}"/>
              </a:ext>
            </a:extLst>
          </p:cNvPr>
          <p:cNvSpPr>
            <a:spLocks xmlns:a="http://schemas.openxmlformats.org/drawingml/2006/main" noGrp="1"/>
          </p:cNvSpPr>
          <p:nvPr/>
        </p:nvSpPr>
        <p:spPr>
          <a:xfrm xmlns:a="http://schemas.openxmlformats.org/drawingml/2006/main">
            <a:off x="987552" y="5422392"/>
            <a:ext cx="10222992"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40" b="1" i="0">
                <a:solidFill>
                  <a:srgbClr val="7E4C9A"/>
                </a:solidFill>
                <a:latin typeface="Arial"/>
                <a:ea typeface="Arial"/>
                <a:cs typeface="Arial"/>
              </a:rPr>
              <a:t>Plain meaning: RNA instructions for two matching sets of respiratory parts move in opposite directions.</a:t>
            </a:r>
          </a:p>
        </p:txBody>
      </p:sp>
      <p:sp>
        <p:nvSpPr>
          <p:cNvPr id="22" name="TextBox 21">
            <a:extLst xmlns:a="http://schemas.openxmlformats.org/drawingml/2006/main">
              <a:ext uri="{FF2B5EF4-FFF2-40B4-BE49-F238E27FC236}">
                <a16:creationId xmlns:a16="http://schemas.microsoft.com/office/drawing/2014/main" id="{8B9BB39C-2AD4-4988-96CB-DE0217C23F6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program support.</a:t>
            </a:r>
          </a:p>
        </p:txBody>
      </p:sp>
    </p:spTree>
    <p:extLst>
      <p:ext uri="{BB962C8B-B14F-4D97-AF65-F5344CB8AC3E}">
        <p14:creationId xmlns:p14="http://schemas.microsoft.com/office/powerpoint/2010/main" val="1336706137"/>
      </p:ext>
    </p:extLst>
  </p:cSld>
</p:sld>
</file>

<file path=ppt/slides/slide5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0DF3AA2-2949-4CB9-BFD3-1140A994245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OXPHOS RNA directions</a:t>
            </a:r>
          </a:p>
        </p:txBody>
      </p:sp>
      <p:sp>
        <p:nvSpPr>
          <p:cNvPr id="3" name="TextBox 2">
            <a:extLst xmlns:a="http://schemas.openxmlformats.org/drawingml/2006/main">
              <a:ext uri="{FF2B5EF4-FFF2-40B4-BE49-F238E27FC236}">
                <a16:creationId xmlns:a16="http://schemas.microsoft.com/office/drawing/2014/main" id="{8F0EBA17-C3F1-4CBE-BFAA-4125E846F84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Across 31 eligible fine-cell DEG queries; occurrences repeat genes across calls.</a:t>
            </a:r>
          </a:p>
        </p:txBody>
      </p:sp>
      <p:sp>
        <p:nvSpPr>
          <p:cNvPr id="4" name="Rounded Rectangle 3">
            <a:extLst xmlns:a="http://schemas.openxmlformats.org/drawingml/2006/main">
              <a:ext uri="{FF2B5EF4-FFF2-40B4-BE49-F238E27FC236}">
                <a16:creationId xmlns:a16="http://schemas.microsoft.com/office/drawing/2014/main" id="{A7492153-533E-45DD-89CE-40239C37D7DC}"/>
              </a:ext>
            </a:extLst>
          </p:cNvPr>
          <p:cNvSpPr>
            <a:spLocks xmlns:a="http://schemas.openxmlformats.org/drawingml/2006/main" noGrp="1"/>
          </p:cNvSpPr>
          <p:nvPr/>
        </p:nvSpPr>
        <p:spPr>
          <a:xfrm xmlns:a="http://schemas.openxmlformats.org/drawingml/2006/main">
            <a:off x="658368" y="1389888"/>
            <a:ext cx="5285232" cy="4370832"/>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D24C7C6-C67A-4444-91EC-6C3A647E6A12}"/>
              </a:ext>
            </a:extLst>
          </p:cNvPr>
          <p:cNvSpPr>
            <a:spLocks xmlns:a="http://schemas.openxmlformats.org/drawingml/2006/main" noGrp="1"/>
          </p:cNvSpPr>
          <p:nvPr/>
        </p:nvSpPr>
        <p:spPr>
          <a:xfrm xmlns:a="http://schemas.openxmlformats.org/drawingml/2006/main">
            <a:off x="950976" y="1728216"/>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60C00B9-577D-4DCA-AA58-174B80A2AF4E}"/>
              </a:ext>
            </a:extLst>
          </p:cNvPr>
          <p:cNvSpPr>
            <a:spLocks xmlns:a="http://schemas.openxmlformats.org/drawingml/2006/main" noGrp="1"/>
          </p:cNvSpPr>
          <p:nvPr/>
        </p:nvSpPr>
        <p:spPr>
          <a:xfrm xmlns:a="http://schemas.openxmlformats.org/drawingml/2006/main">
            <a:off x="1097280" y="170078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Mitochondrial-DNA OXPHOS</a:t>
            </a:r>
          </a:p>
        </p:txBody>
      </p:sp>
      <p:sp>
        <p:nvSpPr>
          <p:cNvPr id="7" name="TextBox 6">
            <a:extLst xmlns:a="http://schemas.openxmlformats.org/drawingml/2006/main">
              <a:ext uri="{FF2B5EF4-FFF2-40B4-BE49-F238E27FC236}">
                <a16:creationId xmlns:a16="http://schemas.microsoft.com/office/drawing/2014/main" id="{F47E809B-8CCD-4960-984D-A19B502F51A9}"/>
              </a:ext>
            </a:extLst>
          </p:cNvPr>
          <p:cNvSpPr>
            <a:spLocks xmlns:a="http://schemas.openxmlformats.org/drawingml/2006/main" noGrp="1"/>
          </p:cNvSpPr>
          <p:nvPr/>
        </p:nvSpPr>
        <p:spPr>
          <a:xfrm xmlns:a="http://schemas.openxmlformats.org/drawingml/2006/main">
            <a:off x="987552" y="2148840"/>
            <a:ext cx="14447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xmlns:a="http://schemas.openxmlformats.org/drawingml/2006/main">
              <a:ext uri="{FF2B5EF4-FFF2-40B4-BE49-F238E27FC236}">
                <a16:creationId xmlns:a16="http://schemas.microsoft.com/office/drawing/2014/main" id="{C3665464-878D-4BEE-A99A-4A05CF1AB15F}"/>
              </a:ext>
            </a:extLst>
          </p:cNvPr>
          <p:cNvSpPr>
            <a:spLocks xmlns:a="http://schemas.openxmlformats.org/drawingml/2006/main" noGrp="1"/>
          </p:cNvSpPr>
          <p:nvPr/>
        </p:nvSpPr>
        <p:spPr>
          <a:xfrm xmlns:a="http://schemas.openxmlformats.org/drawingml/2006/main">
            <a:off x="2432304" y="2340864"/>
            <a:ext cx="272491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xmlns:a="http://schemas.openxmlformats.org/drawingml/2006/main">
              <a:ext uri="{FF2B5EF4-FFF2-40B4-BE49-F238E27FC236}">
                <a16:creationId xmlns:a16="http://schemas.microsoft.com/office/drawing/2014/main" id="{1FB611C5-B6CD-4E54-A575-ACB7B18BADA9}"/>
              </a:ext>
            </a:extLst>
          </p:cNvPr>
          <p:cNvSpPr>
            <a:spLocks xmlns:a="http://schemas.openxmlformats.org/drawingml/2006/main" noGrp="1"/>
          </p:cNvSpPr>
          <p:nvPr/>
        </p:nvSpPr>
        <p:spPr>
          <a:xfrm xmlns:a="http://schemas.openxmlformats.org/drawingml/2006/main">
            <a:off x="1024128" y="3017520"/>
            <a:ext cx="45720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xmlns:a="http://schemas.openxmlformats.org/drawingml/2006/main">
              <a:ext uri="{FF2B5EF4-FFF2-40B4-BE49-F238E27FC236}">
                <a16:creationId xmlns:a16="http://schemas.microsoft.com/office/drawing/2014/main" id="{FCE84EFA-3452-4D3C-9141-37E6717F9FE4}"/>
              </a:ext>
            </a:extLst>
          </p:cNvPr>
          <p:cNvSpPr>
            <a:spLocks xmlns:a="http://schemas.openxmlformats.org/drawingml/2006/main" noGrp="1"/>
          </p:cNvSpPr>
          <p:nvPr/>
        </p:nvSpPr>
        <p:spPr>
          <a:xfrm xmlns:a="http://schemas.openxmlformats.org/drawingml/2006/main">
            <a:off x="1024128" y="3474720"/>
            <a:ext cx="4315968" cy="310896"/>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0D57644E-EF30-480F-8C6B-15E9084154A8}"/>
              </a:ext>
            </a:extLst>
          </p:cNvPr>
          <p:cNvSpPr>
            <a:spLocks xmlns:a="http://schemas.openxmlformats.org/drawingml/2006/main" noGrp="1"/>
          </p:cNvSpPr>
          <p:nvPr/>
        </p:nvSpPr>
        <p:spPr>
          <a:xfrm xmlns:a="http://schemas.openxmlformats.org/drawingml/2006/main">
            <a:off x="1024128" y="3474720"/>
            <a:ext cx="3730752" cy="310896"/>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D9E5B954-A61F-42C6-BC7E-E70F51280E4C}"/>
              </a:ext>
            </a:extLst>
          </p:cNvPr>
          <p:cNvSpPr>
            <a:spLocks xmlns:a="http://schemas.openxmlformats.org/drawingml/2006/main" noGrp="1"/>
          </p:cNvSpPr>
          <p:nvPr/>
        </p:nvSpPr>
        <p:spPr>
          <a:xfrm xmlns:a="http://schemas.openxmlformats.org/drawingml/2006/main">
            <a:off x="4754880" y="3474720"/>
            <a:ext cx="585216" cy="310896"/>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2656C86-8A13-48BD-A01D-EE40E47DD509}"/>
              </a:ext>
            </a:extLst>
          </p:cNvPr>
          <p:cNvSpPr>
            <a:spLocks xmlns:a="http://schemas.openxmlformats.org/drawingml/2006/main" noGrp="1"/>
          </p:cNvSpPr>
          <p:nvPr/>
        </p:nvSpPr>
        <p:spPr>
          <a:xfrm xmlns:a="http://schemas.openxmlformats.org/drawingml/2006/main">
            <a:off x="1078992" y="3867912"/>
            <a:ext cx="184708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4" name="TextBox 13">
            <a:extLst xmlns:a="http://schemas.openxmlformats.org/drawingml/2006/main">
              <a:ext uri="{FF2B5EF4-FFF2-40B4-BE49-F238E27FC236}">
                <a16:creationId xmlns:a16="http://schemas.microsoft.com/office/drawing/2014/main" id="{23E74C38-1E09-4F5A-8FF9-281E78070AA5}"/>
              </a:ext>
            </a:extLst>
          </p:cNvPr>
          <p:cNvSpPr>
            <a:spLocks xmlns:a="http://schemas.openxmlformats.org/drawingml/2006/main" noGrp="1"/>
          </p:cNvSpPr>
          <p:nvPr/>
        </p:nvSpPr>
        <p:spPr>
          <a:xfrm xmlns:a="http://schemas.openxmlformats.org/drawingml/2006/main">
            <a:off x="1024128" y="4645152"/>
            <a:ext cx="4572000"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12 input queries enriched</a:t>
            </a:r>
          </a:p>
        </p:txBody>
      </p:sp>
      <p:sp>
        <p:nvSpPr>
          <p:cNvPr id="15" name="TextBox 14">
            <a:extLst xmlns:a="http://schemas.openxmlformats.org/drawingml/2006/main">
              <a:ext uri="{FF2B5EF4-FFF2-40B4-BE49-F238E27FC236}">
                <a16:creationId xmlns:a16="http://schemas.microsoft.com/office/drawing/2014/main" id="{E8A5450C-7B4A-4CC1-BB18-35057EF4349F}"/>
              </a:ext>
            </a:extLst>
          </p:cNvPr>
          <p:cNvSpPr>
            <a:spLocks xmlns:a="http://schemas.openxmlformats.org/drawingml/2006/main" noGrp="1"/>
          </p:cNvSpPr>
          <p:nvPr/>
        </p:nvSpPr>
        <p:spPr>
          <a:xfrm xmlns:a="http://schemas.openxmlformats.org/drawingml/2006/main">
            <a:off x="1024128" y="5065776"/>
            <a:ext cx="457200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All 12 enriched queries were in the AD-up direction.</a:t>
            </a:r>
          </a:p>
        </p:txBody>
      </p:sp>
      <p:sp>
        <p:nvSpPr>
          <p:cNvPr id="16" name="Rounded Rectangle 15">
            <a:extLst xmlns:a="http://schemas.openxmlformats.org/drawingml/2006/main">
              <a:ext uri="{FF2B5EF4-FFF2-40B4-BE49-F238E27FC236}">
                <a16:creationId xmlns:a16="http://schemas.microsoft.com/office/drawing/2014/main" id="{78B2F20E-1F38-4D6E-866C-62A34CC13AC4}"/>
              </a:ext>
            </a:extLst>
          </p:cNvPr>
          <p:cNvSpPr>
            <a:spLocks xmlns:a="http://schemas.openxmlformats.org/drawingml/2006/main" noGrp="1"/>
          </p:cNvSpPr>
          <p:nvPr/>
        </p:nvSpPr>
        <p:spPr>
          <a:xfrm xmlns:a="http://schemas.openxmlformats.org/drawingml/2006/main">
            <a:off x="6236208" y="1389888"/>
            <a:ext cx="5303520" cy="437083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5D3AD0A4-50E9-47AC-A0A1-2293894B4878}"/>
              </a:ext>
            </a:extLst>
          </p:cNvPr>
          <p:cNvSpPr>
            <a:spLocks xmlns:a="http://schemas.openxmlformats.org/drawingml/2006/main" noGrp="1"/>
          </p:cNvSpPr>
          <p:nvPr/>
        </p:nvSpPr>
        <p:spPr>
          <a:xfrm xmlns:a="http://schemas.openxmlformats.org/drawingml/2006/main">
            <a:off x="6528816" y="172821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ABEF69A-04D3-462A-802D-2ACC8A25F572}"/>
              </a:ext>
            </a:extLst>
          </p:cNvPr>
          <p:cNvSpPr>
            <a:spLocks xmlns:a="http://schemas.openxmlformats.org/drawingml/2006/main" noGrp="1"/>
          </p:cNvSpPr>
          <p:nvPr/>
        </p:nvSpPr>
        <p:spPr>
          <a:xfrm xmlns:a="http://schemas.openxmlformats.org/drawingml/2006/main">
            <a:off x="6675120" y="170078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Nuclear-encoded OXPHOS</a:t>
            </a:r>
          </a:p>
        </p:txBody>
      </p:sp>
      <p:sp>
        <p:nvSpPr>
          <p:cNvPr id="19" name="TextBox 18">
            <a:extLst xmlns:a="http://schemas.openxmlformats.org/drawingml/2006/main">
              <a:ext uri="{FF2B5EF4-FFF2-40B4-BE49-F238E27FC236}">
                <a16:creationId xmlns:a16="http://schemas.microsoft.com/office/drawing/2014/main" id="{98AB4C81-D082-4C02-A468-F1B3B6B33BB4}"/>
              </a:ext>
            </a:extLst>
          </p:cNvPr>
          <p:cNvSpPr>
            <a:spLocks xmlns:a="http://schemas.openxmlformats.org/drawingml/2006/main" noGrp="1"/>
          </p:cNvSpPr>
          <p:nvPr/>
        </p:nvSpPr>
        <p:spPr>
          <a:xfrm xmlns:a="http://schemas.openxmlformats.org/drawingml/2006/main">
            <a:off x="6565392" y="2148840"/>
            <a:ext cx="14447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xmlns:a="http://schemas.openxmlformats.org/drawingml/2006/main">
              <a:ext uri="{FF2B5EF4-FFF2-40B4-BE49-F238E27FC236}">
                <a16:creationId xmlns:a16="http://schemas.microsoft.com/office/drawing/2014/main" id="{D27BC3EE-2871-40FE-B812-4BFA9C23525E}"/>
              </a:ext>
            </a:extLst>
          </p:cNvPr>
          <p:cNvSpPr>
            <a:spLocks xmlns:a="http://schemas.openxmlformats.org/drawingml/2006/main" noGrp="1"/>
          </p:cNvSpPr>
          <p:nvPr/>
        </p:nvSpPr>
        <p:spPr>
          <a:xfrm xmlns:a="http://schemas.openxmlformats.org/drawingml/2006/main">
            <a:off x="8010144" y="2340864"/>
            <a:ext cx="272491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xmlns:a="http://schemas.openxmlformats.org/drawingml/2006/main">
              <a:ext uri="{FF2B5EF4-FFF2-40B4-BE49-F238E27FC236}">
                <a16:creationId xmlns:a16="http://schemas.microsoft.com/office/drawing/2014/main" id="{ADFD6B79-6388-463F-833F-96BF45701DE8}"/>
              </a:ext>
            </a:extLst>
          </p:cNvPr>
          <p:cNvSpPr>
            <a:spLocks xmlns:a="http://schemas.openxmlformats.org/drawingml/2006/main" noGrp="1"/>
          </p:cNvSpPr>
          <p:nvPr/>
        </p:nvSpPr>
        <p:spPr>
          <a:xfrm xmlns:a="http://schemas.openxmlformats.org/drawingml/2006/main">
            <a:off x="6601968" y="3017520"/>
            <a:ext cx="45720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xmlns:a="http://schemas.openxmlformats.org/drawingml/2006/main">
              <a:ext uri="{FF2B5EF4-FFF2-40B4-BE49-F238E27FC236}">
                <a16:creationId xmlns:a16="http://schemas.microsoft.com/office/drawing/2014/main" id="{CBD8C23D-E7E8-4741-B714-1B48EBCA084D}"/>
              </a:ext>
            </a:extLst>
          </p:cNvPr>
          <p:cNvSpPr>
            <a:spLocks xmlns:a="http://schemas.openxmlformats.org/drawingml/2006/main" noGrp="1"/>
          </p:cNvSpPr>
          <p:nvPr/>
        </p:nvSpPr>
        <p:spPr>
          <a:xfrm xmlns:a="http://schemas.openxmlformats.org/drawingml/2006/main">
            <a:off x="6601968" y="3474720"/>
            <a:ext cx="4315968" cy="310896"/>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E3E38530-2E12-4E4C-9B74-8EA94064FF94}"/>
              </a:ext>
            </a:extLst>
          </p:cNvPr>
          <p:cNvSpPr>
            <a:spLocks xmlns:a="http://schemas.openxmlformats.org/drawingml/2006/main" noGrp="1"/>
          </p:cNvSpPr>
          <p:nvPr/>
        </p:nvSpPr>
        <p:spPr>
          <a:xfrm xmlns:a="http://schemas.openxmlformats.org/drawingml/2006/main">
            <a:off x="6601968" y="3474720"/>
            <a:ext cx="512064" cy="310896"/>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Rectangle 23">
            <a:extLst xmlns:a="http://schemas.openxmlformats.org/drawingml/2006/main">
              <a:ext uri="{FF2B5EF4-FFF2-40B4-BE49-F238E27FC236}">
                <a16:creationId xmlns:a16="http://schemas.microsoft.com/office/drawing/2014/main" id="{9D1FA94D-B10C-490A-94FA-1D28EA88EA4D}"/>
              </a:ext>
            </a:extLst>
          </p:cNvPr>
          <p:cNvSpPr>
            <a:spLocks xmlns:a="http://schemas.openxmlformats.org/drawingml/2006/main" noGrp="1"/>
          </p:cNvSpPr>
          <p:nvPr/>
        </p:nvSpPr>
        <p:spPr>
          <a:xfrm xmlns:a="http://schemas.openxmlformats.org/drawingml/2006/main">
            <a:off x="7114032" y="3474720"/>
            <a:ext cx="3803904" cy="310896"/>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24F91E6-E18B-4D94-90DF-F8F2769C0BE2}"/>
              </a:ext>
            </a:extLst>
          </p:cNvPr>
          <p:cNvSpPr>
            <a:spLocks xmlns:a="http://schemas.openxmlformats.org/drawingml/2006/main" noGrp="1"/>
          </p:cNvSpPr>
          <p:nvPr/>
        </p:nvSpPr>
        <p:spPr>
          <a:xfrm xmlns:a="http://schemas.openxmlformats.org/drawingml/2006/main">
            <a:off x="9070848" y="3867912"/>
            <a:ext cx="184708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9E3A00"/>
                </a:solidFill>
                <a:latin typeface="Arial"/>
                <a:ea typeface="Arial"/>
                <a:cs typeface="Arial"/>
              </a:rPr>
              <a:t>88% down</a:t>
            </a:r>
          </a:p>
        </p:txBody>
      </p:sp>
      <p:sp>
        <p:nvSpPr>
          <p:cNvPr id="26" name="TextBox 25">
            <a:extLst xmlns:a="http://schemas.openxmlformats.org/drawingml/2006/main">
              <a:ext uri="{FF2B5EF4-FFF2-40B4-BE49-F238E27FC236}">
                <a16:creationId xmlns:a16="http://schemas.microsoft.com/office/drawing/2014/main" id="{14C01726-1F81-443E-829E-CBFA741B71C0}"/>
              </a:ext>
            </a:extLst>
          </p:cNvPr>
          <p:cNvSpPr>
            <a:spLocks xmlns:a="http://schemas.openxmlformats.org/drawingml/2006/main" noGrp="1"/>
          </p:cNvSpPr>
          <p:nvPr/>
        </p:nvSpPr>
        <p:spPr>
          <a:xfrm xmlns:a="http://schemas.openxmlformats.org/drawingml/2006/main">
            <a:off x="6601968" y="4645152"/>
            <a:ext cx="4572000"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9E3A00"/>
                </a:solidFill>
                <a:latin typeface="Arial"/>
                <a:ea typeface="Arial"/>
                <a:cs typeface="Arial"/>
              </a:rPr>
              <a:t>1 input query enriched</a:t>
            </a:r>
          </a:p>
        </p:txBody>
      </p:sp>
      <p:sp>
        <p:nvSpPr>
          <p:cNvPr id="27" name="TextBox 26">
            <a:extLst xmlns:a="http://schemas.openxmlformats.org/drawingml/2006/main">
              <a:ext uri="{FF2B5EF4-FFF2-40B4-BE49-F238E27FC236}">
                <a16:creationId xmlns:a16="http://schemas.microsoft.com/office/drawing/2014/main" id="{6F07F581-9873-470D-BD95-B7AFBB6C96DE}"/>
              </a:ext>
            </a:extLst>
          </p:cNvPr>
          <p:cNvSpPr>
            <a:spLocks xmlns:a="http://schemas.openxmlformats.org/drawingml/2006/main" noGrp="1"/>
          </p:cNvSpPr>
          <p:nvPr/>
        </p:nvSpPr>
        <p:spPr>
          <a:xfrm xmlns:a="http://schemas.openxmlformats.org/drawingml/2006/main">
            <a:off x="6601968" y="5065776"/>
            <a:ext cx="457200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The enriched query was in the AD-down direction.</a:t>
            </a:r>
          </a:p>
        </p:txBody>
      </p:sp>
      <p:sp>
        <p:nvSpPr>
          <p:cNvPr id="28" name="Rounded Rectangle 27">
            <a:extLst xmlns:a="http://schemas.openxmlformats.org/drawingml/2006/main">
              <a:ext uri="{FF2B5EF4-FFF2-40B4-BE49-F238E27FC236}">
                <a16:creationId xmlns:a16="http://schemas.microsoft.com/office/drawing/2014/main" id="{F5C9DF25-80E8-4137-9C88-DED94F91CC8D}"/>
              </a:ext>
            </a:extLst>
          </p:cNvPr>
          <p:cNvSpPr>
            <a:spLocks xmlns:a="http://schemas.openxmlformats.org/drawingml/2006/main" noGrp="1"/>
          </p:cNvSpPr>
          <p:nvPr/>
        </p:nvSpPr>
        <p:spPr>
          <a:xfrm xmlns:a="http://schemas.openxmlformats.org/drawingml/2006/main">
            <a:off x="658368" y="5989320"/>
            <a:ext cx="10881360" cy="475488"/>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89EAA1C3-6F43-46DA-B4F8-D7A5A131D2B5}"/>
              </a:ext>
            </a:extLst>
          </p:cNvPr>
          <p:cNvSpPr>
            <a:spLocks xmlns:a="http://schemas.openxmlformats.org/drawingml/2006/main" noGrp="1"/>
          </p:cNvSpPr>
          <p:nvPr/>
        </p:nvSpPr>
        <p:spPr>
          <a:xfrm xmlns:a="http://schemas.openxmlformats.org/drawingml/2006/main">
            <a:off x="896112" y="6126480"/>
            <a:ext cx="1040587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7E4C9A"/>
                </a:solidFill>
                <a:latin typeface="Arial"/>
                <a:ea typeface="Arial"/>
                <a:cs typeface="Arial"/>
              </a:rPr>
              <a:t>Enriched = more program genes than expected in a KDA input query (BH &lt; 0.05), not the number of key drivers returned.</a:t>
            </a:r>
          </a:p>
        </p:txBody>
      </p:sp>
    </p:spTree>
    <p:extLst>
      <p:ext uri="{BB962C8B-B14F-4D97-AF65-F5344CB8AC3E}">
        <p14:creationId xmlns:p14="http://schemas.microsoft.com/office/powerpoint/2010/main" val="705907239"/>
      </p:ext>
    </p:extLst>
  </p:cSld>
</p:sld>
</file>

<file path=ppt/slides/slide5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F228AE8-F522-4A04-90BB-C26467E300B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program</a:t>
            </a:r>
          </a:p>
        </p:txBody>
      </p:sp>
      <p:sp>
        <p:nvSpPr>
          <p:cNvPr id="3" name="TextBox 2">
            <a:extLst xmlns:a="http://schemas.openxmlformats.org/drawingml/2006/main">
              <a:ext uri="{FF2B5EF4-FFF2-40B4-BE49-F238E27FC236}">
                <a16:creationId xmlns:a16="http://schemas.microsoft.com/office/drawing/2014/main" id="{D73F4564-F934-415C-B6E2-00B42ED64D5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8 matched calls were evaluable; support is program-level rather than exact-driver replication.</a:t>
            </a:r>
          </a:p>
        </p:txBody>
      </p:sp>
      <p:sp>
        <p:nvSpPr>
          <p:cNvPr id="4" name="Rounded Rectangle 3">
            <a:extLst xmlns:a="http://schemas.openxmlformats.org/drawingml/2006/main">
              <a:ext uri="{FF2B5EF4-FFF2-40B4-BE49-F238E27FC236}">
                <a16:creationId xmlns:a16="http://schemas.microsoft.com/office/drawing/2014/main" id="{9B84C10C-3569-44E6-ACF0-AA947B15657B}"/>
              </a:ext>
            </a:extLst>
          </p:cNvPr>
          <p:cNvSpPr>
            <a:spLocks xmlns:a="http://schemas.openxmlformats.org/drawingml/2006/main" noGrp="1"/>
          </p:cNvSpPr>
          <p:nvPr/>
        </p:nvSpPr>
        <p:spPr>
          <a:xfrm xmlns:a="http://schemas.openxmlformats.org/drawingml/2006/main">
            <a:off x="658368" y="1389888"/>
            <a:ext cx="3456432"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70DED24-64B1-41A2-B72D-E56FEA529086}"/>
              </a:ext>
            </a:extLst>
          </p:cNvPr>
          <p:cNvSpPr>
            <a:spLocks xmlns:a="http://schemas.openxmlformats.org/drawingml/2006/main" noGrp="1"/>
          </p:cNvSpPr>
          <p:nvPr/>
        </p:nvSpPr>
        <p:spPr>
          <a:xfrm xmlns:a="http://schemas.openxmlformats.org/drawingml/2006/main">
            <a:off x="822959" y="1517904"/>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xmlns:a="http://schemas.openxmlformats.org/drawingml/2006/main">
              <a:ext uri="{FF2B5EF4-FFF2-40B4-BE49-F238E27FC236}">
                <a16:creationId xmlns:a16="http://schemas.microsoft.com/office/drawing/2014/main" id="{D93AB62E-39C3-4E0C-BBF9-9AF87160AC38}"/>
              </a:ext>
            </a:extLst>
          </p:cNvPr>
          <p:cNvSpPr>
            <a:spLocks xmlns:a="http://schemas.openxmlformats.org/drawingml/2006/main" noGrp="1"/>
          </p:cNvSpPr>
          <p:nvPr/>
        </p:nvSpPr>
        <p:spPr>
          <a:xfrm xmlns:a="http://schemas.openxmlformats.org/drawingml/2006/main">
            <a:off x="822959" y="2048256"/>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shared mitochondrial-query genes</a:t>
            </a:r>
          </a:p>
        </p:txBody>
      </p:sp>
      <p:sp>
        <p:nvSpPr>
          <p:cNvPr id="7" name="Rounded Rectangle 6">
            <a:extLst xmlns:a="http://schemas.openxmlformats.org/drawingml/2006/main">
              <a:ext uri="{FF2B5EF4-FFF2-40B4-BE49-F238E27FC236}">
                <a16:creationId xmlns:a16="http://schemas.microsoft.com/office/drawing/2014/main" id="{0D99DAC8-4944-4587-9967-2F5576FB7CF0}"/>
              </a:ext>
            </a:extLst>
          </p:cNvPr>
          <p:cNvSpPr>
            <a:spLocks xmlns:a="http://schemas.openxmlformats.org/drawingml/2006/main" noGrp="1"/>
          </p:cNvSpPr>
          <p:nvPr/>
        </p:nvSpPr>
        <p:spPr>
          <a:xfrm xmlns:a="http://schemas.openxmlformats.org/drawingml/2006/main">
            <a:off x="4370832" y="1389888"/>
            <a:ext cx="3456432"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8405ABA6-E07E-40BB-B8D7-F8A0ACDCD496}"/>
              </a:ext>
            </a:extLst>
          </p:cNvPr>
          <p:cNvSpPr>
            <a:spLocks xmlns:a="http://schemas.openxmlformats.org/drawingml/2006/main" noGrp="1"/>
          </p:cNvSpPr>
          <p:nvPr/>
        </p:nvSpPr>
        <p:spPr>
          <a:xfrm xmlns:a="http://schemas.openxmlformats.org/drawingml/2006/main">
            <a:off x="4535424" y="1517904"/>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xmlns:a="http://schemas.openxmlformats.org/drawingml/2006/main">
              <a:ext uri="{FF2B5EF4-FFF2-40B4-BE49-F238E27FC236}">
                <a16:creationId xmlns:a16="http://schemas.microsoft.com/office/drawing/2014/main" id="{88943738-AAC9-4816-8E05-B0BF5F0B3367}"/>
              </a:ext>
            </a:extLst>
          </p:cNvPr>
          <p:cNvSpPr>
            <a:spLocks xmlns:a="http://schemas.openxmlformats.org/drawingml/2006/main" noGrp="1"/>
          </p:cNvSpPr>
          <p:nvPr/>
        </p:nvSpPr>
        <p:spPr>
          <a:xfrm xmlns:a="http://schemas.openxmlformats.org/drawingml/2006/main">
            <a:off x="4535424" y="2048256"/>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xmlns:a="http://schemas.openxmlformats.org/drawingml/2006/main">
              <a:ext uri="{FF2B5EF4-FFF2-40B4-BE49-F238E27FC236}">
                <a16:creationId xmlns:a16="http://schemas.microsoft.com/office/drawing/2014/main" id="{9C09C538-8BDC-4B39-80AB-2D30E7263B31}"/>
              </a:ext>
            </a:extLst>
          </p:cNvPr>
          <p:cNvSpPr>
            <a:spLocks xmlns:a="http://schemas.openxmlformats.org/drawingml/2006/main" noGrp="1"/>
          </p:cNvSpPr>
          <p:nvPr/>
        </p:nvSpPr>
        <p:spPr>
          <a:xfrm xmlns:a="http://schemas.openxmlformats.org/drawingml/2006/main">
            <a:off x="8083296" y="1389888"/>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7A8EBF3-50B2-4CC3-BEC8-2FAAB654E0FB}"/>
              </a:ext>
            </a:extLst>
          </p:cNvPr>
          <p:cNvSpPr>
            <a:spLocks xmlns:a="http://schemas.openxmlformats.org/drawingml/2006/main" noGrp="1"/>
          </p:cNvSpPr>
          <p:nvPr/>
        </p:nvSpPr>
        <p:spPr>
          <a:xfrm xmlns:a="http://schemas.openxmlformats.org/drawingml/2006/main">
            <a:off x="8247888" y="1517904"/>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xmlns:a="http://schemas.openxmlformats.org/drawingml/2006/main">
              <a:ext uri="{FF2B5EF4-FFF2-40B4-BE49-F238E27FC236}">
                <a16:creationId xmlns:a16="http://schemas.microsoft.com/office/drawing/2014/main" id="{1E1FC778-0DBC-4885-802B-F114AFCC49FF}"/>
              </a:ext>
            </a:extLst>
          </p:cNvPr>
          <p:cNvSpPr>
            <a:spLocks xmlns:a="http://schemas.openxmlformats.org/drawingml/2006/main" noGrp="1"/>
          </p:cNvSpPr>
          <p:nvPr/>
        </p:nvSpPr>
        <p:spPr>
          <a:xfrm xmlns:a="http://schemas.openxmlformats.org/drawingml/2006/main">
            <a:off x="8247888" y="2048256"/>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xmlns:a="http://schemas.openxmlformats.org/drawingml/2006/main">
              <a:ext uri="{FF2B5EF4-FFF2-40B4-BE49-F238E27FC236}">
                <a16:creationId xmlns:a16="http://schemas.microsoft.com/office/drawing/2014/main" id="{729EEACE-7AB7-49AB-8CFE-8379EA3FAF06}"/>
              </a:ext>
            </a:extLst>
          </p:cNvPr>
          <p:cNvSpPr>
            <a:spLocks xmlns:a="http://schemas.openxmlformats.org/drawingml/2006/main" noGrp="1"/>
          </p:cNvSpPr>
          <p:nvPr/>
        </p:nvSpPr>
        <p:spPr>
          <a:xfrm xmlns:a="http://schemas.openxmlformats.org/drawingml/2006/main">
            <a:off x="8247888" y="2377440"/>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xmlns:a="http://schemas.openxmlformats.org/drawingml/2006/main">
              <a:ext uri="{FF2B5EF4-FFF2-40B4-BE49-F238E27FC236}">
                <a16:creationId xmlns:a16="http://schemas.microsoft.com/office/drawing/2014/main" id="{C52CC1AA-C592-409D-9C8F-C4C7C5796C52}"/>
              </a:ext>
            </a:extLst>
          </p:cNvPr>
          <p:cNvSpPr>
            <a:spLocks xmlns:a="http://schemas.openxmlformats.org/drawingml/2006/main" noGrp="1"/>
          </p:cNvSpPr>
          <p:nvPr/>
        </p:nvSpPr>
        <p:spPr>
          <a:xfrm xmlns:a="http://schemas.openxmlformats.org/drawingml/2006/main">
            <a:off x="658368" y="2889504"/>
            <a:ext cx="5285232" cy="25786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EC22928-71CD-4979-B6FD-7044B29A7691}"/>
              </a:ext>
            </a:extLst>
          </p:cNvPr>
          <p:cNvSpPr>
            <a:spLocks xmlns:a="http://schemas.openxmlformats.org/drawingml/2006/main" noGrp="1"/>
          </p:cNvSpPr>
          <p:nvPr/>
        </p:nvSpPr>
        <p:spPr>
          <a:xfrm xmlns:a="http://schemas.openxmlformats.org/drawingml/2006/main">
            <a:off x="969264" y="3236976"/>
            <a:ext cx="327355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700" b="1" i="0">
                <a:solidFill>
                  <a:srgbClr val="0F233D"/>
                </a:solidFill>
                <a:latin typeface="Arial"/>
                <a:ea typeface="Arial"/>
                <a:cs typeface="Arial"/>
              </a:rPr>
              <a:t>Mitochondrial DNA</a:t>
            </a:r>
          </a:p>
        </p:txBody>
      </p:sp>
      <p:sp>
        <p:nvSpPr>
          <p:cNvPr id="16" name="TextBox 15">
            <a:extLst xmlns:a="http://schemas.openxmlformats.org/drawingml/2006/main">
              <a:ext uri="{FF2B5EF4-FFF2-40B4-BE49-F238E27FC236}">
                <a16:creationId xmlns:a16="http://schemas.microsoft.com/office/drawing/2014/main" id="{05E7B790-23B2-4282-8021-0D8ED01E8BE6}"/>
              </a:ext>
            </a:extLst>
          </p:cNvPr>
          <p:cNvSpPr>
            <a:spLocks xmlns:a="http://schemas.openxmlformats.org/drawingml/2006/main" noGrp="1"/>
          </p:cNvSpPr>
          <p:nvPr/>
        </p:nvSpPr>
        <p:spPr>
          <a:xfrm xmlns:a="http://schemas.openxmlformats.org/drawingml/2006/main">
            <a:off x="4370832" y="3127248"/>
            <a:ext cx="987552"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xmlns:a="http://schemas.openxmlformats.org/drawingml/2006/main">
              <a:ext uri="{FF2B5EF4-FFF2-40B4-BE49-F238E27FC236}">
                <a16:creationId xmlns:a16="http://schemas.microsoft.com/office/drawing/2014/main" id="{21EBDE05-7773-43CF-99DF-996AA2B14BF8}"/>
              </a:ext>
            </a:extLst>
          </p:cNvPr>
          <p:cNvSpPr>
            <a:spLocks xmlns:a="http://schemas.openxmlformats.org/drawingml/2006/main" noGrp="1"/>
          </p:cNvSpPr>
          <p:nvPr/>
        </p:nvSpPr>
        <p:spPr>
          <a:xfrm xmlns:a="http://schemas.openxmlformats.org/drawingml/2006/main">
            <a:off x="969264" y="4023360"/>
            <a:ext cx="46634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1F2730"/>
                </a:solidFill>
                <a:latin typeface="Arial"/>
                <a:ea typeface="Arial"/>
                <a:cs typeface="Arial"/>
              </a:rPr>
              <a:t>9 mtDNA-OXPHOS genes are AD-up in both cohorts</a:t>
            </a:r>
          </a:p>
        </p:txBody>
      </p:sp>
      <p:sp>
        <p:nvSpPr>
          <p:cNvPr id="18" name="Rounded Rectangle 17">
            <a:extLst xmlns:a="http://schemas.openxmlformats.org/drawingml/2006/main">
              <a:ext uri="{FF2B5EF4-FFF2-40B4-BE49-F238E27FC236}">
                <a16:creationId xmlns:a16="http://schemas.microsoft.com/office/drawing/2014/main" id="{21A736C1-D371-4DFB-85A3-D5F9EC58CEDA}"/>
              </a:ext>
            </a:extLst>
          </p:cNvPr>
          <p:cNvSpPr>
            <a:spLocks xmlns:a="http://schemas.openxmlformats.org/drawingml/2006/main" noGrp="1"/>
          </p:cNvSpPr>
          <p:nvPr/>
        </p:nvSpPr>
        <p:spPr>
          <a:xfrm xmlns:a="http://schemas.openxmlformats.org/drawingml/2006/main">
            <a:off x="6236208" y="2889504"/>
            <a:ext cx="5303520" cy="25786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AEA45A9-E7D1-44D5-8311-0C8E2001C095}"/>
              </a:ext>
            </a:extLst>
          </p:cNvPr>
          <p:cNvSpPr>
            <a:spLocks xmlns:a="http://schemas.openxmlformats.org/drawingml/2006/main" noGrp="1"/>
          </p:cNvSpPr>
          <p:nvPr/>
        </p:nvSpPr>
        <p:spPr>
          <a:xfrm xmlns:a="http://schemas.openxmlformats.org/drawingml/2006/main">
            <a:off x="6547104" y="3236976"/>
            <a:ext cx="3456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xmlns:a="http://schemas.openxmlformats.org/drawingml/2006/main">
              <a:ext uri="{FF2B5EF4-FFF2-40B4-BE49-F238E27FC236}">
                <a16:creationId xmlns:a16="http://schemas.microsoft.com/office/drawing/2014/main" id="{05A97C27-82B4-45D6-B9F2-F51E224B071E}"/>
              </a:ext>
            </a:extLst>
          </p:cNvPr>
          <p:cNvSpPr>
            <a:spLocks xmlns:a="http://schemas.openxmlformats.org/drawingml/2006/main" noGrp="1"/>
          </p:cNvSpPr>
          <p:nvPr/>
        </p:nvSpPr>
        <p:spPr>
          <a:xfrm xmlns:a="http://schemas.openxmlformats.org/drawingml/2006/main">
            <a:off x="10094976" y="3127248"/>
            <a:ext cx="987552"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xmlns:a="http://schemas.openxmlformats.org/drawingml/2006/main">
              <a:ext uri="{FF2B5EF4-FFF2-40B4-BE49-F238E27FC236}">
                <a16:creationId xmlns:a16="http://schemas.microsoft.com/office/drawing/2014/main" id="{FEDF88CC-C203-439A-A4B9-853512E75892}"/>
              </a:ext>
            </a:extLst>
          </p:cNvPr>
          <p:cNvSpPr>
            <a:spLocks xmlns:a="http://schemas.openxmlformats.org/drawingml/2006/main" noGrp="1"/>
          </p:cNvSpPr>
          <p:nvPr/>
        </p:nvSpPr>
        <p:spPr>
          <a:xfrm xmlns:a="http://schemas.openxmlformats.org/drawingml/2006/main">
            <a:off x="6547104" y="3931920"/>
            <a:ext cx="4663440" cy="8229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xmlns:a="http://schemas.openxmlformats.org/drawingml/2006/main">
              <a:ext uri="{FF2B5EF4-FFF2-40B4-BE49-F238E27FC236}">
                <a16:creationId xmlns:a16="http://schemas.microsoft.com/office/drawing/2014/main" id="{52E1BD7B-24E1-436E-8704-3A9BB378E2B3}"/>
              </a:ext>
            </a:extLst>
          </p:cNvPr>
          <p:cNvSpPr>
            <a:spLocks xmlns:a="http://schemas.openxmlformats.org/drawingml/2006/main" noGrp="1"/>
          </p:cNvSpPr>
          <p:nvPr/>
        </p:nvSpPr>
        <p:spPr>
          <a:xfrm xmlns:a="http://schemas.openxmlformats.org/drawingml/2006/main">
            <a:off x="658368" y="5797296"/>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5D11F732-E17F-4B19-A6DF-B3E7019864C6}"/>
              </a:ext>
            </a:extLst>
          </p:cNvPr>
          <p:cNvSpPr>
            <a:spLocks xmlns:a="http://schemas.openxmlformats.org/drawingml/2006/main" noGrp="1"/>
          </p:cNvSpPr>
          <p:nvPr/>
        </p:nvSpPr>
        <p:spPr>
          <a:xfrm xmlns:a="http://schemas.openxmlformats.org/drawingml/2006/main">
            <a:off x="896112" y="5943600"/>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sld>
</file>

<file path=ppt/slides/slide5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141920-9135-499A-86FA-022B8A4032B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xmlns:a="http://schemas.openxmlformats.org/drawingml/2006/main">
              <a:ext uri="{FF2B5EF4-FFF2-40B4-BE49-F238E27FC236}">
                <a16:creationId xmlns:a16="http://schemas.microsoft.com/office/drawing/2014/main" id="{73C71CD7-CDF5-47CA-9D73-AF47E6DC1D7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agreement spans respiratory subunits, transport, import, mitochondrial ribosomes, and maintenance.</a:t>
            </a:r>
          </a:p>
        </p:txBody>
      </p:sp>
      <p:sp>
        <p:nvSpPr>
          <p:cNvPr id="4" name="Rounded Rectangle 3">
            <a:extLst xmlns:a="http://schemas.openxmlformats.org/drawingml/2006/main">
              <a:ext uri="{FF2B5EF4-FFF2-40B4-BE49-F238E27FC236}">
                <a16:creationId xmlns:a16="http://schemas.microsoft.com/office/drawing/2014/main" id="{A238567A-BE19-4CB9-9289-BCA988D2517D}"/>
              </a:ext>
            </a:extLst>
          </p:cNvPr>
          <p:cNvSpPr>
            <a:spLocks xmlns:a="http://schemas.openxmlformats.org/drawingml/2006/main" noGrp="1"/>
          </p:cNvSpPr>
          <p:nvPr/>
        </p:nvSpPr>
        <p:spPr>
          <a:xfrm xmlns:a="http://schemas.openxmlformats.org/drawingml/2006/main">
            <a:off x="658368" y="1353312"/>
            <a:ext cx="5285232" cy="360273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0BB154C-7586-4643-B485-3B1EEAAD8995}"/>
              </a:ext>
            </a:extLst>
          </p:cNvPr>
          <p:cNvSpPr>
            <a:spLocks xmlns:a="http://schemas.openxmlformats.org/drawingml/2006/main" noGrp="1"/>
          </p:cNvSpPr>
          <p:nvPr/>
        </p:nvSpPr>
        <p:spPr>
          <a:xfrm xmlns:a="http://schemas.openxmlformats.org/drawingml/2006/main">
            <a:off x="950976" y="1691640"/>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C8E6BC7-981A-43D3-8A45-EB2FCC434A4E}"/>
              </a:ext>
            </a:extLst>
          </p:cNvPr>
          <p:cNvSpPr>
            <a:spLocks xmlns:a="http://schemas.openxmlformats.org/drawingml/2006/main" noGrp="1"/>
          </p:cNvSpPr>
          <p:nvPr/>
        </p:nvSpPr>
        <p:spPr>
          <a:xfrm xmlns:a="http://schemas.openxmlformats.org/drawingml/2006/main">
            <a:off x="1097280" y="1664208"/>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9 mtDNA-OXPHOS genes ↑ in both</a:t>
            </a:r>
          </a:p>
        </p:txBody>
      </p:sp>
      <p:sp>
        <p:nvSpPr>
          <p:cNvPr id="7" name="Rounded Rectangle 6">
            <a:extLst xmlns:a="http://schemas.openxmlformats.org/drawingml/2006/main">
              <a:ext uri="{FF2B5EF4-FFF2-40B4-BE49-F238E27FC236}">
                <a16:creationId xmlns:a16="http://schemas.microsoft.com/office/drawing/2014/main" id="{574FAC51-7F33-40DB-AE27-D43AFD85E769}"/>
              </a:ext>
            </a:extLst>
          </p:cNvPr>
          <p:cNvSpPr>
            <a:spLocks xmlns:a="http://schemas.openxmlformats.org/drawingml/2006/main" noGrp="1"/>
          </p:cNvSpPr>
          <p:nvPr/>
        </p:nvSpPr>
        <p:spPr>
          <a:xfrm xmlns:a="http://schemas.openxmlformats.org/drawingml/2006/main">
            <a:off x="950976"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0E6F877-FE86-45C8-84AA-40630E895549}"/>
              </a:ext>
            </a:extLst>
          </p:cNvPr>
          <p:cNvSpPr>
            <a:spLocks xmlns:a="http://schemas.openxmlformats.org/drawingml/2006/main" noGrp="1"/>
          </p:cNvSpPr>
          <p:nvPr/>
        </p:nvSpPr>
        <p:spPr>
          <a:xfrm xmlns:a="http://schemas.openxmlformats.org/drawingml/2006/main">
            <a:off x="1042416"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xmlns:a="http://schemas.openxmlformats.org/drawingml/2006/main">
              <a:ext uri="{FF2B5EF4-FFF2-40B4-BE49-F238E27FC236}">
                <a16:creationId xmlns:a16="http://schemas.microsoft.com/office/drawing/2014/main" id="{5BBFD0A2-393E-4060-9F36-FD8B6C9BFA65}"/>
              </a:ext>
            </a:extLst>
          </p:cNvPr>
          <p:cNvSpPr>
            <a:spLocks xmlns:a="http://schemas.openxmlformats.org/drawingml/2006/main" noGrp="1"/>
          </p:cNvSpPr>
          <p:nvPr/>
        </p:nvSpPr>
        <p:spPr>
          <a:xfrm xmlns:a="http://schemas.openxmlformats.org/drawingml/2006/main">
            <a:off x="2478024"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3E93762-9440-458A-8CFC-05D7BA1BFC2D}"/>
              </a:ext>
            </a:extLst>
          </p:cNvPr>
          <p:cNvSpPr>
            <a:spLocks xmlns:a="http://schemas.openxmlformats.org/drawingml/2006/main" noGrp="1"/>
          </p:cNvSpPr>
          <p:nvPr/>
        </p:nvSpPr>
        <p:spPr>
          <a:xfrm xmlns:a="http://schemas.openxmlformats.org/drawingml/2006/main">
            <a:off x="2569464"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xmlns:a="http://schemas.openxmlformats.org/drawingml/2006/main">
              <a:ext uri="{FF2B5EF4-FFF2-40B4-BE49-F238E27FC236}">
                <a16:creationId xmlns:a16="http://schemas.microsoft.com/office/drawing/2014/main" id="{1171B2B7-9E0A-4A84-8B7F-BA91C1AB4279}"/>
              </a:ext>
            </a:extLst>
          </p:cNvPr>
          <p:cNvSpPr>
            <a:spLocks xmlns:a="http://schemas.openxmlformats.org/drawingml/2006/main" noGrp="1"/>
          </p:cNvSpPr>
          <p:nvPr/>
        </p:nvSpPr>
        <p:spPr>
          <a:xfrm xmlns:a="http://schemas.openxmlformats.org/drawingml/2006/main">
            <a:off x="4005072"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B3EC02D-C44E-4392-BB9E-1AA71DDB5D93}"/>
              </a:ext>
            </a:extLst>
          </p:cNvPr>
          <p:cNvSpPr>
            <a:spLocks xmlns:a="http://schemas.openxmlformats.org/drawingml/2006/main" noGrp="1"/>
          </p:cNvSpPr>
          <p:nvPr/>
        </p:nvSpPr>
        <p:spPr>
          <a:xfrm xmlns:a="http://schemas.openxmlformats.org/drawingml/2006/main">
            <a:off x="4096511"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xmlns:a="http://schemas.openxmlformats.org/drawingml/2006/main">
              <a:ext uri="{FF2B5EF4-FFF2-40B4-BE49-F238E27FC236}">
                <a16:creationId xmlns:a16="http://schemas.microsoft.com/office/drawing/2014/main" id="{C8783C2B-A917-46AB-A1EE-C734B385F2E4}"/>
              </a:ext>
            </a:extLst>
          </p:cNvPr>
          <p:cNvSpPr>
            <a:spLocks xmlns:a="http://schemas.openxmlformats.org/drawingml/2006/main" noGrp="1"/>
          </p:cNvSpPr>
          <p:nvPr/>
        </p:nvSpPr>
        <p:spPr>
          <a:xfrm xmlns:a="http://schemas.openxmlformats.org/drawingml/2006/main">
            <a:off x="950976"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ED2432E-722A-42AA-A1E2-8B74EE2A28D8}"/>
              </a:ext>
            </a:extLst>
          </p:cNvPr>
          <p:cNvSpPr>
            <a:spLocks xmlns:a="http://schemas.openxmlformats.org/drawingml/2006/main" noGrp="1"/>
          </p:cNvSpPr>
          <p:nvPr/>
        </p:nvSpPr>
        <p:spPr>
          <a:xfrm xmlns:a="http://schemas.openxmlformats.org/drawingml/2006/main">
            <a:off x="1042416"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xmlns:a="http://schemas.openxmlformats.org/drawingml/2006/main">
              <a:ext uri="{FF2B5EF4-FFF2-40B4-BE49-F238E27FC236}">
                <a16:creationId xmlns:a16="http://schemas.microsoft.com/office/drawing/2014/main" id="{BDF2196C-1BD1-4FF0-B623-2E82FCDEC8C3}"/>
              </a:ext>
            </a:extLst>
          </p:cNvPr>
          <p:cNvSpPr>
            <a:spLocks xmlns:a="http://schemas.openxmlformats.org/drawingml/2006/main" noGrp="1"/>
          </p:cNvSpPr>
          <p:nvPr/>
        </p:nvSpPr>
        <p:spPr>
          <a:xfrm xmlns:a="http://schemas.openxmlformats.org/drawingml/2006/main">
            <a:off x="2478024"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091A08BF-16AF-4B58-A566-0552A3C0164B}"/>
              </a:ext>
            </a:extLst>
          </p:cNvPr>
          <p:cNvSpPr>
            <a:spLocks xmlns:a="http://schemas.openxmlformats.org/drawingml/2006/main" noGrp="1"/>
          </p:cNvSpPr>
          <p:nvPr/>
        </p:nvSpPr>
        <p:spPr>
          <a:xfrm xmlns:a="http://schemas.openxmlformats.org/drawingml/2006/main">
            <a:off x="2569464"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xmlns:a="http://schemas.openxmlformats.org/drawingml/2006/main">
              <a:ext uri="{FF2B5EF4-FFF2-40B4-BE49-F238E27FC236}">
                <a16:creationId xmlns:a16="http://schemas.microsoft.com/office/drawing/2014/main" id="{A09B3222-631D-4C02-BD7C-C8B4F6716921}"/>
              </a:ext>
            </a:extLst>
          </p:cNvPr>
          <p:cNvSpPr>
            <a:spLocks xmlns:a="http://schemas.openxmlformats.org/drawingml/2006/main" noGrp="1"/>
          </p:cNvSpPr>
          <p:nvPr/>
        </p:nvSpPr>
        <p:spPr>
          <a:xfrm xmlns:a="http://schemas.openxmlformats.org/drawingml/2006/main">
            <a:off x="4005072"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A70FDBD-B0EE-475D-B398-3015AEA676E3}"/>
              </a:ext>
            </a:extLst>
          </p:cNvPr>
          <p:cNvSpPr>
            <a:spLocks xmlns:a="http://schemas.openxmlformats.org/drawingml/2006/main" noGrp="1"/>
          </p:cNvSpPr>
          <p:nvPr/>
        </p:nvSpPr>
        <p:spPr>
          <a:xfrm xmlns:a="http://schemas.openxmlformats.org/drawingml/2006/main">
            <a:off x="4096511"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xmlns:a="http://schemas.openxmlformats.org/drawingml/2006/main">
              <a:ext uri="{FF2B5EF4-FFF2-40B4-BE49-F238E27FC236}">
                <a16:creationId xmlns:a16="http://schemas.microsoft.com/office/drawing/2014/main" id="{9E4EDCEE-330A-4C30-B731-B4AFFDA016A9}"/>
              </a:ext>
            </a:extLst>
          </p:cNvPr>
          <p:cNvSpPr>
            <a:spLocks xmlns:a="http://schemas.openxmlformats.org/drawingml/2006/main" noGrp="1"/>
          </p:cNvSpPr>
          <p:nvPr/>
        </p:nvSpPr>
        <p:spPr>
          <a:xfrm xmlns:a="http://schemas.openxmlformats.org/drawingml/2006/main">
            <a:off x="950976"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93B357DB-153B-4294-B85A-B8EB8A00302C}"/>
              </a:ext>
            </a:extLst>
          </p:cNvPr>
          <p:cNvSpPr>
            <a:spLocks xmlns:a="http://schemas.openxmlformats.org/drawingml/2006/main" noGrp="1"/>
          </p:cNvSpPr>
          <p:nvPr/>
        </p:nvSpPr>
        <p:spPr>
          <a:xfrm xmlns:a="http://schemas.openxmlformats.org/drawingml/2006/main">
            <a:off x="1042416"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xmlns:a="http://schemas.openxmlformats.org/drawingml/2006/main">
              <a:ext uri="{FF2B5EF4-FFF2-40B4-BE49-F238E27FC236}">
                <a16:creationId xmlns:a16="http://schemas.microsoft.com/office/drawing/2014/main" id="{DCA6CB8D-35EC-45D1-B544-B245023B6A11}"/>
              </a:ext>
            </a:extLst>
          </p:cNvPr>
          <p:cNvSpPr>
            <a:spLocks xmlns:a="http://schemas.openxmlformats.org/drawingml/2006/main" noGrp="1"/>
          </p:cNvSpPr>
          <p:nvPr/>
        </p:nvSpPr>
        <p:spPr>
          <a:xfrm xmlns:a="http://schemas.openxmlformats.org/drawingml/2006/main">
            <a:off x="2478024"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30CB0331-FFB8-4D19-87C8-C8EB747B2B72}"/>
              </a:ext>
            </a:extLst>
          </p:cNvPr>
          <p:cNvSpPr>
            <a:spLocks xmlns:a="http://schemas.openxmlformats.org/drawingml/2006/main" noGrp="1"/>
          </p:cNvSpPr>
          <p:nvPr/>
        </p:nvSpPr>
        <p:spPr>
          <a:xfrm xmlns:a="http://schemas.openxmlformats.org/drawingml/2006/main">
            <a:off x="2569464"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xmlns:a="http://schemas.openxmlformats.org/drawingml/2006/main">
              <a:ext uri="{FF2B5EF4-FFF2-40B4-BE49-F238E27FC236}">
                <a16:creationId xmlns:a16="http://schemas.microsoft.com/office/drawing/2014/main" id="{04029D47-3EA5-4D85-9276-1AC2B5CC904A}"/>
              </a:ext>
            </a:extLst>
          </p:cNvPr>
          <p:cNvSpPr>
            <a:spLocks xmlns:a="http://schemas.openxmlformats.org/drawingml/2006/main" noGrp="1"/>
          </p:cNvSpPr>
          <p:nvPr/>
        </p:nvSpPr>
        <p:spPr>
          <a:xfrm xmlns:a="http://schemas.openxmlformats.org/drawingml/2006/main">
            <a:off x="4005072"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0A26401-7BFB-4C8F-9EA3-C4B6F0E212CA}"/>
              </a:ext>
            </a:extLst>
          </p:cNvPr>
          <p:cNvSpPr>
            <a:spLocks xmlns:a="http://schemas.openxmlformats.org/drawingml/2006/main" noGrp="1"/>
          </p:cNvSpPr>
          <p:nvPr/>
        </p:nvSpPr>
        <p:spPr>
          <a:xfrm xmlns:a="http://schemas.openxmlformats.org/drawingml/2006/main">
            <a:off x="4096511"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xmlns:a="http://schemas.openxmlformats.org/drawingml/2006/main">
              <a:ext uri="{FF2B5EF4-FFF2-40B4-BE49-F238E27FC236}">
                <a16:creationId xmlns:a16="http://schemas.microsoft.com/office/drawing/2014/main" id="{20673662-2E76-4EEE-AD3E-DBC5A8F792CC}"/>
              </a:ext>
            </a:extLst>
          </p:cNvPr>
          <p:cNvSpPr>
            <a:spLocks xmlns:a="http://schemas.openxmlformats.org/drawingml/2006/main" noGrp="1"/>
          </p:cNvSpPr>
          <p:nvPr/>
        </p:nvSpPr>
        <p:spPr>
          <a:xfrm xmlns:a="http://schemas.openxmlformats.org/drawingml/2006/main">
            <a:off x="6236208" y="1353312"/>
            <a:ext cx="5303520" cy="3602736"/>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Rectangle 25">
            <a:extLst xmlns:a="http://schemas.openxmlformats.org/drawingml/2006/main">
              <a:ext uri="{FF2B5EF4-FFF2-40B4-BE49-F238E27FC236}">
                <a16:creationId xmlns:a16="http://schemas.microsoft.com/office/drawing/2014/main" id="{BA34ED79-956B-413D-B5CE-FEFFF8D61234}"/>
              </a:ext>
            </a:extLst>
          </p:cNvPr>
          <p:cNvSpPr>
            <a:spLocks xmlns:a="http://schemas.openxmlformats.org/drawingml/2006/main" noGrp="1"/>
          </p:cNvSpPr>
          <p:nvPr/>
        </p:nvSpPr>
        <p:spPr>
          <a:xfrm xmlns:a="http://schemas.openxmlformats.org/drawingml/2006/main">
            <a:off x="6528816" y="1691640"/>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ECCD7B4-D946-4D83-A898-FA961ED119BE}"/>
              </a:ext>
            </a:extLst>
          </p:cNvPr>
          <p:cNvSpPr>
            <a:spLocks xmlns:a="http://schemas.openxmlformats.org/drawingml/2006/main" noGrp="1"/>
          </p:cNvSpPr>
          <p:nvPr/>
        </p:nvSpPr>
        <p:spPr>
          <a:xfrm xmlns:a="http://schemas.openxmlformats.org/drawingml/2006/main">
            <a:off x="6675120" y="1664208"/>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8 nuclear or maintenance genes ↓ in both</a:t>
            </a:r>
          </a:p>
        </p:txBody>
      </p:sp>
      <p:sp>
        <p:nvSpPr>
          <p:cNvPr id="28" name="Rounded Rectangle 27">
            <a:extLst xmlns:a="http://schemas.openxmlformats.org/drawingml/2006/main">
              <a:ext uri="{FF2B5EF4-FFF2-40B4-BE49-F238E27FC236}">
                <a16:creationId xmlns:a16="http://schemas.microsoft.com/office/drawing/2014/main" id="{FAA68ABB-712A-45AE-862F-5D741259402E}"/>
              </a:ext>
            </a:extLst>
          </p:cNvPr>
          <p:cNvSpPr>
            <a:spLocks xmlns:a="http://schemas.openxmlformats.org/drawingml/2006/main" noGrp="1"/>
          </p:cNvSpPr>
          <p:nvPr/>
        </p:nvSpPr>
        <p:spPr>
          <a:xfrm xmlns:a="http://schemas.openxmlformats.org/drawingml/2006/main">
            <a:off x="6565392" y="2139696"/>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CE661190-7927-4A73-8473-F125B946518C}"/>
              </a:ext>
            </a:extLst>
          </p:cNvPr>
          <p:cNvSpPr>
            <a:spLocks xmlns:a="http://schemas.openxmlformats.org/drawingml/2006/main" noGrp="1"/>
          </p:cNvSpPr>
          <p:nvPr/>
        </p:nvSpPr>
        <p:spPr>
          <a:xfrm xmlns:a="http://schemas.openxmlformats.org/drawingml/2006/main">
            <a:off x="6656831" y="2240279"/>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xmlns:a="http://schemas.openxmlformats.org/drawingml/2006/main">
              <a:ext uri="{FF2B5EF4-FFF2-40B4-BE49-F238E27FC236}">
                <a16:creationId xmlns:a16="http://schemas.microsoft.com/office/drawing/2014/main" id="{BBABDB61-D35F-4ED9-994F-9A0CF5B82E15}"/>
              </a:ext>
            </a:extLst>
          </p:cNvPr>
          <p:cNvSpPr>
            <a:spLocks xmlns:a="http://schemas.openxmlformats.org/drawingml/2006/main" noGrp="1"/>
          </p:cNvSpPr>
          <p:nvPr/>
        </p:nvSpPr>
        <p:spPr>
          <a:xfrm xmlns:a="http://schemas.openxmlformats.org/drawingml/2006/main">
            <a:off x="8833104" y="2139696"/>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740B0317-278F-4347-92F7-6319EB85A48D}"/>
              </a:ext>
            </a:extLst>
          </p:cNvPr>
          <p:cNvSpPr>
            <a:spLocks xmlns:a="http://schemas.openxmlformats.org/drawingml/2006/main" noGrp="1"/>
          </p:cNvSpPr>
          <p:nvPr/>
        </p:nvSpPr>
        <p:spPr>
          <a:xfrm xmlns:a="http://schemas.openxmlformats.org/drawingml/2006/main">
            <a:off x="8924544" y="2240279"/>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xmlns:a="http://schemas.openxmlformats.org/drawingml/2006/main">
              <a:ext uri="{FF2B5EF4-FFF2-40B4-BE49-F238E27FC236}">
                <a16:creationId xmlns:a16="http://schemas.microsoft.com/office/drawing/2014/main" id="{1D48AAAC-0032-4DDD-83FE-48AE10AEA4C4}"/>
              </a:ext>
            </a:extLst>
          </p:cNvPr>
          <p:cNvSpPr>
            <a:spLocks xmlns:a="http://schemas.openxmlformats.org/drawingml/2006/main" noGrp="1"/>
          </p:cNvSpPr>
          <p:nvPr/>
        </p:nvSpPr>
        <p:spPr>
          <a:xfrm xmlns:a="http://schemas.openxmlformats.org/drawingml/2006/main">
            <a:off x="6565392" y="2761488"/>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E53ADCE1-CA88-4B3F-80B5-7456C4A245FC}"/>
              </a:ext>
            </a:extLst>
          </p:cNvPr>
          <p:cNvSpPr>
            <a:spLocks xmlns:a="http://schemas.openxmlformats.org/drawingml/2006/main" noGrp="1"/>
          </p:cNvSpPr>
          <p:nvPr/>
        </p:nvSpPr>
        <p:spPr>
          <a:xfrm xmlns:a="http://schemas.openxmlformats.org/drawingml/2006/main">
            <a:off x="6656831" y="2862072"/>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xmlns:a="http://schemas.openxmlformats.org/drawingml/2006/main">
              <a:ext uri="{FF2B5EF4-FFF2-40B4-BE49-F238E27FC236}">
                <a16:creationId xmlns:a16="http://schemas.microsoft.com/office/drawing/2014/main" id="{A6ED0EB4-CC97-4758-9DE0-4B394B4EE270}"/>
              </a:ext>
            </a:extLst>
          </p:cNvPr>
          <p:cNvSpPr>
            <a:spLocks xmlns:a="http://schemas.openxmlformats.org/drawingml/2006/main" noGrp="1"/>
          </p:cNvSpPr>
          <p:nvPr/>
        </p:nvSpPr>
        <p:spPr>
          <a:xfrm xmlns:a="http://schemas.openxmlformats.org/drawingml/2006/main">
            <a:off x="8833104" y="2761488"/>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0E25720A-91FC-49D1-8D91-9088C37BC187}"/>
              </a:ext>
            </a:extLst>
          </p:cNvPr>
          <p:cNvSpPr>
            <a:spLocks xmlns:a="http://schemas.openxmlformats.org/drawingml/2006/main" noGrp="1"/>
          </p:cNvSpPr>
          <p:nvPr/>
        </p:nvSpPr>
        <p:spPr>
          <a:xfrm xmlns:a="http://schemas.openxmlformats.org/drawingml/2006/main">
            <a:off x="8924544" y="2862072"/>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xmlns:a="http://schemas.openxmlformats.org/drawingml/2006/main">
              <a:ext uri="{FF2B5EF4-FFF2-40B4-BE49-F238E27FC236}">
                <a16:creationId xmlns:a16="http://schemas.microsoft.com/office/drawing/2014/main" id="{8D0EAADA-EA66-48E7-B3F4-1F04C0904F51}"/>
              </a:ext>
            </a:extLst>
          </p:cNvPr>
          <p:cNvSpPr>
            <a:spLocks xmlns:a="http://schemas.openxmlformats.org/drawingml/2006/main" noGrp="1"/>
          </p:cNvSpPr>
          <p:nvPr/>
        </p:nvSpPr>
        <p:spPr>
          <a:xfrm xmlns:a="http://schemas.openxmlformats.org/drawingml/2006/main">
            <a:off x="6565392" y="3383280"/>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D73FE672-1675-4AFF-B10F-F3C3DA4C0FD6}"/>
              </a:ext>
            </a:extLst>
          </p:cNvPr>
          <p:cNvSpPr>
            <a:spLocks xmlns:a="http://schemas.openxmlformats.org/drawingml/2006/main" noGrp="1"/>
          </p:cNvSpPr>
          <p:nvPr/>
        </p:nvSpPr>
        <p:spPr>
          <a:xfrm xmlns:a="http://schemas.openxmlformats.org/drawingml/2006/main">
            <a:off x="6656831" y="3483864"/>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xmlns:a="http://schemas.openxmlformats.org/drawingml/2006/main">
              <a:ext uri="{FF2B5EF4-FFF2-40B4-BE49-F238E27FC236}">
                <a16:creationId xmlns:a16="http://schemas.microsoft.com/office/drawing/2014/main" id="{9465C8DE-8788-4B61-894D-1FA77641511B}"/>
              </a:ext>
            </a:extLst>
          </p:cNvPr>
          <p:cNvSpPr>
            <a:spLocks xmlns:a="http://schemas.openxmlformats.org/drawingml/2006/main" noGrp="1"/>
          </p:cNvSpPr>
          <p:nvPr/>
        </p:nvSpPr>
        <p:spPr>
          <a:xfrm xmlns:a="http://schemas.openxmlformats.org/drawingml/2006/main">
            <a:off x="8833104" y="3383280"/>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0D14650F-E567-4F55-9B53-A70E1B67177B}"/>
              </a:ext>
            </a:extLst>
          </p:cNvPr>
          <p:cNvSpPr>
            <a:spLocks xmlns:a="http://schemas.openxmlformats.org/drawingml/2006/main" noGrp="1"/>
          </p:cNvSpPr>
          <p:nvPr/>
        </p:nvSpPr>
        <p:spPr>
          <a:xfrm xmlns:a="http://schemas.openxmlformats.org/drawingml/2006/main">
            <a:off x="8924544" y="3483864"/>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xmlns:a="http://schemas.openxmlformats.org/drawingml/2006/main">
              <a:ext uri="{FF2B5EF4-FFF2-40B4-BE49-F238E27FC236}">
                <a16:creationId xmlns:a16="http://schemas.microsoft.com/office/drawing/2014/main" id="{FC6DA421-533E-419C-9152-C997B7449409}"/>
              </a:ext>
            </a:extLst>
          </p:cNvPr>
          <p:cNvSpPr>
            <a:spLocks xmlns:a="http://schemas.openxmlformats.org/drawingml/2006/main" noGrp="1"/>
          </p:cNvSpPr>
          <p:nvPr/>
        </p:nvSpPr>
        <p:spPr>
          <a:xfrm xmlns:a="http://schemas.openxmlformats.org/drawingml/2006/main">
            <a:off x="6565392" y="4005072"/>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086D0335-838E-466D-88BE-65362C921125}"/>
              </a:ext>
            </a:extLst>
          </p:cNvPr>
          <p:cNvSpPr>
            <a:spLocks xmlns:a="http://schemas.openxmlformats.org/drawingml/2006/main" noGrp="1"/>
          </p:cNvSpPr>
          <p:nvPr/>
        </p:nvSpPr>
        <p:spPr>
          <a:xfrm xmlns:a="http://schemas.openxmlformats.org/drawingml/2006/main">
            <a:off x="6656831" y="4105656"/>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xmlns:a="http://schemas.openxmlformats.org/drawingml/2006/main">
              <a:ext uri="{FF2B5EF4-FFF2-40B4-BE49-F238E27FC236}">
                <a16:creationId xmlns:a16="http://schemas.microsoft.com/office/drawing/2014/main" id="{10CD3535-2950-4B88-B210-BE54B8A346C8}"/>
              </a:ext>
            </a:extLst>
          </p:cNvPr>
          <p:cNvSpPr>
            <a:spLocks xmlns:a="http://schemas.openxmlformats.org/drawingml/2006/main" noGrp="1"/>
          </p:cNvSpPr>
          <p:nvPr/>
        </p:nvSpPr>
        <p:spPr>
          <a:xfrm xmlns:a="http://schemas.openxmlformats.org/drawingml/2006/main">
            <a:off x="8833104" y="4005072"/>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281CBB33-160C-4C25-9404-B8B4781F70F5}"/>
              </a:ext>
            </a:extLst>
          </p:cNvPr>
          <p:cNvSpPr>
            <a:spLocks xmlns:a="http://schemas.openxmlformats.org/drawingml/2006/main" noGrp="1"/>
          </p:cNvSpPr>
          <p:nvPr/>
        </p:nvSpPr>
        <p:spPr>
          <a:xfrm xmlns:a="http://schemas.openxmlformats.org/drawingml/2006/main">
            <a:off x="8924544" y="4105656"/>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xmlns:a="http://schemas.openxmlformats.org/drawingml/2006/main">
              <a:ext uri="{FF2B5EF4-FFF2-40B4-BE49-F238E27FC236}">
                <a16:creationId xmlns:a16="http://schemas.microsoft.com/office/drawing/2014/main" id="{4E440860-7147-4579-B9E0-1945D3EF1CF2}"/>
              </a:ext>
            </a:extLst>
          </p:cNvPr>
          <p:cNvSpPr>
            <a:spLocks xmlns:a="http://schemas.openxmlformats.org/drawingml/2006/main" noGrp="1"/>
          </p:cNvSpPr>
          <p:nvPr/>
        </p:nvSpPr>
        <p:spPr>
          <a:xfrm xmlns:a="http://schemas.openxmlformats.org/drawingml/2006/main">
            <a:off x="658368" y="5230368"/>
            <a:ext cx="5285232" cy="95097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F3E5D0AC-ECBE-445D-8D6B-C4442DCF3908}"/>
              </a:ext>
            </a:extLst>
          </p:cNvPr>
          <p:cNvSpPr>
            <a:spLocks xmlns:a="http://schemas.openxmlformats.org/drawingml/2006/main" noGrp="1"/>
          </p:cNvSpPr>
          <p:nvPr/>
        </p:nvSpPr>
        <p:spPr>
          <a:xfrm xmlns:a="http://schemas.openxmlformats.org/drawingml/2006/main">
            <a:off x="932688" y="5449824"/>
            <a:ext cx="202996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xmlns:a="http://schemas.openxmlformats.org/drawingml/2006/main">
              <a:ext uri="{FF2B5EF4-FFF2-40B4-BE49-F238E27FC236}">
                <a16:creationId xmlns:a16="http://schemas.microsoft.com/office/drawing/2014/main" id="{D8AC2C88-E4B4-4FB6-8956-990AD7AE975A}"/>
              </a:ext>
            </a:extLst>
          </p:cNvPr>
          <p:cNvSpPr>
            <a:spLocks xmlns:a="http://schemas.openxmlformats.org/drawingml/2006/main" noGrp="1"/>
          </p:cNvSpPr>
          <p:nvPr/>
        </p:nvSpPr>
        <p:spPr>
          <a:xfrm xmlns:a="http://schemas.openxmlformats.org/drawingml/2006/main">
            <a:off x="2816352" y="5422392"/>
            <a:ext cx="277977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xmlns:a="http://schemas.openxmlformats.org/drawingml/2006/main">
              <a:ext uri="{FF2B5EF4-FFF2-40B4-BE49-F238E27FC236}">
                <a16:creationId xmlns:a16="http://schemas.microsoft.com/office/drawing/2014/main" id="{663F6E21-C900-4814-90AB-BA9EE26BB292}"/>
              </a:ext>
            </a:extLst>
          </p:cNvPr>
          <p:cNvSpPr>
            <a:spLocks xmlns:a="http://schemas.openxmlformats.org/drawingml/2006/main" noGrp="1"/>
          </p:cNvSpPr>
          <p:nvPr/>
        </p:nvSpPr>
        <p:spPr>
          <a:xfrm xmlns:a="http://schemas.openxmlformats.org/drawingml/2006/main">
            <a:off x="6236208" y="5230368"/>
            <a:ext cx="5303520" cy="95097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TextBox 47">
            <a:extLst xmlns:a="http://schemas.openxmlformats.org/drawingml/2006/main">
              <a:ext uri="{FF2B5EF4-FFF2-40B4-BE49-F238E27FC236}">
                <a16:creationId xmlns:a16="http://schemas.microsoft.com/office/drawing/2014/main" id="{08C11003-7189-4AE0-B9A7-977E6461EB5C}"/>
              </a:ext>
            </a:extLst>
          </p:cNvPr>
          <p:cNvSpPr>
            <a:spLocks xmlns:a="http://schemas.openxmlformats.org/drawingml/2006/main" noGrp="1"/>
          </p:cNvSpPr>
          <p:nvPr/>
        </p:nvSpPr>
        <p:spPr>
          <a:xfrm xmlns:a="http://schemas.openxmlformats.org/drawingml/2006/main">
            <a:off x="6510528" y="5449824"/>
            <a:ext cx="1773936"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xmlns:a="http://schemas.openxmlformats.org/drawingml/2006/main">
              <a:ext uri="{FF2B5EF4-FFF2-40B4-BE49-F238E27FC236}">
                <a16:creationId xmlns:a16="http://schemas.microsoft.com/office/drawing/2014/main" id="{D84AABC3-9771-44B1-9E16-FCE13BC2D2E5}"/>
              </a:ext>
            </a:extLst>
          </p:cNvPr>
          <p:cNvSpPr>
            <a:spLocks xmlns:a="http://schemas.openxmlformats.org/drawingml/2006/main" noGrp="1"/>
          </p:cNvSpPr>
          <p:nvPr/>
        </p:nvSpPr>
        <p:spPr>
          <a:xfrm xmlns:a="http://schemas.openxmlformats.org/drawingml/2006/main">
            <a:off x="8174736" y="5422392"/>
            <a:ext cx="305409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sld>
</file>

<file path=ppt/slides/slide5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F89BDDB-19F9-43E6-B898-18332942BFB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xmlns:a="http://schemas.openxmlformats.org/drawingml/2006/main">
              <a:ext uri="{FF2B5EF4-FFF2-40B4-BE49-F238E27FC236}">
                <a16:creationId xmlns:a16="http://schemas.microsoft.com/office/drawing/2014/main" id="{C6E31DFF-652B-4442-ADF2-A5AB65F6F94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Opposite RNA directions could challenge coordination, but the functional outcome remains unknown.</a:t>
            </a:r>
          </a:p>
        </p:txBody>
      </p:sp>
      <p:sp>
        <p:nvSpPr>
          <p:cNvPr id="4" name="Rounded Rectangle 3">
            <a:extLst xmlns:a="http://schemas.openxmlformats.org/drawingml/2006/main">
              <a:ext uri="{FF2B5EF4-FFF2-40B4-BE49-F238E27FC236}">
                <a16:creationId xmlns:a16="http://schemas.microsoft.com/office/drawing/2014/main" id="{80FA1F4E-346A-40E9-A30B-0C83C1DD8C40}"/>
              </a:ext>
            </a:extLst>
          </p:cNvPr>
          <p:cNvSpPr>
            <a:spLocks xmlns:a="http://schemas.openxmlformats.org/drawingml/2006/main" noGrp="1"/>
          </p:cNvSpPr>
          <p:nvPr/>
        </p:nvSpPr>
        <p:spPr>
          <a:xfrm xmlns:a="http://schemas.openxmlformats.org/drawingml/2006/main">
            <a:off x="658368" y="1444752"/>
            <a:ext cx="3456432" cy="292608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5F4915F5-1C46-40F3-8E59-A43B43378EA6}"/>
              </a:ext>
            </a:extLst>
          </p:cNvPr>
          <p:cNvSpPr>
            <a:spLocks xmlns:a="http://schemas.openxmlformats.org/drawingml/2006/main" noGrp="1"/>
          </p:cNvSpPr>
          <p:nvPr/>
        </p:nvSpPr>
        <p:spPr>
          <a:xfrm xmlns:a="http://schemas.openxmlformats.org/drawingml/2006/main">
            <a:off x="914400" y="1755648"/>
            <a:ext cx="512064" cy="51206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B51B34E-EBD8-4101-9893-44567F046DBE}"/>
              </a:ext>
            </a:extLst>
          </p:cNvPr>
          <p:cNvSpPr>
            <a:spLocks xmlns:a="http://schemas.openxmlformats.org/drawingml/2006/main" noGrp="1"/>
          </p:cNvSpPr>
          <p:nvPr/>
        </p:nvSpPr>
        <p:spPr>
          <a:xfrm xmlns:a="http://schemas.openxmlformats.org/drawingml/2006/main">
            <a:off x="91440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xmlns:a="http://schemas.openxmlformats.org/drawingml/2006/main">
              <a:ext uri="{FF2B5EF4-FFF2-40B4-BE49-F238E27FC236}">
                <a16:creationId xmlns:a16="http://schemas.microsoft.com/office/drawing/2014/main" id="{AC336E15-6B87-4A24-BC94-2175198B6CB6}"/>
              </a:ext>
            </a:extLst>
          </p:cNvPr>
          <p:cNvSpPr>
            <a:spLocks xmlns:a="http://schemas.openxmlformats.org/drawingml/2006/main" noGrp="1"/>
          </p:cNvSpPr>
          <p:nvPr/>
        </p:nvSpPr>
        <p:spPr>
          <a:xfrm xmlns:a="http://schemas.openxmlformats.org/drawingml/2006/main">
            <a:off x="1572768" y="1773936"/>
            <a:ext cx="2249424"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1" i="0">
                <a:solidFill>
                  <a:srgbClr val="0F233D"/>
                </a:solidFill>
                <a:latin typeface="Arial"/>
                <a:ea typeface="Arial"/>
                <a:cs typeface="Arial"/>
              </a:rPr>
              <a:t>Two-genome machine</a:t>
            </a:r>
          </a:p>
        </p:txBody>
      </p:sp>
      <p:sp>
        <p:nvSpPr>
          <p:cNvPr id="8" name="TextBox 7">
            <a:extLst xmlns:a="http://schemas.openxmlformats.org/drawingml/2006/main">
              <a:ext uri="{FF2B5EF4-FFF2-40B4-BE49-F238E27FC236}">
                <a16:creationId xmlns:a16="http://schemas.microsoft.com/office/drawing/2014/main" id="{68925F42-4398-4E11-B6EF-79DA1E2328C2}"/>
              </a:ext>
            </a:extLst>
          </p:cNvPr>
          <p:cNvSpPr>
            <a:spLocks xmlns:a="http://schemas.openxmlformats.org/drawingml/2006/main" noGrp="1"/>
          </p:cNvSpPr>
          <p:nvPr/>
        </p:nvSpPr>
        <p:spPr>
          <a:xfrm xmlns:a="http://schemas.openxmlformats.org/drawingml/2006/main">
            <a:off x="95097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mitochondrial DNA and nuclear DNA.</a:t>
            </a:r>
          </a:p>
        </p:txBody>
      </p:sp>
      <p:sp>
        <p:nvSpPr>
          <p:cNvPr id="9" name="Rounded Rectangle 8">
            <a:extLst xmlns:a="http://schemas.openxmlformats.org/drawingml/2006/main">
              <a:ext uri="{FF2B5EF4-FFF2-40B4-BE49-F238E27FC236}">
                <a16:creationId xmlns:a16="http://schemas.microsoft.com/office/drawing/2014/main" id="{8C8F44F2-A583-41BD-8AAE-D065D0E3A44C}"/>
              </a:ext>
            </a:extLst>
          </p:cNvPr>
          <p:cNvSpPr>
            <a:spLocks xmlns:a="http://schemas.openxmlformats.org/drawingml/2006/main" noGrp="1"/>
          </p:cNvSpPr>
          <p:nvPr/>
        </p:nvSpPr>
        <p:spPr>
          <a:xfrm xmlns:a="http://schemas.openxmlformats.org/drawingml/2006/main">
            <a:off x="4453128" y="1444752"/>
            <a:ext cx="3456432" cy="2926080"/>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55535B3C-9025-4877-AE27-4F730F4EDCEB}"/>
              </a:ext>
            </a:extLst>
          </p:cNvPr>
          <p:cNvSpPr>
            <a:spLocks xmlns:a="http://schemas.openxmlformats.org/drawingml/2006/main" noGrp="1"/>
          </p:cNvSpPr>
          <p:nvPr/>
        </p:nvSpPr>
        <p:spPr>
          <a:xfrm xmlns:a="http://schemas.openxmlformats.org/drawingml/2006/main">
            <a:off x="4709160" y="1755648"/>
            <a:ext cx="512064" cy="51206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7B9ADB5A-D665-478D-A4C2-D6F552769A60}"/>
              </a:ext>
            </a:extLst>
          </p:cNvPr>
          <p:cNvSpPr>
            <a:spLocks xmlns:a="http://schemas.openxmlformats.org/drawingml/2006/main" noGrp="1"/>
          </p:cNvSpPr>
          <p:nvPr/>
        </p:nvSpPr>
        <p:spPr>
          <a:xfrm xmlns:a="http://schemas.openxmlformats.org/drawingml/2006/main">
            <a:off x="470916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xmlns:a="http://schemas.openxmlformats.org/drawingml/2006/main">
              <a:ext uri="{FF2B5EF4-FFF2-40B4-BE49-F238E27FC236}">
                <a16:creationId xmlns:a16="http://schemas.microsoft.com/office/drawing/2014/main" id="{A52A05AC-F6B3-4522-9E9D-440CF3FD3009}"/>
              </a:ext>
            </a:extLst>
          </p:cNvPr>
          <p:cNvSpPr>
            <a:spLocks xmlns:a="http://schemas.openxmlformats.org/drawingml/2006/main" noGrp="1"/>
          </p:cNvSpPr>
          <p:nvPr/>
        </p:nvSpPr>
        <p:spPr>
          <a:xfrm xmlns:a="http://schemas.openxmlformats.org/drawingml/2006/main">
            <a:off x="5367528" y="1773936"/>
            <a:ext cx="2249424"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xmlns:a="http://schemas.openxmlformats.org/drawingml/2006/main">
              <a:ext uri="{FF2B5EF4-FFF2-40B4-BE49-F238E27FC236}">
                <a16:creationId xmlns:a16="http://schemas.microsoft.com/office/drawing/2014/main" id="{737F4522-E85C-4374-8AFE-3C93CC6427A3}"/>
              </a:ext>
            </a:extLst>
          </p:cNvPr>
          <p:cNvSpPr>
            <a:spLocks xmlns:a="http://schemas.openxmlformats.org/drawingml/2006/main" noGrp="1"/>
          </p:cNvSpPr>
          <p:nvPr/>
        </p:nvSpPr>
        <p:spPr>
          <a:xfrm xmlns:a="http://schemas.openxmlformats.org/drawingml/2006/main">
            <a:off x="474573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xmlns:a="http://schemas.openxmlformats.org/drawingml/2006/main">
              <a:ext uri="{FF2B5EF4-FFF2-40B4-BE49-F238E27FC236}">
                <a16:creationId xmlns:a16="http://schemas.microsoft.com/office/drawing/2014/main" id="{4E5AE5C1-CACE-4CDD-BA6B-58AFC97688E0}"/>
              </a:ext>
            </a:extLst>
          </p:cNvPr>
          <p:cNvSpPr>
            <a:spLocks xmlns:a="http://schemas.openxmlformats.org/drawingml/2006/main" noGrp="1"/>
          </p:cNvSpPr>
          <p:nvPr/>
        </p:nvSpPr>
        <p:spPr>
          <a:xfrm xmlns:a="http://schemas.openxmlformats.org/drawingml/2006/main">
            <a:off x="8247888" y="1444752"/>
            <a:ext cx="3456432" cy="2926080"/>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3C73238A-1805-4B14-9818-C3823CA03A84}"/>
              </a:ext>
            </a:extLst>
          </p:cNvPr>
          <p:cNvSpPr>
            <a:spLocks xmlns:a="http://schemas.openxmlformats.org/drawingml/2006/main" noGrp="1"/>
          </p:cNvSpPr>
          <p:nvPr/>
        </p:nvSpPr>
        <p:spPr>
          <a:xfrm xmlns:a="http://schemas.openxmlformats.org/drawingml/2006/main">
            <a:off x="8503920" y="1755648"/>
            <a:ext cx="512064" cy="512064"/>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3937DE2F-CA42-4B1A-BBD9-9BDE6CE438CA}"/>
              </a:ext>
            </a:extLst>
          </p:cNvPr>
          <p:cNvSpPr>
            <a:spLocks xmlns:a="http://schemas.openxmlformats.org/drawingml/2006/main" noGrp="1"/>
          </p:cNvSpPr>
          <p:nvPr/>
        </p:nvSpPr>
        <p:spPr>
          <a:xfrm xmlns:a="http://schemas.openxmlformats.org/drawingml/2006/main">
            <a:off x="850392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xmlns:a="http://schemas.openxmlformats.org/drawingml/2006/main">
              <a:ext uri="{FF2B5EF4-FFF2-40B4-BE49-F238E27FC236}">
                <a16:creationId xmlns:a16="http://schemas.microsoft.com/office/drawing/2014/main" id="{C903F3CC-926C-4B85-B76F-E6FC31B3195D}"/>
              </a:ext>
            </a:extLst>
          </p:cNvPr>
          <p:cNvSpPr>
            <a:spLocks xmlns:a="http://schemas.openxmlformats.org/drawingml/2006/main" noGrp="1"/>
          </p:cNvSpPr>
          <p:nvPr/>
        </p:nvSpPr>
        <p:spPr>
          <a:xfrm xmlns:a="http://schemas.openxmlformats.org/drawingml/2006/main">
            <a:off x="9162288" y="1773936"/>
            <a:ext cx="2249424"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xmlns:a="http://schemas.openxmlformats.org/drawingml/2006/main">
              <a:ext uri="{FF2B5EF4-FFF2-40B4-BE49-F238E27FC236}">
                <a16:creationId xmlns:a16="http://schemas.microsoft.com/office/drawing/2014/main" id="{B5EE971D-CCA3-40AB-B239-DC9FA51E5711}"/>
              </a:ext>
            </a:extLst>
          </p:cNvPr>
          <p:cNvSpPr>
            <a:spLocks xmlns:a="http://schemas.openxmlformats.org/drawingml/2006/main" noGrp="1"/>
          </p:cNvSpPr>
          <p:nvPr/>
        </p:nvSpPr>
        <p:spPr>
          <a:xfrm xmlns:a="http://schemas.openxmlformats.org/drawingml/2006/main">
            <a:off x="854049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xmlns:a="http://schemas.openxmlformats.org/drawingml/2006/main">
              <a:ext uri="{FF2B5EF4-FFF2-40B4-BE49-F238E27FC236}">
                <a16:creationId xmlns:a16="http://schemas.microsoft.com/office/drawing/2014/main" id="{A96C6193-504C-4278-BE8F-B54E3187356F}"/>
              </a:ext>
            </a:extLst>
          </p:cNvPr>
          <p:cNvSpPr>
            <a:spLocks xmlns:a="http://schemas.openxmlformats.org/drawingml/2006/main" noGrp="1"/>
          </p:cNvSpPr>
          <p:nvPr/>
        </p:nvSpPr>
        <p:spPr>
          <a:xfrm xmlns:a="http://schemas.openxmlformats.org/drawingml/2006/main">
            <a:off x="658368" y="4736592"/>
            <a:ext cx="10881360" cy="1042415"/>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44DB96F8-B5A0-4FA3-808C-4E1766C0D259}"/>
              </a:ext>
            </a:extLst>
          </p:cNvPr>
          <p:cNvSpPr>
            <a:spLocks xmlns:a="http://schemas.openxmlformats.org/drawingml/2006/main" noGrp="1"/>
          </p:cNvSpPr>
          <p:nvPr/>
        </p:nvSpPr>
        <p:spPr>
          <a:xfrm xmlns:a="http://schemas.openxmlformats.org/drawingml/2006/main">
            <a:off x="896112" y="4992624"/>
            <a:ext cx="219456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xmlns:a="http://schemas.openxmlformats.org/drawingml/2006/main">
              <a:ext uri="{FF2B5EF4-FFF2-40B4-BE49-F238E27FC236}">
                <a16:creationId xmlns:a16="http://schemas.microsoft.com/office/drawing/2014/main" id="{C4612D2D-EB94-410E-98BE-66523814461D}"/>
              </a:ext>
            </a:extLst>
          </p:cNvPr>
          <p:cNvSpPr>
            <a:spLocks xmlns:a="http://schemas.openxmlformats.org/drawingml/2006/main" noGrp="1"/>
          </p:cNvSpPr>
          <p:nvPr/>
        </p:nvSpPr>
        <p:spPr>
          <a:xfrm xmlns:a="http://schemas.openxmlformats.org/drawingml/2006/main">
            <a:off x="3246120" y="4882896"/>
            <a:ext cx="7836408"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60" b="1" i="0">
                <a:solidFill>
                  <a:srgbClr val="1F2730"/>
                </a:solidFill>
                <a:latin typeface="Arial"/>
                <a:ea typeface="Arial"/>
                <a:cs typeface="Arial"/>
              </a:rPr>
              <a:t>This is an RNA-level mitonuclear mismatch—not proof that respiratory proteins or ATP production are unbalanced.</a:t>
            </a:r>
          </a:p>
        </p:txBody>
      </p:sp>
    </p:spTree>
    <p:extLst>
      <p:ext uri="{BB962C8B-B14F-4D97-AF65-F5344CB8AC3E}">
        <p14:creationId xmlns:p14="http://schemas.microsoft.com/office/powerpoint/2010/main" val="1344276869"/>
      </p:ext>
    </p:extLst>
  </p:cSld>
</p:sld>
</file>

<file path=ppt/slides/slide5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9007CBC-D162-4FA8-AE54-932D4B487E0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the finding does not prove—and the next evidence needed</a:t>
            </a:r>
          </a:p>
        </p:txBody>
      </p:sp>
      <p:sp>
        <p:nvSpPr>
          <p:cNvPr id="3" name="TextBox 2">
            <a:extLst xmlns:a="http://schemas.openxmlformats.org/drawingml/2006/main">
              <a:ext uri="{FF2B5EF4-FFF2-40B4-BE49-F238E27FC236}">
                <a16:creationId xmlns:a16="http://schemas.microsoft.com/office/drawing/2014/main" id="{A957451A-66D2-4766-B5A8-016AFE827EE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transcript-level mismatch is a testable hypothesis, not a completed mechanism.</a:t>
            </a:r>
          </a:p>
        </p:txBody>
      </p:sp>
      <p:sp>
        <p:nvSpPr>
          <p:cNvPr id="4" name="Rounded Rectangle 3">
            <a:extLst xmlns:a="http://schemas.openxmlformats.org/drawingml/2006/main">
              <a:ext uri="{FF2B5EF4-FFF2-40B4-BE49-F238E27FC236}">
                <a16:creationId xmlns:a16="http://schemas.microsoft.com/office/drawing/2014/main" id="{81BEBC7A-2FE5-4782-A4BF-71630B8E625F}"/>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3B647996-5C44-4A81-A071-0C51F76EE995}"/>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D3A5210-085C-492A-A66C-B75F63039958}"/>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0482B3EC-6647-4985-9468-43426D8E1E6D}"/>
              </a:ext>
            </a:extLst>
          </p:cNvPr>
          <p:cNvSpPr>
            <a:spLocks xmlns:a="http://schemas.openxmlformats.org/drawingml/2006/main" noGrp="1"/>
          </p:cNvSpPr>
          <p:nvPr/>
        </p:nvSpPr>
        <p:spPr>
          <a:xfrm xmlns:a="http://schemas.openxmlformats.org/drawingml/2006/main">
            <a:off x="950976" y="2249424"/>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6DEA8BD-73FA-4EAB-9797-E2A227A658BF}"/>
              </a:ext>
            </a:extLst>
          </p:cNvPr>
          <p:cNvSpPr>
            <a:spLocks xmlns:a="http://schemas.openxmlformats.org/drawingml/2006/main" noGrp="1"/>
          </p:cNvSpPr>
          <p:nvPr/>
        </p:nvSpPr>
        <p:spPr>
          <a:xfrm xmlns:a="http://schemas.openxmlformats.org/drawingml/2006/main">
            <a:off x="1124712" y="2121408"/>
            <a:ext cx="4398264"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Physical imbalance of OXPHOS proteins or complexes</a:t>
            </a:r>
          </a:p>
        </p:txBody>
      </p:sp>
      <p:sp>
        <p:nvSpPr>
          <p:cNvPr id="9" name="Oval 8">
            <a:extLst xmlns:a="http://schemas.openxmlformats.org/drawingml/2006/main">
              <a:ext uri="{FF2B5EF4-FFF2-40B4-BE49-F238E27FC236}">
                <a16:creationId xmlns:a16="http://schemas.microsoft.com/office/drawing/2014/main" id="{ED99E4E7-24EA-4819-BCEC-0A9AEBCC51D3}"/>
              </a:ext>
            </a:extLst>
          </p:cNvPr>
          <p:cNvSpPr>
            <a:spLocks xmlns:a="http://schemas.openxmlformats.org/drawingml/2006/main" noGrp="1"/>
          </p:cNvSpPr>
          <p:nvPr/>
        </p:nvSpPr>
        <p:spPr>
          <a:xfrm xmlns:a="http://schemas.openxmlformats.org/drawingml/2006/main">
            <a:off x="950976" y="2999232"/>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764D7331-D513-46E2-80A1-4223ED9CD2DF}"/>
              </a:ext>
            </a:extLst>
          </p:cNvPr>
          <p:cNvSpPr>
            <a:spLocks xmlns:a="http://schemas.openxmlformats.org/drawingml/2006/main" noGrp="1"/>
          </p:cNvSpPr>
          <p:nvPr/>
        </p:nvSpPr>
        <p:spPr>
          <a:xfrm xmlns:a="http://schemas.openxmlformats.org/drawingml/2006/main">
            <a:off x="1124712" y="2871215"/>
            <a:ext cx="4398264"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Lower ATP, respiration, or higher oxidative stress</a:t>
            </a:r>
          </a:p>
        </p:txBody>
      </p:sp>
      <p:sp>
        <p:nvSpPr>
          <p:cNvPr id="11" name="Oval 10">
            <a:extLst xmlns:a="http://schemas.openxmlformats.org/drawingml/2006/main">
              <a:ext uri="{FF2B5EF4-FFF2-40B4-BE49-F238E27FC236}">
                <a16:creationId xmlns:a16="http://schemas.microsoft.com/office/drawing/2014/main" id="{CAAFD71A-9356-4179-AC55-987E15D97B49}"/>
              </a:ext>
            </a:extLst>
          </p:cNvPr>
          <p:cNvSpPr>
            <a:spLocks xmlns:a="http://schemas.openxmlformats.org/drawingml/2006/main" noGrp="1"/>
          </p:cNvSpPr>
          <p:nvPr/>
        </p:nvSpPr>
        <p:spPr>
          <a:xfrm xmlns:a="http://schemas.openxmlformats.org/drawingml/2006/main">
            <a:off x="950976" y="3749039"/>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5E30417-C349-48B8-A6A5-8B008FBFC05F}"/>
              </a:ext>
            </a:extLst>
          </p:cNvPr>
          <p:cNvSpPr>
            <a:spLocks xmlns:a="http://schemas.openxmlformats.org/drawingml/2006/main" noGrp="1"/>
          </p:cNvSpPr>
          <p:nvPr/>
        </p:nvSpPr>
        <p:spPr>
          <a:xfrm xmlns:a="http://schemas.openxmlformats.org/drawingml/2006/main">
            <a:off x="1124712" y="3621023"/>
            <a:ext cx="4398264"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A male- or ε3/ε3-specific disease interaction</a:t>
            </a:r>
          </a:p>
        </p:txBody>
      </p:sp>
      <p:sp>
        <p:nvSpPr>
          <p:cNvPr id="13" name="Oval 12">
            <a:extLst xmlns:a="http://schemas.openxmlformats.org/drawingml/2006/main">
              <a:ext uri="{FF2B5EF4-FFF2-40B4-BE49-F238E27FC236}">
                <a16:creationId xmlns:a16="http://schemas.microsoft.com/office/drawing/2014/main" id="{63004944-6C98-4EFF-A6E8-FD4BEF3F7463}"/>
              </a:ext>
            </a:extLst>
          </p:cNvPr>
          <p:cNvSpPr>
            <a:spLocks xmlns:a="http://schemas.openxmlformats.org/drawingml/2006/main" noGrp="1"/>
          </p:cNvSpPr>
          <p:nvPr/>
        </p:nvSpPr>
        <p:spPr>
          <a:xfrm xmlns:a="http://schemas.openxmlformats.org/drawingml/2006/main">
            <a:off x="950976" y="449884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90F062D3-2B36-419C-A999-539721FE0746}"/>
              </a:ext>
            </a:extLst>
          </p:cNvPr>
          <p:cNvSpPr>
            <a:spLocks xmlns:a="http://schemas.openxmlformats.org/drawingml/2006/main" noGrp="1"/>
          </p:cNvSpPr>
          <p:nvPr/>
        </p:nvSpPr>
        <p:spPr>
          <a:xfrm xmlns:a="http://schemas.openxmlformats.org/drawingml/2006/main">
            <a:off x="1124712" y="4370831"/>
            <a:ext cx="4398264"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Which upstream key driver caused the pattern</a:t>
            </a:r>
          </a:p>
        </p:txBody>
      </p:sp>
      <p:sp>
        <p:nvSpPr>
          <p:cNvPr id="15" name="Rounded Rectangle 14">
            <a:extLst xmlns:a="http://schemas.openxmlformats.org/drawingml/2006/main">
              <a:ext uri="{FF2B5EF4-FFF2-40B4-BE49-F238E27FC236}">
                <a16:creationId xmlns:a16="http://schemas.microsoft.com/office/drawing/2014/main" id="{BBEB48D6-038A-478B-9505-C883AF8EB261}"/>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1A9873BC-6B5D-4269-B2F0-5DD3850655E5}"/>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BDFDE65-EA69-4A32-ADE0-DF108C9646A5}"/>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8" name="Oval 17">
            <a:extLst xmlns:a="http://schemas.openxmlformats.org/drawingml/2006/main">
              <a:ext uri="{FF2B5EF4-FFF2-40B4-BE49-F238E27FC236}">
                <a16:creationId xmlns:a16="http://schemas.microsoft.com/office/drawing/2014/main" id="{77FB08E1-4B17-45E1-BD17-0E1A89ACDB3D}"/>
              </a:ext>
            </a:extLst>
          </p:cNvPr>
          <p:cNvSpPr>
            <a:spLocks xmlns:a="http://schemas.openxmlformats.org/drawingml/2006/main" noGrp="1"/>
          </p:cNvSpPr>
          <p:nvPr/>
        </p:nvSpPr>
        <p:spPr>
          <a:xfrm xmlns:a="http://schemas.openxmlformats.org/drawingml/2006/main">
            <a:off x="6528816" y="2249424"/>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EB7D9F6D-3A0A-471D-9F87-6A0C5CA6542C}"/>
              </a:ext>
            </a:extLst>
          </p:cNvPr>
          <p:cNvSpPr>
            <a:spLocks xmlns:a="http://schemas.openxmlformats.org/drawingml/2006/main" noGrp="1"/>
          </p:cNvSpPr>
          <p:nvPr/>
        </p:nvSpPr>
        <p:spPr>
          <a:xfrm xmlns:a="http://schemas.openxmlformats.org/drawingml/2006/main">
            <a:off x="6702552" y="2121408"/>
            <a:ext cx="4416551"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Donor-aware disease × sex × APOE interaction model</a:t>
            </a:r>
          </a:p>
        </p:txBody>
      </p:sp>
      <p:sp>
        <p:nvSpPr>
          <p:cNvPr id="20" name="Oval 19">
            <a:extLst xmlns:a="http://schemas.openxmlformats.org/drawingml/2006/main">
              <a:ext uri="{FF2B5EF4-FFF2-40B4-BE49-F238E27FC236}">
                <a16:creationId xmlns:a16="http://schemas.microsoft.com/office/drawing/2014/main" id="{D834E154-C206-46BA-B7AA-F49AE7F0C014}"/>
              </a:ext>
            </a:extLst>
          </p:cNvPr>
          <p:cNvSpPr>
            <a:spLocks xmlns:a="http://schemas.openxmlformats.org/drawingml/2006/main" noGrp="1"/>
          </p:cNvSpPr>
          <p:nvPr/>
        </p:nvSpPr>
        <p:spPr>
          <a:xfrm xmlns:a="http://schemas.openxmlformats.org/drawingml/2006/main">
            <a:off x="6528816" y="2999232"/>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55F9CF5-2B6C-45BF-91B3-BDF4F3BD1ED0}"/>
              </a:ext>
            </a:extLst>
          </p:cNvPr>
          <p:cNvSpPr>
            <a:spLocks xmlns:a="http://schemas.openxmlformats.org/drawingml/2006/main" noGrp="1"/>
          </p:cNvSpPr>
          <p:nvPr/>
        </p:nvSpPr>
        <p:spPr>
          <a:xfrm xmlns:a="http://schemas.openxmlformats.org/drawingml/2006/main">
            <a:off x="6702552" y="2871215"/>
            <a:ext cx="4416551"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Paired mtDNA- and nuclear-encoded OXPHOS proteins</a:t>
            </a:r>
          </a:p>
        </p:txBody>
      </p:sp>
      <p:sp>
        <p:nvSpPr>
          <p:cNvPr id="22" name="Oval 21">
            <a:extLst xmlns:a="http://schemas.openxmlformats.org/drawingml/2006/main">
              <a:ext uri="{FF2B5EF4-FFF2-40B4-BE49-F238E27FC236}">
                <a16:creationId xmlns:a16="http://schemas.microsoft.com/office/drawing/2014/main" id="{26501F6B-463F-4ADA-B725-5FC4EB988DB9}"/>
              </a:ext>
            </a:extLst>
          </p:cNvPr>
          <p:cNvSpPr>
            <a:spLocks xmlns:a="http://schemas.openxmlformats.org/drawingml/2006/main" noGrp="1"/>
          </p:cNvSpPr>
          <p:nvPr/>
        </p:nvSpPr>
        <p:spPr>
          <a:xfrm xmlns:a="http://schemas.openxmlformats.org/drawingml/2006/main">
            <a:off x="6528816" y="3749039"/>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BF896A35-E0BC-48A7-A807-A5F90A8B8EDC}"/>
              </a:ext>
            </a:extLst>
          </p:cNvPr>
          <p:cNvSpPr>
            <a:spLocks xmlns:a="http://schemas.openxmlformats.org/drawingml/2006/main" noGrp="1"/>
          </p:cNvSpPr>
          <p:nvPr/>
        </p:nvSpPr>
        <p:spPr>
          <a:xfrm xmlns:a="http://schemas.openxmlformats.org/drawingml/2006/main">
            <a:off x="6702552" y="3621023"/>
            <a:ext cx="4416551"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Respiratory-complex assembly, oxygen use, ATP, and ROS</a:t>
            </a:r>
          </a:p>
        </p:txBody>
      </p:sp>
      <p:sp>
        <p:nvSpPr>
          <p:cNvPr id="24" name="Oval 23">
            <a:extLst xmlns:a="http://schemas.openxmlformats.org/drawingml/2006/main">
              <a:ext uri="{FF2B5EF4-FFF2-40B4-BE49-F238E27FC236}">
                <a16:creationId xmlns:a16="http://schemas.microsoft.com/office/drawing/2014/main" id="{C1DC7F49-436A-4DE2-BE4E-6137BC06044D}"/>
              </a:ext>
            </a:extLst>
          </p:cNvPr>
          <p:cNvSpPr>
            <a:spLocks xmlns:a="http://schemas.openxmlformats.org/drawingml/2006/main" noGrp="1"/>
          </p:cNvSpPr>
          <p:nvPr/>
        </p:nvSpPr>
        <p:spPr>
          <a:xfrm xmlns:a="http://schemas.openxmlformats.org/drawingml/2006/main">
            <a:off x="6528816" y="449884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64EDC214-B227-4EEE-A2EF-7458075F4636}"/>
              </a:ext>
            </a:extLst>
          </p:cNvPr>
          <p:cNvSpPr>
            <a:spLocks xmlns:a="http://schemas.openxmlformats.org/drawingml/2006/main" noGrp="1"/>
          </p:cNvSpPr>
          <p:nvPr/>
        </p:nvSpPr>
        <p:spPr>
          <a:xfrm xmlns:a="http://schemas.openxmlformats.org/drawingml/2006/main">
            <a:off x="6702552" y="4370831"/>
            <a:ext cx="4416551"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Perturb candidate drivers and test functional rescue</a:t>
            </a:r>
          </a:p>
        </p:txBody>
      </p:sp>
      <p:sp>
        <p:nvSpPr>
          <p:cNvPr id="26" name="TextBox 25">
            <a:extLst xmlns:a="http://schemas.openxmlformats.org/drawingml/2006/main">
              <a:ext uri="{FF2B5EF4-FFF2-40B4-BE49-F238E27FC236}">
                <a16:creationId xmlns:a16="http://schemas.microsoft.com/office/drawing/2014/main" id="{1AAD8A1E-1B2F-46D6-A47F-3E881E5AD891}"/>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7E4C9A"/>
                </a:solidFill>
                <a:latin typeface="Arial"/>
                <a:ea typeface="Arial"/>
                <a:cs typeface="Arial"/>
              </a:rPr>
              <a:t>SEA-AD strengthens the program observation but cannot replace interaction tests or functional measurements.</a:t>
            </a:r>
          </a:p>
        </p:txBody>
      </p:sp>
    </p:spTree>
    <p:extLst>
      <p:ext uri="{BB962C8B-B14F-4D97-AF65-F5344CB8AC3E}">
        <p14:creationId xmlns:p14="http://schemas.microsoft.com/office/powerpoint/2010/main" val="9807713"/>
      </p:ext>
    </p:extLst>
  </p:cSld>
</p:sld>
</file>

<file path=ppt/slides/slide5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A1E831F-9C83-460B-A9F6-F57B4FD91C2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xmlns:a="http://schemas.openxmlformats.org/drawingml/2006/main">
              <a:ext uri="{FF2B5EF4-FFF2-40B4-BE49-F238E27FC236}">
                <a16:creationId xmlns:a16="http://schemas.microsoft.com/office/drawing/2014/main" id="{FFC3B33B-FA26-4DB3-90A1-C59CD3B5D42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Known mitonuclear biology and cell-resolved AD studies make the finding plausible without independently duplicating it.</a:t>
            </a:r>
          </a:p>
        </p:txBody>
      </p:sp>
      <p:sp>
        <p:nvSpPr>
          <p:cNvPr id="4" name="Rounded Rectangle 3">
            <a:extLst xmlns:a="http://schemas.openxmlformats.org/drawingml/2006/main">
              <a:ext uri="{FF2B5EF4-FFF2-40B4-BE49-F238E27FC236}">
                <a16:creationId xmlns:a16="http://schemas.microsoft.com/office/drawing/2014/main" id="{F9060371-20DB-4C6A-8FCA-CF7D5B51DB8B}"/>
              </a:ext>
            </a:extLst>
          </p:cNvPr>
          <p:cNvSpPr>
            <a:spLocks xmlns:a="http://schemas.openxmlformats.org/drawingml/2006/main" noGrp="1"/>
          </p:cNvSpPr>
          <p:nvPr/>
        </p:nvSpPr>
        <p:spPr>
          <a:xfrm xmlns:a="http://schemas.openxmlformats.org/drawingml/2006/main">
            <a:off x="658368" y="1353312"/>
            <a:ext cx="3456432" cy="4169663"/>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39C4ABF-05B2-4485-B2CB-5AC16080D05A}"/>
              </a:ext>
            </a:extLst>
          </p:cNvPr>
          <p:cNvSpPr>
            <a:spLocks xmlns:a="http://schemas.openxmlformats.org/drawingml/2006/main" noGrp="1"/>
          </p:cNvSpPr>
          <p:nvPr/>
        </p:nvSpPr>
        <p:spPr>
          <a:xfrm xmlns:a="http://schemas.openxmlformats.org/drawingml/2006/main">
            <a:off x="93268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xmlns:a="http://schemas.openxmlformats.org/drawingml/2006/main">
              <a:ext uri="{FF2B5EF4-FFF2-40B4-BE49-F238E27FC236}">
                <a16:creationId xmlns:a16="http://schemas.microsoft.com/office/drawing/2014/main" id="{E4E8C0BF-18CE-4AFE-A685-EE6B952528DC}"/>
              </a:ext>
            </a:extLst>
          </p:cNvPr>
          <p:cNvSpPr>
            <a:spLocks xmlns:a="http://schemas.openxmlformats.org/drawingml/2006/main" noGrp="1"/>
          </p:cNvSpPr>
          <p:nvPr/>
        </p:nvSpPr>
        <p:spPr>
          <a:xfrm xmlns:a="http://schemas.openxmlformats.org/drawingml/2006/main">
            <a:off x="93268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xmlns:a="http://schemas.openxmlformats.org/drawingml/2006/main">
              <a:ext uri="{FF2B5EF4-FFF2-40B4-BE49-F238E27FC236}">
                <a16:creationId xmlns:a16="http://schemas.microsoft.com/office/drawing/2014/main" id="{AFF2BC40-434D-4FBA-A545-2D12E535E323}"/>
              </a:ext>
            </a:extLst>
          </p:cNvPr>
          <p:cNvSpPr>
            <a:spLocks xmlns:a="http://schemas.openxmlformats.org/drawingml/2006/main" noGrp="1"/>
          </p:cNvSpPr>
          <p:nvPr/>
        </p:nvSpPr>
        <p:spPr>
          <a:xfrm xmlns:a="http://schemas.openxmlformats.org/drawingml/2006/main">
            <a:off x="95097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3449C21F-77B6-4B10-A6D6-BCE8CD5DBF86}"/>
              </a:ext>
            </a:extLst>
          </p:cNvPr>
          <p:cNvSpPr>
            <a:spLocks xmlns:a="http://schemas.openxmlformats.org/drawingml/2006/main" noGrp="1"/>
          </p:cNvSpPr>
          <p:nvPr/>
        </p:nvSpPr>
        <p:spPr>
          <a:xfrm xmlns:a="http://schemas.openxmlformats.org/drawingml/2006/main">
            <a:off x="95097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0" i="0">
                <a:solidFill>
                  <a:srgbClr val="1F2730"/>
                </a:solidFill>
                <a:latin typeface="Arial"/>
                <a:ea typeface="Arial"/>
                <a:cs typeface="Arial"/>
              </a:rPr>
              <a:t>OXPHOS requires coordinated mitochondrial- and nuclear-encoded parts.</a:t>
            </a:r>
          </a:p>
        </p:txBody>
      </p:sp>
      <p:sp>
        <p:nvSpPr>
          <p:cNvPr id="9" name="TextBox 8">
            <a:extLst xmlns:a="http://schemas.openxmlformats.org/drawingml/2006/main">
              <a:ext uri="{FF2B5EF4-FFF2-40B4-BE49-F238E27FC236}">
                <a16:creationId xmlns:a16="http://schemas.microsoft.com/office/drawing/2014/main" id="{4601FF6A-C67F-4716-A237-7D321428E363}"/>
              </a:ext>
            </a:extLst>
          </p:cNvPr>
          <p:cNvSpPr>
            <a:spLocks xmlns:a="http://schemas.openxmlformats.org/drawingml/2006/main" noGrp="1"/>
          </p:cNvSpPr>
          <p:nvPr/>
        </p:nvSpPr>
        <p:spPr>
          <a:xfrm xmlns:a="http://schemas.openxmlformats.org/drawingml/2006/main">
            <a:off x="95097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B86DC17D-EE6F-4D02-827E-650F8C66C97D}"/>
              </a:ext>
            </a:extLst>
          </p:cNvPr>
          <p:cNvSpPr>
            <a:spLocks xmlns:a="http://schemas.openxmlformats.org/drawingml/2006/main" noGrp="1"/>
          </p:cNvSpPr>
          <p:nvPr/>
        </p:nvSpPr>
        <p:spPr>
          <a:xfrm xmlns:a="http://schemas.openxmlformats.org/drawingml/2006/main">
            <a:off x="95097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xmlns:a="http://schemas.openxmlformats.org/drawingml/2006/main">
              <a:ext uri="{FF2B5EF4-FFF2-40B4-BE49-F238E27FC236}">
                <a16:creationId xmlns:a16="http://schemas.microsoft.com/office/drawing/2014/main" id="{0B2A38F5-FB2D-4CF3-A9F0-F457BE571D03}"/>
              </a:ext>
            </a:extLst>
          </p:cNvPr>
          <p:cNvSpPr>
            <a:spLocks xmlns:a="http://schemas.openxmlformats.org/drawingml/2006/main" noGrp="1"/>
          </p:cNvSpPr>
          <p:nvPr/>
        </p:nvSpPr>
        <p:spPr>
          <a:xfrm xmlns:a="http://schemas.openxmlformats.org/drawingml/2006/main">
            <a:off x="4453128" y="1353312"/>
            <a:ext cx="3456432" cy="4169663"/>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C6BFD020-53F5-4564-97F4-8BD4130FC6FC}"/>
              </a:ext>
            </a:extLst>
          </p:cNvPr>
          <p:cNvSpPr>
            <a:spLocks xmlns:a="http://schemas.openxmlformats.org/drawingml/2006/main" noGrp="1"/>
          </p:cNvSpPr>
          <p:nvPr/>
        </p:nvSpPr>
        <p:spPr>
          <a:xfrm xmlns:a="http://schemas.openxmlformats.org/drawingml/2006/main">
            <a:off x="472744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xmlns:a="http://schemas.openxmlformats.org/drawingml/2006/main">
              <a:ext uri="{FF2B5EF4-FFF2-40B4-BE49-F238E27FC236}">
                <a16:creationId xmlns:a16="http://schemas.microsoft.com/office/drawing/2014/main" id="{6D0A466B-8AB2-45E9-84F1-FFCD242B7E59}"/>
              </a:ext>
            </a:extLst>
          </p:cNvPr>
          <p:cNvSpPr>
            <a:spLocks xmlns:a="http://schemas.openxmlformats.org/drawingml/2006/main" noGrp="1"/>
          </p:cNvSpPr>
          <p:nvPr/>
        </p:nvSpPr>
        <p:spPr>
          <a:xfrm xmlns:a="http://schemas.openxmlformats.org/drawingml/2006/main">
            <a:off x="472744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xmlns:a="http://schemas.openxmlformats.org/drawingml/2006/main">
              <a:ext uri="{FF2B5EF4-FFF2-40B4-BE49-F238E27FC236}">
                <a16:creationId xmlns:a16="http://schemas.microsoft.com/office/drawing/2014/main" id="{586FD83A-3ACD-4F9D-A2A5-4F124A27883A}"/>
              </a:ext>
            </a:extLst>
          </p:cNvPr>
          <p:cNvSpPr>
            <a:spLocks xmlns:a="http://schemas.openxmlformats.org/drawingml/2006/main" noGrp="1"/>
          </p:cNvSpPr>
          <p:nvPr/>
        </p:nvSpPr>
        <p:spPr>
          <a:xfrm xmlns:a="http://schemas.openxmlformats.org/drawingml/2006/main">
            <a:off x="474573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9EEDF50F-9447-4FD7-800B-EA90B0F6DB82}"/>
              </a:ext>
            </a:extLst>
          </p:cNvPr>
          <p:cNvSpPr>
            <a:spLocks xmlns:a="http://schemas.openxmlformats.org/drawingml/2006/main" noGrp="1"/>
          </p:cNvSpPr>
          <p:nvPr/>
        </p:nvSpPr>
        <p:spPr>
          <a:xfrm xmlns:a="http://schemas.openxmlformats.org/drawingml/2006/main">
            <a:off x="474573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xmlns:a="http://schemas.openxmlformats.org/drawingml/2006/main">
              <a:ext uri="{FF2B5EF4-FFF2-40B4-BE49-F238E27FC236}">
                <a16:creationId xmlns:a16="http://schemas.microsoft.com/office/drawing/2014/main" id="{6384EE38-F467-440F-9FD8-2D72FFA42C82}"/>
              </a:ext>
            </a:extLst>
          </p:cNvPr>
          <p:cNvSpPr>
            <a:spLocks xmlns:a="http://schemas.openxmlformats.org/drawingml/2006/main" noGrp="1"/>
          </p:cNvSpPr>
          <p:nvPr/>
        </p:nvSpPr>
        <p:spPr>
          <a:xfrm xmlns:a="http://schemas.openxmlformats.org/drawingml/2006/main">
            <a:off x="474573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5A05C343-C7CE-4368-8C99-FBF7A2F6885F}"/>
              </a:ext>
            </a:extLst>
          </p:cNvPr>
          <p:cNvSpPr>
            <a:spLocks xmlns:a="http://schemas.openxmlformats.org/drawingml/2006/main" noGrp="1"/>
          </p:cNvSpPr>
          <p:nvPr/>
        </p:nvSpPr>
        <p:spPr>
          <a:xfrm xmlns:a="http://schemas.openxmlformats.org/drawingml/2006/main">
            <a:off x="474573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xmlns:a="http://schemas.openxmlformats.org/drawingml/2006/main">
              <a:ext uri="{FF2B5EF4-FFF2-40B4-BE49-F238E27FC236}">
                <a16:creationId xmlns:a16="http://schemas.microsoft.com/office/drawing/2014/main" id="{18EF5C68-B1D9-439B-BE8C-543E06DF563B}"/>
              </a:ext>
            </a:extLst>
          </p:cNvPr>
          <p:cNvSpPr>
            <a:spLocks xmlns:a="http://schemas.openxmlformats.org/drawingml/2006/main" noGrp="1"/>
          </p:cNvSpPr>
          <p:nvPr/>
        </p:nvSpPr>
        <p:spPr>
          <a:xfrm xmlns:a="http://schemas.openxmlformats.org/drawingml/2006/main">
            <a:off x="8247888" y="1353312"/>
            <a:ext cx="3456432" cy="4169663"/>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6B41355-BED5-4D8F-9063-8D53F6E2A4AB}"/>
              </a:ext>
            </a:extLst>
          </p:cNvPr>
          <p:cNvSpPr>
            <a:spLocks xmlns:a="http://schemas.openxmlformats.org/drawingml/2006/main" noGrp="1"/>
          </p:cNvSpPr>
          <p:nvPr/>
        </p:nvSpPr>
        <p:spPr>
          <a:xfrm xmlns:a="http://schemas.openxmlformats.org/drawingml/2006/main">
            <a:off x="852220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C801EF30-8F56-4FC1-9D6C-63768761F467}"/>
              </a:ext>
            </a:extLst>
          </p:cNvPr>
          <p:cNvSpPr>
            <a:spLocks xmlns:a="http://schemas.openxmlformats.org/drawingml/2006/main" noGrp="1"/>
          </p:cNvSpPr>
          <p:nvPr/>
        </p:nvSpPr>
        <p:spPr>
          <a:xfrm xmlns:a="http://schemas.openxmlformats.org/drawingml/2006/main">
            <a:off x="852220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xmlns:a="http://schemas.openxmlformats.org/drawingml/2006/main">
              <a:ext uri="{FF2B5EF4-FFF2-40B4-BE49-F238E27FC236}">
                <a16:creationId xmlns:a16="http://schemas.microsoft.com/office/drawing/2014/main" id="{E072959F-CF85-425C-9FCB-B3BFE0AF227D}"/>
              </a:ext>
            </a:extLst>
          </p:cNvPr>
          <p:cNvSpPr>
            <a:spLocks xmlns:a="http://schemas.openxmlformats.org/drawingml/2006/main" noGrp="1"/>
          </p:cNvSpPr>
          <p:nvPr/>
        </p:nvSpPr>
        <p:spPr>
          <a:xfrm xmlns:a="http://schemas.openxmlformats.org/drawingml/2006/main">
            <a:off x="854049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7F8B516A-AB2C-4A36-8602-CE0E5358BFDC}"/>
              </a:ext>
            </a:extLst>
          </p:cNvPr>
          <p:cNvSpPr>
            <a:spLocks xmlns:a="http://schemas.openxmlformats.org/drawingml/2006/main" noGrp="1"/>
          </p:cNvSpPr>
          <p:nvPr/>
        </p:nvSpPr>
        <p:spPr>
          <a:xfrm xmlns:a="http://schemas.openxmlformats.org/drawingml/2006/main">
            <a:off x="854049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xmlns:a="http://schemas.openxmlformats.org/drawingml/2006/main">
              <a:ext uri="{FF2B5EF4-FFF2-40B4-BE49-F238E27FC236}">
                <a16:creationId xmlns:a16="http://schemas.microsoft.com/office/drawing/2014/main" id="{A6ECEF22-FABE-410D-8784-E7F2998E20A6}"/>
              </a:ext>
            </a:extLst>
          </p:cNvPr>
          <p:cNvSpPr>
            <a:spLocks xmlns:a="http://schemas.openxmlformats.org/drawingml/2006/main" noGrp="1"/>
          </p:cNvSpPr>
          <p:nvPr/>
        </p:nvSpPr>
        <p:spPr>
          <a:xfrm xmlns:a="http://schemas.openxmlformats.org/drawingml/2006/main">
            <a:off x="854049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21FD359D-C558-432B-914A-593D1E0168A9}"/>
              </a:ext>
            </a:extLst>
          </p:cNvPr>
          <p:cNvSpPr>
            <a:spLocks xmlns:a="http://schemas.openxmlformats.org/drawingml/2006/main" noGrp="1"/>
          </p:cNvSpPr>
          <p:nvPr/>
        </p:nvSpPr>
        <p:spPr>
          <a:xfrm xmlns:a="http://schemas.openxmlformats.org/drawingml/2006/main">
            <a:off x="854049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xmlns:a="http://schemas.openxmlformats.org/drawingml/2006/main">
              <a:ext uri="{FF2B5EF4-FFF2-40B4-BE49-F238E27FC236}">
                <a16:creationId xmlns:a16="http://schemas.microsoft.com/office/drawing/2014/main" id="{B37725D5-7D86-4A21-A63D-7705A5353CB5}"/>
              </a:ext>
            </a:extLst>
          </p:cNvPr>
          <p:cNvSpPr>
            <a:spLocks xmlns:a="http://schemas.openxmlformats.org/drawingml/2006/main" noGrp="1"/>
          </p:cNvSpPr>
          <p:nvPr/>
        </p:nvSpPr>
        <p:spPr>
          <a:xfrm xmlns:a="http://schemas.openxmlformats.org/drawingml/2006/main">
            <a:off x="658368" y="5742432"/>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159CF6FA-4A58-409C-9C1D-D761CE118228}"/>
              </a:ext>
            </a:extLst>
          </p:cNvPr>
          <p:cNvSpPr>
            <a:spLocks xmlns:a="http://schemas.openxmlformats.org/drawingml/2006/main" noGrp="1"/>
          </p:cNvSpPr>
          <p:nvPr/>
        </p:nvSpPr>
        <p:spPr>
          <a:xfrm xmlns:a="http://schemas.openxmlformats.org/drawingml/2006/main">
            <a:off x="896112" y="5852160"/>
            <a:ext cx="10405872"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sld>
</file>

<file path=ppt/slides/slide58.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4ECE486-CA54-4977-8625-3EA1DCB44296}"/>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xmlns:a="http://schemas.openxmlformats.org/drawingml/2006/main">
              <a:ext uri="{FF2B5EF4-FFF2-40B4-BE49-F238E27FC236}">
                <a16:creationId xmlns:a16="http://schemas.microsoft.com/office/drawing/2014/main" id="{138471B2-2173-4244-8D10-17BE35E5E136}"/>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4645D77-F763-49F2-A727-2F3A58991A9F}"/>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ε2 cells show coordinated increases from both genomes</a:t>
            </a:r>
          </a:p>
        </p:txBody>
      </p:sp>
      <p:sp>
        <p:nvSpPr>
          <p:cNvPr id="5" name="TextBox 4">
            <a:extLst xmlns:a="http://schemas.openxmlformats.org/drawingml/2006/main">
              <a:ext uri="{FF2B5EF4-FFF2-40B4-BE49-F238E27FC236}">
                <a16:creationId xmlns:a16="http://schemas.microsoft.com/office/drawing/2014/main" id="{756E40B9-C59D-4BAE-B894-B255DC34657F}"/>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xmlns:a="http://schemas.openxmlformats.org/drawingml/2006/main">
              <a:ext uri="{FF2B5EF4-FFF2-40B4-BE49-F238E27FC236}">
                <a16:creationId xmlns:a16="http://schemas.microsoft.com/office/drawing/2014/main" id="{5E40BCAB-0F47-47AB-A9D0-246DD9EA3AFF}"/>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47EE485-852A-4E1F-B149-698806EE7684}"/>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2AB918F-F4EF-4C88-85CD-B16EDBBD6506}"/>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8A4456E-170C-4FFB-AC21-DF2280DD295B}"/>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278BE8F-D6C8-4B5E-9FBA-1D3C52140AE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CD5FFA43-332B-40D2-8B89-D38EFFCAB4BB}"/>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D2771F0-C602-4C21-9B3E-92F904F7EF39}"/>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F40AA60-FA3E-4F24-9E55-D64A18F27189}"/>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000DDA4A-5D72-41DD-B527-A35D174524DC}"/>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DD67D77-8008-4EB2-AAAF-977A95B417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E19B0672-1812-442D-B01C-B11154BC8AB0}"/>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C0BE10BC-91E1-4F79-9CC6-930A4D220218}"/>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CFD26F0-03BF-4B2A-B699-0CC95CEC035F}"/>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AFF45227-BD7A-4773-91B1-26BD077F7D7D}"/>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5C0B8246-35BF-4AAF-8C67-D62A507C2F3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F49557A-AA46-4D8D-8851-D16CDD14D120}"/>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mitochondrial and nuclear OXPHOS RNA mostly increased in female ε2 cells.</a:t>
            </a:r>
          </a:p>
        </p:txBody>
      </p:sp>
    </p:spTree>
    <p:extLst>
      <p:ext uri="{BB962C8B-B14F-4D97-AF65-F5344CB8AC3E}">
        <p14:creationId xmlns:p14="http://schemas.microsoft.com/office/powerpoint/2010/main" val="1417142778"/>
      </p:ext>
    </p:extLst>
  </p:cSld>
</p:sld>
</file>

<file path=ppt/slides/slide5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08ADFB2-0905-45C5-8F69-3585DC82971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ε2 cells raise both mitochondrial and nuclear OXPHOS RNA in AD</a:t>
            </a:r>
          </a:p>
        </p:txBody>
      </p:sp>
      <p:sp>
        <p:nvSpPr>
          <p:cNvPr id="3" name="TextBox 2">
            <a:extLst xmlns:a="http://schemas.openxmlformats.org/drawingml/2006/main">
              <a:ext uri="{FF2B5EF4-FFF2-40B4-BE49-F238E27FC236}">
                <a16:creationId xmlns:a16="http://schemas.microsoft.com/office/drawing/2014/main" id="{45FEE0B3-D031-42B6-AA03-FB4DA928DE3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xmlns:a="http://schemas.openxmlformats.org/drawingml/2006/main">
              <a:ext uri="{FF2B5EF4-FFF2-40B4-BE49-F238E27FC236}">
                <a16:creationId xmlns:a16="http://schemas.microsoft.com/office/drawing/2014/main" id="{615CD607-31E8-4B00-8C02-834BBE7C7BD2}"/>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66C90F5E-0846-4909-9774-8333DBC3088B}"/>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4D522616-4114-4BA1-B5FD-1BF342F326A4}"/>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9FB5F3E0-35DB-4F5C-8DA6-E665DF603B1F}"/>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xmlns:a="http://schemas.openxmlformats.org/drawingml/2006/main">
              <a:ext uri="{FF2B5EF4-FFF2-40B4-BE49-F238E27FC236}">
                <a16:creationId xmlns:a16="http://schemas.microsoft.com/office/drawing/2014/main" id="{81AAE375-C85C-434E-9749-A1D973322FD8}"/>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A0BAB63-6C86-40F0-A5CF-58DB33793163}"/>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xmlns:a="http://schemas.openxmlformats.org/drawingml/2006/main">
              <a:ext uri="{FF2B5EF4-FFF2-40B4-BE49-F238E27FC236}">
                <a16:creationId xmlns:a16="http://schemas.microsoft.com/office/drawing/2014/main" id="{640BB072-0DE5-4A4B-8633-40676AC2DD3E}"/>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9BD09F1-B0CE-49CA-8812-B979165F134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xmlns:a="http://schemas.openxmlformats.org/drawingml/2006/main">
              <a:ext uri="{FF2B5EF4-FFF2-40B4-BE49-F238E27FC236}">
                <a16:creationId xmlns:a16="http://schemas.microsoft.com/office/drawing/2014/main" id="{CCFF4350-6F05-4276-B473-B297DCE1FAF6}"/>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FE6151C1-09D4-4C23-A48E-921FE70A771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MITOCHONDRIAL DNA</a:t>
            </a:r>
          </a:p>
        </p:txBody>
      </p:sp>
      <p:sp>
        <p:nvSpPr>
          <p:cNvPr id="14" name="TextBox 13">
            <a:extLst xmlns:a="http://schemas.openxmlformats.org/drawingml/2006/main">
              <a:ext uri="{FF2B5EF4-FFF2-40B4-BE49-F238E27FC236}">
                <a16:creationId xmlns:a16="http://schemas.microsoft.com/office/drawing/2014/main" id="{35B4C088-C07B-495E-8DE3-46A33B87E624}"/>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127 of 128 up</a:t>
            </a:r>
          </a:p>
        </p:txBody>
      </p:sp>
      <p:sp>
        <p:nvSpPr>
          <p:cNvPr id="15" name="TextBox 14">
            <a:extLst xmlns:a="http://schemas.openxmlformats.org/drawingml/2006/main">
              <a:ext uri="{FF2B5EF4-FFF2-40B4-BE49-F238E27FC236}">
                <a16:creationId xmlns:a16="http://schemas.microsoft.com/office/drawing/2014/main" id="{C6F28943-3E6E-4BBB-950C-78E3CFE22210}"/>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mitochondrial genome supplies 13 core OXPHOS subunits.</a:t>
            </a:r>
          </a:p>
        </p:txBody>
      </p:sp>
      <p:sp>
        <p:nvSpPr>
          <p:cNvPr id="16" name="Rounded Rectangle 15">
            <a:extLst xmlns:a="http://schemas.openxmlformats.org/drawingml/2006/main">
              <a:ext uri="{FF2B5EF4-FFF2-40B4-BE49-F238E27FC236}">
                <a16:creationId xmlns:a16="http://schemas.microsoft.com/office/drawing/2014/main" id="{B3F8FAB2-AB08-4807-999C-9A29E0EAD926}"/>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5E57DE2-C8A5-4024-AFEF-21B7B1D37A96}"/>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NUCLEAR DNA</a:t>
            </a:r>
          </a:p>
        </p:txBody>
      </p:sp>
      <p:sp>
        <p:nvSpPr>
          <p:cNvPr id="18" name="TextBox 17">
            <a:extLst xmlns:a="http://schemas.openxmlformats.org/drawingml/2006/main">
              <a:ext uri="{FF2B5EF4-FFF2-40B4-BE49-F238E27FC236}">
                <a16:creationId xmlns:a16="http://schemas.microsoft.com/office/drawing/2014/main" id="{8647837D-D3D4-4731-A23D-F871D75BEB80}"/>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239 of 243 up</a:t>
            </a:r>
          </a:p>
        </p:txBody>
      </p:sp>
      <p:sp>
        <p:nvSpPr>
          <p:cNvPr id="19" name="TextBox 18">
            <a:extLst xmlns:a="http://schemas.openxmlformats.org/drawingml/2006/main">
              <a:ext uri="{FF2B5EF4-FFF2-40B4-BE49-F238E27FC236}">
                <a16:creationId xmlns:a16="http://schemas.microsoft.com/office/drawing/2014/main" id="{81D08820-2DCE-4653-B509-0A6618C668A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nuclear genome supplies most structural OXPHOS subunits.</a:t>
            </a:r>
          </a:p>
        </p:txBody>
      </p:sp>
      <p:sp>
        <p:nvSpPr>
          <p:cNvPr id="20" name="Rounded Rectangle 19">
            <a:extLst xmlns:a="http://schemas.openxmlformats.org/drawingml/2006/main">
              <a:ext uri="{FF2B5EF4-FFF2-40B4-BE49-F238E27FC236}">
                <a16:creationId xmlns:a16="http://schemas.microsoft.com/office/drawing/2014/main" id="{C10ADB4A-6CEB-4F5C-A064-A60E535BCA5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382F0BF-8B66-4367-B4E4-02AF2B343585}"/>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xmlns:a="http://schemas.openxmlformats.org/drawingml/2006/main">
              <a:ext uri="{FF2B5EF4-FFF2-40B4-BE49-F238E27FC236}">
                <a16:creationId xmlns:a16="http://schemas.microsoft.com/office/drawing/2014/main" id="{86755171-8733-4E22-8C19-C708562A8E36}"/>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Coordinated RNA</a:t>
            </a:r>
          </a:p>
        </p:txBody>
      </p:sp>
      <p:sp>
        <p:nvSpPr>
          <p:cNvPr id="23" name="TextBox 22">
            <a:extLst xmlns:a="http://schemas.openxmlformats.org/drawingml/2006/main">
              <a:ext uri="{FF2B5EF4-FFF2-40B4-BE49-F238E27FC236}">
                <a16:creationId xmlns:a16="http://schemas.microsoft.com/office/drawing/2014/main" id="{56550C95-A42B-4A0A-AF6B-EDAF263C268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Both instruction sets rise together. Protein assembly and ATP remain unmeasured.</a:t>
            </a:r>
          </a:p>
        </p:txBody>
      </p:sp>
      <p:sp>
        <p:nvSpPr>
          <p:cNvPr id="24" name="Rounded Rectangle 23">
            <a:extLst xmlns:a="http://schemas.openxmlformats.org/drawingml/2006/main">
              <a:ext uri="{FF2B5EF4-FFF2-40B4-BE49-F238E27FC236}">
                <a16:creationId xmlns:a16="http://schemas.microsoft.com/office/drawing/2014/main" id="{12FD5B38-A45E-4690-9C15-4C79B2CE5F3A}"/>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637410B8-E789-453C-A907-5ADCCC9E86D7}"/>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This is a coordinated transcriptional response, not evidence that mitochondria produce more energy.</a:t>
            </a:r>
          </a:p>
        </p:txBody>
      </p:sp>
      <p:sp>
        <p:nvSpPr>
          <p:cNvPr id="26" name="TextBox 25">
            <a:extLst xmlns:a="http://schemas.openxmlformats.org/drawingml/2006/main">
              <a:ext uri="{FF2B5EF4-FFF2-40B4-BE49-F238E27FC236}">
                <a16:creationId xmlns:a16="http://schemas.microsoft.com/office/drawing/2014/main" id="{898B3908-D309-4812-9845-66A299E2C22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1783322414"/>
      </p:ext>
    </p:extLst>
  </p:cSld>
</p:sld>
</file>

<file path=ppt/slides/slide6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BC9E2C-A43A-428C-8D32-D565D0C09F7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xmlns:a="http://schemas.openxmlformats.org/drawingml/2006/main">
              <a:ext uri="{FF2B5EF4-FFF2-40B4-BE49-F238E27FC236}">
                <a16:creationId xmlns:a16="http://schemas.microsoft.com/office/drawing/2014/main" id="{8B78A23B-5C0A-4E24-ABAC-8EFD3DBD0D4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xmlns:a="http://schemas.openxmlformats.org/drawingml/2006/main">
              <a:ext uri="{FF2B5EF4-FFF2-40B4-BE49-F238E27FC236}">
                <a16:creationId xmlns:a16="http://schemas.microsoft.com/office/drawing/2014/main" id="{690C6019-63E3-4A80-8A7C-577AC9655D7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3979D85-AEF6-4DC8-86D5-170C6E2B4A7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xmlns:a="http://schemas.openxmlformats.org/drawingml/2006/main">
              <a:ext uri="{FF2B5EF4-FFF2-40B4-BE49-F238E27FC236}">
                <a16:creationId xmlns:a16="http://schemas.microsoft.com/office/drawing/2014/main" id="{25F5AA99-A99A-4836-BDEA-BD8AA79D623E}"/>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xmlns:a="http://schemas.openxmlformats.org/drawingml/2006/main">
              <a:ext uri="{FF2B5EF4-FFF2-40B4-BE49-F238E27FC236}">
                <a16:creationId xmlns:a16="http://schemas.microsoft.com/office/drawing/2014/main" id="{0024E1DE-484B-49AC-A43A-45F8CE93BB80}"/>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xmlns:a="http://schemas.openxmlformats.org/drawingml/2006/main">
              <a:ext uri="{FF2B5EF4-FFF2-40B4-BE49-F238E27FC236}">
                <a16:creationId xmlns:a16="http://schemas.microsoft.com/office/drawing/2014/main" id="{08BFA9F0-5974-463C-A027-995ECDD47DB3}"/>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C42CBD5-2B07-46FC-87C5-DF4702DD9054}"/>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xmlns:a="http://schemas.openxmlformats.org/drawingml/2006/main">
              <a:ext uri="{FF2B5EF4-FFF2-40B4-BE49-F238E27FC236}">
                <a16:creationId xmlns:a16="http://schemas.microsoft.com/office/drawing/2014/main" id="{F674C36B-A52D-4CF0-B90D-21A6784CFCB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xmlns:a="http://schemas.openxmlformats.org/drawingml/2006/main">
              <a:ext uri="{FF2B5EF4-FFF2-40B4-BE49-F238E27FC236}">
                <a16:creationId xmlns:a16="http://schemas.microsoft.com/office/drawing/2014/main" id="{6BBDB451-3509-4807-A5AC-128A5957B884}"/>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2" name="Rounded Rectangle 11">
            <a:extLst xmlns:a="http://schemas.openxmlformats.org/drawingml/2006/main">
              <a:ext uri="{FF2B5EF4-FFF2-40B4-BE49-F238E27FC236}">
                <a16:creationId xmlns:a16="http://schemas.microsoft.com/office/drawing/2014/main" id="{934FD0CB-E5F7-46C6-9FB5-1C05A08DA8B2}"/>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08BB4F0-342E-4CEF-9AA2-18F4A55B213D}"/>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29</a:t>
            </a:r>
          </a:p>
        </p:txBody>
      </p:sp>
      <p:sp>
        <p:nvSpPr>
          <p:cNvPr id="14" name="TextBox 13">
            <a:extLst xmlns:a="http://schemas.openxmlformats.org/drawingml/2006/main">
              <a:ext uri="{FF2B5EF4-FFF2-40B4-BE49-F238E27FC236}">
                <a16:creationId xmlns:a16="http://schemas.microsoft.com/office/drawing/2014/main" id="{0CE2AB23-53BC-4638-8749-E5BCF950A8AF}"/>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program-call enrichments</a:t>
            </a:r>
          </a:p>
        </p:txBody>
      </p:sp>
      <p:sp>
        <p:nvSpPr>
          <p:cNvPr id="15" name="TextBox 14">
            <a:extLst xmlns:a="http://schemas.openxmlformats.org/drawingml/2006/main">
              <a:ext uri="{FF2B5EF4-FFF2-40B4-BE49-F238E27FC236}">
                <a16:creationId xmlns:a16="http://schemas.microsoft.com/office/drawing/2014/main" id="{F1422170-4328-4392-AF5C-C18E81B73ED6}"/>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20 mtDNA, 9 nuclear</a:t>
            </a:r>
          </a:p>
        </p:txBody>
      </p:sp>
      <p:sp>
        <p:nvSpPr>
          <p:cNvPr id="16" name="Rounded Rectangle 15">
            <a:extLst xmlns:a="http://schemas.openxmlformats.org/drawingml/2006/main">
              <a:ext uri="{FF2B5EF4-FFF2-40B4-BE49-F238E27FC236}">
                <a16:creationId xmlns:a16="http://schemas.microsoft.com/office/drawing/2014/main" id="{082648EB-DE55-4599-9CE8-1ED13F13BBB2}"/>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5D3823A-19DE-4472-860E-72CC4D79ACA7}"/>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xmlns:a="http://schemas.openxmlformats.org/drawingml/2006/main">
              <a:ext uri="{FF2B5EF4-FFF2-40B4-BE49-F238E27FC236}">
                <a16:creationId xmlns:a16="http://schemas.microsoft.com/office/drawing/2014/main" id="{BB547348-8D7D-4F53-8F7B-7E679F66C989}"/>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xmlns:a="http://schemas.openxmlformats.org/drawingml/2006/main">
              <a:ext uri="{FF2B5EF4-FFF2-40B4-BE49-F238E27FC236}">
                <a16:creationId xmlns:a16="http://schemas.microsoft.com/office/drawing/2014/main" id="{6FF06687-1865-42AE-B585-878BF683F694}"/>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calls</a:t>
            </a:r>
          </a:p>
        </p:txBody>
      </p:sp>
      <p:sp>
        <p:nvSpPr>
          <p:cNvPr id="20" name="Rounded Rectangle 19">
            <a:extLst xmlns:a="http://schemas.openxmlformats.org/drawingml/2006/main">
              <a:ext uri="{FF2B5EF4-FFF2-40B4-BE49-F238E27FC236}">
                <a16:creationId xmlns:a16="http://schemas.microsoft.com/office/drawing/2014/main" id="{1DBC9E74-A637-4BB2-A479-E6D6BDAF3B58}"/>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A7F0D26-0619-47EA-A6A1-8C19ADC3A01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xmlns:a="http://schemas.openxmlformats.org/drawingml/2006/main">
              <a:ext uri="{FF2B5EF4-FFF2-40B4-BE49-F238E27FC236}">
                <a16:creationId xmlns:a16="http://schemas.microsoft.com/office/drawing/2014/main" id="{8C2B5561-5EC5-4B47-BB0A-B05F6D88826A}"/>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xmlns:a="http://schemas.openxmlformats.org/drawingml/2006/main">
              <a:ext uri="{FF2B5EF4-FFF2-40B4-BE49-F238E27FC236}">
                <a16:creationId xmlns:a16="http://schemas.microsoft.com/office/drawing/2014/main" id="{597D4E02-CBE3-4430-9468-C95E08B5BC15}"/>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calls</a:t>
            </a:r>
          </a:p>
        </p:txBody>
      </p:sp>
      <p:sp>
        <p:nvSpPr>
          <p:cNvPr id="24" name="Rounded Rectangle 23">
            <a:extLst xmlns:a="http://schemas.openxmlformats.org/drawingml/2006/main">
              <a:ext uri="{FF2B5EF4-FFF2-40B4-BE49-F238E27FC236}">
                <a16:creationId xmlns:a16="http://schemas.microsoft.com/office/drawing/2014/main" id="{F1C2F9FB-7027-498B-8C5E-CFA9B32F0144}"/>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2236BB1-A699-416F-8582-5524110EB2F7}"/>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Fine excitatory neurons</a:t>
            </a:r>
          </a:p>
        </p:txBody>
      </p:sp>
      <p:sp>
        <p:nvSpPr>
          <p:cNvPr id="26" name="TextBox 25">
            <a:extLst xmlns:a="http://schemas.openxmlformats.org/drawingml/2006/main">
              <a:ext uri="{FF2B5EF4-FFF2-40B4-BE49-F238E27FC236}">
                <a16:creationId xmlns:a16="http://schemas.microsoft.com/office/drawing/2014/main" id="{7B94A92C-0FE6-4A87-9730-14E21FEFD9E6}"/>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9/12 and 8/12</a:t>
            </a:r>
          </a:p>
        </p:txBody>
      </p:sp>
      <p:sp>
        <p:nvSpPr>
          <p:cNvPr id="27" name="TextBox 26">
            <a:extLst xmlns:a="http://schemas.openxmlformats.org/drawingml/2006/main">
              <a:ext uri="{FF2B5EF4-FFF2-40B4-BE49-F238E27FC236}">
                <a16:creationId xmlns:a16="http://schemas.microsoft.com/office/drawing/2014/main" id="{963A9B6B-3DE8-4312-AB95-8B51C21BD64E}"/>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mtDNA-up and nuclear-OXPHOS-up enrichment, respectively</a:t>
            </a:r>
          </a:p>
        </p:txBody>
      </p:sp>
      <p:sp>
        <p:nvSpPr>
          <p:cNvPr id="28" name="TextBox 27">
            <a:extLst xmlns:a="http://schemas.openxmlformats.org/drawingml/2006/main">
              <a:ext uri="{FF2B5EF4-FFF2-40B4-BE49-F238E27FC236}">
                <a16:creationId xmlns:a16="http://schemas.microsoft.com/office/drawing/2014/main" id="{F4334579-BDE6-438E-84E0-0C54399AE18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458075466"/>
      </p:ext>
    </p:extLst>
  </p:cSld>
</p:sld>
</file>

<file path=ppt/slides/slide6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B1853A5-994E-46E2-BCD9-22CA9C32B78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xmlns:a="http://schemas.openxmlformats.org/drawingml/2006/main">
              <a:ext uri="{FF2B5EF4-FFF2-40B4-BE49-F238E27FC236}">
                <a16:creationId xmlns:a16="http://schemas.microsoft.com/office/drawing/2014/main" id="{CED22A51-DB6F-4B92-805C-9D316C8C997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xmlns:a="http://schemas.openxmlformats.org/drawingml/2006/main">
              <a:ext uri="{FF2B5EF4-FFF2-40B4-BE49-F238E27FC236}">
                <a16:creationId xmlns:a16="http://schemas.microsoft.com/office/drawing/2014/main" id="{3A6C7F85-F045-4386-B7A4-EA6B72A7075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B52520A-0047-4427-91B1-3EE62DE3F104}"/>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xmlns:a="http://schemas.openxmlformats.org/drawingml/2006/main">
              <a:ext uri="{FF2B5EF4-FFF2-40B4-BE49-F238E27FC236}">
                <a16:creationId xmlns:a16="http://schemas.microsoft.com/office/drawing/2014/main" id="{ABC276E4-FF64-4D51-AE53-9D60FB423C9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xmlns:a="http://schemas.openxmlformats.org/drawingml/2006/main">
              <a:ext uri="{FF2B5EF4-FFF2-40B4-BE49-F238E27FC236}">
                <a16:creationId xmlns:a16="http://schemas.microsoft.com/office/drawing/2014/main" id="{441224C6-C4A4-4EE8-8AAB-5BF6A3FE6723}"/>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Nine of 12 fine types enriched mtDNA-up and eight of 12 enriched nuclear OXPHOS-up.</a:t>
            </a:r>
          </a:p>
        </p:txBody>
      </p:sp>
      <p:sp>
        <p:nvSpPr>
          <p:cNvPr id="8" name="Rounded Rectangle 7">
            <a:extLst xmlns:a="http://schemas.openxmlformats.org/drawingml/2006/main">
              <a:ext uri="{FF2B5EF4-FFF2-40B4-BE49-F238E27FC236}">
                <a16:creationId xmlns:a16="http://schemas.microsoft.com/office/drawing/2014/main" id="{E191E617-D79A-4B13-B3AE-72E76F97CD0F}"/>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04144AD-9907-4814-B2E3-280F7CF3C2E8}"/>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xmlns:a="http://schemas.openxmlformats.org/drawingml/2006/main">
              <a:ext uri="{FF2B5EF4-FFF2-40B4-BE49-F238E27FC236}">
                <a16:creationId xmlns:a16="http://schemas.microsoft.com/office/drawing/2014/main" id="{856D1FAC-D9FA-4090-840C-9579AFAD082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xmlns:a="http://schemas.openxmlformats.org/drawingml/2006/main">
              <a:ext uri="{FF2B5EF4-FFF2-40B4-BE49-F238E27FC236}">
                <a16:creationId xmlns:a16="http://schemas.microsoft.com/office/drawing/2014/main" id="{2CA38377-BFA0-4F99-B085-CDE6E588C026}"/>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Excitatory nuclear OXPHOS remained strongly up, while the mtDNA component was not significant.</a:t>
            </a:r>
          </a:p>
        </p:txBody>
      </p:sp>
      <p:sp>
        <p:nvSpPr>
          <p:cNvPr id="12" name="Rounded Rectangle 11">
            <a:extLst xmlns:a="http://schemas.openxmlformats.org/drawingml/2006/main">
              <a:ext uri="{FF2B5EF4-FFF2-40B4-BE49-F238E27FC236}">
                <a16:creationId xmlns:a16="http://schemas.microsoft.com/office/drawing/2014/main" id="{5EEFC995-60E4-4876-8C6A-EADB6260D5B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625C7E5-16CD-4D93-B551-4008E19FAD33}"/>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8914A330-5E1F-4013-B018-561B8F4493B6}"/>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23A27A98-4197-4AFA-B5BB-F540A02FF31C}"/>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xmlns:a="http://schemas.openxmlformats.org/drawingml/2006/main">
              <a:ext uri="{FF2B5EF4-FFF2-40B4-BE49-F238E27FC236}">
                <a16:creationId xmlns:a16="http://schemas.microsoft.com/office/drawing/2014/main" id="{1A6898F8-61A4-4041-BEDA-98E3CB5D4509}"/>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A85A977-FC6A-4379-959A-9714301A143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
        <p:nvSpPr>
          <p:cNvPr id="18" name="TextBox 17">
            <a:extLst xmlns:a="http://schemas.openxmlformats.org/drawingml/2006/main">
              <a:ext uri="{FF2B5EF4-FFF2-40B4-BE49-F238E27FC236}">
                <a16:creationId xmlns:a16="http://schemas.microsoft.com/office/drawing/2014/main" id="{61512754-2A5B-4911-BAA7-DA57BAA90B6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2042796816"/>
      </p:ext>
    </p:extLst>
  </p:cSld>
</p:sld>
</file>

<file path=ppt/slides/slide6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601813-29EF-4238-9DCE-E978BA98BEA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genomes</a:t>
            </a:r>
          </a:p>
        </p:txBody>
      </p:sp>
      <p:sp>
        <p:nvSpPr>
          <p:cNvPr id="3" name="TextBox 2">
            <a:extLst xmlns:a="http://schemas.openxmlformats.org/drawingml/2006/main">
              <a:ext uri="{FF2B5EF4-FFF2-40B4-BE49-F238E27FC236}">
                <a16:creationId xmlns:a16="http://schemas.microsoft.com/office/drawing/2014/main" id="{E9093F75-875C-4040-980C-59BF7BF94D9E}"/>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xmlns:a="http://schemas.openxmlformats.org/drawingml/2006/main">
              <a:ext uri="{FF2B5EF4-FFF2-40B4-BE49-F238E27FC236}">
                <a16:creationId xmlns:a16="http://schemas.microsoft.com/office/drawing/2014/main" id="{F8F3EA24-6E25-44FD-8895-B1D141F1500C}"/>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0D8776F-F3E6-4C8A-ACC7-D490392899F6}"/>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xmlns:a="http://schemas.openxmlformats.org/drawingml/2006/main">
              <a:ext uri="{FF2B5EF4-FFF2-40B4-BE49-F238E27FC236}">
                <a16:creationId xmlns:a16="http://schemas.microsoft.com/office/drawing/2014/main" id="{A645CCA1-BA20-45BD-B5F1-31701CBF696F}"/>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xmlns:a="http://schemas.openxmlformats.org/drawingml/2006/main">
              <a:ext uri="{FF2B5EF4-FFF2-40B4-BE49-F238E27FC236}">
                <a16:creationId xmlns:a16="http://schemas.microsoft.com/office/drawing/2014/main" id="{C5A86D1A-7A19-481B-944C-00BB512EEA55}"/>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xmlns:a="http://schemas.openxmlformats.org/drawingml/2006/main">
              <a:ext uri="{FF2B5EF4-FFF2-40B4-BE49-F238E27FC236}">
                <a16:creationId xmlns:a16="http://schemas.microsoft.com/office/drawing/2014/main" id="{9A4BCC61-9636-4A2B-A2CE-63EEE69E6E38}"/>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96F0F40-70A6-4848-A3C8-4C32BE1D34E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xmlns:a="http://schemas.openxmlformats.org/drawingml/2006/main">
              <a:ext uri="{FF2B5EF4-FFF2-40B4-BE49-F238E27FC236}">
                <a16:creationId xmlns:a16="http://schemas.microsoft.com/office/drawing/2014/main" id="{C8101B43-A67E-4665-B80D-079DAC2C323C}"/>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xmlns:a="http://schemas.openxmlformats.org/drawingml/2006/main">
              <a:ext uri="{FF2B5EF4-FFF2-40B4-BE49-F238E27FC236}">
                <a16:creationId xmlns:a16="http://schemas.microsoft.com/office/drawing/2014/main" id="{F13BEB7D-9922-4326-BA53-236575A05E4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xmlns:a="http://schemas.openxmlformats.org/drawingml/2006/main">
              <a:ext uri="{FF2B5EF4-FFF2-40B4-BE49-F238E27FC236}">
                <a16:creationId xmlns:a16="http://schemas.microsoft.com/office/drawing/2014/main" id="{BF7D3617-7BB7-40B0-AA73-01C21E72DE8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C1DA468E-DF43-40D4-BB38-376AF1C7C9B0}"/>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xmlns:a="http://schemas.openxmlformats.org/drawingml/2006/main">
              <a:ext uri="{FF2B5EF4-FFF2-40B4-BE49-F238E27FC236}">
                <a16:creationId xmlns:a16="http://schemas.microsoft.com/office/drawing/2014/main" id="{351080BB-A239-4C80-997C-2A88CDB161A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xmlns:a="http://schemas.openxmlformats.org/drawingml/2006/main">
              <a:ext uri="{FF2B5EF4-FFF2-40B4-BE49-F238E27FC236}">
                <a16:creationId xmlns:a16="http://schemas.microsoft.com/office/drawing/2014/main" id="{FC9545C3-7A2A-4865-823B-BFE5DB57A6C8}"/>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RNA pattern protective by itself.</a:t>
            </a:r>
          </a:p>
        </p:txBody>
      </p:sp>
      <p:sp>
        <p:nvSpPr>
          <p:cNvPr id="16" name="Rounded Rectangle 15">
            <a:extLst xmlns:a="http://schemas.openxmlformats.org/drawingml/2006/main">
              <a:ext uri="{FF2B5EF4-FFF2-40B4-BE49-F238E27FC236}">
                <a16:creationId xmlns:a16="http://schemas.microsoft.com/office/drawing/2014/main" id="{72B95D4F-865C-4AA6-B047-94D15301D1AE}"/>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804DB52-7FA7-4AAB-8877-BE461C0F6E7A}"/>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CCB5FEA1-0D6F-449C-AC3F-4A75E5EEEF19}"/>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
        <p:nvSpPr>
          <p:cNvPr id="19" name="TextBox 18">
            <a:extLst xmlns:a="http://schemas.openxmlformats.org/drawingml/2006/main">
              <a:ext uri="{FF2B5EF4-FFF2-40B4-BE49-F238E27FC236}">
                <a16:creationId xmlns:a16="http://schemas.microsoft.com/office/drawing/2014/main" id="{0644A21F-AB48-4E4D-BBF0-4121C8735C9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888850860"/>
      </p:ext>
    </p:extLst>
  </p:cSld>
</p:sld>
</file>

<file path=ppt/slides/slide6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D54C77-E221-4CFC-86B8-C77A3555D89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3 does not prove, and the next evidence needed</a:t>
            </a:r>
          </a:p>
        </p:txBody>
      </p:sp>
      <p:sp>
        <p:nvSpPr>
          <p:cNvPr id="3" name="TextBox 2">
            <a:extLst xmlns:a="http://schemas.openxmlformats.org/drawingml/2006/main">
              <a:ext uri="{FF2B5EF4-FFF2-40B4-BE49-F238E27FC236}">
                <a16:creationId xmlns:a16="http://schemas.microsoft.com/office/drawing/2014/main" id="{0F549F74-1C80-4E9C-A5BE-9E13020D711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5BA66B9B-5913-4764-8D38-0B94A43D0E29}"/>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9FF44744-64E8-429C-96EC-9314D0939B43}"/>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616F1CD8-BCFE-455E-BD1D-34908DEF4310}"/>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BDF3F7B0-1E6E-4DEC-AFD3-92652CE192FC}"/>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52062C0-E53C-4281-AEDA-1958F2EF8319}"/>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Higher OXPHOS protein, complex assembly, or ATP</a:t>
            </a:r>
          </a:p>
        </p:txBody>
      </p:sp>
      <p:sp>
        <p:nvSpPr>
          <p:cNvPr id="9" name="Oval 8">
            <a:extLst xmlns:a="http://schemas.openxmlformats.org/drawingml/2006/main">
              <a:ext uri="{FF2B5EF4-FFF2-40B4-BE49-F238E27FC236}">
                <a16:creationId xmlns:a16="http://schemas.microsoft.com/office/drawing/2014/main" id="{825FBF48-A615-4568-9388-0019E2077A86}"/>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E13B5A0-EAB4-4188-B8F0-3C1D6DB1E4AB}"/>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 by ε2 disease interaction</a:t>
            </a:r>
          </a:p>
        </p:txBody>
      </p:sp>
      <p:sp>
        <p:nvSpPr>
          <p:cNvPr id="11" name="Oval 10">
            <a:extLst xmlns:a="http://schemas.openxmlformats.org/drawingml/2006/main">
              <a:ext uri="{FF2B5EF4-FFF2-40B4-BE49-F238E27FC236}">
                <a16:creationId xmlns:a16="http://schemas.microsoft.com/office/drawing/2014/main" id="{781230EB-DF9C-4ABB-BCBC-34C47F2E974F}"/>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66B191B-9598-472F-B969-D170565B4236}"/>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replication across donors or cohorts</a:t>
            </a:r>
          </a:p>
        </p:txBody>
      </p:sp>
      <p:sp>
        <p:nvSpPr>
          <p:cNvPr id="13" name="Rounded Rectangle 12">
            <a:extLst xmlns:a="http://schemas.openxmlformats.org/drawingml/2006/main">
              <a:ext uri="{FF2B5EF4-FFF2-40B4-BE49-F238E27FC236}">
                <a16:creationId xmlns:a16="http://schemas.microsoft.com/office/drawing/2014/main" id="{41DB2509-884D-45DD-961D-FC9657975281}"/>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A493BE11-7544-46A0-9363-3EED6D691C32}"/>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4B1EDB1-8DA2-49ED-980F-D3074B8883DD}"/>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490082C3-DDE8-4A14-B80B-7E3820DDC4DF}"/>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A5895E8-D387-44BF-A381-85E2F51C0F18}"/>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Donor-level disease by sex by APOE interaction model</a:t>
            </a:r>
          </a:p>
        </p:txBody>
      </p:sp>
      <p:sp>
        <p:nvSpPr>
          <p:cNvPr id="18" name="Oval 17">
            <a:extLst xmlns:a="http://schemas.openxmlformats.org/drawingml/2006/main">
              <a:ext uri="{FF2B5EF4-FFF2-40B4-BE49-F238E27FC236}">
                <a16:creationId xmlns:a16="http://schemas.microsoft.com/office/drawing/2014/main" id="{D339FB7C-89DD-478E-90AB-78E6EE27BC78}"/>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28619CA5-15AD-44D1-A923-F9D7E89E86A7}"/>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APOE-isogenic female neuronal and glial models</a:t>
            </a:r>
          </a:p>
        </p:txBody>
      </p:sp>
      <p:sp>
        <p:nvSpPr>
          <p:cNvPr id="20" name="Oval 19">
            <a:extLst xmlns:a="http://schemas.openxmlformats.org/drawingml/2006/main">
              <a:ext uri="{FF2B5EF4-FFF2-40B4-BE49-F238E27FC236}">
                <a16:creationId xmlns:a16="http://schemas.microsoft.com/office/drawing/2014/main" id="{7038F8E9-7C2E-4A5B-BC17-3B4A6EAA9981}"/>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9AF93E4-8EA2-4969-9EC0-A3F83D0FF96E}"/>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OXPHOS protein, ATP, respiration, and stress tolerance</a:t>
            </a:r>
          </a:p>
        </p:txBody>
      </p:sp>
      <p:sp>
        <p:nvSpPr>
          <p:cNvPr id="22" name="TextBox 21">
            <a:extLst xmlns:a="http://schemas.openxmlformats.org/drawingml/2006/main">
              <a:ext uri="{FF2B5EF4-FFF2-40B4-BE49-F238E27FC236}">
                <a16:creationId xmlns:a16="http://schemas.microsoft.com/office/drawing/2014/main" id="{1C848634-9EB2-4A55-B804-C88DA91B4CFE}"/>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040DF977-529E-45D1-A84F-56F3B80E158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1658040671"/>
      </p:ext>
    </p:extLst>
  </p:cSld>
</p:sld>
</file>

<file path=ppt/slides/slide6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85345D8-743B-4F92-856E-EAD323BC0C4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xmlns:a="http://schemas.openxmlformats.org/drawingml/2006/main">
              <a:ext uri="{FF2B5EF4-FFF2-40B4-BE49-F238E27FC236}">
                <a16:creationId xmlns:a16="http://schemas.microsoft.com/office/drawing/2014/main" id="{8F063471-6559-4E80-8221-8E8E2AF2B40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38C23AC6-435A-4B38-9349-5942E7DAA4C2}"/>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1BCAEEB-4B50-4ABA-A8B0-141138736D74}"/>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E61D72E2-F3A7-448B-8E28-1B08522E943E}"/>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xmlns:a="http://schemas.openxmlformats.org/drawingml/2006/main">
              <a:ext uri="{FF2B5EF4-FFF2-40B4-BE49-F238E27FC236}">
                <a16:creationId xmlns:a16="http://schemas.microsoft.com/office/drawing/2014/main" id="{D687DE74-4101-4CE6-8670-93675C247769}"/>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454F7115-1BAA-4921-8EA5-3E94FDE49069}"/>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xmlns:a="http://schemas.openxmlformats.org/drawingml/2006/main">
              <a:ext uri="{FF2B5EF4-FFF2-40B4-BE49-F238E27FC236}">
                <a16:creationId xmlns:a16="http://schemas.microsoft.com/office/drawing/2014/main" id="{F7A4BB6B-4371-4A92-B9E3-2A1BD6D0DEE8}"/>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DFD8B593-B01A-48F9-BB3C-5E3014169FE2}"/>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explain the observed female ε2 RNA response.</a:t>
            </a:r>
          </a:p>
        </p:txBody>
      </p:sp>
      <p:sp>
        <p:nvSpPr>
          <p:cNvPr id="11" name="Rounded Rectangle 10">
            <a:extLst xmlns:a="http://schemas.openxmlformats.org/drawingml/2006/main">
              <a:ext uri="{FF2B5EF4-FFF2-40B4-BE49-F238E27FC236}">
                <a16:creationId xmlns:a16="http://schemas.microsoft.com/office/drawing/2014/main" id="{48A8DA3D-79F5-4576-B2F1-D754D20871E3}"/>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171C25C-B0DF-4E30-B811-5B7D7B8C2B93}"/>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BA2BFD3F-0612-46E2-8E43-4866376D2BC3}"/>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xmlns:a="http://schemas.openxmlformats.org/drawingml/2006/main">
              <a:ext uri="{FF2B5EF4-FFF2-40B4-BE49-F238E27FC236}">
                <a16:creationId xmlns:a16="http://schemas.microsoft.com/office/drawing/2014/main" id="{25365557-B7E5-4D1B-87DE-59982CA620AE}"/>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269B6732-CCEE-4283-8AAE-4B009FFC4C19}"/>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xmlns:a="http://schemas.openxmlformats.org/drawingml/2006/main">
              <a:ext uri="{FF2B5EF4-FFF2-40B4-BE49-F238E27FC236}">
                <a16:creationId xmlns:a16="http://schemas.microsoft.com/office/drawing/2014/main" id="{7EC2DEB2-A3B7-4A7A-B89F-241825498DE1}"/>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C3723745-3BD7-4BE7-8470-6C4A4EBD3043}"/>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xmlns:a="http://schemas.openxmlformats.org/drawingml/2006/main">
              <a:ext uri="{FF2B5EF4-FFF2-40B4-BE49-F238E27FC236}">
                <a16:creationId xmlns:a16="http://schemas.microsoft.com/office/drawing/2014/main" id="{35D9A967-C87D-4290-958C-CD5FAAE4FBB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97082910-6C3F-4CCD-B1B3-2C7AA23783EF}"/>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xmlns:a="http://schemas.openxmlformats.org/drawingml/2006/main">
              <a:ext uri="{FF2B5EF4-FFF2-40B4-BE49-F238E27FC236}">
                <a16:creationId xmlns:a16="http://schemas.microsoft.com/office/drawing/2014/main" id="{123A1DF3-BCAE-45BE-8442-BDD96635F438}"/>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xmlns:a="http://schemas.openxmlformats.org/drawingml/2006/main">
              <a:ext uri="{FF2B5EF4-FFF2-40B4-BE49-F238E27FC236}">
                <a16:creationId xmlns:a16="http://schemas.microsoft.com/office/drawing/2014/main" id="{59F07A75-2EE1-4D60-9786-0F23DF2582DC}"/>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66A71E1-1013-4A2B-A10D-B5DFDBF4D5C7}"/>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xmlns:a="http://schemas.openxmlformats.org/drawingml/2006/main">
              <a:ext uri="{FF2B5EF4-FFF2-40B4-BE49-F238E27FC236}">
                <a16:creationId xmlns:a16="http://schemas.microsoft.com/office/drawing/2014/main" id="{B8AF796C-C116-4095-8204-2CF009C27950}"/>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81CFC136-DBEC-4C06-AE7C-AF8530697833}"/>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program.</a:t>
            </a:r>
          </a:p>
        </p:txBody>
      </p:sp>
      <p:sp>
        <p:nvSpPr>
          <p:cNvPr id="25" name="Rounded Rectangle 24">
            <a:extLst xmlns:a="http://schemas.openxmlformats.org/drawingml/2006/main">
              <a:ext uri="{FF2B5EF4-FFF2-40B4-BE49-F238E27FC236}">
                <a16:creationId xmlns:a16="http://schemas.microsoft.com/office/drawing/2014/main" id="{B8DC183B-16BE-40EC-BF0B-B42D31C88BCC}"/>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3212225-CCEC-4FB4-8350-843AC90B44C7}"/>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9750E182-280E-4F25-A75D-61DA6D25D49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914698688"/>
      </p:ext>
    </p:extLst>
  </p:cSld>
</p:sld>
</file>

<file path=ppt/slides/slide6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9B9759-8C24-40FC-9F64-84570C3254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xmlns:a="http://schemas.openxmlformats.org/drawingml/2006/main">
              <a:ext uri="{FF2B5EF4-FFF2-40B4-BE49-F238E27FC236}">
                <a16:creationId xmlns:a16="http://schemas.microsoft.com/office/drawing/2014/main" id="{5BBDA2B6-748D-41D9-862D-7E18BB2B5EA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D76020A-FCE8-438D-BB31-4DC3B5F14D24}"/>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nuclear-OXPHOS decrease</a:t>
            </a:r>
          </a:p>
        </p:txBody>
      </p:sp>
      <p:sp>
        <p:nvSpPr>
          <p:cNvPr id="5" name="TextBox 4">
            <a:extLst xmlns:a="http://schemas.openxmlformats.org/drawingml/2006/main">
              <a:ext uri="{FF2B5EF4-FFF2-40B4-BE49-F238E27FC236}">
                <a16:creationId xmlns:a16="http://schemas.microsoft.com/office/drawing/2014/main" id="{E6B72473-605E-4B15-A710-E0E87504CEE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xmlns:a="http://schemas.openxmlformats.org/drawingml/2006/main">
              <a:ext uri="{FF2B5EF4-FFF2-40B4-BE49-F238E27FC236}">
                <a16:creationId xmlns:a16="http://schemas.microsoft.com/office/drawing/2014/main" id="{61741430-38B3-41F7-B957-964A801B7A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D464EA5-2FB1-41DE-B66E-27CBBCF1682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7EA8D99-C02A-4788-8BAC-19AB7802536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61EBDF4-CC0C-408C-9B6A-191DD08C45B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6ED3613-1DE2-4ED9-B304-70C3BF6E2F8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4D6D3497-1532-43A3-B90B-868123101E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AA0014-E189-41F8-9EDA-538A301A2B7E}"/>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85CC86D-E673-4A4D-BCD4-A17C265A93D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F6ECD27-E612-42B2-A097-22AD5D5F4E1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199226C-0ACA-4C10-9CC3-512A6B88301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9ADCB95-7C34-4583-8E5D-733E8F1BC35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D05F1D8-4983-4839-928F-9660ECDD84A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D96C1F8-7416-4C36-AEF3-8C5EC8CB834A}"/>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6D4276BB-3C28-4E39-A937-01C6393F2A2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917F796A-CADC-4639-9BBC-33FD0EE492E7}"/>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3D46ED2-4710-4AF3-A347-5D5DAB51261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The strongest signal is a fine-cell decrease in nuclear-encoded OXPHOS RNA.</a:t>
            </a:r>
          </a:p>
        </p:txBody>
      </p:sp>
    </p:spTree>
    <p:extLst>
      <p:ext uri="{BB962C8B-B14F-4D97-AF65-F5344CB8AC3E}">
        <p14:creationId xmlns:p14="http://schemas.microsoft.com/office/powerpoint/2010/main" val="1039246802"/>
      </p:ext>
    </p:extLst>
  </p:cSld>
</p:sld>
</file>

<file path=ppt/slides/slide6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4847B2B-03F0-4340-9874-86C63B1F255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fine-cell results lower nuclear-encoded OXPHOS RNA in AD</a:t>
            </a:r>
          </a:p>
        </p:txBody>
      </p:sp>
      <p:sp>
        <p:nvSpPr>
          <p:cNvPr id="3" name="TextBox 2">
            <a:extLst xmlns:a="http://schemas.openxmlformats.org/drawingml/2006/main">
              <a:ext uri="{FF2B5EF4-FFF2-40B4-BE49-F238E27FC236}">
                <a16:creationId xmlns:a16="http://schemas.microsoft.com/office/drawing/2014/main" id="{896CB3C7-3B59-48DD-B73F-9AD94CF297D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nuclear side is strongly downward, while mitochondrial-DNA OXPHOS genes show mixed directions.</a:t>
            </a:r>
          </a:p>
        </p:txBody>
      </p:sp>
      <p:sp>
        <p:nvSpPr>
          <p:cNvPr id="4" name="Rounded Rectangle 3">
            <a:extLst xmlns:a="http://schemas.openxmlformats.org/drawingml/2006/main">
              <a:ext uri="{FF2B5EF4-FFF2-40B4-BE49-F238E27FC236}">
                <a16:creationId xmlns:a16="http://schemas.microsoft.com/office/drawing/2014/main" id="{39A86691-49B6-40BA-9B7E-1D0E4F7208F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74921E-CB72-47D6-A24A-B8DE6A60EA3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898814CC-D61C-4493-ADF0-9F4DC2B35D0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9D5293A-18E3-40CD-89F3-26829C1D289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128528F0-0394-45AD-BC8B-27B5537B130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A922C6C-7D42-4015-9F4D-601E45A137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xmlns:a="http://schemas.openxmlformats.org/drawingml/2006/main">
              <a:ext uri="{FF2B5EF4-FFF2-40B4-BE49-F238E27FC236}">
                <a16:creationId xmlns:a16="http://schemas.microsoft.com/office/drawing/2014/main" id="{1F89F666-EC68-4B12-8245-6A91883251DB}"/>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0B02DC0-F83E-4862-AFB0-52E4D28EC5CB}"/>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xmlns:a="http://schemas.openxmlformats.org/drawingml/2006/main">
              <a:ext uri="{FF2B5EF4-FFF2-40B4-BE49-F238E27FC236}">
                <a16:creationId xmlns:a16="http://schemas.microsoft.com/office/drawing/2014/main" id="{1623AB73-75F2-48FD-B6FD-29F94AEBE1B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5AB7C3F-B362-4884-8570-8BC56E4296D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 OXPHOS</a:t>
            </a:r>
          </a:p>
        </p:txBody>
      </p:sp>
      <p:sp>
        <p:nvSpPr>
          <p:cNvPr id="14" name="TextBox 13">
            <a:extLst xmlns:a="http://schemas.openxmlformats.org/drawingml/2006/main">
              <a:ext uri="{FF2B5EF4-FFF2-40B4-BE49-F238E27FC236}">
                <a16:creationId xmlns:a16="http://schemas.microsoft.com/office/drawing/2014/main" id="{037D3A7F-EC93-4850-BC73-94A191C2147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xmlns:a="http://schemas.openxmlformats.org/drawingml/2006/main">
              <a:ext uri="{FF2B5EF4-FFF2-40B4-BE49-F238E27FC236}">
                <a16:creationId xmlns:a16="http://schemas.microsoft.com/office/drawing/2014/main" id="{270E3D63-8EB2-4724-B97D-72CAA1CA22B1}"/>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subunits come from nuclear DNA.</a:t>
            </a:r>
          </a:p>
        </p:txBody>
      </p:sp>
      <p:sp>
        <p:nvSpPr>
          <p:cNvPr id="16" name="Rounded Rectangle 15">
            <a:extLst xmlns:a="http://schemas.openxmlformats.org/drawingml/2006/main">
              <a:ext uri="{FF2B5EF4-FFF2-40B4-BE49-F238E27FC236}">
                <a16:creationId xmlns:a16="http://schemas.microsoft.com/office/drawing/2014/main" id="{534A9EEA-8A5F-4954-B3B2-93AD43A47D8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15232-3CD3-4590-A0CD-62FA073A0EE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MTDNA OXPHOS</a:t>
            </a:r>
          </a:p>
        </p:txBody>
      </p:sp>
      <p:sp>
        <p:nvSpPr>
          <p:cNvPr id="18" name="TextBox 17">
            <a:extLst xmlns:a="http://schemas.openxmlformats.org/drawingml/2006/main">
              <a:ext uri="{FF2B5EF4-FFF2-40B4-BE49-F238E27FC236}">
                <a16:creationId xmlns:a16="http://schemas.microsoft.com/office/drawing/2014/main" id="{B30DD619-5891-4A35-AF6F-EF31F4A7E79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xmlns:a="http://schemas.openxmlformats.org/drawingml/2006/main">
              <a:ext uri="{FF2B5EF4-FFF2-40B4-BE49-F238E27FC236}">
                <a16:creationId xmlns:a16="http://schemas.microsoft.com/office/drawing/2014/main" id="{A4E26757-5D41-41B5-8F16-6A64F6AC282B}"/>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mitochondrial genome contributes 26 up and 38 down occurrences.</a:t>
            </a:r>
          </a:p>
        </p:txBody>
      </p:sp>
      <p:sp>
        <p:nvSpPr>
          <p:cNvPr id="20" name="Rounded Rectangle 19">
            <a:extLst xmlns:a="http://schemas.openxmlformats.org/drawingml/2006/main">
              <a:ext uri="{FF2B5EF4-FFF2-40B4-BE49-F238E27FC236}">
                <a16:creationId xmlns:a16="http://schemas.microsoft.com/office/drawing/2014/main" id="{EFDE4554-9BE7-4F1C-9EC1-3AE3669AF389}"/>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C911D-9BE4-4EAD-901C-EB4A7396FDD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DE347B32-7281-4BAA-9D9B-7BD80806D79B}"/>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xmlns:a="http://schemas.openxmlformats.org/drawingml/2006/main">
              <a:ext uri="{FF2B5EF4-FFF2-40B4-BE49-F238E27FC236}">
                <a16:creationId xmlns:a16="http://schemas.microsoft.com/office/drawing/2014/main" id="{8791BB3F-8EB1-406E-ABA1-2F45257FD1D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mitochondrial genes.</a:t>
            </a:r>
          </a:p>
        </p:txBody>
      </p:sp>
      <p:sp>
        <p:nvSpPr>
          <p:cNvPr id="24" name="Rounded Rectangle 23">
            <a:extLst xmlns:a="http://schemas.openxmlformats.org/drawingml/2006/main">
              <a:ext uri="{FF2B5EF4-FFF2-40B4-BE49-F238E27FC236}">
                <a16:creationId xmlns:a16="http://schemas.microsoft.com/office/drawing/2014/main" id="{58C107E9-3677-45CB-8CAB-1BE1CEDCE97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3B50EAE-DA13-43C2-AD90-0FF977EECBFB}"/>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finding is specific to fine-cell and KDA-aligned evidence because direct broad-cell results disagree.</a:t>
            </a:r>
          </a:p>
        </p:txBody>
      </p:sp>
      <p:sp>
        <p:nvSpPr>
          <p:cNvPr id="26" name="TextBox 25">
            <a:extLst xmlns:a="http://schemas.openxmlformats.org/drawingml/2006/main">
              <a:ext uri="{FF2B5EF4-FFF2-40B4-BE49-F238E27FC236}">
                <a16:creationId xmlns:a16="http://schemas.microsoft.com/office/drawing/2014/main" id="{A13876BD-CB11-48D9-98A8-C9AB7CDF6D9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262158208"/>
      </p:ext>
    </p:extLst>
  </p:cSld>
</p:sld>
</file>

<file path=ppt/slides/slide6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16E7C6-C798-4825-8ADF-356B5B54EA3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95% of female ε4 nuclear-OXPHOS occurrences are AD-down</a:t>
            </a:r>
          </a:p>
        </p:txBody>
      </p:sp>
      <p:sp>
        <p:nvSpPr>
          <p:cNvPr id="3" name="TextBox 2">
            <a:extLst xmlns:a="http://schemas.openxmlformats.org/drawingml/2006/main">
              <a:ext uri="{FF2B5EF4-FFF2-40B4-BE49-F238E27FC236}">
                <a16:creationId xmlns:a16="http://schemas.microsoft.com/office/drawing/2014/main" id="{A4B8AFD9-E3A2-4DF9-81CD-7C81CE7DADE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mtDNA component is smaller and more mixed than the nuclear component.</a:t>
            </a:r>
          </a:p>
        </p:txBody>
      </p:sp>
      <p:sp>
        <p:nvSpPr>
          <p:cNvPr id="4" name="Rounded Rectangle 3">
            <a:extLst xmlns:a="http://schemas.openxmlformats.org/drawingml/2006/main">
              <a:ext uri="{FF2B5EF4-FFF2-40B4-BE49-F238E27FC236}">
                <a16:creationId xmlns:a16="http://schemas.microsoft.com/office/drawing/2014/main" id="{50746D33-BB30-408B-9C9E-FF12599B34E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D214BFD-9CB2-42A4-89AE-8FFD5BC9576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xmlns:a="http://schemas.openxmlformats.org/drawingml/2006/main">
              <a:ext uri="{FF2B5EF4-FFF2-40B4-BE49-F238E27FC236}">
                <a16:creationId xmlns:a16="http://schemas.microsoft.com/office/drawing/2014/main" id="{2611586C-DC6A-4FFA-9337-383B37FE6B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7" name="TextBox 6">
            <a:extLst xmlns:a="http://schemas.openxmlformats.org/drawingml/2006/main">
              <a:ext uri="{FF2B5EF4-FFF2-40B4-BE49-F238E27FC236}">
                <a16:creationId xmlns:a16="http://schemas.microsoft.com/office/drawing/2014/main" id="{3FA2DD5C-37CE-47B8-BA0D-4EFF5279FD3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xmlns:a="http://schemas.openxmlformats.org/drawingml/2006/main">
              <a:ext uri="{FF2B5EF4-FFF2-40B4-BE49-F238E27FC236}">
                <a16:creationId xmlns:a16="http://schemas.microsoft.com/office/drawing/2014/main" id="{C367C7A9-94DC-4D2B-B71F-0FDBE87A16E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E88F76C-26B3-454D-8275-E2E91DB2450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xmlns:a="http://schemas.openxmlformats.org/drawingml/2006/main">
              <a:ext uri="{FF2B5EF4-FFF2-40B4-BE49-F238E27FC236}">
                <a16:creationId xmlns:a16="http://schemas.microsoft.com/office/drawing/2014/main" id="{24F47D21-06A0-49A7-843A-35EF63D4EEB1}"/>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11" name="TextBox 10">
            <a:extLst xmlns:a="http://schemas.openxmlformats.org/drawingml/2006/main">
              <a:ext uri="{FF2B5EF4-FFF2-40B4-BE49-F238E27FC236}">
                <a16:creationId xmlns:a16="http://schemas.microsoft.com/office/drawing/2014/main" id="{E00687D7-70B0-4750-B1C7-9FF467343380}"/>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xmlns:a="http://schemas.openxmlformats.org/drawingml/2006/main">
              <a:ext uri="{FF2B5EF4-FFF2-40B4-BE49-F238E27FC236}">
                <a16:creationId xmlns:a16="http://schemas.microsoft.com/office/drawing/2014/main" id="{1FC6D3C9-53C5-436A-80F4-E4C130F4115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EFE16A-BBAE-434D-B4D4-F4BBF16D1597}"/>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4/13</a:t>
            </a:r>
          </a:p>
        </p:txBody>
      </p:sp>
      <p:sp>
        <p:nvSpPr>
          <p:cNvPr id="14" name="TextBox 13">
            <a:extLst xmlns:a="http://schemas.openxmlformats.org/drawingml/2006/main">
              <a:ext uri="{FF2B5EF4-FFF2-40B4-BE49-F238E27FC236}">
                <a16:creationId xmlns:a16="http://schemas.microsoft.com/office/drawing/2014/main" id="{AC6C476A-D8B0-4988-AB23-A9274BE7A62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xmlns:a="http://schemas.openxmlformats.org/drawingml/2006/main">
              <a:ext uri="{FF2B5EF4-FFF2-40B4-BE49-F238E27FC236}">
                <a16:creationId xmlns:a16="http://schemas.microsoft.com/office/drawing/2014/main" id="{864BD5C9-7313-4258-90C2-44621A549A53}"/>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nuclear-down enrichment</a:t>
            </a:r>
          </a:p>
        </p:txBody>
      </p:sp>
      <p:sp>
        <p:nvSpPr>
          <p:cNvPr id="16" name="Rounded Rectangle 15">
            <a:extLst xmlns:a="http://schemas.openxmlformats.org/drawingml/2006/main">
              <a:ext uri="{FF2B5EF4-FFF2-40B4-BE49-F238E27FC236}">
                <a16:creationId xmlns:a16="http://schemas.microsoft.com/office/drawing/2014/main" id="{20141D58-A058-4EE4-BC6F-0C603708A55B}"/>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9B384E-3324-406A-9BD4-5866F2601348}"/>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18" name="TextBox 17">
            <a:extLst xmlns:a="http://schemas.openxmlformats.org/drawingml/2006/main">
              <a:ext uri="{FF2B5EF4-FFF2-40B4-BE49-F238E27FC236}">
                <a16:creationId xmlns:a16="http://schemas.microsoft.com/office/drawing/2014/main" id="{D711E9C4-E615-4164-8E0E-C48683BB7C4A}"/>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xmlns:a="http://schemas.openxmlformats.org/drawingml/2006/main">
              <a:ext uri="{FF2B5EF4-FFF2-40B4-BE49-F238E27FC236}">
                <a16:creationId xmlns:a16="http://schemas.microsoft.com/office/drawing/2014/main" id="{18248536-6E97-4D19-897C-624A3F6312C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Six eligible calls showed significant nuclear-OXPHOS enrichment</a:t>
            </a:r>
          </a:p>
        </p:txBody>
      </p:sp>
      <p:sp>
        <p:nvSpPr>
          <p:cNvPr id="20" name="Rounded Rectangle 19">
            <a:extLst xmlns:a="http://schemas.openxmlformats.org/drawingml/2006/main">
              <a:ext uri="{FF2B5EF4-FFF2-40B4-BE49-F238E27FC236}">
                <a16:creationId xmlns:a16="http://schemas.microsoft.com/office/drawing/2014/main" id="{5E29091D-B675-49BE-A878-6A96D56F4DD7}"/>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7CA1F7-0F95-4126-9E08-408394415F6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22" name="TextBox 21">
            <a:extLst xmlns:a="http://schemas.openxmlformats.org/drawingml/2006/main">
              <a:ext uri="{FF2B5EF4-FFF2-40B4-BE49-F238E27FC236}">
                <a16:creationId xmlns:a16="http://schemas.microsoft.com/office/drawing/2014/main" id="{FAE57504-3744-40A4-B02C-4F8FF1267295}"/>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xmlns:a="http://schemas.openxmlformats.org/drawingml/2006/main">
              <a:ext uri="{FF2B5EF4-FFF2-40B4-BE49-F238E27FC236}">
                <a16:creationId xmlns:a16="http://schemas.microsoft.com/office/drawing/2014/main" id="{FC5B3EDE-C98C-45CA-AB93-D3059D42173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Ten calls showed significant enrichment, but direction was not uniform</a:t>
            </a:r>
          </a:p>
        </p:txBody>
      </p:sp>
      <p:sp>
        <p:nvSpPr>
          <p:cNvPr id="24" name="Rounded Rectangle 23">
            <a:extLst xmlns:a="http://schemas.openxmlformats.org/drawingml/2006/main">
              <a:ext uri="{FF2B5EF4-FFF2-40B4-BE49-F238E27FC236}">
                <a16:creationId xmlns:a16="http://schemas.microsoft.com/office/drawing/2014/main" id="{36BA72D2-3B9D-4CFD-9032-9F25BBDF911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4084EDC-C5DD-434C-8042-3C9AE2B5124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Primary localization</a:t>
            </a:r>
          </a:p>
        </p:txBody>
      </p:sp>
      <p:sp>
        <p:nvSpPr>
          <p:cNvPr id="26" name="TextBox 25">
            <a:extLst xmlns:a="http://schemas.openxmlformats.org/drawingml/2006/main">
              <a:ext uri="{FF2B5EF4-FFF2-40B4-BE49-F238E27FC236}">
                <a16:creationId xmlns:a16="http://schemas.microsoft.com/office/drawing/2014/main" id="{C77EC147-AB27-4522-80DF-24CAB245A813}"/>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Excitatory fine types</a:t>
            </a:r>
          </a:p>
        </p:txBody>
      </p:sp>
      <p:sp>
        <p:nvSpPr>
          <p:cNvPr id="27" name="TextBox 26">
            <a:extLst xmlns:a="http://schemas.openxmlformats.org/drawingml/2006/main">
              <a:ext uri="{FF2B5EF4-FFF2-40B4-BE49-F238E27FC236}">
                <a16:creationId xmlns:a16="http://schemas.microsoft.com/office/drawing/2014/main" id="{7EFA35EA-3110-4A6D-B50D-300EE9DE777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Four of 13 testable excitatory fine types enriched the nuclear-down program</a:t>
            </a:r>
          </a:p>
        </p:txBody>
      </p:sp>
      <p:sp>
        <p:nvSpPr>
          <p:cNvPr id="28" name="TextBox 27">
            <a:extLst xmlns:a="http://schemas.openxmlformats.org/drawingml/2006/main">
              <a:ext uri="{FF2B5EF4-FFF2-40B4-BE49-F238E27FC236}">
                <a16:creationId xmlns:a16="http://schemas.microsoft.com/office/drawing/2014/main" id="{B058C0B2-41E9-47FB-A657-74B1AF677DAC}"/>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352845644"/>
      </p:ext>
    </p:extLst>
  </p:cSld>
</p:sld>
</file>

<file path=ppt/slides/slide6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230396-C711-48F4-9F3F-E125CDE36E8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xmlns:a="http://schemas.openxmlformats.org/drawingml/2006/main">
              <a:ext uri="{FF2B5EF4-FFF2-40B4-BE49-F238E27FC236}">
                <a16:creationId xmlns:a16="http://schemas.microsoft.com/office/drawing/2014/main" id="{90C9A94E-CA5C-479F-A04F-576DC97C1DC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xmlns:a="http://schemas.openxmlformats.org/drawingml/2006/main">
              <a:ext uri="{FF2B5EF4-FFF2-40B4-BE49-F238E27FC236}">
                <a16:creationId xmlns:a16="http://schemas.microsoft.com/office/drawing/2014/main" id="{F5165143-019E-4190-A879-4C33055182B6}"/>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5FB12EF-F685-41F0-B76D-A60DE55D51F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xmlns:a="http://schemas.openxmlformats.org/drawingml/2006/main">
              <a:ext uri="{FF2B5EF4-FFF2-40B4-BE49-F238E27FC236}">
                <a16:creationId xmlns:a16="http://schemas.microsoft.com/office/drawing/2014/main" id="{FA677EEF-E3B8-454B-9005-52648E8CD2D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xmlns:a="http://schemas.openxmlformats.org/drawingml/2006/main">
              <a:ext uri="{FF2B5EF4-FFF2-40B4-BE49-F238E27FC236}">
                <a16:creationId xmlns:a16="http://schemas.microsoft.com/office/drawing/2014/main" id="{A9ADC9DF-DE25-4165-9BCE-7FDD7797B58D}"/>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Excitatory nuclear OXPHOS NES was +0.70 with local BH 0.991.</a:t>
            </a:r>
          </a:p>
        </p:txBody>
      </p:sp>
      <p:sp>
        <p:nvSpPr>
          <p:cNvPr id="8" name="Rounded Rectangle 7">
            <a:extLst xmlns:a="http://schemas.openxmlformats.org/drawingml/2006/main">
              <a:ext uri="{FF2B5EF4-FFF2-40B4-BE49-F238E27FC236}">
                <a16:creationId xmlns:a16="http://schemas.microsoft.com/office/drawing/2014/main" id="{889EF010-CCDC-4C5D-8BAC-6BD282885F6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B111569-40F8-417C-BE49-30200131459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xmlns:a="http://schemas.openxmlformats.org/drawingml/2006/main">
              <a:ext uri="{FF2B5EF4-FFF2-40B4-BE49-F238E27FC236}">
                <a16:creationId xmlns:a16="http://schemas.microsoft.com/office/drawing/2014/main" id="{C5392091-01E3-4C10-9025-5BFF104E2A5E}"/>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xmlns:a="http://schemas.openxmlformats.org/drawingml/2006/main">
              <a:ext uri="{FF2B5EF4-FFF2-40B4-BE49-F238E27FC236}">
                <a16:creationId xmlns:a16="http://schemas.microsoft.com/office/drawing/2014/main" id="{F8AF9F05-3A6A-431E-902C-6B7B0F1A859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Excitatory nuclear OXPHOS NES was +2.01 with local BH 5.62 × 10⁻⁵.</a:t>
            </a:r>
          </a:p>
        </p:txBody>
      </p:sp>
      <p:sp>
        <p:nvSpPr>
          <p:cNvPr id="12" name="Rounded Rectangle 11">
            <a:extLst xmlns:a="http://schemas.openxmlformats.org/drawingml/2006/main">
              <a:ext uri="{FF2B5EF4-FFF2-40B4-BE49-F238E27FC236}">
                <a16:creationId xmlns:a16="http://schemas.microsoft.com/office/drawing/2014/main" id="{21869939-BD43-4C0D-A433-E130C70A870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CCFB44D-1E4B-485C-ACAF-A84BFF5D40C1}"/>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xmlns:a="http://schemas.openxmlformats.org/drawingml/2006/main">
              <a:ext uri="{FF2B5EF4-FFF2-40B4-BE49-F238E27FC236}">
                <a16:creationId xmlns:a16="http://schemas.microsoft.com/office/drawing/2014/main" id="{8572C540-E22E-4F44-9781-55EC90D5766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xmlns:a="http://schemas.openxmlformats.org/drawingml/2006/main">
              <a:ext uri="{FF2B5EF4-FFF2-40B4-BE49-F238E27FC236}">
                <a16:creationId xmlns:a16="http://schemas.microsoft.com/office/drawing/2014/main" id="{10895380-1863-406D-9702-C421FF0FD9ED}"/>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xmlns:a="http://schemas.openxmlformats.org/drawingml/2006/main">
              <a:ext uri="{FF2B5EF4-FFF2-40B4-BE49-F238E27FC236}">
                <a16:creationId xmlns:a16="http://schemas.microsoft.com/office/drawing/2014/main" id="{A98D7891-F31E-4753-96F8-2CFBC221DFB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C6F6C08-F66F-45E6-81F4-3E8EE9F6334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
        <p:nvSpPr>
          <p:cNvPr id="18" name="TextBox 17">
            <a:extLst xmlns:a="http://schemas.openxmlformats.org/drawingml/2006/main">
              <a:ext uri="{FF2B5EF4-FFF2-40B4-BE49-F238E27FC236}">
                <a16:creationId xmlns:a16="http://schemas.microsoft.com/office/drawing/2014/main" id="{B5785CCB-AF7F-40C0-99E9-5AC54E8BD2D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842948434"/>
      </p:ext>
    </p:extLst>
  </p:cSld>
</p:sld>
</file>

<file path=ppt/slides/slide6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8284EB6-DC66-4084-8B6F-64336FD34BA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instructions come from nuclear DNA</a:t>
            </a:r>
          </a:p>
        </p:txBody>
      </p:sp>
      <p:sp>
        <p:nvSpPr>
          <p:cNvPr id="3" name="TextBox 2">
            <a:extLst xmlns:a="http://schemas.openxmlformats.org/drawingml/2006/main">
              <a:ext uri="{FF2B5EF4-FFF2-40B4-BE49-F238E27FC236}">
                <a16:creationId xmlns:a16="http://schemas.microsoft.com/office/drawing/2014/main" id="{C466DD47-872F-4C62-8377-A4EF3A49870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xmlns:a="http://schemas.openxmlformats.org/drawingml/2006/main">
              <a:ext uri="{FF2B5EF4-FFF2-40B4-BE49-F238E27FC236}">
                <a16:creationId xmlns:a16="http://schemas.microsoft.com/office/drawing/2014/main" id="{E3B1B35F-17E4-4DE0-AFDA-4B3ED47BAFA9}"/>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B4DC046-8AA5-4E91-887D-A98906E84090}"/>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xmlns:a="http://schemas.openxmlformats.org/drawingml/2006/main">
              <a:ext uri="{FF2B5EF4-FFF2-40B4-BE49-F238E27FC236}">
                <a16:creationId xmlns:a16="http://schemas.microsoft.com/office/drawing/2014/main" id="{874D440F-894C-4273-9AB2-B5D3074AAAE7}"/>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xmlns:a="http://schemas.openxmlformats.org/drawingml/2006/main">
              <a:ext uri="{FF2B5EF4-FFF2-40B4-BE49-F238E27FC236}">
                <a16:creationId xmlns:a16="http://schemas.microsoft.com/office/drawing/2014/main" id="{23E9BE30-1213-49F7-B09C-1418F354AE16}"/>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broad RNA decrease could affect the supply of respiratory-complex parts.</a:t>
            </a:r>
          </a:p>
        </p:txBody>
      </p:sp>
      <p:sp>
        <p:nvSpPr>
          <p:cNvPr id="8" name="Rounded Rectangle 7">
            <a:extLst xmlns:a="http://schemas.openxmlformats.org/drawingml/2006/main">
              <a:ext uri="{FF2B5EF4-FFF2-40B4-BE49-F238E27FC236}">
                <a16:creationId xmlns:a16="http://schemas.microsoft.com/office/drawing/2014/main" id="{04293C45-DC1A-40F9-8632-91036F829E49}"/>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E261050-2EAF-4BA5-AF33-03400EE963A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xmlns:a="http://schemas.openxmlformats.org/drawingml/2006/main">
              <a:ext uri="{FF2B5EF4-FFF2-40B4-BE49-F238E27FC236}">
                <a16:creationId xmlns:a16="http://schemas.microsoft.com/office/drawing/2014/main" id="{09FC0182-46A2-4020-8435-213138674BC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xmlns:a="http://schemas.openxmlformats.org/drawingml/2006/main">
              <a:ext uri="{FF2B5EF4-FFF2-40B4-BE49-F238E27FC236}">
                <a16:creationId xmlns:a16="http://schemas.microsoft.com/office/drawing/2014/main" id="{12D72163-D70F-4797-96D1-5442314CE3D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xmlns:a="http://schemas.openxmlformats.org/drawingml/2006/main">
              <a:ext uri="{FF2B5EF4-FFF2-40B4-BE49-F238E27FC236}">
                <a16:creationId xmlns:a16="http://schemas.microsoft.com/office/drawing/2014/main" id="{A71F567C-33CB-4608-886E-DCC40B898C0C}"/>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F20F9C6-2CBB-4777-8A74-FE8BA83A8D8A}"/>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xmlns:a="http://schemas.openxmlformats.org/drawingml/2006/main">
              <a:ext uri="{FF2B5EF4-FFF2-40B4-BE49-F238E27FC236}">
                <a16:creationId xmlns:a16="http://schemas.microsoft.com/office/drawing/2014/main" id="{7B508054-B88B-448D-9F25-D5D8DA0F08B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xmlns:a="http://schemas.openxmlformats.org/drawingml/2006/main">
              <a:ext uri="{FF2B5EF4-FFF2-40B4-BE49-F238E27FC236}">
                <a16:creationId xmlns:a16="http://schemas.microsoft.com/office/drawing/2014/main" id="{A7FF3F70-622D-4082-8EEA-32B4CF420D07}"/>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xmlns:a="http://schemas.openxmlformats.org/drawingml/2006/main">
              <a:ext uri="{FF2B5EF4-FFF2-40B4-BE49-F238E27FC236}">
                <a16:creationId xmlns:a16="http://schemas.microsoft.com/office/drawing/2014/main" id="{8C891208-1195-4DBE-B866-2D4F14AC8FF4}"/>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40AEFF-653E-4E88-BB8D-F975F5126A7F}"/>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CE915A7F-791C-41A5-A90B-0BC6B338FEF4}"/>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
        <p:nvSpPr>
          <p:cNvPr id="19" name="TextBox 18">
            <a:extLst xmlns:a="http://schemas.openxmlformats.org/drawingml/2006/main">
              <a:ext uri="{FF2B5EF4-FFF2-40B4-BE49-F238E27FC236}">
                <a16:creationId xmlns:a16="http://schemas.microsoft.com/office/drawing/2014/main" id="{0279031F-23C7-4529-BA45-8485067CB21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14857928"/>
      </p:ext>
    </p:extLst>
  </p:cSld>
</p:sld>
</file>

<file path=ppt/slides/slide7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6823FC-2A1C-4B34-B637-3CA89486647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4 does not prove, and the next evidence needed</a:t>
            </a:r>
          </a:p>
        </p:txBody>
      </p:sp>
      <p:sp>
        <p:nvSpPr>
          <p:cNvPr id="3" name="TextBox 2">
            <a:extLst xmlns:a="http://schemas.openxmlformats.org/drawingml/2006/main">
              <a:ext uri="{FF2B5EF4-FFF2-40B4-BE49-F238E27FC236}">
                <a16:creationId xmlns:a16="http://schemas.microsoft.com/office/drawing/2014/main" id="{416070F9-7630-4FC7-9721-D7AC838969B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E7C81AF3-0BF3-47C5-86AB-99E8D45F2C46}"/>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8000589-94A0-4BBD-B0BB-97BA6695299F}"/>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2651A58-9500-44C7-BB29-5B5DA526AC03}"/>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B29F2E91-F7A6-4C93-8595-D3FC62C2B0F7}"/>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0A57F30-9CCB-4FD1-941B-BA2297C6A0B7}"/>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Reduced respiration, ATP, or respiratory-complex abundance</a:t>
            </a:r>
          </a:p>
        </p:txBody>
      </p:sp>
      <p:sp>
        <p:nvSpPr>
          <p:cNvPr id="9" name="Oval 8">
            <a:extLst xmlns:a="http://schemas.openxmlformats.org/drawingml/2006/main">
              <a:ext uri="{FF2B5EF4-FFF2-40B4-BE49-F238E27FC236}">
                <a16:creationId xmlns:a16="http://schemas.microsoft.com/office/drawing/2014/main" id="{0E8C8D2D-A55D-43C2-AC79-671FD2E2B27C}"/>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43049DFD-3864-4C68-A9DD-0831D5BF7DFE}"/>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 by ε4 causal interaction</a:t>
            </a:r>
          </a:p>
        </p:txBody>
      </p:sp>
      <p:sp>
        <p:nvSpPr>
          <p:cNvPr id="11" name="Oval 10">
            <a:extLst xmlns:a="http://schemas.openxmlformats.org/drawingml/2006/main">
              <a:ext uri="{FF2B5EF4-FFF2-40B4-BE49-F238E27FC236}">
                <a16:creationId xmlns:a16="http://schemas.microsoft.com/office/drawing/2014/main" id="{AA3EDFA5-591C-4259-80C5-0D786C72C25C}"/>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3E0EA0D-B2A0-40BB-9FD1-4B553E8D5B08}"/>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uniform decrease across all mitochondrial genes</a:t>
            </a:r>
          </a:p>
        </p:txBody>
      </p:sp>
      <p:sp>
        <p:nvSpPr>
          <p:cNvPr id="13" name="Rounded Rectangle 12">
            <a:extLst xmlns:a="http://schemas.openxmlformats.org/drawingml/2006/main">
              <a:ext uri="{FF2B5EF4-FFF2-40B4-BE49-F238E27FC236}">
                <a16:creationId xmlns:a16="http://schemas.microsoft.com/office/drawing/2014/main" id="{BB2DE5DF-0997-4572-9145-E2D4623D4459}"/>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F3B450FF-905F-4D82-8F6B-AAEF36FBEB1D}"/>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EAAA677-84B0-492A-9C88-2629897CF53C}"/>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CAB41422-A94A-4F57-A7C6-B1A30A616E86}"/>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5D4EC82-F4F5-4D56-97E6-D833739B9911}"/>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Show every contributing broad and fine cell type</a:t>
            </a:r>
          </a:p>
        </p:txBody>
      </p:sp>
      <p:sp>
        <p:nvSpPr>
          <p:cNvPr id="18" name="Oval 17">
            <a:extLst xmlns:a="http://schemas.openxmlformats.org/drawingml/2006/main">
              <a:ext uri="{FF2B5EF4-FFF2-40B4-BE49-F238E27FC236}">
                <a16:creationId xmlns:a16="http://schemas.microsoft.com/office/drawing/2014/main" id="{7406DF8C-513B-449E-9C98-03517828E607}"/>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13D49E9-628D-4287-8C11-4351373FD27A}"/>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Fit donor-level disease by sex by ε4 interactions</a:t>
            </a:r>
          </a:p>
        </p:txBody>
      </p:sp>
      <p:sp>
        <p:nvSpPr>
          <p:cNvPr id="20" name="Oval 19">
            <a:extLst xmlns:a="http://schemas.openxmlformats.org/drawingml/2006/main">
              <a:ext uri="{FF2B5EF4-FFF2-40B4-BE49-F238E27FC236}">
                <a16:creationId xmlns:a16="http://schemas.microsoft.com/office/drawing/2014/main" id="{8EC3D292-D163-4C9A-B5A2-8D4EB2F6AAF9}"/>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9A7809D-027F-45D6-B784-7E73CA90CC0B}"/>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respiratory-complex proteins and function</a:t>
            </a:r>
          </a:p>
        </p:txBody>
      </p:sp>
      <p:sp>
        <p:nvSpPr>
          <p:cNvPr id="22" name="TextBox 21">
            <a:extLst xmlns:a="http://schemas.openxmlformats.org/drawingml/2006/main">
              <a:ext uri="{FF2B5EF4-FFF2-40B4-BE49-F238E27FC236}">
                <a16:creationId xmlns:a16="http://schemas.microsoft.com/office/drawing/2014/main" id="{A7A63688-1928-4DC4-B417-35037F029C7F}"/>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5DA10E22-915B-42C1-B33E-3A8093BA20BC}"/>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994551427"/>
      </p:ext>
    </p:extLst>
  </p:cSld>
</p:sld>
</file>

<file path=ppt/slides/slide7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8C40590-71AC-4C4D-A67D-0830EDF1B98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xmlns:a="http://schemas.openxmlformats.org/drawingml/2006/main">
              <a:ext uri="{FF2B5EF4-FFF2-40B4-BE49-F238E27FC236}">
                <a16:creationId xmlns:a16="http://schemas.microsoft.com/office/drawing/2014/main" id="{8B4123C0-53E7-4530-B8FD-83F2DC61A6A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CEFC189B-338C-4FB8-A899-371B4554D071}"/>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3FDB348-D11A-4E1D-B039-68758C28185B}"/>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xmlns:a="http://schemas.openxmlformats.org/drawingml/2006/main">
              <a:ext uri="{FF2B5EF4-FFF2-40B4-BE49-F238E27FC236}">
                <a16:creationId xmlns:a16="http://schemas.microsoft.com/office/drawing/2014/main" id="{0D4984E5-FAE7-40C9-AE61-3D566A1E0915}"/>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xmlns:a="http://schemas.openxmlformats.org/drawingml/2006/main">
              <a:ext uri="{FF2B5EF4-FFF2-40B4-BE49-F238E27FC236}">
                <a16:creationId xmlns:a16="http://schemas.microsoft.com/office/drawing/2014/main" id="{D4FD2E75-1220-441B-926F-DEF7213E5B59}"/>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51666C0A-FAEC-4586-9035-29FCF9C2837C}"/>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xmlns:a="http://schemas.openxmlformats.org/drawingml/2006/main">
              <a:ext uri="{FF2B5EF4-FFF2-40B4-BE49-F238E27FC236}">
                <a16:creationId xmlns:a16="http://schemas.microsoft.com/office/drawing/2014/main" id="{C20664A6-60FE-4657-B500-B5BF43697864}"/>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F9254D0C-D77D-4368-8BB2-4B694D4B1E53}"/>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reproduce the nuclear-OXPHOS transcript pattern.</a:t>
            </a:r>
          </a:p>
        </p:txBody>
      </p:sp>
      <p:sp>
        <p:nvSpPr>
          <p:cNvPr id="11" name="Rounded Rectangle 10">
            <a:extLst xmlns:a="http://schemas.openxmlformats.org/drawingml/2006/main">
              <a:ext uri="{FF2B5EF4-FFF2-40B4-BE49-F238E27FC236}">
                <a16:creationId xmlns:a16="http://schemas.microsoft.com/office/drawing/2014/main" id="{FABCE98F-F22F-4B91-91E2-3E4F790D1F85}"/>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D38BFD6-1BE9-451D-8A76-029AD290F947}"/>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8033BCD3-113D-4007-BB72-3BDF025C0DF2}"/>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xmlns:a="http://schemas.openxmlformats.org/drawingml/2006/main">
              <a:ext uri="{FF2B5EF4-FFF2-40B4-BE49-F238E27FC236}">
                <a16:creationId xmlns:a16="http://schemas.microsoft.com/office/drawing/2014/main" id="{12949E16-F32A-477E-9432-0BF74E8C5FFF}"/>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50FC22AC-8BBA-448A-BFCA-77D9E8A039B8}"/>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xmlns:a="http://schemas.openxmlformats.org/drawingml/2006/main">
              <a:ext uri="{FF2B5EF4-FFF2-40B4-BE49-F238E27FC236}">
                <a16:creationId xmlns:a16="http://schemas.microsoft.com/office/drawing/2014/main" id="{63C44BE8-4AF6-40C1-A9AD-C10AC164F936}"/>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B54E93C2-E812-4EE6-8301-A43E5841C1F2}"/>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xmlns:a="http://schemas.openxmlformats.org/drawingml/2006/main">
              <a:ext uri="{FF2B5EF4-FFF2-40B4-BE49-F238E27FC236}">
                <a16:creationId xmlns:a16="http://schemas.microsoft.com/office/drawing/2014/main" id="{92589BE4-7F80-4DA2-911C-363BA86ADA58}"/>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C661FB0-5058-43DE-B243-D0EF9CF4EF16}"/>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362A90CB-A637-445E-8B51-2350713A7075}"/>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xmlns:a="http://schemas.openxmlformats.org/drawingml/2006/main">
              <a:ext uri="{FF2B5EF4-FFF2-40B4-BE49-F238E27FC236}">
                <a16:creationId xmlns:a16="http://schemas.microsoft.com/office/drawing/2014/main" id="{597F2BA8-2007-4A85-8BC9-506143C0F9A4}"/>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CB6986F3-CF18-475A-94F9-C9A8F952B1EE}"/>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xmlns:a="http://schemas.openxmlformats.org/drawingml/2006/main">
              <a:ext uri="{FF2B5EF4-FFF2-40B4-BE49-F238E27FC236}">
                <a16:creationId xmlns:a16="http://schemas.microsoft.com/office/drawing/2014/main" id="{7F919ED5-2F8B-4B99-8353-035EAC9329C6}"/>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37C881AE-9707-4DF5-B032-CB8AD6F94FF0}"/>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xmlns:a="http://schemas.openxmlformats.org/drawingml/2006/main">
              <a:ext uri="{FF2B5EF4-FFF2-40B4-BE49-F238E27FC236}">
                <a16:creationId xmlns:a16="http://schemas.microsoft.com/office/drawing/2014/main" id="{D22B9BBF-BCFD-4539-B9CA-7DDE989A13D7}"/>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BD11175-1C40-4C76-8D0F-A629CB558629}"/>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DDFB25C7-8506-447F-9433-F4FF1B7A4F0B}"/>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687861937"/>
      </p:ext>
    </p:extLst>
  </p:cSld>
</p:sld>
</file>

<file path=ppt/slides/slide7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F2E26F-2CDF-4E65-8BA1-34F46AD706D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xmlns:a="http://schemas.openxmlformats.org/drawingml/2006/main">
              <a:ext uri="{FF2B5EF4-FFF2-40B4-BE49-F238E27FC236}">
                <a16:creationId xmlns:a16="http://schemas.microsoft.com/office/drawing/2014/main" id="{679FEE76-9C69-4E79-9D0E-33754FA43E2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141759-D659-44D6-8951-9C9972B5510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genomes</a:t>
            </a:r>
          </a:p>
        </p:txBody>
      </p:sp>
      <p:sp>
        <p:nvSpPr>
          <p:cNvPr id="5" name="TextBox 4">
            <a:extLst xmlns:a="http://schemas.openxmlformats.org/drawingml/2006/main">
              <a:ext uri="{FF2B5EF4-FFF2-40B4-BE49-F238E27FC236}">
                <a16:creationId xmlns:a16="http://schemas.microsoft.com/office/drawing/2014/main" id="{444133BC-3F24-48B3-8674-96DDA42DC30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xmlns:a="http://schemas.openxmlformats.org/drawingml/2006/main">
              <a:ext uri="{FF2B5EF4-FFF2-40B4-BE49-F238E27FC236}">
                <a16:creationId xmlns:a16="http://schemas.microsoft.com/office/drawing/2014/main" id="{7D622FD7-0151-4AF9-A487-7DE206047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58018-9D15-438B-8510-E212F9931423}"/>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32E41CE8-CDFA-44D4-A17F-1D85D2DF329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F14DF69-6E24-4830-A88A-57EB39EAA40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88A9BC0-42FC-41E9-8C8D-8862108F070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86A3D6A-050D-454B-A2A4-F432AE04DA3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1E439F-F7F3-4C2D-9AED-A1B048E90A44}"/>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2023D3E-15BB-4049-A8AD-079F974409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B5C00B5F-F220-4649-BE0A-E55B74FD74D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486C808-47D2-42CB-AACF-203A868DF3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CEEC43C-DBFF-4642-9E0A-F21A82A46B5C}"/>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8A202477-1FEE-4A36-810D-A2539DCF225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363E3D9-9544-4D85-BFEB-2823E795F07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10748D0A-7A11-478D-861B-3D0939C13BAA}"/>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84BAA67-2B8F-485F-9374-B6D5A8BAC42F}"/>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09FD795-F30A-4125-BD47-A454AEFBD2C8}"/>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mtDNA and nuclear OXPHOS RNA are broadly lower, but query size strongly affects KDA yield.</a:t>
            </a:r>
          </a:p>
        </p:txBody>
      </p:sp>
    </p:spTree>
    <p:extLst>
      <p:ext uri="{BB962C8B-B14F-4D97-AF65-F5344CB8AC3E}">
        <p14:creationId xmlns:p14="http://schemas.microsoft.com/office/powerpoint/2010/main" val="683266284"/>
      </p:ext>
    </p:extLst>
  </p:cSld>
</p:sld>
</file>

<file path=ppt/slides/slide7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C286BED-F564-486A-BCC8-11405F5499E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cells lower both mitochondrial and nuclear OXPHOS RNA in AD</a:t>
            </a:r>
          </a:p>
        </p:txBody>
      </p:sp>
      <p:sp>
        <p:nvSpPr>
          <p:cNvPr id="3" name="TextBox 2">
            <a:extLst xmlns:a="http://schemas.openxmlformats.org/drawingml/2006/main">
              <a:ext uri="{FF2B5EF4-FFF2-40B4-BE49-F238E27FC236}">
                <a16:creationId xmlns:a16="http://schemas.microsoft.com/office/drawing/2014/main" id="{3D2C08D8-D9F5-4F06-B850-B7758BAABFF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xmlns:a="http://schemas.openxmlformats.org/drawingml/2006/main">
              <a:ext uri="{FF2B5EF4-FFF2-40B4-BE49-F238E27FC236}">
                <a16:creationId xmlns:a16="http://schemas.microsoft.com/office/drawing/2014/main" id="{AF633511-2899-4B97-9AB6-D15EDC6E6558}"/>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44AC28-46AD-4350-B6AE-F9533B31B94F}"/>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E0A46577-F0BD-402F-8EC0-3EA55F4145E5}"/>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9CC54C5A-2B30-48CC-AA93-BD5183BD696A}"/>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xmlns:a="http://schemas.openxmlformats.org/drawingml/2006/main">
              <a:ext uri="{FF2B5EF4-FFF2-40B4-BE49-F238E27FC236}">
                <a16:creationId xmlns:a16="http://schemas.microsoft.com/office/drawing/2014/main" id="{50151338-65D5-4E79-A86F-F25D1C48D69A}"/>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C526B50-273F-448E-82DE-6DA8ECEE9FC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xmlns:a="http://schemas.openxmlformats.org/drawingml/2006/main">
              <a:ext uri="{FF2B5EF4-FFF2-40B4-BE49-F238E27FC236}">
                <a16:creationId xmlns:a16="http://schemas.microsoft.com/office/drawing/2014/main" id="{0B34286A-226C-482A-A665-5A8CD6EC5CFC}"/>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90E08D2-330A-472E-8033-832F01D56BAE}"/>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xmlns:a="http://schemas.openxmlformats.org/drawingml/2006/main">
              <a:ext uri="{FF2B5EF4-FFF2-40B4-BE49-F238E27FC236}">
                <a16:creationId xmlns:a16="http://schemas.microsoft.com/office/drawing/2014/main" id="{54262262-A93C-4CDF-AB68-A8E1F318B890}"/>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73E70AAA-A0B8-4007-BA8D-B263820634C8}"/>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MTDNA OXPHOS</a:t>
            </a:r>
          </a:p>
        </p:txBody>
      </p:sp>
      <p:sp>
        <p:nvSpPr>
          <p:cNvPr id="14" name="TextBox 13">
            <a:extLst xmlns:a="http://schemas.openxmlformats.org/drawingml/2006/main">
              <a:ext uri="{FF2B5EF4-FFF2-40B4-BE49-F238E27FC236}">
                <a16:creationId xmlns:a16="http://schemas.microsoft.com/office/drawing/2014/main" id="{8076B748-9DA2-4800-A2FF-5A4ED6F02FBF}"/>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xmlns:a="http://schemas.openxmlformats.org/drawingml/2006/main">
              <a:ext uri="{FF2B5EF4-FFF2-40B4-BE49-F238E27FC236}">
                <a16:creationId xmlns:a16="http://schemas.microsoft.com/office/drawing/2014/main" id="{38BFA3FB-E15C-416C-9B94-C74F2F0ADFCD}"/>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About 90% of mitochondrial-genome OXPHOS occurrences were lower in AD.</a:t>
            </a:r>
          </a:p>
        </p:txBody>
      </p:sp>
      <p:sp>
        <p:nvSpPr>
          <p:cNvPr id="16" name="Rounded Rectangle 15">
            <a:extLst xmlns:a="http://schemas.openxmlformats.org/drawingml/2006/main">
              <a:ext uri="{FF2B5EF4-FFF2-40B4-BE49-F238E27FC236}">
                <a16:creationId xmlns:a16="http://schemas.microsoft.com/office/drawing/2014/main" id="{27F1F4AA-18FD-4180-9D37-EEB5D5304B45}"/>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94082EB-264B-4B5A-8297-C444A4D08140}"/>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 OXPHOS</a:t>
            </a:r>
          </a:p>
        </p:txBody>
      </p:sp>
      <p:sp>
        <p:nvSpPr>
          <p:cNvPr id="18" name="TextBox 17">
            <a:extLst xmlns:a="http://schemas.openxmlformats.org/drawingml/2006/main">
              <a:ext uri="{FF2B5EF4-FFF2-40B4-BE49-F238E27FC236}">
                <a16:creationId xmlns:a16="http://schemas.microsoft.com/office/drawing/2014/main" id="{118FE9BB-5E81-4FCC-B356-42F37286EB45}"/>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xmlns:a="http://schemas.openxmlformats.org/drawingml/2006/main">
              <a:ext uri="{FF2B5EF4-FFF2-40B4-BE49-F238E27FC236}">
                <a16:creationId xmlns:a16="http://schemas.microsoft.com/office/drawing/2014/main" id="{294A6B3A-48A7-41A4-9C9F-DD509BA8951E}"/>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About 87% of nuclear structural OXPHOS occurrences were lower in AD.</a:t>
            </a:r>
          </a:p>
        </p:txBody>
      </p:sp>
      <p:sp>
        <p:nvSpPr>
          <p:cNvPr id="20" name="Rounded Rectangle 19">
            <a:extLst xmlns:a="http://schemas.openxmlformats.org/drawingml/2006/main">
              <a:ext uri="{FF2B5EF4-FFF2-40B4-BE49-F238E27FC236}">
                <a16:creationId xmlns:a16="http://schemas.microsoft.com/office/drawing/2014/main" id="{58AA7E7F-69E0-4505-8E3C-62A2BB94F23D}"/>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5ADE7F7-B4AE-44FC-847A-765D98C65B77}"/>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xmlns:a="http://schemas.openxmlformats.org/drawingml/2006/main">
              <a:ext uri="{FF2B5EF4-FFF2-40B4-BE49-F238E27FC236}">
                <a16:creationId xmlns:a16="http://schemas.microsoft.com/office/drawing/2014/main" id="{E6CD5148-E748-4F6A-B1D0-98451BF00C57}"/>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xmlns:a="http://schemas.openxmlformats.org/drawingml/2006/main">
              <a:ext uri="{FF2B5EF4-FFF2-40B4-BE49-F238E27FC236}">
                <a16:creationId xmlns:a16="http://schemas.microsoft.com/office/drawing/2014/main" id="{414D44C9-D8CE-4D80-B982-C37B9274C8CE}"/>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Both genomes move downward, unlike a mitonuclear mismatch.</a:t>
            </a:r>
          </a:p>
        </p:txBody>
      </p:sp>
      <p:sp>
        <p:nvSpPr>
          <p:cNvPr id="24" name="Rounded Rectangle 23">
            <a:extLst xmlns:a="http://schemas.openxmlformats.org/drawingml/2006/main">
              <a:ext uri="{FF2B5EF4-FFF2-40B4-BE49-F238E27FC236}">
                <a16:creationId xmlns:a16="http://schemas.microsoft.com/office/drawing/2014/main" id="{35B557CF-AC23-44D3-8493-322B013D4621}"/>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DA97776B-399C-4369-BD4F-5FAE65064E55}"/>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an unfavorable-looking RNA pattern.</a:t>
            </a:r>
          </a:p>
        </p:txBody>
      </p:sp>
      <p:sp>
        <p:nvSpPr>
          <p:cNvPr id="26" name="TextBox 25">
            <a:extLst xmlns:a="http://schemas.openxmlformats.org/drawingml/2006/main">
              <a:ext uri="{FF2B5EF4-FFF2-40B4-BE49-F238E27FC236}">
                <a16:creationId xmlns:a16="http://schemas.microsoft.com/office/drawing/2014/main" id="{34CA73A5-AC52-41FB-BDBD-3BFBE93E307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453965622"/>
      </p:ext>
    </p:extLst>
  </p:cSld>
</p:sld>
</file>

<file path=ppt/slides/slide7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BD277D-7431-4A7A-A1C7-72AF1F26B21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xmlns:a="http://schemas.openxmlformats.org/drawingml/2006/main">
              <a:ext uri="{FF2B5EF4-FFF2-40B4-BE49-F238E27FC236}">
                <a16:creationId xmlns:a16="http://schemas.microsoft.com/office/drawing/2014/main" id="{90923344-F35D-4EFF-A0E6-1084F7A5BE5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Fine-cell pathway results and direct broad-cell sensitivity point mainly downward.</a:t>
            </a:r>
          </a:p>
        </p:txBody>
      </p:sp>
      <p:sp>
        <p:nvSpPr>
          <p:cNvPr id="4" name="Rounded Rectangle 3">
            <a:extLst xmlns:a="http://schemas.openxmlformats.org/drawingml/2006/main">
              <a:ext uri="{FF2B5EF4-FFF2-40B4-BE49-F238E27FC236}">
                <a16:creationId xmlns:a16="http://schemas.microsoft.com/office/drawing/2014/main" id="{815A4D51-038B-4DB5-BB9D-C51DE16B673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624508B-2051-4B1C-8CFD-BB759936A4B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xmlns:a="http://schemas.openxmlformats.org/drawingml/2006/main">
              <a:ext uri="{FF2B5EF4-FFF2-40B4-BE49-F238E27FC236}">
                <a16:creationId xmlns:a16="http://schemas.microsoft.com/office/drawing/2014/main" id="{8CF85EEA-A167-43C8-AFCD-1D6C6354386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xmlns:a="http://schemas.openxmlformats.org/drawingml/2006/main">
              <a:ext uri="{FF2B5EF4-FFF2-40B4-BE49-F238E27FC236}">
                <a16:creationId xmlns:a16="http://schemas.microsoft.com/office/drawing/2014/main" id="{E9B93EE7-DD66-498F-A3CB-2420119AF29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xmlns:a="http://schemas.openxmlformats.org/drawingml/2006/main">
              <a:ext uri="{FF2B5EF4-FFF2-40B4-BE49-F238E27FC236}">
                <a16:creationId xmlns:a16="http://schemas.microsoft.com/office/drawing/2014/main" id="{67A0F397-F140-4D64-B92B-A6E3A29C0C8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FD5BF0-813B-49E9-A0B0-0F89CDDD3B97}"/>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xmlns:a="http://schemas.openxmlformats.org/drawingml/2006/main">
              <a:ext uri="{FF2B5EF4-FFF2-40B4-BE49-F238E27FC236}">
                <a16:creationId xmlns:a16="http://schemas.microsoft.com/office/drawing/2014/main" id="{ED6BE81B-2B7A-40DB-904F-8CC485792EC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xmlns:a="http://schemas.openxmlformats.org/drawingml/2006/main">
              <a:ext uri="{FF2B5EF4-FFF2-40B4-BE49-F238E27FC236}">
                <a16:creationId xmlns:a16="http://schemas.microsoft.com/office/drawing/2014/main" id="{3D970A38-BB5D-47A0-B7C7-04DD293709E6}"/>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xmlns:a="http://schemas.openxmlformats.org/drawingml/2006/main">
              <a:ext uri="{FF2B5EF4-FFF2-40B4-BE49-F238E27FC236}">
                <a16:creationId xmlns:a16="http://schemas.microsoft.com/office/drawing/2014/main" id="{6496313E-1382-41C2-BA3E-34797C7311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73DE1FB-C935-4CE6-AEFC-33DD5D47F466}"/>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29</a:t>
            </a:r>
          </a:p>
        </p:txBody>
      </p:sp>
      <p:sp>
        <p:nvSpPr>
          <p:cNvPr id="14" name="TextBox 13">
            <a:extLst xmlns:a="http://schemas.openxmlformats.org/drawingml/2006/main">
              <a:ext uri="{FF2B5EF4-FFF2-40B4-BE49-F238E27FC236}">
                <a16:creationId xmlns:a16="http://schemas.microsoft.com/office/drawing/2014/main" id="{CF18A02B-0A7A-418F-A578-702C906E2E9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fine-cell enrichments</a:t>
            </a:r>
          </a:p>
        </p:txBody>
      </p:sp>
      <p:sp>
        <p:nvSpPr>
          <p:cNvPr id="15" name="TextBox 14">
            <a:extLst xmlns:a="http://schemas.openxmlformats.org/drawingml/2006/main">
              <a:ext uri="{FF2B5EF4-FFF2-40B4-BE49-F238E27FC236}">
                <a16:creationId xmlns:a16="http://schemas.microsoft.com/office/drawing/2014/main" id="{768B58E6-3DE9-4A64-ADE5-DAE50470903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12 mtDNA, 17 nuclear</a:t>
            </a:r>
          </a:p>
        </p:txBody>
      </p:sp>
      <p:sp>
        <p:nvSpPr>
          <p:cNvPr id="16" name="Rounded Rectangle 15">
            <a:extLst xmlns:a="http://schemas.openxmlformats.org/drawingml/2006/main">
              <a:ext uri="{FF2B5EF4-FFF2-40B4-BE49-F238E27FC236}">
                <a16:creationId xmlns:a16="http://schemas.microsoft.com/office/drawing/2014/main" id="{E5A95870-C1EA-4EB8-9CF4-5203996357A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4573671-11D6-4F8E-B1D0-41F33E45DE3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xmlns:a="http://schemas.openxmlformats.org/drawingml/2006/main">
              <a:ext uri="{FF2B5EF4-FFF2-40B4-BE49-F238E27FC236}">
                <a16:creationId xmlns:a16="http://schemas.microsoft.com/office/drawing/2014/main" id="{8CD198EE-16C1-4164-9FD9-20D0FAB36B4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xmlns:a="http://schemas.openxmlformats.org/drawingml/2006/main">
              <a:ext uri="{FF2B5EF4-FFF2-40B4-BE49-F238E27FC236}">
                <a16:creationId xmlns:a16="http://schemas.microsoft.com/office/drawing/2014/main" id="{A5C5029B-3122-4C07-94E1-F116864314BE}"/>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Thirteen eligible calls showed significant enrichment</a:t>
            </a:r>
          </a:p>
        </p:txBody>
      </p:sp>
      <p:sp>
        <p:nvSpPr>
          <p:cNvPr id="20" name="Rounded Rectangle 19">
            <a:extLst xmlns:a="http://schemas.openxmlformats.org/drawingml/2006/main">
              <a:ext uri="{FF2B5EF4-FFF2-40B4-BE49-F238E27FC236}">
                <a16:creationId xmlns:a16="http://schemas.microsoft.com/office/drawing/2014/main" id="{71D52A82-59E2-4945-8028-CA41F6C9A11E}"/>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47D7A2-4F91-4259-82A1-BB0EA1CBB01C}"/>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xmlns:a="http://schemas.openxmlformats.org/drawingml/2006/main">
              <a:ext uri="{FF2B5EF4-FFF2-40B4-BE49-F238E27FC236}">
                <a16:creationId xmlns:a16="http://schemas.microsoft.com/office/drawing/2014/main" id="{A11BD4C5-04ED-4483-9A6B-20C61A55CD8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xmlns:a="http://schemas.openxmlformats.org/drawingml/2006/main">
              <a:ext uri="{FF2B5EF4-FFF2-40B4-BE49-F238E27FC236}">
                <a16:creationId xmlns:a16="http://schemas.microsoft.com/office/drawing/2014/main" id="{92AD0BB7-7863-4F61-9BD7-B2D2ED0A88E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Ten eligible calls showed significant enrichment</a:t>
            </a:r>
          </a:p>
        </p:txBody>
      </p:sp>
      <p:sp>
        <p:nvSpPr>
          <p:cNvPr id="24" name="Rounded Rectangle 23">
            <a:extLst xmlns:a="http://schemas.openxmlformats.org/drawingml/2006/main">
              <a:ext uri="{FF2B5EF4-FFF2-40B4-BE49-F238E27FC236}">
                <a16:creationId xmlns:a16="http://schemas.microsoft.com/office/drawing/2014/main" id="{A93000DB-86CF-4280-A9AF-87FD1D9D7947}"/>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1DBCA1F-5166-40A9-9CAB-5643CEBFD24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Excitatory fine types</a:t>
            </a:r>
          </a:p>
        </p:txBody>
      </p:sp>
      <p:sp>
        <p:nvSpPr>
          <p:cNvPr id="26" name="TextBox 25">
            <a:extLst xmlns:a="http://schemas.openxmlformats.org/drawingml/2006/main">
              <a:ext uri="{FF2B5EF4-FFF2-40B4-BE49-F238E27FC236}">
                <a16:creationId xmlns:a16="http://schemas.microsoft.com/office/drawing/2014/main" id="{2262FB5A-6F52-47C7-A4ED-CE564717D573}"/>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4/14 and 7/14</a:t>
            </a:r>
          </a:p>
        </p:txBody>
      </p:sp>
      <p:sp>
        <p:nvSpPr>
          <p:cNvPr id="27" name="TextBox 26">
            <a:extLst xmlns:a="http://schemas.openxmlformats.org/drawingml/2006/main">
              <a:ext uri="{FF2B5EF4-FFF2-40B4-BE49-F238E27FC236}">
                <a16:creationId xmlns:a16="http://schemas.microsoft.com/office/drawing/2014/main" id="{B8F6995F-6CE2-4495-A815-7B8D5120FB1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mtDNA-down and nuclear-OXPHOS-down enrichment, respectively</a:t>
            </a:r>
          </a:p>
        </p:txBody>
      </p:sp>
      <p:sp>
        <p:nvSpPr>
          <p:cNvPr id="28" name="TextBox 27">
            <a:extLst xmlns:a="http://schemas.openxmlformats.org/drawingml/2006/main">
              <a:ext uri="{FF2B5EF4-FFF2-40B4-BE49-F238E27FC236}">
                <a16:creationId xmlns:a16="http://schemas.microsoft.com/office/drawing/2014/main" id="{5E8EA963-ED6A-478E-99AF-96AD4AB623C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552304605"/>
      </p:ext>
    </p:extLst>
  </p:cSld>
</p:sld>
</file>

<file path=ppt/slides/slide7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A0A466-65B9-4B02-9FC4-4A0CF223C3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has unusually large mitochondrial queries</a:t>
            </a:r>
          </a:p>
        </p:txBody>
      </p:sp>
      <p:sp>
        <p:nvSpPr>
          <p:cNvPr id="3" name="TextBox 2">
            <a:extLst xmlns:a="http://schemas.openxmlformats.org/drawingml/2006/main">
              <a:ext uri="{FF2B5EF4-FFF2-40B4-BE49-F238E27FC236}">
                <a16:creationId xmlns:a16="http://schemas.microsoft.com/office/drawing/2014/main" id="{678755B5-2808-464C-BE3F-F32B109D9C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Query size can increase the number of network neighborhoods reached and drivers returned.</a:t>
            </a:r>
          </a:p>
        </p:txBody>
      </p:sp>
      <p:sp>
        <p:nvSpPr>
          <p:cNvPr id="4" name="Rounded Rectangle 3">
            <a:extLst xmlns:a="http://schemas.openxmlformats.org/drawingml/2006/main">
              <a:ext uri="{FF2B5EF4-FFF2-40B4-BE49-F238E27FC236}">
                <a16:creationId xmlns:a16="http://schemas.microsoft.com/office/drawing/2014/main" id="{BDCABD88-CDF9-4096-9BD8-9FD4BD2BD3B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C8BCB1-D1DE-4C49-93A0-C071B997ADB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xmlns:a="http://schemas.openxmlformats.org/drawingml/2006/main">
              <a:ext uri="{FF2B5EF4-FFF2-40B4-BE49-F238E27FC236}">
                <a16:creationId xmlns:a16="http://schemas.microsoft.com/office/drawing/2014/main" id="{4625E702-DCA4-444B-B0B0-7901133E832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85 query genes</a:t>
            </a:r>
          </a:p>
        </p:txBody>
      </p:sp>
      <p:sp>
        <p:nvSpPr>
          <p:cNvPr id="7" name="TextBox 6">
            <a:extLst xmlns:a="http://schemas.openxmlformats.org/drawingml/2006/main">
              <a:ext uri="{FF2B5EF4-FFF2-40B4-BE49-F238E27FC236}">
                <a16:creationId xmlns:a16="http://schemas.microsoft.com/office/drawing/2014/main" id="{D8DB4B45-4487-4D5E-9743-9C36A6B0B6CE}"/>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xmlns:a="http://schemas.openxmlformats.org/drawingml/2006/main">
              <a:ext uri="{FF2B5EF4-FFF2-40B4-BE49-F238E27FC236}">
                <a16:creationId xmlns:a16="http://schemas.microsoft.com/office/drawing/2014/main" id="{D2DEE9FA-A444-440D-B9EC-4568849FCED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5E2B186-5E0C-47B5-8F7B-C775F6D95A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ALL ELIGIBLE CALLS</a:t>
            </a:r>
          </a:p>
        </p:txBody>
      </p:sp>
      <p:sp>
        <p:nvSpPr>
          <p:cNvPr id="10" name="TextBox 9">
            <a:extLst xmlns:a="http://schemas.openxmlformats.org/drawingml/2006/main">
              <a:ext uri="{FF2B5EF4-FFF2-40B4-BE49-F238E27FC236}">
                <a16:creationId xmlns:a16="http://schemas.microsoft.com/office/drawing/2014/main" id="{E927D0C2-C1BB-44DE-94D7-B63E61AAD4D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16.5 query genes</a:t>
            </a:r>
          </a:p>
        </p:txBody>
      </p:sp>
      <p:sp>
        <p:nvSpPr>
          <p:cNvPr id="11" name="TextBox 10">
            <a:extLst xmlns:a="http://schemas.openxmlformats.org/drawingml/2006/main">
              <a:ext uri="{FF2B5EF4-FFF2-40B4-BE49-F238E27FC236}">
                <a16:creationId xmlns:a16="http://schemas.microsoft.com/office/drawing/2014/main" id="{7B2BB62E-46AF-4ACF-B00A-E6BF7669316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xmlns:a="http://schemas.openxmlformats.org/drawingml/2006/main">
              <a:ext uri="{FF2B5EF4-FFF2-40B4-BE49-F238E27FC236}">
                <a16:creationId xmlns:a16="http://schemas.microsoft.com/office/drawing/2014/main" id="{65F6F61B-5B86-4ED5-B8F5-5A13FAEC2D3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0B7689-4FA7-48F5-9F40-9D61578285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D7A8BAE3-2CF9-4C3A-8F56-DE08415FB22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C90626B7-0775-4368-BF4A-E28B97D6014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xmlns:a="http://schemas.openxmlformats.org/drawingml/2006/main">
              <a:ext uri="{FF2B5EF4-FFF2-40B4-BE49-F238E27FC236}">
                <a16:creationId xmlns:a16="http://schemas.microsoft.com/office/drawing/2014/main" id="{05306AF1-7D7C-4CF2-B3B2-D39FE71A3E60}"/>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24E6BE-8240-49F9-A3F0-81F96F86B21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Large queries confound KDA driver counts, although they do not automatically erase the DEG direction pattern.</a:t>
            </a:r>
          </a:p>
        </p:txBody>
      </p:sp>
      <p:sp>
        <p:nvSpPr>
          <p:cNvPr id="18" name="TextBox 17">
            <a:extLst xmlns:a="http://schemas.openxmlformats.org/drawingml/2006/main">
              <a:ext uri="{FF2B5EF4-FFF2-40B4-BE49-F238E27FC236}">
                <a16:creationId xmlns:a16="http://schemas.microsoft.com/office/drawing/2014/main" id="{262E450D-1633-4695-83AC-C6019F34920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2045540987"/>
      </p:ext>
    </p:extLst>
  </p:cSld>
</p:sld>
</file>

<file path=ppt/slides/slide7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1EA402-C5A0-4E1B-B43F-EED1CD22F6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xmlns:a="http://schemas.openxmlformats.org/drawingml/2006/main">
              <a:ext uri="{FF2B5EF4-FFF2-40B4-BE49-F238E27FC236}">
                <a16:creationId xmlns:a16="http://schemas.microsoft.com/office/drawing/2014/main" id="{067D81D1-DE61-49CF-B923-71CE71FBCB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downward program could reflect respiratory reduction, altered cell state, or selective survival.</a:t>
            </a:r>
          </a:p>
        </p:txBody>
      </p:sp>
      <p:sp>
        <p:nvSpPr>
          <p:cNvPr id="4" name="Rounded Rectangle 3">
            <a:extLst xmlns:a="http://schemas.openxmlformats.org/drawingml/2006/main">
              <a:ext uri="{FF2B5EF4-FFF2-40B4-BE49-F238E27FC236}">
                <a16:creationId xmlns:a16="http://schemas.microsoft.com/office/drawing/2014/main" id="{011FB5E7-B20B-4700-B4B3-EC4194685D75}"/>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6C5AD6E-D080-4D27-AFE6-E57173C9CCD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xmlns:a="http://schemas.openxmlformats.org/drawingml/2006/main">
              <a:ext uri="{FF2B5EF4-FFF2-40B4-BE49-F238E27FC236}">
                <a16:creationId xmlns:a16="http://schemas.microsoft.com/office/drawing/2014/main" id="{9DCBD8C7-6EF5-4D51-A91D-4C2BE9AFFAE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xmlns:a="http://schemas.openxmlformats.org/drawingml/2006/main">
              <a:ext uri="{FF2B5EF4-FFF2-40B4-BE49-F238E27FC236}">
                <a16:creationId xmlns:a16="http://schemas.microsoft.com/office/drawing/2014/main" id="{881A60AA-37D5-4EAD-AA8D-B931443EB1C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xmlns:a="http://schemas.openxmlformats.org/drawingml/2006/main">
              <a:ext uri="{FF2B5EF4-FFF2-40B4-BE49-F238E27FC236}">
                <a16:creationId xmlns:a16="http://schemas.microsoft.com/office/drawing/2014/main" id="{6B2AE7DB-C180-4953-A160-763D03A4508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F2C5F2C-F92E-4969-B5FF-EFC20A09DA8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xmlns:a="http://schemas.openxmlformats.org/drawingml/2006/main">
              <a:ext uri="{FF2B5EF4-FFF2-40B4-BE49-F238E27FC236}">
                <a16:creationId xmlns:a16="http://schemas.microsoft.com/office/drawing/2014/main" id="{4257C55A-E6B2-47C9-848A-CFBFA9DC333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xmlns:a="http://schemas.openxmlformats.org/drawingml/2006/main">
              <a:ext uri="{FF2B5EF4-FFF2-40B4-BE49-F238E27FC236}">
                <a16:creationId xmlns:a16="http://schemas.microsoft.com/office/drawing/2014/main" id="{F5AFB380-15C5-4EF8-AEE9-52CA21D4B29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xmlns:a="http://schemas.openxmlformats.org/drawingml/2006/main">
              <a:ext uri="{FF2B5EF4-FFF2-40B4-BE49-F238E27FC236}">
                <a16:creationId xmlns:a16="http://schemas.microsoft.com/office/drawing/2014/main" id="{D168868F-90BB-4DF9-B31E-58060BC6C9F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A567D2E-D3C8-4434-AF52-FAF6402709B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NETWORK INTERPRETATION</a:t>
            </a:r>
          </a:p>
        </p:txBody>
      </p:sp>
      <p:sp>
        <p:nvSpPr>
          <p:cNvPr id="14" name="TextBox 13">
            <a:extLst xmlns:a="http://schemas.openxmlformats.org/drawingml/2006/main">
              <a:ext uri="{FF2B5EF4-FFF2-40B4-BE49-F238E27FC236}">
                <a16:creationId xmlns:a16="http://schemas.microsoft.com/office/drawing/2014/main" id="{276D68BD-1C7A-4A2D-A6ED-68F1E132DCAB}"/>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Driver abundance is confounded</a:t>
            </a:r>
          </a:p>
        </p:txBody>
      </p:sp>
      <p:sp>
        <p:nvSpPr>
          <p:cNvPr id="15" name="TextBox 14">
            <a:extLst xmlns:a="http://schemas.openxmlformats.org/drawingml/2006/main">
              <a:ext uri="{FF2B5EF4-FFF2-40B4-BE49-F238E27FC236}">
                <a16:creationId xmlns:a16="http://schemas.microsoft.com/office/drawing/2014/main" id="{7D52DBC3-B64D-4B83-982C-4BC0804328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More query genes create more opportunities for KDA to return candidates.</a:t>
            </a:r>
          </a:p>
        </p:txBody>
      </p:sp>
      <p:sp>
        <p:nvSpPr>
          <p:cNvPr id="16" name="Rounded Rectangle 15">
            <a:extLst xmlns:a="http://schemas.openxmlformats.org/drawingml/2006/main">
              <a:ext uri="{FF2B5EF4-FFF2-40B4-BE49-F238E27FC236}">
                <a16:creationId xmlns:a16="http://schemas.microsoft.com/office/drawing/2014/main" id="{492E22EF-A767-4394-AB9C-6A374B84A56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BA675F-8177-4E3B-A875-82424698D527}"/>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87659E-1E7C-4EAF-BEA0-DF9393F5C275}"/>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DEG direction is interesting, while the unusually high KDA yield needs query-size matching.</a:t>
            </a:r>
          </a:p>
        </p:txBody>
      </p:sp>
      <p:sp>
        <p:nvSpPr>
          <p:cNvPr id="19" name="TextBox 18">
            <a:extLst xmlns:a="http://schemas.openxmlformats.org/drawingml/2006/main">
              <a:ext uri="{FF2B5EF4-FFF2-40B4-BE49-F238E27FC236}">
                <a16:creationId xmlns:a16="http://schemas.microsoft.com/office/drawing/2014/main" id="{179D3CBD-5729-4716-978C-FD3AAA39E80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904794792"/>
      </p:ext>
    </p:extLst>
  </p:cSld>
</p:sld>
</file>

<file path=ppt/slides/slide7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0F0A32F-D6C7-4C8E-86A6-C4CB9D64604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5 does not prove, and the next evidence needed</a:t>
            </a:r>
          </a:p>
        </p:txBody>
      </p:sp>
      <p:sp>
        <p:nvSpPr>
          <p:cNvPr id="3" name="TextBox 2">
            <a:extLst xmlns:a="http://schemas.openxmlformats.org/drawingml/2006/main">
              <a:ext uri="{FF2B5EF4-FFF2-40B4-BE49-F238E27FC236}">
                <a16:creationId xmlns:a16="http://schemas.microsoft.com/office/drawing/2014/main" id="{BF5F9AC7-50F1-4498-8303-44522CE9749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B477CD1A-22C7-48F6-997B-94263F4B49C0}"/>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E35D28A-5D92-4A5C-8821-8B460D1E857B}"/>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D7FBE19D-C86D-4097-87A8-7DB8BAFBBA5A}"/>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7E16EC88-28CE-4A96-9E0E-8FE614CAB692}"/>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BA211EC-02CF-443C-93AE-0A7998EE0EE6}"/>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Loss of mitochondrial function or ATP</a:t>
            </a:r>
          </a:p>
        </p:txBody>
      </p:sp>
      <p:sp>
        <p:nvSpPr>
          <p:cNvPr id="9" name="Oval 8">
            <a:extLst xmlns:a="http://schemas.openxmlformats.org/drawingml/2006/main">
              <a:ext uri="{FF2B5EF4-FFF2-40B4-BE49-F238E27FC236}">
                <a16:creationId xmlns:a16="http://schemas.microsoft.com/office/drawing/2014/main" id="{4799BA33-800D-4832-9A98-2F6C11ABC1A8}"/>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5A17805F-D159-41C7-A3DF-74CA535C0A6F}"/>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APOE ε2 caused the downward program</a:t>
            </a:r>
          </a:p>
        </p:txBody>
      </p:sp>
      <p:sp>
        <p:nvSpPr>
          <p:cNvPr id="11" name="Oval 10">
            <a:extLst xmlns:a="http://schemas.openxmlformats.org/drawingml/2006/main">
              <a:ext uri="{FF2B5EF4-FFF2-40B4-BE49-F238E27FC236}">
                <a16:creationId xmlns:a16="http://schemas.microsoft.com/office/drawing/2014/main" id="{9B0F6ECF-FB2B-427F-9BFA-0BE675452C0D}"/>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A9519CD5-4337-435C-998E-B0D76F0F2F8A}"/>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male by ε2 interaction or stronger driver biology</a:t>
            </a:r>
          </a:p>
        </p:txBody>
      </p:sp>
      <p:sp>
        <p:nvSpPr>
          <p:cNvPr id="13" name="Rounded Rectangle 12">
            <a:extLst xmlns:a="http://schemas.openxmlformats.org/drawingml/2006/main">
              <a:ext uri="{FF2B5EF4-FFF2-40B4-BE49-F238E27FC236}">
                <a16:creationId xmlns:a16="http://schemas.microsoft.com/office/drawing/2014/main" id="{BB6CCEF8-2FE3-481D-9F1C-3E618F236776}"/>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2B2F35CF-66CD-4BA4-AE8D-969CD8F46FA8}"/>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5CCC071-1384-4885-A763-1435B31F72D1}"/>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6E27A391-3D08-4DF7-BD50-1592A1918395}"/>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B4C7D0A-A00E-4941-AB9D-F13AD3600B3D}"/>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Repeat KDA with query sizes matched across groups</a:t>
            </a:r>
          </a:p>
        </p:txBody>
      </p:sp>
      <p:sp>
        <p:nvSpPr>
          <p:cNvPr id="18" name="Oval 17">
            <a:extLst xmlns:a="http://schemas.openxmlformats.org/drawingml/2006/main">
              <a:ext uri="{FF2B5EF4-FFF2-40B4-BE49-F238E27FC236}">
                <a16:creationId xmlns:a16="http://schemas.microsoft.com/office/drawing/2014/main" id="{21285B16-CB8E-4301-B44D-11BBCB4516AB}"/>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8D64A0B3-CE71-4736-A4CB-9DA3D41322A1}"/>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Fit donor-aware sex and APOE interaction models</a:t>
            </a:r>
          </a:p>
        </p:txBody>
      </p:sp>
      <p:sp>
        <p:nvSpPr>
          <p:cNvPr id="20" name="Oval 19">
            <a:extLst xmlns:a="http://schemas.openxmlformats.org/drawingml/2006/main">
              <a:ext uri="{FF2B5EF4-FFF2-40B4-BE49-F238E27FC236}">
                <a16:creationId xmlns:a16="http://schemas.microsoft.com/office/drawing/2014/main" id="{B5759626-720B-468F-A088-60AD8897A34A}"/>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11B2A70-7FB0-4D1A-A1E3-2F8F7C27BB96}"/>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Test respiratory proteins and function in male ε2 models</a:t>
            </a:r>
          </a:p>
        </p:txBody>
      </p:sp>
      <p:sp>
        <p:nvSpPr>
          <p:cNvPr id="22" name="TextBox 21">
            <a:extLst xmlns:a="http://schemas.openxmlformats.org/drawingml/2006/main">
              <a:ext uri="{FF2B5EF4-FFF2-40B4-BE49-F238E27FC236}">
                <a16:creationId xmlns:a16="http://schemas.microsoft.com/office/drawing/2014/main" id="{B1610400-DFDD-40D0-B2BD-793D7A8CD760}"/>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AD279490-143E-4C3B-ACED-93527F3BC3F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723574086"/>
      </p:ext>
    </p:extLst>
  </p:cSld>
</p:sld>
</file>

<file path=ppt/slides/slide7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2EECCD3-32E9-4799-B078-0328186A382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xmlns:a="http://schemas.openxmlformats.org/drawingml/2006/main">
              <a:ext uri="{FF2B5EF4-FFF2-40B4-BE49-F238E27FC236}">
                <a16:creationId xmlns:a16="http://schemas.microsoft.com/office/drawing/2014/main" id="{B83245C9-1A4F-4159-A55B-06835EB2C15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FEE309FE-2CC6-4645-81A1-9CA70B59ECCB}"/>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D9CF9D7-C2B8-4D10-B60E-EBD8E3E4D121}"/>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F39FA4C9-46FF-4AF9-A8A0-9F057D7A6B47}"/>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xmlns:a="http://schemas.openxmlformats.org/drawingml/2006/main">
              <a:ext uri="{FF2B5EF4-FFF2-40B4-BE49-F238E27FC236}">
                <a16:creationId xmlns:a16="http://schemas.microsoft.com/office/drawing/2014/main" id="{E3BB55D8-B954-4C37-B212-71FDD0B75B20}"/>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39850BBF-2F52-401A-8F19-4C831D1C735E}"/>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xmlns:a="http://schemas.openxmlformats.org/drawingml/2006/main">
              <a:ext uri="{FF2B5EF4-FFF2-40B4-BE49-F238E27FC236}">
                <a16:creationId xmlns:a16="http://schemas.microsoft.com/office/drawing/2014/main" id="{2FC401E3-803C-46BE-8656-4375034AA842}"/>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946D9350-046E-4CC6-BA4A-B02DB049C1F4}"/>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xmlns:a="http://schemas.openxmlformats.org/drawingml/2006/main">
              <a:ext uri="{FF2B5EF4-FFF2-40B4-BE49-F238E27FC236}">
                <a16:creationId xmlns:a16="http://schemas.microsoft.com/office/drawing/2014/main" id="{F3D49414-E866-4051-8C1E-2CF5C9B0B5D0}"/>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50ADC2B-B8E2-4CBD-8FD8-133E6FF0BAAF}"/>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xmlns:a="http://schemas.openxmlformats.org/drawingml/2006/main">
              <a:ext uri="{FF2B5EF4-FFF2-40B4-BE49-F238E27FC236}">
                <a16:creationId xmlns:a16="http://schemas.microsoft.com/office/drawing/2014/main" id="{DCCF2D89-9588-4B41-AE19-2380E965678D}"/>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xmlns:a="http://schemas.openxmlformats.org/drawingml/2006/main">
              <a:ext uri="{FF2B5EF4-FFF2-40B4-BE49-F238E27FC236}">
                <a16:creationId xmlns:a16="http://schemas.microsoft.com/office/drawing/2014/main" id="{B7F6D7F7-B557-4536-BF32-AB8C0AADCE78}"/>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BDB25E9D-229E-4B2C-B4A3-C88164419555}"/>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xmlns:a="http://schemas.openxmlformats.org/drawingml/2006/main">
              <a:ext uri="{FF2B5EF4-FFF2-40B4-BE49-F238E27FC236}">
                <a16:creationId xmlns:a16="http://schemas.microsoft.com/office/drawing/2014/main" id="{5FF9F344-78A9-4C9C-B23C-F5E2EF6EFCCB}"/>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73559057-2595-45C1-8AF9-C068FC58D803}"/>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xmlns:a="http://schemas.openxmlformats.org/drawingml/2006/main">
              <a:ext uri="{FF2B5EF4-FFF2-40B4-BE49-F238E27FC236}">
                <a16:creationId xmlns:a16="http://schemas.microsoft.com/office/drawing/2014/main" id="{3440115D-D044-4790-A7C4-56C39B0C4628}"/>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CFD44C0-79A2-42FD-A8CD-CCE2A07859D7}"/>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EB7DAED1-A768-40A3-B470-2623950E9D32}"/>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xmlns:a="http://schemas.openxmlformats.org/drawingml/2006/main">
              <a:ext uri="{FF2B5EF4-FFF2-40B4-BE49-F238E27FC236}">
                <a16:creationId xmlns:a16="http://schemas.microsoft.com/office/drawing/2014/main" id="{DDEA53DF-F394-4E28-8387-CDB3D64F7849}"/>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F1BF8061-0CE4-4A14-92B2-C14E1CCF93F8}"/>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xmlns:a="http://schemas.openxmlformats.org/drawingml/2006/main">
              <a:ext uri="{FF2B5EF4-FFF2-40B4-BE49-F238E27FC236}">
                <a16:creationId xmlns:a16="http://schemas.microsoft.com/office/drawing/2014/main" id="{A8F93BE3-227F-4761-ACCD-4E2651C422DC}"/>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E5E719CF-4F66-44AD-875C-18F417D34923}"/>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xmlns:a="http://schemas.openxmlformats.org/drawingml/2006/main">
              <a:ext uri="{FF2B5EF4-FFF2-40B4-BE49-F238E27FC236}">
                <a16:creationId xmlns:a16="http://schemas.microsoft.com/office/drawing/2014/main" id="{DE86A240-4B7B-42CC-BD80-2A8B031010EC}"/>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465DF215-5B13-44E3-9C3B-0D412781BBE1}"/>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79D17B3C-8972-40A9-BE8A-51F23F93170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790777695"/>
      </p:ext>
    </p:extLst>
  </p:cSld>
</p:sld>
</file>

<file path=ppt/slides/slide7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BE19B05-BA8A-4AAD-8256-41950FD1AE8D}"/>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xmlns:a="http://schemas.openxmlformats.org/drawingml/2006/main">
              <a:ext uri="{FF2B5EF4-FFF2-40B4-BE49-F238E27FC236}">
                <a16:creationId xmlns:a16="http://schemas.microsoft.com/office/drawing/2014/main" id="{9C414A89-DDB8-42A0-9EC6-D293FB14A02B}"/>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6B6825F1-FF14-4CD5-96CA-6ADABC833E68}"/>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ε4 cells show a weaker possible mitonuclear mismatch</a:t>
            </a:r>
          </a:p>
        </p:txBody>
      </p:sp>
      <p:sp>
        <p:nvSpPr>
          <p:cNvPr id="5" name="TextBox 4">
            <a:extLst xmlns:a="http://schemas.openxmlformats.org/drawingml/2006/main">
              <a:ext uri="{FF2B5EF4-FFF2-40B4-BE49-F238E27FC236}">
                <a16:creationId xmlns:a16="http://schemas.microsoft.com/office/drawing/2014/main" id="{5D9D1649-587C-4456-8166-A2187405784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xmlns:a="http://schemas.openxmlformats.org/drawingml/2006/main">
              <a:ext uri="{FF2B5EF4-FFF2-40B4-BE49-F238E27FC236}">
                <a16:creationId xmlns:a16="http://schemas.microsoft.com/office/drawing/2014/main" id="{33A304A7-B58D-4C4E-A99B-7833A7FA23F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BEE6627-F54D-4C1B-AE70-D3BFAE6C28A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B651492E-D736-49FB-BB72-A69322B800BF}"/>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B114C09-DD52-47D4-9524-99BEFDE7BF25}"/>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4D7426F-91F4-4023-8BA9-3061DDF9557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5270CF31-5481-440D-B33F-BADDCF5D132C}"/>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2C89362-138A-4072-BCF2-AC08AE17FCD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7458DE17-7623-4714-9E30-190E103E7D83}"/>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1F52A3A3-A0C6-4294-A8A8-435411787EDF}"/>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1B79BF-C986-4D02-BD2E-C7260DE1D23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CEBC224F-844D-49AA-8950-F906778CD2E8}"/>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CF549B9-704B-48D1-A9CC-6A29B7C9DD16}"/>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B7F4820-68C4-4DBF-8007-85F4C1EC83AD}"/>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5AE5697A-FEB6-42FE-8F43-0AB15C40E286}"/>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C4B01E0B-2F27-4747-ACB5-C2FD2A0C2721}"/>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F03B32E-B45F-4290-8A68-D9149DD41445}"/>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mtDNA OXPHOS is mostly up and nuclear OXPHOS is modestly down, with mixed cross-cohort sensitivity.</a:t>
            </a:r>
          </a:p>
        </p:txBody>
      </p:sp>
    </p:spTree>
    <p:extLst>
      <p:ext uri="{BB962C8B-B14F-4D97-AF65-F5344CB8AC3E}">
        <p14:creationId xmlns:p14="http://schemas.microsoft.com/office/powerpoint/2010/main" val="1192407308"/>
      </p:ext>
    </p:extLst>
  </p:cSld>
</p:sld>
</file>

<file path=ppt/slides/slide8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F51D327-FE6B-4D0A-BADE-FE0B68D28D3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ε4 cells may separate mitochondrial and nuclear OXPHOS RNA directions</a:t>
            </a:r>
          </a:p>
        </p:txBody>
      </p:sp>
      <p:sp>
        <p:nvSpPr>
          <p:cNvPr id="3" name="TextBox 2">
            <a:extLst xmlns:a="http://schemas.openxmlformats.org/drawingml/2006/main">
              <a:ext uri="{FF2B5EF4-FFF2-40B4-BE49-F238E27FC236}">
                <a16:creationId xmlns:a16="http://schemas.microsoft.com/office/drawing/2014/main" id="{866E4AAE-C2DA-4F9B-94EA-3819FFE9643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xmlns:a="http://schemas.openxmlformats.org/drawingml/2006/main">
              <a:ext uri="{FF2B5EF4-FFF2-40B4-BE49-F238E27FC236}">
                <a16:creationId xmlns:a16="http://schemas.microsoft.com/office/drawing/2014/main" id="{DBB05C66-5366-4F96-BB98-5A2B16F87ADC}"/>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6908346-AE80-496F-B440-A54BBFED468C}"/>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B9FD771D-AE09-4B06-B711-5406E8C28D3F}"/>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1CD4C10-E134-428F-985D-8F02AF10B30D}"/>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D4E877AF-D3FE-4F76-B9A0-902C832EF70E}"/>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FEC5E80-C583-4798-9C40-FF744018F62B}"/>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xmlns:a="http://schemas.openxmlformats.org/drawingml/2006/main">
              <a:ext uri="{FF2B5EF4-FFF2-40B4-BE49-F238E27FC236}">
                <a16:creationId xmlns:a16="http://schemas.microsoft.com/office/drawing/2014/main" id="{CF923EF2-BD44-484F-9B6C-6EE0E7F4FD97}"/>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828C884-CF67-4323-BBA1-48B292856B1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xmlns:a="http://schemas.openxmlformats.org/drawingml/2006/main">
              <a:ext uri="{FF2B5EF4-FFF2-40B4-BE49-F238E27FC236}">
                <a16:creationId xmlns:a16="http://schemas.microsoft.com/office/drawing/2014/main" id="{019B40E9-BFC8-4286-BBE1-85E17BAD1A8C}"/>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DDFE37A-0F2D-41E1-A604-F71E6B424F5F}"/>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MITOCHONDRIAL DNA</a:t>
            </a:r>
          </a:p>
        </p:txBody>
      </p:sp>
      <p:sp>
        <p:nvSpPr>
          <p:cNvPr id="14" name="TextBox 13">
            <a:extLst xmlns:a="http://schemas.openxmlformats.org/drawingml/2006/main">
              <a:ext uri="{FF2B5EF4-FFF2-40B4-BE49-F238E27FC236}">
                <a16:creationId xmlns:a16="http://schemas.microsoft.com/office/drawing/2014/main" id="{E94F56C6-CAC0-4C2A-9D04-AB1C93AB4771}"/>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xmlns:a="http://schemas.openxmlformats.org/drawingml/2006/main">
              <a:ext uri="{FF2B5EF4-FFF2-40B4-BE49-F238E27FC236}">
                <a16:creationId xmlns:a16="http://schemas.microsoft.com/office/drawing/2014/main" id="{3B12252E-94C2-421D-B8E5-BC76C9CD82BE}"/>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mtDNA-encoded OXPHOS RNA mostly increases in AD.</a:t>
            </a:r>
          </a:p>
        </p:txBody>
      </p:sp>
      <p:sp>
        <p:nvSpPr>
          <p:cNvPr id="16" name="Rounded Rectangle 15">
            <a:extLst xmlns:a="http://schemas.openxmlformats.org/drawingml/2006/main">
              <a:ext uri="{FF2B5EF4-FFF2-40B4-BE49-F238E27FC236}">
                <a16:creationId xmlns:a16="http://schemas.microsoft.com/office/drawing/2014/main" id="{9AFA687E-D246-4A14-8D2E-A6635ECDA8CD}"/>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7BF302F-CECB-4A9F-A24A-E027071673A0}"/>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 DNA</a:t>
            </a:r>
          </a:p>
        </p:txBody>
      </p:sp>
      <p:sp>
        <p:nvSpPr>
          <p:cNvPr id="18" name="TextBox 17">
            <a:extLst xmlns:a="http://schemas.openxmlformats.org/drawingml/2006/main">
              <a:ext uri="{FF2B5EF4-FFF2-40B4-BE49-F238E27FC236}">
                <a16:creationId xmlns:a16="http://schemas.microsoft.com/office/drawing/2014/main" id="{A2A1D15B-EA5F-477D-AF2B-21FB5A93F2A7}"/>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xmlns:a="http://schemas.openxmlformats.org/drawingml/2006/main">
              <a:ext uri="{FF2B5EF4-FFF2-40B4-BE49-F238E27FC236}">
                <a16:creationId xmlns:a16="http://schemas.microsoft.com/office/drawing/2014/main" id="{A471FEAF-08F4-405F-9F71-ACEA3114684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Nuclear structural OXPHOS RNA leans downward, but less strongly.</a:t>
            </a:r>
          </a:p>
        </p:txBody>
      </p:sp>
      <p:sp>
        <p:nvSpPr>
          <p:cNvPr id="20" name="Rounded Rectangle 19">
            <a:extLst xmlns:a="http://schemas.openxmlformats.org/drawingml/2006/main">
              <a:ext uri="{FF2B5EF4-FFF2-40B4-BE49-F238E27FC236}">
                <a16:creationId xmlns:a16="http://schemas.microsoft.com/office/drawing/2014/main" id="{127EC019-DEAF-4830-9BDF-E8FC4E5D6C9F}"/>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01E40FA-D200-4AB8-9D14-C59E36BACC7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xmlns:a="http://schemas.openxmlformats.org/drawingml/2006/main">
              <a:ext uri="{FF2B5EF4-FFF2-40B4-BE49-F238E27FC236}">
                <a16:creationId xmlns:a16="http://schemas.microsoft.com/office/drawing/2014/main" id="{847AB25A-4A19-469E-B083-E1E9AECA12F7}"/>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xmlns:a="http://schemas.openxmlformats.org/drawingml/2006/main">
              <a:ext uri="{FF2B5EF4-FFF2-40B4-BE49-F238E27FC236}">
                <a16:creationId xmlns:a16="http://schemas.microsoft.com/office/drawing/2014/main" id="{32530C92-1924-49DF-8A13-2600E990EAE4}"/>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xmlns:a="http://schemas.openxmlformats.org/drawingml/2006/main">
              <a:ext uri="{FF2B5EF4-FFF2-40B4-BE49-F238E27FC236}">
                <a16:creationId xmlns:a16="http://schemas.microsoft.com/office/drawing/2014/main" id="{EE73C825-D016-4226-86FF-B3C7A1275FE8}"/>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6847202D-DABD-49F6-9699-6502FC7A5C8E}"/>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
        <p:nvSpPr>
          <p:cNvPr id="26" name="TextBox 25">
            <a:extLst xmlns:a="http://schemas.openxmlformats.org/drawingml/2006/main">
              <a:ext uri="{FF2B5EF4-FFF2-40B4-BE49-F238E27FC236}">
                <a16:creationId xmlns:a16="http://schemas.microsoft.com/office/drawing/2014/main" id="{FB2B3852-8E5B-449A-9079-787A2E6625BA}"/>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438493806"/>
      </p:ext>
    </p:extLst>
  </p:cSld>
</p:sld>
</file>

<file path=ppt/slides/slide8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DA58526-89F3-4E38-BF49-AEBBD936060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ROSMAP: male ε4 shows a clear mtDNA-up tendency and a modest nuclear-down tendency</a:t>
            </a:r>
          </a:p>
        </p:txBody>
      </p:sp>
      <p:sp>
        <p:nvSpPr>
          <p:cNvPr id="3" name="TextBox 2">
            <a:extLst xmlns:a="http://schemas.openxmlformats.org/drawingml/2006/main">
              <a:ext uri="{FF2B5EF4-FFF2-40B4-BE49-F238E27FC236}">
                <a16:creationId xmlns:a16="http://schemas.microsoft.com/office/drawing/2014/main" id="{ECFA4E0E-884F-4652-96F2-167C56BD9EE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xmlns:a="http://schemas.openxmlformats.org/drawingml/2006/main">
              <a:ext uri="{FF2B5EF4-FFF2-40B4-BE49-F238E27FC236}">
                <a16:creationId xmlns:a16="http://schemas.microsoft.com/office/drawing/2014/main" id="{8839F25B-91B3-46BE-887D-E61B8C50F23C}"/>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C7138D0-B75E-406D-B74A-89AFB1B13312}"/>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xmlns:a="http://schemas.openxmlformats.org/drawingml/2006/main">
              <a:ext uri="{FF2B5EF4-FFF2-40B4-BE49-F238E27FC236}">
                <a16:creationId xmlns:a16="http://schemas.microsoft.com/office/drawing/2014/main" id="{35317A91-B5E5-4086-970C-D8770C8A9AAE}"/>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xmlns:a="http://schemas.openxmlformats.org/drawingml/2006/main">
              <a:ext uri="{FF2B5EF4-FFF2-40B4-BE49-F238E27FC236}">
                <a16:creationId xmlns:a16="http://schemas.microsoft.com/office/drawing/2014/main" id="{FB5B17FA-E20B-417B-B6BD-6FAEE0CBA6F0}"/>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xmlns:a="http://schemas.openxmlformats.org/drawingml/2006/main">
              <a:ext uri="{FF2B5EF4-FFF2-40B4-BE49-F238E27FC236}">
                <a16:creationId xmlns:a16="http://schemas.microsoft.com/office/drawing/2014/main" id="{5B61249A-9F51-456A-BDD9-B5D54681952E}"/>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BDCA7DC-736C-442B-8A2B-26A895ECD844}"/>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xmlns:a="http://schemas.openxmlformats.org/drawingml/2006/main">
              <a:ext uri="{FF2B5EF4-FFF2-40B4-BE49-F238E27FC236}">
                <a16:creationId xmlns:a16="http://schemas.microsoft.com/office/drawing/2014/main" id="{D30E1E56-4519-4229-853B-C5AC802C6F5B}"/>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xmlns:a="http://schemas.openxmlformats.org/drawingml/2006/main">
              <a:ext uri="{FF2B5EF4-FFF2-40B4-BE49-F238E27FC236}">
                <a16:creationId xmlns:a16="http://schemas.microsoft.com/office/drawing/2014/main" id="{1A25E093-3DDF-4EAE-9E85-E28645A8669C}"/>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xmlns:a="http://schemas.openxmlformats.org/drawingml/2006/main">
              <a:ext uri="{FF2B5EF4-FFF2-40B4-BE49-F238E27FC236}">
                <a16:creationId xmlns:a16="http://schemas.microsoft.com/office/drawing/2014/main" id="{D457E9F9-CA25-410E-B050-7D1E6E146DC3}"/>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D72DAD8-ADBF-4AAD-B91E-03EC7BC07290}"/>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xmlns:a="http://schemas.openxmlformats.org/drawingml/2006/main">
              <a:ext uri="{FF2B5EF4-FFF2-40B4-BE49-F238E27FC236}">
                <a16:creationId xmlns:a16="http://schemas.microsoft.com/office/drawing/2014/main" id="{7CC83DB0-9BCF-47E2-8983-1478D16862E8}"/>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xmlns:a="http://schemas.openxmlformats.org/drawingml/2006/main">
              <a:ext uri="{FF2B5EF4-FFF2-40B4-BE49-F238E27FC236}">
                <a16:creationId xmlns:a16="http://schemas.microsoft.com/office/drawing/2014/main" id="{4EDDD363-790B-4679-91A8-652C214FE2A1}"/>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mtDNA-up enrichment</a:t>
            </a:r>
          </a:p>
        </p:txBody>
      </p:sp>
      <p:sp>
        <p:nvSpPr>
          <p:cNvPr id="16" name="Rounded Rectangle 15">
            <a:extLst xmlns:a="http://schemas.openxmlformats.org/drawingml/2006/main">
              <a:ext uri="{FF2B5EF4-FFF2-40B4-BE49-F238E27FC236}">
                <a16:creationId xmlns:a16="http://schemas.microsoft.com/office/drawing/2014/main" id="{8B5F62F4-DC64-47A1-A18A-5FD88265ED93}"/>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093E008-61D7-40F6-9A6F-BC2FF076758D}"/>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xmlns:a="http://schemas.openxmlformats.org/drawingml/2006/main">
              <a:ext uri="{FF2B5EF4-FFF2-40B4-BE49-F238E27FC236}">
                <a16:creationId xmlns:a16="http://schemas.microsoft.com/office/drawing/2014/main" id="{B707857E-E969-4440-A759-25E1BA124429}"/>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xmlns:a="http://schemas.openxmlformats.org/drawingml/2006/main">
              <a:ext uri="{FF2B5EF4-FFF2-40B4-BE49-F238E27FC236}">
                <a16:creationId xmlns:a16="http://schemas.microsoft.com/office/drawing/2014/main" id="{825E04B9-EB02-49C9-AD11-CA5CE1282DFD}"/>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Fifteen eligible calls showed significant enrichment</a:t>
            </a:r>
          </a:p>
        </p:txBody>
      </p:sp>
      <p:sp>
        <p:nvSpPr>
          <p:cNvPr id="20" name="Rounded Rectangle 19">
            <a:extLst xmlns:a="http://schemas.openxmlformats.org/drawingml/2006/main">
              <a:ext uri="{FF2B5EF4-FFF2-40B4-BE49-F238E27FC236}">
                <a16:creationId xmlns:a16="http://schemas.microsoft.com/office/drawing/2014/main" id="{1EEF9F57-B4FE-490B-8BD7-9C11F26EC805}"/>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87777A6-286D-4DA8-9447-43A8BD798CE7}"/>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xmlns:a="http://schemas.openxmlformats.org/drawingml/2006/main">
              <a:ext uri="{FF2B5EF4-FFF2-40B4-BE49-F238E27FC236}">
                <a16:creationId xmlns:a16="http://schemas.microsoft.com/office/drawing/2014/main" id="{426D93DF-FA27-484D-978D-B97329F1FB3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xmlns:a="http://schemas.openxmlformats.org/drawingml/2006/main">
              <a:ext uri="{FF2B5EF4-FFF2-40B4-BE49-F238E27FC236}">
                <a16:creationId xmlns:a16="http://schemas.microsoft.com/office/drawing/2014/main" id="{FCF53A21-6035-4E39-BA20-E4B69FCE5D9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Only three eligible calls showed significant enrichment</a:t>
            </a:r>
          </a:p>
        </p:txBody>
      </p:sp>
      <p:sp>
        <p:nvSpPr>
          <p:cNvPr id="24" name="Rounded Rectangle 23">
            <a:extLst xmlns:a="http://schemas.openxmlformats.org/drawingml/2006/main">
              <a:ext uri="{FF2B5EF4-FFF2-40B4-BE49-F238E27FC236}">
                <a16:creationId xmlns:a16="http://schemas.microsoft.com/office/drawing/2014/main" id="{C35569EA-A504-4FEF-A234-A7B52E09A639}"/>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1E2A3A88-02E2-4D5C-8DC6-503323D5E5C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xmlns:a="http://schemas.openxmlformats.org/drawingml/2006/main">
              <a:ext uri="{FF2B5EF4-FFF2-40B4-BE49-F238E27FC236}">
                <a16:creationId xmlns:a16="http://schemas.microsoft.com/office/drawing/2014/main" id="{B161D71B-8C91-4EA5-AAFD-66B5A5D14474}"/>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xmlns:a="http://schemas.openxmlformats.org/drawingml/2006/main">
              <a:ext uri="{FF2B5EF4-FFF2-40B4-BE49-F238E27FC236}">
                <a16:creationId xmlns:a16="http://schemas.microsoft.com/office/drawing/2014/main" id="{323F2BA4-0FC2-4EFB-8919-5680A33994A4}"/>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
        <p:nvSpPr>
          <p:cNvPr id="28" name="TextBox 27">
            <a:extLst xmlns:a="http://schemas.openxmlformats.org/drawingml/2006/main">
              <a:ext uri="{FF2B5EF4-FFF2-40B4-BE49-F238E27FC236}">
                <a16:creationId xmlns:a16="http://schemas.microsoft.com/office/drawing/2014/main" id="{16A19A3D-2BA4-4EC2-AB0C-ECA81CA4AD5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238565285"/>
      </p:ext>
    </p:extLst>
  </p:cSld>
</p:sld>
</file>

<file path=ppt/slides/slide8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B9C1982-3E55-4313-9CE5-CFD54282201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xmlns:a="http://schemas.openxmlformats.org/drawingml/2006/main">
              <a:ext uri="{FF2B5EF4-FFF2-40B4-BE49-F238E27FC236}">
                <a16:creationId xmlns:a16="http://schemas.microsoft.com/office/drawing/2014/main" id="{D5AA194A-7D48-410F-B140-EDD62AD58FB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xmlns:a="http://schemas.openxmlformats.org/drawingml/2006/main">
              <a:ext uri="{FF2B5EF4-FFF2-40B4-BE49-F238E27FC236}">
                <a16:creationId xmlns:a16="http://schemas.microsoft.com/office/drawing/2014/main" id="{73F80850-1DD1-48CA-9C04-41340D4E44B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248C75F-F33A-4A18-9BE1-6D4E87512E57}"/>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xmlns:a="http://schemas.openxmlformats.org/drawingml/2006/main">
              <a:ext uri="{FF2B5EF4-FFF2-40B4-BE49-F238E27FC236}">
                <a16:creationId xmlns:a16="http://schemas.microsoft.com/office/drawing/2014/main" id="{864C8E28-1A3C-4699-ADBE-859F3C0D8C9C}"/>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+2.03 mtDNA NES</a:t>
            </a:r>
          </a:p>
        </p:txBody>
      </p:sp>
      <p:sp>
        <p:nvSpPr>
          <p:cNvPr id="7" name="TextBox 6">
            <a:extLst xmlns:a="http://schemas.openxmlformats.org/drawingml/2006/main">
              <a:ext uri="{FF2B5EF4-FFF2-40B4-BE49-F238E27FC236}">
                <a16:creationId xmlns:a16="http://schemas.microsoft.com/office/drawing/2014/main" id="{03F655E6-FFC7-4631-970A-44D7AFB7CF6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mtDNA-up component survived composition adjustment.</a:t>
            </a:r>
          </a:p>
        </p:txBody>
      </p:sp>
      <p:sp>
        <p:nvSpPr>
          <p:cNvPr id="8" name="Rounded Rectangle 7">
            <a:extLst xmlns:a="http://schemas.openxmlformats.org/drawingml/2006/main">
              <a:ext uri="{FF2B5EF4-FFF2-40B4-BE49-F238E27FC236}">
                <a16:creationId xmlns:a16="http://schemas.microsoft.com/office/drawing/2014/main" id="{7E6B98DB-8D6C-4CAB-BF4E-9C7F83465275}"/>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EEE532F-578A-4EA2-8AA2-22F222211B6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xmlns:a="http://schemas.openxmlformats.org/drawingml/2006/main">
              <a:ext uri="{FF2B5EF4-FFF2-40B4-BE49-F238E27FC236}">
                <a16:creationId xmlns:a16="http://schemas.microsoft.com/office/drawing/2014/main" id="{32654655-8723-4E99-BD57-5845AA5E34A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xmlns:a="http://schemas.openxmlformats.org/drawingml/2006/main">
              <a:ext uri="{FF2B5EF4-FFF2-40B4-BE49-F238E27FC236}">
                <a16:creationId xmlns:a16="http://schemas.microsoft.com/office/drawing/2014/main" id="{D4FE3084-A79F-4FDE-8D72-2E973ED4F01D}"/>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xmlns:a="http://schemas.openxmlformats.org/drawingml/2006/main">
              <a:ext uri="{FF2B5EF4-FFF2-40B4-BE49-F238E27FC236}">
                <a16:creationId xmlns:a16="http://schemas.microsoft.com/office/drawing/2014/main" id="{833837A4-38EF-47FE-AB96-23F07DD25D5A}"/>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75B039C5-F3B5-4569-B1E5-C8A190B4B196}"/>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xmlns:a="http://schemas.openxmlformats.org/drawingml/2006/main">
              <a:ext uri="{FF2B5EF4-FFF2-40B4-BE49-F238E27FC236}">
                <a16:creationId xmlns:a16="http://schemas.microsoft.com/office/drawing/2014/main" id="{E255F907-3726-4ED6-BA97-1B56DA232D5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xmlns:a="http://schemas.openxmlformats.org/drawingml/2006/main">
              <a:ext uri="{FF2B5EF4-FFF2-40B4-BE49-F238E27FC236}">
                <a16:creationId xmlns:a16="http://schemas.microsoft.com/office/drawing/2014/main" id="{826F063C-28A4-4A84-B6BB-4F74EAADF36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xmlns:a="http://schemas.openxmlformats.org/drawingml/2006/main">
              <a:ext uri="{FF2B5EF4-FFF2-40B4-BE49-F238E27FC236}">
                <a16:creationId xmlns:a16="http://schemas.microsoft.com/office/drawing/2014/main" id="{300DBFEC-3417-4C51-B020-FF44A48774A1}"/>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2029546-FCA5-418B-A6A9-3321BA3150B0}"/>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
        <p:nvSpPr>
          <p:cNvPr id="18" name="TextBox 17">
            <a:extLst xmlns:a="http://schemas.openxmlformats.org/drawingml/2006/main">
              <a:ext uri="{FF2B5EF4-FFF2-40B4-BE49-F238E27FC236}">
                <a16:creationId xmlns:a16="http://schemas.microsoft.com/office/drawing/2014/main" id="{1DAAF0BF-CE28-4F04-86D8-B3B86F5CF57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1069416022"/>
      </p:ext>
    </p:extLst>
  </p:cSld>
</p:sld>
</file>

<file path=ppt/slides/slide8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405641A-583C-4992-BB25-C4C9E643239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xmlns:a="http://schemas.openxmlformats.org/drawingml/2006/main">
              <a:ext uri="{FF2B5EF4-FFF2-40B4-BE49-F238E27FC236}">
                <a16:creationId xmlns:a16="http://schemas.microsoft.com/office/drawing/2014/main" id="{58633844-E6EF-4BE9-970C-B818B8CC1EFE}"/>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xmlns:a="http://schemas.openxmlformats.org/drawingml/2006/main">
              <a:ext uri="{FF2B5EF4-FFF2-40B4-BE49-F238E27FC236}">
                <a16:creationId xmlns:a16="http://schemas.microsoft.com/office/drawing/2014/main" id="{FBF3FBD6-C6C0-4535-80F5-8E418D24ECCB}"/>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821D29E-021F-40F6-88D9-1738C9BDB4B9}"/>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xmlns:a="http://schemas.openxmlformats.org/drawingml/2006/main">
              <a:ext uri="{FF2B5EF4-FFF2-40B4-BE49-F238E27FC236}">
                <a16:creationId xmlns:a16="http://schemas.microsoft.com/office/drawing/2014/main" id="{9B95D7C0-68A2-44B6-8AE3-10803B0BEF75}"/>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xmlns:a="http://schemas.openxmlformats.org/drawingml/2006/main">
              <a:ext uri="{FF2B5EF4-FFF2-40B4-BE49-F238E27FC236}">
                <a16:creationId xmlns:a16="http://schemas.microsoft.com/office/drawing/2014/main" id="{3C634A4A-98EB-4C7E-90DD-E2FD0C6976CD}"/>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Both findings place mtDNA OXPHOS upward and nuclear OXPHOS downward.</a:t>
            </a:r>
          </a:p>
        </p:txBody>
      </p:sp>
      <p:sp>
        <p:nvSpPr>
          <p:cNvPr id="8" name="Rounded Rectangle 7">
            <a:extLst xmlns:a="http://schemas.openxmlformats.org/drawingml/2006/main">
              <a:ext uri="{FF2B5EF4-FFF2-40B4-BE49-F238E27FC236}">
                <a16:creationId xmlns:a16="http://schemas.microsoft.com/office/drawing/2014/main" id="{44A3155E-5365-4F5E-AFD2-554245C06004}"/>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A644B14-4140-4C64-8588-8E8B9A63FFF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xmlns:a="http://schemas.openxmlformats.org/drawingml/2006/main">
              <a:ext uri="{FF2B5EF4-FFF2-40B4-BE49-F238E27FC236}">
                <a16:creationId xmlns:a16="http://schemas.microsoft.com/office/drawing/2014/main" id="{97870FB4-2C51-4BE1-B022-2E22607B8047}"/>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xmlns:a="http://schemas.openxmlformats.org/drawingml/2006/main">
              <a:ext uri="{FF2B5EF4-FFF2-40B4-BE49-F238E27FC236}">
                <a16:creationId xmlns:a16="http://schemas.microsoft.com/office/drawing/2014/main" id="{0917A412-A9D7-4B98-842E-4C1E412EED3C}"/>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xmlns:a="http://schemas.openxmlformats.org/drawingml/2006/main">
              <a:ext uri="{FF2B5EF4-FFF2-40B4-BE49-F238E27FC236}">
                <a16:creationId xmlns:a16="http://schemas.microsoft.com/office/drawing/2014/main" id="{20DB37EA-5442-450B-925E-213927510EE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D95C0462-B63B-42A0-A2F9-871984922E23}"/>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xmlns:a="http://schemas.openxmlformats.org/drawingml/2006/main">
              <a:ext uri="{FF2B5EF4-FFF2-40B4-BE49-F238E27FC236}">
                <a16:creationId xmlns:a16="http://schemas.microsoft.com/office/drawing/2014/main" id="{4585C609-7948-4621-91F5-67CE7ED0E18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xmlns:a="http://schemas.openxmlformats.org/drawingml/2006/main">
              <a:ext uri="{FF2B5EF4-FFF2-40B4-BE49-F238E27FC236}">
                <a16:creationId xmlns:a16="http://schemas.microsoft.com/office/drawing/2014/main" id="{0BBC561B-EB2C-4DFB-BD6D-952F4250608D}"/>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xmlns:a="http://schemas.openxmlformats.org/drawingml/2006/main">
              <a:ext uri="{FF2B5EF4-FFF2-40B4-BE49-F238E27FC236}">
                <a16:creationId xmlns:a16="http://schemas.microsoft.com/office/drawing/2014/main" id="{3D286636-188B-4CE3-950A-6F3D38DF3FDD}"/>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4682283-93A0-457E-86E4-942B19E5A046}"/>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A3BAB5CC-C225-4EBE-BB90-009213F7E394}"/>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
        <p:nvSpPr>
          <p:cNvPr id="19" name="TextBox 18">
            <a:extLst xmlns:a="http://schemas.openxmlformats.org/drawingml/2006/main">
              <a:ext uri="{FF2B5EF4-FFF2-40B4-BE49-F238E27FC236}">
                <a16:creationId xmlns:a16="http://schemas.microsoft.com/office/drawing/2014/main" id="{BED7D799-7428-45DE-B9B2-35D1168C1D7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620284458"/>
      </p:ext>
    </p:extLst>
  </p:cSld>
</p:sld>
</file>

<file path=ppt/slides/slide8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E78E523-0835-4163-BC36-CCF786B36EE2}"/>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6 does not prove, and the next evidence needed</a:t>
            </a:r>
          </a:p>
        </p:txBody>
      </p:sp>
      <p:sp>
        <p:nvSpPr>
          <p:cNvPr id="3" name="TextBox 2">
            <a:extLst xmlns:a="http://schemas.openxmlformats.org/drawingml/2006/main">
              <a:ext uri="{FF2B5EF4-FFF2-40B4-BE49-F238E27FC236}">
                <a16:creationId xmlns:a16="http://schemas.microsoft.com/office/drawing/2014/main" id="{05FEF2B2-947D-4C22-BE17-A61D2FE9BE0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1EE20258-D6CA-44BE-A84E-3E1383A2D905}"/>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2B5057A0-6C26-4788-8B9D-9DFB31EBEF38}"/>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04538B8-629B-4B6C-A8E4-E564A1721449}"/>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BA27A618-5FFA-410B-9F4A-CAEA4D417E39}"/>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A1F62F8-EFD2-4A8D-94C1-FBBBC012E7E8}"/>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physical imbalance of OXPHOS proteins</a:t>
            </a:r>
          </a:p>
        </p:txBody>
      </p:sp>
      <p:sp>
        <p:nvSpPr>
          <p:cNvPr id="9" name="Oval 8">
            <a:extLst xmlns:a="http://schemas.openxmlformats.org/drawingml/2006/main">
              <a:ext uri="{FF2B5EF4-FFF2-40B4-BE49-F238E27FC236}">
                <a16:creationId xmlns:a16="http://schemas.microsoft.com/office/drawing/2014/main" id="{52F680FE-D019-4BBE-8983-046C59D79FAB}"/>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7E1192A-8E1C-4214-A295-D908922A99E3}"/>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male by ε4 disease interaction</a:t>
            </a:r>
          </a:p>
        </p:txBody>
      </p:sp>
      <p:sp>
        <p:nvSpPr>
          <p:cNvPr id="11" name="Oval 10">
            <a:extLst xmlns:a="http://schemas.openxmlformats.org/drawingml/2006/main">
              <a:ext uri="{FF2B5EF4-FFF2-40B4-BE49-F238E27FC236}">
                <a16:creationId xmlns:a16="http://schemas.microsoft.com/office/drawing/2014/main" id="{E8E5166A-8258-47E9-975E-872AAA6EF8C3}"/>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ABF07DB-33C4-4F84-8029-CE5800B31AA6}"/>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Cross-cohort robustness at broad or fine resolution</a:t>
            </a:r>
          </a:p>
        </p:txBody>
      </p:sp>
      <p:sp>
        <p:nvSpPr>
          <p:cNvPr id="13" name="Rounded Rectangle 12">
            <a:extLst xmlns:a="http://schemas.openxmlformats.org/drawingml/2006/main">
              <a:ext uri="{FF2B5EF4-FFF2-40B4-BE49-F238E27FC236}">
                <a16:creationId xmlns:a16="http://schemas.microsoft.com/office/drawing/2014/main" id="{F9E68E1D-9E30-4ACD-B0D1-A6A3DA3A4D87}"/>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1020CD90-973C-492E-80B0-339BAA949249}"/>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E4BEDD9F-8007-407A-9CFB-20B2C1B53D8C}"/>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46D0BCF9-C26F-4F8A-AD88-11B48956D1A3}"/>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6950AD8-AFA0-45DE-865A-E819C14F590E}"/>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Freeze a mitonuclear balance score before testing</a:t>
            </a:r>
          </a:p>
        </p:txBody>
      </p:sp>
      <p:sp>
        <p:nvSpPr>
          <p:cNvPr id="18" name="Oval 17">
            <a:extLst xmlns:a="http://schemas.openxmlformats.org/drawingml/2006/main">
              <a:ext uri="{FF2B5EF4-FFF2-40B4-BE49-F238E27FC236}">
                <a16:creationId xmlns:a16="http://schemas.microsoft.com/office/drawing/2014/main" id="{A9270600-42B7-45D3-892E-15825AFDF8EB}"/>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EF62B9C9-D658-4409-B9D5-3A37C08E9CA7}"/>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Compare male ε4 with male ε3/ε3 and female ε4</a:t>
            </a:r>
          </a:p>
        </p:txBody>
      </p:sp>
      <p:sp>
        <p:nvSpPr>
          <p:cNvPr id="20" name="Oval 19">
            <a:extLst xmlns:a="http://schemas.openxmlformats.org/drawingml/2006/main">
              <a:ext uri="{FF2B5EF4-FFF2-40B4-BE49-F238E27FC236}">
                <a16:creationId xmlns:a16="http://schemas.microsoft.com/office/drawing/2014/main" id="{1433335F-9A5E-417A-B093-67A4EB27DDE2}"/>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026048D-B65C-4D41-BC8E-B37EF1F38738}"/>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paired OXPHOS proteins and respiratory function</a:t>
            </a:r>
          </a:p>
        </p:txBody>
      </p:sp>
      <p:sp>
        <p:nvSpPr>
          <p:cNvPr id="22" name="TextBox 21">
            <a:extLst xmlns:a="http://schemas.openxmlformats.org/drawingml/2006/main">
              <a:ext uri="{FF2B5EF4-FFF2-40B4-BE49-F238E27FC236}">
                <a16:creationId xmlns:a16="http://schemas.microsoft.com/office/drawing/2014/main" id="{4BC80B27-665E-4833-AB7B-6A152CEBB20D}"/>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8D4F84C7-55F0-488F-8993-0DFB94B7F28A}"/>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1396117392"/>
      </p:ext>
    </p:extLst>
  </p:cSld>
</p:sld>
</file>

<file path=ppt/slides/slide8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A2A71E9-ACDA-4765-A7F9-B0CEB1DF662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xmlns:a="http://schemas.openxmlformats.org/drawingml/2006/main">
              <a:ext uri="{FF2B5EF4-FFF2-40B4-BE49-F238E27FC236}">
                <a16:creationId xmlns:a16="http://schemas.microsoft.com/office/drawing/2014/main" id="{48F05558-F943-4C0C-9C78-73E3EBC443D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0C903E9D-C867-4E6D-B6F1-2D65D2917DF6}"/>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17AE226-23F7-4507-B0B8-8C300C84E9AE}"/>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CE5FF710-8136-46D7-B9C6-284FD0953E34}"/>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xmlns:a="http://schemas.openxmlformats.org/drawingml/2006/main">
              <a:ext uri="{FF2B5EF4-FFF2-40B4-BE49-F238E27FC236}">
                <a16:creationId xmlns:a16="http://schemas.microsoft.com/office/drawing/2014/main" id="{BE9C768D-62BE-407B-828D-D02B15976982}"/>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9BAE84CC-1156-45D1-B3EC-2DE3677830A1}"/>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xmlns:a="http://schemas.openxmlformats.org/drawingml/2006/main">
              <a:ext uri="{FF2B5EF4-FFF2-40B4-BE49-F238E27FC236}">
                <a16:creationId xmlns:a16="http://schemas.microsoft.com/office/drawing/2014/main" id="{86212FEB-C905-4023-B4CE-3E39222AAF43}"/>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A6DF6AFE-5D1D-4221-BE74-25CA572331ED}"/>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RNA mismatch.</a:t>
            </a:r>
          </a:p>
        </p:txBody>
      </p:sp>
      <p:sp>
        <p:nvSpPr>
          <p:cNvPr id="11" name="Rounded Rectangle 10">
            <a:extLst xmlns:a="http://schemas.openxmlformats.org/drawingml/2006/main">
              <a:ext uri="{FF2B5EF4-FFF2-40B4-BE49-F238E27FC236}">
                <a16:creationId xmlns:a16="http://schemas.microsoft.com/office/drawing/2014/main" id="{FA5A70B5-ED40-4A94-9C96-69CF00AAD108}"/>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619859B-7770-4E65-9610-E6F7B16750F3}"/>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A6B440C9-AFA2-4622-B717-DF2B9BEE1DDA}"/>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xmlns:a="http://schemas.openxmlformats.org/drawingml/2006/main">
              <a:ext uri="{FF2B5EF4-FFF2-40B4-BE49-F238E27FC236}">
                <a16:creationId xmlns:a16="http://schemas.microsoft.com/office/drawing/2014/main" id="{20C1216D-627E-4BAF-93EC-FF63B2D2A9AB}"/>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FF7CF12F-A69F-4AE5-8842-F672880271B2}"/>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xmlns:a="http://schemas.openxmlformats.org/drawingml/2006/main">
              <a:ext uri="{FF2B5EF4-FFF2-40B4-BE49-F238E27FC236}">
                <a16:creationId xmlns:a16="http://schemas.microsoft.com/office/drawing/2014/main" id="{D60C0674-C91F-4F95-B95A-6EDEAF6B2D83}"/>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DFEF089C-4CF8-487F-BC4B-57340E96F366}"/>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xmlns:a="http://schemas.openxmlformats.org/drawingml/2006/main">
              <a:ext uri="{FF2B5EF4-FFF2-40B4-BE49-F238E27FC236}">
                <a16:creationId xmlns:a16="http://schemas.microsoft.com/office/drawing/2014/main" id="{087EB3B4-9294-4423-B7F0-8277CEE7876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7CBDB310-912D-46D4-9AA6-6CD32DDC683A}"/>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xmlns:a="http://schemas.openxmlformats.org/drawingml/2006/main">
              <a:ext uri="{FF2B5EF4-FFF2-40B4-BE49-F238E27FC236}">
                <a16:creationId xmlns:a16="http://schemas.microsoft.com/office/drawing/2014/main" id="{B57CC57B-E52D-4903-8DEE-48C40C4A2597}"/>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xmlns:a="http://schemas.openxmlformats.org/drawingml/2006/main">
              <a:ext uri="{FF2B5EF4-FFF2-40B4-BE49-F238E27FC236}">
                <a16:creationId xmlns:a16="http://schemas.microsoft.com/office/drawing/2014/main" id="{517E81FA-421A-4304-A594-F165D93BA2F1}"/>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209B394-6AA7-4AE2-B249-1B9166E9C76C}"/>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xmlns:a="http://schemas.openxmlformats.org/drawingml/2006/main">
              <a:ext uri="{FF2B5EF4-FFF2-40B4-BE49-F238E27FC236}">
                <a16:creationId xmlns:a16="http://schemas.microsoft.com/office/drawing/2014/main" id="{C90C4C24-932F-41F6-B2ED-490C4F59A28D}"/>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14A7C164-EF61-40AF-86A9-58D75AA0F8B7}"/>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xmlns:a="http://schemas.openxmlformats.org/drawingml/2006/main">
              <a:ext uri="{FF2B5EF4-FFF2-40B4-BE49-F238E27FC236}">
                <a16:creationId xmlns:a16="http://schemas.microsoft.com/office/drawing/2014/main" id="{AF22BE5D-53D8-4A84-8D39-F3A1BF013D0F}"/>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4CE44620-9CD4-47D3-984A-8DA730CB5F67}"/>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CDC6F57E-B3DC-49A7-90F2-CDE08642BAE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669556895"/>
      </p:ext>
    </p:extLst>
  </p:cSld>
</p:sld>
</file>

<file path=ppt/slides/slide8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A30096C-D55D-4ABE-BE88-C387D0BC82F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xmlns:a="http://schemas.openxmlformats.org/drawingml/2006/main">
              <a:ext uri="{FF2B5EF4-FFF2-40B4-BE49-F238E27FC236}">
                <a16:creationId xmlns:a16="http://schemas.microsoft.com/office/drawing/2014/main" id="{07B0CE75-22FC-4100-8313-E4706E44D4A7}"/>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C3C69431-9FF7-455D-B05B-FDEFC565A9F3}"/>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mitochondrial OXPHOS</a:t>
            </a:r>
          </a:p>
        </p:txBody>
      </p:sp>
      <p:sp>
        <p:nvSpPr>
          <p:cNvPr id="5" name="TextBox 4">
            <a:extLst xmlns:a="http://schemas.openxmlformats.org/drawingml/2006/main">
              <a:ext uri="{FF2B5EF4-FFF2-40B4-BE49-F238E27FC236}">
                <a16:creationId xmlns:a16="http://schemas.microsoft.com/office/drawing/2014/main" id="{F8D6A132-DA96-4B45-A6C1-D185F88F3AAE}"/>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xmlns:a="http://schemas.openxmlformats.org/drawingml/2006/main">
              <a:ext uri="{FF2B5EF4-FFF2-40B4-BE49-F238E27FC236}">
                <a16:creationId xmlns:a16="http://schemas.microsoft.com/office/drawing/2014/main" id="{5E0DD4EE-16C5-4B5E-8D67-C37838FD31DB}"/>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992BAB1-4CF7-49F2-A7F6-F7C44F5441D2}"/>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7D2E195A-3D64-4006-9A64-A4891184F27E}"/>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EDFA596-292D-43DA-A9B2-AC8E7D6DCF6A}"/>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64A5EBE7-AA63-4C62-B3E7-BE1548BF254A}"/>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5D94ECA2-C6DC-47D4-A59B-8706C781052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E636E218-D1FF-479C-B0D8-E316DCA8565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538101FC-12F6-4201-B4F7-40718E74E9F0}"/>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A3949646-4552-4DCA-8126-1D1729BF38F6}"/>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CD2DD9D-3B14-4251-A7B1-CDF917C09991}"/>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4557481F-5C9A-45C6-B1DC-49C44F3B9F5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3ABF24A2-A5FD-43C9-9B7C-7067C81CCBD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2634772-17BE-4470-B29B-9F033C6E0A2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E70C0E51-8788-4D9D-BD42-EE7F7D56DFD1}"/>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7BA88BDA-1487-4601-96AB-7683EE0DB8DE}"/>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9022C60-AB20-43D1-B804-5E0878689463}"/>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 OXPHOS query genes.</a:t>
            </a:r>
          </a:p>
        </p:txBody>
      </p:sp>
    </p:spTree>
    <p:extLst>
      <p:ext uri="{BB962C8B-B14F-4D97-AF65-F5344CB8AC3E}">
        <p14:creationId xmlns:p14="http://schemas.microsoft.com/office/powerpoint/2010/main" val="1360297034"/>
      </p:ext>
    </p:extLst>
  </p:cSld>
</p:sld>
</file>

<file path=ppt/slides/slide8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DFBB544-D8F6-4A23-8F92-A0EF20B5404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mitochondrial OXPHOS queries</a:t>
            </a:r>
          </a:p>
        </p:txBody>
      </p:sp>
      <p:sp>
        <p:nvSpPr>
          <p:cNvPr id="3" name="TextBox 2">
            <a:extLst xmlns:a="http://schemas.openxmlformats.org/drawingml/2006/main">
              <a:ext uri="{FF2B5EF4-FFF2-40B4-BE49-F238E27FC236}">
                <a16:creationId xmlns:a16="http://schemas.microsoft.com/office/drawing/2014/main" id="{F5F948E9-1AF0-4521-BF33-5C488EBD0DF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drivers.</a:t>
            </a:r>
          </a:p>
        </p:txBody>
      </p:sp>
      <p:sp>
        <p:nvSpPr>
          <p:cNvPr id="4" name="Rounded Rectangle 3">
            <a:extLst xmlns:a="http://schemas.openxmlformats.org/drawingml/2006/main">
              <a:ext uri="{FF2B5EF4-FFF2-40B4-BE49-F238E27FC236}">
                <a16:creationId xmlns:a16="http://schemas.microsoft.com/office/drawing/2014/main" id="{7B5F358A-4756-4D54-A5C1-0832FF4DB8B9}"/>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F618BE8-344B-4EF7-BC67-F133103B2DDE}"/>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xmlns:a="http://schemas.openxmlformats.org/drawingml/2006/main">
              <a:ext uri="{FF2B5EF4-FFF2-40B4-BE49-F238E27FC236}">
                <a16:creationId xmlns:a16="http://schemas.microsoft.com/office/drawing/2014/main" id="{E89E6262-E83F-468C-B5C3-934B522C060F}"/>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02F4112-022A-4367-9B1E-F8B0600D2E81}"/>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xmlns:a="http://schemas.openxmlformats.org/drawingml/2006/main">
              <a:ext uri="{FF2B5EF4-FFF2-40B4-BE49-F238E27FC236}">
                <a16:creationId xmlns:a16="http://schemas.microsoft.com/office/drawing/2014/main" id="{9F478587-B06E-4AAE-AD39-1B83458A175C}"/>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D447518-AEF0-4634-A75A-F701EB753193}"/>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xmlns:a="http://schemas.openxmlformats.org/drawingml/2006/main">
              <a:ext uri="{FF2B5EF4-FFF2-40B4-BE49-F238E27FC236}">
                <a16:creationId xmlns:a16="http://schemas.microsoft.com/office/drawing/2014/main" id="{C1064A77-A287-4464-8DB0-F4D1D1C92B61}"/>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A360CBE-6388-4CE9-AD62-23D21E880FC1}"/>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xmlns:a="http://schemas.openxmlformats.org/drawingml/2006/main">
              <a:ext uri="{FF2B5EF4-FFF2-40B4-BE49-F238E27FC236}">
                <a16:creationId xmlns:a16="http://schemas.microsoft.com/office/drawing/2014/main" id="{7C4A4FEE-B5D0-4C1C-BC2A-C9D3CC159D5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29C9D1E-DFCA-49A2-B24F-8A510720E7DD}"/>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xmlns:a="http://schemas.openxmlformats.org/drawingml/2006/main">
              <a:ext uri="{FF2B5EF4-FFF2-40B4-BE49-F238E27FC236}">
                <a16:creationId xmlns:a16="http://schemas.microsoft.com/office/drawing/2014/main" id="{6046503C-D1FF-484C-B6DD-48E57AB617F6}"/>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xmlns:a="http://schemas.openxmlformats.org/drawingml/2006/main">
              <a:ext uri="{FF2B5EF4-FFF2-40B4-BE49-F238E27FC236}">
                <a16:creationId xmlns:a16="http://schemas.microsoft.com/office/drawing/2014/main" id="{AF24597A-943C-4FBA-8507-31BB0E72E474}"/>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xmlns:a="http://schemas.openxmlformats.org/drawingml/2006/main">
              <a:ext uri="{FF2B5EF4-FFF2-40B4-BE49-F238E27FC236}">
                <a16:creationId xmlns:a16="http://schemas.microsoft.com/office/drawing/2014/main" id="{839150BF-0612-4C7E-8DE5-4D72DF1AC83E}"/>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CB9F65F-8DEB-4394-8293-29C490762A83}"/>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xmlns:a="http://schemas.openxmlformats.org/drawingml/2006/main">
              <a:ext uri="{FF2B5EF4-FFF2-40B4-BE49-F238E27FC236}">
                <a16:creationId xmlns:a16="http://schemas.microsoft.com/office/drawing/2014/main" id="{F2E56F0C-C337-4213-AF26-E3694C5C497C}"/>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 OXPHOS</a:t>
            </a:r>
          </a:p>
        </p:txBody>
      </p:sp>
      <p:sp>
        <p:nvSpPr>
          <p:cNvPr id="19" name="TextBox 18">
            <a:extLst xmlns:a="http://schemas.openxmlformats.org/drawingml/2006/main">
              <a:ext uri="{FF2B5EF4-FFF2-40B4-BE49-F238E27FC236}">
                <a16:creationId xmlns:a16="http://schemas.microsoft.com/office/drawing/2014/main" id="{98BC256B-4C52-4B77-89A0-46093E677641}"/>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Many returned ribosomal genes sit near nuclear genes that encode respiratory parts.</a:t>
            </a:r>
          </a:p>
        </p:txBody>
      </p:sp>
      <p:sp>
        <p:nvSpPr>
          <p:cNvPr id="20" name="Rounded Rectangle 19">
            <a:extLst xmlns:a="http://schemas.openxmlformats.org/drawingml/2006/main">
              <a:ext uri="{FF2B5EF4-FFF2-40B4-BE49-F238E27FC236}">
                <a16:creationId xmlns:a16="http://schemas.microsoft.com/office/drawing/2014/main" id="{E192E207-FA87-4FBB-8BF7-AC2FBF7243A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72387CA-D53D-43E0-BB76-1EA94052DE20}"/>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E7B1DBBA-A9DD-4A8A-9D9F-3C29084EB6F5}"/>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xmlns:a="http://schemas.openxmlformats.org/drawingml/2006/main">
              <a:ext uri="{FF2B5EF4-FFF2-40B4-BE49-F238E27FC236}">
                <a16:creationId xmlns:a16="http://schemas.microsoft.com/office/drawing/2014/main" id="{666C867F-9E8C-4E47-997A-A993B62C5C1D}"/>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xmlns:a="http://schemas.openxmlformats.org/drawingml/2006/main">
              <a:ext uri="{FF2B5EF4-FFF2-40B4-BE49-F238E27FC236}">
                <a16:creationId xmlns:a16="http://schemas.microsoft.com/office/drawing/2014/main" id="{86D1A0DC-0847-4936-9BD9-E2D134167017}"/>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698503D-46AA-46F9-AFE6-331ADBF50747}"/>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
        <p:nvSpPr>
          <p:cNvPr id="26" name="TextBox 25">
            <a:extLst xmlns:a="http://schemas.openxmlformats.org/drawingml/2006/main">
              <a:ext uri="{FF2B5EF4-FFF2-40B4-BE49-F238E27FC236}">
                <a16:creationId xmlns:a16="http://schemas.microsoft.com/office/drawing/2014/main" id="{63C7FD32-EC3E-43D7-924F-CE17AE401C1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1213571903"/>
      </p:ext>
    </p:extLst>
  </p:cSld>
</p:sld>
</file>

<file path=ppt/slides/slide8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03088E-7B7F-40A5-A318-955B4FE0003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drivers</a:t>
            </a:r>
          </a:p>
        </p:txBody>
      </p:sp>
      <p:sp>
        <p:nvSpPr>
          <p:cNvPr id="3" name="TextBox 2">
            <a:extLst xmlns:a="http://schemas.openxmlformats.org/drawingml/2006/main">
              <a:ext uri="{FF2B5EF4-FFF2-40B4-BE49-F238E27FC236}">
                <a16:creationId xmlns:a16="http://schemas.microsoft.com/office/drawing/2014/main" id="{04DDBCE3-B07A-4DD9-AFA8-CBAD55D2B79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non-mitochondrial drivers with the exact network background.</a:t>
            </a:r>
          </a:p>
        </p:txBody>
      </p:sp>
      <p:sp>
        <p:nvSpPr>
          <p:cNvPr id="4" name="Rounded Rectangle 3">
            <a:extLst xmlns:a="http://schemas.openxmlformats.org/drawingml/2006/main">
              <a:ext uri="{FF2B5EF4-FFF2-40B4-BE49-F238E27FC236}">
                <a16:creationId xmlns:a16="http://schemas.microsoft.com/office/drawing/2014/main" id="{070465E0-6370-475D-909C-DF9DE1A646C5}"/>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B9C1632-7C2F-4B62-B2DA-D1237A884F2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xmlns:a="http://schemas.openxmlformats.org/drawingml/2006/main">
              <a:ext uri="{FF2B5EF4-FFF2-40B4-BE49-F238E27FC236}">
                <a16:creationId xmlns:a16="http://schemas.microsoft.com/office/drawing/2014/main" id="{B45BD6CB-3B2D-45FA-9C27-691CD049C09C}"/>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driver genes in KEGG ribosome</a:t>
            </a:r>
          </a:p>
        </p:txBody>
      </p:sp>
      <p:sp>
        <p:nvSpPr>
          <p:cNvPr id="7" name="TextBox 6">
            <a:extLst xmlns:a="http://schemas.openxmlformats.org/drawingml/2006/main">
              <a:ext uri="{FF2B5EF4-FFF2-40B4-BE49-F238E27FC236}">
                <a16:creationId xmlns:a16="http://schemas.microsoft.com/office/drawing/2014/main" id="{26B151A9-D7BA-4BBA-A3CD-5C6147453967}"/>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8.8% of drivers</a:t>
            </a:r>
          </a:p>
        </p:txBody>
      </p:sp>
      <p:sp>
        <p:nvSpPr>
          <p:cNvPr id="8" name="Rounded Rectangle 7">
            <a:extLst xmlns:a="http://schemas.openxmlformats.org/drawingml/2006/main">
              <a:ext uri="{FF2B5EF4-FFF2-40B4-BE49-F238E27FC236}">
                <a16:creationId xmlns:a16="http://schemas.microsoft.com/office/drawing/2014/main" id="{18E7AB4F-91F3-4F21-A0E9-33F0E55BCC4B}"/>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BEC5A8B-0959-4C55-8BFE-AB540D794AA5}"/>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xmlns:a="http://schemas.openxmlformats.org/drawingml/2006/main">
              <a:ext uri="{FF2B5EF4-FFF2-40B4-BE49-F238E27FC236}">
                <a16:creationId xmlns:a16="http://schemas.microsoft.com/office/drawing/2014/main" id="{76178430-4303-4D2F-AFC8-9EB6B75A56E2}"/>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xmlns:a="http://schemas.openxmlformats.org/drawingml/2006/main">
              <a:ext uri="{FF2B5EF4-FFF2-40B4-BE49-F238E27FC236}">
                <a16:creationId xmlns:a16="http://schemas.microsoft.com/office/drawing/2014/main" id="{36DA09F3-D6BA-4B92-B7B5-D214C36B1071}"/>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xmlns:a="http://schemas.openxmlformats.org/drawingml/2006/main">
              <a:ext uri="{FF2B5EF4-FFF2-40B4-BE49-F238E27FC236}">
                <a16:creationId xmlns:a16="http://schemas.microsoft.com/office/drawing/2014/main" id="{B868E2BB-FEAE-47E4-95C6-3CF71804D14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2C19F39-395A-4FC9-999E-31EA61BC569F}"/>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xmlns:a="http://schemas.openxmlformats.org/drawingml/2006/main">
              <a:ext uri="{FF2B5EF4-FFF2-40B4-BE49-F238E27FC236}">
                <a16:creationId xmlns:a16="http://schemas.microsoft.com/office/drawing/2014/main" id="{5C6F3150-E512-4764-9B62-2F030B27B8D6}"/>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xmlns:a="http://schemas.openxmlformats.org/drawingml/2006/main">
              <a:ext uri="{FF2B5EF4-FFF2-40B4-BE49-F238E27FC236}">
                <a16:creationId xmlns:a16="http://schemas.microsoft.com/office/drawing/2014/main" id="{C5479A13-DB3C-423D-A352-1DA9C260821E}"/>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xmlns:a="http://schemas.openxmlformats.org/drawingml/2006/main">
              <a:ext uri="{FF2B5EF4-FFF2-40B4-BE49-F238E27FC236}">
                <a16:creationId xmlns:a16="http://schemas.microsoft.com/office/drawing/2014/main" id="{3527DFDE-BA14-4702-BCD8-C301A7AEB06E}"/>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F21CF7D-A077-43C8-ACA9-72B49E036694}"/>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xmlns:a="http://schemas.openxmlformats.org/drawingml/2006/main">
              <a:ext uri="{FF2B5EF4-FFF2-40B4-BE49-F238E27FC236}">
                <a16:creationId xmlns:a16="http://schemas.microsoft.com/office/drawing/2014/main" id="{9BD0921F-6F38-4B9F-8885-64432A51DA65}"/>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xmlns:a="http://schemas.openxmlformats.org/drawingml/2006/main">
              <a:ext uri="{FF2B5EF4-FFF2-40B4-BE49-F238E27FC236}">
                <a16:creationId xmlns:a16="http://schemas.microsoft.com/office/drawing/2014/main" id="{FF69B278-636A-4731-9D5B-E83CEE98A550}"/>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non-mitochondrial drivers</a:t>
            </a:r>
          </a:p>
        </p:txBody>
      </p:sp>
      <p:sp>
        <p:nvSpPr>
          <p:cNvPr id="20" name="Rounded Rectangle 19">
            <a:extLst xmlns:a="http://schemas.openxmlformats.org/drawingml/2006/main">
              <a:ext uri="{FF2B5EF4-FFF2-40B4-BE49-F238E27FC236}">
                <a16:creationId xmlns:a16="http://schemas.microsoft.com/office/drawing/2014/main" id="{27237102-88B2-4F21-8E41-73E22D11A1A8}"/>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F4501BF3-DDC5-4C55-B9F7-27CADF7206C6}"/>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xmlns:a="http://schemas.openxmlformats.org/drawingml/2006/main">
              <a:ext uri="{FF2B5EF4-FFF2-40B4-BE49-F238E27FC236}">
                <a16:creationId xmlns:a16="http://schemas.microsoft.com/office/drawing/2014/main" id="{6803D6A2-450E-47B3-AFAC-1F54A320FDE1}"/>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xmlns:a="http://schemas.openxmlformats.org/drawingml/2006/main">
              <a:ext uri="{FF2B5EF4-FFF2-40B4-BE49-F238E27FC236}">
                <a16:creationId xmlns:a16="http://schemas.microsoft.com/office/drawing/2014/main" id="{F3762E1C-DCD7-4394-9FCB-80052C34923A}"/>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non-mitochondrial gene-by-category units</a:t>
            </a:r>
          </a:p>
        </p:txBody>
      </p:sp>
      <p:sp>
        <p:nvSpPr>
          <p:cNvPr id="24" name="Rounded Rectangle 23">
            <a:extLst xmlns:a="http://schemas.openxmlformats.org/drawingml/2006/main">
              <a:ext uri="{FF2B5EF4-FFF2-40B4-BE49-F238E27FC236}">
                <a16:creationId xmlns:a16="http://schemas.microsoft.com/office/drawing/2014/main" id="{305784A7-FB06-45B2-91E0-70535D7D4D3F}"/>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1477520-6929-4135-B126-74E8CF9A7BF1}"/>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Within-call returns</a:t>
            </a:r>
          </a:p>
        </p:txBody>
      </p:sp>
      <p:sp>
        <p:nvSpPr>
          <p:cNvPr id="26" name="TextBox 25">
            <a:extLst xmlns:a="http://schemas.openxmlformats.org/drawingml/2006/main">
              <a:ext uri="{FF2B5EF4-FFF2-40B4-BE49-F238E27FC236}">
                <a16:creationId xmlns:a16="http://schemas.microsoft.com/office/drawing/2014/main" id="{FAD1FA64-59DA-44CB-8DCE-1D0AAA93DBA0}"/>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xmlns:a="http://schemas.openxmlformats.org/drawingml/2006/main">
              <a:ext uri="{FF2B5EF4-FFF2-40B4-BE49-F238E27FC236}">
                <a16:creationId xmlns:a16="http://schemas.microsoft.com/office/drawing/2014/main" id="{6259C5B6-DA10-404B-B8FF-6098C752DAF3}"/>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non-mitochondrial returns</a:t>
            </a:r>
          </a:p>
        </p:txBody>
      </p:sp>
      <p:sp>
        <p:nvSpPr>
          <p:cNvPr id="28" name="TextBox 27">
            <a:extLst xmlns:a="http://schemas.openxmlformats.org/drawingml/2006/main">
              <a:ext uri="{FF2B5EF4-FFF2-40B4-BE49-F238E27FC236}">
                <a16:creationId xmlns:a16="http://schemas.microsoft.com/office/drawing/2014/main" id="{17137BFD-B69D-46EC-B7E2-666D3494F31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984656830"/>
      </p:ext>
    </p:extLst>
  </p:cSld>
</p:sld>
</file>

<file path=ppt/slides/slide8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1ECEB0D-82E5-4A68-A750-B6FFB744DF9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xmlns:a="http://schemas.openxmlformats.org/drawingml/2006/main">
              <a:ext uri="{FF2B5EF4-FFF2-40B4-BE49-F238E27FC236}">
                <a16:creationId xmlns:a16="http://schemas.microsoft.com/office/drawing/2014/main" id="{9C4B00F1-7172-4E70-B7A6-4FE0B604F08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RPL11 has a broad nuclear-OXPHOS neighborhood, while RPS15 recurs across the most categories.</a:t>
            </a:r>
          </a:p>
        </p:txBody>
      </p:sp>
      <p:sp>
        <p:nvSpPr>
          <p:cNvPr id="4" name="Rounded Rectangle 3">
            <a:extLst xmlns:a="http://schemas.openxmlformats.org/drawingml/2006/main">
              <a:ext uri="{FF2B5EF4-FFF2-40B4-BE49-F238E27FC236}">
                <a16:creationId xmlns:a16="http://schemas.microsoft.com/office/drawing/2014/main" id="{A94105D6-9B82-4584-9332-A1A86CF5C026}"/>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D41EB52-46A9-4F9F-8911-18CA06570A68}"/>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xmlns:a="http://schemas.openxmlformats.org/drawingml/2006/main">
              <a:ext uri="{FF2B5EF4-FFF2-40B4-BE49-F238E27FC236}">
                <a16:creationId xmlns:a16="http://schemas.microsoft.com/office/drawing/2014/main" id="{84FA191D-3DA5-4D7C-8A90-3A882FB297A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24 calls, 10 categories</a:t>
            </a:r>
          </a:p>
        </p:txBody>
      </p:sp>
      <p:sp>
        <p:nvSpPr>
          <p:cNvPr id="7" name="TextBox 6">
            <a:extLst xmlns:a="http://schemas.openxmlformats.org/drawingml/2006/main">
              <a:ext uri="{FF2B5EF4-FFF2-40B4-BE49-F238E27FC236}">
                <a16:creationId xmlns:a16="http://schemas.microsoft.com/office/drawing/2014/main" id="{5C7198F6-4A48-4023-906E-67C94CAD078C}"/>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calls span all six strata and four broad networks.</a:t>
            </a:r>
          </a:p>
        </p:txBody>
      </p:sp>
      <p:sp>
        <p:nvSpPr>
          <p:cNvPr id="8" name="Rounded Rectangle 7">
            <a:extLst xmlns:a="http://schemas.openxmlformats.org/drawingml/2006/main">
              <a:ext uri="{FF2B5EF4-FFF2-40B4-BE49-F238E27FC236}">
                <a16:creationId xmlns:a16="http://schemas.microsoft.com/office/drawing/2014/main" id="{BD8980A6-18D0-49D1-93F4-4D2C46CEFC19}"/>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B6BAFD5-50B5-404C-B88E-7BE7ECB81A72}"/>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xmlns:a="http://schemas.openxmlformats.org/drawingml/2006/main">
              <a:ext uri="{FF2B5EF4-FFF2-40B4-BE49-F238E27FC236}">
                <a16:creationId xmlns:a16="http://schemas.microsoft.com/office/drawing/2014/main" id="{1FE26178-FBD9-48F2-88CD-95EE39996AD6}"/>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xmlns:a="http://schemas.openxmlformats.org/drawingml/2006/main">
              <a:ext uri="{FF2B5EF4-FFF2-40B4-BE49-F238E27FC236}">
                <a16:creationId xmlns:a16="http://schemas.microsoft.com/office/drawing/2014/main" id="{23309AD4-C1DB-40A5-B36C-B8B541EA27BB}"/>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Nuclear structural OXPHOS contributes 151 overlaps, including 100 AD-down occurrences.</a:t>
            </a:r>
          </a:p>
        </p:txBody>
      </p:sp>
      <p:sp>
        <p:nvSpPr>
          <p:cNvPr id="12" name="Rounded Rectangle 11">
            <a:extLst xmlns:a="http://schemas.openxmlformats.org/drawingml/2006/main">
              <a:ext uri="{FF2B5EF4-FFF2-40B4-BE49-F238E27FC236}">
                <a16:creationId xmlns:a16="http://schemas.microsoft.com/office/drawing/2014/main" id="{DC5F9ACF-3048-4799-BFC7-1446758F7C5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9751D64-CD33-4E47-B920-0DCC8F68C20B}"/>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xmlns:a="http://schemas.openxmlformats.org/drawingml/2006/main">
              <a:ext uri="{FF2B5EF4-FFF2-40B4-BE49-F238E27FC236}">
                <a16:creationId xmlns:a16="http://schemas.microsoft.com/office/drawing/2014/main" id="{271013E1-5CAF-4208-8AD3-4CE6E39C89D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22 calls, 11 categories</a:t>
            </a:r>
          </a:p>
        </p:txBody>
      </p:sp>
      <p:sp>
        <p:nvSpPr>
          <p:cNvPr id="15" name="TextBox 14">
            <a:extLst xmlns:a="http://schemas.openxmlformats.org/drawingml/2006/main">
              <a:ext uri="{FF2B5EF4-FFF2-40B4-BE49-F238E27FC236}">
                <a16:creationId xmlns:a16="http://schemas.microsoft.com/office/drawing/2014/main" id="{1AE2C159-7217-451E-B2C5-CE86DDC2A68B}"/>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xmlns:a="http://schemas.openxmlformats.org/drawingml/2006/main">
              <a:ext uri="{FF2B5EF4-FFF2-40B4-BE49-F238E27FC236}">
                <a16:creationId xmlns:a16="http://schemas.microsoft.com/office/drawing/2014/main" id="{BECF2EDB-75A0-4EA0-936D-1D86C5C8B0D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78829E4-8A6A-4094-9DD9-26775597AB03}"/>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
        <p:nvSpPr>
          <p:cNvPr id="18" name="TextBox 17">
            <a:extLst xmlns:a="http://schemas.openxmlformats.org/drawingml/2006/main">
              <a:ext uri="{FF2B5EF4-FFF2-40B4-BE49-F238E27FC236}">
                <a16:creationId xmlns:a16="http://schemas.microsoft.com/office/drawing/2014/main" id="{F272BDC1-E687-440D-9DC3-E26F9536453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192445171"/>
      </p:ext>
    </p:extLst>
  </p:cSld>
</p:sld>
</file>

<file path=ppt/slides/slide9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840BC72-964A-4CD2-B5F9-2B0F797DACE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xmlns:a="http://schemas.openxmlformats.org/drawingml/2006/main">
              <a:ext uri="{FF2B5EF4-FFF2-40B4-BE49-F238E27FC236}">
                <a16:creationId xmlns:a16="http://schemas.microsoft.com/office/drawing/2014/main" id="{3F8C7EFD-4F1B-431D-AAAE-56EE2E0D66F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xmlns:a="http://schemas.openxmlformats.org/drawingml/2006/main">
              <a:ext uri="{FF2B5EF4-FFF2-40B4-BE49-F238E27FC236}">
                <a16:creationId xmlns:a16="http://schemas.microsoft.com/office/drawing/2014/main" id="{9619287F-EE6E-41B9-AF6C-20A166E90580}"/>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A503887-5DA6-4131-95DF-76140003FFEB}"/>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xmlns:a="http://schemas.openxmlformats.org/drawingml/2006/main">
              <a:ext uri="{FF2B5EF4-FFF2-40B4-BE49-F238E27FC236}">
                <a16:creationId xmlns:a16="http://schemas.microsoft.com/office/drawing/2014/main" id="{38DF7140-D0BF-4FD4-BD8E-888370115E5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xmlns:a="http://schemas.openxmlformats.org/drawingml/2006/main">
              <a:ext uri="{FF2B5EF4-FFF2-40B4-BE49-F238E27FC236}">
                <a16:creationId xmlns:a16="http://schemas.microsoft.com/office/drawing/2014/main" id="{F5DD6E54-2AB9-4B9D-9D36-74720FEFCEE9}"/>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Cells must produce nuclear OXPHOS proteins before respiratory complexes can assemble.</a:t>
            </a:r>
          </a:p>
        </p:txBody>
      </p:sp>
      <p:sp>
        <p:nvSpPr>
          <p:cNvPr id="8" name="Rounded Rectangle 7">
            <a:extLst xmlns:a="http://schemas.openxmlformats.org/drawingml/2006/main">
              <a:ext uri="{FF2B5EF4-FFF2-40B4-BE49-F238E27FC236}">
                <a16:creationId xmlns:a16="http://schemas.microsoft.com/office/drawing/2014/main" id="{24F967C4-333E-41D0-8D8C-DD422AE4005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81D10F2-B23C-4EC9-96A3-5F3D82C6BC51}"/>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xmlns:a="http://schemas.openxmlformats.org/drawingml/2006/main">
              <a:ext uri="{FF2B5EF4-FFF2-40B4-BE49-F238E27FC236}">
                <a16:creationId xmlns:a16="http://schemas.microsoft.com/office/drawing/2014/main" id="{BC0E480D-53C1-4786-9F48-53A6D896EEC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xmlns:a="http://schemas.openxmlformats.org/drawingml/2006/main">
              <a:ext uri="{FF2B5EF4-FFF2-40B4-BE49-F238E27FC236}">
                <a16:creationId xmlns:a16="http://schemas.microsoft.com/office/drawing/2014/main" id="{0615F3DB-50FE-4882-803F-E8F4A376C28E}"/>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xmlns:a="http://schemas.openxmlformats.org/drawingml/2006/main">
              <a:ext uri="{FF2B5EF4-FFF2-40B4-BE49-F238E27FC236}">
                <a16:creationId xmlns:a16="http://schemas.microsoft.com/office/drawing/2014/main" id="{CFB3EC32-C6DD-4A23-85B8-FF8FEC1A9AA3}"/>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CE484985-B36C-43D8-8C42-091DB1208684}"/>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xmlns:a="http://schemas.openxmlformats.org/drawingml/2006/main">
              <a:ext uri="{FF2B5EF4-FFF2-40B4-BE49-F238E27FC236}">
                <a16:creationId xmlns:a16="http://schemas.microsoft.com/office/drawing/2014/main" id="{7D64DB26-CCC4-4DEA-BCE1-0B4A73CC9710}"/>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xmlns:a="http://schemas.openxmlformats.org/drawingml/2006/main">
              <a:ext uri="{FF2B5EF4-FFF2-40B4-BE49-F238E27FC236}">
                <a16:creationId xmlns:a16="http://schemas.microsoft.com/office/drawing/2014/main" id="{7A21DBE8-3B71-4E73-961E-D4E529837872}"/>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xmlns:a="http://schemas.openxmlformats.org/drawingml/2006/main">
              <a:ext uri="{FF2B5EF4-FFF2-40B4-BE49-F238E27FC236}">
                <a16:creationId xmlns:a16="http://schemas.microsoft.com/office/drawing/2014/main" id="{18D03085-4147-44B0-9DA5-45ED7C66777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BDFD376-0BC0-4A41-8A6D-1E5DAD72A905}"/>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11ACFECC-ECC3-4DA5-BE84-F64FE94253F2}"/>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
        <p:nvSpPr>
          <p:cNvPr id="19" name="TextBox 18">
            <a:extLst xmlns:a="http://schemas.openxmlformats.org/drawingml/2006/main">
              <a:ext uri="{FF2B5EF4-FFF2-40B4-BE49-F238E27FC236}">
                <a16:creationId xmlns:a16="http://schemas.microsoft.com/office/drawing/2014/main" id="{C5AFAAB0-CACB-4F91-BE90-789D85CFED2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2054249622"/>
      </p:ext>
    </p:extLst>
  </p:cSld>
</p:sld>
</file>

<file path=ppt/slides/slide9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5804733-879C-41CC-B029-9964C7F80CC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7 does not prove, and the next evidence needed</a:t>
            </a:r>
          </a:p>
        </p:txBody>
      </p:sp>
      <p:sp>
        <p:nvSpPr>
          <p:cNvPr id="3" name="TextBox 2">
            <a:extLst xmlns:a="http://schemas.openxmlformats.org/drawingml/2006/main">
              <a:ext uri="{FF2B5EF4-FFF2-40B4-BE49-F238E27FC236}">
                <a16:creationId xmlns:a16="http://schemas.microsoft.com/office/drawing/2014/main" id="{5650E44F-F8A0-4F4A-904C-AB9D2A1F387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4CF420AF-DA2A-49F0-85E1-630CB9FBC328}"/>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6456D83B-C654-4A56-BC86-69CB55204F20}"/>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58463B7-1A49-49CF-8926-D7D26A1FBBE9}"/>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365F1BDF-C98B-450A-A8D1-42E1233AF4C4}"/>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53101885-AF4D-451A-9ECC-0889764F1C27}"/>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ribosomal proteins regulate their OXPHOS neighbors</a:t>
            </a:r>
          </a:p>
        </p:txBody>
      </p:sp>
      <p:sp>
        <p:nvSpPr>
          <p:cNvPr id="9" name="Oval 8">
            <a:extLst xmlns:a="http://schemas.openxmlformats.org/drawingml/2006/main">
              <a:ext uri="{FF2B5EF4-FFF2-40B4-BE49-F238E27FC236}">
                <a16:creationId xmlns:a16="http://schemas.microsoft.com/office/drawing/2014/main" id="{ED619F53-D5A8-4D25-96CD-6798FFFED171}"/>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6BE3369C-8B63-4878-B05E-EB5E9782D795}"/>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replication across fine-cell calls</a:t>
            </a:r>
          </a:p>
        </p:txBody>
      </p:sp>
      <p:sp>
        <p:nvSpPr>
          <p:cNvPr id="11" name="Oval 10">
            <a:extLst xmlns:a="http://schemas.openxmlformats.org/drawingml/2006/main">
              <a:ext uri="{FF2B5EF4-FFF2-40B4-BE49-F238E27FC236}">
                <a16:creationId xmlns:a16="http://schemas.microsoft.com/office/drawing/2014/main" id="{75F02FBF-DD87-4E0D-B57A-D65B20ABED5B}"/>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FC595B2E-D648-49A7-92B6-A6599DC2002E}"/>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enrichment survives network-degree controls</a:t>
            </a:r>
          </a:p>
        </p:txBody>
      </p:sp>
      <p:sp>
        <p:nvSpPr>
          <p:cNvPr id="13" name="Rounded Rectangle 12">
            <a:extLst xmlns:a="http://schemas.openxmlformats.org/drawingml/2006/main">
              <a:ext uri="{FF2B5EF4-FFF2-40B4-BE49-F238E27FC236}">
                <a16:creationId xmlns:a16="http://schemas.microsoft.com/office/drawing/2014/main" id="{2E11B984-FF21-4419-8B68-EA30DDEA515D}"/>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786AB69A-770A-4B27-A53A-47D3998A057C}"/>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0A476CE9-76A0-432D-94A6-8F2D59DCC767}"/>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03DB64CB-43C3-40C7-8E7E-FC7898E27D18}"/>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7866790-71E9-48A8-AB65-4F604C1A7989}"/>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Use degree-matched randomized networks</a:t>
            </a:r>
          </a:p>
        </p:txBody>
      </p:sp>
      <p:sp>
        <p:nvSpPr>
          <p:cNvPr id="18" name="Oval 17">
            <a:extLst xmlns:a="http://schemas.openxmlformats.org/drawingml/2006/main">
              <a:ext uri="{FF2B5EF4-FFF2-40B4-BE49-F238E27FC236}">
                <a16:creationId xmlns:a16="http://schemas.microsoft.com/office/drawing/2014/main" id="{7E15F2F3-295D-4A99-9CB9-8F975F00D781}"/>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BEC2C3D7-DC0B-44CE-9366-057615F2CCCE}"/>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Repeat KDA after excluding cytosolic-ribosome nodes</a:t>
            </a:r>
          </a:p>
        </p:txBody>
      </p:sp>
      <p:sp>
        <p:nvSpPr>
          <p:cNvPr id="20" name="Oval 19">
            <a:extLst xmlns:a="http://schemas.openxmlformats.org/drawingml/2006/main">
              <a:ext uri="{FF2B5EF4-FFF2-40B4-BE49-F238E27FC236}">
                <a16:creationId xmlns:a16="http://schemas.microsoft.com/office/drawing/2014/main" id="{B9A2A22F-BF60-4385-A22C-2BF2FCFA2995}"/>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0F46C43-E302-49ED-9B2C-86D3E98AF7E9}"/>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RPL11 or RPS15 and measure translation and respiration</a:t>
            </a:r>
          </a:p>
        </p:txBody>
      </p:sp>
      <p:sp>
        <p:nvSpPr>
          <p:cNvPr id="22" name="TextBox 21">
            <a:extLst xmlns:a="http://schemas.openxmlformats.org/drawingml/2006/main">
              <a:ext uri="{FF2B5EF4-FFF2-40B4-BE49-F238E27FC236}">
                <a16:creationId xmlns:a16="http://schemas.microsoft.com/office/drawing/2014/main" id="{6A5CDAC5-1B5E-4425-9E63-1EA53F5CAAB5}"/>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3824A3E6-A9F9-43A4-A793-92ADEAF2774A}"/>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717706423"/>
      </p:ext>
    </p:extLst>
  </p:cSld>
</p:sld>
</file>

<file path=ppt/slides/slide9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C333D30-89FA-4312-AEC1-36B8E06C111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xmlns:a="http://schemas.openxmlformats.org/drawingml/2006/main">
              <a:ext uri="{FF2B5EF4-FFF2-40B4-BE49-F238E27FC236}">
                <a16:creationId xmlns:a16="http://schemas.microsoft.com/office/drawing/2014/main" id="{9EACC32D-13D1-49F2-8DF6-04E8F20B0B3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5EF66AB3-A9AD-446A-BC67-5E08F1F79B96}"/>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7FC84C1-18EE-41D8-A7A8-FADA2B4FEEB9}"/>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xmlns:a="http://schemas.openxmlformats.org/drawingml/2006/main">
              <a:ext uri="{FF2B5EF4-FFF2-40B4-BE49-F238E27FC236}">
                <a16:creationId xmlns:a16="http://schemas.microsoft.com/office/drawing/2014/main" id="{66CFE5F6-A264-4A47-8139-41A633D36018}"/>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xmlns:a="http://schemas.openxmlformats.org/drawingml/2006/main">
              <a:ext uri="{FF2B5EF4-FFF2-40B4-BE49-F238E27FC236}">
                <a16:creationId xmlns:a16="http://schemas.microsoft.com/office/drawing/2014/main" id="{28EC7146-2BD3-47B3-90B9-27D3EEF8C065}"/>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BA28E06B-C23B-4967-9643-E071B00D26FF}"/>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xmlns:a="http://schemas.openxmlformats.org/drawingml/2006/main">
              <a:ext uri="{FF2B5EF4-FFF2-40B4-BE49-F238E27FC236}">
                <a16:creationId xmlns:a16="http://schemas.microsoft.com/office/drawing/2014/main" id="{3E18336E-B058-4640-9654-6F33E58BFAD8}"/>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F365DBFD-4FA2-4235-BB81-17867B61871F}"/>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xmlns:a="http://schemas.openxmlformats.org/drawingml/2006/main">
              <a:ext uri="{FF2B5EF4-FFF2-40B4-BE49-F238E27FC236}">
                <a16:creationId xmlns:a16="http://schemas.microsoft.com/office/drawing/2014/main" id="{4BB403BE-68DA-4AC0-8655-DD54541523E0}"/>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D7F784D-F01C-4793-9367-C4AF8701C956}"/>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xmlns:a="http://schemas.openxmlformats.org/drawingml/2006/main">
              <a:ext uri="{FF2B5EF4-FFF2-40B4-BE49-F238E27FC236}">
                <a16:creationId xmlns:a16="http://schemas.microsoft.com/office/drawing/2014/main" id="{E7E32300-4DD4-4EBA-8FA7-189731843BB5}"/>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xmlns:a="http://schemas.openxmlformats.org/drawingml/2006/main">
              <a:ext uri="{FF2B5EF4-FFF2-40B4-BE49-F238E27FC236}">
                <a16:creationId xmlns:a16="http://schemas.microsoft.com/office/drawing/2014/main" id="{4DEC5479-E630-463C-B82E-67D97BA3BD11}"/>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316CD5EF-B007-4055-A7A5-A1954BC81614}"/>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xmlns:a="http://schemas.openxmlformats.org/drawingml/2006/main">
              <a:ext uri="{FF2B5EF4-FFF2-40B4-BE49-F238E27FC236}">
                <a16:creationId xmlns:a16="http://schemas.microsoft.com/office/drawing/2014/main" id="{1EBEB420-E72A-4D33-8191-B41B784A29E1}"/>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69E47C3D-56D9-43BA-B268-5ED4837DD607}"/>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xmlns:a="http://schemas.openxmlformats.org/drawingml/2006/main">
              <a:ext uri="{FF2B5EF4-FFF2-40B4-BE49-F238E27FC236}">
                <a16:creationId xmlns:a16="http://schemas.microsoft.com/office/drawing/2014/main" id="{BD79985C-21FE-48A3-95BB-E7BEA42CECDC}"/>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2896DA6-7088-4B6B-9EEA-0F4503A01F67}"/>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xmlns:a="http://schemas.openxmlformats.org/drawingml/2006/main">
              <a:ext uri="{FF2B5EF4-FFF2-40B4-BE49-F238E27FC236}">
                <a16:creationId xmlns:a16="http://schemas.microsoft.com/office/drawing/2014/main" id="{AB561183-F25C-4F85-B3D0-E28D72ED0504}"/>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xmlns:a="http://schemas.openxmlformats.org/drawingml/2006/main">
              <a:ext uri="{FF2B5EF4-FFF2-40B4-BE49-F238E27FC236}">
                <a16:creationId xmlns:a16="http://schemas.microsoft.com/office/drawing/2014/main" id="{621BFD6C-6867-4FDD-BCE1-A374D40526AE}"/>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B5588C7B-010A-4359-A5D4-23378BA6C9E0}"/>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xmlns:a="http://schemas.openxmlformats.org/drawingml/2006/main">
              <a:ext uri="{FF2B5EF4-FFF2-40B4-BE49-F238E27FC236}">
                <a16:creationId xmlns:a16="http://schemas.microsoft.com/office/drawing/2014/main" id="{7CDE4019-B2BE-4F28-B4F7-4BD2131ED408}"/>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0114D933-4627-4A99-B116-A7F6254C8621}"/>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xmlns:a="http://schemas.openxmlformats.org/drawingml/2006/main">
              <a:ext uri="{FF2B5EF4-FFF2-40B4-BE49-F238E27FC236}">
                <a16:creationId xmlns:a16="http://schemas.microsoft.com/office/drawing/2014/main" id="{C552AB3A-E34F-40D0-BEC3-7292C27F6EE8}"/>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CA0B9314-4708-4685-9F69-7142B6ECC13C}"/>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788D47FA-6766-4E55-B8A6-E8C90A16151A}"/>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813181377"/>
      </p:ext>
    </p:extLst>
  </p:cSld>
</p:sld>
</file>

<file path=ppt/slides/slide93.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8C82DA3-855D-4B60-9FDB-23AF3878CB6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xmlns:a="http://schemas.openxmlformats.org/drawingml/2006/main">
              <a:ext uri="{FF2B5EF4-FFF2-40B4-BE49-F238E27FC236}">
                <a16:creationId xmlns:a16="http://schemas.microsoft.com/office/drawing/2014/main" id="{D0A03960-B5C1-46DA-AA0B-605DB7F9871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80942F9A-53CF-4DFE-87B9-5C9F500963A2}"/>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xmlns:a="http://schemas.openxmlformats.org/drawingml/2006/main">
              <a:ext uri="{FF2B5EF4-FFF2-40B4-BE49-F238E27FC236}">
                <a16:creationId xmlns:a16="http://schemas.microsoft.com/office/drawing/2014/main" id="{EA1BD881-943D-4E87-A6AA-2F687CA5502E}"/>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xmlns:a="http://schemas.openxmlformats.org/drawingml/2006/main">
              <a:ext uri="{FF2B5EF4-FFF2-40B4-BE49-F238E27FC236}">
                <a16:creationId xmlns:a16="http://schemas.microsoft.com/office/drawing/2014/main" id="{DCEE8990-4014-4F1D-9D00-7427414F357C}"/>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A0B9090-3EB6-47B0-AA7A-C29081739B7E}"/>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A16C7C97-0645-44E7-A27D-2B37C78A107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BCDA1B8-001C-4A44-8D2D-DB5A24930E5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6DFBCD45-7C59-4FD1-810E-9DF341A99ADB}"/>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61CB01AA-225D-47AB-BE13-CAE5873456BF}"/>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B8BE7EE-9A92-4DDA-B9BF-1EAA5578E42B}"/>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CDCEE71-D334-445F-8A60-5CC03FA405F2}"/>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AFEC7FB8-3F63-4DB6-A355-64743A007950}"/>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1174472-58A2-40B0-97F9-807994C7098A}"/>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ED415DF-CD9D-4C53-9B25-F064E25ED7CD}"/>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5F33F28C-E14F-458F-B7B2-22741C587BB0}"/>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5577357-C5FB-4D5E-8048-0436DAA50F4B}"/>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AE73047E-159F-4BBB-A7A7-11C0661695AD}"/>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49D2232A-4B6B-4BAB-A528-B6DE729A2F8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79C19BF-F4D9-429D-BE0C-6E00EDB0D50D}"/>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 OXPHOS genes.</a:t>
            </a:r>
          </a:p>
        </p:txBody>
      </p:sp>
    </p:spTree>
    <p:extLst>
      <p:ext uri="{BB962C8B-B14F-4D97-AF65-F5344CB8AC3E}">
        <p14:creationId xmlns:p14="http://schemas.microsoft.com/office/powerpoint/2010/main" val="1546403724"/>
      </p:ext>
    </p:extLst>
  </p:cSld>
</p:sld>
</file>

<file path=ppt/slides/slide9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121AF4-5F17-4383-B99F-23608A038B9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mitochondrial energy genes</a:t>
            </a:r>
          </a:p>
        </p:txBody>
      </p:sp>
      <p:sp>
        <p:nvSpPr>
          <p:cNvPr id="3" name="TextBox 2">
            <a:extLst xmlns:a="http://schemas.openxmlformats.org/drawingml/2006/main">
              <a:ext uri="{FF2B5EF4-FFF2-40B4-BE49-F238E27FC236}">
                <a16:creationId xmlns:a16="http://schemas.microsoft.com/office/drawing/2014/main" id="{F359CD9C-D123-4C59-A0AC-15CDDFEF909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xmlns:a="http://schemas.openxmlformats.org/drawingml/2006/main">
              <a:ext uri="{FF2B5EF4-FFF2-40B4-BE49-F238E27FC236}">
                <a16:creationId xmlns:a16="http://schemas.microsoft.com/office/drawing/2014/main" id="{C0686943-6724-43E0-9D97-D072207B5F5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2F75C9D-8F57-4357-9096-351B2F7929E4}"/>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17 neuronal calls</a:t>
            </a:r>
          </a:p>
        </p:txBody>
      </p:sp>
      <p:sp>
        <p:nvSpPr>
          <p:cNvPr id="6" name="Rounded Rectangle 5">
            <a:extLst xmlns:a="http://schemas.openxmlformats.org/drawingml/2006/main">
              <a:ext uri="{FF2B5EF4-FFF2-40B4-BE49-F238E27FC236}">
                <a16:creationId xmlns:a16="http://schemas.microsoft.com/office/drawing/2014/main" id="{6447CFFB-9A99-460C-A181-6A7F299921A0}"/>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6D333C4-9214-492E-A053-2B16782FB7D1}"/>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xmlns:a="http://schemas.openxmlformats.org/drawingml/2006/main">
              <a:ext uri="{FF2B5EF4-FFF2-40B4-BE49-F238E27FC236}">
                <a16:creationId xmlns:a16="http://schemas.microsoft.com/office/drawing/2014/main" id="{B50DB23B-F923-49BD-808D-BEACEC89E56F}"/>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B59CAE3-8450-44F6-9E1E-AEB731EE7A7E}"/>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xmlns:a="http://schemas.openxmlformats.org/drawingml/2006/main">
              <a:ext uri="{FF2B5EF4-FFF2-40B4-BE49-F238E27FC236}">
                <a16:creationId xmlns:a16="http://schemas.microsoft.com/office/drawing/2014/main" id="{DA6980E2-6984-4D38-A5F2-1C7582EA1EB2}"/>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0EA3F30F-888D-4836-BDCB-FE8E0D1BB166}"/>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Nuclear OXPHOS</a:t>
            </a:r>
          </a:p>
        </p:txBody>
      </p:sp>
      <p:sp>
        <p:nvSpPr>
          <p:cNvPr id="12" name="Rounded Rectangle 11">
            <a:extLst xmlns:a="http://schemas.openxmlformats.org/drawingml/2006/main">
              <a:ext uri="{FF2B5EF4-FFF2-40B4-BE49-F238E27FC236}">
                <a16:creationId xmlns:a16="http://schemas.microsoft.com/office/drawing/2014/main" id="{1274827F-6508-41D8-ABCA-BBDBD2E11D5B}"/>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D2D6327C-B1D3-494F-9F63-F095ADAE2EB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xmlns:a="http://schemas.openxmlformats.org/drawingml/2006/main">
              <a:ext uri="{FF2B5EF4-FFF2-40B4-BE49-F238E27FC236}">
                <a16:creationId xmlns:a16="http://schemas.microsoft.com/office/drawing/2014/main" id="{EFEDAECC-6737-4DED-930C-A05E00FB3767}"/>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xmlns:a="http://schemas.openxmlformats.org/drawingml/2006/main">
              <a:ext uri="{FF2B5EF4-FFF2-40B4-BE49-F238E27FC236}">
                <a16:creationId xmlns:a16="http://schemas.microsoft.com/office/drawing/2014/main" id="{FB2E5AFE-33E8-41B1-9867-C2CDC19830A8}"/>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xmlns:a="http://schemas.openxmlformats.org/drawingml/2006/main">
              <a:ext uri="{FF2B5EF4-FFF2-40B4-BE49-F238E27FC236}">
                <a16:creationId xmlns:a16="http://schemas.microsoft.com/office/drawing/2014/main" id="{7E93B811-023D-413F-BA28-9FF12B93E72B}"/>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13FB113-87E2-4F79-9D8D-6A60FFEF266A}"/>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xmlns:a="http://schemas.openxmlformats.org/drawingml/2006/main">
              <a:ext uri="{FF2B5EF4-FFF2-40B4-BE49-F238E27FC236}">
                <a16:creationId xmlns:a16="http://schemas.microsoft.com/office/drawing/2014/main" id="{6AB71A9D-6ECB-4E5B-955A-1E89D770EEAE}"/>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xmlns:a="http://schemas.openxmlformats.org/drawingml/2006/main">
              <a:ext uri="{FF2B5EF4-FFF2-40B4-BE49-F238E27FC236}">
                <a16:creationId xmlns:a16="http://schemas.microsoft.com/office/drawing/2014/main" id="{F936FED7-6000-4CEA-90A0-B1565794E309}"/>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xmlns:a="http://schemas.openxmlformats.org/drawingml/2006/main">
              <a:ext uri="{FF2B5EF4-FFF2-40B4-BE49-F238E27FC236}">
                <a16:creationId xmlns:a16="http://schemas.microsoft.com/office/drawing/2014/main" id="{E7CFBBF7-D2CB-46BA-9933-B93BE7AD21C6}"/>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146252F-853E-4B38-A203-08AB81BCFD4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xmlns:a="http://schemas.openxmlformats.org/drawingml/2006/main">
              <a:ext uri="{FF2B5EF4-FFF2-40B4-BE49-F238E27FC236}">
                <a16:creationId xmlns:a16="http://schemas.microsoft.com/office/drawing/2014/main" id="{56B4B593-96E2-4789-AE03-4282F26DC2AE}"/>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Mostly decreased nuclear OXPHOS</a:t>
            </a:r>
          </a:p>
        </p:txBody>
      </p:sp>
      <p:sp>
        <p:nvSpPr>
          <p:cNvPr id="23" name="TextBox 22">
            <a:extLst xmlns:a="http://schemas.openxmlformats.org/drawingml/2006/main">
              <a:ext uri="{FF2B5EF4-FFF2-40B4-BE49-F238E27FC236}">
                <a16:creationId xmlns:a16="http://schemas.microsoft.com/office/drawing/2014/main" id="{A749FEA7-7B20-45A2-8571-B5BDA43C267E}"/>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xmlns:a="http://schemas.openxmlformats.org/drawingml/2006/main">
              <a:ext uri="{FF2B5EF4-FFF2-40B4-BE49-F238E27FC236}">
                <a16:creationId xmlns:a16="http://schemas.microsoft.com/office/drawing/2014/main" id="{B6CE5C23-5CCE-4CB4-AEB9-ADA1B3113CFB}"/>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268397F-3844-4D11-A2F2-7D68DBB8EC77}"/>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
        <p:nvSpPr>
          <p:cNvPr id="26" name="TextBox 25">
            <a:extLst xmlns:a="http://schemas.openxmlformats.org/drawingml/2006/main">
              <a:ext uri="{FF2B5EF4-FFF2-40B4-BE49-F238E27FC236}">
                <a16:creationId xmlns:a16="http://schemas.microsoft.com/office/drawing/2014/main" id="{C5BC6070-D4A2-4C38-A3AB-2C496411EF9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340319728"/>
      </p:ext>
    </p:extLst>
  </p:cSld>
</p:sld>
</file>

<file path=ppt/slides/slide9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E618DA0-DD00-42B7-8B97-160374CEBD8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LAMTOR5 recurs in neuronal calls with coherent OXPHOS neighborhoods</a:t>
            </a:r>
          </a:p>
        </p:txBody>
      </p:sp>
      <p:sp>
        <p:nvSpPr>
          <p:cNvPr id="3" name="TextBox 2">
            <a:extLst xmlns:a="http://schemas.openxmlformats.org/drawingml/2006/main">
              <a:ext uri="{FF2B5EF4-FFF2-40B4-BE49-F238E27FC236}">
                <a16:creationId xmlns:a16="http://schemas.microsoft.com/office/drawing/2014/main" id="{01F8EF43-5476-4423-AEE5-45AEFB4FB7C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xmlns:a="http://schemas.openxmlformats.org/drawingml/2006/main">
              <a:ext uri="{FF2B5EF4-FFF2-40B4-BE49-F238E27FC236}">
                <a16:creationId xmlns:a16="http://schemas.microsoft.com/office/drawing/2014/main" id="{5B6610EF-EE09-4BBC-888D-3918D4DEA2FE}"/>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9E3E1BC-9FE3-4023-9242-6BD6511C5152}"/>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xmlns:a="http://schemas.openxmlformats.org/drawingml/2006/main">
              <a:ext uri="{FF2B5EF4-FFF2-40B4-BE49-F238E27FC236}">
                <a16:creationId xmlns:a16="http://schemas.microsoft.com/office/drawing/2014/main" id="{200A218C-6159-401C-B82A-9A4416E08542}"/>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neuronal calls</a:t>
            </a:r>
          </a:p>
        </p:txBody>
      </p:sp>
      <p:sp>
        <p:nvSpPr>
          <p:cNvPr id="7" name="TextBox 6">
            <a:extLst xmlns:a="http://schemas.openxmlformats.org/drawingml/2006/main">
              <a:ext uri="{FF2B5EF4-FFF2-40B4-BE49-F238E27FC236}">
                <a16:creationId xmlns:a16="http://schemas.microsoft.com/office/drawing/2014/main" id="{35D93A9F-FD86-4ED2-94D0-7E25DE52C255}"/>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xmlns:a="http://schemas.openxmlformats.org/drawingml/2006/main">
              <a:ext uri="{FF2B5EF4-FFF2-40B4-BE49-F238E27FC236}">
                <a16:creationId xmlns:a16="http://schemas.microsoft.com/office/drawing/2014/main" id="{67640710-8B6F-4AB4-ABCE-B8454C29855F}"/>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D7A83D0-92A8-4A15-835C-AD73A46C8A68}"/>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xmlns:a="http://schemas.openxmlformats.org/drawingml/2006/main">
              <a:ext uri="{FF2B5EF4-FFF2-40B4-BE49-F238E27FC236}">
                <a16:creationId xmlns:a16="http://schemas.microsoft.com/office/drawing/2014/main" id="{93D960B7-3A3E-4AAE-B921-94D7F1D663E6}"/>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xmlns:a="http://schemas.openxmlformats.org/drawingml/2006/main">
              <a:ext uri="{FF2B5EF4-FFF2-40B4-BE49-F238E27FC236}">
                <a16:creationId xmlns:a16="http://schemas.microsoft.com/office/drawing/2014/main" id="{6A0553C6-6AF6-4034-B1C1-3E7A6C423354}"/>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39 nuclear OXPHOS</a:t>
            </a:r>
          </a:p>
        </p:txBody>
      </p:sp>
      <p:sp>
        <p:nvSpPr>
          <p:cNvPr id="12" name="Rounded Rectangle 11">
            <a:extLst xmlns:a="http://schemas.openxmlformats.org/drawingml/2006/main">
              <a:ext uri="{FF2B5EF4-FFF2-40B4-BE49-F238E27FC236}">
                <a16:creationId xmlns:a16="http://schemas.microsoft.com/office/drawing/2014/main" id="{4EEC72E9-2837-4155-9F47-73542548BE5A}"/>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9156942-89A3-4B13-AB69-795AF9179B7D}"/>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xmlns:a="http://schemas.openxmlformats.org/drawingml/2006/main">
              <a:ext uri="{FF2B5EF4-FFF2-40B4-BE49-F238E27FC236}">
                <a16:creationId xmlns:a16="http://schemas.microsoft.com/office/drawing/2014/main" id="{0AE85854-4DFB-4782-BBC6-801B2488FBD8}"/>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xmlns:a="http://schemas.openxmlformats.org/drawingml/2006/main">
              <a:ext uri="{FF2B5EF4-FFF2-40B4-BE49-F238E27FC236}">
                <a16:creationId xmlns:a16="http://schemas.microsoft.com/office/drawing/2014/main" id="{24A0DDAE-34C1-4254-B5B5-A21E0B2DE4A0}"/>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xmlns:a="http://schemas.openxmlformats.org/drawingml/2006/main">
              <a:ext uri="{FF2B5EF4-FFF2-40B4-BE49-F238E27FC236}">
                <a16:creationId xmlns:a16="http://schemas.microsoft.com/office/drawing/2014/main" id="{63BBC23D-B8DA-4EC9-85EE-B8C8AA56DB85}"/>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884227B-DBEB-4EBC-B6EC-C9FB3634F17E}"/>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18" name="TextBox 17">
            <a:extLst xmlns:a="http://schemas.openxmlformats.org/drawingml/2006/main">
              <a:ext uri="{FF2B5EF4-FFF2-40B4-BE49-F238E27FC236}">
                <a16:creationId xmlns:a16="http://schemas.microsoft.com/office/drawing/2014/main" id="{7FC7A39A-7538-4092-AF60-7ED08CB90D11}"/>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xmlns:a="http://schemas.openxmlformats.org/drawingml/2006/main">
              <a:ext uri="{FF2B5EF4-FFF2-40B4-BE49-F238E27FC236}">
                <a16:creationId xmlns:a16="http://schemas.microsoft.com/office/drawing/2014/main" id="{EE2A3DAB-129C-4E11-B570-BB69456AF5C7}"/>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Most structural OXPHOS overlaps point toward lower RNA in AD</a:t>
            </a:r>
          </a:p>
        </p:txBody>
      </p:sp>
      <p:sp>
        <p:nvSpPr>
          <p:cNvPr id="20" name="Rounded Rectangle 19">
            <a:extLst xmlns:a="http://schemas.openxmlformats.org/drawingml/2006/main">
              <a:ext uri="{FF2B5EF4-FFF2-40B4-BE49-F238E27FC236}">
                <a16:creationId xmlns:a16="http://schemas.microsoft.com/office/drawing/2014/main" id="{8D50F26C-3B9E-432A-85A1-6CB3EB4AE652}"/>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FDDFEE9-2C9B-49EB-83FB-D942B50AA95D}"/>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xmlns:a="http://schemas.openxmlformats.org/drawingml/2006/main">
              <a:ext uri="{FF2B5EF4-FFF2-40B4-BE49-F238E27FC236}">
                <a16:creationId xmlns:a16="http://schemas.microsoft.com/office/drawing/2014/main" id="{FB4E30BB-A429-4D43-8B29-50E0FBFAF62B}"/>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xmlns:a="http://schemas.openxmlformats.org/drawingml/2006/main">
              <a:ext uri="{FF2B5EF4-FFF2-40B4-BE49-F238E27FC236}">
                <a16:creationId xmlns:a16="http://schemas.microsoft.com/office/drawing/2014/main" id="{6E044256-F590-4040-9072-85C788DC52F6}"/>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xmlns:a="http://schemas.openxmlformats.org/drawingml/2006/main">
              <a:ext uri="{FF2B5EF4-FFF2-40B4-BE49-F238E27FC236}">
                <a16:creationId xmlns:a16="http://schemas.microsoft.com/office/drawing/2014/main" id="{97E598F9-1D9C-4BC1-919E-ED62F946486D}"/>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6102808-6A62-441A-A105-24DE4EE3966D}"/>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xmlns:a="http://schemas.openxmlformats.org/drawingml/2006/main">
              <a:ext uri="{FF2B5EF4-FFF2-40B4-BE49-F238E27FC236}">
                <a16:creationId xmlns:a16="http://schemas.microsoft.com/office/drawing/2014/main" id="{D5F21F3A-6495-4024-AFDC-B6370080963F}"/>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xmlns:a="http://schemas.openxmlformats.org/drawingml/2006/main">
              <a:ext uri="{FF2B5EF4-FFF2-40B4-BE49-F238E27FC236}">
                <a16:creationId xmlns:a16="http://schemas.microsoft.com/office/drawing/2014/main" id="{8FE10D41-31AC-42AA-9565-1A339F415CC2}"/>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Up in female ε2 excitatory calls and down in the strongest male ε2 calls</a:t>
            </a:r>
          </a:p>
        </p:txBody>
      </p:sp>
      <p:sp>
        <p:nvSpPr>
          <p:cNvPr id="28" name="TextBox 27">
            <a:extLst xmlns:a="http://schemas.openxmlformats.org/drawingml/2006/main">
              <a:ext uri="{FF2B5EF4-FFF2-40B4-BE49-F238E27FC236}">
                <a16:creationId xmlns:a16="http://schemas.microsoft.com/office/drawing/2014/main" id="{2A5FE6E7-4B31-4A9A-A655-9E373B606D7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796382022"/>
      </p:ext>
    </p:extLst>
  </p:cSld>
</p:sld>
</file>

<file path=ppt/slides/slide9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69ADDD6-6FED-4518-ADC4-61AB5B43B3E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Other drivers reinforce the lysosome and autophagy axis</a:t>
            </a:r>
          </a:p>
        </p:txBody>
      </p:sp>
      <p:sp>
        <p:nvSpPr>
          <p:cNvPr id="3" name="TextBox 2">
            <a:extLst xmlns:a="http://schemas.openxmlformats.org/drawingml/2006/main">
              <a:ext uri="{FF2B5EF4-FFF2-40B4-BE49-F238E27FC236}">
                <a16:creationId xmlns:a16="http://schemas.microsoft.com/office/drawing/2014/main" id="{A71DAF7A-FC33-4250-B132-374EDD7426B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xmlns:a="http://schemas.openxmlformats.org/drawingml/2006/main">
              <a:ext uri="{FF2B5EF4-FFF2-40B4-BE49-F238E27FC236}">
                <a16:creationId xmlns:a16="http://schemas.microsoft.com/office/drawing/2014/main" id="{F91FC570-216D-46E9-ABB2-8246A7DAD243}"/>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04346BE-47C9-4272-9553-138E219F50AC}"/>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xmlns:a="http://schemas.openxmlformats.org/drawingml/2006/main">
              <a:ext uri="{FF2B5EF4-FFF2-40B4-BE49-F238E27FC236}">
                <a16:creationId xmlns:a16="http://schemas.microsoft.com/office/drawing/2014/main" id="{C339804A-F7E7-417C-A6F8-D9252341FD0F}"/>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13 calls, five categories</a:t>
            </a:r>
          </a:p>
        </p:txBody>
      </p:sp>
      <p:sp>
        <p:nvSpPr>
          <p:cNvPr id="7" name="TextBox 6">
            <a:extLst xmlns:a="http://schemas.openxmlformats.org/drawingml/2006/main">
              <a:ext uri="{FF2B5EF4-FFF2-40B4-BE49-F238E27FC236}">
                <a16:creationId xmlns:a16="http://schemas.microsoft.com/office/drawing/2014/main" id="{13A0E292-077A-4A48-9860-B08FEBDADA7B}"/>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xmlns:a="http://schemas.openxmlformats.org/drawingml/2006/main">
              <a:ext uri="{FF2B5EF4-FFF2-40B4-BE49-F238E27FC236}">
                <a16:creationId xmlns:a16="http://schemas.microsoft.com/office/drawing/2014/main" id="{A47BA0A2-94C9-4B9E-A118-40501FBFCE1A}"/>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DCBA099-7F42-4EA1-89A4-B7C1D4ED97FE}"/>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xmlns:a="http://schemas.openxmlformats.org/drawingml/2006/main">
              <a:ext uri="{FF2B5EF4-FFF2-40B4-BE49-F238E27FC236}">
                <a16:creationId xmlns:a16="http://schemas.microsoft.com/office/drawing/2014/main" id="{258D499A-CA8E-414D-AE1A-38C1AB43F0CC}"/>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Six calls, three categories</a:t>
            </a:r>
          </a:p>
        </p:txBody>
      </p:sp>
      <p:sp>
        <p:nvSpPr>
          <p:cNvPr id="11" name="TextBox 10">
            <a:extLst xmlns:a="http://schemas.openxmlformats.org/drawingml/2006/main">
              <a:ext uri="{FF2B5EF4-FFF2-40B4-BE49-F238E27FC236}">
                <a16:creationId xmlns:a16="http://schemas.microsoft.com/office/drawing/2014/main" id="{4E00DD08-A1BA-4244-AA29-9792AE047B26}"/>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xmlns:a="http://schemas.openxmlformats.org/drawingml/2006/main">
              <a:ext uri="{FF2B5EF4-FFF2-40B4-BE49-F238E27FC236}">
                <a16:creationId xmlns:a16="http://schemas.microsoft.com/office/drawing/2014/main" id="{487A7ABE-01C7-4C69-94D7-AC83C0C40D13}"/>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9DA3052-4ECB-4DE7-A611-F1AAF9A03EA7}"/>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xmlns:a="http://schemas.openxmlformats.org/drawingml/2006/main">
              <a:ext uri="{FF2B5EF4-FFF2-40B4-BE49-F238E27FC236}">
                <a16:creationId xmlns:a16="http://schemas.microsoft.com/office/drawing/2014/main" id="{4F6181FC-CA8D-4CD6-8320-59C7AC43DFEC}"/>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Six calls, three categories</a:t>
            </a:r>
          </a:p>
        </p:txBody>
      </p:sp>
      <p:sp>
        <p:nvSpPr>
          <p:cNvPr id="15" name="TextBox 14">
            <a:extLst xmlns:a="http://schemas.openxmlformats.org/drawingml/2006/main">
              <a:ext uri="{FF2B5EF4-FFF2-40B4-BE49-F238E27FC236}">
                <a16:creationId xmlns:a16="http://schemas.microsoft.com/office/drawing/2014/main" id="{882217B3-ECB9-4298-8BF8-98AA9655911E}"/>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xmlns:a="http://schemas.openxmlformats.org/drawingml/2006/main">
              <a:ext uri="{FF2B5EF4-FFF2-40B4-BE49-F238E27FC236}">
                <a16:creationId xmlns:a16="http://schemas.microsoft.com/office/drawing/2014/main" id="{113A5B04-46B9-4535-9497-5F32F45F75A4}"/>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99DDA78-675A-4FF5-AD9C-85182EE852C9}"/>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SEA-AD had no active call in a matching LAMTOR5 discovery category, so exact-context support is unavailable.</a:t>
            </a:r>
          </a:p>
        </p:txBody>
      </p:sp>
      <p:sp>
        <p:nvSpPr>
          <p:cNvPr id="18" name="TextBox 17">
            <a:extLst xmlns:a="http://schemas.openxmlformats.org/drawingml/2006/main">
              <a:ext uri="{FF2B5EF4-FFF2-40B4-BE49-F238E27FC236}">
                <a16:creationId xmlns:a16="http://schemas.microsoft.com/office/drawing/2014/main" id="{51BF36C0-BFA3-4659-98B7-F6057516225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222871662"/>
      </p:ext>
    </p:extLst>
  </p:cSld>
</p:sld>
</file>

<file path=ppt/slides/slide9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5808FA7-0724-4CE1-A90E-0D6AC164396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xmlns:a="http://schemas.openxmlformats.org/drawingml/2006/main">
              <a:ext uri="{FF2B5EF4-FFF2-40B4-BE49-F238E27FC236}">
                <a16:creationId xmlns:a16="http://schemas.microsoft.com/office/drawing/2014/main" id="{25715E06-95E2-4FAF-8B17-707536FE4336}"/>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xmlns:a="http://schemas.openxmlformats.org/drawingml/2006/main">
              <a:ext uri="{FF2B5EF4-FFF2-40B4-BE49-F238E27FC236}">
                <a16:creationId xmlns:a16="http://schemas.microsoft.com/office/drawing/2014/main" id="{344EE80B-4EFE-4C99-9B5B-6104A03D109A}"/>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2A3DC2D-52FA-4702-BC18-C9DBD83C75DC}"/>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xmlns:a="http://schemas.openxmlformats.org/drawingml/2006/main">
              <a:ext uri="{FF2B5EF4-FFF2-40B4-BE49-F238E27FC236}">
                <a16:creationId xmlns:a16="http://schemas.microsoft.com/office/drawing/2014/main" id="{18FCC223-B68E-4B86-A617-35B83FDA7D0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xmlns:a="http://schemas.openxmlformats.org/drawingml/2006/main">
              <a:ext uri="{FF2B5EF4-FFF2-40B4-BE49-F238E27FC236}">
                <a16:creationId xmlns:a16="http://schemas.microsoft.com/office/drawing/2014/main" id="{22BF6CE5-05B5-43E1-B59E-E5BB65061479}"/>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xmlns:a="http://schemas.openxmlformats.org/drawingml/2006/main">
              <a:ext uri="{FF2B5EF4-FFF2-40B4-BE49-F238E27FC236}">
                <a16:creationId xmlns:a16="http://schemas.microsoft.com/office/drawing/2014/main" id="{31398985-4842-402E-A559-42903A21FA13}"/>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8A77284-753F-40D9-9781-52777D83B6E5}"/>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xmlns:a="http://schemas.openxmlformats.org/drawingml/2006/main">
              <a:ext uri="{FF2B5EF4-FFF2-40B4-BE49-F238E27FC236}">
                <a16:creationId xmlns:a16="http://schemas.microsoft.com/office/drawing/2014/main" id="{89814C3A-1FE9-4A28-B230-438E76E7E5EE}"/>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xmlns:a="http://schemas.openxmlformats.org/drawingml/2006/main">
              <a:ext uri="{FF2B5EF4-FFF2-40B4-BE49-F238E27FC236}">
                <a16:creationId xmlns:a16="http://schemas.microsoft.com/office/drawing/2014/main" id="{2AF010EB-1765-46EE-8869-44E43F0973E5}"/>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xmlns:a="http://schemas.openxmlformats.org/drawingml/2006/main">
              <a:ext uri="{FF2B5EF4-FFF2-40B4-BE49-F238E27FC236}">
                <a16:creationId xmlns:a16="http://schemas.microsoft.com/office/drawing/2014/main" id="{1BB90CF3-8865-47A4-A44A-C8B564622900}"/>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39CF768-5BAF-4664-B9DE-9FE3C3FE6F60}"/>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xmlns:a="http://schemas.openxmlformats.org/drawingml/2006/main">
              <a:ext uri="{FF2B5EF4-FFF2-40B4-BE49-F238E27FC236}">
                <a16:creationId xmlns:a16="http://schemas.microsoft.com/office/drawing/2014/main" id="{CCF3F909-BF96-4102-9FDD-9FA219E51F4B}"/>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xmlns:a="http://schemas.openxmlformats.org/drawingml/2006/main">
              <a:ext uri="{FF2B5EF4-FFF2-40B4-BE49-F238E27FC236}">
                <a16:creationId xmlns:a16="http://schemas.microsoft.com/office/drawing/2014/main" id="{FB7F615E-B862-4ECF-BABA-A02AFB8A887B}"/>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xmlns:a="http://schemas.openxmlformats.org/drawingml/2006/main">
              <a:ext uri="{FF2B5EF4-FFF2-40B4-BE49-F238E27FC236}">
                <a16:creationId xmlns:a16="http://schemas.microsoft.com/office/drawing/2014/main" id="{6B8A541C-CA1C-4F66-9B0F-F86F5507FF19}"/>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FA96F3A-D1DB-4D30-B396-2990C557CC38}"/>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C4DF2460-0AC6-49CF-9635-A1084195692B}"/>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
        <p:nvSpPr>
          <p:cNvPr id="19" name="TextBox 18">
            <a:extLst xmlns:a="http://schemas.openxmlformats.org/drawingml/2006/main">
              <a:ext uri="{FF2B5EF4-FFF2-40B4-BE49-F238E27FC236}">
                <a16:creationId xmlns:a16="http://schemas.microsoft.com/office/drawing/2014/main" id="{4EF0EF42-433F-49FD-AD89-CEE1BE3BF5B8}"/>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828377380"/>
      </p:ext>
    </p:extLst>
  </p:cSld>
</p:sld>
</file>

<file path=ppt/slides/slide9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C4FFB41-BA99-400D-8FA8-A8E62CDC1282}"/>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8 does not prove, and the next evidence needed</a:t>
            </a:r>
          </a:p>
        </p:txBody>
      </p:sp>
      <p:sp>
        <p:nvSpPr>
          <p:cNvPr id="3" name="TextBox 2">
            <a:extLst xmlns:a="http://schemas.openxmlformats.org/drawingml/2006/main">
              <a:ext uri="{FF2B5EF4-FFF2-40B4-BE49-F238E27FC236}">
                <a16:creationId xmlns:a16="http://schemas.microsoft.com/office/drawing/2014/main" id="{26640BC7-60BB-4538-9A21-BFC7DB4A8FF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DD0D0643-B59D-4677-AC08-CF07E569BCA7}"/>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75CF9AC-B95A-4525-BBE9-DC4246E6671E}"/>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6B01BC86-0C04-45D2-8873-CF6F66F6ADA4}"/>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CE003FB1-6E3A-4FB6-BE17-D1E1DFD659D6}"/>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AC40890-9529-4349-A10B-37AF645C2FE1}"/>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Direct control of the listed OXPHOS genes in AD neurons</a:t>
            </a:r>
          </a:p>
        </p:txBody>
      </p:sp>
      <p:sp>
        <p:nvSpPr>
          <p:cNvPr id="9" name="Oval 8">
            <a:extLst xmlns:a="http://schemas.openxmlformats.org/drawingml/2006/main">
              <a:ext uri="{FF2B5EF4-FFF2-40B4-BE49-F238E27FC236}">
                <a16:creationId xmlns:a16="http://schemas.microsoft.com/office/drawing/2014/main" id="{B10E5288-5DEA-4630-8F84-A34FCB90C810}"/>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80BD80-0DD7-4852-A50B-8C12BDE5AF01}"/>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male ε2 recurrence is independent of large queries</a:t>
            </a:r>
          </a:p>
        </p:txBody>
      </p:sp>
      <p:sp>
        <p:nvSpPr>
          <p:cNvPr id="11" name="Oval 10">
            <a:extLst xmlns:a="http://schemas.openxmlformats.org/drawingml/2006/main">
              <a:ext uri="{FF2B5EF4-FFF2-40B4-BE49-F238E27FC236}">
                <a16:creationId xmlns:a16="http://schemas.microsoft.com/office/drawing/2014/main" id="{0EEECB76-57D7-4B33-897F-AD5B16F0EDF5}"/>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5150344-A58E-456E-B49E-17B5B9C0D4E0}"/>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Final q-value significance for exploratory category scores</a:t>
            </a:r>
          </a:p>
        </p:txBody>
      </p:sp>
      <p:sp>
        <p:nvSpPr>
          <p:cNvPr id="13" name="Rounded Rectangle 12">
            <a:extLst xmlns:a="http://schemas.openxmlformats.org/drawingml/2006/main">
              <a:ext uri="{FF2B5EF4-FFF2-40B4-BE49-F238E27FC236}">
                <a16:creationId xmlns:a16="http://schemas.microsoft.com/office/drawing/2014/main" id="{36CDBB97-6285-4E41-8667-21EF8371A7CB}"/>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FEC0D39E-BDA6-4295-A749-7E5A0E8D9602}"/>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061705E-4541-4478-91FD-83D8CA2267A9}"/>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8E055974-296E-4377-BD2E-C6DAB879CFB1}"/>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1CF7992-DA0E-4C9B-8205-A463F75E71A0}"/>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LAMTOR5 in APOE-isogenic neurons</a:t>
            </a:r>
          </a:p>
        </p:txBody>
      </p:sp>
      <p:sp>
        <p:nvSpPr>
          <p:cNvPr id="18" name="Oval 17">
            <a:extLst xmlns:a="http://schemas.openxmlformats.org/drawingml/2006/main">
              <a:ext uri="{FF2B5EF4-FFF2-40B4-BE49-F238E27FC236}">
                <a16:creationId xmlns:a16="http://schemas.microsoft.com/office/drawing/2014/main" id="{8E6CBFBE-9D34-44C9-94A1-8AD567D511F3}"/>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72A37CE6-47E0-47C7-A16A-F2D8197AFECA}"/>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lysosomal acidity, mTORC1, and autophagic flow</a:t>
            </a:r>
          </a:p>
        </p:txBody>
      </p:sp>
      <p:sp>
        <p:nvSpPr>
          <p:cNvPr id="20" name="Oval 19">
            <a:extLst xmlns:a="http://schemas.openxmlformats.org/drawingml/2006/main">
              <a:ext uri="{FF2B5EF4-FFF2-40B4-BE49-F238E27FC236}">
                <a16:creationId xmlns:a16="http://schemas.microsoft.com/office/drawing/2014/main" id="{A615AA07-B0E3-4F9E-A38C-734B83DF568B}"/>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83FAA71-0996-42B1-A117-5A810B193350}"/>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OXPHOS proteins and respiration in the same cells</a:t>
            </a:r>
          </a:p>
        </p:txBody>
      </p:sp>
      <p:sp>
        <p:nvSpPr>
          <p:cNvPr id="22" name="TextBox 21">
            <a:extLst xmlns:a="http://schemas.openxmlformats.org/drawingml/2006/main">
              <a:ext uri="{FF2B5EF4-FFF2-40B4-BE49-F238E27FC236}">
                <a16:creationId xmlns:a16="http://schemas.microsoft.com/office/drawing/2014/main" id="{61CB428E-45A6-4877-A6E5-511FB8A78A38}"/>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71655F23-4532-4C6F-B927-B47AE285D69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382838238"/>
      </p:ext>
    </p:extLst>
  </p:cSld>
</p:sld>
</file>

<file path=ppt/slides/slide9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0606DE-1031-4133-BC4E-9B718D40342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xmlns:a="http://schemas.openxmlformats.org/drawingml/2006/main">
              <a:ext uri="{FF2B5EF4-FFF2-40B4-BE49-F238E27FC236}">
                <a16:creationId xmlns:a16="http://schemas.microsoft.com/office/drawing/2014/main" id="{D620462D-1240-4841-B4E5-B075D059C3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97344BDF-884D-4191-A1AF-13033991DC8A}"/>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3B16D4E4-0CAE-47DE-B06F-A9DA580B1E08}"/>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xmlns:a="http://schemas.openxmlformats.org/drawingml/2006/main">
              <a:ext uri="{FF2B5EF4-FFF2-40B4-BE49-F238E27FC236}">
                <a16:creationId xmlns:a16="http://schemas.microsoft.com/office/drawing/2014/main" id="{8678EFDD-D533-49C7-AAB3-34D93C4C237B}"/>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xmlns:a="http://schemas.openxmlformats.org/drawingml/2006/main">
              <a:ext uri="{FF2B5EF4-FFF2-40B4-BE49-F238E27FC236}">
                <a16:creationId xmlns:a16="http://schemas.microsoft.com/office/drawing/2014/main" id="{D4232848-0C8E-4412-B915-836BBE7332E0}"/>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56CD44B-9F47-46B4-AD6B-1057CC4B5DD8}"/>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xmlns:a="http://schemas.openxmlformats.org/drawingml/2006/main">
              <a:ext uri="{FF2B5EF4-FFF2-40B4-BE49-F238E27FC236}">
                <a16:creationId xmlns:a16="http://schemas.microsoft.com/office/drawing/2014/main" id="{9A995592-C07A-483B-AF82-A7E0605F5BF0}"/>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77CE5BE1-FF84-4909-8C9B-F14CAE8773E1}"/>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xmlns:a="http://schemas.openxmlformats.org/drawingml/2006/main">
              <a:ext uri="{FF2B5EF4-FFF2-40B4-BE49-F238E27FC236}">
                <a16:creationId xmlns:a16="http://schemas.microsoft.com/office/drawing/2014/main" id="{FA0293C0-6906-4FE3-884E-8C0ACB608591}"/>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30869E2-CDF6-48FF-9F14-65C2C6F177AC}"/>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xmlns:a="http://schemas.openxmlformats.org/drawingml/2006/main">
              <a:ext uri="{FF2B5EF4-FFF2-40B4-BE49-F238E27FC236}">
                <a16:creationId xmlns:a16="http://schemas.microsoft.com/office/drawing/2014/main" id="{E0ADE300-B1CD-44F4-9F95-83E47F9E7C25}"/>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xmlns:a="http://schemas.openxmlformats.org/drawingml/2006/main">
              <a:ext uri="{FF2B5EF4-FFF2-40B4-BE49-F238E27FC236}">
                <a16:creationId xmlns:a16="http://schemas.microsoft.com/office/drawing/2014/main" id="{52EBF4CC-FDD5-4062-BB1B-5ABE8CD31826}"/>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C86DF77A-F54C-43D3-BE1B-B6C80E9FBBCD}"/>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xmlns:a="http://schemas.openxmlformats.org/drawingml/2006/main">
              <a:ext uri="{FF2B5EF4-FFF2-40B4-BE49-F238E27FC236}">
                <a16:creationId xmlns:a16="http://schemas.microsoft.com/office/drawing/2014/main" id="{FF113B61-5D92-4ECE-AFCA-E9B61834C2B7}"/>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90ECC58D-3CF0-461A-94CC-2874B851EE9A}"/>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xmlns:a="http://schemas.openxmlformats.org/drawingml/2006/main">
              <a:ext uri="{FF2B5EF4-FFF2-40B4-BE49-F238E27FC236}">
                <a16:creationId xmlns:a16="http://schemas.microsoft.com/office/drawing/2014/main" id="{E99D3638-F002-4BE6-B773-53917FDD777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2FCB6618-8E29-4F15-8133-79011DE5CBF3}"/>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xmlns:a="http://schemas.openxmlformats.org/drawingml/2006/main">
              <a:ext uri="{FF2B5EF4-FFF2-40B4-BE49-F238E27FC236}">
                <a16:creationId xmlns:a16="http://schemas.microsoft.com/office/drawing/2014/main" id="{AB0E36CC-A8B5-4F06-A941-F2B3BCD8CE11}"/>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xmlns:a="http://schemas.openxmlformats.org/drawingml/2006/main">
              <a:ext uri="{FF2B5EF4-FFF2-40B4-BE49-F238E27FC236}">
                <a16:creationId xmlns:a16="http://schemas.microsoft.com/office/drawing/2014/main" id="{250F9EFA-B34F-41A8-BB3B-4D0C5D0F3406}"/>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670960B3-93A8-4E82-AF92-7C52E57B062B}"/>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xmlns:a="http://schemas.openxmlformats.org/drawingml/2006/main">
              <a:ext uri="{FF2B5EF4-FFF2-40B4-BE49-F238E27FC236}">
                <a16:creationId xmlns:a16="http://schemas.microsoft.com/office/drawing/2014/main" id="{F7D8AF45-F4FE-403E-AB41-485EDED38951}"/>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FE5E292C-94ED-43A9-9CD7-271A8618E937}"/>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xmlns:a="http://schemas.openxmlformats.org/drawingml/2006/main">
              <a:ext uri="{FF2B5EF4-FFF2-40B4-BE49-F238E27FC236}">
                <a16:creationId xmlns:a16="http://schemas.microsoft.com/office/drawing/2014/main" id="{FD73361F-A8F3-4098-AD2F-28191F9609A9}"/>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D6AA771-BFEA-4960-8190-3B8B934AD539}"/>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4E44C07A-D0F2-4A43-BA7D-E13E4DE3089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798133656"/>
      </p:ext>
    </p:extLst>
  </p:cSld>
</p:sld>
</file>

<file path=ppt/slides/slide100.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A6DE2F4-C6B3-44D8-857B-952970A51AFF}"/>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xmlns:a="http://schemas.openxmlformats.org/drawingml/2006/main">
              <a:ext uri="{FF2B5EF4-FFF2-40B4-BE49-F238E27FC236}">
                <a16:creationId xmlns:a16="http://schemas.microsoft.com/office/drawing/2014/main" id="{F9261DC5-E2AF-4832-A098-ACAC8644BA4C}"/>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37819F4-9571-433D-85CD-29ECE42A4D1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mtDNA-up module</a:t>
            </a:r>
          </a:p>
        </p:txBody>
      </p:sp>
      <p:sp>
        <p:nvSpPr>
          <p:cNvPr id="5" name="TextBox 4">
            <a:extLst xmlns:a="http://schemas.openxmlformats.org/drawingml/2006/main">
              <a:ext uri="{FF2B5EF4-FFF2-40B4-BE49-F238E27FC236}">
                <a16:creationId xmlns:a16="http://schemas.microsoft.com/office/drawing/2014/main" id="{E1C76D5E-5A45-4A22-B050-6AF0B40A6D0C}"/>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Focused ROSMAP driver finding.</a:t>
            </a:r>
          </a:p>
        </p:txBody>
      </p:sp>
      <p:sp>
        <p:nvSpPr>
          <p:cNvPr id="6" name="Rounded Rectangle 5">
            <a:extLst xmlns:a="http://schemas.openxmlformats.org/drawingml/2006/main">
              <a:ext uri="{FF2B5EF4-FFF2-40B4-BE49-F238E27FC236}">
                <a16:creationId xmlns:a16="http://schemas.microsoft.com/office/drawing/2014/main" id="{E01B366B-55F5-4EB3-BC06-3DAB98158FB0}"/>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41554B8-509E-4465-85E2-807035C36D08}"/>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B27ABC8F-91F5-4265-9920-8F5A6E88530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BE7B6EB-3F0A-4753-8783-5D19EA285717}"/>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8A0443E2-41E7-439E-BEEC-D287382D0614}"/>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05736036-4C6F-499A-8FAD-DD3C6BA3FCAC}"/>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BB60235-261F-4CCC-A521-22428F842443}"/>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45C7DE15-D12F-4F80-A19F-EEB5A98EB77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C2160E2-9246-454A-90A3-46E834C22C4E}"/>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05A7196A-6B65-4D83-893D-895BC44D309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86D1155-C7D0-4983-A64D-42A0F351DCC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AD283F2-C660-41EE-9766-307D2F38D656}"/>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1623316-45E1-477F-93B3-7B772E2E2C08}"/>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DD0F5029-7AE9-4DC6-A9DA-2A6ACE5F69A4}"/>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F029BB7B-150C-4C1D-AD53-95A2732CCCA5}"/>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CF83B68-0D98-4486-8337-05D44ED914D4}"/>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mtDNA-up neighborhood.</a:t>
            </a:r>
          </a:p>
        </p:txBody>
      </p:sp>
    </p:spTree>
    <p:extLst>
      <p:ext uri="{BB962C8B-B14F-4D97-AF65-F5344CB8AC3E}">
        <p14:creationId xmlns:p14="http://schemas.microsoft.com/office/powerpoint/2010/main" val="1085807738"/>
      </p:ext>
    </p:extLst>
  </p:cSld>
</p:sld>
</file>

<file path=ppt/slides/slide10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2B6F843-65D3-4DC2-AECA-814829ECEEE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WDR82 sits near a focused mtDNA-up signal in excitatory neurons</a:t>
            </a:r>
          </a:p>
        </p:txBody>
      </p:sp>
      <p:sp>
        <p:nvSpPr>
          <p:cNvPr id="3" name="TextBox 2">
            <a:extLst xmlns:a="http://schemas.openxmlformats.org/drawingml/2006/main">
              <a:ext uri="{FF2B5EF4-FFF2-40B4-BE49-F238E27FC236}">
                <a16:creationId xmlns:a16="http://schemas.microsoft.com/office/drawing/2014/main" id="{09CDB6A8-B057-4011-BD78-1953592D7AE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mitochondrial genes begin within one long mitochondrial RNA.</a:t>
            </a:r>
          </a:p>
        </p:txBody>
      </p:sp>
      <p:sp>
        <p:nvSpPr>
          <p:cNvPr id="4" name="Rounded Rectangle 3">
            <a:extLst xmlns:a="http://schemas.openxmlformats.org/drawingml/2006/main">
              <a:ext uri="{FF2B5EF4-FFF2-40B4-BE49-F238E27FC236}">
                <a16:creationId xmlns:a16="http://schemas.microsoft.com/office/drawing/2014/main" id="{47F264EC-8CC9-4984-AFD8-786596DC0677}"/>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0FFC7A2-A032-43D6-B811-027913372F8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xmlns:a="http://schemas.openxmlformats.org/drawingml/2006/main">
              <a:ext uri="{FF2B5EF4-FFF2-40B4-BE49-F238E27FC236}">
                <a16:creationId xmlns:a16="http://schemas.microsoft.com/office/drawing/2014/main" id="{FD23F777-13D8-4393-BF91-AC4CC27761EB}"/>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AE3EA2A-8F47-4B4F-8B65-9DAF2B0959BB}"/>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18 calls</a:t>
            </a:r>
          </a:p>
        </p:txBody>
      </p:sp>
      <p:sp>
        <p:nvSpPr>
          <p:cNvPr id="8" name="Rounded Rectangle 7">
            <a:extLst xmlns:a="http://schemas.openxmlformats.org/drawingml/2006/main">
              <a:ext uri="{FF2B5EF4-FFF2-40B4-BE49-F238E27FC236}">
                <a16:creationId xmlns:a16="http://schemas.microsoft.com/office/drawing/2014/main" id="{862B976E-1A09-4A7A-A113-9BB339C4F9F4}"/>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561A465-3D17-4C9A-840B-FCA69CC8FBA1}"/>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Four mtDNA genes</a:t>
            </a:r>
          </a:p>
        </p:txBody>
      </p:sp>
      <p:sp>
        <p:nvSpPr>
          <p:cNvPr id="10" name="Rounded Rectangle 9">
            <a:extLst xmlns:a="http://schemas.openxmlformats.org/drawingml/2006/main">
              <a:ext uri="{FF2B5EF4-FFF2-40B4-BE49-F238E27FC236}">
                <a16:creationId xmlns:a16="http://schemas.microsoft.com/office/drawing/2014/main" id="{FD369C69-550E-4864-9C5E-370DFEE74520}"/>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A0DF023-447F-42A7-8179-97567E05693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Driver not a strong DEG</a:t>
            </a:r>
          </a:p>
        </p:txBody>
      </p:sp>
      <p:sp>
        <p:nvSpPr>
          <p:cNvPr id="12" name="Rounded Rectangle 11">
            <a:extLst xmlns:a="http://schemas.openxmlformats.org/drawingml/2006/main">
              <a:ext uri="{FF2B5EF4-FFF2-40B4-BE49-F238E27FC236}">
                <a16:creationId xmlns:a16="http://schemas.microsoft.com/office/drawing/2014/main" id="{60570FE2-97FF-4F30-BE56-76C7E595F286}"/>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00723DBB-7C4D-48A6-9FFF-3C2845BDC606}"/>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xmlns:a="http://schemas.openxmlformats.org/drawingml/2006/main">
              <a:ext uri="{FF2B5EF4-FFF2-40B4-BE49-F238E27FC236}">
                <a16:creationId xmlns:a16="http://schemas.microsoft.com/office/drawing/2014/main" id="{401487DF-461F-4067-9C22-DAE704EBD00A}"/>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xmlns:a="http://schemas.openxmlformats.org/drawingml/2006/main">
              <a:ext uri="{FF2B5EF4-FFF2-40B4-BE49-F238E27FC236}">
                <a16:creationId xmlns:a16="http://schemas.microsoft.com/office/drawing/2014/main" id="{A9817818-1B1F-47C2-92C0-B450F5FD7683}"/>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xmlns:a="http://schemas.openxmlformats.org/drawingml/2006/main">
              <a:ext uri="{FF2B5EF4-FFF2-40B4-BE49-F238E27FC236}">
                <a16:creationId xmlns:a16="http://schemas.microsoft.com/office/drawing/2014/main" id="{DD4B88B4-4666-43BD-89C6-D379BB4E8C12}"/>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6E28FC7-1275-4747-9941-6E647C2BD34C}"/>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xmlns:a="http://schemas.openxmlformats.org/drawingml/2006/main">
              <a:ext uri="{FF2B5EF4-FFF2-40B4-BE49-F238E27FC236}">
                <a16:creationId xmlns:a16="http://schemas.microsoft.com/office/drawing/2014/main" id="{DB27678E-ED00-49A1-A302-2F3ABEDE6D8D}"/>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xmlns:a="http://schemas.openxmlformats.org/drawingml/2006/main">
              <a:ext uri="{FF2B5EF4-FFF2-40B4-BE49-F238E27FC236}">
                <a16:creationId xmlns:a16="http://schemas.microsoft.com/office/drawing/2014/main" id="{4A03DAC7-8CD7-4C42-80AC-4E41F060FADC}"/>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These four mtDNA genes account for nearly every exact KDA overlap.</a:t>
            </a:r>
          </a:p>
        </p:txBody>
      </p:sp>
      <p:sp>
        <p:nvSpPr>
          <p:cNvPr id="20" name="Rounded Rectangle 19">
            <a:extLst xmlns:a="http://schemas.openxmlformats.org/drawingml/2006/main">
              <a:ext uri="{FF2B5EF4-FFF2-40B4-BE49-F238E27FC236}">
                <a16:creationId xmlns:a16="http://schemas.microsoft.com/office/drawing/2014/main" id="{65594A46-3A96-418C-B524-C4840B8F104F}"/>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B9A2061-C4E3-492B-9B80-6A7A2140BCD0}"/>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xmlns:a="http://schemas.openxmlformats.org/drawingml/2006/main">
              <a:ext uri="{FF2B5EF4-FFF2-40B4-BE49-F238E27FC236}">
                <a16:creationId xmlns:a16="http://schemas.microsoft.com/office/drawing/2014/main" id="{2BAAECB7-AA89-4F07-B1DD-11DB6DC05CFF}"/>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xmlns:a="http://schemas.openxmlformats.org/drawingml/2006/main">
              <a:ext uri="{FF2B5EF4-FFF2-40B4-BE49-F238E27FC236}">
                <a16:creationId xmlns:a16="http://schemas.microsoft.com/office/drawing/2014/main" id="{D5FDC23C-31E2-4E5F-AC3E-A1891C015365}"/>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xmlns:a="http://schemas.openxmlformats.org/drawingml/2006/main">
              <a:ext uri="{FF2B5EF4-FFF2-40B4-BE49-F238E27FC236}">
                <a16:creationId xmlns:a16="http://schemas.microsoft.com/office/drawing/2014/main" id="{FDFF0E3F-E441-4EAB-9592-E47BE4B0D44B}"/>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FC360B10-0AD0-4C46-86B9-F15B37E225D3}"/>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
        <p:nvSpPr>
          <p:cNvPr id="26" name="TextBox 25">
            <a:extLst xmlns:a="http://schemas.openxmlformats.org/drawingml/2006/main">
              <a:ext uri="{FF2B5EF4-FFF2-40B4-BE49-F238E27FC236}">
                <a16:creationId xmlns:a16="http://schemas.microsoft.com/office/drawing/2014/main" id="{C4097177-B504-4A33-83C2-92F702519BA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706994587"/>
      </p:ext>
    </p:extLst>
  </p:cSld>
</p:sld>
</file>

<file path=ppt/slides/slide10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796B948-329C-415E-9CF6-26C4094BD2E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every WDR82-supporting query contains an enriched mtDNA-up program</a:t>
            </a:r>
          </a:p>
        </p:txBody>
      </p:sp>
      <p:sp>
        <p:nvSpPr>
          <p:cNvPr id="3" name="TextBox 2">
            <a:extLst xmlns:a="http://schemas.openxmlformats.org/drawingml/2006/main">
              <a:ext uri="{FF2B5EF4-FFF2-40B4-BE49-F238E27FC236}">
                <a16:creationId xmlns:a16="http://schemas.microsoft.com/office/drawing/2014/main" id="{AFAD291E-EFAE-4E7A-967B-7776BBD0147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KDA can nominate a gene by network position even when the candidate is not a strong DEG.</a:t>
            </a:r>
          </a:p>
        </p:txBody>
      </p:sp>
      <p:sp>
        <p:nvSpPr>
          <p:cNvPr id="4" name="Rounded Rectangle 3">
            <a:extLst xmlns:a="http://schemas.openxmlformats.org/drawingml/2006/main">
              <a:ext uri="{FF2B5EF4-FFF2-40B4-BE49-F238E27FC236}">
                <a16:creationId xmlns:a16="http://schemas.microsoft.com/office/drawing/2014/main" id="{8FD6FF4E-746E-45F3-A081-166CF533595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51D04D5-6BCD-4354-B043-BCE629EE33C4}"/>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xmlns:a="http://schemas.openxmlformats.org/drawingml/2006/main">
              <a:ext uri="{FF2B5EF4-FFF2-40B4-BE49-F238E27FC236}">
                <a16:creationId xmlns:a16="http://schemas.microsoft.com/office/drawing/2014/main" id="{2236BBA9-91A7-40CE-A0BB-AEFC68CD8EEE}"/>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excitatory calls</a:t>
            </a:r>
          </a:p>
        </p:txBody>
      </p:sp>
      <p:sp>
        <p:nvSpPr>
          <p:cNvPr id="7" name="TextBox 6">
            <a:extLst xmlns:a="http://schemas.openxmlformats.org/drawingml/2006/main">
              <a:ext uri="{FF2B5EF4-FFF2-40B4-BE49-F238E27FC236}">
                <a16:creationId xmlns:a16="http://schemas.microsoft.com/office/drawing/2014/main" id="{D8B6C167-1229-499D-95C6-945479D9FC7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xmlns:a="http://schemas.openxmlformats.org/drawingml/2006/main">
              <a:ext uri="{FF2B5EF4-FFF2-40B4-BE49-F238E27FC236}">
                <a16:creationId xmlns:a16="http://schemas.microsoft.com/office/drawing/2014/main" id="{25DACDB5-BB63-416B-BC49-EB0D9D8FC7E4}"/>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1370508-08F2-441C-AE02-6B6D3B856F54}"/>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xmlns:a="http://schemas.openxmlformats.org/drawingml/2006/main">
              <a:ext uri="{FF2B5EF4-FFF2-40B4-BE49-F238E27FC236}">
                <a16:creationId xmlns:a16="http://schemas.microsoft.com/office/drawing/2014/main" id="{14E6401D-BAFC-4A6C-A669-F6A94CFA353C}"/>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11" name="TextBox 10">
            <a:extLst xmlns:a="http://schemas.openxmlformats.org/drawingml/2006/main">
              <a:ext uri="{FF2B5EF4-FFF2-40B4-BE49-F238E27FC236}">
                <a16:creationId xmlns:a16="http://schemas.microsoft.com/office/drawing/2014/main" id="{4D9D31F6-550A-48F1-8FC4-D4EBEC8A0037}"/>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xmlns:a="http://schemas.openxmlformats.org/drawingml/2006/main">
              <a:ext uri="{FF2B5EF4-FFF2-40B4-BE49-F238E27FC236}">
                <a16:creationId xmlns:a16="http://schemas.microsoft.com/office/drawing/2014/main" id="{BDE3E703-E12A-4F9D-92C9-1E0ABF94737B}"/>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CB5A99A-1A79-4DBC-B388-2428F770EC65}"/>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xmlns:a="http://schemas.openxmlformats.org/drawingml/2006/main">
              <a:ext uri="{FF2B5EF4-FFF2-40B4-BE49-F238E27FC236}">
                <a16:creationId xmlns:a16="http://schemas.microsoft.com/office/drawing/2014/main" id="{86A07C68-3DBC-4C49-985D-4B0E890749E2}"/>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xmlns:a="http://schemas.openxmlformats.org/drawingml/2006/main">
              <a:ext uri="{FF2B5EF4-FFF2-40B4-BE49-F238E27FC236}">
                <a16:creationId xmlns:a16="http://schemas.microsoft.com/office/drawing/2014/main" id="{177DB582-E05C-4993-A604-8C3A4861DC52}"/>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mtDNA OXPHOS</a:t>
            </a:r>
          </a:p>
        </p:txBody>
      </p:sp>
      <p:sp>
        <p:nvSpPr>
          <p:cNvPr id="16" name="Rounded Rectangle 15">
            <a:extLst xmlns:a="http://schemas.openxmlformats.org/drawingml/2006/main">
              <a:ext uri="{FF2B5EF4-FFF2-40B4-BE49-F238E27FC236}">
                <a16:creationId xmlns:a16="http://schemas.microsoft.com/office/drawing/2014/main" id="{64ADBA97-2591-4917-8655-CB19C351EE42}"/>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FA577C3C-ABD3-4F70-B11B-19BCD15774DE}"/>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xmlns:a="http://schemas.openxmlformats.org/drawingml/2006/main">
              <a:ext uri="{FF2B5EF4-FFF2-40B4-BE49-F238E27FC236}">
                <a16:creationId xmlns:a16="http://schemas.microsoft.com/office/drawing/2014/main" id="{3D653BD3-3075-442E-9DC0-00010DD938F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xmlns:a="http://schemas.openxmlformats.org/drawingml/2006/main">
              <a:ext uri="{FF2B5EF4-FFF2-40B4-BE49-F238E27FC236}">
                <a16:creationId xmlns:a16="http://schemas.microsoft.com/office/drawing/2014/main" id="{A714C674-5A8A-4546-8B4C-250F4DFA3F91}"/>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xmlns:a="http://schemas.openxmlformats.org/drawingml/2006/main">
              <a:ext uri="{FF2B5EF4-FFF2-40B4-BE49-F238E27FC236}">
                <a16:creationId xmlns:a16="http://schemas.microsoft.com/office/drawing/2014/main" id="{6E8E0C8C-7F4B-4E2C-9AC4-00B0E122210F}"/>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813D908-77AA-4EC2-8457-2F3AA27C7FE7}"/>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xmlns:a="http://schemas.openxmlformats.org/drawingml/2006/main">
              <a:ext uri="{FF2B5EF4-FFF2-40B4-BE49-F238E27FC236}">
                <a16:creationId xmlns:a16="http://schemas.microsoft.com/office/drawing/2014/main" id="{9D28BF30-E253-4B89-A5E5-63303F7F09AD}"/>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xmlns:a="http://schemas.openxmlformats.org/drawingml/2006/main">
              <a:ext uri="{FF2B5EF4-FFF2-40B4-BE49-F238E27FC236}">
                <a16:creationId xmlns:a16="http://schemas.microsoft.com/office/drawing/2014/main" id="{B22B4619-F3BE-4FE8-B56E-A179B0E73336}"/>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xmlns:a="http://schemas.openxmlformats.org/drawingml/2006/main">
              <a:ext uri="{FF2B5EF4-FFF2-40B4-BE49-F238E27FC236}">
                <a16:creationId xmlns:a16="http://schemas.microsoft.com/office/drawing/2014/main" id="{6DA145B3-3CC8-42EB-A1CB-383A6D840DC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15BAB0A-9470-4A54-A38A-A18DAAE9A1A8}"/>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xmlns:a="http://schemas.openxmlformats.org/drawingml/2006/main">
              <a:ext uri="{FF2B5EF4-FFF2-40B4-BE49-F238E27FC236}">
                <a16:creationId xmlns:a16="http://schemas.microsoft.com/office/drawing/2014/main" id="{80C6E07F-2F04-4085-92BF-E42B8450CA75}"/>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xmlns:a="http://schemas.openxmlformats.org/drawingml/2006/main">
              <a:ext uri="{FF2B5EF4-FFF2-40B4-BE49-F238E27FC236}">
                <a16:creationId xmlns:a16="http://schemas.microsoft.com/office/drawing/2014/main" id="{D629ABC0-05A9-41EF-AD94-0E662EC14FA0}"/>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Thirteen calls had FDR below 0.05, but effects stayed below the stored size threshold</a:t>
            </a:r>
          </a:p>
        </p:txBody>
      </p:sp>
      <p:sp>
        <p:nvSpPr>
          <p:cNvPr id="28" name="TextBox 27">
            <a:extLst xmlns:a="http://schemas.openxmlformats.org/drawingml/2006/main">
              <a:ext uri="{FF2B5EF4-FFF2-40B4-BE49-F238E27FC236}">
                <a16:creationId xmlns:a16="http://schemas.microsoft.com/office/drawing/2014/main" id="{F366B51D-05B6-486F-8ACB-FE1D85FE790D}"/>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1946571"/>
      </p:ext>
    </p:extLst>
  </p:cSld>
</p:sld>
</file>

<file path=ppt/slides/slide10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D3577BC-B712-49C5-8783-0ED5DDDA082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xmlns:a="http://schemas.openxmlformats.org/drawingml/2006/main">
              <a:ext uri="{FF2B5EF4-FFF2-40B4-BE49-F238E27FC236}">
                <a16:creationId xmlns:a16="http://schemas.microsoft.com/office/drawing/2014/main" id="{55BC1B4F-CAE8-42A2-8371-AE7622605D1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calls come from one group.</a:t>
            </a:r>
          </a:p>
        </p:txBody>
      </p:sp>
      <p:sp>
        <p:nvSpPr>
          <p:cNvPr id="4" name="Rounded Rectangle 3">
            <a:extLst xmlns:a="http://schemas.openxmlformats.org/drawingml/2006/main">
              <a:ext uri="{FF2B5EF4-FFF2-40B4-BE49-F238E27FC236}">
                <a16:creationId xmlns:a16="http://schemas.microsoft.com/office/drawing/2014/main" id="{00CB042C-54F6-4FBA-985B-24824879868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EB25C6F-53B8-41E4-8AB2-B73C933DFE82}"/>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xmlns:a="http://schemas.openxmlformats.org/drawingml/2006/main">
              <a:ext uri="{FF2B5EF4-FFF2-40B4-BE49-F238E27FC236}">
                <a16:creationId xmlns:a16="http://schemas.microsoft.com/office/drawing/2014/main" id="{F000513F-0312-46CD-A648-A26CBE5522B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 calls</a:t>
            </a:r>
          </a:p>
        </p:txBody>
      </p:sp>
      <p:sp>
        <p:nvSpPr>
          <p:cNvPr id="7" name="TextBox 6">
            <a:extLst xmlns:a="http://schemas.openxmlformats.org/drawingml/2006/main">
              <a:ext uri="{FF2B5EF4-FFF2-40B4-BE49-F238E27FC236}">
                <a16:creationId xmlns:a16="http://schemas.microsoft.com/office/drawing/2014/main" id="{164AF88A-EA03-4310-BAB3-81FC5ACED443}"/>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xmlns:a="http://schemas.openxmlformats.org/drawingml/2006/main">
              <a:ext uri="{FF2B5EF4-FFF2-40B4-BE49-F238E27FC236}">
                <a16:creationId xmlns:a16="http://schemas.microsoft.com/office/drawing/2014/main" id="{E362C373-5357-46CE-9D06-755B64ED711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019EC43-6F1F-451C-9E54-6595672D0CC8}"/>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xmlns:a="http://schemas.openxmlformats.org/drawingml/2006/main">
              <a:ext uri="{FF2B5EF4-FFF2-40B4-BE49-F238E27FC236}">
                <a16:creationId xmlns:a16="http://schemas.microsoft.com/office/drawing/2014/main" id="{9606A6E2-34B7-4693-8D6C-43D85ABAE7C5}"/>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11 calls</a:t>
            </a:r>
          </a:p>
        </p:txBody>
      </p:sp>
      <p:sp>
        <p:nvSpPr>
          <p:cNvPr id="11" name="TextBox 10">
            <a:extLst xmlns:a="http://schemas.openxmlformats.org/drawingml/2006/main">
              <a:ext uri="{FF2B5EF4-FFF2-40B4-BE49-F238E27FC236}">
                <a16:creationId xmlns:a16="http://schemas.microsoft.com/office/drawing/2014/main" id="{4D0ECC26-9E6E-47FB-B8DD-878423866200}"/>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program support.</a:t>
            </a:r>
          </a:p>
        </p:txBody>
      </p:sp>
      <p:sp>
        <p:nvSpPr>
          <p:cNvPr id="12" name="Rounded Rectangle 11">
            <a:extLst xmlns:a="http://schemas.openxmlformats.org/drawingml/2006/main">
              <a:ext uri="{FF2B5EF4-FFF2-40B4-BE49-F238E27FC236}">
                <a16:creationId xmlns:a16="http://schemas.microsoft.com/office/drawing/2014/main" id="{9A7C7EEB-D71B-456A-BAA9-0E523A953F4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B739942-0EB5-4188-8FF6-288E39BF17B8}"/>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xmlns:a="http://schemas.openxmlformats.org/drawingml/2006/main">
              <a:ext uri="{FF2B5EF4-FFF2-40B4-BE49-F238E27FC236}">
                <a16:creationId xmlns:a16="http://schemas.microsoft.com/office/drawing/2014/main" id="{B395D5CF-F802-42FB-B9C1-D6270E06E6E3}"/>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5 calls</a:t>
            </a:r>
          </a:p>
        </p:txBody>
      </p:sp>
      <p:sp>
        <p:nvSpPr>
          <p:cNvPr id="15" name="TextBox 14">
            <a:extLst xmlns:a="http://schemas.openxmlformats.org/drawingml/2006/main">
              <a:ext uri="{FF2B5EF4-FFF2-40B4-BE49-F238E27FC236}">
                <a16:creationId xmlns:a16="http://schemas.microsoft.com/office/drawing/2014/main" id="{8A7ED49C-3956-4B2A-B158-7C40AE0E050F}"/>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Two male ε3/ε3 and three male ε4 excitatory calls also return WDR82.</a:t>
            </a:r>
          </a:p>
        </p:txBody>
      </p:sp>
      <p:sp>
        <p:nvSpPr>
          <p:cNvPr id="16" name="Rounded Rectangle 15">
            <a:extLst xmlns:a="http://schemas.openxmlformats.org/drawingml/2006/main">
              <a:ext uri="{FF2B5EF4-FFF2-40B4-BE49-F238E27FC236}">
                <a16:creationId xmlns:a16="http://schemas.microsoft.com/office/drawing/2014/main" id="{98310792-F3F2-490C-B04A-C84A298FCEE4}"/>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03A01EF-6750-4D05-9993-77C0638107B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SEA-AD could return WDR82 in 11 matching excitatory backgrounds but did not, although it supports the female ε3/ε3 mtDNA program.</a:t>
            </a:r>
          </a:p>
        </p:txBody>
      </p:sp>
      <p:sp>
        <p:nvSpPr>
          <p:cNvPr id="18" name="TextBox 17">
            <a:extLst xmlns:a="http://schemas.openxmlformats.org/drawingml/2006/main">
              <a:ext uri="{FF2B5EF4-FFF2-40B4-BE49-F238E27FC236}">
                <a16:creationId xmlns:a16="http://schemas.microsoft.com/office/drawing/2014/main" id="{21669AE7-D5CC-446C-9F5E-7F4ED255012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328813139"/>
      </p:ext>
    </p:extLst>
  </p:cSld>
</p:sld>
</file>

<file path=ppt/slides/slide10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E57B15C-FA8E-42D0-B963-DC46025F0D0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xmlns:a="http://schemas.openxmlformats.org/drawingml/2006/main">
              <a:ext uri="{FF2B5EF4-FFF2-40B4-BE49-F238E27FC236}">
                <a16:creationId xmlns:a16="http://schemas.microsoft.com/office/drawing/2014/main" id="{B06C8095-1533-4338-A18C-FFDA6CA2D4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xmlns:a="http://schemas.openxmlformats.org/drawingml/2006/main">
              <a:ext uri="{FF2B5EF4-FFF2-40B4-BE49-F238E27FC236}">
                <a16:creationId xmlns:a16="http://schemas.microsoft.com/office/drawing/2014/main" id="{895C1DF2-F876-4518-965C-3A5512E7F96F}"/>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9610171-ADDC-4D5A-BC4E-290CD0825C2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xmlns:a="http://schemas.openxmlformats.org/drawingml/2006/main">
              <a:ext uri="{FF2B5EF4-FFF2-40B4-BE49-F238E27FC236}">
                <a16:creationId xmlns:a16="http://schemas.microsoft.com/office/drawing/2014/main" id="{089ABC3D-679B-4132-9B68-3959E398190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xmlns:a="http://schemas.openxmlformats.org/drawingml/2006/main">
              <a:ext uri="{FF2B5EF4-FFF2-40B4-BE49-F238E27FC236}">
                <a16:creationId xmlns:a16="http://schemas.microsoft.com/office/drawing/2014/main" id="{70C692F7-A208-403E-82B4-1E71D81F50D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programs through nuclear regulation.</a:t>
            </a:r>
          </a:p>
        </p:txBody>
      </p:sp>
      <p:sp>
        <p:nvSpPr>
          <p:cNvPr id="8" name="Rounded Rectangle 7">
            <a:extLst xmlns:a="http://schemas.openxmlformats.org/drawingml/2006/main">
              <a:ext uri="{FF2B5EF4-FFF2-40B4-BE49-F238E27FC236}">
                <a16:creationId xmlns:a16="http://schemas.microsoft.com/office/drawing/2014/main" id="{9C86A597-D8D9-4B11-8F54-91E488B89F2B}"/>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6ADC6BE-4EC5-4984-825C-2ADFE79B37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xmlns:a="http://schemas.openxmlformats.org/drawingml/2006/main">
              <a:ext uri="{FF2B5EF4-FFF2-40B4-BE49-F238E27FC236}">
                <a16:creationId xmlns:a16="http://schemas.microsoft.com/office/drawing/2014/main" id="{98BAF5EC-0F0B-45F0-A2A0-3909E4877337}"/>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xmlns:a="http://schemas.openxmlformats.org/drawingml/2006/main">
              <a:ext uri="{FF2B5EF4-FFF2-40B4-BE49-F238E27FC236}">
                <a16:creationId xmlns:a16="http://schemas.microsoft.com/office/drawing/2014/main" id="{0B3042C7-B44D-4868-8AD0-8FD9708723E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repeated mtDNA cluster may track overall mitochondrial RNA abundance or sample quality.</a:t>
            </a:r>
          </a:p>
        </p:txBody>
      </p:sp>
      <p:sp>
        <p:nvSpPr>
          <p:cNvPr id="12" name="Rounded Rectangle 11">
            <a:extLst xmlns:a="http://schemas.openxmlformats.org/drawingml/2006/main">
              <a:ext uri="{FF2B5EF4-FFF2-40B4-BE49-F238E27FC236}">
                <a16:creationId xmlns:a16="http://schemas.microsoft.com/office/drawing/2014/main" id="{79E4BDE7-F785-401E-A218-544AE994E86D}"/>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A6AAC8-7EC5-49C1-8DFB-5FF71E47E44E}"/>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xmlns:a="http://schemas.openxmlformats.org/drawingml/2006/main">
              <a:ext uri="{FF2B5EF4-FFF2-40B4-BE49-F238E27FC236}">
                <a16:creationId xmlns:a16="http://schemas.microsoft.com/office/drawing/2014/main" id="{53677C3F-1BC2-4324-9638-5FB2DFC538B4}"/>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xmlns:a="http://schemas.openxmlformats.org/drawingml/2006/main">
              <a:ext uri="{FF2B5EF4-FFF2-40B4-BE49-F238E27FC236}">
                <a16:creationId xmlns:a16="http://schemas.microsoft.com/office/drawing/2014/main" id="{F0319EB6-B457-4138-A236-1FCA73010574}"/>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xmlns:a="http://schemas.openxmlformats.org/drawingml/2006/main">
              <a:ext uri="{FF2B5EF4-FFF2-40B4-BE49-F238E27FC236}">
                <a16:creationId xmlns:a16="http://schemas.microsoft.com/office/drawing/2014/main" id="{69447BE5-0CDC-46E5-B7CE-C76E83C13C8B}"/>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915CA14-8CE6-46E8-8B14-853C11F418F9}"/>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82CA5A8A-58B5-455A-8344-9898C2FF0B5D}"/>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Removing mtDNA query genes is an important sensitivity test before mechanistic interpretation.</a:t>
            </a:r>
          </a:p>
        </p:txBody>
      </p:sp>
      <p:sp>
        <p:nvSpPr>
          <p:cNvPr id="19" name="TextBox 18">
            <a:extLst xmlns:a="http://schemas.openxmlformats.org/drawingml/2006/main">
              <a:ext uri="{FF2B5EF4-FFF2-40B4-BE49-F238E27FC236}">
                <a16:creationId xmlns:a16="http://schemas.microsoft.com/office/drawing/2014/main" id="{96E495E6-072F-4914-9535-2260AB0AB50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229176844"/>
      </p:ext>
    </p:extLst>
  </p:cSld>
</p:sld>
</file>

<file path=ppt/slides/slide10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182F99E-0454-41F1-BE76-09BFD5CC81D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9 does not prove, and the next evidence needed</a:t>
            </a:r>
          </a:p>
        </p:txBody>
      </p:sp>
      <p:sp>
        <p:nvSpPr>
          <p:cNvPr id="3" name="TextBox 2">
            <a:extLst xmlns:a="http://schemas.openxmlformats.org/drawingml/2006/main">
              <a:ext uri="{FF2B5EF4-FFF2-40B4-BE49-F238E27FC236}">
                <a16:creationId xmlns:a16="http://schemas.microsoft.com/office/drawing/2014/main" id="{B84AD215-CBE5-45E2-B19C-3F95B96D49E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3B717963-7A99-458A-9ADC-558C1DFAC43F}"/>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1C5556C0-A96C-4A08-A5DA-8F9A341ED256}"/>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AC54AA5-B7E0-47FB-A6BB-7C454B8EF23D}"/>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3C28FEC2-4509-4CA0-A044-311E7FF3CB06}"/>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73B23FE-FECE-4EE1-A2BE-B6657CCCB8C1}"/>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Direct WDR82 binding to mtDNA or control of mtRNA</a:t>
            </a:r>
          </a:p>
        </p:txBody>
      </p:sp>
      <p:sp>
        <p:nvSpPr>
          <p:cNvPr id="9" name="Oval 8">
            <a:extLst xmlns:a="http://schemas.openxmlformats.org/drawingml/2006/main">
              <a:ext uri="{FF2B5EF4-FFF2-40B4-BE49-F238E27FC236}">
                <a16:creationId xmlns:a16="http://schemas.microsoft.com/office/drawing/2014/main" id="{386CF712-FB92-4760-B331-B0B9AC005F9D}"/>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95EC2067-F1CC-40EC-ABD6-3421155D6901}"/>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Four independent mitochondrial regulatory edges</a:t>
            </a:r>
          </a:p>
        </p:txBody>
      </p:sp>
      <p:sp>
        <p:nvSpPr>
          <p:cNvPr id="11" name="Oval 10">
            <a:extLst xmlns:a="http://schemas.openxmlformats.org/drawingml/2006/main">
              <a:ext uri="{FF2B5EF4-FFF2-40B4-BE49-F238E27FC236}">
                <a16:creationId xmlns:a16="http://schemas.microsoft.com/office/drawing/2014/main" id="{7322F1DA-5D86-4267-AC5A-C74314F1D35B}"/>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AB860F9-32CF-436A-A2DD-CCBD9B51AC7A}"/>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Cross-cohort driver replication in SEA-AD</a:t>
            </a:r>
          </a:p>
        </p:txBody>
      </p:sp>
      <p:sp>
        <p:nvSpPr>
          <p:cNvPr id="13" name="Rounded Rectangle 12">
            <a:extLst xmlns:a="http://schemas.openxmlformats.org/drawingml/2006/main">
              <a:ext uri="{FF2B5EF4-FFF2-40B4-BE49-F238E27FC236}">
                <a16:creationId xmlns:a16="http://schemas.microsoft.com/office/drawing/2014/main" id="{C3FC8F51-203A-4C4D-A778-23963659F553}"/>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EF0EF673-ACFD-4FCA-B431-3FA7D4617695}"/>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48DF10FA-20DF-431C-850F-DE9C280A4E12}"/>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CFA192E3-14CB-4C8C-B16F-BC2CB6252E73}"/>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36CEC4B-7650-4D32-8FCD-18F073FB6DC0}"/>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Repeat KDA without mtDNA-encoded query genes</a:t>
            </a:r>
          </a:p>
        </p:txBody>
      </p:sp>
      <p:sp>
        <p:nvSpPr>
          <p:cNvPr id="18" name="Oval 17">
            <a:extLst xmlns:a="http://schemas.openxmlformats.org/drawingml/2006/main">
              <a:ext uri="{FF2B5EF4-FFF2-40B4-BE49-F238E27FC236}">
                <a16:creationId xmlns:a16="http://schemas.microsoft.com/office/drawing/2014/main" id="{2540DAC0-5A84-4731-90D1-1FF3F894603D}"/>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3EF0639-6C75-4BB5-919C-BB41B0F16F28}"/>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Control mitochondrial read fraction and RNA quality</a:t>
            </a:r>
          </a:p>
        </p:txBody>
      </p:sp>
      <p:sp>
        <p:nvSpPr>
          <p:cNvPr id="20" name="Oval 19">
            <a:extLst xmlns:a="http://schemas.openxmlformats.org/drawingml/2006/main">
              <a:ext uri="{FF2B5EF4-FFF2-40B4-BE49-F238E27FC236}">
                <a16:creationId xmlns:a16="http://schemas.microsoft.com/office/drawing/2014/main" id="{ACA77DCB-F78A-4A7E-A295-F45BA0A8AFD1}"/>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ED7401E-5FC0-46E4-9651-336E996F7097}"/>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WDR82 and measure mtRNA, H3K4me3, and respiration</a:t>
            </a:r>
          </a:p>
        </p:txBody>
      </p:sp>
      <p:sp>
        <p:nvSpPr>
          <p:cNvPr id="22" name="TextBox 21">
            <a:extLst xmlns:a="http://schemas.openxmlformats.org/drawingml/2006/main">
              <a:ext uri="{FF2B5EF4-FFF2-40B4-BE49-F238E27FC236}">
                <a16:creationId xmlns:a16="http://schemas.microsoft.com/office/drawing/2014/main" id="{B04729F6-862D-4B2F-AB7A-22170ECA90A6}"/>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48B567E0-2B3F-4302-BCAE-CDA2C15ECA1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426664870"/>
      </p:ext>
    </p:extLst>
  </p:cSld>
</p:sld>
</file>

<file path=ppt/slides/slide10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339ADA1-1264-4D43-BF84-FE3F6710FB7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xmlns:a="http://schemas.openxmlformats.org/drawingml/2006/main">
              <a:ext uri="{FF2B5EF4-FFF2-40B4-BE49-F238E27FC236}">
                <a16:creationId xmlns:a16="http://schemas.microsoft.com/office/drawing/2014/main" id="{9FF69022-10FC-43B0-BAA5-4043EF6DA07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D261BC36-F294-488B-B684-312D777F957E}"/>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EBEDEAE-B995-40CF-91AF-682213E514F1}"/>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xmlns:a="http://schemas.openxmlformats.org/drawingml/2006/main">
              <a:ext uri="{FF2B5EF4-FFF2-40B4-BE49-F238E27FC236}">
                <a16:creationId xmlns:a16="http://schemas.microsoft.com/office/drawing/2014/main" id="{21F7AFCC-881A-4B36-B978-92626603BBFE}"/>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xmlns:a="http://schemas.openxmlformats.org/drawingml/2006/main">
              <a:ext uri="{FF2B5EF4-FFF2-40B4-BE49-F238E27FC236}">
                <a16:creationId xmlns:a16="http://schemas.microsoft.com/office/drawing/2014/main" id="{84B82749-6E60-431C-A6D8-3B5817954A25}"/>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6C21AFCE-3C0C-4917-B701-2522EC77B7BC}"/>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xmlns:a="http://schemas.openxmlformats.org/drawingml/2006/main">
              <a:ext uri="{FF2B5EF4-FFF2-40B4-BE49-F238E27FC236}">
                <a16:creationId xmlns:a16="http://schemas.microsoft.com/office/drawing/2014/main" id="{838C3FFA-354C-4870-8119-095EF82C9F44}"/>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EFCB5B94-737A-422A-A1C9-2F6170977A37}"/>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xmlns:a="http://schemas.openxmlformats.org/drawingml/2006/main">
              <a:ext uri="{FF2B5EF4-FFF2-40B4-BE49-F238E27FC236}">
                <a16:creationId xmlns:a16="http://schemas.microsoft.com/office/drawing/2014/main" id="{E36E3500-90C9-4469-8EBA-F3BD35B5B277}"/>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CC744286-96AC-4427-83BD-3370ACCD3866}"/>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xmlns:a="http://schemas.openxmlformats.org/drawingml/2006/main">
              <a:ext uri="{FF2B5EF4-FFF2-40B4-BE49-F238E27FC236}">
                <a16:creationId xmlns:a16="http://schemas.microsoft.com/office/drawing/2014/main" id="{BE5F6A61-72D0-46CE-9F9D-E47F5BC9C60C}"/>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xmlns:a="http://schemas.openxmlformats.org/drawingml/2006/main">
              <a:ext uri="{FF2B5EF4-FFF2-40B4-BE49-F238E27FC236}">
                <a16:creationId xmlns:a16="http://schemas.microsoft.com/office/drawing/2014/main" id="{1F36A31B-0769-4CE5-9CC2-0B9057CF0A4C}"/>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576A8C47-E8F0-4044-9210-F9C8370B4443}"/>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mtDNA genes begin within long polycistronic transcripts.</a:t>
            </a:r>
          </a:p>
        </p:txBody>
      </p:sp>
      <p:sp>
        <p:nvSpPr>
          <p:cNvPr id="16" name="TextBox 15">
            <a:extLst xmlns:a="http://schemas.openxmlformats.org/drawingml/2006/main">
              <a:ext uri="{FF2B5EF4-FFF2-40B4-BE49-F238E27FC236}">
                <a16:creationId xmlns:a16="http://schemas.microsoft.com/office/drawing/2014/main" id="{DD92914E-7AC8-4F6F-9A77-054D9D11213E}"/>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98287521-685F-47B2-9192-4DEA7A0BBA76}"/>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xmlns:a="http://schemas.openxmlformats.org/drawingml/2006/main">
              <a:ext uri="{FF2B5EF4-FFF2-40B4-BE49-F238E27FC236}">
                <a16:creationId xmlns:a16="http://schemas.microsoft.com/office/drawing/2014/main" id="{C0B7FC5B-68CB-4457-A32D-CBAEF6AB0E07}"/>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D5EA5C3E-6315-490E-AC21-CDCEF0907C52}"/>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xmlns:a="http://schemas.openxmlformats.org/drawingml/2006/main">
              <a:ext uri="{FF2B5EF4-FFF2-40B4-BE49-F238E27FC236}">
                <a16:creationId xmlns:a16="http://schemas.microsoft.com/office/drawing/2014/main" id="{A0F99D78-6E4B-43F8-8F49-3B164C774374}"/>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xmlns:a="http://schemas.openxmlformats.org/drawingml/2006/main">
              <a:ext uri="{FF2B5EF4-FFF2-40B4-BE49-F238E27FC236}">
                <a16:creationId xmlns:a16="http://schemas.microsoft.com/office/drawing/2014/main" id="{96D7A8A8-DF2A-439A-8112-C04F8AE18408}"/>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6B4F1E2-E827-4E5A-8E29-E08154D910DA}"/>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xmlns:a="http://schemas.openxmlformats.org/drawingml/2006/main">
              <a:ext uri="{FF2B5EF4-FFF2-40B4-BE49-F238E27FC236}">
                <a16:creationId xmlns:a16="http://schemas.microsoft.com/office/drawing/2014/main" id="{4426865A-B1FE-455C-A9EA-65BF458826C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C3D5CCAB-FB1D-47FA-91EB-C11D14641679}"/>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xmlns:a="http://schemas.openxmlformats.org/drawingml/2006/main">
              <a:ext uri="{FF2B5EF4-FFF2-40B4-BE49-F238E27FC236}">
                <a16:creationId xmlns:a16="http://schemas.microsoft.com/office/drawing/2014/main" id="{EA36AB37-E771-4BE9-8277-71CF154B6892}"/>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A6E150D6-F7CB-4C52-90FF-95731FB4C30B}"/>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D36C9EEB-C422-448E-B8F8-7FA2D57C8B9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766384617"/>
      </p:ext>
    </p:extLst>
  </p:cSld>
</p:sld>
</file>

<file path=ppt/slides/slide107.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A37315F-4C9F-42A5-998B-201DF7342692}"/>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xmlns:a="http://schemas.openxmlformats.org/drawingml/2006/main">
              <a:ext uri="{FF2B5EF4-FFF2-40B4-BE49-F238E27FC236}">
                <a16:creationId xmlns:a16="http://schemas.microsoft.com/office/drawing/2014/main" id="{D82A6CED-CB25-4C33-866D-9CBDC645DA68}"/>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73FB08E8-8956-4827-88DB-F3103173F13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xmlns:a="http://schemas.openxmlformats.org/drawingml/2006/main">
              <a:ext uri="{FF2B5EF4-FFF2-40B4-BE49-F238E27FC236}">
                <a16:creationId xmlns:a16="http://schemas.microsoft.com/office/drawing/2014/main" id="{44021B8F-8A41-425E-9D1C-4F81E8BCEE92}"/>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xmlns:a="http://schemas.openxmlformats.org/drawingml/2006/main">
              <a:ext uri="{FF2B5EF4-FFF2-40B4-BE49-F238E27FC236}">
                <a16:creationId xmlns:a16="http://schemas.microsoft.com/office/drawing/2014/main" id="{AAF8E368-C796-44BA-99C7-F77398635149}"/>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C1AD072C-DCFB-460C-92ED-834DD7B72F59}"/>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82DD8406-EFB2-466C-A95A-4F375E658C1D}"/>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169A47A-0070-4249-A45B-C63957021AF8}"/>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1034924A-8F59-439F-A417-A857F4EAFE2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AB65C9B-9A68-49FA-AE5E-0207D2669CF0}"/>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E55D9C9-AE40-4312-BFB9-3F1575A02950}"/>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6438963-E7CC-421C-AA39-E9324CC389F8}"/>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523B3C5F-F468-44E8-A6C2-C11568E8ED10}"/>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B50CB4E-D4FD-4820-928D-07586863E902}"/>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205388F7-7912-49C2-8E12-D36B5FCB51DA}"/>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E3ACC1A0-7A63-4223-A381-1F2CE3B28115}"/>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9B44996-3F63-4110-A49E-1DF8EC29FC4E}"/>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D87BBFCC-07BA-4EFB-BCC0-068D2E0FFF6E}"/>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54571236-B70A-47CE-92CB-D719BDAF2B9D}"/>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0F627F4-DFA9-42C4-AF9D-C3BADE0E4AF6}"/>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sld>
</file>

<file path=ppt/slides/slide10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25048A-935D-4BFD-BEEC-32E294D8B83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xmlns:a="http://schemas.openxmlformats.org/drawingml/2006/main">
              <a:ext uri="{FF2B5EF4-FFF2-40B4-BE49-F238E27FC236}">
                <a16:creationId xmlns:a16="http://schemas.microsoft.com/office/drawing/2014/main" id="{D3BC54F8-229E-4612-9FCF-BB8F5AB9B0A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xmlns:a="http://schemas.openxmlformats.org/drawingml/2006/main">
              <a:ext uri="{FF2B5EF4-FFF2-40B4-BE49-F238E27FC236}">
                <a16:creationId xmlns:a16="http://schemas.microsoft.com/office/drawing/2014/main" id="{0CCC3B6B-D7D9-4C2B-A320-6946B7746EA8}"/>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F861887-F1EC-40A3-87E2-912C717D303A}"/>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12 neuronal calls</a:t>
            </a:r>
          </a:p>
        </p:txBody>
      </p:sp>
      <p:sp>
        <p:nvSpPr>
          <p:cNvPr id="6" name="Rounded Rectangle 5">
            <a:extLst xmlns:a="http://schemas.openxmlformats.org/drawingml/2006/main">
              <a:ext uri="{FF2B5EF4-FFF2-40B4-BE49-F238E27FC236}">
                <a16:creationId xmlns:a16="http://schemas.microsoft.com/office/drawing/2014/main" id="{759D17D2-1868-4FEE-B8F9-F0E95F5E4FEA}"/>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E524B19-F525-4D2A-92D8-58C0AE86562C}"/>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xmlns:a="http://schemas.openxmlformats.org/drawingml/2006/main">
              <a:ext uri="{FF2B5EF4-FFF2-40B4-BE49-F238E27FC236}">
                <a16:creationId xmlns:a16="http://schemas.microsoft.com/office/drawing/2014/main" id="{59B65B70-174B-43A0-8922-9C3EDAAB180F}"/>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D30C86C-895A-44E3-94A8-4383A84CC8B2}"/>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xmlns:a="http://schemas.openxmlformats.org/drawingml/2006/main">
              <a:ext uri="{FF2B5EF4-FFF2-40B4-BE49-F238E27FC236}">
                <a16:creationId xmlns:a16="http://schemas.microsoft.com/office/drawing/2014/main" id="{7B952B3E-3848-4CD9-B2AF-BE8178835C90}"/>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C5917DD-50E9-4250-81C9-51928DC52E77}"/>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xmlns:a="http://schemas.openxmlformats.org/drawingml/2006/main">
              <a:ext uri="{FF2B5EF4-FFF2-40B4-BE49-F238E27FC236}">
                <a16:creationId xmlns:a16="http://schemas.microsoft.com/office/drawing/2014/main" id="{4DE8C956-CF25-43E4-AE67-1382D39027EC}"/>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F06D35F-BCAC-40EF-B246-C1D6799A872E}"/>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xmlns:a="http://schemas.openxmlformats.org/drawingml/2006/main">
              <a:ext uri="{FF2B5EF4-FFF2-40B4-BE49-F238E27FC236}">
                <a16:creationId xmlns:a16="http://schemas.microsoft.com/office/drawing/2014/main" id="{442295C3-B4A3-460A-ACB4-FCC56A7F1FE0}"/>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xmlns:a="http://schemas.openxmlformats.org/drawingml/2006/main">
              <a:ext uri="{FF2B5EF4-FFF2-40B4-BE49-F238E27FC236}">
                <a16:creationId xmlns:a16="http://schemas.microsoft.com/office/drawing/2014/main" id="{37911221-0597-4BC4-8833-2698A7CE0348}"/>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xmlns:a="http://schemas.openxmlformats.org/drawingml/2006/main">
              <a:ext uri="{FF2B5EF4-FFF2-40B4-BE49-F238E27FC236}">
                <a16:creationId xmlns:a16="http://schemas.microsoft.com/office/drawing/2014/main" id="{03CC68D1-D9DA-442E-824B-8ED476870935}"/>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86DE238-E9DF-4EB3-9A36-4E6E50BBF8CA}"/>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xmlns:a="http://schemas.openxmlformats.org/drawingml/2006/main">
              <a:ext uri="{FF2B5EF4-FFF2-40B4-BE49-F238E27FC236}">
                <a16:creationId xmlns:a16="http://schemas.microsoft.com/office/drawing/2014/main" id="{77CED781-C8E6-47BF-A3AC-F2754A772C8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xmlns:a="http://schemas.openxmlformats.org/drawingml/2006/main">
              <a:ext uri="{FF2B5EF4-FFF2-40B4-BE49-F238E27FC236}">
                <a16:creationId xmlns:a16="http://schemas.microsoft.com/office/drawing/2014/main" id="{2459F011-6AB6-4E7D-9FBF-8BE2A2ECCE28}"/>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the proteins encoded by mtDNA.</a:t>
            </a:r>
          </a:p>
        </p:txBody>
      </p:sp>
      <p:sp>
        <p:nvSpPr>
          <p:cNvPr id="20" name="Rounded Rectangle 19">
            <a:extLst xmlns:a="http://schemas.openxmlformats.org/drawingml/2006/main">
              <a:ext uri="{FF2B5EF4-FFF2-40B4-BE49-F238E27FC236}">
                <a16:creationId xmlns:a16="http://schemas.microsoft.com/office/drawing/2014/main" id="{C8C1AA6C-8E07-44FC-BA6D-4D8952303E58}"/>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0BA2804-00A6-4362-9CF6-B4442CA667FB}"/>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xmlns:a="http://schemas.openxmlformats.org/drawingml/2006/main">
              <a:ext uri="{FF2B5EF4-FFF2-40B4-BE49-F238E27FC236}">
                <a16:creationId xmlns:a16="http://schemas.microsoft.com/office/drawing/2014/main" id="{D9D9C46E-1536-47F7-92D7-F3910985FE25}"/>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xmlns:a="http://schemas.openxmlformats.org/drawingml/2006/main">
              <a:ext uri="{FF2B5EF4-FFF2-40B4-BE49-F238E27FC236}">
                <a16:creationId xmlns:a16="http://schemas.microsoft.com/office/drawing/2014/main" id="{6AA0E181-361D-48CB-9FB5-FF568E55A4D6}"/>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mitochondrial protein-production RNA.</a:t>
            </a:r>
          </a:p>
        </p:txBody>
      </p:sp>
      <p:sp>
        <p:nvSpPr>
          <p:cNvPr id="24" name="Rounded Rectangle 23">
            <a:extLst xmlns:a="http://schemas.openxmlformats.org/drawingml/2006/main">
              <a:ext uri="{FF2B5EF4-FFF2-40B4-BE49-F238E27FC236}">
                <a16:creationId xmlns:a16="http://schemas.microsoft.com/office/drawing/2014/main" id="{0592564E-9542-4F5F-9B24-4FB9546E4AC7}"/>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66ECDC3-B901-402A-BFB6-301059DDAB37}"/>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
        <p:nvSpPr>
          <p:cNvPr id="26" name="TextBox 25">
            <a:extLst xmlns:a="http://schemas.openxmlformats.org/drawingml/2006/main">
              <a:ext uri="{FF2B5EF4-FFF2-40B4-BE49-F238E27FC236}">
                <a16:creationId xmlns:a16="http://schemas.microsoft.com/office/drawing/2014/main" id="{784C0CD6-9440-495F-A70E-7FA72F814E4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446232377"/>
      </p:ext>
    </p:extLst>
  </p:cSld>
</p:sld>
</file>

<file path=ppt/slides/slide10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21B74E3-AB8F-48D2-8577-5E207E6BE41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xmlns:a="http://schemas.openxmlformats.org/drawingml/2006/main">
              <a:ext uri="{FF2B5EF4-FFF2-40B4-BE49-F238E27FC236}">
                <a16:creationId xmlns:a16="http://schemas.microsoft.com/office/drawing/2014/main" id="{EAF1DA34-721D-4B7F-BC6B-284728F64E1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xmlns:a="http://schemas.openxmlformats.org/drawingml/2006/main">
              <a:ext uri="{FF2B5EF4-FFF2-40B4-BE49-F238E27FC236}">
                <a16:creationId xmlns:a16="http://schemas.microsoft.com/office/drawing/2014/main" id="{B80902C0-095D-493F-960E-5450F231C91F}"/>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9F4C998-1FAE-4AD5-8F7C-E78DD528019F}"/>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xmlns:a="http://schemas.openxmlformats.org/drawingml/2006/main">
              <a:ext uri="{FF2B5EF4-FFF2-40B4-BE49-F238E27FC236}">
                <a16:creationId xmlns:a16="http://schemas.microsoft.com/office/drawing/2014/main" id="{E059FF04-A750-46F7-83F4-009DDFB6FCE2}"/>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calls</a:t>
            </a:r>
          </a:p>
        </p:txBody>
      </p:sp>
      <p:sp>
        <p:nvSpPr>
          <p:cNvPr id="7" name="TextBox 6">
            <a:extLst xmlns:a="http://schemas.openxmlformats.org/drawingml/2006/main">
              <a:ext uri="{FF2B5EF4-FFF2-40B4-BE49-F238E27FC236}">
                <a16:creationId xmlns:a16="http://schemas.microsoft.com/office/drawing/2014/main" id="{4D021A94-834F-451B-B75F-D8F125B70D7B}"/>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xmlns:a="http://schemas.openxmlformats.org/drawingml/2006/main">
              <a:ext uri="{FF2B5EF4-FFF2-40B4-BE49-F238E27FC236}">
                <a16:creationId xmlns:a16="http://schemas.microsoft.com/office/drawing/2014/main" id="{479C9FF7-EC84-454E-B87F-996E75E637D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039420D-4087-467E-A9C4-B27E45272B1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xmlns:a="http://schemas.openxmlformats.org/drawingml/2006/main">
              <a:ext uri="{FF2B5EF4-FFF2-40B4-BE49-F238E27FC236}">
                <a16:creationId xmlns:a16="http://schemas.microsoft.com/office/drawing/2014/main" id="{01E3F8C2-F2E3-45F5-8BEA-59E9C2467A8D}"/>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xmlns:a="http://schemas.openxmlformats.org/drawingml/2006/main">
              <a:ext uri="{FF2B5EF4-FFF2-40B4-BE49-F238E27FC236}">
                <a16:creationId xmlns:a16="http://schemas.microsoft.com/office/drawing/2014/main" id="{2CBEA001-8398-49D8-B802-AC7DBDAAD21D}"/>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xmlns:a="http://schemas.openxmlformats.org/drawingml/2006/main">
              <a:ext uri="{FF2B5EF4-FFF2-40B4-BE49-F238E27FC236}">
                <a16:creationId xmlns:a16="http://schemas.microsoft.com/office/drawing/2014/main" id="{3FF76E23-954D-4A34-BFF3-E01B70C8B1F4}"/>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776E1F0-8D9D-45F2-8002-F8952774B882}"/>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xmlns:a="http://schemas.openxmlformats.org/drawingml/2006/main">
              <a:ext uri="{FF2B5EF4-FFF2-40B4-BE49-F238E27FC236}">
                <a16:creationId xmlns:a16="http://schemas.microsoft.com/office/drawing/2014/main" id="{7A776ADF-02EC-4E24-8FA5-673EA89B9BC4}"/>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xmlns:a="http://schemas.openxmlformats.org/drawingml/2006/main">
              <a:ext uri="{FF2B5EF4-FFF2-40B4-BE49-F238E27FC236}">
                <a16:creationId xmlns:a16="http://schemas.microsoft.com/office/drawing/2014/main" id="{7C88409E-0F7C-476E-A00A-66C6D8E5315D}"/>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xmlns:a="http://schemas.openxmlformats.org/drawingml/2006/main">
              <a:ext uri="{FF2B5EF4-FFF2-40B4-BE49-F238E27FC236}">
                <a16:creationId xmlns:a16="http://schemas.microsoft.com/office/drawing/2014/main" id="{AB81D0D4-8592-477D-9387-D054683E836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FC1054FA-D0A0-41E1-845D-89EDCC1076D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xmlns:a="http://schemas.openxmlformats.org/drawingml/2006/main">
              <a:ext uri="{FF2B5EF4-FFF2-40B4-BE49-F238E27FC236}">
                <a16:creationId xmlns:a16="http://schemas.microsoft.com/office/drawing/2014/main" id="{B27210B7-C4CC-41A0-829C-2D6549BAB350}"/>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xmlns:a="http://schemas.openxmlformats.org/drawingml/2006/main">
              <a:ext uri="{FF2B5EF4-FFF2-40B4-BE49-F238E27FC236}">
                <a16:creationId xmlns:a16="http://schemas.microsoft.com/office/drawing/2014/main" id="{FFB330F5-B8B2-418A-81AD-1C58BAA57F90}"/>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have lower RNA in AD</a:t>
            </a:r>
          </a:p>
        </p:txBody>
      </p:sp>
      <p:sp>
        <p:nvSpPr>
          <p:cNvPr id="20" name="Rounded Rectangle 19">
            <a:extLst xmlns:a="http://schemas.openxmlformats.org/drawingml/2006/main">
              <a:ext uri="{FF2B5EF4-FFF2-40B4-BE49-F238E27FC236}">
                <a16:creationId xmlns:a16="http://schemas.microsoft.com/office/drawing/2014/main" id="{5124F938-A41A-4805-BD42-7FA0ED50CEBC}"/>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E69DA5F-5A06-4327-8981-A6CA33BA6746}"/>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xmlns:a="http://schemas.openxmlformats.org/drawingml/2006/main">
              <a:ext uri="{FF2B5EF4-FFF2-40B4-BE49-F238E27FC236}">
                <a16:creationId xmlns:a16="http://schemas.microsoft.com/office/drawing/2014/main" id="{8FF084EE-59CB-4E89-96FE-CB67147C78BA}"/>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xmlns:a="http://schemas.openxmlformats.org/drawingml/2006/main">
              <a:ext uri="{FF2B5EF4-FFF2-40B4-BE49-F238E27FC236}">
                <a16:creationId xmlns:a16="http://schemas.microsoft.com/office/drawing/2014/main" id="{BCF5FACD-DCE9-4190-8C0C-1B3D2F8BDD93}"/>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xmlns:a="http://schemas.openxmlformats.org/drawingml/2006/main">
              <a:ext uri="{FF2B5EF4-FFF2-40B4-BE49-F238E27FC236}">
                <a16:creationId xmlns:a16="http://schemas.microsoft.com/office/drawing/2014/main" id="{57AF983D-0F7E-4804-BC13-D1AE82663D19}"/>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B76E8CF5-5C1A-4EC2-ABD3-78A13094D488}"/>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xmlns:a="http://schemas.openxmlformats.org/drawingml/2006/main">
              <a:ext uri="{FF2B5EF4-FFF2-40B4-BE49-F238E27FC236}">
                <a16:creationId xmlns:a16="http://schemas.microsoft.com/office/drawing/2014/main" id="{3D1F4111-3C4B-46FA-A9AF-1148415B2D36}"/>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xmlns:a="http://schemas.openxmlformats.org/drawingml/2006/main">
              <a:ext uri="{FF2B5EF4-FFF2-40B4-BE49-F238E27FC236}">
                <a16:creationId xmlns:a16="http://schemas.microsoft.com/office/drawing/2014/main" id="{7B93D71D-961F-4FB5-A06E-D4A15158ADD1}"/>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as well as appearing in the network</a:t>
            </a:r>
          </a:p>
        </p:txBody>
      </p:sp>
      <p:sp>
        <p:nvSpPr>
          <p:cNvPr id="28" name="TextBox 27">
            <a:extLst xmlns:a="http://schemas.openxmlformats.org/drawingml/2006/main">
              <a:ext uri="{FF2B5EF4-FFF2-40B4-BE49-F238E27FC236}">
                <a16:creationId xmlns:a16="http://schemas.microsoft.com/office/drawing/2014/main" id="{0470603D-CABC-4098-85C5-390EB40F902D}"/>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738462503"/>
      </p:ext>
    </p:extLst>
  </p:cSld>
</p:sld>
</file>

<file path=ppt/slides/slide1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0A4EE6E-0343-4FDF-BCD2-55656C5CE61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xmlns:a="http://schemas.openxmlformats.org/drawingml/2006/main">
              <a:ext uri="{FF2B5EF4-FFF2-40B4-BE49-F238E27FC236}">
                <a16:creationId xmlns:a16="http://schemas.microsoft.com/office/drawing/2014/main" id="{58FC2311-DB43-4F16-B2F5-7C5FA0E224E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xmlns:a="http://schemas.openxmlformats.org/drawingml/2006/main">
              <a:ext uri="{FF2B5EF4-FFF2-40B4-BE49-F238E27FC236}">
                <a16:creationId xmlns:a16="http://schemas.microsoft.com/office/drawing/2014/main" id="{911ABC21-FD78-4DEE-A5D3-635418BB528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62159CA-286E-4728-A718-AAC584AB721D}"/>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xmlns:a="http://schemas.openxmlformats.org/drawingml/2006/main">
              <a:ext uri="{FF2B5EF4-FFF2-40B4-BE49-F238E27FC236}">
                <a16:creationId xmlns:a16="http://schemas.microsoft.com/office/drawing/2014/main" id="{48E0EAD5-1B12-4153-9406-C3BF595AA83D}"/>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xmlns:a="http://schemas.openxmlformats.org/drawingml/2006/main">
              <a:ext uri="{FF2B5EF4-FFF2-40B4-BE49-F238E27FC236}">
                <a16:creationId xmlns:a16="http://schemas.microsoft.com/office/drawing/2014/main" id="{42B67F14-65F8-4619-B9B6-E7F88A3BCF44}"/>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xmlns:a="http://schemas.openxmlformats.org/drawingml/2006/main">
              <a:ext uri="{FF2B5EF4-FFF2-40B4-BE49-F238E27FC236}">
                <a16:creationId xmlns:a16="http://schemas.microsoft.com/office/drawing/2014/main" id="{7A2F2BC8-BA8C-4ABC-9D2F-2AA2A653D16C}"/>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25B389-5C17-4BAA-B051-AD0BE181FFA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xmlns:a="http://schemas.openxmlformats.org/drawingml/2006/main">
              <a:ext uri="{FF2B5EF4-FFF2-40B4-BE49-F238E27FC236}">
                <a16:creationId xmlns:a16="http://schemas.microsoft.com/office/drawing/2014/main" id="{26F8A0E1-7CBA-4146-8FA6-44E6BACC4EC0}"/>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xmlns:a="http://schemas.openxmlformats.org/drawingml/2006/main">
              <a:ext uri="{FF2B5EF4-FFF2-40B4-BE49-F238E27FC236}">
                <a16:creationId xmlns:a16="http://schemas.microsoft.com/office/drawing/2014/main" id="{6B3E71B3-D882-4840-B944-B21828D430BC}"/>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SEA-AD did not select SELENOM as a key driver in those calls.</a:t>
            </a:r>
          </a:p>
        </p:txBody>
      </p:sp>
      <p:sp>
        <p:nvSpPr>
          <p:cNvPr id="12" name="Rounded Rectangle 11">
            <a:extLst xmlns:a="http://schemas.openxmlformats.org/drawingml/2006/main">
              <a:ext uri="{FF2B5EF4-FFF2-40B4-BE49-F238E27FC236}">
                <a16:creationId xmlns:a16="http://schemas.microsoft.com/office/drawing/2014/main" id="{B20FD01D-B845-4216-AC5B-BE46305DA9B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1B46D3D-636D-496F-9DFC-23FA75F81B41}"/>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xmlns:a="http://schemas.openxmlformats.org/drawingml/2006/main">
              <a:ext uri="{FF2B5EF4-FFF2-40B4-BE49-F238E27FC236}">
                <a16:creationId xmlns:a16="http://schemas.microsoft.com/office/drawing/2014/main" id="{08D00B65-EE3E-410C-AB29-675883E6AB38}"/>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xmlns:a="http://schemas.openxmlformats.org/drawingml/2006/main">
              <a:ext uri="{FF2B5EF4-FFF2-40B4-BE49-F238E27FC236}">
                <a16:creationId xmlns:a16="http://schemas.microsoft.com/office/drawing/2014/main" id="{C26F7CB6-9F28-4BD4-A3B1-DDEC1898AD00}"/>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xmlns:a="http://schemas.openxmlformats.org/drawingml/2006/main">
              <a:ext uri="{FF2B5EF4-FFF2-40B4-BE49-F238E27FC236}">
                <a16:creationId xmlns:a16="http://schemas.microsoft.com/office/drawing/2014/main" id="{88A9747E-F53C-41AF-860E-A637215130D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32C4961-AB50-4144-8348-7E6E55FCEB16}"/>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
        <p:nvSpPr>
          <p:cNvPr id="18" name="TextBox 17">
            <a:extLst xmlns:a="http://schemas.openxmlformats.org/drawingml/2006/main">
              <a:ext uri="{FF2B5EF4-FFF2-40B4-BE49-F238E27FC236}">
                <a16:creationId xmlns:a16="http://schemas.microsoft.com/office/drawing/2014/main" id="{FC2FB94D-AC08-4EA3-ABFA-FF0E45A92F8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705880487"/>
      </p:ext>
    </p:extLst>
  </p:cSld>
</p:sld>
</file>

<file path=ppt/slides/slide1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D961931-DB1A-4D8D-9E59-4FF664EFC7D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xmlns:a="http://schemas.openxmlformats.org/drawingml/2006/main">
              <a:ext uri="{FF2B5EF4-FFF2-40B4-BE49-F238E27FC236}">
                <a16:creationId xmlns:a16="http://schemas.microsoft.com/office/drawing/2014/main" id="{9030C8CA-04A9-4663-8E2C-46DC881652F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xmlns:a="http://schemas.openxmlformats.org/drawingml/2006/main">
              <a:ext uri="{FF2B5EF4-FFF2-40B4-BE49-F238E27FC236}">
                <a16:creationId xmlns:a16="http://schemas.microsoft.com/office/drawing/2014/main" id="{084602C6-90C6-454C-BB1E-C05872F85CC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4B183CB-8DE4-4569-B23B-5B4DD3B5D25E}"/>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xmlns:a="http://schemas.openxmlformats.org/drawingml/2006/main">
              <a:ext uri="{FF2B5EF4-FFF2-40B4-BE49-F238E27FC236}">
                <a16:creationId xmlns:a16="http://schemas.microsoft.com/office/drawing/2014/main" id="{69D73032-F8F4-4986-B4CB-2E2A57F516E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xmlns:a="http://schemas.openxmlformats.org/drawingml/2006/main">
              <a:ext uri="{FF2B5EF4-FFF2-40B4-BE49-F238E27FC236}">
                <a16:creationId xmlns:a16="http://schemas.microsoft.com/office/drawing/2014/main" id="{DC4A171B-45B3-4A7C-812C-62F3F557E30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xmlns:a="http://schemas.openxmlformats.org/drawingml/2006/main">
              <a:ext uri="{FF2B5EF4-FFF2-40B4-BE49-F238E27FC236}">
                <a16:creationId xmlns:a16="http://schemas.microsoft.com/office/drawing/2014/main" id="{64D82D6D-D8D3-4638-8CBD-F209431DC4F5}"/>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CED050F-F90E-4C37-B63C-51F32FE48A3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xmlns:a="http://schemas.openxmlformats.org/drawingml/2006/main">
              <a:ext uri="{FF2B5EF4-FFF2-40B4-BE49-F238E27FC236}">
                <a16:creationId xmlns:a16="http://schemas.microsoft.com/office/drawing/2014/main" id="{BB6D8CA6-6F93-404C-A02B-E57A9FC9FE39}"/>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Translation supplies mtDNA proteins</a:t>
            </a:r>
          </a:p>
        </p:txBody>
      </p:sp>
      <p:sp>
        <p:nvSpPr>
          <p:cNvPr id="11" name="TextBox 10">
            <a:extLst xmlns:a="http://schemas.openxmlformats.org/drawingml/2006/main">
              <a:ext uri="{FF2B5EF4-FFF2-40B4-BE49-F238E27FC236}">
                <a16:creationId xmlns:a16="http://schemas.microsoft.com/office/drawing/2014/main" id="{9C18F9AA-D02B-41C1-BBFB-8DDCCD7C054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xmlns:a="http://schemas.openxmlformats.org/drawingml/2006/main">
              <a:ext uri="{FF2B5EF4-FFF2-40B4-BE49-F238E27FC236}">
                <a16:creationId xmlns:a16="http://schemas.microsoft.com/office/drawing/2014/main" id="{C938B0A7-F1D5-4BF9-908E-FE01BFA437C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289F945-FB3C-4F88-8EC0-7460C543298B}"/>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xmlns:a="http://schemas.openxmlformats.org/drawingml/2006/main">
              <a:ext uri="{FF2B5EF4-FFF2-40B4-BE49-F238E27FC236}">
                <a16:creationId xmlns:a16="http://schemas.microsoft.com/office/drawing/2014/main" id="{BA2E20E9-9A03-4905-9B10-3AE5DC6CBCDB}"/>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xmlns:a="http://schemas.openxmlformats.org/drawingml/2006/main">
              <a:ext uri="{FF2B5EF4-FFF2-40B4-BE49-F238E27FC236}">
                <a16:creationId xmlns:a16="http://schemas.microsoft.com/office/drawing/2014/main" id="{70FE139F-123B-4EDA-9549-D0FC6C9E9E16}"/>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xmlns:a="http://schemas.openxmlformats.org/drawingml/2006/main">
              <a:ext uri="{FF2B5EF4-FFF2-40B4-BE49-F238E27FC236}">
                <a16:creationId xmlns:a16="http://schemas.microsoft.com/office/drawing/2014/main" id="{0B195959-579A-4FAC-8465-45BF60AF65C8}"/>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C8773B5-1324-420E-AC08-9270056E69AD}"/>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F92D06E9-C383-4E1A-BF39-EF8478DCEC5C}"/>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
        <p:nvSpPr>
          <p:cNvPr id="19" name="TextBox 18">
            <a:extLst xmlns:a="http://schemas.openxmlformats.org/drawingml/2006/main">
              <a:ext uri="{FF2B5EF4-FFF2-40B4-BE49-F238E27FC236}">
                <a16:creationId xmlns:a16="http://schemas.microsoft.com/office/drawing/2014/main" id="{53A3C184-C731-4574-92B8-EF4A7C9DE4E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625634126"/>
      </p:ext>
    </p:extLst>
  </p:cSld>
</p:sld>
</file>

<file path=ppt/slides/slide1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DD2E0C6-BA00-4090-AD2C-97A515B2F9E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10 does not prove, and the next evidence needed</a:t>
            </a:r>
          </a:p>
        </p:txBody>
      </p:sp>
      <p:sp>
        <p:nvSpPr>
          <p:cNvPr id="3" name="TextBox 2">
            <a:extLst xmlns:a="http://schemas.openxmlformats.org/drawingml/2006/main">
              <a:ext uri="{FF2B5EF4-FFF2-40B4-BE49-F238E27FC236}">
                <a16:creationId xmlns:a16="http://schemas.microsoft.com/office/drawing/2014/main" id="{6AB3BE6D-961D-45EC-B21E-AB238BAB782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04BC7D62-F917-45B2-8A51-4F1A2C7ECB95}"/>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573FFD7-EFFD-45A9-B766-8D6FF52F5CE5}"/>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EA54B85-BE77-4860-9DA2-1046FC8F76DF}"/>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EEAB249D-0313-40E3-B281-7172851A7D4E}"/>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B28A4D6-99E6-455D-AC40-6F578EC5996A}"/>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Direct SELENOM control of TUFM or MRPS proteins</a:t>
            </a:r>
          </a:p>
        </p:txBody>
      </p:sp>
      <p:sp>
        <p:nvSpPr>
          <p:cNvPr id="9" name="Oval 8">
            <a:extLst xmlns:a="http://schemas.openxmlformats.org/drawingml/2006/main">
              <a:ext uri="{FF2B5EF4-FFF2-40B4-BE49-F238E27FC236}">
                <a16:creationId xmlns:a16="http://schemas.microsoft.com/office/drawing/2014/main" id="{70ED1DFD-EE7F-4028-8BAB-360EA448059A}"/>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37B1534-47FF-497E-B90F-51282F66F0E9}"/>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causal effect on mitochondrial translation</a:t>
            </a:r>
          </a:p>
        </p:txBody>
      </p:sp>
      <p:sp>
        <p:nvSpPr>
          <p:cNvPr id="11" name="Oval 10">
            <a:extLst xmlns:a="http://schemas.openxmlformats.org/drawingml/2006/main">
              <a:ext uri="{FF2B5EF4-FFF2-40B4-BE49-F238E27FC236}">
                <a16:creationId xmlns:a16="http://schemas.microsoft.com/office/drawing/2014/main" id="{69AF9A20-C37E-44CB-A236-8A7533A3F670}"/>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5B3F034-D801-4311-842B-29BA16DFCCFA}"/>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human or genetic validation</a:t>
            </a:r>
          </a:p>
        </p:txBody>
      </p:sp>
      <p:sp>
        <p:nvSpPr>
          <p:cNvPr id="13" name="Rounded Rectangle 12">
            <a:extLst xmlns:a="http://schemas.openxmlformats.org/drawingml/2006/main">
              <a:ext uri="{FF2B5EF4-FFF2-40B4-BE49-F238E27FC236}">
                <a16:creationId xmlns:a16="http://schemas.microsoft.com/office/drawing/2014/main" id="{412A8E71-92FB-46E2-9E53-C94264916E3F}"/>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BB6BB246-9327-4C59-8A95-5F2823512109}"/>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43E208DA-BE55-480E-AC3D-C5FB9E7581F0}"/>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CC49A0B7-9904-4ECF-B1BA-8C682880AE0A}"/>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540B22D-F32B-49C1-979D-0D5AE74DAF8D}"/>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and rescue SELENOM in excitatory neurons</a:t>
            </a:r>
          </a:p>
        </p:txBody>
      </p:sp>
      <p:sp>
        <p:nvSpPr>
          <p:cNvPr id="18" name="Oval 17">
            <a:extLst xmlns:a="http://schemas.openxmlformats.org/drawingml/2006/main">
              <a:ext uri="{FF2B5EF4-FFF2-40B4-BE49-F238E27FC236}">
                <a16:creationId xmlns:a16="http://schemas.microsoft.com/office/drawing/2014/main" id="{B6C7C7D7-4F7B-45C4-98DF-ADE20BD13279}"/>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000567C9-47A4-47D3-9613-E11253C8D37F}"/>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ER calcium and redox state</a:t>
            </a:r>
          </a:p>
        </p:txBody>
      </p:sp>
      <p:sp>
        <p:nvSpPr>
          <p:cNvPr id="20" name="Oval 19">
            <a:extLst xmlns:a="http://schemas.openxmlformats.org/drawingml/2006/main">
              <a:ext uri="{FF2B5EF4-FFF2-40B4-BE49-F238E27FC236}">
                <a16:creationId xmlns:a16="http://schemas.microsoft.com/office/drawing/2014/main" id="{9C795723-901F-4364-8AE7-878F36AB7B4D}"/>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36CDEA5-71A7-4BFB-91E7-9BCFE14062B4}"/>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mitochondrial translation, OXPHOS proteins, and respiration</a:t>
            </a:r>
          </a:p>
        </p:txBody>
      </p:sp>
      <p:sp>
        <p:nvSpPr>
          <p:cNvPr id="22" name="TextBox 21">
            <a:extLst xmlns:a="http://schemas.openxmlformats.org/drawingml/2006/main">
              <a:ext uri="{FF2B5EF4-FFF2-40B4-BE49-F238E27FC236}">
                <a16:creationId xmlns:a16="http://schemas.microsoft.com/office/drawing/2014/main" id="{5135C2A4-BC6F-4647-8AD5-F48DA88495C8}"/>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4C3E570E-4101-4CA7-ADE0-D2B827B8E82B}"/>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837816153"/>
      </p:ext>
    </p:extLst>
  </p:cSld>
</p:sld>
</file>

<file path=ppt/slides/slide1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9D8F2BA-EA13-4344-BB28-DCEA1268D94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xmlns:a="http://schemas.openxmlformats.org/drawingml/2006/main">
              <a:ext uri="{FF2B5EF4-FFF2-40B4-BE49-F238E27FC236}">
                <a16:creationId xmlns:a16="http://schemas.microsoft.com/office/drawing/2014/main" id="{CC084186-73EE-4850-AE7A-77F15A65910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57A73BA5-9171-4E9A-95B6-AF859E9BCD40}"/>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3A1B4E3-73DE-4DB1-8E23-438B4390052D}"/>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xmlns:a="http://schemas.openxmlformats.org/drawingml/2006/main">
              <a:ext uri="{FF2B5EF4-FFF2-40B4-BE49-F238E27FC236}">
                <a16:creationId xmlns:a16="http://schemas.microsoft.com/office/drawing/2014/main" id="{B7E6A33E-B068-4D68-9276-D8E4243CBAFF}"/>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xmlns:a="http://schemas.openxmlformats.org/drawingml/2006/main">
              <a:ext uri="{FF2B5EF4-FFF2-40B4-BE49-F238E27FC236}">
                <a16:creationId xmlns:a16="http://schemas.microsoft.com/office/drawing/2014/main" id="{B423AADD-68F7-42DC-8C55-173CBC52095B}"/>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0742ECA0-2C00-4E88-8789-BF08A61F8F6D}"/>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xmlns:a="http://schemas.openxmlformats.org/drawingml/2006/main">
              <a:ext uri="{FF2B5EF4-FFF2-40B4-BE49-F238E27FC236}">
                <a16:creationId xmlns:a16="http://schemas.microsoft.com/office/drawing/2014/main" id="{F5C681ED-C22F-409B-8F4A-087032B5111B}"/>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3C10CD6C-F45D-4932-8331-D7AA10FBBDE3}"/>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xmlns:a="http://schemas.openxmlformats.org/drawingml/2006/main">
              <a:ext uri="{FF2B5EF4-FFF2-40B4-BE49-F238E27FC236}">
                <a16:creationId xmlns:a16="http://schemas.microsoft.com/office/drawing/2014/main" id="{B1E1B27D-FD26-45EE-8154-2B16B1018FAB}"/>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1EEDCAD3-328B-4EC4-94C3-316A45E9B3C9}"/>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xmlns:a="http://schemas.openxmlformats.org/drawingml/2006/main">
              <a:ext uri="{FF2B5EF4-FFF2-40B4-BE49-F238E27FC236}">
                <a16:creationId xmlns:a16="http://schemas.microsoft.com/office/drawing/2014/main" id="{A5841D23-41FA-429A-9D1F-29AC1219A37D}"/>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xmlns:a="http://schemas.openxmlformats.org/drawingml/2006/main">
              <a:ext uri="{FF2B5EF4-FFF2-40B4-BE49-F238E27FC236}">
                <a16:creationId xmlns:a16="http://schemas.microsoft.com/office/drawing/2014/main" id="{BAF7FCCB-92E1-4224-BF2D-D70FDB407B6F}"/>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B737E11E-28F5-4D49-B55D-0CBB650C860B}"/>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xmlns:a="http://schemas.openxmlformats.org/drawingml/2006/main">
              <a:ext uri="{FF2B5EF4-FFF2-40B4-BE49-F238E27FC236}">
                <a16:creationId xmlns:a16="http://schemas.microsoft.com/office/drawing/2014/main" id="{AE4E3E12-130F-4733-8F0E-5766C63E1678}"/>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136EF260-BB56-4396-AA72-743B3C7C95E5}"/>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xmlns:a="http://schemas.openxmlformats.org/drawingml/2006/main">
              <a:ext uri="{FF2B5EF4-FFF2-40B4-BE49-F238E27FC236}">
                <a16:creationId xmlns:a16="http://schemas.microsoft.com/office/drawing/2014/main" id="{5885393C-5225-4F0A-BED9-7115AC38A846}"/>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900AC170-5527-4A10-9192-E94ECFE18EB5}"/>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xmlns:a="http://schemas.openxmlformats.org/drawingml/2006/main">
              <a:ext uri="{FF2B5EF4-FFF2-40B4-BE49-F238E27FC236}">
                <a16:creationId xmlns:a16="http://schemas.microsoft.com/office/drawing/2014/main" id="{ECA4BFE1-40FC-448E-BA23-245BF5C47412}"/>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xmlns:a="http://schemas.openxmlformats.org/drawingml/2006/main">
              <a:ext uri="{FF2B5EF4-FFF2-40B4-BE49-F238E27FC236}">
                <a16:creationId xmlns:a16="http://schemas.microsoft.com/office/drawing/2014/main" id="{32415A96-B758-41C0-8122-D6B4D0525046}"/>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5D4E651-D6ED-4FDB-8C57-33BF50D036AF}"/>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xmlns:a="http://schemas.openxmlformats.org/drawingml/2006/main">
              <a:ext uri="{FF2B5EF4-FFF2-40B4-BE49-F238E27FC236}">
                <a16:creationId xmlns:a16="http://schemas.microsoft.com/office/drawing/2014/main" id="{AACB4F48-A51D-48D7-950D-0931989352BB}"/>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44A4F606-21B2-44D9-A8D0-C23192812317}"/>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xmlns:a="http://schemas.openxmlformats.org/drawingml/2006/main">
              <a:ext uri="{FF2B5EF4-FFF2-40B4-BE49-F238E27FC236}">
                <a16:creationId xmlns:a16="http://schemas.microsoft.com/office/drawing/2014/main" id="{89980199-0156-448F-B7C6-E4FDFC8F3595}"/>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AFB7570F-8D64-454C-B200-26CB726C53F9}"/>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E6965022-98B0-455E-8892-775AE0FFB5C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57916035"/>
      </p:ext>
    </p:extLst>
  </p:cSld>
</p:sld>
</file>

<file path=ppt/slides/slide114.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8AE71C3-B903-4E26-A80F-F179F437B99F}"/>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xmlns:a="http://schemas.openxmlformats.org/drawingml/2006/main">
              <a:ext uri="{FF2B5EF4-FFF2-40B4-BE49-F238E27FC236}">
                <a16:creationId xmlns:a16="http://schemas.microsoft.com/office/drawing/2014/main" id="{2AF96CC5-472B-4533-A22E-A5C552FA5415}"/>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49DE99C8-9D8F-416F-8040-BDD70E3EBABD}"/>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xmlns:a="http://schemas.openxmlformats.org/drawingml/2006/main">
              <a:ext uri="{FF2B5EF4-FFF2-40B4-BE49-F238E27FC236}">
                <a16:creationId xmlns:a16="http://schemas.microsoft.com/office/drawing/2014/main" id="{9452CEC1-6E1B-4A65-8B79-583802130A07}"/>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xmlns:a="http://schemas.openxmlformats.org/drawingml/2006/main">
              <a:ext uri="{FF2B5EF4-FFF2-40B4-BE49-F238E27FC236}">
                <a16:creationId xmlns:a16="http://schemas.microsoft.com/office/drawing/2014/main" id="{E22CBE5B-0DE4-47C3-99AC-3A553184D181}"/>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8E6DEDB-C735-4E80-BC67-4AECA14A6699}"/>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0263190D-3F71-4A68-B64B-DE0557DE3B75}"/>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286501B-5C6D-4F2B-A603-95FC5F42608A}"/>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43878683-A7A6-4791-9464-99AD1AD7FA6F}"/>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DC5220BB-36F0-4523-96B5-FEDC73F3ADF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07B96EE4-E690-4F74-BE82-E4AA97E7B8D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F2625498-03E7-4191-8344-1B2B354EB22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500F69BB-A3A7-40E1-B493-89E56D9D52EB}"/>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405D5331-ED92-4E62-9E2B-A5607D6CC74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7EB28AC4-F9F6-4819-B3D0-1D2617FD7B2A}"/>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01EE904-01D1-4D0D-B66C-E1B718E0E174}"/>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CBB69BA-0A80-4C2F-9339-EB12447333EF}"/>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0A1FC943-E13B-4F93-A7A5-812008EECEC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3BCD8BF1-8926-49EE-BAF2-80D6283B87BA}"/>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9FB8FB4-1B1F-49D7-9D34-1F1262EE2FF9}"/>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sld>
</file>

<file path=ppt/slides/slide1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71092ED-78A0-4E0A-B7D8-E9C8BB682A6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xmlns:a="http://schemas.openxmlformats.org/drawingml/2006/main">
              <a:ext uri="{FF2B5EF4-FFF2-40B4-BE49-F238E27FC236}">
                <a16:creationId xmlns:a16="http://schemas.microsoft.com/office/drawing/2014/main" id="{14097AC4-DF0C-4E5B-8288-18A112672EE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xmlns:a="http://schemas.openxmlformats.org/drawingml/2006/main">
              <a:ext uri="{FF2B5EF4-FFF2-40B4-BE49-F238E27FC236}">
                <a16:creationId xmlns:a16="http://schemas.microsoft.com/office/drawing/2014/main" id="{3BA7FE4B-6C76-456F-B1A5-EEC56BB91FFF}"/>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3B94E2F-9849-4C59-AA76-9518695ABE29}"/>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16 neuronal calls</a:t>
            </a:r>
          </a:p>
        </p:txBody>
      </p:sp>
      <p:sp>
        <p:nvSpPr>
          <p:cNvPr id="6" name="Rounded Rectangle 5">
            <a:extLst xmlns:a="http://schemas.openxmlformats.org/drawingml/2006/main">
              <a:ext uri="{FF2B5EF4-FFF2-40B4-BE49-F238E27FC236}">
                <a16:creationId xmlns:a16="http://schemas.microsoft.com/office/drawing/2014/main" id="{61B89432-C079-4B9E-BA7C-C5A9F080EB9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C16F0CA-8684-4D40-B1DD-AAFAB6760928}"/>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xmlns:a="http://schemas.openxmlformats.org/drawingml/2006/main">
              <a:ext uri="{FF2B5EF4-FFF2-40B4-BE49-F238E27FC236}">
                <a16:creationId xmlns:a16="http://schemas.microsoft.com/office/drawing/2014/main" id="{3A01FA95-8520-4130-A2B9-131EF843A4BD}"/>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5B5A533-E38B-4593-9033-C841FC610423}"/>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xmlns:a="http://schemas.openxmlformats.org/drawingml/2006/main">
              <a:ext uri="{FF2B5EF4-FFF2-40B4-BE49-F238E27FC236}">
                <a16:creationId xmlns:a16="http://schemas.microsoft.com/office/drawing/2014/main" id="{8601A96E-7703-47A2-BFCC-D0BDBA431D9E}"/>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382BF97E-2C7A-4803-A63F-21DB76A05EC0}"/>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xmlns:a="http://schemas.openxmlformats.org/drawingml/2006/main">
              <a:ext uri="{FF2B5EF4-FFF2-40B4-BE49-F238E27FC236}">
                <a16:creationId xmlns:a16="http://schemas.microsoft.com/office/drawing/2014/main" id="{EA650C1E-A510-40C3-BA62-61E4A8A0C16A}"/>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F9CAEDA-41E6-437C-B7AD-C4610C4CF988}"/>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xmlns:a="http://schemas.openxmlformats.org/drawingml/2006/main">
              <a:ext uri="{FF2B5EF4-FFF2-40B4-BE49-F238E27FC236}">
                <a16:creationId xmlns:a16="http://schemas.microsoft.com/office/drawing/2014/main" id="{8605780C-D738-4FE1-93F6-BDEC83006E8A}"/>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xmlns:a="http://schemas.openxmlformats.org/drawingml/2006/main">
              <a:ext uri="{FF2B5EF4-FFF2-40B4-BE49-F238E27FC236}">
                <a16:creationId xmlns:a16="http://schemas.microsoft.com/office/drawing/2014/main" id="{0633BAC4-C298-4D36-B837-91837F4CFD14}"/>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xmlns:a="http://schemas.openxmlformats.org/drawingml/2006/main">
              <a:ext uri="{FF2B5EF4-FFF2-40B4-BE49-F238E27FC236}">
                <a16:creationId xmlns:a16="http://schemas.microsoft.com/office/drawing/2014/main" id="{6293577D-DCF4-4591-8017-096DE898038F}"/>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AE82BB7-AEB2-4F81-AFB4-170F4C2B4526}"/>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xmlns:a="http://schemas.openxmlformats.org/drawingml/2006/main">
              <a:ext uri="{FF2B5EF4-FFF2-40B4-BE49-F238E27FC236}">
                <a16:creationId xmlns:a16="http://schemas.microsoft.com/office/drawing/2014/main" id="{F464E1D9-5B66-422B-899F-F374D2023D85}"/>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xmlns:a="http://schemas.openxmlformats.org/drawingml/2006/main">
              <a:ext uri="{FF2B5EF4-FFF2-40B4-BE49-F238E27FC236}">
                <a16:creationId xmlns:a16="http://schemas.microsoft.com/office/drawing/2014/main" id="{E4B8A19B-713B-4AD9-92F7-5B0AB19683DD}"/>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xmlns:a="http://schemas.openxmlformats.org/drawingml/2006/main">
              <a:ext uri="{FF2B5EF4-FFF2-40B4-BE49-F238E27FC236}">
                <a16:creationId xmlns:a16="http://schemas.microsoft.com/office/drawing/2014/main" id="{738A54D0-AE13-4F8F-8F23-CEF987131147}"/>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772BFD78-5A7B-436C-84D8-22B50F10DAD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xmlns:a="http://schemas.openxmlformats.org/drawingml/2006/main">
              <a:ext uri="{FF2B5EF4-FFF2-40B4-BE49-F238E27FC236}">
                <a16:creationId xmlns:a16="http://schemas.microsoft.com/office/drawing/2014/main" id="{51AE5BD1-B7D5-4571-8956-2D6D677DDFC8}"/>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xmlns:a="http://schemas.openxmlformats.org/drawingml/2006/main">
              <a:ext uri="{FF2B5EF4-FFF2-40B4-BE49-F238E27FC236}">
                <a16:creationId xmlns:a16="http://schemas.microsoft.com/office/drawing/2014/main" id="{02630CB0-F4F1-4249-A163-4B8506441031}"/>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xmlns:a="http://schemas.openxmlformats.org/drawingml/2006/main">
              <a:ext uri="{FF2B5EF4-FFF2-40B4-BE49-F238E27FC236}">
                <a16:creationId xmlns:a16="http://schemas.microsoft.com/office/drawing/2014/main" id="{F3190ED8-2490-4867-B33B-748A0C59A89D}"/>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1FC7F13-ECFE-4404-A16B-553577B13920}"/>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
        <p:nvSpPr>
          <p:cNvPr id="26" name="TextBox 25">
            <a:extLst xmlns:a="http://schemas.openxmlformats.org/drawingml/2006/main">
              <a:ext uri="{FF2B5EF4-FFF2-40B4-BE49-F238E27FC236}">
                <a16:creationId xmlns:a16="http://schemas.microsoft.com/office/drawing/2014/main" id="{A5299DD2-3783-47EF-9842-980E17A5F1C8}"/>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989651908"/>
      </p:ext>
    </p:extLst>
  </p:cSld>
</p:sld>
</file>

<file path=ppt/slides/slide1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6F3676-589A-4AF1-B6F5-35E35897C6A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xmlns:a="http://schemas.openxmlformats.org/drawingml/2006/main">
              <a:ext uri="{FF2B5EF4-FFF2-40B4-BE49-F238E27FC236}">
                <a16:creationId xmlns:a16="http://schemas.microsoft.com/office/drawing/2014/main" id="{05B7C524-54A8-402E-88EC-7DF2B8A07EE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supporting calls cover excitatory and inhibitory neurons in four sex/APOE strata.</a:t>
            </a:r>
          </a:p>
        </p:txBody>
      </p:sp>
      <p:sp>
        <p:nvSpPr>
          <p:cNvPr id="4" name="Rounded Rectangle 3">
            <a:extLst xmlns:a="http://schemas.openxmlformats.org/drawingml/2006/main">
              <a:ext uri="{FF2B5EF4-FFF2-40B4-BE49-F238E27FC236}">
                <a16:creationId xmlns:a16="http://schemas.microsoft.com/office/drawing/2014/main" id="{ADC752C9-1673-4D21-A3F9-B202B5C67789}"/>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25F003C-1610-43EE-96A0-1B9801259E3B}"/>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xmlns:a="http://schemas.openxmlformats.org/drawingml/2006/main">
              <a:ext uri="{FF2B5EF4-FFF2-40B4-BE49-F238E27FC236}">
                <a16:creationId xmlns:a16="http://schemas.microsoft.com/office/drawing/2014/main" id="{13711D29-916C-4E5D-9910-E3FE21D3B2C5}"/>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neuronal calls</a:t>
            </a:r>
          </a:p>
        </p:txBody>
      </p:sp>
      <p:sp>
        <p:nvSpPr>
          <p:cNvPr id="7" name="TextBox 6">
            <a:extLst xmlns:a="http://schemas.openxmlformats.org/drawingml/2006/main">
              <a:ext uri="{FF2B5EF4-FFF2-40B4-BE49-F238E27FC236}">
                <a16:creationId xmlns:a16="http://schemas.microsoft.com/office/drawing/2014/main" id="{AA6447BB-5C78-4AE1-BC98-8FDA71692C8E}"/>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xmlns:a="http://schemas.openxmlformats.org/drawingml/2006/main">
              <a:ext uri="{FF2B5EF4-FFF2-40B4-BE49-F238E27FC236}">
                <a16:creationId xmlns:a16="http://schemas.microsoft.com/office/drawing/2014/main" id="{40D1835E-0C75-464F-8555-03A8ED2937F7}"/>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E3D9FF1-3B53-4FA6-8C9C-7C880F4EBD86}"/>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xmlns:a="http://schemas.openxmlformats.org/drawingml/2006/main">
              <a:ext uri="{FF2B5EF4-FFF2-40B4-BE49-F238E27FC236}">
                <a16:creationId xmlns:a16="http://schemas.microsoft.com/office/drawing/2014/main" id="{E417C5CA-2976-4AD4-8BC8-563C6F7AE21F}"/>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xmlns:a="http://schemas.openxmlformats.org/drawingml/2006/main">
              <a:ext uri="{FF2B5EF4-FFF2-40B4-BE49-F238E27FC236}">
                <a16:creationId xmlns:a16="http://schemas.microsoft.com/office/drawing/2014/main" id="{36C19E73-754E-4921-A460-711FAEAB9054}"/>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xmlns:a="http://schemas.openxmlformats.org/drawingml/2006/main">
              <a:ext uri="{FF2B5EF4-FFF2-40B4-BE49-F238E27FC236}">
                <a16:creationId xmlns:a16="http://schemas.microsoft.com/office/drawing/2014/main" id="{794412BA-44E5-480A-9907-57FE1FFFC6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E0C033A-2030-4E05-9D00-89F6B6450D7C}"/>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xmlns:a="http://schemas.openxmlformats.org/drawingml/2006/main">
              <a:ext uri="{FF2B5EF4-FFF2-40B4-BE49-F238E27FC236}">
                <a16:creationId xmlns:a16="http://schemas.microsoft.com/office/drawing/2014/main" id="{AE6DDBDB-F681-4F8A-8135-23AD18DED5C9}"/>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xmlns:a="http://schemas.openxmlformats.org/drawingml/2006/main">
              <a:ext uri="{FF2B5EF4-FFF2-40B4-BE49-F238E27FC236}">
                <a16:creationId xmlns:a16="http://schemas.microsoft.com/office/drawing/2014/main" id="{24806FA7-26E3-450B-BC4D-B6C733064EF4}"/>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xmlns:a="http://schemas.openxmlformats.org/drawingml/2006/main">
              <a:ext uri="{FF2B5EF4-FFF2-40B4-BE49-F238E27FC236}">
                <a16:creationId xmlns:a16="http://schemas.microsoft.com/office/drawing/2014/main" id="{A2BF0066-25F5-449B-827B-C177C6ADDDBD}"/>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0A29D4D-9BA5-4DC7-B1B4-59C1D1123CA7}"/>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xmlns:a="http://schemas.openxmlformats.org/drawingml/2006/main">
              <a:ext uri="{FF2B5EF4-FFF2-40B4-BE49-F238E27FC236}">
                <a16:creationId xmlns:a16="http://schemas.microsoft.com/office/drawing/2014/main" id="{87D61885-4DE4-4045-9A37-5D789A39518B}"/>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xmlns:a="http://schemas.openxmlformats.org/drawingml/2006/main">
              <a:ext uri="{FF2B5EF4-FFF2-40B4-BE49-F238E27FC236}">
                <a16:creationId xmlns:a16="http://schemas.microsoft.com/office/drawing/2014/main" id="{79F5BAA8-8BAF-4E1A-8303-7C9B8C28E183}"/>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xmlns:a="http://schemas.openxmlformats.org/drawingml/2006/main">
              <a:ext uri="{FF2B5EF4-FFF2-40B4-BE49-F238E27FC236}">
                <a16:creationId xmlns:a16="http://schemas.microsoft.com/office/drawing/2014/main" id="{C18E4912-EA5E-44C5-A0CD-1041605918A3}"/>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97C2BA3-D769-4542-AB72-27952583562C}"/>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xmlns:a="http://schemas.openxmlformats.org/drawingml/2006/main">
              <a:ext uri="{FF2B5EF4-FFF2-40B4-BE49-F238E27FC236}">
                <a16:creationId xmlns:a16="http://schemas.microsoft.com/office/drawing/2014/main" id="{A3F84135-6E23-4160-A1AD-7D9E236F701B}"/>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xmlns:a="http://schemas.openxmlformats.org/drawingml/2006/main">
              <a:ext uri="{FF2B5EF4-FFF2-40B4-BE49-F238E27FC236}">
                <a16:creationId xmlns:a16="http://schemas.microsoft.com/office/drawing/2014/main" id="{6A053250-5A03-4CEB-A9A6-1F682A5A6781}"/>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xmlns:a="http://schemas.openxmlformats.org/drawingml/2006/main">
              <a:ext uri="{FF2B5EF4-FFF2-40B4-BE49-F238E27FC236}">
                <a16:creationId xmlns:a16="http://schemas.microsoft.com/office/drawing/2014/main" id="{18A826BF-A0CC-470F-A7A9-C979E9A778DC}"/>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C875E17-90E8-4EDD-A9EC-AFCADB08D079}"/>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xmlns:a="http://schemas.openxmlformats.org/drawingml/2006/main">
              <a:ext uri="{FF2B5EF4-FFF2-40B4-BE49-F238E27FC236}">
                <a16:creationId xmlns:a16="http://schemas.microsoft.com/office/drawing/2014/main" id="{94A72B70-9EAE-47BD-89DC-2ED6E49C7817}"/>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xmlns:a="http://schemas.openxmlformats.org/drawingml/2006/main">
              <a:ext uri="{FF2B5EF4-FFF2-40B4-BE49-F238E27FC236}">
                <a16:creationId xmlns:a16="http://schemas.microsoft.com/office/drawing/2014/main" id="{D5A4D0BB-353B-4C43-9C04-13BB200592DD}"/>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calls</a:t>
            </a:r>
          </a:p>
        </p:txBody>
      </p:sp>
      <p:sp>
        <p:nvSpPr>
          <p:cNvPr id="28" name="TextBox 27">
            <a:extLst xmlns:a="http://schemas.openxmlformats.org/drawingml/2006/main">
              <a:ext uri="{FF2B5EF4-FFF2-40B4-BE49-F238E27FC236}">
                <a16:creationId xmlns:a16="http://schemas.microsoft.com/office/drawing/2014/main" id="{924D7BB5-D679-405F-8996-28407107D93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405486821"/>
      </p:ext>
    </p:extLst>
  </p:cSld>
</p:sld>
</file>

<file path=ppt/slides/slide1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7B449E-C3E5-4225-9432-95F6F127109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xmlns:a="http://schemas.openxmlformats.org/drawingml/2006/main">
              <a:ext uri="{FF2B5EF4-FFF2-40B4-BE49-F238E27FC236}">
                <a16:creationId xmlns:a16="http://schemas.microsoft.com/office/drawing/2014/main" id="{47C0287B-86C7-432C-B01B-483400C8E54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xmlns:a="http://schemas.openxmlformats.org/drawingml/2006/main">
              <a:ext uri="{FF2B5EF4-FFF2-40B4-BE49-F238E27FC236}">
                <a16:creationId xmlns:a16="http://schemas.microsoft.com/office/drawing/2014/main" id="{F28D5C44-6B91-45DF-B918-3EC41353C43B}"/>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842EBB1-0A0E-4045-869A-8653C41C2FD0}"/>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xmlns:a="http://schemas.openxmlformats.org/drawingml/2006/main">
              <a:ext uri="{FF2B5EF4-FFF2-40B4-BE49-F238E27FC236}">
                <a16:creationId xmlns:a16="http://schemas.microsoft.com/office/drawing/2014/main" id="{06A30C0A-B785-4BA0-AF86-1E772E295CC5}"/>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xmlns:a="http://schemas.openxmlformats.org/drawingml/2006/main">
              <a:ext uri="{FF2B5EF4-FFF2-40B4-BE49-F238E27FC236}">
                <a16:creationId xmlns:a16="http://schemas.microsoft.com/office/drawing/2014/main" id="{E1436B3A-3F03-4B74-AABB-CC4A6325188C}"/>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calls.</a:t>
            </a:r>
          </a:p>
        </p:txBody>
      </p:sp>
      <p:sp>
        <p:nvSpPr>
          <p:cNvPr id="8" name="Rounded Rectangle 7">
            <a:extLst xmlns:a="http://schemas.openxmlformats.org/drawingml/2006/main">
              <a:ext uri="{FF2B5EF4-FFF2-40B4-BE49-F238E27FC236}">
                <a16:creationId xmlns:a16="http://schemas.microsoft.com/office/drawing/2014/main" id="{966FC93E-F48B-46D5-AD33-5779EB041C1E}"/>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704F28D-7331-42F2-AD7C-D7CB1207105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xmlns:a="http://schemas.openxmlformats.org/drawingml/2006/main">
              <a:ext uri="{FF2B5EF4-FFF2-40B4-BE49-F238E27FC236}">
                <a16:creationId xmlns:a16="http://schemas.microsoft.com/office/drawing/2014/main" id="{42461E13-DFF5-4ED0-AEC4-DE6582EB802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xmlns:a="http://schemas.openxmlformats.org/drawingml/2006/main">
              <a:ext uri="{FF2B5EF4-FFF2-40B4-BE49-F238E27FC236}">
                <a16:creationId xmlns:a16="http://schemas.microsoft.com/office/drawing/2014/main" id="{135310D6-601C-4EA9-A2A9-ABC77DA17DE0}"/>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calls.</a:t>
            </a:r>
          </a:p>
        </p:txBody>
      </p:sp>
      <p:sp>
        <p:nvSpPr>
          <p:cNvPr id="12" name="Rounded Rectangle 11">
            <a:extLst xmlns:a="http://schemas.openxmlformats.org/drawingml/2006/main">
              <a:ext uri="{FF2B5EF4-FFF2-40B4-BE49-F238E27FC236}">
                <a16:creationId xmlns:a16="http://schemas.microsoft.com/office/drawing/2014/main" id="{83D1287A-43DB-45DC-A829-57F718A77A9A}"/>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127B9DF-C7E9-40DF-8D17-8944091BA58A}"/>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xmlns:a="http://schemas.openxmlformats.org/drawingml/2006/main">
              <a:ext uri="{FF2B5EF4-FFF2-40B4-BE49-F238E27FC236}">
                <a16:creationId xmlns:a16="http://schemas.microsoft.com/office/drawing/2014/main" id="{78B4B3E3-905B-4EED-983A-EA79158DB9A0}"/>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xmlns:a="http://schemas.openxmlformats.org/drawingml/2006/main">
              <a:ext uri="{FF2B5EF4-FFF2-40B4-BE49-F238E27FC236}">
                <a16:creationId xmlns:a16="http://schemas.microsoft.com/office/drawing/2014/main" id="{5647C513-4AFF-404B-853D-B17F8B91373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xmlns:a="http://schemas.openxmlformats.org/drawingml/2006/main">
              <a:ext uri="{FF2B5EF4-FFF2-40B4-BE49-F238E27FC236}">
                <a16:creationId xmlns:a16="http://schemas.microsoft.com/office/drawing/2014/main" id="{73F05D64-9DBA-4E2B-BEF2-5C90BCBE0B8F}"/>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68AE9EC-F312-4D19-9454-B8CB3CB1DDBC}"/>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
        <p:nvSpPr>
          <p:cNvPr id="18" name="TextBox 17">
            <a:extLst xmlns:a="http://schemas.openxmlformats.org/drawingml/2006/main">
              <a:ext uri="{FF2B5EF4-FFF2-40B4-BE49-F238E27FC236}">
                <a16:creationId xmlns:a16="http://schemas.microsoft.com/office/drawing/2014/main" id="{4F591DFF-2309-4A15-B10D-D8F20D38DC9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2090255547"/>
      </p:ext>
    </p:extLst>
  </p:cSld>
</p:sld>
</file>

<file path=ppt/slides/slide1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59C4F7C-3E3A-4074-93EA-54418CF1317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xmlns:a="http://schemas.openxmlformats.org/drawingml/2006/main">
              <a:ext uri="{FF2B5EF4-FFF2-40B4-BE49-F238E27FC236}">
                <a16:creationId xmlns:a16="http://schemas.microsoft.com/office/drawing/2014/main" id="{026E6A23-3C80-4CAF-AA9D-B75EB07C752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xmlns:a="http://schemas.openxmlformats.org/drawingml/2006/main">
              <a:ext uri="{FF2B5EF4-FFF2-40B4-BE49-F238E27FC236}">
                <a16:creationId xmlns:a16="http://schemas.microsoft.com/office/drawing/2014/main" id="{B6205866-6E27-4598-8F97-E971AE4FE051}"/>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FAE0FC9-CBFE-422D-A551-D9FC13EB50CE}"/>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xmlns:a="http://schemas.openxmlformats.org/drawingml/2006/main">
              <a:ext uri="{FF2B5EF4-FFF2-40B4-BE49-F238E27FC236}">
                <a16:creationId xmlns:a16="http://schemas.microsoft.com/office/drawing/2014/main" id="{1E31C8A3-0EF2-4BD1-8258-FD1DCE9FBBED}"/>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xmlns:a="http://schemas.openxmlformats.org/drawingml/2006/main">
              <a:ext uri="{FF2B5EF4-FFF2-40B4-BE49-F238E27FC236}">
                <a16:creationId xmlns:a16="http://schemas.microsoft.com/office/drawing/2014/main" id="{280918D3-265F-4964-9D21-20776EFCB153}"/>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xmlns:a="http://schemas.openxmlformats.org/drawingml/2006/main">
              <a:ext uri="{FF2B5EF4-FFF2-40B4-BE49-F238E27FC236}">
                <a16:creationId xmlns:a16="http://schemas.microsoft.com/office/drawing/2014/main" id="{2700DAFB-494F-45AC-9C21-B9F24971AFD7}"/>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0B4C4E9-8BFD-44FD-B33F-2542E5AE6DCF}"/>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xmlns:a="http://schemas.openxmlformats.org/drawingml/2006/main">
              <a:ext uri="{FF2B5EF4-FFF2-40B4-BE49-F238E27FC236}">
                <a16:creationId xmlns:a16="http://schemas.microsoft.com/office/drawing/2014/main" id="{CDEA8F95-B30F-4290-A0A7-BBBBEB20D9D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xmlns:a="http://schemas.openxmlformats.org/drawingml/2006/main">
              <a:ext uri="{FF2B5EF4-FFF2-40B4-BE49-F238E27FC236}">
                <a16:creationId xmlns:a16="http://schemas.microsoft.com/office/drawing/2014/main" id="{B5B935A5-C288-4A52-A86E-38A947DCD04F}"/>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xmlns:a="http://schemas.openxmlformats.org/drawingml/2006/main">
              <a:ext uri="{FF2B5EF4-FFF2-40B4-BE49-F238E27FC236}">
                <a16:creationId xmlns:a16="http://schemas.microsoft.com/office/drawing/2014/main" id="{0221743A-EADC-45F4-A2FD-074B7252A22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B97555B-F50F-410B-A290-E24A5D0A3954}"/>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xmlns:a="http://schemas.openxmlformats.org/drawingml/2006/main">
              <a:ext uri="{FF2B5EF4-FFF2-40B4-BE49-F238E27FC236}">
                <a16:creationId xmlns:a16="http://schemas.microsoft.com/office/drawing/2014/main" id="{03124096-C258-43D0-B354-EF4521E2B2A0}"/>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xmlns:a="http://schemas.openxmlformats.org/drawingml/2006/main">
              <a:ext uri="{FF2B5EF4-FFF2-40B4-BE49-F238E27FC236}">
                <a16:creationId xmlns:a16="http://schemas.microsoft.com/office/drawing/2014/main" id="{8A30B23A-A43A-4DF4-8D39-DB14F2E185D9}"/>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xmlns:a="http://schemas.openxmlformats.org/drawingml/2006/main">
              <a:ext uri="{FF2B5EF4-FFF2-40B4-BE49-F238E27FC236}">
                <a16:creationId xmlns:a16="http://schemas.microsoft.com/office/drawing/2014/main" id="{5F74BBFF-9AB2-48E0-9DE5-36F181160B2A}"/>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7FD3AE7-B793-41FE-AA6B-CA3B9B8F2DDA}"/>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48073B91-CFF3-471C-8606-5BF4CB427370}"/>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
        <p:nvSpPr>
          <p:cNvPr id="19" name="TextBox 18">
            <a:extLst xmlns:a="http://schemas.openxmlformats.org/drawingml/2006/main">
              <a:ext uri="{FF2B5EF4-FFF2-40B4-BE49-F238E27FC236}">
                <a16:creationId xmlns:a16="http://schemas.microsoft.com/office/drawing/2014/main" id="{12DC93D3-8AAE-4D96-A4AC-0ED37E3C216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1519536507"/>
      </p:ext>
    </p:extLst>
  </p:cSld>
</p:sld>
</file>

<file path=ppt/slides/slide1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15BA366-CA2D-4D90-8B3F-A43E4C07BC6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11 does not prove, and the next evidence needed</a:t>
            </a:r>
          </a:p>
        </p:txBody>
      </p:sp>
      <p:sp>
        <p:nvSpPr>
          <p:cNvPr id="3" name="TextBox 2">
            <a:extLst xmlns:a="http://schemas.openxmlformats.org/drawingml/2006/main">
              <a:ext uri="{FF2B5EF4-FFF2-40B4-BE49-F238E27FC236}">
                <a16:creationId xmlns:a16="http://schemas.microsoft.com/office/drawing/2014/main" id="{4D818D53-5838-4D37-83CF-09BE9397F3F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0EB24A75-CA9F-4C22-98D0-D056F8E157C0}"/>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A14D5245-C411-420F-BC75-02FEFD0AB334}"/>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E01FA25-2E7D-4270-8386-0D230922CC5D}"/>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0D69C205-C0DF-406D-804F-B23ED5E0B92B}"/>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C9EA086-C116-4D20-8B58-C3EC998EEC65}"/>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Control of the listed mitochondrial genes in human neurons</a:t>
            </a:r>
          </a:p>
        </p:txBody>
      </p:sp>
      <p:sp>
        <p:nvSpPr>
          <p:cNvPr id="9" name="Oval 8">
            <a:extLst xmlns:a="http://schemas.openxmlformats.org/drawingml/2006/main">
              <a:ext uri="{FF2B5EF4-FFF2-40B4-BE49-F238E27FC236}">
                <a16:creationId xmlns:a16="http://schemas.microsoft.com/office/drawing/2014/main" id="{DAE3FD7A-C895-4DEC-88F7-371E1210F442}"/>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E3F0F7A-2480-4327-8919-03BC9B8A429E}"/>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Exact cell, sex, or APOE replication</a:t>
            </a:r>
          </a:p>
        </p:txBody>
      </p:sp>
      <p:sp>
        <p:nvSpPr>
          <p:cNvPr id="11" name="Oval 10">
            <a:extLst xmlns:a="http://schemas.openxmlformats.org/drawingml/2006/main">
              <a:ext uri="{FF2B5EF4-FFF2-40B4-BE49-F238E27FC236}">
                <a16:creationId xmlns:a16="http://schemas.microsoft.com/office/drawing/2014/main" id="{9AC8BD9E-101F-40C3-9DB8-C6C5EE2ED2A7}"/>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460B93B-71BA-4A48-842F-4409597E749F}"/>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weak genetic or selenium-theme evidence is causal</a:t>
            </a:r>
          </a:p>
        </p:txBody>
      </p:sp>
      <p:sp>
        <p:nvSpPr>
          <p:cNvPr id="13" name="Rounded Rectangle 12">
            <a:extLst xmlns:a="http://schemas.openxmlformats.org/drawingml/2006/main">
              <a:ext uri="{FF2B5EF4-FFF2-40B4-BE49-F238E27FC236}">
                <a16:creationId xmlns:a16="http://schemas.microsoft.com/office/drawing/2014/main" id="{4BD474CC-C44E-44DA-9B8B-F332D782D5F2}"/>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AA73304E-9817-44F9-97E6-F624788999CF}"/>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5AFE9BF-731D-48AA-BA22-339722E61BF7}"/>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C47F3F06-60EA-445F-8A90-99937E51A44A}"/>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8139C09-28BD-44F8-8F25-6BF6F13E724A}"/>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SELENOW in excitatory and inhibitory neurons</a:t>
            </a:r>
          </a:p>
        </p:txBody>
      </p:sp>
      <p:sp>
        <p:nvSpPr>
          <p:cNvPr id="18" name="Oval 17">
            <a:extLst xmlns:a="http://schemas.openxmlformats.org/drawingml/2006/main">
              <a:ext uri="{FF2B5EF4-FFF2-40B4-BE49-F238E27FC236}">
                <a16:creationId xmlns:a16="http://schemas.microsoft.com/office/drawing/2014/main" id="{EC72582C-A4E7-48E7-8E54-16795147F1E5}"/>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E32C35C0-91DA-4D44-AF1E-DDDDBEE7F239}"/>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tau clearance, redox state, and protein quality</a:t>
            </a:r>
          </a:p>
        </p:txBody>
      </p:sp>
      <p:sp>
        <p:nvSpPr>
          <p:cNvPr id="20" name="Oval 19">
            <a:extLst xmlns:a="http://schemas.openxmlformats.org/drawingml/2006/main">
              <a:ext uri="{FF2B5EF4-FFF2-40B4-BE49-F238E27FC236}">
                <a16:creationId xmlns:a16="http://schemas.microsoft.com/office/drawing/2014/main" id="{9BBDD8AB-37DD-4ABA-8C96-B6629F41B042}"/>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DD92FDC-7BBF-4902-BB55-879F9B54EC96}"/>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Compare normal SELENOW with a redox-inactive version</a:t>
            </a:r>
          </a:p>
        </p:txBody>
      </p:sp>
      <p:sp>
        <p:nvSpPr>
          <p:cNvPr id="22" name="TextBox 21">
            <a:extLst xmlns:a="http://schemas.openxmlformats.org/drawingml/2006/main">
              <a:ext uri="{FF2B5EF4-FFF2-40B4-BE49-F238E27FC236}">
                <a16:creationId xmlns:a16="http://schemas.microsoft.com/office/drawing/2014/main" id="{2FA1A561-FA43-46CE-AC35-749ADCC42072}"/>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51F1B409-5997-40B9-B94B-8D289C9AFAA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393153378"/>
      </p:ext>
    </p:extLst>
  </p:cSld>
</p:sld>
</file>

<file path=ppt/slides/slide1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D4C1B13-F082-4CDC-A4AF-9CF4CA419AB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xmlns:a="http://schemas.openxmlformats.org/drawingml/2006/main">
              <a:ext uri="{FF2B5EF4-FFF2-40B4-BE49-F238E27FC236}">
                <a16:creationId xmlns:a16="http://schemas.microsoft.com/office/drawing/2014/main" id="{96D5F005-6A5A-4651-B68E-63AD17BBE98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F0FED5C9-94CD-4D86-A2D8-8AD51C417D71}"/>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EB54504-3A9E-474A-9C5B-C2221EC2F142}"/>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xmlns:a="http://schemas.openxmlformats.org/drawingml/2006/main">
              <a:ext uri="{FF2B5EF4-FFF2-40B4-BE49-F238E27FC236}">
                <a16:creationId xmlns:a16="http://schemas.microsoft.com/office/drawing/2014/main" id="{9295E1F1-CEE8-4582-AA06-AE190214E328}"/>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xmlns:a="http://schemas.openxmlformats.org/drawingml/2006/main">
              <a:ext uri="{FF2B5EF4-FFF2-40B4-BE49-F238E27FC236}">
                <a16:creationId xmlns:a16="http://schemas.microsoft.com/office/drawing/2014/main" id="{59D511DE-3F6F-4A68-945C-2E6477BE6D21}"/>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EFC0DA10-90E5-4254-839D-3385C115238A}"/>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xmlns:a="http://schemas.openxmlformats.org/drawingml/2006/main">
              <a:ext uri="{FF2B5EF4-FFF2-40B4-BE49-F238E27FC236}">
                <a16:creationId xmlns:a16="http://schemas.microsoft.com/office/drawing/2014/main" id="{AC3A5FEE-019C-4C64-8AA2-7C354EAF7038}"/>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05E63B8B-098A-4DA1-88AC-4E736F8DC4D1}"/>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xmlns:a="http://schemas.openxmlformats.org/drawingml/2006/main">
              <a:ext uri="{FF2B5EF4-FFF2-40B4-BE49-F238E27FC236}">
                <a16:creationId xmlns:a16="http://schemas.microsoft.com/office/drawing/2014/main" id="{37B53BB3-FD78-4B18-9876-8FDDEFD2FB91}"/>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F77C85D-3C0C-4B66-81B2-43CD83A207F4}"/>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xmlns:a="http://schemas.openxmlformats.org/drawingml/2006/main">
              <a:ext uri="{FF2B5EF4-FFF2-40B4-BE49-F238E27FC236}">
                <a16:creationId xmlns:a16="http://schemas.microsoft.com/office/drawing/2014/main" id="{2EECD59F-9AC5-496F-8566-2FB6497259D4}"/>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xmlns:a="http://schemas.openxmlformats.org/drawingml/2006/main">
              <a:ext uri="{FF2B5EF4-FFF2-40B4-BE49-F238E27FC236}">
                <a16:creationId xmlns:a16="http://schemas.microsoft.com/office/drawing/2014/main" id="{1D979244-175D-41BA-924D-A31542990FFA}"/>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3CCA367C-5739-441A-85DA-B1ECF37998D0}"/>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xmlns:a="http://schemas.openxmlformats.org/drawingml/2006/main">
              <a:ext uri="{FF2B5EF4-FFF2-40B4-BE49-F238E27FC236}">
                <a16:creationId xmlns:a16="http://schemas.microsoft.com/office/drawing/2014/main" id="{0CD0E5AC-C960-42E4-829C-810A332C4F1A}"/>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964869D1-82F0-431C-B250-BAF278B240F4}"/>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xmlns:a="http://schemas.openxmlformats.org/drawingml/2006/main">
              <a:ext uri="{FF2B5EF4-FFF2-40B4-BE49-F238E27FC236}">
                <a16:creationId xmlns:a16="http://schemas.microsoft.com/office/drawing/2014/main" id="{D8CC1CED-DDDC-47F0-8FE4-B929AD06AE37}"/>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1F0D2DED-9A5B-4AC5-B7DF-FBF7DB80F25E}"/>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xmlns:a="http://schemas.openxmlformats.org/drawingml/2006/main">
              <a:ext uri="{FF2B5EF4-FFF2-40B4-BE49-F238E27FC236}">
                <a16:creationId xmlns:a16="http://schemas.microsoft.com/office/drawing/2014/main" id="{EAB4A8DF-DA0A-443B-A306-D6B44499365C}"/>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xmlns:a="http://schemas.openxmlformats.org/drawingml/2006/main">
              <a:ext uri="{FF2B5EF4-FFF2-40B4-BE49-F238E27FC236}">
                <a16:creationId xmlns:a16="http://schemas.microsoft.com/office/drawing/2014/main" id="{4F1E8FE2-26D2-4DC8-832F-EC7C58FF239E}"/>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216CC7A2-6356-43C1-B57D-08179BB5D352}"/>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xmlns:a="http://schemas.openxmlformats.org/drawingml/2006/main">
              <a:ext uri="{FF2B5EF4-FFF2-40B4-BE49-F238E27FC236}">
                <a16:creationId xmlns:a16="http://schemas.microsoft.com/office/drawing/2014/main" id="{64EF1530-95F7-41A7-8849-59B89EA6652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BDF0DCAC-4AAC-4320-BE04-ECE3BA589D9A}"/>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xmlns:a="http://schemas.openxmlformats.org/drawingml/2006/main">
              <a:ext uri="{FF2B5EF4-FFF2-40B4-BE49-F238E27FC236}">
                <a16:creationId xmlns:a16="http://schemas.microsoft.com/office/drawing/2014/main" id="{4F0A4715-DDA2-4CDE-AE71-17CEC7E27051}"/>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11A637B2-7B70-4294-BAD4-A3A3249195B4}"/>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9B34211D-6E84-4EDB-8DDB-1F756FEAB4C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1576970783"/>
      </p:ext>
    </p:extLst>
  </p:cSld>
</p:sld>
</file>

<file path=ppt/slides/slide121.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710151A-41BA-4345-B5EA-DBDC0E3EBEC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xmlns:a="http://schemas.openxmlformats.org/drawingml/2006/main">
              <a:ext uri="{FF2B5EF4-FFF2-40B4-BE49-F238E27FC236}">
                <a16:creationId xmlns:a16="http://schemas.microsoft.com/office/drawing/2014/main" id="{E94FA09A-EF68-4F00-A80F-531C6EA3D616}"/>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E2787DBD-8C70-4D25-88D9-72B5E4DACBCD}"/>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xmlns:a="http://schemas.openxmlformats.org/drawingml/2006/main">
              <a:ext uri="{FF2B5EF4-FFF2-40B4-BE49-F238E27FC236}">
                <a16:creationId xmlns:a16="http://schemas.microsoft.com/office/drawing/2014/main" id="{ADB10DF0-F101-4520-BF07-F7B7480D7845}"/>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xmlns:a="http://schemas.openxmlformats.org/drawingml/2006/main">
              <a:ext uri="{FF2B5EF4-FFF2-40B4-BE49-F238E27FC236}">
                <a16:creationId xmlns:a16="http://schemas.microsoft.com/office/drawing/2014/main" id="{7CFB2E04-3813-43FC-9893-5DEE9CCAE05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5B51999-F34D-420B-93B1-A6B614FD43E0}"/>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08F3A2D7-66CE-4568-A5BF-12B1402165B9}"/>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36DD44B-FC09-4191-8DB8-6631B37C4DDC}"/>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AFDB70E-DD83-4D0B-8843-56D52672B0C9}"/>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E5EB1731-80B6-43FC-91E5-2E3F6EDA39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506AB7E-8D50-4482-A99B-7B95338DCCC7}"/>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C5C56F36-1935-43A4-9BB0-E7CD8C5E8549}"/>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9B76A6D1-153F-4CEB-AFE0-7B5B49C084CD}"/>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1F778557-B9A6-404B-941A-1B8DB03D2641}"/>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CBB27D24-647A-4669-95B8-B6FAFA5BCF4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13B06B5-E934-445A-8FC6-1A87AB9C12A3}"/>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60F4822B-7924-4D23-9A8F-46FB3C48F7F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95AACBF5-703E-4247-81BA-70B08D1DA8D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AC274C91-3AF6-4228-8C48-9D6A636387B3}"/>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67457D6-3123-4DBC-B5AA-71628443DB0E}"/>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sld>
</file>

<file path=ppt/slides/slide1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0B7F558-6829-4CCA-85E9-8EA5B536584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xmlns:a="http://schemas.openxmlformats.org/drawingml/2006/main">
              <a:ext uri="{FF2B5EF4-FFF2-40B4-BE49-F238E27FC236}">
                <a16:creationId xmlns:a16="http://schemas.microsoft.com/office/drawing/2014/main" id="{89BAE679-B633-4947-8266-01BA18D7062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xmlns:a="http://schemas.openxmlformats.org/drawingml/2006/main">
              <a:ext uri="{FF2B5EF4-FFF2-40B4-BE49-F238E27FC236}">
                <a16:creationId xmlns:a16="http://schemas.microsoft.com/office/drawing/2014/main" id="{47ED80FA-BFC2-43F4-8AAF-62F387718225}"/>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9903C65-BA88-486E-894D-945D8EE3AC3E}"/>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xmlns:a="http://schemas.openxmlformats.org/drawingml/2006/main">
              <a:ext uri="{FF2B5EF4-FFF2-40B4-BE49-F238E27FC236}">
                <a16:creationId xmlns:a16="http://schemas.microsoft.com/office/drawing/2014/main" id="{573FB060-EB71-44AC-8C31-9FBCCF787A3C}"/>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89922-1AFD-482B-A71B-C8C8CD42BB45}"/>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Three calls</a:t>
            </a:r>
          </a:p>
        </p:txBody>
      </p:sp>
      <p:sp>
        <p:nvSpPr>
          <p:cNvPr id="8" name="Rounded Rectangle 7">
            <a:extLst xmlns:a="http://schemas.openxmlformats.org/drawingml/2006/main">
              <a:ext uri="{FF2B5EF4-FFF2-40B4-BE49-F238E27FC236}">
                <a16:creationId xmlns:a16="http://schemas.microsoft.com/office/drawing/2014/main" id="{39CAED9D-8232-4695-A11B-D04EA2D5A22C}"/>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019FBA6-3B16-41CF-B91A-0B1301AB159A}"/>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xmlns:a="http://schemas.openxmlformats.org/drawingml/2006/main">
              <a:ext uri="{FF2B5EF4-FFF2-40B4-BE49-F238E27FC236}">
                <a16:creationId xmlns:a16="http://schemas.microsoft.com/office/drawing/2014/main" id="{DC571AE3-E827-48D6-8006-A3BBC12F4F3E}"/>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33CB9581-3A5C-435D-AE95-E23A83F8B585}"/>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xmlns:a="http://schemas.openxmlformats.org/drawingml/2006/main">
              <a:ext uri="{FF2B5EF4-FFF2-40B4-BE49-F238E27FC236}">
                <a16:creationId xmlns:a16="http://schemas.microsoft.com/office/drawing/2014/main" id="{9EAD06E1-6770-4024-918D-B31A9AFD8229}"/>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39649F30-009B-4A33-89C9-FAAD0B421D28}"/>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xmlns:a="http://schemas.openxmlformats.org/drawingml/2006/main">
              <a:ext uri="{FF2B5EF4-FFF2-40B4-BE49-F238E27FC236}">
                <a16:creationId xmlns:a16="http://schemas.microsoft.com/office/drawing/2014/main" id="{EB010982-E7FF-4A27-8D2E-698ED72713F3}"/>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xmlns:a="http://schemas.openxmlformats.org/drawingml/2006/main">
              <a:ext uri="{FF2B5EF4-FFF2-40B4-BE49-F238E27FC236}">
                <a16:creationId xmlns:a16="http://schemas.microsoft.com/office/drawing/2014/main" id="{FB9899F7-137A-49E3-92E2-593E731D713A}"/>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xmlns:a="http://schemas.openxmlformats.org/drawingml/2006/main">
              <a:ext uri="{FF2B5EF4-FFF2-40B4-BE49-F238E27FC236}">
                <a16:creationId xmlns:a16="http://schemas.microsoft.com/office/drawing/2014/main" id="{F2A82254-E0D0-4592-B2C8-BD2CE3F65455}"/>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97F7430-EFBA-4174-8B86-141500AB5194}"/>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xmlns:a="http://schemas.openxmlformats.org/drawingml/2006/main">
              <a:ext uri="{FF2B5EF4-FFF2-40B4-BE49-F238E27FC236}">
                <a16:creationId xmlns:a16="http://schemas.microsoft.com/office/drawing/2014/main" id="{4956E081-DD2C-4B86-890B-15AAED8FEB6A}"/>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xmlns:a="http://schemas.openxmlformats.org/drawingml/2006/main">
              <a:ext uri="{FF2B5EF4-FFF2-40B4-BE49-F238E27FC236}">
                <a16:creationId xmlns:a16="http://schemas.microsoft.com/office/drawing/2014/main" id="{E4B6BE57-7B21-46EB-B4B8-07C7047BE0B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xmlns:a="http://schemas.openxmlformats.org/drawingml/2006/main">
              <a:ext uri="{FF2B5EF4-FFF2-40B4-BE49-F238E27FC236}">
                <a16:creationId xmlns:a16="http://schemas.microsoft.com/office/drawing/2014/main" id="{B5B0454C-87F7-46D9-AC9D-C258F8FE505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4A31876-F730-41A3-82E1-26C44DB10FC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xmlns:a="http://schemas.openxmlformats.org/drawingml/2006/main">
              <a:ext uri="{FF2B5EF4-FFF2-40B4-BE49-F238E27FC236}">
                <a16:creationId xmlns:a16="http://schemas.microsoft.com/office/drawing/2014/main" id="{0B36BB3D-8B3E-4FE2-92A5-2C31F99320E7}"/>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xmlns:a="http://schemas.openxmlformats.org/drawingml/2006/main">
              <a:ext uri="{FF2B5EF4-FFF2-40B4-BE49-F238E27FC236}">
                <a16:creationId xmlns:a16="http://schemas.microsoft.com/office/drawing/2014/main" id="{80957CE9-3905-4E15-87B7-36C2E3BB9A61}"/>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xmlns:a="http://schemas.openxmlformats.org/drawingml/2006/main">
              <a:ext uri="{FF2B5EF4-FFF2-40B4-BE49-F238E27FC236}">
                <a16:creationId xmlns:a16="http://schemas.microsoft.com/office/drawing/2014/main" id="{9E619A25-60EB-4338-89D1-FDE97321B67D}"/>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DE2785D-97BD-473E-94DD-1C0B3B017144}"/>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
        <p:nvSpPr>
          <p:cNvPr id="26" name="TextBox 25">
            <a:extLst xmlns:a="http://schemas.openxmlformats.org/drawingml/2006/main">
              <a:ext uri="{FF2B5EF4-FFF2-40B4-BE49-F238E27FC236}">
                <a16:creationId xmlns:a16="http://schemas.microsoft.com/office/drawing/2014/main" id="{C933B38F-D8BE-40C3-8955-FF32C9E0B19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189913297"/>
      </p:ext>
    </p:extLst>
  </p:cSld>
</p:sld>
</file>

<file path=ppt/slides/slide1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34ECCD-3005-43E7-8A12-A62269DF1A3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xmlns:a="http://schemas.openxmlformats.org/drawingml/2006/main">
              <a:ext uri="{FF2B5EF4-FFF2-40B4-BE49-F238E27FC236}">
                <a16:creationId xmlns:a16="http://schemas.microsoft.com/office/drawing/2014/main" id="{B1237EA6-8A72-4ABB-8504-3CA9DA6E9F4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xmlns:a="http://schemas.openxmlformats.org/drawingml/2006/main">
              <a:ext uri="{FF2B5EF4-FFF2-40B4-BE49-F238E27FC236}">
                <a16:creationId xmlns:a16="http://schemas.microsoft.com/office/drawing/2014/main" id="{4EB4B218-2773-4039-97D9-0594082EFDE3}"/>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3A6A47F5-78EC-4613-9887-AC2E40047FAD}"/>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xmlns:a="http://schemas.openxmlformats.org/drawingml/2006/main">
              <a:ext uri="{FF2B5EF4-FFF2-40B4-BE49-F238E27FC236}">
                <a16:creationId xmlns:a16="http://schemas.microsoft.com/office/drawing/2014/main" id="{9AF3B4E6-7A86-4790-B7EC-A9935BB2ED18}"/>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astrocyte calls</a:t>
            </a:r>
          </a:p>
        </p:txBody>
      </p:sp>
      <p:sp>
        <p:nvSpPr>
          <p:cNvPr id="7" name="TextBox 6">
            <a:extLst xmlns:a="http://schemas.openxmlformats.org/drawingml/2006/main">
              <a:ext uri="{FF2B5EF4-FFF2-40B4-BE49-F238E27FC236}">
                <a16:creationId xmlns:a16="http://schemas.microsoft.com/office/drawing/2014/main" id="{13242BF1-09E7-4CAB-9664-0FD69FED9A20}"/>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xmlns:a="http://schemas.openxmlformats.org/drawingml/2006/main">
              <a:ext uri="{FF2B5EF4-FFF2-40B4-BE49-F238E27FC236}">
                <a16:creationId xmlns:a16="http://schemas.microsoft.com/office/drawing/2014/main" id="{A77D6C01-7389-436C-BC46-33941816E951}"/>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D6D1F92-7286-4B38-89BB-33A8D7D2C59A}"/>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xmlns:a="http://schemas.openxmlformats.org/drawingml/2006/main">
              <a:ext uri="{FF2B5EF4-FFF2-40B4-BE49-F238E27FC236}">
                <a16:creationId xmlns:a16="http://schemas.microsoft.com/office/drawing/2014/main" id="{CE45EA34-F632-4FAF-9783-05EB53CC1CCC}"/>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xmlns:a="http://schemas.openxmlformats.org/drawingml/2006/main">
              <a:ext uri="{FF2B5EF4-FFF2-40B4-BE49-F238E27FC236}">
                <a16:creationId xmlns:a16="http://schemas.microsoft.com/office/drawing/2014/main" id="{2EDDE8DE-BC59-4E4F-B94F-FA088B4109B7}"/>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xmlns:a="http://schemas.openxmlformats.org/drawingml/2006/main">
              <a:ext uri="{FF2B5EF4-FFF2-40B4-BE49-F238E27FC236}">
                <a16:creationId xmlns:a16="http://schemas.microsoft.com/office/drawing/2014/main" id="{2A433B62-D50C-42CE-807D-6EE2C629C3CD}"/>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0B38FB59-7DDF-4CF3-8FA2-3AC7890FA51F}"/>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xmlns:a="http://schemas.openxmlformats.org/drawingml/2006/main">
              <a:ext uri="{FF2B5EF4-FFF2-40B4-BE49-F238E27FC236}">
                <a16:creationId xmlns:a16="http://schemas.microsoft.com/office/drawing/2014/main" id="{A21E4E72-49CB-4F47-8158-894559B2D233}"/>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xmlns:a="http://schemas.openxmlformats.org/drawingml/2006/main">
              <a:ext uri="{FF2B5EF4-FFF2-40B4-BE49-F238E27FC236}">
                <a16:creationId xmlns:a16="http://schemas.microsoft.com/office/drawing/2014/main" id="{4EC346BC-0759-4F0B-A2D9-D69060EC70D7}"/>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xmlns:a="http://schemas.openxmlformats.org/drawingml/2006/main">
              <a:ext uri="{FF2B5EF4-FFF2-40B4-BE49-F238E27FC236}">
                <a16:creationId xmlns:a16="http://schemas.microsoft.com/office/drawing/2014/main" id="{F7462905-94EB-45AA-A9C1-76483A544358}"/>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FA5032A-67CF-4A27-807B-6CC6E486B9FC}"/>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xmlns:a="http://schemas.openxmlformats.org/drawingml/2006/main">
              <a:ext uri="{FF2B5EF4-FFF2-40B4-BE49-F238E27FC236}">
                <a16:creationId xmlns:a16="http://schemas.microsoft.com/office/drawing/2014/main" id="{A248D179-49EF-48D7-8640-B8E54FD0980F}"/>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xmlns:a="http://schemas.openxmlformats.org/drawingml/2006/main">
              <a:ext uri="{FF2B5EF4-FFF2-40B4-BE49-F238E27FC236}">
                <a16:creationId xmlns:a16="http://schemas.microsoft.com/office/drawing/2014/main" id="{CEFE52EB-E3A8-437E-BFB1-C446A7456136}"/>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xmlns:a="http://schemas.openxmlformats.org/drawingml/2006/main">
              <a:ext uri="{FF2B5EF4-FFF2-40B4-BE49-F238E27FC236}">
                <a16:creationId xmlns:a16="http://schemas.microsoft.com/office/drawing/2014/main" id="{163C2D99-61C4-4609-B9F5-A41BE06E79D3}"/>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62CE896-82E2-414F-BCE7-4E4EE5C9FDF2}"/>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xmlns:a="http://schemas.openxmlformats.org/drawingml/2006/main">
              <a:ext uri="{FF2B5EF4-FFF2-40B4-BE49-F238E27FC236}">
                <a16:creationId xmlns:a16="http://schemas.microsoft.com/office/drawing/2014/main" id="{3D617E52-6E88-4F32-A270-C23075F37CEE}"/>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xmlns:a="http://schemas.openxmlformats.org/drawingml/2006/main">
              <a:ext uri="{FF2B5EF4-FFF2-40B4-BE49-F238E27FC236}">
                <a16:creationId xmlns:a16="http://schemas.microsoft.com/office/drawing/2014/main" id="{DFAE37E3-B0DD-4A9E-AD0B-213D2BABEFB1}"/>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xmlns:a="http://schemas.openxmlformats.org/drawingml/2006/main">
              <a:ext uri="{FF2B5EF4-FFF2-40B4-BE49-F238E27FC236}">
                <a16:creationId xmlns:a16="http://schemas.microsoft.com/office/drawing/2014/main" id="{56E5093A-5C54-4EFC-BC39-17063F9BEFE2}"/>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967871F-BBF0-43C9-B9DC-FDA1E86BA9E7}"/>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xmlns:a="http://schemas.openxmlformats.org/drawingml/2006/main">
              <a:ext uri="{FF2B5EF4-FFF2-40B4-BE49-F238E27FC236}">
                <a16:creationId xmlns:a16="http://schemas.microsoft.com/office/drawing/2014/main" id="{6C1D427A-C9F7-40EE-A46C-C6DCBC736DEB}"/>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xmlns:a="http://schemas.openxmlformats.org/drawingml/2006/main">
              <a:ext uri="{FF2B5EF4-FFF2-40B4-BE49-F238E27FC236}">
                <a16:creationId xmlns:a16="http://schemas.microsoft.com/office/drawing/2014/main" id="{29D3692D-C336-456D-88CD-3A2ECEEEA0C2}"/>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8" name="TextBox 27">
            <a:extLst xmlns:a="http://schemas.openxmlformats.org/drawingml/2006/main">
              <a:ext uri="{FF2B5EF4-FFF2-40B4-BE49-F238E27FC236}">
                <a16:creationId xmlns:a16="http://schemas.microsoft.com/office/drawing/2014/main" id="{71537B82-32C6-46E0-BDCE-E882267B34C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220810099"/>
      </p:ext>
    </p:extLst>
  </p:cSld>
</p:sld>
</file>

<file path=ppt/slides/slide1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4A312CB-5F0B-4345-92DD-4F0394E290B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xmlns:a="http://schemas.openxmlformats.org/drawingml/2006/main">
              <a:ext uri="{FF2B5EF4-FFF2-40B4-BE49-F238E27FC236}">
                <a16:creationId xmlns:a16="http://schemas.microsoft.com/office/drawing/2014/main" id="{34F96E17-5704-4968-8FFC-4A9E6293D58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xmlns:a="http://schemas.openxmlformats.org/drawingml/2006/main">
              <a:ext uri="{FF2B5EF4-FFF2-40B4-BE49-F238E27FC236}">
                <a16:creationId xmlns:a16="http://schemas.microsoft.com/office/drawing/2014/main" id="{2D5AFA68-09C1-4160-BFBC-2E55ECA39EA1}"/>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485003D-DE1C-4590-B184-70967E3A99AA}"/>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xmlns:a="http://schemas.openxmlformats.org/drawingml/2006/main">
              <a:ext uri="{FF2B5EF4-FFF2-40B4-BE49-F238E27FC236}">
                <a16:creationId xmlns:a16="http://schemas.microsoft.com/office/drawing/2014/main" id="{EF558C3A-0504-4E58-9BD1-4A923DDCD21E}"/>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xmlns:a="http://schemas.openxmlformats.org/drawingml/2006/main">
              <a:ext uri="{FF2B5EF4-FFF2-40B4-BE49-F238E27FC236}">
                <a16:creationId xmlns:a16="http://schemas.microsoft.com/office/drawing/2014/main" id="{A9C49C52-BD4E-420E-94E4-96753C7A2C0F}"/>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xmlns:a="http://schemas.openxmlformats.org/drawingml/2006/main">
              <a:ext uri="{FF2B5EF4-FFF2-40B4-BE49-F238E27FC236}">
                <a16:creationId xmlns:a16="http://schemas.microsoft.com/office/drawing/2014/main" id="{4BC3BC37-F1EF-4116-9612-1C28E5F66893}"/>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BAEC80D-36F8-4C7E-B96D-17BF8A9893A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xmlns:a="http://schemas.openxmlformats.org/drawingml/2006/main">
              <a:ext uri="{FF2B5EF4-FFF2-40B4-BE49-F238E27FC236}">
                <a16:creationId xmlns:a16="http://schemas.microsoft.com/office/drawing/2014/main" id="{1117AB6D-06AA-4C3A-94B4-03661EA80071}"/>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xmlns:a="http://schemas.openxmlformats.org/drawingml/2006/main">
              <a:ext uri="{FF2B5EF4-FFF2-40B4-BE49-F238E27FC236}">
                <a16:creationId xmlns:a16="http://schemas.microsoft.com/office/drawing/2014/main" id="{DD6B5843-D1D2-420E-8C82-1520D4903537}"/>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xmlns:a="http://schemas.openxmlformats.org/drawingml/2006/main">
              <a:ext uri="{FF2B5EF4-FFF2-40B4-BE49-F238E27FC236}">
                <a16:creationId xmlns:a16="http://schemas.microsoft.com/office/drawing/2014/main" id="{2B9E94F1-54CA-4A52-AA6A-E5C109DD507C}"/>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986F0A-AD85-43D2-A63B-73E9D8239DFA}"/>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xmlns:a="http://schemas.openxmlformats.org/drawingml/2006/main">
              <a:ext uri="{FF2B5EF4-FFF2-40B4-BE49-F238E27FC236}">
                <a16:creationId xmlns:a16="http://schemas.microsoft.com/office/drawing/2014/main" id="{155E189E-0AC7-4D49-929A-D785A6EDF02E}"/>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xmlns:a="http://schemas.openxmlformats.org/drawingml/2006/main">
              <a:ext uri="{FF2B5EF4-FFF2-40B4-BE49-F238E27FC236}">
                <a16:creationId xmlns:a16="http://schemas.microsoft.com/office/drawing/2014/main" id="{43DA6F94-8431-4149-9553-A5AD0E0D73E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xmlns:a="http://schemas.openxmlformats.org/drawingml/2006/main">
              <a:ext uri="{FF2B5EF4-FFF2-40B4-BE49-F238E27FC236}">
                <a16:creationId xmlns:a16="http://schemas.microsoft.com/office/drawing/2014/main" id="{BF237AF4-0CF6-4942-96B7-AAEE100F858F}"/>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CE18774-1FE5-498F-8839-3E3A2A0465B2}"/>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
        <p:nvSpPr>
          <p:cNvPr id="18" name="TextBox 17">
            <a:extLst xmlns:a="http://schemas.openxmlformats.org/drawingml/2006/main">
              <a:ext uri="{FF2B5EF4-FFF2-40B4-BE49-F238E27FC236}">
                <a16:creationId xmlns:a16="http://schemas.microsoft.com/office/drawing/2014/main" id="{EC5E3808-9619-4655-9F85-AFF7AF1FFFA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928381432"/>
      </p:ext>
    </p:extLst>
  </p:cSld>
</p:sld>
</file>

<file path=ppt/slides/slide1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F6017EF-9EA4-4B57-B318-A497FEECDA6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xmlns:a="http://schemas.openxmlformats.org/drawingml/2006/main">
              <a:ext uri="{FF2B5EF4-FFF2-40B4-BE49-F238E27FC236}">
                <a16:creationId xmlns:a16="http://schemas.microsoft.com/office/drawing/2014/main" id="{EBB140CF-AE96-471A-8FAA-A1B8D0A2348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xmlns:a="http://schemas.openxmlformats.org/drawingml/2006/main">
              <a:ext uri="{FF2B5EF4-FFF2-40B4-BE49-F238E27FC236}">
                <a16:creationId xmlns:a16="http://schemas.microsoft.com/office/drawing/2014/main" id="{5E726C50-2F3E-427E-A57E-1B69F087D0A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3C51008-16CE-431B-94F1-A86C527D75AC}"/>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xmlns:a="http://schemas.openxmlformats.org/drawingml/2006/main">
              <a:ext uri="{FF2B5EF4-FFF2-40B4-BE49-F238E27FC236}">
                <a16:creationId xmlns:a16="http://schemas.microsoft.com/office/drawing/2014/main" id="{BE031E6D-135D-4F09-874E-FA2CF701A9E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xmlns:a="http://schemas.openxmlformats.org/drawingml/2006/main">
              <a:ext uri="{FF2B5EF4-FFF2-40B4-BE49-F238E27FC236}">
                <a16:creationId xmlns:a16="http://schemas.microsoft.com/office/drawing/2014/main" id="{ED255D3E-6D1A-4D3D-A762-664215183CF9}"/>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xmlns:a="http://schemas.openxmlformats.org/drawingml/2006/main">
              <a:ext uri="{FF2B5EF4-FFF2-40B4-BE49-F238E27FC236}">
                <a16:creationId xmlns:a16="http://schemas.microsoft.com/office/drawing/2014/main" id="{CDFC2C7B-D347-481B-AD76-71D110281DFC}"/>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92DABB1-44F0-4374-96C8-F946BC4B608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xmlns:a="http://schemas.openxmlformats.org/drawingml/2006/main">
              <a:ext uri="{FF2B5EF4-FFF2-40B4-BE49-F238E27FC236}">
                <a16:creationId xmlns:a16="http://schemas.microsoft.com/office/drawing/2014/main" id="{9640C069-87DE-4B35-AE5E-77E1C893AD9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xmlns:a="http://schemas.openxmlformats.org/drawingml/2006/main">
              <a:ext uri="{FF2B5EF4-FFF2-40B4-BE49-F238E27FC236}">
                <a16:creationId xmlns:a16="http://schemas.microsoft.com/office/drawing/2014/main" id="{271D10B8-AD24-4DAF-990A-FAD4840513AD}"/>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xmlns:a="http://schemas.openxmlformats.org/drawingml/2006/main">
              <a:ext uri="{FF2B5EF4-FFF2-40B4-BE49-F238E27FC236}">
                <a16:creationId xmlns:a16="http://schemas.microsoft.com/office/drawing/2014/main" id="{845E213E-D488-4151-BC36-F972CF4AA0D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39C0DF5-3B57-4BA0-AB28-51A2B176A785}"/>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xmlns:a="http://schemas.openxmlformats.org/drawingml/2006/main">
              <a:ext uri="{FF2B5EF4-FFF2-40B4-BE49-F238E27FC236}">
                <a16:creationId xmlns:a16="http://schemas.microsoft.com/office/drawing/2014/main" id="{59F13C28-E00C-4C60-B952-145C57CF8A8F}"/>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xmlns:a="http://schemas.openxmlformats.org/drawingml/2006/main">
              <a:ext uri="{FF2B5EF4-FFF2-40B4-BE49-F238E27FC236}">
                <a16:creationId xmlns:a16="http://schemas.microsoft.com/office/drawing/2014/main" id="{CD556C10-4E1A-425E-AAB5-FAB1C75172D3}"/>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xmlns:a="http://schemas.openxmlformats.org/drawingml/2006/main">
              <a:ext uri="{FF2B5EF4-FFF2-40B4-BE49-F238E27FC236}">
                <a16:creationId xmlns:a16="http://schemas.microsoft.com/office/drawing/2014/main" id="{63BAF420-B9FE-4A44-A13F-0D02A8A9A64A}"/>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3CAB94A-B4F6-4406-81BE-FD2E512C2323}"/>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A01A1458-C04C-42F4-BA43-C198050F5E54}"/>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
        <p:nvSpPr>
          <p:cNvPr id="19" name="TextBox 18">
            <a:extLst xmlns:a="http://schemas.openxmlformats.org/drawingml/2006/main">
              <a:ext uri="{FF2B5EF4-FFF2-40B4-BE49-F238E27FC236}">
                <a16:creationId xmlns:a16="http://schemas.microsoft.com/office/drawing/2014/main" id="{254244C7-7E58-4F56-BDC4-BE79172A313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534842305"/>
      </p:ext>
    </p:extLst>
  </p:cSld>
</p:sld>
</file>

<file path=ppt/slides/slide1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A7D98B6-F7DD-420E-8D2B-D86072B495C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12 does not prove, and the next evidence needed</a:t>
            </a:r>
          </a:p>
        </p:txBody>
      </p:sp>
      <p:sp>
        <p:nvSpPr>
          <p:cNvPr id="3" name="TextBox 2">
            <a:extLst xmlns:a="http://schemas.openxmlformats.org/drawingml/2006/main">
              <a:ext uri="{FF2B5EF4-FFF2-40B4-BE49-F238E27FC236}">
                <a16:creationId xmlns:a16="http://schemas.microsoft.com/office/drawing/2014/main" id="{D2C2129B-4AAA-4465-B5B6-7833BA65001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75033A15-DE31-4C2D-B307-CDACC0D60239}"/>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69184426-E0B1-4868-B75D-BCA3AEEBE81C}"/>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1C7B5CD9-4FFC-46E6-857C-FE139DDA5DE3}"/>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06FBA470-7B10-408F-BC77-A85949E4E30F}"/>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D4AECD7-8786-44C4-904D-21DDB02E7D47}"/>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PGK1 activates BNIP3 or BNIP3L</a:t>
            </a:r>
          </a:p>
        </p:txBody>
      </p:sp>
      <p:sp>
        <p:nvSpPr>
          <p:cNvPr id="9" name="Oval 8">
            <a:extLst xmlns:a="http://schemas.openxmlformats.org/drawingml/2006/main">
              <a:ext uri="{FF2B5EF4-FFF2-40B4-BE49-F238E27FC236}">
                <a16:creationId xmlns:a16="http://schemas.microsoft.com/office/drawing/2014/main" id="{9587ADE9-C8E6-449B-BE3A-266CF9902B3F}"/>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08DFACA5-4BCF-4F27-9933-0EC5C9821E90}"/>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Whether glycolysis is adaptive or harmful</a:t>
            </a:r>
          </a:p>
        </p:txBody>
      </p:sp>
      <p:sp>
        <p:nvSpPr>
          <p:cNvPr id="11" name="Oval 10">
            <a:extLst xmlns:a="http://schemas.openxmlformats.org/drawingml/2006/main">
              <a:ext uri="{FF2B5EF4-FFF2-40B4-BE49-F238E27FC236}">
                <a16:creationId xmlns:a16="http://schemas.microsoft.com/office/drawing/2014/main" id="{C2FB42A8-2461-4B39-9D49-4D410E1CAF2E}"/>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AA99F17C-E3D7-4431-A8D5-D6DD493ED737}"/>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SEA-AD or donor-independent validation</a:t>
            </a:r>
          </a:p>
        </p:txBody>
      </p:sp>
      <p:sp>
        <p:nvSpPr>
          <p:cNvPr id="13" name="Rounded Rectangle 12">
            <a:extLst xmlns:a="http://schemas.openxmlformats.org/drawingml/2006/main">
              <a:ext uri="{FF2B5EF4-FFF2-40B4-BE49-F238E27FC236}">
                <a16:creationId xmlns:a16="http://schemas.microsoft.com/office/drawing/2014/main" id="{4C681E42-33E3-47D7-A6DA-1CFAAC0D7190}"/>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9502E2F0-999B-42B4-AE98-C0274FA7E735}"/>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189483E-F19A-4BA0-8592-42F6B997070D}"/>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117CCA0B-BB96-4829-9D34-53A503A955DE}"/>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F6FAEE3B-3A0A-44F6-B706-DDAA5936420F}"/>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PGK1 in APOE-isogenic astrocytes</a:t>
            </a:r>
          </a:p>
        </p:txBody>
      </p:sp>
      <p:sp>
        <p:nvSpPr>
          <p:cNvPr id="18" name="Oval 17">
            <a:extLst xmlns:a="http://schemas.openxmlformats.org/drawingml/2006/main">
              <a:ext uri="{FF2B5EF4-FFF2-40B4-BE49-F238E27FC236}">
                <a16:creationId xmlns:a16="http://schemas.microsoft.com/office/drawing/2014/main" id="{882F2F4D-9F0C-44B8-ACBD-462E5EBE0A38}"/>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2A9C435E-5B35-4E5B-866E-57195F96B21D}"/>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glycolytic rate and mitophagic flow</a:t>
            </a:r>
          </a:p>
        </p:txBody>
      </p:sp>
      <p:sp>
        <p:nvSpPr>
          <p:cNvPr id="20" name="Oval 19">
            <a:extLst xmlns:a="http://schemas.openxmlformats.org/drawingml/2006/main">
              <a:ext uri="{FF2B5EF4-FFF2-40B4-BE49-F238E27FC236}">
                <a16:creationId xmlns:a16="http://schemas.microsoft.com/office/drawing/2014/main" id="{99845921-7575-45A8-804E-04B85148BDE5}"/>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64793E09-4A45-4BC4-9C48-D7F5C67C0F29}"/>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Block or rescue BNIP3 and BNIP3L while measuring respiration</a:t>
            </a:r>
          </a:p>
        </p:txBody>
      </p:sp>
      <p:sp>
        <p:nvSpPr>
          <p:cNvPr id="22" name="TextBox 21">
            <a:extLst xmlns:a="http://schemas.openxmlformats.org/drawingml/2006/main">
              <a:ext uri="{FF2B5EF4-FFF2-40B4-BE49-F238E27FC236}">
                <a16:creationId xmlns:a16="http://schemas.microsoft.com/office/drawing/2014/main" id="{3037FC5F-496C-4972-AC95-6C654B0A1B47}"/>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6C976223-E1D5-42A7-9DEE-0000689FA25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333079039"/>
      </p:ext>
    </p:extLst>
  </p:cSld>
</p:sld>
</file>

<file path=ppt/slides/slide1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A72472-335B-421D-8BFE-877C12AA8D0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xmlns:a="http://schemas.openxmlformats.org/drawingml/2006/main">
              <a:ext uri="{FF2B5EF4-FFF2-40B4-BE49-F238E27FC236}">
                <a16:creationId xmlns:a16="http://schemas.microsoft.com/office/drawing/2014/main" id="{C1974586-B6F4-444C-BD73-69D0205D12D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63AF9718-FEB6-4EDB-89BD-8E7C9BB67BBC}"/>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5037E10-1714-4269-8944-52D55D8B0610}"/>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xmlns:a="http://schemas.openxmlformats.org/drawingml/2006/main">
              <a:ext uri="{FF2B5EF4-FFF2-40B4-BE49-F238E27FC236}">
                <a16:creationId xmlns:a16="http://schemas.microsoft.com/office/drawing/2014/main" id="{A0399F64-B103-4065-8020-6637B2FAB67D}"/>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xmlns:a="http://schemas.openxmlformats.org/drawingml/2006/main">
              <a:ext uri="{FF2B5EF4-FFF2-40B4-BE49-F238E27FC236}">
                <a16:creationId xmlns:a16="http://schemas.microsoft.com/office/drawing/2014/main" id="{AF89A854-4A7E-4A1D-90D0-6B168ECEE337}"/>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FFB07D12-DE55-4C63-8310-242ECC43E331}"/>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xmlns:a="http://schemas.openxmlformats.org/drawingml/2006/main">
              <a:ext uri="{FF2B5EF4-FFF2-40B4-BE49-F238E27FC236}">
                <a16:creationId xmlns:a16="http://schemas.microsoft.com/office/drawing/2014/main" id="{832660BC-486E-4BBF-8DB9-DA681105A42F}"/>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EEAA9EDC-3BA0-4734-9DE4-DD92E8C7DADA}"/>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xmlns:a="http://schemas.openxmlformats.org/drawingml/2006/main">
              <a:ext uri="{FF2B5EF4-FFF2-40B4-BE49-F238E27FC236}">
                <a16:creationId xmlns:a16="http://schemas.microsoft.com/office/drawing/2014/main" id="{F2C96634-4AEB-45EF-A344-E44980237E46}"/>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B80C256-A5CF-41EB-ACCF-4920B93F418E}"/>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xmlns:a="http://schemas.openxmlformats.org/drawingml/2006/main">
              <a:ext uri="{FF2B5EF4-FFF2-40B4-BE49-F238E27FC236}">
                <a16:creationId xmlns:a16="http://schemas.microsoft.com/office/drawing/2014/main" id="{E98BE54E-0057-433C-B95C-C382524CD479}"/>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xmlns:a="http://schemas.openxmlformats.org/drawingml/2006/main">
              <a:ext uri="{FF2B5EF4-FFF2-40B4-BE49-F238E27FC236}">
                <a16:creationId xmlns:a16="http://schemas.microsoft.com/office/drawing/2014/main" id="{BFB74E40-3B89-4965-9442-92050071C5C4}"/>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60CE8E85-1C91-4C53-822E-470C06C7B016}"/>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xmlns:a="http://schemas.openxmlformats.org/drawingml/2006/main">
              <a:ext uri="{FF2B5EF4-FFF2-40B4-BE49-F238E27FC236}">
                <a16:creationId xmlns:a16="http://schemas.microsoft.com/office/drawing/2014/main" id="{325AF80C-79E3-4D0F-9B2D-C2268452039A}"/>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C33808C9-A74C-45AC-945C-B9AB5BFF9ACA}"/>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xmlns:a="http://schemas.openxmlformats.org/drawingml/2006/main">
              <a:ext uri="{FF2B5EF4-FFF2-40B4-BE49-F238E27FC236}">
                <a16:creationId xmlns:a16="http://schemas.microsoft.com/office/drawing/2014/main" id="{16EB823E-A46B-42BA-AA56-439FC30DC0B3}"/>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6624454F-B613-439F-9007-3441866F3B01}"/>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xmlns:a="http://schemas.openxmlformats.org/drawingml/2006/main">
              <a:ext uri="{FF2B5EF4-FFF2-40B4-BE49-F238E27FC236}">
                <a16:creationId xmlns:a16="http://schemas.microsoft.com/office/drawing/2014/main" id="{F344A294-12BB-4EE7-A2FF-32DB6F9156D9}"/>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xmlns:a="http://schemas.openxmlformats.org/drawingml/2006/main">
              <a:ext uri="{FF2B5EF4-FFF2-40B4-BE49-F238E27FC236}">
                <a16:creationId xmlns:a16="http://schemas.microsoft.com/office/drawing/2014/main" id="{6FFF97F4-62D3-4364-952F-BA90793F01D6}"/>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5E196C6C-A208-4C35-860C-3560592FB001}"/>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xmlns:a="http://schemas.openxmlformats.org/drawingml/2006/main">
              <a:ext uri="{FF2B5EF4-FFF2-40B4-BE49-F238E27FC236}">
                <a16:creationId xmlns:a16="http://schemas.microsoft.com/office/drawing/2014/main" id="{1E48C5CE-B24A-443C-876F-2E5245D6731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FB8778A3-C083-44C9-974E-D4DEEFC7C0AA}"/>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xmlns:a="http://schemas.openxmlformats.org/drawingml/2006/main">
              <a:ext uri="{FF2B5EF4-FFF2-40B4-BE49-F238E27FC236}">
                <a16:creationId xmlns:a16="http://schemas.microsoft.com/office/drawing/2014/main" id="{2E39FECE-7E07-4FBF-BF87-99029D63CED6}"/>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CD7C171E-1E72-48F5-9911-0CA46AD94889}"/>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D0C440B5-5F50-4254-A430-6C0F234738B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29583006"/>
      </p:ext>
    </p:extLst>
  </p:cSld>
</p:sld>
</file>

<file path=ppt/slides/slide128.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F76A8A-F354-48DB-AE5E-549D2446A38E}"/>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xmlns:a="http://schemas.openxmlformats.org/drawingml/2006/main">
              <a:ext uri="{FF2B5EF4-FFF2-40B4-BE49-F238E27FC236}">
                <a16:creationId xmlns:a16="http://schemas.microsoft.com/office/drawing/2014/main" id="{3F6CDD18-C317-45FC-992F-203E3DFD6C6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37BF0920-6207-4318-8DD2-CE736A6128CF}"/>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xmlns:a="http://schemas.openxmlformats.org/drawingml/2006/main">
              <a:ext uri="{FF2B5EF4-FFF2-40B4-BE49-F238E27FC236}">
                <a16:creationId xmlns:a16="http://schemas.microsoft.com/office/drawing/2014/main" id="{494CBC75-8C44-499A-AD20-C9BF8080560F}"/>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xmlns:a="http://schemas.openxmlformats.org/drawingml/2006/main">
              <a:ext uri="{FF2B5EF4-FFF2-40B4-BE49-F238E27FC236}">
                <a16:creationId xmlns:a16="http://schemas.microsoft.com/office/drawing/2014/main" id="{43DDCB73-D997-47AF-828E-7AFD1C6D5EB1}"/>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B92767D-A62F-4697-B971-45A54282D2E2}"/>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965AFF38-DA6F-4225-8265-7BF89C948035}"/>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1489CB2-B02C-462C-925C-B4A4EC9C8C02}"/>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9E7D0E4-FBAB-4096-8BAC-9039126D8EE4}"/>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C08FC1B6-4642-4657-AA88-CFC0EA366B19}"/>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5BBCEBA-F878-42CC-B19F-6A62620CD398}"/>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EFC41CC4-E9F8-4D57-9340-821A6BA5CA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0EB0EA8E-025A-41A1-84F1-0AD484E7627B}"/>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0476EB50-25BD-4677-BF35-A1A6E00FE03C}"/>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E6AFA8F8-AC9D-4AD1-B57A-B3C6DEE3DA4D}"/>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D1981B82-1DB9-40EB-88F5-0AAC561935D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6D504762-0C6A-4DA2-96C0-FFA4B01040A3}"/>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70B9C167-AB72-4F29-AC97-E34A47848704}"/>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76ACDFA9-4BAD-4B4F-918B-C03D0C1AA8C5}"/>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F3DB4A9E-B0AF-4D27-8DAC-E3046968A791}"/>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sld>
</file>

<file path=ppt/slides/slide1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84D26B4-7711-49C3-85EE-A076C12FED1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xmlns:a="http://schemas.openxmlformats.org/drawingml/2006/main">
              <a:ext uri="{FF2B5EF4-FFF2-40B4-BE49-F238E27FC236}">
                <a16:creationId xmlns:a16="http://schemas.microsoft.com/office/drawing/2014/main" id="{5E1D4E7A-86B1-4168-B437-CA984DE9C8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xmlns:a="http://schemas.openxmlformats.org/drawingml/2006/main">
              <a:ext uri="{FF2B5EF4-FFF2-40B4-BE49-F238E27FC236}">
                <a16:creationId xmlns:a16="http://schemas.microsoft.com/office/drawing/2014/main" id="{A21A3532-B9CC-4F0A-8070-64D137C73AFA}"/>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1CB731B-850F-4D22-859E-0A272DE37783}"/>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xmlns:a="http://schemas.openxmlformats.org/drawingml/2006/main">
              <a:ext uri="{FF2B5EF4-FFF2-40B4-BE49-F238E27FC236}">
                <a16:creationId xmlns:a16="http://schemas.microsoft.com/office/drawing/2014/main" id="{F20BB2FD-99F0-407B-8023-231B2A90106D}"/>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EDA9FC6-A03A-4D97-9E80-3573E4F595D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xmlns:a="http://schemas.openxmlformats.org/drawingml/2006/main">
              <a:ext uri="{FF2B5EF4-FFF2-40B4-BE49-F238E27FC236}">
                <a16:creationId xmlns:a16="http://schemas.microsoft.com/office/drawing/2014/main" id="{7B6FCEEA-78A3-49D5-B642-625D0BACDB0B}"/>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C2110A9-1EE6-4DEF-872F-1E676E6DBB31}"/>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xmlns:a="http://schemas.openxmlformats.org/drawingml/2006/main">
              <a:ext uri="{FF2B5EF4-FFF2-40B4-BE49-F238E27FC236}">
                <a16:creationId xmlns:a16="http://schemas.microsoft.com/office/drawing/2014/main" id="{FA402AC8-451F-49FE-8AE9-DB591F6CADE0}"/>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93BB57BE-BEF3-46E9-AA4C-B450E2461D23}"/>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xmlns:a="http://schemas.openxmlformats.org/drawingml/2006/main">
              <a:ext uri="{FF2B5EF4-FFF2-40B4-BE49-F238E27FC236}">
                <a16:creationId xmlns:a16="http://schemas.microsoft.com/office/drawing/2014/main" id="{84E7A8DD-6394-43FC-99D3-B0C4ADCBD4C8}"/>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4E9292C-3823-47A3-9C3F-C382BFD56681}"/>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xmlns:a="http://schemas.openxmlformats.org/drawingml/2006/main">
              <a:ext uri="{FF2B5EF4-FFF2-40B4-BE49-F238E27FC236}">
                <a16:creationId xmlns:a16="http://schemas.microsoft.com/office/drawing/2014/main" id="{F9F0A80B-3BDA-4E44-BF59-0CBB054C3E3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xmlns:a="http://schemas.openxmlformats.org/drawingml/2006/main">
              <a:ext uri="{FF2B5EF4-FFF2-40B4-BE49-F238E27FC236}">
                <a16:creationId xmlns:a16="http://schemas.microsoft.com/office/drawing/2014/main" id="{F761B7ED-5FD2-4D44-9F67-717668C9C060}"/>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xmlns:a="http://schemas.openxmlformats.org/drawingml/2006/main">
              <a:ext uri="{FF2B5EF4-FFF2-40B4-BE49-F238E27FC236}">
                <a16:creationId xmlns:a16="http://schemas.microsoft.com/office/drawing/2014/main" id="{6E20F4ED-5088-4271-8BD3-46AE92E23244}"/>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B56F6015-84E4-475A-AD79-F20BFAA2EC7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xmlns:a="http://schemas.openxmlformats.org/drawingml/2006/main">
              <a:ext uri="{FF2B5EF4-FFF2-40B4-BE49-F238E27FC236}">
                <a16:creationId xmlns:a16="http://schemas.microsoft.com/office/drawing/2014/main" id="{CF043283-65B2-4BE6-ABB1-C641E33B07F3}"/>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xmlns:a="http://schemas.openxmlformats.org/drawingml/2006/main">
              <a:ext uri="{FF2B5EF4-FFF2-40B4-BE49-F238E27FC236}">
                <a16:creationId xmlns:a16="http://schemas.microsoft.com/office/drawing/2014/main" id="{DE8EF361-2531-429E-A404-B3404C55BDD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xmlns:a="http://schemas.openxmlformats.org/drawingml/2006/main">
              <a:ext uri="{FF2B5EF4-FFF2-40B4-BE49-F238E27FC236}">
                <a16:creationId xmlns:a16="http://schemas.microsoft.com/office/drawing/2014/main" id="{5DA5BE98-9CAA-4AEE-BD02-893380534CA4}"/>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9BC534A6-CF9A-4E6A-9AF5-C46405FFD458}"/>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xmlns:a="http://schemas.openxmlformats.org/drawingml/2006/main">
              <a:ext uri="{FF2B5EF4-FFF2-40B4-BE49-F238E27FC236}">
                <a16:creationId xmlns:a16="http://schemas.microsoft.com/office/drawing/2014/main" id="{9A78A060-4F1C-4798-AE00-C0ABDF63D762}"/>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xmlns:a="http://schemas.openxmlformats.org/drawingml/2006/main">
              <a:ext uri="{FF2B5EF4-FFF2-40B4-BE49-F238E27FC236}">
                <a16:creationId xmlns:a16="http://schemas.microsoft.com/office/drawing/2014/main" id="{6E800DCB-E8BC-40A0-9DB7-CA52245745BA}"/>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xmlns:a="http://schemas.openxmlformats.org/drawingml/2006/main">
              <a:ext uri="{FF2B5EF4-FFF2-40B4-BE49-F238E27FC236}">
                <a16:creationId xmlns:a16="http://schemas.microsoft.com/office/drawing/2014/main" id="{9E20BEBD-65A2-4045-8CD1-C369C5FC3D2A}"/>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214B2D07-6FC5-47E4-B3EC-8C9153932F06}"/>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
        <p:nvSpPr>
          <p:cNvPr id="26" name="TextBox 25">
            <a:extLst xmlns:a="http://schemas.openxmlformats.org/drawingml/2006/main">
              <a:ext uri="{FF2B5EF4-FFF2-40B4-BE49-F238E27FC236}">
                <a16:creationId xmlns:a16="http://schemas.microsoft.com/office/drawing/2014/main" id="{9E8AACAC-71DF-4210-92B9-E179D721B9D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2067618088"/>
      </p:ext>
    </p:extLst>
  </p:cSld>
</p:sld>
</file>

<file path=ppt/slides/slide1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0A3A515-B127-46B4-BC2D-130B02BFA19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xmlns:a="http://schemas.openxmlformats.org/drawingml/2006/main">
              <a:ext uri="{FF2B5EF4-FFF2-40B4-BE49-F238E27FC236}">
                <a16:creationId xmlns:a16="http://schemas.microsoft.com/office/drawing/2014/main" id="{80C59182-90D5-4B9B-950D-3F3DABEC717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calls do not provide broad subtype replication.</a:t>
            </a:r>
          </a:p>
        </p:txBody>
      </p:sp>
      <p:sp>
        <p:nvSpPr>
          <p:cNvPr id="4" name="Rounded Rectangle 3">
            <a:extLst xmlns:a="http://schemas.openxmlformats.org/drawingml/2006/main">
              <a:ext uri="{FF2B5EF4-FFF2-40B4-BE49-F238E27FC236}">
                <a16:creationId xmlns:a16="http://schemas.microsoft.com/office/drawing/2014/main" id="{807A3378-950F-4FB8-B21D-216C8BD17B29}"/>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A1BF9D-CBDF-4F52-BE37-97C8F287C9F9}"/>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xmlns:a="http://schemas.openxmlformats.org/drawingml/2006/main">
              <a:ext uri="{FF2B5EF4-FFF2-40B4-BE49-F238E27FC236}">
                <a16:creationId xmlns:a16="http://schemas.microsoft.com/office/drawing/2014/main" id="{A976AFD5-979B-4EFF-9132-718313DFD364}"/>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OPC calls</a:t>
            </a:r>
          </a:p>
        </p:txBody>
      </p:sp>
      <p:sp>
        <p:nvSpPr>
          <p:cNvPr id="7" name="TextBox 6">
            <a:extLst xmlns:a="http://schemas.openxmlformats.org/drawingml/2006/main">
              <a:ext uri="{FF2B5EF4-FFF2-40B4-BE49-F238E27FC236}">
                <a16:creationId xmlns:a16="http://schemas.microsoft.com/office/drawing/2014/main" id="{A081650B-2C0A-4497-AEB2-FEAD8AEE1D47}"/>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xmlns:a="http://schemas.openxmlformats.org/drawingml/2006/main">
              <a:ext uri="{FF2B5EF4-FFF2-40B4-BE49-F238E27FC236}">
                <a16:creationId xmlns:a16="http://schemas.microsoft.com/office/drawing/2014/main" id="{7E5E9991-22C7-4F85-9299-7C2D4225BC6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C930B26-315E-40A1-B589-F86D7E5BDA2C}"/>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xmlns:a="http://schemas.openxmlformats.org/drawingml/2006/main">
              <a:ext uri="{FF2B5EF4-FFF2-40B4-BE49-F238E27FC236}">
                <a16:creationId xmlns:a16="http://schemas.microsoft.com/office/drawing/2014/main" id="{F494C914-2D0F-461A-807D-3662B9AE615B}"/>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xmlns:a="http://schemas.openxmlformats.org/drawingml/2006/main">
              <a:ext uri="{FF2B5EF4-FFF2-40B4-BE49-F238E27FC236}">
                <a16:creationId xmlns:a16="http://schemas.microsoft.com/office/drawing/2014/main" id="{8F22BCF5-0C17-4D5F-9294-81EE9037A4CC}"/>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xmlns:a="http://schemas.openxmlformats.org/drawingml/2006/main">
              <a:ext uri="{FF2B5EF4-FFF2-40B4-BE49-F238E27FC236}">
                <a16:creationId xmlns:a16="http://schemas.microsoft.com/office/drawing/2014/main" id="{8180B172-2F6E-4700-95F8-331684066057}"/>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CEA1114-C969-4C9F-A44B-B9C657EB76CB}"/>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xmlns:a="http://schemas.openxmlformats.org/drawingml/2006/main">
              <a:ext uri="{FF2B5EF4-FFF2-40B4-BE49-F238E27FC236}">
                <a16:creationId xmlns:a16="http://schemas.microsoft.com/office/drawing/2014/main" id="{FE776920-1A4D-4870-A8F1-D035D6520961}"/>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xmlns:a="http://schemas.openxmlformats.org/drawingml/2006/main">
              <a:ext uri="{FF2B5EF4-FFF2-40B4-BE49-F238E27FC236}">
                <a16:creationId xmlns:a16="http://schemas.microsoft.com/office/drawing/2014/main" id="{A0848A86-711F-4106-83A1-685D7F59221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mtDNA and nuclear OXPHOS</a:t>
            </a:r>
          </a:p>
        </p:txBody>
      </p:sp>
      <p:sp>
        <p:nvSpPr>
          <p:cNvPr id="16" name="Rounded Rectangle 15">
            <a:extLst xmlns:a="http://schemas.openxmlformats.org/drawingml/2006/main">
              <a:ext uri="{FF2B5EF4-FFF2-40B4-BE49-F238E27FC236}">
                <a16:creationId xmlns:a16="http://schemas.microsoft.com/office/drawing/2014/main" id="{698475F8-CE69-46B6-8314-D74BD6764F93}"/>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83567AB-A7FA-4822-AD40-3C4A945410D9}"/>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xmlns:a="http://schemas.openxmlformats.org/drawingml/2006/main">
              <a:ext uri="{FF2B5EF4-FFF2-40B4-BE49-F238E27FC236}">
                <a16:creationId xmlns:a16="http://schemas.microsoft.com/office/drawing/2014/main" id="{7D7FCAE9-A983-468D-9001-004BEC178932}"/>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xmlns:a="http://schemas.openxmlformats.org/drawingml/2006/main">
              <a:ext uri="{FF2B5EF4-FFF2-40B4-BE49-F238E27FC236}">
                <a16:creationId xmlns:a16="http://schemas.microsoft.com/office/drawing/2014/main" id="{A2261362-E5FD-4C3C-96E9-F15D49870ACF}"/>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xmlns:a="http://schemas.openxmlformats.org/drawingml/2006/main">
              <a:ext uri="{FF2B5EF4-FFF2-40B4-BE49-F238E27FC236}">
                <a16:creationId xmlns:a16="http://schemas.microsoft.com/office/drawing/2014/main" id="{AC6EC929-80B9-4F30-A4D2-A22F90751C8D}"/>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EE455E2-B24A-4140-BA61-9999BDCA9E0C}"/>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xmlns:a="http://schemas.openxmlformats.org/drawingml/2006/main">
              <a:ext uri="{FF2B5EF4-FFF2-40B4-BE49-F238E27FC236}">
                <a16:creationId xmlns:a16="http://schemas.microsoft.com/office/drawing/2014/main" id="{4B1D064E-ADA8-4CFC-9518-8EA5D75A48DA}"/>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xmlns:a="http://schemas.openxmlformats.org/drawingml/2006/main">
              <a:ext uri="{FF2B5EF4-FFF2-40B4-BE49-F238E27FC236}">
                <a16:creationId xmlns:a16="http://schemas.microsoft.com/office/drawing/2014/main" id="{9099361F-A8A9-4F96-B281-D4BC483674E9}"/>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call</a:t>
            </a:r>
          </a:p>
        </p:txBody>
      </p:sp>
      <p:sp>
        <p:nvSpPr>
          <p:cNvPr id="24" name="Rounded Rectangle 23">
            <a:extLst xmlns:a="http://schemas.openxmlformats.org/drawingml/2006/main">
              <a:ext uri="{FF2B5EF4-FFF2-40B4-BE49-F238E27FC236}">
                <a16:creationId xmlns:a16="http://schemas.microsoft.com/office/drawing/2014/main" id="{0EC46CC7-76C7-472F-B0D1-58FEE97A84DF}"/>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DCE61E4-F5B3-40A8-A7C4-999E6B82621F}"/>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xmlns:a="http://schemas.openxmlformats.org/drawingml/2006/main">
              <a:ext uri="{FF2B5EF4-FFF2-40B4-BE49-F238E27FC236}">
                <a16:creationId xmlns:a16="http://schemas.microsoft.com/office/drawing/2014/main" id="{3D6B138C-3F34-4E27-9C4A-5FD0366EB0CF}"/>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xmlns:a="http://schemas.openxmlformats.org/drawingml/2006/main">
              <a:ext uri="{FF2B5EF4-FFF2-40B4-BE49-F238E27FC236}">
                <a16:creationId xmlns:a16="http://schemas.microsoft.com/office/drawing/2014/main" id="{ACA51FA8-E100-4D8C-8271-0B0575CE4DC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
        <p:nvSpPr>
          <p:cNvPr id="28" name="TextBox 27">
            <a:extLst xmlns:a="http://schemas.openxmlformats.org/drawingml/2006/main">
              <a:ext uri="{FF2B5EF4-FFF2-40B4-BE49-F238E27FC236}">
                <a16:creationId xmlns:a16="http://schemas.microsoft.com/office/drawing/2014/main" id="{C6D9B92E-17C3-4A5D-8214-746AE2F06B4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562558821"/>
      </p:ext>
    </p:extLst>
  </p:cSld>
</p:sld>
</file>

<file path=ppt/slides/slide1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33D3C8D-631F-46DF-846E-1A1208BFC17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xmlns:a="http://schemas.openxmlformats.org/drawingml/2006/main">
              <a:ext uri="{FF2B5EF4-FFF2-40B4-BE49-F238E27FC236}">
                <a16:creationId xmlns:a16="http://schemas.microsoft.com/office/drawing/2014/main" id="{FB6AE97F-F788-4ABD-A408-FA9502CC398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xmlns:a="http://schemas.openxmlformats.org/drawingml/2006/main">
              <a:ext uri="{FF2B5EF4-FFF2-40B4-BE49-F238E27FC236}">
                <a16:creationId xmlns:a16="http://schemas.microsoft.com/office/drawing/2014/main" id="{AD4BFB6F-8E39-41B2-A029-D59C0714CC60}"/>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A44C3B8-2E5B-4119-8242-C3F578C37BE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xmlns:a="http://schemas.openxmlformats.org/drawingml/2006/main">
              <a:ext uri="{FF2B5EF4-FFF2-40B4-BE49-F238E27FC236}">
                <a16:creationId xmlns:a16="http://schemas.microsoft.com/office/drawing/2014/main" id="{DBF89FCE-59C4-4DE9-AD0A-3B73C97C187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xmlns:a="http://schemas.openxmlformats.org/drawingml/2006/main">
              <a:ext uri="{FF2B5EF4-FFF2-40B4-BE49-F238E27FC236}">
                <a16:creationId xmlns:a16="http://schemas.microsoft.com/office/drawing/2014/main" id="{6A65FDE6-6991-4C06-BA04-0260F8C29B32}"/>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xmlns:a="http://schemas.openxmlformats.org/drawingml/2006/main">
              <a:ext uri="{FF2B5EF4-FFF2-40B4-BE49-F238E27FC236}">
                <a16:creationId xmlns:a16="http://schemas.microsoft.com/office/drawing/2014/main" id="{CF6117FB-950A-44F0-BA24-B1A818AC51AA}"/>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CE2E68C-781B-4070-A809-32BF6ACA970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xmlns:a="http://schemas.openxmlformats.org/drawingml/2006/main">
              <a:ext uri="{FF2B5EF4-FFF2-40B4-BE49-F238E27FC236}">
                <a16:creationId xmlns:a16="http://schemas.microsoft.com/office/drawing/2014/main" id="{E45FBE5E-432B-442E-A759-7E7748346D9E}"/>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xmlns:a="http://schemas.openxmlformats.org/drawingml/2006/main">
              <a:ext uri="{FF2B5EF4-FFF2-40B4-BE49-F238E27FC236}">
                <a16:creationId xmlns:a16="http://schemas.microsoft.com/office/drawing/2014/main" id="{84F9E9EC-72CB-405B-809E-88723EE9A786}"/>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xmlns:a="http://schemas.openxmlformats.org/drawingml/2006/main">
              <a:ext uri="{FF2B5EF4-FFF2-40B4-BE49-F238E27FC236}">
                <a16:creationId xmlns:a16="http://schemas.microsoft.com/office/drawing/2014/main" id="{C8E5D028-3638-416D-B044-0094ED1E5664}"/>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C868C8D7-3409-432D-9F05-01E42EC93372}"/>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xmlns:a="http://schemas.openxmlformats.org/drawingml/2006/main">
              <a:ext uri="{FF2B5EF4-FFF2-40B4-BE49-F238E27FC236}">
                <a16:creationId xmlns:a16="http://schemas.microsoft.com/office/drawing/2014/main" id="{A7E76BEF-91FC-400C-9DFB-7C1DC9C4F06B}"/>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xmlns:a="http://schemas.openxmlformats.org/drawingml/2006/main">
              <a:ext uri="{FF2B5EF4-FFF2-40B4-BE49-F238E27FC236}">
                <a16:creationId xmlns:a16="http://schemas.microsoft.com/office/drawing/2014/main" id="{7557BA89-E344-4BD1-B941-1607D2F8E42B}"/>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xmlns:a="http://schemas.openxmlformats.org/drawingml/2006/main">
              <a:ext uri="{FF2B5EF4-FFF2-40B4-BE49-F238E27FC236}">
                <a16:creationId xmlns:a16="http://schemas.microsoft.com/office/drawing/2014/main" id="{8958CAEE-C55A-448F-97CE-3A27EC1327A8}"/>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F43B4E1E-0506-4FDE-BEE3-B927A0A8609F}"/>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
        <p:nvSpPr>
          <p:cNvPr id="18" name="TextBox 17">
            <a:extLst xmlns:a="http://schemas.openxmlformats.org/drawingml/2006/main">
              <a:ext uri="{FF2B5EF4-FFF2-40B4-BE49-F238E27FC236}">
                <a16:creationId xmlns:a16="http://schemas.microsoft.com/office/drawing/2014/main" id="{92484E08-4418-42CE-BC96-7358B2A4B73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1428804894"/>
      </p:ext>
    </p:extLst>
  </p:cSld>
</p:sld>
</file>

<file path=ppt/slides/slide1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506CFD8-63A4-45DF-A66D-F65C9CAC0589}"/>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xmlns:a="http://schemas.openxmlformats.org/drawingml/2006/main">
              <a:ext uri="{FF2B5EF4-FFF2-40B4-BE49-F238E27FC236}">
                <a16:creationId xmlns:a16="http://schemas.microsoft.com/office/drawing/2014/main" id="{BA881331-5CBB-41BB-8E29-F74B82E9BB8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xmlns:a="http://schemas.openxmlformats.org/drawingml/2006/main">
              <a:ext uri="{FF2B5EF4-FFF2-40B4-BE49-F238E27FC236}">
                <a16:creationId xmlns:a16="http://schemas.microsoft.com/office/drawing/2014/main" id="{3FBEF97B-4949-4D0B-9762-39D1E229189C}"/>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D2B3AD8-E634-4B41-9516-C9AA21D6132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xmlns:a="http://schemas.openxmlformats.org/drawingml/2006/main">
              <a:ext uri="{FF2B5EF4-FFF2-40B4-BE49-F238E27FC236}">
                <a16:creationId xmlns:a16="http://schemas.microsoft.com/office/drawing/2014/main" id="{BB564195-FE95-412B-9253-888383533B70}"/>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xmlns:a="http://schemas.openxmlformats.org/drawingml/2006/main">
              <a:ext uri="{FF2B5EF4-FFF2-40B4-BE49-F238E27FC236}">
                <a16:creationId xmlns:a16="http://schemas.microsoft.com/office/drawing/2014/main" id="{51427753-039B-440F-A451-5F4CDB5A4E3D}"/>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xmlns:a="http://schemas.openxmlformats.org/drawingml/2006/main">
              <a:ext uri="{FF2B5EF4-FFF2-40B4-BE49-F238E27FC236}">
                <a16:creationId xmlns:a16="http://schemas.microsoft.com/office/drawing/2014/main" id="{86705461-EAF2-42EB-B6FB-E62C9D107DD3}"/>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D58AA05-8D16-4BCB-A79E-4BA97156B32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xmlns:a="http://schemas.openxmlformats.org/drawingml/2006/main">
              <a:ext uri="{FF2B5EF4-FFF2-40B4-BE49-F238E27FC236}">
                <a16:creationId xmlns:a16="http://schemas.microsoft.com/office/drawing/2014/main" id="{DDF09B92-2A69-4387-AD40-827E4B37FD88}"/>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xmlns:a="http://schemas.openxmlformats.org/drawingml/2006/main">
              <a:ext uri="{FF2B5EF4-FFF2-40B4-BE49-F238E27FC236}">
                <a16:creationId xmlns:a16="http://schemas.microsoft.com/office/drawing/2014/main" id="{2852A216-72CF-47EA-BA49-A6DD74A1642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xmlns:a="http://schemas.openxmlformats.org/drawingml/2006/main">
              <a:ext uri="{FF2B5EF4-FFF2-40B4-BE49-F238E27FC236}">
                <a16:creationId xmlns:a16="http://schemas.microsoft.com/office/drawing/2014/main" id="{D29539D8-DFC5-4066-8AF7-A2B2BBBECF24}"/>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F961A44-187B-41C6-A6CD-441F5EC747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xmlns:a="http://schemas.openxmlformats.org/drawingml/2006/main">
              <a:ext uri="{FF2B5EF4-FFF2-40B4-BE49-F238E27FC236}">
                <a16:creationId xmlns:a16="http://schemas.microsoft.com/office/drawing/2014/main" id="{6175BC97-30CA-4A35-BAA4-A416015A9769}"/>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xmlns:a="http://schemas.openxmlformats.org/drawingml/2006/main">
              <a:ext uri="{FF2B5EF4-FFF2-40B4-BE49-F238E27FC236}">
                <a16:creationId xmlns:a16="http://schemas.microsoft.com/office/drawing/2014/main" id="{901ECCA5-4DE6-43C7-9A2C-20520B9AB3E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xmlns:a="http://schemas.openxmlformats.org/drawingml/2006/main">
              <a:ext uri="{FF2B5EF4-FFF2-40B4-BE49-F238E27FC236}">
                <a16:creationId xmlns:a16="http://schemas.microsoft.com/office/drawing/2014/main" id="{1E8D6100-EE81-4131-9B8B-9DB33F9906D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B45C713-43BC-4D38-A1B3-C03B628049ED}"/>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9BE2D8-C487-4C2B-92F7-2FB49A1DD7CC}"/>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
        <p:nvSpPr>
          <p:cNvPr id="19" name="TextBox 18">
            <a:extLst xmlns:a="http://schemas.openxmlformats.org/drawingml/2006/main">
              <a:ext uri="{FF2B5EF4-FFF2-40B4-BE49-F238E27FC236}">
                <a16:creationId xmlns:a16="http://schemas.microsoft.com/office/drawing/2014/main" id="{36BE1038-82DA-435F-BAC3-4C637CA7898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582230443"/>
      </p:ext>
    </p:extLst>
  </p:cSld>
</p:sld>
</file>

<file path=ppt/slides/slide13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5A14A75-15DA-4F90-AACD-655674A37C9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13 does not prove, and the next evidence needed</a:t>
            </a:r>
          </a:p>
        </p:txBody>
      </p:sp>
      <p:sp>
        <p:nvSpPr>
          <p:cNvPr id="3" name="TextBox 2">
            <a:extLst xmlns:a="http://schemas.openxmlformats.org/drawingml/2006/main">
              <a:ext uri="{FF2B5EF4-FFF2-40B4-BE49-F238E27FC236}">
                <a16:creationId xmlns:a16="http://schemas.microsoft.com/office/drawing/2014/main" id="{67CEEC50-30EC-481D-B7F7-569F1865D5C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EA1B82A7-6A65-4A8B-8E5F-E160ACAF3705}"/>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53B7B1D0-2A06-4D54-98F0-80CC3AFD76B9}"/>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DE4F99D4-51AE-4E8C-AF89-292F3336CC6A}"/>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E1B749AD-224E-43CF-A46A-ADE772B1ED14}"/>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C61F641-4673-402B-A985-445BFBD1670B}"/>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Ferroptosis in human AD OPCs</a:t>
            </a:r>
          </a:p>
        </p:txBody>
      </p:sp>
      <p:sp>
        <p:nvSpPr>
          <p:cNvPr id="9" name="Oval 8">
            <a:extLst xmlns:a="http://schemas.openxmlformats.org/drawingml/2006/main">
              <a:ext uri="{FF2B5EF4-FFF2-40B4-BE49-F238E27FC236}">
                <a16:creationId xmlns:a16="http://schemas.microsoft.com/office/drawing/2014/main" id="{3FB51A03-3DC6-4B56-9DAD-E8E86F729BDD}"/>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0659D446-8CAC-4E99-85E3-ED504F64285E}"/>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direct ANKRD11 to ferritin or GPX4 mechanism</a:t>
            </a:r>
          </a:p>
        </p:txBody>
      </p:sp>
      <p:sp>
        <p:nvSpPr>
          <p:cNvPr id="11" name="Oval 10">
            <a:extLst xmlns:a="http://schemas.openxmlformats.org/drawingml/2006/main">
              <a:ext uri="{FF2B5EF4-FFF2-40B4-BE49-F238E27FC236}">
                <a16:creationId xmlns:a16="http://schemas.microsoft.com/office/drawing/2014/main" id="{08D17A1F-BF3E-4D1B-BB31-980128F29A60}"/>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DED3833-D758-45E0-B8A8-AAC141A46E85}"/>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recurrence of FTL and ANKRD11 modules</a:t>
            </a:r>
          </a:p>
        </p:txBody>
      </p:sp>
      <p:sp>
        <p:nvSpPr>
          <p:cNvPr id="13" name="Rounded Rectangle 12">
            <a:extLst xmlns:a="http://schemas.openxmlformats.org/drawingml/2006/main">
              <a:ext uri="{FF2B5EF4-FFF2-40B4-BE49-F238E27FC236}">
                <a16:creationId xmlns:a16="http://schemas.microsoft.com/office/drawing/2014/main" id="{C8E3979C-1E86-43E5-A334-9318ECE5C4DF}"/>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038F78E9-B0D6-4D28-BD79-37C1D51BFE56}"/>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FDAF4B6-5930-471D-8698-80B00C9EAF3E}"/>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04A9325C-5DDE-4C0C-8938-EAEEA5F288DA}"/>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6636D12-FFEB-4F27-96A7-E1929E716BD9}"/>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free iron, oxidized lipids, and lipid ROS</a:t>
            </a:r>
          </a:p>
        </p:txBody>
      </p:sp>
      <p:sp>
        <p:nvSpPr>
          <p:cNvPr id="18" name="Oval 17">
            <a:extLst xmlns:a="http://schemas.openxmlformats.org/drawingml/2006/main">
              <a:ext uri="{FF2B5EF4-FFF2-40B4-BE49-F238E27FC236}">
                <a16:creationId xmlns:a16="http://schemas.microsoft.com/office/drawing/2014/main" id="{7CAC48DA-28DD-4A5D-9D09-4FF6E58A73FA}"/>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8DB97735-AB2B-4B46-8208-684637AAEF82}"/>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GPX4 activity and OPC survival</a:t>
            </a:r>
          </a:p>
        </p:txBody>
      </p:sp>
      <p:sp>
        <p:nvSpPr>
          <p:cNvPr id="20" name="Oval 19">
            <a:extLst xmlns:a="http://schemas.openxmlformats.org/drawingml/2006/main">
              <a:ext uri="{FF2B5EF4-FFF2-40B4-BE49-F238E27FC236}">
                <a16:creationId xmlns:a16="http://schemas.microsoft.com/office/drawing/2014/main" id="{00BEA33A-3876-458C-83B0-028A99544423}"/>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85D6F84-570F-44B2-A054-BD76D54DA65F}"/>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Test ferroptosis rescue and perturb FTL and ANKRD11 separately</a:t>
            </a:r>
          </a:p>
        </p:txBody>
      </p:sp>
      <p:sp>
        <p:nvSpPr>
          <p:cNvPr id="22" name="TextBox 21">
            <a:extLst xmlns:a="http://schemas.openxmlformats.org/drawingml/2006/main">
              <a:ext uri="{FF2B5EF4-FFF2-40B4-BE49-F238E27FC236}">
                <a16:creationId xmlns:a16="http://schemas.microsoft.com/office/drawing/2014/main" id="{ED23D024-0BE1-4B91-B460-6753269663BA}"/>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EAAD3EBE-E154-46CE-9627-A97CAF598D4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903403908"/>
      </p:ext>
    </p:extLst>
  </p:cSld>
</p:sld>
</file>

<file path=ppt/slides/slide13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DB20F4B-8982-4FA8-860C-C5109ADC0F5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xmlns:a="http://schemas.openxmlformats.org/drawingml/2006/main">
              <a:ext uri="{FF2B5EF4-FFF2-40B4-BE49-F238E27FC236}">
                <a16:creationId xmlns:a16="http://schemas.microsoft.com/office/drawing/2014/main" id="{BF0E0F79-8798-4112-A21C-783A6BAF1FF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97356E32-6223-422E-92DF-B7A980878552}"/>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B860031-C0EF-4EFB-8CE0-45F1BCBB2EF8}"/>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xmlns:a="http://schemas.openxmlformats.org/drawingml/2006/main">
              <a:ext uri="{FF2B5EF4-FFF2-40B4-BE49-F238E27FC236}">
                <a16:creationId xmlns:a16="http://schemas.microsoft.com/office/drawing/2014/main" id="{FE783941-7E0B-479B-A83E-07D00160FD63}"/>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xmlns:a="http://schemas.openxmlformats.org/drawingml/2006/main">
              <a:ext uri="{FF2B5EF4-FFF2-40B4-BE49-F238E27FC236}">
                <a16:creationId xmlns:a16="http://schemas.microsoft.com/office/drawing/2014/main" id="{753F0604-3FB8-40D3-943E-B83654D4F8BB}"/>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857ED14-1F46-4E46-BBAE-47A89F0ECD36}"/>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xmlns:a="http://schemas.openxmlformats.org/drawingml/2006/main">
              <a:ext uri="{FF2B5EF4-FFF2-40B4-BE49-F238E27FC236}">
                <a16:creationId xmlns:a16="http://schemas.microsoft.com/office/drawing/2014/main" id="{A5C0E162-DE28-4F0B-ABDF-C5A103FCD9F2}"/>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2C96941D-F1B6-41BD-AD36-D9B83E14D761}"/>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xmlns:a="http://schemas.openxmlformats.org/drawingml/2006/main">
              <a:ext uri="{FF2B5EF4-FFF2-40B4-BE49-F238E27FC236}">
                <a16:creationId xmlns:a16="http://schemas.microsoft.com/office/drawing/2014/main" id="{B1360B0C-0DDB-4895-AFDB-A6932C1A0986}"/>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9194F53-DA5A-4929-A9C1-685561AB8BEB}"/>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xmlns:a="http://schemas.openxmlformats.org/drawingml/2006/main">
              <a:ext uri="{FF2B5EF4-FFF2-40B4-BE49-F238E27FC236}">
                <a16:creationId xmlns:a16="http://schemas.microsoft.com/office/drawing/2014/main" id="{32CF6EC9-0361-4C75-9564-6DFCAD75FA9B}"/>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xmlns:a="http://schemas.openxmlformats.org/drawingml/2006/main">
              <a:ext uri="{FF2B5EF4-FFF2-40B4-BE49-F238E27FC236}">
                <a16:creationId xmlns:a16="http://schemas.microsoft.com/office/drawing/2014/main" id="{69C660CB-5216-4274-BA99-484E9794052A}"/>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CE60262E-B510-4DDD-9D57-A6C65E271C3B}"/>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xmlns:a="http://schemas.openxmlformats.org/drawingml/2006/main">
              <a:ext uri="{FF2B5EF4-FFF2-40B4-BE49-F238E27FC236}">
                <a16:creationId xmlns:a16="http://schemas.microsoft.com/office/drawing/2014/main" id="{9FD1F9B7-04E3-41EC-AB41-FBEED10720CD}"/>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F792BB6C-631D-441C-B442-7A313AAFD8D1}"/>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xmlns:a="http://schemas.openxmlformats.org/drawingml/2006/main">
              <a:ext uri="{FF2B5EF4-FFF2-40B4-BE49-F238E27FC236}">
                <a16:creationId xmlns:a16="http://schemas.microsoft.com/office/drawing/2014/main" id="{5702C021-366E-45EC-86A3-C070303EE211}"/>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B39BD72D-3D48-40FA-AD94-BCE12137087A}"/>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xmlns:a="http://schemas.openxmlformats.org/drawingml/2006/main">
              <a:ext uri="{FF2B5EF4-FFF2-40B4-BE49-F238E27FC236}">
                <a16:creationId xmlns:a16="http://schemas.microsoft.com/office/drawing/2014/main" id="{E27AB1F1-AF08-4E1E-BBDB-F54DEE9E32CB}"/>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xmlns:a="http://schemas.openxmlformats.org/drawingml/2006/main">
              <a:ext uri="{FF2B5EF4-FFF2-40B4-BE49-F238E27FC236}">
                <a16:creationId xmlns:a16="http://schemas.microsoft.com/office/drawing/2014/main" id="{07999494-00E0-40EC-AD4F-A2FB7DC6EE3D}"/>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580469AE-BE22-456D-B839-7112A6670513}"/>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xmlns:a="http://schemas.openxmlformats.org/drawingml/2006/main">
              <a:ext uri="{FF2B5EF4-FFF2-40B4-BE49-F238E27FC236}">
                <a16:creationId xmlns:a16="http://schemas.microsoft.com/office/drawing/2014/main" id="{C87DD507-DC24-419A-AD6C-DB24564E6A1B}"/>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9166348B-6EA7-4736-8A8C-DA247F38FF25}"/>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xmlns:a="http://schemas.openxmlformats.org/drawingml/2006/main">
              <a:ext uri="{FF2B5EF4-FFF2-40B4-BE49-F238E27FC236}">
                <a16:creationId xmlns:a16="http://schemas.microsoft.com/office/drawing/2014/main" id="{D99DE60E-4C10-49A8-AA49-9A3C923404E9}"/>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BCD1A6B-D0E6-4AA8-9FC0-DFA60254BEE7}"/>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1843B635-20F7-491C-B8D7-7CFC75D5A6A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37462826"/>
      </p:ext>
    </p:extLst>
  </p:cSld>
</p:sld>
</file>

<file path=ppt/slides/slide13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6010793-3F76-4FAE-A528-E47F6DB6BA1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xmlns:a="http://schemas.openxmlformats.org/drawingml/2006/main">
              <a:ext uri="{FF2B5EF4-FFF2-40B4-BE49-F238E27FC236}">
                <a16:creationId xmlns:a16="http://schemas.microsoft.com/office/drawing/2014/main" id="{3F7B492D-5F19-4E63-83A8-197F4599BBB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E7235171-10F1-4FCD-B81B-603DA32E66F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xmlns:a="http://schemas.openxmlformats.org/drawingml/2006/main">
              <a:ext uri="{FF2B5EF4-FFF2-40B4-BE49-F238E27FC236}">
                <a16:creationId xmlns:a16="http://schemas.microsoft.com/office/drawing/2014/main" id="{816B547B-D083-4134-99DC-A6695DA013FD}"/>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xmlns:a="http://schemas.openxmlformats.org/drawingml/2006/main">
              <a:ext uri="{FF2B5EF4-FFF2-40B4-BE49-F238E27FC236}">
                <a16:creationId xmlns:a16="http://schemas.microsoft.com/office/drawing/2014/main" id="{AC106D8A-BE5E-4BC5-9D07-1CEC1C4D2553}"/>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9530756-BF9F-477F-8F72-8DCDDC4EF079}"/>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22E85BC3-EA19-4C30-B58D-C0E7E7599A4F}"/>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AA17FFE-22D8-4710-8A94-7D00E036C76E}"/>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BD28ADA-ECEC-4C24-A1F5-805FAEC3C45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925330FA-890C-44A3-BA9C-64776956BF1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0259FA27-E202-4E92-8E89-0E02D1DD53F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DC7384A-0610-48B3-9235-81A0F0819020}"/>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E5A0CED-A94C-4FC4-BE4F-A13890A2D0DF}"/>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D3A9D37-FF64-4363-A566-B550E0A2662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A02C0FDD-1763-4292-8FDA-0DDAB119FB49}"/>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B773E74F-2C80-4552-9C74-57D94F85640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6518937-36D3-4B75-90C1-938D5B5FBB9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20E33752-EF78-4A42-82A7-3F9F387FD14D}"/>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2C0BF287-2411-45FA-9CE4-F456BD2471DE}"/>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E86F8EB-44AA-475F-A1DE-E4E69DD9DB9D}"/>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sld>
</file>

<file path=ppt/slides/slide13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093D325-92D5-4B5C-BA2D-143040A4BA4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xmlns:a="http://schemas.openxmlformats.org/drawingml/2006/main">
              <a:ext uri="{FF2B5EF4-FFF2-40B4-BE49-F238E27FC236}">
                <a16:creationId xmlns:a16="http://schemas.microsoft.com/office/drawing/2014/main" id="{44B461C5-DE2E-4CE4-B5C6-1DA14ACBFE3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xmlns:a="http://schemas.openxmlformats.org/drawingml/2006/main">
              <a:ext uri="{FF2B5EF4-FFF2-40B4-BE49-F238E27FC236}">
                <a16:creationId xmlns:a16="http://schemas.microsoft.com/office/drawing/2014/main" id="{166E4F90-9AE6-449F-A475-233D8B609702}"/>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F44AD01-AF1B-4C22-97B0-553B8EA27251}"/>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xmlns:a="http://schemas.openxmlformats.org/drawingml/2006/main">
              <a:ext uri="{FF2B5EF4-FFF2-40B4-BE49-F238E27FC236}">
                <a16:creationId xmlns:a16="http://schemas.microsoft.com/office/drawing/2014/main" id="{F5C00C36-CC9F-4640-A455-354A655E2507}"/>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51DDA22-987F-441E-BF92-D1A170FB56FD}"/>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Six calls</a:t>
            </a:r>
          </a:p>
        </p:txBody>
      </p:sp>
      <p:sp>
        <p:nvSpPr>
          <p:cNvPr id="8" name="Rounded Rectangle 7">
            <a:extLst xmlns:a="http://schemas.openxmlformats.org/drawingml/2006/main">
              <a:ext uri="{FF2B5EF4-FFF2-40B4-BE49-F238E27FC236}">
                <a16:creationId xmlns:a16="http://schemas.microsoft.com/office/drawing/2014/main" id="{7E36A6DD-1894-44EA-839F-DF0A7B4AF68C}"/>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5503480-4166-4D38-9EB0-7EFBEAC658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xmlns:a="http://schemas.openxmlformats.org/drawingml/2006/main">
              <a:ext uri="{FF2B5EF4-FFF2-40B4-BE49-F238E27FC236}">
                <a16:creationId xmlns:a16="http://schemas.microsoft.com/office/drawing/2014/main" id="{F2511350-D2E6-4EA1-BB4C-05C5C141EF6F}"/>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1A7FDBA1-A6D7-45ED-92AB-42AE2DA2B5B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xmlns:a="http://schemas.openxmlformats.org/drawingml/2006/main">
              <a:ext uri="{FF2B5EF4-FFF2-40B4-BE49-F238E27FC236}">
                <a16:creationId xmlns:a16="http://schemas.microsoft.com/office/drawing/2014/main" id="{90BA8C6D-D78C-4A4B-926F-45B932056B8C}"/>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582B67C-C4D0-476D-AAD9-0A6339471D35}"/>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xmlns:a="http://schemas.openxmlformats.org/drawingml/2006/main">
              <a:ext uri="{FF2B5EF4-FFF2-40B4-BE49-F238E27FC236}">
                <a16:creationId xmlns:a16="http://schemas.microsoft.com/office/drawing/2014/main" id="{62DF46C9-2AF4-4AD2-B322-185265C6D621}"/>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xmlns:a="http://schemas.openxmlformats.org/drawingml/2006/main">
              <a:ext uri="{FF2B5EF4-FFF2-40B4-BE49-F238E27FC236}">
                <a16:creationId xmlns:a16="http://schemas.microsoft.com/office/drawing/2014/main" id="{540053AF-2D35-47B4-8435-1E270D5963D2}"/>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xmlns:a="http://schemas.openxmlformats.org/drawingml/2006/main">
              <a:ext uri="{FF2B5EF4-FFF2-40B4-BE49-F238E27FC236}">
                <a16:creationId xmlns:a16="http://schemas.microsoft.com/office/drawing/2014/main" id="{7693E574-1BAD-42F9-82B1-1CC8E179984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2AFD2A8-3A62-41D3-9692-BF2E2DC69F39}"/>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xmlns:a="http://schemas.openxmlformats.org/drawingml/2006/main">
              <a:ext uri="{FF2B5EF4-FFF2-40B4-BE49-F238E27FC236}">
                <a16:creationId xmlns:a16="http://schemas.microsoft.com/office/drawing/2014/main" id="{10C01778-A627-4E41-A9AB-869A2A6C16D9}"/>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Six female inhibitory calls</a:t>
            </a:r>
          </a:p>
        </p:txBody>
      </p:sp>
      <p:sp>
        <p:nvSpPr>
          <p:cNvPr id="19" name="TextBox 18">
            <a:extLst xmlns:a="http://schemas.openxmlformats.org/drawingml/2006/main">
              <a:ext uri="{FF2B5EF4-FFF2-40B4-BE49-F238E27FC236}">
                <a16:creationId xmlns:a16="http://schemas.microsoft.com/office/drawing/2014/main" id="{4B8FBA5F-3B26-4920-A946-B02839B9D338}"/>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xmlns:a="http://schemas.openxmlformats.org/drawingml/2006/main">
              <a:ext uri="{FF2B5EF4-FFF2-40B4-BE49-F238E27FC236}">
                <a16:creationId xmlns:a16="http://schemas.microsoft.com/office/drawing/2014/main" id="{DFBEE552-C268-4A09-BAA9-6528EA10624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884ADC8-52AA-4F3E-8212-D7C0B8EC976D}"/>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xmlns:a="http://schemas.openxmlformats.org/drawingml/2006/main">
              <a:ext uri="{FF2B5EF4-FFF2-40B4-BE49-F238E27FC236}">
                <a16:creationId xmlns:a16="http://schemas.microsoft.com/office/drawing/2014/main" id="{EAEBF9DD-7C2A-4F53-9FB5-5C4E8518AF8F}"/>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xmlns:a="http://schemas.openxmlformats.org/drawingml/2006/main">
              <a:ext uri="{FF2B5EF4-FFF2-40B4-BE49-F238E27FC236}">
                <a16:creationId xmlns:a16="http://schemas.microsoft.com/office/drawing/2014/main" id="{E6E52BAF-6385-43CF-8AB1-373935A78755}"/>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xmlns:a="http://schemas.openxmlformats.org/drawingml/2006/main">
              <a:ext uri="{FF2B5EF4-FFF2-40B4-BE49-F238E27FC236}">
                <a16:creationId xmlns:a16="http://schemas.microsoft.com/office/drawing/2014/main" id="{B931485C-64FB-4192-8190-7CD79DA1C4E7}"/>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254F2E07-3DA0-4C85-B7F0-98E886449C05}"/>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
        <p:nvSpPr>
          <p:cNvPr id="26" name="TextBox 25">
            <a:extLst xmlns:a="http://schemas.openxmlformats.org/drawingml/2006/main">
              <a:ext uri="{FF2B5EF4-FFF2-40B4-BE49-F238E27FC236}">
                <a16:creationId xmlns:a16="http://schemas.microsoft.com/office/drawing/2014/main" id="{5AC6FD27-7E0F-4862-8655-F72FD3AAF11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40466383"/>
      </p:ext>
    </p:extLst>
  </p:cSld>
</p:sld>
</file>

<file path=ppt/slides/slide13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AEAB08A-21F4-40DC-84DC-1C44C9E09D5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PLCG2 repeats across six calls, but the exact overlap never broadens</a:t>
            </a:r>
          </a:p>
        </p:txBody>
      </p:sp>
      <p:sp>
        <p:nvSpPr>
          <p:cNvPr id="3" name="TextBox 2">
            <a:extLst xmlns:a="http://schemas.openxmlformats.org/drawingml/2006/main">
              <a:ext uri="{FF2B5EF4-FFF2-40B4-BE49-F238E27FC236}">
                <a16:creationId xmlns:a16="http://schemas.microsoft.com/office/drawing/2014/main" id="{63A131CA-A16D-4B9B-8B6B-3EF8CC389B9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xmlns:a="http://schemas.openxmlformats.org/drawingml/2006/main">
              <a:ext uri="{FF2B5EF4-FFF2-40B4-BE49-F238E27FC236}">
                <a16:creationId xmlns:a16="http://schemas.microsoft.com/office/drawing/2014/main" id="{B0D59BDB-5D21-458F-8EE1-A6FFA6D98A62}"/>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4D2DCB4-7B01-4D15-8937-3A28B0BBC964}"/>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xmlns:a="http://schemas.openxmlformats.org/drawingml/2006/main">
              <a:ext uri="{FF2B5EF4-FFF2-40B4-BE49-F238E27FC236}">
                <a16:creationId xmlns:a16="http://schemas.microsoft.com/office/drawing/2014/main" id="{2755BBAF-968F-4751-BA96-47E8F29801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inhibitory calls</a:t>
            </a:r>
          </a:p>
        </p:txBody>
      </p:sp>
      <p:sp>
        <p:nvSpPr>
          <p:cNvPr id="7" name="TextBox 6">
            <a:extLst xmlns:a="http://schemas.openxmlformats.org/drawingml/2006/main">
              <a:ext uri="{FF2B5EF4-FFF2-40B4-BE49-F238E27FC236}">
                <a16:creationId xmlns:a16="http://schemas.microsoft.com/office/drawing/2014/main" id="{6CB66C7D-7DEE-440A-98B9-AE2CF48947FC}"/>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xmlns:a="http://schemas.openxmlformats.org/drawingml/2006/main">
              <a:ext uri="{FF2B5EF4-FFF2-40B4-BE49-F238E27FC236}">
                <a16:creationId xmlns:a16="http://schemas.microsoft.com/office/drawing/2014/main" id="{67FD2B28-9644-4040-AB8C-97FAA7487221}"/>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CBDAFE1-E11A-4FED-B4D4-AB18A892C0D1}"/>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637DBB47-0857-4E64-A042-684D0606E8AC}"/>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xmlns:a="http://schemas.openxmlformats.org/drawingml/2006/main">
              <a:ext uri="{FF2B5EF4-FFF2-40B4-BE49-F238E27FC236}">
                <a16:creationId xmlns:a16="http://schemas.microsoft.com/office/drawing/2014/main" id="{AC32FC3E-DC02-43FA-81FE-0850DC422BEE}"/>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xmlns:a="http://schemas.openxmlformats.org/drawingml/2006/main">
              <a:ext uri="{FF2B5EF4-FFF2-40B4-BE49-F238E27FC236}">
                <a16:creationId xmlns:a16="http://schemas.microsoft.com/office/drawing/2014/main" id="{BF13CB20-1965-450E-885F-C37BDFC33F76}"/>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A10C21AD-8A71-4266-A5E5-63D53E1BF9F3}"/>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xmlns:a="http://schemas.openxmlformats.org/drawingml/2006/main">
              <a:ext uri="{FF2B5EF4-FFF2-40B4-BE49-F238E27FC236}">
                <a16:creationId xmlns:a16="http://schemas.microsoft.com/office/drawing/2014/main" id="{B7689B35-1D42-4D78-AD77-B81A9E11E1A5}"/>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xmlns:a="http://schemas.openxmlformats.org/drawingml/2006/main">
              <a:ext uri="{FF2B5EF4-FFF2-40B4-BE49-F238E27FC236}">
                <a16:creationId xmlns:a16="http://schemas.microsoft.com/office/drawing/2014/main" id="{B348852C-CD76-4997-88B7-EF5C78BE9B1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xmlns:a="http://schemas.openxmlformats.org/drawingml/2006/main">
              <a:ext uri="{FF2B5EF4-FFF2-40B4-BE49-F238E27FC236}">
                <a16:creationId xmlns:a16="http://schemas.microsoft.com/office/drawing/2014/main" id="{7BE7666F-65B3-416B-AA25-3E43369A9BF4}"/>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8D5D83A-A540-4951-B7AE-4AE211818B25}"/>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xmlns:a="http://schemas.openxmlformats.org/drawingml/2006/main">
              <a:ext uri="{FF2B5EF4-FFF2-40B4-BE49-F238E27FC236}">
                <a16:creationId xmlns:a16="http://schemas.microsoft.com/office/drawing/2014/main" id="{7F9B7E88-0219-4542-900F-66664AEAC494}"/>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1 call</a:t>
            </a:r>
          </a:p>
        </p:txBody>
      </p:sp>
      <p:sp>
        <p:nvSpPr>
          <p:cNvPr id="19" name="TextBox 18">
            <a:extLst xmlns:a="http://schemas.openxmlformats.org/drawingml/2006/main">
              <a:ext uri="{FF2B5EF4-FFF2-40B4-BE49-F238E27FC236}">
                <a16:creationId xmlns:a16="http://schemas.microsoft.com/office/drawing/2014/main" id="{52F1F161-1620-433E-84E8-165DF8FE30BC}"/>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xmlns:a="http://schemas.openxmlformats.org/drawingml/2006/main">
              <a:ext uri="{FF2B5EF4-FFF2-40B4-BE49-F238E27FC236}">
                <a16:creationId xmlns:a16="http://schemas.microsoft.com/office/drawing/2014/main" id="{826A56B8-23C7-4F38-A631-CC68B533EFA3}"/>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3BB00AC-49FA-4154-A137-C26A47EEE246}"/>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xmlns:a="http://schemas.openxmlformats.org/drawingml/2006/main">
              <a:ext uri="{FF2B5EF4-FFF2-40B4-BE49-F238E27FC236}">
                <a16:creationId xmlns:a16="http://schemas.microsoft.com/office/drawing/2014/main" id="{D3F4B366-363C-4DF3-9E1A-46E18955BB5F}"/>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4 calls</a:t>
            </a:r>
          </a:p>
        </p:txBody>
      </p:sp>
      <p:sp>
        <p:nvSpPr>
          <p:cNvPr id="23" name="TextBox 22">
            <a:extLst xmlns:a="http://schemas.openxmlformats.org/drawingml/2006/main">
              <a:ext uri="{FF2B5EF4-FFF2-40B4-BE49-F238E27FC236}">
                <a16:creationId xmlns:a16="http://schemas.microsoft.com/office/drawing/2014/main" id="{664C3C66-112F-4275-8763-AB8A07C0427F}"/>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All four calls repeat MT-CO1 as the exact overlap</a:t>
            </a:r>
          </a:p>
        </p:txBody>
      </p:sp>
      <p:sp>
        <p:nvSpPr>
          <p:cNvPr id="24" name="Rounded Rectangle 23">
            <a:extLst xmlns:a="http://schemas.openxmlformats.org/drawingml/2006/main">
              <a:ext uri="{FF2B5EF4-FFF2-40B4-BE49-F238E27FC236}">
                <a16:creationId xmlns:a16="http://schemas.microsoft.com/office/drawing/2014/main" id="{0F3A0BBD-284A-4FF2-89B0-B5B197511974}"/>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BD1D858-583B-4461-9856-361B336432C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xmlns:a="http://schemas.openxmlformats.org/drawingml/2006/main">
              <a:ext uri="{FF2B5EF4-FFF2-40B4-BE49-F238E27FC236}">
                <a16:creationId xmlns:a16="http://schemas.microsoft.com/office/drawing/2014/main" id="{7432B381-69F1-45BC-80C4-4DF6211ABD2B}"/>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1 call</a:t>
            </a:r>
          </a:p>
        </p:txBody>
      </p:sp>
      <p:sp>
        <p:nvSpPr>
          <p:cNvPr id="27" name="TextBox 26">
            <a:extLst xmlns:a="http://schemas.openxmlformats.org/drawingml/2006/main">
              <a:ext uri="{FF2B5EF4-FFF2-40B4-BE49-F238E27FC236}">
                <a16:creationId xmlns:a16="http://schemas.microsoft.com/office/drawing/2014/main" id="{C13C57DF-789B-41DF-B6B9-E715042468D9}"/>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
        <p:nvSpPr>
          <p:cNvPr id="28" name="TextBox 27">
            <a:extLst xmlns:a="http://schemas.openxmlformats.org/drawingml/2006/main">
              <a:ext uri="{FF2B5EF4-FFF2-40B4-BE49-F238E27FC236}">
                <a16:creationId xmlns:a16="http://schemas.microsoft.com/office/drawing/2014/main" id="{A537EB35-9372-4F75-8A5B-866F5FAB971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2078655035"/>
      </p:ext>
    </p:extLst>
  </p:cSld>
</p:sld>
</file>

<file path=ppt/slides/slide13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EDE1364-D7CA-4CF1-B2AE-EF408DFA2AF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The broader queries support mtDNA OXPHOS, but not a PLCG2 mechanism</a:t>
            </a:r>
          </a:p>
        </p:txBody>
      </p:sp>
      <p:sp>
        <p:nvSpPr>
          <p:cNvPr id="3" name="TextBox 2">
            <a:extLst xmlns:a="http://schemas.openxmlformats.org/drawingml/2006/main">
              <a:ext uri="{FF2B5EF4-FFF2-40B4-BE49-F238E27FC236}">
                <a16:creationId xmlns:a16="http://schemas.microsoft.com/office/drawing/2014/main" id="{9E63CBB6-266E-497C-ABE6-E4895430116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xmlns:a="http://schemas.openxmlformats.org/drawingml/2006/main">
              <a:ext uri="{FF2B5EF4-FFF2-40B4-BE49-F238E27FC236}">
                <a16:creationId xmlns:a16="http://schemas.microsoft.com/office/drawing/2014/main" id="{E6EBD8D5-C6F5-4450-8909-B37FF7534469}"/>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1347019-5245-4640-AF94-19E9A8BD164B}"/>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xmlns:a="http://schemas.openxmlformats.org/drawingml/2006/main">
              <a:ext uri="{FF2B5EF4-FFF2-40B4-BE49-F238E27FC236}">
                <a16:creationId xmlns:a16="http://schemas.microsoft.com/office/drawing/2014/main" id="{A73733C9-0E33-4D29-AB20-07CA04C488F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41 mtDNA occurrences</a:t>
            </a:r>
          </a:p>
        </p:txBody>
      </p:sp>
      <p:sp>
        <p:nvSpPr>
          <p:cNvPr id="7" name="TextBox 6">
            <a:extLst xmlns:a="http://schemas.openxmlformats.org/drawingml/2006/main">
              <a:ext uri="{FF2B5EF4-FFF2-40B4-BE49-F238E27FC236}">
                <a16:creationId xmlns:a16="http://schemas.microsoft.com/office/drawing/2014/main" id="{9C99F37D-6A64-4BB5-A356-E3A984932740}"/>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mtDNA-OXPHOS occurrences.</a:t>
            </a:r>
          </a:p>
        </p:txBody>
      </p:sp>
      <p:sp>
        <p:nvSpPr>
          <p:cNvPr id="8" name="Rounded Rectangle 7">
            <a:extLst xmlns:a="http://schemas.openxmlformats.org/drawingml/2006/main">
              <a:ext uri="{FF2B5EF4-FFF2-40B4-BE49-F238E27FC236}">
                <a16:creationId xmlns:a16="http://schemas.microsoft.com/office/drawing/2014/main" id="{58CDD5B0-AB19-4D80-90C0-CD4344D7000E}"/>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CD33928-E298-4036-90FE-D66CA9054DD1}"/>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PROGRAM ENRICHMENT</a:t>
            </a:r>
          </a:p>
        </p:txBody>
      </p:sp>
      <p:sp>
        <p:nvSpPr>
          <p:cNvPr id="10" name="TextBox 9">
            <a:extLst xmlns:a="http://schemas.openxmlformats.org/drawingml/2006/main">
              <a:ext uri="{FF2B5EF4-FFF2-40B4-BE49-F238E27FC236}">
                <a16:creationId xmlns:a16="http://schemas.microsoft.com/office/drawing/2014/main" id="{C487B9B2-2279-4D72-AFCC-2C7FA261D98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6 of 6 calls</a:t>
            </a:r>
          </a:p>
        </p:txBody>
      </p:sp>
      <p:sp>
        <p:nvSpPr>
          <p:cNvPr id="11" name="TextBox 10">
            <a:extLst xmlns:a="http://schemas.openxmlformats.org/drawingml/2006/main">
              <a:ext uri="{FF2B5EF4-FFF2-40B4-BE49-F238E27FC236}">
                <a16:creationId xmlns:a16="http://schemas.microsoft.com/office/drawing/2014/main" id="{FF9D7348-86D0-4A2F-8FBF-9FA163317FC0}"/>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mtDNA-OXPHOS enrichment.</a:t>
            </a:r>
          </a:p>
        </p:txBody>
      </p:sp>
      <p:sp>
        <p:nvSpPr>
          <p:cNvPr id="12" name="Rounded Rectangle 11">
            <a:extLst xmlns:a="http://schemas.openxmlformats.org/drawingml/2006/main">
              <a:ext uri="{FF2B5EF4-FFF2-40B4-BE49-F238E27FC236}">
                <a16:creationId xmlns:a16="http://schemas.microsoft.com/office/drawing/2014/main" id="{7D216FCD-28AC-4783-AA63-93B016EA6F97}"/>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09FDC78-DEB5-4DF3-973A-A4E3AE4ED526}"/>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19A186B2-77EF-4FDD-9F45-DA99A9E980CE}"/>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454CA942-628E-477D-9881-8D337B0D5101}"/>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xmlns:a="http://schemas.openxmlformats.org/drawingml/2006/main">
              <a:ext uri="{FF2B5EF4-FFF2-40B4-BE49-F238E27FC236}">
                <a16:creationId xmlns:a16="http://schemas.microsoft.com/office/drawing/2014/main" id="{24DAACD2-93F8-4D73-9D1C-092E548B1BC6}"/>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E3406F3-4C51-4877-AD7A-ED76105BC5FD}"/>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
        <p:nvSpPr>
          <p:cNvPr id="18" name="TextBox 17">
            <a:extLst xmlns:a="http://schemas.openxmlformats.org/drawingml/2006/main">
              <a:ext uri="{FF2B5EF4-FFF2-40B4-BE49-F238E27FC236}">
                <a16:creationId xmlns:a16="http://schemas.microsoft.com/office/drawing/2014/main" id="{8A1493A9-E036-40FA-9A0E-9723EB0E5DF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415672655"/>
      </p:ext>
    </p:extLst>
  </p:cSld>
</p:sld>
</file>

<file path=ppt/slides/slide13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CFA5DF-9BE5-4F46-94F7-35E07D62E40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xmlns:a="http://schemas.openxmlformats.org/drawingml/2006/main">
              <a:ext uri="{FF2B5EF4-FFF2-40B4-BE49-F238E27FC236}">
                <a16:creationId xmlns:a16="http://schemas.microsoft.com/office/drawing/2014/main" id="{8E4681D4-3C89-4D4C-B8FE-83320DC6AD7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xmlns:a="http://schemas.openxmlformats.org/drawingml/2006/main">
              <a:ext uri="{FF2B5EF4-FFF2-40B4-BE49-F238E27FC236}">
                <a16:creationId xmlns:a16="http://schemas.microsoft.com/office/drawing/2014/main" id="{CC389AAE-30B5-4CD6-85A0-6C200FA7AF4E}"/>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C3D0DB9-8948-44F9-9AF8-6AB61DCC8A1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xmlns:a="http://schemas.openxmlformats.org/drawingml/2006/main">
              <a:ext uri="{FF2B5EF4-FFF2-40B4-BE49-F238E27FC236}">
                <a16:creationId xmlns:a16="http://schemas.microsoft.com/office/drawing/2014/main" id="{A2C11D2D-BF74-4B47-AC1A-3FF8ADC0246D}"/>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xmlns:a="http://schemas.openxmlformats.org/drawingml/2006/main">
              <a:ext uri="{FF2B5EF4-FFF2-40B4-BE49-F238E27FC236}">
                <a16:creationId xmlns:a16="http://schemas.microsoft.com/office/drawing/2014/main" id="{CCEB27C8-4B86-4AA3-AD17-CC8177BB0944}"/>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xmlns:a="http://schemas.openxmlformats.org/drawingml/2006/main">
              <a:ext uri="{FF2B5EF4-FFF2-40B4-BE49-F238E27FC236}">
                <a16:creationId xmlns:a16="http://schemas.microsoft.com/office/drawing/2014/main" id="{3032B4B7-61D3-466B-9833-0956A037112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EB79A6C-E23C-4871-AA83-E46FFF31B8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xmlns:a="http://schemas.openxmlformats.org/drawingml/2006/main">
              <a:ext uri="{FF2B5EF4-FFF2-40B4-BE49-F238E27FC236}">
                <a16:creationId xmlns:a16="http://schemas.microsoft.com/office/drawing/2014/main" id="{A4029145-61A7-4103-A718-9BB28910410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xmlns:a="http://schemas.openxmlformats.org/drawingml/2006/main">
              <a:ext uri="{FF2B5EF4-FFF2-40B4-BE49-F238E27FC236}">
                <a16:creationId xmlns:a16="http://schemas.microsoft.com/office/drawing/2014/main" id="{00E7B8D1-27EB-4039-96AA-AB103412252D}"/>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xmlns:a="http://schemas.openxmlformats.org/drawingml/2006/main">
              <a:ext uri="{FF2B5EF4-FFF2-40B4-BE49-F238E27FC236}">
                <a16:creationId xmlns:a16="http://schemas.microsoft.com/office/drawing/2014/main" id="{694FC633-9AB1-416E-AB0D-C64EF1E10A69}"/>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B4695FC-7E5D-4628-A40B-8CDAE00EE405}"/>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xmlns:a="http://schemas.openxmlformats.org/drawingml/2006/main">
              <a:ext uri="{FF2B5EF4-FFF2-40B4-BE49-F238E27FC236}">
                <a16:creationId xmlns:a16="http://schemas.microsoft.com/office/drawing/2014/main" id="{C84FA76D-D420-49BA-8331-0B207A23336E}"/>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xmlns:a="http://schemas.openxmlformats.org/drawingml/2006/main">
              <a:ext uri="{FF2B5EF4-FFF2-40B4-BE49-F238E27FC236}">
                <a16:creationId xmlns:a16="http://schemas.microsoft.com/office/drawing/2014/main" id="{4077158F-19BE-4C8C-8EF7-D30F5379B364}"/>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xmlns:a="http://schemas.openxmlformats.org/drawingml/2006/main">
              <a:ext uri="{FF2B5EF4-FFF2-40B4-BE49-F238E27FC236}">
                <a16:creationId xmlns:a16="http://schemas.microsoft.com/office/drawing/2014/main" id="{E8F3ECFB-24B9-44D4-A828-458BFB092CDF}"/>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B5431DE-D4B3-4E96-8789-721CAF751565}"/>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7D088FFC-4965-4BFB-B4BB-74D4D1B7833D}"/>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
        <p:nvSpPr>
          <p:cNvPr id="19" name="TextBox 18">
            <a:extLst xmlns:a="http://schemas.openxmlformats.org/drawingml/2006/main">
              <a:ext uri="{FF2B5EF4-FFF2-40B4-BE49-F238E27FC236}">
                <a16:creationId xmlns:a16="http://schemas.microsoft.com/office/drawing/2014/main" id="{262575BC-0EE3-4687-B065-CC3ECFBAF4A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851008826"/>
      </p:ext>
    </p:extLst>
  </p:cSld>
</p:sld>
</file>

<file path=ppt/slides/slide14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CA46540-7E71-43E3-8346-485E6847014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14 does not prove, and the next evidence needed</a:t>
            </a:r>
          </a:p>
        </p:txBody>
      </p:sp>
      <p:sp>
        <p:nvSpPr>
          <p:cNvPr id="3" name="TextBox 2">
            <a:extLst xmlns:a="http://schemas.openxmlformats.org/drawingml/2006/main">
              <a:ext uri="{FF2B5EF4-FFF2-40B4-BE49-F238E27FC236}">
                <a16:creationId xmlns:a16="http://schemas.microsoft.com/office/drawing/2014/main" id="{2A151998-81BA-44E7-91CB-EEEF027960B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C8F0062D-B662-4D7B-926A-9EC50263E96F}"/>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06E91E9-97AF-458D-A649-FEDC21BA18D4}"/>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10D564E-29E6-49BB-8693-5C26654AA2B2}"/>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C77D8976-336A-4BB3-B693-5165EB85240B}"/>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68A021F-B914-483C-AE39-341F100AF271}"/>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genetics validates the inhibitory-neuron edge</a:t>
            </a:r>
          </a:p>
        </p:txBody>
      </p:sp>
      <p:sp>
        <p:nvSpPr>
          <p:cNvPr id="9" name="Oval 8">
            <a:extLst xmlns:a="http://schemas.openxmlformats.org/drawingml/2006/main">
              <a:ext uri="{FF2B5EF4-FFF2-40B4-BE49-F238E27FC236}">
                <a16:creationId xmlns:a16="http://schemas.microsoft.com/office/drawing/2014/main" id="{4EF929F6-CDE4-4F96-82EF-F4A427EE0CE3}"/>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42918862-31C3-4EAC-8722-3ABF11615A9D}"/>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broad PLCG2 mitochondrial mechanism</a:t>
            </a:r>
          </a:p>
        </p:txBody>
      </p:sp>
      <p:sp>
        <p:nvSpPr>
          <p:cNvPr id="11" name="Oval 10">
            <a:extLst xmlns:a="http://schemas.openxmlformats.org/drawingml/2006/main">
              <a:ext uri="{FF2B5EF4-FFF2-40B4-BE49-F238E27FC236}">
                <a16:creationId xmlns:a16="http://schemas.microsoft.com/office/drawing/2014/main" id="{D5566734-D656-4761-B1B9-A65B9609AC90}"/>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4137AD2-0672-407F-8EBE-104E8CC64066}"/>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female-specific PLCG2 disease interaction</a:t>
            </a:r>
          </a:p>
        </p:txBody>
      </p:sp>
      <p:sp>
        <p:nvSpPr>
          <p:cNvPr id="13" name="Rounded Rectangle 12">
            <a:extLst xmlns:a="http://schemas.openxmlformats.org/drawingml/2006/main">
              <a:ext uri="{FF2B5EF4-FFF2-40B4-BE49-F238E27FC236}">
                <a16:creationId xmlns:a16="http://schemas.microsoft.com/office/drawing/2014/main" id="{B180D863-8618-49A9-A8A7-D5D274CF93D7}"/>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235B378E-7422-4CA6-882B-187232101EF0}"/>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6081397-FE7E-4E83-920A-248E328E2919}"/>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B6FC62F7-6485-42B4-A044-406179032BA8}"/>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7D9F292-E40F-4112-B913-48BBFA3F5C54}"/>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Confirm PLCG2 RNA and protein by spatial or in situ methods</a:t>
            </a:r>
          </a:p>
        </p:txBody>
      </p:sp>
      <p:sp>
        <p:nvSpPr>
          <p:cNvPr id="18" name="Oval 17">
            <a:extLst xmlns:a="http://schemas.openxmlformats.org/drawingml/2006/main">
              <a:ext uri="{FF2B5EF4-FFF2-40B4-BE49-F238E27FC236}">
                <a16:creationId xmlns:a16="http://schemas.microsoft.com/office/drawing/2014/main" id="{D6628816-0BA6-42EC-9A4D-EA16EAAC78E2}"/>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F597B329-CFD5-42B4-904A-C473264F4D42}"/>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PLCG2 in validated neuronal models</a:t>
            </a:r>
          </a:p>
        </p:txBody>
      </p:sp>
      <p:sp>
        <p:nvSpPr>
          <p:cNvPr id="20" name="Oval 19">
            <a:extLst xmlns:a="http://schemas.openxmlformats.org/drawingml/2006/main">
              <a:ext uri="{FF2B5EF4-FFF2-40B4-BE49-F238E27FC236}">
                <a16:creationId xmlns:a16="http://schemas.microsoft.com/office/drawing/2014/main" id="{44011077-5206-4E63-86DC-4FF1B08D4B42}"/>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B45353C-2048-4EB1-91B8-C867F4FFF91F}"/>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MT-CO1, other mtRNAs, synapses, and respiration</a:t>
            </a:r>
          </a:p>
        </p:txBody>
      </p:sp>
      <p:sp>
        <p:nvSpPr>
          <p:cNvPr id="22" name="TextBox 21">
            <a:extLst xmlns:a="http://schemas.openxmlformats.org/drawingml/2006/main">
              <a:ext uri="{FF2B5EF4-FFF2-40B4-BE49-F238E27FC236}">
                <a16:creationId xmlns:a16="http://schemas.microsoft.com/office/drawing/2014/main" id="{584D4C50-2472-4A79-AE74-6BAEB40885AD}"/>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09A2FFE2-AAA2-43A2-8B9E-36AD4E4F54A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653299207"/>
      </p:ext>
    </p:extLst>
  </p:cSld>
</p:sld>
</file>

<file path=ppt/slides/slide14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1C631C8-2EDF-46B0-8AF1-CCF8CEA2CF2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xmlns:a="http://schemas.openxmlformats.org/drawingml/2006/main">
              <a:ext uri="{FF2B5EF4-FFF2-40B4-BE49-F238E27FC236}">
                <a16:creationId xmlns:a16="http://schemas.microsoft.com/office/drawing/2014/main" id="{77127680-C722-445E-B41F-60BFF2DD028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664907A1-2207-45BA-A984-59615E6C39EB}"/>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78AA1AF-2CAD-4886-8DD5-14A443471E4A}"/>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xmlns:a="http://schemas.openxmlformats.org/drawingml/2006/main">
              <a:ext uri="{FF2B5EF4-FFF2-40B4-BE49-F238E27FC236}">
                <a16:creationId xmlns:a16="http://schemas.microsoft.com/office/drawing/2014/main" id="{16F7CB15-6864-4BA6-A771-9D6E37506E9D}"/>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xmlns:a="http://schemas.openxmlformats.org/drawingml/2006/main">
              <a:ext uri="{FF2B5EF4-FFF2-40B4-BE49-F238E27FC236}">
                <a16:creationId xmlns:a16="http://schemas.microsoft.com/office/drawing/2014/main" id="{117E638B-49DC-4CC6-9C75-A0299E66923F}"/>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51EA66D2-00A0-4D7B-8ADD-C25CAD44987A}"/>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xmlns:a="http://schemas.openxmlformats.org/drawingml/2006/main">
              <a:ext uri="{FF2B5EF4-FFF2-40B4-BE49-F238E27FC236}">
                <a16:creationId xmlns:a16="http://schemas.microsoft.com/office/drawing/2014/main" id="{6D610A15-B29E-477B-BCA8-3A8E452ECA2A}"/>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F3C9F7CD-E8B8-46FA-A7E6-1C0EF03C4D47}"/>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xmlns:a="http://schemas.openxmlformats.org/drawingml/2006/main">
              <a:ext uri="{FF2B5EF4-FFF2-40B4-BE49-F238E27FC236}">
                <a16:creationId xmlns:a16="http://schemas.microsoft.com/office/drawing/2014/main" id="{6C5F8BD3-7B4B-4DCB-8BC6-A6DC2006561A}"/>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FD8CF9C-F2C4-4DEE-A65E-901036E185CE}"/>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xmlns:a="http://schemas.openxmlformats.org/drawingml/2006/main">
              <a:ext uri="{FF2B5EF4-FFF2-40B4-BE49-F238E27FC236}">
                <a16:creationId xmlns:a16="http://schemas.microsoft.com/office/drawing/2014/main" id="{CE7A865B-2AF4-4D9F-B0BE-358713BB370F}"/>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xmlns:a="http://schemas.openxmlformats.org/drawingml/2006/main">
              <a:ext uri="{FF2B5EF4-FFF2-40B4-BE49-F238E27FC236}">
                <a16:creationId xmlns:a16="http://schemas.microsoft.com/office/drawing/2014/main" id="{E20C52E4-96D0-4718-A639-D29FA6607D5C}"/>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FE0111B5-56EC-46DC-B12B-9AD05E5DFDA6}"/>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xmlns:a="http://schemas.openxmlformats.org/drawingml/2006/main">
              <a:ext uri="{FF2B5EF4-FFF2-40B4-BE49-F238E27FC236}">
                <a16:creationId xmlns:a16="http://schemas.microsoft.com/office/drawing/2014/main" id="{E32E7CA4-28FA-4DEA-81B5-709C26725135}"/>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6230F760-D54C-42AC-A71B-1A78BE69E220}"/>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xmlns:a="http://schemas.openxmlformats.org/drawingml/2006/main">
              <a:ext uri="{FF2B5EF4-FFF2-40B4-BE49-F238E27FC236}">
                <a16:creationId xmlns:a16="http://schemas.microsoft.com/office/drawing/2014/main" id="{CD4DADFC-4659-4311-BBE7-E68B8E8F4029}"/>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CBE2566-BCF2-48CE-B018-6E90E35EC359}"/>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xmlns:a="http://schemas.openxmlformats.org/drawingml/2006/main">
              <a:ext uri="{FF2B5EF4-FFF2-40B4-BE49-F238E27FC236}">
                <a16:creationId xmlns:a16="http://schemas.microsoft.com/office/drawing/2014/main" id="{EC258E68-6FAF-4CF7-95B2-0E762C7E8164}"/>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xmlns:a="http://schemas.openxmlformats.org/drawingml/2006/main">
              <a:ext uri="{FF2B5EF4-FFF2-40B4-BE49-F238E27FC236}">
                <a16:creationId xmlns:a16="http://schemas.microsoft.com/office/drawing/2014/main" id="{063E57AE-A5DC-4E29-9318-AA92F7B5A0C9}"/>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1BCAC311-89A2-4FEA-8508-A815E65C476B}"/>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xmlns:a="http://schemas.openxmlformats.org/drawingml/2006/main">
              <a:ext uri="{FF2B5EF4-FFF2-40B4-BE49-F238E27FC236}">
                <a16:creationId xmlns:a16="http://schemas.microsoft.com/office/drawing/2014/main" id="{5A2F7B27-A175-45BF-9382-456EE13E2A6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3E4D5A57-793B-4838-BC0B-1CB691D59EEE}"/>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xmlns:a="http://schemas.openxmlformats.org/drawingml/2006/main">
              <a:ext uri="{FF2B5EF4-FFF2-40B4-BE49-F238E27FC236}">
                <a16:creationId xmlns:a16="http://schemas.microsoft.com/office/drawing/2014/main" id="{5D350C6C-64CF-487B-8E13-FFDA91D5B740}"/>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27A34C37-51D8-4B08-BBFF-7B9D5FDC0B38}"/>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95A2FB19-7FC4-4912-8E5D-F08DBA6DF7E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707979883"/>
      </p:ext>
    </p:extLst>
  </p:cSld>
</p:sld>
</file>

<file path=ppt/slides/slide14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37E3CB1-5775-438D-9DA1-49CAC992F6B6}"/>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xmlns:a="http://schemas.openxmlformats.org/drawingml/2006/main">
              <a:ext uri="{FF2B5EF4-FFF2-40B4-BE49-F238E27FC236}">
                <a16:creationId xmlns:a16="http://schemas.microsoft.com/office/drawing/2014/main" id="{92C43A80-2136-442C-B384-C35B1CB1B359}"/>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B600C980-BD9D-4BF8-8952-22A53D4AC471}"/>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xmlns:a="http://schemas.openxmlformats.org/drawingml/2006/main">
              <a:ext uri="{FF2B5EF4-FFF2-40B4-BE49-F238E27FC236}">
                <a16:creationId xmlns:a16="http://schemas.microsoft.com/office/drawing/2014/main" id="{D9227460-C166-42D2-8252-5AEC381D73D7}"/>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xmlns:a="http://schemas.openxmlformats.org/drawingml/2006/main">
              <a:ext uri="{FF2B5EF4-FFF2-40B4-BE49-F238E27FC236}">
                <a16:creationId xmlns:a16="http://schemas.microsoft.com/office/drawing/2014/main" id="{63A64C98-D3C6-4584-B347-47B63E386EE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23FB803D-05FE-4881-9E4A-E8ABBC59A62A}"/>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521AF801-B4B7-4207-A11B-476DF2A29DB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58E3DBA-D04D-4726-BCE3-6B2DC58D21CF}"/>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A27A970D-8949-4225-88C7-1642F5C06F86}"/>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1F84447D-D66D-4F11-A0D0-72AEA39AD2B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D4BEA45-7C29-4617-B503-C0D1286DF475}"/>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948F1B9-A97F-475B-9FF3-61F5B1CFCBDC}"/>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5E35E94-21F7-44CB-A341-3251C3E16D8C}"/>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E1B840A5-8348-4B5D-9835-0D4E6B17F936}"/>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D056DB8-6E32-4682-9E21-BB6F5CF80FB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5E0845AE-340A-450E-B185-1DF3905E513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01DC2A4-409E-4A41-9E48-12F29BB5EA0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C0A28C22-AE2B-4D16-A08C-9EAF4D1EA02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4E807728-37B0-453E-AA4F-D0058207C394}"/>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4CAB60B-36D0-40BC-BDAF-D91627809850}"/>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sld>
</file>

<file path=ppt/slides/slide14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A7BDBBD-F2E8-4E21-A986-B4C42B049672}"/>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xmlns:a="http://schemas.openxmlformats.org/drawingml/2006/main">
              <a:ext uri="{FF2B5EF4-FFF2-40B4-BE49-F238E27FC236}">
                <a16:creationId xmlns:a16="http://schemas.microsoft.com/office/drawing/2014/main" id="{36AB9882-E63F-4F68-B544-8CBD8E8209F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xmlns:a="http://schemas.openxmlformats.org/drawingml/2006/main">
              <a:ext uri="{FF2B5EF4-FFF2-40B4-BE49-F238E27FC236}">
                <a16:creationId xmlns:a16="http://schemas.microsoft.com/office/drawing/2014/main" id="{DD8DF232-1982-4274-AA47-1C936C7412A1}"/>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0356C74-7804-4F66-BF51-3515A780AF01}"/>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xmlns:a="http://schemas.openxmlformats.org/drawingml/2006/main">
              <a:ext uri="{FF2B5EF4-FFF2-40B4-BE49-F238E27FC236}">
                <a16:creationId xmlns:a16="http://schemas.microsoft.com/office/drawing/2014/main" id="{C58BFC2A-77CB-4882-BAA3-2AD0C1B84862}"/>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4413CA0-E7E7-43FF-9E07-E1DEBC407F4B}"/>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xmlns:a="http://schemas.openxmlformats.org/drawingml/2006/main">
              <a:ext uri="{FF2B5EF4-FFF2-40B4-BE49-F238E27FC236}">
                <a16:creationId xmlns:a16="http://schemas.microsoft.com/office/drawing/2014/main" id="{732AC20B-75E3-455D-946E-3D5BB678EE37}"/>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D437F9F-EB3D-479F-8B5C-6AD920AC6D1F}"/>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xmlns:a="http://schemas.openxmlformats.org/drawingml/2006/main">
              <a:ext uri="{FF2B5EF4-FFF2-40B4-BE49-F238E27FC236}">
                <a16:creationId xmlns:a16="http://schemas.microsoft.com/office/drawing/2014/main" id="{D236E57E-D15D-4571-A5E7-0BAB19891F49}"/>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4987A813-A649-48A9-B99F-090F4B17E439}"/>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xmlns:a="http://schemas.openxmlformats.org/drawingml/2006/main">
              <a:ext uri="{FF2B5EF4-FFF2-40B4-BE49-F238E27FC236}">
                <a16:creationId xmlns:a16="http://schemas.microsoft.com/office/drawing/2014/main" id="{B020C3B4-F40F-4DE3-93E3-E76DF0958D26}"/>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05AF1611-9C08-490C-BED2-DD4F6D5FADDE}"/>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xmlns:a="http://schemas.openxmlformats.org/drawingml/2006/main">
              <a:ext uri="{FF2B5EF4-FFF2-40B4-BE49-F238E27FC236}">
                <a16:creationId xmlns:a16="http://schemas.microsoft.com/office/drawing/2014/main" id="{8FFC821C-3412-4A25-B682-AAC3A24FAD17}"/>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xmlns:a="http://schemas.openxmlformats.org/drawingml/2006/main">
              <a:ext uri="{FF2B5EF4-FFF2-40B4-BE49-F238E27FC236}">
                <a16:creationId xmlns:a16="http://schemas.microsoft.com/office/drawing/2014/main" id="{75418366-6455-4017-BAD7-5B75CD3C1B6B}"/>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call.</a:t>
            </a:r>
          </a:p>
        </p:txBody>
      </p:sp>
      <p:sp>
        <p:nvSpPr>
          <p:cNvPr id="16" name="Rounded Rectangle 15">
            <a:extLst xmlns:a="http://schemas.openxmlformats.org/drawingml/2006/main">
              <a:ext uri="{FF2B5EF4-FFF2-40B4-BE49-F238E27FC236}">
                <a16:creationId xmlns:a16="http://schemas.microsoft.com/office/drawing/2014/main" id="{28CD9F12-7CEC-4A54-A0C3-22A9B0BE0639}"/>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3E662BE-174F-4E99-80C0-8C0DD68B26AE}"/>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xmlns:a="http://schemas.openxmlformats.org/drawingml/2006/main">
              <a:ext uri="{FF2B5EF4-FFF2-40B4-BE49-F238E27FC236}">
                <a16:creationId xmlns:a16="http://schemas.microsoft.com/office/drawing/2014/main" id="{8238B63A-5ABD-4C02-87A2-F7BDB4CD4464}"/>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xmlns:a="http://schemas.openxmlformats.org/drawingml/2006/main">
              <a:ext uri="{FF2B5EF4-FFF2-40B4-BE49-F238E27FC236}">
                <a16:creationId xmlns:a16="http://schemas.microsoft.com/office/drawing/2014/main" id="{84544582-FB55-4290-8C62-5870C9B9A4E6}"/>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call.</a:t>
            </a:r>
          </a:p>
        </p:txBody>
      </p:sp>
      <p:sp>
        <p:nvSpPr>
          <p:cNvPr id="20" name="Rounded Rectangle 19">
            <a:extLst xmlns:a="http://schemas.openxmlformats.org/drawingml/2006/main">
              <a:ext uri="{FF2B5EF4-FFF2-40B4-BE49-F238E27FC236}">
                <a16:creationId xmlns:a16="http://schemas.microsoft.com/office/drawing/2014/main" id="{B58BE8CF-1963-497D-B53A-37AD8D79FBC5}"/>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896E67C-A867-4A99-84AF-3DD15270A2E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xmlns:a="http://schemas.openxmlformats.org/drawingml/2006/main">
              <a:ext uri="{FF2B5EF4-FFF2-40B4-BE49-F238E27FC236}">
                <a16:creationId xmlns:a16="http://schemas.microsoft.com/office/drawing/2014/main" id="{4BD41357-BFF6-43EB-996A-E0C138475321}"/>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xmlns:a="http://schemas.openxmlformats.org/drawingml/2006/main">
              <a:ext uri="{FF2B5EF4-FFF2-40B4-BE49-F238E27FC236}">
                <a16:creationId xmlns:a16="http://schemas.microsoft.com/office/drawing/2014/main" id="{055447C2-7613-4BD9-AAFF-EC9F2F17C8CA}"/>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call.</a:t>
            </a:r>
          </a:p>
        </p:txBody>
      </p:sp>
      <p:sp>
        <p:nvSpPr>
          <p:cNvPr id="24" name="Rounded Rectangle 23">
            <a:extLst xmlns:a="http://schemas.openxmlformats.org/drawingml/2006/main">
              <a:ext uri="{FF2B5EF4-FFF2-40B4-BE49-F238E27FC236}">
                <a16:creationId xmlns:a16="http://schemas.microsoft.com/office/drawing/2014/main" id="{AE33EDB6-0EC7-42DB-96BD-AF35BB41A48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00BDF19-611C-405E-BF29-CE5ED24AA916}"/>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
        <p:nvSpPr>
          <p:cNvPr id="26" name="TextBox 25">
            <a:extLst xmlns:a="http://schemas.openxmlformats.org/drawingml/2006/main">
              <a:ext uri="{FF2B5EF4-FFF2-40B4-BE49-F238E27FC236}">
                <a16:creationId xmlns:a16="http://schemas.microsoft.com/office/drawing/2014/main" id="{EDDD9B82-AE3C-4772-908E-CCE271E0C27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238511375"/>
      </p:ext>
    </p:extLst>
  </p:cSld>
</p:sld>
</file>

<file path=ppt/slides/slide14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500DF12-CAFE-40B2-9E9B-85EFD408CEF2}"/>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xmlns:a="http://schemas.openxmlformats.org/drawingml/2006/main">
              <a:ext uri="{FF2B5EF4-FFF2-40B4-BE49-F238E27FC236}">
                <a16:creationId xmlns:a16="http://schemas.microsoft.com/office/drawing/2014/main" id="{325838C6-C3C9-4F96-B7FA-FE5A3EE167D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context contributes one call, so the evidence is too sparse to define one shared module.</a:t>
            </a:r>
          </a:p>
        </p:txBody>
      </p:sp>
      <p:sp>
        <p:nvSpPr>
          <p:cNvPr id="4" name="Rounded Rectangle 3">
            <a:extLst xmlns:a="http://schemas.openxmlformats.org/drawingml/2006/main">
              <a:ext uri="{FF2B5EF4-FFF2-40B4-BE49-F238E27FC236}">
                <a16:creationId xmlns:a16="http://schemas.microsoft.com/office/drawing/2014/main" id="{1A6B5B46-C3B9-4DC9-9492-CC1F2B1658F7}"/>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26E5DF5-50E0-4BBF-AC16-B39EBB7C3465}"/>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xmlns:a="http://schemas.openxmlformats.org/drawingml/2006/main">
              <a:ext uri="{FF2B5EF4-FFF2-40B4-BE49-F238E27FC236}">
                <a16:creationId xmlns:a16="http://schemas.microsoft.com/office/drawing/2014/main" id="{5C6AB7C5-5EDA-4CB5-89E3-A09B2464A57C}"/>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astrocyte calls</a:t>
            </a:r>
          </a:p>
        </p:txBody>
      </p:sp>
      <p:sp>
        <p:nvSpPr>
          <p:cNvPr id="7" name="TextBox 6">
            <a:extLst xmlns:a="http://schemas.openxmlformats.org/drawingml/2006/main">
              <a:ext uri="{FF2B5EF4-FFF2-40B4-BE49-F238E27FC236}">
                <a16:creationId xmlns:a16="http://schemas.microsoft.com/office/drawing/2014/main" id="{C6D0E058-BD7E-418E-995F-65CB332C304A}"/>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xmlns:a="http://schemas.openxmlformats.org/drawingml/2006/main">
              <a:ext uri="{FF2B5EF4-FFF2-40B4-BE49-F238E27FC236}">
                <a16:creationId xmlns:a16="http://schemas.microsoft.com/office/drawing/2014/main" id="{F50E9667-E827-4070-B895-A93F3CECBEF7}"/>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EBFD0F4-D759-4A63-94DC-744042D90EB0}"/>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xmlns:a="http://schemas.openxmlformats.org/drawingml/2006/main">
              <a:ext uri="{FF2B5EF4-FFF2-40B4-BE49-F238E27FC236}">
                <a16:creationId xmlns:a16="http://schemas.microsoft.com/office/drawing/2014/main" id="{0D7DE755-0CCB-4FD4-B91E-8477C70A9B8E}"/>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xmlns:a="http://schemas.openxmlformats.org/drawingml/2006/main">
              <a:ext uri="{FF2B5EF4-FFF2-40B4-BE49-F238E27FC236}">
                <a16:creationId xmlns:a16="http://schemas.microsoft.com/office/drawing/2014/main" id="{38403D78-55E1-43D5-998E-024B779759C7}"/>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xmlns:a="http://schemas.openxmlformats.org/drawingml/2006/main">
              <a:ext uri="{FF2B5EF4-FFF2-40B4-BE49-F238E27FC236}">
                <a16:creationId xmlns:a16="http://schemas.microsoft.com/office/drawing/2014/main" id="{DAF7FECB-1A36-4DFE-9365-4956E7099C8A}"/>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042B230-ED50-4E01-8356-2C12783183A4}"/>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xmlns:a="http://schemas.openxmlformats.org/drawingml/2006/main">
              <a:ext uri="{FF2B5EF4-FFF2-40B4-BE49-F238E27FC236}">
                <a16:creationId xmlns:a16="http://schemas.microsoft.com/office/drawing/2014/main" id="{A26F21DE-FBAB-41F8-9B41-6761828F62A2}"/>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xmlns:a="http://schemas.openxmlformats.org/drawingml/2006/main">
              <a:ext uri="{FF2B5EF4-FFF2-40B4-BE49-F238E27FC236}">
                <a16:creationId xmlns:a16="http://schemas.microsoft.com/office/drawing/2014/main" id="{5FD3454F-4593-43F8-9BF0-AC615839E2D4}"/>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across the three calls</a:t>
            </a:r>
          </a:p>
        </p:txBody>
      </p:sp>
      <p:sp>
        <p:nvSpPr>
          <p:cNvPr id="16" name="Rounded Rectangle 15">
            <a:extLst xmlns:a="http://schemas.openxmlformats.org/drawingml/2006/main">
              <a:ext uri="{FF2B5EF4-FFF2-40B4-BE49-F238E27FC236}">
                <a16:creationId xmlns:a16="http://schemas.microsoft.com/office/drawing/2014/main" id="{136F3A51-D620-4799-923D-1AE7006E05D1}"/>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2AE26FD-C1A8-4F06-B9FA-E065C4A0E6EE}"/>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xmlns:a="http://schemas.openxmlformats.org/drawingml/2006/main">
              <a:ext uri="{FF2B5EF4-FFF2-40B4-BE49-F238E27FC236}">
                <a16:creationId xmlns:a16="http://schemas.microsoft.com/office/drawing/2014/main" id="{914107AC-8600-4AC6-AE9A-E63906531388}"/>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xmlns:a="http://schemas.openxmlformats.org/drawingml/2006/main">
              <a:ext uri="{FF2B5EF4-FFF2-40B4-BE49-F238E27FC236}">
                <a16:creationId xmlns:a16="http://schemas.microsoft.com/office/drawing/2014/main" id="{4BAEBC81-29FC-4D0F-88D5-9CB5B4B446E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xmlns:a="http://schemas.openxmlformats.org/drawingml/2006/main">
              <a:ext uri="{FF2B5EF4-FFF2-40B4-BE49-F238E27FC236}">
                <a16:creationId xmlns:a16="http://schemas.microsoft.com/office/drawing/2014/main" id="{E774AF09-D3E3-4192-A558-B6D99539B702}"/>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D9CB29C-1063-4566-A39E-BF084AFB60DB}"/>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xmlns:a="http://schemas.openxmlformats.org/drawingml/2006/main">
              <a:ext uri="{FF2B5EF4-FFF2-40B4-BE49-F238E27FC236}">
                <a16:creationId xmlns:a16="http://schemas.microsoft.com/office/drawing/2014/main" id="{EA479AA6-47B1-4A30-8349-B80F6793DC6F}"/>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xmlns:a="http://schemas.openxmlformats.org/drawingml/2006/main">
              <a:ext uri="{FF2B5EF4-FFF2-40B4-BE49-F238E27FC236}">
                <a16:creationId xmlns:a16="http://schemas.microsoft.com/office/drawing/2014/main" id="{30111D26-E667-4F44-A292-8905CF92B1B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xmlns:a="http://schemas.openxmlformats.org/drawingml/2006/main">
              <a:ext uri="{FF2B5EF4-FFF2-40B4-BE49-F238E27FC236}">
                <a16:creationId xmlns:a16="http://schemas.microsoft.com/office/drawing/2014/main" id="{E4CECC0F-9D05-4241-A674-CA02C47CDF2C}"/>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F4A2518C-BC25-484E-AEB8-BBC49FBE9802}"/>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xmlns:a="http://schemas.openxmlformats.org/drawingml/2006/main">
              <a:ext uri="{FF2B5EF4-FFF2-40B4-BE49-F238E27FC236}">
                <a16:creationId xmlns:a16="http://schemas.microsoft.com/office/drawing/2014/main" id="{C8C4D6EB-717C-4205-902E-7935BE129C63}"/>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xmlns:a="http://schemas.openxmlformats.org/drawingml/2006/main">
              <a:ext uri="{FF2B5EF4-FFF2-40B4-BE49-F238E27FC236}">
                <a16:creationId xmlns:a16="http://schemas.microsoft.com/office/drawing/2014/main" id="{5CC055E4-14B1-4781-BA2D-3B99848B5FCB}"/>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Nuclear-encoded respiratory-complex genes also appear</a:t>
            </a:r>
          </a:p>
        </p:txBody>
      </p:sp>
      <p:sp>
        <p:nvSpPr>
          <p:cNvPr id="28" name="TextBox 27">
            <a:extLst xmlns:a="http://schemas.openxmlformats.org/drawingml/2006/main">
              <a:ext uri="{FF2B5EF4-FFF2-40B4-BE49-F238E27FC236}">
                <a16:creationId xmlns:a16="http://schemas.microsoft.com/office/drawing/2014/main" id="{22BBD1F6-6474-44A4-825E-776A502D6C9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056136102"/>
      </p:ext>
    </p:extLst>
  </p:cSld>
</p:sld>
</file>

<file path=ppt/slides/slide14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8AEB1F6-FE5B-4913-9A43-BCF5AA89590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xmlns:a="http://schemas.openxmlformats.org/drawingml/2006/main">
              <a:ext uri="{FF2B5EF4-FFF2-40B4-BE49-F238E27FC236}">
                <a16:creationId xmlns:a16="http://schemas.microsoft.com/office/drawing/2014/main" id="{7A4044D1-0A9A-437D-AFE1-87F48668077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xmlns:a="http://schemas.openxmlformats.org/drawingml/2006/main">
              <a:ext uri="{FF2B5EF4-FFF2-40B4-BE49-F238E27FC236}">
                <a16:creationId xmlns:a16="http://schemas.microsoft.com/office/drawing/2014/main" id="{815D1395-6282-423E-ADB6-0612F9F5CB3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916557E-3AE2-42DE-BCBE-291165FE28D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xmlns:a="http://schemas.openxmlformats.org/drawingml/2006/main">
              <a:ext uri="{FF2B5EF4-FFF2-40B4-BE49-F238E27FC236}">
                <a16:creationId xmlns:a16="http://schemas.microsoft.com/office/drawing/2014/main" id="{C4B3CF68-50E2-429A-9D0C-A8B7A5493C9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xmlns:a="http://schemas.openxmlformats.org/drawingml/2006/main">
              <a:ext uri="{FF2B5EF4-FFF2-40B4-BE49-F238E27FC236}">
                <a16:creationId xmlns:a16="http://schemas.microsoft.com/office/drawing/2014/main" id="{D027D810-EE0F-4ADC-AC3F-2B76724C3ABF}"/>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female ε2 astrocyte call shows higher APOE RNA in AD.</a:t>
            </a:r>
          </a:p>
        </p:txBody>
      </p:sp>
      <p:sp>
        <p:nvSpPr>
          <p:cNvPr id="8" name="Rounded Rectangle 7">
            <a:extLst xmlns:a="http://schemas.openxmlformats.org/drawingml/2006/main">
              <a:ext uri="{FF2B5EF4-FFF2-40B4-BE49-F238E27FC236}">
                <a16:creationId xmlns:a16="http://schemas.microsoft.com/office/drawing/2014/main" id="{F0C40F7A-A178-4352-BB35-430AF2FD5537}"/>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6F6881C-69D9-4B61-8989-D60024536DD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xmlns:a="http://schemas.openxmlformats.org/drawingml/2006/main">
              <a:ext uri="{FF2B5EF4-FFF2-40B4-BE49-F238E27FC236}">
                <a16:creationId xmlns:a16="http://schemas.microsoft.com/office/drawing/2014/main" id="{2AAC44C0-938F-414E-8005-F3688A67AA50}"/>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xmlns:a="http://schemas.openxmlformats.org/drawingml/2006/main">
              <a:ext uri="{FF2B5EF4-FFF2-40B4-BE49-F238E27FC236}">
                <a16:creationId xmlns:a16="http://schemas.microsoft.com/office/drawing/2014/main" id="{7C608C16-2A75-44EF-A2A5-F167AF6CDC88}"/>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male ε2 and male ε4 astrocyte calls show lower APOE RNA in AD.</a:t>
            </a:r>
          </a:p>
        </p:txBody>
      </p:sp>
      <p:sp>
        <p:nvSpPr>
          <p:cNvPr id="12" name="Rounded Rectangle 11">
            <a:extLst xmlns:a="http://schemas.openxmlformats.org/drawingml/2006/main">
              <a:ext uri="{FF2B5EF4-FFF2-40B4-BE49-F238E27FC236}">
                <a16:creationId xmlns:a16="http://schemas.microsoft.com/office/drawing/2014/main" id="{75C174F7-932C-4B35-A374-5366A8CDB3E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D5CCBA06-917A-492B-9EE3-C1C457BBA8D0}"/>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AAEA81A4-B3D4-4F94-8291-1C7C63377AA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3C2BAC9E-627C-40CC-937A-DA2C3A7A7347}"/>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xmlns:a="http://schemas.openxmlformats.org/drawingml/2006/main">
              <a:ext uri="{FF2B5EF4-FFF2-40B4-BE49-F238E27FC236}">
                <a16:creationId xmlns:a16="http://schemas.microsoft.com/office/drawing/2014/main" id="{DC734C10-4507-4E7C-A867-39C680E0F7F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FAEE19D-4BA7-4C8E-A9CF-D7ADE1D05857}"/>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
        <p:nvSpPr>
          <p:cNvPr id="18" name="TextBox 17">
            <a:extLst xmlns:a="http://schemas.openxmlformats.org/drawingml/2006/main">
              <a:ext uri="{FF2B5EF4-FFF2-40B4-BE49-F238E27FC236}">
                <a16:creationId xmlns:a16="http://schemas.microsoft.com/office/drawing/2014/main" id="{AE49E544-4312-4BA8-BFA6-0011215785B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435779549"/>
      </p:ext>
    </p:extLst>
  </p:cSld>
</p:sld>
</file>

<file path=ppt/slides/slide14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B9989B1-C3B4-4F47-8D5B-5B69F0CEA4E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xmlns:a="http://schemas.openxmlformats.org/drawingml/2006/main">
              <a:ext uri="{FF2B5EF4-FFF2-40B4-BE49-F238E27FC236}">
                <a16:creationId xmlns:a16="http://schemas.microsoft.com/office/drawing/2014/main" id="{E71441AA-787C-42D1-97F7-094466AEFD9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xmlns:a="http://schemas.openxmlformats.org/drawingml/2006/main">
              <a:ext uri="{FF2B5EF4-FFF2-40B4-BE49-F238E27FC236}">
                <a16:creationId xmlns:a16="http://schemas.microsoft.com/office/drawing/2014/main" id="{FC9BE70D-1331-4F24-BF9F-398170D8CEC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9B0D97-B2A0-4F3E-ABBB-390E59F523BB}"/>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xmlns:a="http://schemas.openxmlformats.org/drawingml/2006/main">
              <a:ext uri="{FF2B5EF4-FFF2-40B4-BE49-F238E27FC236}">
                <a16:creationId xmlns:a16="http://schemas.microsoft.com/office/drawing/2014/main" id="{89DF3344-B6ED-4599-AEB7-05928B8A7782}"/>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xmlns:a="http://schemas.openxmlformats.org/drawingml/2006/main">
              <a:ext uri="{FF2B5EF4-FFF2-40B4-BE49-F238E27FC236}">
                <a16:creationId xmlns:a16="http://schemas.microsoft.com/office/drawing/2014/main" id="{E2C3D62B-D0EA-4553-AA4E-075CAE8C61AC}"/>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xmlns:a="http://schemas.openxmlformats.org/drawingml/2006/main">
              <a:ext uri="{FF2B5EF4-FFF2-40B4-BE49-F238E27FC236}">
                <a16:creationId xmlns:a16="http://schemas.microsoft.com/office/drawing/2014/main" id="{7A25ACB2-946D-42CA-BFB5-4B8BB7B4A916}"/>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8CAAF42-0B8D-448F-8572-DDB47A8CE6D1}"/>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xmlns:a="http://schemas.openxmlformats.org/drawingml/2006/main">
              <a:ext uri="{FF2B5EF4-FFF2-40B4-BE49-F238E27FC236}">
                <a16:creationId xmlns:a16="http://schemas.microsoft.com/office/drawing/2014/main" id="{1E500922-1AFB-4A6E-A5B6-D943617FC939}"/>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xmlns:a="http://schemas.openxmlformats.org/drawingml/2006/main">
              <a:ext uri="{FF2B5EF4-FFF2-40B4-BE49-F238E27FC236}">
                <a16:creationId xmlns:a16="http://schemas.microsoft.com/office/drawing/2014/main" id="{2BD67977-451C-4627-A3CA-CB36DCA04868}"/>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RNA may reflect different astrocyte states or responses to pathology.</a:t>
            </a:r>
          </a:p>
        </p:txBody>
      </p:sp>
      <p:sp>
        <p:nvSpPr>
          <p:cNvPr id="12" name="Rounded Rectangle 11">
            <a:extLst xmlns:a="http://schemas.openxmlformats.org/drawingml/2006/main">
              <a:ext uri="{FF2B5EF4-FFF2-40B4-BE49-F238E27FC236}">
                <a16:creationId xmlns:a16="http://schemas.microsoft.com/office/drawing/2014/main" id="{91392F38-86F6-4BD3-BEAB-0303DDC5FA1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A55FD709-F7B7-45FF-ADC0-227F35E7FF2C}"/>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xmlns:a="http://schemas.openxmlformats.org/drawingml/2006/main">
              <a:ext uri="{FF2B5EF4-FFF2-40B4-BE49-F238E27FC236}">
                <a16:creationId xmlns:a16="http://schemas.microsoft.com/office/drawing/2014/main" id="{F8609CD8-9955-412A-B034-DD97427671F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xmlns:a="http://schemas.openxmlformats.org/drawingml/2006/main">
              <a:ext uri="{FF2B5EF4-FFF2-40B4-BE49-F238E27FC236}">
                <a16:creationId xmlns:a16="http://schemas.microsoft.com/office/drawing/2014/main" id="{6218D191-E4F4-47BC-B8D7-622238F8C1AF}"/>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xmlns:a="http://schemas.openxmlformats.org/drawingml/2006/main">
              <a:ext uri="{FF2B5EF4-FFF2-40B4-BE49-F238E27FC236}">
                <a16:creationId xmlns:a16="http://schemas.microsoft.com/office/drawing/2014/main" id="{3BDAA785-1AE5-4B5F-835A-224D59960F5F}"/>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15A4360-632D-4FB4-94F0-E3C3B9B3E4B1}"/>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70060E39-0F8F-4142-ADEC-FC7BEE9A57A3}"/>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
        <p:nvSpPr>
          <p:cNvPr id="19" name="TextBox 18">
            <a:extLst xmlns:a="http://schemas.openxmlformats.org/drawingml/2006/main">
              <a:ext uri="{FF2B5EF4-FFF2-40B4-BE49-F238E27FC236}">
                <a16:creationId xmlns:a16="http://schemas.microsoft.com/office/drawing/2014/main" id="{FCAC6F39-395B-44DC-8C7F-FB2B691C563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264404184"/>
      </p:ext>
    </p:extLst>
  </p:cSld>
</p:sld>
</file>

<file path=ppt/slides/slide14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637A4B1-0F23-4B28-B2F8-029E484BD46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15 does not prove, and the next evidence needed</a:t>
            </a:r>
          </a:p>
        </p:txBody>
      </p:sp>
      <p:sp>
        <p:nvSpPr>
          <p:cNvPr id="3" name="TextBox 2">
            <a:extLst xmlns:a="http://schemas.openxmlformats.org/drawingml/2006/main">
              <a:ext uri="{FF2B5EF4-FFF2-40B4-BE49-F238E27FC236}">
                <a16:creationId xmlns:a16="http://schemas.microsoft.com/office/drawing/2014/main" id="{C4211589-5DF8-424E-B07F-9A3D1415634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835D9A16-A54C-4438-81F3-67A57A16AF76}"/>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8843AECE-D933-49DC-95E3-395C9108A192}"/>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0A1B8-9C26-498B-A4D0-A9A4F3320FA6}"/>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E95E8463-C794-4306-AA58-CCA169B78A99}"/>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AF16D9E-2DD7-4F1F-8941-936C7D77F0CF}"/>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APOE regulates the neighboring mitochondrial genes</a:t>
            </a:r>
          </a:p>
        </p:txBody>
      </p:sp>
      <p:sp>
        <p:nvSpPr>
          <p:cNvPr id="9" name="Oval 8">
            <a:extLst xmlns:a="http://schemas.openxmlformats.org/drawingml/2006/main">
              <a:ext uri="{FF2B5EF4-FFF2-40B4-BE49-F238E27FC236}">
                <a16:creationId xmlns:a16="http://schemas.microsoft.com/office/drawing/2014/main" id="{E16DD561-6922-40B1-A418-C44725603E8F}"/>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C1BAA3BF-B3F8-48BC-BCE6-9B4608374562}"/>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One shared astrocyte module across groups</a:t>
            </a:r>
          </a:p>
        </p:txBody>
      </p:sp>
      <p:sp>
        <p:nvSpPr>
          <p:cNvPr id="11" name="Oval 10">
            <a:extLst xmlns:a="http://schemas.openxmlformats.org/drawingml/2006/main">
              <a:ext uri="{FF2B5EF4-FFF2-40B4-BE49-F238E27FC236}">
                <a16:creationId xmlns:a16="http://schemas.microsoft.com/office/drawing/2014/main" id="{2E074677-EFA9-4511-A870-F034FCCBC684}"/>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D78DB7E-32F6-4360-8806-FC5D2CF1DB78}"/>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sex or genotype interaction from three separate calls</a:t>
            </a:r>
          </a:p>
        </p:txBody>
      </p:sp>
      <p:sp>
        <p:nvSpPr>
          <p:cNvPr id="13" name="Rounded Rectangle 12">
            <a:extLst xmlns:a="http://schemas.openxmlformats.org/drawingml/2006/main">
              <a:ext uri="{FF2B5EF4-FFF2-40B4-BE49-F238E27FC236}">
                <a16:creationId xmlns:a16="http://schemas.microsoft.com/office/drawing/2014/main" id="{B104D396-EF30-4C77-93C7-028136811965}"/>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DD1F0ACC-D716-4B30-AB90-9B704088A36E}"/>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7DF40C1-F4E2-4E08-A914-8E58DDC5F354}"/>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EF2E8255-B64E-499E-A78C-D4CD7ABA050D}"/>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E61D654-E60F-495D-963F-64E7E179F099}"/>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Fit disease by sex by APOE models for astrocyte APOE</a:t>
            </a:r>
          </a:p>
        </p:txBody>
      </p:sp>
      <p:sp>
        <p:nvSpPr>
          <p:cNvPr id="18" name="Oval 17">
            <a:extLst xmlns:a="http://schemas.openxmlformats.org/drawingml/2006/main">
              <a:ext uri="{FF2B5EF4-FFF2-40B4-BE49-F238E27FC236}">
                <a16:creationId xmlns:a16="http://schemas.microsoft.com/office/drawing/2014/main" id="{714454C2-6720-4192-915E-5C3566C0E7BD}"/>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883DE8D6-147D-449E-A0B2-886913105A63}"/>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Use APOE-isogenic astrocytes</a:t>
            </a:r>
          </a:p>
        </p:txBody>
      </p:sp>
      <p:sp>
        <p:nvSpPr>
          <p:cNvPr id="20" name="Oval 19">
            <a:extLst xmlns:a="http://schemas.openxmlformats.org/drawingml/2006/main">
              <a:ext uri="{FF2B5EF4-FFF2-40B4-BE49-F238E27FC236}">
                <a16:creationId xmlns:a16="http://schemas.microsoft.com/office/drawing/2014/main" id="{37A5FCA7-C2E3-4A9A-AF09-A44EC9FE16FF}"/>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7FDFA38B-EEF9-40D6-AFF9-2C6AB5DB7FA9}"/>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lipid handling, neighboring proteins, and mitochondrial function</a:t>
            </a:r>
          </a:p>
        </p:txBody>
      </p:sp>
      <p:sp>
        <p:nvSpPr>
          <p:cNvPr id="22" name="TextBox 21">
            <a:extLst xmlns:a="http://schemas.openxmlformats.org/drawingml/2006/main">
              <a:ext uri="{FF2B5EF4-FFF2-40B4-BE49-F238E27FC236}">
                <a16:creationId xmlns:a16="http://schemas.microsoft.com/office/drawing/2014/main" id="{CDFFDD35-A24B-4C3B-AB00-D1B6A283968C}"/>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C147EC2D-A253-465E-A434-689DD74CBD3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331232827"/>
      </p:ext>
    </p:extLst>
  </p:cSld>
</p:sld>
</file>

<file path=ppt/slides/slide14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D780075-3F37-4C2D-91EB-6EC672CDDE4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xmlns:a="http://schemas.openxmlformats.org/drawingml/2006/main">
              <a:ext uri="{FF2B5EF4-FFF2-40B4-BE49-F238E27FC236}">
                <a16:creationId xmlns:a16="http://schemas.microsoft.com/office/drawing/2014/main" id="{123A4D24-4729-4F17-91A0-BDAB0DE9F5F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2AD410D3-778D-4257-B4F7-C935FC1BCB1A}"/>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5326824-3182-4E74-9E13-A66E89DB648A}"/>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ECF8B858-D6B5-4236-8831-BB23F0CA62A2}"/>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xmlns:a="http://schemas.openxmlformats.org/drawingml/2006/main">
              <a:ext uri="{FF2B5EF4-FFF2-40B4-BE49-F238E27FC236}">
                <a16:creationId xmlns:a16="http://schemas.microsoft.com/office/drawing/2014/main" id="{A88A4FAF-9035-489D-AC1D-1C65BACF196E}"/>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BE66AE4-9945-413A-BA03-2EC63C51EEF6}"/>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xmlns:a="http://schemas.openxmlformats.org/drawingml/2006/main">
              <a:ext uri="{FF2B5EF4-FFF2-40B4-BE49-F238E27FC236}">
                <a16:creationId xmlns:a16="http://schemas.microsoft.com/office/drawing/2014/main" id="{DB7FDA31-6C12-47A2-A130-A99CBE0FCA86}"/>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788D60E7-973F-445B-BF2B-1D31A5383862}"/>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xmlns:a="http://schemas.openxmlformats.org/drawingml/2006/main">
              <a:ext uri="{FF2B5EF4-FFF2-40B4-BE49-F238E27FC236}">
                <a16:creationId xmlns:a16="http://schemas.microsoft.com/office/drawing/2014/main" id="{38BA0748-4ADD-492F-89D1-7136F555CC08}"/>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AB2B353-F721-4AB1-B4E5-562BCC266B23}"/>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0937C6E6-8D88-4EEF-8381-F79A59F97C10}"/>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xmlns:a="http://schemas.openxmlformats.org/drawingml/2006/main">
              <a:ext uri="{FF2B5EF4-FFF2-40B4-BE49-F238E27FC236}">
                <a16:creationId xmlns:a16="http://schemas.microsoft.com/office/drawing/2014/main" id="{24D5D30A-BCCB-45BB-AC2C-B4F43B5137AC}"/>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6C3C85B5-A178-449A-BB94-D3DF6B0EF275}"/>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xmlns:a="http://schemas.openxmlformats.org/drawingml/2006/main">
              <a:ext uri="{FF2B5EF4-FFF2-40B4-BE49-F238E27FC236}">
                <a16:creationId xmlns:a16="http://schemas.microsoft.com/office/drawing/2014/main" id="{93E2BBD8-4F2B-42C7-80D9-B9CB222771AB}"/>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6AEB4A02-DAF8-4032-BFEE-C42BB179A865}"/>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xmlns:a="http://schemas.openxmlformats.org/drawingml/2006/main">
              <a:ext uri="{FF2B5EF4-FFF2-40B4-BE49-F238E27FC236}">
                <a16:creationId xmlns:a16="http://schemas.microsoft.com/office/drawing/2014/main" id="{C0890806-8E84-482F-B541-F5432EC20A51}"/>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F9B2D66C-60E9-4247-BDCA-713D0EF20938}"/>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xmlns:a="http://schemas.openxmlformats.org/drawingml/2006/main">
              <a:ext uri="{FF2B5EF4-FFF2-40B4-BE49-F238E27FC236}">
                <a16:creationId xmlns:a16="http://schemas.microsoft.com/office/drawing/2014/main" id="{342703C5-4F16-4BA3-B9D3-8F9BB5197C0F}"/>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xmlns:a="http://schemas.openxmlformats.org/drawingml/2006/main">
              <a:ext uri="{FF2B5EF4-FFF2-40B4-BE49-F238E27FC236}">
                <a16:creationId xmlns:a16="http://schemas.microsoft.com/office/drawing/2014/main" id="{82198E31-F28F-4FB5-BE0D-5DDFB64E2555}"/>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9B71BD56-4AA9-480B-AC56-6080662C25EC}"/>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xmlns:a="http://schemas.openxmlformats.org/drawingml/2006/main">
              <a:ext uri="{FF2B5EF4-FFF2-40B4-BE49-F238E27FC236}">
                <a16:creationId xmlns:a16="http://schemas.microsoft.com/office/drawing/2014/main" id="{EB422183-449C-4AD0-9DA0-68A82C61FEE1}"/>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BA4E32EA-A8B4-48EF-A32B-CAE6FC181CD0}"/>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xmlns:a="http://schemas.openxmlformats.org/drawingml/2006/main">
              <a:ext uri="{FF2B5EF4-FFF2-40B4-BE49-F238E27FC236}">
                <a16:creationId xmlns:a16="http://schemas.microsoft.com/office/drawing/2014/main" id="{E6F9C21B-8A92-4B83-8610-DDF8CE010B35}"/>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953DCC0B-609C-4521-8A64-75B47DDAD632}"/>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D281225B-CEF8-42FF-8E86-4C9B490BCC8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95123715"/>
      </p:ext>
    </p:extLst>
  </p:cSld>
</p:sld>
</file>

<file path=ppt/slides/slide14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AB4866B-94BF-4EA4-8293-8F2AF3B4095E}"/>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xmlns:a="http://schemas.openxmlformats.org/drawingml/2006/main">
              <a:ext uri="{FF2B5EF4-FFF2-40B4-BE49-F238E27FC236}">
                <a16:creationId xmlns:a16="http://schemas.microsoft.com/office/drawing/2014/main" id="{280A5786-1857-45E5-B911-7AD43CD3206E}"/>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FBD3E44-910B-4A74-B1F5-06205A628E09}"/>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xmlns:a="http://schemas.openxmlformats.org/drawingml/2006/main">
              <a:ext uri="{FF2B5EF4-FFF2-40B4-BE49-F238E27FC236}">
                <a16:creationId xmlns:a16="http://schemas.microsoft.com/office/drawing/2014/main" id="{6B30A585-D160-4363-9CCB-0E4289900B8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xmlns:a="http://schemas.openxmlformats.org/drawingml/2006/main">
              <a:ext uri="{FF2B5EF4-FFF2-40B4-BE49-F238E27FC236}">
                <a16:creationId xmlns:a16="http://schemas.microsoft.com/office/drawing/2014/main" id="{99ABAAFB-BE5E-4CB6-957F-57B24E9688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D4951E5-66C5-4A9E-8004-EF5B39EDF480}"/>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C0B97A71-8C0A-42FF-8529-A00BD0B84CFD}"/>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B0E45B0-CD83-48B6-9E78-F0F0CB00A4E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F5E762F-15E6-4FA5-94C1-E05A61EADB1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AFBD2A2C-8BDD-4523-A8A0-189BD82A1EB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4EA92A-0C9A-4A26-B2B0-64ECAB11B39F}"/>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01E7F6A4-1233-4269-B326-00125A51F923}"/>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36B5FE0B-270D-4DFA-B384-D70CADDDFA31}"/>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B833B61-1E74-4AA4-B71A-3EC76CE01E12}"/>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BE311415-6D3A-4348-AE42-39600B075F49}"/>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781B1453-AD5A-4DEE-8548-821903613EAB}"/>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055413E8-B841-467D-934E-1A334CA8A4F5}"/>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0FFBBD16-97F9-42CB-854B-16B82A57EEE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5616C0C1-C4ED-4097-ACC6-F7FBCB952B23}"/>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187EB02-95FE-45B0-9A86-56BDE382BC71}"/>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calls.</a:t>
            </a:r>
          </a:p>
        </p:txBody>
      </p:sp>
    </p:spTree>
    <p:extLst>
      <p:ext uri="{BB962C8B-B14F-4D97-AF65-F5344CB8AC3E}">
        <p14:creationId xmlns:p14="http://schemas.microsoft.com/office/powerpoint/2010/main" val="557967063"/>
      </p:ext>
    </p:extLst>
  </p:cSld>
</p:sld>
</file>

<file path=ppt/slides/slide15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F89202-BCA1-4B9B-931E-675F0016DB8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xmlns:a="http://schemas.openxmlformats.org/drawingml/2006/main">
              <a:ext uri="{FF2B5EF4-FFF2-40B4-BE49-F238E27FC236}">
                <a16:creationId xmlns:a16="http://schemas.microsoft.com/office/drawing/2014/main" id="{B85E40F5-DDF2-462E-B59D-F2FABD428D7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xmlns:a="http://schemas.openxmlformats.org/drawingml/2006/main">
              <a:ext uri="{FF2B5EF4-FFF2-40B4-BE49-F238E27FC236}">
                <a16:creationId xmlns:a16="http://schemas.microsoft.com/office/drawing/2014/main" id="{9EE5E1AD-6B10-4685-BC84-5F416399F3FA}"/>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925C89D-2748-49E6-A13D-5C2F53CA3226}"/>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A6CF6F6E-1B6C-41D8-80E5-803DEEEE5785}"/>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0BA88055-16B3-44A2-B89E-80332AE7A599}"/>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0599409E-9766-458C-99BF-6F50ECD33ACE}"/>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2D5B4FD-007D-43B1-8D9A-C067A69A15EA}"/>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xmlns:a="http://schemas.openxmlformats.org/drawingml/2006/main">
              <a:ext uri="{FF2B5EF4-FFF2-40B4-BE49-F238E27FC236}">
                <a16:creationId xmlns:a16="http://schemas.microsoft.com/office/drawing/2014/main" id="{B22C3E4F-15FA-4E07-AA6A-D7FA723DE406}"/>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D341FE4F-898E-474E-9062-64BB1223A734}"/>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Two eligible calls</a:t>
            </a:r>
          </a:p>
        </p:txBody>
      </p:sp>
      <p:sp>
        <p:nvSpPr>
          <p:cNvPr id="12" name="Rounded Rectangle 11">
            <a:extLst xmlns:a="http://schemas.openxmlformats.org/drawingml/2006/main">
              <a:ext uri="{FF2B5EF4-FFF2-40B4-BE49-F238E27FC236}">
                <a16:creationId xmlns:a16="http://schemas.microsoft.com/office/drawing/2014/main" id="{49903862-D5B7-4E1C-A89F-F9C1137E4313}"/>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B708D6C-9A1A-4E1D-AD08-CA82139F1683}"/>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xmlns:a="http://schemas.openxmlformats.org/drawingml/2006/main">
              <a:ext uri="{FF2B5EF4-FFF2-40B4-BE49-F238E27FC236}">
                <a16:creationId xmlns:a16="http://schemas.microsoft.com/office/drawing/2014/main" id="{7FE7E70C-3615-4D52-B19E-9F375F1A177F}"/>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xmlns:a="http://schemas.openxmlformats.org/drawingml/2006/main">
              <a:ext uri="{FF2B5EF4-FFF2-40B4-BE49-F238E27FC236}">
                <a16:creationId xmlns:a16="http://schemas.microsoft.com/office/drawing/2014/main" id="{9EBADCA5-936B-4174-BFDB-E0D36C179365}"/>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xmlns:a="http://schemas.openxmlformats.org/drawingml/2006/main">
              <a:ext uri="{FF2B5EF4-FFF2-40B4-BE49-F238E27FC236}">
                <a16:creationId xmlns:a16="http://schemas.microsoft.com/office/drawing/2014/main" id="{39C6970C-FF6E-48C1-938C-B98E548B3586}"/>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5D3CD1F-22E8-4AF5-BAB4-3A5D7F2BD329}"/>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xmlns:a="http://schemas.openxmlformats.org/drawingml/2006/main">
              <a:ext uri="{FF2B5EF4-FFF2-40B4-BE49-F238E27FC236}">
                <a16:creationId xmlns:a16="http://schemas.microsoft.com/office/drawing/2014/main" id="{42AF5F4F-AB48-4BC1-8988-EEAE94EB3C3F}"/>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xmlns:a="http://schemas.openxmlformats.org/drawingml/2006/main">
              <a:ext uri="{FF2B5EF4-FFF2-40B4-BE49-F238E27FC236}">
                <a16:creationId xmlns:a16="http://schemas.microsoft.com/office/drawing/2014/main" id="{113471AA-12ED-4B4A-B97A-D1CB9335CD03}"/>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xmlns:a="http://schemas.openxmlformats.org/drawingml/2006/main">
              <a:ext uri="{FF2B5EF4-FFF2-40B4-BE49-F238E27FC236}">
                <a16:creationId xmlns:a16="http://schemas.microsoft.com/office/drawing/2014/main" id="{5B152E72-A344-40C5-8CD9-225BBE48CD26}"/>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E0AC003-F13D-407A-AAFD-91811A16745B}"/>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xmlns:a="http://schemas.openxmlformats.org/drawingml/2006/main">
              <a:ext uri="{FF2B5EF4-FFF2-40B4-BE49-F238E27FC236}">
                <a16:creationId xmlns:a16="http://schemas.microsoft.com/office/drawing/2014/main" id="{1CAE43D6-75CE-48A5-B395-7A219029D2E6}"/>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xmlns:a="http://schemas.openxmlformats.org/drawingml/2006/main">
              <a:ext uri="{FF2B5EF4-FFF2-40B4-BE49-F238E27FC236}">
                <a16:creationId xmlns:a16="http://schemas.microsoft.com/office/drawing/2014/main" id="{2A44BDEA-4451-416A-854C-3838CA6B10A0}"/>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xmlns:a="http://schemas.openxmlformats.org/drawingml/2006/main">
              <a:ext uri="{FF2B5EF4-FFF2-40B4-BE49-F238E27FC236}">
                <a16:creationId xmlns:a16="http://schemas.microsoft.com/office/drawing/2014/main" id="{89FAC74D-291F-4F19-B75D-8E746E44DBC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CE56B958-D113-459E-99C0-83C778524E9C}"/>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
        <p:nvSpPr>
          <p:cNvPr id="26" name="TextBox 25">
            <a:extLst xmlns:a="http://schemas.openxmlformats.org/drawingml/2006/main">
              <a:ext uri="{FF2B5EF4-FFF2-40B4-BE49-F238E27FC236}">
                <a16:creationId xmlns:a16="http://schemas.microsoft.com/office/drawing/2014/main" id="{9ED8D8AC-BD90-4012-A345-4DA869CF9F4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97393502"/>
      </p:ext>
    </p:extLst>
  </p:cSld>
</p:sld>
</file>

<file path=ppt/slides/slide15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C90BE16-71B8-4733-9DF1-56F21DF7206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xmlns:a="http://schemas.openxmlformats.org/drawingml/2006/main">
              <a:ext uri="{FF2B5EF4-FFF2-40B4-BE49-F238E27FC236}">
                <a16:creationId xmlns:a16="http://schemas.microsoft.com/office/drawing/2014/main" id="{427EF456-3FF2-40E7-91C9-5ABBE336057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xmlns:a="http://schemas.openxmlformats.org/drawingml/2006/main">
              <a:ext uri="{FF2B5EF4-FFF2-40B4-BE49-F238E27FC236}">
                <a16:creationId xmlns:a16="http://schemas.microsoft.com/office/drawing/2014/main" id="{D8E537D8-0A36-40EB-9362-1964AFD9727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1E293BE-D4B1-4C58-853A-22216102DCD5}"/>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xmlns:a="http://schemas.openxmlformats.org/drawingml/2006/main">
              <a:ext uri="{FF2B5EF4-FFF2-40B4-BE49-F238E27FC236}">
                <a16:creationId xmlns:a16="http://schemas.microsoft.com/office/drawing/2014/main" id="{08C98539-9F26-40F9-B7CE-3A40AB9C4689}"/>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unique non-MT vascular drivers</a:t>
            </a:r>
          </a:p>
        </p:txBody>
      </p:sp>
      <p:sp>
        <p:nvSpPr>
          <p:cNvPr id="7" name="TextBox 6">
            <a:extLst xmlns:a="http://schemas.openxmlformats.org/drawingml/2006/main">
              <a:ext uri="{FF2B5EF4-FFF2-40B4-BE49-F238E27FC236}">
                <a16:creationId xmlns:a16="http://schemas.microsoft.com/office/drawing/2014/main" id="{C9704254-6633-476E-8841-17132A24BE4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xmlns:a="http://schemas.openxmlformats.org/drawingml/2006/main">
              <a:ext uri="{FF2B5EF4-FFF2-40B4-BE49-F238E27FC236}">
                <a16:creationId xmlns:a16="http://schemas.microsoft.com/office/drawing/2014/main" id="{DDA1DFA2-5DD9-4947-B275-7ECD32063BA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250FAAA-594C-4947-80E0-E4D846A0BB31}"/>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xmlns:a="http://schemas.openxmlformats.org/drawingml/2006/main">
              <a:ext uri="{FF2B5EF4-FFF2-40B4-BE49-F238E27FC236}">
                <a16:creationId xmlns:a16="http://schemas.microsoft.com/office/drawing/2014/main" id="{EC9C26BC-07DB-4E5A-B13A-CEDC1A837F3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xmlns:a="http://schemas.openxmlformats.org/drawingml/2006/main">
              <a:ext uri="{FF2B5EF4-FFF2-40B4-BE49-F238E27FC236}">
                <a16:creationId xmlns:a16="http://schemas.microsoft.com/office/drawing/2014/main" id="{529C55DB-158A-43DB-9CCA-72393A0C29D5}"/>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xmlns:a="http://schemas.openxmlformats.org/drawingml/2006/main">
              <a:ext uri="{FF2B5EF4-FFF2-40B4-BE49-F238E27FC236}">
                <a16:creationId xmlns:a16="http://schemas.microsoft.com/office/drawing/2014/main" id="{E135656B-22C9-4596-93EF-82BE0911207A}"/>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F2D0C028-F2B2-4941-B318-541C13E00AF9}"/>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xmlns:a="http://schemas.openxmlformats.org/drawingml/2006/main">
              <a:ext uri="{FF2B5EF4-FFF2-40B4-BE49-F238E27FC236}">
                <a16:creationId xmlns:a16="http://schemas.microsoft.com/office/drawing/2014/main" id="{F4C2800E-6766-4123-A2B9-76474E22EACA}"/>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eligible vascular calls</a:t>
            </a:r>
          </a:p>
        </p:txBody>
      </p:sp>
      <p:sp>
        <p:nvSpPr>
          <p:cNvPr id="15" name="TextBox 14">
            <a:extLst xmlns:a="http://schemas.openxmlformats.org/drawingml/2006/main">
              <a:ext uri="{FF2B5EF4-FFF2-40B4-BE49-F238E27FC236}">
                <a16:creationId xmlns:a16="http://schemas.microsoft.com/office/drawing/2014/main" id="{4B0C3E05-B64D-46B0-BBBE-B74B0CEB7382}"/>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xmlns:a="http://schemas.openxmlformats.org/drawingml/2006/main">
              <a:ext uri="{FF2B5EF4-FFF2-40B4-BE49-F238E27FC236}">
                <a16:creationId xmlns:a16="http://schemas.microsoft.com/office/drawing/2014/main" id="{80125B71-1B29-498F-ABB1-5203E1F6F8E0}"/>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D45FCE8-7C10-4078-996C-C2278413CEE2}"/>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xmlns:a="http://schemas.openxmlformats.org/drawingml/2006/main">
              <a:ext uri="{FF2B5EF4-FFF2-40B4-BE49-F238E27FC236}">
                <a16:creationId xmlns:a16="http://schemas.microsoft.com/office/drawing/2014/main" id="{8EF4C5EA-BE03-4C0F-A28B-E17A97A1DFD0}"/>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xmlns:a="http://schemas.openxmlformats.org/drawingml/2006/main">
              <a:ext uri="{FF2B5EF4-FFF2-40B4-BE49-F238E27FC236}">
                <a16:creationId xmlns:a16="http://schemas.microsoft.com/office/drawing/2014/main" id="{59D9DCB1-EB33-44EA-A320-F64036E48E46}"/>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xmlns:a="http://schemas.openxmlformats.org/drawingml/2006/main">
              <a:ext uri="{FF2B5EF4-FFF2-40B4-BE49-F238E27FC236}">
                <a16:creationId xmlns:a16="http://schemas.microsoft.com/office/drawing/2014/main" id="{415F7833-5868-41C5-B8E2-B93C67042392}"/>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0284674-0A41-4BB3-9833-BB53FFF4946C}"/>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xmlns:a="http://schemas.openxmlformats.org/drawingml/2006/main">
              <a:ext uri="{FF2B5EF4-FFF2-40B4-BE49-F238E27FC236}">
                <a16:creationId xmlns:a16="http://schemas.microsoft.com/office/drawing/2014/main" id="{8EB44782-AD0D-4F23-9F1B-6E3212BA1C7D}"/>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xmlns:a="http://schemas.openxmlformats.org/drawingml/2006/main">
              <a:ext uri="{FF2B5EF4-FFF2-40B4-BE49-F238E27FC236}">
                <a16:creationId xmlns:a16="http://schemas.microsoft.com/office/drawing/2014/main" id="{3E617012-5334-42F1-BD91-44605F77F625}"/>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xmlns:a="http://schemas.openxmlformats.org/drawingml/2006/main">
              <a:ext uri="{FF2B5EF4-FFF2-40B4-BE49-F238E27FC236}">
                <a16:creationId xmlns:a16="http://schemas.microsoft.com/office/drawing/2014/main" id="{82DEC458-90B9-43BD-A56C-08551CCBCDCD}"/>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EAB652C-F073-46D1-BFAB-11834D7E9BB7}"/>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xmlns:a="http://schemas.openxmlformats.org/drawingml/2006/main">
              <a:ext uri="{FF2B5EF4-FFF2-40B4-BE49-F238E27FC236}">
                <a16:creationId xmlns:a16="http://schemas.microsoft.com/office/drawing/2014/main" id="{EFD43A95-3AD4-4059-BB94-955C9625ED63}"/>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xmlns:a="http://schemas.openxmlformats.org/drawingml/2006/main">
              <a:ext uri="{FF2B5EF4-FFF2-40B4-BE49-F238E27FC236}">
                <a16:creationId xmlns:a16="http://schemas.microsoft.com/office/drawing/2014/main" id="{782AB354-3D21-4821-894F-A2F0132593FE}"/>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
        <p:nvSpPr>
          <p:cNvPr id="28" name="TextBox 27">
            <a:extLst xmlns:a="http://schemas.openxmlformats.org/drawingml/2006/main">
              <a:ext uri="{FF2B5EF4-FFF2-40B4-BE49-F238E27FC236}">
                <a16:creationId xmlns:a16="http://schemas.microsoft.com/office/drawing/2014/main" id="{5A3BBCDC-FAEB-41E9-8659-EE86568EC36C}"/>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535435366"/>
      </p:ext>
    </p:extLst>
  </p:cSld>
</p:sld>
</file>

<file path=ppt/slides/slide15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69B8E18-004D-46FF-BDE6-F3A9E2E9CD8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Small call count and missing SEA-AD coverage keep the module preliminary</a:t>
            </a:r>
          </a:p>
        </p:txBody>
      </p:sp>
      <p:sp>
        <p:nvSpPr>
          <p:cNvPr id="3" name="TextBox 2">
            <a:extLst xmlns:a="http://schemas.openxmlformats.org/drawingml/2006/main">
              <a:ext uri="{FF2B5EF4-FFF2-40B4-BE49-F238E27FC236}">
                <a16:creationId xmlns:a16="http://schemas.microsoft.com/office/drawing/2014/main" id="{1F0B0B1A-FEA0-4948-AAAD-AF979EA027A6}"/>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xmlns:a="http://schemas.openxmlformats.org/drawingml/2006/main">
              <a:ext uri="{FF2B5EF4-FFF2-40B4-BE49-F238E27FC236}">
                <a16:creationId xmlns:a16="http://schemas.microsoft.com/office/drawing/2014/main" id="{44320DAE-8F6A-405E-B228-1E52A1E2E336}"/>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3CCFE33-5434-4732-B36E-D684F7C88C4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xmlns:a="http://schemas.openxmlformats.org/drawingml/2006/main">
              <a:ext uri="{FF2B5EF4-FFF2-40B4-BE49-F238E27FC236}">
                <a16:creationId xmlns:a16="http://schemas.microsoft.com/office/drawing/2014/main" id="{1AAACB3F-ED8E-4016-8A19-390EFA1E074F}"/>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Two eligible calls</a:t>
            </a:r>
          </a:p>
        </p:txBody>
      </p:sp>
      <p:sp>
        <p:nvSpPr>
          <p:cNvPr id="7" name="TextBox 6">
            <a:extLst xmlns:a="http://schemas.openxmlformats.org/drawingml/2006/main">
              <a:ext uri="{FF2B5EF4-FFF2-40B4-BE49-F238E27FC236}">
                <a16:creationId xmlns:a16="http://schemas.microsoft.com/office/drawing/2014/main" id="{D03A716A-9B2B-4819-A4C8-4C5D7D49C117}"/>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xmlns:a="http://schemas.openxmlformats.org/drawingml/2006/main">
              <a:ext uri="{FF2B5EF4-FFF2-40B4-BE49-F238E27FC236}">
                <a16:creationId xmlns:a16="http://schemas.microsoft.com/office/drawing/2014/main" id="{535093A0-6580-48D4-BF71-13F5B5850EE4}"/>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52E2BAB-F91A-4D75-9134-33F7327C88C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xmlns:a="http://schemas.openxmlformats.org/drawingml/2006/main">
              <a:ext uri="{FF2B5EF4-FFF2-40B4-BE49-F238E27FC236}">
                <a16:creationId xmlns:a16="http://schemas.microsoft.com/office/drawing/2014/main" id="{B54E2D0E-CA7A-49F7-9CAA-3FF9D101855F}"/>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xmlns:a="http://schemas.openxmlformats.org/drawingml/2006/main">
              <a:ext uri="{FF2B5EF4-FFF2-40B4-BE49-F238E27FC236}">
                <a16:creationId xmlns:a16="http://schemas.microsoft.com/office/drawing/2014/main" id="{116C05EC-9A65-4ACE-856B-E3A26D92D36F}"/>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xmlns:a="http://schemas.openxmlformats.org/drawingml/2006/main">
              <a:ext uri="{FF2B5EF4-FFF2-40B4-BE49-F238E27FC236}">
                <a16:creationId xmlns:a16="http://schemas.microsoft.com/office/drawing/2014/main" id="{DB6204E1-2E47-409E-8D6B-004289E01DBB}"/>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60300FD-7711-4369-8838-04195227F51B}"/>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28AC0E7A-F83D-43C6-B1D9-A86AF9D94E1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xmlns:a="http://schemas.openxmlformats.org/drawingml/2006/main">
              <a:ext uri="{FF2B5EF4-FFF2-40B4-BE49-F238E27FC236}">
                <a16:creationId xmlns:a16="http://schemas.microsoft.com/office/drawing/2014/main" id="{81315B00-F390-4BEA-BC5A-F86E8496C2D8}"/>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xmlns:a="http://schemas.openxmlformats.org/drawingml/2006/main">
              <a:ext uri="{FF2B5EF4-FFF2-40B4-BE49-F238E27FC236}">
                <a16:creationId xmlns:a16="http://schemas.microsoft.com/office/drawing/2014/main" id="{96170627-5E15-4EB1-8CD7-D8045CA05A4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F73A42-4714-4795-A615-2934D60CADD9}"/>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
        <p:nvSpPr>
          <p:cNvPr id="18" name="TextBox 17">
            <a:extLst xmlns:a="http://schemas.openxmlformats.org/drawingml/2006/main">
              <a:ext uri="{FF2B5EF4-FFF2-40B4-BE49-F238E27FC236}">
                <a16:creationId xmlns:a16="http://schemas.microsoft.com/office/drawing/2014/main" id="{23ECF9F6-5573-4BB9-890C-A890E27E4F18}"/>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888563001"/>
      </p:ext>
    </p:extLst>
  </p:cSld>
</p:sld>
</file>

<file path=ppt/slides/slide15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DAC85EA-B106-47F3-B616-4971DD6CE97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xmlns:a="http://schemas.openxmlformats.org/drawingml/2006/main">
              <a:ext uri="{FF2B5EF4-FFF2-40B4-BE49-F238E27FC236}">
                <a16:creationId xmlns:a16="http://schemas.microsoft.com/office/drawing/2014/main" id="{F7D3D0DC-E68C-472A-A2C7-8BA190070AE6}"/>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xmlns:a="http://schemas.openxmlformats.org/drawingml/2006/main">
              <a:ext uri="{FF2B5EF4-FFF2-40B4-BE49-F238E27FC236}">
                <a16:creationId xmlns:a16="http://schemas.microsoft.com/office/drawing/2014/main" id="{E7F04649-B1B3-4FA2-89D0-F6C01808C66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0C158D1-43DF-422B-88E1-D753312721F7}"/>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xmlns:a="http://schemas.openxmlformats.org/drawingml/2006/main">
              <a:ext uri="{FF2B5EF4-FFF2-40B4-BE49-F238E27FC236}">
                <a16:creationId xmlns:a16="http://schemas.microsoft.com/office/drawing/2014/main" id="{0EEDEEBE-5497-4302-B526-2608A42999BC}"/>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xmlns:a="http://schemas.openxmlformats.org/drawingml/2006/main">
              <a:ext uri="{FF2B5EF4-FFF2-40B4-BE49-F238E27FC236}">
                <a16:creationId xmlns:a16="http://schemas.microsoft.com/office/drawing/2014/main" id="{FA17E3DB-03B9-4B52-8987-65F2A21A8726}"/>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xmlns:a="http://schemas.openxmlformats.org/drawingml/2006/main">
              <a:ext uri="{FF2B5EF4-FFF2-40B4-BE49-F238E27FC236}">
                <a16:creationId xmlns:a16="http://schemas.microsoft.com/office/drawing/2014/main" id="{D7E4F167-CBF3-4549-9A78-B6F26F7A888B}"/>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421CDDF-1E6A-4E19-ACE8-5D56EA611192}"/>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xmlns:a="http://schemas.openxmlformats.org/drawingml/2006/main">
              <a:ext uri="{FF2B5EF4-FFF2-40B4-BE49-F238E27FC236}">
                <a16:creationId xmlns:a16="http://schemas.microsoft.com/office/drawing/2014/main" id="{FA3BBC75-0A0D-4D70-8707-2FCE388E22C5}"/>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xmlns:a="http://schemas.openxmlformats.org/drawingml/2006/main">
              <a:ext uri="{FF2B5EF4-FFF2-40B4-BE49-F238E27FC236}">
                <a16:creationId xmlns:a16="http://schemas.microsoft.com/office/drawing/2014/main" id="{BEBB1C93-915B-45AF-949F-9E4FE971641B}"/>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xmlns:a="http://schemas.openxmlformats.org/drawingml/2006/main">
              <a:ext uri="{FF2B5EF4-FFF2-40B4-BE49-F238E27FC236}">
                <a16:creationId xmlns:a16="http://schemas.microsoft.com/office/drawing/2014/main" id="{F457BA7A-3663-4294-850F-F85C1B93F8C3}"/>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AF34E08B-BBCB-46BE-9123-C937FE20D4D8}"/>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xmlns:a="http://schemas.openxmlformats.org/drawingml/2006/main">
              <a:ext uri="{FF2B5EF4-FFF2-40B4-BE49-F238E27FC236}">
                <a16:creationId xmlns:a16="http://schemas.microsoft.com/office/drawing/2014/main" id="{5BBDFD27-E46B-4ACC-A44E-46666C00A5E5}"/>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xmlns:a="http://schemas.openxmlformats.org/drawingml/2006/main">
              <a:ext uri="{FF2B5EF4-FFF2-40B4-BE49-F238E27FC236}">
                <a16:creationId xmlns:a16="http://schemas.microsoft.com/office/drawing/2014/main" id="{B96FA72E-2924-43DD-85DE-56D577391139}"/>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xmlns:a="http://schemas.openxmlformats.org/drawingml/2006/main">
              <a:ext uri="{FF2B5EF4-FFF2-40B4-BE49-F238E27FC236}">
                <a16:creationId xmlns:a16="http://schemas.microsoft.com/office/drawing/2014/main" id="{A3A994EC-0E16-48B8-AC88-C8791ACD88DD}"/>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CC5BF49-F800-41CD-BE88-2A88EC3ED47C}"/>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402EBAB8-A7D2-4E36-9316-CA9A34CF3760}"/>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
        <p:nvSpPr>
          <p:cNvPr id="19" name="TextBox 18">
            <a:extLst xmlns:a="http://schemas.openxmlformats.org/drawingml/2006/main">
              <a:ext uri="{FF2B5EF4-FFF2-40B4-BE49-F238E27FC236}">
                <a16:creationId xmlns:a16="http://schemas.microsoft.com/office/drawing/2014/main" id="{E1C67DA2-AE7D-4D60-BE9E-16F58F0C130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780574730"/>
      </p:ext>
    </p:extLst>
  </p:cSld>
</p:sld>
</file>

<file path=ppt/slides/slide15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65C122C-AABD-4195-A2C7-7D285211C2D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16 does not prove, and the next evidence needed</a:t>
            </a:r>
          </a:p>
        </p:txBody>
      </p:sp>
      <p:sp>
        <p:nvSpPr>
          <p:cNvPr id="3" name="TextBox 2">
            <a:extLst xmlns:a="http://schemas.openxmlformats.org/drawingml/2006/main">
              <a:ext uri="{FF2B5EF4-FFF2-40B4-BE49-F238E27FC236}">
                <a16:creationId xmlns:a16="http://schemas.microsoft.com/office/drawing/2014/main" id="{0F9A32C3-4064-4A27-9B80-A85C8DDBD20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A30BA365-049B-459E-A042-DFB723D9280F}"/>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24983D76-DB1E-4652-8599-AC59F746B347}"/>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E1EF561-0898-4125-8C1D-2A9EAD478646}"/>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CCBABE0F-2756-458A-9DA2-8D51C9336AEE}"/>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86D2C0FC-4E07-4A8C-906D-A67BB2B78215}"/>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The type of stress that activated the genes</a:t>
            </a:r>
          </a:p>
        </p:txBody>
      </p:sp>
      <p:sp>
        <p:nvSpPr>
          <p:cNvPr id="9" name="Oval 8">
            <a:extLst xmlns:a="http://schemas.openxmlformats.org/drawingml/2006/main">
              <a:ext uri="{FF2B5EF4-FFF2-40B4-BE49-F238E27FC236}">
                <a16:creationId xmlns:a16="http://schemas.microsoft.com/office/drawing/2014/main" id="{110E0C3E-4483-4C8A-8A4D-9E23F7EEB33F}"/>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6065554-A286-47AC-8640-DA0C5BA20A52}"/>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broad or sustained vascular response</a:t>
            </a:r>
          </a:p>
        </p:txBody>
      </p:sp>
      <p:sp>
        <p:nvSpPr>
          <p:cNvPr id="11" name="Oval 10">
            <a:extLst xmlns:a="http://schemas.openxmlformats.org/drawingml/2006/main">
              <a:ext uri="{FF2B5EF4-FFF2-40B4-BE49-F238E27FC236}">
                <a16:creationId xmlns:a16="http://schemas.microsoft.com/office/drawing/2014/main" id="{45DEE74B-2F99-4E5F-8880-C899541C82AF}"/>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8066F44-EF28-4748-887C-D4C5204D00A5}"/>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 by ε4 disease interaction</a:t>
            </a:r>
          </a:p>
        </p:txBody>
      </p:sp>
      <p:sp>
        <p:nvSpPr>
          <p:cNvPr id="13" name="Rounded Rectangle 12">
            <a:extLst xmlns:a="http://schemas.openxmlformats.org/drawingml/2006/main">
              <a:ext uri="{FF2B5EF4-FFF2-40B4-BE49-F238E27FC236}">
                <a16:creationId xmlns:a16="http://schemas.microsoft.com/office/drawing/2014/main" id="{E939EDE8-36EA-4905-A81B-755416534E2D}"/>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29EB9CBE-FD19-4F1D-A140-85CEECB2CA88}"/>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9C9E5B0-0268-4E16-8192-014C00889CBA}"/>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1DC2BC51-F1AA-4062-A830-278CF14975E8}"/>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E738993-3945-44EA-8C93-D2F81B533839}"/>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Confirm the module in donor-level vascular data</a:t>
            </a:r>
          </a:p>
        </p:txBody>
      </p:sp>
      <p:sp>
        <p:nvSpPr>
          <p:cNvPr id="18" name="Oval 17">
            <a:extLst xmlns:a="http://schemas.openxmlformats.org/drawingml/2006/main">
              <a:ext uri="{FF2B5EF4-FFF2-40B4-BE49-F238E27FC236}">
                <a16:creationId xmlns:a16="http://schemas.microsoft.com/office/drawing/2014/main" id="{A3542EAD-D9B7-407C-8185-3C931869CA68}"/>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B5C9A346-D2A6-4E09-8335-FB45CF5531E3}"/>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Fit direct disease by sex by ε4 interactions</a:t>
            </a:r>
          </a:p>
        </p:txBody>
      </p:sp>
      <p:sp>
        <p:nvSpPr>
          <p:cNvPr id="20" name="Oval 19">
            <a:extLst xmlns:a="http://schemas.openxmlformats.org/drawingml/2006/main">
              <a:ext uri="{FF2B5EF4-FFF2-40B4-BE49-F238E27FC236}">
                <a16:creationId xmlns:a16="http://schemas.microsoft.com/office/drawing/2014/main" id="{D0EA3927-0015-41DE-9DA7-30CAD3E434C8}"/>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FEEE1A73-9946-43BA-B0B0-F266DC98E6D2}"/>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HSF1 targets spatially near brain vessels</a:t>
            </a:r>
          </a:p>
        </p:txBody>
      </p:sp>
      <p:sp>
        <p:nvSpPr>
          <p:cNvPr id="22" name="TextBox 21">
            <a:extLst xmlns:a="http://schemas.openxmlformats.org/drawingml/2006/main">
              <a:ext uri="{FF2B5EF4-FFF2-40B4-BE49-F238E27FC236}">
                <a16:creationId xmlns:a16="http://schemas.microsoft.com/office/drawing/2014/main" id="{D0B9E282-0801-4ED5-93EE-820E5B46247F}"/>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D8DFC19D-FB9E-4040-BE8C-17FFCB80446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677317868"/>
      </p:ext>
    </p:extLst>
  </p:cSld>
</p:sld>
</file>

<file path=ppt/slides/slide15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508688B-25B0-4073-AD63-62F14655454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xmlns:a="http://schemas.openxmlformats.org/drawingml/2006/main">
              <a:ext uri="{FF2B5EF4-FFF2-40B4-BE49-F238E27FC236}">
                <a16:creationId xmlns:a16="http://schemas.microsoft.com/office/drawing/2014/main" id="{3A41FB36-7742-48B7-AC03-52C491DE8A5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8F1A5C18-F0A3-484C-8355-D878AB58E483}"/>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FCB0634-CD4C-49D0-8439-54357424EE06}"/>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xmlns:a="http://schemas.openxmlformats.org/drawingml/2006/main">
              <a:ext uri="{FF2B5EF4-FFF2-40B4-BE49-F238E27FC236}">
                <a16:creationId xmlns:a16="http://schemas.microsoft.com/office/drawing/2014/main" id="{721B77BB-735E-4AB9-B934-9D5E277670EC}"/>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xmlns:a="http://schemas.openxmlformats.org/drawingml/2006/main">
              <a:ext uri="{FF2B5EF4-FFF2-40B4-BE49-F238E27FC236}">
                <a16:creationId xmlns:a16="http://schemas.microsoft.com/office/drawing/2014/main" id="{57D1B63E-7FED-4F80-BE8D-A69FF07E3C87}"/>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85DB6599-B1DB-4BFF-A9B5-85D4F1974EFD}"/>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xmlns:a="http://schemas.openxmlformats.org/drawingml/2006/main">
              <a:ext uri="{FF2B5EF4-FFF2-40B4-BE49-F238E27FC236}">
                <a16:creationId xmlns:a16="http://schemas.microsoft.com/office/drawing/2014/main" id="{F1A5F1FA-A819-421D-8A1A-27D5F360CDA9}"/>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8E594356-7431-49A8-83CE-22C6021C1D50}"/>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Only three related genes and two calls drive the result.</a:t>
            </a:r>
          </a:p>
        </p:txBody>
      </p:sp>
      <p:sp>
        <p:nvSpPr>
          <p:cNvPr id="11" name="Rounded Rectangle 10">
            <a:extLst xmlns:a="http://schemas.openxmlformats.org/drawingml/2006/main">
              <a:ext uri="{FF2B5EF4-FFF2-40B4-BE49-F238E27FC236}">
                <a16:creationId xmlns:a16="http://schemas.microsoft.com/office/drawing/2014/main" id="{10535B00-4C24-4B62-A381-20486183AF59}"/>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620659-5161-4996-94EA-EF786B5AB69F}"/>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xmlns:a="http://schemas.openxmlformats.org/drawingml/2006/main">
              <a:ext uri="{FF2B5EF4-FFF2-40B4-BE49-F238E27FC236}">
                <a16:creationId xmlns:a16="http://schemas.microsoft.com/office/drawing/2014/main" id="{5FD0FD60-67A9-46A2-A0C2-BD00BFD8E136}"/>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xmlns:a="http://schemas.openxmlformats.org/drawingml/2006/main">
              <a:ext uri="{FF2B5EF4-FFF2-40B4-BE49-F238E27FC236}">
                <a16:creationId xmlns:a16="http://schemas.microsoft.com/office/drawing/2014/main" id="{FC9A5945-622E-40BE-B724-AAB72173A811}"/>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48320009-CECE-493D-9F64-0DF749B34DA0}"/>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xmlns:a="http://schemas.openxmlformats.org/drawingml/2006/main">
              <a:ext uri="{FF2B5EF4-FFF2-40B4-BE49-F238E27FC236}">
                <a16:creationId xmlns:a16="http://schemas.microsoft.com/office/drawing/2014/main" id="{038C98BE-C6DD-4572-9471-1B4F0500497E}"/>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489DFA65-C5A0-4E5D-A248-63CDCD608FC3}"/>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xmlns:a="http://schemas.openxmlformats.org/drawingml/2006/main">
              <a:ext uri="{FF2B5EF4-FFF2-40B4-BE49-F238E27FC236}">
                <a16:creationId xmlns:a16="http://schemas.microsoft.com/office/drawing/2014/main" id="{0D3F8FF3-5BE6-40A1-8F16-B9D6958718E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09B16BB0-7772-4660-AD31-F1FA07319990}"/>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406DDA8F-6CA4-4498-A5A5-E31BA22CADE1}"/>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xmlns:a="http://schemas.openxmlformats.org/drawingml/2006/main">
              <a:ext uri="{FF2B5EF4-FFF2-40B4-BE49-F238E27FC236}">
                <a16:creationId xmlns:a16="http://schemas.microsoft.com/office/drawing/2014/main" id="{C769C364-4F69-4CCF-AD7E-FA60268EBAB1}"/>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326090D1-597B-4F2B-9D4E-4B241CA0C409}"/>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xmlns:a="http://schemas.openxmlformats.org/drawingml/2006/main">
              <a:ext uri="{FF2B5EF4-FFF2-40B4-BE49-F238E27FC236}">
                <a16:creationId xmlns:a16="http://schemas.microsoft.com/office/drawing/2014/main" id="{EE9AB56D-B3EA-46D2-8BE8-B9CC6C0E1E96}"/>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1954DC6C-F372-4277-9FBD-525101A6EEB1}"/>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xmlns:a="http://schemas.openxmlformats.org/drawingml/2006/main">
              <a:ext uri="{FF2B5EF4-FFF2-40B4-BE49-F238E27FC236}">
                <a16:creationId xmlns:a16="http://schemas.microsoft.com/office/drawing/2014/main" id="{67D45B71-8398-4BE9-9FDD-5A7ADF10F782}"/>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78701A3A-71A8-430C-BC29-C73627C6FE7E}"/>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5D0984D0-D907-4796-A3AF-1D18E3D37E8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685267547"/>
      </p:ext>
    </p:extLst>
  </p:cSld>
</p:sld>
</file>

<file path=ppt/slides/slide15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F1CDD8E-8E4C-47F0-9945-65FF2B55A86A}"/>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xmlns:a="http://schemas.openxmlformats.org/drawingml/2006/main">
              <a:ext uri="{FF2B5EF4-FFF2-40B4-BE49-F238E27FC236}">
                <a16:creationId xmlns:a16="http://schemas.microsoft.com/office/drawing/2014/main" id="{155B7172-6FC6-4CFC-95FF-65E112CAAC88}"/>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B07CED36-38A0-466B-B238-C3173273DC01}"/>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FFFFFF"/>
                </a:solidFill>
                <a:latin typeface="Arial"/>
                <a:ea typeface="Arial"/>
                <a:cs typeface="Arial"/>
              </a:rPr>
              <a:t>SEA-AD provides program and cross-context support despite no exact driver matches</a:t>
            </a:r>
          </a:p>
        </p:txBody>
      </p:sp>
      <p:sp>
        <p:nvSpPr>
          <p:cNvPr id="5" name="TextBox 4">
            <a:extLst xmlns:a="http://schemas.openxmlformats.org/drawingml/2006/main">
              <a:ext uri="{FF2B5EF4-FFF2-40B4-BE49-F238E27FC236}">
                <a16:creationId xmlns:a16="http://schemas.microsoft.com/office/drawing/2014/main" id="{4EC73085-128A-4138-A4A9-C93B3B0AD5E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xmlns:a="http://schemas.openxmlformats.org/drawingml/2006/main">
              <a:ext uri="{FF2B5EF4-FFF2-40B4-BE49-F238E27FC236}">
                <a16:creationId xmlns:a16="http://schemas.microsoft.com/office/drawing/2014/main" id="{2815F048-6CD5-4E68-8355-09E904DC9FC7}"/>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062143CE-18E2-42AE-8983-7DEF2DF7475B}"/>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722BEF58-4153-4364-9D90-B400B7E63107}"/>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3AC467C-0A18-4A3D-86F0-F72DA388151E}"/>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3FBDD533-731A-4C39-A879-2D039CAEF308}"/>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1A263ED8-7BAC-4A4C-A249-5D22BFDAEA4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1E5C0863-D04F-49D7-953B-D5B863642252}"/>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499D9A72-4A58-4A93-B843-9E91BEF41ECF}"/>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59DF7874-5DC6-4469-BFFA-686B66574B51}"/>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5E1E1ADF-52FC-407C-AEF1-4CFF921CD50D}"/>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ECD6740-D8C1-467F-83C9-DFD061E41CD9}"/>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0C0B33DE-F51C-489D-BFB9-2776372B77D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6FCA78BE-669F-4026-8AEC-92F11B5AFF2C}"/>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9EE09A54-D439-4082-9AEA-C89B122CA79C}"/>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A771122C-C83A-45AF-A849-0EC53E27305A}"/>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2BEC5AF-7069-474A-B962-1CBCE4BBC87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Programs agree more strongly than exact driver identities across the two cohort-specific network analyses.</a:t>
            </a:r>
          </a:p>
        </p:txBody>
      </p:sp>
    </p:spTree>
    <p:extLst>
      <p:ext uri="{BB962C8B-B14F-4D97-AF65-F5344CB8AC3E}">
        <p14:creationId xmlns:p14="http://schemas.microsoft.com/office/powerpoint/2010/main" val="2039798513"/>
      </p:ext>
    </p:extLst>
  </p:cSld>
</p:sld>
</file>

<file path=ppt/slides/slide15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1DF330A-59B8-4C56-BF14-16228D7C79E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programs than on exact drivers</a:t>
            </a:r>
          </a:p>
        </p:txBody>
      </p:sp>
      <p:sp>
        <p:nvSpPr>
          <p:cNvPr id="3" name="TextBox 2">
            <a:extLst xmlns:a="http://schemas.openxmlformats.org/drawingml/2006/main">
              <a:ext uri="{FF2B5EF4-FFF2-40B4-BE49-F238E27FC236}">
                <a16:creationId xmlns:a16="http://schemas.microsoft.com/office/drawing/2014/main" id="{BE312BEF-4654-4EBA-8CF8-4F682720F0CE}"/>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xmlns:a="http://schemas.openxmlformats.org/drawingml/2006/main">
              <a:ext uri="{FF2B5EF4-FFF2-40B4-BE49-F238E27FC236}">
                <a16:creationId xmlns:a16="http://schemas.microsoft.com/office/drawing/2014/main" id="{21BBC1B0-AE5D-4C34-B1DF-455591D1A32D}"/>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62C70D88-CA29-4902-A408-038E3E78D88B}"/>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xmlns:a="http://schemas.openxmlformats.org/drawingml/2006/main">
              <a:ext uri="{FF2B5EF4-FFF2-40B4-BE49-F238E27FC236}">
                <a16:creationId xmlns:a16="http://schemas.microsoft.com/office/drawing/2014/main" id="{1B4B94DC-5846-4CAE-8E60-C2B1F2A97C2D}"/>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28B68B7-034B-41D5-A81D-B158583B61CC}"/>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xmlns:a="http://schemas.openxmlformats.org/drawingml/2006/main">
              <a:ext uri="{FF2B5EF4-FFF2-40B4-BE49-F238E27FC236}">
                <a16:creationId xmlns:a16="http://schemas.microsoft.com/office/drawing/2014/main" id="{9E3788A9-1BCE-47D9-B1D2-FAD7A41D612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1567607-C333-40E8-A008-F9C125B80B44}"/>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Zero exact non-MT matches</a:t>
            </a:r>
          </a:p>
        </p:txBody>
      </p:sp>
      <p:sp>
        <p:nvSpPr>
          <p:cNvPr id="10" name="Rounded Rectangle 9">
            <a:extLst xmlns:a="http://schemas.openxmlformats.org/drawingml/2006/main">
              <a:ext uri="{FF2B5EF4-FFF2-40B4-BE49-F238E27FC236}">
                <a16:creationId xmlns:a16="http://schemas.microsoft.com/office/drawing/2014/main" id="{E771D704-E76E-4C57-B890-FD69BCCA8C71}"/>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F06A26B-D975-41F9-BC51-F3A9C31C0FB1}"/>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xmlns:a="http://schemas.openxmlformats.org/drawingml/2006/main">
              <a:ext uri="{FF2B5EF4-FFF2-40B4-BE49-F238E27FC236}">
                <a16:creationId xmlns:a16="http://schemas.microsoft.com/office/drawing/2014/main" id="{0751C4B3-A0D7-41D1-8561-1FD837E810A3}"/>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32242E3E-2504-47C6-AAE4-926555F0C3F5}"/>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xmlns:a="http://schemas.openxmlformats.org/drawingml/2006/main">
              <a:ext uri="{FF2B5EF4-FFF2-40B4-BE49-F238E27FC236}">
                <a16:creationId xmlns:a16="http://schemas.microsoft.com/office/drawing/2014/main" id="{7B514A22-9CC2-4D1B-BE6F-856D30E254C1}"/>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xmlns:a="http://schemas.openxmlformats.org/drawingml/2006/main">
              <a:ext uri="{FF2B5EF4-FFF2-40B4-BE49-F238E27FC236}">
                <a16:creationId xmlns:a16="http://schemas.microsoft.com/office/drawing/2014/main" id="{EF09C707-29A1-4F8A-A4D8-35AAD80CBD5B}"/>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directly testable non-mitochondrial driver met this strongest support tier.</a:t>
            </a:r>
          </a:p>
        </p:txBody>
      </p:sp>
      <p:sp>
        <p:nvSpPr>
          <p:cNvPr id="16" name="Rounded Rectangle 15">
            <a:extLst xmlns:a="http://schemas.openxmlformats.org/drawingml/2006/main">
              <a:ext uri="{FF2B5EF4-FFF2-40B4-BE49-F238E27FC236}">
                <a16:creationId xmlns:a16="http://schemas.microsoft.com/office/drawing/2014/main" id="{08B5D0FD-4C5F-4485-9137-89C29558F812}"/>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5EBEDEF-27DB-4788-BA91-021E3F501BE2}"/>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xmlns:a="http://schemas.openxmlformats.org/drawingml/2006/main">
              <a:ext uri="{FF2B5EF4-FFF2-40B4-BE49-F238E27FC236}">
                <a16:creationId xmlns:a16="http://schemas.microsoft.com/office/drawing/2014/main" id="{C5728690-CEEA-4515-A80E-093509495D79}"/>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xmlns:a="http://schemas.openxmlformats.org/drawingml/2006/main">
              <a:ext uri="{FF2B5EF4-FFF2-40B4-BE49-F238E27FC236}">
                <a16:creationId xmlns:a16="http://schemas.microsoft.com/office/drawing/2014/main" id="{34158053-375E-4BE5-98C2-FB080CCB758D}"/>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xmlns:a="http://schemas.openxmlformats.org/drawingml/2006/main">
              <a:ext uri="{FF2B5EF4-FFF2-40B4-BE49-F238E27FC236}">
                <a16:creationId xmlns:a16="http://schemas.microsoft.com/office/drawing/2014/main" id="{4BFB6052-F03B-4710-A140-C3FC50562AB5}"/>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C9F029D-09B5-4F6D-9E40-51D48DFE1A1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PROGRAM COMPARISON</a:t>
            </a:r>
          </a:p>
        </p:txBody>
      </p:sp>
      <p:sp>
        <p:nvSpPr>
          <p:cNvPr id="22" name="TextBox 21">
            <a:extLst xmlns:a="http://schemas.openxmlformats.org/drawingml/2006/main">
              <a:ext uri="{FF2B5EF4-FFF2-40B4-BE49-F238E27FC236}">
                <a16:creationId xmlns:a16="http://schemas.microsoft.com/office/drawing/2014/main" id="{FFB4AB60-5B48-44DF-B4F2-AE8197B6DA45}"/>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xmlns:a="http://schemas.openxmlformats.org/drawingml/2006/main">
              <a:ext uri="{FF2B5EF4-FFF2-40B4-BE49-F238E27FC236}">
                <a16:creationId xmlns:a16="http://schemas.microsoft.com/office/drawing/2014/main" id="{D2065A4A-53DE-46C7-929A-D0A26ECC9D37}"/>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Female ε3/ε3 and male ε3/ε3 program evidence remains the strongest cross-cohort result.</a:t>
            </a:r>
          </a:p>
        </p:txBody>
      </p:sp>
      <p:sp>
        <p:nvSpPr>
          <p:cNvPr id="24" name="Rounded Rectangle 23">
            <a:extLst xmlns:a="http://schemas.openxmlformats.org/drawingml/2006/main">
              <a:ext uri="{FF2B5EF4-FFF2-40B4-BE49-F238E27FC236}">
                <a16:creationId xmlns:a16="http://schemas.microsoft.com/office/drawing/2014/main" id="{F1A6FBBD-98D1-4345-8C33-FF1DB2D8942C}"/>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137C4828-37A1-4E8C-9283-5A90623DF32E}"/>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
        <p:nvSpPr>
          <p:cNvPr id="26" name="TextBox 25">
            <a:extLst xmlns:a="http://schemas.openxmlformats.org/drawingml/2006/main">
              <a:ext uri="{FF2B5EF4-FFF2-40B4-BE49-F238E27FC236}">
                <a16:creationId xmlns:a16="http://schemas.microsoft.com/office/drawing/2014/main" id="{E9C78969-BBFB-4276-8E2A-152139A5D86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559473946"/>
      </p:ext>
    </p:extLst>
  </p:cSld>
</p:sld>
</file>

<file path=ppt/slides/slide15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6DAA825-32C1-4009-83A0-9147A0DE81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non-MT driver matches</a:t>
            </a:r>
          </a:p>
        </p:txBody>
      </p:sp>
      <p:sp>
        <p:nvSpPr>
          <p:cNvPr id="3" name="TextBox 2">
            <a:extLst xmlns:a="http://schemas.openxmlformats.org/drawingml/2006/main">
              <a:ext uri="{FF2B5EF4-FFF2-40B4-BE49-F238E27FC236}">
                <a16:creationId xmlns:a16="http://schemas.microsoft.com/office/drawing/2014/main" id="{ADAC240A-00F3-4DF4-8F30-44AC3537D92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xmlns:a="http://schemas.openxmlformats.org/drawingml/2006/main">
              <a:ext uri="{FF2B5EF4-FFF2-40B4-BE49-F238E27FC236}">
                <a16:creationId xmlns:a16="http://schemas.microsoft.com/office/drawing/2014/main" id="{B440ED95-F404-4D66-AFAE-23B68FD85C7F}"/>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68299FF-33AD-421B-936C-05D34F585A95}"/>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xmlns:a="http://schemas.openxmlformats.org/drawingml/2006/main">
              <a:ext uri="{FF2B5EF4-FFF2-40B4-BE49-F238E27FC236}">
                <a16:creationId xmlns:a16="http://schemas.microsoft.com/office/drawing/2014/main" id="{3B57A4B3-3809-401D-872C-2DF95281AB9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xmlns:a="http://schemas.openxmlformats.org/drawingml/2006/main">
              <a:ext uri="{FF2B5EF4-FFF2-40B4-BE49-F238E27FC236}">
                <a16:creationId xmlns:a16="http://schemas.microsoft.com/office/drawing/2014/main" id="{F0B1C9B0-4634-46E2-AB9D-9DD1CF154BC7}"/>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xmlns:a="http://schemas.openxmlformats.org/drawingml/2006/main">
              <a:ext uri="{FF2B5EF4-FFF2-40B4-BE49-F238E27FC236}">
                <a16:creationId xmlns:a16="http://schemas.microsoft.com/office/drawing/2014/main" id="{01F0C32D-4EA6-4B09-AB15-6380A367B27E}"/>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BF84B71-82EC-470D-9164-5472ADF36C14}"/>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xmlns:a="http://schemas.openxmlformats.org/drawingml/2006/main">
              <a:ext uri="{FF2B5EF4-FFF2-40B4-BE49-F238E27FC236}">
                <a16:creationId xmlns:a16="http://schemas.microsoft.com/office/drawing/2014/main" id="{FC3CB2D5-1211-4E03-9E0A-98CB1889813D}"/>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xmlns:a="http://schemas.openxmlformats.org/drawingml/2006/main">
              <a:ext uri="{FF2B5EF4-FFF2-40B4-BE49-F238E27FC236}">
                <a16:creationId xmlns:a16="http://schemas.microsoft.com/office/drawing/2014/main" id="{099D4DEE-027D-4459-9563-E38A8E88F52C}"/>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xmlns:a="http://schemas.openxmlformats.org/drawingml/2006/main">
              <a:ext uri="{FF2B5EF4-FFF2-40B4-BE49-F238E27FC236}">
                <a16:creationId xmlns:a16="http://schemas.microsoft.com/office/drawing/2014/main" id="{2526A1D1-35C6-4DFB-934C-703CDB713A6D}"/>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8FC5F02-ED2C-4880-B4A9-B88D416C374F}"/>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xmlns:a="http://schemas.openxmlformats.org/drawingml/2006/main">
              <a:ext uri="{FF2B5EF4-FFF2-40B4-BE49-F238E27FC236}">
                <a16:creationId xmlns:a16="http://schemas.microsoft.com/office/drawing/2014/main" id="{D629B002-010E-43F6-84DC-2A1D6B152A63}"/>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xmlns:a="http://schemas.openxmlformats.org/drawingml/2006/main">
              <a:ext uri="{FF2B5EF4-FFF2-40B4-BE49-F238E27FC236}">
                <a16:creationId xmlns:a16="http://schemas.microsoft.com/office/drawing/2014/main" id="{914408BB-2D15-46DA-8F5C-007B9A9A62AF}"/>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non-mitochondrial drivers</a:t>
            </a:r>
          </a:p>
        </p:txBody>
      </p:sp>
      <p:sp>
        <p:nvSpPr>
          <p:cNvPr id="16" name="Rounded Rectangle 15">
            <a:extLst xmlns:a="http://schemas.openxmlformats.org/drawingml/2006/main">
              <a:ext uri="{FF2B5EF4-FFF2-40B4-BE49-F238E27FC236}">
                <a16:creationId xmlns:a16="http://schemas.microsoft.com/office/drawing/2014/main" id="{A9B2B337-4D1E-486A-BF7D-3723D6CCA1A2}"/>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AA24594-AD30-4568-8B10-76F5D41FBFD0}"/>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xmlns:a="http://schemas.openxmlformats.org/drawingml/2006/main">
              <a:ext uri="{FF2B5EF4-FFF2-40B4-BE49-F238E27FC236}">
                <a16:creationId xmlns:a16="http://schemas.microsoft.com/office/drawing/2014/main" id="{D0396D35-F0C9-4FB2-8A00-099C672CC073}"/>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xmlns:a="http://schemas.openxmlformats.org/drawingml/2006/main">
              <a:ext uri="{FF2B5EF4-FFF2-40B4-BE49-F238E27FC236}">
                <a16:creationId xmlns:a16="http://schemas.microsoft.com/office/drawing/2014/main" id="{15BE2D79-C2E0-4380-A768-0253D3A43229}"/>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Intersected non-mitochondrial opportunities across matching contexts</a:t>
            </a:r>
          </a:p>
        </p:txBody>
      </p:sp>
      <p:sp>
        <p:nvSpPr>
          <p:cNvPr id="20" name="Rounded Rectangle 19">
            <a:extLst xmlns:a="http://schemas.openxmlformats.org/drawingml/2006/main">
              <a:ext uri="{FF2B5EF4-FFF2-40B4-BE49-F238E27FC236}">
                <a16:creationId xmlns:a16="http://schemas.microsoft.com/office/drawing/2014/main" id="{778BBDB5-1C89-4883-86B9-5C2768DB83E6}"/>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908E9744-C940-47E4-A257-C78FA8DEB765}"/>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xmlns:a="http://schemas.openxmlformats.org/drawingml/2006/main">
              <a:ext uri="{FF2B5EF4-FFF2-40B4-BE49-F238E27FC236}">
                <a16:creationId xmlns:a16="http://schemas.microsoft.com/office/drawing/2014/main" id="{BF557339-C72C-4F44-9E06-2B2AE0FBE3EE}"/>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xmlns:a="http://schemas.openxmlformats.org/drawingml/2006/main">
              <a:ext uri="{FF2B5EF4-FFF2-40B4-BE49-F238E27FC236}">
                <a16:creationId xmlns:a16="http://schemas.microsoft.com/office/drawing/2014/main" id="{4E0B8127-7CE4-475A-A3E9-C676FE6F6853}"/>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xmlns:a="http://schemas.openxmlformats.org/drawingml/2006/main">
              <a:ext uri="{FF2B5EF4-FFF2-40B4-BE49-F238E27FC236}">
                <a16:creationId xmlns:a16="http://schemas.microsoft.com/office/drawing/2014/main" id="{92B21285-4F01-4083-935C-20BA55CBFA63}"/>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E8D61AE-6E22-46B1-88B0-208CB0D0377A}"/>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xmlns:a="http://schemas.openxmlformats.org/drawingml/2006/main">
              <a:ext uri="{FF2B5EF4-FFF2-40B4-BE49-F238E27FC236}">
                <a16:creationId xmlns:a16="http://schemas.microsoft.com/office/drawing/2014/main" id="{095DAEF3-1814-465F-BA0C-0C8451F5DFF7}"/>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xmlns:a="http://schemas.openxmlformats.org/drawingml/2006/main">
              <a:ext uri="{FF2B5EF4-FFF2-40B4-BE49-F238E27FC236}">
                <a16:creationId xmlns:a16="http://schemas.microsoft.com/office/drawing/2014/main" id="{04E292C6-FFB8-4535-A358-09932C359B86}"/>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
        <p:nvSpPr>
          <p:cNvPr id="28" name="TextBox 27">
            <a:extLst xmlns:a="http://schemas.openxmlformats.org/drawingml/2006/main">
              <a:ext uri="{FF2B5EF4-FFF2-40B4-BE49-F238E27FC236}">
                <a16:creationId xmlns:a16="http://schemas.microsoft.com/office/drawing/2014/main" id="{8EF39F08-287A-43EE-810B-80043D7E24E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272007388"/>
      </p:ext>
    </p:extLst>
  </p:cSld>
</p:sld>
</file>

<file path=ppt/slides/slide15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CCC87A-9311-49E5-931E-22745C95844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xmlns:a="http://schemas.openxmlformats.org/drawingml/2006/main">
              <a:ext uri="{FF2B5EF4-FFF2-40B4-BE49-F238E27FC236}">
                <a16:creationId xmlns:a16="http://schemas.microsoft.com/office/drawing/2014/main" id="{0BA68A66-12EC-43C9-88C8-84F7C8517D9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xmlns:a="http://schemas.openxmlformats.org/drawingml/2006/main">
              <a:ext uri="{FF2B5EF4-FFF2-40B4-BE49-F238E27FC236}">
                <a16:creationId xmlns:a16="http://schemas.microsoft.com/office/drawing/2014/main" id="{A54A2310-6726-40FF-B5C1-7387C5D7460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D11FED0-5DB0-4B82-BB0E-DE0F9FCF7B1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xmlns:a="http://schemas.openxmlformats.org/drawingml/2006/main">
              <a:ext uri="{FF2B5EF4-FFF2-40B4-BE49-F238E27FC236}">
                <a16:creationId xmlns:a16="http://schemas.microsoft.com/office/drawing/2014/main" id="{AAC4ADCF-AA53-4CC3-B11F-D61D4523BD40}"/>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xmlns:a="http://schemas.openxmlformats.org/drawingml/2006/main">
              <a:ext uri="{FF2B5EF4-FFF2-40B4-BE49-F238E27FC236}">
                <a16:creationId xmlns:a16="http://schemas.microsoft.com/office/drawing/2014/main" id="{6DEA0B31-FEEA-4EFA-903A-330CAC1DFAD6}"/>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xmlns:a="http://schemas.openxmlformats.org/drawingml/2006/main">
              <a:ext uri="{FF2B5EF4-FFF2-40B4-BE49-F238E27FC236}">
                <a16:creationId xmlns:a16="http://schemas.microsoft.com/office/drawing/2014/main" id="{3D490C04-FB3B-45F5-92D2-2E230400F9A3}"/>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3469C7F-7EAA-4EFF-8466-2086C6C17679}"/>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xmlns:a="http://schemas.openxmlformats.org/drawingml/2006/main">
              <a:ext uri="{FF2B5EF4-FFF2-40B4-BE49-F238E27FC236}">
                <a16:creationId xmlns:a16="http://schemas.microsoft.com/office/drawing/2014/main" id="{21682DBC-6626-4FAC-8759-D6326C9D9D35}"/>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xmlns:a="http://schemas.openxmlformats.org/drawingml/2006/main">
              <a:ext uri="{FF2B5EF4-FFF2-40B4-BE49-F238E27FC236}">
                <a16:creationId xmlns:a16="http://schemas.microsoft.com/office/drawing/2014/main" id="{7429F00D-0863-4994-A44F-2FB9DC5FA13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xmlns:a="http://schemas.openxmlformats.org/drawingml/2006/main">
              <a:ext uri="{FF2B5EF4-FFF2-40B4-BE49-F238E27FC236}">
                <a16:creationId xmlns:a16="http://schemas.microsoft.com/office/drawing/2014/main" id="{E6551926-18DE-47E3-BF70-F99F60745C39}"/>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9A3AF84-1BB4-4927-A1AC-DB28702EF2C7}"/>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xmlns:a="http://schemas.openxmlformats.org/drawingml/2006/main">
              <a:ext uri="{FF2B5EF4-FFF2-40B4-BE49-F238E27FC236}">
                <a16:creationId xmlns:a16="http://schemas.microsoft.com/office/drawing/2014/main" id="{425B5F0E-4346-4692-8F98-D2534DD08380}"/>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xmlns:a="http://schemas.openxmlformats.org/drawingml/2006/main">
              <a:ext uri="{FF2B5EF4-FFF2-40B4-BE49-F238E27FC236}">
                <a16:creationId xmlns:a16="http://schemas.microsoft.com/office/drawing/2014/main" id="{D0E8AE00-8D13-45C0-813F-2B0CD8CA0932}"/>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xmlns:a="http://schemas.openxmlformats.org/drawingml/2006/main">
              <a:ext uri="{FF2B5EF4-FFF2-40B4-BE49-F238E27FC236}">
                <a16:creationId xmlns:a16="http://schemas.microsoft.com/office/drawing/2014/main" id="{FC812E65-BA32-4081-BEE9-F4C7392A7A2E}"/>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97AC4BE-2CA4-4ED6-9F30-44793C325198}"/>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
        <p:nvSpPr>
          <p:cNvPr id="18" name="TextBox 17">
            <a:extLst xmlns:a="http://schemas.openxmlformats.org/drawingml/2006/main">
              <a:ext uri="{FF2B5EF4-FFF2-40B4-BE49-F238E27FC236}">
                <a16:creationId xmlns:a16="http://schemas.microsoft.com/office/drawing/2014/main" id="{1A082065-DBC4-40EC-AE60-737BD6B53D3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693514982"/>
      </p:ext>
    </p:extLst>
  </p:cSld>
</p:sld>
</file>

<file path=ppt/slides/slide16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F28EA3-33A3-4DF2-80F0-C5A14CCFB4D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xmlns:a="http://schemas.openxmlformats.org/drawingml/2006/main">
              <a:ext uri="{FF2B5EF4-FFF2-40B4-BE49-F238E27FC236}">
                <a16:creationId xmlns:a16="http://schemas.microsoft.com/office/drawing/2014/main" id="{2186D631-ED69-4B64-9A8D-A9E4E9A8CC8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xmlns:a="http://schemas.openxmlformats.org/drawingml/2006/main">
              <a:ext uri="{FF2B5EF4-FFF2-40B4-BE49-F238E27FC236}">
                <a16:creationId xmlns:a16="http://schemas.microsoft.com/office/drawing/2014/main" id="{033C0E26-9F12-464F-9F92-8EA6CD73720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6E38A9E-1606-4C20-93B0-065A4A460402}"/>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xmlns:a="http://schemas.openxmlformats.org/drawingml/2006/main">
              <a:ext uri="{FF2B5EF4-FFF2-40B4-BE49-F238E27FC236}">
                <a16:creationId xmlns:a16="http://schemas.microsoft.com/office/drawing/2014/main" id="{E5EF60F9-D733-413E-B344-E387AA3236FE}"/>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xmlns:a="http://schemas.openxmlformats.org/drawingml/2006/main">
              <a:ext uri="{FF2B5EF4-FFF2-40B4-BE49-F238E27FC236}">
                <a16:creationId xmlns:a16="http://schemas.microsoft.com/office/drawing/2014/main" id="{476D9EAF-A0A1-4DB0-AD42-A5453BA58DCA}"/>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program.</a:t>
            </a:r>
          </a:p>
        </p:txBody>
      </p:sp>
      <p:sp>
        <p:nvSpPr>
          <p:cNvPr id="8" name="Rounded Rectangle 7">
            <a:extLst xmlns:a="http://schemas.openxmlformats.org/drawingml/2006/main">
              <a:ext uri="{FF2B5EF4-FFF2-40B4-BE49-F238E27FC236}">
                <a16:creationId xmlns:a16="http://schemas.microsoft.com/office/drawing/2014/main" id="{3FB9A657-E152-445D-BF53-23C6B4BF7AE8}"/>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9F9BE43-550B-4C5B-88C0-3B21FE2A69F3}"/>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xmlns:a="http://schemas.openxmlformats.org/drawingml/2006/main">
              <a:ext uri="{FF2B5EF4-FFF2-40B4-BE49-F238E27FC236}">
                <a16:creationId xmlns:a16="http://schemas.microsoft.com/office/drawing/2014/main" id="{834F1894-B8DA-4A9C-BF25-3310879A96D6}"/>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Only 22 SEA-AD active calls</a:t>
            </a:r>
          </a:p>
        </p:txBody>
      </p:sp>
      <p:sp>
        <p:nvSpPr>
          <p:cNvPr id="11" name="TextBox 10">
            <a:extLst xmlns:a="http://schemas.openxmlformats.org/drawingml/2006/main">
              <a:ext uri="{FF2B5EF4-FFF2-40B4-BE49-F238E27FC236}">
                <a16:creationId xmlns:a16="http://schemas.microsoft.com/office/drawing/2014/main" id="{4530A2DB-2CE2-4567-8DCA-20852B1D00FA}"/>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Twenty of the 22 calls are male ε3/ε3, leaving most groups poorly covered.</a:t>
            </a:r>
          </a:p>
        </p:txBody>
      </p:sp>
      <p:sp>
        <p:nvSpPr>
          <p:cNvPr id="12" name="Rounded Rectangle 11">
            <a:extLst xmlns:a="http://schemas.openxmlformats.org/drawingml/2006/main">
              <a:ext uri="{FF2B5EF4-FFF2-40B4-BE49-F238E27FC236}">
                <a16:creationId xmlns:a16="http://schemas.microsoft.com/office/drawing/2014/main" id="{B7FEB6B1-0D94-4FC5-91CC-D25E4ED17F2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0DE97387-C816-47E2-A742-9FB34F97DDC8}"/>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xmlns:a="http://schemas.openxmlformats.org/drawingml/2006/main">
              <a:ext uri="{FF2B5EF4-FFF2-40B4-BE49-F238E27FC236}">
                <a16:creationId xmlns:a16="http://schemas.microsoft.com/office/drawing/2014/main" id="{0EC2FCF6-23A0-42B7-9A7D-AFE1AD6E11B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Two mitochondrial programs</a:t>
            </a:r>
          </a:p>
        </p:txBody>
      </p:sp>
      <p:sp>
        <p:nvSpPr>
          <p:cNvPr id="15" name="TextBox 14">
            <a:extLst xmlns:a="http://schemas.openxmlformats.org/drawingml/2006/main">
              <a:ext uri="{FF2B5EF4-FFF2-40B4-BE49-F238E27FC236}">
                <a16:creationId xmlns:a16="http://schemas.microsoft.com/office/drawing/2014/main" id="{890132DD-EF4B-4828-B512-4F845346CB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xmlns:a="http://schemas.openxmlformats.org/drawingml/2006/main">
              <a:ext uri="{FF2B5EF4-FFF2-40B4-BE49-F238E27FC236}">
                <a16:creationId xmlns:a16="http://schemas.microsoft.com/office/drawing/2014/main" id="{9A8D19FD-4DEA-4727-BB94-90FDE3BB78E9}"/>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80A13A0-0003-43D5-B649-E5F4433E838C}"/>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8416ABDE-0FEE-4C5E-AB9C-22433437C54D}"/>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Program support can strengthen a ROSMAP finding without confirming its exact upstream candidate.</a:t>
            </a:r>
          </a:p>
        </p:txBody>
      </p:sp>
      <p:sp>
        <p:nvSpPr>
          <p:cNvPr id="19" name="TextBox 18">
            <a:extLst xmlns:a="http://schemas.openxmlformats.org/drawingml/2006/main">
              <a:ext uri="{FF2B5EF4-FFF2-40B4-BE49-F238E27FC236}">
                <a16:creationId xmlns:a16="http://schemas.microsoft.com/office/drawing/2014/main" id="{33AECBDA-0D87-489E-9D49-3397B0881B4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159540179"/>
      </p:ext>
    </p:extLst>
  </p:cSld>
</p:sld>
</file>

<file path=ppt/slides/slide16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8C8AAF-6A14-45F1-83DD-038175D9FC29}"/>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17 does not prove, and the next evidence needed</a:t>
            </a:r>
          </a:p>
        </p:txBody>
      </p:sp>
      <p:sp>
        <p:nvSpPr>
          <p:cNvPr id="3" name="TextBox 2">
            <a:extLst xmlns:a="http://schemas.openxmlformats.org/drawingml/2006/main">
              <a:ext uri="{FF2B5EF4-FFF2-40B4-BE49-F238E27FC236}">
                <a16:creationId xmlns:a16="http://schemas.microsoft.com/office/drawing/2014/main" id="{0401A84C-572D-46D0-A2B4-3CF8F08387C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4A038885-6E02-4777-90DD-C1FFFF5E20DD}"/>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2ECAD3A-7CD5-4012-9F67-9A725D8D48A5}"/>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CDB2F60-7483-479F-9DDA-1A8436D11557}"/>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6F7D96FF-7481-41F5-A863-947E23CD85D7}"/>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BAF205D-D935-46C2-AE7C-0F7394E760D6}"/>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zero exact matches refutes ROSMAP candidates</a:t>
            </a:r>
          </a:p>
        </p:txBody>
      </p:sp>
      <p:sp>
        <p:nvSpPr>
          <p:cNvPr id="9" name="Oval 8">
            <a:extLst xmlns:a="http://schemas.openxmlformats.org/drawingml/2006/main">
              <a:ext uri="{FF2B5EF4-FFF2-40B4-BE49-F238E27FC236}">
                <a16:creationId xmlns:a16="http://schemas.microsoft.com/office/drawing/2014/main" id="{5CD7FE61-C01D-460C-A9BB-DEB859257B88}"/>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7C72BE04-3FB6-45DC-A571-755640FBDC10}"/>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Original contexts for LAGE3, MIPOL1, or PAPOLA</a:t>
            </a:r>
          </a:p>
        </p:txBody>
      </p:sp>
      <p:sp>
        <p:nvSpPr>
          <p:cNvPr id="11" name="Oval 10">
            <a:extLst xmlns:a="http://schemas.openxmlformats.org/drawingml/2006/main">
              <a:ext uri="{FF2B5EF4-FFF2-40B4-BE49-F238E27FC236}">
                <a16:creationId xmlns:a16="http://schemas.microsoft.com/office/drawing/2014/main" id="{32ED659D-829A-4B45-BB52-412B2BABB442}"/>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D3BF874-C8E6-4DD8-AE42-9EC33F515F36}"/>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shared upstream cause for similar mitochondrial programs</a:t>
            </a:r>
          </a:p>
        </p:txBody>
      </p:sp>
      <p:sp>
        <p:nvSpPr>
          <p:cNvPr id="13" name="Rounded Rectangle 12">
            <a:extLst xmlns:a="http://schemas.openxmlformats.org/drawingml/2006/main">
              <a:ext uri="{FF2B5EF4-FFF2-40B4-BE49-F238E27FC236}">
                <a16:creationId xmlns:a16="http://schemas.microsoft.com/office/drawing/2014/main" id="{F84B8D58-C048-4BCD-AD6B-C02443BC451A}"/>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7139715D-2729-46B7-B54C-C7728952164A}"/>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5BA74774-D4C9-47DC-A54D-9E24C00758C4}"/>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66DAEF89-C272-4F7B-A7BC-D706EEAB233A}"/>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42C559-DA01-490D-B5A4-38C9BB3EAC06}"/>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Freeze driver-associated signed gene sets before validation</a:t>
            </a:r>
          </a:p>
        </p:txBody>
      </p:sp>
      <p:sp>
        <p:nvSpPr>
          <p:cNvPr id="18" name="Oval 17">
            <a:extLst xmlns:a="http://schemas.openxmlformats.org/drawingml/2006/main">
              <a:ext uri="{FF2B5EF4-FFF2-40B4-BE49-F238E27FC236}">
                <a16:creationId xmlns:a16="http://schemas.microsoft.com/office/drawing/2014/main" id="{C88A6372-0E0B-448A-A3B6-520BA29D2FB5}"/>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3651C554-9803-46B7-A16E-3613038D5594}"/>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Harmonize networks, stable IDs, and thresholds</a:t>
            </a:r>
          </a:p>
        </p:txBody>
      </p:sp>
      <p:sp>
        <p:nvSpPr>
          <p:cNvPr id="20" name="Oval 19">
            <a:extLst xmlns:a="http://schemas.openxmlformats.org/drawingml/2006/main">
              <a:ext uri="{FF2B5EF4-FFF2-40B4-BE49-F238E27FC236}">
                <a16:creationId xmlns:a16="http://schemas.microsoft.com/office/drawing/2014/main" id="{4C709F26-04D6-47C5-A04A-E7CE6F1C241A}"/>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6407286D-B69D-43EF-BE74-D885510BE770}"/>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Test matched and related contexts in a larger balanced cohort</a:t>
            </a:r>
          </a:p>
        </p:txBody>
      </p:sp>
      <p:sp>
        <p:nvSpPr>
          <p:cNvPr id="22" name="TextBox 21">
            <a:extLst xmlns:a="http://schemas.openxmlformats.org/drawingml/2006/main">
              <a:ext uri="{FF2B5EF4-FFF2-40B4-BE49-F238E27FC236}">
                <a16:creationId xmlns:a16="http://schemas.microsoft.com/office/drawing/2014/main" id="{DA7B2205-9968-4001-B93E-33EA7F034C16}"/>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E9261B5D-E0A4-49E9-B4A7-B92649D46B9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2070990772"/>
      </p:ext>
    </p:extLst>
  </p:cSld>
</p:sld>
</file>

<file path=ppt/slides/slide16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7F17D0-27B4-40F3-B9A2-6DDD1B9E42B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xmlns:a="http://schemas.openxmlformats.org/drawingml/2006/main">
              <a:ext uri="{FF2B5EF4-FFF2-40B4-BE49-F238E27FC236}">
                <a16:creationId xmlns:a16="http://schemas.microsoft.com/office/drawing/2014/main" id="{249501AF-445F-4338-8E8F-E34A6D8A9E6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CA191AEA-51BD-4391-9423-DF35EC8D10A5}"/>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3F596638-4B6C-4331-9E6A-83F32EE9916B}"/>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Female ε3/ε3 program</a:t>
            </a:r>
          </a:p>
        </p:txBody>
      </p:sp>
      <p:sp>
        <p:nvSpPr>
          <p:cNvPr id="6" name="TextBox 5">
            <a:extLst xmlns:a="http://schemas.openxmlformats.org/drawingml/2006/main">
              <a:ext uri="{FF2B5EF4-FFF2-40B4-BE49-F238E27FC236}">
                <a16:creationId xmlns:a16="http://schemas.microsoft.com/office/drawing/2014/main" id="{95D7659A-8241-4717-A59C-98BD56EFA108}"/>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xmlns:a="http://schemas.openxmlformats.org/drawingml/2006/main">
              <a:ext uri="{FF2B5EF4-FFF2-40B4-BE49-F238E27FC236}">
                <a16:creationId xmlns:a16="http://schemas.microsoft.com/office/drawing/2014/main" id="{7C08F0BB-8318-4CD3-8D79-EE3C7D032E4B}"/>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A5EC6D06-54BE-4B44-AF40-E356536BB43F}"/>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Nine shared mtDNA genes are AD-up in both cohorts and overlap BH is 0.00505.</a:t>
            </a:r>
          </a:p>
        </p:txBody>
      </p:sp>
      <p:sp>
        <p:nvSpPr>
          <p:cNvPr id="9" name="TextBox 8">
            <a:extLst xmlns:a="http://schemas.openxmlformats.org/drawingml/2006/main">
              <a:ext uri="{FF2B5EF4-FFF2-40B4-BE49-F238E27FC236}">
                <a16:creationId xmlns:a16="http://schemas.microsoft.com/office/drawing/2014/main" id="{B8894569-60E7-4348-833B-F6D568F62DD5}"/>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B934DCB9-EEC6-42DF-8BB6-CB122EC99930}"/>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Only one matched SEA-AD excitatory call was evaluable.</a:t>
            </a:r>
          </a:p>
        </p:txBody>
      </p:sp>
      <p:sp>
        <p:nvSpPr>
          <p:cNvPr id="11" name="Rounded Rectangle 10">
            <a:extLst xmlns:a="http://schemas.openxmlformats.org/drawingml/2006/main">
              <a:ext uri="{FF2B5EF4-FFF2-40B4-BE49-F238E27FC236}">
                <a16:creationId xmlns:a16="http://schemas.microsoft.com/office/drawing/2014/main" id="{B0DF5B9C-C7DC-45B7-A5C2-7FEF846E5B9E}"/>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10BA03C-69DB-4568-AA00-5F1D44305117}"/>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Male ε3/ε3 program</a:t>
            </a:r>
          </a:p>
        </p:txBody>
      </p:sp>
      <p:sp>
        <p:nvSpPr>
          <p:cNvPr id="13" name="TextBox 12">
            <a:extLst xmlns:a="http://schemas.openxmlformats.org/drawingml/2006/main">
              <a:ext uri="{FF2B5EF4-FFF2-40B4-BE49-F238E27FC236}">
                <a16:creationId xmlns:a16="http://schemas.microsoft.com/office/drawing/2014/main" id="{A09F1D21-C3A3-4292-A15D-13A1248BFF71}"/>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xmlns:a="http://schemas.openxmlformats.org/drawingml/2006/main">
              <a:ext uri="{FF2B5EF4-FFF2-40B4-BE49-F238E27FC236}">
                <a16:creationId xmlns:a16="http://schemas.microsoft.com/office/drawing/2014/main" id="{8DC78D7D-9D57-4BE7-A626-26EB6E06372F}"/>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F87DA702-414E-487B-8AFA-63E3C9FCEC3A}"/>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xmlns:a="http://schemas.openxmlformats.org/drawingml/2006/main">
              <a:ext uri="{FF2B5EF4-FFF2-40B4-BE49-F238E27FC236}">
                <a16:creationId xmlns:a16="http://schemas.microsoft.com/office/drawing/2014/main" id="{19CADD17-C69C-4A27-8ECB-97FAB98E3788}"/>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0DC85666-4C4F-4A12-97D1-2455F7AA73F4}"/>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xmlns:a="http://schemas.openxmlformats.org/drawingml/2006/main">
              <a:ext uri="{FF2B5EF4-FFF2-40B4-BE49-F238E27FC236}">
                <a16:creationId xmlns:a16="http://schemas.microsoft.com/office/drawing/2014/main" id="{289BB1B8-B4BE-4337-B37D-2538C083400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0E0349AA-1624-44E2-BBCF-9D60E6FBD3B3}"/>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xmlns:a="http://schemas.openxmlformats.org/drawingml/2006/main">
              <a:ext uri="{FF2B5EF4-FFF2-40B4-BE49-F238E27FC236}">
                <a16:creationId xmlns:a16="http://schemas.microsoft.com/office/drawing/2014/main" id="{F280AD69-BE1C-48C2-9127-6D7C129632E9}"/>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xmlns:a="http://schemas.openxmlformats.org/drawingml/2006/main">
              <a:ext uri="{FF2B5EF4-FFF2-40B4-BE49-F238E27FC236}">
                <a16:creationId xmlns:a16="http://schemas.microsoft.com/office/drawing/2014/main" id="{FDBA1D66-212F-494B-A15B-C41380E2B0D6}"/>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B06E185D-9B8F-4A0C-9AA8-1606ABEE49CF}"/>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xmlns:a="http://schemas.openxmlformats.org/drawingml/2006/main">
              <a:ext uri="{FF2B5EF4-FFF2-40B4-BE49-F238E27FC236}">
                <a16:creationId xmlns:a16="http://schemas.microsoft.com/office/drawing/2014/main" id="{23908DBE-25FA-4BA1-9033-E5896D97CB6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DD80D345-B728-4C0C-9083-02E0CB61C8FC}"/>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xmlns:a="http://schemas.openxmlformats.org/drawingml/2006/main">
              <a:ext uri="{FF2B5EF4-FFF2-40B4-BE49-F238E27FC236}">
                <a16:creationId xmlns:a16="http://schemas.microsoft.com/office/drawing/2014/main" id="{915B11E8-7013-4878-BD53-9FBFA776CD6A}"/>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F63B0C29-AE66-4812-949A-23FA8E6B0EA5}"/>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307DD67D-4174-4879-87A5-E0944BED8B7C}"/>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32031817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2026-09-19T15:08:02.0570000Z</dcterms:created>
  <dcterms:modified xsi:type="dcterms:W3CDTF">2026-09-19T15:08:02.0570000Z</dcterms:modified>
</coreProperties>
</file>