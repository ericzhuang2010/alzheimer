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4" r:id="rId15"/>
    <p:sldId id="262" r:id="rId13"/>
    <p:sldId id="263" r:id="rId14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713232"/>
            <a:ext cx="1078992" cy="107899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20072" y="1078992"/>
            <a:ext cx="685800" cy="68580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71632" y="566928"/>
            <a:ext cx="384048" cy="384048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96528" y="2578608"/>
            <a:ext cx="530352" cy="530352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2761488"/>
            <a:ext cx="932688" cy="93268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08592" y="4352544"/>
            <a:ext cx="384048" cy="384048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17352" y="4681728"/>
            <a:ext cx="640080" cy="64008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869680" y="1234440"/>
            <a:ext cx="1170432" cy="192024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76688" y="1572768"/>
            <a:ext cx="512064" cy="1389888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8280" y="2834640"/>
            <a:ext cx="1280160" cy="36576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1744" y="3108960"/>
            <a:ext cx="118872" cy="1408176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34472" y="3675887"/>
            <a:ext cx="493776" cy="1280161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8" y="4553712"/>
            <a:ext cx="1225296" cy="45720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8368"/>
            <a:ext cx="6766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B4E9"/>
                </a:solidFill>
                <a:latin typeface="Arial"/>
              </a:rPr>
              <a:t>PHASE 18 • KEY-DRIVER 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143000"/>
            <a:ext cx="7178040" cy="2148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rial"/>
              </a:rPr>
              <a:t>From run-level KDA
evidence to a focused
key-driver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94176"/>
            <a:ext cx="665683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2DEEB"/>
                </a:solidFill>
                <a:latin typeface="Arial"/>
              </a:rPr>
              <a:t>Selection logic • cross-network recurrence • evidence breadth • descriptive sex/APOE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00016"/>
            <a:ext cx="6355080" cy="5029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6583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BECFE1"/>
                </a:solidFill>
                <a:latin typeface="Arial"/>
              </a:rPr>
              <a:t>MT drivers and non-MT drivers are ranked separately within seven broad cell-network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09360"/>
            <a:ext cx="6492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1ABC5"/>
                </a:solidFill>
                <a:latin typeface="Arial"/>
              </a:rPr>
              <a:t>Prepared from validated Phase 18 outputs • 16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SELECTION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strict intersection of coverage, support, and aggregate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pipeline changes counting units as run-level tests are aggregated into network × driver-class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02</a:t>
            </a:r>
          </a:p>
        </p:txBody>
      </p:sp>
      <p:pic>
        <p:nvPicPr>
          <p:cNvPr id="6" name="Phase 18 key-driver selection process from 95,557 run-level tests to 47 displayed positions" descr="Phase 18 key-driver selection process from 95,557 run-level tests to 47 displayed posi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4416"/>
            <a:ext cx="7818120" cy="53321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298448"/>
            <a:ext cx="3401568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8784" y="160020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23376" y="1572768"/>
            <a:ext cx="262432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earns a place</a:t>
            </a:r>
          </a:p>
        </p:txBody>
      </p:sp>
      <p:sp>
        <p:nvSpPr>
          <p:cNvPr id="10" name="Oval 9"/>
          <p:cNvSpPr/>
          <p:nvPr/>
        </p:nvSpPr>
        <p:spPr>
          <a:xfrm>
            <a:off x="8558784" y="22128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19" y="2084831"/>
            <a:ext cx="2624328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All three gates are required: ≥80% usable-run coverage, ≥1 conservative-support run, and aggregate ACAT q ≤ 0.05.</a:t>
            </a:r>
          </a:p>
        </p:txBody>
      </p:sp>
      <p:sp>
        <p:nvSpPr>
          <p:cNvPr id="12" name="Oval 11"/>
          <p:cNvSpPr/>
          <p:nvPr/>
        </p:nvSpPr>
        <p:spPr>
          <a:xfrm>
            <a:off x="8558784" y="2907792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2779776"/>
            <a:ext cx="2624328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The intersection retains 78 of 10,433 represented candidate units (0.75%).</a:t>
            </a:r>
          </a:p>
        </p:txBody>
      </p:sp>
      <p:sp>
        <p:nvSpPr>
          <p:cNvPr id="14" name="Oval 13"/>
          <p:cNvSpPr/>
          <p:nvPr/>
        </p:nvSpPr>
        <p:spPr>
          <a:xfrm>
            <a:off x="8558784" y="360273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3474720"/>
            <a:ext cx="2624328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Candidates are ranked independently in 14 lists: 7 broad networks × 2 driver classes.</a:t>
            </a:r>
          </a:p>
        </p:txBody>
      </p:sp>
      <p:sp>
        <p:nvSpPr>
          <p:cNvPr id="16" name="Oval 15"/>
          <p:cNvSpPr/>
          <p:nvPr/>
        </p:nvSpPr>
        <p:spPr>
          <a:xfrm>
            <a:off x="8558784" y="4297679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4169663"/>
            <a:ext cx="2624328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Ranks 1–5 are displayed with no backfilling when fewer candidates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8784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5120640"/>
            <a:ext cx="1033271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5586984"/>
            <a:ext cx="1033271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displayed gene × network positions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0968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5120640"/>
            <a:ext cx="1033271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5586984"/>
            <a:ext cx="1033271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unique displayed genes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606247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55E00"/>
                </a:solidFill>
                <a:latin typeface="Arial"/>
              </a:rPr>
              <a:t>Prioritization—not proof of causal regulation.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phase18_key_driver_selection_process.png and accompanying validated caption/methods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ircular view of selected mitochondrial key drivers across seven broad cell networks" descr="Circular view of selected 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68" y="18288"/>
            <a:ext cx="8155815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view: 10 genes occupy 26 displayed positions; MT-CO2 recurs in 7 of 7 networks, while gray slots preserve lists with fewer than five passers.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phase18_mt_driver_circular.png • center curves show recurrence, not network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ircular view of selected non-mitochondrial key drivers across seven broad cell networks" descr="Circular view of selected non-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12" y="18288"/>
            <a:ext cx="8224726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Non-MT view: 15 genes occupy 21 displayed positions; RPL11 recurs in 4 networks, and vasculature has no passing non-MT candidate.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phase18_non_mt_driver_circular.png • non-MT means outside core MitoCarta, not absence of mitochondrial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vidence atlas for 10 selected mitochondrial key-driver genes" descr="Evidence atlas for 10 selected 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271775"/>
            <a:ext cx="12097512" cy="5912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evidence is broadest for MT-CO2: 62/89 conservative-support runs, 29 fine cell types, all 7 networks, all 6 primary groups, and both AD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phase18_evidence_atlas_mt.png • stability is diagnostic and did not determine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EVIDENCE ATLAS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Ribosomal candidates carry the broadest non-MT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Network evidence, recurrence, breadth, and leave-one-fine-cell-type stability are complementary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06</a:t>
            </a:r>
          </a:p>
        </p:txBody>
      </p:sp>
      <p:pic>
        <p:nvPicPr>
          <p:cNvPr id="6" name="Evidence atlas for 15 selected non-mitochondrial key-driver genes" descr="Evidence atlas for 15 selected non-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2548"/>
            <a:ext cx="8385048" cy="5254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96528" y="1325880"/>
            <a:ext cx="2907792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43416" y="1600200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08008" y="1572768"/>
            <a:ext cx="22494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Presentation readout</a:t>
            </a:r>
          </a:p>
        </p:txBody>
      </p:sp>
      <p:sp>
        <p:nvSpPr>
          <p:cNvPr id="10" name="Oval 9"/>
          <p:cNvSpPr/>
          <p:nvPr/>
        </p:nvSpPr>
        <p:spPr>
          <a:xfrm>
            <a:off x="9043416" y="22128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2084831"/>
            <a:ext cx="222199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RPL11 passes in 4 networks with 25/84 conservative-support runs across 15 fine cell 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9043416" y="293522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807208"/>
            <a:ext cx="222199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RPS15 has the widest non-MT fine-cell breadth (18) and passes in 3 networks.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9043416" y="36576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3529584"/>
            <a:ext cx="222199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The dashed RPS15 excitatory-neuron tile passed selection but ranked below that network's five-gene display cap.</a:t>
            </a:r>
          </a:p>
        </p:txBody>
      </p:sp>
      <p:sp>
        <p:nvSpPr>
          <p:cNvPr id="16" name="Oval 15"/>
          <p:cNvSpPr/>
          <p:nvPr/>
        </p:nvSpPr>
        <p:spPr>
          <a:xfrm>
            <a:off x="9043416" y="43799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4251960"/>
            <a:ext cx="2221992" cy="7223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RPL/RPS genes recur across networks; LAMTOR5 spans excitatory and inhibitory networks; APOE is astrocyte-localized.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5202936"/>
            <a:ext cx="2395728" cy="6400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5340096"/>
            <a:ext cx="2048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The top-five rule is a display cap—not an evidence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phase18_evidence_atlas_non_mt.png and gene summary TSV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SEX/APOE EVIDENCE • 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MT support is widespread but uneven across descriptive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Each row is a gene × broad-network context; columns partition AD-up and AD-down queries by sex and APOE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08</a:t>
            </a:r>
          </a:p>
        </p:txBody>
      </p:sp>
      <p:pic>
        <p:nvPicPr>
          <p:cNvPr id="6" name="Sex- and APOE-stratified support for selected mitochondrial key drivers" descr="Sex- and APOE-stratified support for selected 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6" y="1170432"/>
            <a:ext cx="5310370" cy="5468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03136" y="1316736"/>
            <a:ext cx="491032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1192" y="1572768"/>
            <a:ext cx="41513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How to read the matrix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218541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2057400"/>
            <a:ext cx="4096511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Dot area = fraction of usable queries with conservative support; fill = capped −log10(stratum ACAT P).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8072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2679192"/>
            <a:ext cx="4096511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Small open circles mean usable tests with zero conservative support; dashes mean no eligible query.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3429000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3300984"/>
            <a:ext cx="4096511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right tracks report official network-level q, support/usable, coverage, evidence tier, and rank.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97764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3950208"/>
            <a:ext cx="41513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Descriptive pattern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5354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4407408"/>
            <a:ext cx="4032503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ε3/ε3: 68 supporting runs across 15 contexts</a:t>
            </a:r>
          </a:p>
        </p:txBody>
      </p:sp>
      <p:sp>
        <p:nvSpPr>
          <p:cNvPr id="20" name="Oval 19"/>
          <p:cNvSpPr/>
          <p:nvPr/>
        </p:nvSpPr>
        <p:spPr>
          <a:xfrm>
            <a:off x="7086600" y="49926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4864608"/>
            <a:ext cx="4032503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AD-down male ε2: 65 supporting runs across 30 contexts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54498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5321808"/>
            <a:ext cx="4032503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ε2: 63 supporting runs across 15 contexts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925312"/>
            <a:ext cx="41513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5E00"/>
                </a:solidFill>
                <a:latin typeface="Arial"/>
              </a:rPr>
              <a:t>These are not formal sex, APOE, or interaction tests.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phase18_sex_apoe_mt.png • supporting-run totals are descriptive across displayed contexts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SEX/APOE EVIDENCE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Non-MT support concentrates in a smaller set of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same visual grammar reveals broad recurrence for some drivers and sharply localized evidence for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09</a:t>
            </a:r>
          </a:p>
        </p:txBody>
      </p:sp>
      <p:pic>
        <p:nvPicPr>
          <p:cNvPr id="6" name="Sex- and APOE-stratified support for selected non-mitochondrial key drivers" descr="Sex- and APOE-stratified support for selected non-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2" y="1188720"/>
            <a:ext cx="7113547" cy="5358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38744" y="1335024"/>
            <a:ext cx="3465576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60934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581912"/>
            <a:ext cx="27706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Leading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2057400"/>
            <a:ext cx="27066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ε2: 62 supporting runs in 19 contexts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75234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2624328"/>
            <a:ext cx="27066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AD-up female ε2: 28 supporting runs in 11 contexts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19272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6" y="3191256"/>
            <a:ext cx="27066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female ε4: 16 supporting runs in 10 contexts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38862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3758184"/>
            <a:ext cx="270662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ε4: 10 supporting runs in 7 contexts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37083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4343400"/>
            <a:ext cx="277063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Candidate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791456"/>
            <a:ext cx="2825496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25E6C"/>
                </a:solidFill>
                <a:latin typeface="Arial"/>
              </a:rPr>
              <a:t>RPL11 is recurrent across four networks; RPS15 is broad across neuronal/OPC contexts; APOE is localized to astrocytes. Large dots with small denominators should not be mistaken for broad replication.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5843016"/>
            <a:ext cx="28163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D55E00"/>
                </a:solidFill>
                <a:latin typeface="Arial"/>
              </a:rPr>
              <a:t>Patterned evidence generates hypotheses; it does not establish specificity.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phase18_sex_apoe_non_mt.png • descriptive totals match the validated figure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What Phase 18 establishes—and what it leaves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broad atlas establishes which candidates emerged; the next slides localize support before the RPL11 case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56432" cy="224028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65376"/>
            <a:ext cx="310896" cy="3108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1819656"/>
            <a:ext cx="2395728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89864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78 passing units become 47 displayed network positions across two separately ranked driver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72768"/>
            <a:ext cx="3456432" cy="224028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186537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1819656"/>
            <a:ext cx="2395728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MT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96312"/>
            <a:ext cx="289864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Respiratory-chain genes dominate recurrence; MT-CO2 is the clearest cross-network sentinel.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572768"/>
            <a:ext cx="3456432" cy="22402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58784" y="1865376"/>
            <a:ext cx="310896" cy="3108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819656"/>
            <a:ext cx="2395728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Non-MT 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496312"/>
            <a:ext cx="289864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Ribosomal candidates lead breadth and recurrence, with additional signaling, trafficking, and APOE-linked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24528"/>
            <a:ext cx="10497312" cy="1252728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507992"/>
            <a:ext cx="982980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6B4E9"/>
                </a:solidFill>
                <a:latin typeface="Arial"/>
              </a:rPr>
              <a:t>Interpretive boundary: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the figures prioritize network-associated key-driver candidates and show where evidence recurs.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They do not prove causality or formally test sex/APOE interactions.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806440"/>
            <a:ext cx="98389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F233D"/>
                </a:solidFill>
                <a:latin typeface="Arial"/>
              </a:rPr>
              <a:t>Next: localize candidate evidence across sex/APOE strata, then examine RPL11 in depth.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Slide 10 introduces the validation panel; slides 11–16 extend the atlas with the RPL11 pathway and STRING figures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FIRST-BATCH VALIDATION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Why these six candidates go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A purposeful pilot panel—not the six smallest q values—balances calibration, mechanism, cell type, and failure-mode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25880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502152" cy="6400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19" y="1499616"/>
            <a:ext cx="1133856" cy="27432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72B2"/>
                </a:solidFill>
                <a:latin typeface="Arial"/>
              </a:rPr>
              <a:t>POSITIVE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536192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ASTROCYTES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1883664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APOE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22576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Known AD biology calibrates the workflow. The discovery test is whether its frozen astrocyte mitochondrial target module reproduces—not whether APOE is an AD gene.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502152" cy="64008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4568" y="1499616"/>
            <a:ext cx="1133856" cy="27432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554480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9E73"/>
                </a:solidFill>
                <a:latin typeface="Arial"/>
              </a:rPr>
              <a:t>REINFORCED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1576" y="1536192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EXCITATORY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883664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SELENOW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322576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Stable excitatory KDA plus direct AD-model tau-clearance and redox/respiration evidence makes it the externally reinforced mechanism.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325880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325880"/>
            <a:ext cx="3502152" cy="64008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57616" y="1499616"/>
            <a:ext cx="1133856" cy="274320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1554480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E4C9A"/>
                </a:solidFill>
                <a:latin typeface="Arial"/>
              </a:rPr>
              <a:t>CROSS-NETWORK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1536192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EXCITATORY + INHIBITORY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883664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LAMTOR5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322576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Recurrence in two neuronal networks provides a tractable lysosome–Ragulator–mTORC1 route to mitochondrial regulation.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3593592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593592"/>
            <a:ext cx="3502152" cy="64008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19" y="3767328"/>
            <a:ext cx="1133856" cy="27432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822191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69F00"/>
                </a:solidFill>
                <a:latin typeface="Arial"/>
              </a:rPr>
              <a:t>BIAS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" y="3803904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4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" y="4151376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RPL11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" y="4590288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Broadest recurrent non-MT signal—and the hardest specificity test. It advances only if it beats expression-, degree-, and ribosomal-class matched nulls.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593592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3593592"/>
            <a:ext cx="3502152" cy="6400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44568" y="3767328"/>
            <a:ext cx="1133856" cy="274320"/>
          </a:xfrm>
          <a:prstGeom prst="roundRect">
            <a:avLst/>
          </a:prstGeom>
          <a:solidFill>
            <a:srgbClr val="FAE8E0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3822191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55E00"/>
                </a:solidFill>
                <a:latin typeface="Arial"/>
              </a:rPr>
              <a:t>EXPLORATORY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51576" y="3803904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OPCS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4151376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FTL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4590288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Iron storage/ferroptosis is plausible in OPCs, but support is sparse (2 runs, 1 subtype). Independent localization and replication come first.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3593592"/>
            <a:ext cx="350215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56448" y="3593592"/>
            <a:ext cx="3502152" cy="64008"/>
          </a:xfrm>
          <a:prstGeom prst="rect">
            <a:avLst/>
          </a:prstGeom>
          <a:solidFill>
            <a:srgbClr val="1E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57616" y="3767328"/>
            <a:ext cx="1133856" cy="27432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1E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03336" y="3822191"/>
            <a:ext cx="1042415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E3B5B"/>
                </a:solidFill>
                <a:latin typeface="Arial"/>
              </a:rPr>
              <a:t>NOVELTY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3803904"/>
            <a:ext cx="1828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48291"/>
                </a:solidFill>
                <a:latin typeface="Arial"/>
              </a:rPr>
              <a:t>OPCS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4151376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F233D"/>
                </a:solidFill>
                <a:latin typeface="Arial"/>
              </a:rPr>
              <a:t>ANKRD11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7616" y="4590288"/>
            <a:ext cx="307238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25E6C"/>
                </a:solidFill>
                <a:latin typeface="Arial"/>
              </a:rPr>
              <a:t>An orthogonal chromatin-regulation hypothesis tests whether a novel OPC mechanism reproduces. Sparse subtype evidence keeps it exploratory.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007608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6007608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089904"/>
            <a:ext cx="1069848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Unequal priors by design: APOE calibrates; SELENOW, LAMTOR5, and RPL11 carry stronger support; FTL and ANKRD11 must replicate before promotion.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 18 call_key_driver_returns.tsv and phase18_key_driver_cross_validation_guide.md, Section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RPL11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7543800" cy="11521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rial"/>
              </a:rPr>
              <a:t>A ribosomal-stress candidate at the
translation–mitochondria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13432"/>
            <a:ext cx="74066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DBEA"/>
                </a:solidFill>
                <a:latin typeface="Arial"/>
              </a:rPr>
              <a:t>RPL11 is the broadest non-MT network candidate, but the mechanistic claim depends on distinguishing a true stress transducer from a highly connected module marker.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429000"/>
            <a:ext cx="1408176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95344"/>
            <a:ext cx="14264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passing broad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9464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3429000"/>
            <a:ext cx="1408176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6B4E9"/>
                </a:solidFill>
                <a:latin typeface="Arial"/>
              </a:rPr>
              <a:t>29/84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3895344"/>
            <a:ext cx="14264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significant / tested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3429000"/>
            <a:ext cx="1408176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895344"/>
            <a:ext cx="14264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conservative-support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3429000"/>
            <a:ext cx="1408176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E4C9A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95344"/>
            <a:ext cx="142646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supporting fine cell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667512"/>
            <a:ext cx="3136392" cy="24048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941832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Mechanistic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26464"/>
            <a:ext cx="2560320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Free RPL11 can inhibit MDM2 and activate p53; neuronal ribosomal stress can require RPL11 for p53-linked cell death.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42032"/>
            <a:ext cx="25786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09E73"/>
                </a:solidFill>
                <a:latin typeface="Arial"/>
              </a:rPr>
              <a:t>RPL11 transmits stress into mitochondrial and survival programs.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300984"/>
            <a:ext cx="3136392" cy="2414016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575304"/>
            <a:ext cx="26151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Module-marker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59936"/>
            <a:ext cx="2560320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RPL11 may inherit strong KDA and STRING signals from high expression, ribosomal connectivity, or a general disease/quality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175504"/>
            <a:ext cx="257860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D55E00"/>
                </a:solidFill>
                <a:latin typeface="Arial"/>
              </a:rPr>
              <a:t>Target specificity and matched ribosomal nulls decide between the models.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28032"/>
            <a:ext cx="7360920" cy="969264"/>
          </a:xfrm>
          <a:prstGeom prst="roundRect">
            <a:avLst/>
          </a:prstGeom>
          <a:solidFill>
            <a:srgbClr val="1E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047488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6B4E9"/>
                </a:solidFill>
                <a:latin typeface="Arial"/>
              </a:rPr>
              <a:t>Human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4956048"/>
            <a:ext cx="5550408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FFFFF"/>
                </a:solidFill>
                <a:latin typeface="Arial"/>
              </a:rPr>
              <a:t>AD capillary proteomics reported increased RPL11/RPL15 protein, while earlier AD work supports ribosomal dysfunction. The capillary signal does not establish neuronal or astrocytic localization.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11128" y="31089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Biological discussion: phase18_key_driver_gene_by_gene_initial_analysis.md • Zhang 2003; Slomnicki 2018; Suzuki 2022; Ding 2005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focused respiratory branch emerges from three supporting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Directed Bayesian-network edges are model-derived regulatory hypotheses; pathway outlines summarize the displayed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12</a:t>
            </a:r>
          </a:p>
        </p:txBody>
      </p:sp>
      <p:pic>
        <p:nvPicPr>
          <p:cNvPr id="6" name="RPL11-centered astrocyte consensus network with pathway annotations" descr="RPL11-centered astrocyte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92" y="1143000"/>
            <a:ext cx="620871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10727" y="1307592"/>
            <a:ext cx="3593592" cy="4992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75904" y="158191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554480"/>
            <a:ext cx="2898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1993392"/>
            <a:ext cx="140817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084832"/>
            <a:ext cx="11155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51176"/>
            <a:ext cx="11155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usable astrocyte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1993392"/>
            <a:ext cx="14356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4976" y="2084832"/>
            <a:ext cx="11430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3.44×10⁻⁵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4976" y="2551176"/>
            <a:ext cx="1143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3182112"/>
            <a:ext cx="2898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375904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621024"/>
            <a:ext cx="2816352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18 nodes, 17 directed edges, and 12 mitochondrial query hits.</a:t>
            </a:r>
          </a:p>
        </p:txBody>
      </p:sp>
      <p:sp>
        <p:nvSpPr>
          <p:cNvPr id="20" name="Oval 19"/>
          <p:cNvSpPr/>
          <p:nvPr/>
        </p:nvSpPr>
        <p:spPr>
          <a:xfrm>
            <a:off x="8375904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178808"/>
            <a:ext cx="2816352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Upstream chain: RPS25 → RPLP1 → RPL11. Direct outputs: COX7C, CWC15, and PRDX1.</a:t>
            </a:r>
          </a:p>
        </p:txBody>
      </p:sp>
      <p:sp>
        <p:nvSpPr>
          <p:cNvPr id="22" name="Oval 21"/>
          <p:cNvSpPr/>
          <p:nvPr/>
        </p:nvSpPr>
        <p:spPr>
          <a:xfrm>
            <a:off x="8375904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736592"/>
            <a:ext cx="2816352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ETC/OXPHOS: 8 genes, BH FDR 1.98×10⁻⁸. Cristae formation: 3 genes, FDR 0.00475.</a:t>
            </a:r>
          </a:p>
        </p:txBody>
      </p:sp>
      <p:sp>
        <p:nvSpPr>
          <p:cNvPr id="24" name="Oval 23"/>
          <p:cNvSpPr/>
          <p:nvPr/>
        </p:nvSpPr>
        <p:spPr>
          <a:xfrm>
            <a:off x="8375904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5294376"/>
            <a:ext cx="2816352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The ribosome outline is contextual (FDR 0.0805), not significant at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5907024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Interpretation: a reproducible but relatively small astrocyte signal connects RPL11 to a coherent respiratory/cristae branch.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phase18_rpl11_astrocyte_consensus_network_pathways.png, caption, methods, and ORA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supports target-module coherence more clearly than direct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Medium-confidence STRING functional associations are undirected and are not astrocyte- or AD-specific.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1271016"/>
            <a:ext cx="491947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TRING medium-confidence network for RPL11 and astrocyte mitochondrial target proteins" descr="STRING medium-confidence network for RPL11 and astrocyte mitochondrial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11" y="1481327"/>
            <a:ext cx="3962832" cy="45537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59552" y="1271016"/>
            <a:ext cx="614476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70448" y="1618488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591056"/>
            <a:ext cx="5303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the image supports</a:t>
            </a:r>
          </a:p>
        </p:txBody>
      </p:sp>
      <p:sp>
        <p:nvSpPr>
          <p:cNvPr id="11" name="Oval 10"/>
          <p:cNvSpPr/>
          <p:nvPr/>
        </p:nvSpPr>
        <p:spPr>
          <a:xfrm>
            <a:off x="5870448" y="220370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4" y="2075688"/>
            <a:ext cx="5230368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respiratory targets form a dense protein-association core spanning complex I, III, IV, and V proteins.</a:t>
            </a:r>
          </a:p>
        </p:txBody>
      </p:sp>
      <p:sp>
        <p:nvSpPr>
          <p:cNvPr id="13" name="Oval 12"/>
          <p:cNvSpPr/>
          <p:nvPr/>
        </p:nvSpPr>
        <p:spPr>
          <a:xfrm>
            <a:off x="5870448" y="2834640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2706624"/>
            <a:ext cx="5230368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RPL11 is sparsely connected relative to the target-to-target core; PSAP and CYB5R3 remain visually isolated in this view.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46557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3337560"/>
            <a:ext cx="5230368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visual density therefore supports a coherent mitochondrial module, but it cannot by itself show that RPL11 regulates that module.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426110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233672"/>
            <a:ext cx="5303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Claim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4681728"/>
            <a:ext cx="5303520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25E6C"/>
                </a:solidFill>
                <a:latin typeface="Arial"/>
              </a:rPr>
              <a:t>A direct RPL11 claim requires the input-only physical network, edge-level experimental/curated evidence, a ≥0.700 threshold, and matched ribosomal/topology controls. Until then, the medium-confidence figure is suggestive module-level cross-validation.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9592" y="5696712"/>
            <a:ext cx="5266944" cy="384048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5769864"/>
            <a:ext cx="4846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Allowed conclusion: protein-level coherence of the target module; direct RPL11 support remains provisional.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astrocyte/string_full_medium_conf.png • interpretation follows rpl11_astrocyte_string_analysis_guide.md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broader translation–mitochondria interface recurs across 20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excitatory context has stronger aggregate evidence and complete leave-one-fine-cell-type candidate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14</a:t>
            </a:r>
          </a:p>
        </p:txBody>
      </p:sp>
      <p:pic>
        <p:nvPicPr>
          <p:cNvPr id="6" name="RPL11-centered excitatory-neuron consensus network with pathway annotations" descr="RPL11-centered excitatory-neuron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19" y="1133856"/>
            <a:ext cx="7513665" cy="53858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93024" y="1298448"/>
            <a:ext cx="3511296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39912" y="1581912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1554480"/>
            <a:ext cx="283463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9933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6216" y="2084832"/>
            <a:ext cx="11247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20/97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2551176"/>
            <a:ext cx="11247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usable excitatory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1824" y="19933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2084832"/>
            <a:ext cx="11247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1.84×10⁻⁹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8128" y="2551176"/>
            <a:ext cx="11247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3182112"/>
            <a:ext cx="283463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439912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3621024"/>
            <a:ext cx="2743200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35 nodes, 34 directed edges, 21 mitochondrial query hits, and 9 direct RPL11 outputs.</a:t>
            </a:r>
          </a:p>
        </p:txBody>
      </p:sp>
      <p:sp>
        <p:nvSpPr>
          <p:cNvPr id="20" name="Oval 19"/>
          <p:cNvSpPr/>
          <p:nvPr/>
        </p:nvSpPr>
        <p:spPr>
          <a:xfrm>
            <a:off x="8439912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4178808"/>
            <a:ext cx="2743200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Direct outputs include ribosomal proteins plus COX7C and SMDT1, creating a model-derived bridge to mitochondrial functions.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439912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4736592"/>
            <a:ext cx="2743200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Cytosolic ribosome: 14 genes, FDR 1.35×10⁻¹⁶; ETC/OXPHOS: 12 genes, FDR 3.20×10⁻¹³.</a:t>
            </a:r>
          </a:p>
        </p:txBody>
      </p:sp>
      <p:sp>
        <p:nvSpPr>
          <p:cNvPr id="24" name="Oval 23"/>
          <p:cNvSpPr/>
          <p:nvPr/>
        </p:nvSpPr>
        <p:spPr>
          <a:xfrm>
            <a:off x="8439912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3648" y="5294376"/>
            <a:ext cx="2743200" cy="5577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Mitochondrial protein degradation (FDR 0.00180) and cristae formation (FDR 0.00762) add proteostasis/structure hypotheses.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916168"/>
            <a:ext cx="2852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Interpretation: the excitatory signal is broader and more recurrent, but its ribosomal density makes specificity controls essential.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phase18_rpl11_excitatory_consensus_network_pathways.png, node/edge tables, and ORA 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resolves ribosomal and respiratory protein neighborhoods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displayed functional network is useful for architecture; it does not preserve Bayesian edge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697687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TRING medium-confidence network for RPL11 and excitatory-neuron target proteins" descr="STRING medium-confidence network for RPL11 and excitatory-neuron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88" y="1481328"/>
            <a:ext cx="6207462" cy="4562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6368" y="1280160"/>
            <a:ext cx="418795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81544" y="1618488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6136" y="1591056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7781544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335584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RPL11 sits with cytosolic/mitochondrial ribosomal proteins, while the respiratory proteins form a dense OXPHOS core.</a:t>
            </a:r>
          </a:p>
        </p:txBody>
      </p:sp>
      <p:sp>
        <p:nvSpPr>
          <p:cNvPr id="13" name="Oval 12"/>
          <p:cNvSpPr/>
          <p:nvPr/>
        </p:nvSpPr>
        <p:spPr>
          <a:xfrm>
            <a:off x="7781544" y="282549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35584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view is consistent with a ribosome–mitochondria interface rather than one simple RPL11→target protein chain.</a:t>
            </a:r>
          </a:p>
        </p:txBody>
      </p:sp>
      <p:sp>
        <p:nvSpPr>
          <p:cNvPr id="15" name="Oval 14"/>
          <p:cNvSpPr/>
          <p:nvPr/>
        </p:nvSpPr>
        <p:spPr>
          <a:xfrm>
            <a:off x="7781544" y="34655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335584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Respiratory-protein density is expected and can dominate whole-network PPI enrichment.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1544" y="416052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4133087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Exploratory elements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599432"/>
            <a:ext cx="3465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MRPS18C, COX17, COX20, and PINK1 appear as STRING-side connectors rather than prespecified Bayesian-consensus nodes. They are mechanism hypotheses—not validation endpoints.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5532120"/>
            <a:ext cx="3511296" cy="512064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5641848"/>
            <a:ext cx="31363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Test RPL11-to-target edges separately from target-to-target connectivity.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excitatory/full_medium_conf.png • medium-confidence functional STRING 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The excitatory signal is broader; the astrocyte signal is more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Both contexts support a translation/stress-to-mitochondria hypothesis, while leaving target specificity unresolved.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417320"/>
            <a:ext cx="5385816" cy="33192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ASTROCYTES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02536"/>
            <a:ext cx="4507992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Focused respiratory branch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542032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3/20 supporting runs; aggregate q 3.44×10⁻⁵.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272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2999232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18-node directed consensus with ETC/OXPHOS and cristae enrichment.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844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456432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shows a dense target core but comparatively sparse RPL11 connectivity.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41647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913631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focused, plausible, and still in need of protein-edge/null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417320"/>
            <a:ext cx="5358384" cy="3319272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73352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9F00"/>
                </a:solidFill>
                <a:latin typeface="Arial"/>
              </a:rPr>
              <a:t>EXCITATORY NEURONS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02536"/>
            <a:ext cx="4590288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Broad translation–mitochondria interface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6700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6" y="2542032"/>
            <a:ext cx="4370831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20/97 supporting runs; aggregate q 1.84×10⁻⁹.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1272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2999232"/>
            <a:ext cx="4370831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35-node consensus combines ribosome, OXPHOS, cristae, and mitochondrial proteostasis.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5844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5976" y="3456432"/>
            <a:ext cx="4370831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separates a ribosomal neighborhood and dense respiratory core with exploratory connectors.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041647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5976" y="3913631"/>
            <a:ext cx="4370831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stronger recurrence, but higher risk of generic ribosomal-module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" y="5038344"/>
            <a:ext cx="10515600" cy="1170432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23036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DECISIVE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5193792"/>
            <a:ext cx="83667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FFFFF"/>
                </a:solidFill>
                <a:latin typeface="Arial"/>
              </a:rPr>
              <a:t>Match for expression, degree, neighborhood size, and ribosomal class → use partial CRISPRi/CRISPRa in APOE-isogenic astrocytes and excitatory neurons → measure predicted MT targets, p53, nascent translation, respiration, and viability → add p53 inhibition/rescue and spatial/vascular proteomics.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Interpretation and validation priorities synthesized from phase18_key_driver_gene_by_gene_initial_analysis.md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18 Key-Driver Selection</dc:title>
  <dc:subject>Selection, cross-network evidence, and descriptive sex/APOE support</dc:subject>
  <dc:creator>Alzheimer project analysis team</dc:creator>
  <cp:keywords>Alzheimer, mitochondria, KDA, key drivers, APOE, sex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