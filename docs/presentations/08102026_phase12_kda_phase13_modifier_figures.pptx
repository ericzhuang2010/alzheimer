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640080"/>
            <a:ext cx="1554480" cy="155448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1371600"/>
            <a:ext cx="960120" cy="96012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502920"/>
            <a:ext cx="512064" cy="512064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06840" y="2788920"/>
            <a:ext cx="694944" cy="694944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78440" y="2788920"/>
            <a:ext cx="1234440" cy="1234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5480" y="4343400"/>
            <a:ext cx="438912" cy="438912"/>
          </a:xfrm>
          <a:prstGeom prst="ellipse">
            <a:avLst/>
          </a:prstGeom>
          <a:solidFill>
            <a:srgbClr val="CC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006840" y="1417320"/>
            <a:ext cx="1005840" cy="411480"/>
          </a:xfrm>
          <a:prstGeom prst="line">
            <a:avLst/>
          </a:prstGeom>
          <a:ln w="15240">
            <a:solidFill>
              <a:srgbClr val="97B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41280" y="1965960"/>
            <a:ext cx="548640" cy="1188720"/>
          </a:xfrm>
          <a:prstGeom prst="line">
            <a:avLst/>
          </a:prstGeom>
          <a:ln w="15240">
            <a:solidFill>
              <a:srgbClr val="97B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72600" y="3154680"/>
            <a:ext cx="1051560" cy="182880"/>
          </a:xfrm>
          <a:prstGeom prst="line">
            <a:avLst/>
          </a:prstGeom>
          <a:ln w="15240">
            <a:solidFill>
              <a:srgbClr val="97B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38360" y="3703320"/>
            <a:ext cx="45720" cy="822960"/>
          </a:xfrm>
          <a:prstGeom prst="line">
            <a:avLst/>
          </a:prstGeom>
          <a:ln w="15240">
            <a:solidFill>
              <a:srgbClr val="97B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829800" y="3566160"/>
            <a:ext cx="960120" cy="987552"/>
          </a:xfrm>
          <a:prstGeom prst="line">
            <a:avLst/>
          </a:prstGeom>
          <a:ln w="15240">
            <a:solidFill>
              <a:srgbClr val="97B2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658368"/>
            <a:ext cx="5852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MITOCHONDRIAL NETWORK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097280"/>
            <a:ext cx="6858000" cy="2194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Phase 12 KDA
and Phase 13
modifier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80"/>
            <a:ext cx="63550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FDCEA"/>
                </a:solidFill>
                <a:latin typeface="Aptos"/>
              </a:rPr>
              <a:t>How the figures were generated, what they show, and where the conclusions stop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46320"/>
            <a:ext cx="6217920" cy="54864"/>
          </a:xfrm>
          <a:prstGeom prst="rect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138928"/>
            <a:ext cx="65836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FDCEA"/>
                </a:solidFill>
                <a:latin typeface="Aptos"/>
              </a:rPr>
              <a:t>Phase 12: cross-network KDA ranking, stratified support, and topology
Phase 13: donor-aware respiratory modifier tests across the complete prespecified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18504"/>
            <a:ext cx="62179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7B2CC"/>
                </a:solidFill>
                <a:latin typeface="Aptos"/>
              </a:rPr>
              <a:t>Prepared from validated project outputs • 10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DECK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One story, three levels of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The figures answer related—but not interchangeable—questions.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01568" cy="3337560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03120"/>
            <a:ext cx="438912" cy="438912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85292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 Display"/>
              </a:rPr>
              <a:t>Rank &amp; localize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286207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06C"/>
                </a:solidFill>
                <a:latin typeface="Aptos"/>
              </a:rPr>
              <a:t>Which candidate drivers recur, and in which sex/APOE and cell-network contexts?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27448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9E73"/>
                </a:solidFill>
                <a:latin typeface="Aptos"/>
              </a:rPr>
              <a:t>Phase 12 overview + heatmap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74519"/>
            <a:ext cx="3401568" cy="3337560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2E7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09160" y="2103120"/>
            <a:ext cx="438912" cy="438912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121408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88920"/>
            <a:ext cx="285292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 Display"/>
              </a:rPr>
              <a:t>Connect &amp; synthesize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401568"/>
            <a:ext cx="286207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06C"/>
                </a:solidFill>
                <a:latin typeface="Aptos"/>
              </a:rPr>
              <a:t>How do selected drivers connect to mitochondrial and Complex V genes across directed networks?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727448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CAB"/>
                </a:solidFill>
                <a:latin typeface="Aptos"/>
              </a:rPr>
              <a:t>Four network figures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874519"/>
            <a:ext cx="3401568" cy="3337560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0" y="2103120"/>
            <a:ext cx="438912" cy="438912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121408"/>
            <a:ext cx="4389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788920"/>
            <a:ext cx="285292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 Display"/>
              </a:rPr>
              <a:t>Formally test modifiers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401568"/>
            <a:ext cx="2862072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06C"/>
                </a:solidFill>
                <a:latin typeface="Aptos"/>
              </a:rPr>
              <a:t>Do donor-level respiratory module effects differ by sex or APOE after complete-family correction?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727448"/>
            <a:ext cx="2788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69F00"/>
                </a:solidFill>
                <a:latin typeface="Aptos"/>
              </a:rPr>
              <a:t>Phase 13 landscape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87368" y="3529584"/>
            <a:ext cx="338328" cy="0"/>
          </a:xfrm>
          <a:prstGeom prst="line">
            <a:avLst/>
          </a:prstGeom>
          <a:ln w="20320">
            <a:solidFill>
              <a:srgbClr val="76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82127" y="3529584"/>
            <a:ext cx="338329" cy="0"/>
          </a:xfrm>
          <a:prstGeom prst="line">
            <a:avLst/>
          </a:prstGeom>
          <a:ln w="20320">
            <a:solidFill>
              <a:srgbClr val="76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97280" y="5641848"/>
            <a:ext cx="99669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07592" y="5769864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5E00"/>
                </a:solidFill>
                <a:latin typeface="Aptos"/>
              </a:rPr>
              <a:t>Interpretive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5715000"/>
            <a:ext cx="82113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F233D"/>
                </a:solidFill>
                <a:latin typeface="Aptos"/>
              </a:rPr>
              <a:t>Network enrichment generates mechanistic hypotheses; Phase 13 provides the donor-aware interaction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SHARED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Phase 12 KDA: common analytical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All Phase 12 figures use eligible primary directional KDA runs and preserve the full candidate matrix.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Phase 12 design documents; prepare_phase12_kda_figure_data.R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51846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947672"/>
            <a:ext cx="402336" cy="40233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0233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11095"/>
            <a:ext cx="4343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Directional signatures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2221991"/>
            <a:ext cx="43434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606C"/>
                </a:solidFill>
                <a:latin typeface="Aptos"/>
              </a:rPr>
              <a:t>AD-up and AD-down mitochondrial DEG signatures are evaluated separately; pooled and combined-direction signatures are excluded.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783080"/>
            <a:ext cx="51846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0528" y="1947672"/>
            <a:ext cx="402336" cy="402336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965960"/>
            <a:ext cx="40233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1911095"/>
            <a:ext cx="4343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Directed neighborhoods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2221991"/>
            <a:ext cx="43434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606C"/>
                </a:solidFill>
                <a:latin typeface="Aptos"/>
              </a:rPr>
              <a:t>KDA asks whether a signature is enriched downstream of a candidate in a broad-cell-type Bayesian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200400"/>
            <a:ext cx="51846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364992"/>
            <a:ext cx="402336" cy="402336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383280"/>
            <a:ext cx="40233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3328416"/>
            <a:ext cx="4343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Complete test matrix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3639312"/>
            <a:ext cx="43434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606C"/>
                </a:solidFill>
                <a:latin typeface="Aptos"/>
              </a:rPr>
              <a:t>Nonsignificant and zero-overlap tests remain. A truly untested candidate stays missing, preventing significance-only ranking bias.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3200400"/>
            <a:ext cx="518464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8" y="3364992"/>
            <a:ext cx="402336" cy="40233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383280"/>
            <a:ext cx="40233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3328416"/>
            <a:ext cx="4343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Two evidence summaries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1736" y="3639312"/>
            <a:ext cx="43434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606C"/>
                </a:solidFill>
                <a:latin typeface="Aptos"/>
              </a:rPr>
              <a:t>Mean −log10(P) ranks candidates; within-run BH-adjusted P≤0.05 counts recurrence. Neither is a causal effect estimate.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892040"/>
            <a:ext cx="10789920" cy="1033271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5148072"/>
            <a:ext cx="101681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40B0C4"/>
                </a:solidFill>
                <a:latin typeface="Aptos"/>
              </a:rPr>
              <a:t>Key boundary: </a:t>
            </a:r>
            <a:r>
              <a:rPr sz="1600" b="0" i="0">
                <a:solidFill>
                  <a:srgbClr val="FFFFFF"/>
                </a:solidFill>
                <a:latin typeface="Aptos"/>
              </a:rPr>
              <a:t>KDA significance means a candidate’s downstream neighborhood is enriched for the query signature. </a:t>
            </a:r>
            <a:r>
              <a:rPr sz="1600" b="1" i="0">
                <a:solidFill>
                  <a:srgbClr val="FFFFFF"/>
                </a:solidFill>
                <a:latin typeface="Aptos"/>
              </a:rPr>
              <a:t>It does not prove a direct gene-to-gene effect or causality.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1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Reduced circular overview: setup and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A deliberately reduced view ranks each network independently and shows only cross-network recurrence.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reduced_circular_figure_design.md; visualize_phase12_kda_reduced_circular.R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25146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18541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9E73"/>
                </a:solidFill>
                <a:latin typeface="Aptos Display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95144"/>
            <a:ext cx="2185416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broad networks with eligible KDA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755648"/>
            <a:ext cx="25146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1865376"/>
            <a:ext cx="218541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E7CAB"/>
                </a:solidFill>
                <a:latin typeface="Aptos Displa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295144"/>
            <a:ext cx="2185416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top drivers retained per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755648"/>
            <a:ext cx="25146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865376"/>
            <a:ext cx="218541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E4C9A"/>
                </a:solidFill>
                <a:latin typeface="Aptos Display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295144"/>
            <a:ext cx="2185416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network–driver sectors plotted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69096" y="1755648"/>
            <a:ext cx="25146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1865376"/>
            <a:ext cx="218541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69F00"/>
                </a:solidFill>
                <a:latin typeface="Aptos Display"/>
              </a:rPr>
              <a:t>295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2295144"/>
            <a:ext cx="2185416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eligible primary directional runs reconciled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246120"/>
            <a:ext cx="20116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Ranking statistic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575304"/>
            <a:ext cx="5148072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858768"/>
            <a:ext cx="44622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0F233D"/>
                </a:solidFill>
                <a:latin typeface="Aptos"/>
              </a:rPr>
              <a:t>S</a:t>
            </a:r>
            <a:r>
              <a:rPr sz="1200" b="1" i="0">
                <a:solidFill>
                  <a:srgbClr val="0F233D"/>
                </a:solidFill>
                <a:latin typeface="Aptos"/>
              </a:rPr>
              <a:t>n,g</a:t>
            </a:r>
            <a:r>
              <a:rPr sz="1700" b="0" i="0">
                <a:solidFill>
                  <a:srgbClr val="1F2730"/>
                </a:solidFill>
                <a:latin typeface="Aptos"/>
              </a:rPr>
              <a:t> = mean across eligible runs of  −log</a:t>
            </a:r>
            <a:r>
              <a:rPr sz="1100" b="0" i="0">
                <a:solidFill>
                  <a:srgbClr val="1F2730"/>
                </a:solidFill>
                <a:latin typeface="Aptos"/>
              </a:rPr>
              <a:t>10</a:t>
            </a:r>
            <a:r>
              <a:rPr sz="1700" b="0" i="0">
                <a:solidFill>
                  <a:srgbClr val="1F2730"/>
                </a:solidFill>
                <a:latin typeface="Aptos"/>
              </a:rPr>
              <a:t>(P</a:t>
            </a:r>
            <a:r>
              <a:rPr sz="1100" b="0" i="0">
                <a:solidFill>
                  <a:srgbClr val="1F2730"/>
                </a:solidFill>
                <a:latin typeface="Aptos"/>
              </a:rPr>
              <a:t>KDA</a:t>
            </a:r>
            <a:r>
              <a:rPr sz="1700" b="0" i="0">
                <a:solidFill>
                  <a:srgbClr val="1F2730"/>
                </a:solidFill>
                <a:latin typeface="Aptos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07408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606C"/>
                </a:solidFill>
                <a:latin typeface="Aptos"/>
              </a:rPr>
              <a:t>Standardized to the maximum within each broad network; coverage is explicit and used in deterministic tie-breaking.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246120"/>
            <a:ext cx="20116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Visual encoding</a:t>
            </a:r>
          </a:p>
        </p:txBody>
      </p:sp>
      <p:sp>
        <p:nvSpPr>
          <p:cNvPr id="25" name="Oval 24"/>
          <p:cNvSpPr/>
          <p:nvPr/>
        </p:nvSpPr>
        <p:spPr>
          <a:xfrm>
            <a:off x="6364224" y="3749039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3621024"/>
            <a:ext cx="45994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1F2730"/>
                </a:solidFill>
                <a:latin typeface="Aptos"/>
              </a:rPr>
              <a:t>Outer color band = broad network</a:t>
            </a:r>
          </a:p>
        </p:txBody>
      </p:sp>
      <p:sp>
        <p:nvSpPr>
          <p:cNvPr id="27" name="Oval 26"/>
          <p:cNvSpPr/>
          <p:nvPr/>
        </p:nvSpPr>
        <p:spPr>
          <a:xfrm>
            <a:off x="6364224" y="4187951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059935"/>
            <a:ext cx="45994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1F2730"/>
                </a:solidFill>
                <a:latin typeface="Aptos"/>
              </a:rPr>
              <a:t>Radial bar = standardized MeanOfLog</a:t>
            </a:r>
          </a:p>
        </p:txBody>
      </p:sp>
      <p:sp>
        <p:nvSpPr>
          <p:cNvPr id="29" name="Oval 28"/>
          <p:cNvSpPr/>
          <p:nvPr/>
        </p:nvSpPr>
        <p:spPr>
          <a:xfrm>
            <a:off x="6364224" y="4626864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498848"/>
            <a:ext cx="45994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1F2730"/>
                </a:solidFill>
                <a:latin typeface="Aptos"/>
              </a:rPr>
              <a:t>Center link = same gene selected in &gt;1 network</a:t>
            </a:r>
          </a:p>
        </p:txBody>
      </p:sp>
      <p:sp>
        <p:nvSpPr>
          <p:cNvPr id="31" name="Oval 30"/>
          <p:cNvSpPr/>
          <p:nvPr/>
        </p:nvSpPr>
        <p:spPr>
          <a:xfrm>
            <a:off x="6364224" y="5065776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937760"/>
            <a:ext cx="45994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1F2730"/>
                </a:solidFill>
                <a:latin typeface="Aptos"/>
              </a:rPr>
              <a:t>Gray label marker = mtDNA-encoded sentinel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" y="5532120"/>
            <a:ext cx="10789920" cy="585216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678424"/>
            <a:ext cx="10287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0F233D"/>
                </a:solidFill>
                <a:latin typeface="Aptos"/>
              </a:rPr>
              <a:t>CAMs and T cells had no eligible KDA runs and therefore receive no empty sector; absence is not a negative KDA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5029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3D"/>
                </a:solidFill>
                <a:latin typeface="Aptos"/>
              </a:rPr>
              <a:t>FIGURE 1 • RECURRENT MITOCHONDRIAL KDA EVIDENCE ACROSS NETWORKS</a:t>
            </a:r>
          </a:p>
        </p:txBody>
      </p:sp>
      <p:pic>
        <p:nvPicPr>
          <p:cNvPr id="3" name="Figure 1 • Recurrent mitochondrial KDA evidence across networks" descr="Figure 1 • Recurrent mitochondrial KDA evidence across networ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331" y="384048"/>
            <a:ext cx="5260289" cy="610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phase12_kda_reduced_circular.png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1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Circular overview: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The overview is dominated by recurrent respiratory-chain sentinels, with a small number of nuclear candidates.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phase12_kda_reduced_circular_plotted_data.tsv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25146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92807"/>
            <a:ext cx="218541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E4C9A"/>
                </a:solidFill>
                <a:latin typeface="Aptos Display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22576"/>
            <a:ext cx="2185416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unique drivers among 21 sectors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783080"/>
            <a:ext cx="25146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1892807"/>
            <a:ext cx="218541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D55E00"/>
                </a:solidFill>
                <a:latin typeface="Aptos Display"/>
              </a:rPr>
              <a:t>17/21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322576"/>
            <a:ext cx="2185416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selected sectors are mtDNA-encoded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783080"/>
            <a:ext cx="25146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892807"/>
            <a:ext cx="218541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9E73"/>
                </a:solidFill>
                <a:latin typeface="Aptos Display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322576"/>
            <a:ext cx="2185416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networks select MT-CO2 in the top three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69096" y="1783080"/>
            <a:ext cx="25146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1892807"/>
            <a:ext cx="218541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E7CAB"/>
                </a:solidFill>
                <a:latin typeface="Aptos Display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2322576"/>
            <a:ext cx="2185416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ranking coverage for all displayed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246120"/>
            <a:ext cx="5230368" cy="2240280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511296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ptos"/>
              </a:rPr>
              <a:t>What the figure supports</a:t>
            </a:r>
          </a:p>
        </p:txBody>
      </p:sp>
      <p:sp>
        <p:nvSpPr>
          <p:cNvPr id="22" name="Oval 21"/>
          <p:cNvSpPr/>
          <p:nvPr/>
        </p:nvSpPr>
        <p:spPr>
          <a:xfrm>
            <a:off x="1024128" y="4078224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5296" y="3950208"/>
            <a:ext cx="440740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MT-CO2 is the dominant recurrent candidate across broad networks.</a:t>
            </a:r>
          </a:p>
        </p:txBody>
      </p:sp>
      <p:sp>
        <p:nvSpPr>
          <p:cNvPr id="24" name="Oval 23"/>
          <p:cNvSpPr/>
          <p:nvPr/>
        </p:nvSpPr>
        <p:spPr>
          <a:xfrm>
            <a:off x="1024128" y="4553712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5296" y="4425696"/>
            <a:ext cx="440740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MT-CO3, MT-ATP6, MT-CYB, and MT-ND4 also recur across network top-three lists.</a:t>
            </a:r>
          </a:p>
        </p:txBody>
      </p:sp>
      <p:sp>
        <p:nvSpPr>
          <p:cNvPr id="26" name="Oval 25"/>
          <p:cNvSpPr/>
          <p:nvPr/>
        </p:nvSpPr>
        <p:spPr>
          <a:xfrm>
            <a:off x="1024128" y="5029199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25296" y="4901183"/>
            <a:ext cx="440740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OPCs elevate nuclear candidates RPS15 and FTL; excitatory and oligodendrocyte lists include COX6B1 and COX4I1.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246120"/>
            <a:ext cx="5230368" cy="2240280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511296"/>
            <a:ext cx="45537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ptos"/>
              </a:rPr>
              <a:t>What the figure does not establish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4078224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7" y="3950208"/>
            <a:ext cx="440740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High rank is not proof that an mtDNA gene is an upstream causal regulator.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4553712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4425696"/>
            <a:ext cx="440740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Center links show repeated selection—not Bayesian-network edges.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5029199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93407" y="4901183"/>
            <a:ext cx="440740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The overview is a sentinel map; mechanistically tractable nuclear candidates are evaluated in the next panels.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2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Sex/APOE evidence map: setup and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A conservative candidate screen focuses the display on nuclear, query-independent driver hypotheses.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sex_apoe_dot_heatmap_design.md; visualize_phase12_kda_sex_apoe.R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920240"/>
            <a:ext cx="402336" cy="40233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38528"/>
            <a:ext cx="40233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83664"/>
            <a:ext cx="44622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Select candidate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94560"/>
            <a:ext cx="44622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606C"/>
                </a:solidFill>
                <a:latin typeface="Aptos"/>
              </a:rPr>
              <a:t>Primary directional result; non-mtDNA; driver outside the query; overlap ≥2; signature size ≥10; sufficient ranking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755648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18504" y="1920240"/>
            <a:ext cx="402336" cy="402336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938528"/>
            <a:ext cx="40233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883664"/>
            <a:ext cx="44622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Aggregate within each stratum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2194560"/>
            <a:ext cx="44622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606C"/>
                </a:solidFill>
                <a:latin typeface="Aptos"/>
              </a:rPr>
              <a:t>For each row × sex/APOE × direction cell, summarize every tested run—not only significant rows.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0896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3273552"/>
            <a:ext cx="402336" cy="402336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91840"/>
            <a:ext cx="40233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36976"/>
            <a:ext cx="44622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Encode strength and recurrence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547872"/>
            <a:ext cx="44622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606C"/>
                </a:solidFill>
                <a:latin typeface="Aptos"/>
              </a:rPr>
              <a:t>Color = mean −log10(P); area = fraction of tested runs significant after within-run BH correction.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3108960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18504" y="3273552"/>
            <a:ext cx="402336" cy="40233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3291840"/>
            <a:ext cx="40233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236976"/>
            <a:ext cx="44622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Keep missingness visible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547872"/>
            <a:ext cx="446227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606C"/>
                </a:solidFill>
                <a:latin typeface="Aptos"/>
              </a:rPr>
              <a:t>Outlined dot = tested, none significant. Gray × = no eligible/tested run. Right bar = within-network overall rank.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709160"/>
            <a:ext cx="24505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818888"/>
            <a:ext cx="212140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9E73"/>
                </a:solidFill>
                <a:latin typeface="Aptos Display"/>
              </a:rPr>
              <a:t>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248656"/>
            <a:ext cx="212140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prioritized network–driver rows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9272" y="4709160"/>
            <a:ext cx="24505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83864" y="4818888"/>
            <a:ext cx="212140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E7CAB"/>
                </a:solidFill>
                <a:latin typeface="Aptos Display"/>
              </a:rPr>
              <a:t>192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3864" y="5248656"/>
            <a:ext cx="212140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direction × sex/APOE display cells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0448" y="4709160"/>
            <a:ext cx="245059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818888"/>
            <a:ext cx="212140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E4C9A"/>
                </a:solidFill>
                <a:latin typeface="Aptos Display"/>
              </a:rPr>
              <a:t>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248656"/>
            <a:ext cx="212140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cells with ≥1 significant run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21624" y="4709160"/>
            <a:ext cx="299923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6216" y="4818888"/>
            <a:ext cx="26700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69F00"/>
                </a:solidFill>
                <a:latin typeface="Aptos Display"/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216" y="5248656"/>
            <a:ext cx="267004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cells with no eligible/tested 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6044184"/>
            <a:ext cx="10515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5606C"/>
                </a:solidFill>
                <a:latin typeface="Aptos"/>
              </a:rPr>
              <a:t>The shared color cap is the prespecified 95th percentile (≈5.00); uncapped values remain in the TSV.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5029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3D"/>
                </a:solidFill>
                <a:latin typeface="Aptos"/>
              </a:rPr>
              <a:t>FIGURE 2 • SEX- AND APOE-STRATIFIED SUPPORT FOR PRIORITIZED DRIVERS</a:t>
            </a:r>
          </a:p>
        </p:txBody>
      </p:sp>
      <p:pic>
        <p:nvPicPr>
          <p:cNvPr id="3" name="Figure 2 • Sex- and APOE-stratified support for prioritized drivers" descr="Figure 2 • Sex- and APOE-stratified support for prioritized driv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495" y="384048"/>
            <a:ext cx="5673960" cy="610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phase12_kda_sex_apoe.png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2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Sex/APOE map: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Two ε2-associated directional patterns are broadest; other signals are more localized and often sparsely replicated.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sex_apoe_explanation.md; phase12_kda_sex_apoe_plotted_data.tsv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5358384" cy="3493008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2E7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4805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E7CAB"/>
                </a:solidFill>
                <a:latin typeface="Aptos Display"/>
              </a:rPr>
              <a:t>Male ε2 • AD-down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41448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33D"/>
                </a:solidFill>
                <a:latin typeface="Aptos"/>
              </a:rPr>
              <a:t>Broadest recurring pattern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962656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834640"/>
            <a:ext cx="44165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F2730"/>
                </a:solidFill>
                <a:latin typeface="Aptos"/>
              </a:rPr>
              <a:t>Excitatory RPL11: 8/14 significant runs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447288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319272"/>
            <a:ext cx="44165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F2730"/>
                </a:solidFill>
                <a:latin typeface="Aptos"/>
              </a:rPr>
              <a:t>Inhibitory RPS15: 9/10; LAMTOR5: 5/9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931920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03904"/>
            <a:ext cx="44165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F2730"/>
                </a:solidFill>
                <a:latin typeface="Aptos"/>
              </a:rPr>
              <a:t>Astrocytic APOE: 2/3; excitatory TMEM147: 4/10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416552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288536"/>
            <a:ext cx="441655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F2730"/>
                </a:solidFill>
                <a:latin typeface="Aptos"/>
              </a:rPr>
              <a:t>OPC and oligodendrocyte signals are 1/1 and therefore strong but minimally replicated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1755648"/>
            <a:ext cx="5248656" cy="3493008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029968"/>
            <a:ext cx="44805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55E00"/>
                </a:solidFill>
                <a:latin typeface="Aptos Display"/>
              </a:rPr>
              <a:t>Female ε2 • AD-up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441448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33D"/>
                </a:solidFill>
                <a:latin typeface="Aptos"/>
              </a:rPr>
              <a:t>Complementary recurring pattern</a:t>
            </a:r>
          </a:p>
        </p:txBody>
      </p:sp>
      <p:sp>
        <p:nvSpPr>
          <p:cNvPr id="22" name="Oval 21"/>
          <p:cNvSpPr/>
          <p:nvPr/>
        </p:nvSpPr>
        <p:spPr>
          <a:xfrm>
            <a:off x="6519672" y="2962656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834640"/>
            <a:ext cx="432511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F2730"/>
                </a:solidFill>
                <a:latin typeface="Aptos"/>
              </a:rPr>
              <a:t>Excitatory RPL11: 6/12; TMEM147: 6/11</a:t>
            </a:r>
          </a:p>
        </p:txBody>
      </p:sp>
      <p:sp>
        <p:nvSpPr>
          <p:cNvPr id="24" name="Oval 23"/>
          <p:cNvSpPr/>
          <p:nvPr/>
        </p:nvSpPr>
        <p:spPr>
          <a:xfrm>
            <a:off x="6519672" y="3447288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319272"/>
            <a:ext cx="432511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F2730"/>
                </a:solidFill>
                <a:latin typeface="Aptos"/>
              </a:rPr>
              <a:t>Excitatory SELENOW: 5/12</a:t>
            </a:r>
          </a:p>
        </p:txBody>
      </p:sp>
      <p:sp>
        <p:nvSpPr>
          <p:cNvPr id="26" name="Oval 25"/>
          <p:cNvSpPr/>
          <p:nvPr/>
        </p:nvSpPr>
        <p:spPr>
          <a:xfrm>
            <a:off x="6519672" y="3931920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803904"/>
            <a:ext cx="432511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F2730"/>
                </a:solidFill>
                <a:latin typeface="Aptos"/>
              </a:rPr>
              <a:t>Astrocytic RPL11, APOE, and RPS15: each 1/3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4416552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288536"/>
            <a:ext cx="4325112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F2730"/>
                </a:solidFill>
                <a:latin typeface="Aptos"/>
              </a:rPr>
              <a:t>Additional female ε4 AD-down and male ε4 signals are network-specific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7008" y="5532120"/>
            <a:ext cx="9729216" cy="603504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44752" y="5696712"/>
            <a:ext cx="9281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Aptos"/>
              </a:rPr>
              <a:t>Conclusion: the strata generate hypotheses for donor-aware interaction tests; visual differences are not formal sex/APOE interactions.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SHARED NETWORK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Network figures: shared inputs and visual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The same validated production bundle, network backgrounds, degree mapping, and Complex V definition are reused across all four figures.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network_figures_creation_plan.md; phase12_kda_network_figure_common.py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36850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3017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"/>
              </a:rPr>
              <a:t>Inputs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06624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578608"/>
            <a:ext cx="2816351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Phase 12 run-level KDA and complete candidate tests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236976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108960"/>
            <a:ext cx="2816351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Broad-cell-type directed Bayesian networks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767328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639312"/>
            <a:ext cx="2816351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Matched Phase 08 AD vs NCI log fold-change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97679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169663"/>
            <a:ext cx="2816351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Run-specific effective backgrounds and selected layers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828031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700016"/>
            <a:ext cx="2816351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ptos"/>
              </a:rPr>
              <a:t>Fixed 26-gene MitoCarta Complex V definition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1755648"/>
            <a:ext cx="32461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7176" y="2029968"/>
            <a:ext cx="26517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"/>
              </a:rPr>
              <a:t>Visual grammar</a:t>
            </a:r>
          </a:p>
        </p:txBody>
      </p:sp>
      <p:sp>
        <p:nvSpPr>
          <p:cNvPr id="22" name="Diamond 21"/>
          <p:cNvSpPr/>
          <p:nvPr/>
        </p:nvSpPr>
        <p:spPr>
          <a:xfrm>
            <a:off x="4901184" y="2679192"/>
            <a:ext cx="310896" cy="310896"/>
          </a:xfrm>
          <a:prstGeom prst="diamond">
            <a:avLst/>
          </a:prstGeom>
          <a:solidFill>
            <a:srgbClr val="40B0C4"/>
          </a:solidFill>
          <a:ln w="12700">
            <a:solidFill>
              <a:srgbClr val="1F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0952" y="2679192"/>
            <a:ext cx="1828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606C"/>
                </a:solidFill>
                <a:latin typeface="Aptos"/>
              </a:rPr>
              <a:t>key driver</a:t>
            </a:r>
          </a:p>
        </p:txBody>
      </p:sp>
      <p:sp>
        <p:nvSpPr>
          <p:cNvPr id="24" name="Oval 23"/>
          <p:cNvSpPr/>
          <p:nvPr/>
        </p:nvSpPr>
        <p:spPr>
          <a:xfrm>
            <a:off x="4901184" y="3182112"/>
            <a:ext cx="310896" cy="310896"/>
          </a:xfrm>
          <a:prstGeom prst="ellipse">
            <a:avLst/>
          </a:prstGeom>
          <a:solidFill>
            <a:srgbClr val="E1EEF7"/>
          </a:solidFill>
          <a:ln w="25400">
            <a:solidFill>
              <a:srgbClr val="1F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0952" y="3191256"/>
            <a:ext cx="20574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606C"/>
                </a:solidFill>
                <a:latin typeface="Aptos"/>
              </a:rPr>
              <a:t>black ring = KDA overlap</a:t>
            </a:r>
          </a:p>
        </p:txBody>
      </p:sp>
      <p:sp>
        <p:nvSpPr>
          <p:cNvPr id="26" name="Oval 25"/>
          <p:cNvSpPr/>
          <p:nvPr/>
        </p:nvSpPr>
        <p:spPr>
          <a:xfrm>
            <a:off x="4901184" y="3685032"/>
            <a:ext cx="310896" cy="310896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0952" y="3694176"/>
            <a:ext cx="20574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606C"/>
                </a:solidFill>
                <a:latin typeface="Aptos"/>
              </a:rPr>
              <a:t>purple ring = Complex V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01184" y="4370832"/>
            <a:ext cx="676656" cy="0"/>
          </a:xfrm>
          <a:prstGeom prst="line">
            <a:avLst/>
          </a:prstGeom>
          <a:ln w="26670">
            <a:solidFill>
              <a:srgbClr val="1F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87568" y="4261104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606C"/>
                </a:solidFill>
                <a:latin typeface="Aptos"/>
              </a:rPr>
              <a:t>dark = highlighted path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01184" y="4864608"/>
            <a:ext cx="676656" cy="0"/>
          </a:xfrm>
          <a:prstGeom prst="line">
            <a:avLst/>
          </a:prstGeom>
          <a:ln w="15240">
            <a:solidFill>
              <a:srgbClr val="E8EE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87568" y="4754880"/>
            <a:ext cx="1783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606C"/>
                </a:solidFill>
                <a:latin typeface="Aptos"/>
              </a:rPr>
              <a:t>pale = neighborhood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7176" y="5349240"/>
            <a:ext cx="25603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55606C"/>
                </a:solidFill>
                <a:latin typeface="Aptos"/>
              </a:rPr>
              <a:t>Node fill: blue = lower in AD; orange = higher in 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1755648"/>
            <a:ext cx="3493008" cy="4160520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2029968"/>
            <a:ext cx="2743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Reproducibility</a:t>
            </a:r>
          </a:p>
        </p:txBody>
      </p:sp>
      <p:sp>
        <p:nvSpPr>
          <p:cNvPr id="35" name="Oval 34"/>
          <p:cNvSpPr/>
          <p:nvPr/>
        </p:nvSpPr>
        <p:spPr>
          <a:xfrm>
            <a:off x="8247888" y="2706624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2578608"/>
            <a:ext cx="2560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FFFFF"/>
                </a:solidFill>
                <a:latin typeface="Aptos"/>
              </a:rPr>
              <a:t>Deterministic layouts and path tie-breaking</a:t>
            </a:r>
          </a:p>
        </p:txBody>
      </p:sp>
      <p:sp>
        <p:nvSpPr>
          <p:cNvPr id="37" name="Oval 36"/>
          <p:cNvSpPr/>
          <p:nvPr/>
        </p:nvSpPr>
        <p:spPr>
          <a:xfrm>
            <a:off x="8247888" y="3236976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49056" y="3108960"/>
            <a:ext cx="2560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FFFFF"/>
                </a:solidFill>
                <a:latin typeface="Aptos"/>
              </a:rPr>
              <a:t>Auditable node, edge, path, and plotted-point TSVs</a:t>
            </a:r>
          </a:p>
        </p:txBody>
      </p:sp>
      <p:sp>
        <p:nvSpPr>
          <p:cNvPr id="39" name="Oval 38"/>
          <p:cNvSpPr/>
          <p:nvPr/>
        </p:nvSpPr>
        <p:spPr>
          <a:xfrm>
            <a:off x="8247888" y="3767328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9056" y="3639312"/>
            <a:ext cx="2560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FFFFF"/>
                </a:solidFill>
                <a:latin typeface="Aptos"/>
              </a:rPr>
              <a:t>Input/output SHA-256 hashes and UTC generation log</a:t>
            </a:r>
          </a:p>
        </p:txBody>
      </p:sp>
      <p:sp>
        <p:nvSpPr>
          <p:cNvPr id="41" name="Oval 40"/>
          <p:cNvSpPr/>
          <p:nvPr/>
        </p:nvSpPr>
        <p:spPr>
          <a:xfrm>
            <a:off x="8247888" y="4297679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9056" y="4169663"/>
            <a:ext cx="2560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FFFFF"/>
                </a:solidFill>
                <a:latin typeface="Aptos"/>
              </a:rPr>
              <a:t>10 automated tests passed</a:t>
            </a:r>
          </a:p>
        </p:txBody>
      </p:sp>
      <p:sp>
        <p:nvSpPr>
          <p:cNvPr id="43" name="Oval 42"/>
          <p:cNvSpPr/>
          <p:nvPr/>
        </p:nvSpPr>
        <p:spPr>
          <a:xfrm>
            <a:off x="8247888" y="4828031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49056" y="4700016"/>
            <a:ext cx="25603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FFFFFF"/>
                </a:solidFill>
                <a:latin typeface="Aptos"/>
              </a:rPr>
              <a:t>300-dpi-scale PNG plus SVG/PDF vectors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3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Wang-style neighborhoods: setup and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Three prespecified representative runs illustrate directed routes from nominated drivers to mitochondrial targets.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wang_subnetworks_explanation.md; plot_phase12_kda_wang_subnetworks.py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847088"/>
          <a:ext cx="1077163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"/>
                <a:gridCol w="2057400"/>
                <a:gridCol w="3154680"/>
                <a:gridCol w="1947672"/>
                <a:gridCol w="2990088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Panel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Driver / context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Selected run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Neighborhood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Why selected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30" b="1" i="0">
                          <a:solidFill>
                            <a:srgbClr val="1F2730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APOE / astrocyte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Ast GRM3 • male ε2 • AD-down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L2 • n=19 • overlap=5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Mechanistic ATP/TUFM example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30" b="1" i="0">
                          <a:solidFill>
                            <a:srgbClr val="1F2730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LAMTOR5 / excitatory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Exc L3-4 RORB CUX2 • male ε2 • AD-down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L3 • n=27 • overlap=8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Smallest LAMTOR5 q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30" b="1" i="0">
                          <a:solidFill>
                            <a:srgbClr val="1F2730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GABARAPL2 / excitatory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Exc L4-5 RORB GABRG1 • male ε2 • AD-down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L3 • n=45 • overlap=9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 i="0">
                          <a:solidFill>
                            <a:srgbClr val="1F2730"/>
                          </a:solidFill>
                          <a:latin typeface="Aptos"/>
                        </a:rPr>
                        <a:t>Smallest GABARAPL2 q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" y="4096512"/>
            <a:ext cx="27432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F233D"/>
                </a:solidFill>
                <a:latin typeface="Aptos"/>
              </a:rPr>
              <a:t>How the panels were built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4654296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6336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Reconstruct the exact directed KDA neighborhood inside the run-specific effective background.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5093207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65192"/>
            <a:ext cx="6336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Truncate at the result’s selected layer; preserve all neighborhood edges.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5532120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404104"/>
            <a:ext cx="6336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Highlight prespecified shortest routes to Complex V, translation, and stress-control genes.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5971032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843016"/>
            <a:ext cx="633679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Label only focal drivers, overlaps, targets, and path intermediates to keep 19–45-node panels readable.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069080"/>
            <a:ext cx="3712463" cy="1508760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0144" y="4315968"/>
            <a:ext cx="3063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ptos"/>
              </a:rPr>
              <a:t>Selection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709160"/>
            <a:ext cx="3054096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55606C"/>
                </a:solidFill>
                <a:latin typeface="Aptos"/>
              </a:rPr>
              <a:t>These are illustrative runs, not the only supporting runs. Cross-run recurrence is evaluated separately in the convergence figure.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5029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3D"/>
                </a:solidFill>
                <a:latin typeface="Aptos"/>
              </a:rPr>
              <a:t>FIGURE 3 • DIRECTED KDA NEIGHBORHOODS CONNECT DRIVERS TO MITOCHONDRIAL GENES</a:t>
            </a:r>
          </a:p>
        </p:txBody>
      </p:sp>
      <p:pic>
        <p:nvPicPr>
          <p:cNvPr id="3" name="Figure 3 • Directed KDA neighborhoods connect drivers to mitochondrial genes" descr="Figure 3 • Directed KDA neighborhoods connect drivers to mitochondrial ge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70" y="384048"/>
            <a:ext cx="10051011" cy="610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phase12_kda_wang_subnetworks.png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3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Wang-style neighborhoods: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All three selected driver systems contain directed routes to mitochondrial and ATP-synthase genes.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network_figures_explained.md; path TSVs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10512"/>
            <a:ext cx="3438144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10512"/>
            <a:ext cx="3438144" cy="109728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21408"/>
            <a:ext cx="290779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ptos Display"/>
              </a:rPr>
              <a:t>APOE • astrocyte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788920"/>
            <a:ext cx="292608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606C"/>
                </a:solidFill>
                <a:latin typeface="Aptos"/>
              </a:rPr>
              <a:t>APOE → TUFM; APOE → ATP5PB; APOE → LDHB → ATP5F1A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4315968"/>
            <a:ext cx="29077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9E73"/>
                </a:solidFill>
                <a:latin typeface="Aptos"/>
              </a:rPr>
              <a:t>FE 17.1 • q=0.00041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810512"/>
            <a:ext cx="3438144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6" y="1810512"/>
            <a:ext cx="3438144" cy="109728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2121408"/>
            <a:ext cx="290779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ptos Display"/>
              </a:rPr>
              <a:t>LAMTOR5 • excitatory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788920"/>
            <a:ext cx="292608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606C"/>
                </a:solidFill>
                <a:latin typeface="Aptos"/>
              </a:rPr>
              <a:t>LAMTOR5 → ATP5IF1; LAMTOR5 → POP7 → ATP5MC2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315968"/>
            <a:ext cx="29077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69F00"/>
                </a:solidFill>
                <a:latin typeface="Aptos"/>
              </a:rPr>
              <a:t>FE 14.0 • q≈1×10⁻⁵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1810512"/>
            <a:ext cx="3438144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1810512"/>
            <a:ext cx="3438144" cy="109728"/>
          </a:xfrm>
          <a:prstGeom prst="rect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121408"/>
            <a:ext cx="290779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ptos Display"/>
              </a:rPr>
              <a:t>GABARAPL2 • excitatory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2788920"/>
            <a:ext cx="292608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606C"/>
                </a:solidFill>
                <a:latin typeface="Aptos"/>
              </a:rPr>
              <a:t>GABARAPL2 → CHCHD2 → ATP5MC3; route through MAGEF1/SNAPC5 to PARK7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4315968"/>
            <a:ext cx="29077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CAB"/>
                </a:solidFill>
                <a:latin typeface="Aptos"/>
              </a:rPr>
              <a:t>FE 9.9 • q≈3.4×10⁻⁵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413248"/>
            <a:ext cx="10168128" cy="685800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5577840"/>
            <a:ext cx="958291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FFFFFF"/>
                </a:solidFill>
                <a:latin typeface="Aptos"/>
              </a:rPr>
              <a:t>Conclusion: the selected candidate systems connect mitochondrial translation and stress-control genes to Complex V components—within directed model neighborhoods, not as experimentally proven regulatory chains.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4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Sex-reversal networks: setup and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Female ε2 AD-up and male ε2 AD-down neighborhoods are aligned to separate topology, membership, and expression color.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sex_reversal_networks_explanation.md; plot_phase12_kda_sex_reversal_networks.py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93792" cy="3493008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5262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D55E00"/>
                </a:solidFill>
                <a:latin typeface="Aptos Display"/>
              </a:rPr>
              <a:t>Female ε2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ptos"/>
              </a:rPr>
              <a:t>AD-up mitochondrial signature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108960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980944"/>
            <a:ext cx="426110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ptos"/>
              </a:rPr>
              <a:t>Condition-specific neighborhood reconstructed for APOE, LAMTOR5, and GABARAPL2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675887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547872"/>
            <a:ext cx="426110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ptos"/>
              </a:rPr>
              <a:t>Matched Phase 08 AD-vs-NCI logFC colors the active nodes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4242816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114800"/>
            <a:ext cx="426110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ptos"/>
              </a:rPr>
              <a:t>KDA overlap rings are condition-specific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5193792" cy="3493008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2E7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57400"/>
            <a:ext cx="45262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E7CAB"/>
                </a:solidFill>
                <a:latin typeface="Aptos Display"/>
              </a:rPr>
              <a:t>Male ε2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87168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ptos"/>
              </a:rPr>
              <a:t>AD-down mitochondrial signature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108960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980944"/>
            <a:ext cx="426110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ptos"/>
              </a:rPr>
              <a:t>The same three driver systems and matched cell contexts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675887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3547872"/>
            <a:ext cx="426110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ptos"/>
              </a:rPr>
              <a:t>The row’s union graph is computed once and uses identical coordinates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4242816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4114800"/>
            <a:ext cx="426110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ptos"/>
              </a:rPr>
              <a:t>Elements absent in one condition are faded rather than removed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68112" y="3474720"/>
            <a:ext cx="621792" cy="0"/>
          </a:xfrm>
          <a:prstGeom prst="line">
            <a:avLst/>
          </a:prstGeom>
          <a:ln w="25400">
            <a:solidFill>
              <a:srgbClr val="7E4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17320" y="5559552"/>
            <a:ext cx="9372600" cy="530352"/>
          </a:xfrm>
          <a:prstGeom prst="roundRect">
            <a:avLst/>
          </a:prstGeom>
          <a:solidFill>
            <a:srgbClr val="EFE8F6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73352" y="5696712"/>
            <a:ext cx="88696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33D"/>
                </a:solidFill>
                <a:latin typeface="Aptos"/>
              </a:rPr>
              <a:t>Shared coordinates make orange-to-blue expression reversals directly visible; they do not test whether network topology differs by sex.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5029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3D"/>
                </a:solidFill>
                <a:latin typeface="Aptos"/>
              </a:rPr>
              <a:t>FIGURE 4 • SEX-REVERSED KDA SIGNALS RETAIN SHARED DRIVER-CENTERED STRUCTURE</a:t>
            </a:r>
          </a:p>
        </p:txBody>
      </p:sp>
      <p:pic>
        <p:nvPicPr>
          <p:cNvPr id="3" name="Figure 4 • Sex-reversed KDA signals retain shared driver-centered structure" descr="Figure 4 • Sex-reversed KDA signals retain shared driver-centered stru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650" y="384048"/>
            <a:ext cx="6097651" cy="610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phase12_kda_sex_reversal_networks.png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4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Sex-reversal networks: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The same driver-centered framework accompanies opposite descriptive expression directions in ε2 female and male strata.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sex_reversal_networks_explanation.md; node TSV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83080"/>
          <a:ext cx="6053328" cy="4233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5184"/>
                <a:gridCol w="1719072"/>
                <a:gridCol w="1719072"/>
              </a:tblGrid>
              <a:tr h="529209"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System / gene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Female ε2 AD-up logFC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Male ε2 AD-down logFC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Astrocyte APOE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+0.785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−0.506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TUFM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+0.506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−0.939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ATP5PB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+0.153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−1.151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Excitatory LAMTOR5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+0.505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−0.928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ATP5IF1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+0.420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−0.497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Excitatory GABARAPL2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+0.463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−0.573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ATP5MC3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+0.430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−0.491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086600" y="1783080"/>
            <a:ext cx="4361688" cy="190195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2057400"/>
            <a:ext cx="376732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ptos"/>
              </a:rPr>
              <a:t>Supported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542032"/>
            <a:ext cx="370332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55606C"/>
                </a:solidFill>
                <a:latin typeface="Aptos"/>
              </a:rPr>
              <a:t>APOE, LAMTOR5, and GABARAPL2 remain linked to mitochondrial/Complex V genes in both ε2 strata, while matched AD effects reverse direction.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968496"/>
            <a:ext cx="4361688" cy="2048256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4242816"/>
            <a:ext cx="3767328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ptos"/>
              </a:rPr>
              <a:t>Required caution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727448"/>
            <a:ext cx="370332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606C"/>
                </a:solidFill>
                <a:latin typeface="Aptos"/>
              </a:rPr>
              <a:t>No formal AD×sex or AD×APOE interaction was fitted here. Networks are reused across sex, donor groups are small/unequal, and the two strata are not independent replications.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5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ATP convergence map: setup and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Unlike the selected neighborhoods, this bipartite map synthesizes qualifying primary directional calls across runs.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atp_convergence_explanation.md; plot_phase12_kda_atp_convergence.py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5285232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4526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"/>
              </a:rPr>
              <a:t>Qualifying-call filter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706624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578608"/>
            <a:ext cx="432511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Primary AD-up or AD-down KDA run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209544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081528"/>
            <a:ext cx="432511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Driver is nuclear and outside its overlap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712463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584448"/>
            <a:ext cx="432511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Overall overlap ≥2 genes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15383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4087368"/>
            <a:ext cx="432511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Mitochondrial signature ≥10 genes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718303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590288"/>
            <a:ext cx="432511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At least one overlap gene in fixed 26-gene Complex V set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5221223"/>
            <a:ext cx="91440" cy="9144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5093207"/>
            <a:ext cx="432511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1F2730"/>
                </a:solidFill>
                <a:latin typeface="Aptos"/>
              </a:rPr>
              <a:t>Deduplicate by KDA run ID for each network–driver–target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1755648"/>
            <a:ext cx="5193792" cy="4315968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039112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Encoding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724912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2596896"/>
            <a:ext cx="41696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FFFFFF"/>
                </a:solidFill>
                <a:latin typeface="Aptos"/>
              </a:rPr>
              <a:t>Left nodes: selected driver × broad network; color = network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255264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3127248"/>
            <a:ext cx="41696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FFFFFF"/>
                </a:solidFill>
                <a:latin typeface="Aptos"/>
              </a:rPr>
              <a:t>Driver size: full-network degree using the shared Wang mapping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785615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9128" y="3657600"/>
            <a:ext cx="41696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FFFFFF"/>
                </a:solidFill>
                <a:latin typeface="Aptos"/>
              </a:rPr>
              <a:t>Right nodes: Complex V genes; area = total supporting calls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4315968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8" y="4187952"/>
            <a:ext cx="41696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FFFFFF"/>
                </a:solidFill>
                <a:latin typeface="Aptos"/>
              </a:rPr>
              <a:t>Edge width: number of qualifying runs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4846320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39128" y="4718304"/>
            <a:ext cx="416966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FFFFFF"/>
                </a:solidFill>
                <a:latin typeface="Aptos"/>
              </a:rPr>
              <a:t>Line style: directed distance 1, 2, or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65392" y="5184648"/>
            <a:ext cx="2212848" cy="102412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3" y="5294376"/>
            <a:ext cx="188366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0B0C4"/>
                </a:solidFill>
                <a:latin typeface="Aptos Display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3" y="5724144"/>
            <a:ext cx="188366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DCEA"/>
                </a:solidFill>
                <a:latin typeface="Aptos"/>
              </a:rPr>
              <a:t>focused driver–target relationships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42832" y="5184648"/>
            <a:ext cx="2212848" cy="102412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5294376"/>
            <a:ext cx="188366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69F00"/>
                </a:solidFill>
                <a:latin typeface="Aptos Display"/>
              </a:rPr>
              <a:t>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424" y="5724144"/>
            <a:ext cx="188366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FDCEA"/>
                </a:solidFill>
                <a:latin typeface="Aptos"/>
              </a:rPr>
              <a:t>complete qualifying combinations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5029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3D"/>
                </a:solidFill>
                <a:latin typeface="Aptos"/>
              </a:rPr>
              <a:t>FIGURE 5 • RECURRENT CONVERGENCE ON ATP SYNTHASE / COMPLEX V GENES</a:t>
            </a:r>
          </a:p>
        </p:txBody>
      </p:sp>
      <p:pic>
        <p:nvPicPr>
          <p:cNvPr id="3" name="Figure 5 • Recurrent convergence on ATP synthase / Complex V genes" descr="Figure 5 • Recurrent convergence on ATP synthase / Complex V ge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17" y="384048"/>
            <a:ext cx="7116318" cy="610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phase12_kda_atp_convergence.png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5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ATP convergence map: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Complex V convergence recurs across fine-cell-type, sex, and APOE contexts—especially in neuronal networks.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phase12_kda_atp_convergence_pairs.tsv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83080"/>
          <a:ext cx="74066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26464"/>
                <a:gridCol w="1325880"/>
                <a:gridCol w="1554480"/>
                <a:gridCol w="905256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Driver / network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Complex V target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Qualifying calls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Direction mix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Distance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GABARAPL2 / excitatory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ATP5MC3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4 up / 11 down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RPL11 / excitatory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ATP5PF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4 up / 10 down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LAMTOR5 / excitatory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ATP5IF1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4 up / 8 down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LAMTOR5 / excitatory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ATP5MC2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4 up / 8 down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RPL11 / excitatory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ATP5ME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1 up / 11 down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RPS15 / inhibitory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ATP5F1E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1 up / 5 down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85048" y="1783080"/>
            <a:ext cx="3063240" cy="4023360"/>
          </a:xfrm>
          <a:prstGeom prst="roundRect">
            <a:avLst/>
          </a:prstGeom>
          <a:solidFill>
            <a:srgbClr val="EFE8F6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2" y="2057400"/>
            <a:ext cx="24871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"/>
              </a:rP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624328"/>
            <a:ext cx="248716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E4C9A"/>
                </a:solidFill>
                <a:latin typeface="Aptos"/>
              </a:rPr>
              <a:t>The ATP finding is not confined to one illustrative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3547872"/>
            <a:ext cx="2487168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>
                <a:solidFill>
                  <a:srgbClr val="55606C"/>
                </a:solidFill>
                <a:latin typeface="Aptos"/>
              </a:rPr>
              <a:t>Several driver–Complex V relationships recur across analysis contexts. Edge width pools AD-up and AD-down calls, so recurrence does not imply one universal disease direction.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5175504"/>
            <a:ext cx="248716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F233D"/>
                </a:solidFill>
                <a:latin typeface="Aptos"/>
              </a:rPr>
              <a:t>Strongest family: excitatory GABARAPL2 → ATP5MC3 (15 calls)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6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Connectivity diagnostic: setup and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The question is whether aggregate KDA evidence rises with full-network connectivity—and how strongly that varies by network.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connectivity_evidence_explanation.md; plot_phase12_kda_connectivity_evidence.py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3383280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39112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"/>
              </a:rPr>
              <a:t>One plotted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2788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E73"/>
                </a:solidFill>
                <a:latin typeface="Aptos"/>
              </a:rPr>
              <a:t>candidate gene × broad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999232"/>
            <a:ext cx="26700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108960"/>
            <a:ext cx="234086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9E73"/>
                </a:solidFill>
                <a:latin typeface="Aptos Display"/>
              </a:rPr>
              <a:t>50,165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538727"/>
            <a:ext cx="234086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records with ≥1 ranking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2761488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606C"/>
                </a:solidFill>
                <a:latin typeface="Aptos"/>
              </a:rPr>
              <a:t>A gene can appear in multiple networks because degree and KDA ranking are network-specific.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55648"/>
            <a:ext cx="3383280" cy="4242816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2E7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039112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"/>
              </a:rPr>
              <a:t>Panel A</a:t>
            </a:r>
          </a:p>
        </p:txBody>
      </p:sp>
      <p:sp>
        <p:nvSpPr>
          <p:cNvPr id="17" name="Oval 16"/>
          <p:cNvSpPr/>
          <p:nvPr/>
        </p:nvSpPr>
        <p:spPr>
          <a:xfrm>
            <a:off x="4645152" y="2743200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615184"/>
            <a:ext cx="25420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x = total-degree percentile within network</a:t>
            </a:r>
          </a:p>
        </p:txBody>
      </p:sp>
      <p:sp>
        <p:nvSpPr>
          <p:cNvPr id="19" name="Oval 18"/>
          <p:cNvSpPr/>
          <p:nvPr/>
        </p:nvSpPr>
        <p:spPr>
          <a:xfrm>
            <a:off x="4645152" y="3273552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145536"/>
            <a:ext cx="25420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y = standardized MeanOfLog KDA evidence</a:t>
            </a:r>
          </a:p>
        </p:txBody>
      </p:sp>
      <p:sp>
        <p:nvSpPr>
          <p:cNvPr id="21" name="Oval 20"/>
          <p:cNvSpPr/>
          <p:nvPr/>
        </p:nvSpPr>
        <p:spPr>
          <a:xfrm>
            <a:off x="4645152" y="3803903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675887"/>
            <a:ext cx="25420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area = significant primary directional calls</a:t>
            </a:r>
          </a:p>
        </p:txBody>
      </p:sp>
      <p:sp>
        <p:nvSpPr>
          <p:cNvPr id="23" name="Oval 22"/>
          <p:cNvSpPr/>
          <p:nvPr/>
        </p:nvSpPr>
        <p:spPr>
          <a:xfrm>
            <a:off x="4645152" y="4334255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206240"/>
            <a:ext cx="25420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color = broad network</a:t>
            </a:r>
          </a:p>
        </p:txBody>
      </p:sp>
      <p:sp>
        <p:nvSpPr>
          <p:cNvPr id="25" name="Oval 24"/>
          <p:cNvSpPr/>
          <p:nvPr/>
        </p:nvSpPr>
        <p:spPr>
          <a:xfrm>
            <a:off x="4645152" y="4864607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736592"/>
            <a:ext cx="254203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labels = prespecified candidates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755648"/>
            <a:ext cx="3447288" cy="4242816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039112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233D"/>
                </a:solidFill>
                <a:latin typeface="Aptos"/>
              </a:rPr>
              <a:t>Panel B</a:t>
            </a:r>
          </a:p>
        </p:txBody>
      </p:sp>
      <p:sp>
        <p:nvSpPr>
          <p:cNvPr id="29" name="Oval 28"/>
          <p:cNvSpPr/>
          <p:nvPr/>
        </p:nvSpPr>
        <p:spPr>
          <a:xfrm>
            <a:off x="8275320" y="2743200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2615184"/>
            <a:ext cx="257860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Separate Spearman correlation within each network</a:t>
            </a:r>
          </a:p>
        </p:txBody>
      </p:sp>
      <p:sp>
        <p:nvSpPr>
          <p:cNvPr id="31" name="Oval 30"/>
          <p:cNvSpPr/>
          <p:nvPr/>
        </p:nvSpPr>
        <p:spPr>
          <a:xfrm>
            <a:off x="8275320" y="3346704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6488" y="3218688"/>
            <a:ext cx="257860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Rank-based; no linearity or normality assumption</a:t>
            </a:r>
          </a:p>
        </p:txBody>
      </p:sp>
      <p:sp>
        <p:nvSpPr>
          <p:cNvPr id="33" name="Oval 32"/>
          <p:cNvSpPr/>
          <p:nvPr/>
        </p:nvSpPr>
        <p:spPr>
          <a:xfrm>
            <a:off x="8275320" y="3950207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3822191"/>
            <a:ext cx="257860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Effect magnitude (rho) matters more than tiny P values at n≈5k–10k</a:t>
            </a:r>
          </a:p>
        </p:txBody>
      </p:sp>
      <p:sp>
        <p:nvSpPr>
          <p:cNvPr id="35" name="Oval 34"/>
          <p:cNvSpPr/>
          <p:nvPr/>
        </p:nvSpPr>
        <p:spPr>
          <a:xfrm>
            <a:off x="8275320" y="4553712"/>
            <a:ext cx="91440" cy="9144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6488" y="4425696"/>
            <a:ext cx="2578608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Raw-degree facets retained as diagnostic supplement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5029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3D"/>
                </a:solidFill>
                <a:latin typeface="Aptos"/>
              </a:rPr>
              <a:t>FIGURE 6 • NETWORK CONNECTIVITY IS CONTEXTUAL EVIDENCE</a:t>
            </a:r>
          </a:p>
        </p:txBody>
      </p:sp>
      <p:pic>
        <p:nvPicPr>
          <p:cNvPr id="3" name="Figure 6 • Network connectivity is contextual evidence" descr="Figure 6 • Network connectivity is contextual evide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845123"/>
            <a:ext cx="11859768" cy="5186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phase12_kda_connectivity_evidence.png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6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Connectivity diagnostic: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Connectivity and aggregate KDA evidence are positively associated in every network, but connectivity is not determinative.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phase12_kda_connectivity_evidence_correlations.tsv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83080"/>
          <a:ext cx="48920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508760"/>
                <a:gridCol w="1143000"/>
              </a:tblGrid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Network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Candidate records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Spearman ρ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Astrocytes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7,547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0.525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Excitatory neurons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9,926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0.559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Inhibitory neurons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9,054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0.525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Microglia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5,547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0.360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OPCs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7,567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0.401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Oligodendrocytes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5,851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0.286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algn="l"/>
                      <a:r>
                        <a:rPr sz="1080" b="1" i="0">
                          <a:solidFill>
                            <a:srgbClr val="1F2730"/>
                          </a:solidFill>
                          <a:latin typeface="Aptos"/>
                        </a:rPr>
                        <a:t>Vasculature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4,673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80" b="0" i="0">
                          <a:solidFill>
                            <a:srgbClr val="1F2730"/>
                          </a:solidFill>
                          <a:latin typeface="Aptos"/>
                        </a:rPr>
                        <a:t>0.170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897880" y="1783080"/>
            <a:ext cx="5559552" cy="190195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2057400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E73"/>
                </a:solidFill>
                <a:latin typeface="Aptos"/>
              </a:rPr>
              <a:t>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456" y="2011680"/>
            <a:ext cx="4005072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0F233D"/>
                </a:solidFill>
                <a:latin typeface="Aptos"/>
              </a:rPr>
              <a:t>Highest associations occur in excitatory neurons (ρ=0.559) and astrocyte/inhibitory networks (ρ≈0.525).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456" y="2852928"/>
            <a:ext cx="400507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55606C"/>
                </a:solidFill>
                <a:latin typeface="Aptos"/>
              </a:rPr>
              <a:t>All seven correlations are positive; the weakest is vasculature (ρ=0.170).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968496"/>
            <a:ext cx="5559552" cy="2066543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4242816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55E00"/>
                </a:solidFill>
                <a:latin typeface="Aptos"/>
              </a:rPr>
              <a:t>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4178808"/>
            <a:ext cx="400507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ptos"/>
              </a:rPr>
              <a:t>High-degree candidates still span a wide range of KDA scores. Connectivity can shape opportunity for overlap but does not replace KDA enrichment, recurrence, or causal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5358384"/>
            <a:ext cx="40050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5606C"/>
                </a:solidFill>
                <a:latin typeface="Aptos"/>
              </a:rPr>
              <a:t>Use connectivity as context—not as an independent significance test.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CROSS-FIGURE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What the four network figures establish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Selected mechanisms, aligned sex contrasts, cross-run recurrence, and a network-bias diagnostic converge on one cautious interpretation.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Phase 12 network figure explanations and plotted-data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19072"/>
            <a:ext cx="10716768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719072"/>
            <a:ext cx="128016" cy="832104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23134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Selected neighborhoods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37943"/>
            <a:ext cx="76078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606C"/>
                </a:solidFill>
                <a:latin typeface="Aptos"/>
              </a:rPr>
              <a:t>APOE, LAMTOR5, and GABARAPL2 have directed routes to Complex V and mitochondrial stress/translation genes.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52344"/>
            <a:ext cx="10716768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752344"/>
            <a:ext cx="128016" cy="832104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07791"/>
            <a:ext cx="23134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Sex-reversal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71215"/>
            <a:ext cx="76078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606C"/>
                </a:solidFill>
                <a:latin typeface="Aptos"/>
              </a:rPr>
              <a:t>The same driver-centered framework accompanies female ε2 AD-up and male ε2 AD-down expression directions.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785615"/>
            <a:ext cx="10716768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785615"/>
            <a:ext cx="128016" cy="832104"/>
          </a:xfrm>
          <a:prstGeom prst="rect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41063"/>
            <a:ext cx="23134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Cross-run convergence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904487"/>
            <a:ext cx="76078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606C"/>
                </a:solidFill>
                <a:latin typeface="Aptos"/>
              </a:rPr>
              <a:t>Complex V targets recur across contexts; the strongest focused link is GABARAPL2→ATP5MC3.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18888"/>
            <a:ext cx="10716768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4818888"/>
            <a:ext cx="128016" cy="832104"/>
          </a:xfrm>
          <a:prstGeom prst="rect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74336"/>
            <a:ext cx="23134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33D"/>
                </a:solidFill>
                <a:latin typeface="Aptos"/>
              </a:rPr>
              <a:t>Connectivity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937759"/>
            <a:ext cx="760780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606C"/>
                </a:solidFill>
                <a:latin typeface="Aptos"/>
              </a:rPr>
              <a:t>Hubs tend to rank more strongly, but degree explains only part of the KDA evidence and varies by network.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8992" y="5961888"/>
            <a:ext cx="10076688" cy="402336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6025896"/>
            <a:ext cx="96377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Integrated Phase 12 conclusion: recurrent, cell-contextual network convergence on mitochondrial/Complex V biology—plausible and auditable, but still hypothesis-generating.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7 SHARED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Phase 13: donor-aware respiratory-modifier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The formal question is whether the adjusted AD effect on a respiratory module differs between two sex/APOE groups.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phase_13_workflow_explained.md; phase_13_respiratory_modifier_plan.md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7830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783080" cy="9144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85416"/>
            <a:ext cx="14721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ptos"/>
              </a:rPr>
              <a:t>Nucleus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78608"/>
            <a:ext cx="152704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06C"/>
                </a:solidFill>
                <a:latin typeface="Aptos"/>
              </a:rPr>
              <a:t>Sum within donor × cell context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596896"/>
            <a:ext cx="347472" cy="0"/>
          </a:xfrm>
          <a:prstGeom prst="line">
            <a:avLst/>
          </a:prstGeom>
          <a:ln w="17780">
            <a:solidFill>
              <a:srgbClr val="76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1920240"/>
            <a:ext cx="17830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1920240"/>
            <a:ext cx="1783080" cy="91440"/>
          </a:xfrm>
          <a:prstGeom prst="rect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185416"/>
            <a:ext cx="14721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ptos"/>
              </a:rPr>
              <a:t>Donor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578608"/>
            <a:ext cx="152704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06C"/>
                </a:solidFill>
                <a:latin typeface="Aptos"/>
              </a:rPr>
              <a:t>TMM + logCPM using all genes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0" y="2596896"/>
            <a:ext cx="347472" cy="0"/>
          </a:xfrm>
          <a:prstGeom prst="line">
            <a:avLst/>
          </a:prstGeom>
          <a:ln w="17780">
            <a:solidFill>
              <a:srgbClr val="76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1920240"/>
            <a:ext cx="17830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920240"/>
            <a:ext cx="1783080" cy="91440"/>
          </a:xfrm>
          <a:prstGeom prst="rect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8" y="2185416"/>
            <a:ext cx="14721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ptos"/>
              </a:rPr>
              <a:t>Module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2578608"/>
            <a:ext cx="152704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06C"/>
                </a:solidFill>
                <a:latin typeface="Aptos"/>
              </a:rPr>
              <a:t>NCI-reference gene z-scores averaged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80" y="2596896"/>
            <a:ext cx="347472" cy="0"/>
          </a:xfrm>
          <a:prstGeom prst="line">
            <a:avLst/>
          </a:prstGeom>
          <a:ln w="17780">
            <a:solidFill>
              <a:srgbClr val="76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79" y="1920240"/>
            <a:ext cx="17830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1920240"/>
            <a:ext cx="1783080" cy="9144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3527" y="2185416"/>
            <a:ext cx="14721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ptos"/>
              </a:rPr>
              <a:t>Six AD effects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2578608"/>
            <a:ext cx="152704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06C"/>
                </a:solidFill>
                <a:latin typeface="Aptos"/>
              </a:rPr>
              <a:t>Adjusted AD−NCI per sex/APOE stratum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0" y="2596896"/>
            <a:ext cx="347471" cy="0"/>
          </a:xfrm>
          <a:prstGeom prst="line">
            <a:avLst/>
          </a:prstGeom>
          <a:ln w="17780">
            <a:solidFill>
              <a:srgbClr val="76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1920240"/>
            <a:ext cx="17830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920240"/>
            <a:ext cx="1783080" cy="9144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9528" y="2185416"/>
            <a:ext cx="1472184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33D"/>
                </a:solidFill>
                <a:latin typeface="Aptos"/>
              </a:rPr>
              <a:t>Modifier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2578608"/>
            <a:ext cx="1527048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5606C"/>
                </a:solidFill>
                <a:latin typeface="Aptos"/>
              </a:rPr>
              <a:t>Difference of two AD effects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3749039"/>
            <a:ext cx="5248656" cy="1965960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2E7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4023360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ptos"/>
              </a:rPr>
              <a:t>Difference-of-differences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4617720"/>
            <a:ext cx="4590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E7CAB"/>
                </a:solidFill>
                <a:latin typeface="Aptos"/>
              </a:rPr>
              <a:t>estimate = Δ(group 1) − Δ(group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38928"/>
            <a:ext cx="46634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606C"/>
                </a:solidFill>
                <a:latin typeface="Aptos"/>
              </a:rPr>
              <a:t>Δ = model-adjusted AD module-score mean − NCI module-score mean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6208" y="3749039"/>
            <a:ext cx="5212080" cy="1965960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4023360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ptos"/>
              </a:rPr>
              <a:t>Prespecified test family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4636008"/>
            <a:ext cx="4617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D55E00"/>
                </a:solidFill>
                <a:latin typeface="Aptos"/>
              </a:rPr>
              <a:t>7 contexts × 7 contrasts × 4 modules = 196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5102352"/>
            <a:ext cx="46177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606C"/>
                </a:solidFill>
                <a:latin typeface="Aptos"/>
              </a:rPr>
              <a:t>Effect unit: NCI-reference donor-level module-score SD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7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Modifier landscape: setup and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The renderer reads the immutable validated gate table; it does not refit models or alter q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phase13_modifier_landscape_methods.md; plot_phase13_respiratory_modifier_figures.R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2606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751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233D"/>
                </a:solidFill>
                <a:latin typeface="Aptos"/>
              </a:rPr>
              <a:t>mtDNA OXPHOS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23160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606C"/>
                </a:solidFill>
                <a:latin typeface="Aptos"/>
              </a:rPr>
              <a:t>13 genes • direct respiratory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5304" y="1755648"/>
            <a:ext cx="2606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19751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233D"/>
                </a:solidFill>
                <a:latin typeface="Aptos"/>
              </a:rPr>
              <a:t>Nuclear OXPHOS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2423160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606C"/>
                </a:solidFill>
                <a:latin typeface="Aptos"/>
              </a:rPr>
              <a:t>86 structural genes • direct respiratory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7376" y="1755648"/>
            <a:ext cx="2606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9751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233D"/>
                </a:solidFill>
                <a:latin typeface="Aptos"/>
              </a:rPr>
              <a:t>Mitochondrial translation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423160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606C"/>
                </a:solidFill>
                <a:latin typeface="Aptos"/>
              </a:rPr>
              <a:t>155 genes • supporting program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9448" y="1755648"/>
            <a:ext cx="2606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975104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233D"/>
                </a:solidFill>
                <a:latin typeface="Aptos"/>
              </a:rPr>
              <a:t>MIB/MICOS membrane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423160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5606C"/>
                </a:solidFill>
                <a:latin typeface="Aptos"/>
              </a:rPr>
              <a:t>19 genes • supporting program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310128"/>
            <a:ext cx="5230368" cy="2450592"/>
          </a:xfrm>
          <a:prstGeom prst="roundRect">
            <a:avLst/>
          </a:prstGeom>
          <a:solidFill>
            <a:srgbClr val="EFE8F6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58444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ptos"/>
              </a:rPr>
              <a:t>Heatmap encoding</a:t>
            </a:r>
          </a:p>
        </p:txBody>
      </p:sp>
      <p:sp>
        <p:nvSpPr>
          <p:cNvPr id="22" name="Oval 21"/>
          <p:cNvSpPr/>
          <p:nvPr/>
        </p:nvSpPr>
        <p:spPr>
          <a:xfrm>
            <a:off x="987552" y="4151376"/>
            <a:ext cx="91440" cy="91440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023360"/>
            <a:ext cx="435254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ptos"/>
              </a:rPr>
              <a:t>Rows = 7 frozen broad cell contexts</a:t>
            </a:r>
          </a:p>
        </p:txBody>
      </p:sp>
      <p:sp>
        <p:nvSpPr>
          <p:cNvPr id="24" name="Oval 23"/>
          <p:cNvSpPr/>
          <p:nvPr/>
        </p:nvSpPr>
        <p:spPr>
          <a:xfrm>
            <a:off x="987552" y="4480560"/>
            <a:ext cx="91440" cy="91440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352544"/>
            <a:ext cx="435254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ptos"/>
              </a:rPr>
              <a:t>Columns = 3 sex + 4 APOE contrasts</a:t>
            </a:r>
          </a:p>
        </p:txBody>
      </p:sp>
      <p:sp>
        <p:nvSpPr>
          <p:cNvPr id="26" name="Oval 25"/>
          <p:cNvSpPr/>
          <p:nvPr/>
        </p:nvSpPr>
        <p:spPr>
          <a:xfrm>
            <a:off x="987552" y="4809744"/>
            <a:ext cx="91440" cy="91440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681728"/>
            <a:ext cx="435254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ptos"/>
              </a:rPr>
              <a:t>Color = signed modifier estimate (−1.5 to +1.5 SD)</a:t>
            </a:r>
          </a:p>
        </p:txBody>
      </p:sp>
      <p:sp>
        <p:nvSpPr>
          <p:cNvPr id="28" name="Oval 27"/>
          <p:cNvSpPr/>
          <p:nvPr/>
        </p:nvSpPr>
        <p:spPr>
          <a:xfrm>
            <a:off x="987552" y="5138928"/>
            <a:ext cx="91440" cy="91440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010912"/>
            <a:ext cx="435254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ptos"/>
              </a:rPr>
              <a:t>Crossed gray cell = not testable, never zero</a:t>
            </a:r>
          </a:p>
        </p:txBody>
      </p:sp>
      <p:sp>
        <p:nvSpPr>
          <p:cNvPr id="30" name="Oval 29"/>
          <p:cNvSpPr/>
          <p:nvPr/>
        </p:nvSpPr>
        <p:spPr>
          <a:xfrm>
            <a:off x="987552" y="5468112"/>
            <a:ext cx="91440" cy="91440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340096"/>
            <a:ext cx="435254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ptos"/>
              </a:rPr>
              <a:t>Outlines/symbols redundantly encode frozen status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3310128"/>
            <a:ext cx="5212080" cy="2450592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3584448"/>
            <a:ext cx="4617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Scientific gate</a:t>
            </a:r>
          </a:p>
        </p:txBody>
      </p:sp>
      <p:sp>
        <p:nvSpPr>
          <p:cNvPr id="34" name="Oval 33"/>
          <p:cNvSpPr/>
          <p:nvPr/>
        </p:nvSpPr>
        <p:spPr>
          <a:xfrm>
            <a:off x="6510528" y="4169663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4041648"/>
            <a:ext cx="43251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Complete-family module-score FDR</a:t>
            </a:r>
          </a:p>
        </p:txBody>
      </p:sp>
      <p:sp>
        <p:nvSpPr>
          <p:cNvPr id="36" name="Oval 35"/>
          <p:cNvSpPr/>
          <p:nvPr/>
        </p:nvSpPr>
        <p:spPr>
          <a:xfrm>
            <a:off x="6510528" y="4498848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4370832"/>
            <a:ext cx="43251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Independent CAMERA gene-set support</a:t>
            </a:r>
          </a:p>
        </p:txBody>
      </p:sp>
      <p:sp>
        <p:nvSpPr>
          <p:cNvPr id="38" name="Oval 37"/>
          <p:cNvSpPr/>
          <p:nvPr/>
        </p:nvSpPr>
        <p:spPr>
          <a:xfrm>
            <a:off x="6510528" y="4828032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1696" y="4700016"/>
            <a:ext cx="43251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Donor-count and module-coverage thresholds</a:t>
            </a:r>
          </a:p>
        </p:txBody>
      </p:sp>
      <p:sp>
        <p:nvSpPr>
          <p:cNvPr id="40" name="Oval 39"/>
          <p:cNvSpPr/>
          <p:nvPr/>
        </p:nvSpPr>
        <p:spPr>
          <a:xfrm>
            <a:off x="6510528" y="5157216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5029200"/>
            <a:ext cx="43251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Confidence interval and meaningful-effect rule</a:t>
            </a:r>
          </a:p>
        </p:txBody>
      </p:sp>
      <p:sp>
        <p:nvSpPr>
          <p:cNvPr id="42" name="Oval 41"/>
          <p:cNvSpPr/>
          <p:nvPr/>
        </p:nvSpPr>
        <p:spPr>
          <a:xfrm>
            <a:off x="6510528" y="5486400"/>
            <a:ext cx="91440" cy="91440"/>
          </a:xfrm>
          <a:prstGeom prst="ellipse">
            <a:avLst/>
          </a:prstGeom>
          <a:solidFill>
            <a:srgbClr val="40B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11696" y="5358384"/>
            <a:ext cx="43251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Bootstrap, leave-one-donor-out, and sensitivity stability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5879592"/>
            <a:ext cx="440740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0F233D"/>
                </a:solidFill>
                <a:latin typeface="Aptos"/>
              </a:rPr>
              <a:t>No significance stars; exact gate status controls the conclusion.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5029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233D"/>
                </a:solidFill>
                <a:latin typeface="Aptos"/>
              </a:rPr>
              <a:t>FIGURE 7 • RESPIRATORY-MODIFIER LANDSCAPE: COMPLETE PRESPECIFIED FAMILY</a:t>
            </a:r>
          </a:p>
        </p:txBody>
      </p:sp>
      <p:pic>
        <p:nvPicPr>
          <p:cNvPr id="3" name="Figure 7 • Respiratory-modifier landscape: complete prespecified family" descr="Figure 7 • Respiratory-modifier landscape: complete prespecified fami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44" y="384047"/>
            <a:ext cx="10716263" cy="6108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Source: phase13_modifier_landscape.png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FIGURE 7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Modifier landscape: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The production run is technically complete, but the complete-family scientific result is inconclusive.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phase13_modifier_landscape_caption.md; respiratory gate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248716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1579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E7CAB"/>
                </a:solidFill>
                <a:latin typeface="Aptos Display"/>
              </a:rPr>
              <a:t>196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95144"/>
            <a:ext cx="215798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prespecified tests rendered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755648"/>
            <a:ext cx="248716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65376"/>
            <a:ext cx="21579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E4C9A"/>
                </a:solidFill>
                <a:latin typeface="Aptos Display"/>
              </a:rPr>
              <a:t>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95144"/>
            <a:ext cx="215798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estimable but inconclusive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0176" y="1755648"/>
            <a:ext cx="248716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865376"/>
            <a:ext cx="21579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E69F00"/>
                </a:solidFill>
                <a:latin typeface="Aptos Display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295144"/>
            <a:ext cx="215798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not testable (all vasculature)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4504" y="1755648"/>
            <a:ext cx="248716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69096" y="1865376"/>
            <a:ext cx="215798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D55E00"/>
                </a:solidFill>
                <a:latin typeface="Aptos Display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9096" y="2295144"/>
            <a:ext cx="215798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5606C"/>
                </a:solidFill>
                <a:latin typeface="Aptos"/>
              </a:rPr>
              <a:t>supported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64408"/>
            <a:ext cx="676656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38728"/>
            <a:ext cx="61996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ptos"/>
              </a:rPr>
              <a:t>Complete-family evidence</a:t>
            </a:r>
          </a:p>
        </p:txBody>
      </p:sp>
      <p:sp>
        <p:nvSpPr>
          <p:cNvPr id="22" name="Oval 21"/>
          <p:cNvSpPr/>
          <p:nvPr/>
        </p:nvSpPr>
        <p:spPr>
          <a:xfrm>
            <a:off x="1005840" y="4169663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4041648"/>
            <a:ext cx="585216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7 module-score tests had nominal P&lt;0.05, but none passed FDR.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" y="4599431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7008" y="4471416"/>
            <a:ext cx="585216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Minimum module-score q = 0.876; minimum CAMERA q = 0.346.</a:t>
            </a:r>
          </a:p>
        </p:txBody>
      </p:sp>
      <p:sp>
        <p:nvSpPr>
          <p:cNvPr id="26" name="Oval 25"/>
          <p:cNvSpPr/>
          <p:nvPr/>
        </p:nvSpPr>
        <p:spPr>
          <a:xfrm>
            <a:off x="1005840" y="5029199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4901183"/>
            <a:ext cx="585216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The direct-respiratory nominal highlight is OPC nuclear OXPHOS, female−male within ε3/3: estimate +0.815 SD, 95% CI [0.130, 1.501], P=0.0199, q=0.876.</a:t>
            </a:r>
          </a:p>
        </p:txBody>
      </p:sp>
      <p:sp>
        <p:nvSpPr>
          <p:cNvPr id="28" name="Oval 27"/>
          <p:cNvSpPr/>
          <p:nvPr/>
        </p:nvSpPr>
        <p:spPr>
          <a:xfrm>
            <a:off x="1005840" y="5458967"/>
            <a:ext cx="91440" cy="91440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5330951"/>
            <a:ext cx="585216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F2730"/>
                </a:solidFill>
                <a:latin typeface="Aptos"/>
              </a:rPr>
              <a:t>Heatmap colors show effect estimates—not support status; visually strong cells can remain inconclusive.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54112" y="3264408"/>
            <a:ext cx="3703320" cy="2542032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37575" y="3538728"/>
            <a:ext cx="31272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ptos"/>
              </a:rPr>
              <a:t>Permitted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7575" y="4096512"/>
            <a:ext cx="3127248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D55E00"/>
                </a:solidFill>
                <a:latin typeface="Aptos"/>
              </a:rPr>
              <a:t>No respiratory module showed a supported sex/APOE modifier after the prespecified complete-family gate.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575" y="5148072"/>
            <a:ext cx="312724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1">
                <a:solidFill>
                  <a:srgbClr val="55606C"/>
                </a:solidFill>
                <a:latin typeface="Aptos"/>
              </a:rPr>
              <a:t>This is evidence of unresolved uncertainty—not proof that all modifier effects are exactly zero.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CROSS-PHASE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Integrated interpretation: Phase 12 and Phase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The two phases operate at different evidentiary levels and therefore answer different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Sources: validated Phase 12 and Phase 13 figure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755648"/>
          <a:ext cx="10771632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79392"/>
                <a:gridCol w="4480560"/>
              </a:tblGrid>
              <a:tr h="606552"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Phase 12 KDA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 i="0">
                          <a:solidFill>
                            <a:srgbClr val="FFFFFF"/>
                          </a:solidFill>
                          <a:latin typeface="Aptos"/>
                        </a:rPr>
                        <a:t>Phase 13 modifier analysis</a:t>
                      </a:r>
                    </a:p>
                  </a:txBody>
                  <a:tcPr marL="73152" marR="73152" marT="36576" marB="36576" anchor="ctr">
                    <a:solidFill>
                      <a:srgbClr val="0F233D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/>
                      <a:r>
                        <a:rPr sz="1140" b="1" i="0">
                          <a:solidFill>
                            <a:srgbClr val="1F2730"/>
                          </a:solidFill>
                          <a:latin typeface="Aptos"/>
                        </a:rPr>
                        <a:t>Unit of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Directed candidate neighborhood × run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Donor-level respiratory module score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/>
                      <a:r>
                        <a:rPr sz="1140" b="1" i="0">
                          <a:solidFill>
                            <a:srgbClr val="1F2730"/>
                          </a:solidFill>
                          <a:latin typeface="Aptos"/>
                        </a:rPr>
                        <a:t>Primary question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Which candidates’ neighborhoods are enriched?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Does the AD effect differ by sex/APOE?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/>
                      <a:r>
                        <a:rPr sz="1140" b="1" i="0">
                          <a:solidFill>
                            <a:srgbClr val="1F2730"/>
                          </a:solidFill>
                          <a:latin typeface="Aptos"/>
                        </a:rPr>
                        <a:t>Strength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Localization, topology, recurrence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Formal difference-of-differences with FDR/stability gate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/>
                      <a:r>
                        <a:rPr sz="1140" b="1" i="0">
                          <a:solidFill>
                            <a:srgbClr val="1F2730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Recurrent cell-contextual Complex V convergence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0/196 supported; 180 inconclusive; 16 not testable</a:t>
                      </a:r>
                    </a:p>
                  </a:txBody>
                  <a:tcPr marL="73152" marR="73152" marT="36576" marB="36576" anchor="ctr">
                    <a:solidFill>
                      <a:srgbClr val="F7F9FC"/>
                    </a:solidFill>
                  </a:tcPr>
                </a:tc>
              </a:tr>
              <a:tr h="606552">
                <a:tc>
                  <a:txBody>
                    <a:bodyPr/>
                    <a:lstStyle/>
                    <a:p>
                      <a:pPr algn="l"/>
                      <a:r>
                        <a:rPr sz="1140" b="1" i="0">
                          <a:solidFill>
                            <a:srgbClr val="1F2730"/>
                          </a:solidFill>
                          <a:latin typeface="Aptos"/>
                        </a:rPr>
                        <a:t>Conclusion level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Mechanistic hypotheses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40" b="0" i="0">
                          <a:solidFill>
                            <a:srgbClr val="1F2730"/>
                          </a:solidFill>
                          <a:latin typeface="Aptos"/>
                        </a:rPr>
                        <a:t>No confirmed respiratory modifier in this test family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41832" y="5669280"/>
            <a:ext cx="10314432" cy="585216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5797296"/>
            <a:ext cx="9784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>
                <a:solidFill>
                  <a:srgbClr val="FFFFFF"/>
                </a:solidFill>
                <a:latin typeface="Aptos"/>
              </a:rPr>
              <a:t>There is no contradiction: Phase 12 supports where and how mitochondrial network convergence may occur; Phase 13 did not confirm a broad donor-level sex/APOE modifier after complete-family correction.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3200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0B0C4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F233D"/>
                </a:solidFill>
                <a:latin typeface="Aptos Display"/>
              </a:rPr>
              <a:t>Implications and next analytical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78992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606C"/>
                </a:solidFill>
                <a:latin typeface="Aptos"/>
              </a:rPr>
              <a:t>Preserve the mechanistic hypotheses while raising the evidentiary bar for sex/APOE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45952" cy="2286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68494"/>
                </a:solidFill>
                <a:latin typeface="Aptos"/>
              </a:rPr>
              <a:t>Synthesis of project-local figure methods, tables, and validation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3796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68494"/>
                </a:solidFill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93792" cy="1664208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057400"/>
            <a:ext cx="402336" cy="40233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75688"/>
            <a:ext cx="402336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11680"/>
            <a:ext cx="3931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ptos"/>
              </a:rPr>
              <a:t>Prioritize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68880"/>
            <a:ext cx="39319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606C"/>
                </a:solidFill>
                <a:latin typeface="Aptos"/>
              </a:rPr>
              <a:t>Use APOE, LAMTOR5, GABARAPL2, RPL11, and RPS15–Complex V systems as focused hypotheses, not a validated causal ranking.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93792" cy="1664208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2E7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9672" y="2057400"/>
            <a:ext cx="402336" cy="402336"/>
          </a:xfrm>
          <a:prstGeom prst="ellipse">
            <a:avLst/>
          </a:prstGeom>
          <a:solidFill>
            <a:srgbClr val="2E7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75688"/>
            <a:ext cx="402336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011680"/>
            <a:ext cx="3931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468880"/>
            <a:ext cx="39319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606C"/>
                </a:solidFill>
                <a:latin typeface="Aptos"/>
              </a:rPr>
              <a:t>Test nominated driver→Complex V relationships with perturbation or orthogonal regulatory evidence; retain cell-network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5193792" cy="1664208"/>
          </a:xfrm>
          <a:prstGeom prst="roundRect">
            <a:avLst/>
          </a:prstGeom>
          <a:solidFill>
            <a:srgbClr val="FCED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7552" y="4114800"/>
            <a:ext cx="402336" cy="40233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133088"/>
            <a:ext cx="402336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69080"/>
            <a:ext cx="3931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ptos"/>
              </a:rPr>
              <a:t>Re-test modifiers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26280"/>
            <a:ext cx="39319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606C"/>
                </a:solidFill>
                <a:latin typeface="Aptos"/>
              </a:rPr>
              <a:t>Use donor-aware interaction models in larger/independent cohorts, especially ε2 and vasculature strata with limited testability.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840480"/>
            <a:ext cx="5193792" cy="1664208"/>
          </a:xfrm>
          <a:prstGeom prst="roundRect">
            <a:avLst/>
          </a:prstGeom>
          <a:solidFill>
            <a:srgbClr val="EFE8F6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9672" y="4114800"/>
            <a:ext cx="402336" cy="402336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4133088"/>
            <a:ext cx="402336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069080"/>
            <a:ext cx="3931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ptos"/>
              </a:rPr>
              <a:t>Report transparently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526280"/>
            <a:ext cx="39319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606C"/>
                </a:solidFill>
                <a:latin typeface="Aptos"/>
              </a:rPr>
              <a:t>Keep full test families, not-testable states, q values, donor support, and stability checks visible in figures and 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5870448"/>
            <a:ext cx="9628632" cy="493776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17904" y="5925312"/>
            <a:ext cx="91440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FFFFFF"/>
                </a:solidFill>
                <a:latin typeface="Aptos"/>
              </a:rPr>
              <a:t>Bottom line: reproducible network evidence points to mitochondrial/Complex V systems; formal sex/APOE respiratory modification remains unconfirmed.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12 KDA and Phase 13 Respiratory-Modifier Figures</dc:title>
  <dc:subject>Methods, figures, findings, and integrated interpretation</dc:subject>
  <dc:creator>Alzheimer project analysis team</dc:creator>
  <cp:keywords>Alzheimer, mitochondria, KDA, APOE, sex, respiratory modifier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