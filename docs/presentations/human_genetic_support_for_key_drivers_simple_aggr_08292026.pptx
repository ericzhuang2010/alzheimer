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70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22"/>
    <p:restoredTop sz="94653"/>
  </p:normalViewPr>
  <p:slideViewPr>
    <p:cSldViewPr snapToGrid="0" snapToObjects="1">
      <p:cViewPr varScale="1">
        <p:scale>
          <a:sx n="145" d="100"/>
          <a:sy n="145" d="100"/>
        </p:scale>
        <p:origin x="192" y="3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08740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Teaching goal: Set the question: does inherited human variation support the network key drivers?</a:t>
            </a:r>
          </a:p>
          <a:p>
            <a:endParaRPr/>
          </a:p>
          <a:p>
            <a:r>
              <a:t>Walk through: Public genetic evidence exists for fifteen of the driver genes so far. Four of them show genetic evidence, led by APOE and RPS15; the rest of the driver list has not yet been screened.</a:t>
            </a:r>
          </a:p>
          <a:p>
            <a:endParaRPr/>
          </a:p>
          <a:p>
            <a:r>
              <a:t>Scientific boundary: No new association analysis was run; all genetic values are from the frozen public-data workstreams.</a:t>
            </a:r>
          </a:p>
          <a:p>
            <a:endParaRPr/>
          </a:p>
          <a:p>
            <a:r>
              <a:t>Transition: First, how the two kinds of evidence relate.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Teaching goal: Frame genetics as an independent, complementary line of evidence for the driver list.</a:t>
            </a:r>
          </a:p>
          <a:p>
            <a:endParaRPr/>
          </a:p>
          <a:p>
            <a:r>
              <a:t>Walk through: The left card summarizes the driver list under test: 433 genes across 32 sex/APOE-by-cell-type categories, with the strongest drivers replicating in an independent cohort. The right card states the genetic question asked of each gene.</a:t>
            </a:r>
          </a:p>
          <a:p>
            <a:endParaRPr/>
          </a:p>
          <a:p>
            <a:r>
              <a:t>Scientific boundary: Network centrality does not imply a germline risk variant, and vice versa; convergence is the interesting outcome.</a:t>
            </a:r>
          </a:p>
          <a:p>
            <a:endParaRPr/>
          </a:p>
          <a:p>
            <a:r>
              <a:t>Transition: First, what exactly the driver list contains.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Teaching goal: Define exactly what the 433 number counts before any genetic claims reference it.</a:t>
            </a:r>
          </a:p>
          <a:p>
            <a:endParaRPr/>
          </a:p>
          <a:p>
            <a:r>
              <a:t>Walk through: The 295 ROSMAP network key-driver calls return significant genes at within-call q at most 0.05. After setting aside mitochondrial-protein genes, the returns form 689 gene-by-category units, which collapse to 433 unique driver genes.</a:t>
            </a:r>
          </a:p>
          <a:p>
            <a:endParaRPr/>
          </a:p>
          <a:p>
            <a:r>
              <a:t>Scientific boundary: Membership requires only one significant return; the within-call q values are exploratory and not cross-call FDR-controlled.</a:t>
            </a:r>
          </a:p>
          <a:p>
            <a:endParaRPr/>
          </a:p>
          <a:p>
            <a:r>
              <a:t>Transition: How deep the evidence is behind each of the 433.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Teaching goal: Show that the permissive list has a small core of well-supported genes and a large one-off tail.</a:t>
            </a:r>
          </a:p>
          <a:p>
            <a:endParaRPr/>
          </a:p>
          <a:p>
            <a:r>
              <a:t>Walk through: Two hundred eighty-five of the four hundred thirty-three genes, about two-thirds, have exactly one category and one returned call, often with q just under 0.05. One hundred twenty-five recur in at least two categories, one hundred five reach a top-five display, seventy-eight have at least three returned calls, and thirty-five also return in SEA-AD.</a:t>
            </a:r>
          </a:p>
          <a:p>
            <a:endParaRPr/>
          </a:p>
          <a:p>
            <a:r>
              <a:t>Scientific boundary: The groups overlap, so the bars do not sum to 433; each is a share of the full list.</a:t>
            </a:r>
          </a:p>
          <a:p>
            <a:endParaRPr/>
          </a:p>
          <a:p>
            <a:r>
              <a:t>Transition: The high-level approach: three sources of genetic evidence and how they combine.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Teaching goal: Reduce the data inventory to three roles: ready-made gene-level results, disease anchors, and gene anchors.</a:t>
            </a:r>
          </a:p>
          <a:p>
            <a:endParaRPr/>
          </a:p>
          <a:p>
            <a:r>
              <a:t>Walk through: Published AD integration results from the FunGen consortium already map variants to genes and directly support AD-gene relationships. Disease GWAS — the clinical AD meta-analysis and the three CSF biomarker studies — tie variants to disease but only at region resolution. Brain QTL panels tie variants to a specific gene's activity but carry no disease information.</a:t>
            </a:r>
          </a:p>
          <a:p>
            <a:endParaRPr/>
          </a:p>
          <a:p>
            <a:r>
              <a:t>Scientific boundary: All three are summary-level public data; no individual genotypes were used.</a:t>
            </a:r>
          </a:p>
          <a:p>
            <a:endParaRPr/>
          </a:p>
          <a:p>
            <a:r>
              <a:t>Transition: How sources two and three combine into gene-level support.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Teaching goal: Explain the combination logic that turns two region-level signals into gene-level support.</a:t>
            </a:r>
          </a:p>
          <a:p>
            <a:endParaRPr/>
          </a:p>
          <a:p>
            <a:r>
              <a:t>Walk through: GWAS ties a variant to disease; QTL ties a variant to the driver's activity. If a formal test shows both signals share one variant, the driver's regulation becomes a plausible causal path. Operationally: find the AD region, confirm the driver's QTL, then run the same-variant (colocalization) test.</a:t>
            </a:r>
          </a:p>
          <a:p>
            <a:endParaRPr/>
          </a:p>
          <a:p>
            <a:r>
              <a:t>Scientific boundary: The same-variant test requires complete regional statistics, fitted multi-signal models, and matched reference panels; those inputs are missing publicly, so no driver has completed step three yet.</a:t>
            </a:r>
          </a:p>
          <a:p>
            <a:endParaRPr/>
          </a:p>
          <a:p>
            <a:r>
              <a:t>Transition: The staged pipeline implements exactly this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Teaching goal: Attach concrete public datasets to each of the three evidence categories.</a:t>
            </a:r>
          </a:p>
          <a:p>
            <a:endParaRPr/>
          </a:p>
          <a:p>
            <a:r>
              <a:t>Walk through: Category one is the FunGen-xQTL integration snapshot with its ready-made gene-level results. Category two holds the disease-side GWAS: the Bellenguez 2022 clinical AD meta-analysis and the three CSF biomarker studies. Category three holds the gene-side QTL data: NIAGADS NG00184 brain fine-mapping and the three eQTL Catalogue panels.</a:t>
            </a:r>
          </a:p>
          <a:p>
            <a:endParaRPr/>
          </a:p>
          <a:p>
            <a:r>
              <a:t>Scientific boundary: Gene annotation references (GENCODE, HGNC) support mapping only; everything is summary-level public data.</a:t>
            </a:r>
          </a:p>
          <a:p>
            <a:endParaRPr/>
          </a:p>
          <a:p>
            <a:r>
              <a:t>Transition: With the data in place: which drivers have screening results.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Teaching goal: State the screening coverage plainly before showing any evidence.</a:t>
            </a:r>
          </a:p>
          <a:p>
            <a:endParaRPr/>
          </a:p>
          <a:p>
            <a:r>
              <a:t>Walk through: Fifteen driver genes have public screening results; four of them show genetic evidence, and four hundred eighteen drivers await screening. Each screened gene was checked for a nearby clinical-AD association, brain gene-activity links, and spinal-fluid biomarker evidence.</a:t>
            </a:r>
          </a:p>
          <a:p>
            <a:endParaRPr/>
          </a:p>
          <a:p>
            <a:r>
              <a:t>Scientific boundary: Coverage reflects which genes were screened, not any ranking by genetic promise.</a:t>
            </a:r>
          </a:p>
          <a:p>
            <a:endParaRPr/>
          </a:p>
          <a:p>
            <a:r>
              <a:t>Transition: What the evidence says about the fifteen.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Teaching goal: Give the complete evidence-by-driver map in one view before the two spotlights.</a:t>
            </a:r>
          </a:p>
          <a:p>
            <a:endParaRPr/>
          </a:p>
          <a:p>
            <a:r>
              <a:t>Walk through: APOE is the only strong result. RPS15 combines a very strong regional AD association with positive brain activity links but no completed same-variant test. SELENOW has list-membership only; ANKRD11 has a significant region without a gene-level link. The other eleven drivers had no qualifying signal.</a:t>
            </a:r>
          </a:p>
          <a:p>
            <a:endParaRPr/>
          </a:p>
          <a:p>
            <a:r>
              <a:t>Scientific boundary: A significant nearby region does not assign the association to the candidate gene.</a:t>
            </a:r>
          </a:p>
          <a:p>
            <a:endParaRPr/>
          </a:p>
          <a:p>
            <a:r>
              <a:t>Transition: Spotlight one: RPS15.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Teaching goal: Make RPS15 the flagship follow-up target of the deck.</a:t>
            </a:r>
          </a:p>
          <a:p>
            <a:endParaRPr/>
          </a:p>
          <a:p>
            <a:r>
              <a:t>Walk through: RPS15 is the single most recurrent driver and replicates in SEA-AD. Its candidate region carries a strong AD association, and bulk-brain activity links are positive, but no complete fitted model plus matched reference existed to run the same-variant test, and exact OPC or inhibitory-neuron data were negative or unavailable.</a:t>
            </a:r>
          </a:p>
          <a:p>
            <a:endParaRPr/>
          </a:p>
          <a:p>
            <a:r>
              <a:t>Scientific boundary: Positive brain tracks partially reuse the discovery cohort, so they support mechanism rather than independent validation.</a:t>
            </a:r>
          </a:p>
          <a:p>
            <a:endParaRPr/>
          </a:p>
          <a:p>
            <a:r>
              <a:t>Transition: Spotlight two: APOE.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Teaching goal: Keep APOE's strong result in view while separating gene-level support from mechanism-level proof.</a:t>
            </a:r>
          </a:p>
          <a:p>
            <a:endParaRPr/>
          </a:p>
          <a:p>
            <a:r>
              <a:t>Walk through: APOE has the direct fine-mapped coding variant and passes both gates for CSF amyloid-beta 42, total tau, and p-tau181. In the networks it is an astrocyte driver in three sex/APOE groups, though it does not return in SEA-AD.</a:t>
            </a:r>
          </a:p>
          <a:p>
            <a:endParaRPr/>
          </a:p>
          <a:p>
            <a:r>
              <a:t>Scientific boundary: A single-signal sensitivity analysis suggested a shared CSF protein signal, but it is explicitly sensitivity-only; the primary multi-signal test was not met.</a:t>
            </a:r>
          </a:p>
          <a:p>
            <a:endParaRPr/>
          </a:p>
          <a:p>
            <a:r>
              <a:t>Transition: How to read the eleven negatives.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Teaching goal: Prevent the negatives from being read as refutation of the network drivers.</a:t>
            </a:r>
          </a:p>
          <a:p>
            <a:endParaRPr/>
          </a:p>
          <a:p>
            <a:r>
              <a:t>Walk through: The three origins: genuinely signal-negative regions, routes the data could not evaluate, and mechanisms the common-variant design does not cover. DYNLT1 illustrates the distinction: cross-cohort network replication with no nearby common AD variant.</a:t>
            </a:r>
          </a:p>
          <a:p>
            <a:endParaRPr/>
          </a:p>
          <a:p>
            <a:r>
              <a:t>Scientific boundary: Lower confidence in a simple inherited cis-risk mechanism is warranted; refutation of a functional role is not.</a:t>
            </a:r>
          </a:p>
          <a:p>
            <a:endParaRPr/>
          </a:p>
          <a:p>
            <a:r>
              <a:t>Transition: The biggest limitation of the current evidence: coverage of the new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Teaching goal: Turn the coverage gap into a concrete, prioritized screening request.</a:t>
            </a:r>
          </a:p>
          <a:p>
            <a:endParaRPr/>
          </a:p>
          <a:p>
            <a:r>
              <a:t>Walk through: Only fifteen drivers have been screened. The natural first extension is the cross-cohort replicated set — WDR82, HGSNAT, TTC8, BEX3 — followed by the recurrence leaders of the driver list. The same public-data pipeline applies; the gap is coverage rather than method.</a:t>
            </a:r>
          </a:p>
          <a:p>
            <a:endParaRPr/>
          </a:p>
          <a:p>
            <a:r>
              <a:t>Scientific boundary: Prioritization here uses network recurrence and replication, not any genetic pre-screening.</a:t>
            </a:r>
          </a:p>
          <a:p>
            <a:endParaRPr/>
          </a:p>
          <a:p>
            <a:r>
              <a:t>Transition: Close with what we know and what to do next.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Teaching goal: Leave a precise summary and an ordered request list.</a:t>
            </a:r>
          </a:p>
          <a:p>
            <a:endParaRPr/>
          </a:p>
          <a:p>
            <a:r>
              <a:t>Walk through: The left panel is the current evidence state; the right panel orders the next steps from cheapest-decisive to most ambitious.</a:t>
            </a:r>
          </a:p>
          <a:p>
            <a:endParaRPr/>
          </a:p>
          <a:p>
            <a:r>
              <a:t>Scientific boundary: All conclusions remain screening-level until a valid same-variant analysis is completed.</a:t>
            </a:r>
          </a:p>
          <a:p>
            <a:endParaRPr/>
          </a:p>
          <a:p>
            <a:r>
              <a:t>Transition: End of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3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612648"/>
            <a:ext cx="3657600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56B4E9"/>
                </a:solidFill>
                <a:latin typeface="Arial"/>
              </a:rPr>
              <a:t>HUMAN GENETIC SUPPORT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097280"/>
            <a:ext cx="10607040" cy="126187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FFFFFF"/>
                </a:solidFill>
                <a:latin typeface="Arial"/>
              </a:rPr>
              <a:t>Do the key drivers carry inherited Alzheimer's risk?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2487168"/>
            <a:ext cx="10241280" cy="43891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CCDBEA"/>
                </a:solidFill>
                <a:latin typeface="Arial"/>
              </a:rPr>
              <a:t>Public genetic evidence for the key drivers from the network key-driver (KDA) analysis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9808" y="3429000"/>
            <a:ext cx="3401568" cy="1463040"/>
          </a:xfrm>
          <a:prstGeom prst="roundRect">
            <a:avLst/>
          </a:prstGeom>
          <a:solidFill>
            <a:srgbClr val="1E3B5B"/>
          </a:solidFill>
          <a:ln w="12700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78407" y="3675887"/>
            <a:ext cx="2944368" cy="4572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56B4E9"/>
                </a:solidFill>
                <a:latin typeface="Arial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8407" y="4224528"/>
            <a:ext cx="2944368" cy="5029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D2E0EE"/>
                </a:solidFill>
                <a:latin typeface="Arial"/>
              </a:rPr>
              <a:t>drivers with genetic evidence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25696" y="3429000"/>
            <a:ext cx="3401568" cy="1463040"/>
          </a:xfrm>
          <a:prstGeom prst="roundRect">
            <a:avLst/>
          </a:prstGeom>
          <a:solidFill>
            <a:srgbClr val="1E3B5B"/>
          </a:solidFill>
          <a:ln w="12700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654296" y="3675887"/>
            <a:ext cx="2944368" cy="4572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56B4E9"/>
                </a:solidFill>
                <a:latin typeface="Arial"/>
              </a:rPr>
              <a:t>APOE + RPS15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54296" y="4224528"/>
            <a:ext cx="2944368" cy="5029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D2E0EE"/>
                </a:solidFill>
                <a:latin typeface="Arial"/>
              </a:rPr>
              <a:t>lead the genetic evidence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01583" y="3429000"/>
            <a:ext cx="3401568" cy="1463040"/>
          </a:xfrm>
          <a:prstGeom prst="roundRect">
            <a:avLst/>
          </a:prstGeom>
          <a:solidFill>
            <a:srgbClr val="1E3B5B"/>
          </a:solidFill>
          <a:ln w="12700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30183" y="3675887"/>
            <a:ext cx="2944368" cy="4572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56B4E9"/>
                </a:solidFill>
                <a:latin typeface="Arial"/>
              </a:rPr>
              <a:t>15 of 433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30183" y="4224528"/>
            <a:ext cx="2944368" cy="5029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D2E0EE"/>
                </a:solidFill>
                <a:latin typeface="Arial"/>
              </a:rPr>
              <a:t>drivers screened so far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5989320"/>
            <a:ext cx="6400800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DB0C3"/>
                </a:solidFill>
                <a:latin typeface="Arial"/>
              </a:rPr>
              <a:t>Public-data study • 29 August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30352" y="411480"/>
            <a:ext cx="10652760" cy="47548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50" b="1" i="0">
                <a:solidFill>
                  <a:srgbClr val="0F233D"/>
                </a:solidFill>
                <a:latin typeface="Arial"/>
              </a:rPr>
              <a:t>Network drivers and inherited risk are complementary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86968"/>
            <a:ext cx="1056132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4E5A68"/>
                </a:solidFill>
                <a:latin typeface="Arial"/>
              </a:rPr>
              <a:t>The KDA analysis finds genes central in diseased brain cells; genetics asks whether DNA variation near them alters risk.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85216" y="1389888"/>
            <a:ext cx="5358384" cy="3977639"/>
          </a:xfrm>
          <a:prstGeom prst="roundRect">
            <a:avLst/>
          </a:prstGeom>
          <a:solidFill>
            <a:srgbClr val="EBF7FC"/>
          </a:solidFill>
          <a:ln w="12700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68680" y="1682496"/>
            <a:ext cx="4206240" cy="24688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72B2"/>
                </a:solidFill>
                <a:latin typeface="Arial"/>
              </a:rPr>
              <a:t>NETWORK KEY DRIVERS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993392"/>
            <a:ext cx="4526280" cy="56692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F233D"/>
                </a:solidFill>
                <a:latin typeface="Arial"/>
              </a:rPr>
              <a:t>Which genes are central in diseased brain-cell networks?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834640"/>
            <a:ext cx="2103120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14983" y="2926080"/>
            <a:ext cx="1810511" cy="4297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072B2"/>
                </a:solidFill>
                <a:latin typeface="Arial"/>
              </a:rPr>
              <a:t>433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3" y="3383280"/>
            <a:ext cx="1810511" cy="3931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4E5A68"/>
                </a:solidFill>
                <a:latin typeface="Arial"/>
              </a:rPr>
              <a:t>driver genes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0" y="2834640"/>
            <a:ext cx="2103120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346704" y="2926080"/>
            <a:ext cx="1810511" cy="4297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072B2"/>
                </a:solidFill>
                <a:latin typeface="Arial"/>
              </a:rPr>
              <a:t>32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46704" y="3383280"/>
            <a:ext cx="1810511" cy="3931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4E5A68"/>
                </a:solidFill>
                <a:latin typeface="Arial"/>
              </a:rPr>
              <a:t>sex/APOE · cell-type categories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4160520"/>
            <a:ext cx="4800600" cy="5029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60" b="0" i="0">
                <a:solidFill>
                  <a:srgbClr val="4E5A68"/>
                </a:solidFill>
                <a:latin typeface="Arial"/>
              </a:rPr>
              <a:t>The strongest drivers also replicate in an independent human cohort.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45352" y="1389888"/>
            <a:ext cx="5358384" cy="3977639"/>
          </a:xfrm>
          <a:prstGeom prst="roundRect">
            <a:avLst/>
          </a:prstGeom>
          <a:solidFill>
            <a:srgbClr val="E4F4EE"/>
          </a:solidFill>
          <a:ln w="12700">
            <a:solidFill>
              <a:srgbClr val="009E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28816" y="1682496"/>
            <a:ext cx="4206240" cy="24688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684D"/>
                </a:solidFill>
                <a:latin typeface="Arial"/>
              </a:rPr>
              <a:t>INHERITED RISK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1993392"/>
            <a:ext cx="4526280" cy="56692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F233D"/>
                </a:solidFill>
                <a:latin typeface="Arial"/>
              </a:rPr>
              <a:t>Which genes are linked to inherited AD risk?</a:t>
            </a:r>
          </a:p>
        </p:txBody>
      </p:sp>
      <p:sp>
        <p:nvSpPr>
          <p:cNvPr id="17" name="Oval 16"/>
          <p:cNvSpPr/>
          <p:nvPr/>
        </p:nvSpPr>
        <p:spPr>
          <a:xfrm>
            <a:off x="6537960" y="3054096"/>
            <a:ext cx="77724" cy="77724"/>
          </a:xfrm>
          <a:prstGeom prst="ellipse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711696" y="2926080"/>
            <a:ext cx="4626864" cy="56692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60" b="0" i="0">
                <a:solidFill>
                  <a:srgbClr val="1F2730"/>
                </a:solidFill>
                <a:latin typeface="Arial"/>
              </a:rPr>
              <a:t>Uses public AD and biomarker genetics, independent of the networks.</a:t>
            </a:r>
          </a:p>
        </p:txBody>
      </p:sp>
      <p:sp>
        <p:nvSpPr>
          <p:cNvPr id="19" name="Oval 18"/>
          <p:cNvSpPr/>
          <p:nvPr/>
        </p:nvSpPr>
        <p:spPr>
          <a:xfrm>
            <a:off x="6537960" y="3621024"/>
            <a:ext cx="77724" cy="77724"/>
          </a:xfrm>
          <a:prstGeom prst="ellipse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711696" y="3493008"/>
            <a:ext cx="4626864" cy="56692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60" b="0" i="0">
                <a:solidFill>
                  <a:srgbClr val="1F2730"/>
                </a:solidFill>
                <a:latin typeface="Arial"/>
              </a:rPr>
              <a:t>Evidence is per gene: disease association plus gene-activity links.</a:t>
            </a:r>
          </a:p>
        </p:txBody>
      </p:sp>
      <p:sp>
        <p:nvSpPr>
          <p:cNvPr id="21" name="Oval 20"/>
          <p:cNvSpPr/>
          <p:nvPr/>
        </p:nvSpPr>
        <p:spPr>
          <a:xfrm>
            <a:off x="6537960" y="4187952"/>
            <a:ext cx="77724" cy="77724"/>
          </a:xfrm>
          <a:prstGeom prst="ellipse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711696" y="4059936"/>
            <a:ext cx="4626864" cy="56692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60" b="0" i="0">
                <a:solidFill>
                  <a:srgbClr val="1F2730"/>
                </a:solidFill>
                <a:latin typeface="Arial"/>
              </a:rPr>
              <a:t>Goal: find drivers where both kinds of evidence converge.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" y="5760720"/>
            <a:ext cx="1060704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7E4C9A"/>
                </a:solidFill>
                <a:latin typeface="Arial"/>
              </a:rPr>
              <a:t>Genetic support strengthens a driver; its absence does not refute one — the two ask different causal questions.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30352" y="411480"/>
            <a:ext cx="10652760" cy="47548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50" b="1" i="0">
                <a:solidFill>
                  <a:srgbClr val="0F233D"/>
                </a:solidFill>
                <a:latin typeface="Arial"/>
              </a:rPr>
              <a:t>Where the 433 driver genes come from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86968"/>
            <a:ext cx="1056132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4E5A68"/>
                </a:solidFill>
                <a:latin typeface="Arial"/>
              </a:rPr>
              <a:t>Every gene the network analysis returned as significant is on the list — there are no extra selection gates.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91640"/>
            <a:ext cx="1947672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95528" y="1819656"/>
            <a:ext cx="1728216" cy="47548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0F233D"/>
                </a:solidFill>
                <a:latin typeface="Arial"/>
              </a:rPr>
              <a:t>295 KDA calls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2295144"/>
            <a:ext cx="1728216" cy="4572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40" b="0" i="0">
                <a:solidFill>
                  <a:srgbClr val="4E5A68"/>
                </a:solidFill>
                <a:latin typeface="Arial"/>
              </a:rPr>
              <a:t>network key-driver calls across the ROSMAP categories</a:t>
            </a:r>
          </a:p>
        </p:txBody>
      </p:sp>
      <p:sp>
        <p:nvSpPr>
          <p:cNvPr id="7" name="Chevron 6"/>
          <p:cNvSpPr/>
          <p:nvPr/>
        </p:nvSpPr>
        <p:spPr>
          <a:xfrm>
            <a:off x="2688336" y="2121408"/>
            <a:ext cx="164592" cy="292608"/>
          </a:xfrm>
          <a:prstGeom prst="chevron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2907791" y="1691640"/>
            <a:ext cx="1947672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017520" y="1819656"/>
            <a:ext cx="1728216" cy="47548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0F233D"/>
                </a:solidFill>
                <a:latin typeface="Arial"/>
              </a:rPr>
              <a:t>Significant returns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7520" y="2295144"/>
            <a:ext cx="1728216" cy="4572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40" b="0" i="0">
                <a:solidFill>
                  <a:srgbClr val="4E5A68"/>
                </a:solidFill>
                <a:latin typeface="Arial"/>
              </a:rPr>
              <a:t>genes returned at q ≤ 0.05 within a call</a:t>
            </a:r>
          </a:p>
        </p:txBody>
      </p:sp>
      <p:sp>
        <p:nvSpPr>
          <p:cNvPr id="11" name="Chevron 10"/>
          <p:cNvSpPr/>
          <p:nvPr/>
        </p:nvSpPr>
        <p:spPr>
          <a:xfrm>
            <a:off x="4910327" y="2121408"/>
            <a:ext cx="164592" cy="292608"/>
          </a:xfrm>
          <a:prstGeom prst="chevron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5129783" y="1691640"/>
            <a:ext cx="1947672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239512" y="1819656"/>
            <a:ext cx="1728216" cy="47548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0F233D"/>
                </a:solidFill>
                <a:latin typeface="Arial"/>
              </a:rPr>
              <a:t>Non-MT focus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39512" y="2295144"/>
            <a:ext cx="1728216" cy="4572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40" b="0" i="0">
                <a:solidFill>
                  <a:srgbClr val="4E5A68"/>
                </a:solidFill>
                <a:latin typeface="Arial"/>
              </a:rPr>
              <a:t>mitochondrial-protein genes set aside</a:t>
            </a:r>
          </a:p>
        </p:txBody>
      </p:sp>
      <p:sp>
        <p:nvSpPr>
          <p:cNvPr id="15" name="Chevron 14"/>
          <p:cNvSpPr/>
          <p:nvPr/>
        </p:nvSpPr>
        <p:spPr>
          <a:xfrm>
            <a:off x="7132319" y="2121408"/>
            <a:ext cx="164592" cy="292608"/>
          </a:xfrm>
          <a:prstGeom prst="chevron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7351775" y="1691640"/>
            <a:ext cx="1947672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461503" y="1819656"/>
            <a:ext cx="1728216" cy="47548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0F233D"/>
                </a:solidFill>
                <a:latin typeface="Arial"/>
              </a:rPr>
              <a:t>689 units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61503" y="2295144"/>
            <a:ext cx="1728216" cy="4572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40" b="0" i="0">
                <a:solidFill>
                  <a:srgbClr val="4E5A68"/>
                </a:solidFill>
                <a:latin typeface="Arial"/>
              </a:rPr>
              <a:t>gene × category pairs</a:t>
            </a:r>
          </a:p>
        </p:txBody>
      </p:sp>
      <p:sp>
        <p:nvSpPr>
          <p:cNvPr id="19" name="Chevron 18"/>
          <p:cNvSpPr/>
          <p:nvPr/>
        </p:nvSpPr>
        <p:spPr>
          <a:xfrm>
            <a:off x="9354311" y="2121408"/>
            <a:ext cx="164592" cy="292608"/>
          </a:xfrm>
          <a:prstGeom prst="chevron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9573767" y="1691640"/>
            <a:ext cx="1947672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683495" y="1819656"/>
            <a:ext cx="1728216" cy="47548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0F233D"/>
                </a:solidFill>
                <a:latin typeface="Arial"/>
              </a:rPr>
              <a:t>433 genes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83495" y="2295144"/>
            <a:ext cx="1728216" cy="4572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40" b="0" i="0">
                <a:solidFill>
                  <a:srgbClr val="4E5A68"/>
                </a:solidFill>
                <a:latin typeface="Arial"/>
              </a:rPr>
              <a:t>unique driver symbols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3291840"/>
            <a:ext cx="1083564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14400" y="3493008"/>
            <a:ext cx="3657600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072B2"/>
                </a:solidFill>
                <a:latin typeface="Arial"/>
              </a:rPr>
              <a:t>Why units and genes differ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3785615"/>
            <a:ext cx="10332720" cy="45720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F2730"/>
                </a:solidFill>
                <a:latin typeface="Arial"/>
              </a:rPr>
              <a:t>A gene counts once per sex/APOE × cell-type category it returns in, so recurrent genes hold several of the 689 units. Collapsing to unique symbols leaves 433 genes.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30352" y="411480"/>
            <a:ext cx="10652760" cy="47548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50" b="1" i="0">
                <a:solidFill>
                  <a:srgbClr val="0F233D"/>
                </a:solidFill>
                <a:latin typeface="Arial"/>
              </a:rPr>
              <a:t>Evidence depth inside the 433 is very uneven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86968"/>
            <a:ext cx="1056132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4E5A68"/>
                </a:solidFill>
                <a:latin typeface="Arial"/>
              </a:rPr>
              <a:t>One significant return is enough for membership; deeper network evidence is concentrated in a minority.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554480"/>
            <a:ext cx="5257800" cy="5029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F233D"/>
                </a:solidFill>
                <a:latin typeface="Arial"/>
              </a:rPr>
              <a:t>One-off genes: a single category, a single returned call</a:t>
            </a:r>
          </a:p>
        </p:txBody>
      </p:sp>
      <p:sp>
        <p:nvSpPr>
          <p:cNvPr id="5" name="Rectangle 4"/>
          <p:cNvSpPr/>
          <p:nvPr/>
        </p:nvSpPr>
        <p:spPr>
          <a:xfrm>
            <a:off x="6172200" y="1600200"/>
            <a:ext cx="2768541" cy="310896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050469" y="1609344"/>
            <a:ext cx="146304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D55E00"/>
                </a:solidFill>
                <a:latin typeface="Arial"/>
              </a:rPr>
              <a:t>285  (66%)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59152"/>
            <a:ext cx="5257800" cy="5029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F233D"/>
                </a:solidFill>
                <a:latin typeface="Arial"/>
              </a:rPr>
              <a:t>Recur in ≥2 sex/APOE × cell-type categories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200" y="2404872"/>
            <a:ext cx="1214272" cy="310896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496200" y="2414016"/>
            <a:ext cx="146304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072B2"/>
                </a:solidFill>
                <a:latin typeface="Arial"/>
              </a:rPr>
              <a:t>125  (29%)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163824"/>
            <a:ext cx="5257800" cy="5029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F233D"/>
                </a:solidFill>
                <a:latin typeface="Arial"/>
              </a:rPr>
              <a:t>Appear in a category top-five display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3209544"/>
            <a:ext cx="1019988" cy="310896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01916" y="3218688"/>
            <a:ext cx="146304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072B2"/>
                </a:solidFill>
                <a:latin typeface="Arial"/>
              </a:rPr>
              <a:t>105  (24%)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968496"/>
            <a:ext cx="5257800" cy="5029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F233D"/>
                </a:solidFill>
                <a:latin typeface="Arial"/>
              </a:rPr>
              <a:t>Backed by ≥3 returned calls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2200" y="4014215"/>
            <a:ext cx="757706" cy="310896"/>
          </a:xfrm>
          <a:prstGeom prst="rect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039634" y="4023359"/>
            <a:ext cx="146304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09E73"/>
                </a:solidFill>
                <a:latin typeface="Arial"/>
              </a:rPr>
              <a:t>78  (18%)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773168"/>
            <a:ext cx="5257800" cy="5029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F233D"/>
                </a:solidFill>
                <a:latin typeface="Arial"/>
              </a:rPr>
              <a:t>Also return in the independent SEA-AD cohort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2200" y="4818888"/>
            <a:ext cx="339996" cy="310896"/>
          </a:xfrm>
          <a:prstGeom prst="rect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621924" y="4828031"/>
            <a:ext cx="146304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09E73"/>
                </a:solidFill>
                <a:latin typeface="Arial"/>
              </a:rPr>
              <a:t>35  (8%)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72200" y="5596128"/>
            <a:ext cx="5120640" cy="23774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4E5A68"/>
                </a:solidFill>
                <a:latin typeface="Arial"/>
              </a:rPr>
              <a:t>Groups overlap; each bar is counted against all 433 genes.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" y="5989320"/>
            <a:ext cx="1060704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7E4C9A"/>
                </a:solidFill>
                <a:latin typeface="Arial"/>
              </a:rPr>
              <a:t>Follow-up work should weight the deep-evidence minority — not treat all 433 genes equally.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30352" y="411480"/>
            <a:ext cx="10652760" cy="47548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50" b="1" i="0">
                <a:solidFill>
                  <a:srgbClr val="0F233D"/>
                </a:solidFill>
                <a:latin typeface="Arial"/>
              </a:rPr>
              <a:t>High-level approach: three sources of public genetic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86968"/>
            <a:ext cx="1056132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dirty="0">
                <a:solidFill>
                  <a:srgbClr val="4E5A68"/>
                </a:solidFill>
                <a:latin typeface="Arial"/>
              </a:rPr>
              <a:t>One source is ready-made gene-level evidence; the other two each tell half the story.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03504" y="1417320"/>
            <a:ext cx="3502152" cy="4160520"/>
          </a:xfrm>
          <a:prstGeom prst="roundRect">
            <a:avLst/>
          </a:prstGeom>
          <a:solidFill>
            <a:srgbClr val="E4F4EE"/>
          </a:solidFill>
          <a:ln w="12700">
            <a:solidFill>
              <a:srgbClr val="009E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41248" y="1664208"/>
            <a:ext cx="3017520" cy="270843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0684D"/>
                </a:solidFill>
                <a:latin typeface="Arial"/>
              </a:rPr>
              <a:t>1 · PUBLISHED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956816"/>
            <a:ext cx="3035808" cy="5486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233D"/>
                </a:solidFill>
                <a:latin typeface="Arial"/>
              </a:rPr>
              <a:t>FunGen AD integration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651760"/>
            <a:ext cx="3035808" cy="701731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dirty="0">
                <a:solidFill>
                  <a:srgbClr val="1F2730"/>
                </a:solidFill>
                <a:latin typeface="Arial"/>
              </a:rPr>
              <a:t>Already-computed variant-to-gene mappings: AD fine-mapping, TWAS, and gene lists.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611880"/>
            <a:ext cx="306324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9" name="TextBox 8"/>
          <p:cNvSpPr txBox="1"/>
          <p:nvPr/>
        </p:nvSpPr>
        <p:spPr>
          <a:xfrm>
            <a:off x="969264" y="3705182"/>
            <a:ext cx="2788920" cy="701731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dirty="0">
                <a:solidFill>
                  <a:srgbClr val="00684D"/>
                </a:solidFill>
                <a:latin typeface="Arial"/>
              </a:rPr>
              <a:t>Directly supports an AD–gene relationship (this is how APOE is established).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4617720"/>
            <a:ext cx="3035808" cy="486287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4E5A68"/>
                </a:solidFill>
                <a:latin typeface="Arial"/>
              </a:rPr>
              <a:t>Limit: Covers only what has been published.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52544" y="1417320"/>
            <a:ext cx="3502152" cy="4160520"/>
          </a:xfrm>
          <a:prstGeom prst="roundRect">
            <a:avLst/>
          </a:prstGeom>
          <a:solidFill>
            <a:srgbClr val="EBF7FC"/>
          </a:solidFill>
          <a:ln w="12700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90288" y="1664208"/>
            <a:ext cx="3017520" cy="270843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072B2"/>
                </a:solidFill>
                <a:latin typeface="Arial"/>
              </a:rPr>
              <a:t>2 · DISEASE GWAS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0288" y="1956816"/>
            <a:ext cx="3035808" cy="5486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233D"/>
                </a:solidFill>
                <a:latin typeface="Arial"/>
              </a:rPr>
              <a:t>Clinical AD + CSF biomarkers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0288" y="2651760"/>
            <a:ext cx="3035808" cy="701731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F2730"/>
                </a:solidFill>
                <a:latin typeface="Arial"/>
              </a:rPr>
              <a:t>DNA variants associated with an AD diagnosis or with amyloid/tau spinal-fluid levels.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0" y="3611880"/>
            <a:ext cx="306324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16" name="TextBox 15"/>
          <p:cNvSpPr txBox="1"/>
          <p:nvPr/>
        </p:nvSpPr>
        <p:spPr>
          <a:xfrm>
            <a:off x="4718304" y="3767328"/>
            <a:ext cx="2788920" cy="486287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072B2"/>
                </a:solidFill>
                <a:latin typeface="Arial"/>
              </a:rPr>
              <a:t>Anchors a genomic region to disease.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90288" y="4617720"/>
            <a:ext cx="3035808" cy="486287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4E5A68"/>
                </a:solidFill>
                <a:latin typeface="Arial"/>
              </a:rPr>
              <a:t>Limit: Points to a region — not to a specific gene.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01583" y="1417320"/>
            <a:ext cx="3502152" cy="4160520"/>
          </a:xfrm>
          <a:prstGeom prst="roundRect">
            <a:avLst/>
          </a:prstGeom>
          <a:solidFill>
            <a:srgbClr val="FDF2D9"/>
          </a:solidFill>
          <a:ln w="12700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39327" y="1664208"/>
            <a:ext cx="3017520" cy="270843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895600"/>
                </a:solidFill>
                <a:latin typeface="Arial"/>
              </a:rPr>
              <a:t>3 · BRAIN QTL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39327" y="1956816"/>
            <a:ext cx="3035808" cy="5486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F233D"/>
                </a:solidFill>
                <a:latin typeface="Arial"/>
              </a:rPr>
              <a:t>Expression + splicing panels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9327" y="2651760"/>
            <a:ext cx="3035808" cy="701731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F2730"/>
                </a:solidFill>
                <a:latin typeface="Arial"/>
              </a:rPr>
              <a:t>DNA variants that change a gene's RNA amount or splicing in brain cells and tissue.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21040" y="3611880"/>
            <a:ext cx="306324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23" name="TextBox 22"/>
          <p:cNvSpPr txBox="1"/>
          <p:nvPr/>
        </p:nvSpPr>
        <p:spPr>
          <a:xfrm>
            <a:off x="8467344" y="3767328"/>
            <a:ext cx="2788920" cy="486287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895600"/>
                </a:solidFill>
                <a:latin typeface="Arial"/>
              </a:rPr>
              <a:t>Anchors a variant to the driver gene itself.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9327" y="4617720"/>
            <a:ext cx="3035808" cy="486287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4E5A68"/>
                </a:solidFill>
                <a:latin typeface="Arial"/>
              </a:rPr>
              <a:t>Limit: Says nothing about disease on its own.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5897880"/>
            <a:ext cx="10607040" cy="301621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dirty="0">
                <a:solidFill>
                  <a:srgbClr val="7E4C9A"/>
                </a:solidFill>
                <a:latin typeface="Arial"/>
              </a:rPr>
              <a:t>Genetic support for a driver comes from source 1 directly — or from combining sources 2 and 3.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30352" y="411480"/>
            <a:ext cx="10652760" cy="47548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50" b="1" i="0">
                <a:solidFill>
                  <a:srgbClr val="0F233D"/>
                </a:solidFill>
                <a:latin typeface="Arial"/>
              </a:rPr>
              <a:t>Combining GWAS and QTL: one variant, two effects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86968"/>
            <a:ext cx="1056132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4E5A68"/>
                </a:solidFill>
                <a:latin typeface="Arial"/>
              </a:rPr>
              <a:t>A driver gains genetic support when the disease signal and the gene-activity signal trace to the same DNA variant.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2011680" cy="731520"/>
          </a:xfrm>
          <a:prstGeom prst="round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41248" y="1682496"/>
            <a:ext cx="1792224" cy="29260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Arial"/>
              </a:rPr>
              <a:t>GWAS says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80360" y="1463040"/>
            <a:ext cx="8595360" cy="731520"/>
          </a:xfrm>
          <a:prstGeom prst="roundRect">
            <a:avLst/>
          </a:prstGeom>
          <a:solidFill>
            <a:srgbClr val="EBF7FC"/>
          </a:solidFill>
          <a:ln w="12700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127248" y="1664208"/>
            <a:ext cx="8138160" cy="34747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F233D"/>
                </a:solidFill>
                <a:latin typeface="Arial"/>
              </a:rPr>
              <a:t>a DNA variant near the driver raises AD risk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359152"/>
            <a:ext cx="2011680" cy="731520"/>
          </a:xfrm>
          <a:prstGeom prst="round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41248" y="2578608"/>
            <a:ext cx="1792224" cy="29260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Arial"/>
              </a:rPr>
              <a:t>QTL says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80360" y="2359152"/>
            <a:ext cx="8595360" cy="731520"/>
          </a:xfrm>
          <a:prstGeom prst="roundRect">
            <a:avLst/>
          </a:prstGeom>
          <a:solidFill>
            <a:srgbClr val="FDF2D9"/>
          </a:solidFill>
          <a:ln w="12700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127248" y="2560320"/>
            <a:ext cx="8138160" cy="34747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F233D"/>
                </a:solidFill>
                <a:latin typeface="Arial"/>
              </a:rPr>
              <a:t>the same variant changes the driver's activity in brain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255264"/>
            <a:ext cx="2011680" cy="731520"/>
          </a:xfrm>
          <a:prstGeom prst="roundRect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41248" y="3474720"/>
            <a:ext cx="1792224" cy="29260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Arial"/>
              </a:rPr>
              <a:t>Together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80360" y="3255264"/>
            <a:ext cx="8595360" cy="731520"/>
          </a:xfrm>
          <a:prstGeom prst="roundRect">
            <a:avLst/>
          </a:prstGeom>
          <a:solidFill>
            <a:srgbClr val="E4F4EE"/>
          </a:solidFill>
          <a:ln w="12700">
            <a:solidFill>
              <a:srgbClr val="009E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127248" y="3456432"/>
            <a:ext cx="8138160" cy="34747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F233D"/>
                </a:solidFill>
                <a:latin typeface="Arial"/>
              </a:rPr>
              <a:t>the driver's activity is a plausible path from inherited DNA to disease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343400"/>
            <a:ext cx="342900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95528" y="4471416"/>
            <a:ext cx="3209544" cy="270843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F233D"/>
                </a:solidFill>
                <a:latin typeface="Arial"/>
              </a:rPr>
              <a:t>Step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8" y="4946904"/>
            <a:ext cx="3209544" cy="486287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A68"/>
                </a:solidFill>
                <a:latin typeface="Arial"/>
              </a:rPr>
              <a:t>find an AD-associated region near the driver (GWAS)</a:t>
            </a:r>
          </a:p>
        </p:txBody>
      </p:sp>
      <p:sp>
        <p:nvSpPr>
          <p:cNvPr id="19" name="Chevron 18"/>
          <p:cNvSpPr/>
          <p:nvPr/>
        </p:nvSpPr>
        <p:spPr>
          <a:xfrm>
            <a:off x="4169663" y="4773168"/>
            <a:ext cx="164592" cy="292608"/>
          </a:xfrm>
          <a:prstGeom prst="chevron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20" name="Rounded Rectangle 19"/>
          <p:cNvSpPr/>
          <p:nvPr/>
        </p:nvSpPr>
        <p:spPr>
          <a:xfrm>
            <a:off x="4389120" y="4343400"/>
            <a:ext cx="342900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498848" y="4471416"/>
            <a:ext cx="3209544" cy="270843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F233D"/>
                </a:solidFill>
                <a:latin typeface="Arial"/>
              </a:rPr>
              <a:t>Step 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98848" y="4946904"/>
            <a:ext cx="3209544" cy="486287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A68"/>
                </a:solidFill>
                <a:latin typeface="Arial"/>
              </a:rPr>
              <a:t>confirm the driver has a QTL signal in that region</a:t>
            </a:r>
          </a:p>
        </p:txBody>
      </p:sp>
      <p:sp>
        <p:nvSpPr>
          <p:cNvPr id="23" name="Chevron 22"/>
          <p:cNvSpPr/>
          <p:nvPr/>
        </p:nvSpPr>
        <p:spPr>
          <a:xfrm>
            <a:off x="7872984" y="4773168"/>
            <a:ext cx="164592" cy="292608"/>
          </a:xfrm>
          <a:prstGeom prst="chevron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24" name="Rounded Rectangle 23"/>
          <p:cNvSpPr/>
          <p:nvPr/>
        </p:nvSpPr>
        <p:spPr>
          <a:xfrm>
            <a:off x="8092440" y="4343400"/>
            <a:ext cx="342900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202167" y="4471416"/>
            <a:ext cx="3209544" cy="270843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F233D"/>
                </a:solidFill>
                <a:latin typeface="Arial"/>
              </a:rPr>
              <a:t>Step 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02167" y="4946904"/>
            <a:ext cx="3209544" cy="486287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E5A68"/>
                </a:solidFill>
                <a:latin typeface="Arial"/>
              </a:rPr>
              <a:t>same-variant test: do the two signals share one variant?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520" y="5669280"/>
            <a:ext cx="10835640" cy="658368"/>
          </a:xfrm>
          <a:prstGeom prst="roundRect">
            <a:avLst/>
          </a:prstGeom>
          <a:solidFill>
            <a:srgbClr val="FDEBE4"/>
          </a:solidFill>
          <a:ln w="12700">
            <a:solidFill>
              <a:srgbClr val="D55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28" name="TextBox 27"/>
          <p:cNvSpPr txBox="1"/>
          <p:nvPr/>
        </p:nvSpPr>
        <p:spPr>
          <a:xfrm>
            <a:off x="950976" y="5797296"/>
            <a:ext cx="10378440" cy="486287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dirty="0">
                <a:solidFill>
                  <a:srgbClr val="9E3A00"/>
                </a:solidFill>
                <a:latin typeface="Arial"/>
              </a:rPr>
              <a:t>Proximity is not enough — an AD region can hold many genes and variants. The same-variant test is the decisive step, and it needs complete statistics that are </a:t>
            </a:r>
            <a:r>
              <a:rPr lang="en-US" sz="1400" b="1" i="0" dirty="0">
                <a:solidFill>
                  <a:srgbClr val="9E3A00"/>
                </a:solidFill>
                <a:latin typeface="Arial"/>
              </a:rPr>
              <a:t>NOT</a:t>
            </a:r>
            <a:r>
              <a:rPr sz="1400" b="1" i="0" dirty="0">
                <a:solidFill>
                  <a:srgbClr val="9E3A00"/>
                </a:solidFill>
                <a:latin typeface="Arial"/>
              </a:rPr>
              <a:t> yet publicly available for any driver.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30352" y="411480"/>
            <a:ext cx="10652760" cy="47548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50" b="1" i="0">
                <a:solidFill>
                  <a:srgbClr val="0F233D"/>
                </a:solidFill>
                <a:latin typeface="Arial"/>
              </a:rPr>
              <a:t>The public datasets behind the three evidence sources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86968"/>
            <a:ext cx="1056132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dirty="0">
                <a:solidFill>
                  <a:srgbClr val="4E5A68"/>
                </a:solidFill>
                <a:latin typeface="Arial"/>
              </a:rPr>
              <a:t>The same three categories as the approach — one ready-made source, and the GWAS + QTL pair combined per driver.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03504" y="1417320"/>
            <a:ext cx="3502152" cy="3611880"/>
          </a:xfrm>
          <a:prstGeom prst="roundRect">
            <a:avLst/>
          </a:prstGeom>
          <a:solidFill>
            <a:srgbClr val="E4F4EE"/>
          </a:solidFill>
          <a:ln w="12700">
            <a:solidFill>
              <a:srgbClr val="009E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41248" y="1682496"/>
            <a:ext cx="3017520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684D"/>
                </a:solidFill>
                <a:latin typeface="Arial"/>
              </a:rPr>
              <a:t>1 · PUBLISHED RESULTS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063240" cy="12070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7" name="TextBox 6"/>
          <p:cNvSpPr txBox="1"/>
          <p:nvPr/>
        </p:nvSpPr>
        <p:spPr>
          <a:xfrm>
            <a:off x="987552" y="2295144"/>
            <a:ext cx="2761488" cy="701731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F2730"/>
                </a:solidFill>
                <a:latin typeface="Arial"/>
              </a:rPr>
              <a:t>FunGen-xQTL AD integration snapshot: six public summary files.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502152"/>
            <a:ext cx="3063240" cy="12070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9" name="TextBox 8"/>
          <p:cNvSpPr txBox="1"/>
          <p:nvPr/>
        </p:nvSpPr>
        <p:spPr>
          <a:xfrm>
            <a:off x="987552" y="3648456"/>
            <a:ext cx="2761488" cy="486287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F2730"/>
                </a:solidFill>
                <a:latin typeface="Arial"/>
              </a:rPr>
              <a:t>Contains AD fine-mapping, xQTL, and TWAS gene lists.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52544" y="1417320"/>
            <a:ext cx="3502152" cy="3611880"/>
          </a:xfrm>
          <a:prstGeom prst="roundRect">
            <a:avLst/>
          </a:prstGeom>
          <a:solidFill>
            <a:srgbClr val="EBF7FC"/>
          </a:solidFill>
          <a:ln w="12700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90288" y="1682496"/>
            <a:ext cx="3017520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72B2"/>
                </a:solidFill>
                <a:latin typeface="Arial"/>
              </a:rPr>
              <a:t>2 · DISEASE GWAS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0" y="2148840"/>
            <a:ext cx="3063240" cy="12070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13" name="TextBox 12"/>
          <p:cNvSpPr txBox="1"/>
          <p:nvPr/>
        </p:nvSpPr>
        <p:spPr>
          <a:xfrm>
            <a:off x="4736592" y="2295144"/>
            <a:ext cx="2761488" cy="701731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F2730"/>
                </a:solidFill>
                <a:latin typeface="Arial"/>
              </a:rPr>
              <a:t>Clinical AD: Bellenguez 2022 meta-analysis (GCST90027158), complete genome-wide statistics.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0" y="3502152"/>
            <a:ext cx="3063240" cy="12070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15" name="TextBox 14"/>
          <p:cNvSpPr txBox="1"/>
          <p:nvPr/>
        </p:nvSpPr>
        <p:spPr>
          <a:xfrm>
            <a:off x="4736592" y="3648456"/>
            <a:ext cx="2761488" cy="91717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F2730"/>
                </a:solidFill>
                <a:latin typeface="Arial"/>
              </a:rPr>
              <a:t>CSF biomarkers: amyloid-β42, total tau, p-tau181 (GCST90726396–98), ≈19,000 donors each.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1583" y="1417320"/>
            <a:ext cx="3502152" cy="3611880"/>
          </a:xfrm>
          <a:prstGeom prst="roundRect">
            <a:avLst/>
          </a:prstGeom>
          <a:solidFill>
            <a:srgbClr val="FDF2D9"/>
          </a:solidFill>
          <a:ln w="12700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39327" y="1682496"/>
            <a:ext cx="3017520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895600"/>
                </a:solidFill>
                <a:latin typeface="Arial"/>
              </a:rPr>
              <a:t>3 · BRAIN QTL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21040" y="2148840"/>
            <a:ext cx="3063240" cy="12070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19" name="TextBox 18"/>
          <p:cNvSpPr txBox="1"/>
          <p:nvPr/>
        </p:nvSpPr>
        <p:spPr>
          <a:xfrm>
            <a:off x="8485632" y="2295144"/>
            <a:ext cx="2761488" cy="701731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F2730"/>
                </a:solidFill>
                <a:latin typeface="Arial"/>
              </a:rPr>
              <a:t>NIAGADS NG00184 brain eQTL/sQTL fine-mapping (bulk and single-nucleus).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21040" y="3502152"/>
            <a:ext cx="3063240" cy="12070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21" name="TextBox 20"/>
          <p:cNvSpPr txBox="1"/>
          <p:nvPr/>
        </p:nvSpPr>
        <p:spPr>
          <a:xfrm>
            <a:off x="8485632" y="3648456"/>
            <a:ext cx="2761488" cy="91717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F2730"/>
                </a:solidFill>
                <a:latin typeface="Arial"/>
              </a:rPr>
              <a:t>eQTL Catalogue r7 panels: microglia (Young 2019), neurons (Aygun 2021), neocortex (Walker 2019).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" y="5584873"/>
            <a:ext cx="10607040" cy="486287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dirty="0">
                <a:solidFill>
                  <a:srgbClr val="7E4C9A"/>
                </a:solidFill>
                <a:latin typeface="Arial"/>
              </a:rPr>
              <a:t>Support for a driver needs the pair: category 2 anchors the disease signal, category 3 anchors the gene — joined by the same-variant test.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30352" y="411480"/>
            <a:ext cx="10652760" cy="47548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50" b="1" i="0">
                <a:solidFill>
                  <a:srgbClr val="0F233D"/>
                </a:solidFill>
                <a:latin typeface="Arial"/>
              </a:rPr>
              <a:t>15 of the 433 drivers have genetic screening results so far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86968"/>
            <a:ext cx="1056132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dirty="0">
                <a:solidFill>
                  <a:srgbClr val="4E5A68"/>
                </a:solidFill>
                <a:latin typeface="Arial"/>
              </a:rPr>
              <a:t>Screening has focused on prominent driver genes; every screened gene holds a top-five category position.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17320" y="1371600"/>
            <a:ext cx="2743200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563624" y="1463040"/>
            <a:ext cx="2450592" cy="4297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0684D"/>
                </a:solidFill>
                <a:latin typeface="Arial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63624" y="1920240"/>
            <a:ext cx="2450592" cy="3931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4E5A68"/>
                </a:solidFill>
                <a:latin typeface="Arial"/>
              </a:rPr>
              <a:t>drivers screened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09160" y="1371600"/>
            <a:ext cx="2743200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855464" y="1463040"/>
            <a:ext cx="2450592" cy="4297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072B2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55464" y="1920240"/>
            <a:ext cx="2450592" cy="3931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4E5A68"/>
                </a:solidFill>
                <a:latin typeface="Arial"/>
              </a:rPr>
              <a:t>with genetic evidence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1371600"/>
            <a:ext cx="2743200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147304" y="1463040"/>
            <a:ext cx="2450592" cy="4297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895600"/>
                </a:solidFill>
                <a:latin typeface="Arial"/>
              </a:rPr>
              <a:t>418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47304" y="1920240"/>
            <a:ext cx="2450592" cy="39319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4E5A68"/>
                </a:solidFill>
                <a:latin typeface="Arial"/>
              </a:rPr>
              <a:t>drivers awaiting screening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2834640"/>
            <a:ext cx="5394960" cy="2788920"/>
          </a:xfrm>
          <a:prstGeom prst="roundRect">
            <a:avLst/>
          </a:prstGeom>
          <a:solidFill>
            <a:srgbClr val="E4F4EE"/>
          </a:solidFill>
          <a:ln w="12700">
            <a:solidFill>
              <a:srgbClr val="009E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932688" y="3154679"/>
            <a:ext cx="64008" cy="283464"/>
          </a:xfrm>
          <a:prstGeom prst="rect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78992" y="3127248"/>
            <a:ext cx="4700016" cy="32918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20" b="1" i="0">
                <a:solidFill>
                  <a:srgbClr val="0F233D"/>
                </a:solidFill>
                <a:latin typeface="Arial"/>
              </a:rPr>
              <a:t>The 15 screened drivers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0976" y="3657600"/>
            <a:ext cx="4846320" cy="11887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F233D"/>
                </a:solidFill>
                <a:latin typeface="Arial"/>
              </a:rPr>
              <a:t>APOE, RPS15, SELENOW, ANKRD11,
RPL11, RPLP1, RPL15, RPS13, RPL38,
LAMTOR5, DYNLT1, ATP6V1F, FTL, LAPTM4A, NCOA1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976" y="5074920"/>
            <a:ext cx="484632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E5A68"/>
                </a:solidFill>
                <a:latin typeface="Arial"/>
              </a:rPr>
              <a:t>Each appears in a top-five category display of the driver list.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2834640"/>
            <a:ext cx="5257800" cy="2788920"/>
          </a:xfrm>
          <a:prstGeom prst="roundRect">
            <a:avLst/>
          </a:prstGeom>
          <a:solidFill>
            <a:srgbClr val="EBF7FC"/>
          </a:solidFill>
          <a:ln w="12700">
            <a:solidFill>
              <a:srgbClr val="56B4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583680" y="3154679"/>
            <a:ext cx="64008" cy="283464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729984" y="3127248"/>
            <a:ext cx="4562856" cy="32918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20" b="1" i="0">
                <a:solidFill>
                  <a:srgbClr val="0F233D"/>
                </a:solidFill>
                <a:latin typeface="Arial"/>
              </a:rPr>
              <a:t>What screening covered per gene</a:t>
            </a:r>
          </a:p>
        </p:txBody>
      </p:sp>
      <p:sp>
        <p:nvSpPr>
          <p:cNvPr id="21" name="Oval 20"/>
          <p:cNvSpPr/>
          <p:nvPr/>
        </p:nvSpPr>
        <p:spPr>
          <a:xfrm>
            <a:off x="6601968" y="3785615"/>
            <a:ext cx="77724" cy="77724"/>
          </a:xfrm>
          <a:prstGeom prst="ellipse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775704" y="3657600"/>
            <a:ext cx="4581144" cy="56692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F2730"/>
                </a:solidFill>
                <a:latin typeface="Arial"/>
              </a:rPr>
              <a:t>Nearby DNA association with clinical AD.</a:t>
            </a:r>
          </a:p>
        </p:txBody>
      </p:sp>
      <p:sp>
        <p:nvSpPr>
          <p:cNvPr id="23" name="Oval 22"/>
          <p:cNvSpPr/>
          <p:nvPr/>
        </p:nvSpPr>
        <p:spPr>
          <a:xfrm>
            <a:off x="6601968" y="4352544"/>
            <a:ext cx="77724" cy="77724"/>
          </a:xfrm>
          <a:prstGeom prst="ellipse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775704" y="4224528"/>
            <a:ext cx="4581144" cy="56692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F2730"/>
                </a:solidFill>
                <a:latin typeface="Arial"/>
              </a:rPr>
              <a:t>Brain gene-activity links (RNA amount and splicing).</a:t>
            </a:r>
          </a:p>
        </p:txBody>
      </p:sp>
      <p:sp>
        <p:nvSpPr>
          <p:cNvPr id="25" name="Oval 24"/>
          <p:cNvSpPr/>
          <p:nvPr/>
        </p:nvSpPr>
        <p:spPr>
          <a:xfrm>
            <a:off x="6601968" y="4919472"/>
            <a:ext cx="77724" cy="77724"/>
          </a:xfrm>
          <a:prstGeom prst="ellipse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775704" y="4791456"/>
            <a:ext cx="4581144" cy="56692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F2730"/>
                </a:solidFill>
                <a:latin typeface="Arial"/>
              </a:rPr>
              <a:t>Spinal-fluid biomarker association and gene-based tests.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30352" y="411480"/>
            <a:ext cx="10652760" cy="47548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50" b="1" i="0">
                <a:solidFill>
                  <a:srgbClr val="0F233D"/>
                </a:solidFill>
                <a:latin typeface="Arial"/>
              </a:rPr>
              <a:t>Genetic evidence for the 15 screened drivers, at a glance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86968"/>
            <a:ext cx="1056132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4E5A68"/>
                </a:solidFill>
                <a:latin typeface="Arial"/>
              </a:rPr>
              <a:t>Grades from the public-data screen; driver contexts from the KDA results.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17320"/>
            <a:ext cx="1783080" cy="457200"/>
          </a:xfrm>
          <a:prstGeom prst="rect">
            <a:avLst/>
          </a:prstGeom>
          <a:solidFill>
            <a:srgbClr val="0F233D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86384" y="1472184"/>
            <a:ext cx="1673352" cy="3657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FFFFFF"/>
                </a:solidFill>
                <a:latin typeface="Arial"/>
              </a:rPr>
              <a:t>Gene(s)</a:t>
            </a:r>
          </a:p>
        </p:txBody>
      </p:sp>
      <p:sp>
        <p:nvSpPr>
          <p:cNvPr id="6" name="Rectangle 5"/>
          <p:cNvSpPr/>
          <p:nvPr/>
        </p:nvSpPr>
        <p:spPr>
          <a:xfrm>
            <a:off x="2514600" y="1417320"/>
            <a:ext cx="3429000" cy="457200"/>
          </a:xfrm>
          <a:prstGeom prst="rect">
            <a:avLst/>
          </a:prstGeom>
          <a:solidFill>
            <a:srgbClr val="0F233D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569464" y="1472184"/>
            <a:ext cx="3319272" cy="3657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FFFFFF"/>
                </a:solidFill>
                <a:latin typeface="Arial"/>
              </a:rPr>
              <a:t>Driver contexts (KDA)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0" y="1417320"/>
            <a:ext cx="5577840" cy="457200"/>
          </a:xfrm>
          <a:prstGeom prst="rect">
            <a:avLst/>
          </a:prstGeom>
          <a:solidFill>
            <a:srgbClr val="0F233D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98464" y="1472184"/>
            <a:ext cx="5468112" cy="3657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FFFFFF"/>
                </a:solidFill>
                <a:latin typeface="Arial"/>
              </a:rPr>
              <a:t>Genetic evidence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1874519"/>
            <a:ext cx="1783080" cy="566928"/>
          </a:xfrm>
          <a:prstGeom prst="rect">
            <a:avLst/>
          </a:prstGeom>
          <a:solidFill>
            <a:srgbClr val="FFFFFF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86384" y="1920239"/>
            <a:ext cx="1673352" cy="49377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1F2730"/>
                </a:solidFill>
                <a:latin typeface="Arial"/>
              </a:rPr>
              <a:t>APOE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14600" y="1874519"/>
            <a:ext cx="3429000" cy="566928"/>
          </a:xfrm>
          <a:prstGeom prst="rect">
            <a:avLst/>
          </a:prstGeom>
          <a:solidFill>
            <a:srgbClr val="FFFFFF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569464" y="1920239"/>
            <a:ext cx="3319272" cy="49377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1F2730"/>
                </a:solidFill>
                <a:latin typeface="Arial"/>
              </a:rPr>
              <a:t>Astrocytes in 3 sex/APOE groups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0" y="1874519"/>
            <a:ext cx="5577840" cy="566928"/>
          </a:xfrm>
          <a:prstGeom prst="rect">
            <a:avLst/>
          </a:prstGeom>
          <a:solidFill>
            <a:srgbClr val="FFFFFF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998464" y="1920239"/>
            <a:ext cx="5468112" cy="49377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1F2730"/>
                </a:solidFill>
                <a:latin typeface="Arial"/>
              </a:rPr>
              <a:t>Strong: direct fine-mapped AD coding variant + all 3 CSF biomarkers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2441448"/>
            <a:ext cx="1783080" cy="566928"/>
          </a:xfrm>
          <a:prstGeom prst="rect">
            <a:avLst/>
          </a:prstGeom>
          <a:solidFill>
            <a:srgbClr val="F1F4F7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86384" y="2487168"/>
            <a:ext cx="1673352" cy="49377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1F2730"/>
                </a:solidFill>
                <a:latin typeface="Arial"/>
              </a:rPr>
              <a:t>RPS15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14600" y="2441448"/>
            <a:ext cx="3429000" cy="566928"/>
          </a:xfrm>
          <a:prstGeom prst="rect">
            <a:avLst/>
          </a:prstGeom>
          <a:solidFill>
            <a:srgbClr val="F1F4F7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569464" y="2487168"/>
            <a:ext cx="3319272" cy="49377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1F2730"/>
                </a:solidFill>
                <a:latin typeface="Arial"/>
              </a:rPr>
              <a:t>12 categories — most recurrent driver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0" y="2441448"/>
            <a:ext cx="5577840" cy="566928"/>
          </a:xfrm>
          <a:prstGeom prst="rect">
            <a:avLst/>
          </a:prstGeom>
          <a:solidFill>
            <a:srgbClr val="F1F4F7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998464" y="2487168"/>
            <a:ext cx="5468112" cy="49377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1F2730"/>
                </a:solidFill>
                <a:latin typeface="Arial"/>
              </a:rPr>
              <a:t>Promising, unresolved: AD region P = 4.1e-30 + brain activity links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3008376"/>
            <a:ext cx="1783080" cy="566928"/>
          </a:xfrm>
          <a:prstGeom prst="rect">
            <a:avLst/>
          </a:prstGeom>
          <a:solidFill>
            <a:srgbClr val="FFFFFF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86384" y="3054096"/>
            <a:ext cx="1673352" cy="49377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1F2730"/>
                </a:solidFill>
                <a:latin typeface="Arial"/>
              </a:rPr>
              <a:t>SELENOW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514600" y="3008376"/>
            <a:ext cx="3429000" cy="566928"/>
          </a:xfrm>
          <a:prstGeom prst="rect">
            <a:avLst/>
          </a:prstGeom>
          <a:solidFill>
            <a:srgbClr val="FFFFFF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569464" y="3054096"/>
            <a:ext cx="3319272" cy="49377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1F2730"/>
                </a:solidFill>
                <a:latin typeface="Arial"/>
              </a:rPr>
              <a:t>8 categories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43600" y="3008376"/>
            <a:ext cx="5577840" cy="566928"/>
          </a:xfrm>
          <a:prstGeom prst="rect">
            <a:avLst/>
          </a:prstGeom>
          <a:solidFill>
            <a:srgbClr val="FFFFFF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998464" y="3054096"/>
            <a:ext cx="5468112" cy="49377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1F2730"/>
                </a:solidFill>
                <a:latin typeface="Arial"/>
              </a:rPr>
              <a:t>Weak: appears in a public TWAS gene list, no model detail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" y="3575303"/>
            <a:ext cx="1783080" cy="566928"/>
          </a:xfrm>
          <a:prstGeom prst="rect">
            <a:avLst/>
          </a:prstGeom>
          <a:solidFill>
            <a:srgbClr val="F1F4F7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86384" y="3621023"/>
            <a:ext cx="1673352" cy="49377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1F2730"/>
                </a:solidFill>
                <a:latin typeface="Arial"/>
              </a:rPr>
              <a:t>ANKRD11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14600" y="3575303"/>
            <a:ext cx="3429000" cy="566928"/>
          </a:xfrm>
          <a:prstGeom prst="rect">
            <a:avLst/>
          </a:prstGeom>
          <a:solidFill>
            <a:srgbClr val="F1F4F7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569464" y="3621023"/>
            <a:ext cx="3319272" cy="49377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1F2730"/>
                </a:solidFill>
                <a:latin typeface="Arial"/>
              </a:rPr>
              <a:t>2 OPC categories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43600" y="3575303"/>
            <a:ext cx="5577840" cy="566928"/>
          </a:xfrm>
          <a:prstGeom prst="rect">
            <a:avLst/>
          </a:prstGeom>
          <a:solidFill>
            <a:srgbClr val="F1F4F7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998464" y="3621023"/>
            <a:ext cx="5468112" cy="49377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1F2730"/>
                </a:solidFill>
                <a:latin typeface="Arial"/>
              </a:rPr>
              <a:t>Region only: AD region P = 1.3e-11, no gene-level link passed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31520" y="4142231"/>
            <a:ext cx="1783080" cy="566928"/>
          </a:xfrm>
          <a:prstGeom prst="rect">
            <a:avLst/>
          </a:prstGeom>
          <a:solidFill>
            <a:srgbClr val="FFFFFF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86384" y="4187951"/>
            <a:ext cx="1673352" cy="49377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1F2730"/>
                </a:solidFill>
                <a:latin typeface="Arial"/>
              </a:rPr>
              <a:t>11 other drivers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14600" y="4142231"/>
            <a:ext cx="3429000" cy="566928"/>
          </a:xfrm>
          <a:prstGeom prst="rect">
            <a:avLst/>
          </a:prstGeom>
          <a:solidFill>
            <a:srgbClr val="FFFFFF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569464" y="4187951"/>
            <a:ext cx="3319272" cy="49377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1F2730"/>
                </a:solidFill>
                <a:latin typeface="Arial"/>
              </a:rPr>
              <a:t>1–10 categories each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943600" y="4142231"/>
            <a:ext cx="5577840" cy="566928"/>
          </a:xfrm>
          <a:prstGeom prst="rect">
            <a:avLst/>
          </a:prstGeom>
          <a:solidFill>
            <a:srgbClr val="FFFFFF"/>
          </a:solidFill>
          <a:ln w="762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5998464" y="4187951"/>
            <a:ext cx="5468112" cy="49377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1F2730"/>
                </a:solidFill>
                <a:latin typeface="Arial"/>
              </a:rPr>
              <a:t>No qualifying AD or CSF signal in the tested design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4672" y="5074920"/>
            <a:ext cx="1060704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7E4C9A"/>
                </a:solidFill>
                <a:latin typeface="Arial"/>
              </a:rPr>
              <a:t>Evidence strength does not track network recurrence: RPL11 (10 categories) has no signal, while APOE (3 categories) is the strongest.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30352" y="411480"/>
            <a:ext cx="10652760" cy="47548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50" b="1" i="0">
                <a:solidFill>
                  <a:srgbClr val="0F233D"/>
                </a:solidFill>
                <a:latin typeface="Arial"/>
              </a:rPr>
              <a:t>RPS15: network centrality and genetic proximity converge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86968"/>
            <a:ext cx="1056132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4E5A68"/>
                </a:solidFill>
                <a:latin typeface="Arial"/>
              </a:rPr>
              <a:t>The most recurrent driver is also the most interesting unresolved genetic candidate.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03504" y="1389888"/>
            <a:ext cx="5394960" cy="4160520"/>
          </a:xfrm>
          <a:prstGeom prst="roundRect">
            <a:avLst/>
          </a:prstGeom>
          <a:solidFill>
            <a:srgbClr val="EBF7FC"/>
          </a:solidFill>
          <a:ln w="12700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77824" y="1709928"/>
            <a:ext cx="64008" cy="283464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24127" y="1682496"/>
            <a:ext cx="4700016" cy="32918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20" b="1" i="0">
                <a:solidFill>
                  <a:srgbClr val="0F233D"/>
                </a:solidFill>
                <a:latin typeface="Arial"/>
              </a:rPr>
              <a:t>In the KDA networks</a:t>
            </a:r>
          </a:p>
        </p:txBody>
      </p:sp>
      <p:sp>
        <p:nvSpPr>
          <p:cNvPr id="7" name="Oval 6"/>
          <p:cNvSpPr/>
          <p:nvPr/>
        </p:nvSpPr>
        <p:spPr>
          <a:xfrm>
            <a:off x="896112" y="2368296"/>
            <a:ext cx="77724" cy="77724"/>
          </a:xfrm>
          <a:prstGeom prst="ellipse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69848" y="2240280"/>
            <a:ext cx="4718303" cy="6583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2730"/>
                </a:solidFill>
                <a:latin typeface="Arial"/>
              </a:rPr>
              <a:t>Most recurrent driver: 12 of 32 categories.</a:t>
            </a:r>
          </a:p>
        </p:txBody>
      </p:sp>
      <p:sp>
        <p:nvSpPr>
          <p:cNvPr id="9" name="Oval 8"/>
          <p:cNvSpPr/>
          <p:nvPr/>
        </p:nvSpPr>
        <p:spPr>
          <a:xfrm>
            <a:off x="896112" y="3026664"/>
            <a:ext cx="77724" cy="77724"/>
          </a:xfrm>
          <a:prstGeom prst="ellipse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69848" y="2898648"/>
            <a:ext cx="4718303" cy="6583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2730"/>
                </a:solidFill>
                <a:latin typeface="Arial"/>
              </a:rPr>
              <a:t>Best category score q = 4.6e-14 (top rank).</a:t>
            </a:r>
          </a:p>
        </p:txBody>
      </p:sp>
      <p:sp>
        <p:nvSpPr>
          <p:cNvPr id="11" name="Oval 10"/>
          <p:cNvSpPr/>
          <p:nvPr/>
        </p:nvSpPr>
        <p:spPr>
          <a:xfrm>
            <a:off x="896112" y="3685031"/>
            <a:ext cx="77724" cy="77724"/>
          </a:xfrm>
          <a:prstGeom prst="ellipse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69848" y="3557015"/>
            <a:ext cx="4718303" cy="6583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2730"/>
                </a:solidFill>
                <a:latin typeface="Arial"/>
              </a:rPr>
              <a:t>Recurs across both sexes and five cell types.</a:t>
            </a:r>
          </a:p>
        </p:txBody>
      </p:sp>
      <p:sp>
        <p:nvSpPr>
          <p:cNvPr id="13" name="Oval 12"/>
          <p:cNvSpPr/>
          <p:nvPr/>
        </p:nvSpPr>
        <p:spPr>
          <a:xfrm>
            <a:off x="896112" y="4343399"/>
            <a:ext cx="77724" cy="77724"/>
          </a:xfrm>
          <a:prstGeom prst="ellipse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69848" y="4215383"/>
            <a:ext cx="4718303" cy="6583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2730"/>
                </a:solidFill>
                <a:latin typeface="Arial"/>
              </a:rPr>
              <a:t>Also returns in the independent SEA-AD cohort.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389888"/>
            <a:ext cx="5321808" cy="4160520"/>
          </a:xfrm>
          <a:prstGeom prst="roundRect">
            <a:avLst/>
          </a:prstGeom>
          <a:solidFill>
            <a:srgbClr val="E4F4EE"/>
          </a:solidFill>
          <a:ln w="12700">
            <a:solidFill>
              <a:srgbClr val="009E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537960" y="1709928"/>
            <a:ext cx="64008" cy="283464"/>
          </a:xfrm>
          <a:prstGeom prst="rect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684264" y="1682496"/>
            <a:ext cx="4626864" cy="32918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20" b="1" i="0">
                <a:solidFill>
                  <a:srgbClr val="0F233D"/>
                </a:solidFill>
                <a:latin typeface="Arial"/>
              </a:rPr>
              <a:t>In human genetics</a:t>
            </a:r>
          </a:p>
        </p:txBody>
      </p:sp>
      <p:sp>
        <p:nvSpPr>
          <p:cNvPr id="18" name="Oval 17"/>
          <p:cNvSpPr/>
          <p:nvPr/>
        </p:nvSpPr>
        <p:spPr>
          <a:xfrm>
            <a:off x="6556248" y="2368296"/>
            <a:ext cx="77724" cy="77724"/>
          </a:xfrm>
          <a:prstGeom prst="ellipse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729984" y="2240280"/>
            <a:ext cx="4672583" cy="6583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2730"/>
                </a:solidFill>
                <a:latin typeface="Arial"/>
              </a:rPr>
              <a:t>AD region strongly associated: P = 4.089e-30 (rs12151021).</a:t>
            </a:r>
          </a:p>
        </p:txBody>
      </p:sp>
      <p:sp>
        <p:nvSpPr>
          <p:cNvPr id="20" name="Oval 19"/>
          <p:cNvSpPr/>
          <p:nvPr/>
        </p:nvSpPr>
        <p:spPr>
          <a:xfrm>
            <a:off x="6556248" y="3026664"/>
            <a:ext cx="77724" cy="77724"/>
          </a:xfrm>
          <a:prstGeom prst="ellipse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729984" y="2898648"/>
            <a:ext cx="4672583" cy="6583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2730"/>
                </a:solidFill>
                <a:latin typeface="Arial"/>
              </a:rPr>
              <a:t>Brain-tissue RNA-amount link passed its gate.</a:t>
            </a:r>
          </a:p>
        </p:txBody>
      </p:sp>
      <p:sp>
        <p:nvSpPr>
          <p:cNvPr id="22" name="Oval 21"/>
          <p:cNvSpPr/>
          <p:nvPr/>
        </p:nvSpPr>
        <p:spPr>
          <a:xfrm>
            <a:off x="6556248" y="3685031"/>
            <a:ext cx="77724" cy="77724"/>
          </a:xfrm>
          <a:prstGeom prst="ellipse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729984" y="3557015"/>
            <a:ext cx="4672583" cy="6583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2730"/>
                </a:solidFill>
                <a:latin typeface="Arial"/>
              </a:rPr>
              <a:t>Three further brain activity tracks are signal-positive.</a:t>
            </a:r>
          </a:p>
        </p:txBody>
      </p:sp>
      <p:sp>
        <p:nvSpPr>
          <p:cNvPr id="24" name="Oval 23"/>
          <p:cNvSpPr/>
          <p:nvPr/>
        </p:nvSpPr>
        <p:spPr>
          <a:xfrm>
            <a:off x="6556248" y="4343399"/>
            <a:ext cx="77724" cy="77724"/>
          </a:xfrm>
          <a:prstGeom prst="ellipse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729984" y="4215383"/>
            <a:ext cx="4672583" cy="6583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2730"/>
                </a:solidFill>
                <a:latin typeface="Arial"/>
              </a:rPr>
              <a:t>Same-variant test unresolved: complete models unavailable.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3504" y="5715000"/>
            <a:ext cx="10972800" cy="566928"/>
          </a:xfrm>
          <a:prstGeom prst="roundRect">
            <a:avLst/>
          </a:prstGeom>
          <a:solidFill>
            <a:srgbClr val="FDEBE4"/>
          </a:solidFill>
          <a:ln w="12700">
            <a:solidFill>
              <a:srgbClr val="D55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22960" y="5870448"/>
            <a:ext cx="1056132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E3A00"/>
                </a:solidFill>
                <a:latin typeface="Arial"/>
              </a:rPr>
              <a:t>Caution: the AD signal is near RPS15 but has not been assigned to it; cell-type-exact activity data were negative or missing.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30352" y="411480"/>
            <a:ext cx="10652760" cy="47548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50" b="1" i="0">
                <a:solidFill>
                  <a:srgbClr val="0F233D"/>
                </a:solidFill>
                <a:latin typeface="Arial"/>
              </a:rPr>
              <a:t>APOE: the strongest genetic result is an astrocyte driver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86968"/>
            <a:ext cx="1056132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4E5A68"/>
                </a:solidFill>
                <a:latin typeface="Arial"/>
              </a:rPr>
              <a:t>Strong gene-level genetic support; the exact astrocyte mechanism is still open.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03504" y="1389888"/>
            <a:ext cx="5394960" cy="4160520"/>
          </a:xfrm>
          <a:prstGeom prst="roundRect">
            <a:avLst/>
          </a:prstGeom>
          <a:solidFill>
            <a:srgbClr val="E4F4EE"/>
          </a:solidFill>
          <a:ln w="12700">
            <a:solidFill>
              <a:srgbClr val="009E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77824" y="1709928"/>
            <a:ext cx="64008" cy="283464"/>
          </a:xfrm>
          <a:prstGeom prst="rect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24127" y="1682496"/>
            <a:ext cx="4700016" cy="32918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20" b="1" i="0">
                <a:solidFill>
                  <a:srgbClr val="0F233D"/>
                </a:solidFill>
                <a:latin typeface="Arial"/>
              </a:rPr>
              <a:t>Genetic evidence</a:t>
            </a:r>
          </a:p>
        </p:txBody>
      </p:sp>
      <p:sp>
        <p:nvSpPr>
          <p:cNvPr id="7" name="Oval 6"/>
          <p:cNvSpPr/>
          <p:nvPr/>
        </p:nvSpPr>
        <p:spPr>
          <a:xfrm>
            <a:off x="896112" y="2368296"/>
            <a:ext cx="77724" cy="77724"/>
          </a:xfrm>
          <a:prstGeom prst="ellipse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69848" y="2240280"/>
            <a:ext cx="4718303" cy="6583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2730"/>
                </a:solidFill>
                <a:latin typeface="Arial"/>
              </a:rPr>
              <a:t>AD coding variant mapped directly to APOE (P ≈ 1.9e-155).</a:t>
            </a:r>
          </a:p>
        </p:txBody>
      </p:sp>
      <p:sp>
        <p:nvSpPr>
          <p:cNvPr id="9" name="Oval 8"/>
          <p:cNvSpPr/>
          <p:nvPr/>
        </p:nvSpPr>
        <p:spPr>
          <a:xfrm>
            <a:off x="896112" y="3026664"/>
            <a:ext cx="77724" cy="77724"/>
          </a:xfrm>
          <a:prstGeom prst="ellipse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69848" y="2898648"/>
            <a:ext cx="4718303" cy="6583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2730"/>
                </a:solidFill>
                <a:latin typeface="Arial"/>
              </a:rPr>
              <a:t>Region significant for all three spinal-fluid biomarkers.</a:t>
            </a:r>
          </a:p>
        </p:txBody>
      </p:sp>
      <p:sp>
        <p:nvSpPr>
          <p:cNvPr id="11" name="Oval 10"/>
          <p:cNvSpPr/>
          <p:nvPr/>
        </p:nvSpPr>
        <p:spPr>
          <a:xfrm>
            <a:off x="896112" y="3685031"/>
            <a:ext cx="77724" cy="77724"/>
          </a:xfrm>
          <a:prstGeom prst="ellipse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69848" y="3557015"/>
            <a:ext cx="4718303" cy="6583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2730"/>
                </a:solidFill>
                <a:latin typeface="Arial"/>
              </a:rPr>
              <a:t>Gene-based biomarker tests also pass for all three.</a:t>
            </a:r>
          </a:p>
        </p:txBody>
      </p:sp>
      <p:sp>
        <p:nvSpPr>
          <p:cNvPr id="13" name="Oval 12"/>
          <p:cNvSpPr/>
          <p:nvPr/>
        </p:nvSpPr>
        <p:spPr>
          <a:xfrm>
            <a:off x="896112" y="4343399"/>
            <a:ext cx="77724" cy="77724"/>
          </a:xfrm>
          <a:prstGeom prst="ellipse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69848" y="4215383"/>
            <a:ext cx="4718303" cy="6583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2730"/>
                </a:solidFill>
                <a:latin typeface="Arial"/>
              </a:rPr>
              <a:t>Only screened gene passing every first-stage gate.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389888"/>
            <a:ext cx="5321808" cy="4160520"/>
          </a:xfrm>
          <a:prstGeom prst="roundRect">
            <a:avLst/>
          </a:prstGeom>
          <a:solidFill>
            <a:srgbClr val="EBF7FC"/>
          </a:solidFill>
          <a:ln w="12700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537960" y="1709928"/>
            <a:ext cx="64008" cy="283464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684264" y="1682496"/>
            <a:ext cx="4626864" cy="32918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20" b="1" i="0">
                <a:solidFill>
                  <a:srgbClr val="0F233D"/>
                </a:solidFill>
                <a:latin typeface="Arial"/>
              </a:rPr>
              <a:t>In the KDA networks</a:t>
            </a:r>
          </a:p>
        </p:txBody>
      </p:sp>
      <p:sp>
        <p:nvSpPr>
          <p:cNvPr id="18" name="Oval 17"/>
          <p:cNvSpPr/>
          <p:nvPr/>
        </p:nvSpPr>
        <p:spPr>
          <a:xfrm>
            <a:off x="6556248" y="2368296"/>
            <a:ext cx="77724" cy="77724"/>
          </a:xfrm>
          <a:prstGeom prst="ellipse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729984" y="2240280"/>
            <a:ext cx="4672583" cy="6583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2730"/>
                </a:solidFill>
                <a:latin typeface="Arial"/>
              </a:rPr>
              <a:t>An astrocyte driver in three sex/APOE groups (F_e2, M_e2, M_e4).</a:t>
            </a:r>
          </a:p>
        </p:txBody>
      </p:sp>
      <p:sp>
        <p:nvSpPr>
          <p:cNvPr id="20" name="Oval 19"/>
          <p:cNvSpPr/>
          <p:nvPr/>
        </p:nvSpPr>
        <p:spPr>
          <a:xfrm>
            <a:off x="6556248" y="3026664"/>
            <a:ext cx="77724" cy="77724"/>
          </a:xfrm>
          <a:prstGeom prst="ellipse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729984" y="2898648"/>
            <a:ext cx="4672583" cy="6583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2730"/>
                </a:solidFill>
                <a:latin typeface="Arial"/>
              </a:rPr>
              <a:t>Best within-category rank: 3.</a:t>
            </a:r>
          </a:p>
        </p:txBody>
      </p:sp>
      <p:sp>
        <p:nvSpPr>
          <p:cNvPr id="22" name="Oval 21"/>
          <p:cNvSpPr/>
          <p:nvPr/>
        </p:nvSpPr>
        <p:spPr>
          <a:xfrm>
            <a:off x="6556248" y="3685031"/>
            <a:ext cx="77724" cy="77724"/>
          </a:xfrm>
          <a:prstGeom prst="ellipse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729984" y="3557015"/>
            <a:ext cx="4672583" cy="6583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2730"/>
                </a:solidFill>
                <a:latin typeface="Arial"/>
              </a:rPr>
              <a:t>Modest recurrence compared with RPS15 (3 vs 12 categories).</a:t>
            </a:r>
          </a:p>
        </p:txBody>
      </p:sp>
      <p:sp>
        <p:nvSpPr>
          <p:cNvPr id="24" name="Oval 23"/>
          <p:cNvSpPr/>
          <p:nvPr/>
        </p:nvSpPr>
        <p:spPr>
          <a:xfrm>
            <a:off x="6556248" y="4343399"/>
            <a:ext cx="77724" cy="77724"/>
          </a:xfrm>
          <a:prstGeom prst="ellipse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729984" y="4215383"/>
            <a:ext cx="4672583" cy="6583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2730"/>
                </a:solidFill>
                <a:latin typeface="Arial"/>
              </a:rPr>
              <a:t>Does not return in the SEA-AD validation cohort.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3504" y="5715000"/>
            <a:ext cx="1097280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22960" y="5870448"/>
            <a:ext cx="1056132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4E5A68"/>
                </a:solidFill>
                <a:latin typeface="Arial"/>
              </a:rPr>
              <a:t>Genetics confirms APOE as an AD gene; whether the risk acts through APOE activity in astrocytes remains untested.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30352" y="411480"/>
            <a:ext cx="10652760" cy="47548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50" b="1" i="0">
                <a:solidFill>
                  <a:srgbClr val="0F233D"/>
                </a:solidFill>
                <a:latin typeface="Arial"/>
              </a:rPr>
              <a:t>Eleven drivers had no qualifying signal — read this carefully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86968"/>
            <a:ext cx="1056132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4E5A68"/>
                </a:solidFill>
                <a:latin typeface="Arial"/>
              </a:rPr>
              <a:t>“No genetic support found” has three different origins with different meanings.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03504" y="1417320"/>
            <a:ext cx="3502152" cy="2606040"/>
          </a:xfrm>
          <a:prstGeom prst="roundRect">
            <a:avLst/>
          </a:prstGeom>
          <a:solidFill>
            <a:srgbClr val="EBF7FC"/>
          </a:solidFill>
          <a:ln w="12700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41248" y="1691640"/>
            <a:ext cx="3017520" cy="3657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0F233D"/>
                </a:solidFill>
                <a:latin typeface="Arial"/>
              </a:rPr>
              <a:t>Truly signal-negative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240280"/>
            <a:ext cx="3035808" cy="16459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F2730"/>
                </a:solidFill>
                <a:latin typeface="Arial"/>
              </a:rPr>
              <a:t>The complete tested region had no qualifying AD or biomarker association under the frozen thresholds.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2544" y="1417320"/>
            <a:ext cx="3502152" cy="2606040"/>
          </a:xfrm>
          <a:prstGeom prst="roundRect">
            <a:avLst/>
          </a:prstGeom>
          <a:solidFill>
            <a:srgbClr val="FDF2D9"/>
          </a:solidFill>
          <a:ln w="12700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90288" y="1691640"/>
            <a:ext cx="3017520" cy="3657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0F233D"/>
                </a:solidFill>
                <a:latin typeface="Arial"/>
              </a:rPr>
              <a:t>Could not be evaluated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90288" y="2240280"/>
            <a:ext cx="3035808" cy="16459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F2730"/>
                </a:solidFill>
                <a:latin typeface="Arial"/>
              </a:rPr>
              <a:t>Required measurements, models, or reference data were missing — stopped routes, not negative results.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01583" y="1417320"/>
            <a:ext cx="3502152" cy="2606040"/>
          </a:xfrm>
          <a:prstGeom prst="roundRect">
            <a:avLst/>
          </a:prstGeom>
          <a:solidFill>
            <a:srgbClr val="FDEBE4"/>
          </a:solidFill>
          <a:ln w="12700">
            <a:solidFill>
              <a:srgbClr val="D55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339327" y="1691640"/>
            <a:ext cx="3017520" cy="36576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0F233D"/>
                </a:solidFill>
                <a:latin typeface="Arial"/>
              </a:rPr>
              <a:t>Outside the design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9327" y="2240280"/>
            <a:ext cx="3035808" cy="16459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F2730"/>
                </a:solidFill>
                <a:latin typeface="Arial"/>
              </a:rPr>
              <a:t>Rare variants, sex/APOE interactions, and protein-level effects were not tested.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3504" y="4343400"/>
            <a:ext cx="1097280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77824" y="4581144"/>
            <a:ext cx="64008" cy="283464"/>
          </a:xfrm>
          <a:prstGeom prst="rect">
            <a:avLst/>
          </a:prstGeom>
          <a:solidFill>
            <a:srgbClr val="7E4C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24127" y="4553712"/>
            <a:ext cx="7168896" cy="32918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20" b="1" i="0">
                <a:solidFill>
                  <a:srgbClr val="0F233D"/>
                </a:solidFill>
                <a:latin typeface="Arial"/>
              </a:rPr>
              <a:t>Example: replication without genetic support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" y="4956048"/>
            <a:ext cx="10424160" cy="5486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F2730"/>
                </a:solidFill>
                <a:latin typeface="Arial"/>
              </a:rPr>
              <a:t>DYNLT1 is a driver in four categories and also returns in SEA-AD — yet its region had no qualifying AD signal. Network recurrence and inherited risk are different questions; a gene can be central to disease networks without a common risk variant nearby.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30352" y="411480"/>
            <a:ext cx="10652760" cy="47548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50" b="1" i="0">
                <a:solidFill>
                  <a:srgbClr val="0F233D"/>
                </a:solidFill>
                <a:latin typeface="Arial"/>
              </a:rPr>
              <a:t>418 of 433 drivers have never been screened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86968"/>
            <a:ext cx="1056132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4E5A68"/>
                </a:solidFill>
                <a:latin typeface="Arial"/>
              </a:rPr>
              <a:t>Screening coverage is now the main gap in the genetic evidence.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417320"/>
            <a:ext cx="5394960" cy="4114800"/>
          </a:xfrm>
          <a:prstGeom prst="roundRect">
            <a:avLst/>
          </a:prstGeom>
          <a:solidFill>
            <a:srgbClr val="EBF7FC"/>
          </a:solidFill>
          <a:ln w="12700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932688" y="1737360"/>
            <a:ext cx="64008" cy="283464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78992" y="1709928"/>
            <a:ext cx="4700016" cy="32918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20" b="1" i="0">
                <a:solidFill>
                  <a:srgbClr val="0F233D"/>
                </a:solidFill>
                <a:latin typeface="Arial"/>
              </a:rPr>
              <a:t>First-priority screening targets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" y="2212848"/>
            <a:ext cx="4846320" cy="5029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F2730"/>
                </a:solidFill>
                <a:latin typeface="Arial"/>
              </a:rPr>
              <a:t>Drivers that replicate in the independent SEA-AD cohort but were never genetically screened: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2834640"/>
            <a:ext cx="4846320" cy="38404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072B2"/>
                </a:solidFill>
                <a:latin typeface="Arial"/>
              </a:rPr>
              <a:t>WDR82, HGSNAT, TTC8, BEX3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3383280"/>
            <a:ext cx="4846320" cy="7315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E5A68"/>
                </a:solidFill>
                <a:latin typeface="Arial"/>
              </a:rPr>
              <a:t>WDR82 and HGSNAT lead the cross-cohort convergence; TTC8 and BEX3 recur broadly in both cohorts.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257800" cy="4114800"/>
          </a:xfrm>
          <a:prstGeom prst="roundRect">
            <a:avLst/>
          </a:prstGeom>
          <a:solidFill>
            <a:srgbClr val="F1F4F7"/>
          </a:solidFill>
          <a:ln w="12700">
            <a:solidFill>
              <a:srgbClr val="E0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583680" y="1737360"/>
            <a:ext cx="64008" cy="283464"/>
          </a:xfrm>
          <a:prstGeom prst="rect">
            <a:avLst/>
          </a:prstGeom>
          <a:solidFill>
            <a:srgbClr val="4E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729984" y="1709928"/>
            <a:ext cx="4562856" cy="32918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20" b="1" i="0">
                <a:solidFill>
                  <a:srgbClr val="0F233D"/>
                </a:solidFill>
                <a:latin typeface="Arial"/>
              </a:rPr>
              <a:t>Also unscreened</a:t>
            </a:r>
          </a:p>
        </p:txBody>
      </p:sp>
      <p:sp>
        <p:nvSpPr>
          <p:cNvPr id="13" name="Oval 12"/>
          <p:cNvSpPr/>
          <p:nvPr/>
        </p:nvSpPr>
        <p:spPr>
          <a:xfrm>
            <a:off x="6601968" y="2368296"/>
            <a:ext cx="77724" cy="77724"/>
          </a:xfrm>
          <a:prstGeom prst="ellipse">
            <a:avLst/>
          </a:prstGeom>
          <a:solidFill>
            <a:srgbClr val="4E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775704" y="2240280"/>
            <a:ext cx="4581144" cy="8686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F2730"/>
                </a:solidFill>
                <a:latin typeface="Arial"/>
              </a:rPr>
              <a:t>Most of the recurrence leaders of the driver list (e.g., SELENOM, GABARAPL2, PGAM1, GAPDH).</a:t>
            </a:r>
          </a:p>
        </p:txBody>
      </p:sp>
      <p:sp>
        <p:nvSpPr>
          <p:cNvPr id="15" name="Oval 14"/>
          <p:cNvSpPr/>
          <p:nvPr/>
        </p:nvSpPr>
        <p:spPr>
          <a:xfrm>
            <a:off x="6601968" y="3236976"/>
            <a:ext cx="77724" cy="77724"/>
          </a:xfrm>
          <a:prstGeom prst="ellipse">
            <a:avLst/>
          </a:prstGeom>
          <a:solidFill>
            <a:srgbClr val="4E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775704" y="3108960"/>
            <a:ext cx="4581144" cy="8686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F2730"/>
                </a:solidFill>
                <a:latin typeface="Arial"/>
              </a:rPr>
              <a:t>Most genes shown in the category top-five displays.</a:t>
            </a:r>
          </a:p>
        </p:txBody>
      </p:sp>
      <p:sp>
        <p:nvSpPr>
          <p:cNvPr id="17" name="Oval 16"/>
          <p:cNvSpPr/>
          <p:nvPr/>
        </p:nvSpPr>
        <p:spPr>
          <a:xfrm>
            <a:off x="6601968" y="4105656"/>
            <a:ext cx="77724" cy="77724"/>
          </a:xfrm>
          <a:prstGeom prst="ellipse">
            <a:avLst/>
          </a:prstGeom>
          <a:solidFill>
            <a:srgbClr val="4E5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775704" y="3977640"/>
            <a:ext cx="4581144" cy="8686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F2730"/>
                </a:solidFill>
                <a:latin typeface="Arial"/>
              </a:rPr>
              <a:t>The same public-data pipeline can screen them; the gap is coverage, not method.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30352" y="411480"/>
            <a:ext cx="10652760" cy="47548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50" b="1" i="0">
                <a:solidFill>
                  <a:srgbClr val="0F233D"/>
                </a:solidFill>
                <a:latin typeface="Arial"/>
              </a:rPr>
              <a:t>What we know now — and the shortest path to stronger claims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03504" y="1188720"/>
            <a:ext cx="5440680" cy="4617720"/>
          </a:xfrm>
          <a:prstGeom prst="roundRect">
            <a:avLst/>
          </a:prstGeom>
          <a:solidFill>
            <a:srgbClr val="E4F4EE"/>
          </a:solidFill>
          <a:ln w="12700">
            <a:solidFill>
              <a:srgbClr val="009E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86968" y="1508760"/>
            <a:ext cx="64008" cy="283464"/>
          </a:xfrm>
          <a:prstGeom prst="rect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33271" y="1481328"/>
            <a:ext cx="4745736" cy="32918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20" b="1" i="0">
                <a:solidFill>
                  <a:srgbClr val="0F233D"/>
                </a:solidFill>
                <a:latin typeface="Arial"/>
              </a:rPr>
              <a:t>Current state of evidence</a:t>
            </a:r>
          </a:p>
        </p:txBody>
      </p:sp>
      <p:sp>
        <p:nvSpPr>
          <p:cNvPr id="6" name="Oval 5"/>
          <p:cNvSpPr/>
          <p:nvPr/>
        </p:nvSpPr>
        <p:spPr>
          <a:xfrm>
            <a:off x="905256" y="2139696"/>
            <a:ext cx="77724" cy="77724"/>
          </a:xfrm>
          <a:prstGeom prst="ellipse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78992" y="2011680"/>
            <a:ext cx="4764024" cy="7772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0" i="0">
                <a:solidFill>
                  <a:srgbClr val="1F2730"/>
                </a:solidFill>
                <a:latin typeface="Arial"/>
              </a:rPr>
              <a:t>APOE: strong genetic support; an astrocyte driver in three groups.</a:t>
            </a:r>
          </a:p>
        </p:txBody>
      </p:sp>
      <p:sp>
        <p:nvSpPr>
          <p:cNvPr id="8" name="Oval 7"/>
          <p:cNvSpPr/>
          <p:nvPr/>
        </p:nvSpPr>
        <p:spPr>
          <a:xfrm>
            <a:off x="905256" y="2916936"/>
            <a:ext cx="77724" cy="77724"/>
          </a:xfrm>
          <a:prstGeom prst="ellipse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78992" y="2788920"/>
            <a:ext cx="4764024" cy="7772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0" i="0">
                <a:solidFill>
                  <a:srgbClr val="1F2730"/>
                </a:solidFill>
                <a:latin typeface="Arial"/>
              </a:rPr>
              <a:t>RPS15: most recurrent driver + strong nearby AD region; the single best follow-up target.</a:t>
            </a:r>
          </a:p>
        </p:txBody>
      </p:sp>
      <p:sp>
        <p:nvSpPr>
          <p:cNvPr id="10" name="Oval 9"/>
          <p:cNvSpPr/>
          <p:nvPr/>
        </p:nvSpPr>
        <p:spPr>
          <a:xfrm>
            <a:off x="905256" y="3694176"/>
            <a:ext cx="77724" cy="77724"/>
          </a:xfrm>
          <a:prstGeom prst="ellipse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78992" y="3566160"/>
            <a:ext cx="4764024" cy="7772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0" i="0">
                <a:solidFill>
                  <a:srgbClr val="1F2730"/>
                </a:solidFill>
                <a:latin typeface="Arial"/>
              </a:rPr>
              <a:t>SELENOW and ANKRD11: partial genetic signals worth tracking.</a:t>
            </a:r>
          </a:p>
        </p:txBody>
      </p:sp>
      <p:sp>
        <p:nvSpPr>
          <p:cNvPr id="12" name="Oval 11"/>
          <p:cNvSpPr/>
          <p:nvPr/>
        </p:nvSpPr>
        <p:spPr>
          <a:xfrm>
            <a:off x="905256" y="4471416"/>
            <a:ext cx="77724" cy="77724"/>
          </a:xfrm>
          <a:prstGeom prst="ellipse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78992" y="4343400"/>
            <a:ext cx="4764024" cy="7772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0" i="0">
                <a:solidFill>
                  <a:srgbClr val="1F2730"/>
                </a:solidFill>
                <a:latin typeface="Arial"/>
              </a:rPr>
              <a:t>No same-variant test has been completed for any gene.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188720"/>
            <a:ext cx="5285232" cy="4617720"/>
          </a:xfrm>
          <a:prstGeom prst="roundRect">
            <a:avLst/>
          </a:prstGeom>
          <a:solidFill>
            <a:srgbClr val="EBF7FC"/>
          </a:solidFill>
          <a:ln w="12700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592824" y="1508760"/>
            <a:ext cx="64008" cy="283464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739128" y="1481328"/>
            <a:ext cx="4590288" cy="329184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20" b="1" i="0">
                <a:solidFill>
                  <a:srgbClr val="0F233D"/>
                </a:solidFill>
                <a:latin typeface="Arial"/>
              </a:rPr>
              <a:t>Next steps, in order</a:t>
            </a:r>
          </a:p>
        </p:txBody>
      </p:sp>
      <p:sp>
        <p:nvSpPr>
          <p:cNvPr id="17" name="Oval 16"/>
          <p:cNvSpPr/>
          <p:nvPr/>
        </p:nvSpPr>
        <p:spPr>
          <a:xfrm>
            <a:off x="6611112" y="2139696"/>
            <a:ext cx="77724" cy="77724"/>
          </a:xfrm>
          <a:prstGeom prst="ellipse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784848" y="2011680"/>
            <a:ext cx="4626864" cy="8686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0" i="0">
                <a:solidFill>
                  <a:srgbClr val="1F2730"/>
                </a:solidFill>
                <a:latin typeface="Arial"/>
              </a:rPr>
              <a:t>Obtain complete gene-activity models and matched references to finish the RPS15 and APOE same-variant tests.</a:t>
            </a:r>
          </a:p>
        </p:txBody>
      </p:sp>
      <p:sp>
        <p:nvSpPr>
          <p:cNvPr id="19" name="Oval 18"/>
          <p:cNvSpPr/>
          <p:nvPr/>
        </p:nvSpPr>
        <p:spPr>
          <a:xfrm>
            <a:off x="6611112" y="3008376"/>
            <a:ext cx="77724" cy="77724"/>
          </a:xfrm>
          <a:prstGeom prst="ellipse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784848" y="2880360"/>
            <a:ext cx="4626864" cy="8686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0" i="0">
                <a:solidFill>
                  <a:srgbClr val="1F2730"/>
                </a:solidFill>
                <a:latin typeface="Arial"/>
              </a:rPr>
              <a:t>Extend the screen to the unscreened cross-cohort drivers (WDR82, HGSNAT, TTC8, BEX3).</a:t>
            </a:r>
          </a:p>
        </p:txBody>
      </p:sp>
      <p:sp>
        <p:nvSpPr>
          <p:cNvPr id="21" name="Oval 20"/>
          <p:cNvSpPr/>
          <p:nvPr/>
        </p:nvSpPr>
        <p:spPr>
          <a:xfrm>
            <a:off x="6611112" y="3877056"/>
            <a:ext cx="77724" cy="77724"/>
          </a:xfrm>
          <a:prstGeom prst="ellipse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784848" y="3749040"/>
            <a:ext cx="4626864" cy="8686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0" i="0">
                <a:solidFill>
                  <a:srgbClr val="1F2730"/>
                </a:solidFill>
                <a:latin typeface="Arial"/>
              </a:rPr>
              <a:t>Then cover the recurrence leaders and category top-five genes.</a:t>
            </a:r>
          </a:p>
        </p:txBody>
      </p:sp>
      <p:sp>
        <p:nvSpPr>
          <p:cNvPr id="23" name="Oval 22"/>
          <p:cNvSpPr/>
          <p:nvPr/>
        </p:nvSpPr>
        <p:spPr>
          <a:xfrm>
            <a:off x="6611112" y="4745736"/>
            <a:ext cx="77724" cy="77724"/>
          </a:xfrm>
          <a:prstGeom prst="ellipse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784848" y="4617720"/>
            <a:ext cx="4626864" cy="8686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0" i="0">
                <a:solidFill>
                  <a:srgbClr val="1F2730"/>
                </a:solidFill>
                <a:latin typeface="Arial"/>
              </a:rPr>
              <a:t>Add protein-level, rare-variant, and sex/APOE-interaction designs.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6035040"/>
            <a:ext cx="1060704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7E4C9A"/>
                </a:solidFill>
                <a:latin typeface="Arial"/>
              </a:rPr>
              <a:t>Bottom line: genetics already supports a handful of drivers — led by APOE and RPS15 — but most of the driver list is still unscreened.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3150</Words>
  <Application>Microsoft Macintosh PowerPoint</Application>
  <PresentationFormat>Widescreen</PresentationFormat>
  <Paragraphs>290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Human genetic support for the key drivers</dc:title>
  <dc:subject>Public-data genetic evidence for the key drivers from the network key-driver (KDA) analysis</dc:subject>
  <dc:creator>Alzheimer project analysis team</dc:creator>
  <cp:keywords/>
  <dc:description>generated using python-pptx</dc:description>
  <cp:lastModifiedBy>Richard Zhuang</cp:lastModifiedBy>
  <cp:revision>6</cp:revision>
  <dcterms:created xsi:type="dcterms:W3CDTF">2026-08-29T21:59:13Z</dcterms:created>
  <dcterms:modified xsi:type="dcterms:W3CDTF">2026-08-29T22:51:05Z</dcterms:modified>
  <cp:category/>
  <dc:language>en-US</dc:language>
</cp:coreProperties>
</file>