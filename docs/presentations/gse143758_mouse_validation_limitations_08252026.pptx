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a:t>
            </a:r>
          </a:p>
          <a:p>
            <a:r>
              <a:t>Start with the red no-go card, then contrast the two green/blue strengths with the two missing design factors. The dataset is genuine mouse brain single-nucleus RNA-seq and is useful for 5xFAD disease and astrocyte questions. The problem is alignment with the requested APOE-by-sex endpoint.</a:t>
            </a:r>
          </a:p>
          <a:p/>
          <a:p>
            <a:r>
              <a:t>Main takeaway:</a:t>
            </a:r>
          </a:p>
          <a:p>
            <a:r>
              <a:t>GSE143758 is not intrinsically a bad dataset. It is the wrong experimental design for estimating APOE3-versus-APOE4, sex effects, or their interaction with disease. Regional fit is also limited: our intended validation needs cortex/PFC evidence, whereas the principal all-cell atlas is hippocampal.</a:t>
            </a:r>
          </a:p>
          <a:p/>
          <a:p>
            <a:r>
              <a:t>Boundary / transition:</a:t>
            </a:r>
          </a:p>
          <a:p>
            <a:r>
              <a:t>The next slide explains why the apparent size of the GEO series does not repair those missing biological factors.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a:t>
            </a:r>
          </a:p>
          <a:p>
            <a:r>
              <a:t>Walk from left to right. Thirty-seven is the count of GEO sample records for the umbrella series, not thirty-seven independent mice. The principal seven-month male hippocampal atlas contains ten library preparations arising from eight mice, four WT and four 5xFAD, and those mice contribute 54,769 retained nuclei.</a:t>
            </a:r>
          </a:p>
          <a:p/>
          <a:p>
            <a:r>
              <a:t>Main takeaway:</a:t>
            </a:r>
          </a:p>
          <a:p>
            <a:r>
              <a:t>Biological n for the main disease comparison is four mice per genotype. Thousands of nuclei cannot be counted as thousands of independent replicates.</a:t>
            </a:r>
          </a:p>
          <a:p/>
          <a:p>
            <a:r>
              <a:t>Boundary / transition:</a:t>
            </a:r>
          </a:p>
          <a:p>
            <a:r>
              <a:t>Even that valid male disease contrast does not supply the replicated female or human APOE groups needed for the planned interaction. It is also a hippocampal atlas; Slide 4 explains why the smaller PFC component does not provide direct region-matched replication.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a:t>
            </a:r>
          </a:p>
          <a:p>
            <a:r>
              <a:t>The left matrix shows the strongest inferential component: four male WT and four male 5xFAD mice. The reported female validation has one mouse in each disease group, so it can show that a state is observable but cannot estimate female variability or support a reliable disease-by-sex interaction. The right card shows the separate structural problem: there is no human APOE isoform factor.</a:t>
            </a:r>
          </a:p>
          <a:p/>
          <a:p>
            <a:r>
              <a:t>Main takeaway:</a:t>
            </a:r>
          </a:p>
          <a:p>
            <a:r>
              <a:t>Both defining dimensions of the planned validation are unavailable: sex is unreplicated and APOE3/APOE4 is absent.</a:t>
            </a:r>
          </a:p>
          <a:p/>
          <a:p>
            <a:r>
              <a:t>Boundary / transition:</a:t>
            </a:r>
          </a:p>
          <a:p>
            <a:r>
              <a:t>The next slide explains why counting every GEO record together would not create the missing factorial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a:t>
            </a:r>
          </a:p>
          <a:p>
            <a:r>
              <a:t>Start with the regional mismatch. Our intended validation needs cortex or prefrontal cortex, but the main all-cell atlas and the age-course data are hippocampal. The PFC component is astrocyte-focused, with one WT and one 5xFAD mouse at each of two ages, and those mice were also profiled in hippocampus. The 37 GEO records additionally mix ages, repeated preparations, and protocols.</a:t>
            </a:r>
          </a:p>
          <a:p/>
          <a:p>
            <a:r>
              <a:t>Main takeaway:</a:t>
            </a:r>
          </a:p>
          <a:p>
            <a:r>
              <a:t>GSE143758 does not provide a replicated, all-cell PFC disease comparison. Combining all 37 records would also confound biological and technical differences and would not increase independent animal replication.</a:t>
            </a:r>
          </a:p>
          <a:p/>
          <a:p>
            <a:r>
              <a:t>Boundary / transition:</a:t>
            </a:r>
          </a:p>
          <a:p>
            <a:r>
              <a:t>The final slide converts these limitations into a practical decision about what GSE143758 can still contribute.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a:t>
            </a:r>
          </a:p>
          <a:p>
            <a:r>
              <a:t>Use the two columns to separate a defensible auxiliary role from unsupported claims. The dataset can test male 5xFAD-versus-WT disease direction at the mouse level and examine disease-associated astrocyte or age-related programs. Its smaller cortex/PFC component can support descriptive astrocyte concordance, but not broad, independently replicated cortex/PFC validation. It also cannot supply human APOE isoform or replicated sex inference.</a:t>
            </a:r>
          </a:p>
          <a:p/>
          <a:p>
            <a:r>
              <a:t>Main takeaway:</a:t>
            </a:r>
          </a:p>
          <a:p>
            <a:r>
              <a:t>The correct project decision is no-go for the intended APOE-by-sex and cortex/PFC validation endpoint, while preserving a narrower, separately labeled disease-reference use if that changed question is valuable.</a:t>
            </a:r>
          </a:p>
          <a:p/>
          <a:p>
            <a:r>
              <a:t>Boundary / transition:</a:t>
            </a:r>
          </a:p>
          <a:p>
            <a:r>
              <a:t>A report-ready statement is: GSE143758 was considered as a 5xFAD-versus-WT snRNA-seq reference but was not used for the primary validation because human APOE groups, replicated female groups, and a replicated all-cell PFC cohort were unavailable.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53949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50" b="1" i="0">
                <a:solidFill>
                  <a:srgbClr val="D55E00"/>
                </a:solidFill>
                <a:latin typeface="Arial"/>
              </a:rPr>
              <a:t>DATASET-FIT DECISION</a:t>
            </a:r>
          </a:p>
        </p:txBody>
      </p:sp>
      <p:sp>
        <p:nvSpPr>
          <p:cNvPr id="3" name="TextBox 2"/>
          <p:cNvSpPr txBox="1"/>
          <p:nvPr/>
        </p:nvSpPr>
        <p:spPr>
          <a:xfrm>
            <a:off x="502920" y="402336"/>
            <a:ext cx="10927080" cy="65836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500" b="1" i="0">
                <a:solidFill>
                  <a:srgbClr val="0F233D"/>
                </a:solidFill>
                <a:latin typeface="Arial"/>
              </a:rPr>
              <a:t>GSE143758 is valuable, but it cannot validate APOE-by-sex effects</a:t>
            </a:r>
          </a:p>
        </p:txBody>
      </p:sp>
      <p:sp>
        <p:nvSpPr>
          <p:cNvPr id="4" name="TextBox 3"/>
          <p:cNvSpPr txBox="1"/>
          <p:nvPr/>
        </p:nvSpPr>
        <p:spPr>
          <a:xfrm>
            <a:off x="521207" y="1005840"/>
            <a:ext cx="1069848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606C7B"/>
                </a:solidFill>
                <a:latin typeface="Arial"/>
              </a:rPr>
              <a:t>The dataset is useful for narrower 5xFAD questions; the intended factorial endpoint is the mismatch.</a:t>
            </a:r>
          </a:p>
        </p:txBody>
      </p:sp>
      <p:sp>
        <p:nvSpPr>
          <p:cNvPr id="5" name="TextBox 4"/>
          <p:cNvSpPr txBox="1"/>
          <p:nvPr/>
        </p:nvSpPr>
        <p:spPr>
          <a:xfrm>
            <a:off x="11356848" y="192024"/>
            <a:ext cx="329184" cy="182880"/>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06C7B"/>
                </a:solidFill>
                <a:latin typeface="Arial"/>
              </a:rPr>
              <a:t>01</a:t>
            </a:r>
          </a:p>
        </p:txBody>
      </p:sp>
      <p:sp>
        <p:nvSpPr>
          <p:cNvPr id="6" name="Rounded Rectangle 5"/>
          <p:cNvSpPr/>
          <p:nvPr/>
        </p:nvSpPr>
        <p:spPr>
          <a:xfrm>
            <a:off x="640080" y="1481328"/>
            <a:ext cx="3063240" cy="3931920"/>
          </a:xfrm>
          <a:prstGeom prst="roundRect">
            <a:avLst/>
          </a:prstGeom>
          <a:solidFill>
            <a:srgbClr val="FDEBE4"/>
          </a:solidFill>
          <a:ln w="254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2423160" cy="65836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200" b="1" i="0">
                <a:solidFill>
                  <a:srgbClr val="D55E00"/>
                </a:solidFill>
                <a:latin typeface="Arial"/>
              </a:rPr>
              <a:t>NO-GO</a:t>
            </a:r>
          </a:p>
        </p:txBody>
      </p:sp>
      <p:sp>
        <p:nvSpPr>
          <p:cNvPr id="8" name="TextBox 7"/>
          <p:cNvSpPr txBox="1"/>
          <p:nvPr/>
        </p:nvSpPr>
        <p:spPr>
          <a:xfrm>
            <a:off x="932688" y="2633472"/>
            <a:ext cx="2468880" cy="87782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900" b="1" i="0">
                <a:solidFill>
                  <a:srgbClr val="0F233D"/>
                </a:solidFill>
                <a:latin typeface="Arial"/>
              </a:rPr>
              <a:t>for APOE × sex × disease
validation</a:t>
            </a:r>
          </a:p>
        </p:txBody>
      </p:sp>
      <p:sp>
        <p:nvSpPr>
          <p:cNvPr id="9" name="Rectangle 8"/>
          <p:cNvSpPr/>
          <p:nvPr/>
        </p:nvSpPr>
        <p:spPr>
          <a:xfrm>
            <a:off x="960120" y="3867912"/>
            <a:ext cx="2423160" cy="45720"/>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4160520"/>
            <a:ext cx="2468880" cy="62179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400" b="1" i="0">
                <a:solidFill>
                  <a:srgbClr val="232A33"/>
                </a:solidFill>
                <a:latin typeface="Arial"/>
              </a:rPr>
              <a:t>Design mismatch—not a low-quality dataset</a:t>
            </a:r>
          </a:p>
        </p:txBody>
      </p:sp>
      <p:sp>
        <p:nvSpPr>
          <p:cNvPr id="11" name="Rounded Rectangle 10"/>
          <p:cNvSpPr/>
          <p:nvPr/>
        </p:nvSpPr>
        <p:spPr>
          <a:xfrm>
            <a:off x="4069080" y="1481328"/>
            <a:ext cx="3474720" cy="1627632"/>
          </a:xfrm>
          <a:prstGeom prst="roundRect">
            <a:avLst/>
          </a:prstGeom>
          <a:solidFill>
            <a:srgbClr val="E0F4EE"/>
          </a:solidFill>
          <a:ln w="2032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69080" y="1481328"/>
            <a:ext cx="3474720" cy="1188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1737360"/>
            <a:ext cx="841248"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009E73"/>
                </a:solidFill>
                <a:latin typeface="Arial"/>
              </a:rPr>
              <a:t>YES</a:t>
            </a:r>
          </a:p>
        </p:txBody>
      </p:sp>
      <p:sp>
        <p:nvSpPr>
          <p:cNvPr id="14" name="TextBox 13"/>
          <p:cNvSpPr txBox="1"/>
          <p:nvPr/>
        </p:nvSpPr>
        <p:spPr>
          <a:xfrm>
            <a:off x="5148072" y="1700784"/>
            <a:ext cx="2176272" cy="45720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650" b="1" i="0">
                <a:solidFill>
                  <a:srgbClr val="0F233D"/>
                </a:solidFill>
                <a:latin typeface="Arial"/>
              </a:rPr>
              <a:t>AD-related mouse snRNA-seq</a:t>
            </a:r>
          </a:p>
        </p:txBody>
      </p:sp>
      <p:sp>
        <p:nvSpPr>
          <p:cNvPr id="15" name="TextBox 14"/>
          <p:cNvSpPr txBox="1"/>
          <p:nvPr/>
        </p:nvSpPr>
        <p:spPr>
          <a:xfrm>
            <a:off x="4297680" y="2286000"/>
            <a:ext cx="3017520" cy="6400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70" b="0" i="0">
                <a:solidFill>
                  <a:srgbClr val="232A33"/>
                </a:solidFill>
                <a:latin typeface="Arial"/>
              </a:rPr>
              <a:t>5xFAD versus WT with broad brain cell types.</a:t>
            </a:r>
          </a:p>
        </p:txBody>
      </p:sp>
      <p:sp>
        <p:nvSpPr>
          <p:cNvPr id="16" name="Rounded Rectangle 15"/>
          <p:cNvSpPr/>
          <p:nvPr/>
        </p:nvSpPr>
        <p:spPr>
          <a:xfrm>
            <a:off x="7818120" y="1481328"/>
            <a:ext cx="3474720" cy="1627632"/>
          </a:xfrm>
          <a:prstGeom prst="roundRect">
            <a:avLst/>
          </a:prstGeom>
          <a:solidFill>
            <a:srgbClr val="E0EFF8"/>
          </a:solidFill>
          <a:ln w="2032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18120" y="1481328"/>
            <a:ext cx="3474720" cy="1188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1737360"/>
            <a:ext cx="841248"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0072B2"/>
                </a:solidFill>
                <a:latin typeface="Arial"/>
              </a:rPr>
              <a:t>YES</a:t>
            </a:r>
          </a:p>
        </p:txBody>
      </p:sp>
      <p:sp>
        <p:nvSpPr>
          <p:cNvPr id="19" name="TextBox 18"/>
          <p:cNvSpPr txBox="1"/>
          <p:nvPr/>
        </p:nvSpPr>
        <p:spPr>
          <a:xfrm>
            <a:off x="8897112" y="1700784"/>
            <a:ext cx="2176272" cy="45720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650" b="1" i="0">
                <a:solidFill>
                  <a:srgbClr val="0F233D"/>
                </a:solidFill>
                <a:latin typeface="Arial"/>
              </a:rPr>
              <a:t>Disease and cell-state biology</a:t>
            </a:r>
          </a:p>
        </p:txBody>
      </p:sp>
      <p:sp>
        <p:nvSpPr>
          <p:cNvPr id="20" name="TextBox 19"/>
          <p:cNvSpPr txBox="1"/>
          <p:nvPr/>
        </p:nvSpPr>
        <p:spPr>
          <a:xfrm>
            <a:off x="8046720" y="2286000"/>
            <a:ext cx="3017520" cy="6400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70" b="0" i="0">
                <a:solidFill>
                  <a:srgbClr val="232A33"/>
                </a:solidFill>
                <a:latin typeface="Arial"/>
              </a:rPr>
              <a:t>Useful for astrocyte and age questions, mainly in hippocampus.</a:t>
            </a:r>
          </a:p>
        </p:txBody>
      </p:sp>
      <p:sp>
        <p:nvSpPr>
          <p:cNvPr id="21" name="Rounded Rectangle 20"/>
          <p:cNvSpPr/>
          <p:nvPr/>
        </p:nvSpPr>
        <p:spPr>
          <a:xfrm>
            <a:off x="4069080" y="3401568"/>
            <a:ext cx="3474720" cy="1627632"/>
          </a:xfrm>
          <a:prstGeom prst="roundRect">
            <a:avLst/>
          </a:prstGeom>
          <a:solidFill>
            <a:srgbClr val="FDEBE4"/>
          </a:solidFill>
          <a:ln w="2032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069080" y="3401568"/>
            <a:ext cx="3474720" cy="11887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51960" y="3657600"/>
            <a:ext cx="841248"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D55E00"/>
                </a:solidFill>
                <a:latin typeface="Arial"/>
              </a:rPr>
              <a:t>NO</a:t>
            </a:r>
          </a:p>
        </p:txBody>
      </p:sp>
      <p:sp>
        <p:nvSpPr>
          <p:cNvPr id="24" name="TextBox 23"/>
          <p:cNvSpPr txBox="1"/>
          <p:nvPr/>
        </p:nvSpPr>
        <p:spPr>
          <a:xfrm>
            <a:off x="5148072" y="3621024"/>
            <a:ext cx="2176272" cy="45720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650" b="1" i="0">
                <a:solidFill>
                  <a:srgbClr val="0F233D"/>
                </a:solidFill>
                <a:latin typeface="Arial"/>
              </a:rPr>
              <a:t>Human APOE isoforms</a:t>
            </a:r>
          </a:p>
        </p:txBody>
      </p:sp>
      <p:sp>
        <p:nvSpPr>
          <p:cNvPr id="25" name="TextBox 24"/>
          <p:cNvSpPr txBox="1"/>
          <p:nvPr/>
        </p:nvSpPr>
        <p:spPr>
          <a:xfrm>
            <a:off x="4297680" y="4206240"/>
            <a:ext cx="3017520" cy="6400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70" b="0" i="0">
                <a:solidFill>
                  <a:srgbClr val="232A33"/>
                </a:solidFill>
                <a:latin typeface="Arial"/>
              </a:rPr>
              <a:t>No human APOE3 or APOE4 genotype groups.</a:t>
            </a:r>
          </a:p>
        </p:txBody>
      </p:sp>
      <p:sp>
        <p:nvSpPr>
          <p:cNvPr id="26" name="Rounded Rectangle 25"/>
          <p:cNvSpPr/>
          <p:nvPr/>
        </p:nvSpPr>
        <p:spPr>
          <a:xfrm>
            <a:off x="7818120" y="3401568"/>
            <a:ext cx="3474720" cy="1627632"/>
          </a:xfrm>
          <a:prstGeom prst="roundRect">
            <a:avLst/>
          </a:prstGeom>
          <a:solidFill>
            <a:srgbClr val="FFF4D8"/>
          </a:solidFill>
          <a:ln w="2032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18120" y="3401568"/>
            <a:ext cx="3474720" cy="1188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01000" y="3657600"/>
            <a:ext cx="841248" cy="3840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E69F00"/>
                </a:solidFill>
                <a:latin typeface="Arial"/>
              </a:rPr>
              <a:t>NO</a:t>
            </a:r>
          </a:p>
        </p:txBody>
      </p:sp>
      <p:sp>
        <p:nvSpPr>
          <p:cNvPr id="29" name="TextBox 28"/>
          <p:cNvSpPr txBox="1"/>
          <p:nvPr/>
        </p:nvSpPr>
        <p:spPr>
          <a:xfrm>
            <a:off x="8897112" y="3621024"/>
            <a:ext cx="2176272" cy="45720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650" b="1" i="0">
                <a:solidFill>
                  <a:srgbClr val="0F233D"/>
                </a:solidFill>
                <a:latin typeface="Arial"/>
              </a:rPr>
              <a:t>Replicated female groups</a:t>
            </a:r>
          </a:p>
        </p:txBody>
      </p:sp>
      <p:sp>
        <p:nvSpPr>
          <p:cNvPr id="30" name="TextBox 29"/>
          <p:cNvSpPr txBox="1"/>
          <p:nvPr/>
        </p:nvSpPr>
        <p:spPr>
          <a:xfrm>
            <a:off x="8046720" y="4206240"/>
            <a:ext cx="3017520" cy="6400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70" b="0" i="0">
                <a:solidFill>
                  <a:srgbClr val="232A33"/>
                </a:solidFill>
                <a:latin typeface="Arial"/>
              </a:rPr>
              <a:t>Only one reported female WT and one female 5xFAD mouse.</a:t>
            </a:r>
          </a:p>
        </p:txBody>
      </p:sp>
      <p:sp>
        <p:nvSpPr>
          <p:cNvPr id="31" name="Rectangle 30"/>
          <p:cNvSpPr/>
          <p:nvPr/>
        </p:nvSpPr>
        <p:spPr>
          <a:xfrm>
            <a:off x="594360" y="5687568"/>
            <a:ext cx="11000232" cy="53035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4360" y="5687568"/>
            <a:ext cx="91440" cy="53035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779007"/>
            <a:ext cx="10497312" cy="31089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300" b="1" i="0">
                <a:solidFill>
                  <a:srgbClr val="FFFFFF"/>
                </a:solidFill>
                <a:latin typeface="Arial"/>
              </a:rPr>
              <a:t>The APOE × sex × disease interaction is not testable in this design.</a:t>
            </a:r>
          </a:p>
        </p:txBody>
      </p:sp>
      <p:sp>
        <p:nvSpPr>
          <p:cNvPr id="34" name="TextBox 33"/>
          <p:cNvSpPr txBox="1"/>
          <p:nvPr/>
        </p:nvSpPr>
        <p:spPr>
          <a:xfrm>
            <a:off x="502920" y="6611112"/>
            <a:ext cx="11155680"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680" b="0" i="0">
                <a:solidFill>
                  <a:srgbClr val="606C7B"/>
                </a:solidFill>
                <a:latin typeface="Arial"/>
              </a:rPr>
              <a:t>Source: GSE143758 assessment DOCX, Executive summary and Tables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53949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50" b="1" i="0">
                <a:solidFill>
                  <a:srgbClr val="0072B2"/>
                </a:solidFill>
                <a:latin typeface="Arial"/>
              </a:rPr>
              <a:t>BIOLOGICAL REPLICATION</a:t>
            </a:r>
          </a:p>
        </p:txBody>
      </p:sp>
      <p:sp>
        <p:nvSpPr>
          <p:cNvPr id="3" name="TextBox 2"/>
          <p:cNvSpPr txBox="1"/>
          <p:nvPr/>
        </p:nvSpPr>
        <p:spPr>
          <a:xfrm>
            <a:off x="502920" y="402336"/>
            <a:ext cx="10927080" cy="65836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250" b="1" i="0">
                <a:solidFill>
                  <a:srgbClr val="0F233D"/>
                </a:solidFill>
                <a:latin typeface="Arial"/>
              </a:rPr>
              <a:t>Thirty-seven GEO records reduce to eight independent mice in the main comparison</a:t>
            </a:r>
          </a:p>
        </p:txBody>
      </p:sp>
      <p:sp>
        <p:nvSpPr>
          <p:cNvPr id="4" name="TextBox 3"/>
          <p:cNvSpPr txBox="1"/>
          <p:nvPr/>
        </p:nvSpPr>
        <p:spPr>
          <a:xfrm>
            <a:off x="11356848" y="192024"/>
            <a:ext cx="329184" cy="182880"/>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06C7B"/>
                </a:solidFill>
                <a:latin typeface="Arial"/>
              </a:rPr>
              <a:t>02</a:t>
            </a:r>
          </a:p>
        </p:txBody>
      </p:sp>
      <p:cxnSp>
        <p:nvCxnSpPr>
          <p:cNvPr id="5" name="Connector 4"/>
          <p:cNvCxnSpPr/>
          <p:nvPr/>
        </p:nvCxnSpPr>
        <p:spPr>
          <a:xfrm>
            <a:off x="2907792" y="3182112"/>
            <a:ext cx="420623" cy="0"/>
          </a:xfrm>
          <a:prstGeom prst="line">
            <a:avLst/>
          </a:prstGeom>
          <a:ln w="27940">
            <a:solidFill>
              <a:srgbClr val="606C7B"/>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797296" y="3182112"/>
            <a:ext cx="420624" cy="0"/>
          </a:xfrm>
          <a:prstGeom prst="line">
            <a:avLst/>
          </a:prstGeom>
          <a:ln w="27940">
            <a:solidFill>
              <a:srgbClr val="606C7B"/>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686800" y="3182112"/>
            <a:ext cx="420624" cy="0"/>
          </a:xfrm>
          <a:prstGeom prst="line">
            <a:avLst/>
          </a:prstGeom>
          <a:ln w="27940">
            <a:solidFill>
              <a:srgbClr val="606C7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1536192"/>
            <a:ext cx="2359152" cy="3310128"/>
          </a:xfrm>
          <a:prstGeom prst="roundRect">
            <a:avLst/>
          </a:prstGeom>
          <a:solidFill>
            <a:srgbClr val="E0EFF8"/>
          </a:solidFill>
          <a:ln w="2286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47088"/>
            <a:ext cx="2029968" cy="64008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000" b="1" i="0">
                <a:solidFill>
                  <a:srgbClr val="0072B2"/>
                </a:solidFill>
                <a:latin typeface="Arial"/>
              </a:rPr>
              <a:t>37</a:t>
            </a:r>
          </a:p>
        </p:txBody>
      </p:sp>
      <p:sp>
        <p:nvSpPr>
          <p:cNvPr id="10" name="TextBox 9"/>
          <p:cNvSpPr txBox="1"/>
          <p:nvPr/>
        </p:nvSpPr>
        <p:spPr>
          <a:xfrm>
            <a:off x="713232" y="2542032"/>
            <a:ext cx="2029968" cy="65836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700" b="1" i="0">
                <a:solidFill>
                  <a:srgbClr val="0F233D"/>
                </a:solidFill>
                <a:latin typeface="Arial"/>
              </a:rPr>
              <a:t>GSM records</a:t>
            </a:r>
          </a:p>
        </p:txBody>
      </p:sp>
      <p:sp>
        <p:nvSpPr>
          <p:cNvPr id="11" name="TextBox 10"/>
          <p:cNvSpPr txBox="1"/>
          <p:nvPr/>
        </p:nvSpPr>
        <p:spPr>
          <a:xfrm>
            <a:off x="731520" y="3493008"/>
            <a:ext cx="1993392" cy="85953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300" b="0" i="0">
                <a:solidFill>
                  <a:srgbClr val="232A33"/>
                </a:solidFill>
                <a:latin typeface="Arial"/>
              </a:rPr>
              <a:t>Whole GEO series:
ages, regions, and validations</a:t>
            </a:r>
          </a:p>
        </p:txBody>
      </p:sp>
      <p:sp>
        <p:nvSpPr>
          <p:cNvPr id="12" name="Rounded Rectangle 11"/>
          <p:cNvSpPr/>
          <p:nvPr/>
        </p:nvSpPr>
        <p:spPr>
          <a:xfrm>
            <a:off x="3438144" y="1536192"/>
            <a:ext cx="2359152" cy="3310128"/>
          </a:xfrm>
          <a:prstGeom prst="roundRect">
            <a:avLst/>
          </a:prstGeom>
          <a:solidFill>
            <a:srgbClr val="E0F4EE"/>
          </a:solidFill>
          <a:ln w="228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2736" y="1847088"/>
            <a:ext cx="2029968" cy="64008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000" b="1" i="0">
                <a:solidFill>
                  <a:srgbClr val="009E73"/>
                </a:solidFill>
                <a:latin typeface="Arial"/>
              </a:rPr>
              <a:t>10</a:t>
            </a:r>
          </a:p>
        </p:txBody>
      </p:sp>
      <p:sp>
        <p:nvSpPr>
          <p:cNvPr id="14" name="TextBox 13"/>
          <p:cNvSpPr txBox="1"/>
          <p:nvPr/>
        </p:nvSpPr>
        <p:spPr>
          <a:xfrm>
            <a:off x="3602736" y="2542032"/>
            <a:ext cx="2029968" cy="65836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700" b="1" i="0">
                <a:solidFill>
                  <a:srgbClr val="0F233D"/>
                </a:solidFill>
                <a:latin typeface="Arial"/>
              </a:rPr>
              <a:t>sample/library
preparations</a:t>
            </a:r>
          </a:p>
        </p:txBody>
      </p:sp>
      <p:sp>
        <p:nvSpPr>
          <p:cNvPr id="15" name="TextBox 14"/>
          <p:cNvSpPr txBox="1"/>
          <p:nvPr/>
        </p:nvSpPr>
        <p:spPr>
          <a:xfrm>
            <a:off x="3621024" y="3493008"/>
            <a:ext cx="1993392" cy="85953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300" b="0" i="0">
                <a:solidFill>
                  <a:srgbClr val="232A33"/>
                </a:solidFill>
                <a:latin typeface="Arial"/>
              </a:rPr>
              <a:t>Main 7-month hippocampal
atlas—not PFC</a:t>
            </a:r>
          </a:p>
        </p:txBody>
      </p:sp>
      <p:sp>
        <p:nvSpPr>
          <p:cNvPr id="16" name="Rounded Rectangle 15"/>
          <p:cNvSpPr/>
          <p:nvPr/>
        </p:nvSpPr>
        <p:spPr>
          <a:xfrm>
            <a:off x="6327648" y="1536192"/>
            <a:ext cx="2359152" cy="3310128"/>
          </a:xfrm>
          <a:prstGeom prst="roundRect">
            <a:avLst/>
          </a:prstGeom>
          <a:solidFill>
            <a:srgbClr val="FFF4D8"/>
          </a:solidFill>
          <a:ln w="228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847088"/>
            <a:ext cx="2029968" cy="64008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000" b="1" i="0">
                <a:solidFill>
                  <a:srgbClr val="E69F00"/>
                </a:solidFill>
                <a:latin typeface="Arial"/>
              </a:rPr>
              <a:t>8</a:t>
            </a:r>
          </a:p>
        </p:txBody>
      </p:sp>
      <p:sp>
        <p:nvSpPr>
          <p:cNvPr id="18" name="TextBox 17"/>
          <p:cNvSpPr txBox="1"/>
          <p:nvPr/>
        </p:nvSpPr>
        <p:spPr>
          <a:xfrm>
            <a:off x="6492240" y="2542032"/>
            <a:ext cx="2029968" cy="65836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700" b="1" i="0">
                <a:solidFill>
                  <a:srgbClr val="0F233D"/>
                </a:solidFill>
                <a:latin typeface="Arial"/>
              </a:rPr>
              <a:t>independent male mice</a:t>
            </a:r>
          </a:p>
        </p:txBody>
      </p:sp>
      <p:sp>
        <p:nvSpPr>
          <p:cNvPr id="19" name="TextBox 18"/>
          <p:cNvSpPr txBox="1"/>
          <p:nvPr/>
        </p:nvSpPr>
        <p:spPr>
          <a:xfrm>
            <a:off x="6510528" y="3493008"/>
            <a:ext cx="1993392" cy="85953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300" b="0" i="0">
                <a:solidFill>
                  <a:srgbClr val="232A33"/>
                </a:solidFill>
                <a:latin typeface="Arial"/>
              </a:rPr>
              <a:t>4 WT + 4 5xFAD</a:t>
            </a:r>
          </a:p>
        </p:txBody>
      </p:sp>
      <p:sp>
        <p:nvSpPr>
          <p:cNvPr id="20" name="Rounded Rectangle 19"/>
          <p:cNvSpPr/>
          <p:nvPr/>
        </p:nvSpPr>
        <p:spPr>
          <a:xfrm>
            <a:off x="9217152" y="1536192"/>
            <a:ext cx="2359152" cy="3310128"/>
          </a:xfrm>
          <a:prstGeom prst="roundRect">
            <a:avLst/>
          </a:prstGeom>
          <a:solidFill>
            <a:srgbClr val="FDEBE4"/>
          </a:solidFill>
          <a:ln w="228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81744" y="1847088"/>
            <a:ext cx="2029968" cy="64008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000" b="1" i="0">
                <a:solidFill>
                  <a:srgbClr val="D55E00"/>
                </a:solidFill>
                <a:latin typeface="Arial"/>
              </a:rPr>
              <a:t>54,769</a:t>
            </a:r>
          </a:p>
        </p:txBody>
      </p:sp>
      <p:sp>
        <p:nvSpPr>
          <p:cNvPr id="22" name="TextBox 21"/>
          <p:cNvSpPr txBox="1"/>
          <p:nvPr/>
        </p:nvSpPr>
        <p:spPr>
          <a:xfrm>
            <a:off x="9381744" y="2542032"/>
            <a:ext cx="2029968" cy="65836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700" b="1" i="0">
                <a:solidFill>
                  <a:srgbClr val="0F233D"/>
                </a:solidFill>
                <a:latin typeface="Arial"/>
              </a:rPr>
              <a:t>high-quality nuclei</a:t>
            </a:r>
          </a:p>
        </p:txBody>
      </p:sp>
      <p:sp>
        <p:nvSpPr>
          <p:cNvPr id="23" name="TextBox 22"/>
          <p:cNvSpPr txBox="1"/>
          <p:nvPr/>
        </p:nvSpPr>
        <p:spPr>
          <a:xfrm>
            <a:off x="9400032" y="3493008"/>
            <a:ext cx="1993392" cy="85953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300" b="0" i="0">
                <a:solidFill>
                  <a:srgbClr val="232A33"/>
                </a:solidFill>
                <a:latin typeface="Arial"/>
              </a:rPr>
              <a:t>Measurements nested
inside those mice</a:t>
            </a:r>
          </a:p>
        </p:txBody>
      </p:sp>
      <p:sp>
        <p:nvSpPr>
          <p:cNvPr id="24" name="Rectangle 23"/>
          <p:cNvSpPr/>
          <p:nvPr/>
        </p:nvSpPr>
        <p:spPr>
          <a:xfrm>
            <a:off x="594360" y="5413248"/>
            <a:ext cx="11000232" cy="53035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5413248"/>
            <a:ext cx="91440" cy="53035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504688"/>
            <a:ext cx="10497312" cy="31089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300" b="1" i="0">
                <a:solidFill>
                  <a:srgbClr val="FFFFFF"/>
                </a:solidFill>
                <a:latin typeface="Arial"/>
              </a:rPr>
              <a:t>The mouse is the independent unit; extra libraries and nuclei improve measurement, not animal replication.</a:t>
            </a:r>
          </a:p>
        </p:txBody>
      </p:sp>
      <p:sp>
        <p:nvSpPr>
          <p:cNvPr id="27" name="TextBox 26"/>
          <p:cNvSpPr txBox="1"/>
          <p:nvPr/>
        </p:nvSpPr>
        <p:spPr>
          <a:xfrm>
            <a:off x="502920" y="6611112"/>
            <a:ext cx="11155680"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680" b="0" i="0">
                <a:solidFill>
                  <a:srgbClr val="606C7B"/>
                </a:solidFill>
                <a:latin typeface="Arial"/>
              </a:rPr>
              <a:t>Source: GSE143758 assessment DOCX, Figure 1 and Table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53949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50" b="1" i="0">
                <a:solidFill>
                  <a:srgbClr val="D55E00"/>
                </a:solidFill>
                <a:latin typeface="Arial"/>
              </a:rPr>
              <a:t>MISSING DESIGN FACTORS</a:t>
            </a:r>
          </a:p>
        </p:txBody>
      </p:sp>
      <p:sp>
        <p:nvSpPr>
          <p:cNvPr id="3" name="TextBox 2"/>
          <p:cNvSpPr txBox="1"/>
          <p:nvPr/>
        </p:nvSpPr>
        <p:spPr>
          <a:xfrm>
            <a:off x="502920" y="402336"/>
            <a:ext cx="10927080" cy="65836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500" b="1" i="0">
                <a:solidFill>
                  <a:srgbClr val="0F233D"/>
                </a:solidFill>
                <a:latin typeface="Arial"/>
              </a:rPr>
              <a:t>The intended sex and APOE endpoints are not testable</a:t>
            </a:r>
          </a:p>
        </p:txBody>
      </p:sp>
      <p:sp>
        <p:nvSpPr>
          <p:cNvPr id="4" name="TextBox 3"/>
          <p:cNvSpPr txBox="1"/>
          <p:nvPr/>
        </p:nvSpPr>
        <p:spPr>
          <a:xfrm>
            <a:off x="521207" y="1005840"/>
            <a:ext cx="1069848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606C7B"/>
                </a:solidFill>
                <a:latin typeface="Arial"/>
              </a:rPr>
              <a:t>Reported study components are shown below; they do not form a balanced APOE-by-sex experiment.</a:t>
            </a:r>
          </a:p>
        </p:txBody>
      </p:sp>
      <p:sp>
        <p:nvSpPr>
          <p:cNvPr id="5" name="TextBox 4"/>
          <p:cNvSpPr txBox="1"/>
          <p:nvPr/>
        </p:nvSpPr>
        <p:spPr>
          <a:xfrm>
            <a:off x="11356848" y="192024"/>
            <a:ext cx="329184" cy="182880"/>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06C7B"/>
                </a:solidFill>
                <a:latin typeface="Arial"/>
              </a:rPr>
              <a:t>03</a:t>
            </a:r>
          </a:p>
        </p:txBody>
      </p:sp>
      <p:sp>
        <p:nvSpPr>
          <p:cNvPr id="6" name="TextBox 5"/>
          <p:cNvSpPr txBox="1"/>
          <p:nvPr/>
        </p:nvSpPr>
        <p:spPr>
          <a:xfrm>
            <a:off x="2304288" y="1371600"/>
            <a:ext cx="1554480" cy="32918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700" b="1" i="0">
                <a:solidFill>
                  <a:srgbClr val="0F233D"/>
                </a:solidFill>
                <a:latin typeface="Arial"/>
              </a:rPr>
              <a:t>WT</a:t>
            </a:r>
          </a:p>
        </p:txBody>
      </p:sp>
      <p:sp>
        <p:nvSpPr>
          <p:cNvPr id="7" name="TextBox 6"/>
          <p:cNvSpPr txBox="1"/>
          <p:nvPr/>
        </p:nvSpPr>
        <p:spPr>
          <a:xfrm>
            <a:off x="4462272" y="1371600"/>
            <a:ext cx="1554480" cy="32918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700" b="1" i="0">
                <a:solidFill>
                  <a:srgbClr val="0F233D"/>
                </a:solidFill>
                <a:latin typeface="Arial"/>
              </a:rPr>
              <a:t>5xFAD</a:t>
            </a:r>
          </a:p>
        </p:txBody>
      </p:sp>
      <p:sp>
        <p:nvSpPr>
          <p:cNvPr id="8" name="TextBox 7"/>
          <p:cNvSpPr txBox="1"/>
          <p:nvPr/>
        </p:nvSpPr>
        <p:spPr>
          <a:xfrm>
            <a:off x="658368" y="1920240"/>
            <a:ext cx="1371600" cy="69494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600" b="1" i="0">
                <a:solidFill>
                  <a:srgbClr val="0F233D"/>
                </a:solidFill>
                <a:latin typeface="Arial"/>
              </a:rPr>
              <a:t>Male
main atlas</a:t>
            </a:r>
          </a:p>
        </p:txBody>
      </p:sp>
      <p:sp>
        <p:nvSpPr>
          <p:cNvPr id="9" name="TextBox 8"/>
          <p:cNvSpPr txBox="1"/>
          <p:nvPr/>
        </p:nvSpPr>
        <p:spPr>
          <a:xfrm>
            <a:off x="658368" y="3419856"/>
            <a:ext cx="1371600" cy="74980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0F233D"/>
                </a:solidFill>
                <a:latin typeface="Arial"/>
              </a:rPr>
              <a:t>Female
reported validation</a:t>
            </a:r>
          </a:p>
        </p:txBody>
      </p:sp>
      <p:sp>
        <p:nvSpPr>
          <p:cNvPr id="10" name="Rounded Rectangle 9"/>
          <p:cNvSpPr/>
          <p:nvPr/>
        </p:nvSpPr>
        <p:spPr>
          <a:xfrm>
            <a:off x="2103120" y="1810512"/>
            <a:ext cx="1956816" cy="1115568"/>
          </a:xfrm>
          <a:prstGeom prst="roundRect">
            <a:avLst/>
          </a:prstGeom>
          <a:solidFill>
            <a:srgbClr val="E0F4EE"/>
          </a:solidFill>
          <a:ln w="228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40279" y="2029968"/>
            <a:ext cx="1682496" cy="43891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2500" b="1" i="0">
                <a:solidFill>
                  <a:srgbClr val="009E73"/>
                </a:solidFill>
                <a:latin typeface="Arial"/>
              </a:rPr>
              <a:t>n = 4</a:t>
            </a:r>
          </a:p>
        </p:txBody>
      </p:sp>
      <p:sp>
        <p:nvSpPr>
          <p:cNvPr id="12" name="Rounded Rectangle 11"/>
          <p:cNvSpPr/>
          <p:nvPr/>
        </p:nvSpPr>
        <p:spPr>
          <a:xfrm>
            <a:off x="4261104" y="1810512"/>
            <a:ext cx="1956816" cy="1115568"/>
          </a:xfrm>
          <a:prstGeom prst="roundRect">
            <a:avLst/>
          </a:prstGeom>
          <a:solidFill>
            <a:srgbClr val="E0F4EE"/>
          </a:solidFill>
          <a:ln w="228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98264" y="2029968"/>
            <a:ext cx="1682496" cy="43891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2500" b="1" i="0">
                <a:solidFill>
                  <a:srgbClr val="009E73"/>
                </a:solidFill>
                <a:latin typeface="Arial"/>
              </a:rPr>
              <a:t>n = 4</a:t>
            </a:r>
          </a:p>
        </p:txBody>
      </p:sp>
      <p:sp>
        <p:nvSpPr>
          <p:cNvPr id="14" name="Rounded Rectangle 13"/>
          <p:cNvSpPr/>
          <p:nvPr/>
        </p:nvSpPr>
        <p:spPr>
          <a:xfrm>
            <a:off x="2103120" y="3310128"/>
            <a:ext cx="1956816" cy="1115568"/>
          </a:xfrm>
          <a:prstGeom prst="roundRect">
            <a:avLst/>
          </a:prstGeom>
          <a:solidFill>
            <a:srgbClr val="FDEBE4"/>
          </a:solidFill>
          <a:ln w="228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40279" y="3529584"/>
            <a:ext cx="1682496" cy="43891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2500" b="1" i="0">
                <a:solidFill>
                  <a:srgbClr val="D55E00"/>
                </a:solidFill>
                <a:latin typeface="Arial"/>
              </a:rPr>
              <a:t>n = 1</a:t>
            </a:r>
          </a:p>
        </p:txBody>
      </p:sp>
      <p:sp>
        <p:nvSpPr>
          <p:cNvPr id="16" name="Rounded Rectangle 15"/>
          <p:cNvSpPr/>
          <p:nvPr/>
        </p:nvSpPr>
        <p:spPr>
          <a:xfrm>
            <a:off x="4261104" y="3310128"/>
            <a:ext cx="1956816" cy="1115568"/>
          </a:xfrm>
          <a:prstGeom prst="roundRect">
            <a:avLst/>
          </a:prstGeom>
          <a:solidFill>
            <a:srgbClr val="FDEBE4"/>
          </a:solidFill>
          <a:ln w="228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8264" y="3529584"/>
            <a:ext cx="1682496" cy="43891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2500" b="1" i="0">
                <a:solidFill>
                  <a:srgbClr val="D55E00"/>
                </a:solidFill>
                <a:latin typeface="Arial"/>
              </a:rPr>
              <a:t>n = 1</a:t>
            </a:r>
          </a:p>
        </p:txBody>
      </p:sp>
      <p:sp>
        <p:nvSpPr>
          <p:cNvPr id="18" name="TextBox 17"/>
          <p:cNvSpPr txBox="1"/>
          <p:nvPr/>
        </p:nvSpPr>
        <p:spPr>
          <a:xfrm>
            <a:off x="2011680" y="4572000"/>
            <a:ext cx="4315968" cy="34747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00" b="1" i="0">
                <a:solidFill>
                  <a:srgbClr val="D55E00"/>
                </a:solidFill>
                <a:latin typeface="Arial"/>
              </a:rPr>
              <a:t>Qualitative only: no within-group female variance</a:t>
            </a:r>
          </a:p>
        </p:txBody>
      </p:sp>
      <p:sp>
        <p:nvSpPr>
          <p:cNvPr id="19" name="Rounded Rectangle 18"/>
          <p:cNvSpPr/>
          <p:nvPr/>
        </p:nvSpPr>
        <p:spPr>
          <a:xfrm>
            <a:off x="6656832" y="1499616"/>
            <a:ext cx="4892040" cy="3621024"/>
          </a:xfrm>
          <a:prstGeom prst="roundRect">
            <a:avLst/>
          </a:prstGeom>
          <a:solidFill>
            <a:srgbClr val="FFF4D8"/>
          </a:solidFill>
          <a:ln w="228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59168" y="1828800"/>
            <a:ext cx="4096512" cy="47548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2300" b="1" i="0">
                <a:solidFill>
                  <a:srgbClr val="E69F00"/>
                </a:solidFill>
                <a:latin typeface="Arial"/>
              </a:rPr>
              <a:t>APOE factor absent</a:t>
            </a:r>
          </a:p>
        </p:txBody>
      </p:sp>
      <p:sp>
        <p:nvSpPr>
          <p:cNvPr id="21" name="TextBox 20"/>
          <p:cNvSpPr txBox="1"/>
          <p:nvPr/>
        </p:nvSpPr>
        <p:spPr>
          <a:xfrm>
            <a:off x="7059168" y="2542032"/>
            <a:ext cx="4096512" cy="102412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600" b="0" i="0">
                <a:solidFill>
                  <a:srgbClr val="0F233D"/>
                </a:solidFill>
                <a:latin typeface="Arial"/>
              </a:rPr>
              <a:t>The dataset has endogenous mouse Apoe expression,
but no human APOE2, APOE3, or APOE4 genotype groups.</a:t>
            </a:r>
          </a:p>
        </p:txBody>
      </p:sp>
      <p:sp>
        <p:nvSpPr>
          <p:cNvPr id="22" name="TextBox 21"/>
          <p:cNvSpPr txBox="1"/>
          <p:nvPr/>
        </p:nvSpPr>
        <p:spPr>
          <a:xfrm>
            <a:off x="7059168" y="3858768"/>
            <a:ext cx="4096512" cy="74980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232A33"/>
                </a:solidFill>
                <a:latin typeface="Arial"/>
              </a:rPr>
              <a:t>Without an APOE factor, APOE3-vs-APOE4 and
APOE × sex × disease effects cannot be estimated.</a:t>
            </a:r>
          </a:p>
        </p:txBody>
      </p:sp>
      <p:sp>
        <p:nvSpPr>
          <p:cNvPr id="23" name="Rectangle 22"/>
          <p:cNvSpPr/>
          <p:nvPr/>
        </p:nvSpPr>
        <p:spPr>
          <a:xfrm>
            <a:off x="594360" y="5650992"/>
            <a:ext cx="11000232" cy="53035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4360" y="5650992"/>
            <a:ext cx="91440" cy="53035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742431"/>
            <a:ext cx="10497312" cy="31089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300" b="1" i="0">
                <a:solidFill>
                  <a:srgbClr val="FFFFFF"/>
                </a:solidFill>
                <a:latin typeface="Arial"/>
              </a:rPr>
              <a:t>More nuclei cannot replace missing or unreplicated animal groups.</a:t>
            </a:r>
          </a:p>
        </p:txBody>
      </p:sp>
      <p:sp>
        <p:nvSpPr>
          <p:cNvPr id="26" name="TextBox 25"/>
          <p:cNvSpPr txBox="1"/>
          <p:nvPr/>
        </p:nvSpPr>
        <p:spPr>
          <a:xfrm>
            <a:off x="502920" y="6611112"/>
            <a:ext cx="11155680"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680" b="0" i="0">
                <a:solidFill>
                  <a:srgbClr val="606C7B"/>
                </a:solidFill>
                <a:latin typeface="Arial"/>
              </a:rPr>
              <a:t>Source: GSE143758 assessment DOCX, Tables 1–2 and 5–7.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64592"/>
            <a:ext cx="53949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50" b="1" i="0">
                <a:solidFill>
                  <a:srgbClr val="E69F00"/>
                </a:solidFill>
                <a:latin typeface="Arial"/>
              </a:rPr>
              <a:t>REGIONAL FIT AND SERIES STRUCTURE</a:t>
            </a:r>
          </a:p>
        </p:txBody>
      </p:sp>
      <p:sp>
        <p:nvSpPr>
          <p:cNvPr id="3" name="TextBox 2"/>
          <p:cNvSpPr txBox="1"/>
          <p:nvPr/>
        </p:nvSpPr>
        <p:spPr>
          <a:xfrm>
            <a:off x="502920" y="402336"/>
            <a:ext cx="10927080" cy="65836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500" b="1" i="0">
                <a:solidFill>
                  <a:srgbClr val="0F233D"/>
                </a:solidFill>
                <a:latin typeface="Arial"/>
              </a:rPr>
              <a:t>The target is cortex/PFC, but GSE143758 is primarily hippocampal</a:t>
            </a:r>
          </a:p>
        </p:txBody>
      </p:sp>
      <p:sp>
        <p:nvSpPr>
          <p:cNvPr id="4" name="TextBox 3"/>
          <p:cNvSpPr txBox="1"/>
          <p:nvPr/>
        </p:nvSpPr>
        <p:spPr>
          <a:xfrm>
            <a:off x="521207" y="1005840"/>
            <a:ext cx="1069848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606C7B"/>
                </a:solidFill>
                <a:latin typeface="Arial"/>
              </a:rPr>
              <a:t>PFC is a small astrocyte-focused subset; the 37 records also mix ages, repeat preparations, and protocols.</a:t>
            </a:r>
          </a:p>
        </p:txBody>
      </p:sp>
      <p:sp>
        <p:nvSpPr>
          <p:cNvPr id="5" name="TextBox 4"/>
          <p:cNvSpPr txBox="1"/>
          <p:nvPr/>
        </p:nvSpPr>
        <p:spPr>
          <a:xfrm>
            <a:off x="11356848" y="192024"/>
            <a:ext cx="329184" cy="182880"/>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06C7B"/>
                </a:solidFill>
                <a:latin typeface="Arial"/>
              </a:rPr>
              <a:t>04</a:t>
            </a:r>
          </a:p>
        </p:txBody>
      </p:sp>
      <p:sp>
        <p:nvSpPr>
          <p:cNvPr id="6" name="Rounded Rectangle 5"/>
          <p:cNvSpPr/>
          <p:nvPr/>
        </p:nvSpPr>
        <p:spPr>
          <a:xfrm>
            <a:off x="685800" y="1389888"/>
            <a:ext cx="4736592" cy="1097280"/>
          </a:xfrm>
          <a:prstGeom prst="roundRect">
            <a:avLst/>
          </a:prstGeom>
          <a:solidFill>
            <a:srgbClr val="E0EFF8"/>
          </a:solidFill>
          <a:ln w="2286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54480"/>
            <a:ext cx="4187952" cy="2194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50" b="1" i="0">
                <a:solidFill>
                  <a:srgbClr val="0072B2"/>
                </a:solidFill>
                <a:latin typeface="Arial"/>
              </a:rPr>
              <a:t>HUMAN VALIDATION TARGET</a:t>
            </a:r>
          </a:p>
        </p:txBody>
      </p:sp>
      <p:sp>
        <p:nvSpPr>
          <p:cNvPr id="8" name="TextBox 7"/>
          <p:cNvSpPr txBox="1"/>
          <p:nvPr/>
        </p:nvSpPr>
        <p:spPr>
          <a:xfrm>
            <a:off x="960120" y="1828800"/>
            <a:ext cx="4187952" cy="43891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2300" b="1" i="0">
                <a:solidFill>
                  <a:srgbClr val="0F233D"/>
                </a:solidFill>
                <a:latin typeface="Arial"/>
              </a:rPr>
              <a:t>Cortex / PFC</a:t>
            </a:r>
          </a:p>
        </p:txBody>
      </p:sp>
      <p:sp>
        <p:nvSpPr>
          <p:cNvPr id="9" name="TextBox 8"/>
          <p:cNvSpPr txBox="1"/>
          <p:nvPr/>
        </p:nvSpPr>
        <p:spPr>
          <a:xfrm>
            <a:off x="5596128" y="1664208"/>
            <a:ext cx="1005840" cy="51206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000" b="1" i="0">
                <a:solidFill>
                  <a:srgbClr val="D55E00"/>
                </a:solidFill>
                <a:latin typeface="Arial"/>
              </a:rPr>
              <a:t>≠</a:t>
            </a:r>
          </a:p>
        </p:txBody>
      </p:sp>
      <p:sp>
        <p:nvSpPr>
          <p:cNvPr id="10" name="Rounded Rectangle 9"/>
          <p:cNvSpPr/>
          <p:nvPr/>
        </p:nvSpPr>
        <p:spPr>
          <a:xfrm>
            <a:off x="6766560" y="1389888"/>
            <a:ext cx="4736592" cy="1097280"/>
          </a:xfrm>
          <a:prstGeom prst="roundRect">
            <a:avLst/>
          </a:prstGeom>
          <a:solidFill>
            <a:srgbClr val="FFF4D8"/>
          </a:solidFill>
          <a:ln w="228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0" y="1554480"/>
            <a:ext cx="4187952" cy="2194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50" b="1" i="0">
                <a:solidFill>
                  <a:srgbClr val="E69F00"/>
                </a:solidFill>
                <a:latin typeface="Arial"/>
              </a:rPr>
              <a:t>MAIN GSE143758 ALL-CELL ATLAS</a:t>
            </a:r>
          </a:p>
        </p:txBody>
      </p:sp>
      <p:sp>
        <p:nvSpPr>
          <p:cNvPr id="12" name="TextBox 11"/>
          <p:cNvSpPr txBox="1"/>
          <p:nvPr/>
        </p:nvSpPr>
        <p:spPr>
          <a:xfrm>
            <a:off x="7040880" y="1828800"/>
            <a:ext cx="4187952" cy="43891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2200" b="1" i="0">
                <a:solidFill>
                  <a:srgbClr val="0F233D"/>
                </a:solidFill>
                <a:latin typeface="Arial"/>
              </a:rPr>
              <a:t>7-month hippocampus</a:t>
            </a:r>
          </a:p>
        </p:txBody>
      </p:sp>
      <p:sp>
        <p:nvSpPr>
          <p:cNvPr id="13" name="TextBox 12"/>
          <p:cNvSpPr txBox="1"/>
          <p:nvPr/>
        </p:nvSpPr>
        <p:spPr>
          <a:xfrm>
            <a:off x="4160520" y="2633472"/>
            <a:ext cx="3877056" cy="21945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220" b="1" i="0">
                <a:solidFill>
                  <a:srgbClr val="606C7B"/>
                </a:solidFill>
                <a:latin typeface="Arial"/>
              </a:rPr>
              <a:t>The 37-record umbrella also mixes:</a:t>
            </a:r>
          </a:p>
        </p:txBody>
      </p:sp>
      <p:sp>
        <p:nvSpPr>
          <p:cNvPr id="14" name="Rounded Rectangle 13"/>
          <p:cNvSpPr/>
          <p:nvPr/>
        </p:nvSpPr>
        <p:spPr>
          <a:xfrm>
            <a:off x="548640" y="2907792"/>
            <a:ext cx="2359152" cy="1975104"/>
          </a:xfrm>
          <a:prstGeom prst="roundRect">
            <a:avLst/>
          </a:prstGeom>
          <a:solidFill>
            <a:srgbClr val="E0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907792"/>
            <a:ext cx="2359152" cy="1188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163824"/>
            <a:ext cx="2029968" cy="45720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80" b="1" i="0">
                <a:solidFill>
                  <a:srgbClr val="0F233D"/>
                </a:solidFill>
                <a:latin typeface="Arial"/>
              </a:rPr>
              <a:t>Main atlas</a:t>
            </a:r>
          </a:p>
        </p:txBody>
      </p:sp>
      <p:sp>
        <p:nvSpPr>
          <p:cNvPr id="17" name="TextBox 16"/>
          <p:cNvSpPr txBox="1"/>
          <p:nvPr/>
        </p:nvSpPr>
        <p:spPr>
          <a:xfrm>
            <a:off x="731520" y="3803904"/>
            <a:ext cx="1993392" cy="76809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280" b="0" i="0">
                <a:solidFill>
                  <a:srgbClr val="232A33"/>
                </a:solidFill>
                <a:latin typeface="Arial"/>
              </a:rPr>
              <a:t>Broad all-cell analysis
4 WT + 4 5xFAD males</a:t>
            </a:r>
          </a:p>
        </p:txBody>
      </p:sp>
      <p:sp>
        <p:nvSpPr>
          <p:cNvPr id="18" name="Rounded Rectangle 17"/>
          <p:cNvSpPr/>
          <p:nvPr/>
        </p:nvSpPr>
        <p:spPr>
          <a:xfrm>
            <a:off x="3438144" y="2907792"/>
            <a:ext cx="2359152" cy="1975104"/>
          </a:xfrm>
          <a:prstGeom prst="roundRect">
            <a:avLst/>
          </a:prstGeom>
          <a:solidFill>
            <a:srgbClr val="FFF4D8"/>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38144" y="2907792"/>
            <a:ext cx="2359152" cy="1188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2736" y="3163824"/>
            <a:ext cx="2029968" cy="45720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80" b="1" i="0">
                <a:solidFill>
                  <a:srgbClr val="0F233D"/>
                </a:solidFill>
                <a:latin typeface="Arial"/>
              </a:rPr>
              <a:t>PFC subset</a:t>
            </a:r>
          </a:p>
        </p:txBody>
      </p:sp>
      <p:sp>
        <p:nvSpPr>
          <p:cNvPr id="21" name="TextBox 20"/>
          <p:cNvSpPr txBox="1"/>
          <p:nvPr/>
        </p:nvSpPr>
        <p:spPr>
          <a:xfrm>
            <a:off x="3621024" y="3803904"/>
            <a:ext cx="1993392" cy="76809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280" b="0" i="0">
                <a:solidFill>
                  <a:srgbClr val="232A33"/>
                </a:solidFill>
                <a:latin typeface="Arial"/>
              </a:rPr>
              <a:t>7- and 10-month astrocytes
1 WT + 1 5xFAD per age</a:t>
            </a:r>
          </a:p>
        </p:txBody>
      </p:sp>
      <p:sp>
        <p:nvSpPr>
          <p:cNvPr id="22" name="Rounded Rectangle 21"/>
          <p:cNvSpPr/>
          <p:nvPr/>
        </p:nvSpPr>
        <p:spPr>
          <a:xfrm>
            <a:off x="6327648" y="2907792"/>
            <a:ext cx="2359152" cy="1975104"/>
          </a:xfrm>
          <a:prstGeom prst="roundRect">
            <a:avLst/>
          </a:prstGeom>
          <a:solidFill>
            <a:srgbClr val="FDEBE4"/>
          </a:solidFill>
          <a:ln w="1905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27648" y="2907792"/>
            <a:ext cx="2359152" cy="11887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163824"/>
            <a:ext cx="2029968" cy="45720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80" b="1" i="0">
                <a:solidFill>
                  <a:srgbClr val="0F233D"/>
                </a:solidFill>
                <a:latin typeface="Arial"/>
              </a:rPr>
              <a:t>Not independent</a:t>
            </a:r>
          </a:p>
        </p:txBody>
      </p:sp>
      <p:sp>
        <p:nvSpPr>
          <p:cNvPr id="25" name="TextBox 24"/>
          <p:cNvSpPr txBox="1"/>
          <p:nvPr/>
        </p:nvSpPr>
        <p:spPr>
          <a:xfrm>
            <a:off x="6510528" y="3803904"/>
            <a:ext cx="1993392" cy="76809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280" b="0" i="0">
                <a:solidFill>
                  <a:srgbClr val="232A33"/>
                </a:solidFill>
                <a:latin typeface="Arial"/>
              </a:rPr>
              <a:t>Some PFC samples reuse
hippocampus-profiled mice</a:t>
            </a:r>
          </a:p>
        </p:txBody>
      </p:sp>
      <p:sp>
        <p:nvSpPr>
          <p:cNvPr id="26" name="Rounded Rectangle 25"/>
          <p:cNvSpPr/>
          <p:nvPr/>
        </p:nvSpPr>
        <p:spPr>
          <a:xfrm>
            <a:off x="9217152" y="2907792"/>
            <a:ext cx="2359152" cy="1975104"/>
          </a:xfrm>
          <a:prstGeom prst="roundRect">
            <a:avLst/>
          </a:prstGeom>
          <a:solidFill>
            <a:srgbClr val="EFF3F7"/>
          </a:solidFill>
          <a:ln w="19050">
            <a:solidFill>
              <a:srgbClr val="606C7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217152" y="2907792"/>
            <a:ext cx="2359152" cy="118872"/>
          </a:xfrm>
          <a:prstGeom prst="rect">
            <a:avLst/>
          </a:prstGeom>
          <a:solidFill>
            <a:srgbClr val="606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81744" y="3163824"/>
            <a:ext cx="2029968" cy="45720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80" b="1" i="0">
                <a:solidFill>
                  <a:srgbClr val="0F233D"/>
                </a:solidFill>
                <a:latin typeface="Arial"/>
              </a:rPr>
              <a:t>Other heterogeneity</a:t>
            </a:r>
          </a:p>
        </p:txBody>
      </p:sp>
      <p:sp>
        <p:nvSpPr>
          <p:cNvPr id="29" name="TextBox 28"/>
          <p:cNvSpPr txBox="1"/>
          <p:nvPr/>
        </p:nvSpPr>
        <p:spPr>
          <a:xfrm>
            <a:off x="9400032" y="3803904"/>
            <a:ext cx="1993392" cy="76809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280" b="0" i="0">
                <a:solidFill>
                  <a:srgbClr val="232A33"/>
                </a:solidFill>
                <a:latin typeface="Arial"/>
              </a:rPr>
              <a:t>Age, lysis, chemistry,
and batch also vary</a:t>
            </a:r>
          </a:p>
        </p:txBody>
      </p:sp>
      <p:sp>
        <p:nvSpPr>
          <p:cNvPr id="30" name="Rectangle 29"/>
          <p:cNvSpPr/>
          <p:nvPr/>
        </p:nvSpPr>
        <p:spPr>
          <a:xfrm>
            <a:off x="594360" y="5376672"/>
            <a:ext cx="11000232" cy="53035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 y="5376672"/>
            <a:ext cx="91440" cy="53035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468112"/>
            <a:ext cx="10497312" cy="31089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300" b="1" i="0">
                <a:solidFill>
                  <a:srgbClr val="FFFFFF"/>
                </a:solidFill>
                <a:latin typeface="Arial"/>
              </a:rPr>
              <a:t>This supports cross-region concordance—not direct PFC replication of the human result.</a:t>
            </a:r>
          </a:p>
        </p:txBody>
      </p:sp>
      <p:sp>
        <p:nvSpPr>
          <p:cNvPr id="33" name="TextBox 32"/>
          <p:cNvSpPr txBox="1"/>
          <p:nvPr/>
        </p:nvSpPr>
        <p:spPr>
          <a:xfrm>
            <a:off x="502920" y="6611112"/>
            <a:ext cx="11155680"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680" b="0" i="0">
                <a:solidFill>
                  <a:srgbClr val="606C7B"/>
                </a:solidFill>
                <a:latin typeface="Arial"/>
              </a:rPr>
              <a:t>Source: GSE143758 assessment DOCX, Sections 1, 4–6, 8, and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539496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50" b="1" i="0">
                <a:solidFill>
                  <a:srgbClr val="009E73"/>
                </a:solidFill>
                <a:latin typeface="Arial"/>
              </a:rPr>
              <a:t>RECOMMENDATION</a:t>
            </a:r>
          </a:p>
        </p:txBody>
      </p:sp>
      <p:sp>
        <p:nvSpPr>
          <p:cNvPr id="3" name="TextBox 2"/>
          <p:cNvSpPr txBox="1"/>
          <p:nvPr/>
        </p:nvSpPr>
        <p:spPr>
          <a:xfrm>
            <a:off x="502920" y="402336"/>
            <a:ext cx="10927080" cy="658368"/>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250" b="1" i="0">
                <a:solidFill>
                  <a:srgbClr val="0F233D"/>
                </a:solidFill>
                <a:latin typeface="Arial"/>
              </a:rPr>
              <a:t>Use GSE143758 only as an auxiliary 5xFAD disease and cell-state reference</a:t>
            </a:r>
          </a:p>
        </p:txBody>
      </p:sp>
      <p:sp>
        <p:nvSpPr>
          <p:cNvPr id="4" name="TextBox 3"/>
          <p:cNvSpPr txBox="1"/>
          <p:nvPr/>
        </p:nvSpPr>
        <p:spPr>
          <a:xfrm>
            <a:off x="11356848" y="192024"/>
            <a:ext cx="329184" cy="182880"/>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06C7B"/>
                </a:solidFill>
                <a:latin typeface="Arial"/>
              </a:rPr>
              <a:t>05</a:t>
            </a:r>
          </a:p>
        </p:txBody>
      </p:sp>
      <p:sp>
        <p:nvSpPr>
          <p:cNvPr id="5" name="Rounded Rectangle 4"/>
          <p:cNvSpPr/>
          <p:nvPr/>
        </p:nvSpPr>
        <p:spPr>
          <a:xfrm>
            <a:off x="640080" y="1335024"/>
            <a:ext cx="5321808" cy="4160520"/>
          </a:xfrm>
          <a:prstGeom prst="roundRect">
            <a:avLst/>
          </a:prstGeom>
          <a:solidFill>
            <a:srgbClr val="FFFFFF"/>
          </a:solidFill>
          <a:ln w="228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35024"/>
            <a:ext cx="5321808" cy="12801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682496"/>
            <a:ext cx="4681728" cy="45720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2200" b="1" i="0">
                <a:solidFill>
                  <a:srgbClr val="009E73"/>
                </a:solidFill>
                <a:latin typeface="Arial"/>
              </a:rPr>
              <a:t>Defensible auxiliary uses</a:t>
            </a:r>
          </a:p>
        </p:txBody>
      </p:sp>
      <p:sp>
        <p:nvSpPr>
          <p:cNvPr id="8" name="Oval 7"/>
          <p:cNvSpPr/>
          <p:nvPr/>
        </p:nvSpPr>
        <p:spPr>
          <a:xfrm>
            <a:off x="960120" y="2523744"/>
            <a:ext cx="100584" cy="10058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9576" y="2359152"/>
            <a:ext cx="4425696" cy="67665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500" b="0" i="0">
                <a:solidFill>
                  <a:srgbClr val="232A33"/>
                </a:solidFill>
                <a:latin typeface="Arial"/>
              </a:rPr>
              <a:t>Mouse-level 7-month male 5xFAD-versus-WT disease direction</a:t>
            </a:r>
          </a:p>
        </p:txBody>
      </p:sp>
      <p:sp>
        <p:nvSpPr>
          <p:cNvPr id="10" name="Oval 9"/>
          <p:cNvSpPr/>
          <p:nvPr/>
        </p:nvSpPr>
        <p:spPr>
          <a:xfrm>
            <a:off x="960120" y="3200400"/>
            <a:ext cx="100584" cy="10058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9576" y="3035808"/>
            <a:ext cx="4425696" cy="67665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500" b="0" i="0">
                <a:solidFill>
                  <a:srgbClr val="232A33"/>
                </a:solidFill>
                <a:latin typeface="Arial"/>
              </a:rPr>
              <a:t>Disease-associated astrocyte and age-progression questions</a:t>
            </a:r>
          </a:p>
        </p:txBody>
      </p:sp>
      <p:sp>
        <p:nvSpPr>
          <p:cNvPr id="12" name="Oval 11"/>
          <p:cNvSpPr/>
          <p:nvPr/>
        </p:nvSpPr>
        <p:spPr>
          <a:xfrm>
            <a:off x="960120" y="3877056"/>
            <a:ext cx="100584" cy="10058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9576" y="3712464"/>
            <a:ext cx="4425696" cy="67665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500" b="0" i="0">
                <a:solidFill>
                  <a:srgbClr val="232A33"/>
                </a:solidFill>
                <a:latin typeface="Arial"/>
              </a:rPr>
              <a:t>Descriptive cortex/PFC astrocyte concordance</a:t>
            </a:r>
          </a:p>
        </p:txBody>
      </p:sp>
      <p:sp>
        <p:nvSpPr>
          <p:cNvPr id="14" name="Oval 13"/>
          <p:cNvSpPr/>
          <p:nvPr/>
        </p:nvSpPr>
        <p:spPr>
          <a:xfrm>
            <a:off x="960120" y="4553712"/>
            <a:ext cx="100584" cy="10058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9576" y="4389120"/>
            <a:ext cx="4425696" cy="67665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500" b="0" i="0">
                <a:solidFill>
                  <a:srgbClr val="232A33"/>
                </a:solidFill>
                <a:latin typeface="Arial"/>
              </a:rPr>
              <a:t>Pre-specified pathway or module concordance</a:t>
            </a:r>
          </a:p>
        </p:txBody>
      </p:sp>
      <p:sp>
        <p:nvSpPr>
          <p:cNvPr id="16" name="Rounded Rectangle 15"/>
          <p:cNvSpPr/>
          <p:nvPr/>
        </p:nvSpPr>
        <p:spPr>
          <a:xfrm>
            <a:off x="6236208" y="1335024"/>
            <a:ext cx="5321808" cy="4160520"/>
          </a:xfrm>
          <a:prstGeom prst="roundRect">
            <a:avLst/>
          </a:prstGeom>
          <a:solidFill>
            <a:srgbClr val="FFFFFF"/>
          </a:solidFill>
          <a:ln w="228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335024"/>
            <a:ext cx="5321808" cy="12801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47104" y="1682496"/>
            <a:ext cx="4681728" cy="45720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2200" b="1" i="0">
                <a:solidFill>
                  <a:srgbClr val="D55E00"/>
                </a:solidFill>
                <a:latin typeface="Arial"/>
              </a:rPr>
              <a:t>Claims this dataset cannot support</a:t>
            </a:r>
          </a:p>
        </p:txBody>
      </p:sp>
      <p:sp>
        <p:nvSpPr>
          <p:cNvPr id="19" name="Oval 18"/>
          <p:cNvSpPr/>
          <p:nvPr/>
        </p:nvSpPr>
        <p:spPr>
          <a:xfrm>
            <a:off x="6556248" y="2523744"/>
            <a:ext cx="100584" cy="10058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75704" y="2359152"/>
            <a:ext cx="4425696" cy="67665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500" b="0" i="0">
                <a:solidFill>
                  <a:srgbClr val="232A33"/>
                </a:solidFill>
                <a:latin typeface="Arial"/>
              </a:rPr>
              <a:t>Human APOE3-versus-APOE4 effects</a:t>
            </a:r>
          </a:p>
        </p:txBody>
      </p:sp>
      <p:sp>
        <p:nvSpPr>
          <p:cNvPr id="21" name="Oval 20"/>
          <p:cNvSpPr/>
          <p:nvPr/>
        </p:nvSpPr>
        <p:spPr>
          <a:xfrm>
            <a:off x="6556248" y="3200400"/>
            <a:ext cx="100584" cy="10058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75704" y="3035808"/>
            <a:ext cx="4425696" cy="67665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500" b="0" i="0">
                <a:solidFill>
                  <a:srgbClr val="232A33"/>
                </a:solidFill>
                <a:latin typeface="Arial"/>
              </a:rPr>
              <a:t>Reliable female-versus-male effects or interactions</a:t>
            </a:r>
          </a:p>
        </p:txBody>
      </p:sp>
      <p:sp>
        <p:nvSpPr>
          <p:cNvPr id="23" name="Oval 22"/>
          <p:cNvSpPr/>
          <p:nvPr/>
        </p:nvSpPr>
        <p:spPr>
          <a:xfrm>
            <a:off x="6556248" y="3877056"/>
            <a:ext cx="100584" cy="10058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75704" y="3712464"/>
            <a:ext cx="4425696" cy="67665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500" b="0" i="0">
                <a:solidFill>
                  <a:srgbClr val="232A33"/>
                </a:solidFill>
                <a:latin typeface="Arial"/>
              </a:rPr>
              <a:t>APOE × sex × disease inference</a:t>
            </a:r>
          </a:p>
        </p:txBody>
      </p:sp>
      <p:sp>
        <p:nvSpPr>
          <p:cNvPr id="25" name="Oval 24"/>
          <p:cNvSpPr/>
          <p:nvPr/>
        </p:nvSpPr>
        <p:spPr>
          <a:xfrm>
            <a:off x="6556248" y="4553712"/>
            <a:ext cx="100584" cy="10058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75704" y="4389120"/>
            <a:ext cx="4425696" cy="67665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500" b="0" i="0">
                <a:solidFill>
                  <a:srgbClr val="232A33"/>
                </a:solidFill>
                <a:latin typeface="Arial"/>
              </a:rPr>
              <a:t>Replicated, all-cell cortex/PFC validation</a:t>
            </a:r>
          </a:p>
        </p:txBody>
      </p:sp>
      <p:sp>
        <p:nvSpPr>
          <p:cNvPr id="27" name="Rectangle 26"/>
          <p:cNvSpPr/>
          <p:nvPr/>
        </p:nvSpPr>
        <p:spPr>
          <a:xfrm>
            <a:off x="594360" y="5687568"/>
            <a:ext cx="11000232" cy="530352"/>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4360" y="5687568"/>
            <a:ext cx="91440" cy="53035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779007"/>
            <a:ext cx="10497312" cy="31089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300" b="1" i="0">
                <a:solidFill>
                  <a:srgbClr val="FFFFFF"/>
                </a:solidFill>
                <a:latin typeface="Arial"/>
              </a:rPr>
              <a:t>Decision: no-go for the original endpoint and direct PFC replication; cross-region analysis only.</a:t>
            </a:r>
          </a:p>
        </p:txBody>
      </p:sp>
      <p:sp>
        <p:nvSpPr>
          <p:cNvPr id="30" name="TextBox 29"/>
          <p:cNvSpPr txBox="1"/>
          <p:nvPr/>
        </p:nvSpPr>
        <p:spPr>
          <a:xfrm>
            <a:off x="502920" y="6611112"/>
            <a:ext cx="11155680" cy="14630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680" b="0" i="0">
                <a:solidFill>
                  <a:srgbClr val="606C7B"/>
                </a:solidFill>
                <a:latin typeface="Arial"/>
              </a:rPr>
              <a:t>Source: GSE143758 assessment DOCX, Sections 8, 12, and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GSE143758 Mouse Validation Dataset-Fit Assessment</dc:title>
  <dc:subject>Why GSE143758 cannot answer the intended APOE-by-sex and cortex/PFC validation question</dc:subject>
  <dc:creator>Alzheimer project analysis team</dc:creator>
  <cp:keywords>GSE143758, 5xFAD, snRNA-seq, APOE, sex, cortex, PFC, mouse validation, dataset fit</cp:keywords>
  <dc:description>Generated from docs/validation_mouse/GSE143758_dataset_does_not_work.docx. This is a dataset-fit assessment, not a new analysis of expression data. Source DOCX SHA-256: 5bfdc1563178dba3aa33cb54e1b325728189890ffef02afc8350041311c6934d.</dc:description>
  <cp:lastModifiedBy>Steve Canny</cp:lastModifiedBy>
  <cp:revision>1</cp:revision>
  <dcterms:created xsi:type="dcterms:W3CDTF">2013-01-27T09:14:16Z</dcterms:created>
  <dcterms:modified xsi:type="dcterms:W3CDTF">2013-01-27T09:15:58Z</dcterms:modified>
  <cp:category/>
</cp:coreProperties>
</file>