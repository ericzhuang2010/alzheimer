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78" r:id="rId14"/>
    <p:sldId id="268" r:id="rId15"/>
    <p:sldId id="269" r:id="rId16"/>
    <p:sldId id="270" r:id="rId17"/>
    <p:sldId id="279" r:id="rId18"/>
    <p:sldId id="280" r:id="rId19"/>
    <p:sldId id="281" r:id="rId20"/>
    <p:sldId id="283" r:id="rId21"/>
    <p:sldId id="286" r:id="rId22"/>
    <p:sldId id="287" r:id="rId23"/>
    <p:sldId id="274" r:id="rId24"/>
    <p:sldId id="289" r:id="rId25"/>
    <p:sldId id="275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SAfA/bZRh01HGpfo2Hc6pPQlt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EB3CE-355C-4A67-908B-6C5B1D7C8994}" v="3" dt="2026-07-24T01:35:26.910"/>
    <p1510:client id="{813BC97C-71E1-4ED6-B557-F6749FA80307}" v="24" dt="2026-07-23T23:37:43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51" autoAdjust="0"/>
  </p:normalViewPr>
  <p:slideViewPr>
    <p:cSldViewPr snapToGrid="0">
      <p:cViewPr>
        <p:scale>
          <a:sx n="170" d="100"/>
          <a:sy n="170" d="100"/>
        </p:scale>
        <p:origin x="120" y="-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579d1ed1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3f579d1ed11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f579d1ed11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9E14936F-B33B-A64A-5EA9-EB845BC8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579d1ed11_3_0:notes">
            <a:extLst>
              <a:ext uri="{FF2B5EF4-FFF2-40B4-BE49-F238E27FC236}">
                <a16:creationId xmlns:a16="http://schemas.microsoft.com/office/drawing/2014/main" id="{DE63EC07-9A66-309F-A44B-77450B95F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579d1ed11_3_0:notes">
            <a:extLst>
              <a:ext uri="{FF2B5EF4-FFF2-40B4-BE49-F238E27FC236}">
                <a16:creationId xmlns:a16="http://schemas.microsoft.com/office/drawing/2014/main" id="{B8194B0A-C378-62BA-F8FD-7D6456AE8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f579d1ed11_3_0:notes">
            <a:extLst>
              <a:ext uri="{FF2B5EF4-FFF2-40B4-BE49-F238E27FC236}">
                <a16:creationId xmlns:a16="http://schemas.microsoft.com/office/drawing/2014/main" id="{D9817DB9-9F2D-96DC-BDA9-D01B962EA5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6523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29629165-8DDF-3D7D-F300-F9D40859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579d1ed11_3_0:notes">
            <a:extLst>
              <a:ext uri="{FF2B5EF4-FFF2-40B4-BE49-F238E27FC236}">
                <a16:creationId xmlns:a16="http://schemas.microsoft.com/office/drawing/2014/main" id="{9F18A660-5FCA-E90E-6B92-1FF874062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579d1ed11_3_0:notes">
            <a:extLst>
              <a:ext uri="{FF2B5EF4-FFF2-40B4-BE49-F238E27FC236}">
                <a16:creationId xmlns:a16="http://schemas.microsoft.com/office/drawing/2014/main" id="{AD5BE68B-EEAD-D646-06C4-4AEE69246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f579d1ed11_3_0:notes">
            <a:extLst>
              <a:ext uri="{FF2B5EF4-FFF2-40B4-BE49-F238E27FC236}">
                <a16:creationId xmlns:a16="http://schemas.microsoft.com/office/drawing/2014/main" id="{3D093665-8D09-70DE-0B95-6AC4772E2D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3364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579d1ed11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579d1ed11_3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f579d1ed11_3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579d1ed11_3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579d1ed11_3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f579d1ed11_3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579d1ed11_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579d1ed11_3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f579d1ed11_3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FF570F26-B39E-D763-AD92-46272835F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579d1ed11_1_31:notes">
            <a:extLst>
              <a:ext uri="{FF2B5EF4-FFF2-40B4-BE49-F238E27FC236}">
                <a16:creationId xmlns:a16="http://schemas.microsoft.com/office/drawing/2014/main" id="{2680CAEA-55B2-CD1F-3BB4-AA6CF2AC8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579d1ed11_1_31:notes">
            <a:extLst>
              <a:ext uri="{FF2B5EF4-FFF2-40B4-BE49-F238E27FC236}">
                <a16:creationId xmlns:a16="http://schemas.microsoft.com/office/drawing/2014/main" id="{FE4524F8-0AF6-B556-BE62-751FD191D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f579d1ed11_1_31:notes">
            <a:extLst>
              <a:ext uri="{FF2B5EF4-FFF2-40B4-BE49-F238E27FC236}">
                <a16:creationId xmlns:a16="http://schemas.microsoft.com/office/drawing/2014/main" id="{451D34DA-9078-B8CC-6423-6701D0562A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7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88B5B70A-5DB5-3466-FA87-1259EDD9B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579d1ed11_1_31:notes">
            <a:extLst>
              <a:ext uri="{FF2B5EF4-FFF2-40B4-BE49-F238E27FC236}">
                <a16:creationId xmlns:a16="http://schemas.microsoft.com/office/drawing/2014/main" id="{EC84E1D7-1DD1-60E8-EC14-5953A9466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579d1ed11_1_31:notes">
            <a:extLst>
              <a:ext uri="{FF2B5EF4-FFF2-40B4-BE49-F238E27FC236}">
                <a16:creationId xmlns:a16="http://schemas.microsoft.com/office/drawing/2014/main" id="{03EB7DBA-AE19-3132-1661-152416ED2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f579d1ed11_1_31:notes">
            <a:extLst>
              <a:ext uri="{FF2B5EF4-FFF2-40B4-BE49-F238E27FC236}">
                <a16:creationId xmlns:a16="http://schemas.microsoft.com/office/drawing/2014/main" id="{8C84C1C8-C062-0774-4C72-2F779CF523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8532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F3E2722C-FB45-21C7-88B4-F795FA46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579d1ed11_1_31:notes">
            <a:extLst>
              <a:ext uri="{FF2B5EF4-FFF2-40B4-BE49-F238E27FC236}">
                <a16:creationId xmlns:a16="http://schemas.microsoft.com/office/drawing/2014/main" id="{039D52C4-8B8F-5948-4849-79BAEDC645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579d1ed11_1_31:notes">
            <a:extLst>
              <a:ext uri="{FF2B5EF4-FFF2-40B4-BE49-F238E27FC236}">
                <a16:creationId xmlns:a16="http://schemas.microsoft.com/office/drawing/2014/main" id="{15C26481-F85D-129D-CCD2-CD2A21CE0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f579d1ed11_1_31:notes">
            <a:extLst>
              <a:ext uri="{FF2B5EF4-FFF2-40B4-BE49-F238E27FC236}">
                <a16:creationId xmlns:a16="http://schemas.microsoft.com/office/drawing/2014/main" id="{B77D38F8-CCE6-515D-055A-C3AA36A0DC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3480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D4346064-BA4C-CDD5-CF0C-210482D0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579d1ed11_1_31:notes">
            <a:extLst>
              <a:ext uri="{FF2B5EF4-FFF2-40B4-BE49-F238E27FC236}">
                <a16:creationId xmlns:a16="http://schemas.microsoft.com/office/drawing/2014/main" id="{489D78AD-A2DF-6B4F-2136-F53795592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579d1ed11_1_31:notes">
            <a:extLst>
              <a:ext uri="{FF2B5EF4-FFF2-40B4-BE49-F238E27FC236}">
                <a16:creationId xmlns:a16="http://schemas.microsoft.com/office/drawing/2014/main" id="{E64A7AA9-EE5C-31ED-4FD3-BE790BC62E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f579d1ed11_1_31:notes">
            <a:extLst>
              <a:ext uri="{FF2B5EF4-FFF2-40B4-BE49-F238E27FC236}">
                <a16:creationId xmlns:a16="http://schemas.microsoft.com/office/drawing/2014/main" id="{938394D7-1DE7-07D2-AEC5-17A27D4C9D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1583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579d1ed11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f579d1ed11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3f579d1ed11_1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0C6B1DF8-C791-9D98-2D92-D2C79AA1A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579d1ed11_1_31:notes">
            <a:extLst>
              <a:ext uri="{FF2B5EF4-FFF2-40B4-BE49-F238E27FC236}">
                <a16:creationId xmlns:a16="http://schemas.microsoft.com/office/drawing/2014/main" id="{9ACD632F-F05F-5CFA-5D85-22B4D6075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579d1ed11_1_31:notes">
            <a:extLst>
              <a:ext uri="{FF2B5EF4-FFF2-40B4-BE49-F238E27FC236}">
                <a16:creationId xmlns:a16="http://schemas.microsoft.com/office/drawing/2014/main" id="{5E77777F-668C-DE18-55EE-A06E3F86B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f579d1ed11_1_31:notes">
            <a:extLst>
              <a:ext uri="{FF2B5EF4-FFF2-40B4-BE49-F238E27FC236}">
                <a16:creationId xmlns:a16="http://schemas.microsoft.com/office/drawing/2014/main" id="{EEAF358C-F655-B503-E60A-01E41C2F0A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016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3" descr="Droplets-HD-Title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3"/>
          <p:cNvSpPr txBox="1"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5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>
            <a:spLocks noGrp="1"/>
          </p:cNvSpPr>
          <p:nvPr>
            <p:ph type="pic" idx="2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6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1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2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7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1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8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9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9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sz="26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3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sz="26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4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0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0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2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2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3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3"/>
          <p:cNvSpPr txBox="1"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2" name="Google Shape;92;p23"/>
          <p:cNvSpPr txBox="1">
            <a:spLocks noGrp="1"/>
          </p:cNvSpPr>
          <p:nvPr>
            <p:ph type="body" idx="1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4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4"/>
          <p:cNvSpPr txBox="1"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body" idx="1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5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body" idx="2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5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12" name="Google Shape;112;p25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6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6"/>
          <p:cNvSpPr txBox="1"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body" idx="1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7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body" idx="3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body" idx="4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7" name="Google Shape;127;p27"/>
          <p:cNvSpPr txBox="1">
            <a:spLocks noGrp="1"/>
          </p:cNvSpPr>
          <p:nvPr>
            <p:ph type="body" idx="5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body" idx="6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8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 txBox="1"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6" name="Google Shape;136;p28"/>
          <p:cNvSpPr>
            <a:spLocks noGrp="1"/>
          </p:cNvSpPr>
          <p:nvPr>
            <p:ph type="pic" idx="2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7" name="Google Shape;137;p28"/>
          <p:cNvSpPr txBox="1">
            <a:spLocks noGrp="1"/>
          </p:cNvSpPr>
          <p:nvPr>
            <p:ph type="body" idx="3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body" idx="4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" name="Google Shape;139;p28"/>
          <p:cNvSpPr>
            <a:spLocks noGrp="1"/>
          </p:cNvSpPr>
          <p:nvPr>
            <p:ph type="pic" idx="5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0" name="Google Shape;140;p28"/>
          <p:cNvSpPr txBox="1">
            <a:spLocks noGrp="1"/>
          </p:cNvSpPr>
          <p:nvPr>
            <p:ph type="body" idx="6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body" idx="7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28"/>
          <p:cNvSpPr>
            <a:spLocks noGrp="1"/>
          </p:cNvSpPr>
          <p:nvPr>
            <p:ph type="pic" idx="8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3" name="Google Shape;143;p28"/>
          <p:cNvSpPr txBox="1">
            <a:spLocks noGrp="1"/>
          </p:cNvSpPr>
          <p:nvPr>
            <p:ph type="body" idx="9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9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body" idx="1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0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body" idx="1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579d1ed11_0_6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g3f579d1ed11_0_6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0200"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1750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g3f579d1ed11_0_6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 descr="\\DROBO-FS\QuickDrops\JB\PPTX NG\Droplets\LightingOverlay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2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K6yCfam_YlAVahgRYXq79aZ5dxnhDEE/view?usp=drive_link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7275961" y="-2"/>
            <a:ext cx="81313" cy="6858002"/>
          </a:xfrm>
          <a:prstGeom prst="rect">
            <a:avLst/>
          </a:prstGeom>
          <a:gradFill>
            <a:gsLst>
              <a:gs pos="0">
                <a:srgbClr val="BBBBBB"/>
              </a:gs>
              <a:gs pos="7000">
                <a:srgbClr val="8A8A8A"/>
              </a:gs>
              <a:gs pos="15928">
                <a:srgbClr val="B5B5B5"/>
              </a:gs>
              <a:gs pos="44260">
                <a:srgbClr val="D5D5D5"/>
              </a:gs>
              <a:gs pos="50447">
                <a:srgbClr val="E6E6E6"/>
              </a:gs>
              <a:gs pos="60159">
                <a:srgbClr val="D5D5D5"/>
              </a:gs>
              <a:gs pos="84000">
                <a:srgbClr val="B5B5B5"/>
              </a:gs>
              <a:gs pos="93000">
                <a:srgbClr val="8A8A8A"/>
              </a:gs>
              <a:gs pos="100000">
                <a:srgbClr val="BBBBB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2" name="Google Shape;172;p1" descr="Petri Dish"/>
          <p:cNvPicPr preferRelativeResize="0"/>
          <p:nvPr/>
        </p:nvPicPr>
        <p:blipFill rotWithShape="1">
          <a:blip r:embed="rId3">
            <a:alphaModFix/>
          </a:blip>
          <a:srcRect l="3"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"/>
          <p:cNvSpPr txBox="1">
            <a:spLocks noGrp="1"/>
          </p:cNvSpPr>
          <p:nvPr>
            <p:ph type="ctrTitle"/>
          </p:nvPr>
        </p:nvSpPr>
        <p:spPr>
          <a:xfrm>
            <a:off x="981075" y="1358901"/>
            <a:ext cx="5280026" cy="2730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>
                <a:latin typeface="Arial"/>
                <a:ea typeface="Arial"/>
                <a:cs typeface="Arial"/>
                <a:sym typeface="Arial"/>
              </a:rPr>
              <a:t>MITOCHONDRIAL GENE STUDY WORKFLOW AND RESULTS</a:t>
            </a:r>
            <a:endParaRPr/>
          </a:p>
        </p:txBody>
      </p:sp>
      <p:sp>
        <p:nvSpPr>
          <p:cNvPr id="175" name="Google Shape;175;p1"/>
          <p:cNvSpPr txBox="1">
            <a:spLocks noGrp="1"/>
          </p:cNvSpPr>
          <p:nvPr>
            <p:ph type="subTitle" idx="1"/>
          </p:nvPr>
        </p:nvSpPr>
        <p:spPr>
          <a:xfrm>
            <a:off x="1120148" y="4165600"/>
            <a:ext cx="5140954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US"/>
              <a:t>ERIC ZHUANG 2026-07-20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/>
          <p:nvPr/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0" y="0"/>
            <a:ext cx="4059935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00" scaled="0"/>
          </a:gradFill>
          <a:ln>
            <a:noFill/>
          </a:ln>
          <a:effectLst>
            <a:outerShdw blurRad="50800" dist="12700" algn="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3" name="Google Shape;183;p2"/>
          <p:cNvSpPr txBox="1"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Imported Data</a:t>
            </a:r>
            <a:endParaRPr sz="4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"/>
          <p:cNvPicPr preferRelativeResize="0"/>
          <p:nvPr/>
        </p:nvPicPr>
        <p:blipFill rotWithShape="1">
          <a:blip r:embed="rId3">
            <a:alphaModFix/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"/>
          <p:cNvPicPr preferRelativeResize="0"/>
          <p:nvPr/>
        </p:nvPicPr>
        <p:blipFill rotWithShape="1">
          <a:blip r:embed="rId4">
            <a:alphaModFix/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2"/>
          <p:cNvGrpSpPr/>
          <p:nvPr/>
        </p:nvGrpSpPr>
        <p:grpSpPr>
          <a:xfrm>
            <a:off x="4059925" y="0"/>
            <a:ext cx="8132329" cy="6312709"/>
            <a:chOff x="0" y="562"/>
            <a:chExt cx="6683374" cy="4605800"/>
          </a:xfrm>
        </p:grpSpPr>
        <p:cxnSp>
          <p:nvCxnSpPr>
            <p:cNvPr id="187" name="Google Shape;187;p2"/>
            <p:cNvCxnSpPr/>
            <p:nvPr/>
          </p:nvCxnSpPr>
          <p:spPr>
            <a:xfrm>
              <a:off x="0" y="562"/>
              <a:ext cx="6683374" cy="0"/>
            </a:xfrm>
            <a:prstGeom prst="straightConnector1">
              <a:avLst/>
            </a:prstGeom>
            <a:gradFill>
              <a:gsLst>
                <a:gs pos="0">
                  <a:srgbClr val="73D3BB"/>
                </a:gs>
                <a:gs pos="50000">
                  <a:srgbClr val="51CBAF"/>
                </a:gs>
                <a:gs pos="100000">
                  <a:srgbClr val="31B89B"/>
                </a:gs>
              </a:gsLst>
              <a:lin ang="5400000" scaled="0"/>
            </a:gradFill>
            <a:ln w="11225" cap="flat" cmpd="sng">
              <a:solidFill>
                <a:srgbClr val="49CAA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9810" dist="29905" dir="5400000" rotWithShape="0">
                <a:srgbClr val="000000">
                  <a:alpha val="27843"/>
                </a:srgbClr>
              </a:outerShdw>
            </a:effectLst>
          </p:spPr>
        </p:cxnSp>
        <p:sp>
          <p:nvSpPr>
            <p:cNvPr id="188" name="Google Shape;188;p2"/>
            <p:cNvSpPr/>
            <p:nvPr/>
          </p:nvSpPr>
          <p:spPr>
            <a:xfrm>
              <a:off x="0" y="562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50" tIns="107650" rIns="107650" bIns="107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562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775" tIns="62775" rIns="62775" bIns="627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ROSMAP_clinical.csv: </a:t>
              </a:r>
              <a:endParaRPr sz="1648"/>
            </a:p>
            <a:p>
              <a:pPr marL="0" marR="0" lvl="0" indent="0" algn="l" rtl="0">
                <a:lnSpc>
                  <a:spcPct val="90000"/>
                </a:lnSpc>
                <a:spcBef>
                  <a:spcPts val="577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         Information on patients (cognitive function, sex, APOE) Atoms</a:t>
              </a:r>
              <a:endParaRPr sz="1648"/>
            </a:p>
          </p:txBody>
        </p:sp>
        <p:cxnSp>
          <p:nvCxnSpPr>
            <p:cNvPr id="190" name="Google Shape;190;p2"/>
            <p:cNvCxnSpPr/>
            <p:nvPr/>
          </p:nvCxnSpPr>
          <p:spPr>
            <a:xfrm>
              <a:off x="0" y="658533"/>
              <a:ext cx="6683374" cy="0"/>
            </a:xfrm>
            <a:prstGeom prst="straightConnector1">
              <a:avLst/>
            </a:prstGeom>
            <a:gradFill>
              <a:gsLst>
                <a:gs pos="0">
                  <a:srgbClr val="74D1A6"/>
                </a:gs>
                <a:gs pos="50000">
                  <a:srgbClr val="54C895"/>
                </a:gs>
                <a:gs pos="100000">
                  <a:srgbClr val="35B67E"/>
                </a:gs>
              </a:gsLst>
              <a:lin ang="5400000" scaled="0"/>
            </a:gradFill>
            <a:ln w="11225" cap="flat" cmpd="sng">
              <a:solidFill>
                <a:srgbClr val="4BC89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9810" dist="29905" dir="5400000" rotWithShape="0">
                <a:srgbClr val="000000">
                  <a:alpha val="27843"/>
                </a:srgbClr>
              </a:outerShdw>
            </a:effectLst>
          </p:spPr>
        </p:cxnSp>
        <p:sp>
          <p:nvSpPr>
            <p:cNvPr id="191" name="Google Shape;191;p2"/>
            <p:cNvSpPr/>
            <p:nvPr/>
          </p:nvSpPr>
          <p:spPr>
            <a:xfrm>
              <a:off x="0" y="658533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50" tIns="107650" rIns="107650" bIns="107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0" y="658533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775" tIns="62775" rIns="62775" bIns="627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Cell_meta_data.tsv (latest version): </a:t>
              </a:r>
              <a:endParaRPr sz="1648"/>
            </a:p>
            <a:p>
              <a:pPr marL="0" marR="0" lvl="0" indent="0" algn="l" rtl="0">
                <a:lnSpc>
                  <a:spcPct val="90000"/>
                </a:lnSpc>
                <a:spcBef>
                  <a:spcPts val="577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         Cell level information; each cell has a barcode, sample/patient information, cell type</a:t>
              </a:r>
              <a:endParaRPr sz="1648"/>
            </a:p>
          </p:txBody>
        </p:sp>
        <p:cxnSp>
          <p:nvCxnSpPr>
            <p:cNvPr id="193" name="Google Shape;193;p2"/>
            <p:cNvCxnSpPr/>
            <p:nvPr/>
          </p:nvCxnSpPr>
          <p:spPr>
            <a:xfrm>
              <a:off x="0" y="1316505"/>
              <a:ext cx="6683374" cy="0"/>
            </a:xfrm>
            <a:prstGeom prst="straightConnector1">
              <a:avLst/>
            </a:prstGeom>
            <a:gradFill>
              <a:gsLst>
                <a:gs pos="0">
                  <a:srgbClr val="75CF93"/>
                </a:gs>
                <a:gs pos="50000">
                  <a:srgbClr val="55C57D"/>
                </a:gs>
                <a:gs pos="100000">
                  <a:srgbClr val="37B465"/>
                </a:gs>
              </a:gsLst>
              <a:lin ang="5400000" scaled="0"/>
            </a:gradFill>
            <a:ln w="11225" cap="flat" cmpd="sng">
              <a:solidFill>
                <a:srgbClr val="4DC679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9810" dist="29905" dir="5400000" rotWithShape="0">
                <a:srgbClr val="000000">
                  <a:alpha val="27843"/>
                </a:srgbClr>
              </a:outerShdw>
            </a:effectLst>
          </p:spPr>
        </p:cxnSp>
        <p:sp>
          <p:nvSpPr>
            <p:cNvPr id="194" name="Google Shape;194;p2"/>
            <p:cNvSpPr/>
            <p:nvPr/>
          </p:nvSpPr>
          <p:spPr>
            <a:xfrm>
              <a:off x="0" y="1316505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50" tIns="107650" rIns="107650" bIns="107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0" y="1316505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775" tIns="62775" rIns="62775" bIns="627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endParaRPr sz="1648">
                <a:solidFill>
                  <a:schemeClr val="dk2"/>
                </a:solidFill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Seurat normalization tools</a:t>
              </a:r>
              <a:endParaRPr sz="1648"/>
            </a:p>
          </p:txBody>
        </p:sp>
        <p:cxnSp>
          <p:nvCxnSpPr>
            <p:cNvPr id="196" name="Google Shape;196;p2"/>
            <p:cNvCxnSpPr/>
            <p:nvPr/>
          </p:nvCxnSpPr>
          <p:spPr>
            <a:xfrm>
              <a:off x="0" y="1974476"/>
              <a:ext cx="6683374" cy="0"/>
            </a:xfrm>
            <a:prstGeom prst="straightConnector1">
              <a:avLst/>
            </a:prstGeom>
            <a:gradFill>
              <a:gsLst>
                <a:gs pos="0">
                  <a:srgbClr val="76CE84"/>
                </a:gs>
                <a:gs pos="50000">
                  <a:srgbClr val="56C569"/>
                </a:gs>
                <a:gs pos="100000">
                  <a:srgbClr val="38B34E"/>
                </a:gs>
              </a:gsLst>
              <a:lin ang="5400000" scaled="0"/>
            </a:gradFill>
            <a:ln w="11225" cap="flat" cmpd="sng">
              <a:solidFill>
                <a:srgbClr val="4FC56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9810" dist="29905" dir="5400000" rotWithShape="0">
                <a:srgbClr val="000000">
                  <a:alpha val="27843"/>
                </a:srgbClr>
              </a:outerShdw>
            </a:effectLst>
          </p:spPr>
        </p:cxnSp>
        <p:sp>
          <p:nvSpPr>
            <p:cNvPr id="197" name="Google Shape;197;p2"/>
            <p:cNvSpPr/>
            <p:nvPr/>
          </p:nvSpPr>
          <p:spPr>
            <a:xfrm>
              <a:off x="0" y="1974476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50" tIns="107650" rIns="107650" bIns="107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 txBox="1"/>
            <p:nvPr/>
          </p:nvSpPr>
          <p:spPr>
            <a:xfrm>
              <a:off x="0" y="1974476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775" tIns="62775" rIns="62775" bIns="627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endParaRPr sz="1648">
                <a:solidFill>
                  <a:schemeClr val="dk2"/>
                </a:solidFill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Pathway information</a:t>
              </a:r>
              <a:endParaRPr sz="1648"/>
            </a:p>
          </p:txBody>
        </p:sp>
        <p:cxnSp>
          <p:nvCxnSpPr>
            <p:cNvPr id="199" name="Google Shape;199;p2"/>
            <p:cNvCxnSpPr/>
            <p:nvPr/>
          </p:nvCxnSpPr>
          <p:spPr>
            <a:xfrm>
              <a:off x="0" y="2632448"/>
              <a:ext cx="6683374" cy="0"/>
            </a:xfrm>
            <a:prstGeom prst="straightConnector1">
              <a:avLst/>
            </a:prstGeom>
            <a:gradFill>
              <a:gsLst>
                <a:gs pos="0">
                  <a:srgbClr val="7BCC78"/>
                </a:gs>
                <a:gs pos="50000">
                  <a:srgbClr val="5DC359"/>
                </a:gs>
                <a:gs pos="100000">
                  <a:srgbClr val="41B03B"/>
                </a:gs>
              </a:gsLst>
              <a:lin ang="5400000" scaled="0"/>
            </a:gradFill>
            <a:ln w="11225" cap="flat" cmpd="sng">
              <a:solidFill>
                <a:srgbClr val="56C35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9810" dist="29905" dir="5400000" rotWithShape="0">
                <a:srgbClr val="000000">
                  <a:alpha val="27843"/>
                </a:srgbClr>
              </a:outerShdw>
            </a:effectLst>
          </p:spPr>
        </p:cxnSp>
        <p:sp>
          <p:nvSpPr>
            <p:cNvPr id="200" name="Google Shape;200;p2"/>
            <p:cNvSpPr/>
            <p:nvPr/>
          </p:nvSpPr>
          <p:spPr>
            <a:xfrm>
              <a:off x="0" y="2632448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50" tIns="107650" rIns="107650" bIns="107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 txBox="1"/>
            <p:nvPr/>
          </p:nvSpPr>
          <p:spPr>
            <a:xfrm>
              <a:off x="0" y="2632448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775" tIns="62775" rIns="62775" bIns="627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endParaRPr sz="1648">
                <a:solidFill>
                  <a:schemeClr val="dk2"/>
                </a:solidFill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All 13 protein-encoding mtDNA genes</a:t>
              </a:r>
              <a:endParaRPr sz="1648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"/>
            <p:cNvCxnSpPr/>
            <p:nvPr/>
          </p:nvCxnSpPr>
          <p:spPr>
            <a:xfrm>
              <a:off x="0" y="3290419"/>
              <a:ext cx="6683374" cy="0"/>
            </a:xfrm>
            <a:prstGeom prst="straightConnector1">
              <a:avLst/>
            </a:prstGeom>
            <a:gradFill>
              <a:gsLst>
                <a:gs pos="0">
                  <a:srgbClr val="8BCA79"/>
                </a:gs>
                <a:gs pos="50000">
                  <a:srgbClr val="72C15B"/>
                </a:gs>
                <a:gs pos="100000">
                  <a:srgbClr val="58AF3D"/>
                </a:gs>
              </a:gsLst>
              <a:lin ang="5400000" scaled="0"/>
            </a:gradFill>
            <a:ln w="11225" cap="flat" cmpd="sng">
              <a:solidFill>
                <a:srgbClr val="6EC15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9810" dist="29905" dir="5400000" rotWithShape="0">
                <a:srgbClr val="000000">
                  <a:alpha val="27843"/>
                </a:srgbClr>
              </a:outerShdw>
            </a:effectLst>
          </p:spPr>
        </p:cxnSp>
        <p:sp>
          <p:nvSpPr>
            <p:cNvPr id="203" name="Google Shape;203;p2"/>
            <p:cNvSpPr/>
            <p:nvPr/>
          </p:nvSpPr>
          <p:spPr>
            <a:xfrm>
              <a:off x="0" y="3290419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50" tIns="107650" rIns="107650" bIns="107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 txBox="1"/>
            <p:nvPr/>
          </p:nvSpPr>
          <p:spPr>
            <a:xfrm>
              <a:off x="0" y="3290419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775" tIns="62775" rIns="62775" bIns="627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endParaRPr sz="1648">
                <a:solidFill>
                  <a:schemeClr val="dk2"/>
                </a:solidFill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MitoCarta 3.0 (~1,100 nuclear-encoded genes relevant to mitochondria)</a:t>
              </a:r>
              <a:endParaRPr sz="1648"/>
            </a:p>
          </p:txBody>
        </p:sp>
        <p:cxnSp>
          <p:nvCxnSpPr>
            <p:cNvPr id="205" name="Google Shape;205;p2"/>
            <p:cNvCxnSpPr/>
            <p:nvPr/>
          </p:nvCxnSpPr>
          <p:spPr>
            <a:xfrm>
              <a:off x="0" y="3948391"/>
              <a:ext cx="6683374" cy="0"/>
            </a:xfrm>
            <a:prstGeom prst="straightConnector1">
              <a:avLst/>
            </a:prstGeom>
            <a:gradFill>
              <a:gsLst>
                <a:gs pos="0">
                  <a:srgbClr val="9BC97B"/>
                </a:gs>
                <a:gs pos="50000">
                  <a:srgbClr val="87C25C"/>
                </a:gs>
                <a:gs pos="100000">
                  <a:srgbClr val="71AE3F"/>
                </a:gs>
              </a:gsLst>
              <a:lin ang="5400000" scaled="0"/>
            </a:gradFill>
            <a:ln w="11225" cap="flat" cmpd="sng">
              <a:solidFill>
                <a:srgbClr val="85C05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9810" dist="29905" dir="5400000" rotWithShape="0">
                <a:srgbClr val="000000">
                  <a:alpha val="27843"/>
                </a:srgbClr>
              </a:outerShdw>
            </a:effectLst>
          </p:spPr>
        </p:cxnSp>
        <p:sp>
          <p:nvSpPr>
            <p:cNvPr id="206" name="Google Shape;206;p2"/>
            <p:cNvSpPr/>
            <p:nvPr/>
          </p:nvSpPr>
          <p:spPr>
            <a:xfrm>
              <a:off x="0" y="3948391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50" tIns="107650" rIns="107650" bIns="107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 txBox="1"/>
            <p:nvPr/>
          </p:nvSpPr>
          <p:spPr>
            <a:xfrm>
              <a:off x="0" y="3948391"/>
              <a:ext cx="6683374" cy="657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775" tIns="62775" rIns="62775" bIns="627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endParaRPr sz="1648">
                <a:solidFill>
                  <a:schemeClr val="dk2"/>
                </a:solidFill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48"/>
                <a:buFont typeface="Arial"/>
                <a:buNone/>
              </a:pPr>
              <a:r>
                <a:rPr lang="en-US" sz="1648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Extended set of 1,300 further genes, 80 of which are core genes</a:t>
              </a:r>
              <a:endParaRPr sz="1648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14" name="Google Shape;214;p3" title="Screenshot 2026-07-15 at 2.19.31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3257" y="1756511"/>
            <a:ext cx="6844331" cy="404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"/>
          <p:cNvSpPr txBox="1">
            <a:spLocks noGrp="1"/>
          </p:cNvSpPr>
          <p:nvPr>
            <p:ph type="body" idx="1"/>
          </p:nvPr>
        </p:nvSpPr>
        <p:spPr>
          <a:xfrm>
            <a:off x="205571" y="1838351"/>
            <a:ext cx="4402200" cy="4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Remove samples with:</a:t>
            </a:r>
            <a:endParaRPr/>
          </a:p>
          <a:p>
            <a:pPr marL="914400" lvl="1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Cogdx besides 1 and 4 (allows division into NCI and AD)</a:t>
            </a:r>
            <a:endParaRPr/>
          </a:p>
          <a:p>
            <a:pPr marL="914400" lvl="1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Unclear/discordant sex</a:t>
            </a:r>
            <a:endParaRPr/>
          </a:p>
          <a:p>
            <a:pPr marL="914400" lvl="1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APOE genotype ε2/ε4</a:t>
            </a:r>
            <a:endParaRPr/>
          </a:p>
          <a:p>
            <a:pPr marL="914400" lvl="1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Missing PMI, age at death, APOE genotype</a:t>
            </a:r>
            <a:endParaRPr/>
          </a:p>
          <a:p>
            <a:pPr marL="400050" lvl="0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new table of 276 remaining samples</a:t>
            </a:r>
            <a:endParaRPr/>
          </a:p>
          <a:p>
            <a:pPr marL="400050" lvl="0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 Age at 90</a:t>
            </a:r>
            <a:endParaRPr/>
          </a:p>
        </p:txBody>
      </p:sp>
      <p:sp>
        <p:nvSpPr>
          <p:cNvPr id="217" name="Google Shape;217;p3"/>
          <p:cNvSpPr txBox="1">
            <a:spLocks noGrp="1"/>
          </p:cNvSpPr>
          <p:nvPr>
            <p:ph type="title"/>
          </p:nvPr>
        </p:nvSpPr>
        <p:spPr>
          <a:xfrm>
            <a:off x="746550" y="264548"/>
            <a:ext cx="91236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b="1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r>
              <a:rPr lang="en-US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Count and Pre-processing</a:t>
            </a:r>
            <a:endParaRPr b="1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4DB37B-3B27-2A3A-489D-ADD37D51A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3257" y="1759857"/>
            <a:ext cx="6836228" cy="4151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"/>
          <p:cNvSpPr txBox="1">
            <a:spLocks noGrp="1"/>
          </p:cNvSpPr>
          <p:nvPr>
            <p:ph type="title"/>
          </p:nvPr>
        </p:nvSpPr>
        <p:spPr>
          <a:xfrm>
            <a:off x="645987" y="272351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wentieth Century"/>
              <a:buNone/>
            </a:pPr>
            <a:r>
              <a:rPr lang="en-US" sz="5400" cap="none">
                <a:solidFill>
                  <a:schemeClr val="dk2"/>
                </a:solidFill>
              </a:rPr>
              <a:t>Data Preparation</a:t>
            </a:r>
            <a:endParaRPr sz="5400" cap="none">
              <a:solidFill>
                <a:schemeClr val="dk2"/>
              </a:solidFill>
            </a:endParaRPr>
          </a:p>
        </p:txBody>
      </p:sp>
      <p:grpSp>
        <p:nvGrpSpPr>
          <p:cNvPr id="223" name="Google Shape;223;p4"/>
          <p:cNvGrpSpPr/>
          <p:nvPr/>
        </p:nvGrpSpPr>
        <p:grpSpPr>
          <a:xfrm>
            <a:off x="463960" y="2055685"/>
            <a:ext cx="11112843" cy="4592879"/>
            <a:chOff x="380198" y="3520"/>
            <a:chExt cx="11112843" cy="4592879"/>
          </a:xfrm>
        </p:grpSpPr>
        <p:sp>
          <p:nvSpPr>
            <p:cNvPr id="224" name="Google Shape;224;p4"/>
            <p:cNvSpPr/>
            <p:nvPr/>
          </p:nvSpPr>
          <p:spPr>
            <a:xfrm>
              <a:off x="3590202" y="921341"/>
              <a:ext cx="708114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24596" y="59999"/>
                  </a:lnTo>
                </a:path>
                <a:path w="120000" h="120000" extrusionOk="0">
                  <a:moveTo>
                    <a:pt x="95404" y="59999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334D7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4"/>
            <p:cNvSpPr txBox="1"/>
            <p:nvPr/>
          </p:nvSpPr>
          <p:spPr>
            <a:xfrm>
              <a:off x="3735342" y="745446"/>
              <a:ext cx="417835" cy="443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Twentieth Century"/>
                <a:buNone/>
              </a:pPr>
              <a:r>
                <a:rPr lang="en-US" sz="35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1</a:t>
              </a: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380198" y="3520"/>
              <a:ext cx="3211804" cy="1927082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4"/>
            <p:cNvSpPr txBox="1"/>
            <p:nvPr/>
          </p:nvSpPr>
          <p:spPr>
            <a:xfrm>
              <a:off x="380198" y="3520"/>
              <a:ext cx="3211804" cy="1927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375" tIns="165175" rIns="157375" bIns="165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Audit every seurat object (.rds file), recording dimensions and checking for raw count availability and barcode agreement</a:t>
              </a:r>
              <a:endParaRPr sz="1700"/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7540722" y="921341"/>
              <a:ext cx="708114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36430" y="59999"/>
                  </a:lnTo>
                </a:path>
                <a:path w="120000" h="120000" extrusionOk="0">
                  <a:moveTo>
                    <a:pt x="83570" y="59999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334D7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4"/>
            <p:cNvSpPr txBox="1"/>
            <p:nvPr/>
          </p:nvSpPr>
          <p:spPr>
            <a:xfrm>
              <a:off x="7755693" y="745446"/>
              <a:ext cx="278172" cy="443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Twentieth Century"/>
                <a:buNone/>
              </a:pPr>
              <a:r>
                <a:rPr lang="en-US" sz="35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2</a:t>
              </a:r>
              <a:endParaRPr/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4330717" y="3520"/>
              <a:ext cx="3211804" cy="1927082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4"/>
            <p:cNvSpPr txBox="1"/>
            <p:nvPr/>
          </p:nvSpPr>
          <p:spPr>
            <a:xfrm>
              <a:off x="4330717" y="3520"/>
              <a:ext cx="3211804" cy="1927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375" tIns="165175" rIns="157375" bIns="165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Match donor nuclei to metadata</a:t>
              </a:r>
              <a:endParaRPr sz="17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1986100" y="1928802"/>
              <a:ext cx="7901038" cy="70811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2898"/>
                  </a:lnTo>
                  <a:lnTo>
                    <a:pt x="0" y="62898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rgbClr val="334D7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 txBox="1"/>
            <p:nvPr/>
          </p:nvSpPr>
          <p:spPr>
            <a:xfrm>
              <a:off x="5738232" y="2061245"/>
              <a:ext cx="396774" cy="443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Twentieth Century"/>
                <a:buNone/>
              </a:pPr>
              <a:r>
                <a:rPr lang="en-US" sz="35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3</a:t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8281237" y="3520"/>
              <a:ext cx="3211804" cy="1927082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 txBox="1"/>
            <p:nvPr/>
          </p:nvSpPr>
          <p:spPr>
            <a:xfrm>
              <a:off x="8281237" y="3520"/>
              <a:ext cx="3211804" cy="1927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375" tIns="165175" rIns="157375" bIns="165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Normalize projids to 8-digit strings</a:t>
              </a:r>
              <a:endParaRPr sz="17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3590202" y="3587138"/>
              <a:ext cx="708114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36430" y="59999"/>
                  </a:lnTo>
                </a:path>
                <a:path w="120000" h="120000" extrusionOk="0">
                  <a:moveTo>
                    <a:pt x="83570" y="59999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334D7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 txBox="1"/>
            <p:nvPr/>
          </p:nvSpPr>
          <p:spPr>
            <a:xfrm>
              <a:off x="3805174" y="3411244"/>
              <a:ext cx="278172" cy="443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Twentieth Century"/>
                <a:buNone/>
              </a:pPr>
              <a:r>
                <a:rPr lang="en-US" sz="35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4</a:t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380198" y="2669317"/>
              <a:ext cx="3211804" cy="1927082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 txBox="1"/>
            <p:nvPr/>
          </p:nvSpPr>
          <p:spPr>
            <a:xfrm>
              <a:off x="380198" y="2669317"/>
              <a:ext cx="3211804" cy="1927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375" tIns="165175" rIns="157375" bIns="165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Apply prior mentioned exclusions</a:t>
              </a:r>
              <a:endParaRPr sz="17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7540722" y="3587138"/>
              <a:ext cx="708114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36430" y="59999"/>
                  </a:lnTo>
                </a:path>
                <a:path w="120000" h="120000" extrusionOk="0">
                  <a:moveTo>
                    <a:pt x="83570" y="59999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334D7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 txBox="1"/>
            <p:nvPr/>
          </p:nvSpPr>
          <p:spPr>
            <a:xfrm>
              <a:off x="7755693" y="3411244"/>
              <a:ext cx="278172" cy="443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Twentieth Century"/>
                <a:buNone/>
              </a:pPr>
              <a:r>
                <a:rPr lang="en-US" sz="35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5</a:t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4330717" y="2669317"/>
              <a:ext cx="3211804" cy="1927082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4330717" y="2669317"/>
              <a:ext cx="3211804" cy="1927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375" tIns="165175" rIns="157375" bIns="1651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Check mitochondrial information:</a:t>
              </a:r>
              <a:endParaRPr sz="1700"/>
            </a:p>
            <a:p>
              <a:pPr marL="57150" marR="0" lvl="1" indent="-1079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Char char="•"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Validate GENCODE file</a:t>
              </a:r>
              <a:endParaRPr sz="1700"/>
            </a:p>
            <a:p>
              <a:pPr marL="57150" marR="0" lvl="1" indent="-107950" algn="l" rtl="0">
                <a:lnSpc>
                  <a:spcPct val="90000"/>
                </a:lnSpc>
                <a:spcBef>
                  <a:spcPts val="158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Char char="•"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Create mapping tables from MitoCarta</a:t>
              </a:r>
              <a:endParaRPr sz="17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marL="57150" marR="0" lvl="1" indent="-107950" algn="l" rtl="0">
                <a:lnSpc>
                  <a:spcPct val="90000"/>
                </a:lnSpc>
                <a:spcBef>
                  <a:spcPts val="158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Char char="•"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quality control metrics from raw count</a:t>
              </a:r>
              <a:endParaRPr sz="17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8281237" y="2669317"/>
              <a:ext cx="3211804" cy="1927082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 txBox="1"/>
            <p:nvPr/>
          </p:nvSpPr>
          <p:spPr>
            <a:xfrm>
              <a:off x="8281237" y="2669317"/>
              <a:ext cx="3211804" cy="1927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375" tIns="165175" rIns="157375" bIns="165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Attach donor metadata</a:t>
              </a:r>
              <a:endParaRPr sz="17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"/>
          <p:cNvSpPr/>
          <p:nvPr/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0" y="0"/>
            <a:ext cx="4059935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00" scaled="0"/>
          </a:gradFill>
          <a:ln>
            <a:noFill/>
          </a:ln>
          <a:effectLst>
            <a:outerShdw blurRad="50800" dist="12700" algn="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p5"/>
          <p:cNvSpPr txBox="1"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Twentieth Century"/>
              <a:buNone/>
            </a:pPr>
            <a:r>
              <a:rPr lang="en-US" sz="4100" cap="none"/>
              <a:t>Data preparation (continued)</a:t>
            </a:r>
            <a:endParaRPr sz="4100" cap="none"/>
          </a:p>
        </p:txBody>
      </p:sp>
      <p:pic>
        <p:nvPicPr>
          <p:cNvPr id="253" name="Google Shape;253;p5"/>
          <p:cNvPicPr preferRelativeResize="0"/>
          <p:nvPr/>
        </p:nvPicPr>
        <p:blipFill rotWithShape="1">
          <a:blip r:embed="rId3">
            <a:alphaModFix/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 rotWithShape="1">
          <a:blip r:embed="rId4">
            <a:alphaModFix/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"/>
          <p:cNvGrpSpPr/>
          <p:nvPr/>
        </p:nvGrpSpPr>
        <p:grpSpPr>
          <a:xfrm>
            <a:off x="4881277" y="230829"/>
            <a:ext cx="6669647" cy="5988362"/>
            <a:chOff x="648913" y="0"/>
            <a:chExt cx="6669647" cy="5988362"/>
          </a:xfrm>
        </p:grpSpPr>
        <p:sp>
          <p:nvSpPr>
            <p:cNvPr id="256" name="Google Shape;256;p5"/>
            <p:cNvSpPr/>
            <p:nvPr/>
          </p:nvSpPr>
          <p:spPr>
            <a:xfrm>
              <a:off x="3938017" y="1241038"/>
              <a:ext cx="91440" cy="92455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59999" y="43401"/>
                  </a:lnTo>
                </a:path>
                <a:path w="120000" h="120000" extrusionOk="0">
                  <a:moveTo>
                    <a:pt x="59999" y="76599"/>
                  </a:moveTo>
                  <a:lnTo>
                    <a:pt x="60000" y="120000"/>
                  </a:lnTo>
                </a:path>
              </a:pathLst>
            </a:custGeom>
            <a:noFill/>
            <a:ln w="9525" cap="flat" cmpd="sng">
              <a:solidFill>
                <a:srgbClr val="334D7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5"/>
            <p:cNvSpPr txBox="1"/>
            <p:nvPr/>
          </p:nvSpPr>
          <p:spPr>
            <a:xfrm>
              <a:off x="3894191" y="1575424"/>
              <a:ext cx="179091" cy="2557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6</a:t>
              </a: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648913" y="0"/>
              <a:ext cx="6669647" cy="1242838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 txBox="1"/>
            <p:nvPr/>
          </p:nvSpPr>
          <p:spPr>
            <a:xfrm>
              <a:off x="648913" y="0"/>
              <a:ext cx="6669647" cy="1242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150" tIns="199600" rIns="190150" bIns="199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Normalize raw counts using Seurat(scale factor 10,000). Also validate the prepared data</a:t>
              </a:r>
              <a:endParaRPr sz="1700"/>
            </a:p>
          </p:txBody>
        </p:sp>
        <p:sp>
          <p:nvSpPr>
            <p:cNvPr id="260" name="Google Shape;260;p5"/>
            <p:cNvSpPr/>
            <p:nvPr/>
          </p:nvSpPr>
          <p:spPr>
            <a:xfrm flipH="1">
              <a:off x="3938017" y="3444062"/>
              <a:ext cx="91440" cy="7785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62636"/>
                  </a:lnTo>
                  <a:lnTo>
                    <a:pt x="171205" y="62636"/>
                  </a:lnTo>
                  <a:lnTo>
                    <a:pt x="171205" y="120000"/>
                  </a:lnTo>
                </a:path>
              </a:pathLst>
            </a:custGeom>
            <a:noFill/>
            <a:ln w="9525" cap="flat" cmpd="sng">
              <a:solidFill>
                <a:srgbClr val="334D7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 txBox="1"/>
            <p:nvPr/>
          </p:nvSpPr>
          <p:spPr>
            <a:xfrm>
              <a:off x="3907633" y="3487842"/>
              <a:ext cx="152207" cy="69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wentieth Century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648913" y="2197994"/>
              <a:ext cx="6669647" cy="1247868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 txBox="1"/>
            <p:nvPr/>
          </p:nvSpPr>
          <p:spPr>
            <a:xfrm>
              <a:off x="648913" y="2197994"/>
              <a:ext cx="6669647" cy="1247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150" tIns="199600" rIns="190150" bIns="199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Verifies that each contrast has enough donors on each side (at least 5)</a:t>
              </a:r>
              <a:endParaRPr sz="1700"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818389" y="4254978"/>
              <a:ext cx="6500171" cy="1733384"/>
            </a:xfrm>
            <a:prstGeom prst="rect">
              <a:avLst/>
            </a:prstGeom>
            <a:solidFill>
              <a:srgbClr val="334D70"/>
            </a:solidFill>
            <a:ln w="15875" cap="flat" cmpd="sng">
              <a:solidFill>
                <a:srgbClr val="A9BD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 txBox="1"/>
            <p:nvPr/>
          </p:nvSpPr>
          <p:spPr>
            <a:xfrm>
              <a:off x="818389" y="4254978"/>
              <a:ext cx="6500171" cy="17333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150" tIns="199600" rIns="190150" bIns="1996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Report:</a:t>
              </a:r>
              <a:endParaRPr sz="1700"/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	- Donors per sex-APOE group</a:t>
              </a:r>
              <a:endParaRPr sz="1700"/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	- Detected genes in each sample</a:t>
              </a:r>
              <a:endParaRPr sz="1700"/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	- Nuclei per donor each sex-APOE group</a:t>
              </a:r>
              <a:endParaRPr sz="1700"/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	- p-value</a:t>
              </a:r>
              <a:endParaRPr sz="1700"/>
            </a:p>
          </p:txBody>
        </p:sp>
      </p:grpSp>
      <p:sp>
        <p:nvSpPr>
          <p:cNvPr id="266" name="Google Shape;266;p5"/>
          <p:cNvSpPr txBox="1"/>
          <p:nvPr/>
        </p:nvSpPr>
        <p:spPr>
          <a:xfrm>
            <a:off x="8161825" y="3909425"/>
            <a:ext cx="6258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7</a:t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75" name="Google Shape;27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0627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"/>
          <p:cNvSpPr/>
          <p:nvPr/>
        </p:nvSpPr>
        <p:spPr>
          <a:xfrm>
            <a:off x="6933061" y="-2"/>
            <a:ext cx="81313" cy="6858002"/>
          </a:xfrm>
          <a:prstGeom prst="rect">
            <a:avLst/>
          </a:prstGeom>
          <a:gradFill>
            <a:gsLst>
              <a:gs pos="0">
                <a:srgbClr val="BBBBBB"/>
              </a:gs>
              <a:gs pos="7000">
                <a:srgbClr val="8A8A8A"/>
              </a:gs>
              <a:gs pos="15928">
                <a:srgbClr val="B5B5B5"/>
              </a:gs>
              <a:gs pos="44260">
                <a:srgbClr val="D5D5D5"/>
              </a:gs>
              <a:gs pos="50447">
                <a:srgbClr val="E6E6E6"/>
              </a:gs>
              <a:gs pos="60159">
                <a:srgbClr val="D5D5D5"/>
              </a:gs>
              <a:gs pos="84000">
                <a:srgbClr val="B5B5B5"/>
              </a:gs>
              <a:gs pos="93000">
                <a:srgbClr val="8A8A8A"/>
              </a:gs>
              <a:gs pos="100000">
                <a:srgbClr val="BBBBB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77" name="Google Shape;27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"/>
          <p:cNvSpPr txBox="1">
            <a:spLocks noGrp="1"/>
          </p:cNvSpPr>
          <p:nvPr>
            <p:ph type="title"/>
          </p:nvPr>
        </p:nvSpPr>
        <p:spPr>
          <a:xfrm>
            <a:off x="7407096" y="255090"/>
            <a:ext cx="4545418" cy="180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wentieth Century"/>
              <a:buNone/>
            </a:pPr>
            <a:r>
              <a:rPr lang="en-US" sz="4800" cap="none">
                <a:solidFill>
                  <a:schemeClr val="dk2"/>
                </a:solidFill>
              </a:rPr>
              <a:t>Processed data format</a:t>
            </a:r>
            <a:endParaRPr sz="4800" cap="none">
              <a:solidFill>
                <a:schemeClr val="dk2"/>
              </a:solidFill>
            </a:endParaRPr>
          </a:p>
        </p:txBody>
      </p:sp>
      <p:sp>
        <p:nvSpPr>
          <p:cNvPr id="279" name="Google Shape;279;p6"/>
          <p:cNvSpPr txBox="1">
            <a:spLocks noGrp="1"/>
          </p:cNvSpPr>
          <p:nvPr>
            <p:ph type="body" idx="1"/>
          </p:nvPr>
        </p:nvSpPr>
        <p:spPr>
          <a:xfrm>
            <a:off x="7514269" y="2181863"/>
            <a:ext cx="4177836" cy="387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2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processed .rds file consists of two tables(gene expression per gene &amp; cell), first is raw and second is normalized</a:t>
            </a:r>
            <a:endParaRPr/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2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142 NCI and 134 AD donors</a:t>
            </a:r>
            <a:endParaRPr sz="2200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99050" y="1019591"/>
            <a:ext cx="7032107" cy="5080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 txBox="1"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MAST analysis, similar to in literature, uses nuclei from each sex-APOE-fine cell type group</a:t>
            </a:r>
            <a:endParaRPr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Input is normalized RNA data</a:t>
            </a:r>
            <a:endParaRPr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 compares AD vs NCI within each sex-APOE group and fine cell type, with min.pct</a:t>
            </a:r>
            <a:endParaRPr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Variables:</a:t>
            </a:r>
            <a:endParaRPr/>
          </a:p>
          <a:p>
            <a:pPr marL="914400" lvl="1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Min.pct = 0.10</a:t>
            </a:r>
            <a:endParaRPr/>
          </a:p>
          <a:p>
            <a:pPr marL="914400" lvl="1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Logfc threshold (only p/q-value affect classification of the gene)</a:t>
            </a:r>
            <a:endParaRPr/>
          </a:p>
          <a:p>
            <a:pPr marL="914400" lvl="1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Age, PMI and other variables are recorded but not used (for now)</a:t>
            </a:r>
            <a:endParaRPr/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 txBox="1">
            <a:spLocks noGrp="1"/>
          </p:cNvSpPr>
          <p:nvPr>
            <p:ph type="title"/>
          </p:nvPr>
        </p:nvSpPr>
        <p:spPr>
          <a:xfrm>
            <a:off x="913774" y="331134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wentieth Century"/>
              <a:buNone/>
            </a:pPr>
            <a:r>
              <a:rPr lang="en-US">
                <a:solidFill>
                  <a:schemeClr val="dk2"/>
                </a:solidFill>
              </a:rPr>
              <a:t>ANALYSIS (CONTINUED)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2" name="Google Shape;292;p8"/>
          <p:cNvSpPr txBox="1">
            <a:spLocks noGrp="1"/>
          </p:cNvSpPr>
          <p:nvPr>
            <p:ph type="body" idx="1"/>
          </p:nvPr>
        </p:nvSpPr>
        <p:spPr>
          <a:xfrm>
            <a:off x="972557" y="1129222"/>
            <a:ext cx="10364452" cy="1667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Score similarity:</a:t>
            </a:r>
            <a:endParaRPr/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Ternary values for DEGs (0, ±1); very similar to Zhang-Yu similarity analysis</a:t>
            </a:r>
            <a:endParaRPr/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Pathway analysis using imported pathways</a:t>
            </a:r>
            <a:endParaRPr/>
          </a:p>
        </p:txBody>
      </p:sp>
      <p:pic>
        <p:nvPicPr>
          <p:cNvPr id="293" name="Google Shape;293;p8" title="processing_pipelin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9104" y="2599839"/>
            <a:ext cx="9439081" cy="4062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2" name="Google Shape;30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9" descr="Formula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 b="-2"/>
          <a:stretch/>
        </p:blipFill>
        <p:spPr>
          <a:xfrm>
            <a:off x="20" y="10"/>
            <a:ext cx="402474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9"/>
          <p:cNvSpPr/>
          <p:nvPr/>
        </p:nvSpPr>
        <p:spPr>
          <a:xfrm>
            <a:off x="4024761" y="-2"/>
            <a:ext cx="81313" cy="6858002"/>
          </a:xfrm>
          <a:prstGeom prst="rect">
            <a:avLst/>
          </a:prstGeom>
          <a:gradFill>
            <a:gsLst>
              <a:gs pos="0">
                <a:srgbClr val="BBBBBB"/>
              </a:gs>
              <a:gs pos="7000">
                <a:srgbClr val="8A8A8A"/>
              </a:gs>
              <a:gs pos="15928">
                <a:srgbClr val="B5B5B5"/>
              </a:gs>
              <a:gs pos="44260">
                <a:srgbClr val="D5D5D5"/>
              </a:gs>
              <a:gs pos="50447">
                <a:srgbClr val="E6E6E6"/>
              </a:gs>
              <a:gs pos="60159">
                <a:srgbClr val="D5D5D5"/>
              </a:gs>
              <a:gs pos="84000">
                <a:srgbClr val="B5B5B5"/>
              </a:gs>
              <a:gs pos="93000">
                <a:srgbClr val="8A8A8A"/>
              </a:gs>
              <a:gs pos="100000">
                <a:srgbClr val="BBBBB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5" name="Google Shape;30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 txBox="1">
            <a:spLocks noGrp="1"/>
          </p:cNvSpPr>
          <p:nvPr>
            <p:ph type="title"/>
          </p:nvPr>
        </p:nvSpPr>
        <p:spPr>
          <a:xfrm>
            <a:off x="4315179" y="2631671"/>
            <a:ext cx="6672886" cy="79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Current Results</a:t>
            </a:r>
            <a:endParaRPr sz="4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wentieth Century"/>
              <a:buNone/>
            </a:pPr>
            <a:r>
              <a:rPr lang="en-US">
                <a:solidFill>
                  <a:schemeClr val="dk2"/>
                </a:solidFill>
              </a:rPr>
              <a:t>MAST ANALYSIS RESULTS: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2" name="Google Shape;312;p11"/>
          <p:cNvSpPr txBox="1">
            <a:spLocks noGrp="1"/>
          </p:cNvSpPr>
          <p:nvPr>
            <p:ph type="body" idx="1"/>
          </p:nvPr>
        </p:nvSpPr>
        <p:spPr>
          <a:xfrm>
            <a:off x="332472" y="1903350"/>
            <a:ext cx="10782900" cy="43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Acquired Log2FC and p-values for each gene across each comparable contrast, among other information. </a:t>
            </a:r>
            <a:endParaRPr/>
          </a:p>
          <a:p>
            <a:pPr marL="457200" lvl="0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Variation in number of upregulated genes by cell type </a:t>
            </a:r>
            <a:endParaRPr/>
          </a:p>
          <a:p>
            <a:pPr marL="457200" lvl="0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Upregulated and downregulated genes identified for each contrast</a:t>
            </a:r>
            <a:endParaRPr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Detailed data chart is in the PDF: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https://drive.google.com/file/d/14K6yCfam_YlAVahgRYXq79aZ5dxnhDEE/view?usp=drive_link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12" scaled="0"/>
        </a:gra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g3f579d1ed11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f579d1ed11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f579d1ed11_1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21" name="Google Shape;321;g3f579d1ed11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f579d1ed11_1_0" descr="Formula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20" y="10"/>
            <a:ext cx="4024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f579d1ed11_1_0"/>
          <p:cNvSpPr/>
          <p:nvPr/>
        </p:nvSpPr>
        <p:spPr>
          <a:xfrm>
            <a:off x="4024761" y="-2"/>
            <a:ext cx="81300" cy="6858000"/>
          </a:xfrm>
          <a:prstGeom prst="rect">
            <a:avLst/>
          </a:prstGeom>
          <a:gradFill>
            <a:gsLst>
              <a:gs pos="0">
                <a:srgbClr val="BBBBBB"/>
              </a:gs>
              <a:gs pos="7000">
                <a:srgbClr val="8A8A8A"/>
              </a:gs>
              <a:gs pos="15930">
                <a:srgbClr val="B5B5B5"/>
              </a:gs>
              <a:gs pos="44260">
                <a:srgbClr val="D5D5D5"/>
              </a:gs>
              <a:gs pos="50450">
                <a:srgbClr val="E6E6E6"/>
              </a:gs>
              <a:gs pos="60160">
                <a:srgbClr val="D5D5D5"/>
              </a:gs>
              <a:gs pos="84000">
                <a:srgbClr val="B5B5B5"/>
              </a:gs>
              <a:gs pos="93000">
                <a:srgbClr val="8A8A8A"/>
              </a:gs>
              <a:gs pos="100000">
                <a:srgbClr val="BBBBB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24" name="Google Shape;324;g3f579d1ed11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f579d1ed11_1_0"/>
          <p:cNvSpPr txBox="1">
            <a:spLocks noGrp="1"/>
          </p:cNvSpPr>
          <p:nvPr>
            <p:ph type="title"/>
          </p:nvPr>
        </p:nvSpPr>
        <p:spPr>
          <a:xfrm>
            <a:off x="4315179" y="2631671"/>
            <a:ext cx="66729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Data/Figures</a:t>
            </a:r>
            <a:endParaRPr sz="4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0BA950A-06F1-244B-C9D5-47E21776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0F94E9E-45D7-38B8-FE39-A46286B330D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47" t="613" r="2343" b="4678"/>
          <a:stretch/>
        </p:blipFill>
        <p:spPr>
          <a:xfrm>
            <a:off x="0" y="1123950"/>
            <a:ext cx="12193036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8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EBE830FA-1571-A7F5-B5D1-2CE43CB9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582B647-3883-827F-317F-E1DDD7BEA60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65" t="1474" r="3115" b="4496"/>
          <a:stretch/>
        </p:blipFill>
        <p:spPr>
          <a:xfrm>
            <a:off x="22719" y="1351129"/>
            <a:ext cx="12169281" cy="458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2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BF8651-3ABF-7651-F3E6-C48D5B8F2EF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76" r="3008" b="4583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B426C50-20F7-25F2-5C54-AEDD79D15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52" r="2918" b="45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09E106A-30BD-130E-0EAD-C20FBF99D72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2" r="2929" b="305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75CE0-B296-32C1-F185-F02866964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D0734-3515-B512-755C-A8949F433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56E83-AEE6-87F1-1346-A128216DE6F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90D10C-1645-67A0-4F79-DD99B595D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11020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3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6BB4-6C98-FECC-D0F3-8AAA6CF6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B8032-1791-F267-59AB-FEE3A3B72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B86D7-55C2-3A74-80DC-3E0244B3948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8DAB0D-AC92-A5B0-0F53-40B4D3699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837"/>
            <a:ext cx="12192000" cy="607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98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EA3C9B36-AEFC-E496-045E-FC8C0F38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8CF68C-2105-033B-42EB-9AB844464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894" y="0"/>
            <a:ext cx="9266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63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8E27FFED-506B-0A9D-7664-321B4CD3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2F4927-025A-FBF8-F648-4FB84F4E5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641"/>
            <a:ext cx="12192000" cy="61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85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ED6E3D14-5459-4ED4-3A17-8E57E9F38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4D1AC-DD62-5051-D49B-2F3511A9B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267" y="0"/>
            <a:ext cx="8861026" cy="677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97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AD562EF7-0821-C7F2-31D5-D3F10081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A41476-5C49-40B3-3B8C-379466ECE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93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E5ED27F-E6FD-B267-98AF-F33605A66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6952" y="77821"/>
            <a:ext cx="50292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D94463-90E3-8BBC-8823-141C868CF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07" y="0"/>
            <a:ext cx="67381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0D66266B-E18E-276A-1058-5F352622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7AD95-D103-853F-BADB-1EC902E9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46" y="0"/>
            <a:ext cx="8284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25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wentieth Century"/>
              <a:buNone/>
            </a:pPr>
            <a:r>
              <a:rPr lang="en-US">
                <a:solidFill>
                  <a:schemeClr val="dk2"/>
                </a:solidFill>
              </a:rPr>
              <a:t>GENES STUDIED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9" name="Google Shape;379;p10"/>
          <p:cNvSpPr txBox="1">
            <a:spLocks noGrp="1"/>
          </p:cNvSpPr>
          <p:nvPr>
            <p:ph type="body" idx="1"/>
          </p:nvPr>
        </p:nvSpPr>
        <p:spPr>
          <a:xfrm>
            <a:off x="913773" y="2367093"/>
            <a:ext cx="9961055" cy="185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Roughly 10% of genes were removed from analysis by q-value</a:t>
            </a:r>
            <a:endParaRPr/>
          </a:p>
          <a:p>
            <a:pPr marL="914400" lvl="1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included 1 mtDNA gene</a:t>
            </a:r>
            <a:endParaRPr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amount is distinct from in the original analysis; the issue could be in how q-value is calculated; there are different algorithms/scripts available.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b763c46-9339-40e9-a769-bf8eea71133b}" enabled="1" method="Standard" siteId="{50437bb5-075d-45ba-8f5f-55e8b400fa9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540</Words>
  <Application>Microsoft Office PowerPoint</Application>
  <PresentationFormat>Widescreen</PresentationFormat>
  <Paragraphs>96</Paragraphs>
  <Slides>25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Droplet</vt:lpstr>
      <vt:lpstr>MITOCHONDRIAL GENE STUDY WORKFLOW AND RESULTS</vt:lpstr>
      <vt:lpstr>Imported Data</vt:lpstr>
      <vt:lpstr>Sample Count and Pre-processing</vt:lpstr>
      <vt:lpstr>Data Preparation</vt:lpstr>
      <vt:lpstr>Data preparation (continued)</vt:lpstr>
      <vt:lpstr>Processed data format</vt:lpstr>
      <vt:lpstr>ANALYSIS</vt:lpstr>
      <vt:lpstr>ANALYSIS (CONTINUED)</vt:lpstr>
      <vt:lpstr>Current Results</vt:lpstr>
      <vt:lpstr>MAST ANALYSIS RESULTS:</vt:lpstr>
      <vt:lpstr>Data/Figures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GENES STUDIED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Ping Yu</dc:creator>
  <cp:lastModifiedBy>Yu, Ping</cp:lastModifiedBy>
  <cp:revision>35</cp:revision>
  <dcterms:created xsi:type="dcterms:W3CDTF">2026-07-21T00:19:06Z</dcterms:created>
  <dcterms:modified xsi:type="dcterms:W3CDTF">2026-07-24T01:35:46Z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