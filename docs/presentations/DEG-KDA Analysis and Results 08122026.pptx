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6858000" cy="9144000"/>
  <p:embeddedFontLst>
    <p:embeddedFont>
      <p:font typeface="Nunito"/>
      <p:regular r:id="rId27"/>
      <p:bold r:id="rId28"/>
      <p:italic r:id="rId29"/>
      <p:boldItalic r:id="rId30"/>
    </p:embeddedFont>
    <p:embeddedFont>
      <p:font typeface="Maven Pro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Nuni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avenPro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schemas.openxmlformats.org/officeDocument/2006/relationships/font" Target="fonts/MavenPr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f6d77f39bb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f6d77f39bb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6d77f39bb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f6d77f39bb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f6d77f39b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f6d77f39b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6e5c7606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6e5c7606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6d77f39bb_0_2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f6d77f39bb_0_2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f6e5c7606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f6e5c7606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OXPHOS best pathway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f6e5c7606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f6e5c7606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f6e5c76064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3f6e5c76064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6e5c76064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6e5c76064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6e5c76064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6e5c76064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f6e5c76064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3" name="Google Shape;343;g3f6e5c76064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6e5c76064_0_9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9" name="Google Shape;349;g3f6e5c76064_0_9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f6e5c76064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f6e5c76064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6e5c76064_0_9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6e5c76064_0_9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f6e5c76064_0_6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f6e5c76064_0_6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6e5c76064_0_9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3f6e5c76064_0_9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f6e5c76064_0_8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f6e5c76064_0_8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3f6e5c76064_0_9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3f6e5c76064_0_9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f6e5c76064_0_9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f6e5c76064_0_9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6e5c76064_0_9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f6e5c76064_0_9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6e5c76064_0_9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6e5c76064_0_9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5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DEG-KDA AD Analysis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Eric Zhuang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290600" y="89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Workflow</a:t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441400" y="1572025"/>
            <a:ext cx="2592600" cy="3004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3275700" y="1572025"/>
            <a:ext cx="2592600" cy="3004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KDA Analysis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6110000" y="1572025"/>
            <a:ext cx="2592600" cy="3004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Interpretation</a:t>
            </a:r>
            <a:endParaRPr sz="2300">
              <a:solidFill>
                <a:srgbClr val="FFFFFF"/>
              </a:solidFill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441400" y="1572025"/>
            <a:ext cx="2592600" cy="3004500"/>
          </a:xfrm>
          <a:prstGeom prst="rect">
            <a:avLst/>
          </a:prstGeom>
          <a:solidFill>
            <a:srgbClr val="3D85C6"/>
          </a:solidFill>
          <a:ln>
            <a:noFill/>
          </a:ln>
        </p:spPr>
        <p:txBody>
          <a:bodyPr anchorCtr="0" anchor="t" bIns="86100" lIns="86100" spcFirstLastPara="1" rIns="86100" wrap="square" tIns="861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rgbClr val="FFFFFF"/>
                </a:solidFill>
              </a:rPr>
              <a:t>MAST Analysis  (DEGs)</a:t>
            </a:r>
            <a:endParaRPr sz="23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MAST Analysis and Results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16" title="figure01B_mitochondrial_yu_analogue.png"/>
          <p:cNvPicPr preferRelativeResize="0"/>
          <p:nvPr/>
        </p:nvPicPr>
        <p:blipFill rotWithShape="1">
          <a:blip r:embed="rId3">
            <a:alphaModFix/>
          </a:blip>
          <a:srcRect b="0" l="9382" r="3985" t="0"/>
          <a:stretch/>
        </p:blipFill>
        <p:spPr>
          <a:xfrm>
            <a:off x="2632900" y="2659013"/>
            <a:ext cx="6454195" cy="2484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8" name="Google Shape;298;p16" title="figure01A_mitochondrial_yu_analogue.png"/>
          <p:cNvPicPr preferRelativeResize="0"/>
          <p:nvPr/>
        </p:nvPicPr>
        <p:blipFill rotWithShape="1">
          <a:blip r:embed="rId4">
            <a:alphaModFix/>
          </a:blip>
          <a:srcRect b="0" l="9183" r="4184" t="0"/>
          <a:stretch/>
        </p:blipFill>
        <p:spPr>
          <a:xfrm>
            <a:off x="2689801" y="0"/>
            <a:ext cx="6454195" cy="2484489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6"/>
          <p:cNvSpPr txBox="1"/>
          <p:nvPr>
            <p:ph type="title"/>
          </p:nvPr>
        </p:nvSpPr>
        <p:spPr>
          <a:xfrm>
            <a:off x="84600" y="65175"/>
            <a:ext cx="2700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 Sex Analysis Results: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7"/>
          <p:cNvSpPr txBox="1"/>
          <p:nvPr>
            <p:ph type="title"/>
          </p:nvPr>
        </p:nvSpPr>
        <p:spPr>
          <a:xfrm>
            <a:off x="84600" y="65175"/>
            <a:ext cx="2700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 Sex Analysis Results:</a:t>
            </a:r>
            <a:endParaRPr/>
          </a:p>
        </p:txBody>
      </p:sp>
      <p:pic>
        <p:nvPicPr>
          <p:cNvPr id="305" name="Google Shape;305;p17" title="figure01E_mitochondrial_yu_analogue.png"/>
          <p:cNvPicPr preferRelativeResize="0"/>
          <p:nvPr/>
        </p:nvPicPr>
        <p:blipFill rotWithShape="1">
          <a:blip r:embed="rId3">
            <a:alphaModFix/>
          </a:blip>
          <a:srcRect b="0" l="4270" r="3505" t="0"/>
          <a:stretch/>
        </p:blipFill>
        <p:spPr>
          <a:xfrm>
            <a:off x="1590675" y="182263"/>
            <a:ext cx="7553326" cy="4778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8"/>
          <p:cNvSpPr txBox="1"/>
          <p:nvPr>
            <p:ph type="title"/>
          </p:nvPr>
        </p:nvSpPr>
        <p:spPr>
          <a:xfrm>
            <a:off x="1227600" y="6747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DEG Sex Analysis Results:</a:t>
            </a:r>
            <a:endParaRPr/>
          </a:p>
        </p:txBody>
      </p:sp>
      <p:sp>
        <p:nvSpPr>
          <p:cNvPr id="311" name="Google Shape;311;p18"/>
          <p:cNvSpPr txBox="1"/>
          <p:nvPr>
            <p:ph idx="1" type="body"/>
          </p:nvPr>
        </p:nvSpPr>
        <p:spPr>
          <a:xfrm>
            <a:off x="1303800" y="1463375"/>
            <a:ext cx="7030500" cy="30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Strongest response in excitatory neuron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Response varies across cell type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AD-vs-NCI Response varies based on sex-APOE group</a:t>
            </a:r>
            <a:endParaRPr sz="2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9"/>
          <p:cNvSpPr txBox="1"/>
          <p:nvPr>
            <p:ph type="title"/>
          </p:nvPr>
        </p:nvSpPr>
        <p:spPr>
          <a:xfrm>
            <a:off x="313200" y="-11025"/>
            <a:ext cx="7812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Pathway Analysis Results (sex divergence)</a:t>
            </a:r>
            <a:endParaRPr/>
          </a:p>
        </p:txBody>
      </p:sp>
      <p:pic>
        <p:nvPicPr>
          <p:cNvPr id="317" name="Google Shape;317;p19" title="figure06_mitochondrial_yu_analogue.png"/>
          <p:cNvPicPr preferRelativeResize="0"/>
          <p:nvPr/>
        </p:nvPicPr>
        <p:blipFill rotWithShape="1">
          <a:blip r:embed="rId3">
            <a:alphaModFix/>
          </a:blip>
          <a:srcRect b="0" l="0" r="0" t="55836"/>
          <a:stretch/>
        </p:blipFill>
        <p:spPr>
          <a:xfrm>
            <a:off x="930888" y="497775"/>
            <a:ext cx="5795124" cy="4692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2" name="Google Shape;322;p20" title="section02_mitochondrial_oxphos_directional_burden.png"/>
          <p:cNvPicPr preferRelativeResize="0"/>
          <p:nvPr/>
        </p:nvPicPr>
        <p:blipFill rotWithShape="1">
          <a:blip r:embed="rId3">
            <a:alphaModFix/>
          </a:blip>
          <a:srcRect b="0" l="4182" r="1192" t="2143"/>
          <a:stretch/>
        </p:blipFill>
        <p:spPr>
          <a:xfrm>
            <a:off x="397238" y="16975"/>
            <a:ext cx="8349527" cy="510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conclusions:</a:t>
            </a:r>
            <a:endParaRPr/>
          </a:p>
        </p:txBody>
      </p:sp>
      <p:sp>
        <p:nvSpPr>
          <p:cNvPr id="328" name="Google Shape;328;p21"/>
          <p:cNvSpPr txBox="1"/>
          <p:nvPr>
            <p:ph idx="1" type="body"/>
          </p:nvPr>
        </p:nvSpPr>
        <p:spPr>
          <a:xfrm>
            <a:off x="1303800" y="1510125"/>
            <a:ext cx="7030500" cy="302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General upregulation in female e2, but downregulation in males (sex reversal)</a:t>
            </a:r>
            <a:endParaRPr sz="2300"/>
          </a:p>
          <a:p>
            <a:pPr indent="-3746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Mixed/inconclusive results for e3/e3 and male e4</a:t>
            </a:r>
            <a:endParaRPr sz="2300"/>
          </a:p>
          <a:p>
            <a:pPr indent="-374650" lvl="0" marL="45720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Downregulation of female e4</a:t>
            </a:r>
            <a:endParaRPr sz="2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2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KDA Analysis and Conclusions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/>
          <p:nvPr/>
        </p:nvSpPr>
        <p:spPr>
          <a:xfrm>
            <a:off x="92450" y="76200"/>
            <a:ext cx="8501100" cy="5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Signatures in KDA Runs</a:t>
            </a:r>
            <a:endParaRPr b="1" sz="2800">
              <a:solidFill>
                <a:srgbClr val="42424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pic>
        <p:nvPicPr>
          <p:cNvPr id="339" name="Google Shape;339;p23" title="mitochondrial_kda_workflow_panel_b.png"/>
          <p:cNvPicPr preferRelativeResize="0"/>
          <p:nvPr/>
        </p:nvPicPr>
        <p:blipFill rotWithShape="1">
          <a:blip r:embed="rId3">
            <a:alphaModFix/>
          </a:blip>
          <a:srcRect b="9898" l="4308" r="4217" t="8369"/>
          <a:stretch/>
        </p:blipFill>
        <p:spPr>
          <a:xfrm>
            <a:off x="0" y="1551625"/>
            <a:ext cx="9144003" cy="3591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3"/>
          <p:cNvSpPr txBox="1"/>
          <p:nvPr/>
        </p:nvSpPr>
        <p:spPr>
          <a:xfrm>
            <a:off x="242225" y="674425"/>
            <a:ext cx="8697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300"/>
              <a:buChar char="●"/>
            </a:pPr>
            <a:r>
              <a:rPr b="1" lang="en" sz="2300">
                <a:solidFill>
                  <a:srgbClr val="424242"/>
                </a:solidFill>
                <a:highlight>
                  <a:srgbClr val="FFFFFF"/>
                </a:highlight>
              </a:rPr>
              <a:t>1,782 planned runs</a:t>
            </a:r>
            <a:r>
              <a:rPr lang="en" sz="2300">
                <a:solidFill>
                  <a:srgbClr val="424242"/>
                </a:solidFill>
                <a:highlight>
                  <a:srgbClr val="FFFFFF"/>
                </a:highlight>
              </a:rPr>
              <a:t>; </a:t>
            </a:r>
            <a:r>
              <a:rPr lang="en" sz="2300">
                <a:solidFill>
                  <a:srgbClr val="424242"/>
                </a:solidFill>
                <a:highlight>
                  <a:srgbClr val="FFFFFF"/>
                </a:highlight>
              </a:rPr>
              <a:t>972 primary and 810 secondary/pooled</a:t>
            </a:r>
            <a:endParaRPr sz="2300">
              <a:solidFill>
                <a:srgbClr val="42424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4"/>
          <p:cNvSpPr txBox="1"/>
          <p:nvPr>
            <p:ph type="title"/>
          </p:nvPr>
        </p:nvSpPr>
        <p:spPr>
          <a:xfrm>
            <a:off x="1075200" y="2842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APOE regulates TUFM and ATP synthase,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astrocytes</a:t>
            </a:r>
            <a:endParaRPr/>
          </a:p>
        </p:txBody>
      </p:sp>
      <p:sp>
        <p:nvSpPr>
          <p:cNvPr id="346" name="Google Shape;346;p24"/>
          <p:cNvSpPr txBox="1"/>
          <p:nvPr>
            <p:ph idx="1" type="body"/>
          </p:nvPr>
        </p:nvSpPr>
        <p:spPr>
          <a:xfrm>
            <a:off x="811450" y="1437050"/>
            <a:ext cx="7522800" cy="32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APOE has been returned the key driver in downregulated 20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Regulates TUFM directly or indirectly in all 20;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ATP5PB is regulated in 13, while ATP5F1A  in 6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Female e2, Male e2 and Male e4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Link occurs only in astrocytes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TUFM is connected to AD (Zhong et al., 2021)</a:t>
            </a:r>
            <a:endParaRPr sz="2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25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57710" l="0" r="50000" t="3082"/>
          <a:stretch/>
        </p:blipFill>
        <p:spPr>
          <a:xfrm>
            <a:off x="-1" y="0"/>
            <a:ext cx="905739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6"/>
          <p:cNvSpPr txBox="1"/>
          <p:nvPr>
            <p:ph type="title"/>
          </p:nvPr>
        </p:nvSpPr>
        <p:spPr>
          <a:xfrm>
            <a:off x="1151400" y="3699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LAMTOR5 connects nutrient sensing to ATP5IF1</a:t>
            </a:r>
            <a:endParaRPr/>
          </a:p>
        </p:txBody>
      </p:sp>
      <p:sp>
        <p:nvSpPr>
          <p:cNvPr id="357" name="Google Shape;357;p26"/>
          <p:cNvSpPr txBox="1"/>
          <p:nvPr>
            <p:ph idx="1" type="body"/>
          </p:nvPr>
        </p:nvSpPr>
        <p:spPr>
          <a:xfrm>
            <a:off x="1075200" y="1304250"/>
            <a:ext cx="7030500" cy="359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LAMTOR5 is a key subunit of the ragulator complex, involved in nutrient sensing</a:t>
            </a:r>
            <a:endParaRPr sz="2300"/>
          </a:p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Key driver in 96 runs across </a:t>
            </a:r>
            <a:r>
              <a:rPr lang="en" sz="2300"/>
              <a:t>15 </a:t>
            </a:r>
            <a:r>
              <a:rPr lang="en" sz="2300"/>
              <a:t>types of neurons</a:t>
            </a:r>
            <a:endParaRPr sz="2300"/>
          </a:p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ATP Synthase subunits: ATP5IF1 occurs in 70 and ATP5MC2 in 56</a:t>
            </a:r>
            <a:endParaRPr sz="2300"/>
          </a:p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ATP5IF1 encodes inhibitory factor subunit 1 (IF1), which prevents wasteful hydrolysis of ATP</a:t>
            </a:r>
            <a:endParaRPr sz="2300"/>
          </a:p>
          <a:p>
            <a:pPr indent="-3746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No prior research connects either gene to AD</a:t>
            </a:r>
            <a:endParaRPr sz="23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27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57711" l="50000" r="0" t="4433"/>
          <a:stretch/>
        </p:blipFill>
        <p:spPr>
          <a:xfrm>
            <a:off x="97949" y="0"/>
            <a:ext cx="894810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8"/>
          <p:cNvSpPr txBox="1"/>
          <p:nvPr>
            <p:ph type="title"/>
          </p:nvPr>
        </p:nvSpPr>
        <p:spPr>
          <a:xfrm>
            <a:off x="313200" y="65175"/>
            <a:ext cx="78204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GABARAPL2 connects autophagic regulation to CHCHD2 and PARK7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28"/>
          <p:cNvSpPr txBox="1"/>
          <p:nvPr>
            <p:ph idx="1" type="body"/>
          </p:nvPr>
        </p:nvSpPr>
        <p:spPr>
          <a:xfrm>
            <a:off x="160800" y="847050"/>
            <a:ext cx="8684100" cy="422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GABARAPL2: 79 calls, all but 2 in excitatory neuron</a:t>
            </a:r>
            <a:endParaRPr sz="2300"/>
          </a:p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CHCHD2 occurs in 66 calls (25 primary, 41 secondary) across 11 fine cell types.</a:t>
            </a:r>
            <a:endParaRPr sz="2300"/>
          </a:p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PARK7 occurs in 49 calls (16 primary, 33 secondary) across 7 fine cell types.</a:t>
            </a:r>
            <a:endParaRPr sz="2300"/>
          </a:p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Occur together in 42 calls, all excitatory (13 primary, 29 secondary)</a:t>
            </a:r>
            <a:endParaRPr sz="2300"/>
          </a:p>
          <a:p>
            <a:pPr indent="-374650" lvl="0" marL="914400" rtl="0" algn="l">
              <a:spcBef>
                <a:spcPts val="0"/>
              </a:spcBef>
              <a:spcAft>
                <a:spcPts val="0"/>
              </a:spcAft>
              <a:buSzPts val="2300"/>
              <a:buChar char="-"/>
            </a:pPr>
            <a:r>
              <a:rPr lang="en" sz="2300"/>
              <a:t>A GABARAPL2-dependent pathway could improve AD phenotypes in mice (Dai et al., 2025).</a:t>
            </a:r>
            <a:endParaRPr sz="23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oogle Shape;373;p29" title="phase12_kda_wang_subnetworks.png"/>
          <p:cNvPicPr preferRelativeResize="0"/>
          <p:nvPr/>
        </p:nvPicPr>
        <p:blipFill rotWithShape="1">
          <a:blip r:embed="rId3">
            <a:alphaModFix/>
          </a:blip>
          <a:srcRect b="0" l="0" r="0" t="45557"/>
          <a:stretch/>
        </p:blipFill>
        <p:spPr>
          <a:xfrm>
            <a:off x="0" y="777000"/>
            <a:ext cx="9144003" cy="3476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0"/>
          <p:cNvSpPr txBox="1"/>
          <p:nvPr>
            <p:ph type="title"/>
          </p:nvPr>
        </p:nvSpPr>
        <p:spPr>
          <a:xfrm>
            <a:off x="-67800" y="65175"/>
            <a:ext cx="37692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KDA Circular Figure</a:t>
            </a:r>
            <a:endParaRPr/>
          </a:p>
        </p:txBody>
      </p:sp>
      <p:pic>
        <p:nvPicPr>
          <p:cNvPr id="379" name="Google Shape;379;p30" title="phase12_kda_reduced_circular_ACAT.png"/>
          <p:cNvPicPr preferRelativeResize="0"/>
          <p:nvPr/>
        </p:nvPicPr>
        <p:blipFill rotWithShape="1">
          <a:blip r:embed="rId3">
            <a:alphaModFix/>
          </a:blip>
          <a:srcRect b="4671" l="10038" r="9910" t="15489"/>
          <a:stretch/>
        </p:blipFill>
        <p:spPr>
          <a:xfrm>
            <a:off x="3926040" y="0"/>
            <a:ext cx="515730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0"/>
          <p:cNvSpPr txBox="1"/>
          <p:nvPr/>
        </p:nvSpPr>
        <p:spPr>
          <a:xfrm>
            <a:off x="306550" y="631000"/>
            <a:ext cx="3619500" cy="4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43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2300"/>
              <a:buFont typeface="Nunito"/>
              <a:buChar char="❏"/>
            </a:pPr>
            <a:r>
              <a:rPr lang="en" sz="2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10 unique identified</a:t>
            </a:r>
            <a:endParaRPr sz="2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2300"/>
              <a:buFont typeface="Nunito"/>
              <a:buChar char="❏"/>
            </a:pPr>
            <a:r>
              <a:rPr lang="en" sz="2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17/21 sectors are mtDNA</a:t>
            </a:r>
            <a:endParaRPr sz="2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746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424242"/>
              </a:buClr>
              <a:buSzPts val="2300"/>
              <a:buFont typeface="Nunito"/>
              <a:buChar char="❏"/>
            </a:pPr>
            <a:r>
              <a:rPr lang="en" sz="23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MT-CO2 appears in the most broad-cell types</a:t>
            </a:r>
            <a:endParaRPr sz="2300">
              <a:solidFill>
                <a:srgbClr val="42424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 txBox="1"/>
          <p:nvPr>
            <p:ph type="title"/>
          </p:nvPr>
        </p:nvSpPr>
        <p:spPr>
          <a:xfrm>
            <a:off x="8400" y="-11025"/>
            <a:ext cx="33246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ATP Regulation</a:t>
            </a:r>
            <a:endParaRPr/>
          </a:p>
        </p:txBody>
      </p:sp>
      <p:pic>
        <p:nvPicPr>
          <p:cNvPr descr="Figure 5 • Recurrent convergence on ATP synthase / Complex V genes" id="386" name="Google Shape;38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7147" y="1"/>
            <a:ext cx="599245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2"/>
          <p:cNvSpPr txBox="1"/>
          <p:nvPr>
            <p:ph type="title"/>
          </p:nvPr>
        </p:nvSpPr>
        <p:spPr>
          <a:xfrm>
            <a:off x="203275" y="-11025"/>
            <a:ext cx="3313200" cy="18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Sex-APOE analysis of relevant genes</a:t>
            </a:r>
            <a:endParaRPr/>
          </a:p>
        </p:txBody>
      </p:sp>
      <p:pic>
        <p:nvPicPr>
          <p:cNvPr id="392" name="Google Shape;392;p32" title="phase12_kda_sex_apoe.png"/>
          <p:cNvPicPr preferRelativeResize="0"/>
          <p:nvPr/>
        </p:nvPicPr>
        <p:blipFill rotWithShape="1">
          <a:blip r:embed="rId3">
            <a:alphaModFix/>
          </a:blip>
          <a:srcRect b="6096" l="6697" r="6096" t="12078"/>
          <a:stretch/>
        </p:blipFill>
        <p:spPr>
          <a:xfrm>
            <a:off x="3059519" y="0"/>
            <a:ext cx="6084482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"/>
          <p:cNvSpPr txBox="1"/>
          <p:nvPr>
            <p:ph idx="1" type="body"/>
          </p:nvPr>
        </p:nvSpPr>
        <p:spPr>
          <a:xfrm>
            <a:off x="412100" y="1465175"/>
            <a:ext cx="8508900" cy="332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b="1" lang="en" sz="2500"/>
              <a:t>Look at how the identified drivers are regulated upstream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b="1" lang="en" sz="2500"/>
              <a:t>Check literature to support the conclusions made</a:t>
            </a:r>
            <a:endParaRPr b="1"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-"/>
            </a:pPr>
            <a:r>
              <a:rPr b="1" lang="en" sz="2500"/>
              <a:t>Analyse other datasets for validation</a:t>
            </a:r>
            <a:endParaRPr b="1" sz="2500"/>
          </a:p>
        </p:txBody>
      </p:sp>
      <p:sp>
        <p:nvSpPr>
          <p:cNvPr id="398" name="Google Shape;398;p33"/>
          <p:cNvSpPr txBox="1"/>
          <p:nvPr>
            <p:ph type="title"/>
          </p:nvPr>
        </p:nvSpPr>
        <p:spPr>
          <a:xfrm>
            <a:off x="203275" y="674775"/>
            <a:ext cx="7317600" cy="8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Steps: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dk1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              </a:t>
            </a:r>
            <a:r>
              <a:rPr lang="en" sz="5400">
                <a:solidFill>
                  <a:schemeClr val="lt1"/>
                </a:solidFill>
              </a:rPr>
              <a:t>Thank you :)</a:t>
            </a:r>
            <a:endParaRPr sz="5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