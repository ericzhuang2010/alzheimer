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1.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8"/>
  </p:notesMasterIdLst>
  <p:sldIdLst>
    <p:sldId id="256" r:id="rId2"/>
    <p:sldId id="417" r:id="rId3"/>
    <p:sldId id="416" r:id="rId4"/>
    <p:sldId id="418" r:id="rId5"/>
    <p:sldId id="261" r:id="rId6"/>
    <p:sldId id="262" r:id="rId7"/>
    <p:sldId id="263" r:id="rId8"/>
    <p:sldId id="258" r:id="rId9"/>
    <p:sldId id="271" r:id="rId10"/>
    <p:sldId id="419" r:id="rId11"/>
    <p:sldId id="257" r:id="rId12"/>
    <p:sldId id="259" r:id="rId13"/>
    <p:sldId id="260" r:id="rId14"/>
    <p:sldId id="420" r:id="rId15"/>
    <p:sldId id="264" r:id="rId16"/>
    <p:sldId id="266" r:id="rId17"/>
    <p:sldId id="267" r:id="rId18"/>
    <p:sldId id="268" r:id="rId19"/>
    <p:sldId id="269" r:id="rId20"/>
    <p:sldId id="270"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421" r:id="rId41"/>
    <p:sldId id="422" r:id="rId42"/>
    <p:sldId id="423" r:id="rId43"/>
    <p:sldId id="427" r:id="rId44"/>
    <p:sldId id="424" r:id="rId45"/>
    <p:sldId id="425" r:id="rId46"/>
    <p:sldId id="426"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7" r:id="rId73"/>
    <p:sldId id="318" r:id="rId74"/>
    <p:sldId id="319" r:id="rId75"/>
    <p:sldId id="320" r:id="rId76"/>
    <p:sldId id="321" r:id="rId77"/>
    <p:sldId id="322" r:id="rId78"/>
    <p:sldId id="324" r:id="rId79"/>
    <p:sldId id="325" r:id="rId80"/>
    <p:sldId id="326" r:id="rId81"/>
    <p:sldId id="327" r:id="rId82"/>
    <p:sldId id="328" r:id="rId83"/>
    <p:sldId id="329" r:id="rId84"/>
    <p:sldId id="331" r:id="rId85"/>
    <p:sldId id="332" r:id="rId86"/>
    <p:sldId id="333" r:id="rId87"/>
    <p:sldId id="334" r:id="rId88"/>
    <p:sldId id="335" r:id="rId89"/>
    <p:sldId id="336" r:id="rId90"/>
    <p:sldId id="338" r:id="rId91"/>
    <p:sldId id="339" r:id="rId92"/>
    <p:sldId id="340" r:id="rId93"/>
    <p:sldId id="341" r:id="rId94"/>
    <p:sldId id="342" r:id="rId95"/>
    <p:sldId id="343" r:id="rId96"/>
    <p:sldId id="345" r:id="rId97"/>
    <p:sldId id="346" r:id="rId98"/>
    <p:sldId id="347" r:id="rId99"/>
    <p:sldId id="348" r:id="rId100"/>
    <p:sldId id="349" r:id="rId101"/>
    <p:sldId id="350" r:id="rId102"/>
    <p:sldId id="352" r:id="rId103"/>
    <p:sldId id="353" r:id="rId104"/>
    <p:sldId id="354" r:id="rId105"/>
    <p:sldId id="355" r:id="rId106"/>
    <p:sldId id="356" r:id="rId107"/>
    <p:sldId id="357" r:id="rId108"/>
    <p:sldId id="359" r:id="rId109"/>
    <p:sldId id="360" r:id="rId110"/>
    <p:sldId id="361" r:id="rId111"/>
    <p:sldId id="362" r:id="rId112"/>
    <p:sldId id="363" r:id="rId113"/>
    <p:sldId id="364" r:id="rId114"/>
    <p:sldId id="366" r:id="rId115"/>
    <p:sldId id="367" r:id="rId116"/>
    <p:sldId id="368" r:id="rId117"/>
    <p:sldId id="369" r:id="rId118"/>
    <p:sldId id="370" r:id="rId119"/>
    <p:sldId id="371" r:id="rId120"/>
    <p:sldId id="373" r:id="rId121"/>
    <p:sldId id="374" r:id="rId122"/>
    <p:sldId id="375" r:id="rId123"/>
    <p:sldId id="376" r:id="rId124"/>
    <p:sldId id="377" r:id="rId125"/>
    <p:sldId id="378" r:id="rId126"/>
    <p:sldId id="380" r:id="rId127"/>
    <p:sldId id="381" r:id="rId128"/>
    <p:sldId id="382" r:id="rId129"/>
    <p:sldId id="383" r:id="rId130"/>
    <p:sldId id="384" r:id="rId131"/>
    <p:sldId id="385" r:id="rId132"/>
    <p:sldId id="387" r:id="rId133"/>
    <p:sldId id="388" r:id="rId134"/>
    <p:sldId id="389" r:id="rId135"/>
    <p:sldId id="390" r:id="rId136"/>
    <p:sldId id="391" r:id="rId137"/>
    <p:sldId id="392" r:id="rId138"/>
    <p:sldId id="394" r:id="rId139"/>
    <p:sldId id="395" r:id="rId140"/>
    <p:sldId id="396" r:id="rId141"/>
    <p:sldId id="397" r:id="rId142"/>
    <p:sldId id="398" r:id="rId143"/>
    <p:sldId id="399" r:id="rId144"/>
    <p:sldId id="401" r:id="rId145"/>
    <p:sldId id="402" r:id="rId146"/>
    <p:sldId id="403" r:id="rId147"/>
    <p:sldId id="404" r:id="rId148"/>
    <p:sldId id="405" r:id="rId149"/>
    <p:sldId id="406" r:id="rId150"/>
    <p:sldId id="408" r:id="rId151"/>
    <p:sldId id="409" r:id="rId152"/>
    <p:sldId id="410" r:id="rId153"/>
    <p:sldId id="411" r:id="rId154"/>
    <p:sldId id="412" r:id="rId155"/>
    <p:sldId id="413" r:id="rId156"/>
    <p:sldId id="415" r:id="rId1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141"/>
    <p:restoredTop sz="93495"/>
  </p:normalViewPr>
  <p:slideViewPr>
    <p:cSldViewPr snapToGrid="0" snapToObjects="1">
      <p:cViewPr varScale="1">
        <p:scale>
          <a:sx n="144" d="100"/>
          <a:sy n="144" d="100"/>
        </p:scale>
        <p:origin x="232" y="3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8.7370822010080604E-2"/>
          <c:y val="0.13000066540978153"/>
          <c:w val="0.89964982695747098"/>
          <c:h val="0.77148319840301649"/>
        </c:manualLayout>
      </c:layout>
      <c:barChart>
        <c:barDir val="col"/>
        <c:grouping val="clustered"/>
        <c:varyColors val="0"/>
        <c:ser>
          <c:idx val="0"/>
          <c:order val="0"/>
          <c:tx>
            <c:v>Core MT genes (13)</c:v>
          </c:tx>
          <c:spPr>
            <a:solidFill>
              <a:srgbClr val="0072B2"/>
            </a:solidFill>
            <a:ln w="9525">
              <a:solidFill>
                <a:srgbClr val="0072B2"/>
              </a:solidFill>
              <a:prstDash val="solid"/>
            </a:ln>
          </c:spPr>
          <c:invertIfNegative val="0"/>
          <c:dLbls>
            <c:dLbl>
              <c:idx val="0"/>
              <c:tx>
                <c:rich>
                  <a:bodyPr/>
                  <a:lstStyle/>
                  <a:p>
                    <a:r>
                      <a:rPr lang="en-US" sz="1125" b="1">
                        <a:solidFill>
                          <a:srgbClr val="FFFFFF"/>
                        </a:solidFill>
                        <a:latin typeface="Arial"/>
                        <a:ea typeface="Arial"/>
                        <a:cs typeface="Arial"/>
                      </a:rPr>
                      <a:t>99%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9E9D-094B-8C10-6055E5D992BE}"/>
                </c:ext>
              </c:extLst>
            </c:dLbl>
            <c:dLbl>
              <c:idx val="1"/>
              <c:tx>
                <c:rich>
                  <a:bodyPr/>
                  <a:lstStyle/>
                  <a:p>
                    <a:r>
                      <a:rPr lang="en-US" sz="1125" b="1">
                        <a:solidFill>
                          <a:srgbClr val="FFFFFF"/>
                        </a:solidFill>
                        <a:latin typeface="Arial"/>
                        <a:ea typeface="Arial"/>
                        <a:cs typeface="Arial"/>
                      </a:rPr>
                      <a:t>100%</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9E9D-094B-8C10-6055E5D992BE}"/>
                </c:ext>
              </c:extLst>
            </c:dLbl>
            <c:dLbl>
              <c:idx val="2"/>
              <c:tx>
                <c:rich>
                  <a:bodyPr/>
                  <a:lstStyle/>
                  <a:p>
                    <a:r>
                      <a:rPr lang="en-US" sz="1125" b="1">
                        <a:solidFill>
                          <a:srgbClr val="0072B2"/>
                        </a:solidFill>
                        <a:latin typeface="Arial"/>
                        <a:ea typeface="Arial"/>
                        <a:cs typeface="Arial"/>
                      </a:rPr>
                      <a:t>41%</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9E9D-094B-8C10-6055E5D992BE}"/>
                </c:ext>
              </c:extLst>
            </c:dLbl>
            <c:dLbl>
              <c:idx val="3"/>
              <c:tx>
                <c:rich>
                  <a:bodyPr/>
                  <a:lstStyle/>
                  <a:p>
                    <a:r>
                      <a:rPr lang="en-US" sz="1125" b="1">
                        <a:solidFill>
                          <a:srgbClr val="0072B2"/>
                        </a:solidFill>
                        <a:latin typeface="Arial"/>
                        <a:ea typeface="Arial"/>
                        <a:cs typeface="Arial"/>
                      </a:rPr>
                      <a:t>10%</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9E9D-094B-8C10-6055E5D992BE}"/>
                </c:ext>
              </c:extLst>
            </c:dLbl>
            <c:dLbl>
              <c:idx val="4"/>
              <c:tx>
                <c:rich>
                  <a:bodyPr/>
                  <a:lstStyle/>
                  <a:p>
                    <a:r>
                      <a:rPr lang="en-US" sz="1125" b="1">
                        <a:solidFill>
                          <a:srgbClr val="FFFFFF"/>
                        </a:solidFill>
                        <a:latin typeface="Arial"/>
                        <a:ea typeface="Arial"/>
                        <a:cs typeface="Arial"/>
                      </a:rPr>
                      <a:t>86%</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9E9D-094B-8C10-6055E5D992BE}"/>
                </c:ext>
              </c:extLst>
            </c:dLbl>
            <c:dLbl>
              <c:idx val="5"/>
              <c:tx>
                <c:rich>
                  <a:bodyPr/>
                  <a:lstStyle/>
                  <a:p>
                    <a:r>
                      <a:rPr lang="en-US" sz="1125" b="1">
                        <a:solidFill>
                          <a:srgbClr val="FFFFFF"/>
                        </a:solidFill>
                        <a:latin typeface="Arial"/>
                        <a:ea typeface="Arial"/>
                        <a:cs typeface="Arial"/>
                      </a:rPr>
                      <a:t>79%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Female ε2</c:v>
                </c:pt>
                <c:pt idx="1">
                  <c:v>Female ε3/ε3</c:v>
                </c:pt>
                <c:pt idx="2">
                  <c:v>Female ε4</c:v>
                </c:pt>
                <c:pt idx="3">
                  <c:v>Male ε2</c:v>
                </c:pt>
                <c:pt idx="4">
                  <c:v>Male ε3/ε3</c:v>
                </c:pt>
                <c:pt idx="5">
                  <c:v>Male ε4</c:v>
                </c:pt>
              </c:strCache>
            </c:strRef>
          </c:cat>
          <c:val>
            <c:numRef>
              <c:f>'Chart Data'!$B$2:$B$7</c:f>
              <c:numCache>
                <c:formatCode>0" pp"</c:formatCode>
                <c:ptCount val="6"/>
                <c:pt idx="0">
                  <c:v>49</c:v>
                </c:pt>
                <c:pt idx="1">
                  <c:v>50</c:v>
                </c:pt>
                <c:pt idx="2">
                  <c:v>-9</c:v>
                </c:pt>
                <c:pt idx="3">
                  <c:v>-40</c:v>
                </c:pt>
                <c:pt idx="4">
                  <c:v>36</c:v>
                </c:pt>
                <c:pt idx="5">
                  <c:v>29</c:v>
                </c:pt>
              </c:numCache>
            </c:numRef>
          </c:val>
          <c:extLst>
            <c:ext xmlns:c16="http://schemas.microsoft.com/office/drawing/2014/chart" uri="{C3380CC4-5D6E-409C-BE32-E72D297353CC}">
              <c16:uniqueId val="{00000006-9E9D-094B-8C10-6055E5D992BE}"/>
            </c:ext>
          </c:extLst>
        </c:ser>
        <c:ser>
          <c:idx val="1"/>
          <c:order val="1"/>
          <c:tx>
            <c:v>Nuclear-encoded OXPHOS genes (86)</c:v>
          </c:tx>
          <c:spPr>
            <a:solidFill>
              <a:srgbClr val="D55E00"/>
            </a:solidFill>
            <a:ln w="9525">
              <a:solidFill>
                <a:srgbClr val="D55E00"/>
              </a:solidFill>
              <a:prstDash val="solid"/>
            </a:ln>
          </c:spPr>
          <c:invertIfNegative val="0"/>
          <c:dLbls>
            <c:dLbl>
              <c:idx val="0"/>
              <c:tx>
                <c:rich>
                  <a:bodyPr/>
                  <a:lstStyle/>
                  <a:p>
                    <a:r>
                      <a:rPr lang="en-US" sz="1125" b="1">
                        <a:solidFill>
                          <a:srgbClr val="FFFFFF"/>
                        </a:solidFill>
                        <a:latin typeface="Arial"/>
                        <a:ea typeface="Arial"/>
                        <a:cs typeface="Arial"/>
                      </a:rPr>
                      <a:t>98%</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9E9D-094B-8C10-6055E5D992BE}"/>
                </c:ext>
              </c:extLst>
            </c:dLbl>
            <c:dLbl>
              <c:idx val="1"/>
              <c:tx>
                <c:rich>
                  <a:bodyPr/>
                  <a:lstStyle/>
                  <a:p>
                    <a:r>
                      <a:rPr lang="en-US" sz="1125" b="1">
                        <a:solidFill>
                          <a:srgbClr val="FFFFFF"/>
                        </a:solidFill>
                        <a:latin typeface="Arial"/>
                        <a:ea typeface="Arial"/>
                        <a:cs typeface="Arial"/>
                      </a:rPr>
                      <a:t>85%</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9E9D-094B-8C10-6055E5D992BE}"/>
                </c:ext>
              </c:extLst>
            </c:dLbl>
            <c:dLbl>
              <c:idx val="2"/>
              <c:tx>
                <c:rich>
                  <a:bodyPr/>
                  <a:lstStyle/>
                  <a:p>
                    <a:r>
                      <a:rPr lang="en-US" sz="1125" b="1">
                        <a:solidFill>
                          <a:srgbClr val="D55E00"/>
                        </a:solidFill>
                        <a:latin typeface="Arial"/>
                        <a:ea typeface="Arial"/>
                        <a:cs typeface="Arial"/>
                      </a:rPr>
                      <a:t>5%</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9E9D-094B-8C10-6055E5D992BE}"/>
                </c:ext>
              </c:extLst>
            </c:dLbl>
            <c:dLbl>
              <c:idx val="3"/>
              <c:tx>
                <c:rich>
                  <a:bodyPr/>
                  <a:lstStyle/>
                  <a:p>
                    <a:r>
                      <a:rPr lang="en-US" sz="1125" b="1">
                        <a:solidFill>
                          <a:srgbClr val="D55E00"/>
                        </a:solidFill>
                        <a:latin typeface="Arial"/>
                        <a:ea typeface="Arial"/>
                        <a:cs typeface="Arial"/>
                      </a:rPr>
                      <a:t>13%</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9E9D-094B-8C10-6055E5D992BE}"/>
                </c:ext>
              </c:extLst>
            </c:dLbl>
            <c:dLbl>
              <c:idx val="4"/>
              <c:tx>
                <c:rich>
                  <a:bodyPr/>
                  <a:lstStyle/>
                  <a:p>
                    <a:r>
                      <a:rPr lang="en-US" sz="1125" b="1">
                        <a:solidFill>
                          <a:srgbClr val="D55E00"/>
                        </a:solidFill>
                        <a:latin typeface="Arial"/>
                        <a:ea typeface="Arial"/>
                        <a:cs typeface="Arial"/>
                      </a:rPr>
                      <a:t>12%</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9E9D-094B-8C10-6055E5D992BE}"/>
                </c:ext>
              </c:extLst>
            </c:dLbl>
            <c:dLbl>
              <c:idx val="5"/>
              <c:tx>
                <c:rich>
                  <a:bodyPr/>
                  <a:lstStyle/>
                  <a:p>
                    <a:r>
                      <a:rPr lang="en-US" sz="1125" b="1">
                        <a:solidFill>
                          <a:srgbClr val="D55E00"/>
                        </a:solidFill>
                        <a:latin typeface="Arial"/>
                        <a:ea typeface="Arial"/>
                        <a:cs typeface="Arial"/>
                      </a:rPr>
                      <a:t>38%</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Data'!$C$2:$C$7</c:f>
              <c:strCache>
                <c:ptCount val="6"/>
                <c:pt idx="0">
                  <c:v>Female ε2</c:v>
                </c:pt>
                <c:pt idx="1">
                  <c:v>Female ε3/ε3</c:v>
                </c:pt>
                <c:pt idx="2">
                  <c:v>Female ε4</c:v>
                </c:pt>
                <c:pt idx="3">
                  <c:v>Male ε2</c:v>
                </c:pt>
                <c:pt idx="4">
                  <c:v>Male ε3/ε3</c:v>
                </c:pt>
                <c:pt idx="5">
                  <c:v>Male ε4</c:v>
                </c:pt>
              </c:strCache>
            </c:strRef>
          </c:cat>
          <c:val>
            <c:numRef>
              <c:f>'Chart Data'!$D$2:$D$7</c:f>
              <c:numCache>
                <c:formatCode>0" pp"</c:formatCode>
                <c:ptCount val="6"/>
                <c:pt idx="0">
                  <c:v>48</c:v>
                </c:pt>
                <c:pt idx="1">
                  <c:v>35</c:v>
                </c:pt>
                <c:pt idx="2">
                  <c:v>-45</c:v>
                </c:pt>
                <c:pt idx="3">
                  <c:v>-37</c:v>
                </c:pt>
                <c:pt idx="4">
                  <c:v>-38</c:v>
                </c:pt>
                <c:pt idx="5">
                  <c:v>-12</c:v>
                </c:pt>
              </c:numCache>
            </c:numRef>
          </c:val>
          <c:extLst>
            <c:ext xmlns:c16="http://schemas.microsoft.com/office/drawing/2014/chart" uri="{C3380CC4-5D6E-409C-BE32-E72D297353CC}">
              <c16:uniqueId val="{0000000D-9E9D-094B-8C10-6055E5D992BE}"/>
            </c:ext>
          </c:extLst>
        </c:ser>
        <c:dLbls>
          <c:dLblPos val="inEnd"/>
          <c:showLegendKey val="0"/>
          <c:showVal val="1"/>
          <c:showCatName val="0"/>
          <c:showSerName val="0"/>
          <c:showPercent val="0"/>
          <c:showBubbleSize val="0"/>
        </c:dLbls>
        <c:gapWidth val="5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667788"/>
            </a:solidFill>
            <a:prstDash val="solid"/>
          </a:ln>
        </c:spPr>
        <c:txPr>
          <a:bodyPr anchorCtr="1"/>
          <a:lstStyle/>
          <a:p>
            <a:pPr>
              <a:defRPr sz="1125" b="1">
                <a:solidFill>
                  <a:srgbClr val="1F2730"/>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50"/>
          <c:min val="-50"/>
        </c:scaling>
        <c:delete val="0"/>
        <c:axPos val="l"/>
        <c:majorGridlines>
          <c:spPr>
            <a:ln w="9525">
              <a:solidFill>
                <a:srgbClr val="D5DDE6"/>
              </a:solidFill>
              <a:prstDash val="solid"/>
            </a:ln>
          </c:spPr>
        </c:majorGridlines>
        <c:title>
          <c:tx>
            <c:rich>
              <a:bodyPr/>
              <a:lstStyle/>
              <a:p>
                <a:r>
                  <a:rPr lang="en-US" sz="1050">
                    <a:solidFill>
                      <a:srgbClr val="1F2730"/>
                    </a:solidFill>
                    <a:latin typeface="Arial"/>
                    <a:ea typeface="Arial"/>
                    <a:cs typeface="Arial"/>
                  </a:rPr>
                  <a:t>Difference from 50% (percentage points)</a:t>
                </a:r>
              </a:p>
            </c:rich>
          </c:tx>
          <c:layout>
            <c:manualLayout>
              <c:xMode val="edge"/>
              <c:yMode val="edge"/>
              <c:x val="0"/>
              <c:y val="0.16067162027281801"/>
            </c:manualLayout>
          </c:layout>
          <c:overlay val="0"/>
        </c:title>
        <c:numFmt formatCode="\+0&quot; pp&quot;;\-0&quot; pp&quot;;&quot;50% equal&quot;" sourceLinked="0"/>
        <c:majorTickMark val="none"/>
        <c:minorTickMark val="none"/>
        <c:tickLblPos val="nextTo"/>
        <c:spPr>
          <a:ln w="9525">
            <a:solidFill>
              <a:srgbClr val="667788"/>
            </a:solidFill>
            <a:prstDash val="solid"/>
          </a:ln>
        </c:spPr>
        <c:txPr>
          <a:bodyPr anchorCtr="1"/>
          <a:lstStyle/>
          <a:p>
            <a:pPr>
              <a:defRPr sz="975">
                <a:solidFill>
                  <a:srgbClr val="1F2730"/>
                </a:solidFill>
                <a:latin typeface="Arial"/>
                <a:ea typeface="Arial"/>
                <a:cs typeface="Arial"/>
              </a:defRPr>
            </a:pPr>
            <a:endParaRPr lang="en-US"/>
          </a:p>
        </c:txPr>
        <c:crossAx val="48650112"/>
        <c:crosses val="autoZero"/>
        <c:crossBetween val="between"/>
        <c:majorUnit val="25"/>
      </c:valAx>
      <c:spPr>
        <a:solidFill>
          <a:srgbClr val="FFFFFF"/>
        </a:solidFill>
        <a:ln w="0">
          <a:noFill/>
          <a:prstDash val="solid"/>
        </a:ln>
      </c:spPr>
    </c:plotArea>
    <c:legend>
      <c:legendPos val="t"/>
      <c:overlay val="0"/>
      <c:txPr>
        <a:bodyPr anchorCtr="1"/>
        <a:lstStyle/>
        <a:p>
          <a:pPr>
            <a:defRPr sz="1050">
              <a:solidFill>
                <a:srgbClr val="1F2730"/>
              </a:solidFill>
              <a:latin typeface="Arial"/>
              <a:ea typeface="Arial"/>
              <a:cs typeface="Arial"/>
            </a:defRPr>
          </a:pPr>
          <a:endParaRPr lang="en-US"/>
        </a:p>
      </c:txPr>
    </c:legend>
    <c:plotVisOnly val="1"/>
    <c:dispBlanksAs val="zero"/>
    <c:showDLblsOverMax val="1"/>
  </c:chart>
  <c:spPr>
    <a:solidFill>
      <a:srgbClr val="FFFFFF"/>
    </a:solidFill>
    <a:ln w="0">
      <a:noFill/>
      <a:prstDash val="solid"/>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research question and presentation scope.</a:t>
            </a:r>
          </a:p>
          <a:p>
            <a:endParaRPr/>
          </a:p>
          <a:p>
            <a:r>
              <a:t>Walk through: This study asks how sex, APOE genotype, and brain cell type shape mitochondrial gene-expression changes in Alzheimer’s disease. ROSMAP provides the primary analysis, and SEA-AD provides supplemental human support. The presentation begins with the overall workflow, then moves through DEG analysis, pathway analysis, KDA, human validation, sensitivity analyses, and 17 biological findings. Mouse validation is a potential future step.</a:t>
            </a:r>
          </a:p>
          <a:p>
            <a:endParaRPr/>
          </a:p>
          <a:p>
            <a:r>
              <a:t>Scientific boundary: The evidence is transcriptomic and exploratory. Separate results within sex/APOE strata do not by themselves establish a disease-by-sex or disease-by-APOE interaction, and RNA abundance does not measure mitochondrial function directly.</a:t>
            </a:r>
          </a:p>
          <a:p>
            <a:endParaRPr/>
          </a:p>
          <a:p>
            <a:r>
              <a:t>Transition: Begin with Part 1, the study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Part 1, study overview and key concepts.</a:t>
            </a:r>
          </a:p>
          <a:p>
            <a:endParaRPr/>
          </a:p>
          <a:p>
            <a:r>
              <a:t>Walk through: Part 1 presents the overall workflow and the roles of the two human cohorts. It then introduces the mitochondrial gene sets and MitoCarta pathway hierarchy. The section closes by defining contrast, category, and DEG occurrence, the analysis units used later in the presentation.</a:t>
            </a:r>
          </a:p>
          <a:p>
            <a:endParaRPr/>
          </a:p>
          <a:p>
            <a:r>
              <a:t>Scientific boundary: This section defines the study design and analysis inputs. It does not yet present the main biological findings.</a:t>
            </a:r>
          </a:p>
          <a:p>
            <a:endParaRPr/>
          </a:p>
          <a:p>
            <a:r>
              <a:t>Transition: Begin with the overall workflow.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the analysis moves from cell-level gene expression to validation.</a:t>
            </a:r>
          </a:p>
          <a:p>
            <a:endParaRPr/>
          </a:p>
          <a:p>
            <a:r>
              <a:t>Walk through: First, differential-expression analysis identifies genes with higher or lower RNA abundance in Alzheimer’s disease within each fine-cell, sex, and APOE comparison. Second, pathway analysis summarizes the mitochondrial processes represented among those genes. Third, key driver analysis, abbreviated KDA, uses gene networks to nominate genes connected to the MitoCarta MT DEGs. Fourth, human validation compares the ROSMAP findings with SEA-AD and direct broad-cell analyses. A potential future step is mouse validation of selected candidates and mitochondrial function.</a:t>
            </a:r>
          </a:p>
          <a:p>
            <a:endParaRPr/>
          </a:p>
          <a:p>
            <a:r>
              <a:t>Scientific boundary: The first four stages summarize analyses presented in this deck. Mouse validation is a proposed next step and does not contribute evidence to the current findings.</a:t>
            </a:r>
          </a:p>
          <a:p>
            <a:endParaRPr/>
          </a:p>
          <a:p>
            <a:r>
              <a:t>Transition: Next, introduce the two human brain cohorts.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roles and scales of ROSMAP and SEA-AD before presenting the analyses.</a:t>
            </a:r>
          </a:p>
          <a:p>
            <a:endParaRPr/>
          </a:p>
          <a:p>
            <a:r>
              <a:t>Walk through: ROSMAP is the primary discovery cohort, with 54 fine cell types and 324 planned comparisons across sex and APOE groups. SEA-AD provides supplemental human validation, with 129 fine cell categories called supertypes and 774 planned comparisons. ROSMAP supplies the primary differential-expression, pathway, and KDA findings. SEA-AD tests whether gene-set patterns and KDA candidates recur in another human cohort.</a:t>
            </a:r>
          </a:p>
          <a:p>
            <a:endParaRPr/>
          </a:p>
          <a:p>
            <a:r>
              <a:t>Scientific boundary: Planned comparisons describe the study design. They are not counts of estimable comparisons or completed KDA calls. The cohorts also use cohort-specific network backgrounds, and SEA-AD coverage is uneven across sex and APOE groups.</a:t>
            </a:r>
          </a:p>
          <a:p>
            <a:endParaRPr/>
          </a:p>
          <a:p>
            <a:r>
              <a:t>Transition: Next, define the mitochondrial gene sets used throughout the study.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two mitochondrial protein-gene sets used throughout the study.</a:t>
            </a:r>
          </a:p>
          <a:p>
            <a:endParaRPr/>
          </a:p>
          <a:p>
            <a:r>
              <a:t>Walk through: Start with core MT genes. In this study, that term means the 13 protein-coding genes in mitochondrial DNA. All 13 encode structural subunits of oxidative phosphorylation, or OXPHOS. The broader MitoCarta MT inventory contains 1,136 protein-coding genes associated with mitochondria. It includes the same 13 core MT genes and 1,123 genes encoded by nuclear DNA. We use MitoCarta MT genes to define the mitochondrial pathways and to build the DEG input queries used when we make KDA calls.</a:t>
            </a:r>
          </a:p>
          <a:p>
            <a:endParaRPr/>
          </a:p>
          <a:p>
            <a:r>
              <a:t>Scientific boundary: Mitochondrial DNA contains 37 genes in total. The other 24 encode 22 transfer RNAs and two ribosomal RNAs, so they are not included in the protein-gene sets analyzed here. In this study, core MT genes and mtDNA-encoded structural OXPHOS genes refer to the same 13 genes. Expression of these genes does not measure mtDNA copy number, OXPHOS protein abundance, or mitochondrial function.</a:t>
            </a:r>
          </a:p>
          <a:p>
            <a:endParaRPr/>
          </a:p>
          <a:p>
            <a:r>
              <a:t>Transition: The next slide shows how the 13 core MT genes and the nuclear-encoded OXPHOS genes fit inside MitoCarta.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the structural OXPHOS gene set is contained within the MitoCarta MT inventory.</a:t>
            </a:r>
          </a:p>
          <a:p>
            <a:endParaRPr/>
          </a:p>
          <a:p>
            <a:r>
              <a:t>Walk through: The green outer circle contains all 1,136 MitoCarta MT genes. The gold inner circle sits fully inside it because all 99 structural OXPHOS genes used here are in MitoCarta. The vertical split separates the 13 core MT genes, encoded by mitochondrial DNA, from 86 OXPHOS genes encoded by nuclear DNA. Together, the two groups account for the 99 structural OXPHOS genes. The remaining 1,037 MitoCarta MT genes fall outside the structural OXPHOS set.</a:t>
            </a:r>
          </a:p>
          <a:p>
            <a:endParaRPr/>
          </a:p>
          <a:p>
            <a:r>
              <a:t>Scientific boundary: The circles show gene-set membership only. Nuclear-encoded tells us that the gene is located in nuclear DNA. Its protein still functions in mitochondria. The diagram does not show expression direction, pathway enrichment, protein abundance, or mitochondrial function. Circle area does not represent gene count.</a:t>
            </a:r>
          </a:p>
          <a:p>
            <a:endParaRPr/>
          </a:p>
          <a:p>
            <a:r>
              <a:t>Transition: Next, introduce the three levels used to organize MitoCarta pathways.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three MitoCarta pathway levels used in the analysis.</a:t>
            </a:r>
          </a:p>
          <a:p>
            <a:endParaRPr/>
          </a:p>
          <a:p>
            <a:r>
              <a:t>Walk through: MitoCarta organizes its 1,136 MT genes into a nested hierarchy. Level 1 contains seven broad mitochondrial systems. Level 2 contains 39 pathways within those systems. Level 3 adds 103 more detailed subpathways. For example, oxidative phosphorylation is a Level 1 system, Complex I is a Level 2 pathway within it, and Complex I subunits form a Level 3 pathway. Levels 1 and 2 therefore contain 46 pathways, while the complete hierarchy contains 149.</a:t>
            </a:r>
          </a:p>
          <a:p>
            <a:endParaRPr/>
          </a:p>
          <a:p>
            <a:r>
              <a:t>Scientific boundary: The levels describe biological specificity, not statistical strength. Because the hierarchy is nested, broad and detailed pathways can share genes and can produce related enrichment results. Counts come from the Phase 11 MitoCarta pathway manifest in results/minerva_production/11_pathway_deg_fine.</a:t>
            </a:r>
          </a:p>
          <a:p>
            <a:endParaRPr/>
          </a:p>
          <a:p>
            <a:r>
              <a:t>Transition: With the mitochondrial gene sets and pathway hierarchy defined, next define a contrast.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contrast unit from the KDA call it may generate.</a:t>
            </a:r>
          </a:p>
          <a:p>
            <a:endParaRPr/>
          </a:p>
          <a:p>
            <a:r>
              <a:t>Walk through: A contrast is one AD-versus-NCI comparison within one fine cell type and one sex/APOE group. Therefore, N fine cell types create six N planned contrasts; in ROSMAP, 54 fine types create 324. Source-invalid contrasts are removed, and a valid contrast leads to a KDA call only when its mapped MitoCarta MT query contains at least three genes. One completed KDA call can return a list of genes, with each gene appearing at most once in that KDA call.</a:t>
            </a:r>
          </a:p>
          <a:p>
            <a:endParaRPr/>
          </a:p>
          <a:p>
            <a:r>
              <a:t>Scientific boundary: A planned contrast is a comparison opportunity, not a completed KDA call or an independent biological replication. A skipped contrast is unavailable rather than a completed null result.</a:t>
            </a:r>
          </a:p>
          <a:p>
            <a:endParaRPr/>
          </a:p>
          <a:p>
            <a:r>
              <a:t>Transition: With the contrast defined, next define the category used to summarize fine-cell KDA results.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084734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category unit and the fine-cell-to-broad aggregation.</a:t>
            </a:r>
          </a:p>
          <a:p>
            <a:endParaRPr/>
          </a:p>
          <a:p>
            <a:r>
              <a:t>Walk through: Two sexes crossed with three APOE groups create six sex/APOE groups. Crossing each group with seven frozen broad cell types creates 42 possible categories; M_e33 by excitatory neurons is one example. Contrasts outnumber categories because several fine cell types can map to the same broad cell type. When the same driver returns from multiple fine-cell KDA calls in one category, the returned within each KDA call adjusted P values are combined by equal-weight ACAT into one gene-by-category score.</a:t>
            </a:r>
          </a:p>
          <a:p>
            <a:endParaRPr/>
          </a:p>
          <a:p>
            <a:r>
              <a:t>Scientific boundary: Forty-two is the structural design space, not 42 observed negative or positive results. A category may lack an eligible KDA call or a returned non-MitoCarta driver. The ACAT is returned-only: a KDA call in which the gene was not returned does not contribute P equals one.</a:t>
            </a:r>
          </a:p>
          <a:p>
            <a:endParaRPr/>
          </a:p>
          <a:p>
            <a:r>
              <a:t>Transition: With contrast and category defined, next explain what counts as one DEG occurrence.</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94788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 DEG and a DEG occurrence before showing DEG counts and direction percentages.</a:t>
            </a:r>
          </a:p>
          <a:p>
            <a:endParaRPr/>
          </a:p>
          <a:p>
            <a:r>
              <a:t>Walk through: Within one fine-cell contrast, a gene is called a DEG when its BH-adjusted P value is below 0.05 and its absolute log2 fold change is greater than log2 of 1.3, approximately 0.38. Positive fold change means upregulated in AD, and negative fold change means downregulated in AD. One DEG in one fine-cell contrast contributes one DEG occurrence. If the same gene is a DEG in three contrasts, it contributes three DEG occurrences but remains one unique gene.</a:t>
            </a:r>
          </a:p>
          <a:p>
            <a:endParaRPr/>
          </a:p>
          <a:p>
            <a:r>
              <a:t>Scientific boundary: The DEG criteria are evaluated separately within each contrast. A DEG occurrence is a repeated DEG result, not a unique gene, participant, or independent replication. Meeting the DEG criteria does not establish causation.</a:t>
            </a:r>
          </a:p>
          <a:p>
            <a:endParaRPr/>
          </a:p>
          <a:p>
            <a:r>
              <a:t>Transition: With the Part 1 concepts established, begin Part 2 with the overall DEG counts.</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44192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differential-expression layer.</a:t>
            </a:r>
          </a:p>
          <a:p>
            <a:endParaRPr/>
          </a:p>
          <a:p>
            <a:r>
              <a:t>Walk through: DEG analysis compares disease with the cohort-specific comparison group inside each fine cell type and sex/APOE stratum. These contrast-level results provide the mitochondrial gene lists used for pathway analysis and for the KDA queries.</a:t>
            </a:r>
          </a:p>
          <a:p>
            <a:endParaRPr/>
          </a:p>
          <a:p>
            <a:r>
              <a:t>Scientific boundary: A DEG is an RNA-abundance difference, not proof of causal regulation, protein change, or altered mitochondrial function. ROSMAP uses AD versus NCI, whereas SEA-AD uses dementia versus no dementia.</a:t>
            </a:r>
          </a:p>
          <a:p>
            <a:endParaRPr/>
          </a:p>
          <a:p>
            <a:r>
              <a:t>Transition: Start with the overall DEG counts across sex and 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complete fine-cell DEG results before pathway analysis.</a:t>
            </a:r>
          </a:p>
          <a:p>
            <a:endParaRPr/>
          </a:p>
          <a:p>
            <a:r>
              <a:t>Walk through: ROSMAP contained 324 planned AD-versus-NCI contrasts: 54 fine cell types crossed with six sex/APOE groups. Three male epsilon-2 contrasts did not have enough cells for the planned DEG model, leaving 321 analyzed contrasts; 277 of those had at least one DEG. Across all genes, there were 118,297 DEG occurrences representing 14,840 distinct genes. The bars divide these occurrences into higher expression in AD and lower expression in AD. Female epsilon-2 had 10,952 occurrences, 65 percent higher in AD. Female epsilon-3 homozygous had 11,236, 47 percent higher. Female epsilon-4 had 20,942, with 76 percent lower in AD. Male epsilon-2 had the largest count, 45,781, with 56 percent higher. Male epsilon-3 homozygous had 13,120, and male epsilon-4 had 16,266; both were close to evenly split.</a:t>
            </a:r>
          </a:p>
          <a:p>
            <a:endParaRPr/>
          </a:p>
          <a:p>
            <a:r>
              <a:t>Scientific boundary: A DEG met the prespecified within-contrast criteria: BH FDR below 0.05, absolute fold change above 1.3, and detection in at least 10 percent of cells in either group. Counts repeat a gene when it is a DEG in another fine-cell comparison. They are descriptive and can reflect sample size, power, and the number of genes tested; they are not donor counts, independent replications, or a formal disease-by-sex/APOE interaction test.</a:t>
            </a:r>
          </a:p>
          <a:p>
            <a:endParaRPr/>
          </a:p>
          <a:p>
            <a:r>
              <a:t>Transition: Move from the all-gene DEG counts to pathway analysis.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Position pathway analysis between DEG testing and network analysis.</a:t>
            </a:r>
          </a:p>
          <a:p>
            <a:endParaRPr/>
          </a:p>
          <a:p>
            <a:r>
              <a:t>Walk through: Pathway analysis asks whether mitochondrial DEG results are concentrated in predefined pathways, including the core MT gene set, nuclear-encoded OXPHOS genes, mitochondrial translation, and MICOS or inner-membrane organization. It therefore describes pathway-level signal before network-based driver nomination.</a:t>
            </a:r>
          </a:p>
          <a:p>
            <a:endParaRPr/>
          </a:p>
          <a:p>
            <a:r>
              <a:t>Scientific boundary: Pathway enrichment describes the composition or ranking of gene-level results. It does not identify an upstream driver or prove that a pathway is more or less functional.</a:t>
            </a:r>
          </a:p>
          <a:p>
            <a:endParaRPr/>
          </a:p>
          <a:p>
            <a:r>
              <a:t>Transition: First, define what counts as a significant pathway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Formally define one significant pathway result before presenting pathway-level summary counts.</a:t>
            </a:r>
          </a:p>
          <a:p>
            <a:endParaRPr/>
          </a:p>
          <a:p>
            <a:r>
              <a:t>Walk through: One result tests one pathway in one DEG list from one fine-cell sex/APOE contrast. N is the number of detectable MitoCarta MT genes in that contrast. M is the number of those detectable genes assigned to the pathway. n is the number of DEGs in the selected list, and k is the number of those DEGs assigned to the pathway. Fold enrichment compares the pathway share among the DEGs, k divided by n, with the pathway share among detectable genes, M divided by N. A value above 1 indicates enrichment. Enrichment describes the observed over-representation. Statistical significance is determined separately: the one-sided hypergeometric test calculates the probability of observing k or more pathway genes under random sampling from the detectable-gene background, and Benjamini-Hochberg correction is applied across all testable pathways in the same pathway collection for the same contrast and DEG list. The primary local result is significant when its BH-adjusted P value, also called the local false-discovery rate, is below 0.05.</a:t>
            </a:r>
          </a:p>
          <a:p>
            <a:endParaRPr/>
          </a:p>
          <a:p>
            <a:r>
              <a:t>Scientific boundary: This result supports pathway over-representation within one specific test. It does not establish altered pathway activity, causation, or a disease-by-sex-by-APOE interaction. Study-wide BH FDR is reported separately as a sensitivity measure.</a:t>
            </a:r>
          </a:p>
          <a:p>
            <a:endParaRPr/>
          </a:p>
          <a:p>
            <a:r>
              <a:t>Transition: Next, review how the pathway analysis tests each fine-cell contrast and summarizes significant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Explain the two-stage pathway analysis and summarize how many pathways had at least one significant result.</a:t>
            </a:r>
          </a:p>
          <a:p>
            <a:r>
              <a:rPr lang="en-US" dirty="0"/>
              <a:t>Walk through: Each estimable fine-cell sex/APOE contrast was analyzed separately. For each contrast, the analysis created three mitochondrial DEG lists: all DEGs, genes upregulated in AD, and genes downregulated in AD. It then tested each pathway using the enrichment and significance definition on the previous slide. Twelve of the 46 Level 1 and Level 2 pathways and 18 of the 149 complete pathways had at least one significant result across the tested contrasts and DEG lists. Most significant results involved overlapping OXPHOS pathways. Non-OXPHOS signals were fewer and more localized. The next slide defines a separate descriptive overlap percentage used to summarize four recurring pathway sets across sex/APOE groups.</a:t>
            </a:r>
          </a:p>
          <a:p>
            <a:r>
              <a:rPr lang="en-US" dirty="0"/>
              <a:t>Scientific boundary: The complete 149-pathway collection contains the 46 Level 1 and Level 2 pathways, so the two reported scopes overlap. At least one significant result means enrichment in at least one fine-cell, sex/APOE, and DEG direction list. It does not mean significance in every group or prove altered pathway activity.</a:t>
            </a:r>
          </a:p>
          <a:p>
            <a:r>
              <a:rPr lang="en-US" dirty="0"/>
              <a:t>Transition: Next, define the descriptive pathway-overlap percentage before reading the heatmap.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overlap formula, its worked example, and how descriptive overlap differs from a significant pathway result.</a:t>
            </a:r>
          </a:p>
          <a:p>
            <a:endParaRPr/>
          </a:p>
          <a:p>
            <a:r>
              <a:t>Walk through: This percentage summarizes one pathway within one sex/APOE group. The numerator is the number of unique pathway genes that were DEGs in at least one fine-cell comparison in that group. The denominator is the total number of genes in the pathway. Multiplying by 100 converts the ratio to a percentage. In the male epsilon-2 mitochondrial-translation example, 130 of the 155 pathway genes appeared as DEGs. Therefore, 130 divided by 155 times 100 equals 84 percent. This pooled overlap starts from the same pathway-gene and DEG membership used in enrichment analysis, but it combines fine cell types and does not perform a statistical test. A significant pathway result instead evaluates one fine-cell contrast against its detectable-gene background and must pass the adjusted P-value threshold.</a:t>
            </a:r>
          </a:p>
          <a:p>
            <a:endParaRPr/>
          </a:p>
          <a:p>
            <a:r>
              <a:t>Scientific boundary: Each gene counts once, regardless of how many fine cell types contain it. The percentage does not show the percentage of fine cell types, the direction of change, recurrence across cell types, or pathway enrichment.</a:t>
            </a:r>
          </a:p>
          <a:p>
            <a:endParaRPr/>
          </a:p>
          <a:p>
            <a:r>
              <a:t>Transition: Apply this overlap calculation to the four pathway sets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four pathway sets through the heatmap and show the breadth of their overlap with the fine-cell DEG results.</a:t>
            </a:r>
          </a:p>
          <a:p>
            <a:endParaRPr/>
          </a:p>
          <a:p>
            <a:r>
              <a:t>Walk through: The four rows summarize the 13 core MT genes, 86 nuclear-encoded structural OXPHOS genes, 155 mitochondrial-translation genes, and 19 inner-membrane-organization genes. For each sex/APOE group, a pathway gene is counted once if it was a DEG in at least one fine-cell comparison. The denominator is the fixed pathway size shown in the corresponding row label. Twelve of the 13 core MT genes appeared in every group. Male epsilon-2 had the broadest overlap in the other three pathways: 67 of 86 nuclear-encoded OXPHOS genes, 130 of 155 mitochondrial-translation genes, and 17 of 19 inner-membrane genes. Female epsilon-3 homozygous had narrower overlap in mitochondrial translation and inner-membrane organization.</a:t>
            </a:r>
          </a:p>
          <a:p>
            <a:endParaRPr/>
          </a:p>
          <a:p>
            <a:r>
              <a:t>Scientific boundary: This heatmap collapses across fine cell types and records presence, not direction, recurrence, effect size, or statistical enrichment. Groups with more overall DEGs will tend to overlap more pathway genes. Formal over-representation analysis instead uses the detectable-gene background within each comparison and controls the false-discovery rate.</a:t>
            </a:r>
          </a:p>
          <a:p>
            <a:endParaRPr/>
          </a:p>
          <a:p>
            <a:r>
              <a:t>Transition: Define how the OXPHOS direction percentage is calculated.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 DEG occurrence and show how the upregulated OXPHOS occurrence percentage is calculated.</a:t>
            </a:r>
          </a:p>
          <a:p>
            <a:endParaRPr/>
          </a:p>
          <a:p>
            <a:r>
              <a:t>Walk through: Start with the red definition. One occurrence means that one pathway gene is a DEG in one fine-cell comparison. If the same gene is a DEG in another fine cell type, it contributes another occurrence. Calculate the percentage separately for each sex/APOE group and each OXPHOS gene set. Divide the upregulated occurrences by all upregulated plus downregulated occurrences, then multiply by 100. In the male epsilon-3 homozygous core MT genes example, 70 occurrences were upregulated and 11 were downregulated. Seventy divided by 81 equals 86 percent upregulated. A value of 50 percent means that upregulated and downregulated occurrences are equally common. Values above 50 percent favor upregulation, while values below 50 percent favor downregulation.</a:t>
            </a:r>
          </a:p>
          <a:p>
            <a:endParaRPr/>
          </a:p>
          <a:p>
            <a:r>
              <a:t>Scientific boundary: This occurrence-based summary gives more weight to genes that recur across fine-cell comparisons. It is not a fold change, a percentage of unique genes, cells, donors, or fine cell types, an enrichment result, or a measure of OXPHOS activity. Repeated occurrences are not independent biological replications.</a:t>
            </a:r>
          </a:p>
          <a:p>
            <a:endParaRPr/>
          </a:p>
          <a:p>
            <a:r>
              <a:t>Transition: Compare the upregulated occurrence percentage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OXPHOS DEG direction across sex/APOE groups and highlight the contrasting epsilon-3 homozygous patterns.</a:t>
            </a:r>
          </a:p>
          <a:p>
            <a:endParaRPr/>
          </a:p>
          <a:p>
            <a:r>
              <a:t>Walk through: OXPHOS, or oxidative phosphorylation, is the mitochondrial process that produces most cellular ATP. Blue bars summarize the 13 core MT genes, and orange bars summarize 86 nuclear-encoded OXPHOS genes. Every bar starts at the 50 percent line, where upregulated and downregulated occurrences are equally common. Bars extend upward when more than half of the occurrences are upregulated and downward when fewer than half are upregulated. The label at the end of each bar gives the actual upregulated percentage, while bar length shows its percentage-point distance from 50 percent. The key contrast is shown in the callout. In female epsilon-3 homozygous, both gene sets are predominantly upregulated: 100 percent for the core MT gene set and 85 percent for the nuclear-encoded OXPHOS gene set. In male epsilon-3 homozygous, the two sets diverge: 86 percent of core MT gene occurrences are upregulated, but only 12 percent of nuclear-encoded OXPHOS gene occurrences are upregulated, which means 88 percent are downregulated. The broader pattern is that female epsilon-2 is predominantly upregulated in both sets, female epsilon-4 and male epsilon-2 are predominantly downregulated in both, and male epsilon-4 shows a weaker version of the male epsilon-3 homozygous split.</a:t>
            </a:r>
          </a:p>
          <a:p>
            <a:endParaRPr/>
          </a:p>
          <a:p>
            <a:r>
              <a:t>Scientific boundary: The bars show the share of repeated gene-by-fine-cell DEG occurrences that are upregulated. The vertical displacement from 50 percent is a descriptive percentage-point difference, not an effect size. The chart does not show percent expression change, percent of cells or donors, percent of unique genes, pathway enrichment, OXPHOS activity, or a direct statistical interaction between disease, sex, and APOE.</a:t>
            </a:r>
          </a:p>
          <a:p>
            <a:endParaRPr/>
          </a:p>
          <a:p>
            <a:r>
              <a:t>Transition: Now move to Part 4, where mitochondrial DEGs become network-analysis queries.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key-driver-analysis section.</a:t>
            </a:r>
          </a:p>
          <a:p>
            <a:endParaRPr/>
          </a:p>
          <a:p>
            <a:r>
              <a:t>Walk through: Part 4 follows mitochondrial DEGs from one fine-cell contrast into one network query, makes KDA calls, and then aggregates genes returned from repeated fine-cell KDA calls within sex/APOE by broad-cell category using returned-only ACAT.</a:t>
            </a:r>
          </a:p>
          <a:p>
            <a:endParaRPr/>
          </a:p>
          <a:p>
            <a:r>
              <a:t>Scientific boundary: KDA nominates network-associated candidate regulators. It does not prove that a returned gene causally controls the mitochondrial pathway, and it does not pool sex/APOE groups.</a:t>
            </a:r>
          </a:p>
          <a:p>
            <a:endParaRPr/>
          </a:p>
          <a:p>
            <a:r>
              <a:t>Transition: Start with the four-step workflow from a fine-cell DEG contrast to a category-level KDA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contrast, MitoCarta MT query, KDA call, and category result.</a:t>
            </a:r>
          </a:p>
          <a:p>
            <a:endParaRPr/>
          </a:p>
          <a:p>
            <a:r>
              <a:t>Walk through: A contrast is one signed DEG result and contributes one MitoCarta MT DEG query. A mapped query of at least three genes becomes one KDA call. A category is one sex/APOE group crossed with one broad network; non-MitoCarta genes returned from eligible fine-cell KDA calls are aggregated within it.</a:t>
            </a:r>
          </a:p>
          <a:p>
            <a:endParaRPr/>
          </a:p>
          <a:p>
            <a:r>
              <a:t>Scientific boundary: A candidate driver can be a non-DEG network gene outside MitoCarta. Here, non-MitoCarta means that the returned gene is not one of the 1,136 MitoCarta MT genes; it may still influence mitochondrial biology.</a:t>
            </a:r>
          </a:p>
          <a:p>
            <a:endParaRPr/>
          </a:p>
          <a:p>
            <a:r>
              <a:t>Transition: Summarize the ROSMAP branch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ROSMAP as the primary discovery analysis before the detailed funnel.</a:t>
            </a:r>
          </a:p>
          <a:p>
            <a:endParaRPr/>
          </a:p>
          <a:p>
            <a:r>
              <a:t>Walk through: ROSMAP starts with 324 planned fine-cell contrasts. Those contrasts produce 194 executable KDA calls and 381 non-MitoCarta gene-by-category combinations, representing 228 distinct genes across 29 populated categories. Each contrast contributes its MitoCarta MT DEG query, and returned fine-cell evidence is then aggregated within the matching sex/APOE-by-broad-cell category.</a:t>
            </a:r>
          </a:p>
          <a:p>
            <a:endParaRPr/>
          </a:p>
          <a:p>
            <a:r>
              <a:t>Scientific boundary: Planned contrasts, executable KDA calls, and gene-by-category combinations are different units. The category results use returned-only ACAT, and the counts are descriptive rather than independent replication counts.</a:t>
            </a:r>
          </a:p>
          <a:p>
            <a:endParaRPr/>
          </a:p>
          <a:p>
            <a:r>
              <a:t>Transition: Follow the ROSMAP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324 contrasts become 194 KDA calls.</a:t>
            </a:r>
          </a:p>
          <a:p>
            <a:endParaRPr/>
          </a:p>
          <a:p>
            <a:r>
              <a:t>Walk through: Three source contrasts are invalid, 95 valid contrasts have an empty effective query, 32 retain one or two mapped genes, and 194 meet the three-gene floor.</a:t>
            </a:r>
          </a:p>
          <a:p>
            <a:endParaRPr/>
          </a:p>
          <a:p>
            <a:r>
              <a:t>Scientific boundary: Skipped contrasts have no KDA result and are not completed null tests.</a:t>
            </a:r>
          </a:p>
          <a:p>
            <a:endParaRPr/>
          </a:p>
          <a:p>
            <a:r>
              <a:t>Transition: Clarify the execution gate and the source contrasts that could not be fitted.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Clarify the three-gene execution floor and the three invalid source contrasts.</a:t>
            </a:r>
          </a:p>
          <a:p>
            <a:endParaRPr/>
          </a:p>
          <a:p>
            <a:r>
              <a:t>Walk through: All 194 KDA calls meeting the mapped-query floor were completed: 164 returned at least one gene and 30 returned none. The three concrete invalid MAST contrasts remain unavailable.</a:t>
            </a:r>
          </a:p>
          <a:p>
            <a:endParaRPr/>
          </a:p>
          <a:p>
            <a:r>
              <a:t>Scientific boundary: The minimum is an execution rule; small queries and low cell counts still require cautious interpretation.</a:t>
            </a:r>
          </a:p>
          <a:p>
            <a:endParaRPr/>
          </a:p>
          <a:p>
            <a:r>
              <a:t>Transition: Inspect how the MitoCarta MT query is constructed.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ROSMAP differential-expression results become mitochondrial network queries.</a:t>
            </a:r>
          </a:p>
          <a:p>
            <a:endParaRPr/>
          </a:p>
          <a:p>
            <a:r>
              <a:t>Walk through: Start with the DEG rule on the left. A tested gene-by-comparison row must be detected in at least 10 percent of AD or NCI nuclei, have a within-contrast Benjamini-Hochberg false-discovery rate below 0.05, and have an absolute log2 fold change above log2 of 1.3, approximately 0.379. Both AD-upregulated and AD-downregulated DEGs can enter the query. Across all contrasts, 2,864,117 gene-by-comparison rows were tested and 118,297 passed the DEG rule: 58,112 upregulated and 60,185 downregulated. Intersecting those rows with the 1,136-gene MitoCarta MT inventory yields 9,262 provisional MitoCarta MT query memberships, including 4,258 upregulated and 5,004 downregulated memberships. Network mapping removes 1,329 memberships whose genes are absent from the corresponding Bayesian network, leaving 7,933 mapped query memberships. Each contrast contributes its own query.</a:t>
            </a:r>
          </a:p>
          <a:p>
            <a:endParaRPr/>
          </a:p>
          <a:p>
            <a:r>
              <a:t>Scientific boundary: These totals count gene-by-comparison memberships, so the same gene can recur across contrasts. The 7,933 memberships do not form one pooled query, and they are not unique-gene or key-driver counts. RNA direction is defined relative to AD versus NCI.</a:t>
            </a:r>
          </a:p>
          <a:p>
            <a:endParaRPr/>
          </a:p>
          <a:p>
            <a:r>
              <a:t>Transition: Summarize the returned non-MitoCarta KDA results before examining rankings and recurrence.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scale and distribution of the ROSMAP output.</a:t>
            </a:r>
          </a:p>
          <a:p>
            <a:endParaRPr/>
          </a:p>
          <a:p>
            <a:r>
              <a:t>Walk through: The 623 retained non-MitoCarta returned rows form 381 gene-by-category units representing 228 genes across 29 categories. The lower panels show their group, network, and recurrence distributions.</a:t>
            </a:r>
          </a:p>
          <a:p>
            <a:endParaRPr/>
          </a:p>
          <a:p>
            <a:r>
              <a:t>Scientific boundary: Counts condition on significant within each KDA call returns and unequal KDA call opportunities.</a:t>
            </a:r>
          </a:p>
          <a:p>
            <a:endParaRPr/>
          </a:p>
          <a:p>
            <a:r>
              <a:t>Transition: Start with the most recurrent ROSMAP drivers.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returned-only recurrence across ROSMAP sex/APOE-by-broad-cell categories.</a:t>
            </a:r>
          </a:p>
          <a:p>
            <a:endParaRPr/>
          </a:p>
          <a:p>
            <a:r>
              <a:t>Walk through: Each bar counts the number of sex/APOE-by-broad-cell categories in which a non-MitoCarta key driver was returned. A gene counts once in a category even if it was returned by more than one fine-cell KDA call within that category. RPS15 leads with 11 categories, spanning all six sex/APOE groups and four broad-cell Bayesian networks. RPL11 follows with 10 categories, also spanning all six groups and four networks. The remaining genes occur in fewer categories.</a:t>
            </a:r>
          </a:p>
          <a:p>
            <a:endParaRPr/>
          </a:p>
          <a:p>
            <a:r>
              <a:t>Scientific boundary: Returned-only recurrence is descriptive. A KDA KDA call in which a gene was not returned does not contribute an absence or a P value of one. Categories are related summaries rather than independent biological replications, and recurrence does not establish causal regulation.</a:t>
            </a:r>
          </a:p>
          <a:p>
            <a:endParaRPr/>
          </a:p>
          <a:p>
            <a:r>
              <a:t>Transition: Then inspect the ranked top-five display across the 29 populated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top-five results.</a:t>
            </a:r>
          </a:p>
          <a:p>
            <a:endParaRPr/>
          </a:p>
          <a:p>
            <a:r>
              <a:t>Walk through: The figure displays up to five non-MitoCarta drivers in each of 29 populated categories, for 123 displayed entries. For rows containing more than five drivers, n reports the total number of distinct non-MitoCarta driver genes in that category. For a gene returned from one KDA call, the ranking score is the BH-adjusted KDA P value from that KDA call. For a gene returned from at least two KDA calls, the score is the equal-weight ACAT combination of the returned adjusted P values. Lower scores rank more strongly; ties are resolved alphabetically. Female and male rows are aligned by broad cell type and APOE group, with blank counterpart rows where only one sex has returns. Microglia is placed last because no female Microglia category has genes returned from KDA calls. Each broad-cell color is held constant across panels.</a:t>
            </a:r>
          </a:p>
          <a:p>
            <a:endParaRPr/>
          </a:p>
          <a:p>
            <a:r>
              <a:t>Scientific boundary: Top five is a display cap, and returned-only scores are exploratory without final across-gene FDR control.</a:t>
            </a:r>
          </a:p>
          <a:p>
            <a:endParaRPr/>
          </a:p>
          <a:p>
            <a:r>
              <a:t>Transition: Next, view recurrence within each broad cell class, beginning with excitatory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excitatory-neuron key drivers recur across the six sex/APOE categories.</a:t>
            </a:r>
          </a:p>
          <a:p>
            <a:endParaRPr/>
          </a:p>
          <a:p>
            <a:r>
              <a:t>Walk through: Rows are the three female groups followed by the three male groups. Columns contain all 84 distinct non-MitoCarta key-driver genes observed in the excitatory-neuron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excitatory-neuron pattern with inhibitory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inhibitory-neuron key drivers recur across the six sex/APOE categories.</a:t>
            </a:r>
          </a:p>
          <a:p>
            <a:endParaRPr/>
          </a:p>
          <a:p>
            <a:r>
              <a:t>Walk through: Rows are the three female groups followed by the three male groups. Columns contain all 110 distinct non-MitoCarta key-driver genes observed in the inhibitory-neuron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inhibitory-neuron pattern with astrocytes.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astrocyte key drivers recur across the six sex/APOE categories.</a:t>
            </a:r>
          </a:p>
          <a:p>
            <a:endParaRPr/>
          </a:p>
          <a:p>
            <a:r>
              <a:t>Walk through: Rows are the three female groups followed by the three male groups. Columns contain all 21 distinct non-MitoCarta key-driver genes observed in the astrocyte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astrocyte pattern with OPCs.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OPC key drivers recur across the six sex/APOE categories.</a:t>
            </a:r>
          </a:p>
          <a:p>
            <a:endParaRPr/>
          </a:p>
          <a:p>
            <a:r>
              <a:t>Walk through: Rows are the three female groups followed by the three male groups. Columns contain all 18 distinct non-MitoCarta key-driver genes observed in the OPC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SEA-AD validation branch.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SEA-AD-specific-network analysis.</a:t>
            </a:r>
          </a:p>
          <a:p>
            <a:endParaRPr/>
          </a:p>
          <a:p>
            <a:r>
              <a:t>Walk through: The section moves from 774 supertype-by-stratum contrasts to 22 executable KDA calls, then shows top-five, recurrence, and aggregate summaries.</a:t>
            </a:r>
          </a:p>
          <a:p>
            <a:endParaRPr/>
          </a:p>
          <a:p>
            <a:r>
              <a:t>Scientific boundary: The active KDA calls are strongly concentrated in M_e33.</a:t>
            </a:r>
          </a:p>
          <a:p>
            <a:endParaRPr/>
          </a:p>
          <a:p>
            <a:r>
              <a:t>Transition: Summarize SEA-AD coverage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SEA-AD as supplemental human validation before the detailed funnel.</a:t>
            </a:r>
          </a:p>
          <a:p>
            <a:endParaRPr/>
          </a:p>
          <a:p>
            <a:r>
              <a:t>Walk through: SEA-AD starts with 774 planned supertype-level contrasts. Only 22 meet the source-validity and three-gene query requirements for KDA. These KDA calls return 44 non-MitoCarta gene-by-category combinations, representing 43 distinct genes across five populated categories. The analysis uses SEA-AD-specific networks rather than reusing ROSMAP networks.</a:t>
            </a:r>
          </a:p>
          <a:p>
            <a:endParaRPr/>
          </a:p>
          <a:p>
            <a:r>
              <a:t>Scientific boundary: Coverage is sparse and unbalanced: 20 of the 22 KDA calls are in the male epsilon-3 homozygous group. An unavailable category is not a negative validation result, and cohort differences in networks, phenotype, and query coverage limit direct one-to-one comparison.</a:t>
            </a:r>
          </a:p>
          <a:p>
            <a:endParaRPr/>
          </a:p>
          <a:p>
            <a:r>
              <a:t>Transition: Follow the SEA-AD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774 SEA-AD contrasts reduce to 22 executable KDA calls.</a:t>
            </a:r>
          </a:p>
          <a:p>
            <a:endParaRPr/>
          </a:p>
          <a:p>
            <a:r>
              <a:t>Walk through: There are 393 non-estimable source contrasts, 348 estimable contrasts with an empty FDR-only query, 11 with one or two mapped genes, and 22 meeting the three-gene floor.</a:t>
            </a:r>
          </a:p>
          <a:p>
            <a:endParaRPr/>
          </a:p>
          <a:p>
            <a:r>
              <a:t>Scientific boundary: A skipped contrast is unavailable and is not a negative validation result.</a:t>
            </a:r>
          </a:p>
          <a:p>
            <a:endParaRPr/>
          </a:p>
          <a:p>
            <a:r>
              <a:t>Transition: Summarize the returned non-MitoCarta SEA-AD output.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SEA-AD output.</a:t>
            </a:r>
          </a:p>
          <a:p>
            <a:endParaRPr/>
          </a:p>
          <a:p>
            <a:r>
              <a:t>Walk through: The 54 retained rows form 44 category units representing 43 genes across five categories. Thirty-nine units and 20 of 22 active KDA calls are M_e33.</a:t>
            </a:r>
          </a:p>
          <a:p>
            <a:endParaRPr/>
          </a:p>
          <a:p>
            <a:r>
              <a:t>Scientific boundary: Returned-only scores remain exploratory and are not final-FDR controlled across genes.</a:t>
            </a:r>
          </a:p>
          <a:p>
            <a:endParaRPr/>
          </a:p>
          <a:p>
            <a:r>
              <a:t>Transition: Then examine recurrence across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SEA-AD category recurrence.</a:t>
            </a:r>
          </a:p>
          <a:p>
            <a:endParaRPr/>
          </a:p>
          <a:p>
            <a:r>
              <a:t>Walk through: PJVK is the only gene present in two categories: M_e33 excitatory and inhibitory neurons. Every other gene on the top-20 display occurs in one category.</a:t>
            </a:r>
          </a:p>
          <a:p>
            <a:endParaRPr/>
          </a:p>
          <a:p>
            <a:r>
              <a:t>Scientific boundary: Five return-bearing categories impose a low recurrence ceiling.</a:t>
            </a:r>
          </a:p>
          <a:p>
            <a:endParaRPr/>
          </a:p>
          <a:p>
            <a:r>
              <a:t>Transition: Inspect the top-five entries in the five populated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leading SEA-AD non-MitoCarta candidates.</a:t>
            </a:r>
          </a:p>
          <a:p>
            <a:endParaRPr/>
          </a:p>
          <a:p>
            <a:r>
              <a:t>Walk through: Seventeen entries appear across F_e33 excitatory, F_e4 astrocyte, and three M_e33 categories. As on the ROSMAP display, rows are aligned across female and male panels, colors identify broad cell types consistently, and n gives the total non-MitoCarta driver count when a category contains more than five genes. Within each category, one returned KDA call passes through its within each KDA call adjusted KDA P value, while at least two returned KDA calls are combined by ACAT; lower scores rank more strongly.</a:t>
            </a:r>
          </a:p>
          <a:p>
            <a:endParaRPr/>
          </a:p>
          <a:p>
            <a:r>
              <a:t>Scientific boundary: Top five is a display cap and the five populated categories expose strong availability imbalance.</a:t>
            </a:r>
          </a:p>
          <a:p>
            <a:endParaRPr/>
          </a:p>
          <a:p>
            <a:r>
              <a:t>Transition: Finish the SEA-AD branch with excitatory-neuron recurrence across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Show whether SEA-AD excitatory-neuron genes returned from KDA calls recur across the six sex/APOE categories.</a:t>
            </a:r>
          </a:p>
          <a:p>
            <a:r>
              <a:rPr lang="en-US" dirty="0"/>
              <a:t>Walk through: Rows are the three female groups followed by the three male groups. Columns contain all 27 distinct non-MitoCarta genes returned from KDA calls in the excitatory-neuron broad cell type. A colored tile means that the gene appears in that category. Its color gives the total number of categories containing that gene. No gene appears in more than one sex/APOE category.</a:t>
            </a:r>
          </a:p>
          <a:p>
            <a:r>
              <a:rPr lang="en-US" dirty="0"/>
              <a:t>Scientific boundary: Category recurrence is a descriptive summary of returned KDA results. It is not an effect size, an independent replication count, or a sex-by-APOE interaction test.</a:t>
            </a:r>
          </a:p>
          <a:p>
            <a:r>
              <a:rPr lang="en-US" dirty="0"/>
              <a:t>Transition: Move to Part 6, which tests selected findings at direct broad-cell resolution.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Introduce direct broad-cell validation and establish that both analysis resolutions use donors as the biological replicates.</a:t>
            </a:r>
          </a:p>
          <a:p>
            <a:r>
              <a:rPr lang="en-US" dirty="0"/>
              <a:t>Walk through: Both workflows first combine RNA counts within each donor. The primary workflow creates one expression profile for each donor and fine cell type, then runs the AD-versus-NCI comparison separately for every fine cell type. The direct broad-cell workflow combines the contributing fine cell types within each donor before running one comparison for the broad cell class. This section explains that resolution difference, the ranked-gene pathway workflow, and the normalized enrichment score.</a:t>
            </a:r>
          </a:p>
          <a:p>
            <a:r>
              <a:rPr lang="en-US" dirty="0"/>
              <a:t>Scientific boundary: Direct broad-cell analysis provides supporting evidence. Combining fine cell types can hide a subtype-specific result or create sensitivity to differences in fine-cell composition.</a:t>
            </a:r>
          </a:p>
          <a:p>
            <a:r>
              <a:rPr lang="en-US" dirty="0"/>
              <a:t>Transition: Compare the fine-cell and direct broad-cell workflows side by side.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Distinguish the two workflows without implying that donor-level aggregation is unique to direct broad-cell analysis.</a:t>
            </a:r>
          </a:p>
          <a:p>
            <a:r>
              <a:rPr lang="en-US" dirty="0"/>
              <a:t>Walk through: Fine-cell analysis produces one donor-level expression profile for each fine cell type. It tests each fine cell type separately and summarizes the resulting evidence by broad class afterward. Direct broad-cell analysis instead produces one donor-level profile for the whole broad class by combining its fine cell types before differential-expression testing. Both workflows therefore compare donors. They differ in the cell-type resolution retained before the comparison.</a:t>
            </a:r>
          </a:p>
          <a:p>
            <a:r>
              <a:rPr lang="en-US" dirty="0"/>
              <a:t>Scientific boundary: Agreement supports a result across two resolutions. Disagreement can reflect fine-cell composition or opposing subtype-specific effects and does not by itself invalidate the fine-cell result.</a:t>
            </a:r>
          </a:p>
          <a:p>
            <a:r>
              <a:rPr lang="en-US" dirty="0"/>
              <a:t>Transition: Follow the direct broad-cell pathway workflow from donor-level expression profiles to pathway testing.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Explain the four stages of direct broad-cell pathway validation.</a:t>
            </a:r>
          </a:p>
          <a:p>
            <a:r>
              <a:rPr lang="en-US" dirty="0"/>
              <a:t>Walk through: First, the analysis combines cells from one broad class within each donor. Second, it compares AD with NCI separately within each sex/APOE group and broad cell class. Third, it orders all tested MitoCarta MT genes from stronger AD-up evidence to stronger AD-down evidence. Fourth, ranked-gene pathway analysis asks whether the genes in one pathway concentrate toward either end of that ranking.</a:t>
            </a:r>
          </a:p>
          <a:p>
            <a:r>
              <a:rPr lang="en-US" dirty="0"/>
              <a:t>Scientific boundary: This workflow analyzes donor-level broad-cell expression profiles. It ranks every tested MitoCarta MT gene rather than filtering to significant DEGs first. The fine-cell pathway analysis uses a different method based on overlap between a thresholded DEG list and a pathway.</a:t>
            </a:r>
          </a:p>
          <a:p>
            <a:r>
              <a:rPr lang="en-US" dirty="0"/>
              <a:t>Transition: The next slide defines the signed score used to rank the tested MitoCarta MT genes.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Define the study-specific score used to rank genes before calculating pathway enrichment.</a:t>
            </a:r>
          </a:p>
          <a:p>
            <a:r>
              <a:rPr lang="en-US" dirty="0"/>
              <a:t>Walk through: Within each broad cell, sex, and APOE comparison, the analysis assigns every tested MitoCarta MT gene the score sign of log fold change multiplied by the square root of the edgeR quasi-likelihood F statistic. The log fold change compares AD with NCI. Its sign supplies direction: positive means AD-up and negative means AD-down. The F statistic is nonnegative and measures the strength of evidence for an AD-versus-NCI difference after accounting for variability. For this one-degree-of-freedom contrast, the square root of F gives a t-like scale while preserving the ordering based on F. The analysis sorts scores from largest positive to most negative and does not filter to significant DEGs before GSEA.</a:t>
            </a:r>
          </a:p>
          <a:p>
            <a:r>
              <a:rPr lang="en-US" dirty="0"/>
              <a:t>Why not logFC alone: Raw log fold change describes estimated effect size but not uncertainty. Low expression or donor variability can produce a large but unstable estimate. The illustrative example on the slide shows that a gene with logFC plus 2.0 and F 0.25 receives score plus 0.5, while a gene with logFC plus 0.5 and F 16 receives score plus 4.0. The better-supported gene ranks higher.</a:t>
            </a:r>
          </a:p>
          <a:p>
            <a:r>
              <a:rPr lang="en-US" dirty="0"/>
              <a:t>Scientific boundary: This is the study's ranking rule for targeted MitoCarta preranked GSEA. GSEA does not require one universal ranking statistic. The example values are illustrative and are not observed study genes. In the implementation, tiny negative F values caused only by numerical precision are clamped to zero.</a:t>
            </a:r>
          </a:p>
          <a:p>
            <a:r>
              <a:rPr lang="en-US" dirty="0"/>
              <a:t>Source: scripts/11_run_broad_deg_pathway_analysis.R computes rank_score = sign(logFC) × sqrt(max(F, 0)); scripts/08_run_broad_pseudobulk_de.R produces logFC and F with edgeR glmQLFTest.</a:t>
            </a:r>
          </a:p>
          <a:p>
            <a:r>
              <a:rPr lang="en-US" dirty="0"/>
              <a:t>Transition: Use this ranked list to calculate the running enrichment score.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Explain exactly how the running enrichment score is calculated using the real female epsilon-3 homozygous excitatory-neuron example.</a:t>
            </a:r>
          </a:p>
          <a:p>
            <a:r>
              <a:rPr lang="en-US" dirty="0"/>
              <a:t>Walk through: The x-axis contains 1,134 tested MitoCarta MT genes ordered from strongest AD-up to strongest AD-down evidence. When the walk reaches a core MT gene, it adds the absolute value of that gene's rank score divided by the sum of the absolute rank scores for all 13 core MT genes. At every other tested gene, it subtracts one divided by 1,134 minus 13. The blue curve is the cumulative running score. The short orange marks show the positions of the 13 core MT genes. Twelve appear among the first 34 ranked genes; MT-ND6 appears at rank 239. The curve peaks at rank 34 with ES 0.9586.</a:t>
            </a:r>
          </a:p>
          <a:p>
            <a:r>
              <a:rPr lang="en-US" dirty="0"/>
              <a:t>Scientific boundary: ES depends on both the positions and the rank-score magnitudes of pathway genes. It is not the fraction of pathway genes that are DEGs and it is not an expression fold change.</a:t>
            </a:r>
          </a:p>
          <a:p>
            <a:r>
              <a:rPr lang="en-US" dirty="0"/>
              <a:t>Source: results/minerva_production/11_pathway_deg_broad/broad_deg_pathway_ranked_genes.tsv.gz; config/phase13_respiratory_modules.tsv; scripts/lib/phase11_deg_pathway_common.R.</a:t>
            </a:r>
          </a:p>
          <a:p>
            <a:r>
              <a:rPr lang="en-US" dirty="0"/>
              <a:t>Transition: Normalize the observed ES against same-size random gene sets.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Separate the NES calculation from the ES calculation and distinguish direction from significance.</a:t>
            </a:r>
          </a:p>
          <a:p>
            <a:r>
              <a:rPr lang="en-US" dirty="0"/>
              <a:t>Walk through: The observed ES comes from the actual pathway genes. The analysis then calculates ES values for random gene sets that contain the same number of genes and come from the same ranked MitoCarta MT gene list. For a positive observed ES, the denominator is the mean magnitude of positive null ES values. For a negative observed ES, the denominator uses negative null ES values. NES equals the observed ES divided by this same-direction null mean. Normalization makes scores more comparable across pathways with different sizes.</a:t>
            </a:r>
          </a:p>
          <a:p>
            <a:r>
              <a:rPr lang="en-US" dirty="0"/>
              <a:t>Scientific boundary: The sign of NES gives the pathway direction. The adjusted P value determines whether the result is statistically significant after multiple-testing correction. NES is not a fold change, DEG count, or percentage.</a:t>
            </a:r>
          </a:p>
          <a:p>
            <a:r>
              <a:rPr lang="en-US" dirty="0"/>
              <a:t>Source: scripts/lib/phase11_deg_pathway_common.R runs fgseaMultilevel with exponent 1.</a:t>
            </a:r>
          </a:p>
          <a:p>
            <a:r>
              <a:rPr lang="en-US" dirty="0"/>
              <a:t>Transition: Substitute the study values into the NES formula.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Work through the reported female epsilon-3 homozygous excitatory core MT result numerically.</a:t>
            </a:r>
          </a:p>
          <a:p>
            <a:r>
              <a:rPr lang="en-US" dirty="0"/>
              <a:t>Walk through: The observed ES is 0.9585936. The reported NES is 2.7460272. Dividing ES by NES gives an implied positive-null normalization factor of 0.3490838. Substituting the rounded values gives 0.9586 divided by 0.3491, which equals 2.746 and rounds to 2.75. The positive sign indicates that the core MT genes cluster toward the AD-up end. The local Benjamini-Hochberg-adjusted P value is 2.73 times 10 to the minus 12, below 0.05, so the pathway result is significant.</a:t>
            </a:r>
          </a:p>
          <a:p>
            <a:r>
              <a:rPr lang="en-US" dirty="0"/>
              <a:t>Scientific boundary: The value 2.75 is a normalized pathway-ranking score. It is not a 2.75-fold expression increase and does not mean that every core MT gene is individually significant.</a:t>
            </a:r>
          </a:p>
          <a:p>
            <a:r>
              <a:rPr lang="en-US" dirty="0"/>
              <a:t>Source: results/minerva_production/11_pathway_deg_broad/broad_deg_pathway_gsea.tsv.gz.</a:t>
            </a:r>
          </a:p>
          <a:p>
            <a:r>
              <a:rPr lang="en-US" dirty="0"/>
              <a:t>Transition: Move to Part 7, the sensitivity analyses.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Introduce Part 7, which tests how selected analysis decisions affect the KDA results.</a:t>
            </a:r>
          </a:p>
          <a:p>
            <a:r>
              <a:rPr lang="en-US" dirty="0"/>
              <a:t>Walk through: The sensitivity analyses examine donor support, the number of nuclei contributing to each profile, the DEG query definition, and the KDA decision rules. Each check changes one decision while keeping the rest of the workflow fixed. The first comparison raises the minimum donor requirement in each disease-status group from three to five.</a:t>
            </a:r>
          </a:p>
          <a:p>
            <a:r>
              <a:rPr lang="en-US" dirty="0"/>
              <a:t>Scientific boundary: These analyses evaluate robustness to prespecified workflow decisions. The donor-threshold analysis concerns donors in each disease-status group, not the number of nuclei contributing to a donor-level profile.</a:t>
            </a:r>
          </a:p>
          <a:p>
            <a:r>
              <a:rPr lang="en-US" dirty="0"/>
              <a:t>Transition: Begin with the numerical consequences of changing the donor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an arm and show the numerical impact of raising the minimum donor requirement from three to five in both cohorts.</a:t>
            </a:r>
          </a:p>
          <a:p>
            <a:endParaRPr/>
          </a:p>
          <a:p>
            <a:r>
              <a:t>Walk through: An arm is one disease-status group within a comparison. In ROSMAP, the two arms are AD and NCI. In SEA-AD, they are dementia and no dementia. A contrast is eligible only when each arm meets the stated donor minimum. Raising that minimum from three to five reduces ROSMAP from 42 to 40 eligible contrasts and from three to two KDA calls. The number of gene rows returned from KDA calls falls from 39 to 13, and its unique non-MitoCarta drivers fall from 33 to 13. SEA-AD falls from 28 to 20 eligible contrasts, but its five KDA calls, 24 gene rows returned from KDA calls, and 18 unique non-MitoCarta drivers remain unchanged.</a:t>
            </a:r>
          </a:p>
          <a:p>
            <a:endParaRPr/>
          </a:p>
          <a:p>
            <a:r>
              <a:t>Scientific boundary: The threshold test changes only the donor eligibility gate. It does not change the retained contrast models, DEG queries, networks, or KDA settings. A contrast with fewer than five donors in either arm becomes unavailable under the stricter threshold; that exclusion is not a negative KDA result. Source: Phase 22 and VH14 run manifests and returns; donor-per-arm 3-versus-5 sensitivity assessment dated 2026-09-11.</a:t>
            </a:r>
          </a:p>
          <a:p>
            <a:endParaRPr/>
          </a:p>
          <a:p>
            <a:r>
              <a:t>Transition: Interpret why the two cohorts respond differently to the donor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cohort-specific and cross-cohort conclusions of the donor-threshold sensitivity analysis.</a:t>
            </a:r>
          </a:p>
          <a:p>
            <a:endParaRPr/>
          </a:p>
          <a:p>
            <a:r>
              <a:t>Walk through: ROSMAP loses the low-support Vasculature M_e2 KDA call that returned 26 gene rows. SEA-AD loses eight eligible contrasts, but none had progressed to KDA. Cross-cohort validation remains zero under both donor thresholds; Astrocytes F_e4 is the only exact stratum executed in both cohorts, and it has no shared drivers.</a:t>
            </a:r>
          </a:p>
          <a:p>
            <a:endParaRPr/>
          </a:p>
          <a:p>
            <a:r>
              <a:t>Scientific boundary: Contrasts excluded by the stricter donor threshold are unavailable comparisons. They must not be counted as evidence against validation. Source: Phase 22 and VH14 run manifests/returns; donor-per-arm 3-vs-5 sensitivity assessment (2026-09-11).</a:t>
            </a:r>
          </a:p>
          <a:p>
            <a:endParaRPr/>
          </a:p>
          <a:p>
            <a:r>
              <a:t>Transition: Continue with sensitivity to the minimum effective mitochondrial-query size.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query-size threshold and show how increasing it changes KDA availability and genes returned from KDA calls.</a:t>
            </a:r>
          </a:p>
          <a:p>
            <a:endParaRPr/>
          </a:p>
          <a:p>
            <a:r>
              <a:t>Walk through: The threshold is the minimum number of effective MitoCarta MT query genes remaining after network mapping. The donor minimum stays fixed at three in each disease-status group, so the source-estimable contrast counts remain 42 for ROSMAP and 28 for SEA-AD. One query is used for each contrast, which is why the query-passing contrast count equals the KDA call count. In ROSMAP, increasing the threshold from three to ten genes reduces the analysis from three KDA calls and 39 significant rows to one KDA call and 26 rows. Thresholds of 20 and 30 make no further change. SEA-AD remains unchanged at five genes, falls to three KDA calls and eight rows at ten or twenty genes, and retains two KDA calls and seven rows at thirty genes.</a:t>
            </a:r>
          </a:p>
          <a:p>
            <a:endParaRPr/>
          </a:p>
          <a:p>
            <a:r>
              <a:t>Scientific boundary: This sensitivity analysis filters existing KDA calls by mapped query size. It does not refit DEG models or make new KDA calls for retained KDA calls. Significant rows are gene rows returned from KDA calls, while the final column excludes all 1,136 MitoCarta MT genes and deduplicates drivers within each cohort. Source: validated Phase 22 and VH14 run manifests and significant-return tables dated 2026-09-11.</a:t>
            </a:r>
          </a:p>
          <a:p>
            <a:endParaRPr/>
          </a:p>
          <a:p>
            <a:r>
              <a:t>Transition: Identify the KDA calls responsible for the query-size step changes.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Identify the seven KDA calls that create the query-threshold pattern.</a:t>
            </a:r>
          </a:p>
          <a:p>
            <a:endParaRPr/>
          </a:p>
          <a:p>
            <a:r>
              <a:t>Walk through: Read the ROSMAP panel first. Its three executed queries contain 3, 8, and 78 mapped genes. A minimum of five removes the OPC female epsilon-4 KDA call. A minimum of ten also removes the astrocyte female epsilon-4 KDA call, leaving only the 78-gene vasculature male epsilon-2 KDA call. That remaining KDA call has low donor support, so raising the query floor makes the ROSMAP result more dependent on it. In SEA-AD, the five query sizes are 5, 9, 21, 43, and 45 genes. A minimum of five changes nothing. A minimum of ten removes the microglia male epsilon-3 homozygous and astrocyte female epsilon-4 KDA calls, reducing the output from 24 to 8 rows and from 18 to 3 unique non-MitoCarta drivers. A minimum of thirty also removes the 21-gene oligodendrocyte KDA call, but its only returned gene is a MitoCarta MT gene, so the non-MitoCarta driver count remains three.</a:t>
            </a:r>
          </a:p>
          <a:p>
            <a:endParaRPr/>
          </a:p>
          <a:p>
            <a:r>
              <a:t>Scientific boundary: Query size means the number of MitoCarta MT query genes remaining after network mapping, not the number of donors, cells, or genes in a pathway. This test filters existing KDA calls and does not make new KDA calls. MitoCarta MT genes returned from KDA calls explain changes in raw row counts but are excluded when the analysis reports non-MitoCarta key drivers. Source: validated Phase 22 and VH14 run manifests and significant-return tables dated 2026-09-11.</a:t>
            </a:r>
          </a:p>
          <a:p>
            <a:endParaRPr/>
          </a:p>
          <a:p>
            <a:r>
              <a:t>Transition: Finish with the implications for matched-stratum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validation impact and identify the least disruptive query-size sensitivity threshold.</a:t>
            </a:r>
          </a:p>
          <a:p>
            <a:endParaRPr/>
          </a:p>
          <a:p>
            <a:r>
              <a:t>Walk through: non-MitoCarta driver overlap is zero at every threshold. The shared Astrocytes F_e4 stratum remains available at thresholds three and five but disappears from both cohorts at ten. Threshold five is the only stricter floor that preserves all SEA-AD KDA calls and the shared stratum.</a:t>
            </a:r>
          </a:p>
          <a:p>
            <a:endParaRPr/>
          </a:p>
          <a:p>
            <a:r>
              <a:t>Scientific boundary: Absence of a matched executed stratum at thresholds ten or higher is an unavailable validation comparison, not negative evidence. The five-gene threshold is a sensitivity reference, not a new confirmatory rule. Source: validated Phase 22 and VH14 run manifests and significant-return tables (2026-09-11).</a:t>
            </a:r>
          </a:p>
          <a:p>
            <a:endParaRPr/>
          </a:p>
          <a:p>
            <a:r>
              <a:t>Transition: Turn from robustness checks to the main biological findings and their interpretation.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Introduce Part 8, the biological findings and discussion.</a:t>
            </a:r>
          </a:p>
          <a:p>
            <a:r>
              <a:rPr lang="en-US" dirty="0"/>
              <a:t>Walk through: Part 8 translates the DEG, pathway, KDA, and sensitivity results into 17 testable biological findings. It begins with two cross-cohort OXPHOS patterns, then examines additional sex/APOE-associated patterns, candidate key drivers, cross-cell recurrence, and the limits of validation and interpretation.</a:t>
            </a:r>
          </a:p>
          <a:p>
            <a:r>
              <a:rPr lang="en-US" dirty="0"/>
              <a:t>Scientific boundary: These findings synthesize transcriptomic and network evidence. They do not establish causality or mitochondrial function. SEA-AD support is graded according to matched coverage and may support a broader pathway pattern without reproducing the exact driver gene.</a:t>
            </a:r>
          </a:p>
          <a:p>
            <a:r>
              <a:rPr lang="en-US" dirty="0"/>
              <a:t>Transition: Begin with Finding 1, the female epsilon-3 homozygous core MT gene increase.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 as a strong core MT gene increase with secondary nuclear-encoded OXPHOS support in ROSMAP.</a:t>
            </a:r>
          </a:p>
          <a:p>
            <a:endParaRPr/>
          </a:p>
          <a:p>
            <a:r>
              <a:t>Walk through: Finding 1 concerns female APOE epsilon-3 homozygous cells, with the clearest cross-cohort evidence in excitatory neurons. The primary result is a repeated increase in expression of core MT genes. Nuclear-encoded OXPHOS genes also mostly increase in ROSMAP, but this component is less consistently enriched and lacks the same SEA-AD support.</a:t>
            </a:r>
          </a:p>
          <a:p>
            <a:endParaRPr/>
          </a:p>
          <a:p>
            <a:r>
              <a:t>Scientific boundary: The evidence does not establish increased ATP production, a causal regulator, or a disease-by-sex-by-APOE interaction. The nuclear-encoded OXPHOS observation is secondary ROSMAP evidence rather than a replicated cross-cohort conclusion.</a:t>
            </a:r>
          </a:p>
          <a:p>
            <a:endParaRPr/>
          </a:p>
          <a:p>
            <a:r>
              <a:t>Transition: State the primary core MT gene result and the secondary nuclear result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primary and secondary parts of Finding 1 in plain language.</a:t>
            </a:r>
          </a:p>
          <a:p>
            <a:endParaRPr/>
          </a:p>
          <a:p>
            <a:r>
              <a:t>Walk through: Read the four labels first: female, APOE epsilon-3 homozygous, excitatory neurons, and Alzheimer’s disease. The 13 core MT genes encode structural subunits of oxidative phosphorylation, or OXPHOS. RNA from those genes is more abundant in AD than in the comparison group. Expression of nuclear-encoded OXPHOS genes also mostly rises in ROSMAP, but the strongest repeated and cross-cohort evidence concerns the core MT genes.</a:t>
            </a:r>
          </a:p>
          <a:p>
            <a:endParaRPr/>
          </a:p>
          <a:p>
            <a:r>
              <a:t>Scientific boundary: Higher RNA abundance does not demonstrate more OXPHOS protein, greater respiration, increased ATP production, or healthier mitochondria. It also does not establish that the disease response differs statistically by sex or APOE genotype.</a:t>
            </a:r>
          </a:p>
          <a:p>
            <a:endParaRPr/>
          </a:p>
          <a:p>
            <a:r>
              <a:t>Transition: Show how repeatedly the two OXPHOS gene sets appear among ROSMAP fine-cell DEGs.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ROSMAP DEG occurrence counts across all female epsilon-3 homozygous comparisons and within excitatory neurons.</a:t>
            </a:r>
          </a:p>
          <a:p>
            <a:endParaRPr/>
          </a:p>
          <a:p>
            <a:r>
              <a:t>Walk through: F_e33 denotes the female APOE epsilon-3 homozygous group. Across the included fine-cell DEG lists, core MT genes contribute 217 occurrences, and all 217 are upregulated in AD. Nuclear-encoded OXPHOS genes contribute 89 occurrences: 76 upregulated and 13 downregulated, so 85 percent are upregulated. Within excitatory neurons, 14 included fine-cell DEG lists contain 123 core MT gene occurrences, all upregulated. One occurrence means that one gene is a DEG in one fine-cell comparison, so the same gene can contribute multiple occurrences across fine cell types. These counts summarize the fine-cell DEG lists used for the mitochondrial analysis.</a:t>
            </a:r>
          </a:p>
          <a:p>
            <a:endParaRPr/>
          </a:p>
          <a:p>
            <a:r>
              <a:t>Scientific boundary: The occurrence counts do not represent unique genes, expression magnitude, independent donors, or replication. They summarize repeated DEG observations across fine-cell comparisons.</a:t>
            </a:r>
          </a:p>
          <a:p>
            <a:endParaRPr/>
          </a:p>
          <a:p>
            <a:r>
              <a:t>Transition: Ask whether the excitatory-neuron core MT gene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the matched SEA-AD evidence for the excitatory-neuron result.</a:t>
            </a:r>
          </a:p>
          <a:p>
            <a:endParaRPr/>
          </a:p>
          <a:p>
            <a:r>
              <a:t>Walk through: Only one SEA-AD fine-cell DEG list contributed to the matched female epsilon-3 homozygous excitatory-neuron comparison, so the coverage is narrow. The list contains 10 MitoCarta MT DEGs. Nine are the same core MT genes found in ROSMAP, and all nine are upregulated in AD in both cohorts. The analysis observed nine shared genes compared with 3.83 expected based on genes detectable in the matched comparison. The shared-gene overlap remained significant after multiple-testing correction, with an adjusted P value of 0.005.</a:t>
            </a:r>
          </a:p>
          <a:p>
            <a:endParaRPr/>
          </a:p>
          <a:p>
            <a:r>
              <a:t>Scientific boundary: This slide supports the core MT component of Finding 1. It does not establish broad replication across excitatory-neuron subtypes or cross-cohort replication of the secondary nuclear-encoded OXPHOS increase.</a:t>
            </a:r>
          </a:p>
          <a:p>
            <a:endParaRPr/>
          </a:p>
          <a:p>
            <a:r>
              <a:t>Transition: Explain why the repeated mitochondrial response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the repeated excitatory-neuron response may matter.</a:t>
            </a:r>
          </a:p>
          <a:p>
            <a:endParaRPr/>
          </a:p>
          <a:p>
            <a:r>
              <a:t>Walk through: Excitatory neurons use substantial energy to generate and recover from electrical signaling. The 13 core MT genes encode structural OXPHOS subunits needed by the respiratory system. Their RNA repeatedly increases in ROSMAP and shows the same direction in the matched SEA-AD comparison. Expression of nuclear-encoded OXPHOS genes also mostly increases in ROSMAP. Together, these observations are consistent with a coordinated mitochondrial response in AD. The most cautious possibilities are compensation or a stress response.</a:t>
            </a:r>
          </a:p>
          <a:p>
            <a:endParaRPr/>
          </a:p>
          <a:p>
            <a:r>
              <a:t>Scientific boundary: RNA direction alone cannot distinguish successful compensation from mitochondrial stress, altered RNA processing, selective cell survival, or another disease-associated change. It does not show that mitochondria make more ATP or establish a causal mechanism.</a:t>
            </a:r>
          </a:p>
          <a:p>
            <a:endParaRPr/>
          </a:p>
          <a:p>
            <a:r>
              <a:t>Transition: Place the result in prior research and clarify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 in prior research while preserving its novelty limits.</a:t>
            </a:r>
          </a:p>
          <a:p>
            <a:endParaRPr/>
          </a:p>
          <a:p>
            <a:r>
              <a:t>Walk through: Guo and colleagues support sex-aware Alzheimer’s disease network analysis. Mathys and colleagues support strong cell-type heterogeneity in AD, but that study also uses ROSMAP and therefore is not independent validation. Lee and colleagues connect APOE4 astrocytes with impaired mitochondrial homeostasis, but the APOE group and cell type differ from this finding. Together, these studies make the interpretation plausible without reproducing the exact female epsilon-3 homozygous excitatory-neuron result.</a:t>
            </a:r>
          </a:p>
          <a:p>
            <a:endParaRPr/>
          </a:p>
          <a:p>
            <a:r>
              <a:t>Scientific boundary: None of the cited studies independently establishes this exact pattern. The novelty assessment is therefore moderate: the mitochondrial biology is established, while this sex, APOE, and cell-type context is less established.</a:t>
            </a:r>
          </a:p>
          <a:p>
            <a:endParaRPr/>
          </a:p>
          <a:p>
            <a:r>
              <a:t>Transition: Proceed to Finding 2, the male epsilon-3 homozygous pattern with opposite OXPHOS directions.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second biological finding.</a:t>
            </a:r>
          </a:p>
          <a:p>
            <a:endParaRPr/>
          </a:p>
          <a:p>
            <a:r>
              <a:t>Walk through: Male APOE epsilon-3 homozygous cells show opposite gene-expression directions across the core MT and nuclear-encoded OXPHOS gene sets. The matched inhibitory-neuron gene-set pattern also appears in SEA-AD.</a:t>
            </a:r>
          </a:p>
          <a:p>
            <a:endParaRPr/>
          </a:p>
          <a:p>
            <a:r>
              <a:t>Scientific boundary: This is a transcript-level pattern across two mitochondrial gene sets. It does not prove protein imbalance, mitochondrial dysfunction, or a male-by-APOE interaction.</a:t>
            </a:r>
          </a:p>
          <a:p>
            <a:endParaRPr/>
          </a:p>
          <a:p>
            <a:r>
              <a:t>Transition: State the second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opposite OXPHOS gene-expression directions without statistical jargon.</a:t>
            </a:r>
          </a:p>
          <a:p>
            <a:endParaRPr/>
          </a:p>
          <a:p>
            <a:r>
              <a:t>Walk through: In male APOE epsilon-3 homozygous cells, expression of core MT genes usually rises in Alzheimer’s disease while expression of nuclear-encoded OXPHOS genes usually falls. Inhibitory neurons provide the clearest cross-cohort support.</a:t>
            </a:r>
          </a:p>
          <a:p>
            <a:endParaRPr/>
          </a:p>
          <a:p>
            <a:r>
              <a:t>Scientific boundary: Opposite directions in gene expression do not demonstrate mismatched proteins, reduced respiration, or unhealthy mitochondria.</a:t>
            </a:r>
          </a:p>
          <a:p>
            <a:endParaRPr/>
          </a:p>
          <a:p>
            <a:r>
              <a:t>Transition: Show the ROSMAP numbers behind the mismatch.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evidence for opposite OXPHOS directions in male epsilon-3 homozygous cells.</a:t>
            </a:r>
          </a:p>
          <a:p>
            <a:endParaRPr/>
          </a:p>
          <a:p>
            <a:r>
              <a:t>Walk through: Across 31 included male epsilon-3 homozygous fine-cell DEG lists, core MT genes contributed 81 occurrences: 70 AD-up and 11 AD-down. Therefore, 86 percent were upregulated. Nuclear-encoded OXPHOS genes contributed 68 occurrences: 8 AD-up and 60 AD-down. Therefore, 88 percent were downregulated. An occurrence is one gene identified as a DEG in one fine-cell comparison, so the same gene can contribute again in another fine cell type.</a:t>
            </a:r>
          </a:p>
          <a:p>
            <a:endParaRPr/>
          </a:p>
          <a:p>
            <a:r>
              <a:t>Scientific boundary: These are repeated DEG occurrences, not counts of unique genes or independent donors. Opposite directions in gene expression do not demonstrate mismatched proteins or impaired respiration.</a:t>
            </a:r>
          </a:p>
          <a:p>
            <a:endParaRPr/>
          </a:p>
          <a:p>
            <a:r>
              <a:t>Transition: Ask whether the matched male epsilon-3 homozygous inhibitory-neuron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matched SEA-AD DEG support and what the same AD direction across cohorts means here.</a:t>
            </a:r>
          </a:p>
          <a:p>
            <a:endParaRPr/>
          </a:p>
          <a:p>
            <a:r>
              <a:t>Walk through: Eight SEA-AD male epsilon-3 homozygous inhibitory-neuron fine-cell DEG lists contributed to this comparison. ROSMAP and SEA-AD shared 22 MitoCarta MT DEGs, and 19 of the 22 had the same AD direction. Nine core MT genes were upregulated in both cohorts. Genes for nuclear-encoded OXPHOS, mitochondrial protein import, mitochondrial ribosomes, metabolite transport, and mitochondrial DNA or RNA maintenance were downregulated in both. The overlap was 22 genes compared with 15.17 expected and remained significant after multiple-testing correction, with an adjusted P value of 0.0417. Excluding genes whose mitochondrial identity was uncertain left 21 shared genes and a similar adjusted P value of 0.0486. The support therefore comes from shared DEGs and their directions across cohorts.</a:t>
            </a:r>
          </a:p>
          <a:p>
            <a:endParaRPr/>
          </a:p>
          <a:p>
            <a:r>
              <a:t>Scientific boundary: This is focused cross-cohort DEG support within the matched inhibitory-neuron context. It does not establish protein-level imbalance, mitochondrial dysfunction, or a formal disease-by-sex-by-APOE interaction.</a:t>
            </a:r>
          </a:p>
          <a:p>
            <a:endParaRPr/>
          </a:p>
          <a:p>
            <a:r>
              <a:t>Transition: Identify the genes that account for the cross-cohort directional agreement.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Name the genes with the same or opposite AD directions in the matched inhibitory-neuron comparison.</a:t>
            </a:r>
          </a:p>
          <a:p>
            <a:endParaRPr/>
          </a:p>
          <a:p>
            <a:r>
              <a:t>Walk through: Nine core MT genes were upregulated in both cohorts: MT-ATP6, MT-CO2, MT-CO3, MT-CYB, MT-ND1, MT-ND2, MT-ND3, MT-ND4, and MT-ND4L. Eight nuclear-encoded MitoCarta MT genes were downregulated in both: UQCRFS1, SLC25A5, TIMM13, TIMM17A, MRPL16, MRPS34, ENDOG, and MTCH1. DBP was also downregulated in both cohorts, while PRELID2 was upregulated in both. HIBCH, ISCU, and TMEM126B had opposite directions across cohorts.</a:t>
            </a:r>
          </a:p>
          <a:p>
            <a:endParaRPr/>
          </a:p>
          <a:p>
            <a:r>
              <a:t>Scientific boundary: These are shared MitoCarta MT DEGs. Matching AD directions do not establish matched protein abundance, respiratory-complex assembly, or mitochondrial function.</a:t>
            </a:r>
          </a:p>
          <a:p>
            <a:endParaRPr/>
          </a:p>
          <a:p>
            <a:r>
              <a:t>Transition: Explain why coordinated expression from two genomes and their support systems may matter.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biological relevance of the two-genome pattern without claiming impaired function.</a:t>
            </a:r>
          </a:p>
          <a:p>
            <a:endParaRPr/>
          </a:p>
          <a:p>
            <a:r>
              <a:t>Walk through: OXPHOS complexes combine proteins encoded by core MT genes with proteins encoded by nuclear-encoded OXPHOS genes, so the two gene sets ultimately contribute to the same respiratory system. The cross-cohort evidence also includes lower expression of genes involved in mitochondrial protein import, mitochondrial ribosomes, transport, and maintenance. Opposite expression directions could reflect compensation, unassembled components, an altered cell state, or mitochondrial stress, but the present data cannot distinguish among those possibilities.</a:t>
            </a:r>
          </a:p>
          <a:p>
            <a:endParaRPr/>
          </a:p>
          <a:p>
            <a:r>
              <a:t>Scientific boundary: This is an RNA-level difference between two OXPHOS gene sets. It does not show that respiratory proteins, complex assembly, respiration, or ATP production are unbalanced. The possible explanations are hypotheses for follow-up.</a:t>
            </a:r>
          </a:p>
          <a:p>
            <a:endParaRPr/>
          </a:p>
          <a:p>
            <a:r>
              <a:t>Transition: Place the finding in prior two-genome OXPHOS and cell-resolved Alzheimer’s research.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the finding to prior research while preserving the evidence and novelty boundaries.</a:t>
            </a:r>
          </a:p>
          <a:p>
            <a:endParaRPr/>
          </a:p>
          <a:p>
            <a:r>
              <a:t>Walk through: Basic OXPHOS biology establishes that respiratory complexes require coordinated core MT and nuclear-encoded OXPHOS proteins, but it does not show a protein imbalance in these samples. Guo and colleagues support analyzing Alzheimer’s molecular networks separately by sex, but they do not test this exact male epsilon-3 homozygous pattern. Mathys and colleagues support strong cell-resolved Alzheimer’s responses, but their study also uses ROSMAP and therefore does not provide independent replication. The novelty assessment is high because the biological concept is established while this cross-cohort male epsilon-3 homozygous inhibitory-neuron pattern was not identified in the reviewed literature.</a:t>
            </a:r>
          </a:p>
          <a:p>
            <a:endParaRPr/>
          </a:p>
          <a:p>
            <a:r>
              <a:t>Scientific boundary: Plausibility and novelty are separate from proof. None of these sources independently establishes the exact subgroup pattern, protein imbalance, or mitochondrial dysfunction.</a:t>
            </a:r>
          </a:p>
          <a:p>
            <a:endParaRPr/>
          </a:p>
          <a:p>
            <a:r>
              <a:t>Transition: Proceed to Finding 3, where both OXPHOS gene sets increase in female epsilon-2 cells.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3 and preview the evidence used to support it.</a:t>
            </a:r>
          </a:p>
          <a:p>
            <a:endParaRPr/>
          </a:p>
          <a:p>
            <a:r>
              <a:t>Walk through: Finding 3 concerns female APOE ε2 cells. In ROSMAP fine-cell comparisons of Alzheimer’s disease with no cognitive impairment, core MT genes and nuclear-encoded OXPHOS genes were both predominantly upregulated. This section begins with the direction of gene expression, then presents DEG-occurrence counts, compares fine-cell and direct broad-cell evidence, and ends with a cautious interpretation and literature context.</a:t>
            </a:r>
          </a:p>
          <a:p>
            <a:endParaRPr/>
          </a:p>
          <a:p>
            <a:r>
              <a:t>Scientific boundary: These within-stratum results do not establish a disease-by-sex or disease-by-APOE interaction. Coordinated gene expression also does not demonstrate greater OXPHOS protein abundance, increased ATP production, or improved mitochondrial function.</a:t>
            </a:r>
          </a:p>
          <a:p>
            <a:endParaRPr/>
          </a:p>
          <a:p>
            <a:r>
              <a:t>Transition: Define the two OXPHOS gene sets and show their direction in female APOE ε2 cells.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both OXPHOS gene sets are described as upregulated together.</a:t>
            </a:r>
          </a:p>
          <a:p>
            <a:endParaRPr/>
          </a:p>
          <a:p>
            <a:r>
              <a:t>Walk through: Core MT genes are the 13 protein-coding genes in mitochondrial DNA that encode structural OXPHOS subunits. Nuclear-encoded OXPHOS genes are the 86 nuclear genes that encode the other structural subunits included in this analysis. Across the included female APOE ε2 fine-cell comparisons, 127 of 128 core MT gene occurrences and 239 of 243 nuclear-encoded OXPHOS gene occurrences were upregulated in AD. The two gene sets therefore show the same direction of gene-expression change.</a:t>
            </a:r>
          </a:p>
          <a:p>
            <a:endParaRPr/>
          </a:p>
          <a:p>
            <a:r>
              <a:t>Scientific boundary: One occurrence means that one gene is a DEG in one included fine-cell comparison. The same gene can contribute another occurrence in another comparison. These counts do not measure unique genes, expression magnitude, protein assembly, respiration, or ATP production.</a:t>
            </a:r>
          </a:p>
          <a:p>
            <a:endParaRPr/>
          </a:p>
          <a:p>
            <a:r>
              <a:t>Transition: Quantify the AD-up and AD-down occurrences for each gene set.</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ROSMAP DEG-occurrence pattern for Finding 3.</a:t>
            </a:r>
          </a:p>
          <a:p>
            <a:endParaRPr/>
          </a:p>
          <a:p>
            <a:r>
              <a:t>Walk through: This slide quantifies the female APOE epsilon-2 pattern. Across the included fine-cell comparisons, core MT genes contribute 128 DEG occurrences: 127 AD-up and one AD-down, so 99 percent are upregulated. Nuclear-encoded OXPHOS genes contribute 243 DEG occurrences: 239 AD-up and four AD-down, so 98 percent are upregulated. Both OXPHOS gene sets therefore show an almost uniform increase in AD.</a:t>
            </a:r>
          </a:p>
          <a:p>
            <a:endParaRPr/>
          </a:p>
          <a:p>
            <a:r>
              <a:t>Scientific boundary: The numbers 128 and 243 are gene-by-comparison occurrences, not counts of unique genes, cells, or donors. The percentages do not measure expression magnitude, OXPHOS protein abundance, respiration, or ATP production.</a:t>
            </a:r>
          </a:p>
          <a:p>
            <a:endParaRPr/>
          </a:p>
          <a:p>
            <a:r>
              <a:t>Transition: Compare this primary fine-cell DEG pattern with the direct broad-cell ROSMAP result and the available SEA-AD coverage.</a:t>
            </a:r>
          </a:p>
          <a:p>
            <a:endParaRPr/>
          </a:p>
          <a:p>
            <a:r>
              <a:t>Sources: docs/analysis/kda_w_human_validation/rosmap_sex_apoe_broad_kda_analysis.md, Finding 3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Compare the fine-cell and direct broad-cell evidence for Finding 3.</a:t>
            </a:r>
          </a:p>
          <a:p>
            <a:endParaRPr/>
          </a:p>
          <a:p>
            <a:r>
              <a:t>Walk through: Fine-cell ROSMAP supports both gene sets. Significant enrichment of upregulated genes appeared in nine of 12 fine cell types for core MT genes and eight of 12 for nuclear-encoded OXPHOS genes. Direct broad-cell ROSMAP supports the nuclear-encoded OXPHOS increase, but the core MT result was not significant. SEA-AD has no matched female APOE ε2 fine-cell DEG result, so it adds neither supporting nor contradictory evidence.</a:t>
            </a:r>
          </a:p>
          <a:p>
            <a:endParaRPr/>
          </a:p>
          <a:p>
            <a:r>
              <a:t>Scientific boundary: The direct broad-cell result partially supports the finding but does not reproduce the coordinated two-gene-set pattern. The complete pattern is therefore supported mainly by fine-cell ROSMAP. Missing SEA-AD coverage is neutral.</a:t>
            </a:r>
          </a:p>
          <a:p>
            <a:endParaRPr/>
          </a:p>
          <a:p>
            <a:r>
              <a:t>Transition: Consider what coordinated upregulation might mean without assuming that it is protective.</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biological hypothesis while separating it from the evidence.</a:t>
            </a:r>
          </a:p>
          <a:p>
            <a:endParaRPr/>
          </a:p>
          <a:p>
            <a:r>
              <a:t>Walk through: APOE ε2 is associated with lower Alzheimer’s disease risk at the population level, but these data come from diseased tissue. Both OXPHOS gene sets are upregulated together. This pattern could reflect compensation for inefficient mitochondria or another disease-related state. It supports testing a protective-response hypothesis, but it does not establish one.</a:t>
            </a:r>
          </a:p>
          <a:p>
            <a:endParaRPr/>
          </a:p>
          <a:p>
            <a:r>
              <a:t>Scientific boundary: The observed gene-expression pattern does not establish that the response is protective, that mitochondria work more efficiently, or that APOE ε2 caused the response. Separate female APOE ε2 analyses also do not establish a statistical sex-by-APOE interaction.</a:t>
            </a:r>
          </a:p>
          <a:p>
            <a:endParaRPr/>
          </a:p>
          <a:p>
            <a:r>
              <a:t>Transition: Review the prior research that supports parts of this interpretation.</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which part of the interpretation each cited study supports.</a:t>
            </a:r>
          </a:p>
          <a:p>
            <a:endParaRPr/>
          </a:p>
          <a:p>
            <a:r>
              <a:t>Walk through: Belloy and colleagues establish that Alzheimer’s disease risk differs across APOE alleles, but they do not explain this female APOE ε2 gene-expression pattern. Lee and colleagues show that APOE state can alter mitochondrial homeostasis in another experimental context. Guo and colleagues support sex-aware and cell-type-aware analysis of Alzheimer’s molecular networks, but they do not report this exact OXPHOS result. The novelty rating is therefore high but provisional.</a:t>
            </a:r>
          </a:p>
          <a:p>
            <a:endParaRPr/>
          </a:p>
          <a:p>
            <a:r>
              <a:t>Scientific boundary: These studies make the interpretation plausible, but none independently reproduces the same sex, APOE, cell-type, and disease comparison. The novelty assessment comes from a focused review rather than a systematic literature search.</a:t>
            </a:r>
          </a:p>
          <a:p>
            <a:endParaRPr/>
          </a:p>
          <a:p>
            <a:r>
              <a:t>Transition: Move to Finding 4 and the different OXPHOS direction in female APOE ε4 cells.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4 as a female APOE ε4 DEG-direction result.</a:t>
            </a:r>
          </a:p>
          <a:p>
            <a:endParaRPr/>
          </a:p>
          <a:p>
            <a:r>
              <a:t>Walk through: The primary signal is lower expression of nuclear-encoded OXPHOS genes across female APOE ε4 fine-cell comparisons. Core MT genes are less consistently directional. The next slides quantify those DEG occurrences, test whether the pattern survives broad-cell aggregation, and explain why the resolution difference matters.</a:t>
            </a:r>
          </a:p>
          <a:p>
            <a:endParaRPr/>
          </a:p>
          <a:p>
            <a:r>
              <a:t>Scientific boundary: This finding describes differential gene expression. It does not directly measure respiratory-complex proteins, oxygen consumption, ATP production, or a causal sex-by-APOE interaction.</a:t>
            </a:r>
          </a:p>
          <a:p>
            <a:endParaRPr/>
          </a:p>
          <a:p>
            <a:r>
              <a:t>Transition: State the two OXPHOS gene-set directions in plain language.</a:t>
            </a:r>
          </a:p>
          <a:p>
            <a:endParaRPr/>
          </a:p>
          <a:p>
            <a:r>
              <a:t>Sources: docs/analysis/kda_w_human_validation/rosmap_sex_apoe_broad_kda_analysis.md, Finding 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female APOE ε4 pattern before showing the counts.</a:t>
            </a:r>
          </a:p>
          <a:p>
            <a:endParaRPr/>
          </a:p>
          <a:p>
            <a:r>
              <a:t>Walk through: Nuclear-encoded OXPHOS genes provide the clear signal: 206 of 216 repeated DEG occurrences are lower in AD. Core MT genes are mixed, with 38 AD-down and 26 AD-up occurrences. The result is therefore a decrease in nuclear-encoded OXPHOS gene expression rather than a uniform decrease across all MitoCarta MT genes.</a:t>
            </a:r>
          </a:p>
          <a:p>
            <a:endParaRPr/>
          </a:p>
          <a:p>
            <a:r>
              <a:t>Scientific boundary: An occurrence is one gene observed as a DEG in one fine-cell comparison. Repeated occurrences are not independent donors or unique genes, and the direct broad-cell result points in the opposite direction.</a:t>
            </a:r>
          </a:p>
          <a:p>
            <a:endParaRPr/>
          </a:p>
          <a:p>
            <a:r>
              <a:t>Transition: Show the exact occurrence counts and percentages.</a:t>
            </a:r>
          </a:p>
          <a:p>
            <a:endParaRPr/>
          </a:p>
          <a:p>
            <a:r>
              <a:t>Sources: docs/analysis/kda_w_human_validation/rosmap_sex_apoe_broad_kda_analysis.md, Finding 4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female APOE ε4 DEG directions without mixing them with pathway statistics.</a:t>
            </a:r>
          </a:p>
          <a:p>
            <a:endParaRPr/>
          </a:p>
          <a:p>
            <a:r>
              <a:t>Walk through: Across included fine-cell comparisons, nuclear-encoded OXPHOS genes contribute 216 DEG occurrences: 206 AD-down and 10 AD-up. Thus 95 percent are downregulated. Core MT genes contribute 64 occurrences: 38 AD-down and 26 AD-up, or 59 percent downregulated. The nuclear-encoded component is both larger and much more consistently downward.</a:t>
            </a:r>
          </a:p>
          <a:p>
            <a:endParaRPr/>
          </a:p>
          <a:p>
            <a:r>
              <a:t>Scientific boundary: These are repeated gene-by-fine-cell DEG occurrences. They are not counts of unique genes, cells, or donors, and they do not quantify the magnitude of expression change.</a:t>
            </a:r>
          </a:p>
          <a:p>
            <a:endParaRPr/>
          </a:p>
          <a:p>
            <a:r>
              <a:t>Transition: Check whether direct broad-cell analysis supports the same direction.</a:t>
            </a:r>
          </a:p>
          <a:p>
            <a:endParaRPr/>
          </a:p>
          <a:p>
            <a:r>
              <a:t>Sources: docs/analysis/kda_w_human_validation/rosmap_sex_apoe_broad_kda_analysis.md, Finding 4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that the female APOE ε4 result changes with cell-type resolution.</a:t>
            </a:r>
          </a:p>
          <a:p>
            <a:endParaRPr/>
          </a:p>
          <a:p>
            <a:r>
              <a:t>Walk through: The fine-cell DEG result points strongly downward for nuclear-encoded OXPHOS genes. In direct broad-cell analysis, ROSMAP has an AD-up NES of +0.70, but its adjusted P value of 0.991 is not significant. SEA-AD has an AD-up NES of +2.01 with an adjusted P value of 5.62 × 10⁻⁵, so the pathway-level result is significant. This means that the pathway genes collectively rank toward higher expression in AD. It does not mean that every individual OXPHOS gene is significantly upregulated. The available SEA-AD fine-cell check contains only one small astrocyte DEG list, and its overlap with ROSMAP is not significant.</a:t>
            </a:r>
          </a:p>
          <a:p>
            <a:endParaRPr/>
          </a:p>
          <a:p>
            <a:r>
              <a:t>Scientific boundary: The direct broad-cell pathway results point upward, opposite to the fine-cell DEG-occurrence pattern. This disagreement limits Finding 4 to the fine-cell analysis. Differences in the mix of fine cell types and limited matched coverage may contribute, but the current results do not identify the cause.</a:t>
            </a:r>
          </a:p>
          <a:p>
            <a:endParaRPr/>
          </a:p>
          <a:p>
            <a:r>
              <a:t>Transition: Explain the biological importance and the resolution warning together.</a:t>
            </a:r>
          </a:p>
          <a:p>
            <a:endParaRPr/>
          </a:p>
          <a:p>
            <a:r>
              <a:t>Sources: docs/analysis/kda_w_human_validation/rosmap_sex_apoe_broad_kda_analysis.md, Finding 4 and validation sections.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a nuclear-encoded OXPHOS decrease could matter biologically.</a:t>
            </a:r>
          </a:p>
          <a:p>
            <a:endParaRPr/>
          </a:p>
          <a:p>
            <a:r>
              <a:t>Walk through: Most respiratory-complex subunits are encoded by nuclear DNA. Lower expression across many of these genes could reduce the supply of complex components, reflect cellular stress, or mark a different cell state. APOE ε4 makes the hypothesis important because it strongly increases late-onset Alzheimer’s disease risk at the population level.</a:t>
            </a:r>
          </a:p>
          <a:p>
            <a:endParaRPr/>
          </a:p>
          <a:p>
            <a:r>
              <a:t>Scientific boundary: Gene expression alone cannot establish lower respiratory capacity. The direct broad-cell pathway results point in the opposite direction, so the most cautious interpretation is a fine-cell signal that warrants targeted follow-up.</a:t>
            </a:r>
          </a:p>
          <a:p>
            <a:endParaRPr/>
          </a:p>
          <a:p>
            <a:r>
              <a:t>Transition: Place the result in prior research and summarize its evidence level.</a:t>
            </a:r>
          </a:p>
          <a:p>
            <a:endParaRPr/>
          </a:p>
          <a:p>
            <a:r>
              <a:t>Sources: docs/analysis/kda_w_human_validation/rosmap_sex_apoe_broad_kda_analysis.md, Finding 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4 in prior research without overstating replication.</a:t>
            </a:r>
          </a:p>
          <a:p>
            <a:endParaRPr/>
          </a:p>
          <a:p>
            <a:r>
              <a:t>Walk through: The cited APOE4 studies support the biological plausibility of altered mitochondrial maintenance. This includes changes in mitochondrial dynamics and in the removal of damaged mitochondria. Cell-resolved Alzheimer’s studies also show that molecular responses differ among brain cell states. None reproduces the exact female APOE ε4 nuclear-encoded OXPHOS DEG pattern shown here.</a:t>
            </a:r>
          </a:p>
          <a:p>
            <a:endParaRPr/>
          </a:p>
          <a:p>
            <a:r>
              <a:t>Scientific boundary: Biological plausibility, novelty, and replication are separate judgments. The current finding remains resolution-sensitive and needs independent confirmation.</a:t>
            </a:r>
          </a:p>
          <a:p>
            <a:endParaRPr/>
          </a:p>
          <a:p>
            <a:r>
              <a:t>Transition: Move to the coordinated downward pattern in male APOE ε2 cells.</a:t>
            </a:r>
          </a:p>
          <a:p>
            <a:endParaRPr/>
          </a:p>
          <a:p>
            <a:r>
              <a:t>Sources: docs/analysis/kda_w_human_validation/rosmap_sex_apoe_broad_kda_analysis.md, Finding 4 literature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5 as a coordinated male APOE ε2 DEG decrease.</a:t>
            </a:r>
          </a:p>
          <a:p>
            <a:endParaRPr/>
          </a:p>
          <a:p>
            <a:r>
              <a:t>Walk through: Unlike Finding 4, both defined OXPHOS gene sets move downward in male APOE ε2 fine-cell comparisons. Core MT genes are predominantly AD-down, and nuclear-encoded OXPHOS genes are also predominantly AD-down. The next slides quantify the repeated DEG occurrences and explain why unusually large MitoCarta MT DEG sets contribute many occurrences.</a:t>
            </a:r>
          </a:p>
          <a:p>
            <a:endParaRPr/>
          </a:p>
          <a:p>
            <a:r>
              <a:t>Scientific boundary: The result describes disease-associated gene expression in observed tissue. It does not imply that APOE ε2 causes the decrease or that lower expression explains APOE ε2 population-level protection.</a:t>
            </a:r>
          </a:p>
          <a:p>
            <a:endParaRPr/>
          </a:p>
          <a:p>
            <a:r>
              <a:t>Transition: State the coordinated direction and its contrast with male APOE ε3/ε3.</a:t>
            </a:r>
          </a:p>
          <a:p>
            <a:endParaRPr/>
          </a:p>
          <a:p>
            <a:r>
              <a:t>Sources: docs/analysis/kda_w_human_validation/rosmap_sex_apoe_broad_kda_analysis.md, Finding 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coordinated male APOE ε2 decrease in plain language.</a:t>
            </a:r>
          </a:p>
          <a:p>
            <a:endParaRPr/>
          </a:p>
          <a:p>
            <a:r>
              <a:t>Walk through: Core MT genes contribute 132 DEG occurrences, of which 119 are lower in AD. Nuclear-encoded OXPHOS genes contribute 467 occurrences, of which 404 are lower in AD. Both gene sets therefore point downward, unlike the opposite-direction pattern seen in male APOE ε3 homozygous cells.</a:t>
            </a:r>
          </a:p>
          <a:p>
            <a:endParaRPr/>
          </a:p>
          <a:p>
            <a:r>
              <a:t>Scientific boundary: APOE ε2 lowers average Alzheimer’s disease risk at the population level, but that does not predict every molecular state after disease develops. The observed expression pattern is descriptive rather than causal.</a:t>
            </a:r>
          </a:p>
          <a:p>
            <a:endParaRPr/>
          </a:p>
          <a:p>
            <a:r>
              <a:t>Transition: Show the exact DEG-occurrence percentages.</a:t>
            </a:r>
          </a:p>
          <a:p>
            <a:endParaRPr/>
          </a:p>
          <a:p>
            <a:r>
              <a:t>Sources: docs/analysis/kda_w_human_validation/rosmap_sex_apoe_broad_kda_analysis.md, Finding 5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male APOE ε2 DEG burden in both OXPHOS gene sets.</a:t>
            </a:r>
          </a:p>
          <a:p>
            <a:endParaRPr/>
          </a:p>
          <a:p>
            <a:r>
              <a:t>Walk through: Across included fine-cell comparisons, core MT genes contribute 132 DEG occurrences: 119 AD-down and 13 AD-up, so 90 percent are downregulated. Nuclear-encoded OXPHOS genes contribute 467 occurrences: 404 AD-down and 63 AD-up, so 87 percent are downregulated. Together, 523 OXPHOS occurrences are AD-down.</a:t>
            </a:r>
          </a:p>
          <a:p>
            <a:endParaRPr/>
          </a:p>
          <a:p>
            <a:r>
              <a:t>Scientific boundary: The 523 value combines repeated gene-by-fine-cell occurrences from two defined gene sets. It is not a count of unique genes, donors, or cells, and it does not measure expression magnitude or mitochondrial function.</a:t>
            </a:r>
          </a:p>
          <a:p>
            <a:endParaRPr/>
          </a:p>
          <a:p>
            <a:r>
              <a:t>Transition: Explain why the male APOE ε2 DEG sets are unusually large.</a:t>
            </a:r>
          </a:p>
          <a:p>
            <a:endParaRPr/>
          </a:p>
          <a:p>
            <a:r>
              <a:t>Sources: docs/analysis/kda_w_human_validation/rosmap_sex_apoe_broad_kda_analysis.md, Finding 5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DEG-set-size caveat for male APOE ε2.</a:t>
            </a:r>
          </a:p>
          <a:p>
            <a:endParaRPr/>
          </a:p>
          <a:p>
            <a:r>
              <a:t>Walk through: Each included fine-cell comparison contributes one set of MitoCarta MT DEGs. The median male APOE ε2 set contains 85 DEGs, compared with 16.5 across all included fine-cell comparisons. Larger DEG sets can generate more DEG occurrences when results are summarized across fine cell types.</a:t>
            </a:r>
          </a:p>
          <a:p>
            <a:endParaRPr/>
          </a:p>
          <a:p>
            <a:r>
              <a:t>Scientific boundary: This size difference helps explain the large occurrence count, but it does not change the proportion of upregulated versus downregulated occurrences. SEA-AD has no matched male APOE ε2 fine-cell DEG result here.</a:t>
            </a:r>
          </a:p>
          <a:p>
            <a:endParaRPr/>
          </a:p>
          <a:p>
            <a:r>
              <a:t>Transition: Return to the biological meaning of the coordinated DEG direction.</a:t>
            </a:r>
          </a:p>
          <a:p>
            <a:endParaRPr/>
          </a:p>
          <a:p>
            <a:r>
              <a:t>Sources: docs/analysis/kda_w_human_validation/rosmap_sex_apoe_broad_kda_analysis.md, Finding 5 and DEG-set-size diagnostics.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the male APOE ε2 DEG direction from inherited-risk interpretation and mitochondrial function.</a:t>
            </a:r>
          </a:p>
          <a:p>
            <a:endParaRPr/>
          </a:p>
          <a:p>
            <a:r>
              <a:t>Walk through: APOE ε2 lowers average Alzheimer’s disease risk, but diseased male APOE ε2 tissue can still show lower expression of both OXPHOS gene sets. Possible explanations include respiratory reduction, altered cell state, or selective survival of particular cells. The DEG result identifies a biological pattern to test, not its mechanism.</a:t>
            </a:r>
          </a:p>
          <a:p>
            <a:endParaRPr/>
          </a:p>
          <a:p>
            <a:r>
              <a:t>Scientific boundary: Lower gene expression does not by itself demonstrate lower respiratory-complex abundance, respiration, ATP production, or mitochondrial fitness. Protein and functional measurements are needed.</a:t>
            </a:r>
          </a:p>
          <a:p>
            <a:endParaRPr/>
          </a:p>
          <a:p>
            <a:r>
              <a:t>Transition: Place the result in prior research and summarize its evidence level.</a:t>
            </a:r>
          </a:p>
          <a:p>
            <a:endParaRPr/>
          </a:p>
          <a:p>
            <a:r>
              <a:t>Sources: docs/analysis/kda_w_human_validation/rosmap_sex_apoe_broad_kda_analysis.md, Finding 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5 in prior research without overstating independent support.</a:t>
            </a:r>
          </a:p>
          <a:p>
            <a:endParaRPr/>
          </a:p>
          <a:p>
            <a:r>
              <a:t>Walk through: Population genetics establishes the average protective association of APOE ε2. Sex-specific network and cell-resolved Alzheimer’s studies support the need to examine molecular responses within sex, genotype, and cell context. None independently reproduces this exact male APOE ε2 coordinated OXPHOS decrease.</a:t>
            </a:r>
          </a:p>
          <a:p>
            <a:endParaRPr/>
          </a:p>
          <a:p>
            <a:r>
              <a:t>Scientific boundary: The finding is potentially novel but currently lacks a matched SEA-AD category and functional validation. Novelty and evidence strength should remain separate.</a:t>
            </a:r>
          </a:p>
          <a:p>
            <a:endParaRPr/>
          </a:p>
          <a:p>
            <a:r>
              <a:t>Transition: Move to Finding 6, where male APOE ε4 shows opposite directions across the two OXPHOS gene sets.</a:t>
            </a:r>
          </a:p>
          <a:p>
            <a:endParaRPr/>
          </a:p>
          <a:p>
            <a:r>
              <a:t>Sources: docs/analysis/kda_w_human_validation/rosmap_sex_apoe_broad_kda_analysis.md, Finding 5 literature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6.</a:t>
            </a:r>
          </a:p>
          <a:p>
            <a:endParaRPr/>
          </a:p>
          <a:p>
            <a:r>
              <a:t>Walk through: core MT genes are mostly upregulated and nuclear-encoded OXPHOS genes are modestly downregulated, with mixed cross-cohort sensitivity. Source: docs/analysis/kda_w_human_validation/rosmap_sex_apoe_broad_kda_analysis.md, Finding 6. Literature: https://doi.org/10.1016/j.neuron.2019.03.075; https://doi.org/10.1016/j.celrep.2023.113183; https://doi.org/10.1186/s13024-023-00624-5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6 without assuming specialist knowledge.</a:t>
            </a:r>
          </a:p>
          <a:p>
            <a:endParaRPr/>
          </a:p>
          <a:p>
            <a:r>
              <a:t>Walk through: The direction split resembles male ε3/ε3, but the nuclear decrease is weaker and cross-cohort broad-cell evidence disagrees. The pattern is a provisional RNA-level hypothesis, not evidence of unbalanced respiratory proteins. Source: docs/analysis/kda_w_human_validation/rosmap_sex_apoe_broad_kda_analysis.md, Finding 6. Literature: https://doi.org/10.1016/j.neuron.2019.03.075; https://doi.org/10.1016/j.celrep.2023.113183; https://doi.org/10.1186/s13024-023-00624-5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6.</a:t>
            </a:r>
          </a:p>
          <a:p>
            <a:endParaRPr/>
          </a:p>
          <a:p>
            <a:r>
              <a:t>Walk through: The three summary metrics and three evidence rows preserve the units used in the analysis. The nuclear direction is substantially less one-sided than in male ε3/ε3. Source: docs/analysis/kda_w_human_validation/rosmap_sex_apoe_broad_kda_analysis.md, Finding 6. Literature: https://doi.org/10.1016/j.neuron.2019.03.075; https://doi.org/10.1016/j.celrep.2023.113183; https://doi.org/10.1186/s13024-023-00624-5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6 in its internal and supplemental evidence context.</a:t>
            </a:r>
          </a:p>
          <a:p>
            <a:endParaRPr/>
          </a:p>
          <a:p>
            <a:r>
              <a:t>Walk through: Cross-resolution disagreement keeps the male ε4 mismatch provisional. The broad-cell mismatch is not robust across cohorts, and SEA-AD cannot test it at fine-cell KDA resolution. Source: docs/analysis/kda_w_human_validation/rosmap_sex_apoe_broad_kda_analysis.md, Finding 6. Literature: https://doi.org/10.1016/j.neuron.2019.03.075; https://doi.org/10.1016/j.celrep.2023.113183; https://doi.org/10.1186/s13024-023-00624-5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6 may matter without overstating function.</a:t>
            </a:r>
          </a:p>
          <a:p>
            <a:endParaRPr/>
          </a:p>
          <a:p>
            <a:r>
              <a:t>Walk through: If confirmed, the split could represent a general male response or an APOE-dependent gradient. A prespecified balance score would test the strength of the split directly across groups. Source: docs/analysis/kda_w_human_validation/rosmap_sex_apoe_broad_kda_analysis.md, Finding 6. Literature: https://doi.org/10.1016/j.neuron.2019.03.075; https://doi.org/10.1016/j.celrep.2023.113183; https://doi.org/10.1186/s13024-023-00624-5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6. Literature: https://doi.org/10.1016/j.neuron.2019.03.075; https://doi.org/10.1016/j.celrep.2023.113183; https://doi.org/10.1186/s13024-023-00624-5</a:t>
            </a:r>
          </a:p>
          <a:p>
            <a:endParaRPr/>
          </a:p>
          <a:p>
            <a:r>
              <a:t>Scientific boundary: The novelty label is provisional and comes from a focused rather than systematic literature review.</a:t>
            </a:r>
          </a:p>
          <a:p>
            <a:endParaRPr/>
          </a:p>
          <a:p>
            <a:r>
              <a:t>Transition: Proceed to Finding 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7.</a:t>
            </a:r>
          </a:p>
          <a:p>
            <a:endParaRPr/>
          </a:p>
          <a:p>
            <a:r>
              <a:t>Walk through: RPL11, RPS15, and related cytosolic ribosome genes recur near nuclear-encoded OXPHOS query genes. Source: docs/analysis/kda_w_human_validation/rosmap_sex_apoe_broad_kda_analysis.md, Finding 7. Literature: https://doi.org/10.1523/JNEUROSCI.3040-05.2005; https://doi.org/10.1128/MCB.23.23.8902-8912.2003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7 without assuming specialist knowledge.</a:t>
            </a:r>
          </a:p>
          <a:p>
            <a:endParaRPr/>
          </a:p>
          <a:p>
            <a:r>
              <a:t>Walk through: The cytosolic ribosome builds most cellular proteins. The signal is more credible as one module than as 20 independent drivers. The analysis prioritizes a ribosome-to-OXPHOS system, not 20 separate proven mitochondrial controllers. Source: docs/analysis/kda_w_human_validation/rosmap_sex_apoe_broad_kda_analysis.md, Finding 7. Literature: https://doi.org/10.1523/JNEUROSCI.3040-05.2005; https://doi.org/10.1128/MCB.23.23.8902-8912.2003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7.</a:t>
            </a:r>
          </a:p>
          <a:p>
            <a:endParaRPr/>
          </a:p>
          <a:p>
            <a:r>
              <a:t>Walk through: The three summary metrics and three evidence rows preserve the units used in the analysis. The enrichment test compares 228 unique non-MitoCarta drivers with the exact network background. Source: docs/analysis/kda_w_human_validation/rosmap_sex_apoe_broad_kda_analysis.md, Finding 7. Literature: https://doi.org/10.1523/JNEUROSCI.3040-05.2005; https://doi.org/10.1128/MCB.23.23.8902-8912.2003</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7 in its internal and supplemental evidence context.</a:t>
            </a:r>
          </a:p>
          <a:p>
            <a:endParaRPr/>
          </a:p>
          <a:p>
            <a:r>
              <a:t>Walk through: RPL11 has a broad nuclear-encoded OXPHOS neighborhood, while RPS15 recurs across the most categories. Frequent RPL11 neighbors include COX7C, UQCRQ, NDUFS5, NDUFA1, ATP5PF, NDUFB9, and NDUFB3. Source: docs/analysis/kda_w_human_validation/rosmap_sex_apoe_broad_kda_analysis.md, Finding 7. Literature: https://doi.org/10.1523/JNEUROSCI.3040-05.2005; https://doi.org/10.1128/MCB.23.23.8902-8912.2003</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7 may matter without overstating function.</a:t>
            </a:r>
          </a:p>
          <a:p>
            <a:endParaRPr/>
          </a:p>
          <a:p>
            <a:r>
              <a:t>Walk through: Ribosome stress and OXPHOS changes can be biologically linked, but network topology offers a technical alternative. Degree-matched network tests are necessary before interpreting ribosomal recurrence as regulation. Source: docs/analysis/kda_w_human_validation/rosmap_sex_apoe_broad_kda_analysis.md, Finding 7. Literature: https://doi.org/10.1523/JNEUROSCI.3040-05.2005; https://doi.org/10.1128/MCB.23.23.8902-8912.2003</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7. Literature: https://doi.org/10.1523/JNEUROSCI.3040-05.2005; https://doi.org/10.1128/MCB.23.23.8902-8912.2003</a:t>
            </a:r>
          </a:p>
          <a:p>
            <a:endParaRPr/>
          </a:p>
          <a:p>
            <a:r>
              <a:t>Scientific boundary: The novelty label is provisional and comes from a focused rather than systematic literature review.</a:t>
            </a:r>
          </a:p>
          <a:p>
            <a:endParaRPr/>
          </a:p>
          <a:p>
            <a:r>
              <a:t>Transition: Proceed to Finding 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8.</a:t>
            </a:r>
          </a:p>
          <a:p>
            <a:endParaRPr/>
          </a:p>
          <a:p>
            <a:r>
              <a:t>Walk through: LAMTOR5 repeatedly links lysosomal nutrient sensing with mostly decreased nuclear-encoded OXPHOS genes. Source: docs/analysis/kda_w_human_validation/rosmap_sex_apoe_broad_kda_analysis.md, Finding 8. Literature: https://doi.org/10.1016/j.cell.2012.07.032; https://doi.org/10.1016/j.cmet.2013.10.001; https://doi.org/10.15252/embj.2018100241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8 without assuming specialist knowledge.</a:t>
            </a:r>
          </a:p>
          <a:p>
            <a:endParaRPr/>
          </a:p>
          <a:p>
            <a:r>
              <a:t>Walk through: Lysosomes recycle cellular material and help sense nutrients. LAMTOR5 helps relay that information to mTORC1. The result proposes a lysosome-to-mitochondria bridge, while KDA cannot prove the direction of control. Source: docs/analysis/kda_w_human_validation/rosmap_sex_apoe_broad_kda_analysis.md, Finding 8. Literature: https://doi.org/10.1016/j.cell.2012.07.032; https://doi.org/10.1016/j.cmet.2013.10.001; https://doi.org/10.15252/embj.2018100241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8.</a:t>
            </a:r>
          </a:p>
          <a:p>
            <a:endParaRPr/>
          </a:p>
          <a:p>
            <a:r>
              <a:t>Walk through: The three summary metrics and three evidence rows preserve the units used in the analysis. The strongest category scores occur in male ε2 neurons, where query size is unusually large. Source: docs/analysis/kda_w_human_validation/rosmap_sex_apoe_broad_kda_analysis.md, Finding 8. Literature: https://doi.org/10.1016/j.cell.2012.07.032; https://doi.org/10.1016/j.cmet.2013.10.001; https://doi.org/10.15252/embj.2018100241</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8 in its internal and supplemental evidence context.</a:t>
            </a:r>
          </a:p>
          <a:p>
            <a:endParaRPr/>
          </a:p>
          <a:p>
            <a:r>
              <a:t>Walk through: The broader module reduces reliance on a single LAMTOR5 result. SEA-AD had no active KDA call in a matching LAMTOR5 discovery category, so exact-context support is unavailable. Source: docs/analysis/kda_w_human_validation/rosmap_sex_apoe_broad_kda_analysis.md, Finding 8. Literature: https://doi.org/10.1016/j.cell.2012.07.032; https://doi.org/10.1016/j.cmet.2013.10.001; https://doi.org/10.15252/embj.2018100241</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8 may matter without overstating function.</a:t>
            </a:r>
          </a:p>
          <a:p>
            <a:endParaRPr/>
          </a:p>
          <a:p>
            <a:r>
              <a:t>Walk through: LAMTOR5 sits in a plausible biological position between lysosomes, mTORC1, and mitochondria. Biological plausibility supports perturbation studies but does not validate the inferred LAMTOR5 edges. Source: docs/analysis/kda_w_human_validation/rosmap_sex_apoe_broad_kda_analysis.md, Finding 8. Literature: https://doi.org/10.1016/j.cell.2012.07.032; https://doi.org/10.1016/j.cmet.2013.10.001; https://doi.org/10.15252/embj.2018100241</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8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8. Literature: https://doi.org/10.1016/j.cell.2012.07.032; https://doi.org/10.1016/j.cmet.2013.10.001; https://doi.org/10.15252/embj.2018100241</a:t>
            </a:r>
          </a:p>
          <a:p>
            <a:endParaRPr/>
          </a:p>
          <a:p>
            <a:r>
              <a:t>Scientific boundary: The novelty label is provisional and comes from a focused rather than systematic literature review.</a:t>
            </a:r>
          </a:p>
          <a:p>
            <a:endParaRPr/>
          </a:p>
          <a:p>
            <a:r>
              <a:t>Transition: Proceed to Finding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9.</a:t>
            </a:r>
          </a:p>
          <a:p>
            <a:endParaRPr/>
          </a:p>
          <a:p>
            <a:r>
              <a:t>Walk through: WDR82 appears only in excitatory neurons and sits near a four-gene core MT upregulation neighborhood. Source: docs/analysis/kda_w_human_validation/rosmap_sex_apoe_broad_kda_analysis.md, Finding 9. Literature: https://doi.org/10.1128/MCB.01356-07; https://doi.org/10.1016/j.cell.2011.06.051; https://doi.org/10.3892/mmr.2015.4271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9 without assuming specialist knowledge.</a:t>
            </a:r>
          </a:p>
          <a:p>
            <a:endParaRPr/>
          </a:p>
          <a:p>
            <a:r>
              <a:t>Walk through: The exact neighborhood is narrow, and four recurring core MT genes originate within one long mitochondrial RNA. Four gene names do not provide four independent regulatory observations when they share one starting transcript. Source: docs/analysis/kda_w_human_validation/rosmap_sex_apoe_broad_kda_analysis.md, Finding 9. Literature: https://doi.org/10.1128/MCB.01356-07; https://doi.org/10.1016/j.cell.2011.06.051; https://doi.org/10.3892/mmr.2015.4271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9.</a:t>
            </a:r>
          </a:p>
          <a:p>
            <a:endParaRPr/>
          </a:p>
          <a:p>
            <a:r>
              <a:t>Walk through: The three summary metrics and three evidence rows preserve the units used in the analysis. KDA can nominate a gene by network position even when the candidate is not a strong DEG. Source: docs/analysis/kda_w_human_validation/rosmap_sex_apoe_broad_kda_analysis.md, Finding 9. Literature: https://doi.org/10.1128/MCB.01356-07; https://doi.org/10.1016/j.cell.2011.06.051; https://doi.org/10.3892/mmr.2015.4271</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9 in its internal and supplemental evidence context.</a:t>
            </a:r>
          </a:p>
          <a:p>
            <a:endParaRPr/>
          </a:p>
          <a:p>
            <a:r>
              <a:t>Walk through: The candidate appears in four strata but most supporting KDA calls come from one group. SEA-AD could return WDR82 in 11 matching excitatory backgrounds but did not, although SEA-AD supports the female ε3/ε3 core MT gene pattern. Source: docs/analysis/kda_w_human_validation/rosmap_sex_apoe_broad_kda_analysis.md, Finding 9. Literature: https://doi.org/10.1128/MCB.01356-07; https://doi.org/10.1016/j.cell.2011.06.051; https://doi.org/10.3892/mmr.2015.4271</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9 may matter without overstating function.</a:t>
            </a:r>
          </a:p>
          <a:p>
            <a:endParaRPr/>
          </a:p>
          <a:p>
            <a:r>
              <a:t>Walk through: The signal could reflect transcriptional coupling, global mitochondrial RNA, or network construction. Removing core MT genes in the query is an important sensitivity test before mechanistic interpretation. Source: docs/analysis/kda_w_human_validation/rosmap_sex_apoe_broad_kda_analysis.md, Finding 9. Literature: https://doi.org/10.1128/MCB.01356-07; https://doi.org/10.1016/j.cell.2011.06.051; https://doi.org/10.3892/mmr.2015.4271</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9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9. Literature: https://doi.org/10.1128/MCB.01356-07; https://doi.org/10.1016/j.cell.2011.06.051; https://doi.org/10.3892/mmr.2015.4271</a:t>
            </a:r>
          </a:p>
          <a:p>
            <a:endParaRPr/>
          </a:p>
          <a:p>
            <a:r>
              <a:t>Scientific boundary: The novelty label is provisional and comes from a focused rather than systematic literature review.</a:t>
            </a:r>
          </a:p>
          <a:p>
            <a:endParaRPr/>
          </a:p>
          <a:p>
            <a:r>
              <a:t>Transition: Proceed to Finding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10.</a:t>
            </a:r>
          </a:p>
          <a:p>
            <a:endParaRPr/>
          </a:p>
          <a:p>
            <a:r>
              <a:t>Walk through: SELENOM repeatedly sits near decreased mitochondrial-translation genes in neuronal queries. Source: docs/analysis/kda_w_human_validation/rosmap_sex_apoe_broad_kda_analysis.md, Finding 10. Literature: https://doi.org/10.1074/jbc.M511386200; https://doi.org/10.3892/ijmm_00000211; https://doi.org/10.3390/ijms14034385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10 without assuming specialist knowledge.</a:t>
            </a:r>
          </a:p>
          <a:p>
            <a:endParaRPr/>
          </a:p>
          <a:p>
            <a:r>
              <a:t>Walk through: The endoplasmic reticulum, or ER, folds many proteins and helps regulate calcium and oxidation. SELENOM is not part of the mitochondrial ribosome. KDA links two cellular systems through network proximity. Source: docs/analysis/kda_w_human_validation/rosmap_sex_apoe_broad_kda_analysis.md, Finding 10. Literature: https://doi.org/10.1074/jbc.M511386200; https://doi.org/10.3892/ijmm_00000211; https://doi.org/10.3390/ijms14034385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10.</a:t>
            </a:r>
          </a:p>
          <a:p>
            <a:endParaRPr/>
          </a:p>
          <a:p>
            <a:r>
              <a:t>Walk through: The three summary metrics and three evidence rows preserve the units used in the analysis. The candidate recurs across groups, so the result is not sex- or APOE-specific. Source: docs/analysis/kda_w_human_validation/rosmap_sex_apoe_broad_kda_analysis.md, Finding 10. Literature: https://doi.org/10.1074/jbc.M511386200; https://doi.org/10.3892/ijmm_00000211; https://doi.org/10.3390/ijms14034385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10 in its internal and supplemental evidence context.</a:t>
            </a:r>
          </a:p>
          <a:p>
            <a:endParaRPr/>
          </a:p>
          <a:p>
            <a:r>
              <a:t>Walk through: The ROSMAP recurrence and coherent neighborhood remain the main evidence. Lack of SEA-AD or genetic support lowers external confidence but does not erase recurrent ROSMAP evidence. Source: docs/analysis/kda_w_human_validation/rosmap_sex_apoe_broad_kda_analysis.md, Finding 10. Literature: https://doi.org/10.1074/jbc.M511386200; https://doi.org/10.3892/ijmm_00000211; https://doi.org/10.3390/ijms14034385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10 may matter without overstating function.</a:t>
            </a:r>
          </a:p>
          <a:p>
            <a:endParaRPr/>
          </a:p>
          <a:p>
            <a:r>
              <a:t>Walk through: Calcium and oxidation move between the ER and mitochondria, influencing protein folding and energy production. A joint ER and mitochondrial perturbation experiment can distinguish specific coupling from general stress. Source: docs/analysis/kda_w_human_validation/rosmap_sex_apoe_broad_kda_analysis.md, Finding 10. Literature: https://doi.org/10.1074/jbc.M511386200; https://doi.org/10.3892/ijmm_00000211; https://doi.org/10.3390/ijms14034385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10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10. Literature: https://doi.org/10.1074/jbc.M511386200; https://doi.org/10.3892/ijmm_00000211; https://doi.org/10.3390/ijms14034385</a:t>
            </a:r>
          </a:p>
          <a:p>
            <a:endParaRPr/>
          </a:p>
          <a:p>
            <a:r>
              <a:t>Scientific boundary: The novelty label is provisional and comes from a focused rather than systematic literature review.</a:t>
            </a:r>
          </a:p>
          <a:p>
            <a:endParaRPr/>
          </a:p>
          <a:p>
            <a:r>
              <a:t>Transition: Proceed to Finding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11.</a:t>
            </a:r>
          </a:p>
          <a:p>
            <a:endParaRPr/>
          </a:p>
          <a:p>
            <a:r>
              <a:t>Walk through: SELENOW has a broad mitochondrial neighborhood spanning respiration, translation, and protein quality control. Source: docs/analysis/kda_w_human_validation/rosmap_sex_apoe_broad_kda_analysis.md, Finding 11. Literature: https://doi.org/10.1016/j.redox.2022.102571; https://doi.org/10.1038/s42003-024-06572-0</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11 without assuming specialist knowledge.</a:t>
            </a:r>
          </a:p>
          <a:p>
            <a:endParaRPr/>
          </a:p>
          <a:p>
            <a:r>
              <a:t>Walk through: Redox balance keeps oxidation within a range the cell can tolerate. SELENOW should not be treated as the same mechanism as SELENOM. The broad neighborhood suggests a redox and proteostasis system rather than one narrow OXPHOS edge. Source: docs/analysis/kda_w_human_validation/rosmap_sex_apoe_broad_kda_analysis.md, Finding 11. Literature: https://doi.org/10.1016/j.redox.2022.102571; https://doi.org/10.1038/s42003-024-06572-0</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11.</a:t>
            </a:r>
          </a:p>
          <a:p>
            <a:endParaRPr/>
          </a:p>
          <a:p>
            <a:r>
              <a:t>Walk through: The three summary metrics and three evidence rows preserve the units used in the analysis. The supporting KDA calls cover excitatory and inhibitory neurons in four sex/APOE strata. Source: docs/analysis/kda_w_human_validation/rosmap_sex_apoe_broad_kda_analysis.md, Finding 11. Literature: https://doi.org/10.1016/j.redox.2022.102571; https://doi.org/10.1038/s42003-024-06572-0</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11 in its internal and supplemental evidence context.</a:t>
            </a:r>
          </a:p>
          <a:p>
            <a:endParaRPr/>
          </a:p>
          <a:p>
            <a:r>
              <a:t>Walk through: Exact-gene support and pathway-theme support represent different evidence levels. The local genetic screen adds weak transcriptome-wide association support but does not establish causality. Source: docs/analysis/kda_w_human_validation/rosmap_sex_apoe_broad_kda_analysis.md, Finding 11. Literature: https://doi.org/10.1016/j.redox.2022.102571; https://doi.org/10.1038/s42003-024-06572-0</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11 may matter without overstating function.</a:t>
            </a:r>
          </a:p>
          <a:p>
            <a:endParaRPr/>
          </a:p>
          <a:p>
            <a:r>
              <a:t>Walk through: Prior experiments connect SELENOW with respiration in immune cells and tau clearance in an AD mouse model. SELENOW and SELENOM share selenium biology but have different neighborhoods and must remain separate hypotheses. Source: docs/analysis/kda_w_human_validation/rosmap_sex_apoe_broad_kda_analysis.md, Finding 11. Literature: https://doi.org/10.1016/j.redox.2022.102571; https://doi.org/10.1038/s42003-024-06572-0</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11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11. Literature: https://doi.org/10.1016/j.redox.2022.102571; https://doi.org/10.1038/s42003-024-06572-0</a:t>
            </a:r>
          </a:p>
          <a:p>
            <a:endParaRPr/>
          </a:p>
          <a:p>
            <a:r>
              <a:t>Scientific boundary: The novelty label is provisional and comes from a focused rather than systematic literature review.</a:t>
            </a:r>
          </a:p>
          <a:p>
            <a:endParaRPr/>
          </a:p>
          <a:p>
            <a:r>
              <a:t>Transition: Proceed to Finding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12.</a:t>
            </a:r>
          </a:p>
          <a:p>
            <a:endParaRPr/>
          </a:p>
          <a:p>
            <a:r>
              <a:t>Walk through: PGK1 connects astrocyte glycolysis with a narrow BNIP3, BNIP3L, and FAM162A stress neighborhood. Source: docs/analysis/kda_w_human_validation/rosmap_sex_apoe_broad_kda_analysis.md, Finding 12. Literature: https://doi.org/10.1038/s41586-024-07606-7; https://doi.org/10.1038/s41419-020-02776-4; https://doi.org/10.1016/j.celrep.2023.113183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12 without assuming specialist knowledge.</a:t>
            </a:r>
          </a:p>
          <a:p>
            <a:endParaRPr/>
          </a:p>
          <a:p>
            <a:r>
              <a:t>Walk through: Glycolysis makes energy from sugar outside mitochondria. Mitophagy is the recycling of damaged mitochondria. The focused neighborhood suggests a glycolysis-to-mitophagy hypothesis, not broad control of all OXPHOS genes. Source: docs/analysis/kda_w_human_validation/rosmap_sex_apoe_broad_kda_analysis.md, Finding 12. Literature: https://doi.org/10.1038/s41586-024-07606-7; https://doi.org/10.1038/s41419-020-02776-4; https://doi.org/10.1016/j.celrep.2023.113183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12.</a:t>
            </a:r>
          </a:p>
          <a:p>
            <a:endParaRPr/>
          </a:p>
          <a:p>
            <a:r>
              <a:t>Walk through: The three summary metrics and three evidence rows preserve the units used in the analysis. The category scores rank candidates but are exploratory rather than final q-values. Source: docs/analysis/kda_w_human_validation/rosmap_sex_apoe_broad_kda_analysis.md, Finding 12. Literature: https://doi.org/10.1038/s41586-024-07606-7; https://doi.org/10.1038/s41419-020-02776-4; https://doi.org/10.1016/j.celrep.2023.113183</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12 in its internal and supplemental evidence context.</a:t>
            </a:r>
          </a:p>
          <a:p>
            <a:endParaRPr/>
          </a:p>
          <a:p>
            <a:r>
              <a:t>Walk through: A narrow module can sharpen a hypothesis but also depends heavily on a few genes. The candidate appears across several groups and should not be labeled sex- or APOE-specific. Source: docs/analysis/kda_w_human_validation/rosmap_sex_apoe_broad_kda_analysis.md, Finding 12. Literature: https://doi.org/10.1038/s41586-024-07606-7; https://doi.org/10.1038/s41419-020-02776-4; https://doi.org/10.1016/j.celrep.2023.113183</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12 may matter without overstating function.</a:t>
            </a:r>
          </a:p>
          <a:p>
            <a:endParaRPr/>
          </a:p>
          <a:p>
            <a:r>
              <a:t>Walk through: Astrocytes help regulate energy supply for neurons and respond strongly to Alzheimer’s pathology. A perturbation and rescue design can test whether PGK1 acts upstream of the BNIP3 pathway. Source: docs/analysis/kda_w_human_validation/rosmap_sex_apoe_broad_kda_analysis.md, Finding 12. Literature: https://doi.org/10.1038/s41586-024-07606-7; https://doi.org/10.1038/s41419-020-02776-4; https://doi.org/10.1016/j.celrep.2023.113183</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12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12. Literature: https://doi.org/10.1038/s41586-024-07606-7; https://doi.org/10.1038/s41419-020-02776-4; https://doi.org/10.1016/j.celrep.2023.113183</a:t>
            </a:r>
          </a:p>
          <a:p>
            <a:endParaRPr/>
          </a:p>
          <a:p>
            <a:r>
              <a:t>Scientific boundary: The novelty label is provisional and comes from a focused rather than systematic literature review.</a:t>
            </a:r>
          </a:p>
          <a:p>
            <a:endParaRPr/>
          </a:p>
          <a:p>
            <a:r>
              <a:t>Transition: Proceed to Finding 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13.</a:t>
            </a:r>
          </a:p>
          <a:p>
            <a:endParaRPr/>
          </a:p>
          <a:p>
            <a:r>
              <a:t>Walk through: FTL and ANKRD11 share an OPC neighborhood involving iron storage, GPX4, OXPHOS, and autophagy. Source: docs/analysis/kda_w_human_validation/rosmap_sex_apoe_broad_kda_analysis.md, Finding 13. Literature: https://pmc.ncbi.nlm.nih.gov/articles/PMC8941078/; https://doi.org/10.1186/s12915-025-02235-6</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13 without assuming specialist knowledge.</a:t>
            </a:r>
          </a:p>
          <a:p>
            <a:endParaRPr/>
          </a:p>
          <a:p>
            <a:r>
              <a:t>Walk through: OPCs mature into myelin-producing cells. Ferroptosis is cell death caused by iron-dependent damage to membrane fats. The evidence supports an iron and autophagy hypothesis. Ferroptosis requires direct lipid-damage and rescue measurements. Source: docs/analysis/kda_w_human_validation/rosmap_sex_apoe_broad_kda_analysis.md, Finding 13. Literature: https://pmc.ncbi.nlm.nih.gov/articles/PMC8941078/; https://doi.org/10.1186/s12915-025-02235-6</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13.</a:t>
            </a:r>
          </a:p>
          <a:p>
            <a:endParaRPr/>
          </a:p>
          <a:p>
            <a:r>
              <a:t>Walk through: The three summary metrics and three evidence rows preserve the units used in the analysis. ROSMAP contains one OPC fine type, so the two group-specific KDA calls do not provide broad subtype replication. Source: docs/analysis/kda_w_human_validation/rosmap_sex_apoe_broad_kda_analysis.md, Finding 13. Literature: https://pmc.ncbi.nlm.nih.gov/articles/PMC8941078/; https://doi.org/10.1186/s12915-025-02235-6</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13 in its internal and supplemental evidence context.</a:t>
            </a:r>
          </a:p>
          <a:p>
            <a:endParaRPr/>
          </a:p>
          <a:p>
            <a:r>
              <a:t>Walk through: The pathway terms overlap and partly depend on generic ubiquitin and tubulin genes. SEA-AD had no active OPC category, so the finding is not evaluable in that cohort. Source: docs/analysis/kda_w_human_validation/rosmap_sex_apoe_broad_kda_analysis.md, Finding 13. Literature: https://pmc.ncbi.nlm.nih.gov/articles/PMC8941078/; https://doi.org/10.1186/s12915-025-02235-6</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13 may matter without overstating function.</a:t>
            </a:r>
          </a:p>
          <a:p>
            <a:endParaRPr/>
          </a:p>
          <a:p>
            <a:r>
              <a:t>Walk through: Iron storage, GPX4 protection, and mitochondrial quality control converge on a testable vulnerability model. Opposite FTL directions warn against one simple model across sex/APOE groups. Source: docs/analysis/kda_w_human_validation/rosmap_sex_apoe_broad_kda_analysis.md, Finding 13. Literature: https://pmc.ncbi.nlm.nih.gov/articles/PMC8941078/; https://doi.org/10.1186/s12915-025-02235-6</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13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13. Literature: https://pmc.ncbi.nlm.nih.gov/articles/PMC8941078/; https://doi.org/10.1186/s12915-025-02235-6</a:t>
            </a:r>
          </a:p>
          <a:p>
            <a:endParaRPr/>
          </a:p>
          <a:p>
            <a:r>
              <a:t>Scientific boundary: The novelty label is provisional and comes from a focused rather than systematic literature review.</a:t>
            </a:r>
          </a:p>
          <a:p>
            <a:endParaRPr/>
          </a:p>
          <a:p>
            <a:r>
              <a:t>Transition: Proceed to Finding 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14.</a:t>
            </a:r>
          </a:p>
          <a:p>
            <a:endParaRPr/>
          </a:p>
          <a:p>
            <a:r>
              <a:t>Walk through: PLCG2 has strong Alzheimer’s genetics, but every exact mitochondrial KDA overlap is MT-CO1 alone. Source: docs/analysis/kda_w_human_validation/rosmap_sex_apoe_broad_kda_analysis.md, Finding 14. Literature: https://doi.org/10.1186/s13195-019-0469-0; https://doi.org/10.1038/s41588-026-02709-5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14 without assuming specialist knowledge.</a:t>
            </a:r>
          </a:p>
          <a:p>
            <a:endParaRPr/>
          </a:p>
          <a:p>
            <a:r>
              <a:t>Walk through: PLCG2 encodes a signaling enzyme. KDA selects network position, so a driver does not need to be a DEG. Strong genetics supports the gene, but it does not validate this inhibitory-neuron network edge. Source: docs/analysis/kda_w_human_validation/rosmap_sex_apoe_broad_kda_analysis.md, Finding 14. Literature: https://doi.org/10.1186/s13195-019-0469-0; https://doi.org/10.1038/s41588-026-02709-5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14.</a:t>
            </a:r>
          </a:p>
          <a:p>
            <a:endParaRPr/>
          </a:p>
          <a:p>
            <a:r>
              <a:t>Walk through: The three summary metrics and three evidence rows preserve the units used in the analysis. Repeated MT-CO1 is not equivalent to several distinct mitochondrial neighbors. Source: docs/analysis/kda_w_human_validation/rosmap_sex_apoe_broad_kda_analysis.md, Finding 14. Literature: https://doi.org/10.1186/s13195-019-0469-0; https://doi.org/10.1038/s41588-026-02709-5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14 in its internal and supplemental evidence context.</a:t>
            </a:r>
          </a:p>
          <a:p>
            <a:endParaRPr/>
          </a:p>
          <a:p>
            <a:r>
              <a:t>Walk through: Input-query coherence and exact driver neighborhoods answer different questions. Phase 19b supports PLCG2 at the gene level, while the MT-CO1 network edge remains technically narrow. Source: docs/analysis/kda_w_human_validation/rosmap_sex_apoe_broad_kda_analysis.md, Finding 14. Literature: https://doi.org/10.1186/s13195-019-0469-0; https://doi.org/10.1038/s41588-026-02709-5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14 may matter without overstating function.</a:t>
            </a:r>
          </a:p>
          <a:p>
            <a:endParaRPr/>
          </a:p>
          <a:p>
            <a:r>
              <a:t>Walk through: A well-established disease gene can still have an uncertain cell context or network neighborhood. PLCG2 remains worth testing, but the first priority is verifying its neuronal presence and neighborhood. Source: docs/analysis/kda_w_human_validation/rosmap_sex_apoe_broad_kda_analysis.md, Finding 14. Literature: https://doi.org/10.1186/s13195-019-0469-0; https://doi.org/10.1038/s41588-026-02709-5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14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14. Literature: https://doi.org/10.1186/s13195-019-0469-0; https://doi.org/10.1038/s41588-026-02709-5</a:t>
            </a:r>
          </a:p>
          <a:p>
            <a:endParaRPr/>
          </a:p>
          <a:p>
            <a:r>
              <a:t>Scientific boundary: The novelty label is provisional and comes from a focused rather than systematic literature review.</a:t>
            </a:r>
          </a:p>
          <a:p>
            <a:endParaRPr/>
          </a:p>
          <a:p>
            <a:r>
              <a:t>Transition: Proceed to Finding 15.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15.</a:t>
            </a:r>
          </a:p>
          <a:p>
            <a:endParaRPr/>
          </a:p>
          <a:p>
            <a:r>
              <a:t>Walk through: APOE is returned in three astrocyte groups with opposite expression directions and different mitochondrial neighbors. Source: docs/analysis/kda_w_human_validation/rosmap_sex_apoe_broad_kda_analysis.md, Finding 15. Literature: https://doi.org/10.1016/j.neuron.2019.03.075; https://doi.org/10.1016/j.celrep.2023.113183; https://doi.org/10.1038/s41419-020-02776-4</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15 without assuming specialist knowledge.</a:t>
            </a:r>
          </a:p>
          <a:p>
            <a:endParaRPr/>
          </a:p>
          <a:p>
            <a:r>
              <a:t>Walk through: Astrocytes produce much of the brain’s APOE. Finding the gene in an APOE-stratified analysis does not make the result ε4-specific. Opposite within-group directions motivate a direct interaction test rather than an ε4-only story. Source: docs/analysis/kda_w_human_validation/rosmap_sex_apoe_broad_kda_analysis.md, Finding 15. Literature: https://doi.org/10.1016/j.neuron.2019.03.075; https://doi.org/10.1016/j.celrep.2023.113183; https://doi.org/10.1038/s41419-020-02776-4</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15.</a:t>
            </a:r>
          </a:p>
          <a:p>
            <a:endParaRPr/>
          </a:p>
          <a:p>
            <a:r>
              <a:t>Walk through: The three summary metrics and three evidence rows preserve the units used in the analysis. Each context contributes one KDA call, so the evidence is too sparse to define one shared module. Source: docs/analysis/kda_w_human_validation/rosmap_sex_apoe_broad_kda_analysis.md, Finding 15. Literature: https://doi.org/10.1016/j.neuron.2019.03.075; https://doi.org/10.1016/j.celrep.2023.113183; https://doi.org/10.1038/s41419-020-02776-4</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15 in its internal and supplemental evidence context.</a:t>
            </a:r>
          </a:p>
          <a:p>
            <a:endParaRPr/>
          </a:p>
          <a:p>
            <a:r>
              <a:t>Walk through: Different directions and neighbors may reflect true context or cell-state and sampling differences. The human genetic importance of APOE does not validate the direction differences or mitochondrial edges. Source: docs/analysis/kda_w_human_validation/rosmap_sex_apoe_broad_kda_analysis.md, Finding 15. Literature: https://doi.org/10.1016/j.neuron.2019.03.075; https://doi.org/10.1016/j.celrep.2023.113183; https://doi.org/10.1038/s41419-020-02776-4</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15 may matter without overstating function.</a:t>
            </a:r>
          </a:p>
          <a:p>
            <a:endParaRPr/>
          </a:p>
          <a:p>
            <a:r>
              <a:t>Walk through: The same gene may respond differently across groups even when its population-level risk role is well established. The result argues for context-specific APOE models rather than an ε4-only interpretation. Source: docs/analysis/kda_w_human_validation/rosmap_sex_apoe_broad_kda_analysis.md, Finding 15. Literature: https://doi.org/10.1016/j.neuron.2019.03.075; https://doi.org/10.1016/j.celrep.2023.113183; https://doi.org/10.1038/s41419-020-02776-4</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15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15. Literature: https://doi.org/10.1016/j.neuron.2019.03.075; https://doi.org/10.1016/j.celrep.2023.113183; https://doi.org/10.1038/s41419-020-02776-4</a:t>
            </a:r>
          </a:p>
          <a:p>
            <a:endParaRPr/>
          </a:p>
          <a:p>
            <a:r>
              <a:t>Scientific boundary: The novelty label is provisional and comes from a focused rather than systematic literature review.</a:t>
            </a:r>
          </a:p>
          <a:p>
            <a:endParaRPr/>
          </a:p>
          <a:p>
            <a:r>
              <a:t>Transition: Proceed to Finding 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16.</a:t>
            </a:r>
          </a:p>
          <a:p>
            <a:endParaRPr/>
          </a:p>
          <a:p>
            <a:r>
              <a:t>Walk through: Three stress-response drivers define a small female ε4 vascular module across only two eligible KDA calls. Source: docs/analysis/kda_w_human_validation/rosmap_sex_apoe_broad_kda_analysis.md, Finding 16. Literature: https://doi.org/10.1186/s13024-023-00624-5; https://doi.org/10.1038/s41586-024-07606-7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16 without assuming specialist knowledge.</a:t>
            </a:r>
          </a:p>
          <a:p>
            <a:endParaRPr/>
          </a:p>
          <a:p>
            <a:r>
              <a:t>Walk through: Heat-shock genes protect protein folding during many forms of cell stress. Literal high temperature is not required. Three related genes create a focused clue, not evidence of a broad vascular stress program. Source: docs/analysis/kda_w_human_validation/rosmap_sex_apoe_broad_kda_analysis.md, Finding 16. Literature: https://doi.org/10.1186/s13024-023-00624-5; https://doi.org/10.1038/s41586-024-07606-7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16.</a:t>
            </a:r>
          </a:p>
          <a:p>
            <a:endParaRPr/>
          </a:p>
          <a:p>
            <a:r>
              <a:t>Walk through: The three summary metrics and three evidence rows preserve the units used in the analysis. The pathway analysis uses the vascular network background and remains exploratory. Source: docs/analysis/kda_w_human_validation/rosmap_sex_apoe_broad_kda_analysis.md, Finding 16. Literature: https://doi.org/10.1186/s13024-023-00624-5; https://doi.org/10.1038/s41586-024-07606-7</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16 in its internal and supplemental evidence context.</a:t>
            </a:r>
          </a:p>
          <a:p>
            <a:endParaRPr/>
          </a:p>
          <a:p>
            <a:r>
              <a:t>Walk through: The evidence level reflects internal sparsity rather than a failed external comparison. The candidate remains a low-confidence ROSMAP clue because of sparse internal support. Source: docs/analysis/kda_w_human_validation/rosmap_sex_apoe_broad_kda_analysis.md, Finding 16. Literature: https://doi.org/10.1186/s13024-023-00624-5; https://doi.org/10.1038/s41586-024-07606-7</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16 may matter without overstating function.</a:t>
            </a:r>
          </a:p>
          <a:p>
            <a:endParaRPr/>
          </a:p>
          <a:p>
            <a:r>
              <a:t>Walk through: A protein-protection response could mark vascular strain near Alzheimer’s pathology. Spatial evidence can test whether the stress proteins rise near vascular Alzheimer’s pathology. Source: docs/analysis/kda_w_human_validation/rosmap_sex_apoe_broad_kda_analysis.md, Finding 16. Literature: https://doi.org/10.1186/s13024-023-00624-5; https://doi.org/10.1038/s41586-024-07606-7</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16. Literature: https://doi.org/10.1186/s13024-023-00624-5; https://doi.org/10.1038/s41586-024-07606-7</a:t>
            </a:r>
          </a:p>
          <a:p>
            <a:endParaRPr/>
          </a:p>
          <a:p>
            <a:r>
              <a:t>Scientific boundary: The novelty label is provisional and comes from a focused rather than systematic literature review.</a:t>
            </a:r>
          </a:p>
          <a:p>
            <a:endParaRPr/>
          </a:p>
          <a:p>
            <a:r>
              <a:t>Transition: Proceed to Finding 17.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17.</a:t>
            </a:r>
          </a:p>
          <a:p>
            <a:endParaRPr/>
          </a:p>
          <a:p>
            <a:r>
              <a:t>Walk through: Mitochondrial gene-set patterns agree more strongly than exact driver identities across the two cohort-specific network analyses. Source: docs/analysis/kda_w_human_validation/rosmap_sex_apoe_broad_kda_analysis.md, Finding 17.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17 without assuming specialist knowledge.</a:t>
            </a:r>
          </a:p>
          <a:p>
            <a:endParaRPr/>
          </a:p>
          <a:p>
            <a:r>
              <a:t>Walk through: Exact context means the same gene, sex/APOE group, and broad cell class in both cohorts. Different cohort-specific networks can nominate different genes even when they point to similar mitochondrial biology. Source: docs/analysis/kda_w_human_validation/rosmap_sex_apoe_broad_kda_analysis.md, Finding 17.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17.</a:t>
            </a:r>
          </a:p>
          <a:p>
            <a:endParaRPr/>
          </a:p>
          <a:p>
            <a:r>
              <a:t>Walk through: The three summary metrics and three evidence rows preserve the units used in the analysis. A gene absent from the matching SEA-AD network background could never be selected. Source: docs/analysis/kda_w_human_validation/rosmap_sex_apoe_broad_kda_analysis.md, Finding 17.</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17 in its internal and supplemental evidence context.</a:t>
            </a:r>
          </a:p>
          <a:p>
            <a:endParaRPr/>
          </a:p>
          <a:p>
            <a:r>
              <a:t>Walk through: The recurrences support general candidate relevance but do not confirm the original sex/APOE and cell context. Across all genes, 3 of 43 SEA-AD drivers overlap 228 ROSMAP drivers, odds ratio 3.15 and P 0.0812. Source: docs/analysis/kda_w_human_validation/rosmap_sex_apoe_broad_kda_analysis.md, Finding 17.</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17 may matter without overstating function.</a:t>
            </a:r>
          </a:p>
          <a:p>
            <a:endParaRPr/>
          </a:p>
          <a:p>
            <a:r>
              <a:t>Walk through: Networks, phenotype labels, available cell types, and query thresholds differ between cohorts. Gene-set support can strengthen a ROSMAP finding without confirming its exact upstream candidate. Source: docs/analysis/kda_w_human_validation/rosmap_sex_apoe_broad_kda_analysis.md, Finding 17.</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17.</a:t>
            </a:r>
          </a:p>
          <a:p>
            <a:endParaRPr/>
          </a:p>
          <a:p>
            <a:r>
              <a:t>Scientific boundary: The novelty label is provisional and comes from a focused rather than systematic literature review.</a:t>
            </a:r>
          </a:p>
          <a:p>
            <a:endParaRPr/>
          </a:p>
          <a:p>
            <a:r>
              <a:t>Transition: Close by returning to the strongest gene-set-level results and the experiments needed to test causality.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BA105-4B24-46A8-AF1E-746362AECBED}"/>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9153A9A4-39A0-4527-BCC8-87E8B379E888}"/>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3130D54B-796E-481E-8C08-BA01FBA2FB2F}"/>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FC8D336F-2113-4BE9-B57A-0B488AA3103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72DB447C-5DD6-487E-8966-80A70E2A140F}"/>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45C28-A521-4016-A859-5CDF15707258}"/>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441D5F0D-3BEC-4F03-B479-F5491D273040}"/>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B921A8A-5687-460F-8627-57019F2B3024}"/>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2A32EE1D-CDAC-4B84-9CDA-9E0A2E101C2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86D9969-7263-434E-85BA-616B70F0F695}"/>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E578C-327B-437D-9B83-9555D5872F7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D18478C-FB06-48F7-8BEF-170985AB4892}"/>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AAC0CE1F-9B2E-49D7-8D5C-16F25C9832C2}"/>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5769DEF4-BD2C-45AE-B50F-F80E3FEF57BA}"/>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4ABBFF11-CE87-4491-8FE1-B34F6F5D608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E0FD6-7325-4BAE-B158-0AF28703D23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A1B9E55E-5FBD-41FE-A156-FBD61AD2E58F}"/>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092D2BBA-9FF3-4D93-9F11-A7B7707A5CF6}"/>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4C434C50-7A6B-46C2-9F04-8456F2224419}"/>
              </a:ext>
            </a:extLst>
          </p:cNvPr>
          <p:cNvSpPr>
            <a:spLocks noGrp="1"/>
          </p:cNvSpPr>
          <p:nvPr>
            <p:ph type="dt" idx="10"/>
          </p:nvPr>
        </p:nvSpPr>
        <p:spPr/>
        <p:txBody>
          <a:bodyPr/>
          <a:lstStyle/>
          <a:p>
            <a:fld id="{5BCAD085-E8A6-8845-BD4E-CB4CCA059FC4}" type="datetimeFigureOut">
              <a:t>9/21/26</a:t>
            </a:fld>
            <a:endParaRPr/>
          </a:p>
        </p:txBody>
      </p:sp>
      <p:sp>
        <p:nvSpPr>
          <p:cNvPr id="6" name="Footer Placeholder 5">
            <a:extLst>
              <a:ext uri="{FF2B5EF4-FFF2-40B4-BE49-F238E27FC236}">
                <a16:creationId xmlns:a16="http://schemas.microsoft.com/office/drawing/2014/main" id="{4F378908-8C1E-449A-9A0C-21909ADDF7C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5FEEC09-795E-489D-9504-3B44CB5AA4D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81A13-D01A-4639-9441-9EC57E014091}"/>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96EF0EA9-550A-4D7F-858D-12C4362BC177}"/>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EACA97FA-5666-4E7B-AF25-82C69827DAD9}"/>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181B0157-C047-4AC4-B60B-AC374C2DC854}"/>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162A9E80-ABF2-4CB0-A883-8BAE7511051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F5126AB6-169A-4049-B2B0-415A430E173C}"/>
              </a:ext>
            </a:extLst>
          </p:cNvPr>
          <p:cNvSpPr>
            <a:spLocks noGrp="1"/>
          </p:cNvSpPr>
          <p:nvPr>
            <p:ph type="dt" idx="10"/>
          </p:nvPr>
        </p:nvSpPr>
        <p:spPr/>
        <p:txBody>
          <a:bodyPr/>
          <a:lstStyle/>
          <a:p>
            <a:fld id="{5BCAD085-E8A6-8845-BD4E-CB4CCA059FC4}" type="datetimeFigureOut">
              <a:t>9/21/26</a:t>
            </a:fld>
            <a:endParaRPr/>
          </a:p>
        </p:txBody>
      </p:sp>
      <p:sp>
        <p:nvSpPr>
          <p:cNvPr id="8" name="Footer Placeholder 7">
            <a:extLst>
              <a:ext uri="{FF2B5EF4-FFF2-40B4-BE49-F238E27FC236}">
                <a16:creationId xmlns:a16="http://schemas.microsoft.com/office/drawing/2014/main" id="{F7AAF46D-1D70-4152-B3A5-0E25EA8A8C45}"/>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43AE2825-6870-4AFD-8C3D-17D9697BC43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E3350-79AD-454B-BB3B-E54504943299}"/>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8A11277A-119B-4C22-9FC5-1A4217BC4558}"/>
              </a:ext>
            </a:extLst>
          </p:cNvPr>
          <p:cNvSpPr>
            <a:spLocks noGrp="1"/>
          </p:cNvSpPr>
          <p:nvPr>
            <p:ph type="dt" idx="10"/>
          </p:nvPr>
        </p:nvSpPr>
        <p:spPr/>
        <p:txBody>
          <a:bodyPr/>
          <a:lstStyle/>
          <a:p>
            <a:fld id="{5BCAD085-E8A6-8845-BD4E-CB4CCA059FC4}" type="datetimeFigureOut">
              <a:t>9/21/26</a:t>
            </a:fld>
            <a:endParaRPr/>
          </a:p>
        </p:txBody>
      </p:sp>
      <p:sp>
        <p:nvSpPr>
          <p:cNvPr id="4" name="Footer Placeholder 3">
            <a:extLst>
              <a:ext uri="{FF2B5EF4-FFF2-40B4-BE49-F238E27FC236}">
                <a16:creationId xmlns:a16="http://schemas.microsoft.com/office/drawing/2014/main" id="{8F2E988A-0294-4518-9131-4707DAB2542D}"/>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FA7AD5DD-ABB5-44F6-B093-E1499C54A80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DCC284-4903-4405-85A0-D1A57B9D92F2}"/>
              </a:ext>
            </a:extLst>
          </p:cNvPr>
          <p:cNvSpPr>
            <a:spLocks noGrp="1"/>
          </p:cNvSpPr>
          <p:nvPr>
            <p:ph type="dt" idx="10"/>
          </p:nvPr>
        </p:nvSpPr>
        <p:spPr/>
        <p:txBody>
          <a:bodyPr/>
          <a:lstStyle/>
          <a:p>
            <a:fld id="{5BCAD085-E8A6-8845-BD4E-CB4CCA059FC4}" type="datetimeFigureOut">
              <a:t>9/21/26</a:t>
            </a:fld>
            <a:endParaRPr/>
          </a:p>
        </p:txBody>
      </p:sp>
      <p:sp>
        <p:nvSpPr>
          <p:cNvPr id="3" name="Footer Placeholder 2">
            <a:extLst>
              <a:ext uri="{FF2B5EF4-FFF2-40B4-BE49-F238E27FC236}">
                <a16:creationId xmlns:a16="http://schemas.microsoft.com/office/drawing/2014/main" id="{ED141682-5DE1-4CBF-9569-373FE0B9BAA9}"/>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25914B2A-D7F2-4159-8F69-309A5F773B1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EAE9D-CBCA-4A4B-B8D6-7AA34F8FC57F}"/>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B4DB1A8F-971E-4746-AF4B-BFD89C5FAE14}"/>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BB5F97F2-8320-44DF-AD44-ED692B695938}"/>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5F591FE0-785C-4A07-B472-DEA202AE0F37}"/>
              </a:ext>
            </a:extLst>
          </p:cNvPr>
          <p:cNvSpPr>
            <a:spLocks noGrp="1"/>
          </p:cNvSpPr>
          <p:nvPr>
            <p:ph type="dt" idx="10"/>
          </p:nvPr>
        </p:nvSpPr>
        <p:spPr/>
        <p:txBody>
          <a:bodyPr/>
          <a:lstStyle/>
          <a:p>
            <a:fld id="{5BCAD085-E8A6-8845-BD4E-CB4CCA059FC4}" type="datetimeFigureOut">
              <a:t>9/21/26</a:t>
            </a:fld>
            <a:endParaRPr/>
          </a:p>
        </p:txBody>
      </p:sp>
      <p:sp>
        <p:nvSpPr>
          <p:cNvPr id="6" name="Footer Placeholder 5">
            <a:extLst>
              <a:ext uri="{FF2B5EF4-FFF2-40B4-BE49-F238E27FC236}">
                <a16:creationId xmlns:a16="http://schemas.microsoft.com/office/drawing/2014/main" id="{58C68A51-38CA-43E0-8B25-5C296B6D720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30C76129-082E-4010-995E-1A5CAB35012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2586B-36D9-4D69-B104-4DA42CD2CB4C}"/>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12F09145-3BCD-4CA1-BFED-E06BE6CDF968}"/>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B1E2E8AB-3FDA-4762-9EBF-75E6F952199C}"/>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A7630AB2-0EAA-400F-BBFF-70171F0B77C7}"/>
              </a:ext>
            </a:extLst>
          </p:cNvPr>
          <p:cNvSpPr>
            <a:spLocks noGrp="1"/>
          </p:cNvSpPr>
          <p:nvPr>
            <p:ph type="dt" idx="10"/>
          </p:nvPr>
        </p:nvSpPr>
        <p:spPr/>
        <p:txBody>
          <a:bodyPr/>
          <a:lstStyle/>
          <a:p>
            <a:fld id="{5BCAD085-E8A6-8845-BD4E-CB4CCA059FC4}" type="datetimeFigureOut">
              <a:t>9/21/26</a:t>
            </a:fld>
            <a:endParaRPr/>
          </a:p>
        </p:txBody>
      </p:sp>
      <p:sp>
        <p:nvSpPr>
          <p:cNvPr id="6" name="Footer Placeholder 5">
            <a:extLst>
              <a:ext uri="{FF2B5EF4-FFF2-40B4-BE49-F238E27FC236}">
                <a16:creationId xmlns:a16="http://schemas.microsoft.com/office/drawing/2014/main" id="{27B3CC1A-7049-40A0-8239-F3E24919630B}"/>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7240AA53-86D7-4E25-B6E1-D0C0AA006D9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EBF38-4BA8-4B01-8C99-0E769930C7CE}"/>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804F0F90-D54B-4EF4-8018-5AE775362E9C}"/>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4096C5B-B3CD-48C2-8D22-17A9C72D9387}"/>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F4C35787-6E7C-40C7-BA5E-00B865B70B6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E8490C8-CEB3-4CE2-A455-02DB2222343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24AAC7-17EB-4F15-841B-6603F68C7477}"/>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4A072281-7E51-431F-BA06-B1F8B94C45C3}"/>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B0FBBD04-DEBB-4D2A-B110-D09DD3DFBA6A}"/>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B1EAC1E3-8832-4FA1-9E1C-6641B261795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B44CD56-F4C0-4208-A1CD-85495B3AF25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895C2-58CF-4796-9A2F-60BFF31E6F0B}"/>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57DB0848-96C1-4747-94C1-8CC3A12832BA}"/>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FA3588A0-AE2B-40F4-AA6A-BFC9BE89514C}"/>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EC6D0DB2-A037-4EF8-94A0-B6597B8D83CA}"/>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AD5E4468-25E1-4C9F-9E11-193DF27CB836}"/>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116230-CD20-4199-A460-95D3D4C64572}"/>
              </a:ext>
            </a:extLst>
          </p:cNvPr>
          <p:cNvSpPr>
            <a:spLocks noGrp="1"/>
          </p:cNvSpPr>
          <p:nvPr/>
        </p:nvSpPr>
        <p:spPr>
          <a:xfrm>
            <a:off x="713232" y="650000"/>
            <a:ext cx="10287000" cy="300000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Sex- and APOE-Specific Mitochondrial Gene Expression and Network Analysis in Alzheimer’s Disease</a:t>
            </a:r>
          </a:p>
          <a:p>
            <a:r>
              <a:rPr sz="2000">
                <a:solidFill>
                  <a:srgbClr val="FFFFFF"/>
                </a:solidFill>
                <a:latin typeface="Arial"/>
                <a:ea typeface="Arial"/>
                <a:cs typeface="Arial"/>
              </a:rPr>
              <a:t>Cell-resolved differential-expression, pathway, and key driver analyses with cross-cohort human validation</a:t>
            </a:r>
          </a:p>
          <a:p>
            <a:endParaRPr sz="1200">
              <a:solidFill>
                <a:srgbClr val="FFFFFF"/>
              </a:solidFill>
              <a:latin typeface="Arial"/>
              <a:ea typeface="Arial"/>
              <a:cs typeface="Arial"/>
            </a:endParaRPr>
          </a:p>
          <a:p>
            <a:r>
              <a:rPr sz="2000" b="1">
                <a:solidFill>
                  <a:srgbClr val="FFFFFF"/>
                </a:solidFill>
                <a:latin typeface="Arial"/>
                <a:ea typeface="Arial"/>
                <a:cs typeface="Arial"/>
              </a:rPr>
              <a:t>--Eric Zhuang</a:t>
            </a:r>
          </a:p>
        </p:txBody>
      </p:sp>
    </p:spTree>
    <p:extLst>
      <p:ext uri="{BB962C8B-B14F-4D97-AF65-F5344CB8AC3E}">
        <p14:creationId xmlns:p14="http://schemas.microsoft.com/office/powerpoint/2010/main" val="206127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D92C61A9-D17A-4A5C-B4F6-F722B8289DF9}">
                <a16:creationId xmlns:a16="http://schemas.microsoft.com/office/drawing/2014/main" xmlns="" id="{6F07DFAB-35BE-479C-9DEF-5CEA7FC8F4FE}"/>
              </a:ext>
            </a:extLst>
          </p:cNvPr>
          <p:cNvSpPr>
            <a:spLocks noGrp="1"/>
          </p:cNvSpPr>
          <p:nvPr/>
        </p:nvSpPr>
        <p:spPr>
          <a:xfrm>
            <a:off x="713232" y="1285018"/>
            <a:ext cx="10287000" cy="88639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Study overview and key concepts</a:t>
            </a:r>
            <a:br/>
            <a:endParaRPr sz="2000" b="1">
              <a:solidFill>
                <a:srgbClr val="FFFFFF"/>
              </a:solidFill>
              <a:latin typeface="Arial"/>
              <a:ea typeface="Arial"/>
              <a:cs typeface="Arial"/>
            </a:endParaRPr>
          </a:p>
        </p:txBody>
      </p:sp>
      <p:sp>
        <p:nvSpPr>
          <p:cNvPr id="2" name="TextBox 1">
            <a:extLst>
              <a:ext uri="{2F7840D8-3D57-4DED-BD06-3F8FA78609D6}">
                <a16:creationId xmlns:a16="http://schemas.microsoft.com/office/drawing/2014/main" xmlns="" id="{CB0FABF6-EBA2-422B-ADF2-3900CE13C3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1</a:t>
            </a:r>
          </a:p>
        </p:txBody>
      </p:sp>
    </p:spTree>
    <p:extLst>
      <p:ext uri="{95F04923-0B92-4850-864A-EE0D0FB786E8}">
        <p14:creationId xmlns:p14="http://schemas.microsoft.com/office/powerpoint/2010/main" xmlns="" val="15724482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workflow-background">
            <a:extLst>
              <a:ext uri="{FF2B5EF4-FFF2-40B4-BE49-F238E27FC236}">
                <a16:creationId xmlns:a16="http://schemas.microsoft.com/office/drawing/2014/main" id="{4E982020-69A2-4D13-A522-5B7F01820BE9}"/>
              </a:ext>
            </a:extLst>
          </p:cNvPr>
          <p:cNvSpPr>
            <a:spLocks noGrp="1"/>
          </p:cNvSpPr>
          <p:nvPr/>
        </p:nvSpPr>
        <p:spPr>
          <a:xfrm>
            <a:off x="0" y="0"/>
            <a:ext cx="12192000" cy="6858000"/>
          </a:xfrm>
          <a:prstGeom prst="rect">
            <a:avLst/>
          </a:prstGeom>
          <a:solidFill>
            <a:srgbClr val="0F233D"/>
          </a:solidFill>
          <a:ln w="0">
            <a:noFill/>
            <a:prstDash val="solid"/>
          </a:ln>
        </p:spPr>
        <p:txBody>
          <a:bodyPr/>
          <a:lstStyle/>
          <a:p>
            <a:endParaRPr lang="en-US"/>
          </a:p>
        </p:txBody>
      </p:sp>
      <p:sp>
        <p:nvSpPr>
          <p:cNvPr id="2" name="workflow-title">
            <a:extLst>
              <a:ext uri="{FF2B5EF4-FFF2-40B4-BE49-F238E27FC236}">
                <a16:creationId xmlns:a16="http://schemas.microsoft.com/office/drawing/2014/main" id="{79D2C27B-AC4C-4648-BA06-E6F507A7D4A1}"/>
              </a:ext>
            </a:extLst>
          </p:cNvPr>
          <p:cNvSpPr>
            <a:spLocks noGrp="1"/>
          </p:cNvSpPr>
          <p:nvPr/>
        </p:nvSpPr>
        <p:spPr>
          <a:xfrm>
            <a:off x="714375" y="1171575"/>
            <a:ext cx="8096250" cy="666750"/>
          </a:xfrm>
          <a:prstGeom prst="rect">
            <a:avLst/>
          </a:prstGeom>
          <a:noFill/>
          <a:ln w="0">
            <a:noFill/>
            <a:prstDash val="solid"/>
          </a:ln>
        </p:spPr>
        <p:txBody>
          <a:bodyPr wrap="square" lIns="0" tIns="0" rIns="0" bIns="0" anchor="ctr">
            <a:normAutofit/>
          </a:bodyPr>
          <a:lstStyle/>
          <a:p>
            <a:pPr algn="l">
              <a:defRPr sz="3150" b="1">
                <a:solidFill>
                  <a:srgbClr val="FFFFFF"/>
                </a:solidFill>
                <a:latin typeface="Arial"/>
                <a:ea typeface="Arial"/>
                <a:cs typeface="Arial"/>
              </a:defRPr>
            </a:pPr>
            <a:r>
              <a:rPr sz="3150" b="1">
                <a:solidFill>
                  <a:srgbClr val="FFFFFF"/>
                </a:solidFill>
                <a:latin typeface="Arial"/>
                <a:ea typeface="Arial"/>
                <a:cs typeface="Arial"/>
              </a:rPr>
              <a:t>Overall workflow</a:t>
            </a:r>
          </a:p>
        </p:txBody>
      </p:sp>
      <p:sp>
        <p:nvSpPr>
          <p:cNvPr id="3" name="workflow-part-label">
            <a:extLst>
              <a:ext uri="{FF2B5EF4-FFF2-40B4-BE49-F238E27FC236}">
                <a16:creationId xmlns:a16="http://schemas.microsoft.com/office/drawing/2014/main" id="{3F172B43-0978-435C-9EBF-CBF5530D5FBD}"/>
              </a:ext>
            </a:extLst>
          </p:cNvPr>
          <p:cNvSpPr>
            <a:spLocks noGrp="1"/>
          </p:cNvSpPr>
          <p:nvPr/>
        </p:nvSpPr>
        <p:spPr>
          <a:xfrm>
            <a:off x="714375" y="609600"/>
            <a:ext cx="2190750" cy="228600"/>
          </a:xfrm>
          <a:prstGeom prst="rect">
            <a:avLst/>
          </a:prstGeom>
          <a:noFill/>
          <a:ln w="0">
            <a:noFill/>
            <a:prstDash val="solid"/>
          </a:ln>
        </p:spPr>
        <p:txBody>
          <a:bodyPr wrap="square" lIns="0" tIns="0" rIns="0" bIns="0" anchor="ctr">
            <a:normAutofit/>
          </a:bodyPr>
          <a:lstStyle/>
          <a:p>
            <a:pPr algn="l">
              <a:defRPr sz="825" b="1">
                <a:solidFill>
                  <a:srgbClr val="0072B2"/>
                </a:solidFill>
                <a:latin typeface="Arial"/>
                <a:ea typeface="Arial"/>
                <a:cs typeface="Arial"/>
              </a:defRPr>
            </a:pPr>
            <a:r>
              <a:rPr sz="825" b="1">
                <a:solidFill>
                  <a:srgbClr val="0072B2"/>
                </a:solidFill>
                <a:latin typeface="Arial"/>
                <a:ea typeface="Arial"/>
                <a:cs typeface="Arial"/>
              </a:rPr>
              <a:t>PART 1</a:t>
            </a:r>
          </a:p>
        </p:txBody>
      </p:sp>
      <p:sp>
        <p:nvSpPr>
          <p:cNvPr id="4" name="workflow-subtitle">
            <a:extLst>
              <a:ext uri="{FF2B5EF4-FFF2-40B4-BE49-F238E27FC236}">
                <a16:creationId xmlns:a16="http://schemas.microsoft.com/office/drawing/2014/main" id="{9E46C2DA-B029-4646-A9C3-AE3F21F2A92A}"/>
              </a:ext>
            </a:extLst>
          </p:cNvPr>
          <p:cNvSpPr>
            <a:spLocks noGrp="1"/>
          </p:cNvSpPr>
          <p:nvPr/>
        </p:nvSpPr>
        <p:spPr>
          <a:xfrm>
            <a:off x="723900" y="1971675"/>
            <a:ext cx="10668000" cy="400050"/>
          </a:xfrm>
          <a:prstGeom prst="rect">
            <a:avLst/>
          </a:prstGeom>
          <a:noFill/>
          <a:ln w="0">
            <a:noFill/>
            <a:prstDash val="solid"/>
          </a:ln>
        </p:spPr>
        <p:txBody>
          <a:bodyPr wrap="square" lIns="0" tIns="0" rIns="0" bIns="0" anchor="ctr">
            <a:normAutofit/>
          </a:bodyPr>
          <a:lstStyle/>
          <a:p>
            <a:pPr algn="l">
              <a:defRPr sz="1425" b="0">
                <a:solidFill>
                  <a:srgbClr val="CBD8E5"/>
                </a:solidFill>
                <a:latin typeface="Arial"/>
                <a:ea typeface="Arial"/>
                <a:cs typeface="Arial"/>
              </a:defRPr>
            </a:pPr>
            <a:r>
              <a:rPr sz="1425" b="0">
                <a:solidFill>
                  <a:srgbClr val="CBD8E5"/>
                </a:solidFill>
                <a:latin typeface="Arial"/>
                <a:ea typeface="Arial"/>
                <a:cs typeface="Arial"/>
              </a:rPr>
              <a:t>From cell-level gene expression to human validation, with mouse experiments as a potential next step</a:t>
            </a:r>
          </a:p>
        </p:txBody>
      </p:sp>
      <p:sp>
        <p:nvSpPr>
          <p:cNvPr id="5" name="workflow-connector">
            <a:extLst>
              <a:ext uri="{FF2B5EF4-FFF2-40B4-BE49-F238E27FC236}">
                <a16:creationId xmlns:a16="http://schemas.microsoft.com/office/drawing/2014/main" id="{AEA5EE79-2054-447E-92B6-1F87DC91DDD6}"/>
              </a:ext>
            </a:extLst>
          </p:cNvPr>
          <p:cNvSpPr>
            <a:spLocks noGrp="1"/>
          </p:cNvSpPr>
          <p:nvPr/>
        </p:nvSpPr>
        <p:spPr>
          <a:xfrm>
            <a:off x="1390650" y="3238500"/>
            <a:ext cx="9391650" cy="0"/>
          </a:xfrm>
          <a:prstGeom prst="line">
            <a:avLst/>
          </a:prstGeom>
          <a:noFill/>
          <a:ln w="28575">
            <a:solidFill>
              <a:srgbClr val="58718B"/>
            </a:solidFill>
            <a:prstDash val="solid"/>
          </a:ln>
        </p:spPr>
        <p:txBody>
          <a:bodyPr/>
          <a:lstStyle/>
          <a:p>
            <a:endParaRPr lang="en-US"/>
          </a:p>
        </p:txBody>
      </p:sp>
      <p:sp>
        <p:nvSpPr>
          <p:cNvPr id="6" name="workflow-stage-1-node">
            <a:extLst>
              <a:ext uri="{FF2B5EF4-FFF2-40B4-BE49-F238E27FC236}">
                <a16:creationId xmlns:a16="http://schemas.microsoft.com/office/drawing/2014/main" id="{9DB64847-5BB9-4C6D-A7F6-8B634BE8F0D3}"/>
              </a:ext>
            </a:extLst>
          </p:cNvPr>
          <p:cNvSpPr>
            <a:spLocks noGrp="1"/>
          </p:cNvSpPr>
          <p:nvPr/>
        </p:nvSpPr>
        <p:spPr>
          <a:xfrm>
            <a:off x="1162050" y="3009900"/>
            <a:ext cx="457200" cy="457200"/>
          </a:xfrm>
          <a:prstGeom prst="ellipse">
            <a:avLst/>
          </a:prstGeom>
          <a:solidFill>
            <a:srgbClr val="0072B2"/>
          </a:solidFill>
          <a:ln w="0">
            <a:solidFill>
              <a:srgbClr val="0072B2"/>
            </a:solidFill>
            <a:prstDash val="solid"/>
          </a:ln>
        </p:spPr>
        <p:txBody>
          <a:bodyPr/>
          <a:lstStyle/>
          <a:p>
            <a:endParaRPr lang="en-US"/>
          </a:p>
        </p:txBody>
      </p:sp>
      <p:sp>
        <p:nvSpPr>
          <p:cNvPr id="7" name="workflow-stage-1-number">
            <a:extLst>
              <a:ext uri="{FF2B5EF4-FFF2-40B4-BE49-F238E27FC236}">
                <a16:creationId xmlns:a16="http://schemas.microsoft.com/office/drawing/2014/main" id="{815B3806-FAA3-4B16-819C-CE0CB7A81A72}"/>
              </a:ext>
            </a:extLst>
          </p:cNvPr>
          <p:cNvSpPr>
            <a:spLocks noGrp="1"/>
          </p:cNvSpPr>
          <p:nvPr/>
        </p:nvSpPr>
        <p:spPr>
          <a:xfrm>
            <a:off x="116205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1</a:t>
            </a:r>
          </a:p>
        </p:txBody>
      </p:sp>
      <p:sp>
        <p:nvSpPr>
          <p:cNvPr id="8" name="workflow-stage-1-title">
            <a:extLst>
              <a:ext uri="{FF2B5EF4-FFF2-40B4-BE49-F238E27FC236}">
                <a16:creationId xmlns:a16="http://schemas.microsoft.com/office/drawing/2014/main" id="{4463EC33-CFA4-42E0-807B-295C5D8F3105}"/>
              </a:ext>
            </a:extLst>
          </p:cNvPr>
          <p:cNvSpPr>
            <a:spLocks noGrp="1"/>
          </p:cNvSpPr>
          <p:nvPr/>
        </p:nvSpPr>
        <p:spPr>
          <a:xfrm>
            <a:off x="40005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DEG analysis</a:t>
            </a:r>
          </a:p>
        </p:txBody>
      </p:sp>
      <p:sp>
        <p:nvSpPr>
          <p:cNvPr id="9" name="workflow-stage-1-description">
            <a:extLst>
              <a:ext uri="{FF2B5EF4-FFF2-40B4-BE49-F238E27FC236}">
                <a16:creationId xmlns:a16="http://schemas.microsoft.com/office/drawing/2014/main" id="{CB5F5E6D-68FD-4856-A349-3CCE27C3A6E8}"/>
              </a:ext>
            </a:extLst>
          </p:cNvPr>
          <p:cNvSpPr>
            <a:spLocks noGrp="1"/>
          </p:cNvSpPr>
          <p:nvPr/>
        </p:nvSpPr>
        <p:spPr>
          <a:xfrm>
            <a:off x="40005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Find differentially expressed genes with higher or lower RNA abundance in AD.</a:t>
            </a:r>
          </a:p>
        </p:txBody>
      </p:sp>
      <p:sp>
        <p:nvSpPr>
          <p:cNvPr id="10" name="workflow-stage-2-node">
            <a:extLst>
              <a:ext uri="{FF2B5EF4-FFF2-40B4-BE49-F238E27FC236}">
                <a16:creationId xmlns:a16="http://schemas.microsoft.com/office/drawing/2014/main" id="{F16F3B85-5C33-4E33-88D5-2E7355371669}"/>
              </a:ext>
            </a:extLst>
          </p:cNvPr>
          <p:cNvSpPr>
            <a:spLocks noGrp="1"/>
          </p:cNvSpPr>
          <p:nvPr/>
        </p:nvSpPr>
        <p:spPr>
          <a:xfrm>
            <a:off x="3514725" y="3009900"/>
            <a:ext cx="457200" cy="457200"/>
          </a:xfrm>
          <a:prstGeom prst="ellipse">
            <a:avLst/>
          </a:prstGeom>
          <a:solidFill>
            <a:srgbClr val="56B4E9"/>
          </a:solidFill>
          <a:ln w="0">
            <a:solidFill>
              <a:srgbClr val="56B4E9"/>
            </a:solidFill>
            <a:prstDash val="solid"/>
          </a:ln>
        </p:spPr>
        <p:txBody>
          <a:bodyPr/>
          <a:lstStyle/>
          <a:p>
            <a:endParaRPr lang="en-US"/>
          </a:p>
        </p:txBody>
      </p:sp>
      <p:sp>
        <p:nvSpPr>
          <p:cNvPr id="11" name="workflow-stage-2-number">
            <a:extLst>
              <a:ext uri="{FF2B5EF4-FFF2-40B4-BE49-F238E27FC236}">
                <a16:creationId xmlns:a16="http://schemas.microsoft.com/office/drawing/2014/main" id="{00397213-9DE8-4AD8-818B-CCCAC5B96D96}"/>
              </a:ext>
            </a:extLst>
          </p:cNvPr>
          <p:cNvSpPr>
            <a:spLocks noGrp="1"/>
          </p:cNvSpPr>
          <p:nvPr/>
        </p:nvSpPr>
        <p:spPr>
          <a:xfrm>
            <a:off x="3514725"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2</a:t>
            </a:r>
          </a:p>
        </p:txBody>
      </p:sp>
      <p:sp>
        <p:nvSpPr>
          <p:cNvPr id="12" name="workflow-stage-2-title">
            <a:extLst>
              <a:ext uri="{FF2B5EF4-FFF2-40B4-BE49-F238E27FC236}">
                <a16:creationId xmlns:a16="http://schemas.microsoft.com/office/drawing/2014/main" id="{76F5D727-E5F3-4FD5-B247-35A32B305A1B}"/>
              </a:ext>
            </a:extLst>
          </p:cNvPr>
          <p:cNvSpPr>
            <a:spLocks noGrp="1"/>
          </p:cNvSpPr>
          <p:nvPr/>
        </p:nvSpPr>
        <p:spPr>
          <a:xfrm>
            <a:off x="2752725"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Pathway analysis</a:t>
            </a:r>
          </a:p>
        </p:txBody>
      </p:sp>
      <p:sp>
        <p:nvSpPr>
          <p:cNvPr id="13" name="workflow-stage-2-description">
            <a:extLst>
              <a:ext uri="{FF2B5EF4-FFF2-40B4-BE49-F238E27FC236}">
                <a16:creationId xmlns:a16="http://schemas.microsoft.com/office/drawing/2014/main" id="{6615FB9C-32AD-4F77-A1DA-4617FC13D52C}"/>
              </a:ext>
            </a:extLst>
          </p:cNvPr>
          <p:cNvSpPr>
            <a:spLocks noGrp="1"/>
          </p:cNvSpPr>
          <p:nvPr/>
        </p:nvSpPr>
        <p:spPr>
          <a:xfrm>
            <a:off x="2752725"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Summarize the mitochondrial processes represented among the DEGs.</a:t>
            </a:r>
          </a:p>
        </p:txBody>
      </p:sp>
      <p:sp>
        <p:nvSpPr>
          <p:cNvPr id="14" name="workflow-stage-3-node">
            <a:extLst>
              <a:ext uri="{FF2B5EF4-FFF2-40B4-BE49-F238E27FC236}">
                <a16:creationId xmlns:a16="http://schemas.microsoft.com/office/drawing/2014/main" id="{1D4AC1EC-2380-42C7-AC84-315B6304331C}"/>
              </a:ext>
            </a:extLst>
          </p:cNvPr>
          <p:cNvSpPr>
            <a:spLocks noGrp="1"/>
          </p:cNvSpPr>
          <p:nvPr/>
        </p:nvSpPr>
        <p:spPr>
          <a:xfrm>
            <a:off x="5867400" y="3009900"/>
            <a:ext cx="457200" cy="457200"/>
          </a:xfrm>
          <a:prstGeom prst="ellipse">
            <a:avLst/>
          </a:prstGeom>
          <a:solidFill>
            <a:srgbClr val="009E73"/>
          </a:solidFill>
          <a:ln w="0">
            <a:solidFill>
              <a:srgbClr val="009E73"/>
            </a:solidFill>
            <a:prstDash val="solid"/>
          </a:ln>
        </p:spPr>
        <p:txBody>
          <a:bodyPr/>
          <a:lstStyle/>
          <a:p>
            <a:endParaRPr lang="en-US"/>
          </a:p>
        </p:txBody>
      </p:sp>
      <p:sp>
        <p:nvSpPr>
          <p:cNvPr id="15" name="workflow-stage-3-number">
            <a:extLst>
              <a:ext uri="{FF2B5EF4-FFF2-40B4-BE49-F238E27FC236}">
                <a16:creationId xmlns:a16="http://schemas.microsoft.com/office/drawing/2014/main" id="{C117132B-92DD-498B-97D2-AD13EFACC402}"/>
              </a:ext>
            </a:extLst>
          </p:cNvPr>
          <p:cNvSpPr>
            <a:spLocks noGrp="1"/>
          </p:cNvSpPr>
          <p:nvPr/>
        </p:nvSpPr>
        <p:spPr>
          <a:xfrm>
            <a:off x="586740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3</a:t>
            </a:r>
          </a:p>
        </p:txBody>
      </p:sp>
      <p:sp>
        <p:nvSpPr>
          <p:cNvPr id="16" name="workflow-stage-3-title">
            <a:extLst>
              <a:ext uri="{FF2B5EF4-FFF2-40B4-BE49-F238E27FC236}">
                <a16:creationId xmlns:a16="http://schemas.microsoft.com/office/drawing/2014/main" id="{4B9220B0-8715-4B6F-AB21-0BC6823A4BD8}"/>
              </a:ext>
            </a:extLst>
          </p:cNvPr>
          <p:cNvSpPr>
            <a:spLocks noGrp="1"/>
          </p:cNvSpPr>
          <p:nvPr/>
        </p:nvSpPr>
        <p:spPr>
          <a:xfrm>
            <a:off x="510540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Key driver analysis (KDA)</a:t>
            </a:r>
          </a:p>
        </p:txBody>
      </p:sp>
      <p:sp>
        <p:nvSpPr>
          <p:cNvPr id="17" name="workflow-stage-3-description">
            <a:extLst>
              <a:ext uri="{FF2B5EF4-FFF2-40B4-BE49-F238E27FC236}">
                <a16:creationId xmlns:a16="http://schemas.microsoft.com/office/drawing/2014/main" id="{92CBF553-AE3C-4DC8-BF56-ABEFCFD3FC2B}"/>
              </a:ext>
            </a:extLst>
          </p:cNvPr>
          <p:cNvSpPr>
            <a:spLocks noGrp="1"/>
          </p:cNvSpPr>
          <p:nvPr/>
        </p:nvSpPr>
        <p:spPr>
          <a:xfrm>
            <a:off x="510540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Use gene networks to nominate genes connected to MitoCarta MT DEGs.</a:t>
            </a:r>
          </a:p>
        </p:txBody>
      </p:sp>
      <p:sp>
        <p:nvSpPr>
          <p:cNvPr id="18" name="workflow-stage-4-node">
            <a:extLst>
              <a:ext uri="{FF2B5EF4-FFF2-40B4-BE49-F238E27FC236}">
                <a16:creationId xmlns:a16="http://schemas.microsoft.com/office/drawing/2014/main" id="{5F151541-FD72-4BBC-AA65-6864699C23D0}"/>
              </a:ext>
            </a:extLst>
          </p:cNvPr>
          <p:cNvSpPr>
            <a:spLocks noGrp="1"/>
          </p:cNvSpPr>
          <p:nvPr/>
        </p:nvSpPr>
        <p:spPr>
          <a:xfrm>
            <a:off x="8220075" y="3009900"/>
            <a:ext cx="457200" cy="457200"/>
          </a:xfrm>
          <a:prstGeom prst="ellipse">
            <a:avLst/>
          </a:prstGeom>
          <a:solidFill>
            <a:srgbClr val="E6A700"/>
          </a:solidFill>
          <a:ln w="0">
            <a:solidFill>
              <a:srgbClr val="E6A700"/>
            </a:solidFill>
            <a:prstDash val="solid"/>
          </a:ln>
        </p:spPr>
        <p:txBody>
          <a:bodyPr/>
          <a:lstStyle/>
          <a:p>
            <a:endParaRPr lang="en-US"/>
          </a:p>
        </p:txBody>
      </p:sp>
      <p:sp>
        <p:nvSpPr>
          <p:cNvPr id="19" name="workflow-stage-4-number">
            <a:extLst>
              <a:ext uri="{FF2B5EF4-FFF2-40B4-BE49-F238E27FC236}">
                <a16:creationId xmlns:a16="http://schemas.microsoft.com/office/drawing/2014/main" id="{A54289E8-6F16-4608-BAA7-95A65ED9954E}"/>
              </a:ext>
            </a:extLst>
          </p:cNvPr>
          <p:cNvSpPr>
            <a:spLocks noGrp="1"/>
          </p:cNvSpPr>
          <p:nvPr/>
        </p:nvSpPr>
        <p:spPr>
          <a:xfrm>
            <a:off x="8220075"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4</a:t>
            </a:r>
          </a:p>
        </p:txBody>
      </p:sp>
      <p:sp>
        <p:nvSpPr>
          <p:cNvPr id="20" name="workflow-stage-4-title">
            <a:extLst>
              <a:ext uri="{FF2B5EF4-FFF2-40B4-BE49-F238E27FC236}">
                <a16:creationId xmlns:a16="http://schemas.microsoft.com/office/drawing/2014/main" id="{EB1FFF63-45B8-49FB-B660-61BF7D5F1D52}"/>
              </a:ext>
            </a:extLst>
          </p:cNvPr>
          <p:cNvSpPr>
            <a:spLocks noGrp="1"/>
          </p:cNvSpPr>
          <p:nvPr/>
        </p:nvSpPr>
        <p:spPr>
          <a:xfrm>
            <a:off x="7458075"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Human validation</a:t>
            </a:r>
          </a:p>
        </p:txBody>
      </p:sp>
      <p:sp>
        <p:nvSpPr>
          <p:cNvPr id="21" name="workflow-stage-4-description">
            <a:extLst>
              <a:ext uri="{FF2B5EF4-FFF2-40B4-BE49-F238E27FC236}">
                <a16:creationId xmlns:a16="http://schemas.microsoft.com/office/drawing/2014/main" id="{1480A0EA-6DCC-4F4C-9206-6C689CD9D62F}"/>
              </a:ext>
            </a:extLst>
          </p:cNvPr>
          <p:cNvSpPr>
            <a:spLocks noGrp="1"/>
          </p:cNvSpPr>
          <p:nvPr/>
        </p:nvSpPr>
        <p:spPr>
          <a:xfrm>
            <a:off x="7458075"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Compare ROSMAP findings with SEA-AD and direct broad-cell analyses.</a:t>
            </a:r>
          </a:p>
        </p:txBody>
      </p:sp>
      <p:sp>
        <p:nvSpPr>
          <p:cNvPr id="22" name="workflow-stage-5-node">
            <a:extLst>
              <a:ext uri="{FF2B5EF4-FFF2-40B4-BE49-F238E27FC236}">
                <a16:creationId xmlns:a16="http://schemas.microsoft.com/office/drawing/2014/main" id="{5B4BB00C-AA79-4B1D-AD24-83933BEC7148}"/>
              </a:ext>
            </a:extLst>
          </p:cNvPr>
          <p:cNvSpPr>
            <a:spLocks noGrp="1"/>
          </p:cNvSpPr>
          <p:nvPr/>
        </p:nvSpPr>
        <p:spPr>
          <a:xfrm>
            <a:off x="10572750" y="3009900"/>
            <a:ext cx="457200" cy="457200"/>
          </a:xfrm>
          <a:prstGeom prst="ellipse">
            <a:avLst/>
          </a:prstGeom>
          <a:solidFill>
            <a:srgbClr val="193A5A"/>
          </a:solidFill>
          <a:ln w="23813">
            <a:solidFill>
              <a:srgbClr val="D55E00"/>
            </a:solidFill>
            <a:prstDash val="solid"/>
          </a:ln>
        </p:spPr>
        <p:txBody>
          <a:bodyPr/>
          <a:lstStyle/>
          <a:p>
            <a:endParaRPr lang="en-US"/>
          </a:p>
        </p:txBody>
      </p:sp>
      <p:sp>
        <p:nvSpPr>
          <p:cNvPr id="23" name="workflow-stage-5-number">
            <a:extLst>
              <a:ext uri="{FF2B5EF4-FFF2-40B4-BE49-F238E27FC236}">
                <a16:creationId xmlns:a16="http://schemas.microsoft.com/office/drawing/2014/main" id="{D8734508-6E75-4FA5-8434-C0CAB9FEB676}"/>
              </a:ext>
            </a:extLst>
          </p:cNvPr>
          <p:cNvSpPr>
            <a:spLocks noGrp="1"/>
          </p:cNvSpPr>
          <p:nvPr/>
        </p:nvSpPr>
        <p:spPr>
          <a:xfrm>
            <a:off x="1057275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5</a:t>
            </a:r>
          </a:p>
        </p:txBody>
      </p:sp>
      <p:sp>
        <p:nvSpPr>
          <p:cNvPr id="24" name="workflow-potential-label">
            <a:extLst>
              <a:ext uri="{FF2B5EF4-FFF2-40B4-BE49-F238E27FC236}">
                <a16:creationId xmlns:a16="http://schemas.microsoft.com/office/drawing/2014/main" id="{778643AA-D9DB-45D3-88E1-093CD050669B}"/>
              </a:ext>
            </a:extLst>
          </p:cNvPr>
          <p:cNvSpPr>
            <a:spLocks noGrp="1"/>
          </p:cNvSpPr>
          <p:nvPr/>
        </p:nvSpPr>
        <p:spPr>
          <a:xfrm>
            <a:off x="9858375" y="2638425"/>
            <a:ext cx="1885950" cy="228600"/>
          </a:xfrm>
          <a:prstGeom prst="rect">
            <a:avLst/>
          </a:prstGeom>
          <a:noFill/>
          <a:ln w="0">
            <a:noFill/>
            <a:prstDash val="solid"/>
          </a:ln>
        </p:spPr>
        <p:txBody>
          <a:bodyPr wrap="square" lIns="0" tIns="0" rIns="0" bIns="0" anchor="ctr">
            <a:normAutofit/>
          </a:bodyPr>
          <a:lstStyle/>
          <a:p>
            <a:pPr algn="ctr">
              <a:defRPr sz="900" b="1">
                <a:solidFill>
                  <a:srgbClr val="D55E00"/>
                </a:solidFill>
                <a:latin typeface="Arial"/>
                <a:ea typeface="Arial"/>
                <a:cs typeface="Arial"/>
              </a:defRPr>
            </a:pPr>
            <a:r>
              <a:rPr sz="900" b="1">
                <a:solidFill>
                  <a:srgbClr val="D55E00"/>
                </a:solidFill>
                <a:latin typeface="Arial"/>
                <a:ea typeface="Arial"/>
                <a:cs typeface="Arial"/>
              </a:rPr>
              <a:t>POTENTIAL NEXT STEP</a:t>
            </a:r>
          </a:p>
        </p:txBody>
      </p:sp>
      <p:sp>
        <p:nvSpPr>
          <p:cNvPr id="25" name="workflow-stage-5-title">
            <a:extLst>
              <a:ext uri="{FF2B5EF4-FFF2-40B4-BE49-F238E27FC236}">
                <a16:creationId xmlns:a16="http://schemas.microsoft.com/office/drawing/2014/main" id="{72CF0FFE-4DB9-42E9-8243-5801C149430C}"/>
              </a:ext>
            </a:extLst>
          </p:cNvPr>
          <p:cNvSpPr>
            <a:spLocks noGrp="1"/>
          </p:cNvSpPr>
          <p:nvPr/>
        </p:nvSpPr>
        <p:spPr>
          <a:xfrm>
            <a:off x="981075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Mouse validation</a:t>
            </a:r>
          </a:p>
        </p:txBody>
      </p:sp>
      <p:sp>
        <p:nvSpPr>
          <p:cNvPr id="26" name="workflow-stage-5-description">
            <a:extLst>
              <a:ext uri="{FF2B5EF4-FFF2-40B4-BE49-F238E27FC236}">
                <a16:creationId xmlns:a16="http://schemas.microsoft.com/office/drawing/2014/main" id="{3747D9DF-397F-4B55-9F31-0DFC283F1C04}"/>
              </a:ext>
            </a:extLst>
          </p:cNvPr>
          <p:cNvSpPr>
            <a:spLocks noGrp="1"/>
          </p:cNvSpPr>
          <p:nvPr/>
        </p:nvSpPr>
        <p:spPr>
          <a:xfrm>
            <a:off x="981075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Test selected candidates and mitochondrial function in targeted models.</a:t>
            </a:r>
          </a:p>
        </p:txBody>
      </p:sp>
    </p:spTree>
    <p:extLst>
      <p:ext uri="{BB962C8B-B14F-4D97-AF65-F5344CB8AC3E}">
        <p14:creationId xmlns:p14="http://schemas.microsoft.com/office/powerpoint/2010/main" val="12928250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D05A9810-999C-4FD4-AFAB-7B92C5AE64BD}">
                <a16:creationId xmlns:a16="http://schemas.microsoft.com/office/drawing/2014/main" xmlns="" id="{A87F3BD9-318F-409B-AFC1-22A20746C537}"/>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Two human brain cohorts</a:t>
            </a:r>
          </a:p>
        </p:txBody>
      </p:sp>
      <p:sp>
        <p:nvSpPr>
          <p:cNvPr id="3" name="TextBox 2">
            <a:extLst>
              <a:ext uri="{B2952A13-E51A-4967-B9C0-7FEEA980092F}">
                <a16:creationId xmlns:a16="http://schemas.microsoft.com/office/drawing/2014/main" xmlns="" id="{CAA2273C-1602-4A65-B544-947458D5B1FC}"/>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ROSMAP provides the primary analysis. SEA-AD provides supplemental human validation.</a:t>
            </a:r>
          </a:p>
        </p:txBody>
      </p:sp>
      <p:sp>
        <p:nvSpPr>
          <p:cNvPr id="4" name="Rounded Rectangle 3">
            <a:extLst>
              <a:ext uri="{024044BD-987B-4601-8659-76F017E7C3F8}">
                <a16:creationId xmlns:a16="http://schemas.microsoft.com/office/drawing/2014/main" xmlns="" id="{2583F301-FB16-4F7D-A063-1CAEDD443703}"/>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7B5C11F-1786-4899-8B71-2C83AF61C342}">
                <a16:creationId xmlns:a16="http://schemas.microsoft.com/office/drawing/2014/main" xmlns="" id="{FC49C8AE-BE0A-498F-9234-F285AC4CD921}"/>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645DCDDC-A58F-47EE-A183-25CFA44F833C}">
                <a16:creationId xmlns:a16="http://schemas.microsoft.com/office/drawing/2014/main" xmlns="" id="{90666061-2FB7-422D-94B5-22AE877A608D}"/>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58854B51-4AC3-4D7B-8690-F57A25A13D80}">
                <a16:creationId xmlns:a16="http://schemas.microsoft.com/office/drawing/2014/main" xmlns="" id="{9B64A450-35F6-49E7-B896-56E3431DEE1B}"/>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C6DDFA40-0121-4D2A-837F-D01934C419EA}">
                <a16:creationId xmlns:a16="http://schemas.microsoft.com/office/drawing/2014/main" xmlns="" id="{87E75F13-4BEE-49A0-BB02-44F7A674F9A1}"/>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Primary discovery cohort</a:t>
            </a:r>
          </a:p>
        </p:txBody>
      </p:sp>
      <p:sp>
        <p:nvSpPr>
          <p:cNvPr id="9" name="Oval 8">
            <a:extLst>
              <a:ext uri="{22F2B2F1-AC94-4D4B-AA81-212218CB9F73}">
                <a16:creationId xmlns:a16="http://schemas.microsoft.com/office/drawing/2014/main" xmlns="" id="{EB242F70-6173-4ADC-B7E0-C9D41BAF149F}"/>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6CB9F753-CFC1-4F86-BA48-D335CB07E32C}">
                <a16:creationId xmlns:a16="http://schemas.microsoft.com/office/drawing/2014/main" xmlns="" id="{B2EE15F1-10AF-49D1-9764-99452FBDA6BE}"/>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54 fine cell types</a:t>
            </a:r>
          </a:p>
        </p:txBody>
      </p:sp>
      <p:sp>
        <p:nvSpPr>
          <p:cNvPr id="11" name="Oval 10">
            <a:extLst>
              <a:ext uri="{6B54C3E5-3720-4F41-A0EA-8A9368826F30}">
                <a16:creationId xmlns:a16="http://schemas.microsoft.com/office/drawing/2014/main" xmlns="" id="{7DC9B75C-1927-4510-AC8A-1A9AA0DB27FB}"/>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A461FF0B-5C5E-4A84-A775-674874956183}">
                <a16:creationId xmlns:a16="http://schemas.microsoft.com/office/drawing/2014/main" xmlns="" id="{E27DBE8F-4D92-49B0-81BC-C1569A7B8ACC}"/>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324 planned comparisons across sex and APOE groups</a:t>
            </a:r>
          </a:p>
        </p:txBody>
      </p:sp>
      <p:sp>
        <p:nvSpPr>
          <p:cNvPr id="13" name="Oval 12">
            <a:extLst>
              <a:ext uri="{F336CD65-0C04-4CB8-BBA8-4FA4F6B2C040}">
                <a16:creationId xmlns:a16="http://schemas.microsoft.com/office/drawing/2014/main" xmlns="" id="{E2D8EFE8-8D11-408B-A35F-5A43656E2EC8}"/>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9F142B9F-8BB3-4D3D-8809-CACF29FBC41F}">
                <a16:creationId xmlns:a16="http://schemas.microsoft.com/office/drawing/2014/main" xmlns="" id="{9705EE32-BCF4-4AF3-AECB-D0A43DBA2EF6}"/>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Primary source for differential expression, pathway, and KDA findings</a:t>
            </a:r>
          </a:p>
        </p:txBody>
      </p:sp>
      <p:sp>
        <p:nvSpPr>
          <p:cNvPr id="15" name="Rounded Rectangle 14">
            <a:extLst>
              <a:ext uri="{B80BBF35-4D3A-4DD3-B445-FA9D417F75BA}">
                <a16:creationId xmlns:a16="http://schemas.microsoft.com/office/drawing/2014/main" xmlns="" id="{E0A1641C-D135-40DB-B699-75F4F682D8B0}"/>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E3A1603B-AE7D-46D7-903F-7E0FF84F4D77}">
                <a16:creationId xmlns:a16="http://schemas.microsoft.com/office/drawing/2014/main" xmlns="" id="{54181D60-B174-489D-8592-1639F84E3BF0}"/>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Fine-cell evidence is aggregated to broad cell categories.</a:t>
            </a:r>
          </a:p>
        </p:txBody>
      </p:sp>
      <p:sp>
        <p:nvSpPr>
          <p:cNvPr id="17" name="Rounded Rectangle 16">
            <a:extLst>
              <a:ext uri="{7ED65EA7-F752-4E7E-AF95-21E7A14D3939}">
                <a16:creationId xmlns:a16="http://schemas.microsoft.com/office/drawing/2014/main" xmlns="" id="{3E3AF054-3F60-43C0-8096-4317EA714615}"/>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895473F7-8417-417D-BD90-180F8DAF921F}">
                <a16:creationId xmlns:a16="http://schemas.microsoft.com/office/drawing/2014/main" xmlns="" id="{006E7118-C8A4-47B9-A62A-78B2ADF5CB18}"/>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B6260931-124B-4F79-9C33-A86D9F0C8901}">
                <a16:creationId xmlns:a16="http://schemas.microsoft.com/office/drawing/2014/main" xmlns="" id="{3ADB3342-0EB2-4EBD-9EFC-7EB840DB23D3}"/>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9D2D3051-BC8F-4CE2-B8E9-9C7D45AF313E}">
                <a16:creationId xmlns:a16="http://schemas.microsoft.com/office/drawing/2014/main" xmlns="" id="{5E3459A1-CD38-4B42-A469-075BDE5A391B}"/>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7D74B81D-F7AB-4CCC-BB1A-996EA3394A2A}">
                <a16:creationId xmlns:a16="http://schemas.microsoft.com/office/drawing/2014/main" xmlns="" id="{EA5E5AFB-51EF-4384-9BD4-F94236FDB059}"/>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Supplemental human validation cohort</a:t>
            </a:r>
          </a:p>
        </p:txBody>
      </p:sp>
      <p:sp>
        <p:nvSpPr>
          <p:cNvPr id="22" name="Oval 21">
            <a:extLst>
              <a:ext uri="{62CC7A7B-1F48-40F3-824F-970C5E3D4B13}">
                <a16:creationId xmlns:a16="http://schemas.microsoft.com/office/drawing/2014/main" xmlns="" id="{1CD7A9B7-24FC-4737-8884-CCC8C19D858E}"/>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88F10804-7360-44EC-9B99-8B48644B916B}">
                <a16:creationId xmlns:a16="http://schemas.microsoft.com/office/drawing/2014/main" xmlns="" id="{26D1BAA3-179B-49F2-992D-4BE5733CEB9D}"/>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129 fine cell categories, called supertypes in SEA-AD</a:t>
            </a:r>
          </a:p>
        </p:txBody>
      </p:sp>
      <p:sp>
        <p:nvSpPr>
          <p:cNvPr id="24" name="Oval 23">
            <a:extLst>
              <a:ext uri="{C002F468-5BBD-4C7F-B2F9-C927E44138C8}">
                <a16:creationId xmlns:a16="http://schemas.microsoft.com/office/drawing/2014/main" xmlns="" id="{5D382635-C3A8-44E6-B270-75BC0140AD97}"/>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3D9D053B-2FC7-4FB4-A92E-BA9ED7A02924}">
                <a16:creationId xmlns:a16="http://schemas.microsoft.com/office/drawing/2014/main" xmlns="" id="{E3B061FB-AFD7-4421-9DF5-153113832DCD}"/>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774 planned comparisons across sex and APOE groups</a:t>
            </a:r>
          </a:p>
        </p:txBody>
      </p:sp>
      <p:sp>
        <p:nvSpPr>
          <p:cNvPr id="26" name="Oval 25">
            <a:extLst>
              <a:ext uri="{573C3E81-BA6F-4D43-B542-B227B029DD9C}">
                <a16:creationId xmlns:a16="http://schemas.microsoft.com/office/drawing/2014/main" xmlns="" id="{3D9085F4-5EBB-402B-9E2A-899C11BCCAAB}"/>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10226B5-2CCB-42CB-AB34-ED0CD805B8A6}">
                <a16:creationId xmlns:a16="http://schemas.microsoft.com/office/drawing/2014/main" xmlns="" id="{D3545E6B-B67B-4980-A00D-F0A941E55AF6}"/>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Tests whether ROSMAP gene-set patterns and KDA candidates recur</a:t>
            </a:r>
          </a:p>
        </p:txBody>
      </p:sp>
      <p:sp>
        <p:nvSpPr>
          <p:cNvPr id="28" name="Rounded Rectangle 27">
            <a:extLst>
              <a:ext uri="{2A0AD765-22CE-4FA6-BB8E-254485BC78EF}">
                <a16:creationId xmlns:a16="http://schemas.microsoft.com/office/drawing/2014/main" xmlns="" id="{A2FAC7CB-D0D0-4886-8507-ACF32FA1C832}"/>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AA829E73-3C4E-4DB1-BD8F-A8C6B02BAA5D}">
                <a16:creationId xmlns:a16="http://schemas.microsoft.com/office/drawing/2014/main" xmlns="" id="{84E848BC-5599-4F79-BA63-85B1F3D5621C}"/>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Coverage is narrower and uneven across sex/APOE groups.</a:t>
            </a:r>
          </a:p>
        </p:txBody>
      </p:sp>
    </p:spTree>
    <p:extLst>
      <p:ext uri="{219FDAFA-2EEA-4642-A6A1-F4A0E8D33A44}">
        <p14:creationId xmlns:p14="http://schemas.microsoft.com/office/powerpoint/2010/main" xmlns="" val="9128036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gene-sets-background">
            <a:extLst>
              <a:ext uri="{FF2B5EF4-FFF2-40B4-BE49-F238E27FC236}">
                <a16:creationId xmlns:a16="http://schemas.microsoft.com/office/drawing/2014/main" id="{0DAF11F8-1936-4E3D-B2BF-10C14BD7895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lang="en-US"/>
          </a:p>
        </p:txBody>
      </p:sp>
      <p:sp>
        <p:nvSpPr>
          <p:cNvPr id="2" name="gene-sets-title">
            <a:extLst>
              <a:ext uri="{FF2B5EF4-FFF2-40B4-BE49-F238E27FC236}">
                <a16:creationId xmlns:a16="http://schemas.microsoft.com/office/drawing/2014/main" id="{9AB06EFC-9BE2-4126-B3B9-30B04CC7630C}"/>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Two mitochondrial gene sets used in this study</a:t>
            </a:r>
          </a:p>
        </p:txBody>
      </p:sp>
      <p:sp>
        <p:nvSpPr>
          <p:cNvPr id="3" name="gene-sets-header-term">
            <a:extLst>
              <a:ext uri="{FF2B5EF4-FFF2-40B4-BE49-F238E27FC236}">
                <a16:creationId xmlns:a16="http://schemas.microsoft.com/office/drawing/2014/main" id="{67BEE69B-75B6-4FD7-9A77-9EEA1CAFADBE}"/>
              </a:ext>
            </a:extLst>
          </p:cNvPr>
          <p:cNvSpPr>
            <a:spLocks noGrp="1"/>
          </p:cNvSpPr>
          <p:nvPr/>
        </p:nvSpPr>
        <p:spPr>
          <a:xfrm>
            <a:off x="143827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GENE SET</a:t>
            </a:r>
          </a:p>
        </p:txBody>
      </p:sp>
      <p:sp>
        <p:nvSpPr>
          <p:cNvPr id="4" name="gene-sets-header-meaning">
            <a:extLst>
              <a:ext uri="{FF2B5EF4-FFF2-40B4-BE49-F238E27FC236}">
                <a16:creationId xmlns:a16="http://schemas.microsoft.com/office/drawing/2014/main" id="{7A16E665-E5E6-416E-B401-75881B9F767C}"/>
              </a:ext>
            </a:extLst>
          </p:cNvPr>
          <p:cNvSpPr>
            <a:spLocks noGrp="1"/>
          </p:cNvSpPr>
          <p:nvPr/>
        </p:nvSpPr>
        <p:spPr>
          <a:xfrm>
            <a:off x="4476750" y="1266825"/>
            <a:ext cx="37147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WHAT IT INCLUDES</a:t>
            </a:r>
          </a:p>
        </p:txBody>
      </p:sp>
      <p:sp>
        <p:nvSpPr>
          <p:cNvPr id="5" name="gene-sets-header-role">
            <a:extLst>
              <a:ext uri="{FF2B5EF4-FFF2-40B4-BE49-F238E27FC236}">
                <a16:creationId xmlns:a16="http://schemas.microsoft.com/office/drawing/2014/main" id="{8BBFDC2E-3350-4417-9566-27A74586D511}"/>
              </a:ext>
            </a:extLst>
          </p:cNvPr>
          <p:cNvSpPr>
            <a:spLocks noGrp="1"/>
          </p:cNvSpPr>
          <p:nvPr/>
        </p:nvSpPr>
        <p:spPr>
          <a:xfrm>
            <a:off x="842962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ROLE IN THIS STUDY</a:t>
            </a:r>
          </a:p>
        </p:txBody>
      </p:sp>
      <p:sp>
        <p:nvSpPr>
          <p:cNvPr id="6" name="definition-1-background">
            <a:extLst>
              <a:ext uri="{FF2B5EF4-FFF2-40B4-BE49-F238E27FC236}">
                <a16:creationId xmlns:a16="http://schemas.microsoft.com/office/drawing/2014/main" id="{E1A38498-DD26-4F7A-A777-C5E0719E0EF7}"/>
              </a:ext>
            </a:extLst>
          </p:cNvPr>
          <p:cNvSpPr>
            <a:spLocks noGrp="1"/>
          </p:cNvSpPr>
          <p:nvPr/>
        </p:nvSpPr>
        <p:spPr>
          <a:xfrm>
            <a:off x="609600" y="1552575"/>
            <a:ext cx="10972800" cy="1581150"/>
          </a:xfrm>
          <a:prstGeom prst="roundRect">
            <a:avLst>
              <a:gd name="adj" fmla="val 7229"/>
            </a:avLst>
          </a:prstGeom>
          <a:solidFill>
            <a:srgbClr val="E8F5FB"/>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definition-1-accent">
            <a:extLst>
              <a:ext uri="{FF2B5EF4-FFF2-40B4-BE49-F238E27FC236}">
                <a16:creationId xmlns:a16="http://schemas.microsoft.com/office/drawing/2014/main" id="{515C9AE4-32E1-4578-8323-69B4D2F9D054}"/>
              </a:ext>
            </a:extLst>
          </p:cNvPr>
          <p:cNvSpPr>
            <a:spLocks noGrp="1"/>
          </p:cNvSpPr>
          <p:nvPr/>
        </p:nvSpPr>
        <p:spPr>
          <a:xfrm>
            <a:off x="609600" y="1762125"/>
            <a:ext cx="76200" cy="1162050"/>
          </a:xfrm>
          <a:prstGeom prst="rect">
            <a:avLst/>
          </a:prstGeom>
          <a:solidFill>
            <a:srgbClr val="0072B2"/>
          </a:solidFill>
          <a:ln w="0">
            <a:noFill/>
            <a:prstDash val="solid"/>
          </a:ln>
        </p:spPr>
        <p:txBody>
          <a:bodyPr/>
          <a:lstStyle/>
          <a:p>
            <a:endParaRPr lang="en-US"/>
          </a:p>
        </p:txBody>
      </p:sp>
      <p:sp>
        <p:nvSpPr>
          <p:cNvPr id="8" name="definition-1-number">
            <a:extLst>
              <a:ext uri="{FF2B5EF4-FFF2-40B4-BE49-F238E27FC236}">
                <a16:creationId xmlns:a16="http://schemas.microsoft.com/office/drawing/2014/main" id="{AE482DA0-5B74-4C4C-A5C7-1B8E837A5105}"/>
              </a:ext>
            </a:extLst>
          </p:cNvPr>
          <p:cNvSpPr>
            <a:spLocks noGrp="1"/>
          </p:cNvSpPr>
          <p:nvPr/>
        </p:nvSpPr>
        <p:spPr>
          <a:xfrm>
            <a:off x="866775" y="2047875"/>
            <a:ext cx="400050" cy="552450"/>
          </a:xfrm>
          <a:prstGeom prst="rect">
            <a:avLst/>
          </a:prstGeom>
          <a:noFill/>
          <a:ln w="0">
            <a:noFill/>
            <a:prstDash val="solid"/>
          </a:ln>
        </p:spPr>
        <p:txBody>
          <a:bodyPr wrap="square" lIns="0" tIns="0" rIns="0" bIns="0" anchor="ctr">
            <a:normAutofit/>
          </a:bodyPr>
          <a:lstStyle/>
          <a:p>
            <a:pPr algn="ctr">
              <a:defRPr sz="2100" b="1">
                <a:solidFill>
                  <a:srgbClr val="0072B2"/>
                </a:solidFill>
                <a:latin typeface="Arial"/>
                <a:ea typeface="Arial"/>
                <a:cs typeface="Arial"/>
              </a:defRPr>
            </a:pPr>
            <a:r>
              <a:rPr sz="2100" b="1">
                <a:solidFill>
                  <a:srgbClr val="0072B2"/>
                </a:solidFill>
                <a:latin typeface="Arial"/>
                <a:ea typeface="Arial"/>
                <a:cs typeface="Arial"/>
              </a:rPr>
              <a:t>1</a:t>
            </a:r>
          </a:p>
        </p:txBody>
      </p:sp>
      <p:sp>
        <p:nvSpPr>
          <p:cNvPr id="9" name="definition-1-term">
            <a:extLst>
              <a:ext uri="{FF2B5EF4-FFF2-40B4-BE49-F238E27FC236}">
                <a16:creationId xmlns:a16="http://schemas.microsoft.com/office/drawing/2014/main" id="{CA639156-A27B-453D-96E5-63AD417BCE0D}"/>
              </a:ext>
            </a:extLst>
          </p:cNvPr>
          <p:cNvSpPr>
            <a:spLocks noGrp="1"/>
          </p:cNvSpPr>
          <p:nvPr/>
        </p:nvSpPr>
        <p:spPr>
          <a:xfrm>
            <a:off x="1438275" y="1819275"/>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Core MT genes</a:t>
            </a:r>
          </a:p>
        </p:txBody>
      </p:sp>
      <p:sp>
        <p:nvSpPr>
          <p:cNvPr id="10" name="definition-1-meaning">
            <a:extLst>
              <a:ext uri="{FF2B5EF4-FFF2-40B4-BE49-F238E27FC236}">
                <a16:creationId xmlns:a16="http://schemas.microsoft.com/office/drawing/2014/main" id="{F8F619A9-BAA4-4743-950E-CB24027CBC36}"/>
              </a:ext>
            </a:extLst>
          </p:cNvPr>
          <p:cNvSpPr>
            <a:spLocks noGrp="1"/>
          </p:cNvSpPr>
          <p:nvPr/>
        </p:nvSpPr>
        <p:spPr>
          <a:xfrm>
            <a:off x="4476750" y="1790700"/>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13 protein-coding genes in mitochondrial DNA (mtDNA). All encode structural oxidative-phosphorylation (OXPHOS) subunits.</a:t>
            </a:r>
          </a:p>
        </p:txBody>
      </p:sp>
      <p:sp>
        <p:nvSpPr>
          <p:cNvPr id="11" name="definition-1-role">
            <a:extLst>
              <a:ext uri="{FF2B5EF4-FFF2-40B4-BE49-F238E27FC236}">
                <a16:creationId xmlns:a16="http://schemas.microsoft.com/office/drawing/2014/main" id="{3ECB5A21-96DB-4629-9F67-189720A7BF8D}"/>
              </a:ext>
            </a:extLst>
          </p:cNvPr>
          <p:cNvSpPr>
            <a:spLocks noGrp="1"/>
          </p:cNvSpPr>
          <p:nvPr/>
        </p:nvSpPr>
        <p:spPr>
          <a:xfrm>
            <a:off x="8429625" y="1790700"/>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mtDNA-encoded OXPHOS results</a:t>
            </a:r>
          </a:p>
        </p:txBody>
      </p:sp>
      <p:sp>
        <p:nvSpPr>
          <p:cNvPr id="12" name="definition-2-background">
            <a:extLst>
              <a:ext uri="{FF2B5EF4-FFF2-40B4-BE49-F238E27FC236}">
                <a16:creationId xmlns:a16="http://schemas.microsoft.com/office/drawing/2014/main" id="{CF20F760-0DF5-4192-990C-BDF098979A06}"/>
              </a:ext>
            </a:extLst>
          </p:cNvPr>
          <p:cNvSpPr>
            <a:spLocks noGrp="1"/>
          </p:cNvSpPr>
          <p:nvPr/>
        </p:nvSpPr>
        <p:spPr>
          <a:xfrm>
            <a:off x="609600" y="3333750"/>
            <a:ext cx="10972800" cy="1581150"/>
          </a:xfrm>
          <a:prstGeom prst="roundRect">
            <a:avLst>
              <a:gd name="adj" fmla="val 722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definition-2-accent">
            <a:extLst>
              <a:ext uri="{FF2B5EF4-FFF2-40B4-BE49-F238E27FC236}">
                <a16:creationId xmlns:a16="http://schemas.microsoft.com/office/drawing/2014/main" id="{BC16FA77-75E8-4A73-AD3E-2B4F0F9E1E7F}"/>
              </a:ext>
            </a:extLst>
          </p:cNvPr>
          <p:cNvSpPr>
            <a:spLocks noGrp="1"/>
          </p:cNvSpPr>
          <p:nvPr/>
        </p:nvSpPr>
        <p:spPr>
          <a:xfrm>
            <a:off x="609600" y="3543300"/>
            <a:ext cx="76200" cy="1162050"/>
          </a:xfrm>
          <a:prstGeom prst="rect">
            <a:avLst/>
          </a:prstGeom>
          <a:solidFill>
            <a:srgbClr val="008A68"/>
          </a:solidFill>
          <a:ln w="0">
            <a:noFill/>
            <a:prstDash val="solid"/>
          </a:ln>
        </p:spPr>
        <p:txBody>
          <a:bodyPr/>
          <a:lstStyle/>
          <a:p>
            <a:endParaRPr lang="en-US"/>
          </a:p>
        </p:txBody>
      </p:sp>
      <p:sp>
        <p:nvSpPr>
          <p:cNvPr id="14" name="definition-2-number">
            <a:extLst>
              <a:ext uri="{FF2B5EF4-FFF2-40B4-BE49-F238E27FC236}">
                <a16:creationId xmlns:a16="http://schemas.microsoft.com/office/drawing/2014/main" id="{FD361AD6-DDE6-4F76-AB13-22CA90CB0B56}"/>
              </a:ext>
            </a:extLst>
          </p:cNvPr>
          <p:cNvSpPr>
            <a:spLocks noGrp="1"/>
          </p:cNvSpPr>
          <p:nvPr/>
        </p:nvSpPr>
        <p:spPr>
          <a:xfrm>
            <a:off x="866775" y="3829050"/>
            <a:ext cx="400050" cy="552450"/>
          </a:xfrm>
          <a:prstGeom prst="rect">
            <a:avLst/>
          </a:prstGeom>
          <a:noFill/>
          <a:ln w="0">
            <a:noFill/>
            <a:prstDash val="solid"/>
          </a:ln>
        </p:spPr>
        <p:txBody>
          <a:bodyPr wrap="square" lIns="0" tIns="0" rIns="0" bIns="0" anchor="ctr">
            <a:normAutofit/>
          </a:bodyPr>
          <a:lstStyle/>
          <a:p>
            <a:pPr algn="ctr">
              <a:defRPr sz="2100" b="1">
                <a:solidFill>
                  <a:srgbClr val="008A68"/>
                </a:solidFill>
                <a:latin typeface="Arial"/>
                <a:ea typeface="Arial"/>
                <a:cs typeface="Arial"/>
              </a:defRPr>
            </a:pPr>
            <a:r>
              <a:rPr sz="2100" b="1">
                <a:solidFill>
                  <a:srgbClr val="008A68"/>
                </a:solidFill>
                <a:latin typeface="Arial"/>
                <a:ea typeface="Arial"/>
                <a:cs typeface="Arial"/>
              </a:rPr>
              <a:t>2</a:t>
            </a:r>
          </a:p>
        </p:txBody>
      </p:sp>
      <p:sp>
        <p:nvSpPr>
          <p:cNvPr id="15" name="definition-2-term">
            <a:extLst>
              <a:ext uri="{FF2B5EF4-FFF2-40B4-BE49-F238E27FC236}">
                <a16:creationId xmlns:a16="http://schemas.microsoft.com/office/drawing/2014/main" id="{E4B1EBB2-B292-438D-B228-6DFBD5B02A61}"/>
              </a:ext>
            </a:extLst>
          </p:cNvPr>
          <p:cNvSpPr>
            <a:spLocks noGrp="1"/>
          </p:cNvSpPr>
          <p:nvPr/>
        </p:nvSpPr>
        <p:spPr>
          <a:xfrm>
            <a:off x="1438275" y="3600450"/>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MitoCarta MT genes</a:t>
            </a:r>
          </a:p>
        </p:txBody>
      </p:sp>
      <p:sp>
        <p:nvSpPr>
          <p:cNvPr id="16" name="definition-2-meaning">
            <a:extLst>
              <a:ext uri="{FF2B5EF4-FFF2-40B4-BE49-F238E27FC236}">
                <a16:creationId xmlns:a16="http://schemas.microsoft.com/office/drawing/2014/main" id="{85BE16B6-5644-4CA3-90D2-6C619D39CEDF}"/>
              </a:ext>
            </a:extLst>
          </p:cNvPr>
          <p:cNvSpPr>
            <a:spLocks noGrp="1"/>
          </p:cNvSpPr>
          <p:nvPr/>
        </p:nvSpPr>
        <p:spPr>
          <a:xfrm>
            <a:off x="4476750" y="3571875"/>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1,136 protein-coding genes assigned to mitochondria by MitoCarta: 13 core MT genes plus 1,123 genes encoded by nuclear DNA.</a:t>
            </a:r>
          </a:p>
        </p:txBody>
      </p:sp>
      <p:sp>
        <p:nvSpPr>
          <p:cNvPr id="17" name="definition-2-role">
            <a:extLst>
              <a:ext uri="{FF2B5EF4-FFF2-40B4-BE49-F238E27FC236}">
                <a16:creationId xmlns:a16="http://schemas.microsoft.com/office/drawing/2014/main" id="{212E9765-FE74-4A6C-AD68-52DC643B7340}"/>
              </a:ext>
            </a:extLst>
          </p:cNvPr>
          <p:cNvSpPr>
            <a:spLocks noGrp="1"/>
          </p:cNvSpPr>
          <p:nvPr/>
        </p:nvSpPr>
        <p:spPr>
          <a:xfrm>
            <a:off x="8429625" y="3571875"/>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Mitochondrial pathway definitions and KDA input queries</a:t>
            </a:r>
          </a:p>
        </p:txBody>
      </p:sp>
      <p:sp>
        <p:nvSpPr>
          <p:cNvPr id="18" name="gene-sets-boundary-note-background">
            <a:extLst>
              <a:ext uri="{FF2B5EF4-FFF2-40B4-BE49-F238E27FC236}">
                <a16:creationId xmlns:a16="http://schemas.microsoft.com/office/drawing/2014/main" id="{A9F00EAD-83AE-454C-8550-8AC091E27E5F}"/>
              </a:ext>
            </a:extLst>
          </p:cNvPr>
          <p:cNvSpPr>
            <a:spLocks noGrp="1"/>
          </p:cNvSpPr>
          <p:nvPr/>
        </p:nvSpPr>
        <p:spPr>
          <a:xfrm>
            <a:off x="1200150" y="5429250"/>
            <a:ext cx="9791700" cy="781050"/>
          </a:xfrm>
          <a:prstGeom prst="roundRect">
            <a:avLst>
              <a:gd name="adj" fmla="val 12195"/>
            </a:avLst>
          </a:prstGeom>
          <a:solidFill>
            <a:srgbClr val="FFF3D6"/>
          </a:solidFill>
          <a:ln w="0">
            <a:noFill/>
            <a:prstDash val="solid"/>
          </a:ln>
        </p:spPr>
        <p:txBody>
          <a:bodyPr/>
          <a:lstStyle/>
          <a:p>
            <a:endParaRPr lang="en-US"/>
          </a:p>
        </p:txBody>
      </p:sp>
      <p:sp>
        <p:nvSpPr>
          <p:cNvPr id="19" name="gene-sets-boundary-note">
            <a:extLst>
              <a:ext uri="{FF2B5EF4-FFF2-40B4-BE49-F238E27FC236}">
                <a16:creationId xmlns:a16="http://schemas.microsoft.com/office/drawing/2014/main" id="{971504CA-4D80-4C9E-A762-03626E16CE01}"/>
              </a:ext>
            </a:extLst>
          </p:cNvPr>
          <p:cNvSpPr>
            <a:spLocks noGrp="1"/>
          </p:cNvSpPr>
          <p:nvPr/>
        </p:nvSpPr>
        <p:spPr>
          <a:xfrm>
            <a:off x="1524000" y="5581650"/>
            <a:ext cx="9144000" cy="476250"/>
          </a:xfrm>
          <a:prstGeom prst="rect">
            <a:avLst/>
          </a:prstGeom>
          <a:noFill/>
          <a:ln w="0">
            <a:noFill/>
            <a:prstDash val="solid"/>
          </a:ln>
        </p:spPr>
        <p:txBody>
          <a:bodyPr wrap="square" lIns="0" tIns="0" rIns="0" bIns="0" anchor="ctr">
            <a:normAutofit/>
          </a:bodyPr>
          <a:lstStyle/>
          <a:p>
            <a:pPr algn="ctr">
              <a:defRPr sz="1350" b="0">
                <a:solidFill>
                  <a:srgbClr val="1F2730"/>
                </a:solidFill>
                <a:latin typeface="Arial"/>
                <a:ea typeface="Arial"/>
                <a:cs typeface="Arial"/>
              </a:defRPr>
            </a:pPr>
            <a:r>
              <a:rPr sz="1350" b="0">
                <a:solidFill>
                  <a:srgbClr val="1F2730"/>
                </a:solidFill>
                <a:latin typeface="Arial"/>
                <a:ea typeface="Arial"/>
                <a:cs typeface="Arial"/>
              </a:rPr>
              <a:t>The other 24 genes in mtDNA encode 22 tRNAs and 2 rRNAs; they are outside the protein-gene sets analyzed here.</a:t>
            </a:r>
          </a:p>
        </p:txBody>
      </p:sp>
    </p:spTree>
    <p:extLst>
      <p:ext uri="{BB962C8B-B14F-4D97-AF65-F5344CB8AC3E}">
        <p14:creationId xmlns:p14="http://schemas.microsoft.com/office/powerpoint/2010/main" val="410428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mitocarta-oxphos-background">
            <a:extLst>
              <a:ext uri="{FF2B5EF4-FFF2-40B4-BE49-F238E27FC236}">
                <a16:creationId xmlns:a16="http://schemas.microsoft.com/office/drawing/2014/main" id="{8BD098F1-D7B9-4881-9766-B74346626A53}"/>
              </a:ext>
            </a:extLst>
          </p:cNvPr>
          <p:cNvSpPr>
            <a:spLocks noGrp="1"/>
          </p:cNvSpPr>
          <p:nvPr/>
        </p:nvSpPr>
        <p:spPr>
          <a:xfrm>
            <a:off x="0" y="57150"/>
            <a:ext cx="12192000" cy="6858000"/>
          </a:xfrm>
          <a:prstGeom prst="rect">
            <a:avLst/>
          </a:prstGeom>
          <a:solidFill>
            <a:srgbClr val="F7F9FC"/>
          </a:solidFill>
          <a:ln w="0">
            <a:noFill/>
            <a:prstDash val="solid"/>
          </a:ln>
        </p:spPr>
        <p:txBody>
          <a:bodyPr/>
          <a:lstStyle/>
          <a:p>
            <a:endParaRPr lang="en-US"/>
          </a:p>
        </p:txBody>
      </p:sp>
      <p:sp>
        <p:nvSpPr>
          <p:cNvPr id="2" name="mitocarta-oxphos-title">
            <a:extLst>
              <a:ext uri="{FF2B5EF4-FFF2-40B4-BE49-F238E27FC236}">
                <a16:creationId xmlns:a16="http://schemas.microsoft.com/office/drawing/2014/main" id="{2CEE02BB-7B54-40EA-B667-8600227DA807}"/>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How the OXPHOS gene sets fit within MitoCarta</a:t>
            </a:r>
          </a:p>
        </p:txBody>
      </p:sp>
      <p:sp>
        <p:nvSpPr>
          <p:cNvPr id="3" name="mitocarta-oxphos-subtitle">
            <a:extLst>
              <a:ext uri="{FF2B5EF4-FFF2-40B4-BE49-F238E27FC236}">
                <a16:creationId xmlns:a16="http://schemas.microsoft.com/office/drawing/2014/main" id="{DD9D4925-A7C1-4544-BB5A-32BB9540712F}"/>
              </a:ext>
            </a:extLst>
          </p:cNvPr>
          <p:cNvSpPr>
            <a:spLocks noGrp="1"/>
          </p:cNvSpPr>
          <p:nvPr/>
        </p:nvSpPr>
        <p:spPr>
          <a:xfrm>
            <a:off x="552450" y="942975"/>
            <a:ext cx="10668000" cy="333375"/>
          </a:xfrm>
          <a:prstGeom prst="rect">
            <a:avLst/>
          </a:prstGeom>
          <a:noFill/>
          <a:ln w="0">
            <a:noFill/>
            <a:prstDash val="solid"/>
          </a:ln>
        </p:spPr>
        <p:txBody>
          <a:bodyPr wrap="square" lIns="0" tIns="0" rIns="0" bIns="0" anchor="ctr">
            <a:normAutofit/>
          </a:bodyPr>
          <a:lstStyle/>
          <a:p>
            <a:pPr algn="l">
              <a:defRPr sz="1350" b="0">
                <a:solidFill>
                  <a:srgbClr val="4E5A68"/>
                </a:solidFill>
                <a:latin typeface="Arial"/>
                <a:ea typeface="Arial"/>
                <a:cs typeface="Arial"/>
              </a:defRPr>
            </a:pPr>
            <a:r>
              <a:rPr sz="1400" b="1" dirty="0">
                <a:latin typeface="Arial"/>
                <a:ea typeface="Arial"/>
                <a:cs typeface="Arial"/>
              </a:rPr>
              <a:t>All 99 structural OXPHOS genes analyzed here are part of the 1,136-gene </a:t>
            </a:r>
            <a:r>
              <a:rPr sz="1400" b="1" dirty="0" err="1">
                <a:latin typeface="Arial"/>
                <a:ea typeface="Arial"/>
                <a:cs typeface="Arial"/>
              </a:rPr>
              <a:t>MitoCarta</a:t>
            </a:r>
            <a:r>
              <a:rPr sz="1400" b="1" dirty="0">
                <a:latin typeface="Arial"/>
                <a:ea typeface="Arial"/>
                <a:cs typeface="Arial"/>
              </a:rPr>
              <a:t> inventory.</a:t>
            </a:r>
          </a:p>
        </p:txBody>
      </p:sp>
      <p:sp>
        <p:nvSpPr>
          <p:cNvPr id="4" name="mitocarta-circle">
            <a:extLst>
              <a:ext uri="{FF2B5EF4-FFF2-40B4-BE49-F238E27FC236}">
                <a16:creationId xmlns:a16="http://schemas.microsoft.com/office/drawing/2014/main" id="{6D89F07B-0923-4C61-BD3E-C2228C4B0F49}"/>
              </a:ext>
            </a:extLst>
          </p:cNvPr>
          <p:cNvSpPr>
            <a:spLocks noGrp="1"/>
          </p:cNvSpPr>
          <p:nvPr/>
        </p:nvSpPr>
        <p:spPr>
          <a:xfrm>
            <a:off x="838200" y="1381125"/>
            <a:ext cx="7524750" cy="4762500"/>
          </a:xfrm>
          <a:prstGeom prst="ellipse">
            <a:avLst/>
          </a:prstGeom>
          <a:solidFill>
            <a:srgbClr val="E4F4EE"/>
          </a:solidFill>
          <a:ln w="28575">
            <a:solidFill>
              <a:srgbClr val="008A68"/>
            </a:solidFill>
            <a:prstDash val="solid"/>
          </a:ln>
        </p:spPr>
        <p:txBody>
          <a:bodyPr/>
          <a:lstStyle/>
          <a:p>
            <a:endParaRPr lang="en-US"/>
          </a:p>
        </p:txBody>
      </p:sp>
      <p:sp>
        <p:nvSpPr>
          <p:cNvPr id="5" name="mitocarta-circle-label">
            <a:extLst>
              <a:ext uri="{FF2B5EF4-FFF2-40B4-BE49-F238E27FC236}">
                <a16:creationId xmlns:a16="http://schemas.microsoft.com/office/drawing/2014/main" id="{55316FDE-78CC-4DBD-8F40-FAFC00A01D62}"/>
              </a:ext>
            </a:extLst>
          </p:cNvPr>
          <p:cNvSpPr>
            <a:spLocks noGrp="1"/>
          </p:cNvSpPr>
          <p:nvPr/>
        </p:nvSpPr>
        <p:spPr>
          <a:xfrm>
            <a:off x="438150" y="1347552"/>
            <a:ext cx="2381250" cy="723900"/>
          </a:xfrm>
          <a:prstGeom prst="rect">
            <a:avLst/>
          </a:prstGeom>
          <a:noFill/>
          <a:ln w="0">
            <a:noFill/>
            <a:prstDash val="solid"/>
          </a:ln>
        </p:spPr>
        <p:txBody>
          <a:bodyPr wrap="square" lIns="0" tIns="0" rIns="0" bIns="0" anchor="ctr">
            <a:normAutofit/>
          </a:bodyPr>
          <a:lstStyle/>
          <a:p>
            <a:pPr algn="ctr">
              <a:defRPr sz="1800" b="1">
                <a:solidFill>
                  <a:srgbClr val="008A68"/>
                </a:solidFill>
                <a:latin typeface="Arial"/>
                <a:ea typeface="Arial"/>
                <a:cs typeface="Arial"/>
              </a:defRPr>
            </a:pPr>
            <a:r>
              <a:rPr sz="1800" b="1" dirty="0" err="1">
                <a:solidFill>
                  <a:srgbClr val="008A68"/>
                </a:solidFill>
                <a:latin typeface="Arial"/>
                <a:ea typeface="Arial"/>
                <a:cs typeface="Arial"/>
              </a:rPr>
              <a:t>MitoCarta</a:t>
            </a:r>
            <a:r>
              <a:rPr sz="1800" b="1" dirty="0">
                <a:solidFill>
                  <a:srgbClr val="008A68"/>
                </a:solidFill>
                <a:latin typeface="Arial"/>
                <a:ea typeface="Arial"/>
                <a:cs typeface="Arial"/>
              </a:rPr>
              <a:t> MT genes</a:t>
            </a:r>
          </a:p>
          <a:p>
            <a:pPr algn="ctr">
              <a:defRPr sz="1800" b="1">
                <a:solidFill>
                  <a:srgbClr val="008A68"/>
                </a:solidFill>
                <a:latin typeface="Arial"/>
                <a:ea typeface="Arial"/>
                <a:cs typeface="Arial"/>
              </a:defRPr>
            </a:pPr>
            <a:r>
              <a:rPr sz="1800" b="1" dirty="0">
                <a:solidFill>
                  <a:srgbClr val="008A68"/>
                </a:solidFill>
                <a:latin typeface="Arial"/>
                <a:ea typeface="Arial"/>
                <a:cs typeface="Arial"/>
              </a:rPr>
              <a:t>1,136</a:t>
            </a:r>
          </a:p>
        </p:txBody>
      </p:sp>
      <p:sp>
        <p:nvSpPr>
          <p:cNvPr id="6" name="oxphos-circle">
            <a:extLst>
              <a:ext uri="{FF2B5EF4-FFF2-40B4-BE49-F238E27FC236}">
                <a16:creationId xmlns:a16="http://schemas.microsoft.com/office/drawing/2014/main" id="{F15C5D05-AC2D-4740-BEED-DA42E385D1B9}"/>
              </a:ext>
            </a:extLst>
          </p:cNvPr>
          <p:cNvSpPr>
            <a:spLocks noGrp="1"/>
          </p:cNvSpPr>
          <p:nvPr/>
        </p:nvSpPr>
        <p:spPr>
          <a:xfrm>
            <a:off x="3238500" y="2095500"/>
            <a:ext cx="4524375" cy="3476625"/>
          </a:xfrm>
          <a:prstGeom prst="ellipse">
            <a:avLst/>
          </a:prstGeom>
          <a:solidFill>
            <a:srgbClr val="FFF3D6"/>
          </a:solidFill>
          <a:ln w="28575">
            <a:solidFill>
              <a:srgbClr val="A56600"/>
            </a:solidFill>
            <a:prstDash val="solid"/>
          </a:ln>
        </p:spPr>
        <p:txBody>
          <a:bodyPr/>
          <a:lstStyle/>
          <a:p>
            <a:endParaRPr lang="en-US"/>
          </a:p>
        </p:txBody>
      </p:sp>
      <p:sp>
        <p:nvSpPr>
          <p:cNvPr id="7" name="oxphos-circle-label">
            <a:extLst>
              <a:ext uri="{FF2B5EF4-FFF2-40B4-BE49-F238E27FC236}">
                <a16:creationId xmlns:a16="http://schemas.microsoft.com/office/drawing/2014/main" id="{406340AF-81D0-41FC-944A-D7279E499107}"/>
              </a:ext>
            </a:extLst>
          </p:cNvPr>
          <p:cNvSpPr>
            <a:spLocks noGrp="1"/>
          </p:cNvSpPr>
          <p:nvPr/>
        </p:nvSpPr>
        <p:spPr>
          <a:xfrm>
            <a:off x="3981450" y="2524125"/>
            <a:ext cx="3048000" cy="666750"/>
          </a:xfrm>
          <a:prstGeom prst="rect">
            <a:avLst/>
          </a:prstGeom>
          <a:noFill/>
          <a:ln w="0">
            <a:noFill/>
            <a:prstDash val="solid"/>
          </a:ln>
        </p:spPr>
        <p:txBody>
          <a:bodyPr wrap="square" lIns="0" tIns="0" rIns="0" bIns="0" anchor="ctr">
            <a:normAutofit/>
          </a:bodyPr>
          <a:lstStyle/>
          <a:p>
            <a:pPr algn="ctr">
              <a:defRPr sz="1875" b="1">
                <a:solidFill>
                  <a:srgbClr val="A56600"/>
                </a:solidFill>
                <a:latin typeface="Arial"/>
                <a:ea typeface="Arial"/>
                <a:cs typeface="Arial"/>
              </a:defRPr>
            </a:pPr>
            <a:r>
              <a:rPr sz="1875" b="1">
                <a:solidFill>
                  <a:srgbClr val="A56600"/>
                </a:solidFill>
                <a:latin typeface="Arial"/>
                <a:ea typeface="Arial"/>
                <a:cs typeface="Arial"/>
              </a:rPr>
              <a:t>Structural OXPHOS genes</a:t>
            </a:r>
          </a:p>
          <a:p>
            <a:pPr algn="ctr">
              <a:defRPr sz="1875" b="1">
                <a:solidFill>
                  <a:srgbClr val="A56600"/>
                </a:solidFill>
                <a:latin typeface="Arial"/>
                <a:ea typeface="Arial"/>
                <a:cs typeface="Arial"/>
              </a:defRPr>
            </a:pPr>
            <a:r>
              <a:rPr sz="1875" b="1">
                <a:solidFill>
                  <a:srgbClr val="A56600"/>
                </a:solidFill>
                <a:latin typeface="Arial"/>
                <a:ea typeface="Arial"/>
                <a:cs typeface="Arial"/>
              </a:rPr>
              <a:t>99</a:t>
            </a:r>
          </a:p>
        </p:txBody>
      </p:sp>
      <p:sp>
        <p:nvSpPr>
          <p:cNvPr id="8" name="oxphos-split-line">
            <a:extLst>
              <a:ext uri="{FF2B5EF4-FFF2-40B4-BE49-F238E27FC236}">
                <a16:creationId xmlns:a16="http://schemas.microsoft.com/office/drawing/2014/main" id="{04C1DBB6-74E1-4F30-905C-8E1BE0A4F2E2}"/>
              </a:ext>
            </a:extLst>
          </p:cNvPr>
          <p:cNvSpPr>
            <a:spLocks noGrp="1"/>
          </p:cNvSpPr>
          <p:nvPr/>
        </p:nvSpPr>
        <p:spPr>
          <a:xfrm>
            <a:off x="5505450" y="3429000"/>
            <a:ext cx="0" cy="1381125"/>
          </a:xfrm>
          <a:prstGeom prst="line">
            <a:avLst/>
          </a:prstGeom>
          <a:noFill/>
          <a:ln w="19050">
            <a:solidFill>
              <a:srgbClr val="A56600"/>
            </a:solidFill>
            <a:prstDash val="solid"/>
          </a:ln>
        </p:spPr>
        <p:txBody>
          <a:bodyPr/>
          <a:lstStyle/>
          <a:p>
            <a:endParaRPr lang="en-US"/>
          </a:p>
        </p:txBody>
      </p:sp>
      <p:sp>
        <p:nvSpPr>
          <p:cNvPr id="9" name="core-mt-region-label">
            <a:extLst>
              <a:ext uri="{FF2B5EF4-FFF2-40B4-BE49-F238E27FC236}">
                <a16:creationId xmlns:a16="http://schemas.microsoft.com/office/drawing/2014/main" id="{57CDC2A8-9156-4479-86CF-D5DE6199FFE9}"/>
              </a:ext>
            </a:extLst>
          </p:cNvPr>
          <p:cNvSpPr>
            <a:spLocks noGrp="1"/>
          </p:cNvSpPr>
          <p:nvPr/>
        </p:nvSpPr>
        <p:spPr>
          <a:xfrm>
            <a:off x="3667125" y="3486150"/>
            <a:ext cx="1619250" cy="1209675"/>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Core MT genes</a:t>
            </a:r>
          </a:p>
          <a:p>
            <a:pPr algn="ctr">
              <a:defRPr sz="1500" b="1">
                <a:solidFill>
                  <a:srgbClr val="0072B2"/>
                </a:solidFill>
                <a:latin typeface="Arial"/>
                <a:ea typeface="Arial"/>
                <a:cs typeface="Arial"/>
              </a:defRPr>
            </a:pPr>
            <a:r>
              <a:rPr sz="1500" b="1">
                <a:solidFill>
                  <a:srgbClr val="0072B2"/>
                </a:solidFill>
                <a:latin typeface="Arial"/>
                <a:ea typeface="Arial"/>
                <a:cs typeface="Arial"/>
              </a:rPr>
              <a:t>13</a:t>
            </a:r>
          </a:p>
          <a:p>
            <a:pPr algn="ctr">
              <a:defRPr sz="1500" b="1">
                <a:solidFill>
                  <a:srgbClr val="0072B2"/>
                </a:solidFill>
                <a:latin typeface="Arial"/>
                <a:ea typeface="Arial"/>
                <a:cs typeface="Arial"/>
              </a:defRPr>
            </a:pPr>
            <a:r>
              <a:rPr sz="1500" b="1">
                <a:solidFill>
                  <a:srgbClr val="0072B2"/>
                </a:solidFill>
                <a:latin typeface="Arial"/>
                <a:ea typeface="Arial"/>
                <a:cs typeface="Arial"/>
              </a:rPr>
              <a:t>encoded by mtDNA</a:t>
            </a:r>
          </a:p>
        </p:txBody>
      </p:sp>
      <p:sp>
        <p:nvSpPr>
          <p:cNvPr id="10" name="nuclear-oxphos-region-label">
            <a:extLst>
              <a:ext uri="{FF2B5EF4-FFF2-40B4-BE49-F238E27FC236}">
                <a16:creationId xmlns:a16="http://schemas.microsoft.com/office/drawing/2014/main" id="{D1E66855-C665-4F0B-A285-F6C1EE8C9A06}"/>
              </a:ext>
            </a:extLst>
          </p:cNvPr>
          <p:cNvSpPr>
            <a:spLocks noGrp="1"/>
          </p:cNvSpPr>
          <p:nvPr/>
        </p:nvSpPr>
        <p:spPr>
          <a:xfrm>
            <a:off x="5715000" y="3486150"/>
            <a:ext cx="1657350" cy="1209675"/>
          </a:xfrm>
          <a:prstGeom prst="rect">
            <a:avLst/>
          </a:prstGeom>
          <a:noFill/>
          <a:ln w="0">
            <a:noFill/>
            <a:prstDash val="solid"/>
          </a:ln>
        </p:spPr>
        <p:txBody>
          <a:bodyPr wrap="square" lIns="0" tIns="0" rIns="0" bIns="0" anchor="ctr">
            <a:normAutofit/>
          </a:bodyPr>
          <a:lstStyle/>
          <a:p>
            <a:pPr algn="ctr">
              <a:defRPr sz="1500" b="1">
                <a:solidFill>
                  <a:srgbClr val="0F233D"/>
                </a:solidFill>
                <a:latin typeface="Arial"/>
                <a:ea typeface="Arial"/>
                <a:cs typeface="Arial"/>
              </a:defRPr>
            </a:pPr>
            <a:r>
              <a:rPr sz="1500" b="1">
                <a:solidFill>
                  <a:srgbClr val="0F233D"/>
                </a:solidFill>
                <a:latin typeface="Arial"/>
                <a:ea typeface="Arial"/>
                <a:cs typeface="Arial"/>
              </a:rPr>
              <a:t>Nuclear-encoded</a:t>
            </a:r>
          </a:p>
          <a:p>
            <a:pPr algn="ctr">
              <a:defRPr sz="1500" b="1">
                <a:solidFill>
                  <a:srgbClr val="0F233D"/>
                </a:solidFill>
                <a:latin typeface="Arial"/>
                <a:ea typeface="Arial"/>
                <a:cs typeface="Arial"/>
              </a:defRPr>
            </a:pPr>
            <a:r>
              <a:rPr sz="1500" b="1">
                <a:solidFill>
                  <a:srgbClr val="0F233D"/>
                </a:solidFill>
                <a:latin typeface="Arial"/>
                <a:ea typeface="Arial"/>
                <a:cs typeface="Arial"/>
              </a:rPr>
              <a:t>OXPHOS genes</a:t>
            </a:r>
          </a:p>
          <a:p>
            <a:pPr algn="ctr">
              <a:defRPr sz="1500" b="1">
                <a:solidFill>
                  <a:srgbClr val="0F233D"/>
                </a:solidFill>
                <a:latin typeface="Arial"/>
                <a:ea typeface="Arial"/>
                <a:cs typeface="Arial"/>
              </a:defRPr>
            </a:pPr>
            <a:r>
              <a:rPr sz="1500" b="1">
                <a:solidFill>
                  <a:srgbClr val="0F233D"/>
                </a:solidFill>
                <a:latin typeface="Arial"/>
                <a:ea typeface="Arial"/>
                <a:cs typeface="Arial"/>
              </a:rPr>
              <a:t>86</a:t>
            </a:r>
          </a:p>
        </p:txBody>
      </p:sp>
      <p:sp>
        <p:nvSpPr>
          <p:cNvPr id="11" name="other-mitocarta-label">
            <a:extLst>
              <a:ext uri="{FF2B5EF4-FFF2-40B4-BE49-F238E27FC236}">
                <a16:creationId xmlns:a16="http://schemas.microsoft.com/office/drawing/2014/main" id="{C7BFE8CC-0CED-4FB5-BADF-C7EE9DEE7D07}"/>
              </a:ext>
            </a:extLst>
          </p:cNvPr>
          <p:cNvSpPr>
            <a:spLocks noGrp="1"/>
          </p:cNvSpPr>
          <p:nvPr/>
        </p:nvSpPr>
        <p:spPr>
          <a:xfrm>
            <a:off x="1204914" y="4352925"/>
            <a:ext cx="2024062" cy="676275"/>
          </a:xfrm>
          <a:prstGeom prst="rect">
            <a:avLst/>
          </a:prstGeom>
          <a:noFill/>
          <a:ln w="0">
            <a:noFill/>
            <a:prstDash val="solid"/>
          </a:ln>
        </p:spPr>
        <p:txBody>
          <a:bodyPr wrap="square" lIns="0" tIns="0" rIns="0" bIns="0" anchor="ctr">
            <a:normAutofit/>
          </a:bodyPr>
          <a:lstStyle/>
          <a:p>
            <a:pPr algn="ctr">
              <a:defRPr sz="1500" b="1">
                <a:solidFill>
                  <a:srgbClr val="008A68"/>
                </a:solidFill>
                <a:latin typeface="Arial"/>
                <a:ea typeface="Arial"/>
                <a:cs typeface="Arial"/>
              </a:defRPr>
            </a:pPr>
            <a:r>
              <a:rPr sz="1500" b="1" dirty="0">
                <a:solidFill>
                  <a:srgbClr val="008A68"/>
                </a:solidFill>
                <a:latin typeface="Arial"/>
                <a:ea typeface="Arial"/>
                <a:cs typeface="Arial"/>
              </a:rPr>
              <a:t>Other </a:t>
            </a:r>
            <a:r>
              <a:rPr sz="1500" b="1" dirty="0" err="1">
                <a:solidFill>
                  <a:srgbClr val="008A68"/>
                </a:solidFill>
                <a:latin typeface="Arial"/>
                <a:ea typeface="Arial"/>
                <a:cs typeface="Arial"/>
              </a:rPr>
              <a:t>MitoCarta</a:t>
            </a:r>
            <a:r>
              <a:rPr sz="1500" b="1" dirty="0">
                <a:solidFill>
                  <a:srgbClr val="008A68"/>
                </a:solidFill>
                <a:latin typeface="Arial"/>
                <a:ea typeface="Arial"/>
                <a:cs typeface="Arial"/>
              </a:rPr>
              <a:t> MT genes</a:t>
            </a:r>
            <a:r>
              <a:rPr lang="en-US" sz="1500" b="1" dirty="0">
                <a:solidFill>
                  <a:srgbClr val="008A68"/>
                </a:solidFill>
                <a:latin typeface="Arial"/>
                <a:ea typeface="Arial"/>
                <a:cs typeface="Arial"/>
              </a:rPr>
              <a:t> </a:t>
            </a:r>
            <a:r>
              <a:rPr sz="1500" b="1" dirty="0">
                <a:solidFill>
                  <a:srgbClr val="008A68"/>
                </a:solidFill>
                <a:latin typeface="Arial"/>
                <a:ea typeface="Arial"/>
                <a:cs typeface="Arial"/>
              </a:rPr>
              <a:t>1,037</a:t>
            </a:r>
          </a:p>
        </p:txBody>
      </p:sp>
      <p:sp>
        <p:nvSpPr>
          <p:cNvPr id="12" name="oxphos-equation-card">
            <a:extLst>
              <a:ext uri="{FF2B5EF4-FFF2-40B4-BE49-F238E27FC236}">
                <a16:creationId xmlns:a16="http://schemas.microsoft.com/office/drawing/2014/main" id="{1AC7A0C8-CBE4-4664-8FB0-E3AEE0B4C104}"/>
              </a:ext>
            </a:extLst>
          </p:cNvPr>
          <p:cNvSpPr>
            <a:spLocks noGrp="1"/>
          </p:cNvSpPr>
          <p:nvPr/>
        </p:nvSpPr>
        <p:spPr>
          <a:xfrm>
            <a:off x="8763000" y="1952625"/>
            <a:ext cx="2781300" cy="1447800"/>
          </a:xfrm>
          <a:prstGeom prst="roundRect">
            <a:avLst>
              <a:gd name="adj" fmla="val 7895"/>
            </a:avLst>
          </a:prstGeom>
          <a:solidFill>
            <a:srgbClr val="FFFFFF"/>
          </a:solidFill>
          <a:ln w="14288">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oxphos-equation">
            <a:extLst>
              <a:ext uri="{FF2B5EF4-FFF2-40B4-BE49-F238E27FC236}">
                <a16:creationId xmlns:a16="http://schemas.microsoft.com/office/drawing/2014/main" id="{D7D3BC97-B2E1-48B8-B8EA-25C6B2E3C59E}"/>
              </a:ext>
            </a:extLst>
          </p:cNvPr>
          <p:cNvSpPr>
            <a:spLocks noGrp="1"/>
          </p:cNvSpPr>
          <p:nvPr/>
        </p:nvSpPr>
        <p:spPr>
          <a:xfrm>
            <a:off x="9010650" y="2209800"/>
            <a:ext cx="2286000" cy="457200"/>
          </a:xfrm>
          <a:prstGeom prst="rect">
            <a:avLst/>
          </a:prstGeom>
          <a:noFill/>
          <a:ln w="0">
            <a:noFill/>
            <a:prstDash val="solid"/>
          </a:ln>
        </p:spPr>
        <p:txBody>
          <a:bodyPr wrap="square" lIns="0" tIns="0" rIns="0" bIns="0" anchor="ctr">
            <a:normAutofit/>
          </a:bodyPr>
          <a:lstStyle/>
          <a:p>
            <a:pPr algn="ctr">
              <a:defRPr sz="2325" b="1">
                <a:solidFill>
                  <a:srgbClr val="0F233D"/>
                </a:solidFill>
                <a:latin typeface="Arial"/>
                <a:ea typeface="Arial"/>
                <a:cs typeface="Arial"/>
              </a:defRPr>
            </a:pPr>
            <a:r>
              <a:rPr sz="2325" b="1">
                <a:solidFill>
                  <a:srgbClr val="0F233D"/>
                </a:solidFill>
                <a:latin typeface="Arial"/>
                <a:ea typeface="Arial"/>
                <a:cs typeface="Arial"/>
              </a:rPr>
              <a:t>13 + 86 = 99</a:t>
            </a:r>
          </a:p>
        </p:txBody>
      </p:sp>
      <p:sp>
        <p:nvSpPr>
          <p:cNvPr id="14" name="oxphos-equation-caption">
            <a:extLst>
              <a:ext uri="{FF2B5EF4-FFF2-40B4-BE49-F238E27FC236}">
                <a16:creationId xmlns:a16="http://schemas.microsoft.com/office/drawing/2014/main" id="{7EAA0B6C-3898-4C88-B8C2-005657C6F73A}"/>
              </a:ext>
            </a:extLst>
          </p:cNvPr>
          <p:cNvSpPr>
            <a:spLocks noGrp="1"/>
          </p:cNvSpPr>
          <p:nvPr/>
        </p:nvSpPr>
        <p:spPr>
          <a:xfrm>
            <a:off x="9010650" y="2752725"/>
            <a:ext cx="2286000" cy="333375"/>
          </a:xfrm>
          <a:prstGeom prst="rect">
            <a:avLst/>
          </a:prstGeom>
          <a:noFill/>
          <a:ln w="0">
            <a:noFill/>
            <a:prstDash val="solid"/>
          </a:ln>
        </p:spPr>
        <p:txBody>
          <a:bodyPr wrap="square" lIns="0" tIns="0" rIns="0" bIns="0" anchor="ctr">
            <a:normAutofit/>
          </a:bodyPr>
          <a:lstStyle/>
          <a:p>
            <a:pPr algn="ctr">
              <a:defRPr sz="1350" b="0">
                <a:solidFill>
                  <a:srgbClr val="4E5A68"/>
                </a:solidFill>
                <a:latin typeface="Arial"/>
                <a:ea typeface="Arial"/>
                <a:cs typeface="Arial"/>
              </a:defRPr>
            </a:pPr>
            <a:r>
              <a:rPr sz="1350" b="0">
                <a:solidFill>
                  <a:srgbClr val="4E5A68"/>
                </a:solidFill>
                <a:latin typeface="Arial"/>
                <a:ea typeface="Arial"/>
                <a:cs typeface="Arial"/>
              </a:rPr>
              <a:t>structural OXPHOS genes</a:t>
            </a:r>
          </a:p>
        </p:txBody>
      </p:sp>
      <p:sp>
        <p:nvSpPr>
          <p:cNvPr id="15" name="nuclear-definition-card">
            <a:extLst>
              <a:ext uri="{FF2B5EF4-FFF2-40B4-BE49-F238E27FC236}">
                <a16:creationId xmlns:a16="http://schemas.microsoft.com/office/drawing/2014/main" id="{7827315D-29FF-4BC2-A1DD-81EC492A0E87}"/>
              </a:ext>
            </a:extLst>
          </p:cNvPr>
          <p:cNvSpPr>
            <a:spLocks noGrp="1"/>
          </p:cNvSpPr>
          <p:nvPr/>
        </p:nvSpPr>
        <p:spPr>
          <a:xfrm>
            <a:off x="8763000" y="3657600"/>
            <a:ext cx="2781300" cy="1600200"/>
          </a:xfrm>
          <a:prstGeom prst="roundRect">
            <a:avLst>
              <a:gd name="adj" fmla="val 7143"/>
            </a:avLst>
          </a:prstGeom>
          <a:solidFill>
            <a:srgbClr val="E8F5FB"/>
          </a:solidFill>
          <a:ln w="9525">
            <a:solidFill>
              <a:srgbClr val="D8E2EC"/>
            </a:solidFill>
            <a:prstDash val="solid"/>
          </a:ln>
        </p:spPr>
        <p:txBody>
          <a:bodyPr/>
          <a:lstStyle/>
          <a:p>
            <a:endParaRPr lang="en-US"/>
          </a:p>
        </p:txBody>
      </p:sp>
      <p:sp>
        <p:nvSpPr>
          <p:cNvPr id="16" name="nuclear-definition-title">
            <a:extLst>
              <a:ext uri="{FF2B5EF4-FFF2-40B4-BE49-F238E27FC236}">
                <a16:creationId xmlns:a16="http://schemas.microsoft.com/office/drawing/2014/main" id="{115E4BE4-E1EC-4B5D-8942-08E716799A93}"/>
              </a:ext>
            </a:extLst>
          </p:cNvPr>
          <p:cNvSpPr>
            <a:spLocks noGrp="1"/>
          </p:cNvSpPr>
          <p:nvPr/>
        </p:nvSpPr>
        <p:spPr>
          <a:xfrm>
            <a:off x="9029700" y="3895725"/>
            <a:ext cx="2247900" cy="304800"/>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Nuclear-encoded</a:t>
            </a:r>
          </a:p>
        </p:txBody>
      </p:sp>
      <p:sp>
        <p:nvSpPr>
          <p:cNvPr id="17" name="nuclear-definition-text">
            <a:extLst>
              <a:ext uri="{FF2B5EF4-FFF2-40B4-BE49-F238E27FC236}">
                <a16:creationId xmlns:a16="http://schemas.microsoft.com/office/drawing/2014/main" id="{3E2593A7-7F57-43B3-8DFB-2A7C254F5A2C}"/>
              </a:ext>
            </a:extLst>
          </p:cNvPr>
          <p:cNvSpPr>
            <a:spLocks noGrp="1"/>
          </p:cNvSpPr>
          <p:nvPr/>
        </p:nvSpPr>
        <p:spPr>
          <a:xfrm>
            <a:off x="9048750" y="4305300"/>
            <a:ext cx="2209800" cy="723900"/>
          </a:xfrm>
          <a:prstGeom prst="rect">
            <a:avLst/>
          </a:prstGeom>
          <a:noFill/>
          <a:ln w="0">
            <a:noFill/>
            <a:prstDash val="solid"/>
          </a:ln>
        </p:spPr>
        <p:txBody>
          <a:bodyPr wrap="square" lIns="0" tIns="0" rIns="0" bIns="0" anchor="ctr">
            <a:normAutofit/>
          </a:bodyPr>
          <a:lstStyle/>
          <a:p>
            <a:pPr algn="ctr">
              <a:defRPr sz="1275" b="0">
                <a:solidFill>
                  <a:srgbClr val="1F2730"/>
                </a:solidFill>
                <a:latin typeface="Arial"/>
                <a:ea typeface="Arial"/>
                <a:cs typeface="Arial"/>
              </a:defRPr>
            </a:pPr>
            <a:r>
              <a:rPr sz="1275" b="0">
                <a:solidFill>
                  <a:srgbClr val="1F2730"/>
                </a:solidFill>
                <a:latin typeface="Arial"/>
                <a:ea typeface="Arial"/>
                <a:cs typeface="Arial"/>
              </a:rPr>
              <a:t>The gene is located in nuclear DNA; its protein functions in mitochondria.</a:t>
            </a:r>
          </a:p>
        </p:txBody>
      </p:sp>
    </p:spTree>
    <p:extLst>
      <p:ext uri="{BB962C8B-B14F-4D97-AF65-F5344CB8AC3E}">
        <p14:creationId xmlns:p14="http://schemas.microsoft.com/office/powerpoint/2010/main" val="8268973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mitocarta-hierarchy-background">
            <a:extLst>
              <a:ext uri="{FF2B5EF4-FFF2-40B4-BE49-F238E27FC236}">
                <a16:creationId xmlns:a16="http://schemas.microsoft.com/office/drawing/2014/main" id="{C32135CE-1DB8-4A86-8CC5-0C743A99463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mitocarta-hierarchy-title">
            <a:extLst>
              <a:ext uri="{FF2B5EF4-FFF2-40B4-BE49-F238E27FC236}">
                <a16:creationId xmlns:a16="http://schemas.microsoft.com/office/drawing/2014/main" id="{D9B4A397-B91D-45E4-A1A7-81D64922ACB6}"/>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Three levels of MitoCarta pathways</a:t>
            </a:r>
          </a:p>
        </p:txBody>
      </p:sp>
      <p:sp>
        <p:nvSpPr>
          <p:cNvPr id="3" name="mitocarta-hierarchy-subtitle">
            <a:extLst>
              <a:ext uri="{FF2B5EF4-FFF2-40B4-BE49-F238E27FC236}">
                <a16:creationId xmlns:a16="http://schemas.microsoft.com/office/drawing/2014/main" id="{28C990DB-3CCC-454A-A0A6-54EC6E9CABC9}"/>
              </a:ext>
            </a:extLst>
          </p:cNvPr>
          <p:cNvSpPr>
            <a:spLocks noGrp="1"/>
          </p:cNvSpPr>
          <p:nvPr/>
        </p:nvSpPr>
        <p:spPr>
          <a:xfrm>
            <a:off x="552450" y="914400"/>
            <a:ext cx="10572750" cy="3619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MitoCarta organizes its 1,136 MT genes into nested pathways, from broad systems to detailed subpathways.</a:t>
            </a:r>
          </a:p>
        </p:txBody>
      </p:sp>
      <p:sp>
        <p:nvSpPr>
          <p:cNvPr id="4" name="mitocarta-level-1-band">
            <a:extLst>
              <a:ext uri="{FF2B5EF4-FFF2-40B4-BE49-F238E27FC236}">
                <a16:creationId xmlns:a16="http://schemas.microsoft.com/office/drawing/2014/main" id="{18A9D7A3-88E9-4952-9CAA-1FC2A1ED5F43}"/>
              </a:ext>
            </a:extLst>
          </p:cNvPr>
          <p:cNvSpPr>
            <a:spLocks noGrp="1"/>
          </p:cNvSpPr>
          <p:nvPr/>
        </p:nvSpPr>
        <p:spPr>
          <a:xfrm>
            <a:off x="857250" y="1543050"/>
            <a:ext cx="10477500" cy="990600"/>
          </a:xfrm>
          <a:prstGeom prst="roundRect">
            <a:avLst>
              <a:gd name="adj" fmla="val 13462"/>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mitocarta-level-1-level">
            <a:extLst>
              <a:ext uri="{FF2B5EF4-FFF2-40B4-BE49-F238E27FC236}">
                <a16:creationId xmlns:a16="http://schemas.microsoft.com/office/drawing/2014/main" id="{E9D0E325-D5F5-4481-8B3B-16271FC0DB6E}"/>
              </a:ext>
            </a:extLst>
          </p:cNvPr>
          <p:cNvSpPr>
            <a:spLocks noGrp="1"/>
          </p:cNvSpPr>
          <p:nvPr/>
        </p:nvSpPr>
        <p:spPr>
          <a:xfrm>
            <a:off x="1123950" y="1724025"/>
            <a:ext cx="1200150" cy="228600"/>
          </a:xfrm>
          <a:prstGeom prst="rect">
            <a:avLst/>
          </a:prstGeom>
          <a:noFill/>
          <a:ln w="0">
            <a:noFill/>
            <a:prstDash val="solid"/>
          </a:ln>
        </p:spPr>
        <p:txBody>
          <a:bodyPr wrap="square" lIns="0" tIns="0" rIns="0" bIns="0" anchor="ctr">
            <a:normAutofit/>
          </a:bodyPr>
          <a:lstStyle/>
          <a:p>
            <a:pPr algn="l">
              <a:buNone/>
              <a:defRPr sz="1125" b="1">
                <a:solidFill>
                  <a:srgbClr val="0072B2"/>
                </a:solidFill>
                <a:latin typeface="Arial"/>
                <a:ea typeface="Arial"/>
                <a:cs typeface="Arial"/>
              </a:defRPr>
            </a:pPr>
            <a:r>
              <a:rPr sz="1125" b="1">
                <a:solidFill>
                  <a:srgbClr val="0072B2"/>
                </a:solidFill>
                <a:latin typeface="Arial"/>
                <a:ea typeface="Arial"/>
                <a:cs typeface="Arial"/>
              </a:rPr>
              <a:t>LEVEL 1</a:t>
            </a:r>
          </a:p>
        </p:txBody>
      </p:sp>
      <p:sp>
        <p:nvSpPr>
          <p:cNvPr id="6" name="mitocarta-level-1-label">
            <a:extLst>
              <a:ext uri="{FF2B5EF4-FFF2-40B4-BE49-F238E27FC236}">
                <a16:creationId xmlns:a16="http://schemas.microsoft.com/office/drawing/2014/main" id="{E9A17CB0-3A4C-45E3-86A2-52E80F61BADE}"/>
              </a:ext>
            </a:extLst>
          </p:cNvPr>
          <p:cNvSpPr>
            <a:spLocks noGrp="1"/>
          </p:cNvSpPr>
          <p:nvPr/>
        </p:nvSpPr>
        <p:spPr>
          <a:xfrm>
            <a:off x="1123950" y="2028825"/>
            <a:ext cx="450532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Broad mitochondrial system</a:t>
            </a:r>
          </a:p>
        </p:txBody>
      </p:sp>
      <p:sp>
        <p:nvSpPr>
          <p:cNvPr id="7" name="mitocarta-level-1-example">
            <a:extLst>
              <a:ext uri="{FF2B5EF4-FFF2-40B4-BE49-F238E27FC236}">
                <a16:creationId xmlns:a16="http://schemas.microsoft.com/office/drawing/2014/main" id="{9CE53DE4-53D8-4F37-89A9-CEB2184F3052}"/>
              </a:ext>
            </a:extLst>
          </p:cNvPr>
          <p:cNvSpPr>
            <a:spLocks noGrp="1"/>
          </p:cNvSpPr>
          <p:nvPr/>
        </p:nvSpPr>
        <p:spPr>
          <a:xfrm>
            <a:off x="5886450" y="1885950"/>
            <a:ext cx="282892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Oxidative phosphorylation (OXPHOS)</a:t>
            </a:r>
          </a:p>
        </p:txBody>
      </p:sp>
      <p:sp>
        <p:nvSpPr>
          <p:cNvPr id="8" name="mitocarta-level-1-count">
            <a:extLst>
              <a:ext uri="{FF2B5EF4-FFF2-40B4-BE49-F238E27FC236}">
                <a16:creationId xmlns:a16="http://schemas.microsoft.com/office/drawing/2014/main" id="{A0B6881E-78F2-46CC-90CB-35966ED6AC8E}"/>
              </a:ext>
            </a:extLst>
          </p:cNvPr>
          <p:cNvSpPr>
            <a:spLocks noGrp="1"/>
          </p:cNvSpPr>
          <p:nvPr/>
        </p:nvSpPr>
        <p:spPr>
          <a:xfrm>
            <a:off x="9620250" y="1819275"/>
            <a:ext cx="1428750" cy="457200"/>
          </a:xfrm>
          <a:prstGeom prst="rect">
            <a:avLst/>
          </a:prstGeom>
          <a:noFill/>
          <a:ln w="0">
            <a:noFill/>
            <a:prstDash val="solid"/>
          </a:ln>
        </p:spPr>
        <p:txBody>
          <a:bodyPr wrap="square" lIns="0" tIns="0" rIns="0" bIns="0" anchor="ctr">
            <a:normAutofit/>
          </a:bodyPr>
          <a:lstStyle/>
          <a:p>
            <a:pPr algn="r">
              <a:buNone/>
              <a:defRPr sz="1725" b="1">
                <a:solidFill>
                  <a:srgbClr val="0072B2"/>
                </a:solidFill>
                <a:latin typeface="Arial"/>
                <a:ea typeface="Arial"/>
                <a:cs typeface="Arial"/>
              </a:defRPr>
            </a:pPr>
            <a:r>
              <a:rPr sz="1725" b="1">
                <a:solidFill>
                  <a:srgbClr val="0072B2"/>
                </a:solidFill>
                <a:latin typeface="Arial"/>
                <a:ea typeface="Arial"/>
                <a:cs typeface="Arial"/>
              </a:rPr>
              <a:t>7 pathways</a:t>
            </a:r>
          </a:p>
        </p:txBody>
      </p:sp>
      <p:sp>
        <p:nvSpPr>
          <p:cNvPr id="9" name="mitocarta-level-2-band">
            <a:extLst>
              <a:ext uri="{FF2B5EF4-FFF2-40B4-BE49-F238E27FC236}">
                <a16:creationId xmlns:a16="http://schemas.microsoft.com/office/drawing/2014/main" id="{5DAF0BA4-AC5A-446A-84BE-194A8EF81A1D}"/>
              </a:ext>
            </a:extLst>
          </p:cNvPr>
          <p:cNvSpPr>
            <a:spLocks noGrp="1"/>
          </p:cNvSpPr>
          <p:nvPr/>
        </p:nvSpPr>
        <p:spPr>
          <a:xfrm>
            <a:off x="1619250" y="2705100"/>
            <a:ext cx="8953500" cy="990600"/>
          </a:xfrm>
          <a:prstGeom prst="roundRect">
            <a:avLst>
              <a:gd name="adj" fmla="val 13462"/>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0" name="mitocarta-level-2-level">
            <a:extLst>
              <a:ext uri="{FF2B5EF4-FFF2-40B4-BE49-F238E27FC236}">
                <a16:creationId xmlns:a16="http://schemas.microsoft.com/office/drawing/2014/main" id="{E307DD48-2E33-4870-AB47-AC61B7104C30}"/>
              </a:ext>
            </a:extLst>
          </p:cNvPr>
          <p:cNvSpPr>
            <a:spLocks noGrp="1"/>
          </p:cNvSpPr>
          <p:nvPr/>
        </p:nvSpPr>
        <p:spPr>
          <a:xfrm>
            <a:off x="1885950" y="2886075"/>
            <a:ext cx="1200150" cy="228600"/>
          </a:xfrm>
          <a:prstGeom prst="rect">
            <a:avLst/>
          </a:prstGeom>
          <a:noFill/>
          <a:ln w="0">
            <a:noFill/>
            <a:prstDash val="solid"/>
          </a:ln>
        </p:spPr>
        <p:txBody>
          <a:bodyPr wrap="square" lIns="0" tIns="0" rIns="0" bIns="0" anchor="ctr">
            <a:normAutofit/>
          </a:bodyPr>
          <a:lstStyle/>
          <a:p>
            <a:pPr algn="l">
              <a:buNone/>
              <a:defRPr sz="1125" b="1">
                <a:solidFill>
                  <a:srgbClr val="00684D"/>
                </a:solidFill>
                <a:latin typeface="Arial"/>
                <a:ea typeface="Arial"/>
                <a:cs typeface="Arial"/>
              </a:defRPr>
            </a:pPr>
            <a:r>
              <a:rPr sz="1125" b="1">
                <a:solidFill>
                  <a:srgbClr val="00684D"/>
                </a:solidFill>
                <a:latin typeface="Arial"/>
                <a:ea typeface="Arial"/>
                <a:cs typeface="Arial"/>
              </a:rPr>
              <a:t>LEVEL 2</a:t>
            </a:r>
          </a:p>
        </p:txBody>
      </p:sp>
      <p:sp>
        <p:nvSpPr>
          <p:cNvPr id="11" name="mitocarta-level-2-label">
            <a:extLst>
              <a:ext uri="{FF2B5EF4-FFF2-40B4-BE49-F238E27FC236}">
                <a16:creationId xmlns:a16="http://schemas.microsoft.com/office/drawing/2014/main" id="{2087C0A6-AC42-45D6-A8DF-F8950D8B57CF}"/>
              </a:ext>
            </a:extLst>
          </p:cNvPr>
          <p:cNvSpPr>
            <a:spLocks noGrp="1"/>
          </p:cNvSpPr>
          <p:nvPr/>
        </p:nvSpPr>
        <p:spPr>
          <a:xfrm>
            <a:off x="1885950" y="3190875"/>
            <a:ext cx="385000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Pathway within a system</a:t>
            </a:r>
          </a:p>
        </p:txBody>
      </p:sp>
      <p:sp>
        <p:nvSpPr>
          <p:cNvPr id="12" name="mitocarta-level-2-example">
            <a:extLst>
              <a:ext uri="{FF2B5EF4-FFF2-40B4-BE49-F238E27FC236}">
                <a16:creationId xmlns:a16="http://schemas.microsoft.com/office/drawing/2014/main" id="{21C35936-7529-43A8-A037-314B375217E3}"/>
              </a:ext>
            </a:extLst>
          </p:cNvPr>
          <p:cNvSpPr>
            <a:spLocks noGrp="1"/>
          </p:cNvSpPr>
          <p:nvPr/>
        </p:nvSpPr>
        <p:spPr>
          <a:xfrm>
            <a:off x="5916930" y="3048000"/>
            <a:ext cx="241744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a:t>
            </a:r>
          </a:p>
        </p:txBody>
      </p:sp>
      <p:sp>
        <p:nvSpPr>
          <p:cNvPr id="13" name="mitocarta-level-2-count">
            <a:extLst>
              <a:ext uri="{FF2B5EF4-FFF2-40B4-BE49-F238E27FC236}">
                <a16:creationId xmlns:a16="http://schemas.microsoft.com/office/drawing/2014/main" id="{D9693E17-B9DB-4D16-B3E6-9AE81C1CE84C}"/>
              </a:ext>
            </a:extLst>
          </p:cNvPr>
          <p:cNvSpPr>
            <a:spLocks noGrp="1"/>
          </p:cNvSpPr>
          <p:nvPr/>
        </p:nvSpPr>
        <p:spPr>
          <a:xfrm>
            <a:off x="8858250" y="2981325"/>
            <a:ext cx="1428750" cy="457200"/>
          </a:xfrm>
          <a:prstGeom prst="rect">
            <a:avLst/>
          </a:prstGeom>
          <a:noFill/>
          <a:ln w="0">
            <a:noFill/>
            <a:prstDash val="solid"/>
          </a:ln>
        </p:spPr>
        <p:txBody>
          <a:bodyPr wrap="square" lIns="0" tIns="0" rIns="0" bIns="0" anchor="ctr">
            <a:normAutofit/>
          </a:bodyPr>
          <a:lstStyle/>
          <a:p>
            <a:pPr algn="r">
              <a:buNone/>
              <a:defRPr sz="1725" b="1">
                <a:solidFill>
                  <a:srgbClr val="00684D"/>
                </a:solidFill>
                <a:latin typeface="Arial"/>
                <a:ea typeface="Arial"/>
                <a:cs typeface="Arial"/>
              </a:defRPr>
            </a:pPr>
            <a:r>
              <a:rPr sz="1725" b="1">
                <a:solidFill>
                  <a:srgbClr val="00684D"/>
                </a:solidFill>
                <a:latin typeface="Arial"/>
                <a:ea typeface="Arial"/>
                <a:cs typeface="Arial"/>
              </a:rPr>
              <a:t>39 pathways</a:t>
            </a:r>
          </a:p>
        </p:txBody>
      </p:sp>
      <p:sp>
        <p:nvSpPr>
          <p:cNvPr id="14" name="mitocarta-level-3-band">
            <a:extLst>
              <a:ext uri="{FF2B5EF4-FFF2-40B4-BE49-F238E27FC236}">
                <a16:creationId xmlns:a16="http://schemas.microsoft.com/office/drawing/2014/main" id="{2A8008ED-6648-4AF0-B933-D57921172975}"/>
              </a:ext>
            </a:extLst>
          </p:cNvPr>
          <p:cNvSpPr>
            <a:spLocks noGrp="1"/>
          </p:cNvSpPr>
          <p:nvPr/>
        </p:nvSpPr>
        <p:spPr>
          <a:xfrm>
            <a:off x="2381250" y="3867150"/>
            <a:ext cx="7429500" cy="990600"/>
          </a:xfrm>
          <a:prstGeom prst="roundRect">
            <a:avLst>
              <a:gd name="adj" fmla="val 13462"/>
            </a:avLst>
          </a:prstGeom>
          <a:solidFill>
            <a:srgbClr val="FFF3D6"/>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mitocarta-level-3-level">
            <a:extLst>
              <a:ext uri="{FF2B5EF4-FFF2-40B4-BE49-F238E27FC236}">
                <a16:creationId xmlns:a16="http://schemas.microsoft.com/office/drawing/2014/main" id="{81DB79D4-CD73-4A5C-963B-057666B719FB}"/>
              </a:ext>
            </a:extLst>
          </p:cNvPr>
          <p:cNvSpPr>
            <a:spLocks noGrp="1"/>
          </p:cNvSpPr>
          <p:nvPr/>
        </p:nvSpPr>
        <p:spPr>
          <a:xfrm>
            <a:off x="2647950" y="4048125"/>
            <a:ext cx="1200150" cy="228600"/>
          </a:xfrm>
          <a:prstGeom prst="rect">
            <a:avLst/>
          </a:prstGeom>
          <a:noFill/>
          <a:ln w="0">
            <a:noFill/>
            <a:prstDash val="solid"/>
          </a:ln>
        </p:spPr>
        <p:txBody>
          <a:bodyPr wrap="square" lIns="0" tIns="0" rIns="0" bIns="0" anchor="ctr">
            <a:normAutofit/>
          </a:bodyPr>
          <a:lstStyle/>
          <a:p>
            <a:pPr algn="l">
              <a:buNone/>
              <a:defRPr sz="1125" b="1">
                <a:solidFill>
                  <a:srgbClr val="9A6200"/>
                </a:solidFill>
                <a:latin typeface="Arial"/>
                <a:ea typeface="Arial"/>
                <a:cs typeface="Arial"/>
              </a:defRPr>
            </a:pPr>
            <a:r>
              <a:rPr sz="1125" b="1">
                <a:solidFill>
                  <a:srgbClr val="9A6200"/>
                </a:solidFill>
                <a:latin typeface="Arial"/>
                <a:ea typeface="Arial"/>
                <a:cs typeface="Arial"/>
              </a:rPr>
              <a:t>LEVEL 3</a:t>
            </a:r>
          </a:p>
        </p:txBody>
      </p:sp>
      <p:sp>
        <p:nvSpPr>
          <p:cNvPr id="16" name="mitocarta-level-3-label">
            <a:extLst>
              <a:ext uri="{FF2B5EF4-FFF2-40B4-BE49-F238E27FC236}">
                <a16:creationId xmlns:a16="http://schemas.microsoft.com/office/drawing/2014/main" id="{140C0801-B7C3-4D31-A665-7222FAAD0F71}"/>
              </a:ext>
            </a:extLst>
          </p:cNvPr>
          <p:cNvSpPr>
            <a:spLocks noGrp="1"/>
          </p:cNvSpPr>
          <p:nvPr/>
        </p:nvSpPr>
        <p:spPr>
          <a:xfrm>
            <a:off x="2647950" y="4352925"/>
            <a:ext cx="319468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Detailed subpathway</a:t>
            </a:r>
          </a:p>
        </p:txBody>
      </p:sp>
      <p:sp>
        <p:nvSpPr>
          <p:cNvPr id="17" name="mitocarta-level-3-example">
            <a:extLst>
              <a:ext uri="{FF2B5EF4-FFF2-40B4-BE49-F238E27FC236}">
                <a16:creationId xmlns:a16="http://schemas.microsoft.com/office/drawing/2014/main" id="{A94DF118-F7D1-4507-9C22-4CD1DDAB2A0A}"/>
              </a:ext>
            </a:extLst>
          </p:cNvPr>
          <p:cNvSpPr>
            <a:spLocks noGrp="1"/>
          </p:cNvSpPr>
          <p:nvPr/>
        </p:nvSpPr>
        <p:spPr>
          <a:xfrm>
            <a:off x="5947410" y="4210050"/>
            <a:ext cx="200596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 subunits</a:t>
            </a:r>
          </a:p>
        </p:txBody>
      </p:sp>
      <p:sp>
        <p:nvSpPr>
          <p:cNvPr id="18" name="mitocarta-level-3-count">
            <a:extLst>
              <a:ext uri="{FF2B5EF4-FFF2-40B4-BE49-F238E27FC236}">
                <a16:creationId xmlns:a16="http://schemas.microsoft.com/office/drawing/2014/main" id="{BB15147C-0D72-4962-85BB-A1B83412BA89}"/>
              </a:ext>
            </a:extLst>
          </p:cNvPr>
          <p:cNvSpPr>
            <a:spLocks noGrp="1"/>
          </p:cNvSpPr>
          <p:nvPr/>
        </p:nvSpPr>
        <p:spPr>
          <a:xfrm>
            <a:off x="8096250" y="4143375"/>
            <a:ext cx="1428750" cy="457200"/>
          </a:xfrm>
          <a:prstGeom prst="rect">
            <a:avLst/>
          </a:prstGeom>
          <a:noFill/>
          <a:ln w="0">
            <a:noFill/>
            <a:prstDash val="solid"/>
          </a:ln>
        </p:spPr>
        <p:txBody>
          <a:bodyPr wrap="square" lIns="0" tIns="0" rIns="0" bIns="0" anchor="ctr">
            <a:normAutofit/>
          </a:bodyPr>
          <a:lstStyle/>
          <a:p>
            <a:pPr algn="r">
              <a:buNone/>
              <a:defRPr sz="1725" b="1">
                <a:solidFill>
                  <a:srgbClr val="9A6200"/>
                </a:solidFill>
                <a:latin typeface="Arial"/>
                <a:ea typeface="Arial"/>
                <a:cs typeface="Arial"/>
              </a:defRPr>
            </a:pPr>
            <a:r>
              <a:rPr sz="1725" b="1">
                <a:solidFill>
                  <a:srgbClr val="9A6200"/>
                </a:solidFill>
                <a:latin typeface="Arial"/>
                <a:ea typeface="Arial"/>
                <a:cs typeface="Arial"/>
              </a:rPr>
              <a:t>103 pathways</a:t>
            </a:r>
          </a:p>
        </p:txBody>
      </p:sp>
      <p:sp>
        <p:nvSpPr>
          <p:cNvPr id="19" name="mitocarta-hierarchy-summary">
            <a:extLst>
              <a:ext uri="{FF2B5EF4-FFF2-40B4-BE49-F238E27FC236}">
                <a16:creationId xmlns:a16="http://schemas.microsoft.com/office/drawing/2014/main" id="{C106CBB7-A914-4CAA-A2D6-1E8DECF94573}"/>
              </a:ext>
            </a:extLst>
          </p:cNvPr>
          <p:cNvSpPr>
            <a:spLocks noGrp="1"/>
          </p:cNvSpPr>
          <p:nvPr/>
        </p:nvSpPr>
        <p:spPr>
          <a:xfrm>
            <a:off x="1238250" y="5362575"/>
            <a:ext cx="9715500" cy="438150"/>
          </a:xfrm>
          <a:prstGeom prst="rect">
            <a:avLst/>
          </a:prstGeom>
          <a:noFill/>
          <a:ln w="0">
            <a:noFill/>
            <a:prstDash val="solid"/>
          </a:ln>
        </p:spPr>
        <p:txBody>
          <a:bodyPr wrap="square" lIns="0" tIns="0" rIns="0" bIns="0" anchor="ctr">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Levels 1 and 2 contain 46 pathways. Including Level 3 gives 149 pathways in total.</a:t>
            </a:r>
          </a:p>
        </p:txBody>
      </p:sp>
      <p:sp>
        <p:nvSpPr>
          <p:cNvPr id="20" name="mitocarta-hierarchy-note">
            <a:extLst>
              <a:ext uri="{FF2B5EF4-FFF2-40B4-BE49-F238E27FC236}">
                <a16:creationId xmlns:a16="http://schemas.microsoft.com/office/drawing/2014/main" id="{8732A8D5-E54F-4818-8258-7BB4F33E4664}"/>
              </a:ext>
            </a:extLst>
          </p:cNvPr>
          <p:cNvSpPr>
            <a:spLocks noGrp="1"/>
          </p:cNvSpPr>
          <p:nvPr/>
        </p:nvSpPr>
        <p:spPr>
          <a:xfrm>
            <a:off x="1714500" y="5915025"/>
            <a:ext cx="8763000" cy="304800"/>
          </a:xfrm>
          <a:prstGeom prst="rect">
            <a:avLst/>
          </a:prstGeom>
          <a:noFill/>
          <a:ln w="0">
            <a:noFill/>
            <a:prstDash val="solid"/>
          </a:ln>
        </p:spPr>
        <p:txBody>
          <a:bodyPr wrap="square" lIns="0" tIns="0" rIns="0" bIns="0" anchor="ctr">
            <a:normAutofit/>
          </a:bodyPr>
          <a:lstStyle/>
          <a:p>
            <a:pPr algn="ctr">
              <a:buNone/>
              <a:defRPr sz="1275" b="0">
                <a:solidFill>
                  <a:srgbClr val="4E5A68"/>
                </a:solidFill>
                <a:latin typeface="Arial"/>
                <a:ea typeface="Arial"/>
                <a:cs typeface="Arial"/>
              </a:defRPr>
            </a:pPr>
            <a:r>
              <a:rPr sz="1275" b="0">
                <a:solidFill>
                  <a:srgbClr val="4E5A68"/>
                </a:solidFill>
                <a:latin typeface="Arial"/>
                <a:ea typeface="Arial"/>
                <a:cs typeface="Arial"/>
              </a:rPr>
              <a:t>The same gene may belong to a broad pathway and one or more nested pathways.</a:t>
            </a:r>
          </a:p>
        </p:txBody>
      </p:sp>
    </p:spTree>
    <p:extLst>
      <p:ext uri="{BB962C8B-B14F-4D97-AF65-F5344CB8AC3E}">
        <p14:creationId xmlns:p14="http://schemas.microsoft.com/office/powerpoint/2010/main" val="2049692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ABE309-C9E3-48FF-A8F2-A0EF08A29372}"/>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contrast</a:t>
            </a:r>
          </a:p>
        </p:txBody>
      </p:sp>
      <p:sp>
        <p:nvSpPr>
          <p:cNvPr id="3" name="TextBox 2">
            <a:extLst>
              <a:ext uri="{FF2B5EF4-FFF2-40B4-BE49-F238E27FC236}">
                <a16:creationId xmlns:a16="http://schemas.microsoft.com/office/drawing/2014/main" id="{AFCB9572-86B4-40FF-8174-14DE2FC5F59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Fine cell type × sex × APOE defines the contrast; broad-cell aggregation happens after KDA calls.</a:t>
            </a:r>
          </a:p>
        </p:txBody>
      </p:sp>
      <p:sp>
        <p:nvSpPr>
          <p:cNvPr id="4" name="Rounded Rectangle 3">
            <a:extLst>
              <a:ext uri="{FF2B5EF4-FFF2-40B4-BE49-F238E27FC236}">
                <a16:creationId xmlns:a16="http://schemas.microsoft.com/office/drawing/2014/main" id="{783C0F05-8BCC-4C1E-99DB-9C95EA400582}"/>
              </a:ext>
            </a:extLst>
          </p:cNvPr>
          <p:cNvSpPr>
            <a:spLocks noGrp="1"/>
          </p:cNvSpPr>
          <p:nvPr/>
        </p:nvSpPr>
        <p:spPr>
          <a:xfrm>
            <a:off x="603504" y="1261872"/>
            <a:ext cx="2157984" cy="841248"/>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2042E1-1881-4A0D-A856-6BD035FB9B6E}"/>
              </a:ext>
            </a:extLst>
          </p:cNvPr>
          <p:cNvSpPr>
            <a:spLocks noGrp="1"/>
          </p:cNvSpPr>
          <p:nvPr/>
        </p:nvSpPr>
        <p:spPr>
          <a:xfrm>
            <a:off x="713232"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N</a:t>
            </a:r>
          </a:p>
        </p:txBody>
      </p:sp>
      <p:sp>
        <p:nvSpPr>
          <p:cNvPr id="6" name="TextBox 5">
            <a:extLst>
              <a:ext uri="{FF2B5EF4-FFF2-40B4-BE49-F238E27FC236}">
                <a16:creationId xmlns:a16="http://schemas.microsoft.com/office/drawing/2014/main" id="{4CA06EC8-5501-4A49-8CF5-CF9C879F44D2}"/>
              </a:ext>
            </a:extLst>
          </p:cNvPr>
          <p:cNvSpPr>
            <a:spLocks noGrp="1"/>
          </p:cNvSpPr>
          <p:nvPr/>
        </p:nvSpPr>
        <p:spPr>
          <a:xfrm>
            <a:off x="1463040"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fine cell types</a:t>
            </a:r>
          </a:p>
        </p:txBody>
      </p:sp>
      <p:sp>
        <p:nvSpPr>
          <p:cNvPr id="7" name="TextBox 6">
            <a:extLst>
              <a:ext uri="{FF2B5EF4-FFF2-40B4-BE49-F238E27FC236}">
                <a16:creationId xmlns:a16="http://schemas.microsoft.com/office/drawing/2014/main" id="{C2A22B25-B9D1-4F1E-B499-772695760BDA}"/>
              </a:ext>
            </a:extLst>
          </p:cNvPr>
          <p:cNvSpPr>
            <a:spLocks noGrp="1"/>
          </p:cNvSpPr>
          <p:nvPr/>
        </p:nvSpPr>
        <p:spPr>
          <a:xfrm>
            <a:off x="2852928"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8" name="Rounded Rectangle 7">
            <a:extLst>
              <a:ext uri="{FF2B5EF4-FFF2-40B4-BE49-F238E27FC236}">
                <a16:creationId xmlns:a16="http://schemas.microsoft.com/office/drawing/2014/main" id="{D2148A89-00B9-4DD8-B7DF-A655AEBC4A4E}"/>
              </a:ext>
            </a:extLst>
          </p:cNvPr>
          <p:cNvSpPr>
            <a:spLocks noGrp="1"/>
          </p:cNvSpPr>
          <p:nvPr/>
        </p:nvSpPr>
        <p:spPr>
          <a:xfrm>
            <a:off x="3310128" y="1261872"/>
            <a:ext cx="1975104" cy="84124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2D9BD53-74AD-440A-877E-734044EEC58A}"/>
              </a:ext>
            </a:extLst>
          </p:cNvPr>
          <p:cNvSpPr>
            <a:spLocks noGrp="1"/>
          </p:cNvSpPr>
          <p:nvPr/>
        </p:nvSpPr>
        <p:spPr>
          <a:xfrm>
            <a:off x="3419856"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2</a:t>
            </a:r>
          </a:p>
        </p:txBody>
      </p:sp>
      <p:sp>
        <p:nvSpPr>
          <p:cNvPr id="10" name="TextBox 9">
            <a:extLst>
              <a:ext uri="{FF2B5EF4-FFF2-40B4-BE49-F238E27FC236}">
                <a16:creationId xmlns:a16="http://schemas.microsoft.com/office/drawing/2014/main" id="{A8D6D415-6CCA-4784-A9AD-1A28B381EBFB}"/>
              </a:ext>
            </a:extLst>
          </p:cNvPr>
          <p:cNvSpPr>
            <a:spLocks noGrp="1"/>
          </p:cNvSpPr>
          <p:nvPr/>
        </p:nvSpPr>
        <p:spPr>
          <a:xfrm>
            <a:off x="4169664" y="1463040"/>
            <a:ext cx="1005840"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sexes</a:t>
            </a:r>
          </a:p>
        </p:txBody>
      </p:sp>
      <p:sp>
        <p:nvSpPr>
          <p:cNvPr id="11" name="TextBox 10">
            <a:extLst>
              <a:ext uri="{FF2B5EF4-FFF2-40B4-BE49-F238E27FC236}">
                <a16:creationId xmlns:a16="http://schemas.microsoft.com/office/drawing/2014/main" id="{82807640-81E0-4A92-92A6-EBB7277467DE}"/>
              </a:ext>
            </a:extLst>
          </p:cNvPr>
          <p:cNvSpPr>
            <a:spLocks noGrp="1"/>
          </p:cNvSpPr>
          <p:nvPr/>
        </p:nvSpPr>
        <p:spPr>
          <a:xfrm>
            <a:off x="5376672"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2" name="Rounded Rectangle 11">
            <a:extLst>
              <a:ext uri="{FF2B5EF4-FFF2-40B4-BE49-F238E27FC236}">
                <a16:creationId xmlns:a16="http://schemas.microsoft.com/office/drawing/2014/main" id="{5C1612BB-C0AB-4676-B620-7CFBF03B12A0}"/>
              </a:ext>
            </a:extLst>
          </p:cNvPr>
          <p:cNvSpPr>
            <a:spLocks noGrp="1"/>
          </p:cNvSpPr>
          <p:nvPr/>
        </p:nvSpPr>
        <p:spPr>
          <a:xfrm>
            <a:off x="5833872" y="1261872"/>
            <a:ext cx="2157984" cy="841248"/>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92F8939-D400-412A-94EF-7BC0FF1FB9B1}"/>
              </a:ext>
            </a:extLst>
          </p:cNvPr>
          <p:cNvSpPr>
            <a:spLocks noGrp="1"/>
          </p:cNvSpPr>
          <p:nvPr/>
        </p:nvSpPr>
        <p:spPr>
          <a:xfrm>
            <a:off x="5943600"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CD39BEE1-7B75-4AC0-B404-2BC9A78F8411}"/>
              </a:ext>
            </a:extLst>
          </p:cNvPr>
          <p:cNvSpPr>
            <a:spLocks noGrp="1"/>
          </p:cNvSpPr>
          <p:nvPr/>
        </p:nvSpPr>
        <p:spPr>
          <a:xfrm>
            <a:off x="6693408"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APOE groups</a:t>
            </a:r>
          </a:p>
        </p:txBody>
      </p:sp>
      <p:sp>
        <p:nvSpPr>
          <p:cNvPr id="15" name="TextBox 14">
            <a:extLst>
              <a:ext uri="{FF2B5EF4-FFF2-40B4-BE49-F238E27FC236}">
                <a16:creationId xmlns:a16="http://schemas.microsoft.com/office/drawing/2014/main" id="{0F149D61-E0B1-43EA-9C60-5C83750A956E}"/>
              </a:ext>
            </a:extLst>
          </p:cNvPr>
          <p:cNvSpPr>
            <a:spLocks noGrp="1"/>
          </p:cNvSpPr>
          <p:nvPr/>
        </p:nvSpPr>
        <p:spPr>
          <a:xfrm>
            <a:off x="8083296"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6" name="Rounded Rectangle 15">
            <a:extLst>
              <a:ext uri="{FF2B5EF4-FFF2-40B4-BE49-F238E27FC236}">
                <a16:creationId xmlns:a16="http://schemas.microsoft.com/office/drawing/2014/main" id="{295304B1-6E48-4817-80DA-93860307ABB8}"/>
              </a:ext>
            </a:extLst>
          </p:cNvPr>
          <p:cNvSpPr>
            <a:spLocks noGrp="1"/>
          </p:cNvSpPr>
          <p:nvPr/>
        </p:nvSpPr>
        <p:spPr>
          <a:xfrm>
            <a:off x="8540496" y="1261872"/>
            <a:ext cx="3044952" cy="841248"/>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01C2CFF-53CF-4D76-A412-6C11E2CA0186}"/>
              </a:ext>
            </a:extLst>
          </p:cNvPr>
          <p:cNvSpPr>
            <a:spLocks noGrp="1"/>
          </p:cNvSpPr>
          <p:nvPr/>
        </p:nvSpPr>
        <p:spPr>
          <a:xfrm>
            <a:off x="8650224"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9E3A00"/>
                </a:solidFill>
                <a:latin typeface="Arial"/>
                <a:ea typeface="Arial"/>
                <a:cs typeface="Arial"/>
              </a:rPr>
              <a:t>6N</a:t>
            </a:r>
          </a:p>
        </p:txBody>
      </p:sp>
      <p:sp>
        <p:nvSpPr>
          <p:cNvPr id="18" name="TextBox 17">
            <a:extLst>
              <a:ext uri="{FF2B5EF4-FFF2-40B4-BE49-F238E27FC236}">
                <a16:creationId xmlns:a16="http://schemas.microsoft.com/office/drawing/2014/main" id="{A7BD88E4-29E5-4E20-9001-225028ABFB98}"/>
              </a:ext>
            </a:extLst>
          </p:cNvPr>
          <p:cNvSpPr>
            <a:spLocks noGrp="1"/>
          </p:cNvSpPr>
          <p:nvPr/>
        </p:nvSpPr>
        <p:spPr>
          <a:xfrm>
            <a:off x="9400032" y="1463040"/>
            <a:ext cx="2075688"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planned contrasts</a:t>
            </a:r>
          </a:p>
        </p:txBody>
      </p:sp>
      <p:sp>
        <p:nvSpPr>
          <p:cNvPr id="19" name="TextBox 18">
            <a:extLst>
              <a:ext uri="{FF2B5EF4-FFF2-40B4-BE49-F238E27FC236}">
                <a16:creationId xmlns:a16="http://schemas.microsoft.com/office/drawing/2014/main" id="{C9776B47-05AA-4A96-8279-73A57EE15FFF}"/>
              </a:ext>
            </a:extLst>
          </p:cNvPr>
          <p:cNvSpPr>
            <a:spLocks noGrp="1"/>
          </p:cNvSpPr>
          <p:nvPr/>
        </p:nvSpPr>
        <p:spPr>
          <a:xfrm>
            <a:off x="621792" y="2212848"/>
            <a:ext cx="10954512" cy="3323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b="1" i="0">
                <a:solidFill>
                  <a:srgbClr val="7E4C9A"/>
                </a:solidFill>
                <a:latin typeface="Arial"/>
                <a:ea typeface="Arial"/>
                <a:cs typeface="Arial"/>
              </a:rPr>
              <a:t>ROSMAP example: 54 fine cell types × 2 sexes × 3 APOE groups = 324 planned contrasts</a:t>
            </a:r>
          </a:p>
        </p:txBody>
      </p:sp>
      <p:sp>
        <p:nvSpPr>
          <p:cNvPr id="20" name="Rounded Rectangle 19">
            <a:extLst>
              <a:ext uri="{FF2B5EF4-FFF2-40B4-BE49-F238E27FC236}">
                <a16:creationId xmlns:a16="http://schemas.microsoft.com/office/drawing/2014/main" id="{EADAEADC-96D3-4FD9-84AB-CD1B9DCD3675}"/>
              </a:ext>
            </a:extLst>
          </p:cNvPr>
          <p:cNvSpPr>
            <a:spLocks noGrp="1"/>
          </p:cNvSpPr>
          <p:nvPr/>
        </p:nvSpPr>
        <p:spPr>
          <a:xfrm>
            <a:off x="603504" y="2703142"/>
            <a:ext cx="5422392" cy="32186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48DB1D99-3E39-4EE8-81B1-E579A7B0AB7D}"/>
              </a:ext>
            </a:extLst>
          </p:cNvPr>
          <p:cNvSpPr>
            <a:spLocks noGrp="1"/>
          </p:cNvSpPr>
          <p:nvPr/>
        </p:nvSpPr>
        <p:spPr>
          <a:xfrm>
            <a:off x="877824" y="298660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558DA8C8-935B-45B6-B3E0-C2E00D6AF0EF}"/>
              </a:ext>
            </a:extLst>
          </p:cNvPr>
          <p:cNvSpPr>
            <a:spLocks noGrp="1"/>
          </p:cNvSpPr>
          <p:nvPr/>
        </p:nvSpPr>
        <p:spPr>
          <a:xfrm>
            <a:off x="1024126" y="2959174"/>
            <a:ext cx="4855465"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contrast → run DEG → Make KDA calls (at most one)</a:t>
            </a:r>
          </a:p>
        </p:txBody>
      </p:sp>
      <p:sp>
        <p:nvSpPr>
          <p:cNvPr id="23" name="Rounded Rectangle 22">
            <a:extLst>
              <a:ext uri="{FF2B5EF4-FFF2-40B4-BE49-F238E27FC236}">
                <a16:creationId xmlns:a16="http://schemas.microsoft.com/office/drawing/2014/main" id="{C4B88BEE-3638-4BD9-9B63-6CC149E79E1B}"/>
              </a:ext>
            </a:extLst>
          </p:cNvPr>
          <p:cNvSpPr>
            <a:spLocks noGrp="1"/>
          </p:cNvSpPr>
          <p:nvPr/>
        </p:nvSpPr>
        <p:spPr>
          <a:xfrm>
            <a:off x="896112" y="343466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C3149286-B7B6-4FDD-B244-1D2656E7D904}"/>
              </a:ext>
            </a:extLst>
          </p:cNvPr>
          <p:cNvSpPr>
            <a:spLocks noGrp="1"/>
          </p:cNvSpPr>
          <p:nvPr/>
        </p:nvSpPr>
        <p:spPr>
          <a:xfrm>
            <a:off x="932688" y="350781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1</a:t>
            </a:r>
          </a:p>
        </p:txBody>
      </p:sp>
      <p:sp>
        <p:nvSpPr>
          <p:cNvPr id="25" name="TextBox 24">
            <a:extLst>
              <a:ext uri="{FF2B5EF4-FFF2-40B4-BE49-F238E27FC236}">
                <a16:creationId xmlns:a16="http://schemas.microsoft.com/office/drawing/2014/main" id="{D0B71D92-1D0F-424C-A9F0-0E2D9A5DB977}"/>
              </a:ext>
            </a:extLst>
          </p:cNvPr>
          <p:cNvSpPr>
            <a:spLocks noGrp="1"/>
          </p:cNvSpPr>
          <p:nvPr/>
        </p:nvSpPr>
        <p:spPr>
          <a:xfrm>
            <a:off x="1426464" y="342551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Define one AD-versus-NCI comparison</a:t>
            </a:r>
          </a:p>
        </p:txBody>
      </p:sp>
      <p:sp>
        <p:nvSpPr>
          <p:cNvPr id="26" name="TextBox 25">
            <a:extLst>
              <a:ext uri="{FF2B5EF4-FFF2-40B4-BE49-F238E27FC236}">
                <a16:creationId xmlns:a16="http://schemas.microsoft.com/office/drawing/2014/main" id="{8C70D56D-0CCD-495E-8997-2A5B133C8488}"/>
              </a:ext>
            </a:extLst>
          </p:cNvPr>
          <p:cNvSpPr>
            <a:spLocks noGrp="1"/>
          </p:cNvSpPr>
          <p:nvPr/>
        </p:nvSpPr>
        <p:spPr>
          <a:xfrm>
            <a:off x="1426464" y="369069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Example: Ast GRM3 × Female ε2 carrier.</a:t>
            </a:r>
          </a:p>
        </p:txBody>
      </p:sp>
      <p:sp>
        <p:nvSpPr>
          <p:cNvPr id="27" name="Rounded Rectangle 26">
            <a:extLst>
              <a:ext uri="{FF2B5EF4-FFF2-40B4-BE49-F238E27FC236}">
                <a16:creationId xmlns:a16="http://schemas.microsoft.com/office/drawing/2014/main" id="{A80F91B4-3516-4DD6-BA0D-268F93A810E7}"/>
              </a:ext>
            </a:extLst>
          </p:cNvPr>
          <p:cNvSpPr>
            <a:spLocks noGrp="1"/>
          </p:cNvSpPr>
          <p:nvPr/>
        </p:nvSpPr>
        <p:spPr>
          <a:xfrm>
            <a:off x="896112" y="416618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EF04FE43-13D6-484A-B039-B372042A2829}"/>
              </a:ext>
            </a:extLst>
          </p:cNvPr>
          <p:cNvSpPr>
            <a:spLocks noGrp="1"/>
          </p:cNvSpPr>
          <p:nvPr/>
        </p:nvSpPr>
        <p:spPr>
          <a:xfrm>
            <a:off x="932688" y="423933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2</a:t>
            </a:r>
          </a:p>
        </p:txBody>
      </p:sp>
      <p:sp>
        <p:nvSpPr>
          <p:cNvPr id="29" name="TextBox 28">
            <a:extLst>
              <a:ext uri="{FF2B5EF4-FFF2-40B4-BE49-F238E27FC236}">
                <a16:creationId xmlns:a16="http://schemas.microsoft.com/office/drawing/2014/main" id="{5736C7D4-2035-4552-92AF-07B779DE35AF}"/>
              </a:ext>
            </a:extLst>
          </p:cNvPr>
          <p:cNvSpPr>
            <a:spLocks noGrp="1"/>
          </p:cNvSpPr>
          <p:nvPr/>
        </p:nvSpPr>
        <p:spPr>
          <a:xfrm>
            <a:off x="1426464" y="415703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Remove invalid contrasts</a:t>
            </a:r>
          </a:p>
        </p:txBody>
      </p:sp>
      <p:sp>
        <p:nvSpPr>
          <p:cNvPr id="30" name="TextBox 29">
            <a:extLst>
              <a:ext uri="{FF2B5EF4-FFF2-40B4-BE49-F238E27FC236}">
                <a16:creationId xmlns:a16="http://schemas.microsoft.com/office/drawing/2014/main" id="{6171DA4D-EC31-46B8-8933-8FDBEF20E69D}"/>
              </a:ext>
            </a:extLst>
          </p:cNvPr>
          <p:cNvSpPr>
            <a:spLocks noGrp="1"/>
          </p:cNvSpPr>
          <p:nvPr/>
        </p:nvSpPr>
        <p:spPr>
          <a:xfrm>
            <a:off x="1426464" y="442221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Remove source-invalid contrasts; among valid contrasts, only mapped MitoCarta MT queries with ≥3 genes proceed.</a:t>
            </a:r>
          </a:p>
        </p:txBody>
      </p:sp>
      <p:sp>
        <p:nvSpPr>
          <p:cNvPr id="31" name="Rounded Rectangle 30">
            <a:extLst>
              <a:ext uri="{FF2B5EF4-FFF2-40B4-BE49-F238E27FC236}">
                <a16:creationId xmlns:a16="http://schemas.microsoft.com/office/drawing/2014/main" id="{E2E97212-C405-4666-A760-5F666393EB7A}"/>
              </a:ext>
            </a:extLst>
          </p:cNvPr>
          <p:cNvSpPr>
            <a:spLocks noGrp="1"/>
          </p:cNvSpPr>
          <p:nvPr/>
        </p:nvSpPr>
        <p:spPr>
          <a:xfrm>
            <a:off x="896112" y="489770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5B0274D2-88AD-45E6-978C-FAF32FE11228}"/>
              </a:ext>
            </a:extLst>
          </p:cNvPr>
          <p:cNvSpPr>
            <a:spLocks noGrp="1"/>
          </p:cNvSpPr>
          <p:nvPr/>
        </p:nvSpPr>
        <p:spPr>
          <a:xfrm>
            <a:off x="932688" y="497085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3</a:t>
            </a:r>
          </a:p>
        </p:txBody>
      </p:sp>
      <p:sp>
        <p:nvSpPr>
          <p:cNvPr id="33" name="TextBox 32">
            <a:extLst>
              <a:ext uri="{FF2B5EF4-FFF2-40B4-BE49-F238E27FC236}">
                <a16:creationId xmlns:a16="http://schemas.microsoft.com/office/drawing/2014/main" id="{B07195D3-0AF3-4C79-B939-C94D6B45091D}"/>
              </a:ext>
            </a:extLst>
          </p:cNvPr>
          <p:cNvSpPr>
            <a:spLocks noGrp="1"/>
          </p:cNvSpPr>
          <p:nvPr/>
        </p:nvSpPr>
        <p:spPr>
          <a:xfrm>
            <a:off x="1426464" y="488855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Make KDA calls</a:t>
            </a:r>
          </a:p>
        </p:txBody>
      </p:sp>
      <p:sp>
        <p:nvSpPr>
          <p:cNvPr id="34" name="TextBox 33">
            <a:extLst>
              <a:ext uri="{FF2B5EF4-FFF2-40B4-BE49-F238E27FC236}">
                <a16:creationId xmlns:a16="http://schemas.microsoft.com/office/drawing/2014/main" id="{85E39F14-A8C0-4769-87B1-B058A6B2CA46}"/>
              </a:ext>
            </a:extLst>
          </p:cNvPr>
          <p:cNvSpPr>
            <a:spLocks noGrp="1"/>
          </p:cNvSpPr>
          <p:nvPr/>
        </p:nvSpPr>
        <p:spPr>
          <a:xfrm>
            <a:off x="1426464" y="515373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Output: genes returned from the KDA call for that contrast.</a:t>
            </a:r>
          </a:p>
        </p:txBody>
      </p:sp>
      <p:sp>
        <p:nvSpPr>
          <p:cNvPr id="35" name="Rounded Rectangle 34">
            <a:extLst>
              <a:ext uri="{FF2B5EF4-FFF2-40B4-BE49-F238E27FC236}">
                <a16:creationId xmlns:a16="http://schemas.microsoft.com/office/drawing/2014/main" id="{FD51EC53-17DF-4D40-80D7-2125471ACD26}"/>
              </a:ext>
            </a:extLst>
          </p:cNvPr>
          <p:cNvSpPr>
            <a:spLocks noGrp="1"/>
          </p:cNvSpPr>
          <p:nvPr/>
        </p:nvSpPr>
        <p:spPr>
          <a:xfrm>
            <a:off x="896112" y="5537782"/>
            <a:ext cx="4828032" cy="25603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74DE4D49-467D-4B7D-9F80-30601359881A}"/>
              </a:ext>
            </a:extLst>
          </p:cNvPr>
          <p:cNvSpPr>
            <a:spLocks noGrp="1"/>
          </p:cNvSpPr>
          <p:nvPr/>
        </p:nvSpPr>
        <p:spPr>
          <a:xfrm>
            <a:off x="1005840" y="5592646"/>
            <a:ext cx="4608576" cy="14630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40" b="1" i="0">
                <a:solidFill>
                  <a:srgbClr val="0F233D"/>
                </a:solidFill>
                <a:latin typeface="Arial"/>
                <a:ea typeface="Arial"/>
                <a:cs typeface="Arial"/>
              </a:rPr>
              <a:t>Each gene can appear at most once in one contrast's returned list.</a:t>
            </a:r>
          </a:p>
        </p:txBody>
      </p:sp>
      <p:sp>
        <p:nvSpPr>
          <p:cNvPr id="37" name="Rounded Rectangle 36">
            <a:extLst>
              <a:ext uri="{FF2B5EF4-FFF2-40B4-BE49-F238E27FC236}">
                <a16:creationId xmlns:a16="http://schemas.microsoft.com/office/drawing/2014/main" id="{7D7384FB-D376-4FA3-8A4E-91DC64A3556D}"/>
              </a:ext>
            </a:extLst>
          </p:cNvPr>
          <p:cNvSpPr>
            <a:spLocks noGrp="1"/>
          </p:cNvSpPr>
          <p:nvPr/>
        </p:nvSpPr>
        <p:spPr>
          <a:xfrm>
            <a:off x="6172200" y="2703142"/>
            <a:ext cx="5413248" cy="321868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Rectangle 37">
            <a:extLst>
              <a:ext uri="{FF2B5EF4-FFF2-40B4-BE49-F238E27FC236}">
                <a16:creationId xmlns:a16="http://schemas.microsoft.com/office/drawing/2014/main" id="{D3C55418-6D23-4352-AAEC-A0063E0B35DA}"/>
              </a:ext>
            </a:extLst>
          </p:cNvPr>
          <p:cNvSpPr>
            <a:spLocks noGrp="1"/>
          </p:cNvSpPr>
          <p:nvPr/>
        </p:nvSpPr>
        <p:spPr>
          <a:xfrm>
            <a:off x="6446520" y="2986606"/>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12F5AD5-3BB0-487B-A4D6-9676B5C188F7}"/>
              </a:ext>
            </a:extLst>
          </p:cNvPr>
          <p:cNvSpPr>
            <a:spLocks noGrp="1"/>
          </p:cNvSpPr>
          <p:nvPr/>
        </p:nvSpPr>
        <p:spPr>
          <a:xfrm>
            <a:off x="6592824" y="2959174"/>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Multiple fine-cell contrasts → one category</a:t>
            </a:r>
          </a:p>
        </p:txBody>
      </p:sp>
      <p:sp>
        <p:nvSpPr>
          <p:cNvPr id="40" name="Rounded Rectangle 39">
            <a:extLst>
              <a:ext uri="{FF2B5EF4-FFF2-40B4-BE49-F238E27FC236}">
                <a16:creationId xmlns:a16="http://schemas.microsoft.com/office/drawing/2014/main" id="{C833B54A-2A24-40FC-A71E-FBA7A97EE97B}"/>
              </a:ext>
            </a:extLst>
          </p:cNvPr>
          <p:cNvSpPr>
            <a:spLocks noGrp="1"/>
          </p:cNvSpPr>
          <p:nvPr/>
        </p:nvSpPr>
        <p:spPr>
          <a:xfrm>
            <a:off x="6455664" y="3471238"/>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248288B-D890-462D-85C6-E307A88B9A36}"/>
              </a:ext>
            </a:extLst>
          </p:cNvPr>
          <p:cNvSpPr>
            <a:spLocks noGrp="1"/>
          </p:cNvSpPr>
          <p:nvPr/>
        </p:nvSpPr>
        <p:spPr>
          <a:xfrm>
            <a:off x="6547104" y="3553534"/>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A</a:t>
            </a:r>
          </a:p>
        </p:txBody>
      </p:sp>
      <p:sp>
        <p:nvSpPr>
          <p:cNvPr id="42" name="TextBox 41">
            <a:extLst>
              <a:ext uri="{FF2B5EF4-FFF2-40B4-BE49-F238E27FC236}">
                <a16:creationId xmlns:a16="http://schemas.microsoft.com/office/drawing/2014/main" id="{4AFBD91A-E125-4874-80EF-554CA4E0D1D5}"/>
              </a:ext>
            </a:extLst>
          </p:cNvPr>
          <p:cNvSpPr>
            <a:spLocks noGrp="1"/>
          </p:cNvSpPr>
          <p:nvPr/>
        </p:nvSpPr>
        <p:spPr>
          <a:xfrm>
            <a:off x="7772400" y="3544390"/>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P₁</a:t>
            </a:r>
          </a:p>
        </p:txBody>
      </p:sp>
      <p:sp>
        <p:nvSpPr>
          <p:cNvPr id="43" name="Rounded Rectangle 42">
            <a:extLst>
              <a:ext uri="{FF2B5EF4-FFF2-40B4-BE49-F238E27FC236}">
                <a16:creationId xmlns:a16="http://schemas.microsoft.com/office/drawing/2014/main" id="{2F568DBE-0F43-4C16-85EC-85624CD1870F}"/>
              </a:ext>
            </a:extLst>
          </p:cNvPr>
          <p:cNvSpPr>
            <a:spLocks noGrp="1"/>
          </p:cNvSpPr>
          <p:nvPr/>
        </p:nvSpPr>
        <p:spPr>
          <a:xfrm>
            <a:off x="6455664" y="3946726"/>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036E5509-D6EA-42C3-8C6F-FB5DEF3D7801}"/>
              </a:ext>
            </a:extLst>
          </p:cNvPr>
          <p:cNvSpPr>
            <a:spLocks noGrp="1"/>
          </p:cNvSpPr>
          <p:nvPr/>
        </p:nvSpPr>
        <p:spPr>
          <a:xfrm>
            <a:off x="6547104" y="4029022"/>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B</a:t>
            </a:r>
          </a:p>
        </p:txBody>
      </p:sp>
      <p:sp>
        <p:nvSpPr>
          <p:cNvPr id="45" name="TextBox 44">
            <a:extLst>
              <a:ext uri="{FF2B5EF4-FFF2-40B4-BE49-F238E27FC236}">
                <a16:creationId xmlns:a16="http://schemas.microsoft.com/office/drawing/2014/main" id="{54AF386C-455F-4CEC-B1B5-26D702D3A9A1}"/>
              </a:ext>
            </a:extLst>
          </p:cNvPr>
          <p:cNvSpPr>
            <a:spLocks noGrp="1"/>
          </p:cNvSpPr>
          <p:nvPr/>
        </p:nvSpPr>
        <p:spPr>
          <a:xfrm>
            <a:off x="7772400" y="4019878"/>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P₂</a:t>
            </a:r>
          </a:p>
        </p:txBody>
      </p:sp>
      <p:sp>
        <p:nvSpPr>
          <p:cNvPr id="46" name="Rounded Rectangle 45">
            <a:extLst>
              <a:ext uri="{FF2B5EF4-FFF2-40B4-BE49-F238E27FC236}">
                <a16:creationId xmlns:a16="http://schemas.microsoft.com/office/drawing/2014/main" id="{18B1D105-F4F5-499B-8D9D-146C85FFB287}"/>
              </a:ext>
            </a:extLst>
          </p:cNvPr>
          <p:cNvSpPr>
            <a:spLocks noGrp="1"/>
          </p:cNvSpPr>
          <p:nvPr/>
        </p:nvSpPr>
        <p:spPr>
          <a:xfrm>
            <a:off x="6455664" y="4422214"/>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77E25C2-27B9-44D5-A4AF-032AFFB475AF}"/>
              </a:ext>
            </a:extLst>
          </p:cNvPr>
          <p:cNvSpPr>
            <a:spLocks noGrp="1"/>
          </p:cNvSpPr>
          <p:nvPr/>
        </p:nvSpPr>
        <p:spPr>
          <a:xfrm>
            <a:off x="6547104" y="4504510"/>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C</a:t>
            </a:r>
          </a:p>
        </p:txBody>
      </p:sp>
      <p:sp>
        <p:nvSpPr>
          <p:cNvPr id="48" name="TextBox 47">
            <a:extLst>
              <a:ext uri="{FF2B5EF4-FFF2-40B4-BE49-F238E27FC236}">
                <a16:creationId xmlns:a16="http://schemas.microsoft.com/office/drawing/2014/main" id="{AC14697B-BAA4-4EB2-9A1F-CA4001B9F977}"/>
              </a:ext>
            </a:extLst>
          </p:cNvPr>
          <p:cNvSpPr>
            <a:spLocks noGrp="1"/>
          </p:cNvSpPr>
          <p:nvPr/>
        </p:nvSpPr>
        <p:spPr>
          <a:xfrm>
            <a:off x="7772400" y="4495366"/>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not returned</a:t>
            </a:r>
          </a:p>
        </p:txBody>
      </p:sp>
      <p:sp>
        <p:nvSpPr>
          <p:cNvPr id="49" name="TextBox 48">
            <a:extLst>
              <a:ext uri="{FF2B5EF4-FFF2-40B4-BE49-F238E27FC236}">
                <a16:creationId xmlns:a16="http://schemas.microsoft.com/office/drawing/2014/main" id="{81D51346-4628-40F8-98C3-7606F98BEA29}"/>
              </a:ext>
            </a:extLst>
          </p:cNvPr>
          <p:cNvSpPr>
            <a:spLocks noGrp="1"/>
          </p:cNvSpPr>
          <p:nvPr/>
        </p:nvSpPr>
        <p:spPr>
          <a:xfrm>
            <a:off x="8558784" y="4842838"/>
            <a:ext cx="64008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895600"/>
                </a:solidFill>
                <a:latin typeface="Arial"/>
                <a:ea typeface="Arial"/>
                <a:cs typeface="Arial"/>
              </a:rPr>
              <a:t>↓</a:t>
            </a:r>
          </a:p>
        </p:txBody>
      </p:sp>
      <p:sp>
        <p:nvSpPr>
          <p:cNvPr id="50" name="Rounded Rectangle 49">
            <a:extLst>
              <a:ext uri="{FF2B5EF4-FFF2-40B4-BE49-F238E27FC236}">
                <a16:creationId xmlns:a16="http://schemas.microsoft.com/office/drawing/2014/main" id="{CF1142D9-79EE-4554-A4E0-4F56775D72D0}"/>
              </a:ext>
            </a:extLst>
          </p:cNvPr>
          <p:cNvSpPr>
            <a:spLocks noGrp="1"/>
          </p:cNvSpPr>
          <p:nvPr/>
        </p:nvSpPr>
        <p:spPr>
          <a:xfrm>
            <a:off x="6473952" y="5179861"/>
            <a:ext cx="4809744" cy="530352"/>
          </a:xfrm>
          <a:prstGeom prst="roundRect">
            <a:avLst/>
          </a:prstGeom>
          <a:solidFill>
            <a:srgbClr val="FFFFFF"/>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C42809C4-8FDF-4405-A450-1394492DD9DB}"/>
              </a:ext>
            </a:extLst>
          </p:cNvPr>
          <p:cNvSpPr>
            <a:spLocks noGrp="1"/>
          </p:cNvSpPr>
          <p:nvPr/>
        </p:nvSpPr>
        <p:spPr>
          <a:xfrm>
            <a:off x="6656832" y="5326165"/>
            <a:ext cx="444398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Female ε2 × Astrocytes:  Gene X score = ACAT(P₁, P₂)</a:t>
            </a:r>
          </a:p>
        </p:txBody>
      </p:sp>
    </p:spTree>
    <p:extLst>
      <p:ext uri="{BB962C8B-B14F-4D97-AF65-F5344CB8AC3E}">
        <p14:creationId xmlns:p14="http://schemas.microsoft.com/office/powerpoint/2010/main" val="26891022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B453143-B114-4286-963B-B60E1F13106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category</a:t>
            </a:r>
          </a:p>
        </p:txBody>
      </p:sp>
      <p:sp>
        <p:nvSpPr>
          <p:cNvPr id="3" name="TextBox 2">
            <a:extLst>
              <a:ext uri="{FF2B5EF4-FFF2-40B4-BE49-F238E27FC236}">
                <a16:creationId xmlns:a16="http://schemas.microsoft.com/office/drawing/2014/main" id="{00B92CF1-041B-48A9-9F2B-1D4B3D840791}"/>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category selects one sex, one APOE group, and one broad cell type.</a:t>
            </a:r>
          </a:p>
        </p:txBody>
      </p:sp>
      <p:sp>
        <p:nvSpPr>
          <p:cNvPr id="4" name="Rounded Rectangle 3">
            <a:extLst>
              <a:ext uri="{FF2B5EF4-FFF2-40B4-BE49-F238E27FC236}">
                <a16:creationId xmlns:a16="http://schemas.microsoft.com/office/drawing/2014/main" id="{8F8DFE99-15B0-4AD0-B8BD-DD4144C10CB2}"/>
              </a:ext>
            </a:extLst>
          </p:cNvPr>
          <p:cNvSpPr>
            <a:spLocks noGrp="1"/>
          </p:cNvSpPr>
          <p:nvPr/>
        </p:nvSpPr>
        <p:spPr>
          <a:xfrm>
            <a:off x="603504" y="1134548"/>
            <a:ext cx="2029968" cy="1042415"/>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96CC436-7D92-4989-8C7D-6F150120999E}"/>
              </a:ext>
            </a:extLst>
          </p:cNvPr>
          <p:cNvSpPr>
            <a:spLocks noGrp="1"/>
          </p:cNvSpPr>
          <p:nvPr/>
        </p:nvSpPr>
        <p:spPr>
          <a:xfrm>
            <a:off x="768096"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8A82ECB7-407D-40A6-A935-1A410D12F99E}"/>
              </a:ext>
            </a:extLst>
          </p:cNvPr>
          <p:cNvSpPr>
            <a:spLocks noGrp="1"/>
          </p:cNvSpPr>
          <p:nvPr/>
        </p:nvSpPr>
        <p:spPr>
          <a:xfrm>
            <a:off x="1408176" y="1308284"/>
            <a:ext cx="1069848"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SEXES</a:t>
            </a:r>
          </a:p>
        </p:txBody>
      </p:sp>
      <p:sp>
        <p:nvSpPr>
          <p:cNvPr id="7" name="TextBox 6">
            <a:extLst>
              <a:ext uri="{FF2B5EF4-FFF2-40B4-BE49-F238E27FC236}">
                <a16:creationId xmlns:a16="http://schemas.microsoft.com/office/drawing/2014/main" id="{A2B1E95F-AD75-4D02-A1AB-E953465AEF70}"/>
              </a:ext>
            </a:extLst>
          </p:cNvPr>
          <p:cNvSpPr>
            <a:spLocks noGrp="1"/>
          </p:cNvSpPr>
          <p:nvPr/>
        </p:nvSpPr>
        <p:spPr>
          <a:xfrm>
            <a:off x="1408176" y="1628324"/>
            <a:ext cx="1069848"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Female • Male</a:t>
            </a:r>
          </a:p>
        </p:txBody>
      </p:sp>
      <p:sp>
        <p:nvSpPr>
          <p:cNvPr id="8" name="TextBox 7">
            <a:extLst>
              <a:ext uri="{FF2B5EF4-FFF2-40B4-BE49-F238E27FC236}">
                <a16:creationId xmlns:a16="http://schemas.microsoft.com/office/drawing/2014/main" id="{1431877B-7942-4330-AA1D-D8F2E271D1A8}"/>
              </a:ext>
            </a:extLst>
          </p:cNvPr>
          <p:cNvSpPr>
            <a:spLocks noGrp="1"/>
          </p:cNvSpPr>
          <p:nvPr/>
        </p:nvSpPr>
        <p:spPr>
          <a:xfrm>
            <a:off x="272491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9" name="Rounded Rectangle 8">
            <a:extLst>
              <a:ext uri="{FF2B5EF4-FFF2-40B4-BE49-F238E27FC236}">
                <a16:creationId xmlns:a16="http://schemas.microsoft.com/office/drawing/2014/main" id="{35BBD3CD-DEF6-4352-9ADC-C0E86905865E}"/>
              </a:ext>
            </a:extLst>
          </p:cNvPr>
          <p:cNvSpPr>
            <a:spLocks noGrp="1"/>
          </p:cNvSpPr>
          <p:nvPr/>
        </p:nvSpPr>
        <p:spPr>
          <a:xfrm>
            <a:off x="3200400" y="1134548"/>
            <a:ext cx="2542032" cy="1042415"/>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D10764ED-0D24-49E4-AC0E-6E83A96A1D22}"/>
              </a:ext>
            </a:extLst>
          </p:cNvPr>
          <p:cNvSpPr>
            <a:spLocks noGrp="1"/>
          </p:cNvSpPr>
          <p:nvPr/>
        </p:nvSpPr>
        <p:spPr>
          <a:xfrm>
            <a:off x="336499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1" name="TextBox 10">
            <a:extLst>
              <a:ext uri="{FF2B5EF4-FFF2-40B4-BE49-F238E27FC236}">
                <a16:creationId xmlns:a16="http://schemas.microsoft.com/office/drawing/2014/main" id="{D925246A-A4C6-4FA4-847E-0D5ABF59052E}"/>
              </a:ext>
            </a:extLst>
          </p:cNvPr>
          <p:cNvSpPr>
            <a:spLocks noGrp="1"/>
          </p:cNvSpPr>
          <p:nvPr/>
        </p:nvSpPr>
        <p:spPr>
          <a:xfrm>
            <a:off x="4005072" y="1308284"/>
            <a:ext cx="1581911"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APOE GROUPS</a:t>
            </a:r>
          </a:p>
        </p:txBody>
      </p:sp>
      <p:sp>
        <p:nvSpPr>
          <p:cNvPr id="12" name="TextBox 11">
            <a:extLst>
              <a:ext uri="{FF2B5EF4-FFF2-40B4-BE49-F238E27FC236}">
                <a16:creationId xmlns:a16="http://schemas.microsoft.com/office/drawing/2014/main" id="{6C7A4290-E4A9-4AE0-A569-E41B00922F9B}"/>
              </a:ext>
            </a:extLst>
          </p:cNvPr>
          <p:cNvSpPr>
            <a:spLocks noGrp="1"/>
          </p:cNvSpPr>
          <p:nvPr/>
        </p:nvSpPr>
        <p:spPr>
          <a:xfrm>
            <a:off x="4005072" y="1628324"/>
            <a:ext cx="1581911"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ε2 carrier • ε3/ε3 • ε4 carrier</a:t>
            </a:r>
          </a:p>
        </p:txBody>
      </p:sp>
      <p:sp>
        <p:nvSpPr>
          <p:cNvPr id="13" name="TextBox 12">
            <a:extLst>
              <a:ext uri="{FF2B5EF4-FFF2-40B4-BE49-F238E27FC236}">
                <a16:creationId xmlns:a16="http://schemas.microsoft.com/office/drawing/2014/main" id="{AE44AE31-1C47-4592-84C3-1865FC46D572}"/>
              </a:ext>
            </a:extLst>
          </p:cNvPr>
          <p:cNvSpPr>
            <a:spLocks noGrp="1"/>
          </p:cNvSpPr>
          <p:nvPr/>
        </p:nvSpPr>
        <p:spPr>
          <a:xfrm>
            <a:off x="583387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4" name="Rounded Rectangle 13">
            <a:extLst>
              <a:ext uri="{FF2B5EF4-FFF2-40B4-BE49-F238E27FC236}">
                <a16:creationId xmlns:a16="http://schemas.microsoft.com/office/drawing/2014/main" id="{4A65B7AF-CB5C-43C3-8CA1-C66BA5F7BB03}"/>
              </a:ext>
            </a:extLst>
          </p:cNvPr>
          <p:cNvSpPr>
            <a:spLocks noGrp="1"/>
          </p:cNvSpPr>
          <p:nvPr/>
        </p:nvSpPr>
        <p:spPr>
          <a:xfrm>
            <a:off x="6309360" y="1134548"/>
            <a:ext cx="2121408" cy="1042415"/>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947D5A70-7BA9-4192-8B5D-9889D220F1BA}"/>
              </a:ext>
            </a:extLst>
          </p:cNvPr>
          <p:cNvSpPr>
            <a:spLocks noGrp="1"/>
          </p:cNvSpPr>
          <p:nvPr/>
        </p:nvSpPr>
        <p:spPr>
          <a:xfrm>
            <a:off x="647395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7</a:t>
            </a:r>
          </a:p>
        </p:txBody>
      </p:sp>
      <p:sp>
        <p:nvSpPr>
          <p:cNvPr id="16" name="TextBox 15">
            <a:extLst>
              <a:ext uri="{FF2B5EF4-FFF2-40B4-BE49-F238E27FC236}">
                <a16:creationId xmlns:a16="http://schemas.microsoft.com/office/drawing/2014/main" id="{0F52C426-33FB-46C6-BDF1-EC028753A731}"/>
              </a:ext>
            </a:extLst>
          </p:cNvPr>
          <p:cNvSpPr>
            <a:spLocks noGrp="1"/>
          </p:cNvSpPr>
          <p:nvPr/>
        </p:nvSpPr>
        <p:spPr>
          <a:xfrm>
            <a:off x="7114032" y="1308284"/>
            <a:ext cx="1161287"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BROAD TYPES</a:t>
            </a:r>
          </a:p>
        </p:txBody>
      </p:sp>
      <p:sp>
        <p:nvSpPr>
          <p:cNvPr id="17" name="TextBox 16">
            <a:extLst>
              <a:ext uri="{FF2B5EF4-FFF2-40B4-BE49-F238E27FC236}">
                <a16:creationId xmlns:a16="http://schemas.microsoft.com/office/drawing/2014/main" id="{59907BBC-FFB6-4080-BC97-1947882A4001}"/>
              </a:ext>
            </a:extLst>
          </p:cNvPr>
          <p:cNvSpPr>
            <a:spLocks noGrp="1"/>
          </p:cNvSpPr>
          <p:nvPr/>
        </p:nvSpPr>
        <p:spPr>
          <a:xfrm>
            <a:off x="7114032" y="1628324"/>
            <a:ext cx="1161287"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Frozen cell classes</a:t>
            </a:r>
          </a:p>
        </p:txBody>
      </p:sp>
      <p:sp>
        <p:nvSpPr>
          <p:cNvPr id="18" name="TextBox 17">
            <a:extLst>
              <a:ext uri="{FF2B5EF4-FFF2-40B4-BE49-F238E27FC236}">
                <a16:creationId xmlns:a16="http://schemas.microsoft.com/office/drawing/2014/main" id="{D98D2DB5-3A0E-4623-B0B8-FA5465C503C1}"/>
              </a:ext>
            </a:extLst>
          </p:cNvPr>
          <p:cNvSpPr>
            <a:spLocks noGrp="1"/>
          </p:cNvSpPr>
          <p:nvPr/>
        </p:nvSpPr>
        <p:spPr>
          <a:xfrm>
            <a:off x="8522208"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9" name="Rounded Rectangle 18">
            <a:extLst>
              <a:ext uri="{FF2B5EF4-FFF2-40B4-BE49-F238E27FC236}">
                <a16:creationId xmlns:a16="http://schemas.microsoft.com/office/drawing/2014/main" id="{EB94EC70-314C-4BA8-95D7-349F2F373427}"/>
              </a:ext>
            </a:extLst>
          </p:cNvPr>
          <p:cNvSpPr>
            <a:spLocks noGrp="1"/>
          </p:cNvSpPr>
          <p:nvPr/>
        </p:nvSpPr>
        <p:spPr>
          <a:xfrm>
            <a:off x="8997696" y="1134548"/>
            <a:ext cx="2587752" cy="1042415"/>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866134D-FCEE-4C41-9D80-037CE574FA56}"/>
              </a:ext>
            </a:extLst>
          </p:cNvPr>
          <p:cNvSpPr>
            <a:spLocks noGrp="1"/>
          </p:cNvSpPr>
          <p:nvPr/>
        </p:nvSpPr>
        <p:spPr>
          <a:xfrm>
            <a:off x="9162288"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9E3A00"/>
                </a:solidFill>
                <a:latin typeface="Arial"/>
                <a:ea typeface="Arial"/>
                <a:cs typeface="Arial"/>
              </a:rPr>
              <a:t>42</a:t>
            </a:r>
          </a:p>
        </p:txBody>
      </p:sp>
      <p:sp>
        <p:nvSpPr>
          <p:cNvPr id="21" name="TextBox 20">
            <a:extLst>
              <a:ext uri="{FF2B5EF4-FFF2-40B4-BE49-F238E27FC236}">
                <a16:creationId xmlns:a16="http://schemas.microsoft.com/office/drawing/2014/main" id="{BC64DA88-8BB9-43CD-A70B-6AA5550C15DE}"/>
              </a:ext>
            </a:extLst>
          </p:cNvPr>
          <p:cNvSpPr>
            <a:spLocks noGrp="1"/>
          </p:cNvSpPr>
          <p:nvPr/>
        </p:nvSpPr>
        <p:spPr>
          <a:xfrm>
            <a:off x="9802368" y="1308284"/>
            <a:ext cx="162763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CATEGORIES</a:t>
            </a:r>
          </a:p>
        </p:txBody>
      </p:sp>
      <p:sp>
        <p:nvSpPr>
          <p:cNvPr id="22" name="TextBox 21">
            <a:extLst>
              <a:ext uri="{FF2B5EF4-FFF2-40B4-BE49-F238E27FC236}">
                <a16:creationId xmlns:a16="http://schemas.microsoft.com/office/drawing/2014/main" id="{CBBD629D-ADE0-46F7-A435-73FFBE662FDB}"/>
              </a:ext>
            </a:extLst>
          </p:cNvPr>
          <p:cNvSpPr>
            <a:spLocks noGrp="1"/>
          </p:cNvSpPr>
          <p:nvPr/>
        </p:nvSpPr>
        <p:spPr>
          <a:xfrm>
            <a:off x="9802368" y="1628324"/>
            <a:ext cx="1627632"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Possible analysis contexts</a:t>
            </a:r>
          </a:p>
        </p:txBody>
      </p:sp>
      <p:sp>
        <p:nvSpPr>
          <p:cNvPr id="23" name="Rounded Rectangle 22">
            <a:extLst>
              <a:ext uri="{FF2B5EF4-FFF2-40B4-BE49-F238E27FC236}">
                <a16:creationId xmlns:a16="http://schemas.microsoft.com/office/drawing/2014/main" id="{B494B280-69DC-4470-9F05-DC79C8BCD8ED}"/>
              </a:ext>
            </a:extLst>
          </p:cNvPr>
          <p:cNvSpPr>
            <a:spLocks noGrp="1"/>
          </p:cNvSpPr>
          <p:nvPr/>
        </p:nvSpPr>
        <p:spPr>
          <a:xfrm>
            <a:off x="603504" y="2487860"/>
            <a:ext cx="5422392" cy="288950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5DA32A0B-167A-47CC-85FD-83F23A6AFD1E}"/>
              </a:ext>
            </a:extLst>
          </p:cNvPr>
          <p:cNvSpPr>
            <a:spLocks noGrp="1"/>
          </p:cNvSpPr>
          <p:nvPr/>
        </p:nvSpPr>
        <p:spPr>
          <a:xfrm>
            <a:off x="877824" y="277132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4FEA757-4833-4D66-A8E3-ED58955CE4E2}"/>
              </a:ext>
            </a:extLst>
          </p:cNvPr>
          <p:cNvSpPr>
            <a:spLocks noGrp="1"/>
          </p:cNvSpPr>
          <p:nvPr/>
        </p:nvSpPr>
        <p:spPr>
          <a:xfrm>
            <a:off x="1024127"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Six sex/APOE groups</a:t>
            </a:r>
          </a:p>
        </p:txBody>
      </p:sp>
      <p:sp>
        <p:nvSpPr>
          <p:cNvPr id="26" name="TextBox 25">
            <a:extLst>
              <a:ext uri="{FF2B5EF4-FFF2-40B4-BE49-F238E27FC236}">
                <a16:creationId xmlns:a16="http://schemas.microsoft.com/office/drawing/2014/main" id="{5B63075E-CC09-4D81-B8B3-08C85EEAA6A9}"/>
              </a:ext>
            </a:extLst>
          </p:cNvPr>
          <p:cNvSpPr>
            <a:spLocks noGrp="1"/>
          </p:cNvSpPr>
          <p:nvPr/>
        </p:nvSpPr>
        <p:spPr>
          <a:xfrm>
            <a:off x="896112" y="3383972"/>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FEMALE</a:t>
            </a:r>
          </a:p>
        </p:txBody>
      </p:sp>
      <p:sp>
        <p:nvSpPr>
          <p:cNvPr id="27" name="TextBox 26">
            <a:extLst>
              <a:ext uri="{FF2B5EF4-FFF2-40B4-BE49-F238E27FC236}">
                <a16:creationId xmlns:a16="http://schemas.microsoft.com/office/drawing/2014/main" id="{589BB5D0-CCAD-42B8-9BE6-E9E82F4819E6}"/>
              </a:ext>
            </a:extLst>
          </p:cNvPr>
          <p:cNvSpPr>
            <a:spLocks noGrp="1"/>
          </p:cNvSpPr>
          <p:nvPr/>
        </p:nvSpPr>
        <p:spPr>
          <a:xfrm>
            <a:off x="896112" y="4005763"/>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MALE</a:t>
            </a:r>
          </a:p>
        </p:txBody>
      </p:sp>
      <p:sp>
        <p:nvSpPr>
          <p:cNvPr id="28" name="Rounded Rectangle 27">
            <a:extLst>
              <a:ext uri="{FF2B5EF4-FFF2-40B4-BE49-F238E27FC236}">
                <a16:creationId xmlns:a16="http://schemas.microsoft.com/office/drawing/2014/main" id="{BA674D85-7891-4E55-BFD8-0A44638823AE}"/>
              </a:ext>
            </a:extLst>
          </p:cNvPr>
          <p:cNvSpPr>
            <a:spLocks noGrp="1"/>
          </p:cNvSpPr>
          <p:nvPr/>
        </p:nvSpPr>
        <p:spPr>
          <a:xfrm>
            <a:off x="17007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F03F4139-214F-4285-9BA1-A595E003B025}"/>
              </a:ext>
            </a:extLst>
          </p:cNvPr>
          <p:cNvSpPr>
            <a:spLocks noGrp="1"/>
          </p:cNvSpPr>
          <p:nvPr/>
        </p:nvSpPr>
        <p:spPr>
          <a:xfrm>
            <a:off x="17739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F_e2</a:t>
            </a:r>
          </a:p>
        </p:txBody>
      </p:sp>
      <p:sp>
        <p:nvSpPr>
          <p:cNvPr id="30" name="Rounded Rectangle 29">
            <a:extLst>
              <a:ext uri="{FF2B5EF4-FFF2-40B4-BE49-F238E27FC236}">
                <a16:creationId xmlns:a16="http://schemas.microsoft.com/office/drawing/2014/main" id="{002F3515-4D2F-4F16-BF98-13BD06D63850}"/>
              </a:ext>
            </a:extLst>
          </p:cNvPr>
          <p:cNvSpPr>
            <a:spLocks noGrp="1"/>
          </p:cNvSpPr>
          <p:nvPr/>
        </p:nvSpPr>
        <p:spPr>
          <a:xfrm>
            <a:off x="17007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1C36D793-3530-42C0-8140-1E7A28CF30C4}"/>
              </a:ext>
            </a:extLst>
          </p:cNvPr>
          <p:cNvSpPr>
            <a:spLocks noGrp="1"/>
          </p:cNvSpPr>
          <p:nvPr/>
        </p:nvSpPr>
        <p:spPr>
          <a:xfrm>
            <a:off x="17739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M_e2</a:t>
            </a:r>
          </a:p>
        </p:txBody>
      </p:sp>
      <p:sp>
        <p:nvSpPr>
          <p:cNvPr id="32" name="Rounded Rectangle 31">
            <a:extLst>
              <a:ext uri="{FF2B5EF4-FFF2-40B4-BE49-F238E27FC236}">
                <a16:creationId xmlns:a16="http://schemas.microsoft.com/office/drawing/2014/main" id="{9C1A7CE5-E1A6-40B0-B8BD-4266BF069827}"/>
              </a:ext>
            </a:extLst>
          </p:cNvPr>
          <p:cNvSpPr>
            <a:spLocks noGrp="1"/>
          </p:cNvSpPr>
          <p:nvPr/>
        </p:nvSpPr>
        <p:spPr>
          <a:xfrm>
            <a:off x="30723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4925B471-BF86-42D8-8276-2FF6DDDDBB18}"/>
              </a:ext>
            </a:extLst>
          </p:cNvPr>
          <p:cNvSpPr>
            <a:spLocks noGrp="1"/>
          </p:cNvSpPr>
          <p:nvPr/>
        </p:nvSpPr>
        <p:spPr>
          <a:xfrm>
            <a:off x="31455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F_e33</a:t>
            </a:r>
          </a:p>
        </p:txBody>
      </p:sp>
      <p:sp>
        <p:nvSpPr>
          <p:cNvPr id="34" name="Rounded Rectangle 33">
            <a:extLst>
              <a:ext uri="{FF2B5EF4-FFF2-40B4-BE49-F238E27FC236}">
                <a16:creationId xmlns:a16="http://schemas.microsoft.com/office/drawing/2014/main" id="{F2142C82-5F53-493A-BE90-4BA2F922B9AD}"/>
              </a:ext>
            </a:extLst>
          </p:cNvPr>
          <p:cNvSpPr>
            <a:spLocks noGrp="1"/>
          </p:cNvSpPr>
          <p:nvPr/>
        </p:nvSpPr>
        <p:spPr>
          <a:xfrm>
            <a:off x="30723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E990F137-911D-407D-95C3-9DCF01FCABAB}"/>
              </a:ext>
            </a:extLst>
          </p:cNvPr>
          <p:cNvSpPr>
            <a:spLocks noGrp="1"/>
          </p:cNvSpPr>
          <p:nvPr/>
        </p:nvSpPr>
        <p:spPr>
          <a:xfrm>
            <a:off x="31455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M_e33</a:t>
            </a:r>
          </a:p>
        </p:txBody>
      </p:sp>
      <p:sp>
        <p:nvSpPr>
          <p:cNvPr id="36" name="Rounded Rectangle 35">
            <a:extLst>
              <a:ext uri="{FF2B5EF4-FFF2-40B4-BE49-F238E27FC236}">
                <a16:creationId xmlns:a16="http://schemas.microsoft.com/office/drawing/2014/main" id="{6DC4B910-710E-4996-8C48-6BD291CECE0A}"/>
              </a:ext>
            </a:extLst>
          </p:cNvPr>
          <p:cNvSpPr>
            <a:spLocks noGrp="1"/>
          </p:cNvSpPr>
          <p:nvPr/>
        </p:nvSpPr>
        <p:spPr>
          <a:xfrm>
            <a:off x="44439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56E00175-9B35-4406-AF53-796D05AAF164}"/>
              </a:ext>
            </a:extLst>
          </p:cNvPr>
          <p:cNvSpPr>
            <a:spLocks noGrp="1"/>
          </p:cNvSpPr>
          <p:nvPr/>
        </p:nvSpPr>
        <p:spPr>
          <a:xfrm>
            <a:off x="45171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F_e4</a:t>
            </a:r>
          </a:p>
        </p:txBody>
      </p:sp>
      <p:sp>
        <p:nvSpPr>
          <p:cNvPr id="38" name="Rounded Rectangle 37">
            <a:extLst>
              <a:ext uri="{FF2B5EF4-FFF2-40B4-BE49-F238E27FC236}">
                <a16:creationId xmlns:a16="http://schemas.microsoft.com/office/drawing/2014/main" id="{325485EA-C4E4-4B5A-B1CA-7462544B97C6}"/>
              </a:ext>
            </a:extLst>
          </p:cNvPr>
          <p:cNvSpPr>
            <a:spLocks noGrp="1"/>
          </p:cNvSpPr>
          <p:nvPr/>
        </p:nvSpPr>
        <p:spPr>
          <a:xfrm>
            <a:off x="44439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F714AAAA-B4A9-43AD-A0E4-351E14DE3F41}"/>
              </a:ext>
            </a:extLst>
          </p:cNvPr>
          <p:cNvSpPr>
            <a:spLocks noGrp="1"/>
          </p:cNvSpPr>
          <p:nvPr/>
        </p:nvSpPr>
        <p:spPr>
          <a:xfrm>
            <a:off x="45171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M_e4</a:t>
            </a:r>
          </a:p>
        </p:txBody>
      </p:sp>
      <p:sp>
        <p:nvSpPr>
          <p:cNvPr id="40" name="TextBox 39">
            <a:extLst>
              <a:ext uri="{FF2B5EF4-FFF2-40B4-BE49-F238E27FC236}">
                <a16:creationId xmlns:a16="http://schemas.microsoft.com/office/drawing/2014/main" id="{13C3DEEE-8B63-4F17-949B-EE21B1731C09}"/>
              </a:ext>
            </a:extLst>
          </p:cNvPr>
          <p:cNvSpPr>
            <a:spLocks noGrp="1"/>
          </p:cNvSpPr>
          <p:nvPr/>
        </p:nvSpPr>
        <p:spPr>
          <a:xfrm>
            <a:off x="896112" y="4664132"/>
            <a:ext cx="4809744"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80" b="0" i="0">
                <a:solidFill>
                  <a:srgbClr val="4E5A68"/>
                </a:solidFill>
                <a:latin typeface="Arial"/>
                <a:ea typeface="Arial"/>
                <a:cs typeface="Arial"/>
              </a:rPr>
              <a:t>e2 = ε2 carrier   •   e33 = ε3/ε3   •   e4 = ε4 carrier</a:t>
            </a:r>
          </a:p>
        </p:txBody>
      </p:sp>
      <p:sp>
        <p:nvSpPr>
          <p:cNvPr id="41" name="Rounded Rectangle 40">
            <a:extLst>
              <a:ext uri="{FF2B5EF4-FFF2-40B4-BE49-F238E27FC236}">
                <a16:creationId xmlns:a16="http://schemas.microsoft.com/office/drawing/2014/main" id="{6A6C5A5F-CCF6-4E84-841D-077E84133767}"/>
              </a:ext>
            </a:extLst>
          </p:cNvPr>
          <p:cNvSpPr>
            <a:spLocks noGrp="1"/>
          </p:cNvSpPr>
          <p:nvPr/>
        </p:nvSpPr>
        <p:spPr>
          <a:xfrm>
            <a:off x="6172200" y="2487860"/>
            <a:ext cx="5413248" cy="288950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Rectangle 41">
            <a:extLst>
              <a:ext uri="{FF2B5EF4-FFF2-40B4-BE49-F238E27FC236}">
                <a16:creationId xmlns:a16="http://schemas.microsoft.com/office/drawing/2014/main" id="{F7604787-0199-47D3-9DFF-47AEBCB849D0}"/>
              </a:ext>
            </a:extLst>
          </p:cNvPr>
          <p:cNvSpPr>
            <a:spLocks noGrp="1"/>
          </p:cNvSpPr>
          <p:nvPr/>
        </p:nvSpPr>
        <p:spPr>
          <a:xfrm>
            <a:off x="6446520" y="2771324"/>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3484896B-2FE2-4D4C-8BAF-A6753F03A45A}"/>
              </a:ext>
            </a:extLst>
          </p:cNvPr>
          <p:cNvSpPr>
            <a:spLocks noGrp="1"/>
          </p:cNvSpPr>
          <p:nvPr/>
        </p:nvSpPr>
        <p:spPr>
          <a:xfrm>
            <a:off x="6592824"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Seven broad cell types</a:t>
            </a:r>
          </a:p>
        </p:txBody>
      </p:sp>
      <p:sp>
        <p:nvSpPr>
          <p:cNvPr id="44" name="Rounded Rectangle 43">
            <a:extLst>
              <a:ext uri="{FF2B5EF4-FFF2-40B4-BE49-F238E27FC236}">
                <a16:creationId xmlns:a16="http://schemas.microsoft.com/office/drawing/2014/main" id="{06CA765D-3399-4D97-A3AC-C2D9311C7292}"/>
              </a:ext>
            </a:extLst>
          </p:cNvPr>
          <p:cNvSpPr>
            <a:spLocks noGrp="1"/>
          </p:cNvSpPr>
          <p:nvPr/>
        </p:nvSpPr>
        <p:spPr>
          <a:xfrm>
            <a:off x="6446520"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17D76026-8450-4E92-AE17-B1A278E1E126}"/>
              </a:ext>
            </a:extLst>
          </p:cNvPr>
          <p:cNvSpPr>
            <a:spLocks noGrp="1"/>
          </p:cNvSpPr>
          <p:nvPr/>
        </p:nvSpPr>
        <p:spPr>
          <a:xfrm>
            <a:off x="6556248"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Astrocytes</a:t>
            </a:r>
          </a:p>
        </p:txBody>
      </p:sp>
      <p:sp>
        <p:nvSpPr>
          <p:cNvPr id="46" name="Rounded Rectangle 45">
            <a:extLst>
              <a:ext uri="{FF2B5EF4-FFF2-40B4-BE49-F238E27FC236}">
                <a16:creationId xmlns:a16="http://schemas.microsoft.com/office/drawing/2014/main" id="{4435C50D-673E-4420-9054-2BF44683ADBF}"/>
              </a:ext>
            </a:extLst>
          </p:cNvPr>
          <p:cNvSpPr>
            <a:spLocks noGrp="1"/>
          </p:cNvSpPr>
          <p:nvPr/>
        </p:nvSpPr>
        <p:spPr>
          <a:xfrm>
            <a:off x="6446520"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7CA50A34-12D6-4C4C-B402-E572FD4A1AE9}"/>
              </a:ext>
            </a:extLst>
          </p:cNvPr>
          <p:cNvSpPr>
            <a:spLocks noGrp="1"/>
          </p:cNvSpPr>
          <p:nvPr/>
        </p:nvSpPr>
        <p:spPr>
          <a:xfrm>
            <a:off x="6556248"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Excitatory neurons</a:t>
            </a:r>
          </a:p>
        </p:txBody>
      </p:sp>
      <p:sp>
        <p:nvSpPr>
          <p:cNvPr id="48" name="Rounded Rectangle 47">
            <a:extLst>
              <a:ext uri="{FF2B5EF4-FFF2-40B4-BE49-F238E27FC236}">
                <a16:creationId xmlns:a16="http://schemas.microsoft.com/office/drawing/2014/main" id="{6922206C-048C-41CD-9AD0-934269F4B68C}"/>
              </a:ext>
            </a:extLst>
          </p:cNvPr>
          <p:cNvSpPr>
            <a:spLocks noGrp="1"/>
          </p:cNvSpPr>
          <p:nvPr/>
        </p:nvSpPr>
        <p:spPr>
          <a:xfrm>
            <a:off x="6446520"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22B6329A-8794-4F20-AE32-4E22A22ADBE6}"/>
              </a:ext>
            </a:extLst>
          </p:cNvPr>
          <p:cNvSpPr>
            <a:spLocks noGrp="1"/>
          </p:cNvSpPr>
          <p:nvPr/>
        </p:nvSpPr>
        <p:spPr>
          <a:xfrm>
            <a:off x="6556248"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Inhibitory neurons</a:t>
            </a:r>
          </a:p>
        </p:txBody>
      </p:sp>
      <p:sp>
        <p:nvSpPr>
          <p:cNvPr id="50" name="Rounded Rectangle 49">
            <a:extLst>
              <a:ext uri="{FF2B5EF4-FFF2-40B4-BE49-F238E27FC236}">
                <a16:creationId xmlns:a16="http://schemas.microsoft.com/office/drawing/2014/main" id="{4E37577C-AAD9-4458-8BE2-0DB0FAE4F33A}"/>
              </a:ext>
            </a:extLst>
          </p:cNvPr>
          <p:cNvSpPr>
            <a:spLocks noGrp="1"/>
          </p:cNvSpPr>
          <p:nvPr/>
        </p:nvSpPr>
        <p:spPr>
          <a:xfrm>
            <a:off x="6446520" y="474642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19ECF647-C4C2-4EBE-B7D9-117AB20695EF}"/>
              </a:ext>
            </a:extLst>
          </p:cNvPr>
          <p:cNvSpPr>
            <a:spLocks noGrp="1"/>
          </p:cNvSpPr>
          <p:nvPr/>
        </p:nvSpPr>
        <p:spPr>
          <a:xfrm>
            <a:off x="6556248" y="484701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Microglia</a:t>
            </a:r>
          </a:p>
        </p:txBody>
      </p:sp>
      <p:sp>
        <p:nvSpPr>
          <p:cNvPr id="52" name="Rounded Rectangle 51">
            <a:extLst>
              <a:ext uri="{FF2B5EF4-FFF2-40B4-BE49-F238E27FC236}">
                <a16:creationId xmlns:a16="http://schemas.microsoft.com/office/drawing/2014/main" id="{99C1AC61-AA6A-4A31-A36B-4D2604F2BF3A}"/>
              </a:ext>
            </a:extLst>
          </p:cNvPr>
          <p:cNvSpPr>
            <a:spLocks noGrp="1"/>
          </p:cNvSpPr>
          <p:nvPr/>
        </p:nvSpPr>
        <p:spPr>
          <a:xfrm>
            <a:off x="8979408"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8EBFD78F-6A4C-42A4-8988-EBA51CF70B33}"/>
              </a:ext>
            </a:extLst>
          </p:cNvPr>
          <p:cNvSpPr>
            <a:spLocks noGrp="1"/>
          </p:cNvSpPr>
          <p:nvPr/>
        </p:nvSpPr>
        <p:spPr>
          <a:xfrm>
            <a:off x="9089136"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OPCs</a:t>
            </a:r>
          </a:p>
        </p:txBody>
      </p:sp>
      <p:sp>
        <p:nvSpPr>
          <p:cNvPr id="54" name="Rounded Rectangle 53">
            <a:extLst>
              <a:ext uri="{FF2B5EF4-FFF2-40B4-BE49-F238E27FC236}">
                <a16:creationId xmlns:a16="http://schemas.microsoft.com/office/drawing/2014/main" id="{5AA63555-0C23-471F-BCAA-992D3B431350}"/>
              </a:ext>
            </a:extLst>
          </p:cNvPr>
          <p:cNvSpPr>
            <a:spLocks noGrp="1"/>
          </p:cNvSpPr>
          <p:nvPr/>
        </p:nvSpPr>
        <p:spPr>
          <a:xfrm>
            <a:off x="8979408"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B4A771FC-E47D-4201-8C0A-FACABB49166E}"/>
              </a:ext>
            </a:extLst>
          </p:cNvPr>
          <p:cNvSpPr>
            <a:spLocks noGrp="1"/>
          </p:cNvSpPr>
          <p:nvPr/>
        </p:nvSpPr>
        <p:spPr>
          <a:xfrm>
            <a:off x="9089136"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Oligodendrocytes</a:t>
            </a:r>
          </a:p>
        </p:txBody>
      </p:sp>
      <p:sp>
        <p:nvSpPr>
          <p:cNvPr id="56" name="Rounded Rectangle 55">
            <a:extLst>
              <a:ext uri="{FF2B5EF4-FFF2-40B4-BE49-F238E27FC236}">
                <a16:creationId xmlns:a16="http://schemas.microsoft.com/office/drawing/2014/main" id="{8FC98E53-B787-4823-B69B-8F788A089A85}"/>
              </a:ext>
            </a:extLst>
          </p:cNvPr>
          <p:cNvSpPr>
            <a:spLocks noGrp="1"/>
          </p:cNvSpPr>
          <p:nvPr/>
        </p:nvSpPr>
        <p:spPr>
          <a:xfrm>
            <a:off x="8979408"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7" name="TextBox 56">
            <a:extLst>
              <a:ext uri="{FF2B5EF4-FFF2-40B4-BE49-F238E27FC236}">
                <a16:creationId xmlns:a16="http://schemas.microsoft.com/office/drawing/2014/main" id="{735B5593-297E-4656-A489-677258F64C1F}"/>
              </a:ext>
            </a:extLst>
          </p:cNvPr>
          <p:cNvSpPr>
            <a:spLocks noGrp="1"/>
          </p:cNvSpPr>
          <p:nvPr/>
        </p:nvSpPr>
        <p:spPr>
          <a:xfrm>
            <a:off x="9089136"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Vasculature</a:t>
            </a:r>
          </a:p>
        </p:txBody>
      </p:sp>
      <p:sp>
        <p:nvSpPr>
          <p:cNvPr id="58" name="Rounded Rectangle 57">
            <a:extLst>
              <a:ext uri="{FF2B5EF4-FFF2-40B4-BE49-F238E27FC236}">
                <a16:creationId xmlns:a16="http://schemas.microsoft.com/office/drawing/2014/main" id="{031661F2-BBCE-4BEA-8C61-B69A1AFDD975}"/>
              </a:ext>
            </a:extLst>
          </p:cNvPr>
          <p:cNvSpPr>
            <a:spLocks noGrp="1"/>
          </p:cNvSpPr>
          <p:nvPr/>
        </p:nvSpPr>
        <p:spPr>
          <a:xfrm>
            <a:off x="603504" y="5493303"/>
            <a:ext cx="10981944"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9" name="TextBox 58">
            <a:extLst>
              <a:ext uri="{FF2B5EF4-FFF2-40B4-BE49-F238E27FC236}">
                <a16:creationId xmlns:a16="http://schemas.microsoft.com/office/drawing/2014/main" id="{9EAEE7F6-4272-41C2-9E39-4B7A20B11B59}"/>
              </a:ext>
            </a:extLst>
          </p:cNvPr>
          <p:cNvSpPr>
            <a:spLocks noGrp="1"/>
          </p:cNvSpPr>
          <p:nvPr/>
        </p:nvSpPr>
        <p:spPr>
          <a:xfrm>
            <a:off x="859536" y="5657895"/>
            <a:ext cx="129844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4E5A68"/>
                </a:solidFill>
                <a:latin typeface="Arial"/>
                <a:ea typeface="Arial"/>
                <a:cs typeface="Arial"/>
              </a:rPr>
              <a:t>Example category</a:t>
            </a:r>
          </a:p>
        </p:txBody>
      </p:sp>
      <p:sp>
        <p:nvSpPr>
          <p:cNvPr id="60" name="TextBox 59">
            <a:extLst>
              <a:ext uri="{FF2B5EF4-FFF2-40B4-BE49-F238E27FC236}">
                <a16:creationId xmlns:a16="http://schemas.microsoft.com/office/drawing/2014/main" id="{B4F93260-CACC-42D8-A296-C2812E9E1907}"/>
              </a:ext>
            </a:extLst>
          </p:cNvPr>
          <p:cNvSpPr>
            <a:spLocks noGrp="1"/>
          </p:cNvSpPr>
          <p:nvPr/>
        </p:nvSpPr>
        <p:spPr>
          <a:xfrm>
            <a:off x="2139696" y="5612175"/>
            <a:ext cx="3072384"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20" b="1" i="0">
                <a:solidFill>
                  <a:srgbClr val="7E4C9A"/>
                </a:solidFill>
                <a:latin typeface="Arial"/>
                <a:ea typeface="Arial"/>
                <a:cs typeface="Arial"/>
              </a:rPr>
              <a:t>M_e33 × Excitatory neurons</a:t>
            </a:r>
          </a:p>
        </p:txBody>
      </p:sp>
      <p:sp>
        <p:nvSpPr>
          <p:cNvPr id="61" name="TextBox 60">
            <a:extLst>
              <a:ext uri="{FF2B5EF4-FFF2-40B4-BE49-F238E27FC236}">
                <a16:creationId xmlns:a16="http://schemas.microsoft.com/office/drawing/2014/main" id="{802138E5-FD06-4CDD-944B-42FE9F7A853E}"/>
              </a:ext>
            </a:extLst>
          </p:cNvPr>
          <p:cNvSpPr>
            <a:spLocks noGrp="1"/>
          </p:cNvSpPr>
          <p:nvPr/>
        </p:nvSpPr>
        <p:spPr>
          <a:xfrm>
            <a:off x="5157216" y="5621319"/>
            <a:ext cx="6144768" cy="3535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980" b="0" i="0">
                <a:solidFill>
                  <a:srgbClr val="4E5A68"/>
                </a:solidFill>
                <a:latin typeface="Arial"/>
                <a:ea typeface="Arial"/>
                <a:cs typeface="Arial"/>
              </a:rPr>
              <a:t>42 is the design space; later slides show which categories have usable KDA calls and genes returned from KDA calls.</a:t>
            </a:r>
          </a:p>
        </p:txBody>
      </p:sp>
      <p:sp>
        <p:nvSpPr>
          <p:cNvPr id="62" name="TextBox 61">
            <a:extLst>
              <a:ext uri="{FF2B5EF4-FFF2-40B4-BE49-F238E27FC236}">
                <a16:creationId xmlns:a16="http://schemas.microsoft.com/office/drawing/2014/main" id="{A7CB8CE8-B4BA-4BDE-9C49-8FAB5177F6A8}"/>
              </a:ext>
            </a:extLst>
          </p:cNvPr>
          <p:cNvSpPr>
            <a:spLocks noGrp="1"/>
          </p:cNvSpPr>
          <p:nvPr/>
        </p:nvSpPr>
        <p:spPr>
          <a:xfrm>
            <a:off x="603504" y="2231828"/>
            <a:ext cx="10981944" cy="2377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1" i="0">
                <a:solidFill>
                  <a:srgbClr val="9E3A00"/>
                </a:solidFill>
                <a:latin typeface="Arial"/>
                <a:ea typeface="Arial"/>
                <a:cs typeface="Arial"/>
              </a:rPr>
              <a:t>Genes returned from KDA calls are ranked separately within each category.</a:t>
            </a:r>
          </a:p>
        </p:txBody>
      </p:sp>
      <p:sp>
        <p:nvSpPr>
          <p:cNvPr id="63" name="Rounded Rectangle 62">
            <a:extLst>
              <a:ext uri="{FF2B5EF4-FFF2-40B4-BE49-F238E27FC236}">
                <a16:creationId xmlns:a16="http://schemas.microsoft.com/office/drawing/2014/main" id="{B83C867B-6719-61CC-B78E-6D222519F57E}"/>
              </a:ext>
            </a:extLst>
          </p:cNvPr>
          <p:cNvSpPr>
            <a:spLocks noGrp="1"/>
          </p:cNvSpPr>
          <p:nvPr/>
        </p:nvSpPr>
        <p:spPr>
          <a:xfrm>
            <a:off x="603504" y="6217231"/>
            <a:ext cx="10981944"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4" name="TextBox 63">
            <a:extLst>
              <a:ext uri="{FF2B5EF4-FFF2-40B4-BE49-F238E27FC236}">
                <a16:creationId xmlns:a16="http://schemas.microsoft.com/office/drawing/2014/main" id="{C194CD37-5809-AAED-3984-64508649098C}"/>
              </a:ext>
            </a:extLst>
          </p:cNvPr>
          <p:cNvSpPr>
            <a:spLocks noGrp="1"/>
          </p:cNvSpPr>
          <p:nvPr/>
        </p:nvSpPr>
        <p:spPr>
          <a:xfrm>
            <a:off x="822960" y="6336103"/>
            <a:ext cx="10533888" cy="3627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0" b="1" i="0">
                <a:solidFill>
                  <a:srgbClr val="9E3A00"/>
                </a:solidFill>
                <a:latin typeface="Arial"/>
                <a:ea typeface="Arial"/>
                <a:cs typeface="Arial"/>
              </a:rPr>
              <a:t>Why contrasts outnumber categories: many fine cell types map to one broad cell type; recurring genes returned from KDA calls are combined by equal-weight, returned-only ACAT.</a:t>
            </a:r>
          </a:p>
        </p:txBody>
      </p:sp>
    </p:spTree>
    <p:extLst>
      <p:ext uri="{BB962C8B-B14F-4D97-AF65-F5344CB8AC3E}">
        <p14:creationId xmlns:p14="http://schemas.microsoft.com/office/powerpoint/2010/main" val="24565953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nvSpPr>
        <p:spPr>
          <a:xfrm>
            <a:off x="530352" y="411480"/>
            <a:ext cx="11000000" cy="520000"/>
          </a:xfrm>
          <a:prstGeom prst="rect">
            <a:avLst/>
          </a:prstGeom>
          <a:noFill/>
          <a:ln>
            <a:noFill/>
          </a:ln>
        </p:spPr>
        <p:txBody>
          <a:bodyPr wrap="square" lIns="100000" tIns="100000" rIns="100000" bIns="100000"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DEG and DEG occurrence</a:t>
            </a:r>
          </a:p>
        </p:txBody>
      </p:sp>
      <p:sp>
        <p:nvSpPr>
          <p:cNvPr id="4" name="Gene box"/>
          <p:cNvSpPr>
            <a:spLocks noGrp="1"/>
          </p:cNvSpPr>
          <p:nvPr/>
        </p:nvSpPr>
        <p:spPr>
          <a:xfrm>
            <a:off x="760000" y="2416112"/>
            <a:ext cx="2860000" cy="1360000"/>
          </a:xfrm>
          <a:prstGeom prst="roundRect">
            <a:avLst/>
          </a:prstGeom>
          <a:solidFill>
            <a:srgbClr val="EBF7FC"/>
          </a:solidFill>
          <a:ln w="12700">
            <a:solidFill>
              <a:srgbClr val="0072B2"/>
            </a:solidFill>
          </a:ln>
        </p:spPr>
        <p:txBody>
          <a:bodyPr wrap="square" lIns="120000" tIns="120000" rIns="120000" bIns="120000" anchor="ctr">
            <a:spAutoFit/>
          </a:bodyPr>
          <a:lstStyle/>
          <a:p>
            <a:pPr algn="ctr">
              <a:lnSpc>
                <a:spcPct val="100000"/>
              </a:lnSpc>
              <a:spcBef>
                <a:spcPts val="0"/>
              </a:spcBef>
              <a:spcAft>
                <a:spcPts val="0"/>
              </a:spcAft>
              <a:buNone/>
            </a:pPr>
            <a:r>
              <a:rPr sz="1900" b="1" i="0">
                <a:solidFill>
                  <a:srgbClr val="0072B2"/>
                </a:solidFill>
                <a:latin typeface="Arial"/>
                <a:ea typeface="Arial"/>
                <a:cs typeface="Arial"/>
              </a:rPr>
              <a:t>1</a:t>
            </a:r>
          </a:p>
          <a:p>
            <a:pPr algn="ctr">
              <a:lnSpc>
                <a:spcPct val="100000"/>
              </a:lnSpc>
              <a:spcBef>
                <a:spcPts val="0"/>
              </a:spcBef>
              <a:spcAft>
                <a:spcPts val="0"/>
              </a:spcAft>
              <a:buNone/>
            </a:pPr>
            <a:r>
              <a:rPr sz="1900" b="1" i="0">
                <a:solidFill>
                  <a:srgbClr val="0072B2"/>
                </a:solidFill>
                <a:latin typeface="Arial"/>
                <a:ea typeface="Arial"/>
                <a:cs typeface="Arial"/>
              </a:rPr>
              <a:t>DEG</a:t>
            </a:r>
          </a:p>
        </p:txBody>
      </p:sp>
      <p:sp>
        <p:nvSpPr>
          <p:cNvPr id="5" name="Times"/>
          <p:cNvSpPr>
            <a:spLocks noGrp="1"/>
          </p:cNvSpPr>
          <p:nvPr/>
        </p:nvSpPr>
        <p:spPr>
          <a:xfrm>
            <a:off x="3700000" y="2796112"/>
            <a:ext cx="420000" cy="500000"/>
          </a:xfrm>
          <a:prstGeom prst="rect">
            <a:avLst/>
          </a:prstGeom>
          <a:noFill/>
          <a:ln>
            <a:noFill/>
          </a:ln>
        </p:spPr>
        <p:txBody>
          <a:bodyPr wrap="square" lIns="0" tIns="0" rIns="0" bIns="0" anchor="ctr">
            <a:spAutoFit/>
          </a:bodyPr>
          <a:lstStyle/>
          <a:p>
            <a:pPr algn="ctr">
              <a:lnSpc>
                <a:spcPct val="100000"/>
              </a:lnSpc>
              <a:spcBef>
                <a:spcPts val="0"/>
              </a:spcBef>
              <a:spcAft>
                <a:spcPts val="0"/>
              </a:spcAft>
              <a:buNone/>
            </a:pPr>
            <a:r>
              <a:rPr sz="2400" b="1" i="0">
                <a:solidFill>
                  <a:srgbClr val="4E5A68"/>
                </a:solidFill>
                <a:latin typeface="Arial"/>
                <a:ea typeface="Arial"/>
                <a:cs typeface="Arial"/>
              </a:rPr>
              <a:t>×</a:t>
            </a:r>
          </a:p>
        </p:txBody>
      </p:sp>
      <p:sp>
        <p:nvSpPr>
          <p:cNvPr id="6" name="Contrast box"/>
          <p:cNvSpPr>
            <a:spLocks noGrp="1"/>
          </p:cNvSpPr>
          <p:nvPr/>
        </p:nvSpPr>
        <p:spPr>
          <a:xfrm>
            <a:off x="4200000" y="2416112"/>
            <a:ext cx="3000000" cy="1360000"/>
          </a:xfrm>
          <a:prstGeom prst="roundRect">
            <a:avLst/>
          </a:prstGeom>
          <a:solidFill>
            <a:srgbClr val="E4F4EE"/>
          </a:solidFill>
          <a:ln w="12700">
            <a:solidFill>
              <a:srgbClr val="009E73"/>
            </a:solidFill>
          </a:ln>
        </p:spPr>
        <p:txBody>
          <a:bodyPr wrap="square" lIns="120000" tIns="120000" rIns="120000" bIns="120000" anchor="ctr">
            <a:spAutoFit/>
          </a:bodyPr>
          <a:lstStyle/>
          <a:p>
            <a:pPr algn="ctr">
              <a:lnSpc>
                <a:spcPct val="100000"/>
              </a:lnSpc>
              <a:spcBef>
                <a:spcPts val="0"/>
              </a:spcBef>
              <a:spcAft>
                <a:spcPts val="0"/>
              </a:spcAft>
              <a:buNone/>
            </a:pPr>
            <a:r>
              <a:rPr sz="1900" b="1" i="0">
                <a:solidFill>
                  <a:srgbClr val="00684D"/>
                </a:solidFill>
                <a:latin typeface="Arial"/>
                <a:ea typeface="Arial"/>
                <a:cs typeface="Arial"/>
              </a:rPr>
              <a:t>1</a:t>
            </a:r>
          </a:p>
          <a:p>
            <a:pPr algn="ctr">
              <a:lnSpc>
                <a:spcPct val="100000"/>
              </a:lnSpc>
              <a:spcBef>
                <a:spcPts val="0"/>
              </a:spcBef>
              <a:spcAft>
                <a:spcPts val="0"/>
              </a:spcAft>
              <a:buNone/>
            </a:pPr>
            <a:r>
              <a:rPr sz="1900" b="1" i="0">
                <a:solidFill>
                  <a:srgbClr val="00684D"/>
                </a:solidFill>
                <a:latin typeface="Arial"/>
                <a:ea typeface="Arial"/>
                <a:cs typeface="Arial"/>
              </a:rPr>
              <a:t>FINE-CELL CONTRAST</a:t>
            </a:r>
          </a:p>
        </p:txBody>
      </p:sp>
      <p:sp>
        <p:nvSpPr>
          <p:cNvPr id="7" name="Equals"/>
          <p:cNvSpPr>
            <a:spLocks noGrp="1"/>
          </p:cNvSpPr>
          <p:nvPr/>
        </p:nvSpPr>
        <p:spPr>
          <a:xfrm>
            <a:off x="7310000" y="2796112"/>
            <a:ext cx="420000" cy="500000"/>
          </a:xfrm>
          <a:prstGeom prst="rect">
            <a:avLst/>
          </a:prstGeom>
          <a:noFill/>
          <a:ln>
            <a:noFill/>
          </a:ln>
        </p:spPr>
        <p:txBody>
          <a:bodyPr wrap="square" lIns="0" tIns="0" rIns="0" bIns="0" anchor="ctr">
            <a:spAutoFit/>
          </a:bodyPr>
          <a:lstStyle/>
          <a:p>
            <a:pPr algn="ctr">
              <a:lnSpc>
                <a:spcPct val="100000"/>
              </a:lnSpc>
              <a:spcBef>
                <a:spcPts val="0"/>
              </a:spcBef>
              <a:spcAft>
                <a:spcPts val="0"/>
              </a:spcAft>
              <a:buNone/>
            </a:pPr>
            <a:r>
              <a:rPr sz="2400" b="1" i="0">
                <a:solidFill>
                  <a:srgbClr val="4E5A68"/>
                </a:solidFill>
                <a:latin typeface="Arial"/>
                <a:ea typeface="Arial"/>
                <a:cs typeface="Arial"/>
              </a:rPr>
              <a:t>=</a:t>
            </a:r>
          </a:p>
        </p:txBody>
      </p:sp>
      <p:sp>
        <p:nvSpPr>
          <p:cNvPr id="8" name="Occurrence box"/>
          <p:cNvSpPr>
            <a:spLocks noGrp="1"/>
          </p:cNvSpPr>
          <p:nvPr/>
        </p:nvSpPr>
        <p:spPr>
          <a:xfrm>
            <a:off x="7800000" y="2416112"/>
            <a:ext cx="3600000" cy="1360000"/>
          </a:xfrm>
          <a:prstGeom prst="roundRect">
            <a:avLst/>
          </a:prstGeom>
          <a:solidFill>
            <a:srgbClr val="FDEBE4"/>
          </a:solidFill>
          <a:ln w="12700">
            <a:solidFill>
              <a:srgbClr val="D55E00"/>
            </a:solidFill>
          </a:ln>
        </p:spPr>
        <p:txBody>
          <a:bodyPr wrap="square" lIns="120000" tIns="120000" rIns="120000" bIns="120000" anchor="ctr">
            <a:spAutoFit/>
          </a:bodyPr>
          <a:lstStyle/>
          <a:p>
            <a:pPr algn="ctr">
              <a:lnSpc>
                <a:spcPct val="100000"/>
              </a:lnSpc>
              <a:spcBef>
                <a:spcPts val="0"/>
              </a:spcBef>
              <a:spcAft>
                <a:spcPts val="0"/>
              </a:spcAft>
              <a:buNone/>
            </a:pPr>
            <a:r>
              <a:rPr sz="1900" b="1" i="0" dirty="0">
                <a:solidFill>
                  <a:srgbClr val="9E3A00"/>
                </a:solidFill>
                <a:latin typeface="Arial"/>
                <a:ea typeface="Arial"/>
                <a:cs typeface="Arial"/>
              </a:rPr>
              <a:t>1</a:t>
            </a:r>
          </a:p>
          <a:p>
            <a:pPr algn="ctr">
              <a:lnSpc>
                <a:spcPct val="100000"/>
              </a:lnSpc>
              <a:spcBef>
                <a:spcPts val="0"/>
              </a:spcBef>
              <a:spcAft>
                <a:spcPts val="0"/>
              </a:spcAft>
              <a:buNone/>
            </a:pPr>
            <a:r>
              <a:rPr sz="1900" b="1" i="0" dirty="0">
                <a:solidFill>
                  <a:srgbClr val="9E3A00"/>
                </a:solidFill>
                <a:latin typeface="Arial"/>
                <a:ea typeface="Arial"/>
                <a:cs typeface="Arial"/>
              </a:rPr>
              <a:t>DEG OCCURRENCE</a:t>
            </a:r>
          </a:p>
        </p:txBody>
      </p:sp>
      <p:sp>
        <p:nvSpPr>
          <p:cNvPr id="9" name="Repeated evidence"/>
          <p:cNvSpPr>
            <a:spLocks noGrp="1"/>
          </p:cNvSpPr>
          <p:nvPr/>
        </p:nvSpPr>
        <p:spPr>
          <a:xfrm>
            <a:off x="950000" y="3894944"/>
            <a:ext cx="10200000" cy="520000"/>
          </a:xfrm>
          <a:prstGeom prst="rect">
            <a:avLst/>
          </a:prstGeom>
          <a:noFill/>
          <a:ln>
            <a:noFill/>
          </a:ln>
        </p:spPr>
        <p:txBody>
          <a:bodyPr wrap="square" lIns="50000" tIns="50000" rIns="50000" bIns="50000" anchor="ctr">
            <a:spAutoFit/>
          </a:bodyPr>
          <a:lstStyle/>
          <a:p>
            <a:pPr algn="ctr">
              <a:lnSpc>
                <a:spcPct val="100000"/>
              </a:lnSpc>
              <a:spcBef>
                <a:spcPts val="0"/>
              </a:spcBef>
              <a:spcAft>
                <a:spcPts val="0"/>
              </a:spcAft>
              <a:buNone/>
            </a:pPr>
            <a:r>
              <a:rPr sz="1500" b="1" i="0" dirty="0">
                <a:solidFill>
                  <a:srgbClr val="0F233D"/>
                </a:solidFill>
                <a:latin typeface="Arial"/>
                <a:ea typeface="Arial"/>
                <a:cs typeface="Arial"/>
              </a:rPr>
              <a:t>The same gene contributes another occurrence when it is a DEG in another fine-cell contrast.</a:t>
            </a:r>
          </a:p>
        </p:txBody>
      </p:sp>
      <p:sp>
        <p:nvSpPr>
          <p:cNvPr id="10" name="Example box"/>
          <p:cNvSpPr>
            <a:spLocks noGrp="1"/>
          </p:cNvSpPr>
          <p:nvPr/>
        </p:nvSpPr>
        <p:spPr>
          <a:xfrm>
            <a:off x="1370000" y="4636072"/>
            <a:ext cx="9450000" cy="1500000"/>
          </a:xfrm>
          <a:prstGeom prst="roundRect">
            <a:avLst/>
          </a:prstGeom>
          <a:solidFill>
            <a:srgbClr val="E4F4EE"/>
          </a:solidFill>
          <a:ln w="12700">
            <a:solidFill>
              <a:srgbClr val="C9DDD7"/>
            </a:solidFill>
          </a:ln>
        </p:spPr>
        <p:txBody>
          <a:bodyPr wrap="square" lIns="180000" tIns="180000" rIns="180000" bIns="180000" anchor="ctr">
            <a:spAutoFit/>
          </a:bodyPr>
          <a:lstStyle/>
          <a:p>
            <a:pPr algn="ctr">
              <a:lnSpc>
                <a:spcPct val="100000"/>
              </a:lnSpc>
              <a:spcBef>
                <a:spcPts val="0"/>
              </a:spcBef>
              <a:spcAft>
                <a:spcPts val="0"/>
              </a:spcAft>
              <a:buNone/>
            </a:pPr>
            <a:r>
              <a:rPr sz="1550" b="1" i="0" dirty="0">
                <a:solidFill>
                  <a:srgbClr val="00684D"/>
                </a:solidFill>
                <a:latin typeface="Arial"/>
                <a:ea typeface="Arial"/>
                <a:cs typeface="Arial"/>
              </a:rPr>
              <a:t>Example: Gene A is a DEG in three fine-cell contrasts</a:t>
            </a:r>
          </a:p>
          <a:p>
            <a:pPr algn="ctr">
              <a:lnSpc>
                <a:spcPct val="100000"/>
              </a:lnSpc>
              <a:spcBef>
                <a:spcPts val="0"/>
              </a:spcBef>
              <a:spcAft>
                <a:spcPts val="0"/>
              </a:spcAft>
              <a:buNone/>
            </a:pPr>
            <a:endParaRPr sz="1550" b="1" i="0" dirty="0">
              <a:solidFill>
                <a:srgbClr val="00684D"/>
              </a:solidFill>
              <a:latin typeface="Arial"/>
              <a:ea typeface="Arial"/>
              <a:cs typeface="Arial"/>
            </a:endParaRPr>
          </a:p>
          <a:p>
            <a:pPr algn="ctr">
              <a:lnSpc>
                <a:spcPct val="100000"/>
              </a:lnSpc>
              <a:spcBef>
                <a:spcPts val="0"/>
              </a:spcBef>
              <a:spcAft>
                <a:spcPts val="0"/>
              </a:spcAft>
              <a:buNone/>
            </a:pPr>
            <a:r>
              <a:rPr sz="1550" b="1" i="0" dirty="0">
                <a:solidFill>
                  <a:srgbClr val="00684D"/>
                </a:solidFill>
                <a:latin typeface="Arial"/>
                <a:ea typeface="Arial"/>
                <a:cs typeface="Arial"/>
              </a:rPr>
              <a:t>3 DEG occurrences     1 unique gene</a:t>
            </a:r>
          </a:p>
        </p:txBody>
      </p:sp>
      <p:sp>
        <p:nvSpPr>
          <p:cNvPr id="11" name="Interpretation"/>
          <p:cNvSpPr>
            <a:spLocks noGrp="1"/>
          </p:cNvSpPr>
          <p:nvPr/>
        </p:nvSpPr>
        <p:spPr>
          <a:xfrm>
            <a:off x="1370000" y="6327295"/>
            <a:ext cx="9450000" cy="350082"/>
          </a:xfrm>
          <a:prstGeom prst="roundRect">
            <a:avLst/>
          </a:prstGeom>
          <a:solidFill>
            <a:srgbClr val="FFFFFF"/>
          </a:solidFill>
          <a:ln w="12700">
            <a:solidFill>
              <a:srgbClr val="D7E1EC"/>
            </a:solidFill>
          </a:ln>
        </p:spPr>
        <p:txBody>
          <a:bodyPr wrap="square" lIns="50000" tIns="50000" rIns="50000" bIns="50000" anchor="ctr">
            <a:spAutoFit/>
          </a:bodyPr>
          <a:lstStyle/>
          <a:p>
            <a:pPr algn="ctr">
              <a:lnSpc>
                <a:spcPct val="100000"/>
              </a:lnSpc>
              <a:spcBef>
                <a:spcPts val="0"/>
              </a:spcBef>
              <a:spcAft>
                <a:spcPts val="0"/>
              </a:spcAft>
              <a:buNone/>
            </a:pPr>
            <a:r>
              <a:rPr sz="1400" b="1" i="0" dirty="0">
                <a:latin typeface="Arial"/>
                <a:ea typeface="Arial"/>
                <a:cs typeface="Arial"/>
              </a:rPr>
              <a:t>Occurrence counts repeat DEGs across contrasts. Unique-gene counts count each gene once.</a:t>
            </a:r>
          </a:p>
        </p:txBody>
      </p:sp>
      <p:sp>
        <p:nvSpPr>
          <p:cNvPr id="12" name="Example box">
            <a:extLst>
              <a:ext uri="{FF2B5EF4-FFF2-40B4-BE49-F238E27FC236}">
                <a16:creationId xmlns:a16="http://schemas.microsoft.com/office/drawing/2014/main" id="{98A82523-6157-948B-7B62-74813E73F3E9}"/>
              </a:ext>
            </a:extLst>
          </p:cNvPr>
          <p:cNvSpPr>
            <a:spLocks noGrp="1"/>
          </p:cNvSpPr>
          <p:nvPr/>
        </p:nvSpPr>
        <p:spPr>
          <a:xfrm>
            <a:off x="760000" y="1111869"/>
            <a:ext cx="10640000" cy="981069"/>
          </a:xfrm>
          <a:prstGeom prst="roundRect">
            <a:avLst/>
          </a:prstGeom>
          <a:solidFill>
            <a:schemeClr val="accent1">
              <a:lumMod val="20000"/>
              <a:lumOff val="80000"/>
            </a:schemeClr>
          </a:solidFill>
          <a:ln w="12700">
            <a:solidFill>
              <a:srgbClr val="C9DDD7"/>
            </a:solidFill>
          </a:ln>
        </p:spPr>
        <p:txBody>
          <a:bodyPr wrap="square" lIns="180000" tIns="180000" rIns="180000" bIns="180000" anchor="ctr">
            <a:spAutoFit/>
          </a:bodyPr>
          <a:lstStyle/>
          <a:p>
            <a:r>
              <a:rPr lang="en-US" sz="1600" dirty="0">
                <a:solidFill>
                  <a:srgbClr val="4E5A68"/>
                </a:solidFill>
                <a:latin typeface="Arial"/>
                <a:ea typeface="Arial"/>
                <a:cs typeface="Arial"/>
              </a:rPr>
              <a:t>A gene is a </a:t>
            </a:r>
            <a:r>
              <a:rPr lang="en-US" sz="1600" b="1" dirty="0">
                <a:solidFill>
                  <a:srgbClr val="FF0000"/>
                </a:solidFill>
                <a:latin typeface="Arial"/>
                <a:ea typeface="Arial"/>
                <a:cs typeface="Arial"/>
              </a:rPr>
              <a:t>DEG</a:t>
            </a:r>
            <a:r>
              <a:rPr lang="en-US" sz="1600" dirty="0">
                <a:solidFill>
                  <a:srgbClr val="4E5A68"/>
                </a:solidFill>
                <a:latin typeface="Arial"/>
                <a:ea typeface="Arial"/>
                <a:cs typeface="Arial"/>
              </a:rPr>
              <a:t> within one fine-cell contrast when it meets both criteria:</a:t>
            </a:r>
          </a:p>
          <a:p>
            <a:r>
              <a:rPr lang="en-US" sz="1600" dirty="0">
                <a:solidFill>
                  <a:srgbClr val="0072B2"/>
                </a:solidFill>
                <a:latin typeface="Arial"/>
                <a:ea typeface="Arial"/>
                <a:cs typeface="Arial"/>
              </a:rPr>
              <a:t>BH-adjusted P &lt; 0.05 and |log₂ fold change| &gt; log₂(1.3) (≈ 0.38).</a:t>
            </a:r>
          </a:p>
        </p:txBody>
      </p:sp>
    </p:spTree>
    <p:extLst>
      <p:ext uri="{BB962C8B-B14F-4D97-AF65-F5344CB8AC3E}">
        <p14:creationId xmlns:p14="http://schemas.microsoft.com/office/powerpoint/2010/main" val="8478364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A316EEB-069D-41A8-577B-5F43F368006E}"/>
              </a:ext>
            </a:extLst>
          </p:cNvPr>
          <p:cNvSpPr>
            <a:spLocks noGrp="1"/>
          </p:cNvSpPr>
          <p:nvPr/>
        </p:nvSpPr>
        <p:spPr>
          <a:xfrm>
            <a:off x="713232" y="1285018"/>
            <a:ext cx="10287000" cy="88639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DEG Analysis</a:t>
            </a:r>
            <a:b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0F86007-9552-FFC3-B183-B90F517A5A0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2</a:t>
            </a:r>
          </a:p>
        </p:txBody>
      </p:sp>
    </p:spTree>
    <p:extLst>
      <p:ext uri="{BB962C8B-B14F-4D97-AF65-F5344CB8AC3E}">
        <p14:creationId xmlns:p14="http://schemas.microsoft.com/office/powerpoint/2010/main" val="15724482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50B09C-4D0A-47F0-84CE-851C400294B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Overall DEG counts vary across sex/APOE groups</a:t>
            </a:r>
          </a:p>
        </p:txBody>
      </p:sp>
      <p:sp>
        <p:nvSpPr>
          <p:cNvPr id="3" name="TextBox 2">
            <a:extLst>
              <a:ext uri="{FF2B5EF4-FFF2-40B4-BE49-F238E27FC236}">
                <a16:creationId xmlns:a16="http://schemas.microsoft.com/office/drawing/2014/main" id="{E8473722-5B37-4654-A9C8-AAC87D0440E8}"/>
              </a:ext>
            </a:extLst>
          </p:cNvPr>
          <p:cNvSpPr>
            <a:spLocks noGrp="1"/>
          </p:cNvSpPr>
          <p:nvPr/>
        </p:nvSpPr>
        <p:spPr>
          <a:xfrm>
            <a:off x="548640" y="861567"/>
            <a:ext cx="10561320" cy="2277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All genes; each count is one DEG occurrence from one fine-cell AD-versus-NCI contrast.</a:t>
            </a:r>
          </a:p>
        </p:txBody>
      </p:sp>
      <p:sp>
        <p:nvSpPr>
          <p:cNvPr id="4" name="Rounded Rectangle 3">
            <a:extLst>
              <a:ext uri="{FF2B5EF4-FFF2-40B4-BE49-F238E27FC236}">
                <a16:creationId xmlns:a16="http://schemas.microsoft.com/office/drawing/2014/main" id="{D8AE6BF2-D0CF-42F8-94CD-98CFE6F44DD7}"/>
              </a:ext>
            </a:extLst>
          </p:cNvPr>
          <p:cNvSpPr>
            <a:spLocks noGrp="1"/>
          </p:cNvSpPr>
          <p:nvPr/>
        </p:nvSpPr>
        <p:spPr>
          <a:xfrm>
            <a:off x="658368"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0E5C88F-6CE1-43C6-971F-770E5D4BA0FA}"/>
              </a:ext>
            </a:extLst>
          </p:cNvPr>
          <p:cNvSpPr>
            <a:spLocks noGrp="1"/>
          </p:cNvSpPr>
          <p:nvPr/>
        </p:nvSpPr>
        <p:spPr>
          <a:xfrm>
            <a:off x="822959"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321</a:t>
            </a:r>
          </a:p>
        </p:txBody>
      </p:sp>
      <p:sp>
        <p:nvSpPr>
          <p:cNvPr id="6" name="TextBox 5">
            <a:extLst>
              <a:ext uri="{FF2B5EF4-FFF2-40B4-BE49-F238E27FC236}">
                <a16:creationId xmlns:a16="http://schemas.microsoft.com/office/drawing/2014/main" id="{F99010AA-ED42-4086-B32F-37D37A40B545}"/>
              </a:ext>
            </a:extLst>
          </p:cNvPr>
          <p:cNvSpPr>
            <a:spLocks noGrp="1"/>
          </p:cNvSpPr>
          <p:nvPr/>
        </p:nvSpPr>
        <p:spPr>
          <a:xfrm>
            <a:off x="2048256" y="1314491"/>
            <a:ext cx="1828800" cy="39395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324 planned contrasts have enough cells.</a:t>
            </a:r>
          </a:p>
        </p:txBody>
      </p:sp>
      <p:sp>
        <p:nvSpPr>
          <p:cNvPr id="7" name="Rounded Rectangle 6">
            <a:extLst>
              <a:ext uri="{FF2B5EF4-FFF2-40B4-BE49-F238E27FC236}">
                <a16:creationId xmlns:a16="http://schemas.microsoft.com/office/drawing/2014/main" id="{98A0FD29-D12C-4F6B-A119-773CE09124F6}"/>
              </a:ext>
            </a:extLst>
          </p:cNvPr>
          <p:cNvSpPr>
            <a:spLocks noGrp="1"/>
          </p:cNvSpPr>
          <p:nvPr/>
        </p:nvSpPr>
        <p:spPr>
          <a:xfrm>
            <a:off x="4398264"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6E4D690A-DFEA-44D7-A12A-7D5256786E1B}"/>
              </a:ext>
            </a:extLst>
          </p:cNvPr>
          <p:cNvSpPr>
            <a:spLocks noGrp="1"/>
          </p:cNvSpPr>
          <p:nvPr/>
        </p:nvSpPr>
        <p:spPr>
          <a:xfrm>
            <a:off x="4562855"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277</a:t>
            </a:r>
          </a:p>
        </p:txBody>
      </p:sp>
      <p:sp>
        <p:nvSpPr>
          <p:cNvPr id="9" name="TextBox 8">
            <a:extLst>
              <a:ext uri="{FF2B5EF4-FFF2-40B4-BE49-F238E27FC236}">
                <a16:creationId xmlns:a16="http://schemas.microsoft.com/office/drawing/2014/main" id="{26F99527-EECB-4761-8873-875DD10921AF}"/>
              </a:ext>
            </a:extLst>
          </p:cNvPr>
          <p:cNvSpPr>
            <a:spLocks noGrp="1"/>
          </p:cNvSpPr>
          <p:nvPr/>
        </p:nvSpPr>
        <p:spPr>
          <a:xfrm>
            <a:off x="5788152" y="1358734"/>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321 estimable comparisons had at least one DEG</a:t>
            </a:r>
          </a:p>
        </p:txBody>
      </p:sp>
      <p:sp>
        <p:nvSpPr>
          <p:cNvPr id="11" name="Rounded Rectangle 10">
            <a:extLst>
              <a:ext uri="{FF2B5EF4-FFF2-40B4-BE49-F238E27FC236}">
                <a16:creationId xmlns:a16="http://schemas.microsoft.com/office/drawing/2014/main" id="{CE980754-5288-410C-9D81-9B8EFFDCB7B2}"/>
              </a:ext>
            </a:extLst>
          </p:cNvPr>
          <p:cNvSpPr>
            <a:spLocks noGrp="1"/>
          </p:cNvSpPr>
          <p:nvPr/>
        </p:nvSpPr>
        <p:spPr>
          <a:xfrm>
            <a:off x="8138160"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AFFD5AF3-A618-4E76-B0F5-AA1C8BB43020}"/>
              </a:ext>
            </a:extLst>
          </p:cNvPr>
          <p:cNvSpPr>
            <a:spLocks noGrp="1"/>
          </p:cNvSpPr>
          <p:nvPr/>
        </p:nvSpPr>
        <p:spPr>
          <a:xfrm>
            <a:off x="8302752"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118,297</a:t>
            </a:r>
          </a:p>
        </p:txBody>
      </p:sp>
      <p:sp>
        <p:nvSpPr>
          <p:cNvPr id="13" name="TextBox 12">
            <a:extLst>
              <a:ext uri="{FF2B5EF4-FFF2-40B4-BE49-F238E27FC236}">
                <a16:creationId xmlns:a16="http://schemas.microsoft.com/office/drawing/2014/main" id="{2B0F084A-B43C-4E28-9D0D-E60D0A60A20B}"/>
              </a:ext>
            </a:extLst>
          </p:cNvPr>
          <p:cNvSpPr>
            <a:spLocks noGrp="1"/>
          </p:cNvSpPr>
          <p:nvPr/>
        </p:nvSpPr>
        <p:spPr>
          <a:xfrm>
            <a:off x="9528048" y="1274065"/>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DEG occurrences</a:t>
            </a:r>
          </a:p>
        </p:txBody>
      </p:sp>
      <p:sp>
        <p:nvSpPr>
          <p:cNvPr id="14" name="TextBox 13">
            <a:extLst>
              <a:ext uri="{FF2B5EF4-FFF2-40B4-BE49-F238E27FC236}">
                <a16:creationId xmlns:a16="http://schemas.microsoft.com/office/drawing/2014/main" id="{C21281E1-0F01-4EAF-AF2A-DC9B0C3B143B}"/>
              </a:ext>
            </a:extLst>
          </p:cNvPr>
          <p:cNvSpPr>
            <a:spLocks noGrp="1"/>
          </p:cNvSpPr>
          <p:nvPr/>
        </p:nvSpPr>
        <p:spPr>
          <a:xfrm>
            <a:off x="9528048" y="1539241"/>
            <a:ext cx="1828800" cy="20116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0" i="0">
                <a:solidFill>
                  <a:srgbClr val="4E5A68"/>
                </a:solidFill>
                <a:latin typeface="Arial"/>
                <a:ea typeface="Arial"/>
                <a:cs typeface="Arial"/>
              </a:rPr>
              <a:t>14,840 distinct genes represented</a:t>
            </a:r>
          </a:p>
        </p:txBody>
      </p:sp>
      <p:pic>
        <p:nvPicPr>
          <p:cNvPr id="32" name="Stacked horizontal bar chart of all ROSMAP fine-cell DEG occurrences across six sex/APOE groups. Blue segments show genes up-regulated in Alzheimer’s disease and hatched orange segments show genes down-regulated in Alzheimer’s disease."/>
          <p:cNvPicPr>
            <a:picLocks noChangeAspect="1"/>
          </p:cNvPicPr>
          <p:nvPr/>
        </p:nvPicPr>
        <p:blipFill>
          <a:blip r:embed="rId3"/>
          <a:stretch>
            <a:fillRect/>
          </a:stretch>
        </p:blipFill>
        <p:spPr>
          <a:xfrm>
            <a:off x="658368" y="2069326"/>
            <a:ext cx="10881360" cy="3139970"/>
          </a:xfrm>
          <a:prstGeom prst="rect">
            <a:avLst/>
          </a:prstGeom>
        </p:spPr>
      </p:pic>
      <p:sp>
        <p:nvSpPr>
          <p:cNvPr id="16" name="Rounded Rectangle 15">
            <a:extLst>
              <a:ext uri="{FF2B5EF4-FFF2-40B4-BE49-F238E27FC236}">
                <a16:creationId xmlns:a16="http://schemas.microsoft.com/office/drawing/2014/main" id="{6694235D-55CF-49EF-A672-C9778E61257F}"/>
              </a:ext>
            </a:extLst>
          </p:cNvPr>
          <p:cNvSpPr>
            <a:spLocks noGrp="1"/>
          </p:cNvSpPr>
          <p:nvPr/>
        </p:nvSpPr>
        <p:spPr>
          <a:xfrm>
            <a:off x="658368" y="5596128"/>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3EF7780-BF1A-49FD-8AE0-8480E45DC812}"/>
              </a:ext>
            </a:extLst>
          </p:cNvPr>
          <p:cNvSpPr>
            <a:spLocks noGrp="1"/>
          </p:cNvSpPr>
          <p:nvPr/>
        </p:nvSpPr>
        <p:spPr>
          <a:xfrm>
            <a:off x="923544" y="5797296"/>
            <a:ext cx="118872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patterns</a:t>
            </a:r>
          </a:p>
        </p:txBody>
      </p:sp>
      <p:sp>
        <p:nvSpPr>
          <p:cNvPr id="18" name="TextBox 17">
            <a:extLst>
              <a:ext uri="{FF2B5EF4-FFF2-40B4-BE49-F238E27FC236}">
                <a16:creationId xmlns:a16="http://schemas.microsoft.com/office/drawing/2014/main" id="{BD8B6944-62D2-41F5-BA50-537C49D71BF8}"/>
              </a:ext>
            </a:extLst>
          </p:cNvPr>
          <p:cNvSpPr>
            <a:spLocks noGrp="1"/>
          </p:cNvSpPr>
          <p:nvPr/>
        </p:nvSpPr>
        <p:spPr>
          <a:xfrm>
            <a:off x="2212848" y="5776219"/>
            <a:ext cx="8924544" cy="26161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40" b="0" i="0">
                <a:solidFill>
                  <a:srgbClr val="1F2730"/>
                </a:solidFill>
                <a:latin typeface="Arial"/>
                <a:ea typeface="Arial"/>
                <a:cs typeface="Arial"/>
              </a:rPr>
              <a:t>Male ε2 had the largest DEG count; female ε4 was strongly dominated by down-regulated genes (76%).</a:t>
            </a:r>
          </a:p>
        </p:txBody>
      </p:sp>
    </p:spTree>
    <p:extLst>
      <p:ext uri="{BB962C8B-B14F-4D97-AF65-F5344CB8AC3E}">
        <p14:creationId xmlns:p14="http://schemas.microsoft.com/office/powerpoint/2010/main" val="13330381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6449442-E04A-2746-AD1A-39210122B8CC}"/>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Pathway analysis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C52DFCBC-DC31-CFCB-BB0B-646BD49CF41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3</a:t>
            </a:r>
          </a:p>
        </p:txBody>
      </p:sp>
    </p:spTree>
    <p:extLst>
      <p:ext uri="{BB962C8B-B14F-4D97-AF65-F5344CB8AC3E}">
        <p14:creationId xmlns:p14="http://schemas.microsoft.com/office/powerpoint/2010/main" val="38155813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definition-title"/>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Significant pathway result</a:t>
            </a:r>
          </a:p>
        </p:txBody>
      </p:sp>
      <p:sp>
        <p:nvSpPr>
          <p:cNvPr id="3" name="definition-subtitle"/>
          <p:cNvSpPr>
            <a:spLocks noGrp="1"/>
          </p:cNvSpPr>
          <p:nvPr/>
        </p:nvSpPr>
        <p:spPr>
          <a:xfrm>
            <a:off x="548640" y="886968"/>
            <a:ext cx="10561320" cy="230832"/>
          </a:xfrm>
          <a:prstGeom prst="rect">
            <a:avLst/>
          </a:prstGeom>
          <a:noFill/>
        </p:spPr>
        <p:txBody>
          <a:bodyPr wrap="square" lIns="0" tIns="0" rIns="0" bIns="0" anchor="t">
            <a:spAutoFit/>
          </a:bodyPr>
          <a:lstStyle/>
          <a:p>
            <a:pPr algn="l">
              <a:lnSpc>
                <a:spcPct val="100000"/>
              </a:lnSpc>
              <a:spcBef>
                <a:spcPts val="0"/>
              </a:spcBef>
              <a:spcAft>
                <a:spcPts val="0"/>
              </a:spcAft>
              <a:buNone/>
            </a:pPr>
            <a:r>
              <a:rPr sz="1500" b="0" i="0" dirty="0">
                <a:solidFill>
                  <a:srgbClr val="4E5A68"/>
                </a:solidFill>
                <a:latin typeface="Arial"/>
                <a:ea typeface="Arial"/>
                <a:cs typeface="Arial"/>
              </a:rPr>
              <a:t>One result tests </a:t>
            </a:r>
            <a:r>
              <a:rPr sz="1500" b="1" i="0" dirty="0">
                <a:solidFill>
                  <a:srgbClr val="FF0000"/>
                </a:solidFill>
                <a:latin typeface="Arial"/>
                <a:ea typeface="Arial"/>
                <a:cs typeface="Arial"/>
              </a:rPr>
              <a:t>one</a:t>
            </a:r>
            <a:r>
              <a:rPr sz="1500" b="0" i="0" dirty="0">
                <a:solidFill>
                  <a:srgbClr val="FF0000"/>
                </a:solidFill>
                <a:latin typeface="Arial"/>
                <a:ea typeface="Arial"/>
                <a:cs typeface="Arial"/>
              </a:rPr>
              <a:t> </a:t>
            </a:r>
            <a:r>
              <a:rPr sz="1500" b="1" i="0" dirty="0">
                <a:solidFill>
                  <a:srgbClr val="FF0000"/>
                </a:solidFill>
                <a:latin typeface="Arial"/>
                <a:ea typeface="Arial"/>
                <a:cs typeface="Arial"/>
              </a:rPr>
              <a:t>pathway</a:t>
            </a:r>
            <a:r>
              <a:rPr sz="1500" b="0" i="0" dirty="0">
                <a:solidFill>
                  <a:srgbClr val="FF0000"/>
                </a:solidFill>
                <a:latin typeface="Arial"/>
                <a:ea typeface="Arial"/>
                <a:cs typeface="Arial"/>
              </a:rPr>
              <a:t> </a:t>
            </a:r>
            <a:r>
              <a:rPr sz="1500" b="0" i="0" dirty="0">
                <a:solidFill>
                  <a:srgbClr val="4E5A68"/>
                </a:solidFill>
                <a:latin typeface="Arial"/>
                <a:ea typeface="Arial"/>
                <a:cs typeface="Arial"/>
              </a:rPr>
              <a:t>in one DEG list from one fine-cell sex/APOE </a:t>
            </a:r>
            <a:r>
              <a:rPr sz="1500" b="1" i="0" dirty="0">
                <a:solidFill>
                  <a:srgbClr val="FF0000"/>
                </a:solidFill>
                <a:latin typeface="Arial"/>
                <a:ea typeface="Arial"/>
                <a:cs typeface="Arial"/>
              </a:rPr>
              <a:t>contrast</a:t>
            </a:r>
            <a:r>
              <a:rPr sz="1500" b="0" i="0" dirty="0">
                <a:solidFill>
                  <a:srgbClr val="4E5A68"/>
                </a:solidFill>
                <a:latin typeface="Arial"/>
                <a:ea typeface="Arial"/>
                <a:cs typeface="Arial"/>
              </a:rPr>
              <a:t>.</a:t>
            </a:r>
          </a:p>
        </p:txBody>
      </p:sp>
      <p:sp>
        <p:nvSpPr>
          <p:cNvPr id="4" name="unit-of-analysis-panel"/>
          <p:cNvSpPr>
            <a:spLocks noGrp="1"/>
          </p:cNvSpPr>
          <p:nvPr/>
        </p:nvSpPr>
        <p:spPr>
          <a:xfrm>
            <a:off x="658368" y="1371600"/>
            <a:ext cx="4663440" cy="1837944"/>
          </a:xfrm>
          <a:prstGeom prst="roundRect">
            <a:avLst/>
          </a:prstGeom>
          <a:solidFill>
            <a:srgbClr val="EBF7FC"/>
          </a:solidFill>
          <a:ln w="12700">
            <a:solidFill>
              <a:srgbClr val="D8EAF2"/>
            </a:solidFill>
          </a:ln>
        </p:spPr>
        <p:txBody>
          <a:bodyPr anchor="ctr"/>
          <a:lstStyle/>
          <a:p>
            <a:pPr algn="ctr">
              <a:buNone/>
            </a:pPr>
            <a:endParaRPr/>
          </a:p>
        </p:txBody>
      </p:sp>
      <p:sp>
        <p:nvSpPr>
          <p:cNvPr id="5" name="unit-of-analysis-label"/>
          <p:cNvSpPr>
            <a:spLocks noGrp="1"/>
          </p:cNvSpPr>
          <p:nvPr/>
        </p:nvSpPr>
        <p:spPr>
          <a:xfrm>
            <a:off x="914400" y="1584960"/>
            <a:ext cx="384048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72B2"/>
                </a:solidFill>
                <a:latin typeface="Arial"/>
                <a:ea typeface="Arial"/>
                <a:cs typeface="Arial"/>
              </a:rPr>
              <a:t>ONE RESULT</a:t>
            </a:r>
          </a:p>
        </p:txBody>
      </p:sp>
      <p:sp>
        <p:nvSpPr>
          <p:cNvPr id="6" name="unit-of-analysis-main"/>
          <p:cNvSpPr>
            <a:spLocks noGrp="1"/>
          </p:cNvSpPr>
          <p:nvPr/>
        </p:nvSpPr>
        <p:spPr>
          <a:xfrm>
            <a:off x="914400" y="1950720"/>
            <a:ext cx="3840480" cy="612648"/>
          </a:xfrm>
          <a:prstGeom prst="rect">
            <a:avLst/>
          </a:prstGeom>
          <a:noFill/>
        </p:spPr>
        <p:txBody>
          <a:bodyPr wrap="square" lIns="0" tIns="0" rIns="0" bIns="0" anchor="t">
            <a:spAutoFit/>
          </a:bodyPr>
          <a:lstStyle/>
          <a:p>
            <a:pPr algn="l">
              <a:lnSpc>
                <a:spcPct val="100000"/>
              </a:lnSpc>
              <a:spcBef>
                <a:spcPts val="0"/>
              </a:spcBef>
              <a:spcAft>
                <a:spcPts val="0"/>
              </a:spcAft>
              <a:buNone/>
            </a:pPr>
            <a:r>
              <a:rPr sz="1775" b="1" i="0">
                <a:solidFill>
                  <a:srgbClr val="0F233D"/>
                </a:solidFill>
                <a:latin typeface="Arial"/>
                <a:ea typeface="Arial"/>
                <a:cs typeface="Arial"/>
              </a:rPr>
              <a:t>One pathway</a:t>
            </a:r>
          </a:p>
          <a:p>
            <a:pPr algn="l">
              <a:lnSpc>
                <a:spcPct val="100000"/>
              </a:lnSpc>
              <a:spcBef>
                <a:spcPts val="0"/>
              </a:spcBef>
              <a:spcAft>
                <a:spcPts val="0"/>
              </a:spcAft>
              <a:buNone/>
            </a:pPr>
            <a:r>
              <a:rPr sz="1775" b="1" i="0">
                <a:solidFill>
                  <a:srgbClr val="0F233D"/>
                </a:solidFill>
                <a:latin typeface="Arial"/>
                <a:ea typeface="Arial"/>
                <a:cs typeface="Arial"/>
              </a:rPr>
              <a:t>One DEG list</a:t>
            </a:r>
          </a:p>
          <a:p>
            <a:pPr algn="l">
              <a:lnSpc>
                <a:spcPct val="100000"/>
              </a:lnSpc>
              <a:spcBef>
                <a:spcPts val="0"/>
              </a:spcBef>
              <a:spcAft>
                <a:spcPts val="0"/>
              </a:spcAft>
              <a:buNone/>
            </a:pPr>
            <a:r>
              <a:rPr sz="1775" b="1" i="0">
                <a:solidFill>
                  <a:srgbClr val="0F233D"/>
                </a:solidFill>
                <a:latin typeface="Arial"/>
                <a:ea typeface="Arial"/>
                <a:cs typeface="Arial"/>
              </a:rPr>
              <a:t>One fine-cell sex/APOE contrast</a:t>
            </a:r>
          </a:p>
        </p:txBody>
      </p:sp>
      <p:sp>
        <p:nvSpPr>
          <p:cNvPr id="7" name="unit-of-analysis-detail"/>
          <p:cNvSpPr>
            <a:spLocks noGrp="1"/>
          </p:cNvSpPr>
          <p:nvPr/>
        </p:nvSpPr>
        <p:spPr>
          <a:xfrm>
            <a:off x="914400" y="2731008"/>
            <a:ext cx="3840480" cy="329184"/>
          </a:xfrm>
          <a:prstGeom prst="rect">
            <a:avLst/>
          </a:prstGeom>
          <a:noFill/>
        </p:spPr>
        <p:txBody>
          <a:bodyPr wrap="square" lIns="0" tIns="0" rIns="0" bIns="0" anchor="t">
            <a:spAutoFit/>
          </a:bodyPr>
          <a:lstStyle/>
          <a:p>
            <a:pPr algn="l">
              <a:lnSpc>
                <a:spcPct val="100000"/>
              </a:lnSpc>
              <a:spcBef>
                <a:spcPts val="0"/>
              </a:spcBef>
              <a:spcAft>
                <a:spcPts val="0"/>
              </a:spcAft>
              <a:buNone/>
            </a:pPr>
            <a:r>
              <a:rPr sz="1050" b="0" i="0">
                <a:solidFill>
                  <a:srgbClr val="4E5A68"/>
                </a:solidFill>
                <a:latin typeface="Arial"/>
                <a:ea typeface="Arial"/>
                <a:cs typeface="Arial"/>
              </a:rPr>
              <a:t>DEG lists: all mitochondrial DEGs, upregulated in AD, or downregulated in AD</a:t>
            </a:r>
          </a:p>
        </p:txBody>
      </p:sp>
      <p:sp>
        <p:nvSpPr>
          <p:cNvPr id="8" name="test-counts-panel"/>
          <p:cNvSpPr>
            <a:spLocks noGrp="1"/>
          </p:cNvSpPr>
          <p:nvPr/>
        </p:nvSpPr>
        <p:spPr>
          <a:xfrm>
            <a:off x="5471160" y="1371600"/>
            <a:ext cx="6065520" cy="1837944"/>
          </a:xfrm>
          <a:prstGeom prst="roundRect">
            <a:avLst/>
          </a:prstGeom>
          <a:solidFill>
            <a:srgbClr val="FFFFFF"/>
          </a:solidFill>
          <a:ln w="12700">
            <a:solidFill>
              <a:srgbClr val="E0E7EF"/>
            </a:solidFill>
          </a:ln>
        </p:spPr>
        <p:txBody>
          <a:bodyPr anchor="ctr"/>
          <a:lstStyle/>
          <a:p>
            <a:pPr algn="ctr">
              <a:buNone/>
            </a:pPr>
            <a:endParaRPr/>
          </a:p>
        </p:txBody>
      </p:sp>
      <p:sp>
        <p:nvSpPr>
          <p:cNvPr id="9" name="test-counts-label"/>
          <p:cNvSpPr>
            <a:spLocks noGrp="1"/>
          </p:cNvSpPr>
          <p:nvPr/>
        </p:nvSpPr>
        <p:spPr>
          <a:xfrm>
            <a:off x="5760720" y="1584960"/>
            <a:ext cx="536448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684D"/>
                </a:solidFill>
                <a:latin typeface="Arial"/>
                <a:ea typeface="Arial"/>
                <a:cs typeface="Arial"/>
              </a:rPr>
              <a:t>COUNTS USED BY THE TEST</a:t>
            </a:r>
          </a:p>
        </p:txBody>
      </p:sp>
      <p:sp>
        <p:nvSpPr>
          <p:cNvPr id="10" name="count-N"/>
          <p:cNvSpPr>
            <a:spLocks noGrp="1"/>
          </p:cNvSpPr>
          <p:nvPr/>
        </p:nvSpPr>
        <p:spPr>
          <a:xfrm>
            <a:off x="5760720" y="1941576"/>
            <a:ext cx="246888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72B2"/>
                </a:solidFill>
                <a:latin typeface="Arial"/>
                <a:ea typeface="Arial"/>
                <a:cs typeface="Arial"/>
              </a:rPr>
              <a:t>N</a:t>
            </a:r>
            <a:r>
              <a:rPr sz="1100" b="0" i="0">
                <a:solidFill>
                  <a:srgbClr val="1F2730"/>
                </a:solidFill>
                <a:latin typeface="Arial"/>
                <a:ea typeface="Arial"/>
                <a:cs typeface="Arial"/>
              </a:rPr>
              <a:t>  Detectable MitoCarta MT genes in the contrast</a:t>
            </a:r>
          </a:p>
        </p:txBody>
      </p:sp>
      <p:sp>
        <p:nvSpPr>
          <p:cNvPr id="11" name="count-M"/>
          <p:cNvSpPr>
            <a:spLocks noGrp="1"/>
          </p:cNvSpPr>
          <p:nvPr/>
        </p:nvSpPr>
        <p:spPr>
          <a:xfrm>
            <a:off x="8488680" y="1941576"/>
            <a:ext cx="274320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72B2"/>
                </a:solidFill>
                <a:latin typeface="Arial"/>
                <a:ea typeface="Arial"/>
                <a:cs typeface="Arial"/>
              </a:rPr>
              <a:t>M</a:t>
            </a:r>
            <a:r>
              <a:rPr sz="1100" b="0" i="0">
                <a:solidFill>
                  <a:srgbClr val="1F2730"/>
                </a:solidFill>
                <a:latin typeface="Arial"/>
                <a:ea typeface="Arial"/>
                <a:cs typeface="Arial"/>
              </a:rPr>
              <a:t>  Genes in N that belong to the pathway</a:t>
            </a:r>
          </a:p>
        </p:txBody>
      </p:sp>
      <p:sp>
        <p:nvSpPr>
          <p:cNvPr id="12" name="count-n"/>
          <p:cNvSpPr>
            <a:spLocks noGrp="1"/>
          </p:cNvSpPr>
          <p:nvPr/>
        </p:nvSpPr>
        <p:spPr>
          <a:xfrm>
            <a:off x="5760720" y="2551176"/>
            <a:ext cx="246888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684D"/>
                </a:solidFill>
                <a:latin typeface="Arial"/>
                <a:ea typeface="Arial"/>
                <a:cs typeface="Arial"/>
              </a:rPr>
              <a:t>n</a:t>
            </a:r>
            <a:r>
              <a:rPr sz="1100" b="0" i="0">
                <a:solidFill>
                  <a:srgbClr val="1F2730"/>
                </a:solidFill>
                <a:latin typeface="Arial"/>
                <a:ea typeface="Arial"/>
                <a:cs typeface="Arial"/>
              </a:rPr>
              <a:t>  DEGs in the selected list</a:t>
            </a:r>
          </a:p>
        </p:txBody>
      </p:sp>
      <p:sp>
        <p:nvSpPr>
          <p:cNvPr id="13" name="count-k"/>
          <p:cNvSpPr>
            <a:spLocks noGrp="1"/>
          </p:cNvSpPr>
          <p:nvPr/>
        </p:nvSpPr>
        <p:spPr>
          <a:xfrm>
            <a:off x="8488680" y="2551176"/>
            <a:ext cx="274320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684D"/>
                </a:solidFill>
                <a:latin typeface="Arial"/>
                <a:ea typeface="Arial"/>
                <a:cs typeface="Arial"/>
              </a:rPr>
              <a:t>k</a:t>
            </a:r>
            <a:r>
              <a:rPr sz="1100" b="0" i="0">
                <a:solidFill>
                  <a:srgbClr val="1F2730"/>
                </a:solidFill>
                <a:latin typeface="Arial"/>
                <a:ea typeface="Arial"/>
                <a:cs typeface="Arial"/>
              </a:rPr>
              <a:t>  Genes in n that belong to the pathway</a:t>
            </a:r>
          </a:p>
        </p:txBody>
      </p:sp>
      <p:sp>
        <p:nvSpPr>
          <p:cNvPr id="14" name="hypergeometric-panel"/>
          <p:cNvSpPr>
            <a:spLocks noGrp="1"/>
          </p:cNvSpPr>
          <p:nvPr/>
        </p:nvSpPr>
        <p:spPr>
          <a:xfrm>
            <a:off x="658368" y="3413760"/>
            <a:ext cx="10881360" cy="1463040"/>
          </a:xfrm>
          <a:prstGeom prst="roundRect">
            <a:avLst/>
          </a:prstGeom>
          <a:solidFill>
            <a:srgbClr val="FFFFFF"/>
          </a:solidFill>
          <a:ln w="12700">
            <a:solidFill>
              <a:srgbClr val="D8E2EC"/>
            </a:solidFill>
          </a:ln>
        </p:spPr>
        <p:txBody>
          <a:bodyPr anchor="ctr"/>
          <a:lstStyle/>
          <a:p>
            <a:pPr algn="ctr">
              <a:buNone/>
            </a:pPr>
            <a:endParaRPr/>
          </a:p>
        </p:txBody>
      </p:sp>
      <p:sp>
        <p:nvSpPr>
          <p:cNvPr id="15" name="hypergeometric-label"/>
          <p:cNvSpPr>
            <a:spLocks noGrp="1"/>
          </p:cNvSpPr>
          <p:nvPr/>
        </p:nvSpPr>
        <p:spPr>
          <a:xfrm>
            <a:off x="914400" y="3596640"/>
            <a:ext cx="548640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7E4C9A"/>
                </a:solidFill>
                <a:latin typeface="Arial"/>
                <a:ea typeface="Arial"/>
                <a:cs typeface="Arial"/>
              </a:rPr>
              <a:t>ONE-SIDED HYPERGEOMETRIC TEST</a:t>
            </a:r>
          </a:p>
        </p:txBody>
      </p:sp>
      <p:sp>
        <p:nvSpPr>
          <p:cNvPr id="16" name="hypergeometric-formula"/>
          <p:cNvSpPr>
            <a:spLocks noGrp="1"/>
          </p:cNvSpPr>
          <p:nvPr/>
        </p:nvSpPr>
        <p:spPr>
          <a:xfrm>
            <a:off x="914400" y="3977640"/>
            <a:ext cx="4389120" cy="365760"/>
          </a:xfrm>
          <a:prstGeom prst="rect">
            <a:avLst/>
          </a:prstGeom>
          <a:noFill/>
        </p:spPr>
        <p:txBody>
          <a:bodyPr wrap="square" lIns="0" tIns="0" rIns="0" bIns="0"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P = Pr(K ≥ k | N, M, n)</a:t>
            </a:r>
          </a:p>
        </p:txBody>
      </p:sp>
      <p:sp>
        <p:nvSpPr>
          <p:cNvPr id="17" name="hypergeometric-explanation"/>
          <p:cNvSpPr>
            <a:spLocks noGrp="1"/>
          </p:cNvSpPr>
          <p:nvPr/>
        </p:nvSpPr>
        <p:spPr>
          <a:xfrm>
            <a:off x="914400" y="4419600"/>
            <a:ext cx="6431280" cy="329184"/>
          </a:xfrm>
          <a:prstGeom prst="rect">
            <a:avLst/>
          </a:prstGeom>
          <a:noFill/>
        </p:spPr>
        <p:txBody>
          <a:bodyPr wrap="square" lIns="0" tIns="0" rIns="0" bIns="0" anchor="t">
            <a:spAutoFit/>
          </a:bodyPr>
          <a:lstStyle/>
          <a:p>
            <a:pPr algn="l">
              <a:lnSpc>
                <a:spcPct val="100000"/>
              </a:lnSpc>
              <a:spcBef>
                <a:spcPts val="0"/>
              </a:spcBef>
              <a:spcAft>
                <a:spcPts val="0"/>
              </a:spcAft>
              <a:buNone/>
            </a:pPr>
            <a:r>
              <a:rPr sz="1050" b="0" i="0">
                <a:solidFill>
                  <a:srgbClr val="4E5A68"/>
                </a:solidFill>
                <a:latin typeface="Arial"/>
                <a:ea typeface="Arial"/>
                <a:cs typeface="Arial"/>
              </a:rPr>
              <a:t>Chance of observing k or more pathway DEGs if n DEGs were randomly drawn from the N detectable genes.</a:t>
            </a:r>
          </a:p>
        </p:txBody>
      </p:sp>
      <p:sp>
        <p:nvSpPr>
          <p:cNvPr id="18" name="enrichment-label"/>
          <p:cNvSpPr>
            <a:spLocks noGrp="1"/>
          </p:cNvSpPr>
          <p:nvPr/>
        </p:nvSpPr>
        <p:spPr>
          <a:xfrm>
            <a:off x="8138160" y="3694176"/>
            <a:ext cx="2743200" cy="237744"/>
          </a:xfrm>
          <a:prstGeom prst="rect">
            <a:avLst/>
          </a:prstGeom>
          <a:noFill/>
        </p:spPr>
        <p:txBody>
          <a:bodyPr wrap="square" lIns="0" tIns="0" rIns="0" bIns="0" anchor="t">
            <a:spAutoFit/>
          </a:bodyPr>
          <a:lstStyle/>
          <a:p>
            <a:pPr algn="ctr">
              <a:lnSpc>
                <a:spcPct val="100000"/>
              </a:lnSpc>
              <a:spcBef>
                <a:spcPts val="0"/>
              </a:spcBef>
              <a:spcAft>
                <a:spcPts val="0"/>
              </a:spcAft>
              <a:buNone/>
            </a:pPr>
            <a:r>
              <a:rPr sz="990" b="1" i="0">
                <a:solidFill>
                  <a:srgbClr val="6C7988"/>
                </a:solidFill>
                <a:latin typeface="Arial"/>
                <a:ea typeface="Arial"/>
                <a:cs typeface="Arial"/>
              </a:rPr>
              <a:t>ENRICHMENT</a:t>
            </a:r>
          </a:p>
        </p:txBody>
      </p:sp>
      <p:sp>
        <p:nvSpPr>
          <p:cNvPr id="19" name="enrichment-formula"/>
          <p:cNvSpPr>
            <a:spLocks noGrp="1"/>
          </p:cNvSpPr>
          <p:nvPr/>
        </p:nvSpPr>
        <p:spPr>
          <a:xfrm>
            <a:off x="8138160" y="4075176"/>
            <a:ext cx="2743200" cy="365760"/>
          </a:xfrm>
          <a:prstGeom prst="rect">
            <a:avLst/>
          </a:prstGeom>
          <a:noFill/>
        </p:spPr>
        <p:txBody>
          <a:bodyPr wrap="square" lIns="0" tIns="0" rIns="0" bIns="0" anchor="t">
            <a:spAutoFit/>
          </a:bodyPr>
          <a:lstStyle/>
          <a:p>
            <a:pPr algn="ctr">
              <a:lnSpc>
                <a:spcPct val="100000"/>
              </a:lnSpc>
              <a:spcBef>
                <a:spcPts val="0"/>
              </a:spcBef>
              <a:spcAft>
                <a:spcPts val="0"/>
              </a:spcAft>
              <a:buNone/>
            </a:pPr>
            <a:r>
              <a:rPr sz="2100" b="1" i="0">
                <a:solidFill>
                  <a:srgbClr val="00684D"/>
                </a:solidFill>
                <a:latin typeface="Arial"/>
                <a:ea typeface="Arial"/>
                <a:cs typeface="Arial"/>
              </a:rPr>
              <a:t>(k / n) ÷ (M / N)</a:t>
            </a:r>
          </a:p>
        </p:txBody>
      </p:sp>
      <p:sp>
        <p:nvSpPr>
          <p:cNvPr id="20" name="bh-correction"/>
          <p:cNvSpPr>
            <a:spLocks noGrp="1"/>
          </p:cNvSpPr>
          <p:nvPr/>
        </p:nvSpPr>
        <p:spPr>
          <a:xfrm>
            <a:off x="777240" y="5074920"/>
            <a:ext cx="10607040" cy="62179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20" b="1" i="0">
                <a:solidFill>
                  <a:srgbClr val="0F233D"/>
                </a:solidFill>
                <a:latin typeface="Arial"/>
                <a:ea typeface="Arial"/>
                <a:cs typeface="Arial"/>
              </a:rPr>
              <a:t>Benjamini-Hochberg correction: </a:t>
            </a:r>
            <a:r>
              <a:rPr sz="1220" b="0" i="0">
                <a:solidFill>
                  <a:srgbClr val="1F2730"/>
                </a:solidFill>
                <a:latin typeface="Arial"/>
                <a:ea typeface="Arial"/>
                <a:cs typeface="Arial"/>
              </a:rPr>
              <a:t>adjust P values across all testable pathways in the same collection for this contrast and DEG list.</a:t>
            </a:r>
          </a:p>
        </p:txBody>
      </p:sp>
      <p:sp>
        <p:nvSpPr>
          <p:cNvPr id="21" name="significance-rule-panel"/>
          <p:cNvSpPr>
            <a:spLocks noGrp="1"/>
          </p:cNvSpPr>
          <p:nvPr/>
        </p:nvSpPr>
        <p:spPr>
          <a:xfrm>
            <a:off x="658368" y="5760720"/>
            <a:ext cx="10881360" cy="731520"/>
          </a:xfrm>
          <a:prstGeom prst="roundRect">
            <a:avLst/>
          </a:prstGeom>
          <a:solidFill>
            <a:srgbClr val="E4F4EE"/>
          </a:solidFill>
          <a:ln w="12700">
            <a:solidFill>
              <a:srgbClr val="C8E5DB"/>
            </a:solidFill>
          </a:ln>
        </p:spPr>
        <p:txBody>
          <a:bodyPr anchor="ctr"/>
          <a:lstStyle/>
          <a:p>
            <a:pPr algn="ctr">
              <a:buNone/>
            </a:pPr>
            <a:endParaRPr/>
          </a:p>
        </p:txBody>
      </p:sp>
      <p:sp>
        <p:nvSpPr>
          <p:cNvPr id="22" name="significance-rule-label"/>
          <p:cNvSpPr>
            <a:spLocks noGrp="1"/>
          </p:cNvSpPr>
          <p:nvPr/>
        </p:nvSpPr>
        <p:spPr>
          <a:xfrm>
            <a:off x="914400" y="5919216"/>
            <a:ext cx="3017520" cy="256032"/>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684D"/>
                </a:solidFill>
                <a:latin typeface="Arial"/>
                <a:ea typeface="Arial"/>
                <a:cs typeface="Arial"/>
              </a:rPr>
              <a:t>SIGNIFICANT PATHWAY RESULT</a:t>
            </a:r>
          </a:p>
        </p:txBody>
      </p:sp>
      <p:sp>
        <p:nvSpPr>
          <p:cNvPr id="23" name="significance-rule"/>
          <p:cNvSpPr>
            <a:spLocks noGrp="1"/>
          </p:cNvSpPr>
          <p:nvPr/>
        </p:nvSpPr>
        <p:spPr>
          <a:xfrm>
            <a:off x="3825240" y="5864352"/>
            <a:ext cx="3749040" cy="310896"/>
          </a:xfrm>
          <a:prstGeom prst="rect">
            <a:avLst/>
          </a:prstGeom>
          <a:noFill/>
        </p:spPr>
        <p:txBody>
          <a:bodyPr wrap="square" lIns="0" tIns="0" rIns="0" bIns="0" anchor="t">
            <a:spAutoFit/>
          </a:bodyPr>
          <a:lstStyle/>
          <a:p>
            <a:pPr algn="l">
              <a:lnSpc>
                <a:spcPct val="100000"/>
              </a:lnSpc>
              <a:spcBef>
                <a:spcPts val="0"/>
              </a:spcBef>
              <a:spcAft>
                <a:spcPts val="0"/>
              </a:spcAft>
              <a:buNone/>
            </a:pPr>
            <a:r>
              <a:rPr sz="1550" b="1" i="0">
                <a:solidFill>
                  <a:srgbClr val="0F233D"/>
                </a:solidFill>
                <a:latin typeface="Arial"/>
                <a:ea typeface="Arial"/>
                <a:cs typeface="Arial"/>
              </a:rPr>
              <a:t>Local BH-adjusted P value (FDR) &lt; 0.05</a:t>
            </a:r>
          </a:p>
        </p:txBody>
      </p:sp>
      <p:sp>
        <p:nvSpPr>
          <p:cNvPr id="24" name="significance-boundary"/>
          <p:cNvSpPr>
            <a:spLocks noGrp="1"/>
          </p:cNvSpPr>
          <p:nvPr/>
        </p:nvSpPr>
        <p:spPr>
          <a:xfrm>
            <a:off x="7772400" y="5855208"/>
            <a:ext cx="3474720" cy="347472"/>
          </a:xfrm>
          <a:prstGeom prst="rect">
            <a:avLst/>
          </a:prstGeom>
          <a:noFill/>
        </p:spPr>
        <p:txBody>
          <a:bodyPr wrap="square" lIns="0" tIns="0" rIns="0" bIns="0" anchor="t">
            <a:spAutoFit/>
          </a:bodyPr>
          <a:lstStyle/>
          <a:p>
            <a:pPr algn="l">
              <a:lnSpc>
                <a:spcPct val="100000"/>
              </a:lnSpc>
              <a:spcBef>
                <a:spcPts val="0"/>
              </a:spcBef>
              <a:spcAft>
                <a:spcPts val="0"/>
              </a:spcAft>
              <a:buNone/>
            </a:pPr>
            <a:r>
              <a:rPr sz="950" b="0" i="0">
                <a:solidFill>
                  <a:srgbClr val="4E5A68"/>
                </a:solidFill>
                <a:latin typeface="Arial"/>
                <a:ea typeface="Arial"/>
                <a:cs typeface="Arial"/>
              </a:rPr>
              <a:t>The test assesses over-representation. Pathway activity requires separate evidence.</a:t>
            </a:r>
          </a:p>
        </p:txBody>
      </p:sp>
      <p:sp>
        <p:nvSpPr>
          <p:cNvPr id="25" name="enrichment-explanation"/>
          <p:cNvSpPr>
            <a:spLocks noGrp="1"/>
          </p:cNvSpPr>
          <p:nvPr/>
        </p:nvSpPr>
        <p:spPr>
          <a:xfrm>
            <a:off x="7863840" y="4459224"/>
            <a:ext cx="3383280" cy="365760"/>
          </a:xfrm>
          <a:prstGeom prst="rect">
            <a:avLst/>
          </a:prstGeom>
          <a:noFill/>
        </p:spPr>
        <p:txBody>
          <a:bodyPr wrap="square" lIns="0" tIns="0" rIns="0" bIns="0" anchor="t">
            <a:spAutoFit/>
          </a:bodyPr>
          <a:lstStyle/>
          <a:p>
            <a:pPr algn="ctr">
              <a:lnSpc>
                <a:spcPct val="95000"/>
              </a:lnSpc>
              <a:spcBef>
                <a:spcPts val="0"/>
              </a:spcBef>
              <a:spcAft>
                <a:spcPts val="0"/>
              </a:spcAft>
              <a:buNone/>
            </a:pPr>
            <a:r>
              <a:rPr sz="850" b="0" i="0">
                <a:solidFill>
                  <a:srgbClr val="4E5A68"/>
                </a:solidFill>
                <a:latin typeface="Arial"/>
                <a:ea typeface="Arial"/>
                <a:cs typeface="Arial"/>
              </a:rPr>
              <a:t>Pathway share among DEGs ÷ pathway share among detectable genes</a:t>
            </a:r>
          </a:p>
          <a:p>
            <a:pPr algn="ctr">
              <a:lnSpc>
                <a:spcPct val="95000"/>
              </a:lnSpc>
              <a:spcBef>
                <a:spcPts val="300"/>
              </a:spcBef>
              <a:spcAft>
                <a:spcPts val="0"/>
              </a:spcAft>
              <a:buNone/>
            </a:pPr>
            <a:r>
              <a:rPr sz="950" b="1" i="0">
                <a:solidFill>
                  <a:srgbClr val="00684D"/>
                </a:solidFill>
                <a:latin typeface="Arial"/>
                <a:ea typeface="Arial"/>
                <a:cs typeface="Arial"/>
              </a:rPr>
              <a:t>&gt; 1 indicates enrichment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E59162-7D50-45F5-8596-6A0CAF54D40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How the pathway analysis was done</a:t>
            </a:r>
          </a:p>
        </p:txBody>
      </p:sp>
      <p:sp>
        <p:nvSpPr>
          <p:cNvPr id="3" name="TextBox 2">
            <a:extLst>
              <a:ext uri="{FF2B5EF4-FFF2-40B4-BE49-F238E27FC236}">
                <a16:creationId xmlns:a16="http://schemas.microsoft.com/office/drawing/2014/main" id="{769FF051-FBF1-43EE-AA8C-D681240222FC}"/>
              </a:ext>
            </a:extLst>
          </p:cNvPr>
          <p:cNvSpPr>
            <a:spLocks noGrp="1"/>
          </p:cNvSpPr>
          <p:nvPr/>
        </p:nvSpPr>
        <p:spPr>
          <a:xfrm>
            <a:off x="548640" y="895435"/>
            <a:ext cx="10561320" cy="547842"/>
          </a:xfrm>
          <a:prstGeom prst="rect">
            <a:avLst/>
          </a:prstGeom>
          <a:noFill/>
        </p:spPr>
        <p:txBody>
          <a:bodyPr wrap="square" lIns="0" tIns="0" rIns="0" bIns="0" anchor="t">
            <a:normAutofit/>
          </a:bodyPr>
          <a:lstStyle/>
          <a:p>
            <a:pPr algn="l">
              <a:lnSpc>
                <a:spcPct val="100000"/>
              </a:lnSpc>
              <a:spcBef>
                <a:spcPts val="0"/>
              </a:spcBef>
              <a:spcAft>
                <a:spcPts val="0"/>
              </a:spcAft>
              <a:buNone/>
              <a:defRPr sz="1600">
                <a:solidFill>
                  <a:srgbClr val="4E5A68"/>
                </a:solidFill>
                <a:latin typeface="Arial"/>
                <a:ea typeface="Arial"/>
                <a:cs typeface="Arial"/>
              </a:defRPr>
            </a:pPr>
            <a:r>
              <a:rPr sz="1600" b="0" i="0">
                <a:solidFill>
                  <a:srgbClr val="4E5A68"/>
                </a:solidFill>
                <a:latin typeface="Arial"/>
                <a:ea typeface="Arial"/>
                <a:cs typeface="Arial"/>
              </a:rPr>
              <a:t>Each fine-cell sex/APOE contrast was tested separately against these pathways.</a:t>
            </a:r>
          </a:p>
        </p:txBody>
      </p:sp>
      <p:sp>
        <p:nvSpPr>
          <p:cNvPr id="4" name="Rounded Rectangle 3">
            <a:extLst>
              <a:ext uri="{FF2B5EF4-FFF2-40B4-BE49-F238E27FC236}">
                <a16:creationId xmlns:a16="http://schemas.microsoft.com/office/drawing/2014/main" id="{21F6DD32-03E7-406D-8662-74B6E4CA0213}"/>
              </a:ext>
            </a:extLst>
          </p:cNvPr>
          <p:cNvSpPr>
            <a:spLocks noGrp="1"/>
          </p:cNvSpPr>
          <p:nvPr/>
        </p:nvSpPr>
        <p:spPr>
          <a:xfrm>
            <a:off x="2532888" y="1533294"/>
            <a:ext cx="3273552" cy="195681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47F0ACC6-27A0-494B-BC02-3E33D5E3B40F}"/>
              </a:ext>
            </a:extLst>
          </p:cNvPr>
          <p:cNvSpPr>
            <a:spLocks noGrp="1"/>
          </p:cNvSpPr>
          <p:nvPr/>
        </p:nvSpPr>
        <p:spPr>
          <a:xfrm>
            <a:off x="2752344" y="173446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3E7BABE-17B8-46CD-A086-0A9B1CCD10CC}"/>
              </a:ext>
            </a:extLst>
          </p:cNvPr>
          <p:cNvSpPr>
            <a:spLocks noGrp="1"/>
          </p:cNvSpPr>
          <p:nvPr/>
        </p:nvSpPr>
        <p:spPr>
          <a:xfrm>
            <a:off x="275234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764274CE-BE5B-470A-A8A0-6F4B6C1F75F2}"/>
              </a:ext>
            </a:extLst>
          </p:cNvPr>
          <p:cNvSpPr>
            <a:spLocks noGrp="1"/>
          </p:cNvSpPr>
          <p:nvPr/>
        </p:nvSpPr>
        <p:spPr>
          <a:xfrm>
            <a:off x="3300984" y="1765806"/>
            <a:ext cx="2212848" cy="293927"/>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DEG for each contrast</a:t>
            </a:r>
          </a:p>
        </p:txBody>
      </p:sp>
      <p:sp>
        <p:nvSpPr>
          <p:cNvPr id="8" name="TextBox 7">
            <a:extLst>
              <a:ext uri="{FF2B5EF4-FFF2-40B4-BE49-F238E27FC236}">
                <a16:creationId xmlns:a16="http://schemas.microsoft.com/office/drawing/2014/main" id="{3875CAF2-AA9B-4E6E-990B-386C67538437}"/>
              </a:ext>
            </a:extLst>
          </p:cNvPr>
          <p:cNvSpPr>
            <a:spLocks noGrp="1"/>
          </p:cNvSpPr>
          <p:nvPr/>
        </p:nvSpPr>
        <p:spPr>
          <a:xfrm>
            <a:off x="278892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For each contrast:
• all mitochondrial DEGs
• up-regulated in AD
• down-regulated in AD</a:t>
            </a:r>
          </a:p>
        </p:txBody>
      </p:sp>
      <p:sp>
        <p:nvSpPr>
          <p:cNvPr id="9" name="TextBox 8">
            <a:extLst>
              <a:ext uri="{FF2B5EF4-FFF2-40B4-BE49-F238E27FC236}">
                <a16:creationId xmlns:a16="http://schemas.microsoft.com/office/drawing/2014/main" id="{05559FE8-A77F-43DF-BA75-CB2CA9ADC708}"/>
              </a:ext>
            </a:extLst>
          </p:cNvPr>
          <p:cNvSpPr>
            <a:spLocks noGrp="1"/>
          </p:cNvSpPr>
          <p:nvPr/>
        </p:nvSpPr>
        <p:spPr>
          <a:xfrm>
            <a:off x="5879592" y="2209950"/>
            <a:ext cx="320040" cy="3657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300" b="1" i="0">
                <a:solidFill>
                  <a:srgbClr val="6C7988"/>
                </a:solidFill>
                <a:latin typeface="Arial"/>
                <a:ea typeface="Arial"/>
                <a:cs typeface="Arial"/>
              </a:rPr>
              <a:t>→</a:t>
            </a:r>
          </a:p>
        </p:txBody>
      </p:sp>
      <p:sp>
        <p:nvSpPr>
          <p:cNvPr id="10" name="Rounded Rectangle 9">
            <a:extLst>
              <a:ext uri="{FF2B5EF4-FFF2-40B4-BE49-F238E27FC236}">
                <a16:creationId xmlns:a16="http://schemas.microsoft.com/office/drawing/2014/main" id="{330C729C-5E22-4EBB-85FC-7255D6515391}"/>
              </a:ext>
            </a:extLst>
          </p:cNvPr>
          <p:cNvSpPr>
            <a:spLocks noGrp="1"/>
          </p:cNvSpPr>
          <p:nvPr/>
        </p:nvSpPr>
        <p:spPr>
          <a:xfrm>
            <a:off x="6281928" y="1533294"/>
            <a:ext cx="3273552" cy="195681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Oval 10">
            <a:extLst>
              <a:ext uri="{FF2B5EF4-FFF2-40B4-BE49-F238E27FC236}">
                <a16:creationId xmlns:a16="http://schemas.microsoft.com/office/drawing/2014/main" id="{41DDCC97-6070-4B01-B57B-E8288038B60C}"/>
              </a:ext>
            </a:extLst>
          </p:cNvPr>
          <p:cNvSpPr>
            <a:spLocks noGrp="1"/>
          </p:cNvSpPr>
          <p:nvPr/>
        </p:nvSpPr>
        <p:spPr>
          <a:xfrm>
            <a:off x="6501384" y="1734462"/>
            <a:ext cx="438912" cy="438912"/>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01FF4C9-E9E4-45A7-A0DC-D99E0777DFA1}"/>
              </a:ext>
            </a:extLst>
          </p:cNvPr>
          <p:cNvSpPr>
            <a:spLocks noGrp="1"/>
          </p:cNvSpPr>
          <p:nvPr/>
        </p:nvSpPr>
        <p:spPr>
          <a:xfrm>
            <a:off x="650138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2</a:t>
            </a:r>
          </a:p>
        </p:txBody>
      </p:sp>
      <p:sp>
        <p:nvSpPr>
          <p:cNvPr id="13" name="TextBox 12">
            <a:extLst>
              <a:ext uri="{FF2B5EF4-FFF2-40B4-BE49-F238E27FC236}">
                <a16:creationId xmlns:a16="http://schemas.microsoft.com/office/drawing/2014/main" id="{78DDF5AD-3CA3-4D24-B279-093EFA64E011}"/>
              </a:ext>
            </a:extLst>
          </p:cNvPr>
          <p:cNvSpPr>
            <a:spLocks noGrp="1"/>
          </p:cNvSpPr>
          <p:nvPr/>
        </p:nvSpPr>
        <p:spPr>
          <a:xfrm>
            <a:off x="7050024" y="1752750"/>
            <a:ext cx="2212848" cy="32004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Test each pathway</a:t>
            </a:r>
          </a:p>
        </p:txBody>
      </p:sp>
      <p:sp>
        <p:nvSpPr>
          <p:cNvPr id="14" name="TextBox 13">
            <a:extLst>
              <a:ext uri="{FF2B5EF4-FFF2-40B4-BE49-F238E27FC236}">
                <a16:creationId xmlns:a16="http://schemas.microsoft.com/office/drawing/2014/main" id="{80D4D567-E2A0-4E80-9A43-6C9A44BBB948}"/>
              </a:ext>
            </a:extLst>
          </p:cNvPr>
          <p:cNvSpPr>
            <a:spLocks noGrp="1"/>
          </p:cNvSpPr>
          <p:nvPr/>
        </p:nvSpPr>
        <p:spPr>
          <a:xfrm>
            <a:off x="653796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Ask whether the DEG list contains more genes from that pathway than expected among genes detectable in the same contrast.</a:t>
            </a:r>
          </a:p>
        </p:txBody>
      </p:sp>
      <p:sp>
        <p:nvSpPr>
          <p:cNvPr id="22" name="Rounded Rectangle 21">
            <a:extLst>
              <a:ext uri="{FF2B5EF4-FFF2-40B4-BE49-F238E27FC236}">
                <a16:creationId xmlns:a16="http://schemas.microsoft.com/office/drawing/2014/main" id="{EA143ABE-F8BA-4CFF-99EB-D66CC1543856}"/>
              </a:ext>
            </a:extLst>
          </p:cNvPr>
          <p:cNvSpPr>
            <a:spLocks noGrp="1"/>
          </p:cNvSpPr>
          <p:nvPr/>
        </p:nvSpPr>
        <p:spPr>
          <a:xfrm>
            <a:off x="658368" y="3665368"/>
            <a:ext cx="5221224" cy="129844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A5433647-E3A4-43D5-AB13-A4D2117FD47E}"/>
              </a:ext>
            </a:extLst>
          </p:cNvPr>
          <p:cNvSpPr>
            <a:spLocks noGrp="1"/>
          </p:cNvSpPr>
          <p:nvPr/>
        </p:nvSpPr>
        <p:spPr>
          <a:xfrm>
            <a:off x="914400"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72B2"/>
                </a:solidFill>
                <a:latin typeface="Arial"/>
                <a:ea typeface="Arial"/>
                <a:cs typeface="Arial"/>
              </a:rPr>
              <a:t>12 of 46</a:t>
            </a:r>
          </a:p>
        </p:txBody>
      </p:sp>
      <p:sp>
        <p:nvSpPr>
          <p:cNvPr id="24" name="TextBox 23">
            <a:extLst>
              <a:ext uri="{FF2B5EF4-FFF2-40B4-BE49-F238E27FC236}">
                <a16:creationId xmlns:a16="http://schemas.microsoft.com/office/drawing/2014/main" id="{510795E1-2A01-4275-AF3E-5031A13BA258}"/>
              </a:ext>
            </a:extLst>
          </p:cNvPr>
          <p:cNvSpPr>
            <a:spLocks noGrp="1"/>
          </p:cNvSpPr>
          <p:nvPr/>
        </p:nvSpPr>
        <p:spPr>
          <a:xfrm>
            <a:off x="2286000" y="3809440"/>
            <a:ext cx="3264408" cy="46166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Level 1&amp; 2 MitoCarta pathways had at least one significant result</a:t>
            </a:r>
          </a:p>
        </p:txBody>
      </p:sp>
      <p:sp>
        <p:nvSpPr>
          <p:cNvPr id="26" name="Rounded Rectangle 25">
            <a:extLst>
              <a:ext uri="{FF2B5EF4-FFF2-40B4-BE49-F238E27FC236}">
                <a16:creationId xmlns:a16="http://schemas.microsoft.com/office/drawing/2014/main" id="{79DD2C72-A719-483B-80F5-35D9D2C7EDA6}"/>
              </a:ext>
            </a:extLst>
          </p:cNvPr>
          <p:cNvSpPr>
            <a:spLocks noGrp="1"/>
          </p:cNvSpPr>
          <p:nvPr/>
        </p:nvSpPr>
        <p:spPr>
          <a:xfrm>
            <a:off x="6044184" y="3665368"/>
            <a:ext cx="5221224" cy="12984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95B58EAA-5BFA-46F1-9D32-39F410AFC4C7}"/>
              </a:ext>
            </a:extLst>
          </p:cNvPr>
          <p:cNvSpPr>
            <a:spLocks noGrp="1"/>
          </p:cNvSpPr>
          <p:nvPr/>
        </p:nvSpPr>
        <p:spPr>
          <a:xfrm>
            <a:off x="6300216"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684D"/>
                </a:solidFill>
                <a:latin typeface="Arial"/>
                <a:ea typeface="Arial"/>
                <a:cs typeface="Arial"/>
              </a:rPr>
              <a:t>18 of 149</a:t>
            </a:r>
          </a:p>
        </p:txBody>
      </p:sp>
      <p:sp>
        <p:nvSpPr>
          <p:cNvPr id="28" name="TextBox 27">
            <a:extLst>
              <a:ext uri="{FF2B5EF4-FFF2-40B4-BE49-F238E27FC236}">
                <a16:creationId xmlns:a16="http://schemas.microsoft.com/office/drawing/2014/main" id="{EC70D2F9-307F-473F-A384-B3DA9B3DAE35}"/>
              </a:ext>
            </a:extLst>
          </p:cNvPr>
          <p:cNvSpPr>
            <a:spLocks noGrp="1"/>
          </p:cNvSpPr>
          <p:nvPr/>
        </p:nvSpPr>
        <p:spPr>
          <a:xfrm>
            <a:off x="7671816" y="3784241"/>
            <a:ext cx="3264408" cy="51206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complete MitoCarta pathways had at least one significant result</a:t>
            </a:r>
          </a:p>
        </p:txBody>
      </p:sp>
      <p:sp>
        <p:nvSpPr>
          <p:cNvPr id="30" name="Rounded Rectangle 29">
            <a:extLst>
              <a:ext uri="{FF2B5EF4-FFF2-40B4-BE49-F238E27FC236}">
                <a16:creationId xmlns:a16="http://schemas.microsoft.com/office/drawing/2014/main" id="{17A8639B-8386-46C8-883B-9F040DF0AEA4}"/>
              </a:ext>
            </a:extLst>
          </p:cNvPr>
          <p:cNvSpPr>
            <a:spLocks noGrp="1"/>
          </p:cNvSpPr>
          <p:nvPr/>
        </p:nvSpPr>
        <p:spPr>
          <a:xfrm>
            <a:off x="705104" y="5477764"/>
            <a:ext cx="10607040" cy="6858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E9DF413E-8EC8-4159-B483-5A7280BA27D3}"/>
              </a:ext>
            </a:extLst>
          </p:cNvPr>
          <p:cNvSpPr>
            <a:spLocks noGrp="1"/>
          </p:cNvSpPr>
          <p:nvPr/>
        </p:nvSpPr>
        <p:spPr>
          <a:xfrm>
            <a:off x="753533" y="5735659"/>
            <a:ext cx="1188720"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7E4C9A"/>
                </a:solidFill>
                <a:latin typeface="Arial"/>
                <a:ea typeface="Arial"/>
                <a:cs typeface="Arial"/>
              </a:rPr>
              <a:t>Main pattern</a:t>
            </a:r>
          </a:p>
        </p:txBody>
      </p:sp>
      <p:sp>
        <p:nvSpPr>
          <p:cNvPr id="32" name="TextBox 31">
            <a:extLst>
              <a:ext uri="{FF2B5EF4-FFF2-40B4-BE49-F238E27FC236}">
                <a16:creationId xmlns:a16="http://schemas.microsoft.com/office/drawing/2014/main" id="{1FDFFD77-95B0-42E9-8000-8BF442732085}"/>
              </a:ext>
            </a:extLst>
          </p:cNvPr>
          <p:cNvSpPr>
            <a:spLocks noGrp="1"/>
          </p:cNvSpPr>
          <p:nvPr/>
        </p:nvSpPr>
        <p:spPr>
          <a:xfrm>
            <a:off x="1987973" y="5662507"/>
            <a:ext cx="8732520" cy="34747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30" b="0" i="0">
                <a:solidFill>
                  <a:srgbClr val="1F2730"/>
                </a:solidFill>
                <a:latin typeface="Arial"/>
                <a:ea typeface="Arial"/>
                <a:cs typeface="Arial"/>
              </a:rPr>
              <a:t>Most significant results were overlapping OXPHOS pathways; non-OXPHOS signals were fewer and more localized.</a:t>
            </a:r>
          </a:p>
        </p:txBody>
      </p:sp>
      <p:sp>
        <p:nvSpPr>
          <p:cNvPr id="33" name="TextBox 32">
            <a:extLst>
              <a:ext uri="{FF2B5EF4-FFF2-40B4-BE49-F238E27FC236}">
                <a16:creationId xmlns:a16="http://schemas.microsoft.com/office/drawing/2014/main" id="{4E26C294-20E0-40B1-AA27-851451DDE604}"/>
              </a:ext>
            </a:extLst>
          </p:cNvPr>
          <p:cNvSpPr>
            <a:spLocks noGrp="1"/>
          </p:cNvSpPr>
          <p:nvPr/>
        </p:nvSpPr>
        <p:spPr>
          <a:xfrm>
            <a:off x="734570" y="5121235"/>
            <a:ext cx="1060704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4E5A68"/>
                </a:solidFill>
                <a:latin typeface="Arial"/>
                <a:ea typeface="Arial"/>
                <a:cs typeface="Arial"/>
              </a:rPr>
              <a:t>Counts show whether each pathway had at least one significant result across the tested fine-cell contrasts and DEG lists.</a:t>
            </a:r>
          </a:p>
        </p:txBody>
      </p:sp>
    </p:spTree>
    <p:extLst>
      <p:ext uri="{BB962C8B-B14F-4D97-AF65-F5344CB8AC3E}">
        <p14:creationId xmlns:p14="http://schemas.microsoft.com/office/powerpoint/2010/main" val="13365556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verlap-calculation-background">
            <a:extLst>
              <a:ext uri="{FF2B5EF4-FFF2-40B4-BE49-F238E27FC236}">
                <a16:creationId xmlns:a16="http://schemas.microsoft.com/office/drawing/2014/main" id="{19F0E6B1-E7BA-4A97-8DBA-C2625018C5AC}"/>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overlap-calculation-title">
            <a:extLst>
              <a:ext uri="{FF2B5EF4-FFF2-40B4-BE49-F238E27FC236}">
                <a16:creationId xmlns:a16="http://schemas.microsoft.com/office/drawing/2014/main" id="{48B855AC-B2C4-4260-A9A5-B622FE249086}"/>
              </a:ext>
            </a:extLst>
          </p:cNvPr>
          <p:cNvSpPr>
            <a:spLocks noGrp="1"/>
          </p:cNvSpPr>
          <p:nvPr/>
        </p:nvSpPr>
        <p:spPr>
          <a:xfrm>
            <a:off x="533400" y="409575"/>
            <a:ext cx="10668000" cy="4381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dirty="0">
                <a:solidFill>
                  <a:srgbClr val="0F233D"/>
                </a:solidFill>
                <a:latin typeface="Arial"/>
                <a:ea typeface="Arial"/>
                <a:cs typeface="Arial"/>
              </a:rPr>
              <a:t>How to calculate pathway and sex/APOE </a:t>
            </a:r>
            <a:r>
              <a:rPr lang="en-US" sz="2475" b="1" dirty="0">
                <a:solidFill>
                  <a:srgbClr val="0F233D"/>
                </a:solidFill>
                <a:latin typeface="Arial"/>
                <a:ea typeface="Arial"/>
                <a:cs typeface="Arial"/>
              </a:rPr>
              <a:t>group </a:t>
            </a:r>
            <a:r>
              <a:rPr sz="2475" b="1" dirty="0">
                <a:solidFill>
                  <a:srgbClr val="0F233D"/>
                </a:solidFill>
                <a:latin typeface="Arial"/>
                <a:ea typeface="Arial"/>
                <a:cs typeface="Arial"/>
              </a:rPr>
              <a:t>overlap</a:t>
            </a:r>
          </a:p>
        </p:txBody>
      </p:sp>
      <p:sp>
        <p:nvSpPr>
          <p:cNvPr id="3" name="formula-label">
            <a:extLst>
              <a:ext uri="{FF2B5EF4-FFF2-40B4-BE49-F238E27FC236}">
                <a16:creationId xmlns:a16="http://schemas.microsoft.com/office/drawing/2014/main" id="{BDC5796F-FACF-48B1-888D-B81973D1574E}"/>
              </a:ext>
            </a:extLst>
          </p:cNvPr>
          <p:cNvSpPr>
            <a:spLocks noGrp="1"/>
          </p:cNvSpPr>
          <p:nvPr/>
        </p:nvSpPr>
        <p:spPr>
          <a:xfrm>
            <a:off x="723900" y="2691654"/>
            <a:ext cx="2238375" cy="619125"/>
          </a:xfrm>
          <a:prstGeom prst="rect">
            <a:avLst/>
          </a:prstGeom>
          <a:noFill/>
          <a:ln w="0">
            <a:noFill/>
            <a:prstDash val="solid"/>
          </a:ln>
        </p:spPr>
        <p:txBody>
          <a:bodyPr wrap="square" lIns="0" tIns="0" rIns="0" bIns="0" anchor="ctr">
            <a:normAutofit/>
          </a:bodyPr>
          <a:lstStyle/>
          <a:p>
            <a:pPr algn="r">
              <a:buNone/>
              <a:defRPr sz="2625" b="1">
                <a:solidFill>
                  <a:srgbClr val="0F233D"/>
                </a:solidFill>
                <a:latin typeface="Arial"/>
                <a:ea typeface="Arial"/>
                <a:cs typeface="Arial"/>
              </a:defRPr>
            </a:pPr>
            <a:r>
              <a:rPr sz="2625" b="1">
                <a:solidFill>
                  <a:srgbClr val="0F233D"/>
                </a:solidFill>
                <a:latin typeface="Arial"/>
                <a:ea typeface="Arial"/>
                <a:cs typeface="Arial"/>
              </a:rPr>
              <a:t>Overlap (%) =</a:t>
            </a:r>
          </a:p>
        </p:txBody>
      </p:sp>
      <p:sp>
        <p:nvSpPr>
          <p:cNvPr id="4" name="formula-numerator">
            <a:extLst>
              <a:ext uri="{FF2B5EF4-FFF2-40B4-BE49-F238E27FC236}">
                <a16:creationId xmlns:a16="http://schemas.microsoft.com/office/drawing/2014/main" id="{85CBF9CA-CAE0-444D-97BA-72A84AE2BE8A}"/>
              </a:ext>
            </a:extLst>
          </p:cNvPr>
          <p:cNvSpPr>
            <a:spLocks noGrp="1"/>
          </p:cNvSpPr>
          <p:nvPr/>
        </p:nvSpPr>
        <p:spPr>
          <a:xfrm>
            <a:off x="3295650" y="1910604"/>
            <a:ext cx="6572250" cy="847725"/>
          </a:xfrm>
          <a:prstGeom prst="rect">
            <a:avLst/>
          </a:prstGeom>
          <a:noFill/>
          <a:ln w="0">
            <a:noFill/>
            <a:prstDash val="solid"/>
          </a:ln>
        </p:spPr>
        <p:txBody>
          <a:bodyPr wrap="square" lIns="0" tIns="0" rIns="0" bIns="0" anchor="b">
            <a:normAutofit fontScale="98889"/>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Unique pathway genes that are DEGs in at least one fine cell type within the sex/APOE group</a:t>
            </a:r>
          </a:p>
        </p:txBody>
      </p:sp>
      <p:sp>
        <p:nvSpPr>
          <p:cNvPr id="5" name="formula-fraction-line">
            <a:extLst>
              <a:ext uri="{FF2B5EF4-FFF2-40B4-BE49-F238E27FC236}">
                <a16:creationId xmlns:a16="http://schemas.microsoft.com/office/drawing/2014/main" id="{9C62E147-60E8-427E-8C60-DDBA5E710950}"/>
              </a:ext>
            </a:extLst>
          </p:cNvPr>
          <p:cNvSpPr>
            <a:spLocks noGrp="1"/>
          </p:cNvSpPr>
          <p:nvPr/>
        </p:nvSpPr>
        <p:spPr>
          <a:xfrm>
            <a:off x="3295650" y="2939304"/>
            <a:ext cx="6572250" cy="0"/>
          </a:xfrm>
          <a:prstGeom prst="line">
            <a:avLst/>
          </a:prstGeom>
          <a:noFill/>
          <a:ln w="23813">
            <a:solidFill>
              <a:srgbClr val="0F233D"/>
            </a:solidFill>
            <a:prstDash val="solid"/>
          </a:ln>
        </p:spPr>
        <p:txBody>
          <a:bodyPr/>
          <a:lstStyle/>
          <a:p>
            <a:endParaRPr/>
          </a:p>
        </p:txBody>
      </p:sp>
      <p:sp>
        <p:nvSpPr>
          <p:cNvPr id="6" name="formula-denominator">
            <a:extLst>
              <a:ext uri="{FF2B5EF4-FFF2-40B4-BE49-F238E27FC236}">
                <a16:creationId xmlns:a16="http://schemas.microsoft.com/office/drawing/2014/main" id="{7FCE3506-DDC1-45CD-AD0B-988D6C21CE58}"/>
              </a:ext>
            </a:extLst>
          </p:cNvPr>
          <p:cNvSpPr>
            <a:spLocks noGrp="1"/>
          </p:cNvSpPr>
          <p:nvPr/>
        </p:nvSpPr>
        <p:spPr>
          <a:xfrm>
            <a:off x="3295650" y="3148854"/>
            <a:ext cx="6572250" cy="514350"/>
          </a:xfrm>
          <a:prstGeom prst="rect">
            <a:avLst/>
          </a:prstGeom>
          <a:noFill/>
          <a:ln w="0">
            <a:noFill/>
            <a:prstDash val="solid"/>
          </a:ln>
        </p:spPr>
        <p:txBody>
          <a:bodyPr wrap="square" lIns="0" tIns="0" rIns="0" bIns="0" anchor="t">
            <a:normAutofit/>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All genes in the pathway</a:t>
            </a:r>
          </a:p>
        </p:txBody>
      </p:sp>
      <p:sp>
        <p:nvSpPr>
          <p:cNvPr id="7" name="formula-multiplier">
            <a:extLst>
              <a:ext uri="{FF2B5EF4-FFF2-40B4-BE49-F238E27FC236}">
                <a16:creationId xmlns:a16="http://schemas.microsoft.com/office/drawing/2014/main" id="{FAE18DB7-C75E-4491-AC8B-87028C8965CC}"/>
              </a:ext>
            </a:extLst>
          </p:cNvPr>
          <p:cNvSpPr>
            <a:spLocks noGrp="1"/>
          </p:cNvSpPr>
          <p:nvPr/>
        </p:nvSpPr>
        <p:spPr>
          <a:xfrm>
            <a:off x="10077450" y="2691654"/>
            <a:ext cx="1381125" cy="619125"/>
          </a:xfrm>
          <a:prstGeom prst="rect">
            <a:avLst/>
          </a:prstGeom>
          <a:noFill/>
          <a:ln w="0">
            <a:noFill/>
            <a:prstDash val="solid"/>
          </a:ln>
        </p:spPr>
        <p:txBody>
          <a:bodyPr wrap="square" lIns="0" tIns="0" rIns="0" bIns="0" anchor="ctr">
            <a:normAutofit/>
          </a:bodyPr>
          <a:lstStyle/>
          <a:p>
            <a:pPr algn="l">
              <a:buNone/>
              <a:defRPr sz="2625" b="1">
                <a:solidFill>
                  <a:srgbClr val="0F233D"/>
                </a:solidFill>
                <a:latin typeface="Arial"/>
                <a:ea typeface="Arial"/>
                <a:cs typeface="Arial"/>
              </a:defRPr>
            </a:pPr>
            <a:r>
              <a:rPr sz="2625" b="1">
                <a:solidFill>
                  <a:srgbClr val="0F233D"/>
                </a:solidFill>
                <a:latin typeface="Arial"/>
                <a:ea typeface="Arial"/>
                <a:cs typeface="Arial"/>
              </a:rPr>
              <a:t>× 100</a:t>
            </a:r>
          </a:p>
        </p:txBody>
      </p:sp>
      <p:sp>
        <p:nvSpPr>
          <p:cNvPr id="8" name="overlap-example-band">
            <a:extLst>
              <a:ext uri="{FF2B5EF4-FFF2-40B4-BE49-F238E27FC236}">
                <a16:creationId xmlns:a16="http://schemas.microsoft.com/office/drawing/2014/main" id="{7A94A0E1-E7FA-491B-9D5F-977BE4CEDB34}"/>
              </a:ext>
            </a:extLst>
          </p:cNvPr>
          <p:cNvSpPr>
            <a:spLocks noGrp="1"/>
          </p:cNvSpPr>
          <p:nvPr/>
        </p:nvSpPr>
        <p:spPr>
          <a:xfrm>
            <a:off x="1381125" y="4317628"/>
            <a:ext cx="9429750" cy="1762125"/>
          </a:xfrm>
          <a:prstGeom prst="roundRect">
            <a:avLst>
              <a:gd name="adj" fmla="val 864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9" name="worked-example-label">
            <a:extLst>
              <a:ext uri="{FF2B5EF4-FFF2-40B4-BE49-F238E27FC236}">
                <a16:creationId xmlns:a16="http://schemas.microsoft.com/office/drawing/2014/main" id="{2D6B93AC-478D-4AB4-85FA-06A6F97BDA4C}"/>
              </a:ext>
            </a:extLst>
          </p:cNvPr>
          <p:cNvSpPr>
            <a:spLocks noGrp="1"/>
          </p:cNvSpPr>
          <p:nvPr/>
        </p:nvSpPr>
        <p:spPr>
          <a:xfrm>
            <a:off x="1857375" y="4622988"/>
            <a:ext cx="8477250" cy="323850"/>
          </a:xfrm>
          <a:prstGeom prst="rect">
            <a:avLst/>
          </a:prstGeom>
          <a:noFill/>
          <a:ln w="0">
            <a:noFill/>
            <a:prstDash val="solid"/>
          </a:ln>
        </p:spPr>
        <p:txBody>
          <a:bodyPr wrap="square" lIns="0" tIns="0" rIns="0" bIns="0" anchor="t">
            <a:normAutofit/>
          </a:bodyPr>
          <a:lstStyle/>
          <a:p>
            <a:pPr algn="ctr">
              <a:buNone/>
              <a:defRPr sz="1500" b="1">
                <a:solidFill>
                  <a:srgbClr val="00684D"/>
                </a:solidFill>
                <a:latin typeface="Arial"/>
                <a:ea typeface="Arial"/>
                <a:cs typeface="Arial"/>
              </a:defRPr>
            </a:pPr>
            <a:r>
              <a:rPr sz="1500" b="1">
                <a:solidFill>
                  <a:srgbClr val="00684D"/>
                </a:solidFill>
                <a:latin typeface="Arial"/>
                <a:ea typeface="Arial"/>
                <a:cs typeface="Arial"/>
              </a:rPr>
              <a:t>Example: male ε2 mitochondrial translation</a:t>
            </a:r>
          </a:p>
        </p:txBody>
      </p:sp>
      <p:sp>
        <p:nvSpPr>
          <p:cNvPr id="10" name="worked-example-text">
            <a:extLst>
              <a:ext uri="{FF2B5EF4-FFF2-40B4-BE49-F238E27FC236}">
                <a16:creationId xmlns:a16="http://schemas.microsoft.com/office/drawing/2014/main" id="{0CE14BD2-92A4-4214-9AD4-5B36EF705D5F}"/>
              </a:ext>
            </a:extLst>
          </p:cNvPr>
          <p:cNvSpPr>
            <a:spLocks noGrp="1"/>
          </p:cNvSpPr>
          <p:nvPr/>
        </p:nvSpPr>
        <p:spPr>
          <a:xfrm>
            <a:off x="1857375" y="5137338"/>
            <a:ext cx="8477250" cy="523875"/>
          </a:xfrm>
          <a:prstGeom prst="rect">
            <a:avLst/>
          </a:prstGeom>
          <a:noFill/>
          <a:ln w="0">
            <a:noFill/>
            <a:prstDash val="solid"/>
          </a:ln>
        </p:spPr>
        <p:txBody>
          <a:bodyPr wrap="square" lIns="0" tIns="0" rIns="0" bIns="0" anchor="ctr">
            <a:normAutofit/>
          </a:bodyPr>
          <a:lstStyle/>
          <a:p>
            <a:pPr algn="ctr">
              <a:buNone/>
              <a:defRPr sz="2325" b="1">
                <a:solidFill>
                  <a:srgbClr val="0F233D"/>
                </a:solidFill>
                <a:latin typeface="Arial"/>
                <a:ea typeface="Arial"/>
                <a:cs typeface="Arial"/>
              </a:defRPr>
            </a:pPr>
            <a:r>
              <a:rPr sz="2325" b="1">
                <a:solidFill>
                  <a:srgbClr val="0F233D"/>
                </a:solidFill>
                <a:latin typeface="Arial"/>
                <a:ea typeface="Arial"/>
                <a:cs typeface="Arial"/>
              </a:rPr>
              <a:t>130 unique DEGs  ÷  155 pathway genes  ×  100  =  84%</a:t>
            </a:r>
          </a:p>
        </p:txBody>
      </p:sp>
    </p:spTree>
    <p:extLst>
      <p:ext uri="{BB962C8B-B14F-4D97-AF65-F5344CB8AC3E}">
        <p14:creationId xmlns:p14="http://schemas.microsoft.com/office/powerpoint/2010/main" val="50512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D6851B-2665-4B39-9E54-29EA09D75374}"/>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Which pathway genes appeared among the DEGs?</a:t>
            </a:r>
          </a:p>
        </p:txBody>
      </p:sp>
      <p:sp>
        <p:nvSpPr>
          <p:cNvPr id="3" name="TextBox 2">
            <a:extLst>
              <a:ext uri="{FF2B5EF4-FFF2-40B4-BE49-F238E27FC236}">
                <a16:creationId xmlns:a16="http://schemas.microsoft.com/office/drawing/2014/main" id="{202906A2-37D3-4429-9040-3FB6B411CE9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cell shows unique DEGs ÷ all genes in that pathway for one sex/APOE group.</a:t>
            </a:r>
          </a:p>
        </p:txBody>
      </p:sp>
      <p:pic>
        <p:nvPicPr>
          <p:cNvPr id="11" name="Heatmap showing the percentage and count of genes from four mitochondrial pathways that were DEGs in at least one fine-cell comparison for each of six sex/APOE groups."/>
          <p:cNvPicPr>
            <a:picLocks noChangeAspect="1"/>
          </p:cNvPicPr>
          <p:nvPr/>
        </p:nvPicPr>
        <p:blipFill>
          <a:blip r:embed="rId3"/>
          <a:stretch>
            <a:fillRect/>
          </a:stretch>
        </p:blipFill>
        <p:spPr>
          <a:xfrm>
            <a:off x="658368" y="1360188"/>
            <a:ext cx="10881360" cy="3991318"/>
          </a:xfrm>
          <a:prstGeom prst="rect">
            <a:avLst/>
          </a:prstGeom>
        </p:spPr>
      </p:pic>
      <p:sp>
        <p:nvSpPr>
          <p:cNvPr id="5" name="Rounded Rectangle 4">
            <a:extLst>
              <a:ext uri="{FF2B5EF4-FFF2-40B4-BE49-F238E27FC236}">
                <a16:creationId xmlns:a16="http://schemas.microsoft.com/office/drawing/2014/main" id="{CE733A69-C72D-4B96-8FC3-7663882BDDC8}"/>
              </a:ext>
            </a:extLst>
          </p:cNvPr>
          <p:cNvSpPr>
            <a:spLocks noGrp="1"/>
          </p:cNvSpPr>
          <p:nvPr/>
        </p:nvSpPr>
        <p:spPr>
          <a:xfrm>
            <a:off x="658368" y="5614416"/>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FE0CB97-0983-4919-8A05-A1A1D07850DF}"/>
              </a:ext>
            </a:extLst>
          </p:cNvPr>
          <p:cNvSpPr>
            <a:spLocks noGrp="1"/>
          </p:cNvSpPr>
          <p:nvPr/>
        </p:nvSpPr>
        <p:spPr>
          <a:xfrm>
            <a:off x="932688" y="5806440"/>
            <a:ext cx="138988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Interpret carefully</a:t>
            </a:r>
          </a:p>
        </p:txBody>
      </p:sp>
      <p:sp>
        <p:nvSpPr>
          <p:cNvPr id="7" name="TextBox 6">
            <a:extLst>
              <a:ext uri="{FF2B5EF4-FFF2-40B4-BE49-F238E27FC236}">
                <a16:creationId xmlns:a16="http://schemas.microsoft.com/office/drawing/2014/main" id="{1C2DC68E-7E8D-4FDC-BFB1-795A5C6534E6}"/>
              </a:ext>
            </a:extLst>
          </p:cNvPr>
          <p:cNvSpPr>
            <a:spLocks noGrp="1"/>
          </p:cNvSpPr>
          <p:nvPr/>
        </p:nvSpPr>
        <p:spPr>
          <a:xfrm>
            <a:off x="2468880" y="5751576"/>
            <a:ext cx="8631936" cy="32918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00" b="0" i="0">
                <a:solidFill>
                  <a:srgbClr val="1F2730"/>
                </a:solidFill>
                <a:latin typeface="Arial"/>
                <a:ea typeface="Arial"/>
                <a:cs typeface="Arial"/>
              </a:rPr>
              <a:t>Male ε2 has the broadest overlap in three pathways, consistent with its larger overall DEG count; overlap alone is not enrichment.</a:t>
            </a:r>
          </a:p>
        </p:txBody>
      </p:sp>
    </p:spTree>
    <p:extLst>
      <p:ext uri="{BB962C8B-B14F-4D97-AF65-F5344CB8AC3E}">
        <p14:creationId xmlns:p14="http://schemas.microsoft.com/office/powerpoint/2010/main" val="1416608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direction-formula-background">
            <a:extLst>
              <a:ext uri="{FF2B5EF4-FFF2-40B4-BE49-F238E27FC236}">
                <a16:creationId xmlns:a16="http://schemas.microsoft.com/office/drawing/2014/main" id="{25ABB92D-ECD7-4CD0-8EC8-3E97BA5ECA44}"/>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direction-formula-title">
            <a:extLst>
              <a:ext uri="{FF2B5EF4-FFF2-40B4-BE49-F238E27FC236}">
                <a16:creationId xmlns:a16="http://schemas.microsoft.com/office/drawing/2014/main" id="{AE051D85-F47D-4AD6-893D-6C8E7D3161BE}"/>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OXPHOS direction percentage is calculated</a:t>
            </a:r>
          </a:p>
        </p:txBody>
      </p:sp>
      <p:sp>
        <p:nvSpPr>
          <p:cNvPr id="3" name="direction-formula-subtitle">
            <a:extLst>
              <a:ext uri="{FF2B5EF4-FFF2-40B4-BE49-F238E27FC236}">
                <a16:creationId xmlns:a16="http://schemas.microsoft.com/office/drawing/2014/main" id="{28486D60-6F13-489B-8CDC-A572FA2FB822}"/>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4" name="direction-formula-surface">
            <a:extLst>
              <a:ext uri="{FF2B5EF4-FFF2-40B4-BE49-F238E27FC236}">
                <a16:creationId xmlns:a16="http://schemas.microsoft.com/office/drawing/2014/main" id="{00B2A2A6-2FD4-487B-8E74-155D0BBFB263}"/>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direction-formula-label">
            <a:extLst>
              <a:ext uri="{FF2B5EF4-FFF2-40B4-BE49-F238E27FC236}">
                <a16:creationId xmlns:a16="http://schemas.microsoft.com/office/drawing/2014/main" id="{1A56C8AB-0418-4085-95EC-B42427F12956}"/>
              </a:ext>
            </a:extLst>
          </p:cNvPr>
          <p:cNvSpPr>
            <a:spLocks noGrp="1"/>
          </p:cNvSpPr>
          <p:nvPr/>
        </p:nvSpPr>
        <p:spPr>
          <a:xfrm>
            <a:off x="1143000" y="2133600"/>
            <a:ext cx="2933700" cy="514350"/>
          </a:xfrm>
          <a:prstGeom prst="rect">
            <a:avLst/>
          </a:prstGeom>
          <a:noFill/>
          <a:ln w="0">
            <a:noFill/>
            <a:prstDash val="solid"/>
          </a:ln>
        </p:spPr>
        <p:txBody>
          <a:bodyPr wrap="square" lIns="0" tIns="0" rIns="0" bIns="0" anchor="ctr">
            <a:normAutofit fontScale="93066"/>
          </a:bodyPr>
          <a:lstStyle/>
          <a:p>
            <a:pPr algn="r">
              <a:buNone/>
              <a:defRPr sz="2100" b="1">
                <a:solidFill>
                  <a:srgbClr val="0F233D"/>
                </a:solidFill>
                <a:latin typeface="Arial"/>
                <a:ea typeface="Arial"/>
                <a:cs typeface="Arial"/>
              </a:defRPr>
            </a:pPr>
            <a:r>
              <a:rPr sz="2100" b="1">
                <a:solidFill>
                  <a:srgbClr val="0F233D"/>
                </a:solidFill>
                <a:latin typeface="Arial"/>
                <a:ea typeface="Arial"/>
                <a:cs typeface="Arial"/>
              </a:rPr>
              <a:t>Dominant direction % =</a:t>
            </a:r>
          </a:p>
        </p:txBody>
      </p:sp>
      <p:sp>
        <p:nvSpPr>
          <p:cNvPr id="6" name="direction-formula-numerator">
            <a:extLst>
              <a:ext uri="{FF2B5EF4-FFF2-40B4-BE49-F238E27FC236}">
                <a16:creationId xmlns:a16="http://schemas.microsoft.com/office/drawing/2014/main" id="{8F22A7C5-55F4-4E36-9453-F5ED053F2050}"/>
              </a:ext>
            </a:extLst>
          </p:cNvPr>
          <p:cNvSpPr>
            <a:spLocks noGrp="1"/>
          </p:cNvSpPr>
          <p:nvPr/>
        </p:nvSpPr>
        <p:spPr>
          <a:xfrm>
            <a:off x="4400550" y="1743075"/>
            <a:ext cx="5619750" cy="523875"/>
          </a:xfrm>
          <a:prstGeom prst="rect">
            <a:avLst/>
          </a:prstGeom>
          <a:noFill/>
          <a:ln w="0">
            <a:noFill/>
            <a:prstDash val="solid"/>
          </a:ln>
        </p:spPr>
        <p:txBody>
          <a:bodyPr wrap="square" lIns="0" tIns="0" rIns="0" bIns="0" anchor="b">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max(upregulated occurrences, downregulated occurrences)</a:t>
            </a:r>
          </a:p>
        </p:txBody>
      </p:sp>
      <p:sp>
        <p:nvSpPr>
          <p:cNvPr id="7" name="direction-formula-fraction-line">
            <a:extLst>
              <a:ext uri="{FF2B5EF4-FFF2-40B4-BE49-F238E27FC236}">
                <a16:creationId xmlns:a16="http://schemas.microsoft.com/office/drawing/2014/main" id="{DCE5E515-7AA6-4088-80B7-07A00CA1A1FB}"/>
              </a:ext>
            </a:extLst>
          </p:cNvPr>
          <p:cNvSpPr>
            <a:spLocks noGrp="1"/>
          </p:cNvSpPr>
          <p:nvPr/>
        </p:nvSpPr>
        <p:spPr>
          <a:xfrm>
            <a:off x="4476750" y="2400300"/>
            <a:ext cx="5476875" cy="0"/>
          </a:xfrm>
          <a:prstGeom prst="line">
            <a:avLst/>
          </a:prstGeom>
          <a:noFill/>
          <a:ln w="23813">
            <a:solidFill>
              <a:srgbClr val="0F233D"/>
            </a:solidFill>
            <a:prstDash val="solid"/>
          </a:ln>
        </p:spPr>
        <p:txBody>
          <a:bodyPr/>
          <a:lstStyle/>
          <a:p>
            <a:endParaRPr/>
          </a:p>
        </p:txBody>
      </p:sp>
      <p:sp>
        <p:nvSpPr>
          <p:cNvPr id="8" name="direction-formula-denominator">
            <a:extLst>
              <a:ext uri="{FF2B5EF4-FFF2-40B4-BE49-F238E27FC236}">
                <a16:creationId xmlns:a16="http://schemas.microsoft.com/office/drawing/2014/main" id="{5F3CFBCC-997F-4F30-9D9B-DFC0C9AA67C2}"/>
              </a:ext>
            </a:extLst>
          </p:cNvPr>
          <p:cNvSpPr>
            <a:spLocks noGrp="1"/>
          </p:cNvSpPr>
          <p:nvPr/>
        </p:nvSpPr>
        <p:spPr>
          <a:xfrm>
            <a:off x="4400550" y="2543175"/>
            <a:ext cx="5619750" cy="476250"/>
          </a:xfrm>
          <a:prstGeom prst="rect">
            <a:avLst/>
          </a:prstGeom>
          <a:noFill/>
          <a:ln w="0">
            <a:noFill/>
            <a:prstDash val="solid"/>
          </a:ln>
        </p:spPr>
        <p:txBody>
          <a:bodyPr wrap="square" lIns="0" tIns="0" rIns="0" bIns="0" anchor="t">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upregulated occurrences + downregulated occurrences</a:t>
            </a:r>
          </a:p>
        </p:txBody>
      </p:sp>
      <p:sp>
        <p:nvSpPr>
          <p:cNvPr id="9" name="direction-formula-times-100">
            <a:extLst>
              <a:ext uri="{FF2B5EF4-FFF2-40B4-BE49-F238E27FC236}">
                <a16:creationId xmlns:a16="http://schemas.microsoft.com/office/drawing/2014/main" id="{EB01F018-37C2-4C63-864D-CDA16EA5A332}"/>
              </a:ext>
            </a:extLst>
          </p:cNvPr>
          <p:cNvSpPr>
            <a:spLocks noGrp="1"/>
          </p:cNvSpPr>
          <p:nvPr/>
        </p:nvSpPr>
        <p:spPr>
          <a:xfrm>
            <a:off x="10134600" y="2133600"/>
            <a:ext cx="9144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10" name="direction-occurrence-definition">
            <a:extLst>
              <a:ext uri="{FF2B5EF4-FFF2-40B4-BE49-F238E27FC236}">
                <a16:creationId xmlns:a16="http://schemas.microsoft.com/office/drawing/2014/main" id="{8C0FA3DB-02A9-46F2-AB6C-6C0BC5F3494B}"/>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rmAutofit/>
          </a:bodyPr>
          <a:lstStyle/>
          <a:p>
            <a:pPr algn="ctr">
              <a:buNone/>
              <a:defRPr sz="1350" b="0">
                <a:solidFill>
                  <a:srgbClr val="4E5A68"/>
                </a:solidFill>
                <a:latin typeface="Arial"/>
                <a:ea typeface="Arial"/>
                <a:cs typeface="Arial"/>
              </a:defRPr>
            </a:pPr>
            <a:r>
              <a:rPr sz="1350" b="0">
                <a:solidFill>
                  <a:srgbClr val="4E5A68"/>
                </a:solidFill>
                <a:latin typeface="Arial"/>
                <a:ea typeface="Arial"/>
                <a:cs typeface="Arial"/>
              </a:rPr>
              <a:t>1 occurrence = 1 significant pathway gene in 1 fine-cell comparison. The same gene may count again in another fine cell type.</a:t>
            </a:r>
          </a:p>
        </p:txBody>
      </p:sp>
      <p:sp>
        <p:nvSpPr>
          <p:cNvPr id="11" name="direction-example-surface">
            <a:extLst>
              <a:ext uri="{FF2B5EF4-FFF2-40B4-BE49-F238E27FC236}">
                <a16:creationId xmlns:a16="http://schemas.microsoft.com/office/drawing/2014/main" id="{4A4B1164-3B13-455C-A204-DC47BE324F4E}"/>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2" name="direction-example-label">
            <a:extLst>
              <a:ext uri="{FF2B5EF4-FFF2-40B4-BE49-F238E27FC236}">
                <a16:creationId xmlns:a16="http://schemas.microsoft.com/office/drawing/2014/main" id="{DD39F9E9-7D49-4BD8-AC6E-644ABF159B48}"/>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13" name="direction-example-calculation">
            <a:extLst>
              <a:ext uri="{FF2B5EF4-FFF2-40B4-BE49-F238E27FC236}">
                <a16:creationId xmlns:a16="http://schemas.microsoft.com/office/drawing/2014/main" id="{33B5E7EC-043A-49BC-A2B4-06D42CCAEA44}"/>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14" name="direction-reading-surface">
            <a:extLst>
              <a:ext uri="{FF2B5EF4-FFF2-40B4-BE49-F238E27FC236}">
                <a16:creationId xmlns:a16="http://schemas.microsoft.com/office/drawing/2014/main" id="{DE281373-4DE5-4682-A3E3-9B19408BAB52}"/>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15" name="direction-reading-label">
            <a:extLst>
              <a:ext uri="{FF2B5EF4-FFF2-40B4-BE49-F238E27FC236}">
                <a16:creationId xmlns:a16="http://schemas.microsoft.com/office/drawing/2014/main" id="{DE4F20A9-5D22-492D-8F29-00AF265C1FE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16" name="direction-reading-text">
            <a:extLst>
              <a:ext uri="{FF2B5EF4-FFF2-40B4-BE49-F238E27FC236}">
                <a16:creationId xmlns:a16="http://schemas.microsoft.com/office/drawing/2014/main" id="{191E78E3-6505-4ACF-BE68-F0D5576FD62F}"/>
              </a:ext>
            </a:extLst>
          </p:cNvPr>
          <p:cNvSpPr>
            <a:spLocks noGrp="1"/>
          </p:cNvSpPr>
          <p:nvPr/>
        </p:nvSpPr>
        <p:spPr>
          <a:xfrm>
            <a:off x="3000375" y="5968814"/>
            <a:ext cx="7905750" cy="333375"/>
          </a:xfrm>
          <a:prstGeom prst="rect">
            <a:avLst/>
          </a:prstGeom>
          <a:noFill/>
          <a:ln w="0">
            <a:noFill/>
            <a:prstDash val="solid"/>
          </a:ln>
        </p:spPr>
        <p:txBody>
          <a:bodyPr wrap="square" lIns="0" tIns="0" rIns="0" bIns="0" anchor="ctr">
            <a:normAutofit fontScale="97379" lnSpcReduction="10000"/>
          </a:bodyPr>
          <a:lstStyle/>
          <a:p>
            <a:pPr algn="l">
              <a:buNone/>
              <a:defRPr sz="1275" b="0">
                <a:solidFill>
                  <a:srgbClr val="1F2730"/>
                </a:solidFill>
                <a:latin typeface="Arial"/>
                <a:ea typeface="Arial"/>
                <a:cs typeface="Arial"/>
              </a:defRPr>
            </a:pPr>
            <a:r>
              <a:rPr sz="1275" b="0">
                <a:solidFill>
                  <a:srgbClr val="1F2730"/>
                </a:solidFill>
                <a:latin typeface="Arial"/>
                <a:ea typeface="Arial"/>
                <a:cs typeface="Arial"/>
              </a:rPr>
              <a:t>Positive bars mean upregulated is dominant. Negative bars mean downregulated is dominant. Color identifies the gene set.</a:t>
            </a:r>
          </a:p>
        </p:txBody>
      </p:sp>
      <p:sp>
        <p:nvSpPr>
          <p:cNvPr id="18" name="up-share-formula-background">
            <a:extLst>
              <a:ext uri="{FF2B5EF4-FFF2-40B4-BE49-F238E27FC236}">
                <a16:creationId xmlns:a16="http://schemas.microsoft.com/office/drawing/2014/main" id="{D2ED8626-1F9D-4E36-BAE4-63F077D61FF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9" name="up-share-formula-title">
            <a:extLst>
              <a:ext uri="{FF2B5EF4-FFF2-40B4-BE49-F238E27FC236}">
                <a16:creationId xmlns:a16="http://schemas.microsoft.com/office/drawing/2014/main" id="{8E5F143E-6305-4B38-9005-7657993A5D63}"/>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upregulated occurrence percentage is calculated</a:t>
            </a:r>
          </a:p>
        </p:txBody>
      </p:sp>
      <p:sp>
        <p:nvSpPr>
          <p:cNvPr id="20" name="up-share-formula-subtitle">
            <a:extLst>
              <a:ext uri="{FF2B5EF4-FFF2-40B4-BE49-F238E27FC236}">
                <a16:creationId xmlns:a16="http://schemas.microsoft.com/office/drawing/2014/main" id="{61AEDA80-AEB4-486A-971C-54131334840B}"/>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21" name="up-share-formula-surface">
            <a:extLst>
              <a:ext uri="{FF2B5EF4-FFF2-40B4-BE49-F238E27FC236}">
                <a16:creationId xmlns:a16="http://schemas.microsoft.com/office/drawing/2014/main" id="{0443B4DA-9127-470C-A1D0-05F3D4CB57A4}"/>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2" name="up-share-formula-label">
            <a:extLst>
              <a:ext uri="{FF2B5EF4-FFF2-40B4-BE49-F238E27FC236}">
                <a16:creationId xmlns:a16="http://schemas.microsoft.com/office/drawing/2014/main" id="{1688DF3F-06AF-453B-BD4A-9353CDFF1B13}"/>
              </a:ext>
            </a:extLst>
          </p:cNvPr>
          <p:cNvSpPr>
            <a:spLocks noGrp="1"/>
          </p:cNvSpPr>
          <p:nvPr/>
        </p:nvSpPr>
        <p:spPr>
          <a:xfrm>
            <a:off x="1143000" y="2133600"/>
            <a:ext cx="3333750" cy="514350"/>
          </a:xfrm>
          <a:prstGeom prst="rect">
            <a:avLst/>
          </a:prstGeom>
          <a:noFill/>
          <a:ln w="0">
            <a:noFill/>
            <a:prstDash val="solid"/>
          </a:ln>
        </p:spPr>
        <p:txBody>
          <a:bodyPr wrap="square" lIns="0" tIns="0" rIns="0" bIns="0" anchor="ctr">
            <a:normAutofit/>
          </a:bodyPr>
          <a:lstStyle/>
          <a:p>
            <a:pPr algn="r">
              <a:buNone/>
              <a:defRPr sz="1875" b="1">
                <a:solidFill>
                  <a:srgbClr val="0F233D"/>
                </a:solidFill>
                <a:latin typeface="Arial"/>
                <a:ea typeface="Arial"/>
                <a:cs typeface="Arial"/>
              </a:defRPr>
            </a:pPr>
            <a:r>
              <a:rPr sz="1875" b="1">
                <a:solidFill>
                  <a:srgbClr val="0F233D"/>
                </a:solidFill>
                <a:latin typeface="Arial"/>
                <a:ea typeface="Arial"/>
                <a:cs typeface="Arial"/>
              </a:rPr>
              <a:t>Upregulated occurrence % =</a:t>
            </a:r>
          </a:p>
        </p:txBody>
      </p:sp>
      <p:sp>
        <p:nvSpPr>
          <p:cNvPr id="23" name="up-share-formula-numerator">
            <a:extLst>
              <a:ext uri="{FF2B5EF4-FFF2-40B4-BE49-F238E27FC236}">
                <a16:creationId xmlns:a16="http://schemas.microsoft.com/office/drawing/2014/main" id="{2F35C907-F14B-40C4-88D4-4430E70999A9}"/>
              </a:ext>
            </a:extLst>
          </p:cNvPr>
          <p:cNvSpPr>
            <a:spLocks noGrp="1"/>
          </p:cNvSpPr>
          <p:nvPr/>
        </p:nvSpPr>
        <p:spPr>
          <a:xfrm>
            <a:off x="4762500" y="1790700"/>
            <a:ext cx="4762500" cy="476250"/>
          </a:xfrm>
          <a:prstGeom prst="rect">
            <a:avLst/>
          </a:prstGeom>
          <a:noFill/>
          <a:ln w="0">
            <a:noFill/>
            <a:prstDash val="solid"/>
          </a:ln>
        </p:spPr>
        <p:txBody>
          <a:bodyPr wrap="square" lIns="0" tIns="0" rIns="0" bIns="0" anchor="b">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upregulated occurrences</a:t>
            </a:r>
          </a:p>
        </p:txBody>
      </p:sp>
      <p:sp>
        <p:nvSpPr>
          <p:cNvPr id="24" name="up-share-formula-fraction-line">
            <a:extLst>
              <a:ext uri="{FF2B5EF4-FFF2-40B4-BE49-F238E27FC236}">
                <a16:creationId xmlns:a16="http://schemas.microsoft.com/office/drawing/2014/main" id="{A95E5007-62D8-416B-86F0-D2DE235D5B28}"/>
              </a:ext>
            </a:extLst>
          </p:cNvPr>
          <p:cNvSpPr>
            <a:spLocks noGrp="1"/>
          </p:cNvSpPr>
          <p:nvPr/>
        </p:nvSpPr>
        <p:spPr>
          <a:xfrm>
            <a:off x="4619625" y="2400300"/>
            <a:ext cx="5048250" cy="0"/>
          </a:xfrm>
          <a:prstGeom prst="line">
            <a:avLst/>
          </a:prstGeom>
          <a:noFill/>
          <a:ln w="23813">
            <a:solidFill>
              <a:srgbClr val="0F233D"/>
            </a:solidFill>
            <a:prstDash val="solid"/>
          </a:ln>
        </p:spPr>
        <p:txBody>
          <a:bodyPr/>
          <a:lstStyle/>
          <a:p>
            <a:endParaRPr/>
          </a:p>
        </p:txBody>
      </p:sp>
      <p:sp>
        <p:nvSpPr>
          <p:cNvPr id="25" name="up-share-formula-denominator">
            <a:extLst>
              <a:ext uri="{FF2B5EF4-FFF2-40B4-BE49-F238E27FC236}">
                <a16:creationId xmlns:a16="http://schemas.microsoft.com/office/drawing/2014/main" id="{ED116C25-3046-449D-80B2-0EDADE14B683}"/>
              </a:ext>
            </a:extLst>
          </p:cNvPr>
          <p:cNvSpPr>
            <a:spLocks noGrp="1"/>
          </p:cNvSpPr>
          <p:nvPr/>
        </p:nvSpPr>
        <p:spPr>
          <a:xfrm>
            <a:off x="4524375" y="2543175"/>
            <a:ext cx="5238750" cy="476250"/>
          </a:xfrm>
          <a:prstGeom prst="rect">
            <a:avLst/>
          </a:prstGeom>
          <a:noFill/>
          <a:ln w="0">
            <a:noFill/>
            <a:prstDash val="solid"/>
          </a:ln>
        </p:spPr>
        <p:txBody>
          <a:bodyPr wrap="square" lIns="0" tIns="0" rIns="0" bIns="0" anchor="t">
            <a:normAutofit fontScale="99217" lnSpcReduction="10000"/>
          </a:bodyPr>
          <a:lstStyle/>
          <a:p>
            <a:pPr algn="ctr">
              <a:buNone/>
              <a:defRPr sz="1575" b="1">
                <a:solidFill>
                  <a:srgbClr val="0F233D"/>
                </a:solidFill>
                <a:latin typeface="Arial"/>
                <a:ea typeface="Arial"/>
                <a:cs typeface="Arial"/>
              </a:defRPr>
            </a:pPr>
            <a:r>
              <a:rPr sz="1575" b="1">
                <a:solidFill>
                  <a:srgbClr val="0F233D"/>
                </a:solidFill>
                <a:latin typeface="Arial"/>
                <a:ea typeface="Arial"/>
                <a:cs typeface="Arial"/>
              </a:rPr>
              <a:t>upregulated occurrences + downregulated occurrences</a:t>
            </a:r>
          </a:p>
        </p:txBody>
      </p:sp>
      <p:sp>
        <p:nvSpPr>
          <p:cNvPr id="26" name="up-share-formula-times-100">
            <a:extLst>
              <a:ext uri="{FF2B5EF4-FFF2-40B4-BE49-F238E27FC236}">
                <a16:creationId xmlns:a16="http://schemas.microsoft.com/office/drawing/2014/main" id="{90AA0374-C8CA-40E5-9B4A-D01802E9E008}"/>
              </a:ext>
            </a:extLst>
          </p:cNvPr>
          <p:cNvSpPr>
            <a:spLocks noGrp="1"/>
          </p:cNvSpPr>
          <p:nvPr/>
        </p:nvSpPr>
        <p:spPr>
          <a:xfrm>
            <a:off x="9906000" y="2133600"/>
            <a:ext cx="9525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27" name="up-share-occurrence-definition">
            <a:extLst>
              <a:ext uri="{FF2B5EF4-FFF2-40B4-BE49-F238E27FC236}">
                <a16:creationId xmlns:a16="http://schemas.microsoft.com/office/drawing/2014/main" id="{1A6CE354-8C72-486A-828A-0EBE27A94B79}"/>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Autofit/>
          </a:bodyPr>
          <a:lstStyle/>
          <a:p>
            <a:pPr algn="ctr">
              <a:buNone/>
              <a:defRPr sz="1350" b="0">
                <a:solidFill>
                  <a:srgbClr val="4E5A68"/>
                </a:solidFill>
                <a:latin typeface="Arial"/>
                <a:ea typeface="Arial"/>
                <a:cs typeface="Arial"/>
              </a:defRPr>
            </a:pPr>
            <a:r>
              <a:rPr sz="1600" b="1">
                <a:solidFill>
                  <a:srgbClr val="FF0000"/>
                </a:solidFill>
                <a:latin typeface="Arial"/>
                <a:ea typeface="Arial"/>
                <a:cs typeface="Arial"/>
              </a:rPr>
              <a:t>1 occurrence = 1 significant pathway gene in 1 fine-cell comparison</a:t>
            </a:r>
            <a:r>
              <a:rPr sz="1600" b="1">
                <a:solidFill>
                  <a:srgbClr val="4E5A68"/>
                </a:solidFill>
                <a:latin typeface="Arial"/>
                <a:ea typeface="Arial"/>
                <a:cs typeface="Arial"/>
              </a:rPr>
              <a:t>. The same gene may count again in another fine cell type.</a:t>
            </a:r>
          </a:p>
        </p:txBody>
      </p:sp>
      <p:sp>
        <p:nvSpPr>
          <p:cNvPr id="28" name="up-share-example-surface">
            <a:extLst>
              <a:ext uri="{FF2B5EF4-FFF2-40B4-BE49-F238E27FC236}">
                <a16:creationId xmlns:a16="http://schemas.microsoft.com/office/drawing/2014/main" id="{E7A883B5-E2EA-4CAA-ACF6-8ACD938659A8}"/>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9" name="up-share-example-label">
            <a:extLst>
              <a:ext uri="{FF2B5EF4-FFF2-40B4-BE49-F238E27FC236}">
                <a16:creationId xmlns:a16="http://schemas.microsoft.com/office/drawing/2014/main" id="{000ADEC4-160C-4935-8190-C81488BAB034}"/>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30" name="up-share-example-calculation">
            <a:extLst>
              <a:ext uri="{FF2B5EF4-FFF2-40B4-BE49-F238E27FC236}">
                <a16:creationId xmlns:a16="http://schemas.microsoft.com/office/drawing/2014/main" id="{178F17E4-AD5A-4864-A4D6-0543141C8923}"/>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31" name="up-share-reading-surface">
            <a:extLst>
              <a:ext uri="{FF2B5EF4-FFF2-40B4-BE49-F238E27FC236}">
                <a16:creationId xmlns:a16="http://schemas.microsoft.com/office/drawing/2014/main" id="{0C3AE05E-6042-4D00-84A3-548A07C992B0}"/>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32" name="up-share-reading-label">
            <a:extLst>
              <a:ext uri="{FF2B5EF4-FFF2-40B4-BE49-F238E27FC236}">
                <a16:creationId xmlns:a16="http://schemas.microsoft.com/office/drawing/2014/main" id="{AD424F90-92D4-473C-A03F-F2FC6E45397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33" name="up-share-reading-text">
            <a:extLst>
              <a:ext uri="{FF2B5EF4-FFF2-40B4-BE49-F238E27FC236}">
                <a16:creationId xmlns:a16="http://schemas.microsoft.com/office/drawing/2014/main" id="{1E657A0D-8437-4DBF-8A41-D78543DB84CE}"/>
              </a:ext>
            </a:extLst>
          </p:cNvPr>
          <p:cNvSpPr>
            <a:spLocks noGrp="1"/>
          </p:cNvSpPr>
          <p:nvPr/>
        </p:nvSpPr>
        <p:spPr>
          <a:xfrm>
            <a:off x="3000375" y="5930714"/>
            <a:ext cx="7905750" cy="409575"/>
          </a:xfrm>
          <a:prstGeom prst="rect">
            <a:avLst/>
          </a:prstGeom>
          <a:noFill/>
          <a:ln w="0">
            <a:noFill/>
            <a:prstDash val="solid"/>
          </a:ln>
        </p:spPr>
        <p:txBody>
          <a:bodyPr wrap="square" lIns="0" tIns="0" rIns="0" bIns="0" anchor="ctr">
            <a:normAutofit/>
          </a:bodyPr>
          <a:lstStyle/>
          <a:p>
            <a:pPr algn="l">
              <a:buNone/>
              <a:defRPr sz="1200" b="0">
                <a:solidFill>
                  <a:srgbClr val="1F2730"/>
                </a:solidFill>
                <a:latin typeface="Arial"/>
                <a:ea typeface="Arial"/>
                <a:cs typeface="Arial"/>
              </a:defRPr>
            </a:pPr>
            <a:r>
              <a:rPr sz="1200" b="0">
                <a:solidFill>
                  <a:srgbClr val="1F2730"/>
                </a:solidFill>
                <a:latin typeface="Arial"/>
                <a:ea typeface="Arial"/>
                <a:cs typeface="Arial"/>
              </a:rPr>
              <a:t>50% means equal upregulated and downregulated occurrences. Above 50% favors upregulation; below 50% favors downregulation.</a:t>
            </a:r>
          </a:p>
        </p:txBody>
      </p:sp>
    </p:spTree>
    <p:extLst>
      <p:ext uri="{BB962C8B-B14F-4D97-AF65-F5344CB8AC3E}">
        <p14:creationId xmlns:p14="http://schemas.microsoft.com/office/powerpoint/2010/main" val="4478183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FFB8A0-DEAC-440E-806C-3B607915AFB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OXPHOS gene directions vary across sex/APOE groups</a:t>
            </a:r>
          </a:p>
        </p:txBody>
      </p:sp>
      <p:sp>
        <p:nvSpPr>
          <p:cNvPr id="3" name="TextBox 2">
            <a:extLst>
              <a:ext uri="{FF2B5EF4-FFF2-40B4-BE49-F238E27FC236}">
                <a16:creationId xmlns:a16="http://schemas.microsoft.com/office/drawing/2014/main" id="{F2B80348-3939-45C0-ACEB-4A1F32F42960}"/>
              </a:ext>
            </a:extLst>
          </p:cNvPr>
          <p:cNvSpPr>
            <a:spLocks noGrp="1"/>
          </p:cNvSpPr>
          <p:nvPr/>
        </p:nvSpPr>
        <p:spPr>
          <a:xfrm>
            <a:off x="1140312" y="1173838"/>
            <a:ext cx="9877313"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b="0" i="0">
                <a:solidFill>
                  <a:srgbClr val="4E5A68"/>
                </a:solidFill>
                <a:latin typeface="Arial"/>
                <a:ea typeface="Arial"/>
                <a:cs typeface="Arial"/>
              </a:rPr>
              <a:t>OXPHOS (oxidative phosphorylation) is the mitochondrial process that makes most cellular ATP.</a:t>
            </a:r>
          </a:p>
        </p:txBody>
      </p:sp>
      <p:sp>
        <p:nvSpPr>
          <p:cNvPr id="5" name="Rounded Rectangle 4">
            <a:extLst>
              <a:ext uri="{FF2B5EF4-FFF2-40B4-BE49-F238E27FC236}">
                <a16:creationId xmlns:a16="http://schemas.microsoft.com/office/drawing/2014/main" id="{7BFC1DB3-DFD2-40A6-BEF9-C7D358422FDC}"/>
              </a:ext>
            </a:extLst>
          </p:cNvPr>
          <p:cNvSpPr>
            <a:spLocks noGrp="1"/>
          </p:cNvSpPr>
          <p:nvPr/>
        </p:nvSpPr>
        <p:spPr>
          <a:xfrm>
            <a:off x="658368" y="5650992"/>
            <a:ext cx="10881360" cy="64008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D7D15E47-25EF-48E5-9080-CEFB5FCC0506}"/>
              </a:ext>
            </a:extLst>
          </p:cNvPr>
          <p:cNvSpPr>
            <a:spLocks noGrp="1"/>
          </p:cNvSpPr>
          <p:nvPr/>
        </p:nvSpPr>
        <p:spPr>
          <a:xfrm>
            <a:off x="932688" y="5843016"/>
            <a:ext cx="111556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contrast</a:t>
            </a:r>
          </a:p>
        </p:txBody>
      </p:sp>
      <p:sp>
        <p:nvSpPr>
          <p:cNvPr id="7" name="TextBox 6">
            <a:extLst>
              <a:ext uri="{FF2B5EF4-FFF2-40B4-BE49-F238E27FC236}">
                <a16:creationId xmlns:a16="http://schemas.microsoft.com/office/drawing/2014/main" id="{B7B88507-A599-4037-BD24-A84D179AFD21}"/>
              </a:ext>
            </a:extLst>
          </p:cNvPr>
          <p:cNvSpPr>
            <a:spLocks noGrp="1"/>
          </p:cNvSpPr>
          <p:nvPr/>
        </p:nvSpPr>
        <p:spPr>
          <a:xfrm>
            <a:off x="2148840" y="5797296"/>
            <a:ext cx="8979408" cy="47548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80" b="0" i="0">
                <a:solidFill>
                  <a:srgbClr val="1F2730"/>
                </a:solidFill>
                <a:latin typeface="Arial"/>
                <a:ea typeface="Arial"/>
                <a:cs typeface="Arial"/>
              </a:rPr>
              <a:t>Female ε3/ε3: both OXPHOS sets mostly rise; male ε3/ε3: core MT genes rise while nuclear-encoded OXPHOS genes fall.</a:t>
            </a:r>
          </a:p>
        </p:txBody>
      </p:sp>
      <p:pic>
        <p:nvPicPr>
          <p:cNvPr id="24" name="Diverging paired bar chart of dominant Alzheimer’s disease direction for the 13 core MT genes and 86 nuclear-encoded OXPHOS genes across female and male APOE epsilon-2, epsilon-3 homozygous, and epsilon-4 groups."/>
          <p:cNvPicPr>
            <a:picLocks noChangeAspect="1"/>
          </p:cNvPicPr>
          <p:nvPr/>
        </p:nvPicPr>
        <p:blipFill>
          <a:blip r:embed="rId3"/>
          <a:stretch>
            <a:fillRect/>
          </a:stretch>
        </p:blipFill>
        <p:spPr>
          <a:xfrm>
            <a:off x="612648" y="1758132"/>
            <a:ext cx="10972800" cy="3232007"/>
          </a:xfrm>
          <a:prstGeom prst="rect">
            <a:avLst/>
          </a:prstGeom>
        </p:spPr>
      </p:pic>
      <p:sp>
        <p:nvSpPr>
          <p:cNvPr id="9" name="up-share-chart-background">
            <a:extLst>
              <a:ext uri="{FF2B5EF4-FFF2-40B4-BE49-F238E27FC236}">
                <a16:creationId xmlns:a16="http://schemas.microsoft.com/office/drawing/2014/main" id="{F3D88217-4D79-49C6-B63B-2B75F4D08C7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0" name="up-share-chart-title">
            <a:extLst>
              <a:ext uri="{FF2B5EF4-FFF2-40B4-BE49-F238E27FC236}">
                <a16:creationId xmlns:a16="http://schemas.microsoft.com/office/drawing/2014/main" id="{55D6B509-3AFF-4ECC-A9BF-A92BC1266806}"/>
              </a:ext>
            </a:extLst>
          </p:cNvPr>
          <p:cNvSpPr>
            <a:spLocks noGrp="1"/>
          </p:cNvSpPr>
          <p:nvPr/>
        </p:nvSpPr>
        <p:spPr>
          <a:xfrm>
            <a:off x="552450" y="428625"/>
            <a:ext cx="10763250" cy="438150"/>
          </a:xfrm>
          <a:prstGeom prst="rect">
            <a:avLst/>
          </a:prstGeom>
          <a:noFill/>
          <a:ln w="0">
            <a:noFill/>
            <a:prstDash val="solid"/>
          </a:ln>
        </p:spPr>
        <p:txBody>
          <a:bodyPr wrap="square" lIns="0" tIns="0" rIns="0" bIns="0" anchor="ctr">
            <a:normAutofit/>
          </a:bodyPr>
          <a:lstStyle/>
          <a:p>
            <a:pPr algn="l">
              <a:buNone/>
              <a:defRPr sz="2250" b="1">
                <a:solidFill>
                  <a:srgbClr val="0F233D"/>
                </a:solidFill>
                <a:latin typeface="Arial"/>
                <a:ea typeface="Arial"/>
                <a:cs typeface="Arial"/>
              </a:defRPr>
            </a:pPr>
            <a:r>
              <a:rPr sz="2250" b="1">
                <a:solidFill>
                  <a:srgbClr val="0F233D"/>
                </a:solidFill>
                <a:latin typeface="Arial"/>
                <a:ea typeface="Arial"/>
                <a:cs typeface="Arial"/>
              </a:rPr>
              <a:t>Share of OXPHOS DEG occurrences that are upregulated</a:t>
            </a:r>
          </a:p>
        </p:txBody>
      </p:sp>
      <p:sp>
        <p:nvSpPr>
          <p:cNvPr id="11" name="up-share-chart-subtitle">
            <a:extLst>
              <a:ext uri="{FF2B5EF4-FFF2-40B4-BE49-F238E27FC236}">
                <a16:creationId xmlns:a16="http://schemas.microsoft.com/office/drawing/2014/main" id="{683407C2-9A63-47C5-A661-F12A42F00D95}"/>
              </a:ext>
            </a:extLst>
          </p:cNvPr>
          <p:cNvSpPr>
            <a:spLocks noGrp="1"/>
          </p:cNvSpPr>
          <p:nvPr/>
        </p:nvSpPr>
        <p:spPr>
          <a:xfrm>
            <a:off x="1162050" y="1143000"/>
            <a:ext cx="9906000" cy="361950"/>
          </a:xfrm>
          <a:prstGeom prst="rect">
            <a:avLst/>
          </a:prstGeom>
          <a:noFill/>
          <a:ln w="0">
            <a:noFill/>
            <a:prstDash val="solid"/>
          </a:ln>
        </p:spPr>
        <p:txBody>
          <a:bodyPr wrap="square" lIns="0" tIns="0" rIns="0" bIns="0" anchor="ctr">
            <a:normAutofit/>
          </a:bodyPr>
          <a:lstStyle/>
          <a:p>
            <a:pPr algn="ctr">
              <a:buNone/>
              <a:defRPr sz="1800" b="0">
                <a:solidFill>
                  <a:srgbClr val="4E5A68"/>
                </a:solidFill>
                <a:latin typeface="Arial"/>
                <a:ea typeface="Arial"/>
                <a:cs typeface="Arial"/>
              </a:defRPr>
            </a:pPr>
            <a:r>
              <a:rPr sz="1800" b="0">
                <a:solidFill>
                  <a:srgbClr val="4E5A68"/>
                </a:solidFill>
                <a:latin typeface="Arial"/>
                <a:ea typeface="Arial"/>
                <a:cs typeface="Arial"/>
              </a:rPr>
              <a:t>OXPHOS (oxidative phosphorylation) is the mitochondrial process that makes most cellular ATP.</a:t>
            </a:r>
          </a:p>
        </p:txBody>
      </p:sp>
      <p:sp>
        <p:nvSpPr>
          <p:cNvPr id="12" name="up-share-chart-reference">
            <a:extLst>
              <a:ext uri="{FF2B5EF4-FFF2-40B4-BE49-F238E27FC236}">
                <a16:creationId xmlns:a16="http://schemas.microsoft.com/office/drawing/2014/main" id="{C28648A0-45A1-4934-A17C-4EB76AFCB4E1}"/>
              </a:ext>
            </a:extLst>
          </p:cNvPr>
          <p:cNvSpPr>
            <a:spLocks noGrp="1"/>
          </p:cNvSpPr>
          <p:nvPr/>
        </p:nvSpPr>
        <p:spPr>
          <a:xfrm>
            <a:off x="714375" y="1581150"/>
            <a:ext cx="10763250" cy="228600"/>
          </a:xfrm>
          <a:prstGeom prst="rect">
            <a:avLst/>
          </a:prstGeom>
          <a:noFill/>
          <a:ln w="0">
            <a:noFill/>
            <a:prstDash val="solid"/>
          </a:ln>
        </p:spPr>
        <p:txBody>
          <a:bodyPr wrap="square" lIns="0" tIns="0" rIns="0" bIns="0" anchor="t">
            <a:normAutofit/>
          </a:bodyPr>
          <a:lstStyle/>
          <a:p>
            <a:pPr algn="ctr">
              <a:buNone/>
              <a:defRPr sz="1125" b="1">
                <a:solidFill>
                  <a:srgbClr val="7E4C9A"/>
                </a:solidFill>
                <a:latin typeface="Arial"/>
                <a:ea typeface="Arial"/>
                <a:cs typeface="Arial"/>
              </a:defRPr>
            </a:pPr>
            <a:r>
              <a:rPr sz="1125" b="1">
                <a:solidFill>
                  <a:srgbClr val="7E4C9A"/>
                </a:solidFill>
                <a:latin typeface="Arial"/>
                <a:ea typeface="Arial"/>
                <a:cs typeface="Arial"/>
              </a:rPr>
              <a:t>50% = equal numbers of upregulated and downregulated occurrences</a:t>
            </a:r>
          </a:p>
        </p:txBody>
      </p:sp>
      <p:graphicFrame>
        <p:nvGraphicFramePr>
          <p:cNvPr id="29" name="Chart"/>
          <p:cNvGraphicFramePr/>
          <p:nvPr/>
        </p:nvGraphicFramePr>
        <p:xfrm>
          <a:off x="714375" y="1835090"/>
          <a:ext cx="10763250" cy="3381375"/>
        </p:xfrm>
        <a:graphic>
          <a:graphicData uri="http://schemas.openxmlformats.org/drawingml/2006/chart">
            <c:chart xmlns:c="http://schemas.openxmlformats.org/drawingml/2006/chart" xmlns:r="http://schemas.openxmlformats.org/officeDocument/2006/relationships" r:id="rId4"/>
          </a:graphicData>
        </a:graphic>
      </p:graphicFrame>
      <p:sp>
        <p:nvSpPr>
          <p:cNvPr id="14" name="up-share-key-contrast-surface">
            <a:extLst>
              <a:ext uri="{FF2B5EF4-FFF2-40B4-BE49-F238E27FC236}">
                <a16:creationId xmlns:a16="http://schemas.microsoft.com/office/drawing/2014/main" id="{0FA2CAA8-3E8A-4BA2-9A72-13F758802B18}"/>
              </a:ext>
            </a:extLst>
          </p:cNvPr>
          <p:cNvSpPr>
            <a:spLocks noGrp="1"/>
          </p:cNvSpPr>
          <p:nvPr/>
        </p:nvSpPr>
        <p:spPr>
          <a:xfrm>
            <a:off x="647700" y="5638800"/>
            <a:ext cx="10896600" cy="657225"/>
          </a:xfrm>
          <a:prstGeom prst="roundRect">
            <a:avLst>
              <a:gd name="adj" fmla="val 17391"/>
            </a:avLst>
          </a:prstGeom>
          <a:solidFill>
            <a:srgbClr val="F1F4F7"/>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up-share-key-contrast-label">
            <a:extLst>
              <a:ext uri="{FF2B5EF4-FFF2-40B4-BE49-F238E27FC236}">
                <a16:creationId xmlns:a16="http://schemas.microsoft.com/office/drawing/2014/main" id="{71C5911B-901A-4011-9F94-7EEA80440391}"/>
              </a:ext>
            </a:extLst>
          </p:cNvPr>
          <p:cNvSpPr>
            <a:spLocks noGrp="1"/>
          </p:cNvSpPr>
          <p:nvPr/>
        </p:nvSpPr>
        <p:spPr>
          <a:xfrm>
            <a:off x="952500" y="5867400"/>
            <a:ext cx="1143000" cy="23812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Key contrast</a:t>
            </a:r>
          </a:p>
        </p:txBody>
      </p:sp>
      <p:sp>
        <p:nvSpPr>
          <p:cNvPr id="16" name="up-share-key-contrast-text">
            <a:extLst>
              <a:ext uri="{FF2B5EF4-FFF2-40B4-BE49-F238E27FC236}">
                <a16:creationId xmlns:a16="http://schemas.microsoft.com/office/drawing/2014/main" id="{4DB05E54-9576-4DFA-ABE0-0D2D774F5762}"/>
              </a:ext>
            </a:extLst>
          </p:cNvPr>
          <p:cNvSpPr>
            <a:spLocks noGrp="1"/>
          </p:cNvSpPr>
          <p:nvPr/>
        </p:nvSpPr>
        <p:spPr>
          <a:xfrm>
            <a:off x="2171700" y="5762625"/>
            <a:ext cx="8953500" cy="44767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Female ε3/ε3: both OXPHOS sets mostly rise. Male ε3/ε3: core MT genes rise while nuclear-encoded OXPHOS genes fall.</a:t>
            </a:r>
          </a:p>
        </p:txBody>
      </p:sp>
    </p:spTree>
    <p:extLst>
      <p:ext uri="{BB962C8B-B14F-4D97-AF65-F5344CB8AC3E}">
        <p14:creationId xmlns:p14="http://schemas.microsoft.com/office/powerpoint/2010/main" val="4926964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A38812-820E-43AA-AEA6-5D3C98C983E1}"/>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4</a:t>
            </a:r>
          </a:p>
        </p:txBody>
      </p:sp>
      <p:sp>
        <p:nvSpPr>
          <p:cNvPr id="3" name="Rectangle 2">
            <a:extLst>
              <a:ext uri="{FF2B5EF4-FFF2-40B4-BE49-F238E27FC236}">
                <a16:creationId xmlns:a16="http://schemas.microsoft.com/office/drawing/2014/main" id="{B029E37C-4342-4CDA-8A77-437F6147B463}"/>
              </a:ext>
            </a:extLst>
          </p:cNvPr>
          <p:cNvSpPr>
            <a:spLocks noGrp="1"/>
          </p:cNvSpPr>
          <p:nvPr/>
        </p:nvSpPr>
        <p:spPr>
          <a:xfrm>
            <a:off x="713232" y="1152144"/>
            <a:ext cx="91440" cy="2176272"/>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756A2B-C51E-4074-A29B-8354303A5F96}"/>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KDA calls</a:t>
            </a:r>
          </a:p>
        </p:txBody>
      </p:sp>
      <p:sp>
        <p:nvSpPr>
          <p:cNvPr id="6" name="Rounded Rectangle 5">
            <a:extLst>
              <a:ext uri="{FF2B5EF4-FFF2-40B4-BE49-F238E27FC236}">
                <a16:creationId xmlns:a16="http://schemas.microsoft.com/office/drawing/2014/main" id="{B83AEE6C-0C4B-4977-BEEB-80A7144C7C9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E13A4AF5-D8B1-41D0-AA6F-13D5CC8DBC3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 THIS PART</a:t>
            </a:r>
          </a:p>
        </p:txBody>
      </p:sp>
      <p:sp>
        <p:nvSpPr>
          <p:cNvPr id="8" name="Oval 7">
            <a:extLst>
              <a:ext uri="{FF2B5EF4-FFF2-40B4-BE49-F238E27FC236}">
                <a16:creationId xmlns:a16="http://schemas.microsoft.com/office/drawing/2014/main" id="{BDF530FF-5B80-4445-971C-3E93F262580E}"/>
              </a:ext>
            </a:extLst>
          </p:cNvPr>
          <p:cNvSpPr>
            <a:spLocks noGrp="1"/>
          </p:cNvSpPr>
          <p:nvPr/>
        </p:nvSpPr>
        <p:spPr>
          <a:xfrm>
            <a:off x="9198864" y="2039112"/>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3B20975-3211-4AF5-9570-0EB0D9AD689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B591A55-3D73-4ECA-BE0D-C3ACADE17C01}"/>
              </a:ext>
            </a:extLst>
          </p:cNvPr>
          <p:cNvSpPr>
            <a:spLocks noGrp="1"/>
          </p:cNvSpPr>
          <p:nvPr/>
        </p:nvSpPr>
        <p:spPr>
          <a:xfrm>
            <a:off x="9628632" y="203482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D0513708-4DE7-443D-9851-630F8E71D76E}"/>
              </a:ext>
            </a:extLst>
          </p:cNvPr>
          <p:cNvSpPr>
            <a:spLocks noGrp="1"/>
          </p:cNvSpPr>
          <p:nvPr/>
        </p:nvSpPr>
        <p:spPr>
          <a:xfrm>
            <a:off x="9198864" y="2788920"/>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08C1D71-67D0-44D5-864E-C04624C18AFA}"/>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E3EEDA7-BA00-4CDB-BFDE-9F2883F95298}"/>
              </a:ext>
            </a:extLst>
          </p:cNvPr>
          <p:cNvSpPr>
            <a:spLocks noGrp="1"/>
          </p:cNvSpPr>
          <p:nvPr/>
        </p:nvSpPr>
        <p:spPr>
          <a:xfrm>
            <a:off x="9628632" y="2790427"/>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a:ext uri="{FF2B5EF4-FFF2-40B4-BE49-F238E27FC236}">
                <a16:creationId xmlns:a16="http://schemas.microsoft.com/office/drawing/2014/main" id="{2BFBCCAC-5C0E-417E-8013-1A19463D7077}"/>
              </a:ext>
            </a:extLst>
          </p:cNvPr>
          <p:cNvSpPr>
            <a:spLocks noGrp="1"/>
          </p:cNvSpPr>
          <p:nvPr/>
        </p:nvSpPr>
        <p:spPr>
          <a:xfrm>
            <a:off x="9198864" y="3538727"/>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B6D520-0795-4F7E-A96C-A74455F24ED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C755F62-BD64-4F6E-B193-416C9CE4E9C5}"/>
              </a:ext>
            </a:extLst>
          </p:cNvPr>
          <p:cNvSpPr>
            <a:spLocks noGrp="1"/>
          </p:cNvSpPr>
          <p:nvPr/>
        </p:nvSpPr>
        <p:spPr>
          <a:xfrm>
            <a:off x="9628632" y="3551805"/>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5225D091-C2ED-4309-ACD3-2E65A4BFB68C}"/>
              </a:ext>
            </a:extLst>
          </p:cNvPr>
          <p:cNvSpPr>
            <a:spLocks noGrp="1"/>
          </p:cNvSpPr>
          <p:nvPr/>
        </p:nvSpPr>
        <p:spPr>
          <a:xfrm>
            <a:off x="9198864" y="4288536"/>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33959B-4CEB-4D27-A9C6-57EADC2D811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BA6D3EF5-7783-4F39-99AB-618E5BD525A9}"/>
              </a:ext>
            </a:extLst>
          </p:cNvPr>
          <p:cNvSpPr>
            <a:spLocks noGrp="1"/>
          </p:cNvSpPr>
          <p:nvPr/>
        </p:nvSpPr>
        <p:spPr>
          <a:xfrm>
            <a:off x="9628632" y="4295829"/>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8734015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221FFC-B8D1-496E-A536-22D57CBEFE4E}"/>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Four steps: run DEG per contrast, then make KDA calls</a:t>
            </a:r>
          </a:p>
        </p:txBody>
      </p:sp>
      <p:sp>
        <p:nvSpPr>
          <p:cNvPr id="5" name="Rounded Rectangle 4">
            <a:extLst>
              <a:ext uri="{FF2B5EF4-FFF2-40B4-BE49-F238E27FC236}">
                <a16:creationId xmlns:a16="http://schemas.microsoft.com/office/drawing/2014/main" id="{46E88943-8734-4E23-A8AF-1BFDF11E7331}"/>
              </a:ext>
            </a:extLst>
          </p:cNvPr>
          <p:cNvSpPr>
            <a:spLocks noGrp="1"/>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289406B0-EF9A-4E79-B36A-4427A6153B61}"/>
              </a:ext>
            </a:extLst>
          </p:cNvPr>
          <p:cNvSpPr>
            <a:spLocks noGrp="1"/>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1C6F10-E5E1-4BB4-A387-04C150B20AA8}"/>
              </a:ext>
            </a:extLst>
          </p:cNvPr>
          <p:cNvSpPr>
            <a:spLocks noGrp="1"/>
          </p:cNvSpPr>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1</a:t>
            </a:r>
          </a:p>
        </p:txBody>
      </p:sp>
      <p:sp>
        <p:nvSpPr>
          <p:cNvPr id="8" name="TextBox 7">
            <a:extLst>
              <a:ext uri="{FF2B5EF4-FFF2-40B4-BE49-F238E27FC236}">
                <a16:creationId xmlns:a16="http://schemas.microsoft.com/office/drawing/2014/main" id="{F22D91EF-D9BC-409A-9ACA-8738658F8584}"/>
              </a:ext>
            </a:extLst>
          </p:cNvPr>
          <p:cNvSpPr>
            <a:spLocks noGrp="1"/>
          </p:cNvSpPr>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DEG</a:t>
            </a:r>
          </a:p>
        </p:txBody>
      </p:sp>
      <p:sp>
        <p:nvSpPr>
          <p:cNvPr id="9" name="TextBox 8">
            <a:extLst>
              <a:ext uri="{FF2B5EF4-FFF2-40B4-BE49-F238E27FC236}">
                <a16:creationId xmlns:a16="http://schemas.microsoft.com/office/drawing/2014/main" id="{60C194DE-54EB-476E-8EDE-572C60849D23}"/>
              </a:ext>
            </a:extLst>
          </p:cNvPr>
          <p:cNvSpPr>
            <a:spLocks noGrp="1"/>
          </p:cNvSpPr>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fine cell type × sex/APOE</a:t>
            </a:r>
          </a:p>
        </p:txBody>
      </p:sp>
      <p:sp>
        <p:nvSpPr>
          <p:cNvPr id="10" name="Rounded Rectangle 9">
            <a:extLst>
              <a:ext uri="{FF2B5EF4-FFF2-40B4-BE49-F238E27FC236}">
                <a16:creationId xmlns:a16="http://schemas.microsoft.com/office/drawing/2014/main" id="{6146D296-CE83-45BB-AD0D-3A7A6C16FE5F}"/>
              </a:ext>
            </a:extLst>
          </p:cNvPr>
          <p:cNvSpPr>
            <a:spLocks noGrp="1"/>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6A2FDC54-9072-421A-B955-DD62AE6235F9}"/>
              </a:ext>
            </a:extLst>
          </p:cNvPr>
          <p:cNvSpPr>
            <a:spLocks noGrp="1"/>
          </p:cNvSpPr>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AD-versus-NCI DEG for each contrast</a:t>
            </a:r>
          </a:p>
        </p:txBody>
      </p:sp>
      <p:sp>
        <p:nvSpPr>
          <p:cNvPr id="12" name="Rounded Rectangle 11">
            <a:extLst>
              <a:ext uri="{FF2B5EF4-FFF2-40B4-BE49-F238E27FC236}">
                <a16:creationId xmlns:a16="http://schemas.microsoft.com/office/drawing/2014/main" id="{3D6A8284-7A31-4380-B904-A0B59015231A}"/>
              </a:ext>
            </a:extLst>
          </p:cNvPr>
          <p:cNvSpPr>
            <a:spLocks noGrp="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1B9491F2-A95B-404C-9125-3CAAEE2F4998}"/>
              </a:ext>
            </a:extLst>
          </p:cNvPr>
          <p:cNvSpPr>
            <a:spLocks noGrp="1"/>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22387C4-7931-4CE7-BDE7-F35D8D087AE8}"/>
              </a:ext>
            </a:extLst>
          </p:cNvPr>
          <p:cNvSpPr>
            <a:spLocks noGrp="1"/>
          </p:cNvSpPr>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2</a:t>
            </a:r>
          </a:p>
        </p:txBody>
      </p:sp>
      <p:sp>
        <p:nvSpPr>
          <p:cNvPr id="15" name="TextBox 14">
            <a:extLst>
              <a:ext uri="{FF2B5EF4-FFF2-40B4-BE49-F238E27FC236}">
                <a16:creationId xmlns:a16="http://schemas.microsoft.com/office/drawing/2014/main" id="{F0443E6F-1577-4127-9A0B-40BE604BD958}"/>
              </a:ext>
            </a:extLst>
          </p:cNvPr>
          <p:cNvSpPr>
            <a:spLocks noGrp="1"/>
          </p:cNvSpPr>
          <p:nvPr/>
        </p:nvSpPr>
        <p:spPr>
          <a:xfrm>
            <a:off x="3639312" y="2267712"/>
            <a:ext cx="2157984" cy="6339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MitoCarta MT query</a:t>
            </a:r>
          </a:p>
        </p:txBody>
      </p:sp>
      <p:sp>
        <p:nvSpPr>
          <p:cNvPr id="16" name="TextBox 15">
            <a:extLst>
              <a:ext uri="{FF2B5EF4-FFF2-40B4-BE49-F238E27FC236}">
                <a16:creationId xmlns:a16="http://schemas.microsoft.com/office/drawing/2014/main" id="{7001D801-ADA4-403D-BAD3-04BAFAA2F71C}"/>
              </a:ext>
            </a:extLst>
          </p:cNvPr>
          <p:cNvSpPr>
            <a:spLocks noGrp="1"/>
          </p:cNvSpPr>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MitoCarta MT DEGs</a:t>
            </a:r>
          </a:p>
        </p:txBody>
      </p:sp>
      <p:sp>
        <p:nvSpPr>
          <p:cNvPr id="17" name="Rounded Rectangle 16">
            <a:extLst>
              <a:ext uri="{FF2B5EF4-FFF2-40B4-BE49-F238E27FC236}">
                <a16:creationId xmlns:a16="http://schemas.microsoft.com/office/drawing/2014/main" id="{A3D98377-F5A3-4F8F-BAB6-FDC375C4B716}"/>
              </a:ext>
            </a:extLst>
          </p:cNvPr>
          <p:cNvSpPr>
            <a:spLocks noGrp="1"/>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7EF9E3C-D045-44CE-881A-1A65D09E147D}"/>
              </a:ext>
            </a:extLst>
          </p:cNvPr>
          <p:cNvSpPr>
            <a:spLocks noGrp="1"/>
          </p:cNvSpPr>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Build one query per contrast from MitoCarta MT DEGs</a:t>
            </a:r>
          </a:p>
        </p:txBody>
      </p:sp>
      <p:sp>
        <p:nvSpPr>
          <p:cNvPr id="19" name="Rounded Rectangle 18">
            <a:extLst>
              <a:ext uri="{FF2B5EF4-FFF2-40B4-BE49-F238E27FC236}">
                <a16:creationId xmlns:a16="http://schemas.microsoft.com/office/drawing/2014/main" id="{DF469515-F5B8-43BD-8069-1C1E5125CEA0}"/>
              </a:ext>
            </a:extLst>
          </p:cNvPr>
          <p:cNvSpPr>
            <a:spLocks noGrp="1"/>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D04E537C-15DA-48A6-89FB-F8113B7AC3F0}"/>
              </a:ext>
            </a:extLst>
          </p:cNvPr>
          <p:cNvSpPr>
            <a:spLocks noGrp="1"/>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9C0C3F9-A3D6-433E-8DFC-3418EFBC3EA7}"/>
              </a:ext>
            </a:extLst>
          </p:cNvPr>
          <p:cNvSpPr>
            <a:spLocks noGrp="1"/>
          </p:cNvSpPr>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3</a:t>
            </a:r>
          </a:p>
        </p:txBody>
      </p:sp>
      <p:sp>
        <p:nvSpPr>
          <p:cNvPr id="22" name="TextBox 21">
            <a:extLst>
              <a:ext uri="{FF2B5EF4-FFF2-40B4-BE49-F238E27FC236}">
                <a16:creationId xmlns:a16="http://schemas.microsoft.com/office/drawing/2014/main" id="{FADF91BF-7B86-4FED-A4B7-C7F5A4F14485}"/>
              </a:ext>
            </a:extLst>
          </p:cNvPr>
          <p:cNvSpPr>
            <a:spLocks noGrp="1"/>
          </p:cNvSpPr>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KDA calls</a:t>
            </a:r>
          </a:p>
        </p:txBody>
      </p:sp>
      <p:sp>
        <p:nvSpPr>
          <p:cNvPr id="23" name="TextBox 22">
            <a:extLst>
              <a:ext uri="{FF2B5EF4-FFF2-40B4-BE49-F238E27FC236}">
                <a16:creationId xmlns:a16="http://schemas.microsoft.com/office/drawing/2014/main" id="{B842083C-0C8D-4B4B-B1A5-57F55B7604BB}"/>
              </a:ext>
            </a:extLst>
          </p:cNvPr>
          <p:cNvSpPr>
            <a:spLocks noGrp="1"/>
          </p:cNvSpPr>
          <p:nvPr/>
        </p:nvSpPr>
        <p:spPr>
          <a:xfrm>
            <a:off x="647395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a:solidFill>
                  <a:srgbClr val="0072B2"/>
                </a:solidFill>
                <a:latin typeface="Arial"/>
                <a:ea typeface="Arial"/>
                <a:cs typeface="Arial"/>
              </a:rPr>
              <a:t>Make KDA calls</a:t>
            </a:r>
          </a:p>
        </p:txBody>
      </p:sp>
      <p:sp>
        <p:nvSpPr>
          <p:cNvPr id="24" name="Rounded Rectangle 23">
            <a:extLst>
              <a:ext uri="{FF2B5EF4-FFF2-40B4-BE49-F238E27FC236}">
                <a16:creationId xmlns:a16="http://schemas.microsoft.com/office/drawing/2014/main" id="{73FCD190-7E9B-4971-809E-FDF0267FFC24}"/>
              </a:ext>
            </a:extLst>
          </p:cNvPr>
          <p:cNvSpPr>
            <a:spLocks noGrp="1"/>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4BA8FC0-C20F-4CB2-9C47-48A6A6F99B5D}"/>
              </a:ext>
            </a:extLst>
          </p:cNvPr>
          <p:cNvSpPr>
            <a:spLocks noGrp="1"/>
          </p:cNvSpPr>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Make KDA calls when the mapped query</a:t>
            </a:r>
          </a:p>
          <a:p>
            <a:pPr algn="ctr">
              <a:lnSpc>
                <a:spcPct val="100000"/>
              </a:lnSpc>
              <a:spcBef>
                <a:spcPts val="0"/>
              </a:spcBef>
              <a:spcAft>
                <a:spcPts val="0"/>
              </a:spcAft>
              <a:buNone/>
            </a:pPr>
            <a:r>
              <a:rPr sz="1130">
                <a:solidFill>
                  <a:srgbClr val="4E5A68"/>
                </a:solidFill>
                <a:latin typeface="Arial"/>
                <a:ea typeface="Arial"/>
                <a:cs typeface="Arial"/>
              </a:rPr>
              <a:t>contains ≥3 genes</a:t>
            </a:r>
          </a:p>
        </p:txBody>
      </p:sp>
      <p:sp>
        <p:nvSpPr>
          <p:cNvPr id="26" name="Rounded Rectangle 25">
            <a:extLst>
              <a:ext uri="{FF2B5EF4-FFF2-40B4-BE49-F238E27FC236}">
                <a16:creationId xmlns:a16="http://schemas.microsoft.com/office/drawing/2014/main" id="{ECCE965F-10FE-43B6-9A15-9DB9A4A772BA}"/>
              </a:ext>
            </a:extLst>
          </p:cNvPr>
          <p:cNvSpPr>
            <a:spLocks noGrp="1"/>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Oval 26">
            <a:extLst>
              <a:ext uri="{FF2B5EF4-FFF2-40B4-BE49-F238E27FC236}">
                <a16:creationId xmlns:a16="http://schemas.microsoft.com/office/drawing/2014/main" id="{0F316496-2745-40F5-8FA3-A536F057DFD9}"/>
              </a:ext>
            </a:extLst>
          </p:cNvPr>
          <p:cNvSpPr>
            <a:spLocks noGrp="1"/>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D6A51F87-D6F7-46B1-805E-981A290663B3}"/>
              </a:ext>
            </a:extLst>
          </p:cNvPr>
          <p:cNvSpPr>
            <a:spLocks noGrp="1"/>
          </p:cNvSpPr>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4</a:t>
            </a:r>
          </a:p>
        </p:txBody>
      </p:sp>
      <p:sp>
        <p:nvSpPr>
          <p:cNvPr id="29" name="TextBox 28">
            <a:extLst>
              <a:ext uri="{FF2B5EF4-FFF2-40B4-BE49-F238E27FC236}">
                <a16:creationId xmlns:a16="http://schemas.microsoft.com/office/drawing/2014/main" id="{081F480E-EA43-4A99-9E7F-3B8C8BB6E908}"/>
              </a:ext>
            </a:extLst>
          </p:cNvPr>
          <p:cNvSpPr>
            <a:spLocks noGrp="1"/>
          </p:cNvSpPr>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Category result</a:t>
            </a:r>
          </a:p>
        </p:txBody>
      </p:sp>
      <p:sp>
        <p:nvSpPr>
          <p:cNvPr id="30" name="TextBox 29">
            <a:extLst>
              <a:ext uri="{FF2B5EF4-FFF2-40B4-BE49-F238E27FC236}">
                <a16:creationId xmlns:a16="http://schemas.microsoft.com/office/drawing/2014/main" id="{3CFF8CEC-C169-4B64-A39A-03FB9E8AAF1C}"/>
              </a:ext>
            </a:extLst>
          </p:cNvPr>
          <p:cNvSpPr>
            <a:spLocks noGrp="1"/>
          </p:cNvSpPr>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E69F00"/>
                </a:solidFill>
                <a:latin typeface="Arial"/>
                <a:ea typeface="Arial"/>
                <a:cs typeface="Arial"/>
              </a:rPr>
              <a:t>gene × category</a:t>
            </a:r>
          </a:p>
        </p:txBody>
      </p:sp>
      <p:sp>
        <p:nvSpPr>
          <p:cNvPr id="31" name="Rounded Rectangle 30">
            <a:extLst>
              <a:ext uri="{FF2B5EF4-FFF2-40B4-BE49-F238E27FC236}">
                <a16:creationId xmlns:a16="http://schemas.microsoft.com/office/drawing/2014/main" id="{8A9606BF-576C-4D4A-A6E8-E536878F1F74}"/>
              </a:ext>
            </a:extLst>
          </p:cNvPr>
          <p:cNvSpPr>
            <a:spLocks noGrp="1"/>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51EDF7F-2A80-4AA9-B0A2-6B07730F92E2}"/>
              </a:ext>
            </a:extLst>
          </p:cNvPr>
          <p:cNvSpPr>
            <a:spLocks noGrp="1"/>
          </p:cNvSpPr>
          <p:nvPr/>
        </p:nvSpPr>
        <p:spPr>
          <a:xfrm>
            <a:off x="9436608" y="4105152"/>
            <a:ext cx="1901952"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Aggregate genes across fine cell type for the same broad cell type with ACAT.</a:t>
            </a:r>
          </a:p>
        </p:txBody>
      </p:sp>
    </p:spTree>
    <p:extLst>
      <p:ext uri="{BB962C8B-B14F-4D97-AF65-F5344CB8AC3E}">
        <p14:creationId xmlns:p14="http://schemas.microsoft.com/office/powerpoint/2010/main" val="249508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79EDE79-0614-4A92-8566-773ED2EA23CD}"/>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ROSMAP</a:t>
            </a:r>
          </a:p>
        </p:txBody>
      </p:sp>
      <p:sp>
        <p:nvSpPr>
          <p:cNvPr id="4" name="TextBox 3">
            <a:extLst>
              <a:ext uri="{FF2B5EF4-FFF2-40B4-BE49-F238E27FC236}">
                <a16:creationId xmlns:a16="http://schemas.microsoft.com/office/drawing/2014/main" id="{3FEB1C88-6A15-4B1A-BBD6-1FA27ECDACC0}"/>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5" name="Rounded Rectangle 4">
            <a:extLst>
              <a:ext uri="{FF2B5EF4-FFF2-40B4-BE49-F238E27FC236}">
                <a16:creationId xmlns:a16="http://schemas.microsoft.com/office/drawing/2014/main" id="{27608705-C0F9-4C50-AAB2-99C73BD442DE}"/>
              </a:ext>
            </a:extLst>
          </p:cNvPr>
          <p:cNvSpPr>
            <a:spLocks noGrp="1"/>
          </p:cNvSpPr>
          <p:nvPr/>
        </p:nvSpPr>
        <p:spPr>
          <a:xfrm>
            <a:off x="3250039" y="1352441"/>
            <a:ext cx="5358384" cy="43251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9B893E04-674A-446C-B5F9-1C79FA8DE7F3}"/>
              </a:ext>
            </a:extLst>
          </p:cNvPr>
          <p:cNvSpPr>
            <a:spLocks noGrp="1"/>
          </p:cNvSpPr>
          <p:nvPr/>
        </p:nvSpPr>
        <p:spPr>
          <a:xfrm>
            <a:off x="3533503" y="1645049"/>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72B2"/>
                </a:solidFill>
                <a:latin typeface="Arial"/>
                <a:ea typeface="Arial"/>
                <a:cs typeface="Arial"/>
              </a:rPr>
              <a:t>ROSMAP IS THE PRIMARY</a:t>
            </a:r>
          </a:p>
        </p:txBody>
      </p:sp>
      <p:sp>
        <p:nvSpPr>
          <p:cNvPr id="7" name="TextBox 6">
            <a:extLst>
              <a:ext uri="{FF2B5EF4-FFF2-40B4-BE49-F238E27FC236}">
                <a16:creationId xmlns:a16="http://schemas.microsoft.com/office/drawing/2014/main" id="{25B1F69F-9624-4F57-995F-1475F9FBCC31}"/>
              </a:ext>
            </a:extLst>
          </p:cNvPr>
          <p:cNvSpPr>
            <a:spLocks noGrp="1"/>
          </p:cNvSpPr>
          <p:nvPr/>
        </p:nvSpPr>
        <p:spPr>
          <a:xfrm>
            <a:off x="3533503" y="1955945"/>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Where does a gene recur across fine-cell evidence?</a:t>
            </a:r>
          </a:p>
        </p:txBody>
      </p:sp>
      <p:sp>
        <p:nvSpPr>
          <p:cNvPr id="8" name="Rounded Rectangle 7">
            <a:extLst>
              <a:ext uri="{FF2B5EF4-FFF2-40B4-BE49-F238E27FC236}">
                <a16:creationId xmlns:a16="http://schemas.microsoft.com/office/drawing/2014/main" id="{131DAE2C-A674-40CC-9E86-7DDA6D405B44}"/>
              </a:ext>
            </a:extLst>
          </p:cNvPr>
          <p:cNvSpPr>
            <a:spLocks noGrp="1"/>
          </p:cNvSpPr>
          <p:nvPr/>
        </p:nvSpPr>
        <p:spPr>
          <a:xfrm>
            <a:off x="3533503"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1F88DCF-24B7-442A-B0EE-B2ACA02D3CFC}"/>
              </a:ext>
            </a:extLst>
          </p:cNvPr>
          <p:cNvSpPr>
            <a:spLocks noGrp="1"/>
          </p:cNvSpPr>
          <p:nvPr/>
        </p:nvSpPr>
        <p:spPr>
          <a:xfrm>
            <a:off x="3679806"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324</a:t>
            </a:r>
          </a:p>
        </p:txBody>
      </p:sp>
      <p:sp>
        <p:nvSpPr>
          <p:cNvPr id="10" name="TextBox 9">
            <a:extLst>
              <a:ext uri="{FF2B5EF4-FFF2-40B4-BE49-F238E27FC236}">
                <a16:creationId xmlns:a16="http://schemas.microsoft.com/office/drawing/2014/main" id="{D4176951-406A-42E1-9F48-A3C018324ADE}"/>
              </a:ext>
            </a:extLst>
          </p:cNvPr>
          <p:cNvSpPr>
            <a:spLocks noGrp="1"/>
          </p:cNvSpPr>
          <p:nvPr/>
        </p:nvSpPr>
        <p:spPr>
          <a:xfrm>
            <a:off x="3679806" y="3263537"/>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11" name="Rounded Rectangle 10">
            <a:extLst>
              <a:ext uri="{FF2B5EF4-FFF2-40B4-BE49-F238E27FC236}">
                <a16:creationId xmlns:a16="http://schemas.microsoft.com/office/drawing/2014/main" id="{7F0049E5-A5A1-4945-891F-A8C8F12A0024}"/>
              </a:ext>
            </a:extLst>
          </p:cNvPr>
          <p:cNvSpPr>
            <a:spLocks noGrp="1"/>
          </p:cNvSpPr>
          <p:nvPr/>
        </p:nvSpPr>
        <p:spPr>
          <a:xfrm>
            <a:off x="5115415"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7F68E63-208C-422D-A0B5-6179738B0C27}"/>
              </a:ext>
            </a:extLst>
          </p:cNvPr>
          <p:cNvSpPr>
            <a:spLocks noGrp="1"/>
          </p:cNvSpPr>
          <p:nvPr/>
        </p:nvSpPr>
        <p:spPr>
          <a:xfrm>
            <a:off x="5261719"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194</a:t>
            </a:r>
          </a:p>
        </p:txBody>
      </p:sp>
      <p:sp>
        <p:nvSpPr>
          <p:cNvPr id="13" name="TextBox 12">
            <a:extLst>
              <a:ext uri="{FF2B5EF4-FFF2-40B4-BE49-F238E27FC236}">
                <a16:creationId xmlns:a16="http://schemas.microsoft.com/office/drawing/2014/main" id="{9859AB75-DB6D-41F0-853B-54347BB96C6E}"/>
              </a:ext>
            </a:extLst>
          </p:cNvPr>
          <p:cNvSpPr>
            <a:spLocks noGrp="1"/>
          </p:cNvSpPr>
          <p:nvPr/>
        </p:nvSpPr>
        <p:spPr>
          <a:xfrm>
            <a:off x="5261719" y="3263537"/>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14" name="Rounded Rectangle 13">
            <a:extLst>
              <a:ext uri="{FF2B5EF4-FFF2-40B4-BE49-F238E27FC236}">
                <a16:creationId xmlns:a16="http://schemas.microsoft.com/office/drawing/2014/main" id="{F00CBE22-A234-44B9-A9F5-3EC4E3F1D58E}"/>
              </a:ext>
            </a:extLst>
          </p:cNvPr>
          <p:cNvSpPr>
            <a:spLocks noGrp="1"/>
          </p:cNvSpPr>
          <p:nvPr/>
        </p:nvSpPr>
        <p:spPr>
          <a:xfrm>
            <a:off x="6697327"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0E06DD3-6407-4A49-BEFA-3682641CBF5C}"/>
              </a:ext>
            </a:extLst>
          </p:cNvPr>
          <p:cNvSpPr>
            <a:spLocks noGrp="1"/>
          </p:cNvSpPr>
          <p:nvPr/>
        </p:nvSpPr>
        <p:spPr>
          <a:xfrm>
            <a:off x="6843631"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6" name="TextBox 15">
            <a:extLst>
              <a:ext uri="{FF2B5EF4-FFF2-40B4-BE49-F238E27FC236}">
                <a16:creationId xmlns:a16="http://schemas.microsoft.com/office/drawing/2014/main" id="{142AF64B-9BFC-4A90-AD8B-D7E163774C97}"/>
              </a:ext>
            </a:extLst>
          </p:cNvPr>
          <p:cNvSpPr>
            <a:spLocks noGrp="1"/>
          </p:cNvSpPr>
          <p:nvPr/>
        </p:nvSpPr>
        <p:spPr>
          <a:xfrm>
            <a:off x="6843631" y="3263537"/>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17" name="Oval 16">
            <a:extLst>
              <a:ext uri="{FF2B5EF4-FFF2-40B4-BE49-F238E27FC236}">
                <a16:creationId xmlns:a16="http://schemas.microsoft.com/office/drawing/2014/main" id="{339ABBE7-E584-44D6-8F8D-E5C2606637D4}"/>
              </a:ext>
            </a:extLst>
          </p:cNvPr>
          <p:cNvSpPr>
            <a:spLocks noGrp="1"/>
          </p:cNvSpPr>
          <p:nvPr/>
        </p:nvSpPr>
        <p:spPr>
          <a:xfrm>
            <a:off x="3542647" y="412156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291635AF-955E-44E9-A5E8-68948BABEAE9}"/>
              </a:ext>
            </a:extLst>
          </p:cNvPr>
          <p:cNvSpPr>
            <a:spLocks noGrp="1"/>
          </p:cNvSpPr>
          <p:nvPr/>
        </p:nvSpPr>
        <p:spPr>
          <a:xfrm>
            <a:off x="3716383" y="4022489"/>
            <a:ext cx="4361688" cy="23237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Builds one query with DEG MT genes for each contrast.</a:t>
            </a:r>
          </a:p>
        </p:txBody>
      </p:sp>
      <p:sp>
        <p:nvSpPr>
          <p:cNvPr id="19" name="Oval 18">
            <a:extLst>
              <a:ext uri="{FF2B5EF4-FFF2-40B4-BE49-F238E27FC236}">
                <a16:creationId xmlns:a16="http://schemas.microsoft.com/office/drawing/2014/main" id="{979C2EA2-60E9-465D-B9F7-5F9C1C7D8CE8}"/>
              </a:ext>
            </a:extLst>
          </p:cNvPr>
          <p:cNvSpPr>
            <a:spLocks noGrp="1"/>
          </p:cNvSpPr>
          <p:nvPr/>
        </p:nvSpPr>
        <p:spPr>
          <a:xfrm>
            <a:off x="3542647" y="456048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69861B28-248C-45E2-BBCA-01BD80FE7D6B}"/>
              </a:ext>
            </a:extLst>
          </p:cNvPr>
          <p:cNvSpPr>
            <a:spLocks noGrp="1"/>
          </p:cNvSpPr>
          <p:nvPr/>
        </p:nvSpPr>
        <p:spPr>
          <a:xfrm>
            <a:off x="3716383" y="4461400"/>
            <a:ext cx="4361688" cy="4053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a:solidFill>
                  <a:srgbClr val="1F2730"/>
                </a:solidFill>
                <a:latin typeface="Arial"/>
                <a:ea typeface="Arial"/>
                <a:cs typeface="Arial"/>
              </a:rPr>
              <a:t>Aggregate genes returned from KDA calls within each category using ACAT</a:t>
            </a:r>
          </a:p>
        </p:txBody>
      </p:sp>
      <p:sp>
        <p:nvSpPr>
          <p:cNvPr id="21" name="Oval 20">
            <a:extLst>
              <a:ext uri="{FF2B5EF4-FFF2-40B4-BE49-F238E27FC236}">
                <a16:creationId xmlns:a16="http://schemas.microsoft.com/office/drawing/2014/main" id="{83E07CEC-DB81-450C-AA53-1C5A7367B796}"/>
              </a:ext>
            </a:extLst>
          </p:cNvPr>
          <p:cNvSpPr>
            <a:spLocks noGrp="1"/>
          </p:cNvSpPr>
          <p:nvPr/>
        </p:nvSpPr>
        <p:spPr>
          <a:xfrm>
            <a:off x="3542647" y="498203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1CAF4877-CC06-4E3F-95B9-FDCE34881447}"/>
              </a:ext>
            </a:extLst>
          </p:cNvPr>
          <p:cNvSpPr>
            <a:spLocks noGrp="1"/>
          </p:cNvSpPr>
          <p:nvPr/>
        </p:nvSpPr>
        <p:spPr>
          <a:xfrm>
            <a:off x="3716383" y="4900313"/>
            <a:ext cx="4361688" cy="4093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Final 381 combinations represent 228 unique genes in 29 categories.</a:t>
            </a:r>
          </a:p>
        </p:txBody>
      </p:sp>
    </p:spTree>
    <p:extLst>
      <p:ext uri="{BB962C8B-B14F-4D97-AF65-F5344CB8AC3E}">
        <p14:creationId xmlns:p14="http://schemas.microsoft.com/office/powerpoint/2010/main" val="21316313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3919200-AC9E-432B-826D-4705661A81E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54 fine cell types create 324 planned contrasts</a:t>
            </a:r>
          </a:p>
        </p:txBody>
      </p:sp>
      <p:sp>
        <p:nvSpPr>
          <p:cNvPr id="4" name="TextBox 3">
            <a:extLst>
              <a:ext uri="{FF2B5EF4-FFF2-40B4-BE49-F238E27FC236}">
                <a16:creationId xmlns:a16="http://schemas.microsoft.com/office/drawing/2014/main" id="{E799108D-CE17-4E26-8790-18B878427A34}"/>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one MitoCarta MT DEG query and at most one KDA call.</a:t>
            </a:r>
          </a:p>
        </p:txBody>
      </p:sp>
      <p:sp>
        <p:nvSpPr>
          <p:cNvPr id="5" name="Rounded Rectangle 4">
            <a:extLst>
              <a:ext uri="{FF2B5EF4-FFF2-40B4-BE49-F238E27FC236}">
                <a16:creationId xmlns:a16="http://schemas.microsoft.com/office/drawing/2014/main" id="{D4570BFE-168B-48A1-8D2B-09179C0DF271}"/>
              </a:ext>
            </a:extLst>
          </p:cNvPr>
          <p:cNvSpPr>
            <a:spLocks noGrp="1"/>
          </p:cNvSpPr>
          <p:nvPr/>
        </p:nvSpPr>
        <p:spPr>
          <a:xfrm>
            <a:off x="621792" y="1344168"/>
            <a:ext cx="3346704" cy="1207008"/>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2F1CF8F7-FE27-4A3E-AC96-ED76BDE146F9}"/>
              </a:ext>
            </a:extLst>
          </p:cNvPr>
          <p:cNvSpPr>
            <a:spLocks noGrp="1"/>
          </p:cNvSpPr>
          <p:nvPr/>
        </p:nvSpPr>
        <p:spPr>
          <a:xfrm>
            <a:off x="841248" y="1591056"/>
            <a:ext cx="2907792"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54 fine cell types</a:t>
            </a:r>
          </a:p>
        </p:txBody>
      </p:sp>
      <p:sp>
        <p:nvSpPr>
          <p:cNvPr id="7" name="TextBox 6">
            <a:extLst>
              <a:ext uri="{FF2B5EF4-FFF2-40B4-BE49-F238E27FC236}">
                <a16:creationId xmlns:a16="http://schemas.microsoft.com/office/drawing/2014/main" id="{5078B9DE-FA37-427E-9361-5C7DD6305FA4}"/>
              </a:ext>
            </a:extLst>
          </p:cNvPr>
          <p:cNvSpPr>
            <a:spLocks noGrp="1"/>
          </p:cNvSpPr>
          <p:nvPr/>
        </p:nvSpPr>
        <p:spPr>
          <a:xfrm>
            <a:off x="841248" y="1993392"/>
            <a:ext cx="2907792" cy="246221"/>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 6 sex/APOE groups = 324 contrasts</a:t>
            </a:r>
          </a:p>
        </p:txBody>
      </p:sp>
      <p:sp>
        <p:nvSpPr>
          <p:cNvPr id="8" name="Rounded Rectangle 7">
            <a:extLst>
              <a:ext uri="{FF2B5EF4-FFF2-40B4-BE49-F238E27FC236}">
                <a16:creationId xmlns:a16="http://schemas.microsoft.com/office/drawing/2014/main" id="{BEE0BFF6-A4AB-4AFC-835E-2D7B3A50E865}"/>
              </a:ext>
            </a:extLst>
          </p:cNvPr>
          <p:cNvSpPr>
            <a:spLocks noGrp="1"/>
          </p:cNvSpPr>
          <p:nvPr/>
        </p:nvSpPr>
        <p:spPr>
          <a:xfrm>
            <a:off x="4315968" y="1344168"/>
            <a:ext cx="3529584" cy="1207008"/>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7CE176B-D535-4DB8-9796-B825E7E478DF}"/>
              </a:ext>
            </a:extLst>
          </p:cNvPr>
          <p:cNvSpPr>
            <a:spLocks noGrp="1"/>
          </p:cNvSpPr>
          <p:nvPr/>
        </p:nvSpPr>
        <p:spPr>
          <a:xfrm>
            <a:off x="4535424" y="1591056"/>
            <a:ext cx="3090672"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324 DEG contrasts</a:t>
            </a:r>
          </a:p>
        </p:txBody>
      </p:sp>
      <p:sp>
        <p:nvSpPr>
          <p:cNvPr id="10" name="TextBox 9">
            <a:extLst>
              <a:ext uri="{FF2B5EF4-FFF2-40B4-BE49-F238E27FC236}">
                <a16:creationId xmlns:a16="http://schemas.microsoft.com/office/drawing/2014/main" id="{F9808C7C-B4BA-4C0F-9B71-F4DFB09D01AF}"/>
              </a:ext>
            </a:extLst>
          </p:cNvPr>
          <p:cNvSpPr>
            <a:spLocks noGrp="1"/>
          </p:cNvSpPr>
          <p:nvPr/>
        </p:nvSpPr>
        <p:spPr>
          <a:xfrm>
            <a:off x="4535424" y="1993392"/>
            <a:ext cx="30906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one query per contrast</a:t>
            </a:r>
          </a:p>
        </p:txBody>
      </p:sp>
      <p:sp>
        <p:nvSpPr>
          <p:cNvPr id="11" name="Rounded Rectangle 10">
            <a:extLst>
              <a:ext uri="{FF2B5EF4-FFF2-40B4-BE49-F238E27FC236}">
                <a16:creationId xmlns:a16="http://schemas.microsoft.com/office/drawing/2014/main" id="{0FFBF54A-AEB3-416E-8B74-08B60A90324A}"/>
              </a:ext>
            </a:extLst>
          </p:cNvPr>
          <p:cNvSpPr>
            <a:spLocks noGrp="1"/>
          </p:cNvSpPr>
          <p:nvPr/>
        </p:nvSpPr>
        <p:spPr>
          <a:xfrm>
            <a:off x="8193024" y="1344168"/>
            <a:ext cx="3364992" cy="120700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2D4ADF4-17FC-4F7E-BAFD-E7A0341DE829}"/>
              </a:ext>
            </a:extLst>
          </p:cNvPr>
          <p:cNvSpPr>
            <a:spLocks noGrp="1"/>
          </p:cNvSpPr>
          <p:nvPr/>
        </p:nvSpPr>
        <p:spPr>
          <a:xfrm>
            <a:off x="8310880" y="1591056"/>
            <a:ext cx="3145536"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194 KDA calls</a:t>
            </a:r>
          </a:p>
        </p:txBody>
      </p:sp>
      <p:sp>
        <p:nvSpPr>
          <p:cNvPr id="13" name="TextBox 12">
            <a:extLst>
              <a:ext uri="{FF2B5EF4-FFF2-40B4-BE49-F238E27FC236}">
                <a16:creationId xmlns:a16="http://schemas.microsoft.com/office/drawing/2014/main" id="{4F912C2A-B3B5-4610-AC2F-804BACAD6DF9}"/>
              </a:ext>
            </a:extLst>
          </p:cNvPr>
          <p:cNvSpPr>
            <a:spLocks noGrp="1"/>
          </p:cNvSpPr>
          <p:nvPr/>
        </p:nvSpPr>
        <p:spPr>
          <a:xfrm>
            <a:off x="8412480" y="1993392"/>
            <a:ext cx="2926080" cy="375487"/>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009E73"/>
                </a:solidFill>
                <a:latin typeface="Arial"/>
                <a:ea typeface="Arial"/>
                <a:cs typeface="Arial"/>
              </a:rPr>
              <a:t>All valid DEG contrast and number of genes in queries ≥3</a:t>
            </a:r>
          </a:p>
        </p:txBody>
      </p:sp>
      <p:sp>
        <p:nvSpPr>
          <p:cNvPr id="14" name="Rectangle 13">
            <a:extLst>
              <a:ext uri="{FF2B5EF4-FFF2-40B4-BE49-F238E27FC236}">
                <a16:creationId xmlns:a16="http://schemas.microsoft.com/office/drawing/2014/main" id="{C7830466-3CB6-4F40-8141-C2D2D4C39423}"/>
              </a:ext>
            </a:extLst>
          </p:cNvPr>
          <p:cNvSpPr>
            <a:spLocks noGrp="1"/>
          </p:cNvSpPr>
          <p:nvPr/>
        </p:nvSpPr>
        <p:spPr>
          <a:xfrm>
            <a:off x="1840696" y="2898648"/>
            <a:ext cx="5623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9C4B8D4-4EB0-4607-A86A-56D8B2EAA411}"/>
              </a:ext>
            </a:extLst>
          </p:cNvPr>
          <p:cNvSpPr>
            <a:spLocks noGrp="1"/>
          </p:cNvSpPr>
          <p:nvPr/>
        </p:nvSpPr>
        <p:spPr>
          <a:xfrm>
            <a:off x="1895560" y="2953512"/>
            <a:ext cx="551383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Mutually exclusive contrast outcome</a:t>
            </a:r>
          </a:p>
        </p:txBody>
      </p:sp>
      <p:sp>
        <p:nvSpPr>
          <p:cNvPr id="16" name="Rectangle 15">
            <a:extLst>
              <a:ext uri="{FF2B5EF4-FFF2-40B4-BE49-F238E27FC236}">
                <a16:creationId xmlns:a16="http://schemas.microsoft.com/office/drawing/2014/main" id="{5BEB0C3C-1A6C-4075-8B14-23F615D5F23F}"/>
              </a:ext>
            </a:extLst>
          </p:cNvPr>
          <p:cNvSpPr>
            <a:spLocks noGrp="1"/>
          </p:cNvSpPr>
          <p:nvPr/>
        </p:nvSpPr>
        <p:spPr>
          <a:xfrm>
            <a:off x="7464256" y="2898648"/>
            <a:ext cx="10972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6176161-58EB-4AC1-ABDA-F959ADE88043}"/>
              </a:ext>
            </a:extLst>
          </p:cNvPr>
          <p:cNvSpPr>
            <a:spLocks noGrp="1"/>
          </p:cNvSpPr>
          <p:nvPr/>
        </p:nvSpPr>
        <p:spPr>
          <a:xfrm>
            <a:off x="7519120" y="2953512"/>
            <a:ext cx="9875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Contrasts</a:t>
            </a:r>
          </a:p>
        </p:txBody>
      </p:sp>
      <p:sp>
        <p:nvSpPr>
          <p:cNvPr id="18" name="Rectangle 17">
            <a:extLst>
              <a:ext uri="{FF2B5EF4-FFF2-40B4-BE49-F238E27FC236}">
                <a16:creationId xmlns:a16="http://schemas.microsoft.com/office/drawing/2014/main" id="{0A8DA921-F671-4828-B56A-12943D06FBB1}"/>
              </a:ext>
            </a:extLst>
          </p:cNvPr>
          <p:cNvSpPr>
            <a:spLocks noGrp="1"/>
          </p:cNvSpPr>
          <p:nvPr/>
        </p:nvSpPr>
        <p:spPr>
          <a:xfrm>
            <a:off x="8561536" y="2898648"/>
            <a:ext cx="1874519"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4658F41-AE85-470A-8714-16469112AF56}"/>
              </a:ext>
            </a:extLst>
          </p:cNvPr>
          <p:cNvSpPr>
            <a:spLocks noGrp="1"/>
          </p:cNvSpPr>
          <p:nvPr/>
        </p:nvSpPr>
        <p:spPr>
          <a:xfrm>
            <a:off x="8616400" y="2953512"/>
            <a:ext cx="17647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KDA call made?</a:t>
            </a:r>
          </a:p>
        </p:txBody>
      </p:sp>
      <p:sp>
        <p:nvSpPr>
          <p:cNvPr id="22" name="Rectangle 21">
            <a:extLst>
              <a:ext uri="{FF2B5EF4-FFF2-40B4-BE49-F238E27FC236}">
                <a16:creationId xmlns:a16="http://schemas.microsoft.com/office/drawing/2014/main" id="{3B1CFD8E-95BE-4FBB-987C-ACE7EC2E6B6E}"/>
              </a:ext>
            </a:extLst>
          </p:cNvPr>
          <p:cNvSpPr>
            <a:spLocks noGrp="1"/>
          </p:cNvSpPr>
          <p:nvPr/>
        </p:nvSpPr>
        <p:spPr>
          <a:xfrm>
            <a:off x="1840696" y="3328415"/>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CF9AFC4C-5427-43C5-939B-8E4FAF9944F2}"/>
              </a:ext>
            </a:extLst>
          </p:cNvPr>
          <p:cNvSpPr>
            <a:spLocks noGrp="1"/>
          </p:cNvSpPr>
          <p:nvPr/>
        </p:nvSpPr>
        <p:spPr>
          <a:xfrm>
            <a:off x="1895560" y="3460790"/>
            <a:ext cx="551383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Source DEG contrast not valid</a:t>
            </a:r>
          </a:p>
        </p:txBody>
      </p:sp>
      <p:sp>
        <p:nvSpPr>
          <p:cNvPr id="24" name="Rectangle 23">
            <a:extLst>
              <a:ext uri="{FF2B5EF4-FFF2-40B4-BE49-F238E27FC236}">
                <a16:creationId xmlns:a16="http://schemas.microsoft.com/office/drawing/2014/main" id="{15D7B162-1EA6-474F-BC3E-74248A659E00}"/>
              </a:ext>
            </a:extLst>
          </p:cNvPr>
          <p:cNvSpPr>
            <a:spLocks noGrp="1"/>
          </p:cNvSpPr>
          <p:nvPr/>
        </p:nvSpPr>
        <p:spPr>
          <a:xfrm>
            <a:off x="7464256" y="3328415"/>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D309079-6F7E-49D0-B45F-DACFA33A3B8D}"/>
              </a:ext>
            </a:extLst>
          </p:cNvPr>
          <p:cNvSpPr>
            <a:spLocks noGrp="1"/>
          </p:cNvSpPr>
          <p:nvPr/>
        </p:nvSpPr>
        <p:spPr>
          <a:xfrm>
            <a:off x="7519120" y="3374135"/>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E8B3A0BF-B854-44C8-8072-5460012D169E}"/>
              </a:ext>
            </a:extLst>
          </p:cNvPr>
          <p:cNvSpPr>
            <a:spLocks noGrp="1"/>
          </p:cNvSpPr>
          <p:nvPr/>
        </p:nvSpPr>
        <p:spPr>
          <a:xfrm>
            <a:off x="8561536" y="3328415"/>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52F1BD26-81DA-4CA3-9648-69C83178385A}"/>
              </a:ext>
            </a:extLst>
          </p:cNvPr>
          <p:cNvSpPr>
            <a:spLocks noGrp="1"/>
          </p:cNvSpPr>
          <p:nvPr/>
        </p:nvSpPr>
        <p:spPr>
          <a:xfrm>
            <a:off x="8616400" y="3374135"/>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0" name="Rectangle 29">
            <a:extLst>
              <a:ext uri="{FF2B5EF4-FFF2-40B4-BE49-F238E27FC236}">
                <a16:creationId xmlns:a16="http://schemas.microsoft.com/office/drawing/2014/main" id="{835D28EB-C5ED-43AA-A4C4-B4615A95964E}"/>
              </a:ext>
            </a:extLst>
          </p:cNvPr>
          <p:cNvSpPr>
            <a:spLocks noGrp="1"/>
          </p:cNvSpPr>
          <p:nvPr/>
        </p:nvSpPr>
        <p:spPr>
          <a:xfrm>
            <a:off x="1840696" y="3776472"/>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25F22931-D29F-4703-92C2-B4265EC63138}"/>
              </a:ext>
            </a:extLst>
          </p:cNvPr>
          <p:cNvSpPr>
            <a:spLocks noGrp="1"/>
          </p:cNvSpPr>
          <p:nvPr/>
        </p:nvSpPr>
        <p:spPr>
          <a:xfrm>
            <a:off x="1895560" y="3908846"/>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0</a:t>
            </a:r>
            <a:endParaRPr sz="950" b="0" i="0">
              <a:solidFill>
                <a:srgbClr val="1F2730"/>
              </a:solidFill>
              <a:latin typeface="Arial"/>
              <a:ea typeface="Arial"/>
              <a:cs typeface="Arial"/>
            </a:endParaRPr>
          </a:p>
        </p:txBody>
      </p:sp>
      <p:sp>
        <p:nvSpPr>
          <p:cNvPr id="32" name="Rectangle 31">
            <a:extLst>
              <a:ext uri="{FF2B5EF4-FFF2-40B4-BE49-F238E27FC236}">
                <a16:creationId xmlns:a16="http://schemas.microsoft.com/office/drawing/2014/main" id="{65B15CB0-A324-4490-ABBE-EA981FFFDC2D}"/>
              </a:ext>
            </a:extLst>
          </p:cNvPr>
          <p:cNvSpPr>
            <a:spLocks noGrp="1"/>
          </p:cNvSpPr>
          <p:nvPr/>
        </p:nvSpPr>
        <p:spPr>
          <a:xfrm>
            <a:off x="7464256" y="3776472"/>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F2DA721B-6205-42E7-8624-021A6BEE45C7}"/>
              </a:ext>
            </a:extLst>
          </p:cNvPr>
          <p:cNvSpPr>
            <a:spLocks noGrp="1"/>
          </p:cNvSpPr>
          <p:nvPr/>
        </p:nvSpPr>
        <p:spPr>
          <a:xfrm>
            <a:off x="7519120" y="3822191"/>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95</a:t>
            </a:r>
          </a:p>
        </p:txBody>
      </p:sp>
      <p:sp>
        <p:nvSpPr>
          <p:cNvPr id="34" name="Rectangle 33">
            <a:extLst>
              <a:ext uri="{FF2B5EF4-FFF2-40B4-BE49-F238E27FC236}">
                <a16:creationId xmlns:a16="http://schemas.microsoft.com/office/drawing/2014/main" id="{69B0A2F4-62B9-4BC5-ADD1-6869FBEACD94}"/>
              </a:ext>
            </a:extLst>
          </p:cNvPr>
          <p:cNvSpPr>
            <a:spLocks noGrp="1"/>
          </p:cNvSpPr>
          <p:nvPr/>
        </p:nvSpPr>
        <p:spPr>
          <a:xfrm>
            <a:off x="8561536" y="3776472"/>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6253741D-16CE-4801-9A63-2B08A57E1EFE}"/>
              </a:ext>
            </a:extLst>
          </p:cNvPr>
          <p:cNvSpPr>
            <a:spLocks noGrp="1"/>
          </p:cNvSpPr>
          <p:nvPr/>
        </p:nvSpPr>
        <p:spPr>
          <a:xfrm>
            <a:off x="8616400" y="3822191"/>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8" name="Rectangle 37">
            <a:extLst>
              <a:ext uri="{FF2B5EF4-FFF2-40B4-BE49-F238E27FC236}">
                <a16:creationId xmlns:a16="http://schemas.microsoft.com/office/drawing/2014/main" id="{A09CF610-E418-4987-ADF1-20C8F95B8ED7}"/>
              </a:ext>
            </a:extLst>
          </p:cNvPr>
          <p:cNvSpPr>
            <a:spLocks noGrp="1"/>
          </p:cNvSpPr>
          <p:nvPr/>
        </p:nvSpPr>
        <p:spPr>
          <a:xfrm>
            <a:off x="1840696" y="4224527"/>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E0B1B61-3C01-41CC-B807-A377B95A85D7}"/>
              </a:ext>
            </a:extLst>
          </p:cNvPr>
          <p:cNvSpPr>
            <a:spLocks noGrp="1"/>
          </p:cNvSpPr>
          <p:nvPr/>
        </p:nvSpPr>
        <p:spPr>
          <a:xfrm>
            <a:off x="1895560" y="4356132"/>
            <a:ext cx="5513832" cy="203133"/>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b="0" i="0">
                <a:solidFill>
                  <a:srgbClr val="1F2730"/>
                </a:solidFill>
                <a:latin typeface="Arial"/>
                <a:ea typeface="Arial"/>
                <a:cs typeface="Arial"/>
              </a:rPr>
              <a:t>1–2</a:t>
            </a:r>
          </a:p>
        </p:txBody>
      </p:sp>
      <p:sp>
        <p:nvSpPr>
          <p:cNvPr id="40" name="Rectangle 39">
            <a:extLst>
              <a:ext uri="{FF2B5EF4-FFF2-40B4-BE49-F238E27FC236}">
                <a16:creationId xmlns:a16="http://schemas.microsoft.com/office/drawing/2014/main" id="{DB42E127-BC1D-4E6D-8837-BD21F2534455}"/>
              </a:ext>
            </a:extLst>
          </p:cNvPr>
          <p:cNvSpPr>
            <a:spLocks noGrp="1"/>
          </p:cNvSpPr>
          <p:nvPr/>
        </p:nvSpPr>
        <p:spPr>
          <a:xfrm>
            <a:off x="7464256" y="4224527"/>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532D6E6D-3851-4729-AF80-81DB087CD678}"/>
              </a:ext>
            </a:extLst>
          </p:cNvPr>
          <p:cNvSpPr>
            <a:spLocks noGrp="1"/>
          </p:cNvSpPr>
          <p:nvPr/>
        </p:nvSpPr>
        <p:spPr>
          <a:xfrm>
            <a:off x="7519120" y="4270247"/>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32</a:t>
            </a:r>
          </a:p>
        </p:txBody>
      </p:sp>
      <p:sp>
        <p:nvSpPr>
          <p:cNvPr id="42" name="Rectangle 41">
            <a:extLst>
              <a:ext uri="{FF2B5EF4-FFF2-40B4-BE49-F238E27FC236}">
                <a16:creationId xmlns:a16="http://schemas.microsoft.com/office/drawing/2014/main" id="{26BCA652-FACA-46DD-A87D-8FB0F4CF3F0C}"/>
              </a:ext>
            </a:extLst>
          </p:cNvPr>
          <p:cNvSpPr>
            <a:spLocks noGrp="1"/>
          </p:cNvSpPr>
          <p:nvPr/>
        </p:nvSpPr>
        <p:spPr>
          <a:xfrm>
            <a:off x="8561536" y="4224527"/>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A1E62925-63B8-478F-BADE-3EE2BEEF64D1}"/>
              </a:ext>
            </a:extLst>
          </p:cNvPr>
          <p:cNvSpPr>
            <a:spLocks noGrp="1"/>
          </p:cNvSpPr>
          <p:nvPr/>
        </p:nvSpPr>
        <p:spPr>
          <a:xfrm>
            <a:off x="8616400" y="4270247"/>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46" name="Rectangle 45">
            <a:extLst>
              <a:ext uri="{FF2B5EF4-FFF2-40B4-BE49-F238E27FC236}">
                <a16:creationId xmlns:a16="http://schemas.microsoft.com/office/drawing/2014/main" id="{946D51ED-B773-4A59-A563-E5995A9F7C4C}"/>
              </a:ext>
            </a:extLst>
          </p:cNvPr>
          <p:cNvSpPr>
            <a:spLocks noGrp="1"/>
          </p:cNvSpPr>
          <p:nvPr/>
        </p:nvSpPr>
        <p:spPr>
          <a:xfrm>
            <a:off x="1840696" y="4672583"/>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4C271131-778E-4071-BE35-F3C0C6EBD5D5}"/>
              </a:ext>
            </a:extLst>
          </p:cNvPr>
          <p:cNvSpPr>
            <a:spLocks noGrp="1"/>
          </p:cNvSpPr>
          <p:nvPr/>
        </p:nvSpPr>
        <p:spPr>
          <a:xfrm>
            <a:off x="1895560" y="4804958"/>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a:solidFill>
                  <a:srgbClr val="1F2730"/>
                </a:solidFill>
                <a:latin typeface="Arial"/>
                <a:ea typeface="Arial"/>
                <a:cs typeface="Arial"/>
              </a:rPr>
              <a:t>&gt;=3</a:t>
            </a:r>
            <a:endParaRPr sz="950" b="0" i="0">
              <a:solidFill>
                <a:srgbClr val="1F2730"/>
              </a:solidFill>
              <a:latin typeface="Arial"/>
              <a:ea typeface="Arial"/>
              <a:cs typeface="Arial"/>
            </a:endParaRPr>
          </a:p>
        </p:txBody>
      </p:sp>
      <p:sp>
        <p:nvSpPr>
          <p:cNvPr id="48" name="Rectangle 47">
            <a:extLst>
              <a:ext uri="{FF2B5EF4-FFF2-40B4-BE49-F238E27FC236}">
                <a16:creationId xmlns:a16="http://schemas.microsoft.com/office/drawing/2014/main" id="{F66F6FEE-61DB-4D88-9D28-388732A5C411}"/>
              </a:ext>
            </a:extLst>
          </p:cNvPr>
          <p:cNvSpPr>
            <a:spLocks noGrp="1"/>
          </p:cNvSpPr>
          <p:nvPr/>
        </p:nvSpPr>
        <p:spPr>
          <a:xfrm>
            <a:off x="7464256" y="4672583"/>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058FE669-B813-4CD1-AFD9-6A4EE5504BF3}"/>
              </a:ext>
            </a:extLst>
          </p:cNvPr>
          <p:cNvSpPr>
            <a:spLocks noGrp="1"/>
          </p:cNvSpPr>
          <p:nvPr/>
        </p:nvSpPr>
        <p:spPr>
          <a:xfrm>
            <a:off x="7519120" y="4804958"/>
            <a:ext cx="98755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194</a:t>
            </a:r>
          </a:p>
        </p:txBody>
      </p:sp>
      <p:sp>
        <p:nvSpPr>
          <p:cNvPr id="50" name="Rectangle 49">
            <a:extLst>
              <a:ext uri="{FF2B5EF4-FFF2-40B4-BE49-F238E27FC236}">
                <a16:creationId xmlns:a16="http://schemas.microsoft.com/office/drawing/2014/main" id="{A77F395D-C843-4144-BECA-554D9E093459}"/>
              </a:ext>
            </a:extLst>
          </p:cNvPr>
          <p:cNvSpPr>
            <a:spLocks noGrp="1"/>
          </p:cNvSpPr>
          <p:nvPr/>
        </p:nvSpPr>
        <p:spPr>
          <a:xfrm>
            <a:off x="8561536" y="4672583"/>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E0378C35-7078-4616-B124-6AB9128C801C}"/>
              </a:ext>
            </a:extLst>
          </p:cNvPr>
          <p:cNvSpPr>
            <a:spLocks noGrp="1"/>
          </p:cNvSpPr>
          <p:nvPr/>
        </p:nvSpPr>
        <p:spPr>
          <a:xfrm>
            <a:off x="8616400" y="4718303"/>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Yes</a:t>
            </a:r>
          </a:p>
        </p:txBody>
      </p:sp>
      <p:sp>
        <p:nvSpPr>
          <p:cNvPr id="62" name="Rectangle 61">
            <a:extLst>
              <a:ext uri="{FF2B5EF4-FFF2-40B4-BE49-F238E27FC236}">
                <a16:creationId xmlns:a16="http://schemas.microsoft.com/office/drawing/2014/main" id="{2E95D688-F803-4F47-9B15-661C835F8AC3}"/>
              </a:ext>
            </a:extLst>
          </p:cNvPr>
          <p:cNvSpPr>
            <a:spLocks noGrp="1"/>
          </p:cNvSpPr>
          <p:nvPr/>
        </p:nvSpPr>
        <p:spPr>
          <a:xfrm>
            <a:off x="1840696" y="5128754"/>
            <a:ext cx="562356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3" name="TextBox 62">
            <a:extLst>
              <a:ext uri="{FF2B5EF4-FFF2-40B4-BE49-F238E27FC236}">
                <a16:creationId xmlns:a16="http://schemas.microsoft.com/office/drawing/2014/main" id="{7CCF1CAD-EE89-43AE-BA0A-8F81BFB13332}"/>
              </a:ext>
            </a:extLst>
          </p:cNvPr>
          <p:cNvSpPr>
            <a:spLocks noGrp="1"/>
          </p:cNvSpPr>
          <p:nvPr/>
        </p:nvSpPr>
        <p:spPr>
          <a:xfrm>
            <a:off x="1895560" y="5174474"/>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TOTAL</a:t>
            </a:r>
          </a:p>
        </p:txBody>
      </p:sp>
      <p:sp>
        <p:nvSpPr>
          <p:cNvPr id="64" name="Rectangle 63">
            <a:extLst>
              <a:ext uri="{FF2B5EF4-FFF2-40B4-BE49-F238E27FC236}">
                <a16:creationId xmlns:a16="http://schemas.microsoft.com/office/drawing/2014/main" id="{D4E5FF6D-041D-48B3-A534-553122085191}"/>
              </a:ext>
            </a:extLst>
          </p:cNvPr>
          <p:cNvSpPr>
            <a:spLocks noGrp="1"/>
          </p:cNvSpPr>
          <p:nvPr/>
        </p:nvSpPr>
        <p:spPr>
          <a:xfrm>
            <a:off x="7464256" y="5128754"/>
            <a:ext cx="109728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88968CAA-2223-4B19-B8BB-68DFF1C662E7}"/>
              </a:ext>
            </a:extLst>
          </p:cNvPr>
          <p:cNvSpPr>
            <a:spLocks noGrp="1"/>
          </p:cNvSpPr>
          <p:nvPr/>
        </p:nvSpPr>
        <p:spPr>
          <a:xfrm>
            <a:off x="7519120" y="5174474"/>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324</a:t>
            </a:r>
          </a:p>
        </p:txBody>
      </p:sp>
      <p:sp>
        <p:nvSpPr>
          <p:cNvPr id="66" name="Rectangle 65">
            <a:extLst>
              <a:ext uri="{FF2B5EF4-FFF2-40B4-BE49-F238E27FC236}">
                <a16:creationId xmlns:a16="http://schemas.microsoft.com/office/drawing/2014/main" id="{82A2FD34-1E61-44FB-AD23-F8CF957EF011}"/>
              </a:ext>
            </a:extLst>
          </p:cNvPr>
          <p:cNvSpPr>
            <a:spLocks noGrp="1"/>
          </p:cNvSpPr>
          <p:nvPr/>
        </p:nvSpPr>
        <p:spPr>
          <a:xfrm>
            <a:off x="8561536" y="5128754"/>
            <a:ext cx="1874519"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7" name="TextBox 66">
            <a:extLst>
              <a:ext uri="{FF2B5EF4-FFF2-40B4-BE49-F238E27FC236}">
                <a16:creationId xmlns:a16="http://schemas.microsoft.com/office/drawing/2014/main" id="{010C3224-E842-4D81-8131-6FCF88F9E722}"/>
              </a:ext>
            </a:extLst>
          </p:cNvPr>
          <p:cNvSpPr>
            <a:spLocks noGrp="1"/>
          </p:cNvSpPr>
          <p:nvPr/>
        </p:nvSpPr>
        <p:spPr>
          <a:xfrm>
            <a:off x="8616400" y="5174474"/>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194 KDA calls</a:t>
            </a:r>
          </a:p>
        </p:txBody>
      </p:sp>
    </p:spTree>
    <p:extLst>
      <p:ext uri="{BB962C8B-B14F-4D97-AF65-F5344CB8AC3E}">
        <p14:creationId xmlns:p14="http://schemas.microsoft.com/office/powerpoint/2010/main" val="970849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4FFD812-B704-40B9-875C-AE2409EDCD4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Source validity and query size decide whether a KDA call is made</a:t>
            </a:r>
          </a:p>
        </p:txBody>
      </p:sp>
      <p:sp>
        <p:nvSpPr>
          <p:cNvPr id="5" name="Rounded Rectangle 4">
            <a:extLst>
              <a:ext uri="{FF2B5EF4-FFF2-40B4-BE49-F238E27FC236}">
                <a16:creationId xmlns:a16="http://schemas.microsoft.com/office/drawing/2014/main" id="{6A4C48F9-8630-4221-B343-DCC27E4D63B8}"/>
              </a:ext>
            </a:extLst>
          </p:cNvPr>
          <p:cNvSpPr>
            <a:spLocks noGrp="1"/>
          </p:cNvSpPr>
          <p:nvPr/>
        </p:nvSpPr>
        <p:spPr>
          <a:xfrm>
            <a:off x="603504" y="1344168"/>
            <a:ext cx="4663440" cy="44805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EA7129F0-43AE-494F-BC7A-EB9E0E9C5E7F}"/>
              </a:ext>
            </a:extLst>
          </p:cNvPr>
          <p:cNvSpPr>
            <a:spLocks noGrp="1"/>
          </p:cNvSpPr>
          <p:nvPr/>
        </p:nvSpPr>
        <p:spPr>
          <a:xfrm>
            <a:off x="868680" y="164592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6BBEA52-DBDE-4F3F-8340-7D32A98DC683}"/>
              </a:ext>
            </a:extLst>
          </p:cNvPr>
          <p:cNvSpPr>
            <a:spLocks noGrp="1"/>
          </p:cNvSpPr>
          <p:nvPr/>
        </p:nvSpPr>
        <p:spPr>
          <a:xfrm>
            <a:off x="1014983" y="1618488"/>
            <a:ext cx="395020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canonical query-size gate</a:t>
            </a:r>
          </a:p>
        </p:txBody>
      </p:sp>
      <p:sp>
        <p:nvSpPr>
          <p:cNvPr id="8" name="Rounded Rectangle 7">
            <a:extLst>
              <a:ext uri="{FF2B5EF4-FFF2-40B4-BE49-F238E27FC236}">
                <a16:creationId xmlns:a16="http://schemas.microsoft.com/office/drawing/2014/main" id="{94EB16BC-E4F1-4108-A86F-267BC5C551AD}"/>
              </a:ext>
            </a:extLst>
          </p:cNvPr>
          <p:cNvSpPr>
            <a:spLocks noGrp="1"/>
          </p:cNvSpPr>
          <p:nvPr/>
        </p:nvSpPr>
        <p:spPr>
          <a:xfrm>
            <a:off x="868680" y="2112264"/>
            <a:ext cx="1847088" cy="1024128"/>
          </a:xfrm>
          <a:prstGeom prst="roundRect">
            <a:avLst/>
          </a:prstGeom>
          <a:solidFill>
            <a:srgbClr val="E4F0F8"/>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BFF435-EA7F-4E02-B514-49B4F6E85805}"/>
              </a:ext>
            </a:extLst>
          </p:cNvPr>
          <p:cNvSpPr>
            <a:spLocks noGrp="1"/>
          </p:cNvSpPr>
          <p:nvPr/>
        </p:nvSpPr>
        <p:spPr>
          <a:xfrm>
            <a:off x="1014983" y="2203704"/>
            <a:ext cx="155448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a:t>
            </a:r>
          </a:p>
        </p:txBody>
      </p:sp>
      <p:sp>
        <p:nvSpPr>
          <p:cNvPr id="11" name="Rounded Rectangle 10">
            <a:extLst>
              <a:ext uri="{FF2B5EF4-FFF2-40B4-BE49-F238E27FC236}">
                <a16:creationId xmlns:a16="http://schemas.microsoft.com/office/drawing/2014/main" id="{F1F779AE-11F4-47BB-A762-0C85248FEA1D}"/>
              </a:ext>
            </a:extLst>
          </p:cNvPr>
          <p:cNvSpPr>
            <a:spLocks noGrp="1"/>
          </p:cNvSpPr>
          <p:nvPr/>
        </p:nvSpPr>
        <p:spPr>
          <a:xfrm>
            <a:off x="2926080" y="2112264"/>
            <a:ext cx="1847088" cy="1024128"/>
          </a:xfrm>
          <a:prstGeom prst="roundRect">
            <a:avLst/>
          </a:prstGeom>
          <a:solidFill>
            <a:srgbClr val="E4F4EE"/>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1758C03-E750-4979-9F7F-FAA6429A1A3F}"/>
              </a:ext>
            </a:extLst>
          </p:cNvPr>
          <p:cNvSpPr>
            <a:spLocks noGrp="1"/>
          </p:cNvSpPr>
          <p:nvPr/>
        </p:nvSpPr>
        <p:spPr>
          <a:xfrm>
            <a:off x="3072384" y="2203704"/>
            <a:ext cx="1554480" cy="4401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194</a:t>
            </a:r>
          </a:p>
        </p:txBody>
      </p:sp>
      <p:sp>
        <p:nvSpPr>
          <p:cNvPr id="13" name="TextBox 12">
            <a:extLst>
              <a:ext uri="{FF2B5EF4-FFF2-40B4-BE49-F238E27FC236}">
                <a16:creationId xmlns:a16="http://schemas.microsoft.com/office/drawing/2014/main" id="{5AEC8C97-5663-4403-A365-080CCAFA7518}"/>
              </a:ext>
            </a:extLst>
          </p:cNvPr>
          <p:cNvSpPr>
            <a:spLocks noGrp="1"/>
          </p:cNvSpPr>
          <p:nvPr/>
        </p:nvSpPr>
        <p:spPr>
          <a:xfrm>
            <a:off x="3072384" y="2660904"/>
            <a:ext cx="1554480" cy="3262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included KDA calls</a:t>
            </a:r>
          </a:p>
        </p:txBody>
      </p:sp>
      <p:sp>
        <p:nvSpPr>
          <p:cNvPr id="14" name="Oval 13">
            <a:extLst>
              <a:ext uri="{FF2B5EF4-FFF2-40B4-BE49-F238E27FC236}">
                <a16:creationId xmlns:a16="http://schemas.microsoft.com/office/drawing/2014/main" id="{10BAEFA5-98B8-4FD8-A11C-0E387F6B85F4}"/>
              </a:ext>
            </a:extLst>
          </p:cNvPr>
          <p:cNvSpPr>
            <a:spLocks noGrp="1"/>
          </p:cNvSpPr>
          <p:nvPr/>
        </p:nvSpPr>
        <p:spPr>
          <a:xfrm>
            <a:off x="877824" y="362102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690BED9-450F-4977-B163-55149B093DDA}"/>
              </a:ext>
            </a:extLst>
          </p:cNvPr>
          <p:cNvSpPr>
            <a:spLocks noGrp="1"/>
          </p:cNvSpPr>
          <p:nvPr/>
        </p:nvSpPr>
        <p:spPr>
          <a:xfrm>
            <a:off x="1051560" y="3493008"/>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All 194 validated completed KDA calls enter the aggregate.</a:t>
            </a:r>
          </a:p>
        </p:txBody>
      </p:sp>
      <p:sp>
        <p:nvSpPr>
          <p:cNvPr id="16" name="Oval 15">
            <a:extLst>
              <a:ext uri="{FF2B5EF4-FFF2-40B4-BE49-F238E27FC236}">
                <a16:creationId xmlns:a16="http://schemas.microsoft.com/office/drawing/2014/main" id="{0E22A6DB-CC7F-4DB3-9F06-4220288F8CAC}"/>
              </a:ext>
            </a:extLst>
          </p:cNvPr>
          <p:cNvSpPr>
            <a:spLocks noGrp="1"/>
          </p:cNvSpPr>
          <p:nvPr/>
        </p:nvSpPr>
        <p:spPr>
          <a:xfrm>
            <a:off x="877824" y="4224527"/>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70BACD-2A71-4901-9976-0EFDFEEA75DA}"/>
              </a:ext>
            </a:extLst>
          </p:cNvPr>
          <p:cNvSpPr>
            <a:spLocks noGrp="1"/>
          </p:cNvSpPr>
          <p:nvPr/>
        </p:nvSpPr>
        <p:spPr>
          <a:xfrm>
            <a:off x="1051560" y="4096511"/>
            <a:ext cx="3867911"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164 significant • 30 completed empty</a:t>
            </a:r>
          </a:p>
        </p:txBody>
      </p:sp>
      <p:sp>
        <p:nvSpPr>
          <p:cNvPr id="18" name="Oval 17">
            <a:extLst>
              <a:ext uri="{FF2B5EF4-FFF2-40B4-BE49-F238E27FC236}">
                <a16:creationId xmlns:a16="http://schemas.microsoft.com/office/drawing/2014/main" id="{A92AF517-4CB5-472F-828F-8D876959A25F}"/>
              </a:ext>
            </a:extLst>
          </p:cNvPr>
          <p:cNvSpPr>
            <a:spLocks noGrp="1"/>
          </p:cNvSpPr>
          <p:nvPr/>
        </p:nvSpPr>
        <p:spPr>
          <a:xfrm>
            <a:off x="877824" y="482803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81104E5-BCE0-464F-9E64-5103995A4D18}"/>
              </a:ext>
            </a:extLst>
          </p:cNvPr>
          <p:cNvSpPr>
            <a:spLocks noGrp="1"/>
          </p:cNvSpPr>
          <p:nvPr/>
        </p:nvSpPr>
        <p:spPr>
          <a:xfrm>
            <a:off x="1051560" y="4700016"/>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The 164 significant KDA calls returned 1,833 rows before mitochondrial filtering.</a:t>
            </a:r>
          </a:p>
        </p:txBody>
      </p:sp>
      <p:sp>
        <p:nvSpPr>
          <p:cNvPr id="20" name="Rounded Rectangle 19">
            <a:extLst>
              <a:ext uri="{FF2B5EF4-FFF2-40B4-BE49-F238E27FC236}">
                <a16:creationId xmlns:a16="http://schemas.microsoft.com/office/drawing/2014/main" id="{1936370E-3C65-4BFE-B81C-F6A09158745F}"/>
              </a:ext>
            </a:extLst>
          </p:cNvPr>
          <p:cNvSpPr>
            <a:spLocks noGrp="1"/>
          </p:cNvSpPr>
          <p:nvPr/>
        </p:nvSpPr>
        <p:spPr>
          <a:xfrm>
            <a:off x="5532120" y="1344168"/>
            <a:ext cx="6035040" cy="448056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01D8C6B2-E2CA-4BEC-8B41-6FAAF6E50FCA}"/>
              </a:ext>
            </a:extLst>
          </p:cNvPr>
          <p:cNvSpPr>
            <a:spLocks noGrp="1"/>
          </p:cNvSpPr>
          <p:nvPr/>
        </p:nvSpPr>
        <p:spPr>
          <a:xfrm>
            <a:off x="5824728" y="164592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0E47F582-8212-433C-916F-D27A1E7767FE}"/>
              </a:ext>
            </a:extLst>
          </p:cNvPr>
          <p:cNvSpPr>
            <a:spLocks noGrp="1"/>
          </p:cNvSpPr>
          <p:nvPr/>
        </p:nvSpPr>
        <p:spPr>
          <a:xfrm>
            <a:off x="5971032" y="1618488"/>
            <a:ext cx="5294376"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What ‘source contrast not valid’ means</a:t>
            </a:r>
          </a:p>
        </p:txBody>
      </p:sp>
      <p:sp>
        <p:nvSpPr>
          <p:cNvPr id="23" name="TextBox 22">
            <a:extLst>
              <a:ext uri="{FF2B5EF4-FFF2-40B4-BE49-F238E27FC236}">
                <a16:creationId xmlns:a16="http://schemas.microsoft.com/office/drawing/2014/main" id="{59BD84AB-21C2-4E27-AD34-674BA135B973}"/>
              </a:ext>
            </a:extLst>
          </p:cNvPr>
          <p:cNvSpPr>
            <a:spLocks noGrp="1"/>
          </p:cNvSpPr>
          <p:nvPr/>
        </p:nvSpPr>
        <p:spPr>
          <a:xfrm>
            <a:off x="5843016" y="2148840"/>
            <a:ext cx="5330952"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solidFill>
                  <a:srgbClr val="0F233D"/>
                </a:solidFill>
                <a:latin typeface="Arial"/>
                <a:ea typeface="Arial"/>
                <a:cs typeface="Arial"/>
              </a:rPr>
              <a:t>The upstream MAST comparison could not be fitted because one arm had fewer than </a:t>
            </a:r>
            <a:r>
              <a:rPr sz="1400" b="1" i="0">
                <a:solidFill>
                  <a:srgbClr val="FF0000"/>
                </a:solidFill>
                <a:latin typeface="Arial"/>
                <a:ea typeface="Arial"/>
                <a:cs typeface="Arial"/>
              </a:rPr>
              <a:t>three</a:t>
            </a:r>
            <a:r>
              <a:rPr sz="1400" b="1" i="0">
                <a:solidFill>
                  <a:srgbClr val="0F233D"/>
                </a:solidFill>
                <a:latin typeface="Arial"/>
                <a:ea typeface="Arial"/>
                <a:cs typeface="Arial"/>
              </a:rPr>
              <a:t> cells.</a:t>
            </a:r>
          </a:p>
        </p:txBody>
      </p:sp>
      <p:sp>
        <p:nvSpPr>
          <p:cNvPr id="24" name="Rectangle 23">
            <a:extLst>
              <a:ext uri="{FF2B5EF4-FFF2-40B4-BE49-F238E27FC236}">
                <a16:creationId xmlns:a16="http://schemas.microsoft.com/office/drawing/2014/main" id="{73CDC9C2-50C7-4D3C-AF7E-55F140D966FD}"/>
              </a:ext>
            </a:extLst>
          </p:cNvPr>
          <p:cNvSpPr>
            <a:spLocks noGrp="1"/>
          </p:cNvSpPr>
          <p:nvPr/>
        </p:nvSpPr>
        <p:spPr>
          <a:xfrm>
            <a:off x="5843016" y="2898648"/>
            <a:ext cx="233172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9D9FDC4C-4A3A-4DD8-A597-002E76FF6C21}"/>
              </a:ext>
            </a:extLst>
          </p:cNvPr>
          <p:cNvSpPr>
            <a:spLocks noGrp="1"/>
          </p:cNvSpPr>
          <p:nvPr/>
        </p:nvSpPr>
        <p:spPr>
          <a:xfrm>
            <a:off x="5897879" y="2953512"/>
            <a:ext cx="22219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Fine cell type</a:t>
            </a:r>
          </a:p>
        </p:txBody>
      </p:sp>
      <p:sp>
        <p:nvSpPr>
          <p:cNvPr id="26" name="Rectangle 25">
            <a:extLst>
              <a:ext uri="{FF2B5EF4-FFF2-40B4-BE49-F238E27FC236}">
                <a16:creationId xmlns:a16="http://schemas.microsoft.com/office/drawing/2014/main" id="{85FFE06F-8F01-4BA0-89A6-B4F53ACB4FF0}"/>
              </a:ext>
            </a:extLst>
          </p:cNvPr>
          <p:cNvSpPr>
            <a:spLocks noGrp="1"/>
          </p:cNvSpPr>
          <p:nvPr/>
        </p:nvSpPr>
        <p:spPr>
          <a:xfrm>
            <a:off x="8174736" y="2898648"/>
            <a:ext cx="91440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CB39C004-A0AF-427C-BF60-B3241F6BA651}"/>
              </a:ext>
            </a:extLst>
          </p:cNvPr>
          <p:cNvSpPr>
            <a:spLocks noGrp="1"/>
          </p:cNvSpPr>
          <p:nvPr/>
        </p:nvSpPr>
        <p:spPr>
          <a:xfrm>
            <a:off x="8229600" y="2953512"/>
            <a:ext cx="80467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Group</a:t>
            </a:r>
          </a:p>
        </p:txBody>
      </p:sp>
      <p:sp>
        <p:nvSpPr>
          <p:cNvPr id="28" name="Rectangle 27">
            <a:extLst>
              <a:ext uri="{FF2B5EF4-FFF2-40B4-BE49-F238E27FC236}">
                <a16:creationId xmlns:a16="http://schemas.microsoft.com/office/drawing/2014/main" id="{C5618740-BC50-4D9F-BAE2-F661C433628F}"/>
              </a:ext>
            </a:extLst>
          </p:cNvPr>
          <p:cNvSpPr>
            <a:spLocks noGrp="1"/>
          </p:cNvSpPr>
          <p:nvPr/>
        </p:nvSpPr>
        <p:spPr>
          <a:xfrm>
            <a:off x="908913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0676A43F-524F-4BE8-8BFF-4CEE71D7E5FC}"/>
              </a:ext>
            </a:extLst>
          </p:cNvPr>
          <p:cNvSpPr>
            <a:spLocks noGrp="1"/>
          </p:cNvSpPr>
          <p:nvPr/>
        </p:nvSpPr>
        <p:spPr>
          <a:xfrm>
            <a:off x="914400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AD cells</a:t>
            </a:r>
          </a:p>
        </p:txBody>
      </p:sp>
      <p:sp>
        <p:nvSpPr>
          <p:cNvPr id="30" name="Rectangle 29">
            <a:extLst>
              <a:ext uri="{FF2B5EF4-FFF2-40B4-BE49-F238E27FC236}">
                <a16:creationId xmlns:a16="http://schemas.microsoft.com/office/drawing/2014/main" id="{B3804DD9-B104-45E3-92C1-8288B3253BB1}"/>
              </a:ext>
            </a:extLst>
          </p:cNvPr>
          <p:cNvSpPr>
            <a:spLocks noGrp="1"/>
          </p:cNvSpPr>
          <p:nvPr/>
        </p:nvSpPr>
        <p:spPr>
          <a:xfrm>
            <a:off x="1014069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3AF1CD17-1ACA-4789-951B-FF6442209312}"/>
              </a:ext>
            </a:extLst>
          </p:cNvPr>
          <p:cNvSpPr>
            <a:spLocks noGrp="1"/>
          </p:cNvSpPr>
          <p:nvPr/>
        </p:nvSpPr>
        <p:spPr>
          <a:xfrm>
            <a:off x="1019556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NCI cells</a:t>
            </a:r>
          </a:p>
        </p:txBody>
      </p:sp>
      <p:sp>
        <p:nvSpPr>
          <p:cNvPr id="32" name="Rectangle 31">
            <a:extLst>
              <a:ext uri="{FF2B5EF4-FFF2-40B4-BE49-F238E27FC236}">
                <a16:creationId xmlns:a16="http://schemas.microsoft.com/office/drawing/2014/main" id="{889F38DA-EFFD-4A17-BC7D-B9B78B35D9FC}"/>
              </a:ext>
            </a:extLst>
          </p:cNvPr>
          <p:cNvSpPr>
            <a:spLocks noGrp="1"/>
          </p:cNvSpPr>
          <p:nvPr/>
        </p:nvSpPr>
        <p:spPr>
          <a:xfrm>
            <a:off x="5843016" y="3328415"/>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7706D989-B23A-486D-A9F7-E1CB60522E53}"/>
              </a:ext>
            </a:extLst>
          </p:cNvPr>
          <p:cNvSpPr>
            <a:spLocks noGrp="1"/>
          </p:cNvSpPr>
          <p:nvPr/>
        </p:nvSpPr>
        <p:spPr>
          <a:xfrm>
            <a:off x="5897879" y="33741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Fib SLC4A4</a:t>
            </a:r>
          </a:p>
        </p:txBody>
      </p:sp>
      <p:sp>
        <p:nvSpPr>
          <p:cNvPr id="34" name="Rectangle 33">
            <a:extLst>
              <a:ext uri="{FF2B5EF4-FFF2-40B4-BE49-F238E27FC236}">
                <a16:creationId xmlns:a16="http://schemas.microsoft.com/office/drawing/2014/main" id="{91F1B9A0-A745-4ED4-BD8A-ECD1E2033340}"/>
              </a:ext>
            </a:extLst>
          </p:cNvPr>
          <p:cNvSpPr>
            <a:spLocks noGrp="1"/>
          </p:cNvSpPr>
          <p:nvPr/>
        </p:nvSpPr>
        <p:spPr>
          <a:xfrm>
            <a:off x="8174736" y="3328415"/>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8E4E0F78-09C0-419B-81B4-6FC5357B2A68}"/>
              </a:ext>
            </a:extLst>
          </p:cNvPr>
          <p:cNvSpPr>
            <a:spLocks noGrp="1"/>
          </p:cNvSpPr>
          <p:nvPr/>
        </p:nvSpPr>
        <p:spPr>
          <a:xfrm>
            <a:off x="8229600" y="33741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36" name="Rectangle 35">
            <a:extLst>
              <a:ext uri="{FF2B5EF4-FFF2-40B4-BE49-F238E27FC236}">
                <a16:creationId xmlns:a16="http://schemas.microsoft.com/office/drawing/2014/main" id="{3FD8BA6C-ED61-44BF-8DBE-846F0D27DE36}"/>
              </a:ext>
            </a:extLst>
          </p:cNvPr>
          <p:cNvSpPr>
            <a:spLocks noGrp="1"/>
          </p:cNvSpPr>
          <p:nvPr/>
        </p:nvSpPr>
        <p:spPr>
          <a:xfrm>
            <a:off x="908913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3649F84B-A5B6-4B86-B786-AD084099D13C}"/>
              </a:ext>
            </a:extLst>
          </p:cNvPr>
          <p:cNvSpPr>
            <a:spLocks noGrp="1"/>
          </p:cNvSpPr>
          <p:nvPr/>
        </p:nvSpPr>
        <p:spPr>
          <a:xfrm>
            <a:off x="914400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0</a:t>
            </a:r>
          </a:p>
        </p:txBody>
      </p:sp>
      <p:sp>
        <p:nvSpPr>
          <p:cNvPr id="38" name="Rectangle 37">
            <a:extLst>
              <a:ext uri="{FF2B5EF4-FFF2-40B4-BE49-F238E27FC236}">
                <a16:creationId xmlns:a16="http://schemas.microsoft.com/office/drawing/2014/main" id="{863FD31A-062E-4867-86C0-B6AD67E657DD}"/>
              </a:ext>
            </a:extLst>
          </p:cNvPr>
          <p:cNvSpPr>
            <a:spLocks noGrp="1"/>
          </p:cNvSpPr>
          <p:nvPr/>
        </p:nvSpPr>
        <p:spPr>
          <a:xfrm>
            <a:off x="1014069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7F425D5C-EB06-48A6-B5EF-4349DD606950}"/>
              </a:ext>
            </a:extLst>
          </p:cNvPr>
          <p:cNvSpPr>
            <a:spLocks noGrp="1"/>
          </p:cNvSpPr>
          <p:nvPr/>
        </p:nvSpPr>
        <p:spPr>
          <a:xfrm>
            <a:off x="1019556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11</a:t>
            </a:r>
          </a:p>
        </p:txBody>
      </p:sp>
      <p:sp>
        <p:nvSpPr>
          <p:cNvPr id="40" name="Rectangle 39">
            <a:extLst>
              <a:ext uri="{FF2B5EF4-FFF2-40B4-BE49-F238E27FC236}">
                <a16:creationId xmlns:a16="http://schemas.microsoft.com/office/drawing/2014/main" id="{B6976721-DBD2-406D-BAB0-B5E0FA0EF649}"/>
              </a:ext>
            </a:extLst>
          </p:cNvPr>
          <p:cNvSpPr>
            <a:spLocks noGrp="1"/>
          </p:cNvSpPr>
          <p:nvPr/>
        </p:nvSpPr>
        <p:spPr>
          <a:xfrm>
            <a:off x="5843016" y="3785615"/>
            <a:ext cx="23317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9A439FC0-6DD3-4F4B-80C9-DFD4636351E8}"/>
              </a:ext>
            </a:extLst>
          </p:cNvPr>
          <p:cNvSpPr>
            <a:spLocks noGrp="1"/>
          </p:cNvSpPr>
          <p:nvPr/>
        </p:nvSpPr>
        <p:spPr>
          <a:xfrm>
            <a:off x="5897879" y="38313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CAMs</a:t>
            </a:r>
          </a:p>
        </p:txBody>
      </p:sp>
      <p:sp>
        <p:nvSpPr>
          <p:cNvPr id="42" name="Rectangle 41">
            <a:extLst>
              <a:ext uri="{FF2B5EF4-FFF2-40B4-BE49-F238E27FC236}">
                <a16:creationId xmlns:a16="http://schemas.microsoft.com/office/drawing/2014/main" id="{55B2FB10-AC0F-4E77-B85E-E895C9C0B612}"/>
              </a:ext>
            </a:extLst>
          </p:cNvPr>
          <p:cNvSpPr>
            <a:spLocks noGrp="1"/>
          </p:cNvSpPr>
          <p:nvPr/>
        </p:nvSpPr>
        <p:spPr>
          <a:xfrm>
            <a:off x="8174736" y="3785615"/>
            <a:ext cx="91440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7095ADD2-F7B8-4524-B164-B885378DB3D6}"/>
              </a:ext>
            </a:extLst>
          </p:cNvPr>
          <p:cNvSpPr>
            <a:spLocks noGrp="1"/>
          </p:cNvSpPr>
          <p:nvPr/>
        </p:nvSpPr>
        <p:spPr>
          <a:xfrm>
            <a:off x="8229600" y="38313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44" name="Rectangle 43">
            <a:extLst>
              <a:ext uri="{FF2B5EF4-FFF2-40B4-BE49-F238E27FC236}">
                <a16:creationId xmlns:a16="http://schemas.microsoft.com/office/drawing/2014/main" id="{12D2C864-5084-4982-98DE-DDA79A091028}"/>
              </a:ext>
            </a:extLst>
          </p:cNvPr>
          <p:cNvSpPr>
            <a:spLocks noGrp="1"/>
          </p:cNvSpPr>
          <p:nvPr/>
        </p:nvSpPr>
        <p:spPr>
          <a:xfrm>
            <a:off x="908913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91D97A44-FA35-41FA-90C6-92D81B74B6BA}"/>
              </a:ext>
            </a:extLst>
          </p:cNvPr>
          <p:cNvSpPr>
            <a:spLocks noGrp="1"/>
          </p:cNvSpPr>
          <p:nvPr/>
        </p:nvSpPr>
        <p:spPr>
          <a:xfrm>
            <a:off x="914400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45</a:t>
            </a:r>
          </a:p>
        </p:txBody>
      </p:sp>
      <p:sp>
        <p:nvSpPr>
          <p:cNvPr id="46" name="Rectangle 45">
            <a:extLst>
              <a:ext uri="{FF2B5EF4-FFF2-40B4-BE49-F238E27FC236}">
                <a16:creationId xmlns:a16="http://schemas.microsoft.com/office/drawing/2014/main" id="{D1B7EA3C-3E6B-4E7B-BE30-1ECA7D452F54}"/>
              </a:ext>
            </a:extLst>
          </p:cNvPr>
          <p:cNvSpPr>
            <a:spLocks noGrp="1"/>
          </p:cNvSpPr>
          <p:nvPr/>
        </p:nvSpPr>
        <p:spPr>
          <a:xfrm>
            <a:off x="1014069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4B7F4C1-9F2F-49AD-BB70-E9DF95753D81}"/>
              </a:ext>
            </a:extLst>
          </p:cNvPr>
          <p:cNvSpPr>
            <a:spLocks noGrp="1"/>
          </p:cNvSpPr>
          <p:nvPr/>
        </p:nvSpPr>
        <p:spPr>
          <a:xfrm>
            <a:off x="1019556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a:t>
            </a:r>
          </a:p>
        </p:txBody>
      </p:sp>
      <p:sp>
        <p:nvSpPr>
          <p:cNvPr id="48" name="Rectangle 47">
            <a:extLst>
              <a:ext uri="{FF2B5EF4-FFF2-40B4-BE49-F238E27FC236}">
                <a16:creationId xmlns:a16="http://schemas.microsoft.com/office/drawing/2014/main" id="{D2F20C1D-F78F-4C83-A90B-093BCB57B5DF}"/>
              </a:ext>
            </a:extLst>
          </p:cNvPr>
          <p:cNvSpPr>
            <a:spLocks noGrp="1"/>
          </p:cNvSpPr>
          <p:nvPr/>
        </p:nvSpPr>
        <p:spPr>
          <a:xfrm>
            <a:off x="5843016" y="4242816"/>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903E20B3-CF4F-4A93-801D-30F7E8029068}"/>
              </a:ext>
            </a:extLst>
          </p:cNvPr>
          <p:cNvSpPr>
            <a:spLocks noGrp="1"/>
          </p:cNvSpPr>
          <p:nvPr/>
        </p:nvSpPr>
        <p:spPr>
          <a:xfrm>
            <a:off x="5897879" y="4288536"/>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Mic MKI67</a:t>
            </a:r>
          </a:p>
        </p:txBody>
      </p:sp>
      <p:sp>
        <p:nvSpPr>
          <p:cNvPr id="50" name="Rectangle 49">
            <a:extLst>
              <a:ext uri="{FF2B5EF4-FFF2-40B4-BE49-F238E27FC236}">
                <a16:creationId xmlns:a16="http://schemas.microsoft.com/office/drawing/2014/main" id="{E1DA88D7-AE9C-489E-8372-8CCC2159709C}"/>
              </a:ext>
            </a:extLst>
          </p:cNvPr>
          <p:cNvSpPr>
            <a:spLocks noGrp="1"/>
          </p:cNvSpPr>
          <p:nvPr/>
        </p:nvSpPr>
        <p:spPr>
          <a:xfrm>
            <a:off x="8174736" y="4242816"/>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0F1DC7C2-CBC8-420E-8449-41E5F062D0FE}"/>
              </a:ext>
            </a:extLst>
          </p:cNvPr>
          <p:cNvSpPr>
            <a:spLocks noGrp="1"/>
          </p:cNvSpPr>
          <p:nvPr/>
        </p:nvSpPr>
        <p:spPr>
          <a:xfrm>
            <a:off x="8229600" y="4288536"/>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52" name="Rectangle 51">
            <a:extLst>
              <a:ext uri="{FF2B5EF4-FFF2-40B4-BE49-F238E27FC236}">
                <a16:creationId xmlns:a16="http://schemas.microsoft.com/office/drawing/2014/main" id="{910C581E-1DAD-46E7-A140-7E7BD4780D86}"/>
              </a:ext>
            </a:extLst>
          </p:cNvPr>
          <p:cNvSpPr>
            <a:spLocks noGrp="1"/>
          </p:cNvSpPr>
          <p:nvPr/>
        </p:nvSpPr>
        <p:spPr>
          <a:xfrm>
            <a:off x="908913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156B8896-EB75-41CE-A156-2660FFC8BAF4}"/>
              </a:ext>
            </a:extLst>
          </p:cNvPr>
          <p:cNvSpPr>
            <a:spLocks noGrp="1"/>
          </p:cNvSpPr>
          <p:nvPr/>
        </p:nvSpPr>
        <p:spPr>
          <a:xfrm>
            <a:off x="914400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2</a:t>
            </a:r>
          </a:p>
        </p:txBody>
      </p:sp>
      <p:sp>
        <p:nvSpPr>
          <p:cNvPr id="54" name="Rectangle 53">
            <a:extLst>
              <a:ext uri="{FF2B5EF4-FFF2-40B4-BE49-F238E27FC236}">
                <a16:creationId xmlns:a16="http://schemas.microsoft.com/office/drawing/2014/main" id="{1B1BB3F7-04AA-44BA-8B8D-F3858EDA1925}"/>
              </a:ext>
            </a:extLst>
          </p:cNvPr>
          <p:cNvSpPr>
            <a:spLocks noGrp="1"/>
          </p:cNvSpPr>
          <p:nvPr/>
        </p:nvSpPr>
        <p:spPr>
          <a:xfrm>
            <a:off x="1014069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0523E08A-8422-4F00-872A-58443A885589}"/>
              </a:ext>
            </a:extLst>
          </p:cNvPr>
          <p:cNvSpPr>
            <a:spLocks noGrp="1"/>
          </p:cNvSpPr>
          <p:nvPr/>
        </p:nvSpPr>
        <p:spPr>
          <a:xfrm>
            <a:off x="1019556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9</a:t>
            </a:r>
          </a:p>
        </p:txBody>
      </p:sp>
      <p:sp>
        <p:nvSpPr>
          <p:cNvPr id="56" name="TextBox 55">
            <a:extLst>
              <a:ext uri="{FF2B5EF4-FFF2-40B4-BE49-F238E27FC236}">
                <a16:creationId xmlns:a16="http://schemas.microsoft.com/office/drawing/2014/main" id="{5DA43788-B436-482C-B52E-17CA35FF74BA}"/>
              </a:ext>
            </a:extLst>
          </p:cNvPr>
          <p:cNvSpPr>
            <a:spLocks noGrp="1"/>
          </p:cNvSpPr>
          <p:nvPr/>
        </p:nvSpPr>
        <p:spPr>
          <a:xfrm>
            <a:off x="5961888" y="4882896"/>
            <a:ext cx="5029200" cy="5120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50" b="1" i="0">
                <a:solidFill>
                  <a:srgbClr val="D55E00"/>
                </a:solidFill>
                <a:latin typeface="Arial"/>
                <a:ea typeface="Arial"/>
                <a:cs typeface="Arial"/>
              </a:rPr>
              <a:t>3 unavailable comparisons = 3 unavailable KDA calls</a:t>
            </a:r>
          </a:p>
        </p:txBody>
      </p:sp>
    </p:spTree>
    <p:extLst>
      <p:ext uri="{BB962C8B-B14F-4D97-AF65-F5344CB8AC3E}">
        <p14:creationId xmlns:p14="http://schemas.microsoft.com/office/powerpoint/2010/main" val="903019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5A4499-ABED-41B4-B689-BBEB37944934}"/>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MitoCarta MT query genes</a:t>
            </a:r>
          </a:p>
        </p:txBody>
      </p:sp>
      <p:sp>
        <p:nvSpPr>
          <p:cNvPr id="5" name="Rounded Rectangle 4">
            <a:extLst>
              <a:ext uri="{FF2B5EF4-FFF2-40B4-BE49-F238E27FC236}">
                <a16:creationId xmlns:a16="http://schemas.microsoft.com/office/drawing/2014/main" id="{8DE7C9FC-F4F5-4C9D-BE4B-F8CC2DEE3039}"/>
              </a:ext>
            </a:extLst>
          </p:cNvPr>
          <p:cNvSpPr>
            <a:spLocks noGrp="1"/>
          </p:cNvSpPr>
          <p:nvPr/>
        </p:nvSpPr>
        <p:spPr>
          <a:xfrm>
            <a:off x="603504" y="1353312"/>
            <a:ext cx="3721608" cy="4526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CCF4AEC8-028E-4049-8919-A3A6BC909D71}"/>
              </a:ext>
            </a:extLst>
          </p:cNvPr>
          <p:cNvSpPr>
            <a:spLocks noGrp="1"/>
          </p:cNvSpPr>
          <p:nvPr/>
        </p:nvSpPr>
        <p:spPr>
          <a:xfrm>
            <a:off x="859536" y="165506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9E86D80-4F35-4E9D-B4CF-F31E5727EF07}"/>
              </a:ext>
            </a:extLst>
          </p:cNvPr>
          <p:cNvSpPr>
            <a:spLocks noGrp="1"/>
          </p:cNvSpPr>
          <p:nvPr/>
        </p:nvSpPr>
        <p:spPr>
          <a:xfrm>
            <a:off x="1005839" y="1627632"/>
            <a:ext cx="303580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DEG rule</a:t>
            </a:r>
          </a:p>
        </p:txBody>
      </p:sp>
      <p:sp>
        <p:nvSpPr>
          <p:cNvPr id="8" name="Oval 7">
            <a:extLst>
              <a:ext uri="{FF2B5EF4-FFF2-40B4-BE49-F238E27FC236}">
                <a16:creationId xmlns:a16="http://schemas.microsoft.com/office/drawing/2014/main" id="{A0151829-EEB6-4971-BDF2-C77BF1063965}"/>
              </a:ext>
            </a:extLst>
          </p:cNvPr>
          <p:cNvSpPr>
            <a:spLocks noGrp="1"/>
          </p:cNvSpPr>
          <p:nvPr/>
        </p:nvSpPr>
        <p:spPr>
          <a:xfrm>
            <a:off x="859536" y="22677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78213C-EE6C-40FF-960C-489204F531A0}"/>
              </a:ext>
            </a:extLst>
          </p:cNvPr>
          <p:cNvSpPr>
            <a:spLocks noGrp="1"/>
          </p:cNvSpPr>
          <p:nvPr/>
        </p:nvSpPr>
        <p:spPr>
          <a:xfrm>
            <a:off x="1033271" y="2139696"/>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Detected in ≥10% of AD or NCI nuclei.</a:t>
            </a:r>
          </a:p>
        </p:txBody>
      </p:sp>
      <p:sp>
        <p:nvSpPr>
          <p:cNvPr id="10" name="Oval 9">
            <a:extLst>
              <a:ext uri="{FF2B5EF4-FFF2-40B4-BE49-F238E27FC236}">
                <a16:creationId xmlns:a16="http://schemas.microsoft.com/office/drawing/2014/main" id="{C0ADBA6A-AFFB-488D-A107-5DC268F15299}"/>
              </a:ext>
            </a:extLst>
          </p:cNvPr>
          <p:cNvSpPr>
            <a:spLocks noGrp="1"/>
          </p:cNvSpPr>
          <p:nvPr/>
        </p:nvSpPr>
        <p:spPr>
          <a:xfrm>
            <a:off x="859536" y="2834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229298B-06BB-400F-83B1-AAAC4072591F}"/>
              </a:ext>
            </a:extLst>
          </p:cNvPr>
          <p:cNvSpPr>
            <a:spLocks noGrp="1"/>
          </p:cNvSpPr>
          <p:nvPr/>
        </p:nvSpPr>
        <p:spPr>
          <a:xfrm>
            <a:off x="1033271" y="2706624"/>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Within-contrast BH FDR &lt; 0.05.</a:t>
            </a:r>
          </a:p>
        </p:txBody>
      </p:sp>
      <p:sp>
        <p:nvSpPr>
          <p:cNvPr id="12" name="Oval 11">
            <a:extLst>
              <a:ext uri="{FF2B5EF4-FFF2-40B4-BE49-F238E27FC236}">
                <a16:creationId xmlns:a16="http://schemas.microsoft.com/office/drawing/2014/main" id="{B822E0FE-0F09-484C-9F2D-B2B7E0D7E11C}"/>
              </a:ext>
            </a:extLst>
          </p:cNvPr>
          <p:cNvSpPr>
            <a:spLocks noGrp="1"/>
          </p:cNvSpPr>
          <p:nvPr/>
        </p:nvSpPr>
        <p:spPr>
          <a:xfrm>
            <a:off x="859536" y="340156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6D8D062-AAD8-4621-AB56-9EF8A120EB96}"/>
              </a:ext>
            </a:extLst>
          </p:cNvPr>
          <p:cNvSpPr>
            <a:spLocks noGrp="1"/>
          </p:cNvSpPr>
          <p:nvPr/>
        </p:nvSpPr>
        <p:spPr>
          <a:xfrm>
            <a:off x="1033271" y="3273552"/>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|log₂ fold change| &gt; log₂(1.3) ≈ 0.379.</a:t>
            </a:r>
          </a:p>
        </p:txBody>
      </p:sp>
      <p:sp>
        <p:nvSpPr>
          <p:cNvPr id="14" name="Oval 13">
            <a:extLst>
              <a:ext uri="{FF2B5EF4-FFF2-40B4-BE49-F238E27FC236}">
                <a16:creationId xmlns:a16="http://schemas.microsoft.com/office/drawing/2014/main" id="{CCAFE78C-2226-4809-9008-90D8C39DB040}"/>
              </a:ext>
            </a:extLst>
          </p:cNvPr>
          <p:cNvSpPr>
            <a:spLocks noGrp="1"/>
          </p:cNvSpPr>
          <p:nvPr/>
        </p:nvSpPr>
        <p:spPr>
          <a:xfrm>
            <a:off x="859536" y="39684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F06C362E-61A0-4B7A-9DDC-433728001AB4}"/>
              </a:ext>
            </a:extLst>
          </p:cNvPr>
          <p:cNvSpPr>
            <a:spLocks noGrp="1"/>
          </p:cNvSpPr>
          <p:nvPr/>
        </p:nvSpPr>
        <p:spPr>
          <a:xfrm>
            <a:off x="1033271" y="3840480"/>
            <a:ext cx="2990088" cy="4370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Upregulated and downregulated DEGs enter the query.</a:t>
            </a:r>
          </a:p>
        </p:txBody>
      </p:sp>
      <p:sp>
        <p:nvSpPr>
          <p:cNvPr id="16" name="Rounded Rectangle 15">
            <a:extLst>
              <a:ext uri="{FF2B5EF4-FFF2-40B4-BE49-F238E27FC236}">
                <a16:creationId xmlns:a16="http://schemas.microsoft.com/office/drawing/2014/main" id="{885F3F40-EE89-4AEF-B303-0BFAF284546A}"/>
              </a:ext>
            </a:extLst>
          </p:cNvPr>
          <p:cNvSpPr>
            <a:spLocks noGrp="1"/>
          </p:cNvSpPr>
          <p:nvPr/>
        </p:nvSpPr>
        <p:spPr>
          <a:xfrm>
            <a:off x="859536" y="4709160"/>
            <a:ext cx="3145536" cy="786384"/>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82A7A1-7F77-4ECF-AC6A-EF1F25B01E18}"/>
              </a:ext>
            </a:extLst>
          </p:cNvPr>
          <p:cNvSpPr>
            <a:spLocks noGrp="1"/>
          </p:cNvSpPr>
          <p:nvPr/>
        </p:nvSpPr>
        <p:spPr>
          <a:xfrm>
            <a:off x="1042415" y="4910328"/>
            <a:ext cx="2788920" cy="40011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0F233D"/>
                </a:solidFill>
                <a:latin typeface="Arial"/>
                <a:ea typeface="Arial"/>
                <a:cs typeface="Arial"/>
              </a:rPr>
              <a:t>Query = DEGs ∩ MitoCarta MT genes</a:t>
            </a:r>
          </a:p>
        </p:txBody>
      </p:sp>
      <p:sp>
        <p:nvSpPr>
          <p:cNvPr id="18" name="Rounded Rectangle 17">
            <a:extLst>
              <a:ext uri="{FF2B5EF4-FFF2-40B4-BE49-F238E27FC236}">
                <a16:creationId xmlns:a16="http://schemas.microsoft.com/office/drawing/2014/main" id="{5A52CA99-AEDD-4D14-99E8-8BF8B35356DA}"/>
              </a:ext>
            </a:extLst>
          </p:cNvPr>
          <p:cNvSpPr>
            <a:spLocks noGrp="1"/>
          </p:cNvSpPr>
          <p:nvPr/>
        </p:nvSpPr>
        <p:spPr>
          <a:xfrm>
            <a:off x="4626864" y="1426464"/>
            <a:ext cx="2066543"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3F8606F2-D8ED-44DD-A74F-F996D893CA39}"/>
              </a:ext>
            </a:extLst>
          </p:cNvPr>
          <p:cNvSpPr>
            <a:spLocks noGrp="1"/>
          </p:cNvSpPr>
          <p:nvPr/>
        </p:nvSpPr>
        <p:spPr>
          <a:xfrm>
            <a:off x="4773168"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2,864,117</a:t>
            </a:r>
          </a:p>
        </p:txBody>
      </p:sp>
      <p:sp>
        <p:nvSpPr>
          <p:cNvPr id="20" name="TextBox 19">
            <a:extLst>
              <a:ext uri="{FF2B5EF4-FFF2-40B4-BE49-F238E27FC236}">
                <a16:creationId xmlns:a16="http://schemas.microsoft.com/office/drawing/2014/main" id="{9A48D853-A6A4-42BF-BC6B-58F9AE08341A}"/>
              </a:ext>
            </a:extLst>
          </p:cNvPr>
          <p:cNvSpPr>
            <a:spLocks noGrp="1"/>
          </p:cNvSpPr>
          <p:nvPr/>
        </p:nvSpPr>
        <p:spPr>
          <a:xfrm>
            <a:off x="4773168" y="1975104"/>
            <a:ext cx="1773935"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tested gene × comparison rows</a:t>
            </a:r>
          </a:p>
        </p:txBody>
      </p:sp>
      <p:sp>
        <p:nvSpPr>
          <p:cNvPr id="21" name="Rounded Rectangle 20">
            <a:extLst>
              <a:ext uri="{FF2B5EF4-FFF2-40B4-BE49-F238E27FC236}">
                <a16:creationId xmlns:a16="http://schemas.microsoft.com/office/drawing/2014/main" id="{E69D2FA1-B7C3-42AE-9C87-740739AA506D}"/>
              </a:ext>
            </a:extLst>
          </p:cNvPr>
          <p:cNvSpPr>
            <a:spLocks noGrp="1"/>
          </p:cNvSpPr>
          <p:nvPr/>
        </p:nvSpPr>
        <p:spPr>
          <a:xfrm>
            <a:off x="6858000"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906724E-D0B9-463E-9CE1-8AFF558DEE52}"/>
              </a:ext>
            </a:extLst>
          </p:cNvPr>
          <p:cNvSpPr>
            <a:spLocks noGrp="1"/>
          </p:cNvSpPr>
          <p:nvPr/>
        </p:nvSpPr>
        <p:spPr>
          <a:xfrm>
            <a:off x="7004304"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118,297</a:t>
            </a:r>
          </a:p>
        </p:txBody>
      </p:sp>
      <p:sp>
        <p:nvSpPr>
          <p:cNvPr id="23" name="TextBox 22">
            <a:extLst>
              <a:ext uri="{FF2B5EF4-FFF2-40B4-BE49-F238E27FC236}">
                <a16:creationId xmlns:a16="http://schemas.microsoft.com/office/drawing/2014/main" id="{4BE34CB8-3AB4-4355-AAF2-1D74AB37BAF8}"/>
              </a:ext>
            </a:extLst>
          </p:cNvPr>
          <p:cNvSpPr>
            <a:spLocks noGrp="1"/>
          </p:cNvSpPr>
          <p:nvPr/>
        </p:nvSpPr>
        <p:spPr>
          <a:xfrm>
            <a:off x="7004304"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Passed DEG</a:t>
            </a:r>
          </a:p>
        </p:txBody>
      </p:sp>
      <p:sp>
        <p:nvSpPr>
          <p:cNvPr id="24" name="TextBox 23">
            <a:extLst>
              <a:ext uri="{FF2B5EF4-FFF2-40B4-BE49-F238E27FC236}">
                <a16:creationId xmlns:a16="http://schemas.microsoft.com/office/drawing/2014/main" id="{69B3690B-6382-4AC7-9E7C-489107BE6259}"/>
              </a:ext>
            </a:extLst>
          </p:cNvPr>
          <p:cNvSpPr>
            <a:spLocks noGrp="1"/>
          </p:cNvSpPr>
          <p:nvPr/>
        </p:nvSpPr>
        <p:spPr>
          <a:xfrm>
            <a:off x="7004304"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58,112 up • 60,185 down</a:t>
            </a:r>
          </a:p>
        </p:txBody>
      </p:sp>
      <p:sp>
        <p:nvSpPr>
          <p:cNvPr id="25" name="Rounded Rectangle 24">
            <a:extLst>
              <a:ext uri="{FF2B5EF4-FFF2-40B4-BE49-F238E27FC236}">
                <a16:creationId xmlns:a16="http://schemas.microsoft.com/office/drawing/2014/main" id="{658A74AD-25F6-4091-B072-DA06336F1B1B}"/>
              </a:ext>
            </a:extLst>
          </p:cNvPr>
          <p:cNvSpPr>
            <a:spLocks noGrp="1"/>
          </p:cNvSpPr>
          <p:nvPr/>
        </p:nvSpPr>
        <p:spPr>
          <a:xfrm>
            <a:off x="9089136"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C6B67BD-53DA-4B1B-B4D9-A66F7CC6F87C}"/>
              </a:ext>
            </a:extLst>
          </p:cNvPr>
          <p:cNvSpPr>
            <a:spLocks noGrp="1"/>
          </p:cNvSpPr>
          <p:nvPr/>
        </p:nvSpPr>
        <p:spPr>
          <a:xfrm>
            <a:off x="9235440"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9,262</a:t>
            </a:r>
          </a:p>
        </p:txBody>
      </p:sp>
      <p:sp>
        <p:nvSpPr>
          <p:cNvPr id="27" name="TextBox 26">
            <a:extLst>
              <a:ext uri="{FF2B5EF4-FFF2-40B4-BE49-F238E27FC236}">
                <a16:creationId xmlns:a16="http://schemas.microsoft.com/office/drawing/2014/main" id="{5A085EBF-A4E2-4594-96C0-0B5797A10083}"/>
              </a:ext>
            </a:extLst>
          </p:cNvPr>
          <p:cNvSpPr>
            <a:spLocks noGrp="1"/>
          </p:cNvSpPr>
          <p:nvPr/>
        </p:nvSpPr>
        <p:spPr>
          <a:xfrm>
            <a:off x="9235440" y="1975104"/>
            <a:ext cx="1773935"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MitoCarta MT DEG occurrences</a:t>
            </a:r>
          </a:p>
        </p:txBody>
      </p:sp>
      <p:sp>
        <p:nvSpPr>
          <p:cNvPr id="28" name="TextBox 27">
            <a:extLst>
              <a:ext uri="{FF2B5EF4-FFF2-40B4-BE49-F238E27FC236}">
                <a16:creationId xmlns:a16="http://schemas.microsoft.com/office/drawing/2014/main" id="{8C904E69-0137-4825-A2DB-91EC93BCDF6D}"/>
              </a:ext>
            </a:extLst>
          </p:cNvPr>
          <p:cNvSpPr>
            <a:spLocks noGrp="1"/>
          </p:cNvSpPr>
          <p:nvPr/>
        </p:nvSpPr>
        <p:spPr>
          <a:xfrm>
            <a:off x="9235440"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4,258 up • 5,004 down</a:t>
            </a:r>
          </a:p>
        </p:txBody>
      </p:sp>
      <p:sp>
        <p:nvSpPr>
          <p:cNvPr id="29" name="Rounded Rectangle 28">
            <a:extLst>
              <a:ext uri="{FF2B5EF4-FFF2-40B4-BE49-F238E27FC236}">
                <a16:creationId xmlns:a16="http://schemas.microsoft.com/office/drawing/2014/main" id="{75FF7E4C-5D0A-47DA-8950-FE7DA023D128}"/>
              </a:ext>
            </a:extLst>
          </p:cNvPr>
          <p:cNvSpPr>
            <a:spLocks noGrp="1"/>
          </p:cNvSpPr>
          <p:nvPr/>
        </p:nvSpPr>
        <p:spPr>
          <a:xfrm>
            <a:off x="4626864" y="3017520"/>
            <a:ext cx="6528816" cy="247802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5E5D0AEF-3CE0-496D-9A6B-9793B89FCBCB}"/>
              </a:ext>
            </a:extLst>
          </p:cNvPr>
          <p:cNvSpPr>
            <a:spLocks noGrp="1"/>
          </p:cNvSpPr>
          <p:nvPr/>
        </p:nvSpPr>
        <p:spPr>
          <a:xfrm>
            <a:off x="4901184" y="3291840"/>
            <a:ext cx="31089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50" b="1" i="0">
                <a:solidFill>
                  <a:srgbClr val="009E73"/>
                </a:solidFill>
                <a:latin typeface="Arial"/>
                <a:ea typeface="Arial"/>
                <a:cs typeface="Arial"/>
              </a:rPr>
              <a:t>NETWORK-BACKGROUND INTERSECTION</a:t>
            </a:r>
          </a:p>
        </p:txBody>
      </p:sp>
      <p:sp>
        <p:nvSpPr>
          <p:cNvPr id="31" name="TextBox 30">
            <a:extLst>
              <a:ext uri="{FF2B5EF4-FFF2-40B4-BE49-F238E27FC236}">
                <a16:creationId xmlns:a16="http://schemas.microsoft.com/office/drawing/2014/main" id="{79EB081A-365D-415F-A7A1-700793E28812}"/>
              </a:ext>
            </a:extLst>
          </p:cNvPr>
          <p:cNvSpPr>
            <a:spLocks noGrp="1"/>
          </p:cNvSpPr>
          <p:nvPr/>
        </p:nvSpPr>
        <p:spPr>
          <a:xfrm>
            <a:off x="4919472" y="3694176"/>
            <a:ext cx="5806440" cy="3247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50" b="1" i="0">
                <a:solidFill>
                  <a:srgbClr val="0F233D"/>
                </a:solidFill>
                <a:latin typeface="Arial"/>
                <a:ea typeface="Arial"/>
                <a:cs typeface="Arial"/>
              </a:rPr>
              <a:t>9,262 provisional query occurrences</a:t>
            </a:r>
          </a:p>
        </p:txBody>
      </p:sp>
      <p:sp>
        <p:nvSpPr>
          <p:cNvPr id="32" name="TextBox 31">
            <a:extLst>
              <a:ext uri="{FF2B5EF4-FFF2-40B4-BE49-F238E27FC236}">
                <a16:creationId xmlns:a16="http://schemas.microsoft.com/office/drawing/2014/main" id="{C60C4732-1566-462C-8E78-496CB14F271F}"/>
              </a:ext>
            </a:extLst>
          </p:cNvPr>
          <p:cNvSpPr>
            <a:spLocks noGrp="1"/>
          </p:cNvSpPr>
          <p:nvPr/>
        </p:nvSpPr>
        <p:spPr>
          <a:xfrm>
            <a:off x="4919472" y="4133087"/>
            <a:ext cx="5321808"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D55E00"/>
                </a:solidFill>
                <a:latin typeface="Arial"/>
                <a:ea typeface="Arial"/>
                <a:cs typeface="Arial"/>
              </a:rPr>
              <a:t>− 1,329 absent from the </a:t>
            </a:r>
            <a:r>
              <a:rPr sz="1300" b="1">
                <a:solidFill>
                  <a:srgbClr val="D55E00"/>
                </a:solidFill>
                <a:latin typeface="Arial"/>
                <a:ea typeface="Arial"/>
                <a:cs typeface="Arial"/>
              </a:rPr>
              <a:t>Bayesian network</a:t>
            </a:r>
            <a:endParaRPr sz="1300" b="1" i="0">
              <a:solidFill>
                <a:srgbClr val="D55E00"/>
              </a:solidFill>
              <a:latin typeface="Arial"/>
              <a:ea typeface="Arial"/>
              <a:cs typeface="Arial"/>
            </a:endParaRPr>
          </a:p>
        </p:txBody>
      </p:sp>
      <p:sp>
        <p:nvSpPr>
          <p:cNvPr id="33" name="TextBox 32">
            <a:extLst>
              <a:ext uri="{FF2B5EF4-FFF2-40B4-BE49-F238E27FC236}">
                <a16:creationId xmlns:a16="http://schemas.microsoft.com/office/drawing/2014/main" id="{7248E692-28A0-4C03-A384-7F8EC33D7A39}"/>
              </a:ext>
            </a:extLst>
          </p:cNvPr>
          <p:cNvSpPr>
            <a:spLocks noGrp="1"/>
          </p:cNvSpPr>
          <p:nvPr/>
        </p:nvSpPr>
        <p:spPr>
          <a:xfrm>
            <a:off x="4919472" y="4626864"/>
            <a:ext cx="5806440"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800" b="1" i="0">
                <a:solidFill>
                  <a:srgbClr val="009E73"/>
                </a:solidFill>
                <a:latin typeface="Arial"/>
                <a:ea typeface="Arial"/>
                <a:cs typeface="Arial"/>
              </a:rPr>
              <a:t>= 7,933 mapped query occurrences</a:t>
            </a:r>
          </a:p>
        </p:txBody>
      </p:sp>
      <p:sp>
        <p:nvSpPr>
          <p:cNvPr id="34" name="TextBox 33">
            <a:extLst>
              <a:ext uri="{FF2B5EF4-FFF2-40B4-BE49-F238E27FC236}">
                <a16:creationId xmlns:a16="http://schemas.microsoft.com/office/drawing/2014/main" id="{CD45A583-6B16-40E3-B6F3-8D38E9354DC5}"/>
              </a:ext>
            </a:extLst>
          </p:cNvPr>
          <p:cNvSpPr>
            <a:spLocks noGrp="1"/>
          </p:cNvSpPr>
          <p:nvPr/>
        </p:nvSpPr>
        <p:spPr>
          <a:xfrm>
            <a:off x="4928616" y="5074920"/>
            <a:ext cx="5422392"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0" i="0">
                <a:solidFill>
                  <a:srgbClr val="4E5A68"/>
                </a:solidFill>
                <a:latin typeface="Arial"/>
                <a:ea typeface="Arial"/>
                <a:cs typeface="Arial"/>
              </a:rPr>
              <a:t>Membership counts can repeat genes across contrasts; each contrast contributes one query.</a:t>
            </a:r>
          </a:p>
        </p:txBody>
      </p:sp>
    </p:spTree>
    <p:extLst>
      <p:ext uri="{BB962C8B-B14F-4D97-AF65-F5344CB8AC3E}">
        <p14:creationId xmlns:p14="http://schemas.microsoft.com/office/powerpoint/2010/main" val="16469630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2F691C-43D8-4399-B191-59852569AB5A}"/>
              </a:ext>
            </a:extLst>
          </p:cNvPr>
          <p:cNvSpPr>
            <a:spLocks noGrp="1"/>
          </p:cNvSpPr>
          <p:nvPr/>
        </p:nvSpPr>
        <p:spPr>
          <a:xfrm>
            <a:off x="530352" y="411480"/>
            <a:ext cx="10652760" cy="70173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ROSMAP KDA summary: 381 non-MitoCarta gene × category combinations represent 228 distinct genes</a:t>
            </a:r>
          </a:p>
        </p:txBody>
      </p:sp>
      <p:sp>
        <p:nvSpPr>
          <p:cNvPr id="5" name="Rounded Rectangle 4">
            <a:extLst>
              <a:ext uri="{FF2B5EF4-FFF2-40B4-BE49-F238E27FC236}">
                <a16:creationId xmlns:a16="http://schemas.microsoft.com/office/drawing/2014/main" id="{5F8E1F0F-EC09-48D5-B3D5-CDE2A120B8ED}"/>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FCB72B2-40C8-4FFA-8C93-F91DEF5292C7}"/>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623</a:t>
            </a:r>
          </a:p>
        </p:txBody>
      </p:sp>
      <p:sp>
        <p:nvSpPr>
          <p:cNvPr id="7" name="TextBox 6">
            <a:extLst>
              <a:ext uri="{FF2B5EF4-FFF2-40B4-BE49-F238E27FC236}">
                <a16:creationId xmlns:a16="http://schemas.microsoft.com/office/drawing/2014/main" id="{5F450053-A28A-4BA6-8887-B2E16530F34A}"/>
              </a:ext>
            </a:extLst>
          </p:cNvPr>
          <p:cNvSpPr>
            <a:spLocks noGrp="1"/>
          </p:cNvSpPr>
          <p:nvPr/>
        </p:nvSpPr>
        <p:spPr>
          <a:xfrm>
            <a:off x="804672" y="1938528"/>
            <a:ext cx="1645920" cy="740664"/>
          </a:xfrm>
          <a:prstGeom prst="rect">
            <a:avLst/>
          </a:prstGeom>
          <a:noFill/>
        </p:spPr>
        <p:txBody>
          <a:bodyPr wrap="square" lIns="27432" tIns="27432" rIns="27432" bIns="27432" anchor="t">
            <a:spAutoFit/>
          </a:bodyPr>
          <a:lstStyle/>
          <a:p>
            <a:r>
              <a:rPr sz="900" b="1">
                <a:solidFill>
                  <a:srgbClr val="4E5A68"/>
                </a:solidFill>
                <a:latin typeface="Arial"/>
                <a:ea typeface="Arial"/>
                <a:cs typeface="Arial"/>
              </a:rPr>
              <a:t>non-MitoCarta gene returned from KDA call (before aggregation)</a:t>
            </a:r>
          </a:p>
          <a:p>
            <a:pPr algn="l">
              <a:lnSpc>
                <a:spcPct val="100000"/>
              </a:lnSpc>
              <a:spcBef>
                <a:spcPts val="0"/>
              </a:spcBef>
              <a:spcAft>
                <a:spcPts val="0"/>
              </a:spcAft>
              <a:buNone/>
            </a:pPr>
            <a:endParaRPr sz="880" b="1" i="0">
              <a:solidFill>
                <a:srgbClr val="4E5A68"/>
              </a:solidFill>
              <a:latin typeface="Arial"/>
              <a:ea typeface="Arial"/>
              <a:cs typeface="Arial"/>
            </a:endParaRPr>
          </a:p>
        </p:txBody>
      </p:sp>
      <p:sp>
        <p:nvSpPr>
          <p:cNvPr id="8" name="Rounded Rectangle 7">
            <a:extLst>
              <a:ext uri="{FF2B5EF4-FFF2-40B4-BE49-F238E27FC236}">
                <a16:creationId xmlns:a16="http://schemas.microsoft.com/office/drawing/2014/main" id="{99981A44-1C12-4123-A49F-585412D7AFF7}"/>
              </a:ext>
            </a:extLst>
          </p:cNvPr>
          <p:cNvSpPr>
            <a:spLocks noGrp="1"/>
          </p:cNvSpPr>
          <p:nvPr/>
        </p:nvSpPr>
        <p:spPr>
          <a:xfrm>
            <a:off x="2798064"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4EF7B2A-4954-49A6-9B47-51FCB9C085BD}"/>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0" name="TextBox 9">
            <a:extLst>
              <a:ext uri="{FF2B5EF4-FFF2-40B4-BE49-F238E27FC236}">
                <a16:creationId xmlns:a16="http://schemas.microsoft.com/office/drawing/2014/main" id="{C3F09E70-D53D-401E-B7D5-721C2785CBEC}"/>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 category combinations</a:t>
            </a:r>
          </a:p>
        </p:txBody>
      </p:sp>
      <p:sp>
        <p:nvSpPr>
          <p:cNvPr id="11" name="Rounded Rectangle 10">
            <a:extLst>
              <a:ext uri="{FF2B5EF4-FFF2-40B4-BE49-F238E27FC236}">
                <a16:creationId xmlns:a16="http://schemas.microsoft.com/office/drawing/2014/main" id="{6689581A-ED20-4F0C-AA15-1AE5E7CB9D6F}"/>
              </a:ext>
            </a:extLst>
          </p:cNvPr>
          <p:cNvSpPr>
            <a:spLocks noGrp="1"/>
          </p:cNvSpPr>
          <p:nvPr/>
        </p:nvSpPr>
        <p:spPr>
          <a:xfrm>
            <a:off x="4937760"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1E91F98-ED6C-4488-8DD7-E36F5B0AC9A7}"/>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228</a:t>
            </a:r>
          </a:p>
        </p:txBody>
      </p:sp>
      <p:sp>
        <p:nvSpPr>
          <p:cNvPr id="13" name="TextBox 12">
            <a:extLst>
              <a:ext uri="{FF2B5EF4-FFF2-40B4-BE49-F238E27FC236}">
                <a16:creationId xmlns:a16="http://schemas.microsoft.com/office/drawing/2014/main" id="{288C696D-CF39-4EF6-B4B8-3B8E29725F75}"/>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4" name="Rounded Rectangle 13">
            <a:extLst>
              <a:ext uri="{FF2B5EF4-FFF2-40B4-BE49-F238E27FC236}">
                <a16:creationId xmlns:a16="http://schemas.microsoft.com/office/drawing/2014/main" id="{B9655AB7-C84D-40BD-ADC4-9492EA67959C}"/>
              </a:ext>
            </a:extLst>
          </p:cNvPr>
          <p:cNvSpPr>
            <a:spLocks noGrp="1"/>
          </p:cNvSpPr>
          <p:nvPr/>
        </p:nvSpPr>
        <p:spPr>
          <a:xfrm>
            <a:off x="7077456"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BE7D19B-D31A-47FF-B1E7-26E6AD0B4197}"/>
              </a:ext>
            </a:extLst>
          </p:cNvPr>
          <p:cNvSpPr>
            <a:spLocks noGrp="1"/>
          </p:cNvSpPr>
          <p:nvPr/>
        </p:nvSpPr>
        <p:spPr>
          <a:xfrm>
            <a:off x="7223760"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29</a:t>
            </a:r>
          </a:p>
        </p:txBody>
      </p:sp>
      <p:sp>
        <p:nvSpPr>
          <p:cNvPr id="16" name="TextBox 15">
            <a:extLst>
              <a:ext uri="{FF2B5EF4-FFF2-40B4-BE49-F238E27FC236}">
                <a16:creationId xmlns:a16="http://schemas.microsoft.com/office/drawing/2014/main" id="{EB178ADB-DEA9-456E-BBF6-22D358F15D49}"/>
              </a:ext>
            </a:extLst>
          </p:cNvPr>
          <p:cNvSpPr>
            <a:spLocks noGrp="1"/>
          </p:cNvSpPr>
          <p:nvPr/>
        </p:nvSpPr>
        <p:spPr>
          <a:xfrm>
            <a:off x="7223760"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7" name="Rounded Rectangle 16">
            <a:extLst>
              <a:ext uri="{FF2B5EF4-FFF2-40B4-BE49-F238E27FC236}">
                <a16:creationId xmlns:a16="http://schemas.microsoft.com/office/drawing/2014/main" id="{2BBA2494-4EF1-43C4-90F3-59BDAF9D9BEB}"/>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4E22C672-9FA5-42B0-8258-3B27F10D6A07}"/>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123</a:t>
            </a:r>
          </a:p>
        </p:txBody>
      </p:sp>
      <p:sp>
        <p:nvSpPr>
          <p:cNvPr id="19" name="TextBox 18">
            <a:extLst>
              <a:ext uri="{FF2B5EF4-FFF2-40B4-BE49-F238E27FC236}">
                <a16:creationId xmlns:a16="http://schemas.microsoft.com/office/drawing/2014/main" id="{E52876D5-BB9F-4E3C-9AD5-0233BA13CE45}"/>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20" name="Rounded Rectangle 19">
            <a:extLst>
              <a:ext uri="{FF2B5EF4-FFF2-40B4-BE49-F238E27FC236}">
                <a16:creationId xmlns:a16="http://schemas.microsoft.com/office/drawing/2014/main" id="{6344C532-B670-480E-A4EC-1C16491D7C61}"/>
              </a:ext>
            </a:extLst>
          </p:cNvPr>
          <p:cNvSpPr>
            <a:spLocks noGrp="1"/>
          </p:cNvSpPr>
          <p:nvPr/>
        </p:nvSpPr>
        <p:spPr>
          <a:xfrm>
            <a:off x="658368" y="2871216"/>
            <a:ext cx="5266944" cy="2834640"/>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39C60D81-49EF-488F-AA35-9B23234333DB}"/>
              </a:ext>
            </a:extLst>
          </p:cNvPr>
          <p:cNvSpPr>
            <a:spLocks noGrp="1"/>
          </p:cNvSpPr>
          <p:nvPr/>
        </p:nvSpPr>
        <p:spPr>
          <a:xfrm>
            <a:off x="932688"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BAE0462A-9ED8-4454-A164-28B033EF2A53}"/>
              </a:ext>
            </a:extLst>
          </p:cNvPr>
          <p:cNvSpPr>
            <a:spLocks noGrp="1"/>
          </p:cNvSpPr>
          <p:nvPr/>
        </p:nvSpPr>
        <p:spPr>
          <a:xfrm>
            <a:off x="1078992" y="3163824"/>
            <a:ext cx="4572000"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non-MitoCarta gene × category units occur</a:t>
            </a:r>
          </a:p>
        </p:txBody>
      </p:sp>
      <p:sp>
        <p:nvSpPr>
          <p:cNvPr id="23" name="TextBox 22">
            <a:extLst>
              <a:ext uri="{FF2B5EF4-FFF2-40B4-BE49-F238E27FC236}">
                <a16:creationId xmlns:a16="http://schemas.microsoft.com/office/drawing/2014/main" id="{541E13B5-4E6A-402C-A5DA-1B27BA3AA5DD}"/>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sex/APOE group</a:t>
            </a:r>
          </a:p>
        </p:txBody>
      </p:sp>
      <p:sp>
        <p:nvSpPr>
          <p:cNvPr id="24" name="TextBox 23">
            <a:extLst>
              <a:ext uri="{FF2B5EF4-FFF2-40B4-BE49-F238E27FC236}">
                <a16:creationId xmlns:a16="http://schemas.microsoft.com/office/drawing/2014/main" id="{F3960DED-7D97-470A-9484-45F765CC75AC}"/>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1" i="0">
                <a:solidFill>
                  <a:srgbClr val="0F233D"/>
                </a:solidFill>
                <a:latin typeface="Arial"/>
                <a:ea typeface="Arial"/>
                <a:cs typeface="Arial"/>
              </a:rPr>
              <a:t>F_e4 81 • M_e33 79 • M_e2 70
F_e33 56 • F_e2 54 • M_e4 41</a:t>
            </a:r>
          </a:p>
        </p:txBody>
      </p:sp>
      <p:sp>
        <p:nvSpPr>
          <p:cNvPr id="25" name="TextBox 24">
            <a:extLst>
              <a:ext uri="{FF2B5EF4-FFF2-40B4-BE49-F238E27FC236}">
                <a16:creationId xmlns:a16="http://schemas.microsoft.com/office/drawing/2014/main" id="{8B75E5CD-75EB-4449-B32E-D12075F51E15}"/>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broad network</a:t>
            </a:r>
          </a:p>
        </p:txBody>
      </p:sp>
      <p:sp>
        <p:nvSpPr>
          <p:cNvPr id="26" name="TextBox 25">
            <a:extLst>
              <a:ext uri="{FF2B5EF4-FFF2-40B4-BE49-F238E27FC236}">
                <a16:creationId xmlns:a16="http://schemas.microsoft.com/office/drawing/2014/main" id="{A3609D55-F968-46EF-BBC1-BE9FE71580C8}"/>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30" b="1" i="0">
                <a:solidFill>
                  <a:srgbClr val="0F233D"/>
                </a:solidFill>
                <a:latin typeface="Arial"/>
                <a:ea typeface="Arial"/>
                <a:cs typeface="Arial"/>
              </a:rPr>
              <a:t>Excitatory 153 • Inhibitory 146 • Astrocytes 32 • OPCs 21
Oligo 18 • Vasculature 6 • Microglia 5</a:t>
            </a:r>
          </a:p>
        </p:txBody>
      </p:sp>
      <p:sp>
        <p:nvSpPr>
          <p:cNvPr id="27" name="Rounded Rectangle 26">
            <a:extLst>
              <a:ext uri="{FF2B5EF4-FFF2-40B4-BE49-F238E27FC236}">
                <a16:creationId xmlns:a16="http://schemas.microsoft.com/office/drawing/2014/main" id="{47D4805F-D784-4954-A1BD-31BEE9FA297D}"/>
              </a:ext>
            </a:extLst>
          </p:cNvPr>
          <p:cNvSpPr>
            <a:spLocks noGrp="1"/>
          </p:cNvSpPr>
          <p:nvPr/>
        </p:nvSpPr>
        <p:spPr>
          <a:xfrm>
            <a:off x="6181344" y="2871216"/>
            <a:ext cx="5010912"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Rectangle 27">
            <a:extLst>
              <a:ext uri="{FF2B5EF4-FFF2-40B4-BE49-F238E27FC236}">
                <a16:creationId xmlns:a16="http://schemas.microsoft.com/office/drawing/2014/main" id="{5BCC4F7E-85B8-4D41-944E-15A4307874F6}"/>
              </a:ext>
            </a:extLst>
          </p:cNvPr>
          <p:cNvSpPr>
            <a:spLocks noGrp="1"/>
          </p:cNvSpPr>
          <p:nvPr/>
        </p:nvSpPr>
        <p:spPr>
          <a:xfrm>
            <a:off x="6455664"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46AE0B48-62D3-4E26-B2E4-CF01DD1AC486}"/>
              </a:ext>
            </a:extLst>
          </p:cNvPr>
          <p:cNvSpPr>
            <a:spLocks noGrp="1"/>
          </p:cNvSpPr>
          <p:nvPr/>
        </p:nvSpPr>
        <p:spPr>
          <a:xfrm>
            <a:off x="6601968" y="3163824"/>
            <a:ext cx="431596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Most recurrent genes</a:t>
            </a:r>
          </a:p>
        </p:txBody>
      </p:sp>
      <p:sp>
        <p:nvSpPr>
          <p:cNvPr id="30" name="TextBox 29">
            <a:extLst>
              <a:ext uri="{FF2B5EF4-FFF2-40B4-BE49-F238E27FC236}">
                <a16:creationId xmlns:a16="http://schemas.microsoft.com/office/drawing/2014/main" id="{636EEA92-F41C-4FF9-A923-6729FC705521}"/>
              </a:ext>
            </a:extLst>
          </p:cNvPr>
          <p:cNvSpPr>
            <a:spLocks noGrp="1"/>
          </p:cNvSpPr>
          <p:nvPr/>
        </p:nvSpPr>
        <p:spPr>
          <a:xfrm>
            <a:off x="6473952" y="367588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RPS15</a:t>
            </a:r>
          </a:p>
        </p:txBody>
      </p:sp>
      <p:sp>
        <p:nvSpPr>
          <p:cNvPr id="31" name="Rectangle 30">
            <a:extLst>
              <a:ext uri="{FF2B5EF4-FFF2-40B4-BE49-F238E27FC236}">
                <a16:creationId xmlns:a16="http://schemas.microsoft.com/office/drawing/2014/main" id="{DEF75826-B228-41E5-91FF-42A57C002E40}"/>
              </a:ext>
            </a:extLst>
          </p:cNvPr>
          <p:cNvSpPr>
            <a:spLocks noGrp="1"/>
          </p:cNvSpPr>
          <p:nvPr/>
        </p:nvSpPr>
        <p:spPr>
          <a:xfrm>
            <a:off x="7891272" y="3703320"/>
            <a:ext cx="2395728"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8A307577-F80F-46C4-8C7B-0F7979026918}"/>
              </a:ext>
            </a:extLst>
          </p:cNvPr>
          <p:cNvSpPr>
            <a:spLocks noGrp="1"/>
          </p:cNvSpPr>
          <p:nvPr/>
        </p:nvSpPr>
        <p:spPr>
          <a:xfrm>
            <a:off x="10442448" y="367588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11</a:t>
            </a:r>
          </a:p>
        </p:txBody>
      </p:sp>
      <p:sp>
        <p:nvSpPr>
          <p:cNvPr id="33" name="TextBox 32">
            <a:extLst>
              <a:ext uri="{FF2B5EF4-FFF2-40B4-BE49-F238E27FC236}">
                <a16:creationId xmlns:a16="http://schemas.microsoft.com/office/drawing/2014/main" id="{1FE6CB5A-A943-4A0E-96BC-A846C6227B91}"/>
              </a:ext>
            </a:extLst>
          </p:cNvPr>
          <p:cNvSpPr>
            <a:spLocks noGrp="1"/>
          </p:cNvSpPr>
          <p:nvPr/>
        </p:nvSpPr>
        <p:spPr>
          <a:xfrm>
            <a:off x="6473952" y="3968496"/>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RPL11</a:t>
            </a:r>
          </a:p>
        </p:txBody>
      </p:sp>
      <p:sp>
        <p:nvSpPr>
          <p:cNvPr id="34" name="Rectangle 33">
            <a:extLst>
              <a:ext uri="{FF2B5EF4-FFF2-40B4-BE49-F238E27FC236}">
                <a16:creationId xmlns:a16="http://schemas.microsoft.com/office/drawing/2014/main" id="{DB34BC49-2FF9-4221-B17C-1D5EE03703CC}"/>
              </a:ext>
            </a:extLst>
          </p:cNvPr>
          <p:cNvSpPr>
            <a:spLocks noGrp="1"/>
          </p:cNvSpPr>
          <p:nvPr/>
        </p:nvSpPr>
        <p:spPr>
          <a:xfrm>
            <a:off x="7891272" y="3995928"/>
            <a:ext cx="217793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7D89DA8B-6223-4B22-9B22-27979EC32E5A}"/>
              </a:ext>
            </a:extLst>
          </p:cNvPr>
          <p:cNvSpPr>
            <a:spLocks noGrp="1"/>
          </p:cNvSpPr>
          <p:nvPr/>
        </p:nvSpPr>
        <p:spPr>
          <a:xfrm>
            <a:off x="10442448" y="3968496"/>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10</a:t>
            </a:r>
          </a:p>
        </p:txBody>
      </p:sp>
      <p:sp>
        <p:nvSpPr>
          <p:cNvPr id="36" name="TextBox 35">
            <a:extLst>
              <a:ext uri="{FF2B5EF4-FFF2-40B4-BE49-F238E27FC236}">
                <a16:creationId xmlns:a16="http://schemas.microsoft.com/office/drawing/2014/main" id="{B9783288-FA8E-4083-980C-E5682BED9CBB}"/>
              </a:ext>
            </a:extLst>
          </p:cNvPr>
          <p:cNvSpPr>
            <a:spLocks noGrp="1"/>
          </p:cNvSpPr>
          <p:nvPr/>
        </p:nvSpPr>
        <p:spPr>
          <a:xfrm>
            <a:off x="6473952" y="4261103"/>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RPLP1</a:t>
            </a:r>
          </a:p>
        </p:txBody>
      </p:sp>
      <p:sp>
        <p:nvSpPr>
          <p:cNvPr id="37" name="Rectangle 36">
            <a:extLst>
              <a:ext uri="{FF2B5EF4-FFF2-40B4-BE49-F238E27FC236}">
                <a16:creationId xmlns:a16="http://schemas.microsoft.com/office/drawing/2014/main" id="{860394BE-0508-4B60-93FD-518C22F4517D}"/>
              </a:ext>
            </a:extLst>
          </p:cNvPr>
          <p:cNvSpPr>
            <a:spLocks noGrp="1"/>
          </p:cNvSpPr>
          <p:nvPr/>
        </p:nvSpPr>
        <p:spPr>
          <a:xfrm>
            <a:off x="7891272" y="4288536"/>
            <a:ext cx="1742347"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B2902C57-197B-4C3D-B183-C47ACEDC3831}"/>
              </a:ext>
            </a:extLst>
          </p:cNvPr>
          <p:cNvSpPr>
            <a:spLocks noGrp="1"/>
          </p:cNvSpPr>
          <p:nvPr/>
        </p:nvSpPr>
        <p:spPr>
          <a:xfrm>
            <a:off x="10442448" y="4261103"/>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8</a:t>
            </a:r>
          </a:p>
        </p:txBody>
      </p:sp>
      <p:sp>
        <p:nvSpPr>
          <p:cNvPr id="39" name="TextBox 38">
            <a:extLst>
              <a:ext uri="{FF2B5EF4-FFF2-40B4-BE49-F238E27FC236}">
                <a16:creationId xmlns:a16="http://schemas.microsoft.com/office/drawing/2014/main" id="{B893E2FF-040D-4C59-9844-FC37A83293A3}"/>
              </a:ext>
            </a:extLst>
          </p:cNvPr>
          <p:cNvSpPr>
            <a:spLocks noGrp="1"/>
          </p:cNvSpPr>
          <p:nvPr/>
        </p:nvSpPr>
        <p:spPr>
          <a:xfrm>
            <a:off x="6473952" y="4553712"/>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RPL15</a:t>
            </a:r>
          </a:p>
        </p:txBody>
      </p:sp>
      <p:sp>
        <p:nvSpPr>
          <p:cNvPr id="40" name="Rectangle 39">
            <a:extLst>
              <a:ext uri="{FF2B5EF4-FFF2-40B4-BE49-F238E27FC236}">
                <a16:creationId xmlns:a16="http://schemas.microsoft.com/office/drawing/2014/main" id="{A765CF75-CFC2-4AF8-BD8A-B53EDBF271F8}"/>
              </a:ext>
            </a:extLst>
          </p:cNvPr>
          <p:cNvSpPr>
            <a:spLocks noGrp="1"/>
          </p:cNvSpPr>
          <p:nvPr/>
        </p:nvSpPr>
        <p:spPr>
          <a:xfrm>
            <a:off x="7891272" y="4581144"/>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76F8F2DF-CA1B-42CC-9A73-753A938A556D}"/>
              </a:ext>
            </a:extLst>
          </p:cNvPr>
          <p:cNvSpPr>
            <a:spLocks noGrp="1"/>
          </p:cNvSpPr>
          <p:nvPr/>
        </p:nvSpPr>
        <p:spPr>
          <a:xfrm>
            <a:off x="10442448" y="4553712"/>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2" name="TextBox 41">
            <a:extLst>
              <a:ext uri="{FF2B5EF4-FFF2-40B4-BE49-F238E27FC236}">
                <a16:creationId xmlns:a16="http://schemas.microsoft.com/office/drawing/2014/main" id="{C612AC7A-D16F-4870-94FC-8A17EAFC29D9}"/>
              </a:ext>
            </a:extLst>
          </p:cNvPr>
          <p:cNvSpPr>
            <a:spLocks noGrp="1"/>
          </p:cNvSpPr>
          <p:nvPr/>
        </p:nvSpPr>
        <p:spPr>
          <a:xfrm>
            <a:off x="6473952" y="4846320"/>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SELENOM</a:t>
            </a:r>
          </a:p>
        </p:txBody>
      </p:sp>
      <p:sp>
        <p:nvSpPr>
          <p:cNvPr id="43" name="Rectangle 42">
            <a:extLst>
              <a:ext uri="{FF2B5EF4-FFF2-40B4-BE49-F238E27FC236}">
                <a16:creationId xmlns:a16="http://schemas.microsoft.com/office/drawing/2014/main" id="{D2AD86A1-F340-4B14-A0FC-623E225596BF}"/>
              </a:ext>
            </a:extLst>
          </p:cNvPr>
          <p:cNvSpPr>
            <a:spLocks noGrp="1"/>
          </p:cNvSpPr>
          <p:nvPr/>
        </p:nvSpPr>
        <p:spPr>
          <a:xfrm>
            <a:off x="7891272" y="4873752"/>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9B477462-606B-48D9-8DA8-22B3E45C662C}"/>
              </a:ext>
            </a:extLst>
          </p:cNvPr>
          <p:cNvSpPr>
            <a:spLocks noGrp="1"/>
          </p:cNvSpPr>
          <p:nvPr/>
        </p:nvSpPr>
        <p:spPr>
          <a:xfrm>
            <a:off x="10442448" y="4846320"/>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5" name="TextBox 44">
            <a:extLst>
              <a:ext uri="{FF2B5EF4-FFF2-40B4-BE49-F238E27FC236}">
                <a16:creationId xmlns:a16="http://schemas.microsoft.com/office/drawing/2014/main" id="{3D215224-4931-41F6-8127-BFB85EC1146D}"/>
              </a:ext>
            </a:extLst>
          </p:cNvPr>
          <p:cNvSpPr>
            <a:spLocks noGrp="1"/>
          </p:cNvSpPr>
          <p:nvPr/>
        </p:nvSpPr>
        <p:spPr>
          <a:xfrm>
            <a:off x="6473952" y="513892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SELENOW</a:t>
            </a:r>
          </a:p>
        </p:txBody>
      </p:sp>
      <p:sp>
        <p:nvSpPr>
          <p:cNvPr id="46" name="Rectangle 45">
            <a:extLst>
              <a:ext uri="{FF2B5EF4-FFF2-40B4-BE49-F238E27FC236}">
                <a16:creationId xmlns:a16="http://schemas.microsoft.com/office/drawing/2014/main" id="{2E6D6079-43B0-468C-8BD6-C0FB33E5F229}"/>
              </a:ext>
            </a:extLst>
          </p:cNvPr>
          <p:cNvSpPr>
            <a:spLocks noGrp="1"/>
          </p:cNvSpPr>
          <p:nvPr/>
        </p:nvSpPr>
        <p:spPr>
          <a:xfrm>
            <a:off x="7891272" y="5166359"/>
            <a:ext cx="1306760"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FCF83AE-E576-4AC6-B8B3-207260CA5A97}"/>
              </a:ext>
            </a:extLst>
          </p:cNvPr>
          <p:cNvSpPr>
            <a:spLocks noGrp="1"/>
          </p:cNvSpPr>
          <p:nvPr/>
        </p:nvSpPr>
        <p:spPr>
          <a:xfrm>
            <a:off x="10442448" y="513892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6</a:t>
            </a:r>
          </a:p>
        </p:txBody>
      </p:sp>
      <p:sp>
        <p:nvSpPr>
          <p:cNvPr id="48" name="TextBox 47">
            <a:extLst>
              <a:ext uri="{FF2B5EF4-FFF2-40B4-BE49-F238E27FC236}">
                <a16:creationId xmlns:a16="http://schemas.microsoft.com/office/drawing/2014/main" id="{1E742D18-C756-4BE3-951D-E47E47DE4E04}"/>
              </a:ext>
            </a:extLst>
          </p:cNvPr>
          <p:cNvSpPr>
            <a:spLocks noGrp="1"/>
          </p:cNvSpPr>
          <p:nvPr/>
        </p:nvSpPr>
        <p:spPr>
          <a:xfrm>
            <a:off x="6473952" y="5477256"/>
            <a:ext cx="4334256"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69" b="0" i="1">
                <a:solidFill>
                  <a:srgbClr val="4E5A68"/>
                </a:solidFill>
                <a:latin typeface="Arial"/>
                <a:ea typeface="Arial"/>
                <a:cs typeface="Arial"/>
              </a:rPr>
              <a:t>Counts are category presence—not independent replication or counts of KDA calls.</a:t>
            </a:r>
          </a:p>
        </p:txBody>
      </p:sp>
    </p:spTree>
    <p:extLst>
      <p:ext uri="{BB962C8B-B14F-4D97-AF65-F5344CB8AC3E}">
        <p14:creationId xmlns:p14="http://schemas.microsoft.com/office/powerpoint/2010/main" val="13446296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80D5145-8B7B-4D85-AB27-CA73D0EC15A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RPS15 recurs across 11 returned-only categories</a:t>
            </a:r>
          </a:p>
        </p:txBody>
      </p:sp>
      <p:sp>
        <p:nvSpPr>
          <p:cNvPr id="4" name="TextBox 3">
            <a:extLst>
              <a:ext uri="{FF2B5EF4-FFF2-40B4-BE49-F238E27FC236}">
                <a16:creationId xmlns:a16="http://schemas.microsoft.com/office/drawing/2014/main" id="{E09643F1-0DF0-4E7A-905C-7A370D90D80A}"/>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5" name="Rounded Rectangle 4">
            <a:extLst>
              <a:ext uri="{FF2B5EF4-FFF2-40B4-BE49-F238E27FC236}">
                <a16:creationId xmlns:a16="http://schemas.microsoft.com/office/drawing/2014/main" id="{326A8434-79BA-4E7F-86B9-4CC737E0D66C}"/>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2" name="Uniform-blue bar chart of the twenty ROSMAP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7" name="Rounded Rectangle 6">
            <a:extLst>
              <a:ext uri="{FF2B5EF4-FFF2-40B4-BE49-F238E27FC236}">
                <a16:creationId xmlns:a16="http://schemas.microsoft.com/office/drawing/2014/main" id="{568B3E97-0DA5-4527-8636-19A50D6F2A3D}"/>
              </a:ext>
            </a:extLst>
          </p:cNvPr>
          <p:cNvSpPr>
            <a:spLocks noGrp="1"/>
          </p:cNvSpPr>
          <p:nvPr/>
        </p:nvSpPr>
        <p:spPr>
          <a:xfrm>
            <a:off x="7232904" y="1298448"/>
            <a:ext cx="4343400" cy="45537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F930DCB1-3CD0-45D3-8567-E38D0A2A5882}"/>
              </a:ext>
            </a:extLst>
          </p:cNvPr>
          <p:cNvSpPr>
            <a:spLocks noGrp="1"/>
          </p:cNvSpPr>
          <p:nvPr/>
        </p:nvSpPr>
        <p:spPr>
          <a:xfrm>
            <a:off x="7516368" y="1618488"/>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531F2DC-A921-4954-BFC4-3DB577D19584}"/>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10" name="Oval 9">
            <a:extLst>
              <a:ext uri="{FF2B5EF4-FFF2-40B4-BE49-F238E27FC236}">
                <a16:creationId xmlns:a16="http://schemas.microsoft.com/office/drawing/2014/main" id="{023F2F40-FB35-4767-8BCA-94639FED2743}"/>
              </a:ext>
            </a:extLst>
          </p:cNvPr>
          <p:cNvSpPr>
            <a:spLocks noGrp="1"/>
          </p:cNvSpPr>
          <p:nvPr/>
        </p:nvSpPr>
        <p:spPr>
          <a:xfrm>
            <a:off x="7525512" y="22128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8B0313-B8B7-42BF-A686-C63F061ED88E}"/>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4" name="Oval 13">
            <a:extLst>
              <a:ext uri="{FF2B5EF4-FFF2-40B4-BE49-F238E27FC236}">
                <a16:creationId xmlns:a16="http://schemas.microsoft.com/office/drawing/2014/main" id="{7612F583-FF86-4B89-9757-930CFF01DE40}"/>
              </a:ext>
            </a:extLst>
          </p:cNvPr>
          <p:cNvSpPr>
            <a:spLocks noGrp="1"/>
          </p:cNvSpPr>
          <p:nvPr/>
        </p:nvSpPr>
        <p:spPr>
          <a:xfrm>
            <a:off x="7525512" y="27706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928DA47-67C4-474B-A326-08F4822AB0BC}"/>
              </a:ext>
            </a:extLst>
          </p:cNvPr>
          <p:cNvSpPr>
            <a:spLocks noGrp="1"/>
          </p:cNvSpPr>
          <p:nvPr/>
        </p:nvSpPr>
        <p:spPr>
          <a:xfrm>
            <a:off x="7699248" y="2642615"/>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RPS15: 11 categories, 6 sex/apoe groups, 4 bayesian networks.</a:t>
            </a:r>
          </a:p>
        </p:txBody>
      </p:sp>
      <p:sp>
        <p:nvSpPr>
          <p:cNvPr id="16" name="Oval 15">
            <a:extLst>
              <a:ext uri="{FF2B5EF4-FFF2-40B4-BE49-F238E27FC236}">
                <a16:creationId xmlns:a16="http://schemas.microsoft.com/office/drawing/2014/main" id="{088D031B-E132-4BC1-9CEC-0301C7DB254C}"/>
              </a:ext>
            </a:extLst>
          </p:cNvPr>
          <p:cNvSpPr>
            <a:spLocks noGrp="1"/>
          </p:cNvSpPr>
          <p:nvPr/>
        </p:nvSpPr>
        <p:spPr>
          <a:xfrm>
            <a:off x="7525512" y="3328415"/>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0A554CA-AC15-464E-B7AD-2C92321C7AB5}"/>
              </a:ext>
            </a:extLst>
          </p:cNvPr>
          <p:cNvSpPr>
            <a:spLocks noGrp="1"/>
          </p:cNvSpPr>
          <p:nvPr/>
        </p:nvSpPr>
        <p:spPr>
          <a:xfrm>
            <a:off x="7699248" y="3200399"/>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RPL11: 10 categories, 6 sex/apoe groups, 4 bayesian networks.</a:t>
            </a:r>
          </a:p>
        </p:txBody>
      </p:sp>
    </p:spTree>
    <p:extLst>
      <p:ext uri="{BB962C8B-B14F-4D97-AF65-F5344CB8AC3E}">
        <p14:creationId xmlns:p14="http://schemas.microsoft.com/office/powerpoint/2010/main" val="15691138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CD75244-BEFA-4D8B-B23E-F54D1340600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Top five: 123 non-MitoCarta entries across 29 categories</a:t>
            </a:r>
          </a:p>
        </p:txBody>
      </p:sp>
      <p:pic>
        <p:nvPicPr>
          <p:cNvPr id="6" name="ROSMAP top-five non-MT key drivers with aligned sex rows, broad-cell colors, score definition, and total category gene counts"/>
          <p:cNvPicPr>
            <a:picLocks noChangeAspect="1"/>
          </p:cNvPicPr>
          <p:nvPr/>
        </p:nvPicPr>
        <p:blipFill>
          <a:blip r:embed="rId3"/>
          <a:stretch>
            <a:fillRect/>
          </a:stretch>
        </p:blipFill>
        <p:spPr>
          <a:xfrm>
            <a:off x="612648" y="795528"/>
            <a:ext cx="10972800" cy="5971032"/>
          </a:xfrm>
          <a:prstGeom prst="rect">
            <a:avLst/>
          </a:prstGeom>
        </p:spPr>
      </p:pic>
    </p:spTree>
    <p:extLst>
      <p:ext uri="{BB962C8B-B14F-4D97-AF65-F5344CB8AC3E}">
        <p14:creationId xmlns:p14="http://schemas.microsoft.com/office/powerpoint/2010/main" val="768081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EECD5F-43AF-429F-99A6-8BCC0CC0AAB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excitatory neurons: genes returned from KDA calls</a:t>
            </a:r>
          </a:p>
        </p:txBody>
      </p:sp>
      <p:sp>
        <p:nvSpPr>
          <p:cNvPr id="3" name="TextBox 2">
            <a:extLst>
              <a:ext uri="{FF2B5EF4-FFF2-40B4-BE49-F238E27FC236}">
                <a16:creationId xmlns:a16="http://schemas.microsoft.com/office/drawing/2014/main" id="{F419552D-EF44-456A-82C8-09F89FCC75A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84 unique non-MitoCarta genes across 153 gene × category combinations; columns are ordered by recurrence, then alphabetically.</a:t>
            </a:r>
          </a:p>
        </p:txBody>
      </p:sp>
      <p:pic>
        <p:nvPicPr>
          <p:cNvPr id="7" name="ROSMAP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306417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7AB68E-ADB7-4C21-9795-C3B8768F454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inhibitory neurons: genes returned from KDA calls</a:t>
            </a:r>
          </a:p>
        </p:txBody>
      </p:sp>
      <p:sp>
        <p:nvSpPr>
          <p:cNvPr id="3" name="TextBox 2">
            <a:extLst>
              <a:ext uri="{FF2B5EF4-FFF2-40B4-BE49-F238E27FC236}">
                <a16:creationId xmlns:a16="http://schemas.microsoft.com/office/drawing/2014/main" id="{E90E3D63-A248-47CC-9F22-AAAC4D57896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110 unique non-MitoCarta genes across 146 gene × category combinations; columns are ordered by recurrence, then alphabetically.</a:t>
            </a:r>
          </a:p>
        </p:txBody>
      </p:sp>
      <p:pic>
        <p:nvPicPr>
          <p:cNvPr id="7" name="ROSMAP inhibi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508941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B812381-4105-4451-9E9A-6D56B5685FD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astrocytes: genes returned from KDA calls</a:t>
            </a:r>
          </a:p>
        </p:txBody>
      </p:sp>
      <p:sp>
        <p:nvSpPr>
          <p:cNvPr id="3" name="TextBox 2">
            <a:extLst>
              <a:ext uri="{FF2B5EF4-FFF2-40B4-BE49-F238E27FC236}">
                <a16:creationId xmlns:a16="http://schemas.microsoft.com/office/drawing/2014/main" id="{009EB049-383F-4285-97AC-446DA36958E2}"/>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21 unique non-MitoCarta genes across 32 gene × category combinations; columns are ordered by recurrence, then alphabetically.</a:t>
            </a:r>
          </a:p>
        </p:txBody>
      </p:sp>
      <p:pic>
        <p:nvPicPr>
          <p:cNvPr id="7" name="ROSMAP astrocyte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1169399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87EF32-2793-460B-8C1D-32D0574BC4C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OPCs: genes returned from KDA calls</a:t>
            </a:r>
          </a:p>
        </p:txBody>
      </p:sp>
      <p:sp>
        <p:nvSpPr>
          <p:cNvPr id="3" name="TextBox 2">
            <a:extLst>
              <a:ext uri="{FF2B5EF4-FFF2-40B4-BE49-F238E27FC236}">
                <a16:creationId xmlns:a16="http://schemas.microsoft.com/office/drawing/2014/main" id="{1928DD11-801D-4409-891E-FA749AC96A4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18 unique non-MitoCarta genes across 21 gene × category combinations; columns are ordered by recurrence, then alphabetically.</a:t>
            </a:r>
          </a:p>
        </p:txBody>
      </p:sp>
      <p:pic>
        <p:nvPicPr>
          <p:cNvPr id="7" name="ROSMAP OPC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852401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569C9E-D5CE-444A-96FB-F4D407E28AC3}"/>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9E73"/>
                </a:solidFill>
                <a:latin typeface="Arial"/>
                <a:ea typeface="Arial"/>
                <a:cs typeface="Arial"/>
              </a:rPr>
              <a:t>PART 5</a:t>
            </a:r>
          </a:p>
        </p:txBody>
      </p:sp>
      <p:sp>
        <p:nvSpPr>
          <p:cNvPr id="3" name="Rectangle 2">
            <a:extLst>
              <a:ext uri="{FF2B5EF4-FFF2-40B4-BE49-F238E27FC236}">
                <a16:creationId xmlns:a16="http://schemas.microsoft.com/office/drawing/2014/main" id="{F2BA23F8-CF15-4B72-8BB2-D57E6CA01661}"/>
              </a:ext>
            </a:extLst>
          </p:cNvPr>
          <p:cNvSpPr>
            <a:spLocks noGrp="1"/>
          </p:cNvSpPr>
          <p:nvPr/>
        </p:nvSpPr>
        <p:spPr>
          <a:xfrm>
            <a:off x="713232" y="1152144"/>
            <a:ext cx="91440" cy="217627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3DC0AD6-4299-4D0F-961F-96F0FB854F2D}"/>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Validation with SEA-AD</a:t>
            </a:r>
          </a:p>
        </p:txBody>
      </p:sp>
      <p:sp>
        <p:nvSpPr>
          <p:cNvPr id="6" name="Rounded Rectangle 5">
            <a:extLst>
              <a:ext uri="{FF2B5EF4-FFF2-40B4-BE49-F238E27FC236}">
                <a16:creationId xmlns:a16="http://schemas.microsoft.com/office/drawing/2014/main" id="{F0D7FE17-E245-404D-80E1-239C6047FE4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3251616-1E09-4A84-857B-CC40EAF794C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9E73"/>
                </a:solidFill>
                <a:latin typeface="Arial"/>
                <a:ea typeface="Arial"/>
                <a:cs typeface="Arial"/>
              </a:rPr>
              <a:t>IN THIS PART</a:t>
            </a:r>
          </a:p>
        </p:txBody>
      </p:sp>
      <p:sp>
        <p:nvSpPr>
          <p:cNvPr id="8" name="Oval 7">
            <a:extLst>
              <a:ext uri="{FF2B5EF4-FFF2-40B4-BE49-F238E27FC236}">
                <a16:creationId xmlns:a16="http://schemas.microsoft.com/office/drawing/2014/main" id="{17E07A8E-BBA6-4DDE-8AF7-797D7EF21C77}"/>
              </a:ext>
            </a:extLst>
          </p:cNvPr>
          <p:cNvSpPr>
            <a:spLocks noGrp="1"/>
          </p:cNvSpPr>
          <p:nvPr/>
        </p:nvSpPr>
        <p:spPr>
          <a:xfrm>
            <a:off x="9198864" y="2039112"/>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27F1BCE-39EA-40B8-8D6A-32B1CFF4BBA0}"/>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7E0B846-5D25-4AAF-820D-ADE26EB228EA}"/>
              </a:ext>
            </a:extLst>
          </p:cNvPr>
          <p:cNvSpPr>
            <a:spLocks noGrp="1"/>
          </p:cNvSpPr>
          <p:nvPr/>
        </p:nvSpPr>
        <p:spPr>
          <a:xfrm>
            <a:off x="9628632" y="2011680"/>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25BC35C0-8EB4-4CB9-B6DC-12707E7E0DCA}"/>
              </a:ext>
            </a:extLst>
          </p:cNvPr>
          <p:cNvSpPr>
            <a:spLocks noGrp="1"/>
          </p:cNvSpPr>
          <p:nvPr/>
        </p:nvSpPr>
        <p:spPr>
          <a:xfrm>
            <a:off x="9198864" y="2788920"/>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3E593C-CE4C-44A9-AA30-21B82C7AFD46}"/>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557AEFD-363D-42FB-B1C6-16E766E0557D}"/>
              </a:ext>
            </a:extLst>
          </p:cNvPr>
          <p:cNvSpPr>
            <a:spLocks noGrp="1"/>
          </p:cNvSpPr>
          <p:nvPr/>
        </p:nvSpPr>
        <p:spPr>
          <a:xfrm>
            <a:off x="9628632" y="276148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a:ext uri="{FF2B5EF4-FFF2-40B4-BE49-F238E27FC236}">
                <a16:creationId xmlns:a16="http://schemas.microsoft.com/office/drawing/2014/main" id="{76022DFA-4C8F-40E9-AEFC-D847CF926B92}"/>
              </a:ext>
            </a:extLst>
          </p:cNvPr>
          <p:cNvSpPr>
            <a:spLocks noGrp="1"/>
          </p:cNvSpPr>
          <p:nvPr/>
        </p:nvSpPr>
        <p:spPr>
          <a:xfrm>
            <a:off x="9198864" y="3538727"/>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8763030-A0D4-403C-B577-1D252BB528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A043817-07B6-4981-9CE4-DEAE214BE66C}"/>
              </a:ext>
            </a:extLst>
          </p:cNvPr>
          <p:cNvSpPr>
            <a:spLocks noGrp="1"/>
          </p:cNvSpPr>
          <p:nvPr/>
        </p:nvSpPr>
        <p:spPr>
          <a:xfrm>
            <a:off x="9628632" y="3511296"/>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674AE4D7-1D34-4866-989F-DE4C41BF6661}"/>
              </a:ext>
            </a:extLst>
          </p:cNvPr>
          <p:cNvSpPr>
            <a:spLocks noGrp="1"/>
          </p:cNvSpPr>
          <p:nvPr/>
        </p:nvSpPr>
        <p:spPr>
          <a:xfrm>
            <a:off x="9198864" y="4288536"/>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0DB2C69-CC33-4708-BF6C-708EE3B38B8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44C318C-EA1D-4BAC-ADDA-C0B26C695230}"/>
              </a:ext>
            </a:extLst>
          </p:cNvPr>
          <p:cNvSpPr>
            <a:spLocks noGrp="1"/>
          </p:cNvSpPr>
          <p:nvPr/>
        </p:nvSpPr>
        <p:spPr>
          <a:xfrm>
            <a:off x="9628632" y="4261104"/>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1063751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820217C-C0C2-5165-22E5-F8E5797B0969}"/>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SEA-AD</a:t>
            </a:r>
          </a:p>
        </p:txBody>
      </p:sp>
      <p:sp>
        <p:nvSpPr>
          <p:cNvPr id="4" name="TextBox 3">
            <a:extLst>
              <a:ext uri="{FF2B5EF4-FFF2-40B4-BE49-F238E27FC236}">
                <a16:creationId xmlns:a16="http://schemas.microsoft.com/office/drawing/2014/main" id="{A1C4930B-8D6F-B90D-804F-1BE1686DEDF9}"/>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23" name="Rounded Rectangle 22">
            <a:extLst>
              <a:ext uri="{FF2B5EF4-FFF2-40B4-BE49-F238E27FC236}">
                <a16:creationId xmlns:a16="http://schemas.microsoft.com/office/drawing/2014/main" id="{F20FD518-1F4A-331F-FBD2-F57F5FAA0AAD}"/>
              </a:ext>
            </a:extLst>
          </p:cNvPr>
          <p:cNvSpPr>
            <a:spLocks noGrp="1"/>
          </p:cNvSpPr>
          <p:nvPr/>
        </p:nvSpPr>
        <p:spPr>
          <a:xfrm>
            <a:off x="3127683" y="1430818"/>
            <a:ext cx="5358384" cy="43251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DAFDBE9E-6ABC-4DEF-4205-F1E82872DEDF}"/>
              </a:ext>
            </a:extLst>
          </p:cNvPr>
          <p:cNvSpPr>
            <a:spLocks noGrp="1"/>
          </p:cNvSpPr>
          <p:nvPr/>
        </p:nvSpPr>
        <p:spPr>
          <a:xfrm>
            <a:off x="3411147" y="1723426"/>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9E73"/>
                </a:solidFill>
                <a:latin typeface="Arial"/>
                <a:ea typeface="Arial"/>
                <a:cs typeface="Arial"/>
              </a:rPr>
              <a:t>SEA-AD IS FOR VALIDATION</a:t>
            </a:r>
          </a:p>
        </p:txBody>
      </p:sp>
      <p:sp>
        <p:nvSpPr>
          <p:cNvPr id="25" name="TextBox 24">
            <a:extLst>
              <a:ext uri="{FF2B5EF4-FFF2-40B4-BE49-F238E27FC236}">
                <a16:creationId xmlns:a16="http://schemas.microsoft.com/office/drawing/2014/main" id="{C08A9B8D-DCB8-F1E9-92CC-8909156FCDDF}"/>
              </a:ext>
            </a:extLst>
          </p:cNvPr>
          <p:cNvSpPr>
            <a:spLocks noGrp="1"/>
          </p:cNvSpPr>
          <p:nvPr/>
        </p:nvSpPr>
        <p:spPr>
          <a:xfrm>
            <a:off x="3411147" y="2034322"/>
            <a:ext cx="452628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Do the same genes returned from KDA calls recur in SEA-AD?</a:t>
            </a:r>
          </a:p>
        </p:txBody>
      </p:sp>
      <p:sp>
        <p:nvSpPr>
          <p:cNvPr id="26" name="Rounded Rectangle 25">
            <a:extLst>
              <a:ext uri="{FF2B5EF4-FFF2-40B4-BE49-F238E27FC236}">
                <a16:creationId xmlns:a16="http://schemas.microsoft.com/office/drawing/2014/main" id="{0B078D71-6BC9-1CEF-1971-223819588041}"/>
              </a:ext>
            </a:extLst>
          </p:cNvPr>
          <p:cNvSpPr>
            <a:spLocks noGrp="1"/>
          </p:cNvSpPr>
          <p:nvPr/>
        </p:nvSpPr>
        <p:spPr>
          <a:xfrm>
            <a:off x="3411147"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64EEDEE-DC0D-59BD-5FB8-DA778676454A}"/>
              </a:ext>
            </a:extLst>
          </p:cNvPr>
          <p:cNvSpPr>
            <a:spLocks noGrp="1"/>
          </p:cNvSpPr>
          <p:nvPr/>
        </p:nvSpPr>
        <p:spPr>
          <a:xfrm>
            <a:off x="3557451"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774</a:t>
            </a:r>
          </a:p>
        </p:txBody>
      </p:sp>
      <p:sp>
        <p:nvSpPr>
          <p:cNvPr id="28" name="TextBox 27">
            <a:extLst>
              <a:ext uri="{FF2B5EF4-FFF2-40B4-BE49-F238E27FC236}">
                <a16:creationId xmlns:a16="http://schemas.microsoft.com/office/drawing/2014/main" id="{5CE77759-350E-C5E6-AFA3-99091A03E630}"/>
              </a:ext>
            </a:extLst>
          </p:cNvPr>
          <p:cNvSpPr>
            <a:spLocks noGrp="1"/>
          </p:cNvSpPr>
          <p:nvPr/>
        </p:nvSpPr>
        <p:spPr>
          <a:xfrm>
            <a:off x="3557451" y="3341914"/>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29" name="Rounded Rectangle 28">
            <a:extLst>
              <a:ext uri="{FF2B5EF4-FFF2-40B4-BE49-F238E27FC236}">
                <a16:creationId xmlns:a16="http://schemas.microsoft.com/office/drawing/2014/main" id="{4400346E-7B11-A714-29D9-69BD721FA136}"/>
              </a:ext>
            </a:extLst>
          </p:cNvPr>
          <p:cNvSpPr>
            <a:spLocks noGrp="1"/>
          </p:cNvSpPr>
          <p:nvPr/>
        </p:nvSpPr>
        <p:spPr>
          <a:xfrm>
            <a:off x="4993058"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C2547233-A652-C0AF-EDEB-2732D1A4DBE5}"/>
              </a:ext>
            </a:extLst>
          </p:cNvPr>
          <p:cNvSpPr>
            <a:spLocks noGrp="1"/>
          </p:cNvSpPr>
          <p:nvPr/>
        </p:nvSpPr>
        <p:spPr>
          <a:xfrm>
            <a:off x="5139362"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22</a:t>
            </a:r>
          </a:p>
        </p:txBody>
      </p:sp>
      <p:sp>
        <p:nvSpPr>
          <p:cNvPr id="31" name="TextBox 30">
            <a:extLst>
              <a:ext uri="{FF2B5EF4-FFF2-40B4-BE49-F238E27FC236}">
                <a16:creationId xmlns:a16="http://schemas.microsoft.com/office/drawing/2014/main" id="{37BF3831-B296-5FA6-E586-B64CB5A56F02}"/>
              </a:ext>
            </a:extLst>
          </p:cNvPr>
          <p:cNvSpPr>
            <a:spLocks noGrp="1"/>
          </p:cNvSpPr>
          <p:nvPr/>
        </p:nvSpPr>
        <p:spPr>
          <a:xfrm>
            <a:off x="5139362" y="3341914"/>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32" name="Rounded Rectangle 31">
            <a:extLst>
              <a:ext uri="{FF2B5EF4-FFF2-40B4-BE49-F238E27FC236}">
                <a16:creationId xmlns:a16="http://schemas.microsoft.com/office/drawing/2014/main" id="{6961CA91-699A-CD79-78FA-A69D94C8C539}"/>
              </a:ext>
            </a:extLst>
          </p:cNvPr>
          <p:cNvSpPr>
            <a:spLocks noGrp="1"/>
          </p:cNvSpPr>
          <p:nvPr/>
        </p:nvSpPr>
        <p:spPr>
          <a:xfrm>
            <a:off x="6574971"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0E527466-4679-43D5-549D-87E4FEF6E2F4}"/>
              </a:ext>
            </a:extLst>
          </p:cNvPr>
          <p:cNvSpPr>
            <a:spLocks noGrp="1"/>
          </p:cNvSpPr>
          <p:nvPr/>
        </p:nvSpPr>
        <p:spPr>
          <a:xfrm>
            <a:off x="6721275"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34" name="TextBox 33">
            <a:extLst>
              <a:ext uri="{FF2B5EF4-FFF2-40B4-BE49-F238E27FC236}">
                <a16:creationId xmlns:a16="http://schemas.microsoft.com/office/drawing/2014/main" id="{EDC5CEC5-620B-4088-6D42-A47D837F8D78}"/>
              </a:ext>
            </a:extLst>
          </p:cNvPr>
          <p:cNvSpPr>
            <a:spLocks noGrp="1"/>
          </p:cNvSpPr>
          <p:nvPr/>
        </p:nvSpPr>
        <p:spPr>
          <a:xfrm>
            <a:off x="6721275" y="3341914"/>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35" name="Oval 34">
            <a:extLst>
              <a:ext uri="{FF2B5EF4-FFF2-40B4-BE49-F238E27FC236}">
                <a16:creationId xmlns:a16="http://schemas.microsoft.com/office/drawing/2014/main" id="{567ADC53-49F7-0D93-2D5C-98E88AC7F699}"/>
              </a:ext>
            </a:extLst>
          </p:cNvPr>
          <p:cNvSpPr>
            <a:spLocks noGrp="1"/>
          </p:cNvSpPr>
          <p:nvPr/>
        </p:nvSpPr>
        <p:spPr>
          <a:xfrm>
            <a:off x="3420291" y="419415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FD250839-97A3-EB02-9405-2850B7C3014C}"/>
              </a:ext>
            </a:extLst>
          </p:cNvPr>
          <p:cNvSpPr>
            <a:spLocks noGrp="1"/>
          </p:cNvSpPr>
          <p:nvPr/>
        </p:nvSpPr>
        <p:spPr>
          <a:xfrm>
            <a:off x="3594027" y="4100866"/>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Uses SEA-AD-specific Bayesian networks.</a:t>
            </a:r>
          </a:p>
        </p:txBody>
      </p:sp>
      <p:sp>
        <p:nvSpPr>
          <p:cNvPr id="37" name="Oval 36">
            <a:extLst>
              <a:ext uri="{FF2B5EF4-FFF2-40B4-BE49-F238E27FC236}">
                <a16:creationId xmlns:a16="http://schemas.microsoft.com/office/drawing/2014/main" id="{C5D3AF96-1713-66D2-750A-9E07D3BF2492}"/>
              </a:ext>
            </a:extLst>
          </p:cNvPr>
          <p:cNvSpPr>
            <a:spLocks noGrp="1"/>
          </p:cNvSpPr>
          <p:nvPr/>
        </p:nvSpPr>
        <p:spPr>
          <a:xfrm>
            <a:off x="3420291" y="462149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FCD02414-1091-B30C-75CC-F2C2C3983D92}"/>
              </a:ext>
            </a:extLst>
          </p:cNvPr>
          <p:cNvSpPr>
            <a:spLocks noGrp="1"/>
          </p:cNvSpPr>
          <p:nvPr/>
        </p:nvSpPr>
        <p:spPr>
          <a:xfrm>
            <a:off x="3594027" y="4539777"/>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Final 44 combinations represent 43 unique genes in 5 categories</a:t>
            </a:r>
          </a:p>
        </p:txBody>
      </p:sp>
      <p:sp>
        <p:nvSpPr>
          <p:cNvPr id="39" name="Oval 38">
            <a:extLst>
              <a:ext uri="{FF2B5EF4-FFF2-40B4-BE49-F238E27FC236}">
                <a16:creationId xmlns:a16="http://schemas.microsoft.com/office/drawing/2014/main" id="{79E8A492-0E0F-E92C-8D7C-1EDE7DD70821}"/>
              </a:ext>
            </a:extLst>
          </p:cNvPr>
          <p:cNvSpPr>
            <a:spLocks noGrp="1"/>
          </p:cNvSpPr>
          <p:nvPr/>
        </p:nvSpPr>
        <p:spPr>
          <a:xfrm>
            <a:off x="3420291" y="5066196"/>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 name="TextBox 1">
            <a:extLst>
              <a:ext uri="{FF2B5EF4-FFF2-40B4-BE49-F238E27FC236}">
                <a16:creationId xmlns:a16="http://schemas.microsoft.com/office/drawing/2014/main" id="{4F058FC1-77DB-E3CD-AAE6-D629960B57E1}"/>
              </a:ext>
            </a:extLst>
          </p:cNvPr>
          <p:cNvSpPr>
            <a:spLocks noGrp="1"/>
          </p:cNvSpPr>
          <p:nvPr/>
        </p:nvSpPr>
        <p:spPr>
          <a:xfrm>
            <a:off x="3601744" y="4993116"/>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20 of 22 KDA calls are M_e33.</a:t>
            </a:r>
          </a:p>
        </p:txBody>
      </p:sp>
    </p:spTree>
    <p:extLst>
      <p:ext uri="{BB962C8B-B14F-4D97-AF65-F5344CB8AC3E}">
        <p14:creationId xmlns:p14="http://schemas.microsoft.com/office/powerpoint/2010/main" val="26908292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A731D2A-B116-490A-A83D-7899BE439E0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129 SEA-AD supertypes create 774 planned contrasts</a:t>
            </a:r>
          </a:p>
        </p:txBody>
      </p:sp>
      <p:sp>
        <p:nvSpPr>
          <p:cNvPr id="3" name="TextBox 2">
            <a:extLst>
              <a:ext uri="{FF2B5EF4-FFF2-40B4-BE49-F238E27FC236}">
                <a16:creationId xmlns:a16="http://schemas.microsoft.com/office/drawing/2014/main" id="{0F5EC579-272D-4700-8B38-0263DDE652E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MitoCarta MT DEG query per supertype × sex/APOE contrast.</a:t>
            </a:r>
          </a:p>
        </p:txBody>
      </p:sp>
      <p:sp>
        <p:nvSpPr>
          <p:cNvPr id="4" name="Rounded Rectangle 3">
            <a:extLst>
              <a:ext uri="{FF2B5EF4-FFF2-40B4-BE49-F238E27FC236}">
                <a16:creationId xmlns:a16="http://schemas.microsoft.com/office/drawing/2014/main" id="{756EB20F-A424-44D2-962B-C48792D776EA}"/>
              </a:ext>
            </a:extLst>
          </p:cNvPr>
          <p:cNvSpPr>
            <a:spLocks noGrp="1"/>
          </p:cNvSpPr>
          <p:nvPr/>
        </p:nvSpPr>
        <p:spPr>
          <a:xfrm>
            <a:off x="640080" y="1344168"/>
            <a:ext cx="3383280" cy="119786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84AFF86-E79D-4767-A7FA-9893CC7D90C1}"/>
              </a:ext>
            </a:extLst>
          </p:cNvPr>
          <p:cNvSpPr>
            <a:spLocks noGrp="1"/>
          </p:cNvSpPr>
          <p:nvPr/>
        </p:nvSpPr>
        <p:spPr>
          <a:xfrm>
            <a:off x="868680" y="1591056"/>
            <a:ext cx="2926080"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129 supertypes</a:t>
            </a:r>
          </a:p>
        </p:txBody>
      </p:sp>
      <p:sp>
        <p:nvSpPr>
          <p:cNvPr id="6" name="TextBox 5">
            <a:extLst>
              <a:ext uri="{FF2B5EF4-FFF2-40B4-BE49-F238E27FC236}">
                <a16:creationId xmlns:a16="http://schemas.microsoft.com/office/drawing/2014/main" id="{7E596793-2A55-49C5-B984-C2CFA9EF73FA}"/>
              </a:ext>
            </a:extLst>
          </p:cNvPr>
          <p:cNvSpPr>
            <a:spLocks noGrp="1"/>
          </p:cNvSpPr>
          <p:nvPr/>
        </p:nvSpPr>
        <p:spPr>
          <a:xfrm>
            <a:off x="868680"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00684D"/>
                </a:solidFill>
                <a:latin typeface="Arial"/>
                <a:ea typeface="Arial"/>
                <a:cs typeface="Arial"/>
              </a:rPr>
              <a:t>× 6 groups = 774 contrasts</a:t>
            </a:r>
          </a:p>
        </p:txBody>
      </p:sp>
      <p:sp>
        <p:nvSpPr>
          <p:cNvPr id="7" name="Rounded Rectangle 6">
            <a:extLst>
              <a:ext uri="{FF2B5EF4-FFF2-40B4-BE49-F238E27FC236}">
                <a16:creationId xmlns:a16="http://schemas.microsoft.com/office/drawing/2014/main" id="{0B49FCD5-4828-4431-A44D-718D46EF7FC1}"/>
              </a:ext>
            </a:extLst>
          </p:cNvPr>
          <p:cNvSpPr>
            <a:spLocks noGrp="1"/>
          </p:cNvSpPr>
          <p:nvPr/>
        </p:nvSpPr>
        <p:spPr>
          <a:xfrm>
            <a:off x="4407408" y="1344168"/>
            <a:ext cx="3383280" cy="1197864"/>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9212BA46-0D7D-4D46-8BF1-D8823CBDDB3E}"/>
              </a:ext>
            </a:extLst>
          </p:cNvPr>
          <p:cNvSpPr>
            <a:spLocks noGrp="1"/>
          </p:cNvSpPr>
          <p:nvPr/>
        </p:nvSpPr>
        <p:spPr>
          <a:xfrm>
            <a:off x="4636008" y="1591056"/>
            <a:ext cx="2926080" cy="347788"/>
          </a:xfrm>
          <a:prstGeom prst="rect">
            <a:avLst/>
          </a:prstGeom>
          <a:noFill/>
        </p:spPr>
        <p:txBody>
          <a:bodyPr wrap="square" lIns="27432" tIns="27432" rIns="27432" bIns="27432" anchor="t">
            <a:spAutoFit/>
          </a:bodyPr>
          <a:lstStyle/>
          <a:p>
            <a:pPr algn="ctr">
              <a:buNone/>
            </a:pPr>
            <a:r>
              <a:rPr sz="1900" b="1" i="0">
                <a:solidFill>
                  <a:srgbClr val="0F233D"/>
                </a:solidFill>
                <a:latin typeface="Arial"/>
                <a:ea typeface="Arial"/>
                <a:cs typeface="Arial"/>
              </a:rPr>
              <a:t>774 </a:t>
            </a:r>
            <a:r>
              <a:rPr sz="1900" b="1">
                <a:solidFill>
                  <a:srgbClr val="0F233D"/>
                </a:solidFill>
                <a:latin typeface="Arial"/>
                <a:ea typeface="Arial"/>
                <a:cs typeface="Arial"/>
              </a:rPr>
              <a:t>DEG contrasts</a:t>
            </a:r>
            <a:endParaRPr sz="1900" b="1" i="0">
              <a:solidFill>
                <a:srgbClr val="0F233D"/>
              </a:solidFill>
              <a:latin typeface="Arial"/>
              <a:ea typeface="Arial"/>
              <a:cs typeface="Arial"/>
            </a:endParaRPr>
          </a:p>
        </p:txBody>
      </p:sp>
      <p:sp>
        <p:nvSpPr>
          <p:cNvPr id="9" name="TextBox 8">
            <a:extLst>
              <a:ext uri="{FF2B5EF4-FFF2-40B4-BE49-F238E27FC236}">
                <a16:creationId xmlns:a16="http://schemas.microsoft.com/office/drawing/2014/main" id="{48F6E372-621D-414C-B37C-B22565F0A23B}"/>
              </a:ext>
            </a:extLst>
          </p:cNvPr>
          <p:cNvSpPr>
            <a:spLocks noGrp="1"/>
          </p:cNvSpPr>
          <p:nvPr/>
        </p:nvSpPr>
        <p:spPr>
          <a:xfrm>
            <a:off x="4636008"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56B4E9"/>
                </a:solidFill>
                <a:latin typeface="Arial"/>
                <a:ea typeface="Arial"/>
                <a:cs typeface="Arial"/>
              </a:rPr>
              <a:t>one query per contrast</a:t>
            </a:r>
          </a:p>
        </p:txBody>
      </p:sp>
      <p:sp>
        <p:nvSpPr>
          <p:cNvPr id="10" name="Rounded Rectangle 9">
            <a:extLst>
              <a:ext uri="{FF2B5EF4-FFF2-40B4-BE49-F238E27FC236}">
                <a16:creationId xmlns:a16="http://schemas.microsoft.com/office/drawing/2014/main" id="{0587407E-5675-491D-84B8-41C2C270987A}"/>
              </a:ext>
            </a:extLst>
          </p:cNvPr>
          <p:cNvSpPr>
            <a:spLocks noGrp="1"/>
          </p:cNvSpPr>
          <p:nvPr/>
        </p:nvSpPr>
        <p:spPr>
          <a:xfrm>
            <a:off x="8174736" y="1344168"/>
            <a:ext cx="3383280" cy="1197864"/>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85475A39-8B85-46D8-907E-216127FB6D36}"/>
              </a:ext>
            </a:extLst>
          </p:cNvPr>
          <p:cNvSpPr>
            <a:spLocks noGrp="1"/>
          </p:cNvSpPr>
          <p:nvPr/>
        </p:nvSpPr>
        <p:spPr>
          <a:xfrm>
            <a:off x="8403336" y="1591056"/>
            <a:ext cx="2926080"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22 KDA calls</a:t>
            </a:r>
          </a:p>
        </p:txBody>
      </p:sp>
      <p:sp>
        <p:nvSpPr>
          <p:cNvPr id="12" name="TextBox 11">
            <a:extLst>
              <a:ext uri="{FF2B5EF4-FFF2-40B4-BE49-F238E27FC236}">
                <a16:creationId xmlns:a16="http://schemas.microsoft.com/office/drawing/2014/main" id="{16511654-4C4F-4768-A8F3-B6513E48A740}"/>
              </a:ext>
            </a:extLst>
          </p:cNvPr>
          <p:cNvSpPr>
            <a:spLocks noGrp="1"/>
          </p:cNvSpPr>
          <p:nvPr/>
        </p:nvSpPr>
        <p:spPr>
          <a:xfrm>
            <a:off x="8403336" y="1993392"/>
            <a:ext cx="2926080" cy="43396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895600"/>
                </a:solidFill>
                <a:latin typeface="Arial"/>
                <a:ea typeface="Arial"/>
                <a:cs typeface="Arial"/>
              </a:rPr>
              <a:t>All valid DEG contrast and number of </a:t>
            </a:r>
            <a:r>
              <a:rPr sz="1230" b="1">
                <a:solidFill>
                  <a:srgbClr val="895600"/>
                </a:solidFill>
                <a:latin typeface="Arial"/>
                <a:ea typeface="Arial"/>
                <a:cs typeface="Arial"/>
              </a:rPr>
              <a:t>genes in</a:t>
            </a:r>
            <a:r>
              <a:rPr sz="1230" b="1" i="0">
                <a:solidFill>
                  <a:srgbClr val="895600"/>
                </a:solidFill>
                <a:latin typeface="Arial"/>
                <a:ea typeface="Arial"/>
                <a:cs typeface="Arial"/>
              </a:rPr>
              <a:t> query ≥ 3</a:t>
            </a:r>
          </a:p>
        </p:txBody>
      </p:sp>
      <p:sp>
        <p:nvSpPr>
          <p:cNvPr id="13" name="Rectangle 12">
            <a:extLst>
              <a:ext uri="{FF2B5EF4-FFF2-40B4-BE49-F238E27FC236}">
                <a16:creationId xmlns:a16="http://schemas.microsoft.com/office/drawing/2014/main" id="{536E8183-C004-4650-A415-65110217BD92}"/>
              </a:ext>
            </a:extLst>
          </p:cNvPr>
          <p:cNvSpPr>
            <a:spLocks noGrp="1"/>
          </p:cNvSpPr>
          <p:nvPr/>
        </p:nvSpPr>
        <p:spPr>
          <a:xfrm>
            <a:off x="786384" y="2834640"/>
            <a:ext cx="580644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A7C68209-0576-4AD6-BC4D-4DFEB9D31F19}"/>
              </a:ext>
            </a:extLst>
          </p:cNvPr>
          <p:cNvSpPr>
            <a:spLocks noGrp="1"/>
          </p:cNvSpPr>
          <p:nvPr/>
        </p:nvSpPr>
        <p:spPr>
          <a:xfrm>
            <a:off x="841247" y="2889504"/>
            <a:ext cx="569671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Mutually exclusive contrast outcome</a:t>
            </a:r>
          </a:p>
        </p:txBody>
      </p:sp>
      <p:sp>
        <p:nvSpPr>
          <p:cNvPr id="15" name="Rectangle 14">
            <a:extLst>
              <a:ext uri="{FF2B5EF4-FFF2-40B4-BE49-F238E27FC236}">
                <a16:creationId xmlns:a16="http://schemas.microsoft.com/office/drawing/2014/main" id="{1694A8C1-05B5-47F1-85AF-E37DCB16D88D}"/>
              </a:ext>
            </a:extLst>
          </p:cNvPr>
          <p:cNvSpPr>
            <a:spLocks noGrp="1"/>
          </p:cNvSpPr>
          <p:nvPr/>
        </p:nvSpPr>
        <p:spPr>
          <a:xfrm>
            <a:off x="6592824" y="2834640"/>
            <a:ext cx="1115568"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488BB40-F98F-40EB-B99F-0B652DEF4505}"/>
              </a:ext>
            </a:extLst>
          </p:cNvPr>
          <p:cNvSpPr>
            <a:spLocks noGrp="1"/>
          </p:cNvSpPr>
          <p:nvPr/>
        </p:nvSpPr>
        <p:spPr>
          <a:xfrm>
            <a:off x="6647688" y="2889504"/>
            <a:ext cx="1005840"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Contrasts</a:t>
            </a:r>
          </a:p>
        </p:txBody>
      </p:sp>
      <p:sp>
        <p:nvSpPr>
          <p:cNvPr id="17" name="Rectangle 16">
            <a:extLst>
              <a:ext uri="{FF2B5EF4-FFF2-40B4-BE49-F238E27FC236}">
                <a16:creationId xmlns:a16="http://schemas.microsoft.com/office/drawing/2014/main" id="{78125995-9B01-4654-8667-F3D91A68BD02}"/>
              </a:ext>
            </a:extLst>
          </p:cNvPr>
          <p:cNvSpPr>
            <a:spLocks noGrp="1"/>
          </p:cNvSpPr>
          <p:nvPr/>
        </p:nvSpPr>
        <p:spPr>
          <a:xfrm>
            <a:off x="7708392" y="2834640"/>
            <a:ext cx="36118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D4EB2C-346E-4F90-B606-E8B9EAC67D6C}"/>
              </a:ext>
            </a:extLst>
          </p:cNvPr>
          <p:cNvSpPr>
            <a:spLocks noGrp="1"/>
          </p:cNvSpPr>
          <p:nvPr/>
        </p:nvSpPr>
        <p:spPr>
          <a:xfrm>
            <a:off x="7763256" y="2889504"/>
            <a:ext cx="35021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KDA call made?</a:t>
            </a:r>
          </a:p>
        </p:txBody>
      </p:sp>
      <p:sp>
        <p:nvSpPr>
          <p:cNvPr id="19" name="Rectangle 18">
            <a:extLst>
              <a:ext uri="{FF2B5EF4-FFF2-40B4-BE49-F238E27FC236}">
                <a16:creationId xmlns:a16="http://schemas.microsoft.com/office/drawing/2014/main" id="{DEEE23B6-51E8-4740-8D90-1F2F8B9A946B}"/>
              </a:ext>
            </a:extLst>
          </p:cNvPr>
          <p:cNvSpPr>
            <a:spLocks noGrp="1"/>
          </p:cNvSpPr>
          <p:nvPr/>
        </p:nvSpPr>
        <p:spPr>
          <a:xfrm>
            <a:off x="786384" y="3264408"/>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FFFF9712-557B-4CF9-A5D5-E47185AC98E3}"/>
              </a:ext>
            </a:extLst>
          </p:cNvPr>
          <p:cNvSpPr>
            <a:spLocks noGrp="1"/>
          </p:cNvSpPr>
          <p:nvPr/>
        </p:nvSpPr>
        <p:spPr>
          <a:xfrm>
            <a:off x="841247" y="3386869"/>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Source DEG contrast not valid</a:t>
            </a:r>
          </a:p>
        </p:txBody>
      </p:sp>
      <p:sp>
        <p:nvSpPr>
          <p:cNvPr id="21" name="Rectangle 20">
            <a:extLst>
              <a:ext uri="{FF2B5EF4-FFF2-40B4-BE49-F238E27FC236}">
                <a16:creationId xmlns:a16="http://schemas.microsoft.com/office/drawing/2014/main" id="{3115DB27-6DCB-41DA-9890-57EC7150C278}"/>
              </a:ext>
            </a:extLst>
          </p:cNvPr>
          <p:cNvSpPr>
            <a:spLocks noGrp="1"/>
          </p:cNvSpPr>
          <p:nvPr/>
        </p:nvSpPr>
        <p:spPr>
          <a:xfrm>
            <a:off x="6592824" y="3264408"/>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FA8BEB43-DF32-46E3-89D4-2B1E4306F415}"/>
              </a:ext>
            </a:extLst>
          </p:cNvPr>
          <p:cNvSpPr>
            <a:spLocks noGrp="1"/>
          </p:cNvSpPr>
          <p:nvPr/>
        </p:nvSpPr>
        <p:spPr>
          <a:xfrm>
            <a:off x="6647688" y="3310128"/>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393</a:t>
            </a:r>
          </a:p>
        </p:txBody>
      </p:sp>
      <p:sp>
        <p:nvSpPr>
          <p:cNvPr id="23" name="Rectangle 22">
            <a:extLst>
              <a:ext uri="{FF2B5EF4-FFF2-40B4-BE49-F238E27FC236}">
                <a16:creationId xmlns:a16="http://schemas.microsoft.com/office/drawing/2014/main" id="{B84BCB48-6570-4822-828F-338499D6A131}"/>
              </a:ext>
            </a:extLst>
          </p:cNvPr>
          <p:cNvSpPr>
            <a:spLocks noGrp="1"/>
          </p:cNvSpPr>
          <p:nvPr/>
        </p:nvSpPr>
        <p:spPr>
          <a:xfrm>
            <a:off x="7708392" y="3264408"/>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08E03D5A-5501-4016-BBCC-2C201A5B44EF}"/>
              </a:ext>
            </a:extLst>
          </p:cNvPr>
          <p:cNvSpPr>
            <a:spLocks noGrp="1"/>
          </p:cNvSpPr>
          <p:nvPr/>
        </p:nvSpPr>
        <p:spPr>
          <a:xfrm>
            <a:off x="7763256" y="3310128"/>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25" name="Rectangle 24">
            <a:extLst>
              <a:ext uri="{FF2B5EF4-FFF2-40B4-BE49-F238E27FC236}">
                <a16:creationId xmlns:a16="http://schemas.microsoft.com/office/drawing/2014/main" id="{C9FD0460-FED0-489F-B99B-9A944E679918}"/>
              </a:ext>
            </a:extLst>
          </p:cNvPr>
          <p:cNvSpPr>
            <a:spLocks noGrp="1"/>
          </p:cNvSpPr>
          <p:nvPr/>
        </p:nvSpPr>
        <p:spPr>
          <a:xfrm>
            <a:off x="786384" y="3694176"/>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362E6B6B-2993-4D8E-998F-465FAB9FCA2E}"/>
              </a:ext>
            </a:extLst>
          </p:cNvPr>
          <p:cNvSpPr>
            <a:spLocks noGrp="1"/>
          </p:cNvSpPr>
          <p:nvPr/>
        </p:nvSpPr>
        <p:spPr>
          <a:xfrm>
            <a:off x="841247" y="3816637"/>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0</a:t>
            </a:r>
          </a:p>
        </p:txBody>
      </p:sp>
      <p:sp>
        <p:nvSpPr>
          <p:cNvPr id="27" name="Rectangle 26">
            <a:extLst>
              <a:ext uri="{FF2B5EF4-FFF2-40B4-BE49-F238E27FC236}">
                <a16:creationId xmlns:a16="http://schemas.microsoft.com/office/drawing/2014/main" id="{4CA86A09-4680-437D-8C83-FD1A85F5237B}"/>
              </a:ext>
            </a:extLst>
          </p:cNvPr>
          <p:cNvSpPr>
            <a:spLocks noGrp="1"/>
          </p:cNvSpPr>
          <p:nvPr/>
        </p:nvSpPr>
        <p:spPr>
          <a:xfrm>
            <a:off x="6592824" y="3694176"/>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84A62820-632F-4DA2-9BAA-EA9ADC94D734}"/>
              </a:ext>
            </a:extLst>
          </p:cNvPr>
          <p:cNvSpPr>
            <a:spLocks noGrp="1"/>
          </p:cNvSpPr>
          <p:nvPr/>
        </p:nvSpPr>
        <p:spPr>
          <a:xfrm>
            <a:off x="6647688" y="3739896"/>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348</a:t>
            </a:r>
          </a:p>
        </p:txBody>
      </p:sp>
      <p:sp>
        <p:nvSpPr>
          <p:cNvPr id="29" name="Rectangle 28">
            <a:extLst>
              <a:ext uri="{FF2B5EF4-FFF2-40B4-BE49-F238E27FC236}">
                <a16:creationId xmlns:a16="http://schemas.microsoft.com/office/drawing/2014/main" id="{6DA52366-3F22-429F-B145-2B9FC59B1AD8}"/>
              </a:ext>
            </a:extLst>
          </p:cNvPr>
          <p:cNvSpPr>
            <a:spLocks noGrp="1"/>
          </p:cNvSpPr>
          <p:nvPr/>
        </p:nvSpPr>
        <p:spPr>
          <a:xfrm>
            <a:off x="7708392" y="3694176"/>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74D709C5-6EB0-461D-8820-445C30B578AE}"/>
              </a:ext>
            </a:extLst>
          </p:cNvPr>
          <p:cNvSpPr>
            <a:spLocks noGrp="1"/>
          </p:cNvSpPr>
          <p:nvPr/>
        </p:nvSpPr>
        <p:spPr>
          <a:xfrm>
            <a:off x="7763256" y="3739896"/>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1" name="Rectangle 30">
            <a:extLst>
              <a:ext uri="{FF2B5EF4-FFF2-40B4-BE49-F238E27FC236}">
                <a16:creationId xmlns:a16="http://schemas.microsoft.com/office/drawing/2014/main" id="{579DE40C-8DF4-4E4B-A8F9-CFD822ED624C}"/>
              </a:ext>
            </a:extLst>
          </p:cNvPr>
          <p:cNvSpPr>
            <a:spLocks noGrp="1"/>
          </p:cNvSpPr>
          <p:nvPr/>
        </p:nvSpPr>
        <p:spPr>
          <a:xfrm>
            <a:off x="786384" y="4123944"/>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EC85DE27-E270-4AD6-B949-B0CD64F744D2}"/>
              </a:ext>
            </a:extLst>
          </p:cNvPr>
          <p:cNvSpPr>
            <a:spLocks noGrp="1"/>
          </p:cNvSpPr>
          <p:nvPr/>
        </p:nvSpPr>
        <p:spPr>
          <a:xfrm>
            <a:off x="841247" y="4246404"/>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1–2</a:t>
            </a:r>
          </a:p>
        </p:txBody>
      </p:sp>
      <p:sp>
        <p:nvSpPr>
          <p:cNvPr id="33" name="Rectangle 32">
            <a:extLst>
              <a:ext uri="{FF2B5EF4-FFF2-40B4-BE49-F238E27FC236}">
                <a16:creationId xmlns:a16="http://schemas.microsoft.com/office/drawing/2014/main" id="{71922BEC-EBBD-464F-9A93-CB0E6CD0C65C}"/>
              </a:ext>
            </a:extLst>
          </p:cNvPr>
          <p:cNvSpPr>
            <a:spLocks noGrp="1"/>
          </p:cNvSpPr>
          <p:nvPr/>
        </p:nvSpPr>
        <p:spPr>
          <a:xfrm>
            <a:off x="6592824" y="4123944"/>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FE7D493B-F1C6-44AE-82B1-5CA4C20101D7}"/>
              </a:ext>
            </a:extLst>
          </p:cNvPr>
          <p:cNvSpPr>
            <a:spLocks noGrp="1"/>
          </p:cNvSpPr>
          <p:nvPr/>
        </p:nvSpPr>
        <p:spPr>
          <a:xfrm>
            <a:off x="6647688" y="4169663"/>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11</a:t>
            </a:r>
          </a:p>
        </p:txBody>
      </p:sp>
      <p:sp>
        <p:nvSpPr>
          <p:cNvPr id="35" name="Rectangle 34">
            <a:extLst>
              <a:ext uri="{FF2B5EF4-FFF2-40B4-BE49-F238E27FC236}">
                <a16:creationId xmlns:a16="http://schemas.microsoft.com/office/drawing/2014/main" id="{0467B988-F2CC-4B87-A622-D85C4DBA4E32}"/>
              </a:ext>
            </a:extLst>
          </p:cNvPr>
          <p:cNvSpPr>
            <a:spLocks noGrp="1"/>
          </p:cNvSpPr>
          <p:nvPr/>
        </p:nvSpPr>
        <p:spPr>
          <a:xfrm>
            <a:off x="7708392" y="4123944"/>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9E333520-32E2-48D9-ABDD-7299433B2B08}"/>
              </a:ext>
            </a:extLst>
          </p:cNvPr>
          <p:cNvSpPr>
            <a:spLocks noGrp="1"/>
          </p:cNvSpPr>
          <p:nvPr/>
        </p:nvSpPr>
        <p:spPr>
          <a:xfrm>
            <a:off x="7763256" y="4169663"/>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7" name="Rectangle 36">
            <a:extLst>
              <a:ext uri="{FF2B5EF4-FFF2-40B4-BE49-F238E27FC236}">
                <a16:creationId xmlns:a16="http://schemas.microsoft.com/office/drawing/2014/main" id="{373FF968-D279-4D47-AA68-6925D273751F}"/>
              </a:ext>
            </a:extLst>
          </p:cNvPr>
          <p:cNvSpPr>
            <a:spLocks noGrp="1"/>
          </p:cNvSpPr>
          <p:nvPr/>
        </p:nvSpPr>
        <p:spPr>
          <a:xfrm>
            <a:off x="786384" y="4553712"/>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8EC3745D-B09B-40CC-B2E1-181BDBE1B929}"/>
              </a:ext>
            </a:extLst>
          </p:cNvPr>
          <p:cNvSpPr>
            <a:spLocks noGrp="1"/>
          </p:cNvSpPr>
          <p:nvPr/>
        </p:nvSpPr>
        <p:spPr>
          <a:xfrm>
            <a:off x="841247" y="4676173"/>
            <a:ext cx="5696712" cy="203133"/>
          </a:xfrm>
          <a:prstGeom prst="rect">
            <a:avLst/>
          </a:prstGeom>
          <a:noFill/>
        </p:spPr>
        <p:txBody>
          <a:bodyPr wrap="square" lIns="27432" tIns="27432" rIns="27432" bIns="27432" anchor="ctr">
            <a:spAutoFit/>
          </a:bodyPr>
          <a:lstStyle/>
          <a:p>
            <a:r>
              <a:rPr sz="960">
                <a:solidFill>
                  <a:srgbClr val="1F2730"/>
                </a:solidFill>
                <a:latin typeface="Arial"/>
                <a:ea typeface="Arial"/>
                <a:cs typeface="Arial"/>
              </a:rPr>
              <a:t>Number of genes in query: &gt;=3</a:t>
            </a:r>
            <a:endParaRPr sz="960" b="0" i="0">
              <a:solidFill>
                <a:srgbClr val="1F2730"/>
              </a:solidFill>
              <a:latin typeface="Arial"/>
              <a:ea typeface="Arial"/>
              <a:cs typeface="Arial"/>
            </a:endParaRPr>
          </a:p>
        </p:txBody>
      </p:sp>
      <p:sp>
        <p:nvSpPr>
          <p:cNvPr id="39" name="Rectangle 38">
            <a:extLst>
              <a:ext uri="{FF2B5EF4-FFF2-40B4-BE49-F238E27FC236}">
                <a16:creationId xmlns:a16="http://schemas.microsoft.com/office/drawing/2014/main" id="{0150717B-B47C-4BDA-A2A1-B24E1F4599D4}"/>
              </a:ext>
            </a:extLst>
          </p:cNvPr>
          <p:cNvSpPr>
            <a:spLocks noGrp="1"/>
          </p:cNvSpPr>
          <p:nvPr/>
        </p:nvSpPr>
        <p:spPr>
          <a:xfrm>
            <a:off x="6592824" y="4553712"/>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1DA071E-0FA1-4CBC-84A7-C23543004197}"/>
              </a:ext>
            </a:extLst>
          </p:cNvPr>
          <p:cNvSpPr>
            <a:spLocks noGrp="1"/>
          </p:cNvSpPr>
          <p:nvPr/>
        </p:nvSpPr>
        <p:spPr>
          <a:xfrm>
            <a:off x="6647688" y="4676173"/>
            <a:ext cx="1005840"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a:solidFill>
                  <a:srgbClr val="1F2730"/>
                </a:solidFill>
                <a:latin typeface="Arial"/>
                <a:ea typeface="Arial"/>
                <a:cs typeface="Arial"/>
              </a:rPr>
              <a:t>22</a:t>
            </a:r>
            <a:endParaRPr sz="960" b="0" i="0">
              <a:solidFill>
                <a:srgbClr val="1F2730"/>
              </a:solidFill>
              <a:latin typeface="Arial"/>
              <a:ea typeface="Arial"/>
              <a:cs typeface="Arial"/>
            </a:endParaRPr>
          </a:p>
        </p:txBody>
      </p:sp>
      <p:sp>
        <p:nvSpPr>
          <p:cNvPr id="41" name="Rectangle 40">
            <a:extLst>
              <a:ext uri="{FF2B5EF4-FFF2-40B4-BE49-F238E27FC236}">
                <a16:creationId xmlns:a16="http://schemas.microsoft.com/office/drawing/2014/main" id="{3304B9D0-ADAD-40D3-8239-89117C09D517}"/>
              </a:ext>
            </a:extLst>
          </p:cNvPr>
          <p:cNvSpPr>
            <a:spLocks noGrp="1"/>
          </p:cNvSpPr>
          <p:nvPr/>
        </p:nvSpPr>
        <p:spPr>
          <a:xfrm>
            <a:off x="7708392" y="4553712"/>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TextBox 41">
            <a:extLst>
              <a:ext uri="{FF2B5EF4-FFF2-40B4-BE49-F238E27FC236}">
                <a16:creationId xmlns:a16="http://schemas.microsoft.com/office/drawing/2014/main" id="{B1DDC8C2-5FD0-4512-B9FC-411C8E88417C}"/>
              </a:ext>
            </a:extLst>
          </p:cNvPr>
          <p:cNvSpPr>
            <a:spLocks noGrp="1"/>
          </p:cNvSpPr>
          <p:nvPr/>
        </p:nvSpPr>
        <p:spPr>
          <a:xfrm>
            <a:off x="7763256" y="4676173"/>
            <a:ext cx="350215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Yes</a:t>
            </a:r>
          </a:p>
        </p:txBody>
      </p:sp>
      <p:sp>
        <p:nvSpPr>
          <p:cNvPr id="49" name="Rectangle 48">
            <a:extLst>
              <a:ext uri="{FF2B5EF4-FFF2-40B4-BE49-F238E27FC236}">
                <a16:creationId xmlns:a16="http://schemas.microsoft.com/office/drawing/2014/main" id="{1A0998C8-CEB6-4A92-AEB6-BE2E7DFBE2BE}"/>
              </a:ext>
            </a:extLst>
          </p:cNvPr>
          <p:cNvSpPr>
            <a:spLocks noGrp="1"/>
          </p:cNvSpPr>
          <p:nvPr/>
        </p:nvSpPr>
        <p:spPr>
          <a:xfrm>
            <a:off x="786384" y="5002700"/>
            <a:ext cx="580644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0" name="TextBox 49">
            <a:extLst>
              <a:ext uri="{FF2B5EF4-FFF2-40B4-BE49-F238E27FC236}">
                <a16:creationId xmlns:a16="http://schemas.microsoft.com/office/drawing/2014/main" id="{016DB5F1-DB8C-4310-AB69-2478EC5FD16D}"/>
              </a:ext>
            </a:extLst>
          </p:cNvPr>
          <p:cNvSpPr>
            <a:spLocks noGrp="1"/>
          </p:cNvSpPr>
          <p:nvPr/>
        </p:nvSpPr>
        <p:spPr>
          <a:xfrm>
            <a:off x="841247" y="5048420"/>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TOTAL</a:t>
            </a:r>
          </a:p>
        </p:txBody>
      </p:sp>
      <p:sp>
        <p:nvSpPr>
          <p:cNvPr id="51" name="Rectangle 50">
            <a:extLst>
              <a:ext uri="{FF2B5EF4-FFF2-40B4-BE49-F238E27FC236}">
                <a16:creationId xmlns:a16="http://schemas.microsoft.com/office/drawing/2014/main" id="{7EAC4715-A720-42B1-ACB8-5E6F721C19D0}"/>
              </a:ext>
            </a:extLst>
          </p:cNvPr>
          <p:cNvSpPr>
            <a:spLocks noGrp="1"/>
          </p:cNvSpPr>
          <p:nvPr/>
        </p:nvSpPr>
        <p:spPr>
          <a:xfrm>
            <a:off x="6592824" y="5002700"/>
            <a:ext cx="1115568"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2" name="TextBox 51">
            <a:extLst>
              <a:ext uri="{FF2B5EF4-FFF2-40B4-BE49-F238E27FC236}">
                <a16:creationId xmlns:a16="http://schemas.microsoft.com/office/drawing/2014/main" id="{0B08F8C0-BAE5-4956-9882-32026D2C2130}"/>
              </a:ext>
            </a:extLst>
          </p:cNvPr>
          <p:cNvSpPr>
            <a:spLocks noGrp="1"/>
          </p:cNvSpPr>
          <p:nvPr/>
        </p:nvSpPr>
        <p:spPr>
          <a:xfrm>
            <a:off x="6647688" y="5048420"/>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774</a:t>
            </a:r>
          </a:p>
        </p:txBody>
      </p:sp>
      <p:sp>
        <p:nvSpPr>
          <p:cNvPr id="53" name="Rectangle 52">
            <a:extLst>
              <a:ext uri="{FF2B5EF4-FFF2-40B4-BE49-F238E27FC236}">
                <a16:creationId xmlns:a16="http://schemas.microsoft.com/office/drawing/2014/main" id="{2318E8FD-D164-4CE7-BE87-ECC1C74B6293}"/>
              </a:ext>
            </a:extLst>
          </p:cNvPr>
          <p:cNvSpPr>
            <a:spLocks noGrp="1"/>
          </p:cNvSpPr>
          <p:nvPr/>
        </p:nvSpPr>
        <p:spPr>
          <a:xfrm>
            <a:off x="7708392" y="5002700"/>
            <a:ext cx="361188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4" name="TextBox 53">
            <a:extLst>
              <a:ext uri="{FF2B5EF4-FFF2-40B4-BE49-F238E27FC236}">
                <a16:creationId xmlns:a16="http://schemas.microsoft.com/office/drawing/2014/main" id="{DF7B247E-0514-4A15-99C2-80063D536100}"/>
              </a:ext>
            </a:extLst>
          </p:cNvPr>
          <p:cNvSpPr>
            <a:spLocks noGrp="1"/>
          </p:cNvSpPr>
          <p:nvPr/>
        </p:nvSpPr>
        <p:spPr>
          <a:xfrm>
            <a:off x="7763256" y="5048420"/>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22 KDA calls</a:t>
            </a:r>
          </a:p>
        </p:txBody>
      </p:sp>
      <p:sp>
        <p:nvSpPr>
          <p:cNvPr id="55" name="TextBox 54">
            <a:extLst>
              <a:ext uri="{FF2B5EF4-FFF2-40B4-BE49-F238E27FC236}">
                <a16:creationId xmlns:a16="http://schemas.microsoft.com/office/drawing/2014/main" id="{B84EA5A0-1787-45A7-8C9F-AC2330E54895}"/>
              </a:ext>
            </a:extLst>
          </p:cNvPr>
          <p:cNvSpPr>
            <a:spLocks noGrp="1"/>
          </p:cNvSpPr>
          <p:nvPr/>
        </p:nvSpPr>
        <p:spPr>
          <a:xfrm>
            <a:off x="804672" y="5551340"/>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Availability remains unbalanced: 20 M_e33 KDA calls, one F_e33 KDA call, and one F_e4 KDA call.</a:t>
            </a:r>
          </a:p>
        </p:txBody>
      </p:sp>
    </p:spTree>
    <p:extLst>
      <p:ext uri="{BB962C8B-B14F-4D97-AF65-F5344CB8AC3E}">
        <p14:creationId xmlns:p14="http://schemas.microsoft.com/office/powerpoint/2010/main" val="20297263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3969B7-9D27-4716-9CC1-20BB99E1000F}"/>
              </a:ext>
            </a:extLst>
          </p:cNvPr>
          <p:cNvSpPr>
            <a:spLocks noGrp="1"/>
          </p:cNvSpPr>
          <p:nvPr/>
        </p:nvSpPr>
        <p:spPr>
          <a:xfrm>
            <a:off x="530352" y="411480"/>
            <a:ext cx="10652760" cy="80945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KDA summary: 44 non-MitoCarta gene × category combinations represent 43 distinct genes</a:t>
            </a:r>
          </a:p>
        </p:txBody>
      </p:sp>
      <p:sp>
        <p:nvSpPr>
          <p:cNvPr id="3" name="Rounded Rectangle 2">
            <a:extLst>
              <a:ext uri="{FF2B5EF4-FFF2-40B4-BE49-F238E27FC236}">
                <a16:creationId xmlns:a16="http://schemas.microsoft.com/office/drawing/2014/main" id="{266CB8E9-F00B-4186-B28B-E531AE500285}"/>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D586E91-0BBE-4562-BD66-1CC83A41D50A}"/>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54</a:t>
            </a:r>
          </a:p>
        </p:txBody>
      </p:sp>
      <p:sp>
        <p:nvSpPr>
          <p:cNvPr id="5" name="TextBox 4">
            <a:extLst>
              <a:ext uri="{FF2B5EF4-FFF2-40B4-BE49-F238E27FC236}">
                <a16:creationId xmlns:a16="http://schemas.microsoft.com/office/drawing/2014/main" id="{C0806F58-2CBE-4AB7-B28A-D0E40AE7D203}"/>
              </a:ext>
            </a:extLst>
          </p:cNvPr>
          <p:cNvSpPr>
            <a:spLocks noGrp="1"/>
          </p:cNvSpPr>
          <p:nvPr/>
        </p:nvSpPr>
        <p:spPr>
          <a:xfrm>
            <a:off x="804672" y="1938528"/>
            <a:ext cx="1645920" cy="49859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rows returned from KDA calls (before aggregation)</a:t>
            </a:r>
          </a:p>
        </p:txBody>
      </p:sp>
      <p:sp>
        <p:nvSpPr>
          <p:cNvPr id="6" name="Rounded Rectangle 5">
            <a:extLst>
              <a:ext uri="{FF2B5EF4-FFF2-40B4-BE49-F238E27FC236}">
                <a16:creationId xmlns:a16="http://schemas.microsoft.com/office/drawing/2014/main" id="{817055C6-2BF3-4CF7-B0CF-EE8E00A91A3F}"/>
              </a:ext>
            </a:extLst>
          </p:cNvPr>
          <p:cNvSpPr>
            <a:spLocks noGrp="1"/>
          </p:cNvSpPr>
          <p:nvPr/>
        </p:nvSpPr>
        <p:spPr>
          <a:xfrm>
            <a:off x="2798063"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E414772-612D-467A-9081-053E8DB72155}"/>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8" name="TextBox 7">
            <a:extLst>
              <a:ext uri="{FF2B5EF4-FFF2-40B4-BE49-F238E27FC236}">
                <a16:creationId xmlns:a16="http://schemas.microsoft.com/office/drawing/2014/main" id="{83E2F100-F6CB-40EF-9D57-57FD6C94428E}"/>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9" name="Rounded Rectangle 8">
            <a:extLst>
              <a:ext uri="{FF2B5EF4-FFF2-40B4-BE49-F238E27FC236}">
                <a16:creationId xmlns:a16="http://schemas.microsoft.com/office/drawing/2014/main" id="{C7DE2D7C-EEC9-4171-963B-D7475A9E150E}"/>
              </a:ext>
            </a:extLst>
          </p:cNvPr>
          <p:cNvSpPr>
            <a:spLocks noGrp="1"/>
          </p:cNvSpPr>
          <p:nvPr/>
        </p:nvSpPr>
        <p:spPr>
          <a:xfrm>
            <a:off x="4937759"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61C40E9-5223-45F4-B44C-5FB233D2D895}"/>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43</a:t>
            </a:r>
          </a:p>
        </p:txBody>
      </p:sp>
      <p:sp>
        <p:nvSpPr>
          <p:cNvPr id="11" name="TextBox 10">
            <a:extLst>
              <a:ext uri="{FF2B5EF4-FFF2-40B4-BE49-F238E27FC236}">
                <a16:creationId xmlns:a16="http://schemas.microsoft.com/office/drawing/2014/main" id="{AB834481-730D-4593-8326-D382E238D0D4}"/>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2" name="Rounded Rectangle 11">
            <a:extLst>
              <a:ext uri="{FF2B5EF4-FFF2-40B4-BE49-F238E27FC236}">
                <a16:creationId xmlns:a16="http://schemas.microsoft.com/office/drawing/2014/main" id="{046BD997-623C-4AE5-B790-588E4444AAFE}"/>
              </a:ext>
            </a:extLst>
          </p:cNvPr>
          <p:cNvSpPr>
            <a:spLocks noGrp="1"/>
          </p:cNvSpPr>
          <p:nvPr/>
        </p:nvSpPr>
        <p:spPr>
          <a:xfrm>
            <a:off x="7077455"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B67BD00-AE48-4A0D-AD00-63D7745D6BDD}"/>
              </a:ext>
            </a:extLst>
          </p:cNvPr>
          <p:cNvSpPr>
            <a:spLocks noGrp="1"/>
          </p:cNvSpPr>
          <p:nvPr/>
        </p:nvSpPr>
        <p:spPr>
          <a:xfrm>
            <a:off x="7223759"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5</a:t>
            </a:r>
          </a:p>
        </p:txBody>
      </p:sp>
      <p:sp>
        <p:nvSpPr>
          <p:cNvPr id="14" name="TextBox 13">
            <a:extLst>
              <a:ext uri="{FF2B5EF4-FFF2-40B4-BE49-F238E27FC236}">
                <a16:creationId xmlns:a16="http://schemas.microsoft.com/office/drawing/2014/main" id="{714FFE85-704F-4E2D-86BE-84362B31FAFE}"/>
              </a:ext>
            </a:extLst>
          </p:cNvPr>
          <p:cNvSpPr>
            <a:spLocks noGrp="1"/>
          </p:cNvSpPr>
          <p:nvPr/>
        </p:nvSpPr>
        <p:spPr>
          <a:xfrm>
            <a:off x="7223759"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5" name="Rounded Rectangle 14">
            <a:extLst>
              <a:ext uri="{FF2B5EF4-FFF2-40B4-BE49-F238E27FC236}">
                <a16:creationId xmlns:a16="http://schemas.microsoft.com/office/drawing/2014/main" id="{BBB2D1C1-9E60-40C9-B0D8-6D9E8BB2BFF3}"/>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BD937122-BFF3-40DB-AE09-638A1D6F355D}"/>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17</a:t>
            </a:r>
          </a:p>
        </p:txBody>
      </p:sp>
      <p:sp>
        <p:nvSpPr>
          <p:cNvPr id="17" name="TextBox 16">
            <a:extLst>
              <a:ext uri="{FF2B5EF4-FFF2-40B4-BE49-F238E27FC236}">
                <a16:creationId xmlns:a16="http://schemas.microsoft.com/office/drawing/2014/main" id="{5A21E9DF-589A-40DA-92D1-FAAF462E8D5C}"/>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18" name="Rounded Rectangle 17">
            <a:extLst>
              <a:ext uri="{FF2B5EF4-FFF2-40B4-BE49-F238E27FC236}">
                <a16:creationId xmlns:a16="http://schemas.microsoft.com/office/drawing/2014/main" id="{F53A1BB7-26D4-4255-B160-1B1ECCA99BE1}"/>
              </a:ext>
            </a:extLst>
          </p:cNvPr>
          <p:cNvSpPr>
            <a:spLocks noGrp="1"/>
          </p:cNvSpPr>
          <p:nvPr/>
        </p:nvSpPr>
        <p:spPr>
          <a:xfrm>
            <a:off x="658368" y="2871216"/>
            <a:ext cx="5266944"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Rectangle 18">
            <a:extLst>
              <a:ext uri="{FF2B5EF4-FFF2-40B4-BE49-F238E27FC236}">
                <a16:creationId xmlns:a16="http://schemas.microsoft.com/office/drawing/2014/main" id="{919BDC2A-9B9F-4374-A7DC-563CED8A9DE1}"/>
              </a:ext>
            </a:extLst>
          </p:cNvPr>
          <p:cNvSpPr>
            <a:spLocks noGrp="1"/>
          </p:cNvSpPr>
          <p:nvPr/>
        </p:nvSpPr>
        <p:spPr>
          <a:xfrm>
            <a:off x="932688"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5749611-28D0-4B77-A610-0D1241272AD7}"/>
              </a:ext>
            </a:extLst>
          </p:cNvPr>
          <p:cNvSpPr>
            <a:spLocks noGrp="1"/>
          </p:cNvSpPr>
          <p:nvPr/>
        </p:nvSpPr>
        <p:spPr>
          <a:xfrm>
            <a:off x="1078992" y="3163824"/>
            <a:ext cx="4572000"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the 44 combinations occur</a:t>
            </a:r>
          </a:p>
        </p:txBody>
      </p:sp>
      <p:sp>
        <p:nvSpPr>
          <p:cNvPr id="21" name="TextBox 20">
            <a:extLst>
              <a:ext uri="{FF2B5EF4-FFF2-40B4-BE49-F238E27FC236}">
                <a16:creationId xmlns:a16="http://schemas.microsoft.com/office/drawing/2014/main" id="{51FBEE82-1AAF-4A5B-BEE7-B5273ACBACFB}"/>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sex/APOE group</a:t>
            </a:r>
          </a:p>
        </p:txBody>
      </p:sp>
      <p:sp>
        <p:nvSpPr>
          <p:cNvPr id="22" name="TextBox 21">
            <a:extLst>
              <a:ext uri="{FF2B5EF4-FFF2-40B4-BE49-F238E27FC236}">
                <a16:creationId xmlns:a16="http://schemas.microsoft.com/office/drawing/2014/main" id="{2BADE5CD-0D71-420F-AAC7-A81D98015224}"/>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M_e33 39 • F_e4 3 • F_e33 2 • other groups 0</a:t>
            </a:r>
          </a:p>
        </p:txBody>
      </p:sp>
      <p:sp>
        <p:nvSpPr>
          <p:cNvPr id="23" name="TextBox 22">
            <a:extLst>
              <a:ext uri="{FF2B5EF4-FFF2-40B4-BE49-F238E27FC236}">
                <a16:creationId xmlns:a16="http://schemas.microsoft.com/office/drawing/2014/main" id="{934D0CBE-1EA8-44E3-9253-7C7679855DA3}"/>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broad network</a:t>
            </a:r>
          </a:p>
        </p:txBody>
      </p:sp>
      <p:sp>
        <p:nvSpPr>
          <p:cNvPr id="24" name="TextBox 23">
            <a:extLst>
              <a:ext uri="{FF2B5EF4-FFF2-40B4-BE49-F238E27FC236}">
                <a16:creationId xmlns:a16="http://schemas.microsoft.com/office/drawing/2014/main" id="{EE7A5776-CF45-454B-B504-83B259C0FDE1}"/>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0" b="1" i="0">
                <a:solidFill>
                  <a:srgbClr val="0F233D"/>
                </a:solidFill>
                <a:latin typeface="Arial"/>
                <a:ea typeface="Arial"/>
                <a:cs typeface="Arial"/>
              </a:rPr>
              <a:t>Excitatory 27 • Inhibitory 12 • Astrocytes 3 • Oligo 2
Microglia, OPCs, Vasculature 0</a:t>
            </a:r>
          </a:p>
        </p:txBody>
      </p:sp>
      <p:sp>
        <p:nvSpPr>
          <p:cNvPr id="25" name="Rounded Rectangle 24">
            <a:extLst>
              <a:ext uri="{FF2B5EF4-FFF2-40B4-BE49-F238E27FC236}">
                <a16:creationId xmlns:a16="http://schemas.microsoft.com/office/drawing/2014/main" id="{A242F848-502E-4E2C-BE15-FCF81556BAB7}"/>
              </a:ext>
            </a:extLst>
          </p:cNvPr>
          <p:cNvSpPr>
            <a:spLocks noGrp="1"/>
          </p:cNvSpPr>
          <p:nvPr/>
        </p:nvSpPr>
        <p:spPr>
          <a:xfrm>
            <a:off x="6181344" y="2871216"/>
            <a:ext cx="5010912" cy="2834640"/>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1651B2FF-A649-4167-A154-536CA5377580}"/>
              </a:ext>
            </a:extLst>
          </p:cNvPr>
          <p:cNvSpPr>
            <a:spLocks noGrp="1"/>
          </p:cNvSpPr>
          <p:nvPr/>
        </p:nvSpPr>
        <p:spPr>
          <a:xfrm>
            <a:off x="6455664"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1AFD1C8B-0909-4834-B27B-7FCDF6064D16}"/>
              </a:ext>
            </a:extLst>
          </p:cNvPr>
          <p:cNvSpPr>
            <a:spLocks noGrp="1"/>
          </p:cNvSpPr>
          <p:nvPr/>
        </p:nvSpPr>
        <p:spPr>
          <a:xfrm>
            <a:off x="6601968" y="3163824"/>
            <a:ext cx="43159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Execution and filtering</a:t>
            </a:r>
          </a:p>
        </p:txBody>
      </p:sp>
      <p:sp>
        <p:nvSpPr>
          <p:cNvPr id="28" name="Oval 27">
            <a:extLst>
              <a:ext uri="{FF2B5EF4-FFF2-40B4-BE49-F238E27FC236}">
                <a16:creationId xmlns:a16="http://schemas.microsoft.com/office/drawing/2014/main" id="{48C231C5-C605-4D75-898B-8BFD47BC92EF}"/>
              </a:ext>
            </a:extLst>
          </p:cNvPr>
          <p:cNvSpPr>
            <a:spLocks noGrp="1"/>
          </p:cNvSpPr>
          <p:nvPr/>
        </p:nvSpPr>
        <p:spPr>
          <a:xfrm>
            <a:off x="6473952" y="380390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34823F20-5A45-4A0A-B19E-4A10F7E169C1}"/>
              </a:ext>
            </a:extLst>
          </p:cNvPr>
          <p:cNvSpPr>
            <a:spLocks noGrp="1"/>
          </p:cNvSpPr>
          <p:nvPr/>
        </p:nvSpPr>
        <p:spPr>
          <a:xfrm>
            <a:off x="6647688" y="3675887"/>
            <a:ext cx="4197096" cy="3901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20 KDA calls returned genes; 2 returned no genes.</a:t>
            </a:r>
          </a:p>
        </p:txBody>
      </p:sp>
      <p:sp>
        <p:nvSpPr>
          <p:cNvPr id="30" name="Oval 29">
            <a:extLst>
              <a:ext uri="{FF2B5EF4-FFF2-40B4-BE49-F238E27FC236}">
                <a16:creationId xmlns:a16="http://schemas.microsoft.com/office/drawing/2014/main" id="{AF468CC1-E16F-46D0-9314-E81F9426FFB1}"/>
              </a:ext>
            </a:extLst>
          </p:cNvPr>
          <p:cNvSpPr>
            <a:spLocks noGrp="1"/>
          </p:cNvSpPr>
          <p:nvPr/>
        </p:nvSpPr>
        <p:spPr>
          <a:xfrm>
            <a:off x="6473952" y="424281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09C15C00-D3AD-4B6B-ADF9-A831EFF6375E}"/>
              </a:ext>
            </a:extLst>
          </p:cNvPr>
          <p:cNvSpPr>
            <a:spLocks noGrp="1"/>
          </p:cNvSpPr>
          <p:nvPr/>
        </p:nvSpPr>
        <p:spPr>
          <a:xfrm>
            <a:off x="6647688" y="4114800"/>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112 gene rows returned from KDA calls before MitoCarta filtering.</a:t>
            </a:r>
          </a:p>
        </p:txBody>
      </p:sp>
      <p:sp>
        <p:nvSpPr>
          <p:cNvPr id="32" name="Oval 31">
            <a:extLst>
              <a:ext uri="{FF2B5EF4-FFF2-40B4-BE49-F238E27FC236}">
                <a16:creationId xmlns:a16="http://schemas.microsoft.com/office/drawing/2014/main" id="{EE669660-30A8-420E-AC2D-AE1BDF8C3DC1}"/>
              </a:ext>
            </a:extLst>
          </p:cNvPr>
          <p:cNvSpPr>
            <a:spLocks noGrp="1"/>
          </p:cNvSpPr>
          <p:nvPr/>
        </p:nvSpPr>
        <p:spPr>
          <a:xfrm>
            <a:off x="6473952" y="468172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331ABCB6-F6D1-4B0E-A15B-C18E837295F3}"/>
              </a:ext>
            </a:extLst>
          </p:cNvPr>
          <p:cNvSpPr>
            <a:spLocks noGrp="1"/>
          </p:cNvSpPr>
          <p:nvPr/>
        </p:nvSpPr>
        <p:spPr>
          <a:xfrm>
            <a:off x="6647688" y="4553712"/>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58 MitoCarta MT rows excluded.</a:t>
            </a:r>
          </a:p>
        </p:txBody>
      </p:sp>
      <p:sp>
        <p:nvSpPr>
          <p:cNvPr id="34" name="Oval 33">
            <a:extLst>
              <a:ext uri="{FF2B5EF4-FFF2-40B4-BE49-F238E27FC236}">
                <a16:creationId xmlns:a16="http://schemas.microsoft.com/office/drawing/2014/main" id="{BB1ED601-06B8-4E91-8C71-7E09AD39A38E}"/>
              </a:ext>
            </a:extLst>
          </p:cNvPr>
          <p:cNvSpPr>
            <a:spLocks noGrp="1"/>
          </p:cNvSpPr>
          <p:nvPr/>
        </p:nvSpPr>
        <p:spPr>
          <a:xfrm>
            <a:off x="6473952"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3D878F60-9EE8-421F-924E-ED902D22CDF0}"/>
              </a:ext>
            </a:extLst>
          </p:cNvPr>
          <p:cNvSpPr>
            <a:spLocks noGrp="1"/>
          </p:cNvSpPr>
          <p:nvPr/>
        </p:nvSpPr>
        <p:spPr>
          <a:xfrm>
            <a:off x="6647688" y="4992624"/>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54 non-MitoCarta rows retained for aggregation.</a:t>
            </a:r>
          </a:p>
        </p:txBody>
      </p:sp>
    </p:spTree>
    <p:extLst>
      <p:ext uri="{BB962C8B-B14F-4D97-AF65-F5344CB8AC3E}">
        <p14:creationId xmlns:p14="http://schemas.microsoft.com/office/powerpoint/2010/main" val="18301476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7E4A77-798C-4247-B980-A05FE07C420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PJVK is the only gene recurring across 2 SEA-AD categories</a:t>
            </a:r>
          </a:p>
        </p:txBody>
      </p:sp>
      <p:sp>
        <p:nvSpPr>
          <p:cNvPr id="3" name="TextBox 2">
            <a:extLst>
              <a:ext uri="{FF2B5EF4-FFF2-40B4-BE49-F238E27FC236}">
                <a16:creationId xmlns:a16="http://schemas.microsoft.com/office/drawing/2014/main" id="{758A32F6-ABDD-47BE-BF44-207ECFBFE9C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4" name="Rounded Rectangle 3">
            <a:extLst>
              <a:ext uri="{FF2B5EF4-FFF2-40B4-BE49-F238E27FC236}">
                <a16:creationId xmlns:a16="http://schemas.microsoft.com/office/drawing/2014/main" id="{4CC57176-FA97-49DD-A2B4-41312067D0D1}"/>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5" name="Uniform-blue bar chart of the twenty SEA-AD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6" name="Rounded Rectangle 5">
            <a:extLst>
              <a:ext uri="{FF2B5EF4-FFF2-40B4-BE49-F238E27FC236}">
                <a16:creationId xmlns:a16="http://schemas.microsoft.com/office/drawing/2014/main" id="{D0BE8979-34CC-4443-8A5C-C03F194F4331}"/>
              </a:ext>
            </a:extLst>
          </p:cNvPr>
          <p:cNvSpPr>
            <a:spLocks noGrp="1"/>
          </p:cNvSpPr>
          <p:nvPr/>
        </p:nvSpPr>
        <p:spPr>
          <a:xfrm>
            <a:off x="7232904" y="1298448"/>
            <a:ext cx="4343400"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EB6C9FC8-AD75-422F-AE1B-D4FA41CA5867}"/>
              </a:ext>
            </a:extLst>
          </p:cNvPr>
          <p:cNvSpPr>
            <a:spLocks noGrp="1"/>
          </p:cNvSpPr>
          <p:nvPr/>
        </p:nvSpPr>
        <p:spPr>
          <a:xfrm>
            <a:off x="7516368" y="1618488"/>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8F7162F-41F2-4707-8065-489B55557CD2}"/>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9" name="Oval 8">
            <a:extLst>
              <a:ext uri="{FF2B5EF4-FFF2-40B4-BE49-F238E27FC236}">
                <a16:creationId xmlns:a16="http://schemas.microsoft.com/office/drawing/2014/main" id="{B244F949-D513-41A3-AB1A-03E5C96C7EE2}"/>
              </a:ext>
            </a:extLst>
          </p:cNvPr>
          <p:cNvSpPr>
            <a:spLocks noGrp="1"/>
          </p:cNvSpPr>
          <p:nvPr/>
        </p:nvSpPr>
        <p:spPr>
          <a:xfrm>
            <a:off x="7525512" y="221284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3CA6C543-A6D2-4A87-9D27-F5E53A9B4560}"/>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3" name="Oval 12">
            <a:extLst>
              <a:ext uri="{FF2B5EF4-FFF2-40B4-BE49-F238E27FC236}">
                <a16:creationId xmlns:a16="http://schemas.microsoft.com/office/drawing/2014/main" id="{FE607420-6B12-4881-91D4-EA359CCE0F94}"/>
              </a:ext>
            </a:extLst>
          </p:cNvPr>
          <p:cNvSpPr>
            <a:spLocks noGrp="1"/>
          </p:cNvSpPr>
          <p:nvPr/>
        </p:nvSpPr>
        <p:spPr>
          <a:xfrm>
            <a:off x="7525512" y="277063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2DD333-B444-4527-AA61-E8F8CBBC2654}"/>
              </a:ext>
            </a:extLst>
          </p:cNvPr>
          <p:cNvSpPr>
            <a:spLocks noGrp="1"/>
          </p:cNvSpPr>
          <p:nvPr/>
        </p:nvSpPr>
        <p:spPr>
          <a:xfrm>
            <a:off x="7699248" y="2642615"/>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PJVK: 2 categories, 1 group, 2 networks.</a:t>
            </a:r>
          </a:p>
        </p:txBody>
      </p:sp>
      <p:sp>
        <p:nvSpPr>
          <p:cNvPr id="17" name="Oval 16">
            <a:extLst>
              <a:ext uri="{FF2B5EF4-FFF2-40B4-BE49-F238E27FC236}">
                <a16:creationId xmlns:a16="http://schemas.microsoft.com/office/drawing/2014/main" id="{B61A38A8-640E-470D-BAF9-322FC289A16E}"/>
              </a:ext>
            </a:extLst>
          </p:cNvPr>
          <p:cNvSpPr>
            <a:spLocks noGrp="1"/>
          </p:cNvSpPr>
          <p:nvPr/>
        </p:nvSpPr>
        <p:spPr>
          <a:xfrm>
            <a:off x="7525512" y="332841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4264E7C-353D-4465-B025-C2683A4CA8EE}"/>
              </a:ext>
            </a:extLst>
          </p:cNvPr>
          <p:cNvSpPr>
            <a:spLocks noGrp="1"/>
          </p:cNvSpPr>
          <p:nvPr/>
        </p:nvSpPr>
        <p:spPr>
          <a:xfrm>
            <a:off x="7699248" y="3200399"/>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The remaining 19 displayed genes occur in one category.</a:t>
            </a:r>
          </a:p>
        </p:txBody>
      </p:sp>
      <p:sp>
        <p:nvSpPr>
          <p:cNvPr id="19" name="Rounded Rectangle 18">
            <a:extLst>
              <a:ext uri="{FF2B5EF4-FFF2-40B4-BE49-F238E27FC236}">
                <a16:creationId xmlns:a16="http://schemas.microsoft.com/office/drawing/2014/main" id="{A7D0E624-43DD-47B3-B5F4-DF565451AC22}"/>
              </a:ext>
            </a:extLst>
          </p:cNvPr>
          <p:cNvSpPr>
            <a:spLocks noGrp="1"/>
          </p:cNvSpPr>
          <p:nvPr/>
        </p:nvSpPr>
        <p:spPr>
          <a:xfrm>
            <a:off x="7516368" y="5074920"/>
            <a:ext cx="3749039" cy="51206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22023417-8596-4D9C-AF25-7E40295D3870}"/>
              </a:ext>
            </a:extLst>
          </p:cNvPr>
          <p:cNvSpPr>
            <a:spLocks noGrp="1"/>
          </p:cNvSpPr>
          <p:nvPr/>
        </p:nvSpPr>
        <p:spPr>
          <a:xfrm>
            <a:off x="7690104" y="5175504"/>
            <a:ext cx="3401568"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0" b="1" i="0">
                <a:solidFill>
                  <a:srgbClr val="9E3A00"/>
                </a:solidFill>
                <a:latin typeface="Arial"/>
                <a:ea typeface="Arial"/>
                <a:cs typeface="Arial"/>
              </a:rPr>
              <a:t>Only 5 categories return non-MitoCarta genes.</a:t>
            </a:r>
          </a:p>
        </p:txBody>
      </p:sp>
    </p:spTree>
    <p:extLst>
      <p:ext uri="{BB962C8B-B14F-4D97-AF65-F5344CB8AC3E}">
        <p14:creationId xmlns:p14="http://schemas.microsoft.com/office/powerpoint/2010/main" val="770598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341F45-6A8E-4711-A9EB-CA3AD2B8231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Top-five display: 17 non-MitoCarta entries across 5 categories</a:t>
            </a:r>
          </a:p>
        </p:txBody>
      </p:sp>
      <p:pic>
        <p:nvPicPr>
          <p:cNvPr id="5" name="SEA-AD top-five non-MT key drivers by sex/APOE and broad-cell category"/>
          <p:cNvPicPr>
            <a:picLocks noChangeAspect="1"/>
          </p:cNvPicPr>
          <p:nvPr/>
        </p:nvPicPr>
        <p:blipFill>
          <a:blip r:embed="rId3"/>
          <a:stretch>
            <a:fillRect/>
          </a:stretch>
        </p:blipFill>
        <p:spPr>
          <a:xfrm>
            <a:off x="612648" y="960120"/>
            <a:ext cx="10972800" cy="5221224"/>
          </a:xfrm>
          <a:prstGeom prst="rect">
            <a:avLst/>
          </a:prstGeom>
        </p:spPr>
      </p:pic>
    </p:spTree>
    <p:extLst>
      <p:ext uri="{BB962C8B-B14F-4D97-AF65-F5344CB8AC3E}">
        <p14:creationId xmlns:p14="http://schemas.microsoft.com/office/powerpoint/2010/main" val="20781944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EF2992-4E3C-442C-89F2-7BC097E6D6F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excitatory neurons: genes returned from KDA calls</a:t>
            </a:r>
          </a:p>
        </p:txBody>
      </p:sp>
      <p:sp>
        <p:nvSpPr>
          <p:cNvPr id="3" name="TextBox 2">
            <a:extLst>
              <a:ext uri="{FF2B5EF4-FFF2-40B4-BE49-F238E27FC236}">
                <a16:creationId xmlns:a16="http://schemas.microsoft.com/office/drawing/2014/main" id="{957CCBF0-B81D-4307-BF82-7F564C9373D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27 unique non-MitoCarta genes across 27 gene × category combinations; no gene recurs across sex/APOE categories.</a:t>
            </a:r>
          </a:p>
        </p:txBody>
      </p:sp>
      <p:pic>
        <p:nvPicPr>
          <p:cNvPr id="7" name="SEA-AD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5028071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8AB12A-D026-4286-B862-075E45B71C5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PART 6</a:t>
            </a:r>
          </a:p>
        </p:txBody>
      </p:sp>
      <p:sp>
        <p:nvSpPr>
          <p:cNvPr id="3" name="Rectangle 2">
            <a:extLst>
              <a:ext uri="{FF2B5EF4-FFF2-40B4-BE49-F238E27FC236}">
                <a16:creationId xmlns:a16="http://schemas.microsoft.com/office/drawing/2014/main" id="{9B90BBA1-E9E2-4E17-A6C8-66AF73EEFBD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AF6BA42-08C4-4EA5-A344-09381D0B027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Direct broad-cell validation</a:t>
            </a:r>
          </a:p>
        </p:txBody>
      </p:sp>
      <p:sp>
        <p:nvSpPr>
          <p:cNvPr id="5" name="TextBox 4">
            <a:extLst>
              <a:ext uri="{FF2B5EF4-FFF2-40B4-BE49-F238E27FC236}">
                <a16:creationId xmlns:a16="http://schemas.microsoft.com/office/drawing/2014/main" id="{2067FDA8-407C-4DBE-B763-2AC484C63E1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secondary analysis tests whether fine-cell findings persist when cells are combined into broad classes.</a:t>
            </a:r>
          </a:p>
        </p:txBody>
      </p:sp>
      <p:sp>
        <p:nvSpPr>
          <p:cNvPr id="6" name="Rounded Rectangle 5">
            <a:extLst>
              <a:ext uri="{FF2B5EF4-FFF2-40B4-BE49-F238E27FC236}">
                <a16:creationId xmlns:a16="http://schemas.microsoft.com/office/drawing/2014/main" id="{3D417846-D3C8-43D7-A99E-359027C6D74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C1A4EC2-5414-418D-9D33-A636ADFB559C}"/>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PART</a:t>
            </a:r>
          </a:p>
        </p:txBody>
      </p:sp>
      <p:sp>
        <p:nvSpPr>
          <p:cNvPr id="8" name="Oval 7">
            <a:extLst>
              <a:ext uri="{FF2B5EF4-FFF2-40B4-BE49-F238E27FC236}">
                <a16:creationId xmlns:a16="http://schemas.microsoft.com/office/drawing/2014/main" id="{7D989CA6-1B16-4974-BEE8-CD8009EA7F8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03E7C55-5C6F-4719-AB0F-5EFB8E09B2D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8E80E10-25DA-460A-B848-8A88ABF781AE}"/>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Analysis resolution</a:t>
            </a:r>
          </a:p>
        </p:txBody>
      </p:sp>
      <p:sp>
        <p:nvSpPr>
          <p:cNvPr id="11" name="Oval 10">
            <a:extLst>
              <a:ext uri="{FF2B5EF4-FFF2-40B4-BE49-F238E27FC236}">
                <a16:creationId xmlns:a16="http://schemas.microsoft.com/office/drawing/2014/main" id="{3CDE8AE7-2294-4DE5-980E-32E501A6C09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F7ACA8-9E5D-4F7D-9F5E-1C89B8FBD38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0F70274-A525-4BB9-A129-15E33D9F61D7}"/>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Broad-cell comparison</a:t>
            </a:r>
          </a:p>
        </p:txBody>
      </p:sp>
      <p:sp>
        <p:nvSpPr>
          <p:cNvPr id="14" name="Oval 13">
            <a:extLst>
              <a:ext uri="{FF2B5EF4-FFF2-40B4-BE49-F238E27FC236}">
                <a16:creationId xmlns:a16="http://schemas.microsoft.com/office/drawing/2014/main" id="{A5541F68-CF6A-4665-AEE6-F8BA0BD6271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6A3F6F-C41C-44D9-B1B9-F84CE5103C8B}"/>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1A32B75A-B123-4918-8015-2D4F13003D0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Pathway workflow</a:t>
            </a:r>
          </a:p>
        </p:txBody>
      </p:sp>
      <p:sp>
        <p:nvSpPr>
          <p:cNvPr id="17" name="Oval 16">
            <a:extLst>
              <a:ext uri="{FF2B5EF4-FFF2-40B4-BE49-F238E27FC236}">
                <a16:creationId xmlns:a16="http://schemas.microsoft.com/office/drawing/2014/main" id="{7E5D2E0A-EEB4-4E1B-BE39-4C5A4649E1E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8954FAC-8826-4644-A259-79B90925CF5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FE01F0D-1D60-41F0-AA9B-D1D892B891B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ES and NES calculation</a:t>
            </a:r>
          </a:p>
        </p:txBody>
      </p:sp>
      <p:sp>
        <p:nvSpPr>
          <p:cNvPr id="20" name="Rounded Rectangle 19">
            <a:extLst>
              <a:ext uri="{FF2B5EF4-FFF2-40B4-BE49-F238E27FC236}">
                <a16:creationId xmlns:a16="http://schemas.microsoft.com/office/drawing/2014/main" id="{CCEC5EAA-C189-406C-9B90-06ED8DBF0FF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67AE32-97EB-4716-897E-EF1FA7C0A5E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Direct broad-cell analysis is supporting evidence; fine-cell analysis remains the primary resolution.</a:t>
            </a:r>
          </a:p>
        </p:txBody>
      </p:sp>
    </p:spTree>
    <p:extLst>
      <p:ext uri="{BB962C8B-B14F-4D97-AF65-F5344CB8AC3E}">
        <p14:creationId xmlns:p14="http://schemas.microsoft.com/office/powerpoint/2010/main" val="19766399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Fine-cell summaries and direct broad-cell analysis answer different questions</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order of aggregation and testing changes the biological resolution.</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Fine-cell primary</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Direct broad secondary</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Same AD-versus-NCI contrast</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Different resolution</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FINE-CELL ANALYSIS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Test each fine cell type</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Run AD-versus-NCI DEG analysis separately within each fine cell type, sex, and APOE group. Summarize results later by broad class.</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DIRECT BROAD-CELL ANALYSIS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Combine cells before testing</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lang="en-US" sz="1220" b="0" i="0" dirty="0">
                <a:solidFill>
                  <a:srgbClr val="1F2730"/>
                </a:solidFill>
                <a:latin typeface="Arial"/>
                <a:ea typeface="Arial"/>
                <a:cs typeface="Arial"/>
              </a:rPr>
              <a:t>Within each donor, c</a:t>
            </a:r>
            <a:r>
              <a:rPr sz="1220" b="0" i="0" dirty="0">
                <a:solidFill>
                  <a:srgbClr val="1F2730"/>
                </a:solidFill>
                <a:latin typeface="Arial"/>
                <a:ea typeface="Arial"/>
                <a:cs typeface="Arial"/>
              </a:rPr>
              <a:t>ombine cells belonging to one broad class, then compare AD with NCI within one sex/APOE group.</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WHY BOTH ARE USEFUL</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Resolution check</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Agreement strengthens a finding. Disagreement means that the result depends on cell resolution.</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46918"/>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301829"/>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Fine-cell analysis retains subtype localization. Direct broad-cell analysis retains donor-level structure but mixes fine cell types.</a:t>
            </a:r>
          </a:p>
        </p:txBody>
      </p:sp>
    </p:spTree>
    <p:extLst>
      <p:ext uri="{BB962C8B-B14F-4D97-AF65-F5344CB8AC3E}">
        <p14:creationId xmlns:p14="http://schemas.microsoft.com/office/powerpoint/2010/main" val="12621582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221FFC-B8D1-496E-A536-22D57CBEFE4E}"/>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How direct broad-cell pathway validation was done</a:t>
            </a:r>
          </a:p>
        </p:txBody>
      </p:sp>
      <p:sp>
        <p:nvSpPr>
          <p:cNvPr id="5" name="Rounded Rectangle 4">
            <a:extLst>
              <a:ext uri="{FF2B5EF4-FFF2-40B4-BE49-F238E27FC236}">
                <a16:creationId xmlns:a16="http://schemas.microsoft.com/office/drawing/2014/main" id="{46E88943-8734-4E23-A8AF-1BFDF11E7331}"/>
              </a:ext>
            </a:extLst>
          </p:cNvPr>
          <p:cNvSpPr>
            <a:spLocks noGrp="1"/>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289406B0-EF9A-4E79-B36A-4427A6153B61}"/>
              </a:ext>
            </a:extLst>
          </p:cNvPr>
          <p:cNvSpPr>
            <a:spLocks noGrp="1"/>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1C6F10-E5E1-4BB4-A387-04C150B20AA8}"/>
              </a:ext>
            </a:extLst>
          </p:cNvPr>
          <p:cNvSpPr>
            <a:spLocks noGrp="1"/>
          </p:cNvSpPr>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1</a:t>
            </a:r>
          </a:p>
        </p:txBody>
      </p:sp>
      <p:sp>
        <p:nvSpPr>
          <p:cNvPr id="8" name="TextBox 7">
            <a:extLst>
              <a:ext uri="{FF2B5EF4-FFF2-40B4-BE49-F238E27FC236}">
                <a16:creationId xmlns:a16="http://schemas.microsoft.com/office/drawing/2014/main" id="{F22D91EF-D9BC-409A-9ACA-8738658F8584}"/>
              </a:ext>
            </a:extLst>
          </p:cNvPr>
          <p:cNvSpPr>
            <a:spLocks noGrp="1"/>
          </p:cNvSpPr>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Combine cells by donor</a:t>
            </a:r>
          </a:p>
        </p:txBody>
      </p:sp>
      <p:sp>
        <p:nvSpPr>
          <p:cNvPr id="9" name="TextBox 8">
            <a:extLst>
              <a:ext uri="{FF2B5EF4-FFF2-40B4-BE49-F238E27FC236}">
                <a16:creationId xmlns:a16="http://schemas.microsoft.com/office/drawing/2014/main" id="{60C194DE-54EB-476E-8EDE-572C60849D23}"/>
              </a:ext>
            </a:extLst>
          </p:cNvPr>
          <p:cNvSpPr>
            <a:spLocks noGrp="1"/>
          </p:cNvSpPr>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one broad class within each donor</a:t>
            </a:r>
          </a:p>
        </p:txBody>
      </p:sp>
      <p:sp>
        <p:nvSpPr>
          <p:cNvPr id="10" name="Rounded Rectangle 9">
            <a:extLst>
              <a:ext uri="{FF2B5EF4-FFF2-40B4-BE49-F238E27FC236}">
                <a16:creationId xmlns:a16="http://schemas.microsoft.com/office/drawing/2014/main" id="{6146D296-CE83-45BB-AD0D-3A7A6C16FE5F}"/>
              </a:ext>
            </a:extLst>
          </p:cNvPr>
          <p:cNvSpPr>
            <a:spLocks noGrp="1"/>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6A2FDC54-9072-421A-B955-DD62AE6235F9}"/>
              </a:ext>
            </a:extLst>
          </p:cNvPr>
          <p:cNvSpPr>
            <a:spLocks noGrp="1"/>
          </p:cNvSpPr>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Pool cells from one broad class within each donor.</a:t>
            </a:r>
          </a:p>
        </p:txBody>
      </p:sp>
      <p:sp>
        <p:nvSpPr>
          <p:cNvPr id="12" name="Rounded Rectangle 11">
            <a:extLst>
              <a:ext uri="{FF2B5EF4-FFF2-40B4-BE49-F238E27FC236}">
                <a16:creationId xmlns:a16="http://schemas.microsoft.com/office/drawing/2014/main" id="{3D6A8284-7A31-4380-B904-A0B59015231A}"/>
              </a:ext>
            </a:extLst>
          </p:cNvPr>
          <p:cNvSpPr>
            <a:spLocks noGrp="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1B9491F2-A95B-404C-9125-3CAAEE2F4998}"/>
              </a:ext>
            </a:extLst>
          </p:cNvPr>
          <p:cNvSpPr>
            <a:spLocks noGrp="1"/>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22387C4-7931-4CE7-BDE7-F35D8D087AE8}"/>
              </a:ext>
            </a:extLst>
          </p:cNvPr>
          <p:cNvSpPr>
            <a:spLocks noGrp="1"/>
          </p:cNvSpPr>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2</a:t>
            </a:r>
          </a:p>
        </p:txBody>
      </p:sp>
      <p:sp>
        <p:nvSpPr>
          <p:cNvPr id="15" name="TextBox 14">
            <a:extLst>
              <a:ext uri="{FF2B5EF4-FFF2-40B4-BE49-F238E27FC236}">
                <a16:creationId xmlns:a16="http://schemas.microsoft.com/office/drawing/2014/main" id="{F0443E6F-1577-4127-9A0B-40BE604BD958}"/>
              </a:ext>
            </a:extLst>
          </p:cNvPr>
          <p:cNvSpPr>
            <a:spLocks noGrp="1"/>
          </p:cNvSpPr>
          <p:nvPr/>
        </p:nvSpPr>
        <p:spPr>
          <a:xfrm>
            <a:off x="3639312" y="2267712"/>
            <a:ext cx="2157984" cy="6339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Compare AD with NCI</a:t>
            </a:r>
          </a:p>
        </p:txBody>
      </p:sp>
      <p:sp>
        <p:nvSpPr>
          <p:cNvPr id="16" name="TextBox 15">
            <a:extLst>
              <a:ext uri="{FF2B5EF4-FFF2-40B4-BE49-F238E27FC236}">
                <a16:creationId xmlns:a16="http://schemas.microsoft.com/office/drawing/2014/main" id="{7001D801-ADA4-403D-BAD3-04BAFAA2F71C}"/>
              </a:ext>
            </a:extLst>
          </p:cNvPr>
          <p:cNvSpPr>
            <a:spLocks noGrp="1"/>
          </p:cNvSpPr>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sex/APOE group × broad class</a:t>
            </a:r>
          </a:p>
        </p:txBody>
      </p:sp>
      <p:sp>
        <p:nvSpPr>
          <p:cNvPr id="17" name="Rounded Rectangle 16">
            <a:extLst>
              <a:ext uri="{FF2B5EF4-FFF2-40B4-BE49-F238E27FC236}">
                <a16:creationId xmlns:a16="http://schemas.microsoft.com/office/drawing/2014/main" id="{A3D98377-F5A3-4F8F-BAB6-FDC375C4B716}"/>
              </a:ext>
            </a:extLst>
          </p:cNvPr>
          <p:cNvSpPr>
            <a:spLocks noGrp="1"/>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7EF9E3C-D045-44CE-881A-1A65D09E147D}"/>
              </a:ext>
            </a:extLst>
          </p:cNvPr>
          <p:cNvSpPr>
            <a:spLocks noGrp="1"/>
          </p:cNvSpPr>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Run one differential-expression comparison for each group and broad cell class.</a:t>
            </a:r>
          </a:p>
        </p:txBody>
      </p:sp>
      <p:sp>
        <p:nvSpPr>
          <p:cNvPr id="19" name="Rounded Rectangle 18">
            <a:extLst>
              <a:ext uri="{FF2B5EF4-FFF2-40B4-BE49-F238E27FC236}">
                <a16:creationId xmlns:a16="http://schemas.microsoft.com/office/drawing/2014/main" id="{DF469515-F5B8-43BD-8069-1C1E5125CEA0}"/>
              </a:ext>
            </a:extLst>
          </p:cNvPr>
          <p:cNvSpPr>
            <a:spLocks noGrp="1"/>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D04E537C-15DA-48A6-89FB-F8113B7AC3F0}"/>
              </a:ext>
            </a:extLst>
          </p:cNvPr>
          <p:cNvSpPr>
            <a:spLocks noGrp="1"/>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9C0C3F9-A3D6-433E-8DFC-3418EFBC3EA7}"/>
              </a:ext>
            </a:extLst>
          </p:cNvPr>
          <p:cNvSpPr>
            <a:spLocks noGrp="1"/>
          </p:cNvSpPr>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3</a:t>
            </a:r>
          </a:p>
        </p:txBody>
      </p:sp>
      <p:sp>
        <p:nvSpPr>
          <p:cNvPr id="22" name="TextBox 21">
            <a:extLst>
              <a:ext uri="{FF2B5EF4-FFF2-40B4-BE49-F238E27FC236}">
                <a16:creationId xmlns:a16="http://schemas.microsoft.com/office/drawing/2014/main" id="{FADF91BF-7B86-4FED-A4B7-C7F5A4F14485}"/>
              </a:ext>
            </a:extLst>
          </p:cNvPr>
          <p:cNvSpPr>
            <a:spLocks noGrp="1"/>
          </p:cNvSpPr>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Rank tested MitoCarta MT genes</a:t>
            </a:r>
          </a:p>
        </p:txBody>
      </p:sp>
      <p:sp>
        <p:nvSpPr>
          <p:cNvPr id="23" name="TextBox 22">
            <a:extLst>
              <a:ext uri="{FF2B5EF4-FFF2-40B4-BE49-F238E27FC236}">
                <a16:creationId xmlns:a16="http://schemas.microsoft.com/office/drawing/2014/main" id="{B842083C-0C8D-4B4B-B1A5-57F55B7604BB}"/>
              </a:ext>
            </a:extLst>
          </p:cNvPr>
          <p:cNvSpPr>
            <a:spLocks noGrp="1"/>
          </p:cNvSpPr>
          <p:nvPr/>
        </p:nvSpPr>
        <p:spPr>
          <a:xfrm>
            <a:off x="6473952" y="3313356"/>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dirty="0">
                <a:solidFill>
                  <a:srgbClr val="0072B2"/>
                </a:solidFill>
                <a:latin typeface="Arial"/>
                <a:ea typeface="Arial"/>
                <a:cs typeface="Arial"/>
              </a:rPr>
              <a:t>AD-up to AD-down</a:t>
            </a:r>
          </a:p>
        </p:txBody>
      </p:sp>
      <p:sp>
        <p:nvSpPr>
          <p:cNvPr id="24" name="Rounded Rectangle 23">
            <a:extLst>
              <a:ext uri="{FF2B5EF4-FFF2-40B4-BE49-F238E27FC236}">
                <a16:creationId xmlns:a16="http://schemas.microsoft.com/office/drawing/2014/main" id="{73FCD190-7E9B-4971-809E-FDF0267FFC24}"/>
              </a:ext>
            </a:extLst>
          </p:cNvPr>
          <p:cNvSpPr>
            <a:spLocks noGrp="1"/>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4BA8FC0-C20F-4CB2-9C47-48A6A6F99B5D}"/>
              </a:ext>
            </a:extLst>
          </p:cNvPr>
          <p:cNvSpPr>
            <a:spLocks noGrp="1"/>
          </p:cNvSpPr>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Order genes from strongest AD-up to strongest AD-down evidence.</a:t>
            </a:r>
          </a:p>
          <a:p>
            <a:pPr algn="ctr">
              <a:lnSpc>
                <a:spcPct val="100000"/>
              </a:lnSpc>
              <a:spcBef>
                <a:spcPts val="0"/>
              </a:spcBef>
              <a:spcAft>
                <a:spcPts val="0"/>
              </a:spcAft>
              <a:buNone/>
            </a:pPr>
            <a:endParaRPr sz="1130" b="0" i="0">
              <a:solidFill>
                <a:srgbClr val="4E5A68"/>
              </a:solidFill>
              <a:latin typeface="Arial"/>
              <a:ea typeface="Arial"/>
              <a:cs typeface="Arial"/>
            </a:endParaRPr>
          </a:p>
        </p:txBody>
      </p:sp>
      <p:sp>
        <p:nvSpPr>
          <p:cNvPr id="26" name="Rounded Rectangle 25">
            <a:extLst>
              <a:ext uri="{FF2B5EF4-FFF2-40B4-BE49-F238E27FC236}">
                <a16:creationId xmlns:a16="http://schemas.microsoft.com/office/drawing/2014/main" id="{ECCE965F-10FE-43B6-9A15-9DB9A4A772BA}"/>
              </a:ext>
            </a:extLst>
          </p:cNvPr>
          <p:cNvSpPr>
            <a:spLocks noGrp="1"/>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Oval 26">
            <a:extLst>
              <a:ext uri="{FF2B5EF4-FFF2-40B4-BE49-F238E27FC236}">
                <a16:creationId xmlns:a16="http://schemas.microsoft.com/office/drawing/2014/main" id="{0F316496-2745-40F5-8FA3-A536F057DFD9}"/>
              </a:ext>
            </a:extLst>
          </p:cNvPr>
          <p:cNvSpPr>
            <a:spLocks noGrp="1"/>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D6A51F87-D6F7-46B1-805E-981A290663B3}"/>
              </a:ext>
            </a:extLst>
          </p:cNvPr>
          <p:cNvSpPr>
            <a:spLocks noGrp="1"/>
          </p:cNvSpPr>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4</a:t>
            </a:r>
          </a:p>
        </p:txBody>
      </p:sp>
      <p:sp>
        <p:nvSpPr>
          <p:cNvPr id="29" name="TextBox 28">
            <a:extLst>
              <a:ext uri="{FF2B5EF4-FFF2-40B4-BE49-F238E27FC236}">
                <a16:creationId xmlns:a16="http://schemas.microsoft.com/office/drawing/2014/main" id="{081F480E-EA43-4A99-9E7F-3B8C8BB6E908}"/>
              </a:ext>
            </a:extLst>
          </p:cNvPr>
          <p:cNvSpPr>
            <a:spLocks noGrp="1"/>
          </p:cNvSpPr>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Test each pathway</a:t>
            </a:r>
          </a:p>
        </p:txBody>
      </p:sp>
      <p:sp>
        <p:nvSpPr>
          <p:cNvPr id="30" name="TextBox 29">
            <a:extLst>
              <a:ext uri="{FF2B5EF4-FFF2-40B4-BE49-F238E27FC236}">
                <a16:creationId xmlns:a16="http://schemas.microsoft.com/office/drawing/2014/main" id="{3CFF8CEC-C169-4B64-A39A-03FB9E8AAF1C}"/>
              </a:ext>
            </a:extLst>
          </p:cNvPr>
          <p:cNvSpPr>
            <a:spLocks noGrp="1"/>
          </p:cNvSpPr>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E69F00"/>
                </a:solidFill>
                <a:latin typeface="Arial"/>
                <a:ea typeface="Arial"/>
                <a:cs typeface="Arial"/>
              </a:rPr>
              <a:t>ranked-gene pathway analysis</a:t>
            </a:r>
          </a:p>
        </p:txBody>
      </p:sp>
      <p:sp>
        <p:nvSpPr>
          <p:cNvPr id="31" name="Rounded Rectangle 30">
            <a:extLst>
              <a:ext uri="{FF2B5EF4-FFF2-40B4-BE49-F238E27FC236}">
                <a16:creationId xmlns:a16="http://schemas.microsoft.com/office/drawing/2014/main" id="{8A9606BF-576C-4D4A-A6E8-E536878F1F74}"/>
              </a:ext>
            </a:extLst>
          </p:cNvPr>
          <p:cNvSpPr>
            <a:spLocks noGrp="1"/>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51EDF7F-2A80-4AA9-B0A2-6B07730F92E2}"/>
              </a:ext>
            </a:extLst>
          </p:cNvPr>
          <p:cNvSpPr>
            <a:spLocks noGrp="1"/>
          </p:cNvSpPr>
          <p:nvPr/>
        </p:nvSpPr>
        <p:spPr>
          <a:xfrm>
            <a:off x="9436608" y="4105152"/>
            <a:ext cx="1901952"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Ask whether pathway genes concentrate toward one end of the ranked list.</a:t>
            </a:r>
          </a:p>
        </p:txBody>
      </p:sp>
    </p:spTree>
    <p:extLst>
      <p:ext uri="{BB962C8B-B14F-4D97-AF65-F5344CB8AC3E}">
        <p14:creationId xmlns:p14="http://schemas.microsoft.com/office/powerpoint/2010/main" val="249508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lang="en-US" sz="2200" b="1" i="0" dirty="0">
                <a:solidFill>
                  <a:srgbClr val="0F233D"/>
                </a:solidFill>
                <a:latin typeface="Arial"/>
                <a:ea typeface="Arial"/>
                <a:cs typeface="Arial"/>
              </a:rPr>
              <a:t>R</a:t>
            </a:r>
            <a:r>
              <a:rPr sz="2200" b="1" i="0" dirty="0">
                <a:solidFill>
                  <a:srgbClr val="0F233D"/>
                </a:solidFill>
                <a:latin typeface="Arial"/>
                <a:ea typeface="Arial"/>
                <a:cs typeface="Arial"/>
              </a:rPr>
              <a:t>ank score for direct broad-cell GSEA</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1146818"/>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dirty="0">
                <a:latin typeface="Arial"/>
                <a:ea typeface="Arial"/>
                <a:cs typeface="Arial"/>
              </a:rPr>
              <a:t>Every tested </a:t>
            </a:r>
            <a:r>
              <a:rPr sz="1400" b="1" i="0" dirty="0" err="1">
                <a:latin typeface="Arial"/>
                <a:ea typeface="Arial"/>
                <a:cs typeface="Arial"/>
              </a:rPr>
              <a:t>MitoCarta</a:t>
            </a:r>
            <a:r>
              <a:rPr sz="1400" b="1" i="0" dirty="0">
                <a:latin typeface="Arial"/>
                <a:ea typeface="Arial"/>
                <a:cs typeface="Arial"/>
              </a:rPr>
              <a:t> MT gene receives a signed score before pathway testing.</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708773"/>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STUDY RANKING RULE</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495109"/>
            <a:ext cx="2907792" cy="64017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dirty="0">
                <a:solidFill>
                  <a:srgbClr val="0F233D"/>
                </a:solidFill>
                <a:latin typeface="Arial"/>
                <a:ea typeface="Arial"/>
                <a:cs typeface="Arial"/>
              </a:rPr>
              <a:t>rank score = </a:t>
            </a:r>
            <a:endParaRPr lang="en-US" sz="1900" b="1" i="0" dirty="0">
              <a:solidFill>
                <a:srgbClr val="0F233D"/>
              </a:solidFill>
              <a:latin typeface="Arial"/>
              <a:ea typeface="Arial"/>
              <a:cs typeface="Arial"/>
            </a:endParaRPr>
          </a:p>
          <a:p>
            <a:pPr algn="ctr">
              <a:lnSpc>
                <a:spcPct val="100000"/>
              </a:lnSpc>
              <a:spcBef>
                <a:spcPts val="0"/>
              </a:spcBef>
              <a:spcAft>
                <a:spcPts val="0"/>
              </a:spcAft>
              <a:buNone/>
            </a:pPr>
            <a:r>
              <a:rPr sz="1900" b="1" i="0" dirty="0">
                <a:solidFill>
                  <a:srgbClr val="0F233D"/>
                </a:solidFill>
                <a:latin typeface="Arial"/>
                <a:ea typeface="Arial"/>
                <a:cs typeface="Arial"/>
              </a:rPr>
              <a:t>sign(</a:t>
            </a:r>
            <a:r>
              <a:rPr sz="1900" b="1" i="0" dirty="0" err="1">
                <a:solidFill>
                  <a:srgbClr val="0F233D"/>
                </a:solidFill>
                <a:latin typeface="Arial"/>
                <a:ea typeface="Arial"/>
                <a:cs typeface="Arial"/>
              </a:rPr>
              <a:t>logFC</a:t>
            </a:r>
            <a:r>
              <a:rPr sz="1900" b="1" i="0" dirty="0">
                <a:solidFill>
                  <a:srgbClr val="0F233D"/>
                </a:solidFill>
                <a:latin typeface="Arial"/>
                <a:ea typeface="Arial"/>
                <a:cs typeface="Arial"/>
              </a:rPr>
              <a:t>) × √F</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err="1">
                <a:solidFill>
                  <a:srgbClr val="1F2730"/>
                </a:solidFill>
                <a:latin typeface="Arial"/>
                <a:ea typeface="Arial"/>
                <a:cs typeface="Arial"/>
              </a:rPr>
              <a:t>logFC</a:t>
            </a:r>
            <a:r>
              <a:rPr sz="1220" b="0" i="0" dirty="0">
                <a:solidFill>
                  <a:srgbClr val="1F2730"/>
                </a:solidFill>
                <a:latin typeface="Arial"/>
                <a:ea typeface="Arial"/>
                <a:cs typeface="Arial"/>
              </a:rPr>
              <a:t> is AD versus NCI. Its sign sets the direction. √F sets the score magnitude.</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708773"/>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WHY USE √F?</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45858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 measures statistical evidence</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 comes from the edgeR quasi-likelihood test. For this one-degree-of-freedom contrast, √F gives a t-like scale and preserves the ordering set by F.</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708773"/>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001381"/>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WHY NOT logFC ALONE?</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458581"/>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Large estimates can be noisy</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464421"/>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40" b="0" i="0">
                <a:solidFill>
                  <a:srgbClr val="1F2730"/>
                </a:solidFill>
                <a:latin typeface="Arial"/>
                <a:ea typeface="Arial"/>
                <a:cs typeface="Arial"/>
              </a:rPr>
              <a:t>Gene A: logFC +2.0, F = 0.25, score +0.5. Gene B: logFC +0.5, F = 16, score +4.0. Stronger statistical support places Gene B higher.</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02789"/>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This is the study's ranking rule for targeted MitoCarta GSEA. GSEA does not require one universal ranking formula.</a:t>
            </a:r>
          </a:p>
        </p:txBody>
      </p:sp>
    </p:spTree>
    <p:extLst>
      <p:ext uri="{BB962C8B-B14F-4D97-AF65-F5344CB8AC3E}">
        <p14:creationId xmlns:p14="http://schemas.microsoft.com/office/powerpoint/2010/main" val="12621582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the enrichment score is calculated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GSEA walks through 1,134 tested MitoCarta MT genes ranked from strongest AD-up to strongest AD-down evidence.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440000"/>
            <a:ext cx="3420000" cy="455000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00000" y="1740000"/>
            <a:ext cx="2700000" cy="2300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RUNNING-SCORE RULES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00000" y="2240000"/>
            <a:ext cx="2700000" cy="3000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60" b="1" i="0">
                <a:solidFill>
                  <a:srgbClr val="0F233D"/>
                </a:solidFill>
                <a:latin typeface="Arial"/>
                <a:ea typeface="Arial"/>
                <a:cs typeface="Arial"/>
              </a:rPr>
              <a:t>Pathway gene</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00000" y="2570000"/>
            <a:ext cx="2700000" cy="5500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80" b="1" i="0">
                <a:solidFill>
                  <a:srgbClr val="9E3A00"/>
                </a:solidFill>
                <a:latin typeface="Arial"/>
                <a:ea typeface="Arial"/>
                <a:cs typeface="Arial"/>
              </a:rPr>
              <a:t>+ |rᵢ| ÷ Σpathway |rⱼ|</a:t>
            </a: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900000" y="3400000"/>
            <a:ext cx="2700000" cy="3000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60" b="1" i="0">
                <a:solidFill>
                  <a:srgbClr val="0F233D"/>
                </a:solidFill>
                <a:latin typeface="Arial"/>
                <a:ea typeface="Arial"/>
                <a:cs typeface="Arial"/>
              </a:rPr>
              <a:t>Other tested gene</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900000" y="3730000"/>
            <a:ext cx="2700000" cy="5500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680" b="1" i="0">
                <a:solidFill>
                  <a:srgbClr val="2F5597"/>
                </a:solidFill>
                <a:latin typeface="Arial"/>
                <a:ea typeface="Arial"/>
                <a:cs typeface="Arial"/>
              </a:rPr>
              <a:t>− 1 ÷ (N − Nₕ)</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900000" y="4570000"/>
            <a:ext cx="2700000" cy="92000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0" i="0">
                <a:solidFill>
                  <a:srgbClr val="4E5A68"/>
                </a:solidFill>
                <a:latin typeface="Arial"/>
                <a:ea typeface="Arial"/>
                <a:cs typeface="Arial"/>
              </a:rPr>
              <a:t>rᵢ = signed rank score</a:t>
            </a:r>
          </a:p>
          <a:p>
            <a:pPr algn="l">
              <a:lnSpc>
                <a:spcPct val="100000"/>
              </a:lnSpc>
              <a:spcBef>
                <a:spcPts val="0"/>
              </a:spcBef>
              <a:spcAft>
                <a:spcPts val="0"/>
              </a:spcAft>
              <a:buNone/>
            </a:pPr>
            <a:r>
              <a:rPr sz="1100" b="0" i="0">
                <a:solidFill>
                  <a:srgbClr val="4E5A68"/>
                </a:solidFill>
                <a:latin typeface="Arial"/>
                <a:ea typeface="Arial"/>
                <a:cs typeface="Arial"/>
              </a:rPr>
              <a:t>Σpathway |rⱼ| = total absolute score of the 13 pathway genes</a:t>
            </a:r>
          </a:p>
          <a:p>
            <a:pPr algn="l">
              <a:lnSpc>
                <a:spcPct val="100000"/>
              </a:lnSpc>
              <a:spcBef>
                <a:spcPts val="0"/>
              </a:spcBef>
              <a:spcAft>
                <a:spcPts val="0"/>
              </a:spcAft>
              <a:buNone/>
            </a:pPr>
            <a:r>
              <a:rPr sz="1100" b="0" i="0">
                <a:solidFill>
                  <a:srgbClr val="4E5A68"/>
                </a:solidFill>
                <a:latin typeface="Arial"/>
                <a:ea typeface="Arial"/>
                <a:cs typeface="Arial"/>
              </a:rPr>
              <a:t>N = 1,134 tested genes; Nₕ = 13 pathway genes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4270000" y="1440000"/>
            <a:ext cx="7420000" cy="455000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73812"/>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dirty="0">
                <a:solidFill>
                  <a:srgbClr val="7E4C9A"/>
                </a:solidFill>
                <a:latin typeface="Arial"/>
                <a:ea typeface="Arial"/>
                <a:cs typeface="Arial"/>
              </a:rPr>
              <a:t>ES is the largest signed distance from zero. Here, ES = +0.9586 because core MT genes cluster near the AD-up end.</a:t>
            </a:r>
          </a:p>
        </p:txBody>
      </p:sp>
      <p:sp>
        <p:nvSpPr>
          <p:cNvPr id="26" name="Chart title"/>
          <p:cNvSpPr>
            <a:spLocks noGrp="1"/>
          </p:cNvSpPr>
          <p:nvPr/>
        </p:nvSpPr>
        <p:spPr>
          <a:xfrm>
            <a:off x="4700000" y="1640000"/>
            <a:ext cx="6260000" cy="300000"/>
          </a:xfrm>
          <a:prstGeom prst="rect">
            <a:avLst/>
          </a:prstGeom>
          <a:noFill/>
        </p:spPr>
        <p:txBody>
          <a:bodyPr wrap="square" lIns="27432" tIns="13716" rIns="27432" bIns="13716" anchor="ctr"/>
          <a:lstStyle/>
          <a:p>
            <a:pPr algn="ctr">
              <a:buNone/>
            </a:pPr>
            <a:r>
              <a:rPr sz="1260" b="1">
                <a:solidFill>
                  <a:srgbClr val="0F233D"/>
                </a:solidFill>
                <a:latin typeface="Arial"/>
                <a:ea typeface="Arial"/>
                <a:cs typeface="Arial"/>
              </a:rPr>
              <a:t>Female ε3/ε3 excitatory core MT example</a:t>
            </a:r>
            <a:endParaRPr lang="en-US"/>
          </a:p>
        </p:txBody>
      </p:sp>
      <p:sp>
        <p:nvSpPr>
          <p:cNvPr id="27" name="Gridline 0.0"/>
          <p:cNvSpPr/>
          <p:nvPr/>
        </p:nvSpPr>
        <p:spPr>
          <a:xfrm>
            <a:off x="4700000" y="4770000"/>
            <a:ext cx="6260000" cy="0"/>
          </a:xfrm>
          <a:prstGeom prst="line">
            <a:avLst/>
          </a:prstGeom>
          <a:ln w="15000">
            <a:solidFill>
              <a:srgbClr val="7B8794"/>
            </a:solidFill>
          </a:ln>
        </p:spPr>
        <p:txBody>
          <a:bodyPr/>
          <a:lstStyle/>
          <a:p>
            <a:endParaRPr lang="en-US"/>
          </a:p>
        </p:txBody>
      </p:sp>
      <p:sp>
        <p:nvSpPr>
          <p:cNvPr id="28" name="Y label 0.0"/>
          <p:cNvSpPr>
            <a:spLocks noGrp="1"/>
          </p:cNvSpPr>
          <p:nvPr/>
        </p:nvSpPr>
        <p:spPr>
          <a:xfrm>
            <a:off x="4280000" y="4670000"/>
            <a:ext cx="360000" cy="200000"/>
          </a:xfrm>
          <a:prstGeom prst="rect">
            <a:avLst/>
          </a:prstGeom>
          <a:noFill/>
        </p:spPr>
        <p:txBody>
          <a:bodyPr wrap="square" lIns="27432" tIns="13716" rIns="27432" bIns="13716" anchor="ctr"/>
          <a:lstStyle/>
          <a:p>
            <a:pPr algn="r">
              <a:buNone/>
            </a:pPr>
            <a:r>
              <a:rPr sz="860" b="0">
                <a:solidFill>
                  <a:srgbClr val="4E5A68"/>
                </a:solidFill>
                <a:latin typeface="Arial"/>
                <a:ea typeface="Arial"/>
                <a:cs typeface="Arial"/>
              </a:rPr>
              <a:t>0.0</a:t>
            </a:r>
            <a:endParaRPr lang="en-US"/>
          </a:p>
        </p:txBody>
      </p:sp>
      <p:sp>
        <p:nvSpPr>
          <p:cNvPr id="29" name="Gridline 0.5"/>
          <p:cNvSpPr/>
          <p:nvPr/>
        </p:nvSpPr>
        <p:spPr>
          <a:xfrm>
            <a:off x="4700000" y="3470980"/>
            <a:ext cx="6260000" cy="0"/>
          </a:xfrm>
          <a:prstGeom prst="line">
            <a:avLst/>
          </a:prstGeom>
          <a:ln w="8000">
            <a:solidFill>
              <a:srgbClr val="CBD5E1"/>
            </a:solidFill>
            <a:prstDash val="dash"/>
          </a:ln>
        </p:spPr>
        <p:txBody>
          <a:bodyPr/>
          <a:lstStyle/>
          <a:p>
            <a:endParaRPr lang="en-US"/>
          </a:p>
        </p:txBody>
      </p:sp>
      <p:sp>
        <p:nvSpPr>
          <p:cNvPr id="30" name="Y label 0.5"/>
          <p:cNvSpPr>
            <a:spLocks noGrp="1"/>
          </p:cNvSpPr>
          <p:nvPr/>
        </p:nvSpPr>
        <p:spPr>
          <a:xfrm>
            <a:off x="4280000" y="3370980"/>
            <a:ext cx="360000" cy="200000"/>
          </a:xfrm>
          <a:prstGeom prst="rect">
            <a:avLst/>
          </a:prstGeom>
          <a:noFill/>
        </p:spPr>
        <p:txBody>
          <a:bodyPr wrap="square" lIns="27432" tIns="13716" rIns="27432" bIns="13716" anchor="ctr"/>
          <a:lstStyle/>
          <a:p>
            <a:pPr algn="r">
              <a:buNone/>
            </a:pPr>
            <a:r>
              <a:rPr sz="860" b="0">
                <a:solidFill>
                  <a:srgbClr val="4E5A68"/>
                </a:solidFill>
                <a:latin typeface="Arial"/>
                <a:ea typeface="Arial"/>
                <a:cs typeface="Arial"/>
              </a:rPr>
              <a:t>0.5</a:t>
            </a:r>
            <a:endParaRPr lang="en-US"/>
          </a:p>
        </p:txBody>
      </p:sp>
      <p:sp>
        <p:nvSpPr>
          <p:cNvPr id="31" name="Gridline 1.0"/>
          <p:cNvSpPr/>
          <p:nvPr/>
        </p:nvSpPr>
        <p:spPr>
          <a:xfrm>
            <a:off x="4700000" y="2171961"/>
            <a:ext cx="6260000" cy="0"/>
          </a:xfrm>
          <a:prstGeom prst="line">
            <a:avLst/>
          </a:prstGeom>
          <a:ln w="8000">
            <a:solidFill>
              <a:srgbClr val="CBD5E1"/>
            </a:solidFill>
            <a:prstDash val="dash"/>
          </a:ln>
        </p:spPr>
        <p:txBody>
          <a:bodyPr/>
          <a:lstStyle/>
          <a:p>
            <a:endParaRPr lang="en-US"/>
          </a:p>
        </p:txBody>
      </p:sp>
      <p:sp>
        <p:nvSpPr>
          <p:cNvPr id="32" name="Y label 1.0"/>
          <p:cNvSpPr>
            <a:spLocks noGrp="1"/>
          </p:cNvSpPr>
          <p:nvPr/>
        </p:nvSpPr>
        <p:spPr>
          <a:xfrm>
            <a:off x="4280000" y="2071961"/>
            <a:ext cx="360000" cy="200000"/>
          </a:xfrm>
          <a:prstGeom prst="rect">
            <a:avLst/>
          </a:prstGeom>
          <a:noFill/>
        </p:spPr>
        <p:txBody>
          <a:bodyPr wrap="square" lIns="27432" tIns="13716" rIns="27432" bIns="13716" anchor="ctr"/>
          <a:lstStyle/>
          <a:p>
            <a:pPr algn="r">
              <a:buNone/>
            </a:pPr>
            <a:r>
              <a:rPr sz="860" b="0">
                <a:solidFill>
                  <a:srgbClr val="4E5A68"/>
                </a:solidFill>
                <a:latin typeface="Arial"/>
                <a:ea typeface="Arial"/>
                <a:cs typeface="Arial"/>
              </a:rPr>
              <a:t>1.0</a:t>
            </a:r>
            <a:endParaRPr lang="en-US"/>
          </a:p>
        </p:txBody>
      </p:sp>
      <p:sp>
        <p:nvSpPr>
          <p:cNvPr id="33" name="Running enrichment score curve"/>
          <p:cNvSpPr/>
          <p:nvPr/>
        </p:nvSpPr>
        <p:spPr>
          <a:xfrm>
            <a:off x="4700000" y="2120000"/>
            <a:ext cx="6260000" cy="2650000"/>
          </a:xfrm>
          <a:custGeom>
            <a:avLst/>
            <a:gdLst/>
            <a:ahLst/>
            <a:cxnLst/>
            <a:rect l="l" t="t" r="r" b="b"/>
            <a:pathLst>
              <a:path w="1000000" h="1000000" fill="none" extrusionOk="0">
                <a:moveTo>
                  <a:pt x="0" y="891053"/>
                </a:moveTo>
                <a:lnTo>
                  <a:pt x="883" y="786141"/>
                </a:lnTo>
                <a:lnTo>
                  <a:pt x="1765" y="787015"/>
                </a:lnTo>
                <a:lnTo>
                  <a:pt x="2648" y="787890"/>
                </a:lnTo>
                <a:lnTo>
                  <a:pt x="3530" y="788764"/>
                </a:lnTo>
                <a:lnTo>
                  <a:pt x="4413" y="702400"/>
                </a:lnTo>
                <a:lnTo>
                  <a:pt x="5296" y="703274"/>
                </a:lnTo>
                <a:lnTo>
                  <a:pt x="6178" y="621404"/>
                </a:lnTo>
                <a:lnTo>
                  <a:pt x="7061" y="622279"/>
                </a:lnTo>
                <a:lnTo>
                  <a:pt x="7944" y="623154"/>
                </a:lnTo>
                <a:lnTo>
                  <a:pt x="8826" y="545064"/>
                </a:lnTo>
                <a:lnTo>
                  <a:pt x="9709" y="469395"/>
                </a:lnTo>
                <a:lnTo>
                  <a:pt x="10591" y="470270"/>
                </a:lnTo>
                <a:lnTo>
                  <a:pt x="11474" y="395767"/>
                </a:lnTo>
                <a:lnTo>
                  <a:pt x="12357" y="396642"/>
                </a:lnTo>
                <a:lnTo>
                  <a:pt x="13239" y="324089"/>
                </a:lnTo>
                <a:lnTo>
                  <a:pt x="14122" y="251982"/>
                </a:lnTo>
                <a:lnTo>
                  <a:pt x="15004" y="180485"/>
                </a:lnTo>
                <a:lnTo>
                  <a:pt x="15887" y="109602"/>
                </a:lnTo>
                <a:lnTo>
                  <a:pt x="16770" y="110477"/>
                </a:lnTo>
                <a:lnTo>
                  <a:pt x="17652" y="111352"/>
                </a:lnTo>
                <a:lnTo>
                  <a:pt x="18535" y="112226"/>
                </a:lnTo>
                <a:lnTo>
                  <a:pt x="19417" y="113101"/>
                </a:lnTo>
                <a:lnTo>
                  <a:pt x="20300" y="113975"/>
                </a:lnTo>
                <a:lnTo>
                  <a:pt x="21183" y="114850"/>
                </a:lnTo>
                <a:lnTo>
                  <a:pt x="22065" y="115724"/>
                </a:lnTo>
                <a:lnTo>
                  <a:pt x="22948" y="116599"/>
                </a:lnTo>
                <a:lnTo>
                  <a:pt x="23831" y="117474"/>
                </a:lnTo>
                <a:lnTo>
                  <a:pt x="24713" y="118348"/>
                </a:lnTo>
                <a:lnTo>
                  <a:pt x="25596" y="119223"/>
                </a:lnTo>
                <a:lnTo>
                  <a:pt x="26478" y="120097"/>
                </a:lnTo>
                <a:lnTo>
                  <a:pt x="27361" y="120972"/>
                </a:lnTo>
                <a:lnTo>
                  <a:pt x="28244" y="121846"/>
                </a:lnTo>
                <a:lnTo>
                  <a:pt x="29126" y="60202"/>
                </a:lnTo>
                <a:lnTo>
                  <a:pt x="30009" y="61077"/>
                </a:lnTo>
                <a:lnTo>
                  <a:pt x="30891" y="61951"/>
                </a:lnTo>
                <a:lnTo>
                  <a:pt x="31774" y="62826"/>
                </a:lnTo>
                <a:lnTo>
                  <a:pt x="32657" y="63701"/>
                </a:lnTo>
                <a:lnTo>
                  <a:pt x="33539" y="64575"/>
                </a:lnTo>
                <a:lnTo>
                  <a:pt x="34422" y="65450"/>
                </a:lnTo>
                <a:lnTo>
                  <a:pt x="35305" y="66324"/>
                </a:lnTo>
                <a:lnTo>
                  <a:pt x="36187" y="67199"/>
                </a:lnTo>
                <a:lnTo>
                  <a:pt x="37070" y="68073"/>
                </a:lnTo>
                <a:lnTo>
                  <a:pt x="37952" y="68948"/>
                </a:lnTo>
                <a:lnTo>
                  <a:pt x="38835" y="69823"/>
                </a:lnTo>
                <a:lnTo>
                  <a:pt x="39718" y="70697"/>
                </a:lnTo>
                <a:lnTo>
                  <a:pt x="40600" y="71572"/>
                </a:lnTo>
                <a:lnTo>
                  <a:pt x="41483" y="72446"/>
                </a:lnTo>
                <a:lnTo>
                  <a:pt x="42365" y="73321"/>
                </a:lnTo>
                <a:lnTo>
                  <a:pt x="43248" y="74195"/>
                </a:lnTo>
                <a:lnTo>
                  <a:pt x="44131" y="75070"/>
                </a:lnTo>
                <a:lnTo>
                  <a:pt x="45013" y="75945"/>
                </a:lnTo>
                <a:lnTo>
                  <a:pt x="45896" y="76819"/>
                </a:lnTo>
                <a:lnTo>
                  <a:pt x="46778" y="77694"/>
                </a:lnTo>
                <a:lnTo>
                  <a:pt x="47661" y="78568"/>
                </a:lnTo>
                <a:lnTo>
                  <a:pt x="48544" y="79443"/>
                </a:lnTo>
                <a:lnTo>
                  <a:pt x="49426" y="80317"/>
                </a:lnTo>
                <a:lnTo>
                  <a:pt x="50309" y="81192"/>
                </a:lnTo>
                <a:lnTo>
                  <a:pt x="51192" y="82067"/>
                </a:lnTo>
                <a:lnTo>
                  <a:pt x="52074" y="82941"/>
                </a:lnTo>
                <a:lnTo>
                  <a:pt x="52957" y="83816"/>
                </a:lnTo>
                <a:lnTo>
                  <a:pt x="53839" y="84690"/>
                </a:lnTo>
                <a:lnTo>
                  <a:pt x="54722" y="85565"/>
                </a:lnTo>
                <a:lnTo>
                  <a:pt x="55605" y="86439"/>
                </a:lnTo>
                <a:lnTo>
                  <a:pt x="56487" y="87314"/>
                </a:lnTo>
                <a:lnTo>
                  <a:pt x="57370" y="88189"/>
                </a:lnTo>
                <a:lnTo>
                  <a:pt x="58252" y="89063"/>
                </a:lnTo>
                <a:lnTo>
                  <a:pt x="59135" y="89938"/>
                </a:lnTo>
                <a:lnTo>
                  <a:pt x="60018" y="90812"/>
                </a:lnTo>
                <a:lnTo>
                  <a:pt x="60900" y="91687"/>
                </a:lnTo>
                <a:lnTo>
                  <a:pt x="61783" y="92561"/>
                </a:lnTo>
                <a:lnTo>
                  <a:pt x="62665" y="93436"/>
                </a:lnTo>
                <a:lnTo>
                  <a:pt x="63548" y="94311"/>
                </a:lnTo>
                <a:lnTo>
                  <a:pt x="64431" y="95185"/>
                </a:lnTo>
                <a:lnTo>
                  <a:pt x="65313" y="96060"/>
                </a:lnTo>
                <a:lnTo>
                  <a:pt x="66196" y="96934"/>
                </a:lnTo>
                <a:lnTo>
                  <a:pt x="67079" y="97809"/>
                </a:lnTo>
                <a:lnTo>
                  <a:pt x="67961" y="98683"/>
                </a:lnTo>
                <a:lnTo>
                  <a:pt x="68844" y="99558"/>
                </a:lnTo>
                <a:lnTo>
                  <a:pt x="69726" y="100433"/>
                </a:lnTo>
                <a:lnTo>
                  <a:pt x="70609" y="101307"/>
                </a:lnTo>
                <a:lnTo>
                  <a:pt x="71492" y="102182"/>
                </a:lnTo>
                <a:lnTo>
                  <a:pt x="72374" y="103056"/>
                </a:lnTo>
                <a:lnTo>
                  <a:pt x="73257" y="103931"/>
                </a:lnTo>
                <a:lnTo>
                  <a:pt x="74139" y="104805"/>
                </a:lnTo>
                <a:lnTo>
                  <a:pt x="75022" y="105680"/>
                </a:lnTo>
                <a:lnTo>
                  <a:pt x="75905" y="106555"/>
                </a:lnTo>
                <a:lnTo>
                  <a:pt x="76787" y="107429"/>
                </a:lnTo>
                <a:lnTo>
                  <a:pt x="77670" y="108304"/>
                </a:lnTo>
                <a:lnTo>
                  <a:pt x="78553" y="109178"/>
                </a:lnTo>
                <a:lnTo>
                  <a:pt x="79435" y="110053"/>
                </a:lnTo>
                <a:lnTo>
                  <a:pt x="80318" y="110927"/>
                </a:lnTo>
                <a:lnTo>
                  <a:pt x="81200" y="111802"/>
                </a:lnTo>
                <a:lnTo>
                  <a:pt x="82083" y="112676"/>
                </a:lnTo>
                <a:lnTo>
                  <a:pt x="82966" y="113551"/>
                </a:lnTo>
                <a:lnTo>
                  <a:pt x="83848" y="114426"/>
                </a:lnTo>
                <a:lnTo>
                  <a:pt x="84731" y="115300"/>
                </a:lnTo>
                <a:lnTo>
                  <a:pt x="85613" y="116175"/>
                </a:lnTo>
                <a:lnTo>
                  <a:pt x="86496" y="117049"/>
                </a:lnTo>
                <a:lnTo>
                  <a:pt x="87379" y="117924"/>
                </a:lnTo>
                <a:lnTo>
                  <a:pt x="88261" y="118798"/>
                </a:lnTo>
                <a:lnTo>
                  <a:pt x="89144" y="119673"/>
                </a:lnTo>
                <a:lnTo>
                  <a:pt x="90026" y="120548"/>
                </a:lnTo>
                <a:lnTo>
                  <a:pt x="90909" y="121422"/>
                </a:lnTo>
                <a:lnTo>
                  <a:pt x="91792" y="122297"/>
                </a:lnTo>
                <a:lnTo>
                  <a:pt x="92674" y="123171"/>
                </a:lnTo>
                <a:lnTo>
                  <a:pt x="93557" y="124046"/>
                </a:lnTo>
                <a:lnTo>
                  <a:pt x="94440" y="124920"/>
                </a:lnTo>
                <a:lnTo>
                  <a:pt x="95322" y="125795"/>
                </a:lnTo>
                <a:lnTo>
                  <a:pt x="96205" y="126670"/>
                </a:lnTo>
                <a:lnTo>
                  <a:pt x="97087" y="127544"/>
                </a:lnTo>
                <a:lnTo>
                  <a:pt x="97970" y="128419"/>
                </a:lnTo>
                <a:lnTo>
                  <a:pt x="98853" y="129293"/>
                </a:lnTo>
                <a:lnTo>
                  <a:pt x="99735" y="130168"/>
                </a:lnTo>
                <a:lnTo>
                  <a:pt x="100618" y="131042"/>
                </a:lnTo>
                <a:lnTo>
                  <a:pt x="101500" y="131917"/>
                </a:lnTo>
                <a:lnTo>
                  <a:pt x="102383" y="132792"/>
                </a:lnTo>
                <a:lnTo>
                  <a:pt x="103266" y="133666"/>
                </a:lnTo>
                <a:lnTo>
                  <a:pt x="104148" y="134541"/>
                </a:lnTo>
                <a:lnTo>
                  <a:pt x="105031" y="135415"/>
                </a:lnTo>
                <a:lnTo>
                  <a:pt x="105914" y="136290"/>
                </a:lnTo>
                <a:lnTo>
                  <a:pt x="106796" y="137164"/>
                </a:lnTo>
                <a:lnTo>
                  <a:pt x="107679" y="138039"/>
                </a:lnTo>
                <a:lnTo>
                  <a:pt x="108561" y="138914"/>
                </a:lnTo>
                <a:lnTo>
                  <a:pt x="109444" y="139788"/>
                </a:lnTo>
                <a:lnTo>
                  <a:pt x="110327" y="140663"/>
                </a:lnTo>
                <a:lnTo>
                  <a:pt x="111209" y="141537"/>
                </a:lnTo>
                <a:lnTo>
                  <a:pt x="112092" y="142412"/>
                </a:lnTo>
                <a:lnTo>
                  <a:pt x="112974" y="143286"/>
                </a:lnTo>
                <a:lnTo>
                  <a:pt x="113857" y="144161"/>
                </a:lnTo>
                <a:lnTo>
                  <a:pt x="114740" y="145036"/>
                </a:lnTo>
                <a:lnTo>
                  <a:pt x="115622" y="145910"/>
                </a:lnTo>
                <a:lnTo>
                  <a:pt x="116505" y="146785"/>
                </a:lnTo>
                <a:lnTo>
                  <a:pt x="117387" y="147659"/>
                </a:lnTo>
                <a:lnTo>
                  <a:pt x="118270" y="148534"/>
                </a:lnTo>
                <a:lnTo>
                  <a:pt x="119153" y="149408"/>
                </a:lnTo>
                <a:lnTo>
                  <a:pt x="120035" y="150283"/>
                </a:lnTo>
                <a:lnTo>
                  <a:pt x="120918" y="151158"/>
                </a:lnTo>
                <a:lnTo>
                  <a:pt x="121801" y="152032"/>
                </a:lnTo>
                <a:lnTo>
                  <a:pt x="122683" y="152907"/>
                </a:lnTo>
                <a:lnTo>
                  <a:pt x="123566" y="153781"/>
                </a:lnTo>
                <a:lnTo>
                  <a:pt x="124448" y="154656"/>
                </a:lnTo>
                <a:lnTo>
                  <a:pt x="125331" y="155530"/>
                </a:lnTo>
                <a:lnTo>
                  <a:pt x="126214" y="156405"/>
                </a:lnTo>
                <a:lnTo>
                  <a:pt x="127096" y="157280"/>
                </a:lnTo>
                <a:lnTo>
                  <a:pt x="127979" y="158154"/>
                </a:lnTo>
                <a:lnTo>
                  <a:pt x="128861" y="159029"/>
                </a:lnTo>
                <a:lnTo>
                  <a:pt x="129744" y="159903"/>
                </a:lnTo>
                <a:lnTo>
                  <a:pt x="130627" y="160778"/>
                </a:lnTo>
                <a:lnTo>
                  <a:pt x="131509" y="161652"/>
                </a:lnTo>
                <a:lnTo>
                  <a:pt x="132392" y="162527"/>
                </a:lnTo>
                <a:lnTo>
                  <a:pt x="133274" y="163402"/>
                </a:lnTo>
                <a:lnTo>
                  <a:pt x="134157" y="164276"/>
                </a:lnTo>
                <a:lnTo>
                  <a:pt x="135040" y="165151"/>
                </a:lnTo>
                <a:lnTo>
                  <a:pt x="135922" y="166025"/>
                </a:lnTo>
                <a:lnTo>
                  <a:pt x="136805" y="166900"/>
                </a:lnTo>
                <a:lnTo>
                  <a:pt x="137688" y="167774"/>
                </a:lnTo>
                <a:lnTo>
                  <a:pt x="138570" y="168649"/>
                </a:lnTo>
                <a:lnTo>
                  <a:pt x="139453" y="169523"/>
                </a:lnTo>
                <a:lnTo>
                  <a:pt x="140335" y="170398"/>
                </a:lnTo>
                <a:lnTo>
                  <a:pt x="141218" y="171273"/>
                </a:lnTo>
                <a:lnTo>
                  <a:pt x="142101" y="172147"/>
                </a:lnTo>
                <a:lnTo>
                  <a:pt x="142983" y="173022"/>
                </a:lnTo>
                <a:lnTo>
                  <a:pt x="143866" y="173896"/>
                </a:lnTo>
                <a:lnTo>
                  <a:pt x="144748" y="174771"/>
                </a:lnTo>
                <a:lnTo>
                  <a:pt x="145631" y="175645"/>
                </a:lnTo>
                <a:lnTo>
                  <a:pt x="146514" y="176520"/>
                </a:lnTo>
                <a:lnTo>
                  <a:pt x="147396" y="177395"/>
                </a:lnTo>
                <a:lnTo>
                  <a:pt x="148279" y="178269"/>
                </a:lnTo>
                <a:lnTo>
                  <a:pt x="149162" y="179144"/>
                </a:lnTo>
                <a:lnTo>
                  <a:pt x="150044" y="180018"/>
                </a:lnTo>
                <a:lnTo>
                  <a:pt x="150927" y="180893"/>
                </a:lnTo>
                <a:lnTo>
                  <a:pt x="151809" y="181767"/>
                </a:lnTo>
                <a:lnTo>
                  <a:pt x="152692" y="182642"/>
                </a:lnTo>
                <a:lnTo>
                  <a:pt x="153575" y="183517"/>
                </a:lnTo>
                <a:lnTo>
                  <a:pt x="154457" y="184391"/>
                </a:lnTo>
                <a:lnTo>
                  <a:pt x="155340" y="185266"/>
                </a:lnTo>
                <a:lnTo>
                  <a:pt x="156222" y="186140"/>
                </a:lnTo>
                <a:lnTo>
                  <a:pt x="157105" y="187015"/>
                </a:lnTo>
                <a:lnTo>
                  <a:pt x="157988" y="187889"/>
                </a:lnTo>
                <a:lnTo>
                  <a:pt x="158870" y="188764"/>
                </a:lnTo>
                <a:lnTo>
                  <a:pt x="159753" y="189639"/>
                </a:lnTo>
                <a:lnTo>
                  <a:pt x="160635" y="190513"/>
                </a:lnTo>
                <a:lnTo>
                  <a:pt x="161518" y="191388"/>
                </a:lnTo>
                <a:lnTo>
                  <a:pt x="162401" y="192262"/>
                </a:lnTo>
                <a:lnTo>
                  <a:pt x="163283" y="193137"/>
                </a:lnTo>
                <a:lnTo>
                  <a:pt x="164166" y="194011"/>
                </a:lnTo>
                <a:lnTo>
                  <a:pt x="165049" y="194886"/>
                </a:lnTo>
                <a:lnTo>
                  <a:pt x="165931" y="195761"/>
                </a:lnTo>
                <a:lnTo>
                  <a:pt x="166814" y="196635"/>
                </a:lnTo>
                <a:lnTo>
                  <a:pt x="167696" y="197510"/>
                </a:lnTo>
                <a:lnTo>
                  <a:pt x="168579" y="198384"/>
                </a:lnTo>
                <a:lnTo>
                  <a:pt x="169462" y="199259"/>
                </a:lnTo>
                <a:lnTo>
                  <a:pt x="170344" y="200133"/>
                </a:lnTo>
                <a:lnTo>
                  <a:pt x="171227" y="201008"/>
                </a:lnTo>
                <a:lnTo>
                  <a:pt x="172109" y="201883"/>
                </a:lnTo>
                <a:lnTo>
                  <a:pt x="172992" y="202757"/>
                </a:lnTo>
                <a:lnTo>
                  <a:pt x="173875" y="203632"/>
                </a:lnTo>
                <a:lnTo>
                  <a:pt x="174757" y="204506"/>
                </a:lnTo>
                <a:lnTo>
                  <a:pt x="175640" y="205381"/>
                </a:lnTo>
                <a:lnTo>
                  <a:pt x="176523" y="206255"/>
                </a:lnTo>
                <a:lnTo>
                  <a:pt x="177405" y="207130"/>
                </a:lnTo>
                <a:lnTo>
                  <a:pt x="178288" y="208005"/>
                </a:lnTo>
                <a:lnTo>
                  <a:pt x="179170" y="208879"/>
                </a:lnTo>
                <a:lnTo>
                  <a:pt x="180053" y="209754"/>
                </a:lnTo>
                <a:lnTo>
                  <a:pt x="180936" y="210628"/>
                </a:lnTo>
                <a:lnTo>
                  <a:pt x="181818" y="211503"/>
                </a:lnTo>
                <a:lnTo>
                  <a:pt x="182701" y="212377"/>
                </a:lnTo>
                <a:lnTo>
                  <a:pt x="183583" y="213252"/>
                </a:lnTo>
                <a:lnTo>
                  <a:pt x="184466" y="214127"/>
                </a:lnTo>
                <a:lnTo>
                  <a:pt x="185349" y="215001"/>
                </a:lnTo>
                <a:lnTo>
                  <a:pt x="186231" y="215876"/>
                </a:lnTo>
                <a:lnTo>
                  <a:pt x="187114" y="216750"/>
                </a:lnTo>
                <a:lnTo>
                  <a:pt x="187996" y="217625"/>
                </a:lnTo>
                <a:lnTo>
                  <a:pt x="188879" y="218499"/>
                </a:lnTo>
                <a:lnTo>
                  <a:pt x="189762" y="219374"/>
                </a:lnTo>
                <a:lnTo>
                  <a:pt x="190644" y="220249"/>
                </a:lnTo>
                <a:lnTo>
                  <a:pt x="191527" y="221123"/>
                </a:lnTo>
                <a:lnTo>
                  <a:pt x="192410" y="221998"/>
                </a:lnTo>
                <a:lnTo>
                  <a:pt x="193292" y="222872"/>
                </a:lnTo>
                <a:lnTo>
                  <a:pt x="194175" y="223747"/>
                </a:lnTo>
                <a:lnTo>
                  <a:pt x="195057" y="224621"/>
                </a:lnTo>
                <a:lnTo>
                  <a:pt x="195940" y="225496"/>
                </a:lnTo>
                <a:lnTo>
                  <a:pt x="196823" y="226370"/>
                </a:lnTo>
                <a:lnTo>
                  <a:pt x="197705" y="227245"/>
                </a:lnTo>
                <a:lnTo>
                  <a:pt x="198588" y="228120"/>
                </a:lnTo>
                <a:lnTo>
                  <a:pt x="199470" y="228994"/>
                </a:lnTo>
                <a:lnTo>
                  <a:pt x="200353" y="229869"/>
                </a:lnTo>
                <a:lnTo>
                  <a:pt x="201236" y="230743"/>
                </a:lnTo>
                <a:lnTo>
                  <a:pt x="202118" y="231618"/>
                </a:lnTo>
                <a:lnTo>
                  <a:pt x="203001" y="232492"/>
                </a:lnTo>
                <a:lnTo>
                  <a:pt x="203883" y="233367"/>
                </a:lnTo>
                <a:lnTo>
                  <a:pt x="204766" y="234242"/>
                </a:lnTo>
                <a:lnTo>
                  <a:pt x="205649" y="235116"/>
                </a:lnTo>
                <a:lnTo>
                  <a:pt x="206531" y="235991"/>
                </a:lnTo>
                <a:lnTo>
                  <a:pt x="207414" y="236865"/>
                </a:lnTo>
                <a:lnTo>
                  <a:pt x="208297" y="237740"/>
                </a:lnTo>
                <a:lnTo>
                  <a:pt x="209179" y="238614"/>
                </a:lnTo>
                <a:lnTo>
                  <a:pt x="210062" y="217260"/>
                </a:lnTo>
                <a:lnTo>
                  <a:pt x="210944" y="218135"/>
                </a:lnTo>
                <a:lnTo>
                  <a:pt x="211827" y="219010"/>
                </a:lnTo>
                <a:lnTo>
                  <a:pt x="212710" y="219884"/>
                </a:lnTo>
                <a:lnTo>
                  <a:pt x="213592" y="220759"/>
                </a:lnTo>
                <a:lnTo>
                  <a:pt x="214475" y="221633"/>
                </a:lnTo>
                <a:lnTo>
                  <a:pt x="215357" y="222508"/>
                </a:lnTo>
                <a:lnTo>
                  <a:pt x="216240" y="223382"/>
                </a:lnTo>
                <a:lnTo>
                  <a:pt x="217123" y="224257"/>
                </a:lnTo>
                <a:lnTo>
                  <a:pt x="218005" y="225132"/>
                </a:lnTo>
                <a:lnTo>
                  <a:pt x="218888" y="226006"/>
                </a:lnTo>
                <a:lnTo>
                  <a:pt x="219771" y="226881"/>
                </a:lnTo>
                <a:lnTo>
                  <a:pt x="220653" y="227755"/>
                </a:lnTo>
                <a:lnTo>
                  <a:pt x="221536" y="228630"/>
                </a:lnTo>
                <a:lnTo>
                  <a:pt x="222418" y="229504"/>
                </a:lnTo>
                <a:lnTo>
                  <a:pt x="223301" y="230379"/>
                </a:lnTo>
                <a:lnTo>
                  <a:pt x="224184" y="231254"/>
                </a:lnTo>
                <a:lnTo>
                  <a:pt x="225066" y="232128"/>
                </a:lnTo>
                <a:lnTo>
                  <a:pt x="225949" y="233003"/>
                </a:lnTo>
                <a:lnTo>
                  <a:pt x="226831" y="233877"/>
                </a:lnTo>
                <a:lnTo>
                  <a:pt x="227714" y="234752"/>
                </a:lnTo>
                <a:lnTo>
                  <a:pt x="228597" y="235626"/>
                </a:lnTo>
                <a:lnTo>
                  <a:pt x="229479" y="236501"/>
                </a:lnTo>
                <a:lnTo>
                  <a:pt x="230362" y="237376"/>
                </a:lnTo>
                <a:lnTo>
                  <a:pt x="231244" y="238250"/>
                </a:lnTo>
                <a:lnTo>
                  <a:pt x="232127" y="239125"/>
                </a:lnTo>
                <a:lnTo>
                  <a:pt x="233010" y="239999"/>
                </a:lnTo>
                <a:lnTo>
                  <a:pt x="233892" y="240874"/>
                </a:lnTo>
                <a:lnTo>
                  <a:pt x="234775" y="241748"/>
                </a:lnTo>
                <a:lnTo>
                  <a:pt x="235658" y="242623"/>
                </a:lnTo>
                <a:lnTo>
                  <a:pt x="236540" y="243498"/>
                </a:lnTo>
                <a:lnTo>
                  <a:pt x="237423" y="244372"/>
                </a:lnTo>
                <a:lnTo>
                  <a:pt x="238305" y="245247"/>
                </a:lnTo>
                <a:lnTo>
                  <a:pt x="239188" y="246121"/>
                </a:lnTo>
                <a:lnTo>
                  <a:pt x="240071" y="246996"/>
                </a:lnTo>
                <a:lnTo>
                  <a:pt x="240953" y="247870"/>
                </a:lnTo>
                <a:lnTo>
                  <a:pt x="241836" y="248745"/>
                </a:lnTo>
                <a:lnTo>
                  <a:pt x="242718" y="249620"/>
                </a:lnTo>
                <a:lnTo>
                  <a:pt x="243601" y="250494"/>
                </a:lnTo>
                <a:lnTo>
                  <a:pt x="244484" y="251369"/>
                </a:lnTo>
                <a:lnTo>
                  <a:pt x="245366" y="252243"/>
                </a:lnTo>
                <a:lnTo>
                  <a:pt x="246249" y="253118"/>
                </a:lnTo>
                <a:lnTo>
                  <a:pt x="247132" y="253992"/>
                </a:lnTo>
                <a:lnTo>
                  <a:pt x="248014" y="254867"/>
                </a:lnTo>
                <a:lnTo>
                  <a:pt x="248897" y="255742"/>
                </a:lnTo>
                <a:lnTo>
                  <a:pt x="249779" y="256616"/>
                </a:lnTo>
                <a:lnTo>
                  <a:pt x="250662" y="257491"/>
                </a:lnTo>
                <a:lnTo>
                  <a:pt x="251545" y="258365"/>
                </a:lnTo>
                <a:lnTo>
                  <a:pt x="252427" y="259240"/>
                </a:lnTo>
                <a:lnTo>
                  <a:pt x="253310" y="260114"/>
                </a:lnTo>
                <a:lnTo>
                  <a:pt x="254192" y="260989"/>
                </a:lnTo>
                <a:lnTo>
                  <a:pt x="255075" y="261864"/>
                </a:lnTo>
                <a:lnTo>
                  <a:pt x="255958" y="262738"/>
                </a:lnTo>
                <a:lnTo>
                  <a:pt x="256840" y="263613"/>
                </a:lnTo>
                <a:lnTo>
                  <a:pt x="257723" y="264487"/>
                </a:lnTo>
                <a:lnTo>
                  <a:pt x="258605" y="265362"/>
                </a:lnTo>
                <a:lnTo>
                  <a:pt x="259488" y="266236"/>
                </a:lnTo>
                <a:lnTo>
                  <a:pt x="260371" y="267111"/>
                </a:lnTo>
                <a:lnTo>
                  <a:pt x="261253" y="267986"/>
                </a:lnTo>
                <a:lnTo>
                  <a:pt x="262136" y="268860"/>
                </a:lnTo>
                <a:lnTo>
                  <a:pt x="263019" y="269735"/>
                </a:lnTo>
                <a:lnTo>
                  <a:pt x="263901" y="270609"/>
                </a:lnTo>
                <a:lnTo>
                  <a:pt x="264784" y="271484"/>
                </a:lnTo>
                <a:lnTo>
                  <a:pt x="265666" y="272358"/>
                </a:lnTo>
                <a:lnTo>
                  <a:pt x="266549" y="273233"/>
                </a:lnTo>
                <a:lnTo>
                  <a:pt x="267432" y="274108"/>
                </a:lnTo>
                <a:lnTo>
                  <a:pt x="268314" y="274982"/>
                </a:lnTo>
                <a:lnTo>
                  <a:pt x="269197" y="275857"/>
                </a:lnTo>
                <a:lnTo>
                  <a:pt x="270079" y="276731"/>
                </a:lnTo>
                <a:lnTo>
                  <a:pt x="270962" y="277606"/>
                </a:lnTo>
                <a:lnTo>
                  <a:pt x="271845" y="278480"/>
                </a:lnTo>
                <a:lnTo>
                  <a:pt x="272727" y="279355"/>
                </a:lnTo>
                <a:lnTo>
                  <a:pt x="273610" y="280229"/>
                </a:lnTo>
                <a:lnTo>
                  <a:pt x="274492" y="281104"/>
                </a:lnTo>
                <a:lnTo>
                  <a:pt x="275375" y="281979"/>
                </a:lnTo>
                <a:lnTo>
                  <a:pt x="276258" y="282853"/>
                </a:lnTo>
                <a:lnTo>
                  <a:pt x="277140" y="283728"/>
                </a:lnTo>
                <a:lnTo>
                  <a:pt x="278023" y="284602"/>
                </a:lnTo>
                <a:lnTo>
                  <a:pt x="278906" y="285477"/>
                </a:lnTo>
                <a:lnTo>
                  <a:pt x="279788" y="286351"/>
                </a:lnTo>
                <a:lnTo>
                  <a:pt x="280671" y="287226"/>
                </a:lnTo>
                <a:lnTo>
                  <a:pt x="281553" y="288101"/>
                </a:lnTo>
                <a:lnTo>
                  <a:pt x="282436" y="288975"/>
                </a:lnTo>
                <a:lnTo>
                  <a:pt x="283319" y="289850"/>
                </a:lnTo>
                <a:lnTo>
                  <a:pt x="284201" y="290724"/>
                </a:lnTo>
                <a:lnTo>
                  <a:pt x="285084" y="291599"/>
                </a:lnTo>
                <a:lnTo>
                  <a:pt x="285966" y="292473"/>
                </a:lnTo>
                <a:lnTo>
                  <a:pt x="286849" y="293348"/>
                </a:lnTo>
                <a:lnTo>
                  <a:pt x="287732" y="294223"/>
                </a:lnTo>
                <a:lnTo>
                  <a:pt x="288614" y="295097"/>
                </a:lnTo>
                <a:lnTo>
                  <a:pt x="289497" y="295972"/>
                </a:lnTo>
                <a:lnTo>
                  <a:pt x="290380" y="296846"/>
                </a:lnTo>
                <a:lnTo>
                  <a:pt x="291262" y="297721"/>
                </a:lnTo>
                <a:lnTo>
                  <a:pt x="292145" y="298595"/>
                </a:lnTo>
                <a:lnTo>
                  <a:pt x="293027" y="299470"/>
                </a:lnTo>
                <a:lnTo>
                  <a:pt x="293910" y="300345"/>
                </a:lnTo>
                <a:lnTo>
                  <a:pt x="294793" y="301219"/>
                </a:lnTo>
                <a:lnTo>
                  <a:pt x="295675" y="302094"/>
                </a:lnTo>
                <a:lnTo>
                  <a:pt x="296558" y="302968"/>
                </a:lnTo>
                <a:lnTo>
                  <a:pt x="297440" y="303843"/>
                </a:lnTo>
                <a:lnTo>
                  <a:pt x="298323" y="304717"/>
                </a:lnTo>
                <a:lnTo>
                  <a:pt x="299206" y="305592"/>
                </a:lnTo>
                <a:lnTo>
                  <a:pt x="300088" y="306467"/>
                </a:lnTo>
                <a:lnTo>
                  <a:pt x="300971" y="307341"/>
                </a:lnTo>
                <a:lnTo>
                  <a:pt x="301853" y="308216"/>
                </a:lnTo>
                <a:lnTo>
                  <a:pt x="302736" y="309090"/>
                </a:lnTo>
                <a:lnTo>
                  <a:pt x="303619" y="309965"/>
                </a:lnTo>
                <a:lnTo>
                  <a:pt x="304501" y="310839"/>
                </a:lnTo>
                <a:lnTo>
                  <a:pt x="305384" y="311714"/>
                </a:lnTo>
                <a:lnTo>
                  <a:pt x="306267" y="312589"/>
                </a:lnTo>
                <a:lnTo>
                  <a:pt x="307149" y="313463"/>
                </a:lnTo>
                <a:lnTo>
                  <a:pt x="308032" y="314338"/>
                </a:lnTo>
                <a:lnTo>
                  <a:pt x="308914" y="315212"/>
                </a:lnTo>
                <a:lnTo>
                  <a:pt x="309797" y="316087"/>
                </a:lnTo>
                <a:lnTo>
                  <a:pt x="310680" y="316961"/>
                </a:lnTo>
                <a:lnTo>
                  <a:pt x="311562" y="317836"/>
                </a:lnTo>
                <a:lnTo>
                  <a:pt x="312445" y="318711"/>
                </a:lnTo>
                <a:lnTo>
                  <a:pt x="313327" y="319585"/>
                </a:lnTo>
                <a:lnTo>
                  <a:pt x="314210" y="320460"/>
                </a:lnTo>
                <a:lnTo>
                  <a:pt x="315093" y="321334"/>
                </a:lnTo>
                <a:lnTo>
                  <a:pt x="315975" y="322209"/>
                </a:lnTo>
                <a:lnTo>
                  <a:pt x="316858" y="323083"/>
                </a:lnTo>
                <a:lnTo>
                  <a:pt x="317741" y="323958"/>
                </a:lnTo>
                <a:lnTo>
                  <a:pt x="318623" y="324833"/>
                </a:lnTo>
                <a:lnTo>
                  <a:pt x="319506" y="325707"/>
                </a:lnTo>
                <a:lnTo>
                  <a:pt x="320388" y="326582"/>
                </a:lnTo>
                <a:lnTo>
                  <a:pt x="321271" y="327456"/>
                </a:lnTo>
                <a:lnTo>
                  <a:pt x="322154" y="328331"/>
                </a:lnTo>
                <a:lnTo>
                  <a:pt x="323036" y="329205"/>
                </a:lnTo>
                <a:lnTo>
                  <a:pt x="323919" y="330080"/>
                </a:lnTo>
                <a:lnTo>
                  <a:pt x="324801" y="330955"/>
                </a:lnTo>
                <a:lnTo>
                  <a:pt x="325684" y="331829"/>
                </a:lnTo>
                <a:lnTo>
                  <a:pt x="326567" y="332704"/>
                </a:lnTo>
                <a:lnTo>
                  <a:pt x="327449" y="333578"/>
                </a:lnTo>
                <a:lnTo>
                  <a:pt x="328332" y="334453"/>
                </a:lnTo>
                <a:lnTo>
                  <a:pt x="329214" y="335327"/>
                </a:lnTo>
                <a:lnTo>
                  <a:pt x="330097" y="336202"/>
                </a:lnTo>
                <a:lnTo>
                  <a:pt x="330980" y="337076"/>
                </a:lnTo>
                <a:lnTo>
                  <a:pt x="331862" y="337951"/>
                </a:lnTo>
                <a:lnTo>
                  <a:pt x="332745" y="338826"/>
                </a:lnTo>
                <a:lnTo>
                  <a:pt x="333628" y="339700"/>
                </a:lnTo>
                <a:lnTo>
                  <a:pt x="334510" y="340575"/>
                </a:lnTo>
                <a:lnTo>
                  <a:pt x="335393" y="341449"/>
                </a:lnTo>
                <a:lnTo>
                  <a:pt x="336275" y="342324"/>
                </a:lnTo>
                <a:lnTo>
                  <a:pt x="337158" y="343198"/>
                </a:lnTo>
                <a:lnTo>
                  <a:pt x="338041" y="344073"/>
                </a:lnTo>
                <a:lnTo>
                  <a:pt x="338923" y="344948"/>
                </a:lnTo>
                <a:lnTo>
                  <a:pt x="339806" y="345822"/>
                </a:lnTo>
                <a:lnTo>
                  <a:pt x="340688" y="346697"/>
                </a:lnTo>
                <a:lnTo>
                  <a:pt x="341571" y="347571"/>
                </a:lnTo>
                <a:lnTo>
                  <a:pt x="342454" y="348446"/>
                </a:lnTo>
                <a:lnTo>
                  <a:pt x="343336" y="349320"/>
                </a:lnTo>
                <a:lnTo>
                  <a:pt x="344219" y="350195"/>
                </a:lnTo>
                <a:lnTo>
                  <a:pt x="345102" y="351070"/>
                </a:lnTo>
                <a:lnTo>
                  <a:pt x="345984" y="351944"/>
                </a:lnTo>
                <a:lnTo>
                  <a:pt x="346867" y="352819"/>
                </a:lnTo>
                <a:lnTo>
                  <a:pt x="347749" y="353693"/>
                </a:lnTo>
                <a:lnTo>
                  <a:pt x="348632" y="354568"/>
                </a:lnTo>
                <a:lnTo>
                  <a:pt x="349515" y="355442"/>
                </a:lnTo>
                <a:lnTo>
                  <a:pt x="350397" y="356317"/>
                </a:lnTo>
                <a:lnTo>
                  <a:pt x="351280" y="357192"/>
                </a:lnTo>
                <a:lnTo>
                  <a:pt x="352162" y="358066"/>
                </a:lnTo>
                <a:lnTo>
                  <a:pt x="353045" y="358941"/>
                </a:lnTo>
                <a:lnTo>
                  <a:pt x="353928" y="359815"/>
                </a:lnTo>
                <a:lnTo>
                  <a:pt x="354810" y="360690"/>
                </a:lnTo>
                <a:lnTo>
                  <a:pt x="355693" y="361564"/>
                </a:lnTo>
                <a:lnTo>
                  <a:pt x="356575" y="362439"/>
                </a:lnTo>
                <a:lnTo>
                  <a:pt x="357458" y="363314"/>
                </a:lnTo>
                <a:lnTo>
                  <a:pt x="358341" y="364188"/>
                </a:lnTo>
                <a:lnTo>
                  <a:pt x="359223" y="365063"/>
                </a:lnTo>
                <a:lnTo>
                  <a:pt x="360106" y="365937"/>
                </a:lnTo>
                <a:lnTo>
                  <a:pt x="360989" y="366812"/>
                </a:lnTo>
                <a:lnTo>
                  <a:pt x="361871" y="367686"/>
                </a:lnTo>
                <a:lnTo>
                  <a:pt x="362754" y="368561"/>
                </a:lnTo>
                <a:lnTo>
                  <a:pt x="363636" y="369436"/>
                </a:lnTo>
                <a:lnTo>
                  <a:pt x="364519" y="370310"/>
                </a:lnTo>
                <a:lnTo>
                  <a:pt x="365402" y="371185"/>
                </a:lnTo>
                <a:lnTo>
                  <a:pt x="366284" y="372059"/>
                </a:lnTo>
                <a:lnTo>
                  <a:pt x="367167" y="372934"/>
                </a:lnTo>
                <a:lnTo>
                  <a:pt x="368049" y="373808"/>
                </a:lnTo>
                <a:lnTo>
                  <a:pt x="368932" y="374683"/>
                </a:lnTo>
                <a:lnTo>
                  <a:pt x="369815" y="375558"/>
                </a:lnTo>
                <a:lnTo>
                  <a:pt x="370697" y="376432"/>
                </a:lnTo>
                <a:lnTo>
                  <a:pt x="371580" y="377307"/>
                </a:lnTo>
                <a:lnTo>
                  <a:pt x="372462" y="378181"/>
                </a:lnTo>
                <a:lnTo>
                  <a:pt x="373345" y="379056"/>
                </a:lnTo>
                <a:lnTo>
                  <a:pt x="374228" y="379930"/>
                </a:lnTo>
                <a:lnTo>
                  <a:pt x="375110" y="380805"/>
                </a:lnTo>
                <a:lnTo>
                  <a:pt x="375993" y="381680"/>
                </a:lnTo>
                <a:lnTo>
                  <a:pt x="376876" y="382554"/>
                </a:lnTo>
                <a:lnTo>
                  <a:pt x="377758" y="383429"/>
                </a:lnTo>
                <a:lnTo>
                  <a:pt x="378641" y="384303"/>
                </a:lnTo>
                <a:lnTo>
                  <a:pt x="379523" y="385178"/>
                </a:lnTo>
                <a:lnTo>
                  <a:pt x="380406" y="386052"/>
                </a:lnTo>
                <a:lnTo>
                  <a:pt x="381289" y="386927"/>
                </a:lnTo>
                <a:lnTo>
                  <a:pt x="382171" y="387802"/>
                </a:lnTo>
                <a:lnTo>
                  <a:pt x="383054" y="388676"/>
                </a:lnTo>
                <a:lnTo>
                  <a:pt x="383936" y="389551"/>
                </a:lnTo>
                <a:lnTo>
                  <a:pt x="384819" y="390425"/>
                </a:lnTo>
                <a:lnTo>
                  <a:pt x="385702" y="391300"/>
                </a:lnTo>
                <a:lnTo>
                  <a:pt x="386584" y="392174"/>
                </a:lnTo>
                <a:lnTo>
                  <a:pt x="387467" y="393049"/>
                </a:lnTo>
                <a:lnTo>
                  <a:pt x="388350" y="393923"/>
                </a:lnTo>
                <a:lnTo>
                  <a:pt x="389232" y="394798"/>
                </a:lnTo>
                <a:lnTo>
                  <a:pt x="390115" y="395673"/>
                </a:lnTo>
                <a:lnTo>
                  <a:pt x="390997" y="396547"/>
                </a:lnTo>
                <a:lnTo>
                  <a:pt x="391880" y="397422"/>
                </a:lnTo>
                <a:lnTo>
                  <a:pt x="392763" y="398296"/>
                </a:lnTo>
                <a:lnTo>
                  <a:pt x="393645" y="399171"/>
                </a:lnTo>
                <a:lnTo>
                  <a:pt x="394528" y="400045"/>
                </a:lnTo>
                <a:lnTo>
                  <a:pt x="395410" y="400920"/>
                </a:lnTo>
                <a:lnTo>
                  <a:pt x="396293" y="401795"/>
                </a:lnTo>
                <a:lnTo>
                  <a:pt x="397176" y="402669"/>
                </a:lnTo>
                <a:lnTo>
                  <a:pt x="398058" y="403544"/>
                </a:lnTo>
                <a:lnTo>
                  <a:pt x="398941" y="404418"/>
                </a:lnTo>
                <a:lnTo>
                  <a:pt x="399823" y="405293"/>
                </a:lnTo>
                <a:lnTo>
                  <a:pt x="400706" y="406167"/>
                </a:lnTo>
                <a:lnTo>
                  <a:pt x="401589" y="407042"/>
                </a:lnTo>
                <a:lnTo>
                  <a:pt x="402471" y="407917"/>
                </a:lnTo>
                <a:lnTo>
                  <a:pt x="403354" y="408791"/>
                </a:lnTo>
                <a:lnTo>
                  <a:pt x="404237" y="409666"/>
                </a:lnTo>
                <a:lnTo>
                  <a:pt x="405119" y="410540"/>
                </a:lnTo>
                <a:lnTo>
                  <a:pt x="406002" y="411415"/>
                </a:lnTo>
                <a:lnTo>
                  <a:pt x="406884" y="412289"/>
                </a:lnTo>
                <a:lnTo>
                  <a:pt x="407767" y="413164"/>
                </a:lnTo>
                <a:lnTo>
                  <a:pt x="408650" y="414039"/>
                </a:lnTo>
                <a:lnTo>
                  <a:pt x="409532" y="414913"/>
                </a:lnTo>
                <a:lnTo>
                  <a:pt x="410415" y="415788"/>
                </a:lnTo>
                <a:lnTo>
                  <a:pt x="411297" y="416662"/>
                </a:lnTo>
                <a:lnTo>
                  <a:pt x="412180" y="417537"/>
                </a:lnTo>
                <a:lnTo>
                  <a:pt x="413063" y="418411"/>
                </a:lnTo>
                <a:lnTo>
                  <a:pt x="413945" y="419286"/>
                </a:lnTo>
                <a:lnTo>
                  <a:pt x="414828" y="420161"/>
                </a:lnTo>
                <a:lnTo>
                  <a:pt x="415711" y="421035"/>
                </a:lnTo>
                <a:lnTo>
                  <a:pt x="416593" y="421910"/>
                </a:lnTo>
                <a:lnTo>
                  <a:pt x="417476" y="422784"/>
                </a:lnTo>
                <a:lnTo>
                  <a:pt x="418358" y="423659"/>
                </a:lnTo>
                <a:lnTo>
                  <a:pt x="419241" y="424533"/>
                </a:lnTo>
                <a:lnTo>
                  <a:pt x="420124" y="425408"/>
                </a:lnTo>
                <a:lnTo>
                  <a:pt x="421006" y="426283"/>
                </a:lnTo>
                <a:lnTo>
                  <a:pt x="421889" y="427157"/>
                </a:lnTo>
                <a:lnTo>
                  <a:pt x="422771" y="428032"/>
                </a:lnTo>
                <a:lnTo>
                  <a:pt x="423654" y="428906"/>
                </a:lnTo>
                <a:lnTo>
                  <a:pt x="424537" y="429781"/>
                </a:lnTo>
                <a:lnTo>
                  <a:pt x="425419" y="430655"/>
                </a:lnTo>
                <a:lnTo>
                  <a:pt x="426302" y="431530"/>
                </a:lnTo>
                <a:lnTo>
                  <a:pt x="427184" y="432405"/>
                </a:lnTo>
                <a:lnTo>
                  <a:pt x="428067" y="433279"/>
                </a:lnTo>
                <a:lnTo>
                  <a:pt x="428950" y="434154"/>
                </a:lnTo>
                <a:lnTo>
                  <a:pt x="429832" y="435028"/>
                </a:lnTo>
                <a:lnTo>
                  <a:pt x="430715" y="435903"/>
                </a:lnTo>
                <a:lnTo>
                  <a:pt x="431598" y="436777"/>
                </a:lnTo>
                <a:lnTo>
                  <a:pt x="432480" y="437652"/>
                </a:lnTo>
                <a:lnTo>
                  <a:pt x="433363" y="438527"/>
                </a:lnTo>
                <a:lnTo>
                  <a:pt x="434245" y="439401"/>
                </a:lnTo>
                <a:lnTo>
                  <a:pt x="435128" y="440276"/>
                </a:lnTo>
                <a:lnTo>
                  <a:pt x="436011" y="441150"/>
                </a:lnTo>
                <a:lnTo>
                  <a:pt x="436893" y="442025"/>
                </a:lnTo>
                <a:lnTo>
                  <a:pt x="437776" y="442899"/>
                </a:lnTo>
                <a:lnTo>
                  <a:pt x="438658" y="443774"/>
                </a:lnTo>
                <a:lnTo>
                  <a:pt x="439541" y="444649"/>
                </a:lnTo>
                <a:lnTo>
                  <a:pt x="440424" y="445523"/>
                </a:lnTo>
                <a:lnTo>
                  <a:pt x="441306" y="446398"/>
                </a:lnTo>
                <a:lnTo>
                  <a:pt x="442189" y="447272"/>
                </a:lnTo>
                <a:lnTo>
                  <a:pt x="443071" y="448147"/>
                </a:lnTo>
                <a:lnTo>
                  <a:pt x="443954" y="449021"/>
                </a:lnTo>
                <a:lnTo>
                  <a:pt x="444837" y="449896"/>
                </a:lnTo>
                <a:lnTo>
                  <a:pt x="445719" y="450770"/>
                </a:lnTo>
                <a:lnTo>
                  <a:pt x="446602" y="451645"/>
                </a:lnTo>
                <a:lnTo>
                  <a:pt x="447485" y="452520"/>
                </a:lnTo>
                <a:lnTo>
                  <a:pt x="448367" y="453394"/>
                </a:lnTo>
                <a:lnTo>
                  <a:pt x="449250" y="454269"/>
                </a:lnTo>
                <a:lnTo>
                  <a:pt x="450132" y="455143"/>
                </a:lnTo>
                <a:lnTo>
                  <a:pt x="451015" y="456018"/>
                </a:lnTo>
                <a:lnTo>
                  <a:pt x="451898" y="456892"/>
                </a:lnTo>
                <a:lnTo>
                  <a:pt x="452780" y="457767"/>
                </a:lnTo>
                <a:lnTo>
                  <a:pt x="453663" y="458642"/>
                </a:lnTo>
                <a:lnTo>
                  <a:pt x="454545" y="459516"/>
                </a:lnTo>
                <a:lnTo>
                  <a:pt x="455428" y="460391"/>
                </a:lnTo>
                <a:lnTo>
                  <a:pt x="456311" y="461265"/>
                </a:lnTo>
                <a:lnTo>
                  <a:pt x="457193" y="462140"/>
                </a:lnTo>
                <a:lnTo>
                  <a:pt x="458076" y="463014"/>
                </a:lnTo>
                <a:lnTo>
                  <a:pt x="458959" y="463889"/>
                </a:lnTo>
                <a:lnTo>
                  <a:pt x="459841" y="464764"/>
                </a:lnTo>
                <a:lnTo>
                  <a:pt x="460724" y="465638"/>
                </a:lnTo>
                <a:lnTo>
                  <a:pt x="461606" y="466513"/>
                </a:lnTo>
                <a:lnTo>
                  <a:pt x="462489" y="467387"/>
                </a:lnTo>
                <a:lnTo>
                  <a:pt x="463372" y="468262"/>
                </a:lnTo>
                <a:lnTo>
                  <a:pt x="464254" y="469136"/>
                </a:lnTo>
                <a:lnTo>
                  <a:pt x="465137" y="470011"/>
                </a:lnTo>
                <a:lnTo>
                  <a:pt x="466019" y="470886"/>
                </a:lnTo>
                <a:lnTo>
                  <a:pt x="466902" y="471760"/>
                </a:lnTo>
                <a:lnTo>
                  <a:pt x="467785" y="472635"/>
                </a:lnTo>
                <a:lnTo>
                  <a:pt x="468667" y="473509"/>
                </a:lnTo>
                <a:lnTo>
                  <a:pt x="469550" y="474384"/>
                </a:lnTo>
                <a:lnTo>
                  <a:pt x="470432" y="475258"/>
                </a:lnTo>
                <a:lnTo>
                  <a:pt x="471315" y="476133"/>
                </a:lnTo>
                <a:lnTo>
                  <a:pt x="472198" y="477008"/>
                </a:lnTo>
                <a:lnTo>
                  <a:pt x="473080" y="477882"/>
                </a:lnTo>
                <a:lnTo>
                  <a:pt x="473963" y="478757"/>
                </a:lnTo>
                <a:lnTo>
                  <a:pt x="474846" y="479631"/>
                </a:lnTo>
                <a:lnTo>
                  <a:pt x="475728" y="480506"/>
                </a:lnTo>
                <a:lnTo>
                  <a:pt x="476611" y="481380"/>
                </a:lnTo>
                <a:lnTo>
                  <a:pt x="477493" y="482255"/>
                </a:lnTo>
                <a:lnTo>
                  <a:pt x="478376" y="483130"/>
                </a:lnTo>
                <a:lnTo>
                  <a:pt x="479259" y="484004"/>
                </a:lnTo>
                <a:lnTo>
                  <a:pt x="480141" y="484879"/>
                </a:lnTo>
                <a:lnTo>
                  <a:pt x="481024" y="485753"/>
                </a:lnTo>
                <a:lnTo>
                  <a:pt x="481906" y="486628"/>
                </a:lnTo>
                <a:lnTo>
                  <a:pt x="482789" y="487502"/>
                </a:lnTo>
                <a:lnTo>
                  <a:pt x="483672" y="488377"/>
                </a:lnTo>
                <a:lnTo>
                  <a:pt x="484554" y="489252"/>
                </a:lnTo>
                <a:lnTo>
                  <a:pt x="485437" y="490126"/>
                </a:lnTo>
                <a:lnTo>
                  <a:pt x="486320" y="491001"/>
                </a:lnTo>
                <a:lnTo>
                  <a:pt x="487202" y="491875"/>
                </a:lnTo>
                <a:lnTo>
                  <a:pt x="488085" y="492750"/>
                </a:lnTo>
                <a:lnTo>
                  <a:pt x="488967" y="493624"/>
                </a:lnTo>
                <a:lnTo>
                  <a:pt x="489850" y="494499"/>
                </a:lnTo>
                <a:lnTo>
                  <a:pt x="490733" y="495374"/>
                </a:lnTo>
                <a:lnTo>
                  <a:pt x="491615" y="496248"/>
                </a:lnTo>
                <a:lnTo>
                  <a:pt x="492498" y="497123"/>
                </a:lnTo>
                <a:lnTo>
                  <a:pt x="493380" y="497997"/>
                </a:lnTo>
                <a:lnTo>
                  <a:pt x="494263" y="498872"/>
                </a:lnTo>
                <a:lnTo>
                  <a:pt x="495146" y="499746"/>
                </a:lnTo>
                <a:lnTo>
                  <a:pt x="496028" y="500621"/>
                </a:lnTo>
                <a:lnTo>
                  <a:pt x="496911" y="501496"/>
                </a:lnTo>
                <a:lnTo>
                  <a:pt x="497793" y="502370"/>
                </a:lnTo>
                <a:lnTo>
                  <a:pt x="498676" y="503245"/>
                </a:lnTo>
                <a:lnTo>
                  <a:pt x="499559" y="504119"/>
                </a:lnTo>
                <a:lnTo>
                  <a:pt x="500441" y="504994"/>
                </a:lnTo>
                <a:lnTo>
                  <a:pt x="501324" y="505868"/>
                </a:lnTo>
                <a:lnTo>
                  <a:pt x="502207" y="506743"/>
                </a:lnTo>
                <a:lnTo>
                  <a:pt x="503089" y="507617"/>
                </a:lnTo>
                <a:lnTo>
                  <a:pt x="503972" y="508492"/>
                </a:lnTo>
                <a:lnTo>
                  <a:pt x="504854" y="509367"/>
                </a:lnTo>
                <a:lnTo>
                  <a:pt x="505737" y="510241"/>
                </a:lnTo>
                <a:lnTo>
                  <a:pt x="506620" y="511116"/>
                </a:lnTo>
                <a:lnTo>
                  <a:pt x="507502" y="511990"/>
                </a:lnTo>
                <a:lnTo>
                  <a:pt x="508385" y="512865"/>
                </a:lnTo>
                <a:lnTo>
                  <a:pt x="509267" y="513739"/>
                </a:lnTo>
                <a:lnTo>
                  <a:pt x="510150" y="514614"/>
                </a:lnTo>
                <a:lnTo>
                  <a:pt x="511033" y="515489"/>
                </a:lnTo>
                <a:lnTo>
                  <a:pt x="511915" y="516363"/>
                </a:lnTo>
                <a:lnTo>
                  <a:pt x="512798" y="517238"/>
                </a:lnTo>
                <a:lnTo>
                  <a:pt x="513680" y="518112"/>
                </a:lnTo>
                <a:lnTo>
                  <a:pt x="514563" y="518987"/>
                </a:lnTo>
                <a:lnTo>
                  <a:pt x="515446" y="519861"/>
                </a:lnTo>
                <a:lnTo>
                  <a:pt x="516328" y="520736"/>
                </a:lnTo>
                <a:lnTo>
                  <a:pt x="517211" y="521611"/>
                </a:lnTo>
                <a:lnTo>
                  <a:pt x="518094" y="522485"/>
                </a:lnTo>
                <a:lnTo>
                  <a:pt x="518976" y="523360"/>
                </a:lnTo>
                <a:lnTo>
                  <a:pt x="519859" y="524234"/>
                </a:lnTo>
                <a:lnTo>
                  <a:pt x="520741" y="525109"/>
                </a:lnTo>
                <a:lnTo>
                  <a:pt x="521624" y="525983"/>
                </a:lnTo>
                <a:lnTo>
                  <a:pt x="522507" y="526858"/>
                </a:lnTo>
                <a:lnTo>
                  <a:pt x="523389" y="527733"/>
                </a:lnTo>
                <a:lnTo>
                  <a:pt x="524272" y="528607"/>
                </a:lnTo>
                <a:lnTo>
                  <a:pt x="525154" y="529482"/>
                </a:lnTo>
                <a:lnTo>
                  <a:pt x="526037" y="530356"/>
                </a:lnTo>
                <a:lnTo>
                  <a:pt x="526920" y="531231"/>
                </a:lnTo>
                <a:lnTo>
                  <a:pt x="527802" y="532105"/>
                </a:lnTo>
                <a:lnTo>
                  <a:pt x="528685" y="532980"/>
                </a:lnTo>
                <a:lnTo>
                  <a:pt x="529568" y="533855"/>
                </a:lnTo>
                <a:lnTo>
                  <a:pt x="530450" y="534729"/>
                </a:lnTo>
                <a:lnTo>
                  <a:pt x="531333" y="535604"/>
                </a:lnTo>
                <a:lnTo>
                  <a:pt x="532215" y="536478"/>
                </a:lnTo>
                <a:lnTo>
                  <a:pt x="533098" y="537353"/>
                </a:lnTo>
                <a:lnTo>
                  <a:pt x="533981" y="538227"/>
                </a:lnTo>
                <a:lnTo>
                  <a:pt x="534863" y="539102"/>
                </a:lnTo>
                <a:lnTo>
                  <a:pt x="535746" y="539977"/>
                </a:lnTo>
                <a:lnTo>
                  <a:pt x="536628" y="540851"/>
                </a:lnTo>
                <a:lnTo>
                  <a:pt x="537511" y="541726"/>
                </a:lnTo>
                <a:lnTo>
                  <a:pt x="538394" y="542600"/>
                </a:lnTo>
                <a:lnTo>
                  <a:pt x="539276" y="543475"/>
                </a:lnTo>
                <a:lnTo>
                  <a:pt x="540159" y="544349"/>
                </a:lnTo>
                <a:lnTo>
                  <a:pt x="541041" y="545224"/>
                </a:lnTo>
                <a:lnTo>
                  <a:pt x="541924" y="546099"/>
                </a:lnTo>
                <a:lnTo>
                  <a:pt x="542807" y="546973"/>
                </a:lnTo>
                <a:lnTo>
                  <a:pt x="543689" y="547848"/>
                </a:lnTo>
                <a:lnTo>
                  <a:pt x="544572" y="548722"/>
                </a:lnTo>
                <a:lnTo>
                  <a:pt x="545455" y="549597"/>
                </a:lnTo>
                <a:lnTo>
                  <a:pt x="546337" y="550471"/>
                </a:lnTo>
                <a:lnTo>
                  <a:pt x="547220" y="551346"/>
                </a:lnTo>
                <a:lnTo>
                  <a:pt x="548102" y="552221"/>
                </a:lnTo>
                <a:lnTo>
                  <a:pt x="548985" y="553095"/>
                </a:lnTo>
                <a:lnTo>
                  <a:pt x="549868" y="553970"/>
                </a:lnTo>
                <a:lnTo>
                  <a:pt x="550750" y="554844"/>
                </a:lnTo>
                <a:lnTo>
                  <a:pt x="551633" y="555719"/>
                </a:lnTo>
                <a:lnTo>
                  <a:pt x="552515" y="556593"/>
                </a:lnTo>
                <a:lnTo>
                  <a:pt x="553398" y="557468"/>
                </a:lnTo>
                <a:lnTo>
                  <a:pt x="554281" y="558343"/>
                </a:lnTo>
                <a:lnTo>
                  <a:pt x="555163" y="559217"/>
                </a:lnTo>
                <a:lnTo>
                  <a:pt x="556046" y="560092"/>
                </a:lnTo>
                <a:lnTo>
                  <a:pt x="556929" y="560966"/>
                </a:lnTo>
                <a:lnTo>
                  <a:pt x="557811" y="561841"/>
                </a:lnTo>
                <a:lnTo>
                  <a:pt x="558694" y="562715"/>
                </a:lnTo>
                <a:lnTo>
                  <a:pt x="559576" y="563590"/>
                </a:lnTo>
                <a:lnTo>
                  <a:pt x="560459" y="564465"/>
                </a:lnTo>
                <a:lnTo>
                  <a:pt x="561342" y="565339"/>
                </a:lnTo>
                <a:lnTo>
                  <a:pt x="562224" y="566214"/>
                </a:lnTo>
                <a:lnTo>
                  <a:pt x="563107" y="567088"/>
                </a:lnTo>
                <a:lnTo>
                  <a:pt x="563989" y="567963"/>
                </a:lnTo>
                <a:lnTo>
                  <a:pt x="564872" y="568837"/>
                </a:lnTo>
                <a:lnTo>
                  <a:pt x="565755" y="569712"/>
                </a:lnTo>
                <a:lnTo>
                  <a:pt x="566637" y="570586"/>
                </a:lnTo>
                <a:lnTo>
                  <a:pt x="567520" y="571461"/>
                </a:lnTo>
                <a:lnTo>
                  <a:pt x="568402" y="572336"/>
                </a:lnTo>
                <a:lnTo>
                  <a:pt x="569285" y="573210"/>
                </a:lnTo>
                <a:lnTo>
                  <a:pt x="570168" y="574085"/>
                </a:lnTo>
                <a:lnTo>
                  <a:pt x="571050" y="574959"/>
                </a:lnTo>
                <a:lnTo>
                  <a:pt x="571933" y="575834"/>
                </a:lnTo>
                <a:lnTo>
                  <a:pt x="572816" y="576708"/>
                </a:lnTo>
                <a:lnTo>
                  <a:pt x="573698" y="577583"/>
                </a:lnTo>
                <a:lnTo>
                  <a:pt x="574581" y="578458"/>
                </a:lnTo>
                <a:lnTo>
                  <a:pt x="575463" y="579332"/>
                </a:lnTo>
                <a:lnTo>
                  <a:pt x="576346" y="580207"/>
                </a:lnTo>
                <a:lnTo>
                  <a:pt x="577229" y="581081"/>
                </a:lnTo>
                <a:lnTo>
                  <a:pt x="578111" y="581956"/>
                </a:lnTo>
                <a:lnTo>
                  <a:pt x="578994" y="582830"/>
                </a:lnTo>
                <a:lnTo>
                  <a:pt x="579876" y="583705"/>
                </a:lnTo>
                <a:lnTo>
                  <a:pt x="580759" y="584580"/>
                </a:lnTo>
                <a:lnTo>
                  <a:pt x="581642" y="585454"/>
                </a:lnTo>
                <a:lnTo>
                  <a:pt x="582524" y="586329"/>
                </a:lnTo>
                <a:lnTo>
                  <a:pt x="583407" y="587203"/>
                </a:lnTo>
                <a:lnTo>
                  <a:pt x="584289" y="588078"/>
                </a:lnTo>
                <a:lnTo>
                  <a:pt x="585172" y="588952"/>
                </a:lnTo>
                <a:lnTo>
                  <a:pt x="586055" y="589827"/>
                </a:lnTo>
                <a:lnTo>
                  <a:pt x="586937" y="590702"/>
                </a:lnTo>
                <a:lnTo>
                  <a:pt x="587820" y="591576"/>
                </a:lnTo>
                <a:lnTo>
                  <a:pt x="588703" y="592451"/>
                </a:lnTo>
                <a:lnTo>
                  <a:pt x="589585" y="593325"/>
                </a:lnTo>
                <a:lnTo>
                  <a:pt x="590468" y="594200"/>
                </a:lnTo>
                <a:lnTo>
                  <a:pt x="591350" y="595074"/>
                </a:lnTo>
                <a:lnTo>
                  <a:pt x="592233" y="595949"/>
                </a:lnTo>
                <a:lnTo>
                  <a:pt x="593116" y="596824"/>
                </a:lnTo>
                <a:lnTo>
                  <a:pt x="593998" y="597698"/>
                </a:lnTo>
                <a:lnTo>
                  <a:pt x="594881" y="598573"/>
                </a:lnTo>
                <a:lnTo>
                  <a:pt x="595763" y="599447"/>
                </a:lnTo>
                <a:lnTo>
                  <a:pt x="596646" y="600322"/>
                </a:lnTo>
                <a:lnTo>
                  <a:pt x="597529" y="601196"/>
                </a:lnTo>
                <a:lnTo>
                  <a:pt x="598411" y="602071"/>
                </a:lnTo>
                <a:lnTo>
                  <a:pt x="599294" y="602946"/>
                </a:lnTo>
                <a:lnTo>
                  <a:pt x="600177" y="603820"/>
                </a:lnTo>
                <a:lnTo>
                  <a:pt x="601059" y="604695"/>
                </a:lnTo>
                <a:lnTo>
                  <a:pt x="601942" y="605569"/>
                </a:lnTo>
                <a:lnTo>
                  <a:pt x="602824" y="606444"/>
                </a:lnTo>
                <a:lnTo>
                  <a:pt x="603707" y="607318"/>
                </a:lnTo>
                <a:lnTo>
                  <a:pt x="604590" y="608193"/>
                </a:lnTo>
                <a:lnTo>
                  <a:pt x="605472" y="609068"/>
                </a:lnTo>
                <a:lnTo>
                  <a:pt x="606355" y="609942"/>
                </a:lnTo>
                <a:lnTo>
                  <a:pt x="607237" y="610817"/>
                </a:lnTo>
                <a:lnTo>
                  <a:pt x="608120" y="611691"/>
                </a:lnTo>
                <a:lnTo>
                  <a:pt x="609003" y="612566"/>
                </a:lnTo>
                <a:lnTo>
                  <a:pt x="609885" y="613440"/>
                </a:lnTo>
                <a:lnTo>
                  <a:pt x="610768" y="614315"/>
                </a:lnTo>
                <a:lnTo>
                  <a:pt x="611650" y="615190"/>
                </a:lnTo>
                <a:lnTo>
                  <a:pt x="612533" y="616064"/>
                </a:lnTo>
                <a:lnTo>
                  <a:pt x="613416" y="616939"/>
                </a:lnTo>
                <a:lnTo>
                  <a:pt x="614298" y="617813"/>
                </a:lnTo>
                <a:lnTo>
                  <a:pt x="615181" y="618688"/>
                </a:lnTo>
                <a:lnTo>
                  <a:pt x="616064" y="619562"/>
                </a:lnTo>
                <a:lnTo>
                  <a:pt x="616946" y="620437"/>
                </a:lnTo>
                <a:lnTo>
                  <a:pt x="617829" y="621312"/>
                </a:lnTo>
                <a:lnTo>
                  <a:pt x="618711" y="622186"/>
                </a:lnTo>
                <a:lnTo>
                  <a:pt x="619594" y="623061"/>
                </a:lnTo>
                <a:lnTo>
                  <a:pt x="620477" y="623935"/>
                </a:lnTo>
                <a:lnTo>
                  <a:pt x="621359" y="624810"/>
                </a:lnTo>
                <a:lnTo>
                  <a:pt x="622242" y="625684"/>
                </a:lnTo>
                <a:lnTo>
                  <a:pt x="623124" y="626559"/>
                </a:lnTo>
                <a:lnTo>
                  <a:pt x="624007" y="627433"/>
                </a:lnTo>
                <a:lnTo>
                  <a:pt x="624890" y="628308"/>
                </a:lnTo>
                <a:lnTo>
                  <a:pt x="625772" y="629183"/>
                </a:lnTo>
                <a:lnTo>
                  <a:pt x="626655" y="630057"/>
                </a:lnTo>
                <a:lnTo>
                  <a:pt x="627538" y="630932"/>
                </a:lnTo>
                <a:lnTo>
                  <a:pt x="628420" y="631806"/>
                </a:lnTo>
                <a:lnTo>
                  <a:pt x="629303" y="632681"/>
                </a:lnTo>
                <a:lnTo>
                  <a:pt x="630185" y="633555"/>
                </a:lnTo>
                <a:lnTo>
                  <a:pt x="631068" y="634430"/>
                </a:lnTo>
                <a:lnTo>
                  <a:pt x="631951" y="635305"/>
                </a:lnTo>
                <a:lnTo>
                  <a:pt x="632833" y="636179"/>
                </a:lnTo>
                <a:lnTo>
                  <a:pt x="633716" y="637054"/>
                </a:lnTo>
                <a:lnTo>
                  <a:pt x="634598" y="637928"/>
                </a:lnTo>
                <a:lnTo>
                  <a:pt x="635481" y="638803"/>
                </a:lnTo>
                <a:lnTo>
                  <a:pt x="636364" y="639677"/>
                </a:lnTo>
                <a:lnTo>
                  <a:pt x="637246" y="640552"/>
                </a:lnTo>
                <a:lnTo>
                  <a:pt x="638129" y="641427"/>
                </a:lnTo>
                <a:lnTo>
                  <a:pt x="639011" y="642301"/>
                </a:lnTo>
                <a:lnTo>
                  <a:pt x="639894" y="643176"/>
                </a:lnTo>
                <a:lnTo>
                  <a:pt x="640777" y="644050"/>
                </a:lnTo>
                <a:lnTo>
                  <a:pt x="641659" y="644925"/>
                </a:lnTo>
                <a:lnTo>
                  <a:pt x="642542" y="645799"/>
                </a:lnTo>
                <a:lnTo>
                  <a:pt x="643425" y="646674"/>
                </a:lnTo>
                <a:lnTo>
                  <a:pt x="644307" y="647549"/>
                </a:lnTo>
                <a:lnTo>
                  <a:pt x="645190" y="648423"/>
                </a:lnTo>
                <a:lnTo>
                  <a:pt x="646072" y="649298"/>
                </a:lnTo>
                <a:lnTo>
                  <a:pt x="646955" y="650172"/>
                </a:lnTo>
                <a:lnTo>
                  <a:pt x="647838" y="651047"/>
                </a:lnTo>
                <a:lnTo>
                  <a:pt x="648720" y="651921"/>
                </a:lnTo>
                <a:lnTo>
                  <a:pt x="649603" y="652796"/>
                </a:lnTo>
                <a:lnTo>
                  <a:pt x="650485" y="653671"/>
                </a:lnTo>
                <a:lnTo>
                  <a:pt x="651368" y="654545"/>
                </a:lnTo>
                <a:lnTo>
                  <a:pt x="652251" y="655420"/>
                </a:lnTo>
                <a:lnTo>
                  <a:pt x="653133" y="656294"/>
                </a:lnTo>
                <a:lnTo>
                  <a:pt x="654016" y="657169"/>
                </a:lnTo>
                <a:lnTo>
                  <a:pt x="654898" y="658043"/>
                </a:lnTo>
                <a:lnTo>
                  <a:pt x="655781" y="658918"/>
                </a:lnTo>
                <a:lnTo>
                  <a:pt x="656664" y="659793"/>
                </a:lnTo>
                <a:lnTo>
                  <a:pt x="657546" y="660667"/>
                </a:lnTo>
                <a:lnTo>
                  <a:pt x="658429" y="661542"/>
                </a:lnTo>
                <a:lnTo>
                  <a:pt x="659312" y="662416"/>
                </a:lnTo>
                <a:lnTo>
                  <a:pt x="660194" y="663291"/>
                </a:lnTo>
                <a:lnTo>
                  <a:pt x="661077" y="664165"/>
                </a:lnTo>
                <a:lnTo>
                  <a:pt x="661959" y="665040"/>
                </a:lnTo>
                <a:lnTo>
                  <a:pt x="662842" y="665915"/>
                </a:lnTo>
                <a:lnTo>
                  <a:pt x="663725" y="666789"/>
                </a:lnTo>
                <a:lnTo>
                  <a:pt x="664607" y="667664"/>
                </a:lnTo>
                <a:lnTo>
                  <a:pt x="665490" y="668538"/>
                </a:lnTo>
                <a:lnTo>
                  <a:pt x="666372" y="669413"/>
                </a:lnTo>
                <a:lnTo>
                  <a:pt x="667255" y="670287"/>
                </a:lnTo>
                <a:lnTo>
                  <a:pt x="668138" y="671162"/>
                </a:lnTo>
                <a:lnTo>
                  <a:pt x="669020" y="672037"/>
                </a:lnTo>
                <a:lnTo>
                  <a:pt x="669903" y="672911"/>
                </a:lnTo>
                <a:lnTo>
                  <a:pt x="670786" y="673786"/>
                </a:lnTo>
                <a:lnTo>
                  <a:pt x="671668" y="674660"/>
                </a:lnTo>
                <a:lnTo>
                  <a:pt x="672551" y="675535"/>
                </a:lnTo>
                <a:lnTo>
                  <a:pt x="673433" y="676409"/>
                </a:lnTo>
                <a:lnTo>
                  <a:pt x="674316" y="677284"/>
                </a:lnTo>
                <a:lnTo>
                  <a:pt x="675199" y="678159"/>
                </a:lnTo>
                <a:lnTo>
                  <a:pt x="676081" y="679033"/>
                </a:lnTo>
                <a:lnTo>
                  <a:pt x="676964" y="679908"/>
                </a:lnTo>
                <a:lnTo>
                  <a:pt x="677846" y="680782"/>
                </a:lnTo>
                <a:lnTo>
                  <a:pt x="678729" y="681657"/>
                </a:lnTo>
                <a:lnTo>
                  <a:pt x="679612" y="682531"/>
                </a:lnTo>
                <a:lnTo>
                  <a:pt x="680494" y="683406"/>
                </a:lnTo>
                <a:lnTo>
                  <a:pt x="681377" y="684280"/>
                </a:lnTo>
                <a:lnTo>
                  <a:pt x="682259" y="685155"/>
                </a:lnTo>
                <a:lnTo>
                  <a:pt x="683142" y="686030"/>
                </a:lnTo>
                <a:lnTo>
                  <a:pt x="684025" y="686904"/>
                </a:lnTo>
                <a:lnTo>
                  <a:pt x="684907" y="687779"/>
                </a:lnTo>
                <a:lnTo>
                  <a:pt x="685790" y="688653"/>
                </a:lnTo>
                <a:lnTo>
                  <a:pt x="686673" y="689528"/>
                </a:lnTo>
                <a:lnTo>
                  <a:pt x="687555" y="690402"/>
                </a:lnTo>
                <a:lnTo>
                  <a:pt x="688438" y="691277"/>
                </a:lnTo>
                <a:lnTo>
                  <a:pt x="689320" y="692152"/>
                </a:lnTo>
                <a:lnTo>
                  <a:pt x="690203" y="693026"/>
                </a:lnTo>
                <a:lnTo>
                  <a:pt x="691086" y="693901"/>
                </a:lnTo>
                <a:lnTo>
                  <a:pt x="691968" y="694775"/>
                </a:lnTo>
                <a:lnTo>
                  <a:pt x="692851" y="695650"/>
                </a:lnTo>
                <a:lnTo>
                  <a:pt x="693733" y="696524"/>
                </a:lnTo>
                <a:lnTo>
                  <a:pt x="694616" y="697399"/>
                </a:lnTo>
                <a:lnTo>
                  <a:pt x="695499" y="698274"/>
                </a:lnTo>
                <a:lnTo>
                  <a:pt x="696381" y="699148"/>
                </a:lnTo>
                <a:lnTo>
                  <a:pt x="697264" y="700023"/>
                </a:lnTo>
                <a:lnTo>
                  <a:pt x="698147" y="700897"/>
                </a:lnTo>
                <a:lnTo>
                  <a:pt x="699029" y="701772"/>
                </a:lnTo>
                <a:lnTo>
                  <a:pt x="699912" y="702646"/>
                </a:lnTo>
                <a:lnTo>
                  <a:pt x="700794" y="703521"/>
                </a:lnTo>
                <a:lnTo>
                  <a:pt x="701677" y="704396"/>
                </a:lnTo>
                <a:lnTo>
                  <a:pt x="702560" y="705270"/>
                </a:lnTo>
                <a:lnTo>
                  <a:pt x="703442" y="706145"/>
                </a:lnTo>
                <a:lnTo>
                  <a:pt x="704325" y="707019"/>
                </a:lnTo>
                <a:lnTo>
                  <a:pt x="705207" y="707894"/>
                </a:lnTo>
                <a:lnTo>
                  <a:pt x="706090" y="708768"/>
                </a:lnTo>
                <a:lnTo>
                  <a:pt x="706973" y="709643"/>
                </a:lnTo>
                <a:lnTo>
                  <a:pt x="707855" y="710518"/>
                </a:lnTo>
                <a:lnTo>
                  <a:pt x="708738" y="711392"/>
                </a:lnTo>
                <a:lnTo>
                  <a:pt x="709620" y="712267"/>
                </a:lnTo>
                <a:lnTo>
                  <a:pt x="710503" y="713141"/>
                </a:lnTo>
                <a:lnTo>
                  <a:pt x="711386" y="714016"/>
                </a:lnTo>
                <a:lnTo>
                  <a:pt x="712268" y="714890"/>
                </a:lnTo>
                <a:lnTo>
                  <a:pt x="713151" y="715765"/>
                </a:lnTo>
                <a:lnTo>
                  <a:pt x="714034" y="716640"/>
                </a:lnTo>
                <a:lnTo>
                  <a:pt x="714916" y="717514"/>
                </a:lnTo>
                <a:lnTo>
                  <a:pt x="715799" y="718389"/>
                </a:lnTo>
                <a:lnTo>
                  <a:pt x="716681" y="719263"/>
                </a:lnTo>
                <a:lnTo>
                  <a:pt x="717564" y="720138"/>
                </a:lnTo>
                <a:lnTo>
                  <a:pt x="718447" y="721012"/>
                </a:lnTo>
                <a:lnTo>
                  <a:pt x="719329" y="721887"/>
                </a:lnTo>
                <a:lnTo>
                  <a:pt x="720212" y="722762"/>
                </a:lnTo>
                <a:lnTo>
                  <a:pt x="721094" y="723636"/>
                </a:lnTo>
                <a:lnTo>
                  <a:pt x="721977" y="724511"/>
                </a:lnTo>
                <a:lnTo>
                  <a:pt x="722860" y="725385"/>
                </a:lnTo>
                <a:lnTo>
                  <a:pt x="723742" y="726260"/>
                </a:lnTo>
                <a:lnTo>
                  <a:pt x="724625" y="727134"/>
                </a:lnTo>
                <a:lnTo>
                  <a:pt x="725508" y="728009"/>
                </a:lnTo>
                <a:lnTo>
                  <a:pt x="726390" y="728884"/>
                </a:lnTo>
                <a:lnTo>
                  <a:pt x="727273" y="729758"/>
                </a:lnTo>
                <a:lnTo>
                  <a:pt x="728155" y="730633"/>
                </a:lnTo>
                <a:lnTo>
                  <a:pt x="729038" y="731507"/>
                </a:lnTo>
                <a:lnTo>
                  <a:pt x="729921" y="732382"/>
                </a:lnTo>
                <a:lnTo>
                  <a:pt x="730803" y="733256"/>
                </a:lnTo>
                <a:lnTo>
                  <a:pt x="731686" y="734131"/>
                </a:lnTo>
                <a:lnTo>
                  <a:pt x="732568" y="735006"/>
                </a:lnTo>
                <a:lnTo>
                  <a:pt x="733451" y="735880"/>
                </a:lnTo>
                <a:lnTo>
                  <a:pt x="734334" y="736755"/>
                </a:lnTo>
                <a:lnTo>
                  <a:pt x="735216" y="737629"/>
                </a:lnTo>
                <a:lnTo>
                  <a:pt x="736099" y="738504"/>
                </a:lnTo>
                <a:lnTo>
                  <a:pt x="736981" y="739378"/>
                </a:lnTo>
                <a:lnTo>
                  <a:pt x="737864" y="740253"/>
                </a:lnTo>
                <a:lnTo>
                  <a:pt x="738747" y="741127"/>
                </a:lnTo>
                <a:lnTo>
                  <a:pt x="739629" y="742002"/>
                </a:lnTo>
                <a:lnTo>
                  <a:pt x="740512" y="742877"/>
                </a:lnTo>
                <a:lnTo>
                  <a:pt x="741395" y="743751"/>
                </a:lnTo>
                <a:lnTo>
                  <a:pt x="742277" y="744626"/>
                </a:lnTo>
                <a:lnTo>
                  <a:pt x="743160" y="745500"/>
                </a:lnTo>
                <a:lnTo>
                  <a:pt x="744042" y="746375"/>
                </a:lnTo>
                <a:lnTo>
                  <a:pt x="744925" y="747249"/>
                </a:lnTo>
                <a:lnTo>
                  <a:pt x="745808" y="748124"/>
                </a:lnTo>
                <a:lnTo>
                  <a:pt x="746690" y="748999"/>
                </a:lnTo>
                <a:lnTo>
                  <a:pt x="747573" y="749873"/>
                </a:lnTo>
                <a:lnTo>
                  <a:pt x="748455" y="750748"/>
                </a:lnTo>
                <a:lnTo>
                  <a:pt x="749338" y="751622"/>
                </a:lnTo>
                <a:lnTo>
                  <a:pt x="750221" y="752497"/>
                </a:lnTo>
                <a:lnTo>
                  <a:pt x="751103" y="753371"/>
                </a:lnTo>
                <a:lnTo>
                  <a:pt x="751986" y="754246"/>
                </a:lnTo>
                <a:lnTo>
                  <a:pt x="752868" y="755121"/>
                </a:lnTo>
                <a:lnTo>
                  <a:pt x="753751" y="755995"/>
                </a:lnTo>
                <a:lnTo>
                  <a:pt x="754634" y="756870"/>
                </a:lnTo>
                <a:lnTo>
                  <a:pt x="755516" y="757744"/>
                </a:lnTo>
                <a:lnTo>
                  <a:pt x="756399" y="758619"/>
                </a:lnTo>
                <a:lnTo>
                  <a:pt x="757282" y="759493"/>
                </a:lnTo>
                <a:lnTo>
                  <a:pt x="758164" y="760368"/>
                </a:lnTo>
                <a:lnTo>
                  <a:pt x="759047" y="761243"/>
                </a:lnTo>
                <a:lnTo>
                  <a:pt x="759929" y="762117"/>
                </a:lnTo>
                <a:lnTo>
                  <a:pt x="760812" y="762992"/>
                </a:lnTo>
                <a:lnTo>
                  <a:pt x="761695" y="763866"/>
                </a:lnTo>
                <a:lnTo>
                  <a:pt x="762577" y="764741"/>
                </a:lnTo>
                <a:lnTo>
                  <a:pt x="763460" y="765615"/>
                </a:lnTo>
                <a:lnTo>
                  <a:pt x="764342" y="766490"/>
                </a:lnTo>
                <a:lnTo>
                  <a:pt x="765225" y="767365"/>
                </a:lnTo>
                <a:lnTo>
                  <a:pt x="766108" y="768239"/>
                </a:lnTo>
                <a:lnTo>
                  <a:pt x="766990" y="769114"/>
                </a:lnTo>
                <a:lnTo>
                  <a:pt x="767873" y="769988"/>
                </a:lnTo>
                <a:lnTo>
                  <a:pt x="768756" y="770863"/>
                </a:lnTo>
                <a:lnTo>
                  <a:pt x="769638" y="771737"/>
                </a:lnTo>
                <a:lnTo>
                  <a:pt x="770521" y="772612"/>
                </a:lnTo>
                <a:lnTo>
                  <a:pt x="771403" y="773487"/>
                </a:lnTo>
                <a:lnTo>
                  <a:pt x="772286" y="774361"/>
                </a:lnTo>
                <a:lnTo>
                  <a:pt x="773169" y="775236"/>
                </a:lnTo>
                <a:lnTo>
                  <a:pt x="774051" y="776110"/>
                </a:lnTo>
                <a:lnTo>
                  <a:pt x="774934" y="776985"/>
                </a:lnTo>
                <a:lnTo>
                  <a:pt x="775816" y="777859"/>
                </a:lnTo>
                <a:lnTo>
                  <a:pt x="776699" y="778734"/>
                </a:lnTo>
                <a:lnTo>
                  <a:pt x="777582" y="779609"/>
                </a:lnTo>
                <a:lnTo>
                  <a:pt x="778464" y="780483"/>
                </a:lnTo>
                <a:lnTo>
                  <a:pt x="779347" y="781358"/>
                </a:lnTo>
                <a:lnTo>
                  <a:pt x="780229" y="782232"/>
                </a:lnTo>
                <a:lnTo>
                  <a:pt x="781112" y="783107"/>
                </a:lnTo>
                <a:lnTo>
                  <a:pt x="781995" y="783981"/>
                </a:lnTo>
                <a:lnTo>
                  <a:pt x="782877" y="784856"/>
                </a:lnTo>
                <a:lnTo>
                  <a:pt x="783760" y="785731"/>
                </a:lnTo>
                <a:lnTo>
                  <a:pt x="784643" y="786605"/>
                </a:lnTo>
                <a:lnTo>
                  <a:pt x="785525" y="787480"/>
                </a:lnTo>
                <a:lnTo>
                  <a:pt x="786408" y="788354"/>
                </a:lnTo>
                <a:lnTo>
                  <a:pt x="787290" y="789229"/>
                </a:lnTo>
                <a:lnTo>
                  <a:pt x="788173" y="790103"/>
                </a:lnTo>
                <a:lnTo>
                  <a:pt x="789056" y="790978"/>
                </a:lnTo>
                <a:lnTo>
                  <a:pt x="789938" y="791853"/>
                </a:lnTo>
                <a:lnTo>
                  <a:pt x="790821" y="792727"/>
                </a:lnTo>
                <a:lnTo>
                  <a:pt x="791703" y="793602"/>
                </a:lnTo>
                <a:lnTo>
                  <a:pt x="792586" y="794476"/>
                </a:lnTo>
                <a:lnTo>
                  <a:pt x="793469" y="795351"/>
                </a:lnTo>
                <a:lnTo>
                  <a:pt x="794351" y="796225"/>
                </a:lnTo>
                <a:lnTo>
                  <a:pt x="795234" y="797100"/>
                </a:lnTo>
                <a:lnTo>
                  <a:pt x="796117" y="797974"/>
                </a:lnTo>
                <a:lnTo>
                  <a:pt x="796999" y="798849"/>
                </a:lnTo>
                <a:lnTo>
                  <a:pt x="797882" y="799724"/>
                </a:lnTo>
                <a:lnTo>
                  <a:pt x="798764" y="800598"/>
                </a:lnTo>
                <a:lnTo>
                  <a:pt x="799647" y="801473"/>
                </a:lnTo>
                <a:lnTo>
                  <a:pt x="800530" y="802347"/>
                </a:lnTo>
                <a:lnTo>
                  <a:pt x="801412" y="803222"/>
                </a:lnTo>
                <a:lnTo>
                  <a:pt x="802295" y="804096"/>
                </a:lnTo>
                <a:lnTo>
                  <a:pt x="803177" y="804971"/>
                </a:lnTo>
                <a:lnTo>
                  <a:pt x="804060" y="805846"/>
                </a:lnTo>
                <a:lnTo>
                  <a:pt x="804943" y="806720"/>
                </a:lnTo>
                <a:lnTo>
                  <a:pt x="805825" y="807595"/>
                </a:lnTo>
                <a:lnTo>
                  <a:pt x="806708" y="808469"/>
                </a:lnTo>
                <a:lnTo>
                  <a:pt x="807590" y="809344"/>
                </a:lnTo>
                <a:lnTo>
                  <a:pt x="808473" y="810218"/>
                </a:lnTo>
                <a:lnTo>
                  <a:pt x="809356" y="811093"/>
                </a:lnTo>
                <a:lnTo>
                  <a:pt x="810238" y="811968"/>
                </a:lnTo>
                <a:lnTo>
                  <a:pt x="811121" y="812842"/>
                </a:lnTo>
                <a:lnTo>
                  <a:pt x="812004" y="813717"/>
                </a:lnTo>
                <a:lnTo>
                  <a:pt x="812886" y="814591"/>
                </a:lnTo>
                <a:lnTo>
                  <a:pt x="813769" y="815466"/>
                </a:lnTo>
                <a:lnTo>
                  <a:pt x="814651" y="816340"/>
                </a:lnTo>
                <a:lnTo>
                  <a:pt x="815534" y="817215"/>
                </a:lnTo>
                <a:lnTo>
                  <a:pt x="816417" y="818090"/>
                </a:lnTo>
                <a:lnTo>
                  <a:pt x="817299" y="818964"/>
                </a:lnTo>
                <a:lnTo>
                  <a:pt x="818182" y="819839"/>
                </a:lnTo>
                <a:lnTo>
                  <a:pt x="819064" y="820713"/>
                </a:lnTo>
                <a:lnTo>
                  <a:pt x="819947" y="821588"/>
                </a:lnTo>
                <a:lnTo>
                  <a:pt x="820830" y="822462"/>
                </a:lnTo>
                <a:lnTo>
                  <a:pt x="821712" y="823337"/>
                </a:lnTo>
                <a:lnTo>
                  <a:pt x="822595" y="824212"/>
                </a:lnTo>
                <a:lnTo>
                  <a:pt x="823477" y="825086"/>
                </a:lnTo>
                <a:lnTo>
                  <a:pt x="824360" y="825961"/>
                </a:lnTo>
                <a:lnTo>
                  <a:pt x="825243" y="826835"/>
                </a:lnTo>
                <a:lnTo>
                  <a:pt x="826125" y="827710"/>
                </a:lnTo>
                <a:lnTo>
                  <a:pt x="827008" y="828584"/>
                </a:lnTo>
                <a:lnTo>
                  <a:pt x="827891" y="829459"/>
                </a:lnTo>
                <a:lnTo>
                  <a:pt x="828773" y="830334"/>
                </a:lnTo>
                <a:lnTo>
                  <a:pt x="829656" y="831208"/>
                </a:lnTo>
                <a:lnTo>
                  <a:pt x="830538" y="832083"/>
                </a:lnTo>
                <a:lnTo>
                  <a:pt x="831421" y="832957"/>
                </a:lnTo>
                <a:lnTo>
                  <a:pt x="832304" y="833832"/>
                </a:lnTo>
                <a:lnTo>
                  <a:pt x="833186" y="834706"/>
                </a:lnTo>
                <a:lnTo>
                  <a:pt x="834069" y="835581"/>
                </a:lnTo>
                <a:lnTo>
                  <a:pt x="834951" y="836456"/>
                </a:lnTo>
                <a:lnTo>
                  <a:pt x="835834" y="837330"/>
                </a:lnTo>
                <a:lnTo>
                  <a:pt x="836717" y="838205"/>
                </a:lnTo>
                <a:lnTo>
                  <a:pt x="837599" y="839079"/>
                </a:lnTo>
                <a:lnTo>
                  <a:pt x="838482" y="839954"/>
                </a:lnTo>
                <a:lnTo>
                  <a:pt x="839365" y="840828"/>
                </a:lnTo>
                <a:lnTo>
                  <a:pt x="840247" y="841703"/>
                </a:lnTo>
                <a:lnTo>
                  <a:pt x="841130" y="842578"/>
                </a:lnTo>
                <a:lnTo>
                  <a:pt x="842012" y="843452"/>
                </a:lnTo>
                <a:lnTo>
                  <a:pt x="842895" y="844327"/>
                </a:lnTo>
                <a:lnTo>
                  <a:pt x="843778" y="845201"/>
                </a:lnTo>
                <a:lnTo>
                  <a:pt x="844660" y="846076"/>
                </a:lnTo>
                <a:lnTo>
                  <a:pt x="845543" y="846950"/>
                </a:lnTo>
                <a:lnTo>
                  <a:pt x="846425" y="847825"/>
                </a:lnTo>
                <a:lnTo>
                  <a:pt x="847308" y="848700"/>
                </a:lnTo>
                <a:lnTo>
                  <a:pt x="848191" y="849574"/>
                </a:lnTo>
                <a:lnTo>
                  <a:pt x="849073" y="850449"/>
                </a:lnTo>
                <a:lnTo>
                  <a:pt x="849956" y="851323"/>
                </a:lnTo>
                <a:lnTo>
                  <a:pt x="850838" y="852198"/>
                </a:lnTo>
                <a:lnTo>
                  <a:pt x="851721" y="853072"/>
                </a:lnTo>
                <a:lnTo>
                  <a:pt x="852604" y="853947"/>
                </a:lnTo>
                <a:lnTo>
                  <a:pt x="853486" y="854822"/>
                </a:lnTo>
                <a:lnTo>
                  <a:pt x="854369" y="855696"/>
                </a:lnTo>
                <a:lnTo>
                  <a:pt x="855252" y="856571"/>
                </a:lnTo>
                <a:lnTo>
                  <a:pt x="856134" y="857445"/>
                </a:lnTo>
                <a:lnTo>
                  <a:pt x="857017" y="858320"/>
                </a:lnTo>
                <a:lnTo>
                  <a:pt x="857899" y="859194"/>
                </a:lnTo>
                <a:lnTo>
                  <a:pt x="858782" y="860069"/>
                </a:lnTo>
                <a:lnTo>
                  <a:pt x="859665" y="860943"/>
                </a:lnTo>
                <a:lnTo>
                  <a:pt x="860547" y="861818"/>
                </a:lnTo>
                <a:lnTo>
                  <a:pt x="861430" y="862693"/>
                </a:lnTo>
                <a:lnTo>
                  <a:pt x="862312" y="863567"/>
                </a:lnTo>
                <a:lnTo>
                  <a:pt x="863195" y="864442"/>
                </a:lnTo>
                <a:lnTo>
                  <a:pt x="864078" y="865316"/>
                </a:lnTo>
                <a:lnTo>
                  <a:pt x="864960" y="866191"/>
                </a:lnTo>
                <a:lnTo>
                  <a:pt x="865843" y="867065"/>
                </a:lnTo>
                <a:lnTo>
                  <a:pt x="866726" y="867940"/>
                </a:lnTo>
                <a:lnTo>
                  <a:pt x="867608" y="868815"/>
                </a:lnTo>
                <a:lnTo>
                  <a:pt x="868491" y="869689"/>
                </a:lnTo>
                <a:lnTo>
                  <a:pt x="869373" y="870564"/>
                </a:lnTo>
                <a:lnTo>
                  <a:pt x="870256" y="871438"/>
                </a:lnTo>
                <a:lnTo>
                  <a:pt x="871139" y="872313"/>
                </a:lnTo>
                <a:lnTo>
                  <a:pt x="872021" y="873187"/>
                </a:lnTo>
                <a:lnTo>
                  <a:pt x="872904" y="874062"/>
                </a:lnTo>
                <a:lnTo>
                  <a:pt x="873786" y="874937"/>
                </a:lnTo>
                <a:lnTo>
                  <a:pt x="874669" y="875811"/>
                </a:lnTo>
                <a:lnTo>
                  <a:pt x="875552" y="876686"/>
                </a:lnTo>
                <a:lnTo>
                  <a:pt x="876434" y="877560"/>
                </a:lnTo>
                <a:lnTo>
                  <a:pt x="877317" y="878435"/>
                </a:lnTo>
                <a:lnTo>
                  <a:pt x="878199" y="879309"/>
                </a:lnTo>
                <a:lnTo>
                  <a:pt x="879082" y="880184"/>
                </a:lnTo>
                <a:lnTo>
                  <a:pt x="879965" y="881059"/>
                </a:lnTo>
                <a:lnTo>
                  <a:pt x="880847" y="881933"/>
                </a:lnTo>
                <a:lnTo>
                  <a:pt x="881730" y="882808"/>
                </a:lnTo>
                <a:lnTo>
                  <a:pt x="882613" y="883682"/>
                </a:lnTo>
                <a:lnTo>
                  <a:pt x="883495" y="884557"/>
                </a:lnTo>
                <a:lnTo>
                  <a:pt x="884378" y="885431"/>
                </a:lnTo>
                <a:lnTo>
                  <a:pt x="885260" y="886306"/>
                </a:lnTo>
                <a:lnTo>
                  <a:pt x="886143" y="887181"/>
                </a:lnTo>
                <a:lnTo>
                  <a:pt x="887026" y="888055"/>
                </a:lnTo>
                <a:lnTo>
                  <a:pt x="887908" y="888930"/>
                </a:lnTo>
                <a:lnTo>
                  <a:pt x="888791" y="889804"/>
                </a:lnTo>
                <a:lnTo>
                  <a:pt x="889673" y="890679"/>
                </a:lnTo>
                <a:lnTo>
                  <a:pt x="890556" y="891553"/>
                </a:lnTo>
                <a:lnTo>
                  <a:pt x="891439" y="892428"/>
                </a:lnTo>
                <a:lnTo>
                  <a:pt x="892321" y="893303"/>
                </a:lnTo>
                <a:lnTo>
                  <a:pt x="893204" y="894177"/>
                </a:lnTo>
                <a:lnTo>
                  <a:pt x="894086" y="895052"/>
                </a:lnTo>
                <a:lnTo>
                  <a:pt x="894969" y="895926"/>
                </a:lnTo>
                <a:lnTo>
                  <a:pt x="895852" y="896801"/>
                </a:lnTo>
                <a:lnTo>
                  <a:pt x="896734" y="897675"/>
                </a:lnTo>
                <a:lnTo>
                  <a:pt x="897617" y="898550"/>
                </a:lnTo>
                <a:lnTo>
                  <a:pt x="898500" y="899425"/>
                </a:lnTo>
                <a:lnTo>
                  <a:pt x="899382" y="900299"/>
                </a:lnTo>
                <a:lnTo>
                  <a:pt x="900265" y="901174"/>
                </a:lnTo>
                <a:lnTo>
                  <a:pt x="901147" y="902048"/>
                </a:lnTo>
                <a:lnTo>
                  <a:pt x="902030" y="902923"/>
                </a:lnTo>
                <a:lnTo>
                  <a:pt x="902913" y="903797"/>
                </a:lnTo>
                <a:lnTo>
                  <a:pt x="903795" y="904672"/>
                </a:lnTo>
                <a:lnTo>
                  <a:pt x="904678" y="905547"/>
                </a:lnTo>
                <a:lnTo>
                  <a:pt x="905560" y="906421"/>
                </a:lnTo>
                <a:lnTo>
                  <a:pt x="906443" y="907296"/>
                </a:lnTo>
                <a:lnTo>
                  <a:pt x="907326" y="908170"/>
                </a:lnTo>
                <a:lnTo>
                  <a:pt x="908208" y="909045"/>
                </a:lnTo>
                <a:lnTo>
                  <a:pt x="909091" y="909919"/>
                </a:lnTo>
                <a:lnTo>
                  <a:pt x="909974" y="910794"/>
                </a:lnTo>
                <a:lnTo>
                  <a:pt x="910856" y="911669"/>
                </a:lnTo>
                <a:lnTo>
                  <a:pt x="911739" y="912543"/>
                </a:lnTo>
                <a:lnTo>
                  <a:pt x="912621" y="913418"/>
                </a:lnTo>
                <a:lnTo>
                  <a:pt x="913504" y="914292"/>
                </a:lnTo>
                <a:lnTo>
                  <a:pt x="914387" y="915167"/>
                </a:lnTo>
                <a:lnTo>
                  <a:pt x="915269" y="916041"/>
                </a:lnTo>
                <a:lnTo>
                  <a:pt x="916152" y="916916"/>
                </a:lnTo>
                <a:lnTo>
                  <a:pt x="917034" y="917790"/>
                </a:lnTo>
                <a:lnTo>
                  <a:pt x="917917" y="918665"/>
                </a:lnTo>
                <a:lnTo>
                  <a:pt x="918800" y="919540"/>
                </a:lnTo>
                <a:lnTo>
                  <a:pt x="919682" y="920414"/>
                </a:lnTo>
                <a:lnTo>
                  <a:pt x="920565" y="921289"/>
                </a:lnTo>
                <a:lnTo>
                  <a:pt x="921447" y="922163"/>
                </a:lnTo>
                <a:lnTo>
                  <a:pt x="922330" y="923038"/>
                </a:lnTo>
                <a:lnTo>
                  <a:pt x="923213" y="923912"/>
                </a:lnTo>
                <a:lnTo>
                  <a:pt x="924095" y="924787"/>
                </a:lnTo>
                <a:lnTo>
                  <a:pt x="924978" y="925662"/>
                </a:lnTo>
                <a:lnTo>
                  <a:pt x="925861" y="926536"/>
                </a:lnTo>
                <a:lnTo>
                  <a:pt x="926743" y="927411"/>
                </a:lnTo>
                <a:lnTo>
                  <a:pt x="927626" y="928285"/>
                </a:lnTo>
                <a:lnTo>
                  <a:pt x="928508" y="929160"/>
                </a:lnTo>
                <a:lnTo>
                  <a:pt x="929391" y="930034"/>
                </a:lnTo>
                <a:lnTo>
                  <a:pt x="930274" y="930909"/>
                </a:lnTo>
                <a:lnTo>
                  <a:pt x="931156" y="931784"/>
                </a:lnTo>
                <a:lnTo>
                  <a:pt x="932039" y="932658"/>
                </a:lnTo>
                <a:lnTo>
                  <a:pt x="932921" y="933533"/>
                </a:lnTo>
                <a:lnTo>
                  <a:pt x="933804" y="934407"/>
                </a:lnTo>
                <a:lnTo>
                  <a:pt x="934687" y="935282"/>
                </a:lnTo>
                <a:lnTo>
                  <a:pt x="935569" y="936156"/>
                </a:lnTo>
                <a:lnTo>
                  <a:pt x="936452" y="937031"/>
                </a:lnTo>
                <a:lnTo>
                  <a:pt x="937335" y="937906"/>
                </a:lnTo>
                <a:lnTo>
                  <a:pt x="938217" y="938780"/>
                </a:lnTo>
                <a:lnTo>
                  <a:pt x="939100" y="939655"/>
                </a:lnTo>
                <a:lnTo>
                  <a:pt x="939982" y="940529"/>
                </a:lnTo>
                <a:lnTo>
                  <a:pt x="940865" y="941404"/>
                </a:lnTo>
                <a:lnTo>
                  <a:pt x="941748" y="942278"/>
                </a:lnTo>
                <a:lnTo>
                  <a:pt x="942630" y="943153"/>
                </a:lnTo>
                <a:lnTo>
                  <a:pt x="943513" y="944028"/>
                </a:lnTo>
                <a:lnTo>
                  <a:pt x="944395" y="944902"/>
                </a:lnTo>
                <a:lnTo>
                  <a:pt x="945278" y="945777"/>
                </a:lnTo>
                <a:lnTo>
                  <a:pt x="946161" y="946651"/>
                </a:lnTo>
                <a:lnTo>
                  <a:pt x="947043" y="947526"/>
                </a:lnTo>
                <a:lnTo>
                  <a:pt x="947926" y="948400"/>
                </a:lnTo>
                <a:lnTo>
                  <a:pt x="948808" y="949275"/>
                </a:lnTo>
                <a:lnTo>
                  <a:pt x="949691" y="950150"/>
                </a:lnTo>
                <a:lnTo>
                  <a:pt x="950574" y="951024"/>
                </a:lnTo>
                <a:lnTo>
                  <a:pt x="951456" y="951899"/>
                </a:lnTo>
                <a:lnTo>
                  <a:pt x="952339" y="952773"/>
                </a:lnTo>
                <a:lnTo>
                  <a:pt x="953222" y="953648"/>
                </a:lnTo>
                <a:lnTo>
                  <a:pt x="954104" y="954522"/>
                </a:lnTo>
                <a:lnTo>
                  <a:pt x="954987" y="955397"/>
                </a:lnTo>
                <a:lnTo>
                  <a:pt x="955869" y="956272"/>
                </a:lnTo>
                <a:lnTo>
                  <a:pt x="956752" y="957146"/>
                </a:lnTo>
                <a:lnTo>
                  <a:pt x="957635" y="958021"/>
                </a:lnTo>
                <a:lnTo>
                  <a:pt x="958517" y="958895"/>
                </a:lnTo>
                <a:lnTo>
                  <a:pt x="959400" y="959770"/>
                </a:lnTo>
                <a:lnTo>
                  <a:pt x="960282" y="960644"/>
                </a:lnTo>
                <a:lnTo>
                  <a:pt x="961165" y="961519"/>
                </a:lnTo>
                <a:lnTo>
                  <a:pt x="962048" y="962394"/>
                </a:lnTo>
                <a:lnTo>
                  <a:pt x="962930" y="963268"/>
                </a:lnTo>
                <a:lnTo>
                  <a:pt x="963813" y="964143"/>
                </a:lnTo>
                <a:lnTo>
                  <a:pt x="964695" y="965017"/>
                </a:lnTo>
                <a:lnTo>
                  <a:pt x="965578" y="965892"/>
                </a:lnTo>
                <a:lnTo>
                  <a:pt x="966461" y="966766"/>
                </a:lnTo>
                <a:lnTo>
                  <a:pt x="967343" y="967641"/>
                </a:lnTo>
                <a:lnTo>
                  <a:pt x="968226" y="968516"/>
                </a:lnTo>
                <a:lnTo>
                  <a:pt x="969109" y="969390"/>
                </a:lnTo>
                <a:lnTo>
                  <a:pt x="969991" y="970265"/>
                </a:lnTo>
                <a:lnTo>
                  <a:pt x="970874" y="971139"/>
                </a:lnTo>
                <a:lnTo>
                  <a:pt x="971756" y="972014"/>
                </a:lnTo>
                <a:lnTo>
                  <a:pt x="972639" y="972888"/>
                </a:lnTo>
                <a:lnTo>
                  <a:pt x="973522" y="973763"/>
                </a:lnTo>
                <a:lnTo>
                  <a:pt x="974404" y="974637"/>
                </a:lnTo>
                <a:lnTo>
                  <a:pt x="975287" y="975512"/>
                </a:lnTo>
                <a:lnTo>
                  <a:pt x="976169" y="976387"/>
                </a:lnTo>
                <a:lnTo>
                  <a:pt x="977052" y="977261"/>
                </a:lnTo>
                <a:lnTo>
                  <a:pt x="977935" y="978136"/>
                </a:lnTo>
                <a:lnTo>
                  <a:pt x="978817" y="979010"/>
                </a:lnTo>
                <a:lnTo>
                  <a:pt x="979700" y="979885"/>
                </a:lnTo>
                <a:lnTo>
                  <a:pt x="980583" y="980759"/>
                </a:lnTo>
                <a:lnTo>
                  <a:pt x="981465" y="981634"/>
                </a:lnTo>
                <a:lnTo>
                  <a:pt x="982348" y="982509"/>
                </a:lnTo>
                <a:lnTo>
                  <a:pt x="983230" y="983383"/>
                </a:lnTo>
                <a:lnTo>
                  <a:pt x="984113" y="984258"/>
                </a:lnTo>
                <a:lnTo>
                  <a:pt x="984996" y="985132"/>
                </a:lnTo>
                <a:lnTo>
                  <a:pt x="985878" y="986007"/>
                </a:lnTo>
                <a:lnTo>
                  <a:pt x="986761" y="986881"/>
                </a:lnTo>
                <a:lnTo>
                  <a:pt x="987643" y="987756"/>
                </a:lnTo>
                <a:lnTo>
                  <a:pt x="988526" y="988631"/>
                </a:lnTo>
                <a:lnTo>
                  <a:pt x="989409" y="989505"/>
                </a:lnTo>
                <a:lnTo>
                  <a:pt x="990291" y="990380"/>
                </a:lnTo>
                <a:lnTo>
                  <a:pt x="991174" y="991254"/>
                </a:lnTo>
                <a:lnTo>
                  <a:pt x="992056" y="992129"/>
                </a:lnTo>
                <a:lnTo>
                  <a:pt x="992939" y="993003"/>
                </a:lnTo>
                <a:lnTo>
                  <a:pt x="993822" y="993878"/>
                </a:lnTo>
                <a:lnTo>
                  <a:pt x="994704" y="994753"/>
                </a:lnTo>
                <a:lnTo>
                  <a:pt x="995587" y="995627"/>
                </a:lnTo>
                <a:lnTo>
                  <a:pt x="996470" y="996502"/>
                </a:lnTo>
                <a:lnTo>
                  <a:pt x="997352" y="997376"/>
                </a:lnTo>
                <a:lnTo>
                  <a:pt x="998235" y="998251"/>
                </a:lnTo>
                <a:lnTo>
                  <a:pt x="999117" y="999125"/>
                </a:lnTo>
                <a:lnTo>
                  <a:pt x="1000000" y="1000000"/>
                </a:lnTo>
              </a:path>
            </a:pathLst>
          </a:custGeom>
          <a:noFill/>
          <a:ln w="33000" cap="rnd">
            <a:solidFill>
              <a:srgbClr val="2F5597"/>
            </a:solidFill>
            <a:round/>
          </a:ln>
        </p:spPr>
        <p:txBody>
          <a:bodyPr/>
          <a:lstStyle/>
          <a:p>
            <a:endParaRPr lang="en-US"/>
          </a:p>
        </p:txBody>
      </p:sp>
      <p:sp>
        <p:nvSpPr>
          <p:cNvPr id="34" name="Core MT hit rank 1"/>
          <p:cNvSpPr/>
          <p:nvPr/>
        </p:nvSpPr>
        <p:spPr>
          <a:xfrm>
            <a:off x="4700000" y="4805000"/>
            <a:ext cx="0" cy="180000"/>
          </a:xfrm>
          <a:prstGeom prst="line">
            <a:avLst/>
          </a:prstGeom>
          <a:ln w="18000">
            <a:solidFill>
              <a:srgbClr val="D55E00"/>
            </a:solidFill>
          </a:ln>
        </p:spPr>
        <p:txBody>
          <a:bodyPr/>
          <a:lstStyle/>
          <a:p>
            <a:endParaRPr lang="en-US"/>
          </a:p>
        </p:txBody>
      </p:sp>
      <p:sp>
        <p:nvSpPr>
          <p:cNvPr id="35" name="Core MT hit rank 2"/>
          <p:cNvSpPr/>
          <p:nvPr/>
        </p:nvSpPr>
        <p:spPr>
          <a:xfrm>
            <a:off x="4705525" y="4805000"/>
            <a:ext cx="0" cy="180000"/>
          </a:xfrm>
          <a:prstGeom prst="line">
            <a:avLst/>
          </a:prstGeom>
          <a:ln w="18000">
            <a:solidFill>
              <a:srgbClr val="D55E00"/>
            </a:solidFill>
          </a:ln>
        </p:spPr>
        <p:txBody>
          <a:bodyPr/>
          <a:lstStyle/>
          <a:p>
            <a:endParaRPr lang="en-US"/>
          </a:p>
        </p:txBody>
      </p:sp>
      <p:sp>
        <p:nvSpPr>
          <p:cNvPr id="36" name="Core MT hit rank 6"/>
          <p:cNvSpPr/>
          <p:nvPr/>
        </p:nvSpPr>
        <p:spPr>
          <a:xfrm>
            <a:off x="4727626" y="4805000"/>
            <a:ext cx="0" cy="180000"/>
          </a:xfrm>
          <a:prstGeom prst="line">
            <a:avLst/>
          </a:prstGeom>
          <a:ln w="18000">
            <a:solidFill>
              <a:srgbClr val="D55E00"/>
            </a:solidFill>
          </a:ln>
        </p:spPr>
        <p:txBody>
          <a:bodyPr/>
          <a:lstStyle/>
          <a:p>
            <a:endParaRPr lang="en-US"/>
          </a:p>
        </p:txBody>
      </p:sp>
      <p:sp>
        <p:nvSpPr>
          <p:cNvPr id="37" name="Core MT hit rank 8"/>
          <p:cNvSpPr/>
          <p:nvPr/>
        </p:nvSpPr>
        <p:spPr>
          <a:xfrm>
            <a:off x="4738676" y="4805000"/>
            <a:ext cx="0" cy="180000"/>
          </a:xfrm>
          <a:prstGeom prst="line">
            <a:avLst/>
          </a:prstGeom>
          <a:ln w="18000">
            <a:solidFill>
              <a:srgbClr val="D55E00"/>
            </a:solidFill>
          </a:ln>
        </p:spPr>
        <p:txBody>
          <a:bodyPr/>
          <a:lstStyle/>
          <a:p>
            <a:endParaRPr lang="en-US"/>
          </a:p>
        </p:txBody>
      </p:sp>
      <p:sp>
        <p:nvSpPr>
          <p:cNvPr id="38" name="Core MT hit rank 11"/>
          <p:cNvSpPr/>
          <p:nvPr/>
        </p:nvSpPr>
        <p:spPr>
          <a:xfrm>
            <a:off x="4755252" y="4805000"/>
            <a:ext cx="0" cy="180000"/>
          </a:xfrm>
          <a:prstGeom prst="line">
            <a:avLst/>
          </a:prstGeom>
          <a:ln w="18000">
            <a:solidFill>
              <a:srgbClr val="D55E00"/>
            </a:solidFill>
          </a:ln>
        </p:spPr>
        <p:txBody>
          <a:bodyPr/>
          <a:lstStyle/>
          <a:p>
            <a:endParaRPr lang="en-US"/>
          </a:p>
        </p:txBody>
      </p:sp>
      <p:sp>
        <p:nvSpPr>
          <p:cNvPr id="39" name="Core MT hit rank 12"/>
          <p:cNvSpPr/>
          <p:nvPr/>
        </p:nvSpPr>
        <p:spPr>
          <a:xfrm>
            <a:off x="4760777" y="4805000"/>
            <a:ext cx="0" cy="180000"/>
          </a:xfrm>
          <a:prstGeom prst="line">
            <a:avLst/>
          </a:prstGeom>
          <a:ln w="18000">
            <a:solidFill>
              <a:srgbClr val="D55E00"/>
            </a:solidFill>
          </a:ln>
        </p:spPr>
        <p:txBody>
          <a:bodyPr/>
          <a:lstStyle/>
          <a:p>
            <a:endParaRPr lang="en-US"/>
          </a:p>
        </p:txBody>
      </p:sp>
      <p:sp>
        <p:nvSpPr>
          <p:cNvPr id="40" name="Core MT hit rank 14"/>
          <p:cNvSpPr/>
          <p:nvPr/>
        </p:nvSpPr>
        <p:spPr>
          <a:xfrm>
            <a:off x="4771827" y="4805000"/>
            <a:ext cx="0" cy="180000"/>
          </a:xfrm>
          <a:prstGeom prst="line">
            <a:avLst/>
          </a:prstGeom>
          <a:ln w="18000">
            <a:solidFill>
              <a:srgbClr val="D55E00"/>
            </a:solidFill>
          </a:ln>
        </p:spPr>
        <p:txBody>
          <a:bodyPr/>
          <a:lstStyle/>
          <a:p>
            <a:endParaRPr lang="en-US"/>
          </a:p>
        </p:txBody>
      </p:sp>
      <p:sp>
        <p:nvSpPr>
          <p:cNvPr id="41" name="Core MT hit rank 16"/>
          <p:cNvSpPr/>
          <p:nvPr/>
        </p:nvSpPr>
        <p:spPr>
          <a:xfrm>
            <a:off x="4782877" y="4805000"/>
            <a:ext cx="0" cy="180000"/>
          </a:xfrm>
          <a:prstGeom prst="line">
            <a:avLst/>
          </a:prstGeom>
          <a:ln w="18000">
            <a:solidFill>
              <a:srgbClr val="D55E00"/>
            </a:solidFill>
          </a:ln>
        </p:spPr>
        <p:txBody>
          <a:bodyPr/>
          <a:lstStyle/>
          <a:p>
            <a:endParaRPr lang="en-US"/>
          </a:p>
        </p:txBody>
      </p:sp>
      <p:sp>
        <p:nvSpPr>
          <p:cNvPr id="42" name="Core MT hit rank 17"/>
          <p:cNvSpPr/>
          <p:nvPr/>
        </p:nvSpPr>
        <p:spPr>
          <a:xfrm>
            <a:off x="4788402" y="4805000"/>
            <a:ext cx="0" cy="180000"/>
          </a:xfrm>
          <a:prstGeom prst="line">
            <a:avLst/>
          </a:prstGeom>
          <a:ln w="18000">
            <a:solidFill>
              <a:srgbClr val="D55E00"/>
            </a:solidFill>
          </a:ln>
        </p:spPr>
        <p:txBody>
          <a:bodyPr/>
          <a:lstStyle/>
          <a:p>
            <a:endParaRPr lang="en-US"/>
          </a:p>
        </p:txBody>
      </p:sp>
      <p:sp>
        <p:nvSpPr>
          <p:cNvPr id="43" name="Core MT hit rank 18"/>
          <p:cNvSpPr/>
          <p:nvPr/>
        </p:nvSpPr>
        <p:spPr>
          <a:xfrm>
            <a:off x="4793928" y="4805000"/>
            <a:ext cx="0" cy="180000"/>
          </a:xfrm>
          <a:prstGeom prst="line">
            <a:avLst/>
          </a:prstGeom>
          <a:ln w="18000">
            <a:solidFill>
              <a:srgbClr val="D55E00"/>
            </a:solidFill>
          </a:ln>
        </p:spPr>
        <p:txBody>
          <a:bodyPr/>
          <a:lstStyle/>
          <a:p>
            <a:endParaRPr lang="en-US"/>
          </a:p>
        </p:txBody>
      </p:sp>
      <p:sp>
        <p:nvSpPr>
          <p:cNvPr id="44" name="Core MT hit rank 19"/>
          <p:cNvSpPr/>
          <p:nvPr/>
        </p:nvSpPr>
        <p:spPr>
          <a:xfrm>
            <a:off x="4799453" y="4805000"/>
            <a:ext cx="0" cy="180000"/>
          </a:xfrm>
          <a:prstGeom prst="line">
            <a:avLst/>
          </a:prstGeom>
          <a:ln w="18000">
            <a:solidFill>
              <a:srgbClr val="D55E00"/>
            </a:solidFill>
          </a:ln>
        </p:spPr>
        <p:txBody>
          <a:bodyPr/>
          <a:lstStyle/>
          <a:p>
            <a:endParaRPr lang="en-US"/>
          </a:p>
        </p:txBody>
      </p:sp>
      <p:sp>
        <p:nvSpPr>
          <p:cNvPr id="45" name="Core MT hit rank 34"/>
          <p:cNvSpPr/>
          <p:nvPr/>
        </p:nvSpPr>
        <p:spPr>
          <a:xfrm>
            <a:off x="4882330" y="4805000"/>
            <a:ext cx="0" cy="180000"/>
          </a:xfrm>
          <a:prstGeom prst="line">
            <a:avLst/>
          </a:prstGeom>
          <a:ln w="18000">
            <a:solidFill>
              <a:srgbClr val="D55E00"/>
            </a:solidFill>
          </a:ln>
        </p:spPr>
        <p:txBody>
          <a:bodyPr/>
          <a:lstStyle/>
          <a:p>
            <a:endParaRPr lang="en-US"/>
          </a:p>
        </p:txBody>
      </p:sp>
      <p:sp>
        <p:nvSpPr>
          <p:cNvPr id="46" name="Core MT hit rank 239"/>
          <p:cNvSpPr/>
          <p:nvPr/>
        </p:nvSpPr>
        <p:spPr>
          <a:xfrm>
            <a:off x="6014987" y="4805000"/>
            <a:ext cx="0" cy="180000"/>
          </a:xfrm>
          <a:prstGeom prst="line">
            <a:avLst/>
          </a:prstGeom>
          <a:ln w="18000">
            <a:solidFill>
              <a:srgbClr val="D55E00"/>
            </a:solidFill>
          </a:ln>
        </p:spPr>
        <p:txBody>
          <a:bodyPr/>
          <a:lstStyle/>
          <a:p>
            <a:endParaRPr lang="en-US"/>
          </a:p>
        </p:txBody>
      </p:sp>
      <p:sp>
        <p:nvSpPr>
          <p:cNvPr id="47" name="Peak guide"/>
          <p:cNvSpPr/>
          <p:nvPr/>
        </p:nvSpPr>
        <p:spPr>
          <a:xfrm>
            <a:off x="4882330" y="2279536"/>
            <a:ext cx="0" cy="2490464"/>
          </a:xfrm>
          <a:prstGeom prst="line">
            <a:avLst/>
          </a:prstGeom>
          <a:ln w="11000">
            <a:solidFill>
              <a:srgbClr val="7E4C9A"/>
            </a:solidFill>
            <a:prstDash val="dash"/>
          </a:ln>
        </p:spPr>
        <p:txBody>
          <a:bodyPr/>
          <a:lstStyle/>
          <a:p>
            <a:endParaRPr lang="en-US"/>
          </a:p>
        </p:txBody>
      </p:sp>
      <p:sp>
        <p:nvSpPr>
          <p:cNvPr id="48" name="Peak point"/>
          <p:cNvSpPr/>
          <p:nvPr/>
        </p:nvSpPr>
        <p:spPr>
          <a:xfrm>
            <a:off x="4827330" y="2224536"/>
            <a:ext cx="110000" cy="110000"/>
          </a:xfrm>
          <a:prstGeom prst="ellipse">
            <a:avLst/>
          </a:prstGeom>
          <a:solidFill>
            <a:srgbClr val="7E4C9A"/>
          </a:solidFill>
          <a:ln>
            <a:noFill/>
          </a:ln>
        </p:spPr>
        <p:txBody>
          <a:bodyPr/>
          <a:lstStyle/>
          <a:p>
            <a:endParaRPr lang="en-US"/>
          </a:p>
        </p:txBody>
      </p:sp>
      <p:sp>
        <p:nvSpPr>
          <p:cNvPr id="49" name="Peak annotation"/>
          <p:cNvSpPr>
            <a:spLocks noGrp="1"/>
          </p:cNvSpPr>
          <p:nvPr/>
        </p:nvSpPr>
        <p:spPr>
          <a:xfrm>
            <a:off x="4962330" y="2379536"/>
            <a:ext cx="1400000" cy="430000"/>
          </a:xfrm>
          <a:prstGeom prst="rect">
            <a:avLst/>
          </a:prstGeom>
          <a:noFill/>
        </p:spPr>
        <p:txBody>
          <a:bodyPr wrap="square" lIns="27432" tIns="13716" rIns="27432" bIns="13716" anchor="ctr"/>
          <a:lstStyle/>
          <a:p>
            <a:pPr algn="l">
              <a:buNone/>
            </a:pPr>
            <a:r>
              <a:rPr sz="930" b="1">
                <a:solidFill>
                  <a:srgbClr val="7E4C9A"/>
                </a:solidFill>
                <a:latin typeface="Arial"/>
                <a:ea typeface="Arial"/>
                <a:cs typeface="Arial"/>
              </a:rPr>
              <a:t>Peak ES = +0.9586</a:t>
            </a:r>
            <a:endParaRPr lang="en-US"/>
          </a:p>
          <a:p>
            <a:pPr algn="l">
              <a:buNone/>
            </a:pPr>
            <a:r>
              <a:rPr sz="930" b="1">
                <a:solidFill>
                  <a:srgbClr val="7E4C9A"/>
                </a:solidFill>
                <a:latin typeface="Arial"/>
                <a:ea typeface="Arial"/>
                <a:cs typeface="Arial"/>
              </a:rPr>
              <a:t>at rank 34</a:t>
            </a:r>
            <a:endParaRPr lang="en-US"/>
          </a:p>
        </p:txBody>
      </p:sp>
      <p:sp>
        <p:nvSpPr>
          <p:cNvPr id="50" name="AD-up label"/>
          <p:cNvSpPr>
            <a:spLocks noGrp="1"/>
          </p:cNvSpPr>
          <p:nvPr/>
        </p:nvSpPr>
        <p:spPr>
          <a:xfrm>
            <a:off x="4700000" y="5030000"/>
            <a:ext cx="1200000" cy="250000"/>
          </a:xfrm>
          <a:prstGeom prst="rect">
            <a:avLst/>
          </a:prstGeom>
          <a:noFill/>
        </p:spPr>
        <p:txBody>
          <a:bodyPr wrap="square" lIns="27432" tIns="13716" rIns="27432" bIns="13716" anchor="t"/>
          <a:lstStyle/>
          <a:p>
            <a:pPr algn="l">
              <a:buNone/>
            </a:pPr>
            <a:r>
              <a:rPr sz="930" b="1">
                <a:solidFill>
                  <a:srgbClr val="2F5597"/>
                </a:solidFill>
                <a:latin typeface="Arial"/>
                <a:ea typeface="Arial"/>
                <a:cs typeface="Arial"/>
              </a:rPr>
              <a:t>AD-up</a:t>
            </a:r>
            <a:endParaRPr lang="en-US"/>
          </a:p>
        </p:txBody>
      </p:sp>
      <p:sp>
        <p:nvSpPr>
          <p:cNvPr id="51" name="AD-down label"/>
          <p:cNvSpPr>
            <a:spLocks noGrp="1"/>
          </p:cNvSpPr>
          <p:nvPr/>
        </p:nvSpPr>
        <p:spPr>
          <a:xfrm>
            <a:off x="9760000" y="5030000"/>
            <a:ext cx="1200000" cy="250000"/>
          </a:xfrm>
          <a:prstGeom prst="rect">
            <a:avLst/>
          </a:prstGeom>
          <a:noFill/>
        </p:spPr>
        <p:txBody>
          <a:bodyPr wrap="square" lIns="27432" tIns="13716" rIns="27432" bIns="13716" anchor="t"/>
          <a:lstStyle/>
          <a:p>
            <a:pPr algn="r">
              <a:buNone/>
            </a:pPr>
            <a:r>
              <a:rPr sz="930" b="1">
                <a:solidFill>
                  <a:srgbClr val="D55E00"/>
                </a:solidFill>
                <a:latin typeface="Arial"/>
                <a:ea typeface="Arial"/>
                <a:cs typeface="Arial"/>
              </a:rPr>
              <a:t>AD-down</a:t>
            </a:r>
            <a:endParaRPr lang="en-US"/>
          </a:p>
        </p:txBody>
      </p:sp>
      <p:sp>
        <p:nvSpPr>
          <p:cNvPr id="52" name="Rank axis label"/>
          <p:cNvSpPr>
            <a:spLocks noGrp="1"/>
          </p:cNvSpPr>
          <p:nvPr/>
        </p:nvSpPr>
        <p:spPr>
          <a:xfrm>
            <a:off x="5800000" y="5290000"/>
            <a:ext cx="4060000" cy="300000"/>
          </a:xfrm>
          <a:prstGeom prst="rect">
            <a:avLst/>
          </a:prstGeom>
          <a:noFill/>
        </p:spPr>
        <p:txBody>
          <a:bodyPr wrap="square" lIns="27432" tIns="13716" rIns="27432" bIns="13716" anchor="t"/>
          <a:lstStyle/>
          <a:p>
            <a:pPr algn="ctr">
              <a:buNone/>
            </a:pPr>
            <a:r>
              <a:rPr sz="900" b="0">
                <a:solidFill>
                  <a:srgbClr val="4E5A68"/>
                </a:solidFill>
                <a:latin typeface="Arial"/>
                <a:ea typeface="Arial"/>
                <a:cs typeface="Arial"/>
              </a:rPr>
              <a:t>Ranked tested MitoCarta MT genes</a:t>
            </a:r>
            <a:endParaRPr lang="en-US"/>
          </a:p>
        </p:txBody>
      </p:sp>
      <p:sp>
        <p:nvSpPr>
          <p:cNvPr id="53" name="Running score label"/>
          <p:cNvSpPr>
            <a:spLocks noGrp="1"/>
          </p:cNvSpPr>
          <p:nvPr/>
        </p:nvSpPr>
        <p:spPr>
          <a:xfrm>
            <a:off x="4680000" y="1860000"/>
            <a:ext cx="1400000" cy="230000"/>
          </a:xfrm>
          <a:prstGeom prst="rect">
            <a:avLst/>
          </a:prstGeom>
          <a:noFill/>
        </p:spPr>
        <p:txBody>
          <a:bodyPr wrap="square" lIns="27432" tIns="13716" rIns="27432" bIns="13716" anchor="t"/>
          <a:lstStyle/>
          <a:p>
            <a:pPr algn="l">
              <a:buNone/>
            </a:pPr>
            <a:r>
              <a:rPr sz="900" b="0">
                <a:solidFill>
                  <a:srgbClr val="4E5A68"/>
                </a:solidFill>
                <a:latin typeface="Arial"/>
                <a:ea typeface="Arial"/>
                <a:cs typeface="Arial"/>
              </a:rPr>
              <a:t>Running score</a:t>
            </a:r>
            <a:endParaRPr lang="en-US"/>
          </a:p>
        </p:txBody>
      </p:sp>
      <p:sp>
        <p:nvSpPr>
          <p:cNvPr id="54" name="Hit rug legend"/>
          <p:cNvSpPr>
            <a:spLocks noGrp="1"/>
          </p:cNvSpPr>
          <p:nvPr/>
        </p:nvSpPr>
        <p:spPr>
          <a:xfrm>
            <a:off x="8660000" y="1860000"/>
            <a:ext cx="2300000" cy="230000"/>
          </a:xfrm>
          <a:prstGeom prst="rect">
            <a:avLst/>
          </a:prstGeom>
          <a:noFill/>
        </p:spPr>
        <p:txBody>
          <a:bodyPr wrap="square" lIns="27432" tIns="13716" rIns="27432" bIns="13716" anchor="t"/>
          <a:lstStyle/>
          <a:p>
            <a:pPr algn="r">
              <a:buNone/>
            </a:pPr>
            <a:r>
              <a:rPr sz="860" b="0">
                <a:solidFill>
                  <a:srgbClr val="D55E00"/>
                </a:solidFill>
                <a:latin typeface="Arial"/>
                <a:ea typeface="Arial"/>
                <a:cs typeface="Arial"/>
              </a:rPr>
              <a:t>Orange marks = core MT genes</a:t>
            </a:r>
            <a:endParaRPr lang="en-US"/>
          </a:p>
        </p:txBody>
      </p:sp>
    </p:spTree>
    <p:extLst>
      <p:ext uri="{BB962C8B-B14F-4D97-AF65-F5344CB8AC3E}">
        <p14:creationId xmlns:p14="http://schemas.microsoft.com/office/powerpoint/2010/main" val="12621582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the normalized enrichment score is calculated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NES compares the observed enrichment score with random gene sets of the same size.</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Observed ES</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Same-size random sets</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Same direction</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Normalized score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1. OBSERVED ES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Use the real pathway genes</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Calculate ES from the positions of the pathway genes in the ranked MitoCarta MT gene list.</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2. NULL ES VALUES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Use random sets of the same size</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Repeat the ES calculation for random gene sets with the same number of genes. Keep null scores with the same sign as the observed 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3. NORMALIZE</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NES = ESₒᵦₛ ÷ mean(|ESₙᵤₗₗ|)</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null mean uses scores with the same sign as the observed ES. The NES keeps that sign.</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73812"/>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The NES sign gives direction. Adjusted P &lt; 0.05 gives significance. NES alone does not define significance.</a:t>
            </a:r>
          </a:p>
        </p:txBody>
      </p:sp>
    </p:spTree>
    <p:extLst>
      <p:ext uri="{BB962C8B-B14F-4D97-AF65-F5344CB8AC3E}">
        <p14:creationId xmlns:p14="http://schemas.microsoft.com/office/powerpoint/2010/main" val="12621582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Worked example: female ε3/ε3 excitatory core MT genes</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ROSMAP direct broad-cell pathway result</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ROSMAP</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Direct broad-cell</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13 core MT genes</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Positive NES</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OBSERVED ES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+0.9586</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running score reaches its largest distance from zero near the AD-up end of the ranking.</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MEAN POSITIVE NULL ES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0.3491</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normalization factor is implied by the reported ES divided by the reported NES.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NORMALIZED SCORE</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+2.746 ≈ +2.75</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NES = 0.9586 ÷ 0.3491. The positive sign gives the AD-up pathway direction.</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73812"/>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Local BH-adjusted P = 2.73 × 10⁻¹². The pathway result is significant and AD-up; +2.75 is not a fold change.</a:t>
            </a:r>
          </a:p>
        </p:txBody>
      </p:sp>
    </p:spTree>
    <p:extLst>
      <p:ext uri="{BB962C8B-B14F-4D97-AF65-F5344CB8AC3E}">
        <p14:creationId xmlns:p14="http://schemas.microsoft.com/office/powerpoint/2010/main" val="12621582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8AB12A-D026-4286-B862-075E45B71C5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PART 7</a:t>
            </a:r>
          </a:p>
        </p:txBody>
      </p:sp>
      <p:sp>
        <p:nvSpPr>
          <p:cNvPr id="3" name="Rectangle 2">
            <a:extLst>
              <a:ext uri="{FF2B5EF4-FFF2-40B4-BE49-F238E27FC236}">
                <a16:creationId xmlns:a16="http://schemas.microsoft.com/office/drawing/2014/main" id="{9B90BBA1-E9E2-4E17-A6C8-66AF73EEFBD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AF6BA42-08C4-4EA5-A344-09381D0B027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Sensitivity analyses</a:t>
            </a:r>
          </a:p>
        </p:txBody>
      </p:sp>
      <p:sp>
        <p:nvSpPr>
          <p:cNvPr id="5" name="TextBox 4">
            <a:extLst>
              <a:ext uri="{FF2B5EF4-FFF2-40B4-BE49-F238E27FC236}">
                <a16:creationId xmlns:a16="http://schemas.microsoft.com/office/drawing/2014/main" id="{2067FDA8-407C-4DBE-B763-2AC484C63E1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Robustness checks across sample support, profile coverage, query definition, and KDA decision rules.</a:t>
            </a:r>
          </a:p>
        </p:txBody>
      </p:sp>
      <p:sp>
        <p:nvSpPr>
          <p:cNvPr id="6" name="Rounded Rectangle 5">
            <a:extLst>
              <a:ext uri="{FF2B5EF4-FFF2-40B4-BE49-F238E27FC236}">
                <a16:creationId xmlns:a16="http://schemas.microsoft.com/office/drawing/2014/main" id="{3D417846-D3C8-43D7-A99E-359027C6D74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C1A4EC2-5414-418D-9D33-A636ADFB559C}"/>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PART</a:t>
            </a:r>
          </a:p>
        </p:txBody>
      </p:sp>
      <p:sp>
        <p:nvSpPr>
          <p:cNvPr id="8" name="Oval 7">
            <a:extLst>
              <a:ext uri="{FF2B5EF4-FFF2-40B4-BE49-F238E27FC236}">
                <a16:creationId xmlns:a16="http://schemas.microsoft.com/office/drawing/2014/main" id="{7D989CA6-1B16-4974-BEE8-CD8009EA7F8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03E7C55-5C6F-4719-AB0F-5EFB8E09B2D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8E80E10-25DA-460A-B848-8A88ABF781AE}"/>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Donor support</a:t>
            </a:r>
          </a:p>
        </p:txBody>
      </p:sp>
      <p:sp>
        <p:nvSpPr>
          <p:cNvPr id="11" name="Oval 10">
            <a:extLst>
              <a:ext uri="{FF2B5EF4-FFF2-40B4-BE49-F238E27FC236}">
                <a16:creationId xmlns:a16="http://schemas.microsoft.com/office/drawing/2014/main" id="{3CDE8AE7-2294-4DE5-980E-32E501A6C09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F7ACA8-9E5D-4F7D-9F5E-1C89B8FBD38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0F70274-A525-4BB9-A129-15E33D9F61D7}"/>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Profile coverage</a:t>
            </a:r>
          </a:p>
        </p:txBody>
      </p:sp>
      <p:sp>
        <p:nvSpPr>
          <p:cNvPr id="14" name="Oval 13">
            <a:extLst>
              <a:ext uri="{FF2B5EF4-FFF2-40B4-BE49-F238E27FC236}">
                <a16:creationId xmlns:a16="http://schemas.microsoft.com/office/drawing/2014/main" id="{A5541F68-CF6A-4665-AEE6-F8BA0BD6271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6A3F6F-C41C-44D9-B1B9-F84CE5103C8B}"/>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1A32B75A-B123-4918-8015-2D4F13003D0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Query definition</a:t>
            </a:r>
          </a:p>
        </p:txBody>
      </p:sp>
      <p:sp>
        <p:nvSpPr>
          <p:cNvPr id="17" name="Oval 16">
            <a:extLst>
              <a:ext uri="{FF2B5EF4-FFF2-40B4-BE49-F238E27FC236}">
                <a16:creationId xmlns:a16="http://schemas.microsoft.com/office/drawing/2014/main" id="{7E5D2E0A-EEB4-4E1B-BE39-4C5A4649E1E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8954FAC-8826-4644-A259-79B90925CF5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FE01F0D-1D60-41F0-AA9B-D1D892B891B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KDA filters</a:t>
            </a:r>
          </a:p>
        </p:txBody>
      </p:sp>
      <p:sp>
        <p:nvSpPr>
          <p:cNvPr id="20" name="Rounded Rectangle 19">
            <a:extLst>
              <a:ext uri="{FF2B5EF4-FFF2-40B4-BE49-F238E27FC236}">
                <a16:creationId xmlns:a16="http://schemas.microsoft.com/office/drawing/2014/main" id="{CCEC5EAA-C189-406C-9B90-06ED8DBF0FF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67AE32-97EB-4716-897E-EF1FA7C0A5E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Each sensitivity test is reported separately with its own evidence boundary.</a:t>
            </a:r>
          </a:p>
        </p:txBody>
      </p:sp>
    </p:spTree>
    <p:extLst>
      <p:ext uri="{BB962C8B-B14F-4D97-AF65-F5344CB8AC3E}">
        <p14:creationId xmlns:p14="http://schemas.microsoft.com/office/powerpoint/2010/main" val="19766399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157AE5-385F-4998-92BD-BB4A603B96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numerical comparison</a:t>
            </a:r>
          </a:p>
        </p:txBody>
      </p:sp>
      <p:sp>
        <p:nvSpPr>
          <p:cNvPr id="3" name="TextBox 2">
            <a:extLst>
              <a:ext uri="{FF2B5EF4-FFF2-40B4-BE49-F238E27FC236}">
                <a16:creationId xmlns:a16="http://schemas.microsoft.com/office/drawing/2014/main" id="{ECDC3E0F-6D03-4D8F-9E62-B300E19B3A8A}"/>
              </a:ext>
            </a:extLst>
          </p:cNvPr>
          <p:cNvSpPr>
            <a:spLocks noGrp="1"/>
          </p:cNvSpPr>
          <p:nvPr/>
        </p:nvSpPr>
        <p:spPr>
          <a:xfrm>
            <a:off x="655174" y="984624"/>
            <a:ext cx="10561320" cy="54784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latin typeface="Arial"/>
                <a:ea typeface="Arial"/>
                <a:cs typeface="Arial"/>
              </a:rPr>
              <a:t>An arm is one disease-status group in a comparison, such as AD or NCI.
Here, the minimum rises from 3 to 5 donors in each arm.</a:t>
            </a:r>
          </a:p>
        </p:txBody>
      </p:sp>
      <p:sp>
        <p:nvSpPr>
          <p:cNvPr id="4" name="Rectangle 3">
            <a:extLst>
              <a:ext uri="{FF2B5EF4-FFF2-40B4-BE49-F238E27FC236}">
                <a16:creationId xmlns:a16="http://schemas.microsoft.com/office/drawing/2014/main" id="{52EFB1AD-A147-4DFC-9787-79D13EC515DD}"/>
              </a:ext>
            </a:extLst>
          </p:cNvPr>
          <p:cNvSpPr>
            <a:spLocks noGrp="1"/>
          </p:cNvSpPr>
          <p:nvPr/>
        </p:nvSpPr>
        <p:spPr>
          <a:xfrm>
            <a:off x="658368" y="1822142"/>
            <a:ext cx="13258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D39602F-1863-43E7-B9CB-9ABE4A5810D3}"/>
              </a:ext>
            </a:extLst>
          </p:cNvPr>
          <p:cNvSpPr>
            <a:spLocks noGrp="1"/>
          </p:cNvSpPr>
          <p:nvPr/>
        </p:nvSpPr>
        <p:spPr>
          <a:xfrm>
            <a:off x="713232" y="205872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93F1B364-9ED8-44CB-B852-20FCAD3046B4}"/>
              </a:ext>
            </a:extLst>
          </p:cNvPr>
          <p:cNvSpPr>
            <a:spLocks noGrp="1"/>
          </p:cNvSpPr>
          <p:nvPr/>
        </p:nvSpPr>
        <p:spPr>
          <a:xfrm>
            <a:off x="1984248" y="1822142"/>
            <a:ext cx="1874519"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1E533CA-69D1-4178-BB90-51DEF8DE6F62}"/>
              </a:ext>
            </a:extLst>
          </p:cNvPr>
          <p:cNvSpPr>
            <a:spLocks noGrp="1"/>
          </p:cNvSpPr>
          <p:nvPr/>
        </p:nvSpPr>
        <p:spPr>
          <a:xfrm>
            <a:off x="2039112" y="205872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donors / arm</a:t>
            </a:r>
          </a:p>
        </p:txBody>
      </p:sp>
      <p:sp>
        <p:nvSpPr>
          <p:cNvPr id="8" name="Rectangle 7">
            <a:extLst>
              <a:ext uri="{FF2B5EF4-FFF2-40B4-BE49-F238E27FC236}">
                <a16:creationId xmlns:a16="http://schemas.microsoft.com/office/drawing/2014/main" id="{EABF5881-6F14-4573-8E95-8FE32DDC5BD2}"/>
              </a:ext>
            </a:extLst>
          </p:cNvPr>
          <p:cNvSpPr>
            <a:spLocks noGrp="1"/>
          </p:cNvSpPr>
          <p:nvPr/>
        </p:nvSpPr>
        <p:spPr>
          <a:xfrm>
            <a:off x="3858768" y="1822142"/>
            <a:ext cx="16916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405E5C59-6963-4310-B06A-1239412C8472}"/>
              </a:ext>
            </a:extLst>
          </p:cNvPr>
          <p:cNvSpPr>
            <a:spLocks noGrp="1"/>
          </p:cNvSpPr>
          <p:nvPr/>
        </p:nvSpPr>
        <p:spPr>
          <a:xfrm>
            <a:off x="3913631" y="205872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Eligible contrasts</a:t>
            </a:r>
          </a:p>
        </p:txBody>
      </p:sp>
      <p:sp>
        <p:nvSpPr>
          <p:cNvPr id="10" name="Rectangle 9">
            <a:extLst>
              <a:ext uri="{FF2B5EF4-FFF2-40B4-BE49-F238E27FC236}">
                <a16:creationId xmlns:a16="http://schemas.microsoft.com/office/drawing/2014/main" id="{11425628-55AD-4875-90A3-4E8E53136524}"/>
              </a:ext>
            </a:extLst>
          </p:cNvPr>
          <p:cNvSpPr>
            <a:spLocks noGrp="1"/>
          </p:cNvSpPr>
          <p:nvPr/>
        </p:nvSpPr>
        <p:spPr>
          <a:xfrm>
            <a:off x="5550408" y="1822142"/>
            <a:ext cx="12344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08EE6849-F69E-497E-9FDE-5A99AECDD5E4}"/>
              </a:ext>
            </a:extLst>
          </p:cNvPr>
          <p:cNvSpPr>
            <a:spLocks noGrp="1"/>
          </p:cNvSpPr>
          <p:nvPr/>
        </p:nvSpPr>
        <p:spPr>
          <a:xfrm>
            <a:off x="5605272" y="205872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2" name="Rectangle 11">
            <a:extLst>
              <a:ext uri="{FF2B5EF4-FFF2-40B4-BE49-F238E27FC236}">
                <a16:creationId xmlns:a16="http://schemas.microsoft.com/office/drawing/2014/main" id="{7E186D61-CFBE-4F24-98F1-E4DADF05E502}"/>
              </a:ext>
            </a:extLst>
          </p:cNvPr>
          <p:cNvSpPr>
            <a:spLocks noGrp="1"/>
          </p:cNvSpPr>
          <p:nvPr/>
        </p:nvSpPr>
        <p:spPr>
          <a:xfrm>
            <a:off x="6784848" y="1822142"/>
            <a:ext cx="22402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5D159453-4FBD-4D07-B19A-B91C4437664E}"/>
              </a:ext>
            </a:extLst>
          </p:cNvPr>
          <p:cNvSpPr>
            <a:spLocks noGrp="1"/>
          </p:cNvSpPr>
          <p:nvPr/>
        </p:nvSpPr>
        <p:spPr>
          <a:xfrm>
            <a:off x="6839712" y="2058725"/>
            <a:ext cx="2130552"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Gene rows returned from KDA calls</a:t>
            </a:r>
          </a:p>
        </p:txBody>
      </p:sp>
      <p:sp>
        <p:nvSpPr>
          <p:cNvPr id="14" name="Rectangle 13">
            <a:extLst>
              <a:ext uri="{FF2B5EF4-FFF2-40B4-BE49-F238E27FC236}">
                <a16:creationId xmlns:a16="http://schemas.microsoft.com/office/drawing/2014/main" id="{1A5D17A1-5516-411B-ADC4-05711EFDE6A1}"/>
              </a:ext>
            </a:extLst>
          </p:cNvPr>
          <p:cNvSpPr>
            <a:spLocks noGrp="1"/>
          </p:cNvSpPr>
          <p:nvPr/>
        </p:nvSpPr>
        <p:spPr>
          <a:xfrm>
            <a:off x="9025128" y="1822142"/>
            <a:ext cx="251460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9DDDC111-16AD-45BB-B1B7-8640EEA66478}"/>
              </a:ext>
            </a:extLst>
          </p:cNvPr>
          <p:cNvSpPr>
            <a:spLocks noGrp="1"/>
          </p:cNvSpPr>
          <p:nvPr/>
        </p:nvSpPr>
        <p:spPr>
          <a:xfrm>
            <a:off x="9079992" y="205872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6" name="Rectangle 15">
            <a:extLst>
              <a:ext uri="{FF2B5EF4-FFF2-40B4-BE49-F238E27FC236}">
                <a16:creationId xmlns:a16="http://schemas.microsoft.com/office/drawing/2014/main" id="{DB756B7D-7D6B-415B-95CF-6BD2C9EB8C3F}"/>
              </a:ext>
            </a:extLst>
          </p:cNvPr>
          <p:cNvSpPr>
            <a:spLocks noGrp="1"/>
          </p:cNvSpPr>
          <p:nvPr/>
        </p:nvSpPr>
        <p:spPr>
          <a:xfrm>
            <a:off x="658368" y="2517086"/>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EB4480E1-503B-4DE4-BA0F-A59A5D708E9A}"/>
              </a:ext>
            </a:extLst>
          </p:cNvPr>
          <p:cNvSpPr>
            <a:spLocks noGrp="1"/>
          </p:cNvSpPr>
          <p:nvPr/>
        </p:nvSpPr>
        <p:spPr>
          <a:xfrm>
            <a:off x="713232" y="2735380"/>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18" name="Rectangle 17">
            <a:extLst>
              <a:ext uri="{FF2B5EF4-FFF2-40B4-BE49-F238E27FC236}">
                <a16:creationId xmlns:a16="http://schemas.microsoft.com/office/drawing/2014/main" id="{13A00F45-4D37-4DB3-9F85-7AAEFC5433C9}"/>
              </a:ext>
            </a:extLst>
          </p:cNvPr>
          <p:cNvSpPr>
            <a:spLocks noGrp="1"/>
          </p:cNvSpPr>
          <p:nvPr/>
        </p:nvSpPr>
        <p:spPr>
          <a:xfrm>
            <a:off x="1984248" y="2517086"/>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AFF9143E-F4FE-46C7-A678-1CD4FB9C3949}"/>
              </a:ext>
            </a:extLst>
          </p:cNvPr>
          <p:cNvSpPr>
            <a:spLocks noGrp="1"/>
          </p:cNvSpPr>
          <p:nvPr/>
        </p:nvSpPr>
        <p:spPr>
          <a:xfrm>
            <a:off x="2039112" y="2735380"/>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0" name="Rectangle 19">
            <a:extLst>
              <a:ext uri="{FF2B5EF4-FFF2-40B4-BE49-F238E27FC236}">
                <a16:creationId xmlns:a16="http://schemas.microsoft.com/office/drawing/2014/main" id="{C0973F12-F324-440D-ADC8-ED4F31AB2456}"/>
              </a:ext>
            </a:extLst>
          </p:cNvPr>
          <p:cNvSpPr>
            <a:spLocks noGrp="1"/>
          </p:cNvSpPr>
          <p:nvPr/>
        </p:nvSpPr>
        <p:spPr>
          <a:xfrm>
            <a:off x="3858768" y="2517086"/>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2A45F1DE-EF3D-4488-AFBA-F34AC423BCDA}"/>
              </a:ext>
            </a:extLst>
          </p:cNvPr>
          <p:cNvSpPr>
            <a:spLocks noGrp="1"/>
          </p:cNvSpPr>
          <p:nvPr/>
        </p:nvSpPr>
        <p:spPr>
          <a:xfrm>
            <a:off x="3913631" y="2735380"/>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2" name="Rectangle 21">
            <a:extLst>
              <a:ext uri="{FF2B5EF4-FFF2-40B4-BE49-F238E27FC236}">
                <a16:creationId xmlns:a16="http://schemas.microsoft.com/office/drawing/2014/main" id="{A2561808-6858-49C1-B3D5-A3888BCEB5D4}"/>
              </a:ext>
            </a:extLst>
          </p:cNvPr>
          <p:cNvSpPr>
            <a:spLocks noGrp="1"/>
          </p:cNvSpPr>
          <p:nvPr/>
        </p:nvSpPr>
        <p:spPr>
          <a:xfrm>
            <a:off x="5550408" y="2517086"/>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1F72049A-CE35-4BF6-B6B0-A7AB6BA94243}"/>
              </a:ext>
            </a:extLst>
          </p:cNvPr>
          <p:cNvSpPr>
            <a:spLocks noGrp="1"/>
          </p:cNvSpPr>
          <p:nvPr/>
        </p:nvSpPr>
        <p:spPr>
          <a:xfrm>
            <a:off x="5605272" y="2735380"/>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4" name="Rectangle 23">
            <a:extLst>
              <a:ext uri="{FF2B5EF4-FFF2-40B4-BE49-F238E27FC236}">
                <a16:creationId xmlns:a16="http://schemas.microsoft.com/office/drawing/2014/main" id="{BC00B353-EC81-43F3-992F-D38E4A4724F8}"/>
              </a:ext>
            </a:extLst>
          </p:cNvPr>
          <p:cNvSpPr>
            <a:spLocks noGrp="1"/>
          </p:cNvSpPr>
          <p:nvPr/>
        </p:nvSpPr>
        <p:spPr>
          <a:xfrm>
            <a:off x="6784848" y="2517086"/>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463343D9-CB2A-4D62-8E00-D2C14088B5BA}"/>
              </a:ext>
            </a:extLst>
          </p:cNvPr>
          <p:cNvSpPr>
            <a:spLocks noGrp="1"/>
          </p:cNvSpPr>
          <p:nvPr/>
        </p:nvSpPr>
        <p:spPr>
          <a:xfrm>
            <a:off x="6839712" y="2735380"/>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26" name="Rectangle 25">
            <a:extLst>
              <a:ext uri="{FF2B5EF4-FFF2-40B4-BE49-F238E27FC236}">
                <a16:creationId xmlns:a16="http://schemas.microsoft.com/office/drawing/2014/main" id="{9CB0F1EE-A725-423D-815A-9E3D6AFC75E2}"/>
              </a:ext>
            </a:extLst>
          </p:cNvPr>
          <p:cNvSpPr>
            <a:spLocks noGrp="1"/>
          </p:cNvSpPr>
          <p:nvPr/>
        </p:nvSpPr>
        <p:spPr>
          <a:xfrm>
            <a:off x="9025128" y="2517086"/>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3A436BF6-52CB-4C6F-8648-B8EE31D09D3D}"/>
              </a:ext>
            </a:extLst>
          </p:cNvPr>
          <p:cNvSpPr>
            <a:spLocks noGrp="1"/>
          </p:cNvSpPr>
          <p:nvPr/>
        </p:nvSpPr>
        <p:spPr>
          <a:xfrm>
            <a:off x="9079992" y="2735380"/>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28" name="Rectangle 27">
            <a:extLst>
              <a:ext uri="{FF2B5EF4-FFF2-40B4-BE49-F238E27FC236}">
                <a16:creationId xmlns:a16="http://schemas.microsoft.com/office/drawing/2014/main" id="{F3E7C28E-A736-4022-86DF-50EAA788E231}"/>
              </a:ext>
            </a:extLst>
          </p:cNvPr>
          <p:cNvSpPr>
            <a:spLocks noGrp="1"/>
          </p:cNvSpPr>
          <p:nvPr/>
        </p:nvSpPr>
        <p:spPr>
          <a:xfrm>
            <a:off x="658368" y="3175453"/>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1FA6A28B-A341-41E2-9E4F-9856AE6E504E}"/>
              </a:ext>
            </a:extLst>
          </p:cNvPr>
          <p:cNvSpPr>
            <a:spLocks noGrp="1"/>
          </p:cNvSpPr>
          <p:nvPr/>
        </p:nvSpPr>
        <p:spPr>
          <a:xfrm>
            <a:off x="713232" y="3393748"/>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0" name="Rectangle 29">
            <a:extLst>
              <a:ext uri="{FF2B5EF4-FFF2-40B4-BE49-F238E27FC236}">
                <a16:creationId xmlns:a16="http://schemas.microsoft.com/office/drawing/2014/main" id="{944BDA5D-F929-4476-BEEC-18FD66FB2A38}"/>
              </a:ext>
            </a:extLst>
          </p:cNvPr>
          <p:cNvSpPr>
            <a:spLocks noGrp="1"/>
          </p:cNvSpPr>
          <p:nvPr/>
        </p:nvSpPr>
        <p:spPr>
          <a:xfrm>
            <a:off x="1984248" y="3175453"/>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C8EE0249-3EF2-47A9-B094-628AA1595BE3}"/>
              </a:ext>
            </a:extLst>
          </p:cNvPr>
          <p:cNvSpPr>
            <a:spLocks noGrp="1"/>
          </p:cNvSpPr>
          <p:nvPr/>
        </p:nvSpPr>
        <p:spPr>
          <a:xfrm>
            <a:off x="2039112" y="3393748"/>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2" name="Rectangle 31">
            <a:extLst>
              <a:ext uri="{FF2B5EF4-FFF2-40B4-BE49-F238E27FC236}">
                <a16:creationId xmlns:a16="http://schemas.microsoft.com/office/drawing/2014/main" id="{4E819EB3-7A2E-42B9-AAA0-8532AEB63CD8}"/>
              </a:ext>
            </a:extLst>
          </p:cNvPr>
          <p:cNvSpPr>
            <a:spLocks noGrp="1"/>
          </p:cNvSpPr>
          <p:nvPr/>
        </p:nvSpPr>
        <p:spPr>
          <a:xfrm>
            <a:off x="3858768" y="3175453"/>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786D589B-85BF-4C56-A23B-CE4C4103E213}"/>
              </a:ext>
            </a:extLst>
          </p:cNvPr>
          <p:cNvSpPr>
            <a:spLocks noGrp="1"/>
          </p:cNvSpPr>
          <p:nvPr/>
        </p:nvSpPr>
        <p:spPr>
          <a:xfrm>
            <a:off x="3913631" y="3393748"/>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40</a:t>
            </a:r>
          </a:p>
        </p:txBody>
      </p:sp>
      <p:sp>
        <p:nvSpPr>
          <p:cNvPr id="34" name="Rectangle 33">
            <a:extLst>
              <a:ext uri="{FF2B5EF4-FFF2-40B4-BE49-F238E27FC236}">
                <a16:creationId xmlns:a16="http://schemas.microsoft.com/office/drawing/2014/main" id="{EF5374FC-8A3E-4DDF-852E-EF34A44D7C6D}"/>
              </a:ext>
            </a:extLst>
          </p:cNvPr>
          <p:cNvSpPr>
            <a:spLocks noGrp="1"/>
          </p:cNvSpPr>
          <p:nvPr/>
        </p:nvSpPr>
        <p:spPr>
          <a:xfrm>
            <a:off x="5550408" y="3175453"/>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3FC400BE-B7E7-461D-9208-9D8497E95B8E}"/>
              </a:ext>
            </a:extLst>
          </p:cNvPr>
          <p:cNvSpPr>
            <a:spLocks noGrp="1"/>
          </p:cNvSpPr>
          <p:nvPr/>
        </p:nvSpPr>
        <p:spPr>
          <a:xfrm>
            <a:off x="5605272" y="3393748"/>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36" name="Rectangle 35">
            <a:extLst>
              <a:ext uri="{FF2B5EF4-FFF2-40B4-BE49-F238E27FC236}">
                <a16:creationId xmlns:a16="http://schemas.microsoft.com/office/drawing/2014/main" id="{399538D4-4CF5-4209-9C9A-64A8F11DF286}"/>
              </a:ext>
            </a:extLst>
          </p:cNvPr>
          <p:cNvSpPr>
            <a:spLocks noGrp="1"/>
          </p:cNvSpPr>
          <p:nvPr/>
        </p:nvSpPr>
        <p:spPr>
          <a:xfrm>
            <a:off x="6784848" y="3175453"/>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54FF62B8-0590-4BD1-92A8-AD2D5BB026C8}"/>
              </a:ext>
            </a:extLst>
          </p:cNvPr>
          <p:cNvSpPr>
            <a:spLocks noGrp="1"/>
          </p:cNvSpPr>
          <p:nvPr/>
        </p:nvSpPr>
        <p:spPr>
          <a:xfrm>
            <a:off x="6839712" y="3393748"/>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38" name="Rectangle 37">
            <a:extLst>
              <a:ext uri="{FF2B5EF4-FFF2-40B4-BE49-F238E27FC236}">
                <a16:creationId xmlns:a16="http://schemas.microsoft.com/office/drawing/2014/main" id="{06EB9644-F2CF-45A1-959D-603E8CD5D86C}"/>
              </a:ext>
            </a:extLst>
          </p:cNvPr>
          <p:cNvSpPr>
            <a:spLocks noGrp="1"/>
          </p:cNvSpPr>
          <p:nvPr/>
        </p:nvSpPr>
        <p:spPr>
          <a:xfrm>
            <a:off x="9025128" y="3175453"/>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AA1B2C64-CCE5-4A4E-9921-AEE95B599F9B}"/>
              </a:ext>
            </a:extLst>
          </p:cNvPr>
          <p:cNvSpPr>
            <a:spLocks noGrp="1"/>
          </p:cNvSpPr>
          <p:nvPr/>
        </p:nvSpPr>
        <p:spPr>
          <a:xfrm>
            <a:off x="9079992" y="3393748"/>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40" name="Rectangle 39">
            <a:extLst>
              <a:ext uri="{FF2B5EF4-FFF2-40B4-BE49-F238E27FC236}">
                <a16:creationId xmlns:a16="http://schemas.microsoft.com/office/drawing/2014/main" id="{95D55EAE-7DF3-4FC2-B614-F5D9C6FA830C}"/>
              </a:ext>
            </a:extLst>
          </p:cNvPr>
          <p:cNvSpPr>
            <a:spLocks noGrp="1"/>
          </p:cNvSpPr>
          <p:nvPr/>
        </p:nvSpPr>
        <p:spPr>
          <a:xfrm>
            <a:off x="658368" y="3833821"/>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7B5FC0A3-BD61-4958-A0B6-D851B824A050}"/>
              </a:ext>
            </a:extLst>
          </p:cNvPr>
          <p:cNvSpPr>
            <a:spLocks noGrp="1"/>
          </p:cNvSpPr>
          <p:nvPr/>
        </p:nvSpPr>
        <p:spPr>
          <a:xfrm>
            <a:off x="713232" y="405211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42" name="Rectangle 41">
            <a:extLst>
              <a:ext uri="{FF2B5EF4-FFF2-40B4-BE49-F238E27FC236}">
                <a16:creationId xmlns:a16="http://schemas.microsoft.com/office/drawing/2014/main" id="{837DC8A3-C0BC-4315-A07D-7FC6D3917F17}"/>
              </a:ext>
            </a:extLst>
          </p:cNvPr>
          <p:cNvSpPr>
            <a:spLocks noGrp="1"/>
          </p:cNvSpPr>
          <p:nvPr/>
        </p:nvSpPr>
        <p:spPr>
          <a:xfrm>
            <a:off x="1984248" y="3833821"/>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D7E8A7A6-C7AC-42C4-85D9-4BE0055EA1EF}"/>
              </a:ext>
            </a:extLst>
          </p:cNvPr>
          <p:cNvSpPr>
            <a:spLocks noGrp="1"/>
          </p:cNvSpPr>
          <p:nvPr/>
        </p:nvSpPr>
        <p:spPr>
          <a:xfrm>
            <a:off x="2039112" y="4052116"/>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44" name="Rectangle 43">
            <a:extLst>
              <a:ext uri="{FF2B5EF4-FFF2-40B4-BE49-F238E27FC236}">
                <a16:creationId xmlns:a16="http://schemas.microsoft.com/office/drawing/2014/main" id="{035E4221-3951-4076-B8D9-7BA63621A3AC}"/>
              </a:ext>
            </a:extLst>
          </p:cNvPr>
          <p:cNvSpPr>
            <a:spLocks noGrp="1"/>
          </p:cNvSpPr>
          <p:nvPr/>
        </p:nvSpPr>
        <p:spPr>
          <a:xfrm>
            <a:off x="3858768" y="3833821"/>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80686635-2772-42F8-8FB3-C9608E246277}"/>
              </a:ext>
            </a:extLst>
          </p:cNvPr>
          <p:cNvSpPr>
            <a:spLocks noGrp="1"/>
          </p:cNvSpPr>
          <p:nvPr/>
        </p:nvSpPr>
        <p:spPr>
          <a:xfrm>
            <a:off x="3913631" y="4052116"/>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46" name="Rectangle 45">
            <a:extLst>
              <a:ext uri="{FF2B5EF4-FFF2-40B4-BE49-F238E27FC236}">
                <a16:creationId xmlns:a16="http://schemas.microsoft.com/office/drawing/2014/main" id="{A4DD2FC0-31B7-4416-8521-7B5299B698B4}"/>
              </a:ext>
            </a:extLst>
          </p:cNvPr>
          <p:cNvSpPr>
            <a:spLocks noGrp="1"/>
          </p:cNvSpPr>
          <p:nvPr/>
        </p:nvSpPr>
        <p:spPr>
          <a:xfrm>
            <a:off x="5550408" y="3833821"/>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148ABD20-60DE-42FC-9C3A-F5B4532AC201}"/>
              </a:ext>
            </a:extLst>
          </p:cNvPr>
          <p:cNvSpPr>
            <a:spLocks noGrp="1"/>
          </p:cNvSpPr>
          <p:nvPr/>
        </p:nvSpPr>
        <p:spPr>
          <a:xfrm>
            <a:off x="5605272" y="4052116"/>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48" name="Rectangle 47">
            <a:extLst>
              <a:ext uri="{FF2B5EF4-FFF2-40B4-BE49-F238E27FC236}">
                <a16:creationId xmlns:a16="http://schemas.microsoft.com/office/drawing/2014/main" id="{37D6BB0F-6BD5-4EB8-A575-89A4B611B1A2}"/>
              </a:ext>
            </a:extLst>
          </p:cNvPr>
          <p:cNvSpPr>
            <a:spLocks noGrp="1"/>
          </p:cNvSpPr>
          <p:nvPr/>
        </p:nvSpPr>
        <p:spPr>
          <a:xfrm>
            <a:off x="6784848" y="3833821"/>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682AA69D-24C6-44D2-A540-5C3428CBC47E}"/>
              </a:ext>
            </a:extLst>
          </p:cNvPr>
          <p:cNvSpPr>
            <a:spLocks noGrp="1"/>
          </p:cNvSpPr>
          <p:nvPr/>
        </p:nvSpPr>
        <p:spPr>
          <a:xfrm>
            <a:off x="6839712" y="4052116"/>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50" name="Rectangle 49">
            <a:extLst>
              <a:ext uri="{FF2B5EF4-FFF2-40B4-BE49-F238E27FC236}">
                <a16:creationId xmlns:a16="http://schemas.microsoft.com/office/drawing/2014/main" id="{FC321E55-DE59-4E47-8760-A799434A12C7}"/>
              </a:ext>
            </a:extLst>
          </p:cNvPr>
          <p:cNvSpPr>
            <a:spLocks noGrp="1"/>
          </p:cNvSpPr>
          <p:nvPr/>
        </p:nvSpPr>
        <p:spPr>
          <a:xfrm>
            <a:off x="9025128" y="3833821"/>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A0ED0DB8-05CB-42A8-BCBE-B1944A8CE622}"/>
              </a:ext>
            </a:extLst>
          </p:cNvPr>
          <p:cNvSpPr>
            <a:spLocks noGrp="1"/>
          </p:cNvSpPr>
          <p:nvPr/>
        </p:nvSpPr>
        <p:spPr>
          <a:xfrm>
            <a:off x="9079992" y="4052116"/>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52" name="Rectangle 51">
            <a:extLst>
              <a:ext uri="{FF2B5EF4-FFF2-40B4-BE49-F238E27FC236}">
                <a16:creationId xmlns:a16="http://schemas.microsoft.com/office/drawing/2014/main" id="{28D441B8-7018-4AD9-9B8B-26489334227D}"/>
              </a:ext>
            </a:extLst>
          </p:cNvPr>
          <p:cNvSpPr>
            <a:spLocks noGrp="1"/>
          </p:cNvSpPr>
          <p:nvPr/>
        </p:nvSpPr>
        <p:spPr>
          <a:xfrm>
            <a:off x="658368" y="4492190"/>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73CDDF38-5B0C-454E-89F5-044BA4FC30D3}"/>
              </a:ext>
            </a:extLst>
          </p:cNvPr>
          <p:cNvSpPr>
            <a:spLocks noGrp="1"/>
          </p:cNvSpPr>
          <p:nvPr/>
        </p:nvSpPr>
        <p:spPr>
          <a:xfrm>
            <a:off x="713232" y="471048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54" name="Rectangle 53">
            <a:extLst>
              <a:ext uri="{FF2B5EF4-FFF2-40B4-BE49-F238E27FC236}">
                <a16:creationId xmlns:a16="http://schemas.microsoft.com/office/drawing/2014/main" id="{923DC4A5-F692-4A34-B0E9-8A84596DCB25}"/>
              </a:ext>
            </a:extLst>
          </p:cNvPr>
          <p:cNvSpPr>
            <a:spLocks noGrp="1"/>
          </p:cNvSpPr>
          <p:nvPr/>
        </p:nvSpPr>
        <p:spPr>
          <a:xfrm>
            <a:off x="1984248" y="4492190"/>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7D6FAFEB-70C8-4DB8-B2AC-AD18F1CB974A}"/>
              </a:ext>
            </a:extLst>
          </p:cNvPr>
          <p:cNvSpPr>
            <a:spLocks noGrp="1"/>
          </p:cNvSpPr>
          <p:nvPr/>
        </p:nvSpPr>
        <p:spPr>
          <a:xfrm>
            <a:off x="2039112" y="471048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56" name="Rectangle 55">
            <a:extLst>
              <a:ext uri="{FF2B5EF4-FFF2-40B4-BE49-F238E27FC236}">
                <a16:creationId xmlns:a16="http://schemas.microsoft.com/office/drawing/2014/main" id="{314D0AEC-7334-49D5-A18F-29616B1EBE5B}"/>
              </a:ext>
            </a:extLst>
          </p:cNvPr>
          <p:cNvSpPr>
            <a:spLocks noGrp="1"/>
          </p:cNvSpPr>
          <p:nvPr/>
        </p:nvSpPr>
        <p:spPr>
          <a:xfrm>
            <a:off x="3858768" y="4492190"/>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77F09C46-33F3-433C-BA3B-A0EA77C07084}"/>
              </a:ext>
            </a:extLst>
          </p:cNvPr>
          <p:cNvSpPr>
            <a:spLocks noGrp="1"/>
          </p:cNvSpPr>
          <p:nvPr/>
        </p:nvSpPr>
        <p:spPr>
          <a:xfrm>
            <a:off x="3913631" y="471048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58" name="Rectangle 57">
            <a:extLst>
              <a:ext uri="{FF2B5EF4-FFF2-40B4-BE49-F238E27FC236}">
                <a16:creationId xmlns:a16="http://schemas.microsoft.com/office/drawing/2014/main" id="{6713E0D5-79F5-4DDD-9BA0-BF030889C732}"/>
              </a:ext>
            </a:extLst>
          </p:cNvPr>
          <p:cNvSpPr>
            <a:spLocks noGrp="1"/>
          </p:cNvSpPr>
          <p:nvPr/>
        </p:nvSpPr>
        <p:spPr>
          <a:xfrm>
            <a:off x="5550408" y="4492190"/>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6E3C8A50-F5FB-441B-9F3D-88D3DD6322D8}"/>
              </a:ext>
            </a:extLst>
          </p:cNvPr>
          <p:cNvSpPr>
            <a:spLocks noGrp="1"/>
          </p:cNvSpPr>
          <p:nvPr/>
        </p:nvSpPr>
        <p:spPr>
          <a:xfrm>
            <a:off x="5605272" y="471048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60" name="Rectangle 59">
            <a:extLst>
              <a:ext uri="{FF2B5EF4-FFF2-40B4-BE49-F238E27FC236}">
                <a16:creationId xmlns:a16="http://schemas.microsoft.com/office/drawing/2014/main" id="{552CD726-D594-47F2-B43D-F55651AD2DED}"/>
              </a:ext>
            </a:extLst>
          </p:cNvPr>
          <p:cNvSpPr>
            <a:spLocks noGrp="1"/>
          </p:cNvSpPr>
          <p:nvPr/>
        </p:nvSpPr>
        <p:spPr>
          <a:xfrm>
            <a:off x="6784848" y="4492190"/>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6963C5AA-8FF5-4723-8EA6-265936CB53E3}"/>
              </a:ext>
            </a:extLst>
          </p:cNvPr>
          <p:cNvSpPr>
            <a:spLocks noGrp="1"/>
          </p:cNvSpPr>
          <p:nvPr/>
        </p:nvSpPr>
        <p:spPr>
          <a:xfrm>
            <a:off x="6839712" y="4710485"/>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62" name="Rectangle 61">
            <a:extLst>
              <a:ext uri="{FF2B5EF4-FFF2-40B4-BE49-F238E27FC236}">
                <a16:creationId xmlns:a16="http://schemas.microsoft.com/office/drawing/2014/main" id="{BD1C9B48-B020-4F62-911C-5549D51A86C1}"/>
              </a:ext>
            </a:extLst>
          </p:cNvPr>
          <p:cNvSpPr>
            <a:spLocks noGrp="1"/>
          </p:cNvSpPr>
          <p:nvPr/>
        </p:nvSpPr>
        <p:spPr>
          <a:xfrm>
            <a:off x="9025128" y="4492190"/>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30991699-F390-424B-8315-0B1D9AAFC171}"/>
              </a:ext>
            </a:extLst>
          </p:cNvPr>
          <p:cNvSpPr>
            <a:spLocks noGrp="1"/>
          </p:cNvSpPr>
          <p:nvPr/>
        </p:nvSpPr>
        <p:spPr>
          <a:xfrm>
            <a:off x="9079992" y="471048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64" name="Rounded Rectangle 63">
            <a:extLst>
              <a:ext uri="{FF2B5EF4-FFF2-40B4-BE49-F238E27FC236}">
                <a16:creationId xmlns:a16="http://schemas.microsoft.com/office/drawing/2014/main" id="{58501E3D-15AC-4B72-AFDE-369A2DAB52AC}"/>
              </a:ext>
            </a:extLst>
          </p:cNvPr>
          <p:cNvSpPr>
            <a:spLocks noGrp="1"/>
          </p:cNvSpPr>
          <p:nvPr/>
        </p:nvSpPr>
        <p:spPr>
          <a:xfrm>
            <a:off x="658368" y="5432424"/>
            <a:ext cx="10881360" cy="800407"/>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0C666860-7E66-4DA1-B72C-5064A9EA14BF}"/>
              </a:ext>
            </a:extLst>
          </p:cNvPr>
          <p:cNvSpPr>
            <a:spLocks noGrp="1"/>
          </p:cNvSpPr>
          <p:nvPr/>
        </p:nvSpPr>
        <p:spPr>
          <a:xfrm>
            <a:off x="914400" y="5570915"/>
            <a:ext cx="10369296" cy="54784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F233D"/>
                </a:solidFill>
                <a:latin typeface="Arial"/>
                <a:ea typeface="Arial"/>
                <a:cs typeface="Arial"/>
              </a:rPr>
              <a:t>Gene rows returned from KDA calls are counted before MitoCarta filtering. Unique non-MitoCarta genes exclude the 1,136 MitoCarta MT genes and are deduplicated within each cohort.</a:t>
            </a:r>
          </a:p>
        </p:txBody>
      </p:sp>
    </p:spTree>
    <p:extLst>
      <p:ext uri="{BB962C8B-B14F-4D97-AF65-F5344CB8AC3E}">
        <p14:creationId xmlns:p14="http://schemas.microsoft.com/office/powerpoint/2010/main" val="1059205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25F3B0C-B71A-431A-8FF4-50F3C7BD89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key findings</a:t>
            </a:r>
          </a:p>
        </p:txBody>
      </p:sp>
      <p:sp>
        <p:nvSpPr>
          <p:cNvPr id="3" name="TextBox 2">
            <a:extLst>
              <a:ext uri="{FF2B5EF4-FFF2-40B4-BE49-F238E27FC236}">
                <a16:creationId xmlns:a16="http://schemas.microsoft.com/office/drawing/2014/main" id="{199BDF02-6FDB-46E4-9E8E-E1E54A1D02E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Raising minimum donors per disease arm from 3 to 5 in ROSMAP and SEA-AD.</a:t>
            </a:r>
          </a:p>
        </p:txBody>
      </p:sp>
      <p:sp>
        <p:nvSpPr>
          <p:cNvPr id="4" name="Rounded Rectangle 3">
            <a:extLst>
              <a:ext uri="{FF2B5EF4-FFF2-40B4-BE49-F238E27FC236}">
                <a16:creationId xmlns:a16="http://schemas.microsoft.com/office/drawing/2014/main" id="{18DD6D7A-22B8-4849-B84F-B817AC43335A}"/>
              </a:ext>
            </a:extLst>
          </p:cNvPr>
          <p:cNvSpPr>
            <a:spLocks noGrp="1"/>
          </p:cNvSpPr>
          <p:nvPr/>
        </p:nvSpPr>
        <p:spPr>
          <a:xfrm>
            <a:off x="658368" y="1298448"/>
            <a:ext cx="10881360" cy="477316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53A19D-A8C1-44B5-995C-6011828E9382}"/>
              </a:ext>
            </a:extLst>
          </p:cNvPr>
          <p:cNvSpPr>
            <a:spLocks noGrp="1"/>
          </p:cNvSpPr>
          <p:nvPr/>
        </p:nvSpPr>
        <p:spPr>
          <a:xfrm>
            <a:off x="960120" y="1554480"/>
            <a:ext cx="219456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KEY FINDINGS</a:t>
            </a:r>
          </a:p>
        </p:txBody>
      </p:sp>
      <p:sp>
        <p:nvSpPr>
          <p:cNvPr id="6" name="Oval 5">
            <a:extLst>
              <a:ext uri="{FF2B5EF4-FFF2-40B4-BE49-F238E27FC236}">
                <a16:creationId xmlns:a16="http://schemas.microsoft.com/office/drawing/2014/main" id="{09C4D1D7-8BB9-4E7F-B109-8B2FFB6A0DDE}"/>
              </a:ext>
            </a:extLst>
          </p:cNvPr>
          <p:cNvSpPr>
            <a:spLocks noGrp="1"/>
          </p:cNvSpPr>
          <p:nvPr/>
        </p:nvSpPr>
        <p:spPr>
          <a:xfrm>
            <a:off x="960120" y="204825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A881ABF-427F-4249-8522-B0545E7035F2}"/>
              </a:ext>
            </a:extLst>
          </p:cNvPr>
          <p:cNvSpPr>
            <a:spLocks noGrp="1"/>
          </p:cNvSpPr>
          <p:nvPr/>
        </p:nvSpPr>
        <p:spPr>
          <a:xfrm>
            <a:off x="1133856" y="1920240"/>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ROSMAP loses the Vasculature × M_e2 KDA call based on 4 versus 3 donors, which returned 26 gene rows. This removes the low-support result dominating the ROSMAP release.</a:t>
            </a:r>
          </a:p>
        </p:txBody>
      </p:sp>
      <p:sp>
        <p:nvSpPr>
          <p:cNvPr id="8" name="Oval 7">
            <a:extLst>
              <a:ext uri="{FF2B5EF4-FFF2-40B4-BE49-F238E27FC236}">
                <a16:creationId xmlns:a16="http://schemas.microsoft.com/office/drawing/2014/main" id="{949466EA-35CA-4B4C-831D-4E1D7D555C89}"/>
              </a:ext>
            </a:extLst>
          </p:cNvPr>
          <p:cNvSpPr>
            <a:spLocks noGrp="1"/>
          </p:cNvSpPr>
          <p:nvPr/>
        </p:nvSpPr>
        <p:spPr>
          <a:xfrm>
            <a:off x="960120" y="281635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AACCE04-F5AF-44D8-AD25-CB898B224716}"/>
              </a:ext>
            </a:extLst>
          </p:cNvPr>
          <p:cNvSpPr>
            <a:spLocks noGrp="1"/>
          </p:cNvSpPr>
          <p:nvPr/>
        </p:nvSpPr>
        <p:spPr>
          <a:xfrm>
            <a:off x="1133856" y="2688336"/>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SEA-AD loses eight eligible contrasts, but all already had empty MitoCarta MT queries. Therefore, all five KDA calls and all genes returned from KDA calls remain unchanged.</a:t>
            </a:r>
          </a:p>
        </p:txBody>
      </p:sp>
      <p:sp>
        <p:nvSpPr>
          <p:cNvPr id="10" name="Oval 9">
            <a:extLst>
              <a:ext uri="{FF2B5EF4-FFF2-40B4-BE49-F238E27FC236}">
                <a16:creationId xmlns:a16="http://schemas.microsoft.com/office/drawing/2014/main" id="{9EDE846E-BE18-49ED-AF44-A28A775CB2F8}"/>
              </a:ext>
            </a:extLst>
          </p:cNvPr>
          <p:cNvSpPr>
            <a:spLocks noGrp="1"/>
          </p:cNvSpPr>
          <p:nvPr/>
        </p:nvSpPr>
        <p:spPr>
          <a:xfrm>
            <a:off x="960120" y="35844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D77A8E0-48BA-4289-9E74-C3ED04DCFE7D}"/>
              </a:ext>
            </a:extLst>
          </p:cNvPr>
          <p:cNvSpPr>
            <a:spLocks noGrp="1"/>
          </p:cNvSpPr>
          <p:nvPr/>
        </p:nvSpPr>
        <p:spPr>
          <a:xfrm>
            <a:off x="1133856" y="3456432"/>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Cross-cohort validation remains zero at both thresholds.</a:t>
            </a:r>
          </a:p>
        </p:txBody>
      </p:sp>
      <p:sp>
        <p:nvSpPr>
          <p:cNvPr id="12" name="Oval 11">
            <a:extLst>
              <a:ext uri="{FF2B5EF4-FFF2-40B4-BE49-F238E27FC236}">
                <a16:creationId xmlns:a16="http://schemas.microsoft.com/office/drawing/2014/main" id="{58E91864-B2AC-4AD6-B45A-053A9C688D3D}"/>
              </a:ext>
            </a:extLst>
          </p:cNvPr>
          <p:cNvSpPr>
            <a:spLocks noGrp="1"/>
          </p:cNvSpPr>
          <p:nvPr/>
        </p:nvSpPr>
        <p:spPr>
          <a:xfrm>
            <a:off x="960120" y="435254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D37C508-F16A-4298-89AA-59DA37EA865D}"/>
              </a:ext>
            </a:extLst>
          </p:cNvPr>
          <p:cNvSpPr>
            <a:spLocks noGrp="1"/>
          </p:cNvSpPr>
          <p:nvPr/>
        </p:nvSpPr>
        <p:spPr>
          <a:xfrm>
            <a:off x="1133856" y="4224528"/>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only exact shared executed stratum remains Astrocytes × F_e4, with no shared genes returned from KDA calls.</a:t>
            </a:r>
          </a:p>
        </p:txBody>
      </p:sp>
      <p:sp>
        <p:nvSpPr>
          <p:cNvPr id="14" name="Oval 13">
            <a:extLst>
              <a:ext uri="{FF2B5EF4-FFF2-40B4-BE49-F238E27FC236}">
                <a16:creationId xmlns:a16="http://schemas.microsoft.com/office/drawing/2014/main" id="{4A72CDD2-DCA4-4F37-9176-B43911D86A73}"/>
              </a:ext>
            </a:extLst>
          </p:cNvPr>
          <p:cNvSpPr>
            <a:spLocks noGrp="1"/>
          </p:cNvSpPr>
          <p:nvPr/>
        </p:nvSpPr>
        <p:spPr>
          <a:xfrm>
            <a:off x="960120"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DF81818-C64B-49A7-8FA6-01AD143DCED6}"/>
              </a:ext>
            </a:extLst>
          </p:cNvPr>
          <p:cNvSpPr>
            <a:spLocks noGrp="1"/>
          </p:cNvSpPr>
          <p:nvPr/>
        </p:nvSpPr>
        <p:spPr>
          <a:xfrm>
            <a:off x="1133856" y="4992624"/>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excluded contrasts are treated as unavailable comparisons—not negative validation results.</a:t>
            </a:r>
          </a:p>
        </p:txBody>
      </p:sp>
    </p:spTree>
    <p:extLst>
      <p:ext uri="{BB962C8B-B14F-4D97-AF65-F5344CB8AC3E}">
        <p14:creationId xmlns:p14="http://schemas.microsoft.com/office/powerpoint/2010/main" val="38254535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D7CA38-4263-4922-B9E4-152F9F619F7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numerical comparison</a:t>
            </a:r>
          </a:p>
        </p:txBody>
      </p:sp>
      <p:sp>
        <p:nvSpPr>
          <p:cNvPr id="3" name="TextBox 2">
            <a:extLst>
              <a:ext uri="{FF2B5EF4-FFF2-40B4-BE49-F238E27FC236}">
                <a16:creationId xmlns:a16="http://schemas.microsoft.com/office/drawing/2014/main" id="{8B6DDF63-06AA-4896-A112-1C337B681D39}"/>
              </a:ext>
            </a:extLst>
          </p:cNvPr>
          <p:cNvSpPr>
            <a:spLocks noGrp="1"/>
          </p:cNvSpPr>
          <p:nvPr/>
        </p:nvSpPr>
        <p:spPr>
          <a:xfrm>
            <a:off x="548640" y="949114"/>
            <a:ext cx="1056132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Minimum MitoCarta MT query genes after network mapping; donor minimum held at 3 per disease arm.</a:t>
            </a:r>
          </a:p>
        </p:txBody>
      </p:sp>
      <p:sp>
        <p:nvSpPr>
          <p:cNvPr id="4" name="Rectangle 3">
            <a:extLst>
              <a:ext uri="{FF2B5EF4-FFF2-40B4-BE49-F238E27FC236}">
                <a16:creationId xmlns:a16="http://schemas.microsoft.com/office/drawing/2014/main" id="{F9DF9097-007C-4CBD-92F2-DF8EF21F3CDA}"/>
              </a:ext>
            </a:extLst>
          </p:cNvPr>
          <p:cNvSpPr>
            <a:spLocks noGrp="1"/>
          </p:cNvSpPr>
          <p:nvPr/>
        </p:nvSpPr>
        <p:spPr>
          <a:xfrm>
            <a:off x="539496" y="1371600"/>
            <a:ext cx="10972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5171831-019E-48DD-AD50-F176E9E78576}"/>
              </a:ext>
            </a:extLst>
          </p:cNvPr>
          <p:cNvSpPr>
            <a:spLocks noGrp="1"/>
          </p:cNvSpPr>
          <p:nvPr/>
        </p:nvSpPr>
        <p:spPr>
          <a:xfrm>
            <a:off x="594359" y="15761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D6691509-3067-4EB2-965B-1E0E5F77FE4C}"/>
              </a:ext>
            </a:extLst>
          </p:cNvPr>
          <p:cNvSpPr>
            <a:spLocks noGrp="1"/>
          </p:cNvSpPr>
          <p:nvPr/>
        </p:nvSpPr>
        <p:spPr>
          <a:xfrm>
            <a:off x="1636776" y="1371600"/>
            <a:ext cx="13258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8675E2A-BCD8-47E4-A554-C75039387E85}"/>
              </a:ext>
            </a:extLst>
          </p:cNvPr>
          <p:cNvSpPr>
            <a:spLocks noGrp="1"/>
          </p:cNvSpPr>
          <p:nvPr/>
        </p:nvSpPr>
        <p:spPr>
          <a:xfrm>
            <a:off x="1691640" y="1483846"/>
            <a:ext cx="12161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query genes</a:t>
            </a:r>
          </a:p>
        </p:txBody>
      </p:sp>
      <p:sp>
        <p:nvSpPr>
          <p:cNvPr id="8" name="Rectangle 7">
            <a:extLst>
              <a:ext uri="{FF2B5EF4-FFF2-40B4-BE49-F238E27FC236}">
                <a16:creationId xmlns:a16="http://schemas.microsoft.com/office/drawing/2014/main" id="{16228AAB-FE57-4B8F-9337-AE131A1C8CF5}"/>
              </a:ext>
            </a:extLst>
          </p:cNvPr>
          <p:cNvSpPr>
            <a:spLocks noGrp="1"/>
          </p:cNvSpPr>
          <p:nvPr/>
        </p:nvSpPr>
        <p:spPr>
          <a:xfrm>
            <a:off x="2962656" y="1371600"/>
            <a:ext cx="17830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CAE06F7D-C693-4B4E-89B6-F05CDD3EB6BE}"/>
              </a:ext>
            </a:extLst>
          </p:cNvPr>
          <p:cNvSpPr>
            <a:spLocks noGrp="1"/>
          </p:cNvSpPr>
          <p:nvPr/>
        </p:nvSpPr>
        <p:spPr>
          <a:xfrm>
            <a:off x="3017520" y="1483846"/>
            <a:ext cx="16733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Source-estimable contrasts</a:t>
            </a:r>
          </a:p>
        </p:txBody>
      </p:sp>
      <p:sp>
        <p:nvSpPr>
          <p:cNvPr id="10" name="Rectangle 9">
            <a:extLst>
              <a:ext uri="{FF2B5EF4-FFF2-40B4-BE49-F238E27FC236}">
                <a16:creationId xmlns:a16="http://schemas.microsoft.com/office/drawing/2014/main" id="{A7DC2A01-D05E-4D29-A52A-E76862908454}"/>
              </a:ext>
            </a:extLst>
          </p:cNvPr>
          <p:cNvSpPr>
            <a:spLocks noGrp="1"/>
          </p:cNvSpPr>
          <p:nvPr/>
        </p:nvSpPr>
        <p:spPr>
          <a:xfrm>
            <a:off x="4745736" y="1371600"/>
            <a:ext cx="17373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19A73275-6480-473E-A100-8F193BA88188}"/>
              </a:ext>
            </a:extLst>
          </p:cNvPr>
          <p:cNvSpPr>
            <a:spLocks noGrp="1"/>
          </p:cNvSpPr>
          <p:nvPr/>
        </p:nvSpPr>
        <p:spPr>
          <a:xfrm>
            <a:off x="4800600" y="1483846"/>
            <a:ext cx="1627631"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Query-passing contrasts</a:t>
            </a:r>
          </a:p>
        </p:txBody>
      </p:sp>
      <p:sp>
        <p:nvSpPr>
          <p:cNvPr id="12" name="Rectangle 11">
            <a:extLst>
              <a:ext uri="{FF2B5EF4-FFF2-40B4-BE49-F238E27FC236}">
                <a16:creationId xmlns:a16="http://schemas.microsoft.com/office/drawing/2014/main" id="{83004C7C-2E64-4132-A9A4-71645D7B8F17}"/>
              </a:ext>
            </a:extLst>
          </p:cNvPr>
          <p:cNvSpPr>
            <a:spLocks noGrp="1"/>
          </p:cNvSpPr>
          <p:nvPr/>
        </p:nvSpPr>
        <p:spPr>
          <a:xfrm>
            <a:off x="6483096" y="1371600"/>
            <a:ext cx="10515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90D475DD-B022-4339-87C7-C40904E90410}"/>
              </a:ext>
            </a:extLst>
          </p:cNvPr>
          <p:cNvSpPr>
            <a:spLocks noGrp="1"/>
          </p:cNvSpPr>
          <p:nvPr/>
        </p:nvSpPr>
        <p:spPr>
          <a:xfrm>
            <a:off x="6537959" y="15761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4" name="Rectangle 13">
            <a:extLst>
              <a:ext uri="{FF2B5EF4-FFF2-40B4-BE49-F238E27FC236}">
                <a16:creationId xmlns:a16="http://schemas.microsoft.com/office/drawing/2014/main" id="{AA366187-E9AD-4D59-B558-84BB882F9DA7}"/>
              </a:ext>
            </a:extLst>
          </p:cNvPr>
          <p:cNvSpPr>
            <a:spLocks noGrp="1"/>
          </p:cNvSpPr>
          <p:nvPr/>
        </p:nvSpPr>
        <p:spPr>
          <a:xfrm>
            <a:off x="7534656" y="1371600"/>
            <a:ext cx="1993392"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FFA83CCF-A99E-4817-A8C0-572B99A0CAED}"/>
              </a:ext>
            </a:extLst>
          </p:cNvPr>
          <p:cNvSpPr>
            <a:spLocks noGrp="1"/>
          </p:cNvSpPr>
          <p:nvPr/>
        </p:nvSpPr>
        <p:spPr>
          <a:xfrm>
            <a:off x="7589520" y="1576179"/>
            <a:ext cx="1883664"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Genes returned from KDA calls</a:t>
            </a:r>
          </a:p>
        </p:txBody>
      </p:sp>
      <p:sp>
        <p:nvSpPr>
          <p:cNvPr id="16" name="Rectangle 15">
            <a:extLst>
              <a:ext uri="{FF2B5EF4-FFF2-40B4-BE49-F238E27FC236}">
                <a16:creationId xmlns:a16="http://schemas.microsoft.com/office/drawing/2014/main" id="{B36D802F-CD5F-453E-B54F-FD621E30F9DA}"/>
              </a:ext>
            </a:extLst>
          </p:cNvPr>
          <p:cNvSpPr>
            <a:spLocks noGrp="1"/>
          </p:cNvSpPr>
          <p:nvPr/>
        </p:nvSpPr>
        <p:spPr>
          <a:xfrm>
            <a:off x="9528048" y="1371600"/>
            <a:ext cx="2121408"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ABF77F7B-7F1F-4D12-8778-42218A68A9D3}"/>
              </a:ext>
            </a:extLst>
          </p:cNvPr>
          <p:cNvSpPr>
            <a:spLocks noGrp="1"/>
          </p:cNvSpPr>
          <p:nvPr/>
        </p:nvSpPr>
        <p:spPr>
          <a:xfrm>
            <a:off x="9582912" y="1576179"/>
            <a:ext cx="2011679"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8" name="Rectangle 17">
            <a:extLst>
              <a:ext uri="{FF2B5EF4-FFF2-40B4-BE49-F238E27FC236}">
                <a16:creationId xmlns:a16="http://schemas.microsoft.com/office/drawing/2014/main" id="{D4C04B78-789D-4737-9533-19DDAA7C1601}"/>
              </a:ext>
            </a:extLst>
          </p:cNvPr>
          <p:cNvSpPr>
            <a:spLocks noGrp="1"/>
          </p:cNvSpPr>
          <p:nvPr/>
        </p:nvSpPr>
        <p:spPr>
          <a:xfrm>
            <a:off x="539496" y="2002536"/>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63BAAC32-6E5B-49E5-9113-B1F20BFE28C4}"/>
              </a:ext>
            </a:extLst>
          </p:cNvPr>
          <p:cNvSpPr>
            <a:spLocks noGrp="1"/>
          </p:cNvSpPr>
          <p:nvPr/>
        </p:nvSpPr>
        <p:spPr>
          <a:xfrm>
            <a:off x="594359" y="208824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20" name="Rectangle 19">
            <a:extLst>
              <a:ext uri="{FF2B5EF4-FFF2-40B4-BE49-F238E27FC236}">
                <a16:creationId xmlns:a16="http://schemas.microsoft.com/office/drawing/2014/main" id="{BB72EC37-20AA-457F-9AB1-61E5D9DA4140}"/>
              </a:ext>
            </a:extLst>
          </p:cNvPr>
          <p:cNvSpPr>
            <a:spLocks noGrp="1"/>
          </p:cNvSpPr>
          <p:nvPr/>
        </p:nvSpPr>
        <p:spPr>
          <a:xfrm>
            <a:off x="1636776" y="2002536"/>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830BB733-FC4C-46C3-92E3-CEB3223AA0E7}"/>
              </a:ext>
            </a:extLst>
          </p:cNvPr>
          <p:cNvSpPr>
            <a:spLocks noGrp="1"/>
          </p:cNvSpPr>
          <p:nvPr/>
        </p:nvSpPr>
        <p:spPr>
          <a:xfrm>
            <a:off x="1691640" y="208824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2" name="Rectangle 21">
            <a:extLst>
              <a:ext uri="{FF2B5EF4-FFF2-40B4-BE49-F238E27FC236}">
                <a16:creationId xmlns:a16="http://schemas.microsoft.com/office/drawing/2014/main" id="{F571AD81-CB6E-4DF6-8BA5-B120EA9A1403}"/>
              </a:ext>
            </a:extLst>
          </p:cNvPr>
          <p:cNvSpPr>
            <a:spLocks noGrp="1"/>
          </p:cNvSpPr>
          <p:nvPr/>
        </p:nvSpPr>
        <p:spPr>
          <a:xfrm>
            <a:off x="2962656" y="2002536"/>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4E5A0FC6-C26E-4751-BECD-55061DFD488B}"/>
              </a:ext>
            </a:extLst>
          </p:cNvPr>
          <p:cNvSpPr>
            <a:spLocks noGrp="1"/>
          </p:cNvSpPr>
          <p:nvPr/>
        </p:nvSpPr>
        <p:spPr>
          <a:xfrm>
            <a:off x="3017520" y="208824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4" name="Rectangle 23">
            <a:extLst>
              <a:ext uri="{FF2B5EF4-FFF2-40B4-BE49-F238E27FC236}">
                <a16:creationId xmlns:a16="http://schemas.microsoft.com/office/drawing/2014/main" id="{122610C6-2C6D-4137-856A-ADCF252BE042}"/>
              </a:ext>
            </a:extLst>
          </p:cNvPr>
          <p:cNvSpPr>
            <a:spLocks noGrp="1"/>
          </p:cNvSpPr>
          <p:nvPr/>
        </p:nvSpPr>
        <p:spPr>
          <a:xfrm>
            <a:off x="4745736" y="2002536"/>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1439ACC2-479D-4C90-893C-0002ED1C25E1}"/>
              </a:ext>
            </a:extLst>
          </p:cNvPr>
          <p:cNvSpPr>
            <a:spLocks noGrp="1"/>
          </p:cNvSpPr>
          <p:nvPr/>
        </p:nvSpPr>
        <p:spPr>
          <a:xfrm>
            <a:off x="4800600" y="208824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886BB4BB-75F2-44CC-B094-6ED5C81235BD}"/>
              </a:ext>
            </a:extLst>
          </p:cNvPr>
          <p:cNvSpPr>
            <a:spLocks noGrp="1"/>
          </p:cNvSpPr>
          <p:nvPr/>
        </p:nvSpPr>
        <p:spPr>
          <a:xfrm>
            <a:off x="6483096" y="2002536"/>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CFE88007-9F11-43FB-9F24-36F53E4392CE}"/>
              </a:ext>
            </a:extLst>
          </p:cNvPr>
          <p:cNvSpPr>
            <a:spLocks noGrp="1"/>
          </p:cNvSpPr>
          <p:nvPr/>
        </p:nvSpPr>
        <p:spPr>
          <a:xfrm>
            <a:off x="6537959" y="208824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8" name="Rectangle 27">
            <a:extLst>
              <a:ext uri="{FF2B5EF4-FFF2-40B4-BE49-F238E27FC236}">
                <a16:creationId xmlns:a16="http://schemas.microsoft.com/office/drawing/2014/main" id="{23630290-8779-4B2F-AD33-5149BC6CDF6E}"/>
              </a:ext>
            </a:extLst>
          </p:cNvPr>
          <p:cNvSpPr>
            <a:spLocks noGrp="1"/>
          </p:cNvSpPr>
          <p:nvPr/>
        </p:nvSpPr>
        <p:spPr>
          <a:xfrm>
            <a:off x="7534656" y="2002536"/>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2EDF97C9-0354-4B07-A4C6-2F050E03F8AA}"/>
              </a:ext>
            </a:extLst>
          </p:cNvPr>
          <p:cNvSpPr>
            <a:spLocks noGrp="1"/>
          </p:cNvSpPr>
          <p:nvPr/>
        </p:nvSpPr>
        <p:spPr>
          <a:xfrm>
            <a:off x="7589520" y="208824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30" name="Rectangle 29">
            <a:extLst>
              <a:ext uri="{FF2B5EF4-FFF2-40B4-BE49-F238E27FC236}">
                <a16:creationId xmlns:a16="http://schemas.microsoft.com/office/drawing/2014/main" id="{4DE06070-690D-4830-83CC-82280097316C}"/>
              </a:ext>
            </a:extLst>
          </p:cNvPr>
          <p:cNvSpPr>
            <a:spLocks noGrp="1"/>
          </p:cNvSpPr>
          <p:nvPr/>
        </p:nvSpPr>
        <p:spPr>
          <a:xfrm>
            <a:off x="9528048" y="2002536"/>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578C1C25-CD6C-4E34-8EE4-5E6F10E82749}"/>
              </a:ext>
            </a:extLst>
          </p:cNvPr>
          <p:cNvSpPr>
            <a:spLocks noGrp="1"/>
          </p:cNvSpPr>
          <p:nvPr/>
        </p:nvSpPr>
        <p:spPr>
          <a:xfrm>
            <a:off x="9582912" y="208824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32" name="Rectangle 31">
            <a:extLst>
              <a:ext uri="{FF2B5EF4-FFF2-40B4-BE49-F238E27FC236}">
                <a16:creationId xmlns:a16="http://schemas.microsoft.com/office/drawing/2014/main" id="{804D1610-9C5B-4FD7-8130-BF8BADB69243}"/>
              </a:ext>
            </a:extLst>
          </p:cNvPr>
          <p:cNvSpPr>
            <a:spLocks noGrp="1"/>
          </p:cNvSpPr>
          <p:nvPr/>
        </p:nvSpPr>
        <p:spPr>
          <a:xfrm>
            <a:off x="539496" y="2395728"/>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F83D7EA7-8AED-43F7-A1B1-A5F30CF7C087}"/>
              </a:ext>
            </a:extLst>
          </p:cNvPr>
          <p:cNvSpPr>
            <a:spLocks noGrp="1"/>
          </p:cNvSpPr>
          <p:nvPr/>
        </p:nvSpPr>
        <p:spPr>
          <a:xfrm>
            <a:off x="594359" y="2481435"/>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4" name="Rectangle 33">
            <a:extLst>
              <a:ext uri="{FF2B5EF4-FFF2-40B4-BE49-F238E27FC236}">
                <a16:creationId xmlns:a16="http://schemas.microsoft.com/office/drawing/2014/main" id="{19EDD134-00F2-45E1-8DCD-826B665128AF}"/>
              </a:ext>
            </a:extLst>
          </p:cNvPr>
          <p:cNvSpPr>
            <a:spLocks noGrp="1"/>
          </p:cNvSpPr>
          <p:nvPr/>
        </p:nvSpPr>
        <p:spPr>
          <a:xfrm>
            <a:off x="1636776" y="2395728"/>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C497DD64-91DD-48B9-8116-AE97391206A8}"/>
              </a:ext>
            </a:extLst>
          </p:cNvPr>
          <p:cNvSpPr>
            <a:spLocks noGrp="1"/>
          </p:cNvSpPr>
          <p:nvPr/>
        </p:nvSpPr>
        <p:spPr>
          <a:xfrm>
            <a:off x="1691640" y="248143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6" name="Rectangle 35">
            <a:extLst>
              <a:ext uri="{FF2B5EF4-FFF2-40B4-BE49-F238E27FC236}">
                <a16:creationId xmlns:a16="http://schemas.microsoft.com/office/drawing/2014/main" id="{20914F76-E133-4AC1-AB59-37058FAF554A}"/>
              </a:ext>
            </a:extLst>
          </p:cNvPr>
          <p:cNvSpPr>
            <a:spLocks noGrp="1"/>
          </p:cNvSpPr>
          <p:nvPr/>
        </p:nvSpPr>
        <p:spPr>
          <a:xfrm>
            <a:off x="2962656" y="2395728"/>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95DBCBC1-9641-4DE6-BC15-8AA9EB9A396F}"/>
              </a:ext>
            </a:extLst>
          </p:cNvPr>
          <p:cNvSpPr>
            <a:spLocks noGrp="1"/>
          </p:cNvSpPr>
          <p:nvPr/>
        </p:nvSpPr>
        <p:spPr>
          <a:xfrm>
            <a:off x="3017520" y="2481435"/>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38" name="Rectangle 37">
            <a:extLst>
              <a:ext uri="{FF2B5EF4-FFF2-40B4-BE49-F238E27FC236}">
                <a16:creationId xmlns:a16="http://schemas.microsoft.com/office/drawing/2014/main" id="{C9B812D0-B598-4433-AAED-20B87A1D1276}"/>
              </a:ext>
            </a:extLst>
          </p:cNvPr>
          <p:cNvSpPr>
            <a:spLocks noGrp="1"/>
          </p:cNvSpPr>
          <p:nvPr/>
        </p:nvSpPr>
        <p:spPr>
          <a:xfrm>
            <a:off x="4745736" y="2395728"/>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C40DB664-36A0-49EA-A597-6E474A473288}"/>
              </a:ext>
            </a:extLst>
          </p:cNvPr>
          <p:cNvSpPr>
            <a:spLocks noGrp="1"/>
          </p:cNvSpPr>
          <p:nvPr/>
        </p:nvSpPr>
        <p:spPr>
          <a:xfrm>
            <a:off x="4800600" y="2481435"/>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0" name="Rectangle 39">
            <a:extLst>
              <a:ext uri="{FF2B5EF4-FFF2-40B4-BE49-F238E27FC236}">
                <a16:creationId xmlns:a16="http://schemas.microsoft.com/office/drawing/2014/main" id="{18F4D892-8CA3-4475-A46B-92B4555BD2C6}"/>
              </a:ext>
            </a:extLst>
          </p:cNvPr>
          <p:cNvSpPr>
            <a:spLocks noGrp="1"/>
          </p:cNvSpPr>
          <p:nvPr/>
        </p:nvSpPr>
        <p:spPr>
          <a:xfrm>
            <a:off x="6483096" y="2395728"/>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5E3A204D-645F-4C6C-997E-A3DB840608C6}"/>
              </a:ext>
            </a:extLst>
          </p:cNvPr>
          <p:cNvSpPr>
            <a:spLocks noGrp="1"/>
          </p:cNvSpPr>
          <p:nvPr/>
        </p:nvSpPr>
        <p:spPr>
          <a:xfrm>
            <a:off x="6537959" y="2481435"/>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2" name="Rectangle 41">
            <a:extLst>
              <a:ext uri="{FF2B5EF4-FFF2-40B4-BE49-F238E27FC236}">
                <a16:creationId xmlns:a16="http://schemas.microsoft.com/office/drawing/2014/main" id="{35C81979-5638-477F-ADA7-488666135604}"/>
              </a:ext>
            </a:extLst>
          </p:cNvPr>
          <p:cNvSpPr>
            <a:spLocks noGrp="1"/>
          </p:cNvSpPr>
          <p:nvPr/>
        </p:nvSpPr>
        <p:spPr>
          <a:xfrm>
            <a:off x="7534656" y="2395728"/>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925855F0-86CB-4389-B25C-BF8BD95DBD88}"/>
              </a:ext>
            </a:extLst>
          </p:cNvPr>
          <p:cNvSpPr>
            <a:spLocks noGrp="1"/>
          </p:cNvSpPr>
          <p:nvPr/>
        </p:nvSpPr>
        <p:spPr>
          <a:xfrm>
            <a:off x="7589520" y="2481435"/>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44" name="Rectangle 43">
            <a:extLst>
              <a:ext uri="{FF2B5EF4-FFF2-40B4-BE49-F238E27FC236}">
                <a16:creationId xmlns:a16="http://schemas.microsoft.com/office/drawing/2014/main" id="{FD9B350F-32C3-4455-AEC0-3F92CDD013E6}"/>
              </a:ext>
            </a:extLst>
          </p:cNvPr>
          <p:cNvSpPr>
            <a:spLocks noGrp="1"/>
          </p:cNvSpPr>
          <p:nvPr/>
        </p:nvSpPr>
        <p:spPr>
          <a:xfrm>
            <a:off x="9528048" y="2395728"/>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237BCF17-C9A8-4506-80D6-0D10808064D3}"/>
              </a:ext>
            </a:extLst>
          </p:cNvPr>
          <p:cNvSpPr>
            <a:spLocks noGrp="1"/>
          </p:cNvSpPr>
          <p:nvPr/>
        </p:nvSpPr>
        <p:spPr>
          <a:xfrm>
            <a:off x="9582912" y="2481435"/>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46" name="Rectangle 45">
            <a:extLst>
              <a:ext uri="{FF2B5EF4-FFF2-40B4-BE49-F238E27FC236}">
                <a16:creationId xmlns:a16="http://schemas.microsoft.com/office/drawing/2014/main" id="{0F97C6E0-1551-4802-A9E6-E73DBCBB5A01}"/>
              </a:ext>
            </a:extLst>
          </p:cNvPr>
          <p:cNvSpPr>
            <a:spLocks noGrp="1"/>
          </p:cNvSpPr>
          <p:nvPr/>
        </p:nvSpPr>
        <p:spPr>
          <a:xfrm>
            <a:off x="539496" y="2788920"/>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84701F44-EE12-4A73-A25C-5F4355D800D5}"/>
              </a:ext>
            </a:extLst>
          </p:cNvPr>
          <p:cNvSpPr>
            <a:spLocks noGrp="1"/>
          </p:cNvSpPr>
          <p:nvPr/>
        </p:nvSpPr>
        <p:spPr>
          <a:xfrm>
            <a:off x="594359" y="287462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48" name="Rectangle 47">
            <a:extLst>
              <a:ext uri="{FF2B5EF4-FFF2-40B4-BE49-F238E27FC236}">
                <a16:creationId xmlns:a16="http://schemas.microsoft.com/office/drawing/2014/main" id="{28548E9D-ED00-4F16-A055-8F5DE74C1A8B}"/>
              </a:ext>
            </a:extLst>
          </p:cNvPr>
          <p:cNvSpPr>
            <a:spLocks noGrp="1"/>
          </p:cNvSpPr>
          <p:nvPr/>
        </p:nvSpPr>
        <p:spPr>
          <a:xfrm>
            <a:off x="1636776" y="2788920"/>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A936383A-B632-46E8-91B5-3F0601DDB4C7}"/>
              </a:ext>
            </a:extLst>
          </p:cNvPr>
          <p:cNvSpPr>
            <a:spLocks noGrp="1"/>
          </p:cNvSpPr>
          <p:nvPr/>
        </p:nvSpPr>
        <p:spPr>
          <a:xfrm>
            <a:off x="1691640" y="287462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50" name="Rectangle 49">
            <a:extLst>
              <a:ext uri="{FF2B5EF4-FFF2-40B4-BE49-F238E27FC236}">
                <a16:creationId xmlns:a16="http://schemas.microsoft.com/office/drawing/2014/main" id="{EA19B3D5-AA6E-4A30-9E95-E99657189CF1}"/>
              </a:ext>
            </a:extLst>
          </p:cNvPr>
          <p:cNvSpPr>
            <a:spLocks noGrp="1"/>
          </p:cNvSpPr>
          <p:nvPr/>
        </p:nvSpPr>
        <p:spPr>
          <a:xfrm>
            <a:off x="2962656" y="2788920"/>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CAFF7E6B-2C26-4B54-A63B-C90184CB09D8}"/>
              </a:ext>
            </a:extLst>
          </p:cNvPr>
          <p:cNvSpPr>
            <a:spLocks noGrp="1"/>
          </p:cNvSpPr>
          <p:nvPr/>
        </p:nvSpPr>
        <p:spPr>
          <a:xfrm>
            <a:off x="3017520" y="287462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52" name="Rectangle 51">
            <a:extLst>
              <a:ext uri="{FF2B5EF4-FFF2-40B4-BE49-F238E27FC236}">
                <a16:creationId xmlns:a16="http://schemas.microsoft.com/office/drawing/2014/main" id="{8B8949AA-FC80-4EC5-90C7-EEA6DF3A4418}"/>
              </a:ext>
            </a:extLst>
          </p:cNvPr>
          <p:cNvSpPr>
            <a:spLocks noGrp="1"/>
          </p:cNvSpPr>
          <p:nvPr/>
        </p:nvSpPr>
        <p:spPr>
          <a:xfrm>
            <a:off x="4745736" y="2788920"/>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F9792C74-559C-425D-AAAC-2CC93BDB174E}"/>
              </a:ext>
            </a:extLst>
          </p:cNvPr>
          <p:cNvSpPr>
            <a:spLocks noGrp="1"/>
          </p:cNvSpPr>
          <p:nvPr/>
        </p:nvSpPr>
        <p:spPr>
          <a:xfrm>
            <a:off x="4800600" y="287462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4" name="Rectangle 53">
            <a:extLst>
              <a:ext uri="{FF2B5EF4-FFF2-40B4-BE49-F238E27FC236}">
                <a16:creationId xmlns:a16="http://schemas.microsoft.com/office/drawing/2014/main" id="{2EB586EB-D0C2-485F-9AFB-6D17D8B88C27}"/>
              </a:ext>
            </a:extLst>
          </p:cNvPr>
          <p:cNvSpPr>
            <a:spLocks noGrp="1"/>
          </p:cNvSpPr>
          <p:nvPr/>
        </p:nvSpPr>
        <p:spPr>
          <a:xfrm>
            <a:off x="6483096" y="2788920"/>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ED13A0EC-ABB2-4F0F-A8A6-839D68D41170}"/>
              </a:ext>
            </a:extLst>
          </p:cNvPr>
          <p:cNvSpPr>
            <a:spLocks noGrp="1"/>
          </p:cNvSpPr>
          <p:nvPr/>
        </p:nvSpPr>
        <p:spPr>
          <a:xfrm>
            <a:off x="6537959" y="287462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6" name="Rectangle 55">
            <a:extLst>
              <a:ext uri="{FF2B5EF4-FFF2-40B4-BE49-F238E27FC236}">
                <a16:creationId xmlns:a16="http://schemas.microsoft.com/office/drawing/2014/main" id="{107F0442-1287-49F4-A1F4-8D354E6BD4F4}"/>
              </a:ext>
            </a:extLst>
          </p:cNvPr>
          <p:cNvSpPr>
            <a:spLocks noGrp="1"/>
          </p:cNvSpPr>
          <p:nvPr/>
        </p:nvSpPr>
        <p:spPr>
          <a:xfrm>
            <a:off x="7534656" y="2788920"/>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3A07734F-7D74-40DE-8E06-4FAEC85A256B}"/>
              </a:ext>
            </a:extLst>
          </p:cNvPr>
          <p:cNvSpPr>
            <a:spLocks noGrp="1"/>
          </p:cNvSpPr>
          <p:nvPr/>
        </p:nvSpPr>
        <p:spPr>
          <a:xfrm>
            <a:off x="7589520" y="287462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58" name="Rectangle 57">
            <a:extLst>
              <a:ext uri="{FF2B5EF4-FFF2-40B4-BE49-F238E27FC236}">
                <a16:creationId xmlns:a16="http://schemas.microsoft.com/office/drawing/2014/main" id="{30FBA4E5-0FE7-4017-8028-66D55A5606CF}"/>
              </a:ext>
            </a:extLst>
          </p:cNvPr>
          <p:cNvSpPr>
            <a:spLocks noGrp="1"/>
          </p:cNvSpPr>
          <p:nvPr/>
        </p:nvSpPr>
        <p:spPr>
          <a:xfrm>
            <a:off x="9528048" y="2788920"/>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D279E0D5-1036-42CC-BF1F-69A9CE730BFB}"/>
              </a:ext>
            </a:extLst>
          </p:cNvPr>
          <p:cNvSpPr>
            <a:spLocks noGrp="1"/>
          </p:cNvSpPr>
          <p:nvPr/>
        </p:nvSpPr>
        <p:spPr>
          <a:xfrm>
            <a:off x="9582912" y="287462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0" name="Rectangle 59">
            <a:extLst>
              <a:ext uri="{FF2B5EF4-FFF2-40B4-BE49-F238E27FC236}">
                <a16:creationId xmlns:a16="http://schemas.microsoft.com/office/drawing/2014/main" id="{19AD8C2D-7991-495E-95A3-32C2C0A52A21}"/>
              </a:ext>
            </a:extLst>
          </p:cNvPr>
          <p:cNvSpPr>
            <a:spLocks noGrp="1"/>
          </p:cNvSpPr>
          <p:nvPr/>
        </p:nvSpPr>
        <p:spPr>
          <a:xfrm>
            <a:off x="539496" y="3182112"/>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75509312-0444-4E4A-ADAE-680E466DBB89}"/>
              </a:ext>
            </a:extLst>
          </p:cNvPr>
          <p:cNvSpPr>
            <a:spLocks noGrp="1"/>
          </p:cNvSpPr>
          <p:nvPr/>
        </p:nvSpPr>
        <p:spPr>
          <a:xfrm>
            <a:off x="594359" y="326781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62" name="Rectangle 61">
            <a:extLst>
              <a:ext uri="{FF2B5EF4-FFF2-40B4-BE49-F238E27FC236}">
                <a16:creationId xmlns:a16="http://schemas.microsoft.com/office/drawing/2014/main" id="{7C3B803B-3CCD-4A08-8B2F-237DFE5E2685}"/>
              </a:ext>
            </a:extLst>
          </p:cNvPr>
          <p:cNvSpPr>
            <a:spLocks noGrp="1"/>
          </p:cNvSpPr>
          <p:nvPr/>
        </p:nvSpPr>
        <p:spPr>
          <a:xfrm>
            <a:off x="1636776" y="3182112"/>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6794C97F-CF5D-4773-9D68-D26379DFF207}"/>
              </a:ext>
            </a:extLst>
          </p:cNvPr>
          <p:cNvSpPr>
            <a:spLocks noGrp="1"/>
          </p:cNvSpPr>
          <p:nvPr/>
        </p:nvSpPr>
        <p:spPr>
          <a:xfrm>
            <a:off x="1691640" y="326781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4" name="Rectangle 63">
            <a:extLst>
              <a:ext uri="{FF2B5EF4-FFF2-40B4-BE49-F238E27FC236}">
                <a16:creationId xmlns:a16="http://schemas.microsoft.com/office/drawing/2014/main" id="{81916FA4-3DAF-4412-A2EA-98391C09369A}"/>
              </a:ext>
            </a:extLst>
          </p:cNvPr>
          <p:cNvSpPr>
            <a:spLocks noGrp="1"/>
          </p:cNvSpPr>
          <p:nvPr/>
        </p:nvSpPr>
        <p:spPr>
          <a:xfrm>
            <a:off x="2962656" y="3182112"/>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5" name="TextBox 64">
            <a:extLst>
              <a:ext uri="{FF2B5EF4-FFF2-40B4-BE49-F238E27FC236}">
                <a16:creationId xmlns:a16="http://schemas.microsoft.com/office/drawing/2014/main" id="{A6C0AAAC-00B3-4483-B047-8C33BCFC7229}"/>
              </a:ext>
            </a:extLst>
          </p:cNvPr>
          <p:cNvSpPr>
            <a:spLocks noGrp="1"/>
          </p:cNvSpPr>
          <p:nvPr/>
        </p:nvSpPr>
        <p:spPr>
          <a:xfrm>
            <a:off x="3017520" y="326781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66" name="Rectangle 65">
            <a:extLst>
              <a:ext uri="{FF2B5EF4-FFF2-40B4-BE49-F238E27FC236}">
                <a16:creationId xmlns:a16="http://schemas.microsoft.com/office/drawing/2014/main" id="{BD6853DB-C69A-4BA6-BB39-3C25991D1671}"/>
              </a:ext>
            </a:extLst>
          </p:cNvPr>
          <p:cNvSpPr>
            <a:spLocks noGrp="1"/>
          </p:cNvSpPr>
          <p:nvPr/>
        </p:nvSpPr>
        <p:spPr>
          <a:xfrm>
            <a:off x="4745736" y="3182112"/>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7" name="TextBox 66">
            <a:extLst>
              <a:ext uri="{FF2B5EF4-FFF2-40B4-BE49-F238E27FC236}">
                <a16:creationId xmlns:a16="http://schemas.microsoft.com/office/drawing/2014/main" id="{2E7C74BE-33C0-41AC-B551-E87F41A09C38}"/>
              </a:ext>
            </a:extLst>
          </p:cNvPr>
          <p:cNvSpPr>
            <a:spLocks noGrp="1"/>
          </p:cNvSpPr>
          <p:nvPr/>
        </p:nvSpPr>
        <p:spPr>
          <a:xfrm>
            <a:off x="4800600" y="326781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68" name="Rectangle 67">
            <a:extLst>
              <a:ext uri="{FF2B5EF4-FFF2-40B4-BE49-F238E27FC236}">
                <a16:creationId xmlns:a16="http://schemas.microsoft.com/office/drawing/2014/main" id="{9895C023-0529-4A69-8EDC-D93C9F7A1B6B}"/>
              </a:ext>
            </a:extLst>
          </p:cNvPr>
          <p:cNvSpPr>
            <a:spLocks noGrp="1"/>
          </p:cNvSpPr>
          <p:nvPr/>
        </p:nvSpPr>
        <p:spPr>
          <a:xfrm>
            <a:off x="6483096" y="3182112"/>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9" name="TextBox 68">
            <a:extLst>
              <a:ext uri="{FF2B5EF4-FFF2-40B4-BE49-F238E27FC236}">
                <a16:creationId xmlns:a16="http://schemas.microsoft.com/office/drawing/2014/main" id="{886E7A43-3C3C-4673-8AEB-D18EB8052010}"/>
              </a:ext>
            </a:extLst>
          </p:cNvPr>
          <p:cNvSpPr>
            <a:spLocks noGrp="1"/>
          </p:cNvSpPr>
          <p:nvPr/>
        </p:nvSpPr>
        <p:spPr>
          <a:xfrm>
            <a:off x="6537959" y="326781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70" name="Rectangle 69">
            <a:extLst>
              <a:ext uri="{FF2B5EF4-FFF2-40B4-BE49-F238E27FC236}">
                <a16:creationId xmlns:a16="http://schemas.microsoft.com/office/drawing/2014/main" id="{0840AB6E-9D27-462C-BA2F-C8EEE14925D4}"/>
              </a:ext>
            </a:extLst>
          </p:cNvPr>
          <p:cNvSpPr>
            <a:spLocks noGrp="1"/>
          </p:cNvSpPr>
          <p:nvPr/>
        </p:nvSpPr>
        <p:spPr>
          <a:xfrm>
            <a:off x="7534656" y="3182112"/>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1" name="TextBox 70">
            <a:extLst>
              <a:ext uri="{FF2B5EF4-FFF2-40B4-BE49-F238E27FC236}">
                <a16:creationId xmlns:a16="http://schemas.microsoft.com/office/drawing/2014/main" id="{128453EB-7BA7-4568-958C-92330FA22676}"/>
              </a:ext>
            </a:extLst>
          </p:cNvPr>
          <p:cNvSpPr>
            <a:spLocks noGrp="1"/>
          </p:cNvSpPr>
          <p:nvPr/>
        </p:nvSpPr>
        <p:spPr>
          <a:xfrm>
            <a:off x="7589520" y="326781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72" name="Rectangle 71">
            <a:extLst>
              <a:ext uri="{FF2B5EF4-FFF2-40B4-BE49-F238E27FC236}">
                <a16:creationId xmlns:a16="http://schemas.microsoft.com/office/drawing/2014/main" id="{281708DF-076A-497F-89C4-58AD44B2AADE}"/>
              </a:ext>
            </a:extLst>
          </p:cNvPr>
          <p:cNvSpPr>
            <a:spLocks noGrp="1"/>
          </p:cNvSpPr>
          <p:nvPr/>
        </p:nvSpPr>
        <p:spPr>
          <a:xfrm>
            <a:off x="9528048" y="3182112"/>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3" name="TextBox 72">
            <a:extLst>
              <a:ext uri="{FF2B5EF4-FFF2-40B4-BE49-F238E27FC236}">
                <a16:creationId xmlns:a16="http://schemas.microsoft.com/office/drawing/2014/main" id="{0FE44145-AA80-4A8A-B986-3177B8935C73}"/>
              </a:ext>
            </a:extLst>
          </p:cNvPr>
          <p:cNvSpPr>
            <a:spLocks noGrp="1"/>
          </p:cNvSpPr>
          <p:nvPr/>
        </p:nvSpPr>
        <p:spPr>
          <a:xfrm>
            <a:off x="9582912" y="326781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74" name="Rectangle 73">
            <a:extLst>
              <a:ext uri="{FF2B5EF4-FFF2-40B4-BE49-F238E27FC236}">
                <a16:creationId xmlns:a16="http://schemas.microsoft.com/office/drawing/2014/main" id="{418FC3C3-518C-4751-B409-1CC1D7F1C700}"/>
              </a:ext>
            </a:extLst>
          </p:cNvPr>
          <p:cNvSpPr>
            <a:spLocks noGrp="1"/>
          </p:cNvSpPr>
          <p:nvPr/>
        </p:nvSpPr>
        <p:spPr>
          <a:xfrm>
            <a:off x="539496" y="3575304"/>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5" name="TextBox 74">
            <a:extLst>
              <a:ext uri="{FF2B5EF4-FFF2-40B4-BE49-F238E27FC236}">
                <a16:creationId xmlns:a16="http://schemas.microsoft.com/office/drawing/2014/main" id="{C2CBFC71-271C-4E43-8FCA-F47D24DE7E97}"/>
              </a:ext>
            </a:extLst>
          </p:cNvPr>
          <p:cNvSpPr>
            <a:spLocks noGrp="1"/>
          </p:cNvSpPr>
          <p:nvPr/>
        </p:nvSpPr>
        <p:spPr>
          <a:xfrm>
            <a:off x="594359" y="366101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76" name="Rectangle 75">
            <a:extLst>
              <a:ext uri="{FF2B5EF4-FFF2-40B4-BE49-F238E27FC236}">
                <a16:creationId xmlns:a16="http://schemas.microsoft.com/office/drawing/2014/main" id="{927D5DDB-A136-4884-B3CA-4640E9EF73EE}"/>
              </a:ext>
            </a:extLst>
          </p:cNvPr>
          <p:cNvSpPr>
            <a:spLocks noGrp="1"/>
          </p:cNvSpPr>
          <p:nvPr/>
        </p:nvSpPr>
        <p:spPr>
          <a:xfrm>
            <a:off x="1636776" y="3575304"/>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7" name="TextBox 76">
            <a:extLst>
              <a:ext uri="{FF2B5EF4-FFF2-40B4-BE49-F238E27FC236}">
                <a16:creationId xmlns:a16="http://schemas.microsoft.com/office/drawing/2014/main" id="{5B9A1903-BB45-48E9-B6AC-78FE87D8AF2D}"/>
              </a:ext>
            </a:extLst>
          </p:cNvPr>
          <p:cNvSpPr>
            <a:spLocks noGrp="1"/>
          </p:cNvSpPr>
          <p:nvPr/>
        </p:nvSpPr>
        <p:spPr>
          <a:xfrm>
            <a:off x="1691640" y="366101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78" name="Rectangle 77">
            <a:extLst>
              <a:ext uri="{FF2B5EF4-FFF2-40B4-BE49-F238E27FC236}">
                <a16:creationId xmlns:a16="http://schemas.microsoft.com/office/drawing/2014/main" id="{F96CDBAE-AEEA-4D19-A6E4-FB8FF514DC91}"/>
              </a:ext>
            </a:extLst>
          </p:cNvPr>
          <p:cNvSpPr>
            <a:spLocks noGrp="1"/>
          </p:cNvSpPr>
          <p:nvPr/>
        </p:nvSpPr>
        <p:spPr>
          <a:xfrm>
            <a:off x="2962656" y="3575304"/>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9" name="TextBox 78">
            <a:extLst>
              <a:ext uri="{FF2B5EF4-FFF2-40B4-BE49-F238E27FC236}">
                <a16:creationId xmlns:a16="http://schemas.microsoft.com/office/drawing/2014/main" id="{0992729A-2836-4F48-A890-687566185401}"/>
              </a:ext>
            </a:extLst>
          </p:cNvPr>
          <p:cNvSpPr>
            <a:spLocks noGrp="1"/>
          </p:cNvSpPr>
          <p:nvPr/>
        </p:nvSpPr>
        <p:spPr>
          <a:xfrm>
            <a:off x="3017520" y="366101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80" name="Rectangle 79">
            <a:extLst>
              <a:ext uri="{FF2B5EF4-FFF2-40B4-BE49-F238E27FC236}">
                <a16:creationId xmlns:a16="http://schemas.microsoft.com/office/drawing/2014/main" id="{518F1605-E39A-456C-AEEF-587D4FA8D0EA}"/>
              </a:ext>
            </a:extLst>
          </p:cNvPr>
          <p:cNvSpPr>
            <a:spLocks noGrp="1"/>
          </p:cNvSpPr>
          <p:nvPr/>
        </p:nvSpPr>
        <p:spPr>
          <a:xfrm>
            <a:off x="4745736" y="3575304"/>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1" name="TextBox 80">
            <a:extLst>
              <a:ext uri="{FF2B5EF4-FFF2-40B4-BE49-F238E27FC236}">
                <a16:creationId xmlns:a16="http://schemas.microsoft.com/office/drawing/2014/main" id="{B9B2F867-5920-4E3A-8064-A36E6AAB6D8D}"/>
              </a:ext>
            </a:extLst>
          </p:cNvPr>
          <p:cNvSpPr>
            <a:spLocks noGrp="1"/>
          </p:cNvSpPr>
          <p:nvPr/>
        </p:nvSpPr>
        <p:spPr>
          <a:xfrm>
            <a:off x="4800600" y="366101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2" name="Rectangle 81">
            <a:extLst>
              <a:ext uri="{FF2B5EF4-FFF2-40B4-BE49-F238E27FC236}">
                <a16:creationId xmlns:a16="http://schemas.microsoft.com/office/drawing/2014/main" id="{87835A37-E4AC-4373-83F4-1CC28D30C43F}"/>
              </a:ext>
            </a:extLst>
          </p:cNvPr>
          <p:cNvSpPr>
            <a:spLocks noGrp="1"/>
          </p:cNvSpPr>
          <p:nvPr/>
        </p:nvSpPr>
        <p:spPr>
          <a:xfrm>
            <a:off x="6483096" y="3575304"/>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3" name="TextBox 82">
            <a:extLst>
              <a:ext uri="{FF2B5EF4-FFF2-40B4-BE49-F238E27FC236}">
                <a16:creationId xmlns:a16="http://schemas.microsoft.com/office/drawing/2014/main" id="{078B3459-8EE8-4416-AE6D-C5493D006692}"/>
              </a:ext>
            </a:extLst>
          </p:cNvPr>
          <p:cNvSpPr>
            <a:spLocks noGrp="1"/>
          </p:cNvSpPr>
          <p:nvPr/>
        </p:nvSpPr>
        <p:spPr>
          <a:xfrm>
            <a:off x="6537959" y="366101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4" name="Rectangle 83">
            <a:extLst>
              <a:ext uri="{FF2B5EF4-FFF2-40B4-BE49-F238E27FC236}">
                <a16:creationId xmlns:a16="http://schemas.microsoft.com/office/drawing/2014/main" id="{31067DB4-7FEA-4BB7-A056-C54C265C5F72}"/>
              </a:ext>
            </a:extLst>
          </p:cNvPr>
          <p:cNvSpPr>
            <a:spLocks noGrp="1"/>
          </p:cNvSpPr>
          <p:nvPr/>
        </p:nvSpPr>
        <p:spPr>
          <a:xfrm>
            <a:off x="7534656" y="3575304"/>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5" name="TextBox 84">
            <a:extLst>
              <a:ext uri="{FF2B5EF4-FFF2-40B4-BE49-F238E27FC236}">
                <a16:creationId xmlns:a16="http://schemas.microsoft.com/office/drawing/2014/main" id="{0923E753-F0A2-426C-9A1E-1BB6CA4CBBE7}"/>
              </a:ext>
            </a:extLst>
          </p:cNvPr>
          <p:cNvSpPr>
            <a:spLocks noGrp="1"/>
          </p:cNvSpPr>
          <p:nvPr/>
        </p:nvSpPr>
        <p:spPr>
          <a:xfrm>
            <a:off x="7589520" y="366101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86" name="Rectangle 85">
            <a:extLst>
              <a:ext uri="{FF2B5EF4-FFF2-40B4-BE49-F238E27FC236}">
                <a16:creationId xmlns:a16="http://schemas.microsoft.com/office/drawing/2014/main" id="{073C3899-D771-4070-89B7-3B11B08D223C}"/>
              </a:ext>
            </a:extLst>
          </p:cNvPr>
          <p:cNvSpPr>
            <a:spLocks noGrp="1"/>
          </p:cNvSpPr>
          <p:nvPr/>
        </p:nvSpPr>
        <p:spPr>
          <a:xfrm>
            <a:off x="9528048" y="3575304"/>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7" name="TextBox 86">
            <a:extLst>
              <a:ext uri="{FF2B5EF4-FFF2-40B4-BE49-F238E27FC236}">
                <a16:creationId xmlns:a16="http://schemas.microsoft.com/office/drawing/2014/main" id="{072364D5-419A-4128-8EF8-4B2DD89475B8}"/>
              </a:ext>
            </a:extLst>
          </p:cNvPr>
          <p:cNvSpPr>
            <a:spLocks noGrp="1"/>
          </p:cNvSpPr>
          <p:nvPr/>
        </p:nvSpPr>
        <p:spPr>
          <a:xfrm>
            <a:off x="9582912" y="366101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88" name="Rectangle 87">
            <a:extLst>
              <a:ext uri="{FF2B5EF4-FFF2-40B4-BE49-F238E27FC236}">
                <a16:creationId xmlns:a16="http://schemas.microsoft.com/office/drawing/2014/main" id="{952C059B-41D4-4E68-849E-705C14FA845F}"/>
              </a:ext>
            </a:extLst>
          </p:cNvPr>
          <p:cNvSpPr>
            <a:spLocks noGrp="1"/>
          </p:cNvSpPr>
          <p:nvPr/>
        </p:nvSpPr>
        <p:spPr>
          <a:xfrm>
            <a:off x="539496" y="3968496"/>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9" name="TextBox 88">
            <a:extLst>
              <a:ext uri="{FF2B5EF4-FFF2-40B4-BE49-F238E27FC236}">
                <a16:creationId xmlns:a16="http://schemas.microsoft.com/office/drawing/2014/main" id="{2F217F5C-7F8A-489E-BAC2-59937561C65B}"/>
              </a:ext>
            </a:extLst>
          </p:cNvPr>
          <p:cNvSpPr>
            <a:spLocks noGrp="1"/>
          </p:cNvSpPr>
          <p:nvPr/>
        </p:nvSpPr>
        <p:spPr>
          <a:xfrm>
            <a:off x="594359" y="405420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90" name="Rectangle 89">
            <a:extLst>
              <a:ext uri="{FF2B5EF4-FFF2-40B4-BE49-F238E27FC236}">
                <a16:creationId xmlns:a16="http://schemas.microsoft.com/office/drawing/2014/main" id="{F902DB61-06CF-4EE7-BC09-D9269A46952B}"/>
              </a:ext>
            </a:extLst>
          </p:cNvPr>
          <p:cNvSpPr>
            <a:spLocks noGrp="1"/>
          </p:cNvSpPr>
          <p:nvPr/>
        </p:nvSpPr>
        <p:spPr>
          <a:xfrm>
            <a:off x="1636776" y="3968496"/>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1" name="TextBox 90">
            <a:extLst>
              <a:ext uri="{FF2B5EF4-FFF2-40B4-BE49-F238E27FC236}">
                <a16:creationId xmlns:a16="http://schemas.microsoft.com/office/drawing/2014/main" id="{F677374C-7057-47F5-A7C0-23AEF067428B}"/>
              </a:ext>
            </a:extLst>
          </p:cNvPr>
          <p:cNvSpPr>
            <a:spLocks noGrp="1"/>
          </p:cNvSpPr>
          <p:nvPr/>
        </p:nvSpPr>
        <p:spPr>
          <a:xfrm>
            <a:off x="1691640" y="405420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92" name="Rectangle 91">
            <a:extLst>
              <a:ext uri="{FF2B5EF4-FFF2-40B4-BE49-F238E27FC236}">
                <a16:creationId xmlns:a16="http://schemas.microsoft.com/office/drawing/2014/main" id="{72E285BF-91B4-4980-9B93-CDDDB006037B}"/>
              </a:ext>
            </a:extLst>
          </p:cNvPr>
          <p:cNvSpPr>
            <a:spLocks noGrp="1"/>
          </p:cNvSpPr>
          <p:nvPr/>
        </p:nvSpPr>
        <p:spPr>
          <a:xfrm>
            <a:off x="2962656" y="3968496"/>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3" name="TextBox 92">
            <a:extLst>
              <a:ext uri="{FF2B5EF4-FFF2-40B4-BE49-F238E27FC236}">
                <a16:creationId xmlns:a16="http://schemas.microsoft.com/office/drawing/2014/main" id="{66D588D2-C58A-4F74-BD35-D1DDB259CEF6}"/>
              </a:ext>
            </a:extLst>
          </p:cNvPr>
          <p:cNvSpPr>
            <a:spLocks noGrp="1"/>
          </p:cNvSpPr>
          <p:nvPr/>
        </p:nvSpPr>
        <p:spPr>
          <a:xfrm>
            <a:off x="3017520" y="405420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94" name="Rectangle 93">
            <a:extLst>
              <a:ext uri="{FF2B5EF4-FFF2-40B4-BE49-F238E27FC236}">
                <a16:creationId xmlns:a16="http://schemas.microsoft.com/office/drawing/2014/main" id="{99B3C97B-7E09-4985-8907-DE9DE715BC51}"/>
              </a:ext>
            </a:extLst>
          </p:cNvPr>
          <p:cNvSpPr>
            <a:spLocks noGrp="1"/>
          </p:cNvSpPr>
          <p:nvPr/>
        </p:nvSpPr>
        <p:spPr>
          <a:xfrm>
            <a:off x="4745736" y="3968496"/>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5" name="TextBox 94">
            <a:extLst>
              <a:ext uri="{FF2B5EF4-FFF2-40B4-BE49-F238E27FC236}">
                <a16:creationId xmlns:a16="http://schemas.microsoft.com/office/drawing/2014/main" id="{B5F10E3A-AD32-4F42-9371-252446A87B7B}"/>
              </a:ext>
            </a:extLst>
          </p:cNvPr>
          <p:cNvSpPr>
            <a:spLocks noGrp="1"/>
          </p:cNvSpPr>
          <p:nvPr/>
        </p:nvSpPr>
        <p:spPr>
          <a:xfrm>
            <a:off x="4800600" y="405420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6" name="Rectangle 95">
            <a:extLst>
              <a:ext uri="{FF2B5EF4-FFF2-40B4-BE49-F238E27FC236}">
                <a16:creationId xmlns:a16="http://schemas.microsoft.com/office/drawing/2014/main" id="{5A4E2C11-9412-456B-8F0D-C24D28401180}"/>
              </a:ext>
            </a:extLst>
          </p:cNvPr>
          <p:cNvSpPr>
            <a:spLocks noGrp="1"/>
          </p:cNvSpPr>
          <p:nvPr/>
        </p:nvSpPr>
        <p:spPr>
          <a:xfrm>
            <a:off x="6483096" y="3968496"/>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7" name="TextBox 96">
            <a:extLst>
              <a:ext uri="{FF2B5EF4-FFF2-40B4-BE49-F238E27FC236}">
                <a16:creationId xmlns:a16="http://schemas.microsoft.com/office/drawing/2014/main" id="{F54AB65E-5CD1-4E15-A933-97BDBCEC43AE}"/>
              </a:ext>
            </a:extLst>
          </p:cNvPr>
          <p:cNvSpPr>
            <a:spLocks noGrp="1"/>
          </p:cNvSpPr>
          <p:nvPr/>
        </p:nvSpPr>
        <p:spPr>
          <a:xfrm>
            <a:off x="6537959" y="405420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8" name="Rectangle 97">
            <a:extLst>
              <a:ext uri="{FF2B5EF4-FFF2-40B4-BE49-F238E27FC236}">
                <a16:creationId xmlns:a16="http://schemas.microsoft.com/office/drawing/2014/main" id="{6EB4FE67-939C-492F-815B-F0A5F47FA91A}"/>
              </a:ext>
            </a:extLst>
          </p:cNvPr>
          <p:cNvSpPr>
            <a:spLocks noGrp="1"/>
          </p:cNvSpPr>
          <p:nvPr/>
        </p:nvSpPr>
        <p:spPr>
          <a:xfrm>
            <a:off x="7534656" y="3968496"/>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9" name="TextBox 98">
            <a:extLst>
              <a:ext uri="{FF2B5EF4-FFF2-40B4-BE49-F238E27FC236}">
                <a16:creationId xmlns:a16="http://schemas.microsoft.com/office/drawing/2014/main" id="{E97C47D1-A072-4592-A0F2-C567D2393D06}"/>
              </a:ext>
            </a:extLst>
          </p:cNvPr>
          <p:cNvSpPr>
            <a:spLocks noGrp="1"/>
          </p:cNvSpPr>
          <p:nvPr/>
        </p:nvSpPr>
        <p:spPr>
          <a:xfrm>
            <a:off x="7589520" y="405420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00" name="Rectangle 99">
            <a:extLst>
              <a:ext uri="{FF2B5EF4-FFF2-40B4-BE49-F238E27FC236}">
                <a16:creationId xmlns:a16="http://schemas.microsoft.com/office/drawing/2014/main" id="{0B6543D6-C062-4FA6-8820-EE39A76EB408}"/>
              </a:ext>
            </a:extLst>
          </p:cNvPr>
          <p:cNvSpPr>
            <a:spLocks noGrp="1"/>
          </p:cNvSpPr>
          <p:nvPr/>
        </p:nvSpPr>
        <p:spPr>
          <a:xfrm>
            <a:off x="9528048" y="3968496"/>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1" name="TextBox 100">
            <a:extLst>
              <a:ext uri="{FF2B5EF4-FFF2-40B4-BE49-F238E27FC236}">
                <a16:creationId xmlns:a16="http://schemas.microsoft.com/office/drawing/2014/main" id="{0B1575F2-085E-4EFB-ADFC-01542D964EDB}"/>
              </a:ext>
            </a:extLst>
          </p:cNvPr>
          <p:cNvSpPr>
            <a:spLocks noGrp="1"/>
          </p:cNvSpPr>
          <p:nvPr/>
        </p:nvSpPr>
        <p:spPr>
          <a:xfrm>
            <a:off x="9582912" y="405420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02" name="Rectangle 101">
            <a:extLst>
              <a:ext uri="{FF2B5EF4-FFF2-40B4-BE49-F238E27FC236}">
                <a16:creationId xmlns:a16="http://schemas.microsoft.com/office/drawing/2014/main" id="{5B91EB37-DDC0-4F18-9471-0C4ACAEB45C3}"/>
              </a:ext>
            </a:extLst>
          </p:cNvPr>
          <p:cNvSpPr>
            <a:spLocks noGrp="1"/>
          </p:cNvSpPr>
          <p:nvPr/>
        </p:nvSpPr>
        <p:spPr>
          <a:xfrm>
            <a:off x="539496" y="4361688"/>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3" name="TextBox 102">
            <a:extLst>
              <a:ext uri="{FF2B5EF4-FFF2-40B4-BE49-F238E27FC236}">
                <a16:creationId xmlns:a16="http://schemas.microsoft.com/office/drawing/2014/main" id="{BA34D914-D38E-47B4-885F-85F8E45BF6A4}"/>
              </a:ext>
            </a:extLst>
          </p:cNvPr>
          <p:cNvSpPr>
            <a:spLocks noGrp="1"/>
          </p:cNvSpPr>
          <p:nvPr/>
        </p:nvSpPr>
        <p:spPr>
          <a:xfrm>
            <a:off x="594359" y="4447394"/>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04" name="Rectangle 103">
            <a:extLst>
              <a:ext uri="{FF2B5EF4-FFF2-40B4-BE49-F238E27FC236}">
                <a16:creationId xmlns:a16="http://schemas.microsoft.com/office/drawing/2014/main" id="{B33A4BFC-7D42-4F7B-904F-40C0AAEDF159}"/>
              </a:ext>
            </a:extLst>
          </p:cNvPr>
          <p:cNvSpPr>
            <a:spLocks noGrp="1"/>
          </p:cNvSpPr>
          <p:nvPr/>
        </p:nvSpPr>
        <p:spPr>
          <a:xfrm>
            <a:off x="1636776" y="4361688"/>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5" name="TextBox 104">
            <a:extLst>
              <a:ext uri="{FF2B5EF4-FFF2-40B4-BE49-F238E27FC236}">
                <a16:creationId xmlns:a16="http://schemas.microsoft.com/office/drawing/2014/main" id="{1E2107B1-2656-4377-9715-7955E47336A4}"/>
              </a:ext>
            </a:extLst>
          </p:cNvPr>
          <p:cNvSpPr>
            <a:spLocks noGrp="1"/>
          </p:cNvSpPr>
          <p:nvPr/>
        </p:nvSpPr>
        <p:spPr>
          <a:xfrm>
            <a:off x="1691640" y="4447394"/>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06" name="Rectangle 105">
            <a:extLst>
              <a:ext uri="{FF2B5EF4-FFF2-40B4-BE49-F238E27FC236}">
                <a16:creationId xmlns:a16="http://schemas.microsoft.com/office/drawing/2014/main" id="{A978462F-5206-4D6B-8BFB-B87ED251E488}"/>
              </a:ext>
            </a:extLst>
          </p:cNvPr>
          <p:cNvSpPr>
            <a:spLocks noGrp="1"/>
          </p:cNvSpPr>
          <p:nvPr/>
        </p:nvSpPr>
        <p:spPr>
          <a:xfrm>
            <a:off x="2962656" y="4361688"/>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7" name="TextBox 106">
            <a:extLst>
              <a:ext uri="{FF2B5EF4-FFF2-40B4-BE49-F238E27FC236}">
                <a16:creationId xmlns:a16="http://schemas.microsoft.com/office/drawing/2014/main" id="{1038FDBB-2DD8-43BE-9859-785D12375E6B}"/>
              </a:ext>
            </a:extLst>
          </p:cNvPr>
          <p:cNvSpPr>
            <a:spLocks noGrp="1"/>
          </p:cNvSpPr>
          <p:nvPr/>
        </p:nvSpPr>
        <p:spPr>
          <a:xfrm>
            <a:off x="3017520" y="4447394"/>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08" name="Rectangle 107">
            <a:extLst>
              <a:ext uri="{FF2B5EF4-FFF2-40B4-BE49-F238E27FC236}">
                <a16:creationId xmlns:a16="http://schemas.microsoft.com/office/drawing/2014/main" id="{120005CA-D45D-4B3F-893B-312828447A58}"/>
              </a:ext>
            </a:extLst>
          </p:cNvPr>
          <p:cNvSpPr>
            <a:spLocks noGrp="1"/>
          </p:cNvSpPr>
          <p:nvPr/>
        </p:nvSpPr>
        <p:spPr>
          <a:xfrm>
            <a:off x="4745736" y="4361688"/>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9" name="TextBox 108">
            <a:extLst>
              <a:ext uri="{FF2B5EF4-FFF2-40B4-BE49-F238E27FC236}">
                <a16:creationId xmlns:a16="http://schemas.microsoft.com/office/drawing/2014/main" id="{8EFABEDA-52F4-4846-91ED-78BBB08D4C46}"/>
              </a:ext>
            </a:extLst>
          </p:cNvPr>
          <p:cNvSpPr>
            <a:spLocks noGrp="1"/>
          </p:cNvSpPr>
          <p:nvPr/>
        </p:nvSpPr>
        <p:spPr>
          <a:xfrm>
            <a:off x="4800600" y="4447394"/>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0" name="Rectangle 109">
            <a:extLst>
              <a:ext uri="{FF2B5EF4-FFF2-40B4-BE49-F238E27FC236}">
                <a16:creationId xmlns:a16="http://schemas.microsoft.com/office/drawing/2014/main" id="{D2E52D41-83E5-4637-A1DE-5792FADADBB2}"/>
              </a:ext>
            </a:extLst>
          </p:cNvPr>
          <p:cNvSpPr>
            <a:spLocks noGrp="1"/>
          </p:cNvSpPr>
          <p:nvPr/>
        </p:nvSpPr>
        <p:spPr>
          <a:xfrm>
            <a:off x="6483096" y="4361688"/>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1" name="TextBox 110">
            <a:extLst>
              <a:ext uri="{FF2B5EF4-FFF2-40B4-BE49-F238E27FC236}">
                <a16:creationId xmlns:a16="http://schemas.microsoft.com/office/drawing/2014/main" id="{CD8EC12A-BE30-4E72-8EB5-5E873129DCB2}"/>
              </a:ext>
            </a:extLst>
          </p:cNvPr>
          <p:cNvSpPr>
            <a:spLocks noGrp="1"/>
          </p:cNvSpPr>
          <p:nvPr/>
        </p:nvSpPr>
        <p:spPr>
          <a:xfrm>
            <a:off x="6537959" y="4447394"/>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2" name="Rectangle 111">
            <a:extLst>
              <a:ext uri="{FF2B5EF4-FFF2-40B4-BE49-F238E27FC236}">
                <a16:creationId xmlns:a16="http://schemas.microsoft.com/office/drawing/2014/main" id="{0237321B-E474-4A78-9CF2-25A019D594A0}"/>
              </a:ext>
            </a:extLst>
          </p:cNvPr>
          <p:cNvSpPr>
            <a:spLocks noGrp="1"/>
          </p:cNvSpPr>
          <p:nvPr/>
        </p:nvSpPr>
        <p:spPr>
          <a:xfrm>
            <a:off x="7534656" y="4361688"/>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3" name="TextBox 112">
            <a:extLst>
              <a:ext uri="{FF2B5EF4-FFF2-40B4-BE49-F238E27FC236}">
                <a16:creationId xmlns:a16="http://schemas.microsoft.com/office/drawing/2014/main" id="{EA8DEF18-F978-4B45-B61E-EAF62232D547}"/>
              </a:ext>
            </a:extLst>
          </p:cNvPr>
          <p:cNvSpPr>
            <a:spLocks noGrp="1"/>
          </p:cNvSpPr>
          <p:nvPr/>
        </p:nvSpPr>
        <p:spPr>
          <a:xfrm>
            <a:off x="7589520" y="4447394"/>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14" name="Rectangle 113">
            <a:extLst>
              <a:ext uri="{FF2B5EF4-FFF2-40B4-BE49-F238E27FC236}">
                <a16:creationId xmlns:a16="http://schemas.microsoft.com/office/drawing/2014/main" id="{B4ABD203-6884-47A5-85A7-2BD9B90CEAB5}"/>
              </a:ext>
            </a:extLst>
          </p:cNvPr>
          <p:cNvSpPr>
            <a:spLocks noGrp="1"/>
          </p:cNvSpPr>
          <p:nvPr/>
        </p:nvSpPr>
        <p:spPr>
          <a:xfrm>
            <a:off x="9528048" y="4361688"/>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5" name="TextBox 114">
            <a:extLst>
              <a:ext uri="{FF2B5EF4-FFF2-40B4-BE49-F238E27FC236}">
                <a16:creationId xmlns:a16="http://schemas.microsoft.com/office/drawing/2014/main" id="{70D19842-5723-41CB-8566-83B56CBBADA8}"/>
              </a:ext>
            </a:extLst>
          </p:cNvPr>
          <p:cNvSpPr>
            <a:spLocks noGrp="1"/>
          </p:cNvSpPr>
          <p:nvPr/>
        </p:nvSpPr>
        <p:spPr>
          <a:xfrm>
            <a:off x="9582912" y="4447394"/>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16" name="Rectangle 115">
            <a:extLst>
              <a:ext uri="{FF2B5EF4-FFF2-40B4-BE49-F238E27FC236}">
                <a16:creationId xmlns:a16="http://schemas.microsoft.com/office/drawing/2014/main" id="{FB99DBB0-5235-463C-BE67-BDBD62E844FB}"/>
              </a:ext>
            </a:extLst>
          </p:cNvPr>
          <p:cNvSpPr>
            <a:spLocks noGrp="1"/>
          </p:cNvSpPr>
          <p:nvPr/>
        </p:nvSpPr>
        <p:spPr>
          <a:xfrm>
            <a:off x="539496" y="4754879"/>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7" name="TextBox 116">
            <a:extLst>
              <a:ext uri="{FF2B5EF4-FFF2-40B4-BE49-F238E27FC236}">
                <a16:creationId xmlns:a16="http://schemas.microsoft.com/office/drawing/2014/main" id="{A67ADCE6-DA5E-4E9A-A618-3CC89AEA3694}"/>
              </a:ext>
            </a:extLst>
          </p:cNvPr>
          <p:cNvSpPr>
            <a:spLocks noGrp="1"/>
          </p:cNvSpPr>
          <p:nvPr/>
        </p:nvSpPr>
        <p:spPr>
          <a:xfrm>
            <a:off x="594359" y="484058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18" name="Rectangle 117">
            <a:extLst>
              <a:ext uri="{FF2B5EF4-FFF2-40B4-BE49-F238E27FC236}">
                <a16:creationId xmlns:a16="http://schemas.microsoft.com/office/drawing/2014/main" id="{174A0344-C9A4-4E03-A2F3-D42434999D8E}"/>
              </a:ext>
            </a:extLst>
          </p:cNvPr>
          <p:cNvSpPr>
            <a:spLocks noGrp="1"/>
          </p:cNvSpPr>
          <p:nvPr/>
        </p:nvSpPr>
        <p:spPr>
          <a:xfrm>
            <a:off x="1636776" y="4754879"/>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9" name="TextBox 118">
            <a:extLst>
              <a:ext uri="{FF2B5EF4-FFF2-40B4-BE49-F238E27FC236}">
                <a16:creationId xmlns:a16="http://schemas.microsoft.com/office/drawing/2014/main" id="{AE161817-B22E-4EE0-833B-7A9225A559C7}"/>
              </a:ext>
            </a:extLst>
          </p:cNvPr>
          <p:cNvSpPr>
            <a:spLocks noGrp="1"/>
          </p:cNvSpPr>
          <p:nvPr/>
        </p:nvSpPr>
        <p:spPr>
          <a:xfrm>
            <a:off x="1691640" y="484058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120" name="Rectangle 119">
            <a:extLst>
              <a:ext uri="{FF2B5EF4-FFF2-40B4-BE49-F238E27FC236}">
                <a16:creationId xmlns:a16="http://schemas.microsoft.com/office/drawing/2014/main" id="{D6F0C7F6-D6EC-4371-AF96-7596965B6978}"/>
              </a:ext>
            </a:extLst>
          </p:cNvPr>
          <p:cNvSpPr>
            <a:spLocks noGrp="1"/>
          </p:cNvSpPr>
          <p:nvPr/>
        </p:nvSpPr>
        <p:spPr>
          <a:xfrm>
            <a:off x="2962656" y="4754879"/>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1" name="TextBox 120">
            <a:extLst>
              <a:ext uri="{FF2B5EF4-FFF2-40B4-BE49-F238E27FC236}">
                <a16:creationId xmlns:a16="http://schemas.microsoft.com/office/drawing/2014/main" id="{2927A733-40C4-4128-B692-8421E94E39A5}"/>
              </a:ext>
            </a:extLst>
          </p:cNvPr>
          <p:cNvSpPr>
            <a:spLocks noGrp="1"/>
          </p:cNvSpPr>
          <p:nvPr/>
        </p:nvSpPr>
        <p:spPr>
          <a:xfrm>
            <a:off x="3017520" y="484058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22" name="Rectangle 121">
            <a:extLst>
              <a:ext uri="{FF2B5EF4-FFF2-40B4-BE49-F238E27FC236}">
                <a16:creationId xmlns:a16="http://schemas.microsoft.com/office/drawing/2014/main" id="{5FA7BB60-3D2C-470E-AA97-75247ECFCB67}"/>
              </a:ext>
            </a:extLst>
          </p:cNvPr>
          <p:cNvSpPr>
            <a:spLocks noGrp="1"/>
          </p:cNvSpPr>
          <p:nvPr/>
        </p:nvSpPr>
        <p:spPr>
          <a:xfrm>
            <a:off x="4745736" y="4754879"/>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3" name="TextBox 122">
            <a:extLst>
              <a:ext uri="{FF2B5EF4-FFF2-40B4-BE49-F238E27FC236}">
                <a16:creationId xmlns:a16="http://schemas.microsoft.com/office/drawing/2014/main" id="{1C40FB65-9679-4BB1-A27E-6592B78EB6FA}"/>
              </a:ext>
            </a:extLst>
          </p:cNvPr>
          <p:cNvSpPr>
            <a:spLocks noGrp="1"/>
          </p:cNvSpPr>
          <p:nvPr/>
        </p:nvSpPr>
        <p:spPr>
          <a:xfrm>
            <a:off x="4800600" y="484058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4" name="Rectangle 123">
            <a:extLst>
              <a:ext uri="{FF2B5EF4-FFF2-40B4-BE49-F238E27FC236}">
                <a16:creationId xmlns:a16="http://schemas.microsoft.com/office/drawing/2014/main" id="{BD430CE1-BAF1-49D7-971F-05A2F578126C}"/>
              </a:ext>
            </a:extLst>
          </p:cNvPr>
          <p:cNvSpPr>
            <a:spLocks noGrp="1"/>
          </p:cNvSpPr>
          <p:nvPr/>
        </p:nvSpPr>
        <p:spPr>
          <a:xfrm>
            <a:off x="6483096" y="4754879"/>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5" name="TextBox 124">
            <a:extLst>
              <a:ext uri="{FF2B5EF4-FFF2-40B4-BE49-F238E27FC236}">
                <a16:creationId xmlns:a16="http://schemas.microsoft.com/office/drawing/2014/main" id="{270F0ADF-B1A3-4A2D-8749-D0C5118E07A5}"/>
              </a:ext>
            </a:extLst>
          </p:cNvPr>
          <p:cNvSpPr>
            <a:spLocks noGrp="1"/>
          </p:cNvSpPr>
          <p:nvPr/>
        </p:nvSpPr>
        <p:spPr>
          <a:xfrm>
            <a:off x="6537959" y="484058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6" name="Rectangle 125">
            <a:extLst>
              <a:ext uri="{FF2B5EF4-FFF2-40B4-BE49-F238E27FC236}">
                <a16:creationId xmlns:a16="http://schemas.microsoft.com/office/drawing/2014/main" id="{F236603D-2A6A-4472-8E5C-EDDED22CEB22}"/>
              </a:ext>
            </a:extLst>
          </p:cNvPr>
          <p:cNvSpPr>
            <a:spLocks noGrp="1"/>
          </p:cNvSpPr>
          <p:nvPr/>
        </p:nvSpPr>
        <p:spPr>
          <a:xfrm>
            <a:off x="7534656" y="4754879"/>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7" name="TextBox 126">
            <a:extLst>
              <a:ext uri="{FF2B5EF4-FFF2-40B4-BE49-F238E27FC236}">
                <a16:creationId xmlns:a16="http://schemas.microsoft.com/office/drawing/2014/main" id="{8113F2B4-22B9-4C78-8296-CCE11C97A6FA}"/>
              </a:ext>
            </a:extLst>
          </p:cNvPr>
          <p:cNvSpPr>
            <a:spLocks noGrp="1"/>
          </p:cNvSpPr>
          <p:nvPr/>
        </p:nvSpPr>
        <p:spPr>
          <a:xfrm>
            <a:off x="7589520" y="484058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28" name="Rectangle 127">
            <a:extLst>
              <a:ext uri="{FF2B5EF4-FFF2-40B4-BE49-F238E27FC236}">
                <a16:creationId xmlns:a16="http://schemas.microsoft.com/office/drawing/2014/main" id="{F27D690A-CE2F-4B05-AD17-A27266B55A39}"/>
              </a:ext>
            </a:extLst>
          </p:cNvPr>
          <p:cNvSpPr>
            <a:spLocks noGrp="1"/>
          </p:cNvSpPr>
          <p:nvPr/>
        </p:nvSpPr>
        <p:spPr>
          <a:xfrm>
            <a:off x="9528048" y="4754879"/>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9" name="TextBox 128">
            <a:extLst>
              <a:ext uri="{FF2B5EF4-FFF2-40B4-BE49-F238E27FC236}">
                <a16:creationId xmlns:a16="http://schemas.microsoft.com/office/drawing/2014/main" id="{C4A5D840-07D0-4EC1-8F7D-C9783A6325D3}"/>
              </a:ext>
            </a:extLst>
          </p:cNvPr>
          <p:cNvSpPr>
            <a:spLocks noGrp="1"/>
          </p:cNvSpPr>
          <p:nvPr/>
        </p:nvSpPr>
        <p:spPr>
          <a:xfrm>
            <a:off x="9582912" y="484058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0" name="Rectangle 129">
            <a:extLst>
              <a:ext uri="{FF2B5EF4-FFF2-40B4-BE49-F238E27FC236}">
                <a16:creationId xmlns:a16="http://schemas.microsoft.com/office/drawing/2014/main" id="{F3E8E601-9E78-4962-AC2C-302DE9F1B157}"/>
              </a:ext>
            </a:extLst>
          </p:cNvPr>
          <p:cNvSpPr>
            <a:spLocks noGrp="1"/>
          </p:cNvSpPr>
          <p:nvPr/>
        </p:nvSpPr>
        <p:spPr>
          <a:xfrm>
            <a:off x="539496" y="5148072"/>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1" name="TextBox 130">
            <a:extLst>
              <a:ext uri="{FF2B5EF4-FFF2-40B4-BE49-F238E27FC236}">
                <a16:creationId xmlns:a16="http://schemas.microsoft.com/office/drawing/2014/main" id="{91468D41-AF83-43FC-AACC-938B70E8C15A}"/>
              </a:ext>
            </a:extLst>
          </p:cNvPr>
          <p:cNvSpPr>
            <a:spLocks noGrp="1"/>
          </p:cNvSpPr>
          <p:nvPr/>
        </p:nvSpPr>
        <p:spPr>
          <a:xfrm>
            <a:off x="594359" y="52337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32" name="Rectangle 131">
            <a:extLst>
              <a:ext uri="{FF2B5EF4-FFF2-40B4-BE49-F238E27FC236}">
                <a16:creationId xmlns:a16="http://schemas.microsoft.com/office/drawing/2014/main" id="{EB7E49AF-BC3E-4284-82A6-F2435A48E3CF}"/>
              </a:ext>
            </a:extLst>
          </p:cNvPr>
          <p:cNvSpPr>
            <a:spLocks noGrp="1"/>
          </p:cNvSpPr>
          <p:nvPr/>
        </p:nvSpPr>
        <p:spPr>
          <a:xfrm>
            <a:off x="1636776" y="5148072"/>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3" name="TextBox 132">
            <a:extLst>
              <a:ext uri="{FF2B5EF4-FFF2-40B4-BE49-F238E27FC236}">
                <a16:creationId xmlns:a16="http://schemas.microsoft.com/office/drawing/2014/main" id="{6D55FECA-02B6-4531-841F-42C8B2995D62}"/>
              </a:ext>
            </a:extLst>
          </p:cNvPr>
          <p:cNvSpPr>
            <a:spLocks noGrp="1"/>
          </p:cNvSpPr>
          <p:nvPr/>
        </p:nvSpPr>
        <p:spPr>
          <a:xfrm>
            <a:off x="1691640" y="523377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134" name="Rectangle 133">
            <a:extLst>
              <a:ext uri="{FF2B5EF4-FFF2-40B4-BE49-F238E27FC236}">
                <a16:creationId xmlns:a16="http://schemas.microsoft.com/office/drawing/2014/main" id="{BE27EE3D-19E6-4A9B-B99B-72B4EEBF43A2}"/>
              </a:ext>
            </a:extLst>
          </p:cNvPr>
          <p:cNvSpPr>
            <a:spLocks noGrp="1"/>
          </p:cNvSpPr>
          <p:nvPr/>
        </p:nvSpPr>
        <p:spPr>
          <a:xfrm>
            <a:off x="2962656" y="5148072"/>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5" name="TextBox 134">
            <a:extLst>
              <a:ext uri="{FF2B5EF4-FFF2-40B4-BE49-F238E27FC236}">
                <a16:creationId xmlns:a16="http://schemas.microsoft.com/office/drawing/2014/main" id="{C6F33C06-695A-4A85-AA5F-5D30B2D1989C}"/>
              </a:ext>
            </a:extLst>
          </p:cNvPr>
          <p:cNvSpPr>
            <a:spLocks noGrp="1"/>
          </p:cNvSpPr>
          <p:nvPr/>
        </p:nvSpPr>
        <p:spPr>
          <a:xfrm>
            <a:off x="3017520" y="523377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36" name="Rectangle 135">
            <a:extLst>
              <a:ext uri="{FF2B5EF4-FFF2-40B4-BE49-F238E27FC236}">
                <a16:creationId xmlns:a16="http://schemas.microsoft.com/office/drawing/2014/main" id="{218870A9-A634-4AEE-994D-B77E9BC87EC1}"/>
              </a:ext>
            </a:extLst>
          </p:cNvPr>
          <p:cNvSpPr>
            <a:spLocks noGrp="1"/>
          </p:cNvSpPr>
          <p:nvPr/>
        </p:nvSpPr>
        <p:spPr>
          <a:xfrm>
            <a:off x="4745736" y="5148072"/>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7" name="TextBox 136">
            <a:extLst>
              <a:ext uri="{FF2B5EF4-FFF2-40B4-BE49-F238E27FC236}">
                <a16:creationId xmlns:a16="http://schemas.microsoft.com/office/drawing/2014/main" id="{7335227D-596D-4F4C-8BA1-A14CBF0125EE}"/>
              </a:ext>
            </a:extLst>
          </p:cNvPr>
          <p:cNvSpPr>
            <a:spLocks noGrp="1"/>
          </p:cNvSpPr>
          <p:nvPr/>
        </p:nvSpPr>
        <p:spPr>
          <a:xfrm>
            <a:off x="4800600" y="523377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8" name="Rectangle 137">
            <a:extLst>
              <a:ext uri="{FF2B5EF4-FFF2-40B4-BE49-F238E27FC236}">
                <a16:creationId xmlns:a16="http://schemas.microsoft.com/office/drawing/2014/main" id="{FF3FDDEE-7E9C-4C7F-9780-1250EB398AC3}"/>
              </a:ext>
            </a:extLst>
          </p:cNvPr>
          <p:cNvSpPr>
            <a:spLocks noGrp="1"/>
          </p:cNvSpPr>
          <p:nvPr/>
        </p:nvSpPr>
        <p:spPr>
          <a:xfrm>
            <a:off x="6483096" y="5148072"/>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9" name="TextBox 138">
            <a:extLst>
              <a:ext uri="{FF2B5EF4-FFF2-40B4-BE49-F238E27FC236}">
                <a16:creationId xmlns:a16="http://schemas.microsoft.com/office/drawing/2014/main" id="{7B41ABE7-C898-4D84-9726-ABA7BCFB0EBB}"/>
              </a:ext>
            </a:extLst>
          </p:cNvPr>
          <p:cNvSpPr>
            <a:spLocks noGrp="1"/>
          </p:cNvSpPr>
          <p:nvPr/>
        </p:nvSpPr>
        <p:spPr>
          <a:xfrm>
            <a:off x="6537959" y="52337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0" name="Rectangle 139">
            <a:extLst>
              <a:ext uri="{FF2B5EF4-FFF2-40B4-BE49-F238E27FC236}">
                <a16:creationId xmlns:a16="http://schemas.microsoft.com/office/drawing/2014/main" id="{4C10B616-1D1E-49CD-82F3-79B1AFD9FBEE}"/>
              </a:ext>
            </a:extLst>
          </p:cNvPr>
          <p:cNvSpPr>
            <a:spLocks noGrp="1"/>
          </p:cNvSpPr>
          <p:nvPr/>
        </p:nvSpPr>
        <p:spPr>
          <a:xfrm>
            <a:off x="7534656" y="5148072"/>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1" name="TextBox 140">
            <a:extLst>
              <a:ext uri="{FF2B5EF4-FFF2-40B4-BE49-F238E27FC236}">
                <a16:creationId xmlns:a16="http://schemas.microsoft.com/office/drawing/2014/main" id="{0C7B774C-F7F0-4D7E-AFE6-BC4D42F50A5B}"/>
              </a:ext>
            </a:extLst>
          </p:cNvPr>
          <p:cNvSpPr>
            <a:spLocks noGrp="1"/>
          </p:cNvSpPr>
          <p:nvPr/>
        </p:nvSpPr>
        <p:spPr>
          <a:xfrm>
            <a:off x="7589520" y="523377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42" name="Rectangle 141">
            <a:extLst>
              <a:ext uri="{FF2B5EF4-FFF2-40B4-BE49-F238E27FC236}">
                <a16:creationId xmlns:a16="http://schemas.microsoft.com/office/drawing/2014/main" id="{06E51B0F-B3CA-4848-800D-055C62D7D358}"/>
              </a:ext>
            </a:extLst>
          </p:cNvPr>
          <p:cNvSpPr>
            <a:spLocks noGrp="1"/>
          </p:cNvSpPr>
          <p:nvPr/>
        </p:nvSpPr>
        <p:spPr>
          <a:xfrm>
            <a:off x="9528048" y="5148072"/>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3" name="TextBox 142">
            <a:extLst>
              <a:ext uri="{FF2B5EF4-FFF2-40B4-BE49-F238E27FC236}">
                <a16:creationId xmlns:a16="http://schemas.microsoft.com/office/drawing/2014/main" id="{3E87654A-AA19-4504-BB1A-184F03A923DD}"/>
              </a:ext>
            </a:extLst>
          </p:cNvPr>
          <p:cNvSpPr>
            <a:spLocks noGrp="1"/>
          </p:cNvSpPr>
          <p:nvPr/>
        </p:nvSpPr>
        <p:spPr>
          <a:xfrm>
            <a:off x="9582912" y="523377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4" name="Rectangle 143">
            <a:extLst>
              <a:ext uri="{FF2B5EF4-FFF2-40B4-BE49-F238E27FC236}">
                <a16:creationId xmlns:a16="http://schemas.microsoft.com/office/drawing/2014/main" id="{47973AE5-F7DD-4418-8193-35094A910C0A}"/>
              </a:ext>
            </a:extLst>
          </p:cNvPr>
          <p:cNvSpPr>
            <a:spLocks noGrp="1"/>
          </p:cNvSpPr>
          <p:nvPr/>
        </p:nvSpPr>
        <p:spPr>
          <a:xfrm>
            <a:off x="539496" y="5541264"/>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5" name="TextBox 144">
            <a:extLst>
              <a:ext uri="{FF2B5EF4-FFF2-40B4-BE49-F238E27FC236}">
                <a16:creationId xmlns:a16="http://schemas.microsoft.com/office/drawing/2014/main" id="{3D4495D7-AFED-499C-A57C-9AF9BC123ADE}"/>
              </a:ext>
            </a:extLst>
          </p:cNvPr>
          <p:cNvSpPr>
            <a:spLocks noGrp="1"/>
          </p:cNvSpPr>
          <p:nvPr/>
        </p:nvSpPr>
        <p:spPr>
          <a:xfrm>
            <a:off x="594359" y="562697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46" name="Rectangle 145">
            <a:extLst>
              <a:ext uri="{FF2B5EF4-FFF2-40B4-BE49-F238E27FC236}">
                <a16:creationId xmlns:a16="http://schemas.microsoft.com/office/drawing/2014/main" id="{09764EF9-DC2E-480A-9A80-A060DA109A2D}"/>
              </a:ext>
            </a:extLst>
          </p:cNvPr>
          <p:cNvSpPr>
            <a:spLocks noGrp="1"/>
          </p:cNvSpPr>
          <p:nvPr/>
        </p:nvSpPr>
        <p:spPr>
          <a:xfrm>
            <a:off x="1636776" y="5541264"/>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7" name="TextBox 146">
            <a:extLst>
              <a:ext uri="{FF2B5EF4-FFF2-40B4-BE49-F238E27FC236}">
                <a16:creationId xmlns:a16="http://schemas.microsoft.com/office/drawing/2014/main" id="{1EE63A5B-74B5-4B0A-AFF1-69BC20C3C100}"/>
              </a:ext>
            </a:extLst>
          </p:cNvPr>
          <p:cNvSpPr>
            <a:spLocks noGrp="1"/>
          </p:cNvSpPr>
          <p:nvPr/>
        </p:nvSpPr>
        <p:spPr>
          <a:xfrm>
            <a:off x="1691640" y="562697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148" name="Rectangle 147">
            <a:extLst>
              <a:ext uri="{FF2B5EF4-FFF2-40B4-BE49-F238E27FC236}">
                <a16:creationId xmlns:a16="http://schemas.microsoft.com/office/drawing/2014/main" id="{10817D56-AF8C-4DC9-B9C8-9350476003EC}"/>
              </a:ext>
            </a:extLst>
          </p:cNvPr>
          <p:cNvSpPr>
            <a:spLocks noGrp="1"/>
          </p:cNvSpPr>
          <p:nvPr/>
        </p:nvSpPr>
        <p:spPr>
          <a:xfrm>
            <a:off x="2962656" y="5541264"/>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9" name="TextBox 148">
            <a:extLst>
              <a:ext uri="{FF2B5EF4-FFF2-40B4-BE49-F238E27FC236}">
                <a16:creationId xmlns:a16="http://schemas.microsoft.com/office/drawing/2014/main" id="{2D29FFB0-72C0-46D5-936C-49C064A2E6B2}"/>
              </a:ext>
            </a:extLst>
          </p:cNvPr>
          <p:cNvSpPr>
            <a:spLocks noGrp="1"/>
          </p:cNvSpPr>
          <p:nvPr/>
        </p:nvSpPr>
        <p:spPr>
          <a:xfrm>
            <a:off x="3017520" y="562697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50" name="Rectangle 149">
            <a:extLst>
              <a:ext uri="{FF2B5EF4-FFF2-40B4-BE49-F238E27FC236}">
                <a16:creationId xmlns:a16="http://schemas.microsoft.com/office/drawing/2014/main" id="{5115B694-0AC0-4143-B748-AC66F1AE640A}"/>
              </a:ext>
            </a:extLst>
          </p:cNvPr>
          <p:cNvSpPr>
            <a:spLocks noGrp="1"/>
          </p:cNvSpPr>
          <p:nvPr/>
        </p:nvSpPr>
        <p:spPr>
          <a:xfrm>
            <a:off x="4745736" y="5541264"/>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1" name="TextBox 150">
            <a:extLst>
              <a:ext uri="{FF2B5EF4-FFF2-40B4-BE49-F238E27FC236}">
                <a16:creationId xmlns:a16="http://schemas.microsoft.com/office/drawing/2014/main" id="{48B3C840-5E67-4ADF-B2C2-1F5642A589E2}"/>
              </a:ext>
            </a:extLst>
          </p:cNvPr>
          <p:cNvSpPr>
            <a:spLocks noGrp="1"/>
          </p:cNvSpPr>
          <p:nvPr/>
        </p:nvSpPr>
        <p:spPr>
          <a:xfrm>
            <a:off x="4800600" y="562697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2" name="Rectangle 151">
            <a:extLst>
              <a:ext uri="{FF2B5EF4-FFF2-40B4-BE49-F238E27FC236}">
                <a16:creationId xmlns:a16="http://schemas.microsoft.com/office/drawing/2014/main" id="{1D63FB17-27DA-4AFF-B9F8-10F0949DF449}"/>
              </a:ext>
            </a:extLst>
          </p:cNvPr>
          <p:cNvSpPr>
            <a:spLocks noGrp="1"/>
          </p:cNvSpPr>
          <p:nvPr/>
        </p:nvSpPr>
        <p:spPr>
          <a:xfrm>
            <a:off x="6483096" y="5541264"/>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3" name="TextBox 152">
            <a:extLst>
              <a:ext uri="{FF2B5EF4-FFF2-40B4-BE49-F238E27FC236}">
                <a16:creationId xmlns:a16="http://schemas.microsoft.com/office/drawing/2014/main" id="{0AC90D80-EEFD-424C-B2E0-FA33E0C0FC6F}"/>
              </a:ext>
            </a:extLst>
          </p:cNvPr>
          <p:cNvSpPr>
            <a:spLocks noGrp="1"/>
          </p:cNvSpPr>
          <p:nvPr/>
        </p:nvSpPr>
        <p:spPr>
          <a:xfrm>
            <a:off x="6537959" y="562697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4" name="Rectangle 153">
            <a:extLst>
              <a:ext uri="{FF2B5EF4-FFF2-40B4-BE49-F238E27FC236}">
                <a16:creationId xmlns:a16="http://schemas.microsoft.com/office/drawing/2014/main" id="{1724C57B-88B0-4095-A226-693E2E0D1918}"/>
              </a:ext>
            </a:extLst>
          </p:cNvPr>
          <p:cNvSpPr>
            <a:spLocks noGrp="1"/>
          </p:cNvSpPr>
          <p:nvPr/>
        </p:nvSpPr>
        <p:spPr>
          <a:xfrm>
            <a:off x="7534656" y="5541264"/>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5" name="TextBox 154">
            <a:extLst>
              <a:ext uri="{FF2B5EF4-FFF2-40B4-BE49-F238E27FC236}">
                <a16:creationId xmlns:a16="http://schemas.microsoft.com/office/drawing/2014/main" id="{72314DD4-9DFA-4C30-A89B-F17F62F0A1EB}"/>
              </a:ext>
            </a:extLst>
          </p:cNvPr>
          <p:cNvSpPr>
            <a:spLocks noGrp="1"/>
          </p:cNvSpPr>
          <p:nvPr/>
        </p:nvSpPr>
        <p:spPr>
          <a:xfrm>
            <a:off x="7589520" y="562697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7</a:t>
            </a:r>
          </a:p>
        </p:txBody>
      </p:sp>
      <p:sp>
        <p:nvSpPr>
          <p:cNvPr id="156" name="Rectangle 155">
            <a:extLst>
              <a:ext uri="{FF2B5EF4-FFF2-40B4-BE49-F238E27FC236}">
                <a16:creationId xmlns:a16="http://schemas.microsoft.com/office/drawing/2014/main" id="{1F845FCC-B191-4EB7-B896-BF813DFA93A9}"/>
              </a:ext>
            </a:extLst>
          </p:cNvPr>
          <p:cNvSpPr>
            <a:spLocks noGrp="1"/>
          </p:cNvSpPr>
          <p:nvPr/>
        </p:nvSpPr>
        <p:spPr>
          <a:xfrm>
            <a:off x="9528048" y="5541264"/>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7" name="TextBox 156">
            <a:extLst>
              <a:ext uri="{FF2B5EF4-FFF2-40B4-BE49-F238E27FC236}">
                <a16:creationId xmlns:a16="http://schemas.microsoft.com/office/drawing/2014/main" id="{555F28BC-8CDB-4280-863D-086D12A3E3BD}"/>
              </a:ext>
            </a:extLst>
          </p:cNvPr>
          <p:cNvSpPr>
            <a:spLocks noGrp="1"/>
          </p:cNvSpPr>
          <p:nvPr/>
        </p:nvSpPr>
        <p:spPr>
          <a:xfrm>
            <a:off x="9582912" y="562697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58" name="TextBox 157">
            <a:extLst>
              <a:ext uri="{FF2B5EF4-FFF2-40B4-BE49-F238E27FC236}">
                <a16:creationId xmlns:a16="http://schemas.microsoft.com/office/drawing/2014/main" id="{91D95B2B-6A03-4120-A4B1-ECB0DF033B17}"/>
              </a:ext>
            </a:extLst>
          </p:cNvPr>
          <p:cNvSpPr>
            <a:spLocks noGrp="1"/>
          </p:cNvSpPr>
          <p:nvPr/>
        </p:nvSpPr>
        <p:spPr>
          <a:xfrm>
            <a:off x="613446" y="6107660"/>
            <a:ext cx="10927080" cy="24006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One query is used per contrast, so query-passing contrasts and KDA calls are identical here.</a:t>
            </a:r>
          </a:p>
        </p:txBody>
      </p:sp>
    </p:spTree>
    <p:extLst>
      <p:ext uri="{BB962C8B-B14F-4D97-AF65-F5344CB8AC3E}">
        <p14:creationId xmlns:p14="http://schemas.microsoft.com/office/powerpoint/2010/main" val="73632447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D5142B-73D5-401A-889E-21C7F4AD8199}"/>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cohort effects</a:t>
            </a:r>
          </a:p>
        </p:txBody>
      </p:sp>
      <p:sp>
        <p:nvSpPr>
          <p:cNvPr id="3" name="TextBox 2">
            <a:extLst>
              <a:ext uri="{FF2B5EF4-FFF2-40B4-BE49-F238E27FC236}">
                <a16:creationId xmlns:a16="http://schemas.microsoft.com/office/drawing/2014/main" id="{12B0B9B9-9C13-454A-91CD-4B17282B04B4}"/>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Only seven current KDA calls determine the entire threshold response.</a:t>
            </a:r>
          </a:p>
        </p:txBody>
      </p:sp>
      <p:sp>
        <p:nvSpPr>
          <p:cNvPr id="4" name="Rounded Rectangle 3">
            <a:extLst>
              <a:ext uri="{FF2B5EF4-FFF2-40B4-BE49-F238E27FC236}">
                <a16:creationId xmlns:a16="http://schemas.microsoft.com/office/drawing/2014/main" id="{5939264F-CD01-4609-B3B6-BC3D2173D1A2}"/>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33D89EAA-04AC-4428-85C2-E75351B872DC}"/>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46DBA5F4-82BA-4632-91E2-22A0093AC4F1}"/>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FF2B5EF4-FFF2-40B4-BE49-F238E27FC236}">
                <a16:creationId xmlns:a16="http://schemas.microsoft.com/office/drawing/2014/main" id="{F0E2D69C-0909-49A8-BACA-3FD4C5361E89}"/>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4F28648-FDBC-48D6-8367-D968DA1EDFE9}"/>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3, 8, and 78 genes.</a:t>
            </a:r>
          </a:p>
        </p:txBody>
      </p:sp>
      <p:sp>
        <p:nvSpPr>
          <p:cNvPr id="9" name="Oval 8">
            <a:extLst>
              <a:ext uri="{FF2B5EF4-FFF2-40B4-BE49-F238E27FC236}">
                <a16:creationId xmlns:a16="http://schemas.microsoft.com/office/drawing/2014/main" id="{87C553DE-F15C-4338-9F1B-F8B4FF5A8880}"/>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623ED30C-E19C-44B5-AC2D-1AA197B9E97A}"/>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removes OPCs × F_e4: 9 gene rows returned from KDA calls.</a:t>
            </a:r>
          </a:p>
        </p:txBody>
      </p:sp>
      <p:sp>
        <p:nvSpPr>
          <p:cNvPr id="11" name="Oval 10">
            <a:extLst>
              <a:ext uri="{FF2B5EF4-FFF2-40B4-BE49-F238E27FC236}">
                <a16:creationId xmlns:a16="http://schemas.microsoft.com/office/drawing/2014/main" id="{D5535587-2405-4EFD-ACA9-BE6BEFF55BB9}"/>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0FFB377-CFAB-4245-809A-47D9DD159CBA}"/>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also removes Astrocytes × F_e4: 4 more rows; thresholds 20 and 30 make no further change.</a:t>
            </a:r>
          </a:p>
        </p:txBody>
      </p:sp>
      <p:sp>
        <p:nvSpPr>
          <p:cNvPr id="13" name="Oval 12">
            <a:extLst>
              <a:ext uri="{FF2B5EF4-FFF2-40B4-BE49-F238E27FC236}">
                <a16:creationId xmlns:a16="http://schemas.microsoft.com/office/drawing/2014/main" id="{0C990DB7-448A-4173-A175-5204336581FB}"/>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0A25A188-67C0-4708-9EBE-32F947AB2111}"/>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At ≥10, only the low-support Vasculature × M_e2 KDA call remains: 26 rows and 20 unique non-MitoCarta genes.</a:t>
            </a:r>
          </a:p>
        </p:txBody>
      </p:sp>
      <p:sp>
        <p:nvSpPr>
          <p:cNvPr id="15" name="Rounded Rectangle 14">
            <a:extLst>
              <a:ext uri="{FF2B5EF4-FFF2-40B4-BE49-F238E27FC236}">
                <a16:creationId xmlns:a16="http://schemas.microsoft.com/office/drawing/2014/main" id="{A0A9E3D7-B52B-453D-9E9D-7A7E5FF94D8B}"/>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FF2B5EF4-FFF2-40B4-BE49-F238E27FC236}">
                <a16:creationId xmlns:a16="http://schemas.microsoft.com/office/drawing/2014/main" id="{2656F1E4-97E9-4654-8779-562BAF5FFB8A}"/>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A higher query floor increases domination by the low-donor vasculature result.</a:t>
            </a:r>
          </a:p>
        </p:txBody>
      </p:sp>
      <p:sp>
        <p:nvSpPr>
          <p:cNvPr id="17" name="Rounded Rectangle 16">
            <a:extLst>
              <a:ext uri="{FF2B5EF4-FFF2-40B4-BE49-F238E27FC236}">
                <a16:creationId xmlns:a16="http://schemas.microsoft.com/office/drawing/2014/main" id="{6BF95F09-A98D-4C46-B981-8FC5F5BF4BE6}"/>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FF2B5EF4-FFF2-40B4-BE49-F238E27FC236}">
                <a16:creationId xmlns:a16="http://schemas.microsoft.com/office/drawing/2014/main" id="{5FF8A6FF-C90A-4B6B-B6E9-64E158351E2E}"/>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8B63E41-8CF5-40D3-884D-7A160DE38A8A}"/>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FF2B5EF4-FFF2-40B4-BE49-F238E27FC236}">
                <a16:creationId xmlns:a16="http://schemas.microsoft.com/office/drawing/2014/main" id="{757AED1A-3849-4EEA-AAF3-76C47271ACD0}"/>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A6B1CF2-4779-4DB9-A331-D87F938851DC}"/>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5, 9, 21, 43, and 45 genes.</a:t>
            </a:r>
          </a:p>
        </p:txBody>
      </p:sp>
      <p:sp>
        <p:nvSpPr>
          <p:cNvPr id="22" name="Oval 21">
            <a:extLst>
              <a:ext uri="{FF2B5EF4-FFF2-40B4-BE49-F238E27FC236}">
                <a16:creationId xmlns:a16="http://schemas.microsoft.com/office/drawing/2014/main" id="{E3C9BDB4-C631-48CF-885D-1C3DB78A0503}"/>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264091AD-A59A-469A-A4FC-21734DD4EDA5}"/>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changes nothing.</a:t>
            </a:r>
          </a:p>
        </p:txBody>
      </p:sp>
      <p:sp>
        <p:nvSpPr>
          <p:cNvPr id="24" name="Oval 23">
            <a:extLst>
              <a:ext uri="{FF2B5EF4-FFF2-40B4-BE49-F238E27FC236}">
                <a16:creationId xmlns:a16="http://schemas.microsoft.com/office/drawing/2014/main" id="{1299D460-8499-4A92-8F1F-7D42F18E4D8D}"/>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7DFB561-BD63-45A7-8257-070D21EBDC6E}"/>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removes Microglia × M_e33 and Astrocytes × F_e4: 24 → 8 rows and 18 → 3 unique non-MitoCarta genes.</a:t>
            </a:r>
          </a:p>
        </p:txBody>
      </p:sp>
      <p:sp>
        <p:nvSpPr>
          <p:cNvPr id="26" name="Oval 25">
            <a:extLst>
              <a:ext uri="{FF2B5EF4-FFF2-40B4-BE49-F238E27FC236}">
                <a16:creationId xmlns:a16="http://schemas.microsoft.com/office/drawing/2014/main" id="{2E13B9CA-B7CD-481C-AD01-00EB7A400D34}"/>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7EF7E134-9599-461E-ABD6-081165AABE01}"/>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20 changes nothing further; minimum 30 removes Oligodendrocytes × M_e33, whose sole gene returned from its KDA call is a MitoCarta MT gene.</a:t>
            </a:r>
          </a:p>
        </p:txBody>
      </p:sp>
      <p:sp>
        <p:nvSpPr>
          <p:cNvPr id="28" name="Rounded Rectangle 27">
            <a:extLst>
              <a:ext uri="{FF2B5EF4-FFF2-40B4-BE49-F238E27FC236}">
                <a16:creationId xmlns:a16="http://schemas.microsoft.com/office/drawing/2014/main" id="{A22678DE-800F-4254-9C18-3439C8C97CB9}"/>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B67F2240-3E3A-4D90-83E9-DB10AAD115E8}"/>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The non-MitoCarta gene count reaches 3 at minimum 10 and stays there through 30.</a:t>
            </a:r>
          </a:p>
        </p:txBody>
      </p:sp>
    </p:spTree>
    <p:extLst>
      <p:ext uri="{BB962C8B-B14F-4D97-AF65-F5344CB8AC3E}">
        <p14:creationId xmlns:p14="http://schemas.microsoft.com/office/powerpoint/2010/main" val="9018737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2731036-4FFC-4F91-9FF2-26D11A6ECFAD}"/>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validation interpretation</a:t>
            </a:r>
          </a:p>
        </p:txBody>
      </p:sp>
      <p:sp>
        <p:nvSpPr>
          <p:cNvPr id="3" name="TextBox 2">
            <a:extLst>
              <a:ext uri="{FF2B5EF4-FFF2-40B4-BE49-F238E27FC236}">
                <a16:creationId xmlns:a16="http://schemas.microsoft.com/office/drawing/2014/main" id="{D62C39FD-4DA3-4A57-9177-DFA36F2AAA3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The query floor changes assessability, but it does not create cross-cohort validation of genes returned from KDA calls.</a:t>
            </a:r>
          </a:p>
        </p:txBody>
      </p:sp>
      <p:sp>
        <p:nvSpPr>
          <p:cNvPr id="4" name="Rounded Rectangle 3">
            <a:extLst>
              <a:ext uri="{FF2B5EF4-FFF2-40B4-BE49-F238E27FC236}">
                <a16:creationId xmlns:a16="http://schemas.microsoft.com/office/drawing/2014/main" id="{DAA28129-9BD7-47B6-95F8-1B07BD5E692D}"/>
              </a:ext>
            </a:extLst>
          </p:cNvPr>
          <p:cNvSpPr>
            <a:spLocks noGrp="1"/>
          </p:cNvSpPr>
          <p:nvPr/>
        </p:nvSpPr>
        <p:spPr>
          <a:xfrm>
            <a:off x="658368" y="1325880"/>
            <a:ext cx="10881360" cy="352958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640B9-5DD0-44AC-8449-495D2DA6F1C7}"/>
              </a:ext>
            </a:extLst>
          </p:cNvPr>
          <p:cNvSpPr>
            <a:spLocks noGrp="1"/>
          </p:cNvSpPr>
          <p:nvPr/>
        </p:nvSpPr>
        <p:spPr>
          <a:xfrm>
            <a:off x="960120" y="1609344"/>
            <a:ext cx="292608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VALIDATION CONSEQUENCES</a:t>
            </a:r>
          </a:p>
        </p:txBody>
      </p:sp>
      <p:sp>
        <p:nvSpPr>
          <p:cNvPr id="6" name="Oval 5">
            <a:extLst>
              <a:ext uri="{FF2B5EF4-FFF2-40B4-BE49-F238E27FC236}">
                <a16:creationId xmlns:a16="http://schemas.microsoft.com/office/drawing/2014/main" id="{E7AD175D-F44B-4DBD-AC94-B8E42AA5F7BC}"/>
              </a:ext>
            </a:extLst>
          </p:cNvPr>
          <p:cNvSpPr>
            <a:spLocks noGrp="1"/>
          </p:cNvSpPr>
          <p:nvPr/>
        </p:nvSpPr>
        <p:spPr>
          <a:xfrm>
            <a:off x="960120" y="21396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5477AB-962A-4E60-AF5F-3B9DA47CB453}"/>
              </a:ext>
            </a:extLst>
          </p:cNvPr>
          <p:cNvSpPr>
            <a:spLocks noGrp="1"/>
          </p:cNvSpPr>
          <p:nvPr/>
        </p:nvSpPr>
        <p:spPr>
          <a:xfrm>
            <a:off x="1133856" y="2011680"/>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Cross-cohort overlap among non-MitoCarta genes returned from KDA calls remains zero at every tested threshold.</a:t>
            </a:r>
          </a:p>
        </p:txBody>
      </p:sp>
      <p:sp>
        <p:nvSpPr>
          <p:cNvPr id="8" name="Oval 7">
            <a:extLst>
              <a:ext uri="{FF2B5EF4-FFF2-40B4-BE49-F238E27FC236}">
                <a16:creationId xmlns:a16="http://schemas.microsoft.com/office/drawing/2014/main" id="{0501F2F9-81F1-4E04-BDD8-9B2D5258750E}"/>
              </a:ext>
            </a:extLst>
          </p:cNvPr>
          <p:cNvSpPr>
            <a:spLocks noGrp="1"/>
          </p:cNvSpPr>
          <p:nvPr/>
        </p:nvSpPr>
        <p:spPr>
          <a:xfrm>
            <a:off x="960120" y="279806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87782B-22A2-4B58-9C5D-7DB981CBB690}"/>
              </a:ext>
            </a:extLst>
          </p:cNvPr>
          <p:cNvSpPr>
            <a:spLocks noGrp="1"/>
          </p:cNvSpPr>
          <p:nvPr/>
        </p:nvSpPr>
        <p:spPr>
          <a:xfrm>
            <a:off x="1133856" y="2670048"/>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3 or 5, Astrocytes × F_e4 remains the only exact shared executed stratum, with no shared genes returned from KDA calls.</a:t>
            </a:r>
          </a:p>
        </p:txBody>
      </p:sp>
      <p:sp>
        <p:nvSpPr>
          <p:cNvPr id="10" name="Oval 9">
            <a:extLst>
              <a:ext uri="{FF2B5EF4-FFF2-40B4-BE49-F238E27FC236}">
                <a16:creationId xmlns:a16="http://schemas.microsoft.com/office/drawing/2014/main" id="{0985D27D-B823-4F63-850A-8BB2A8DCA8BF}"/>
              </a:ext>
            </a:extLst>
          </p:cNvPr>
          <p:cNvSpPr>
            <a:spLocks noGrp="1"/>
          </p:cNvSpPr>
          <p:nvPr/>
        </p:nvSpPr>
        <p:spPr>
          <a:xfrm>
            <a:off x="960120" y="34564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7681996-84B2-4DE4-9FE2-4A7287F67C67}"/>
              </a:ext>
            </a:extLst>
          </p:cNvPr>
          <p:cNvSpPr>
            <a:spLocks noGrp="1"/>
          </p:cNvSpPr>
          <p:nvPr/>
        </p:nvSpPr>
        <p:spPr>
          <a:xfrm>
            <a:off x="1133856" y="3328415"/>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10, 20, or 30, no exact stratum is executed in both cohorts; validation is unavailable rather than negative.</a:t>
            </a:r>
          </a:p>
        </p:txBody>
      </p:sp>
      <p:sp>
        <p:nvSpPr>
          <p:cNvPr id="12" name="Oval 11">
            <a:extLst>
              <a:ext uri="{FF2B5EF4-FFF2-40B4-BE49-F238E27FC236}">
                <a16:creationId xmlns:a16="http://schemas.microsoft.com/office/drawing/2014/main" id="{4AD3A0FC-67E5-45D2-BE48-99351E6AC8C0}"/>
              </a:ext>
            </a:extLst>
          </p:cNvPr>
          <p:cNvSpPr>
            <a:spLocks noGrp="1"/>
          </p:cNvSpPr>
          <p:nvPr/>
        </p:nvSpPr>
        <p:spPr>
          <a:xfrm>
            <a:off x="960120" y="411479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04D3795-30FE-4634-B674-CCD9391C98B4}"/>
              </a:ext>
            </a:extLst>
          </p:cNvPr>
          <p:cNvSpPr>
            <a:spLocks noGrp="1"/>
          </p:cNvSpPr>
          <p:nvPr/>
        </p:nvSpPr>
        <p:spPr>
          <a:xfrm>
            <a:off x="1133856" y="3986783"/>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Thresholds ≥10 reduce validation assessability and make ROSMAP increasingly dominated by the low-support Vasculature × M_e2 KDA call.</a:t>
            </a:r>
          </a:p>
        </p:txBody>
      </p:sp>
      <p:sp>
        <p:nvSpPr>
          <p:cNvPr id="14" name="Rounded Rectangle 13">
            <a:extLst>
              <a:ext uri="{FF2B5EF4-FFF2-40B4-BE49-F238E27FC236}">
                <a16:creationId xmlns:a16="http://schemas.microsoft.com/office/drawing/2014/main" id="{C0B90091-304E-4D9D-8AF2-8727270FB4C8}"/>
              </a:ext>
            </a:extLst>
          </p:cNvPr>
          <p:cNvSpPr>
            <a:spLocks noGrp="1"/>
          </p:cNvSpPr>
          <p:nvPr/>
        </p:nvSpPr>
        <p:spPr>
          <a:xfrm>
            <a:off x="658368" y="5138928"/>
            <a:ext cx="10881360" cy="77724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E616050-8935-4902-BB75-1283A4204EB3}"/>
              </a:ext>
            </a:extLst>
          </p:cNvPr>
          <p:cNvSpPr>
            <a:spLocks noGrp="1"/>
          </p:cNvSpPr>
          <p:nvPr/>
        </p:nvSpPr>
        <p:spPr>
          <a:xfrm>
            <a:off x="914400" y="5340096"/>
            <a:ext cx="10369296"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Least disruptive sensitivity reference: minimum 5 effective query genes</a:t>
            </a:r>
          </a:p>
        </p:txBody>
      </p:sp>
      <p:sp>
        <p:nvSpPr>
          <p:cNvPr id="16" name="TextBox 15">
            <a:extLst>
              <a:ext uri="{FF2B5EF4-FFF2-40B4-BE49-F238E27FC236}">
                <a16:creationId xmlns:a16="http://schemas.microsoft.com/office/drawing/2014/main" id="{440544A2-27EB-4A8D-90F7-2971FFD5C50A}"/>
              </a:ext>
            </a:extLst>
          </p:cNvPr>
          <p:cNvSpPr>
            <a:spLocks noGrp="1"/>
          </p:cNvSpPr>
          <p:nvPr/>
        </p:nvSpPr>
        <p:spPr>
          <a:xfrm>
            <a:off x="914400" y="5632704"/>
            <a:ext cx="10369296" cy="1981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40" b="0" i="0">
                <a:solidFill>
                  <a:srgbClr val="895600"/>
                </a:solidFill>
                <a:latin typeface="Arial"/>
                <a:ea typeface="Arial"/>
                <a:cs typeface="Arial"/>
              </a:rPr>
              <a:t>It removes the smallest ROSMAP query while preserving every SEA-AD KDA call and the only matched cross-cohort stratum.</a:t>
            </a:r>
          </a:p>
        </p:txBody>
      </p:sp>
    </p:spTree>
    <p:extLst>
      <p:ext uri="{BB962C8B-B14F-4D97-AF65-F5344CB8AC3E}">
        <p14:creationId xmlns:p14="http://schemas.microsoft.com/office/powerpoint/2010/main" val="109573935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ED15BB-A501-7FB7-FD95-303970C34A77}"/>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Findings and discussions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1E95D6F-12BB-832F-CD3D-727DAFEFB6A8}"/>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8</a:t>
            </a:r>
          </a:p>
        </p:txBody>
      </p:sp>
    </p:spTree>
    <p:extLst>
      <p:ext uri="{BB962C8B-B14F-4D97-AF65-F5344CB8AC3E}">
        <p14:creationId xmlns:p14="http://schemas.microsoft.com/office/powerpoint/2010/main" val="6867040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EAEA5C-C8A9-4613-8C0C-F852EA9F568B}"/>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a:t>
            </a:r>
          </a:p>
        </p:txBody>
      </p:sp>
      <p:sp>
        <p:nvSpPr>
          <p:cNvPr id="3" name="Rectangle 2">
            <a:extLst>
              <a:ext uri="{FF2B5EF4-FFF2-40B4-BE49-F238E27FC236}">
                <a16:creationId xmlns:a16="http://schemas.microsoft.com/office/drawing/2014/main" id="{3B5CE9DA-02F6-45CB-82B1-5B51626912F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2C82376-515E-4BC4-AB74-CDB0A113DFE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Female APOE ε3/ε3 cells show strong core MT gene upregulation</a:t>
            </a:r>
          </a:p>
        </p:txBody>
      </p:sp>
      <p:sp>
        <p:nvSpPr>
          <p:cNvPr id="5" name="TextBox 4">
            <a:extLst>
              <a:ext uri="{FF2B5EF4-FFF2-40B4-BE49-F238E27FC236}">
                <a16:creationId xmlns:a16="http://schemas.microsoft.com/office/drawing/2014/main" id="{ABD64F1D-6D65-4657-8920-B21C23BC4133}"/>
              </a:ext>
            </a:extLst>
          </p:cNvPr>
          <p:cNvSpPr>
            <a:spLocks noGrp="1"/>
          </p:cNvSpPr>
          <p:nvPr/>
        </p:nvSpPr>
        <p:spPr>
          <a:xfrm>
            <a:off x="1097280" y="2468880"/>
            <a:ext cx="7406640" cy="5120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DEG finding with secondary nuclear-encoded OXPHOS support in ROSMAP.</a:t>
            </a:r>
          </a:p>
        </p:txBody>
      </p:sp>
      <p:sp>
        <p:nvSpPr>
          <p:cNvPr id="6" name="Rounded Rectangle 5">
            <a:extLst>
              <a:ext uri="{FF2B5EF4-FFF2-40B4-BE49-F238E27FC236}">
                <a16:creationId xmlns:a16="http://schemas.microsoft.com/office/drawing/2014/main" id="{34E0ABAC-67E4-40F8-9669-78A49DD79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94795F-DBCB-4875-AB3A-F194EC1F06F1}"/>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D54CAFC9-5CFB-41BD-BDA0-EF242629769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93F141-862A-46A7-8709-1CD099813C3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86E4D91-2C00-493D-807F-3794CDCD150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750FA47-1898-4838-BE6A-74C319AE052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ED5175-98F8-43D7-8773-283594ABBDE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2133B16D-F51E-4BE2-BBD2-081AF8E3C2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222AAAA-C164-425B-9350-3F447103C87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9078990-BE1C-48B0-A6B8-29581B7E1CA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F6663891-7441-48F4-B939-1E71CD727891}"/>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80EBB8DB-43E2-4F2A-97AF-E1463B5EFB2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90F30C7-B84D-4FB0-A4DE-1A5FC5698B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787F9A3-3CAD-449B-AA09-9C76EAFDB58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85323ECB-521C-4237-AF84-44BE8F32CD4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802350-BEC6-48F2-870F-29D8C0D5C40A}"/>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core MT gene pattern. Nuclear-encoded OXPHOS support is currently ROSMAP-only.</a:t>
            </a:r>
          </a:p>
        </p:txBody>
      </p:sp>
    </p:spTree>
    <p:extLst>
      <p:ext uri="{BB962C8B-B14F-4D97-AF65-F5344CB8AC3E}">
        <p14:creationId xmlns:p14="http://schemas.microsoft.com/office/powerpoint/2010/main" val="42591813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044F1F-1ABD-4D0A-8F0B-681D66C1A916}"/>
              </a:ext>
            </a:extLst>
          </p:cNvPr>
          <p:cNvSpPr>
            <a:spLocks noGrp="1"/>
          </p:cNvSpPr>
          <p:nvPr/>
        </p:nvSpPr>
        <p:spPr>
          <a:xfrm>
            <a:off x="530352" y="292608"/>
            <a:ext cx="11064240" cy="36317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Female ε3/ε3 cells show higher core MT gene expression in AD</a:t>
            </a:r>
          </a:p>
        </p:txBody>
      </p:sp>
      <p:sp>
        <p:nvSpPr>
          <p:cNvPr id="3" name="TextBox 2">
            <a:extLst>
              <a:ext uri="{FF2B5EF4-FFF2-40B4-BE49-F238E27FC236}">
                <a16:creationId xmlns:a16="http://schemas.microsoft.com/office/drawing/2014/main" id="{515E76ED-6A59-406E-8089-417BDE580C2F}"/>
              </a:ext>
            </a:extLst>
          </p:cNvPr>
          <p:cNvSpPr>
            <a:spLocks noGrp="1"/>
          </p:cNvSpPr>
          <p:nvPr/>
        </p:nvSpPr>
        <p:spPr>
          <a:xfrm>
            <a:off x="548640" y="969264"/>
            <a:ext cx="10927080" cy="2215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core MT gene result repeats across ROSMAP fine-cell comparisons and receives support from SEA-AD.</a:t>
            </a:r>
          </a:p>
        </p:txBody>
      </p:sp>
      <p:sp>
        <p:nvSpPr>
          <p:cNvPr id="4" name="Rounded Rectangle 3">
            <a:extLst>
              <a:ext uri="{FF2B5EF4-FFF2-40B4-BE49-F238E27FC236}">
                <a16:creationId xmlns:a16="http://schemas.microsoft.com/office/drawing/2014/main" id="{AA4AC83A-3FBC-485B-880B-B5B0458B8079}"/>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27D5D64-ED97-4494-BE56-EBEEE62CD4D0}"/>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D0B0C734-01ED-475F-B954-0FE60F88F2C2}"/>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5DC248-7CF2-4975-9306-53F576C3A3F3}"/>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3AB56433-6330-4E5B-A03A-0D04DD099496}"/>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2A1115-4137-4A36-A46A-41F40755B622}"/>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Excitatory neurons</a:t>
            </a:r>
          </a:p>
        </p:txBody>
      </p:sp>
      <p:sp>
        <p:nvSpPr>
          <p:cNvPr id="10" name="Rounded Rectangle 9">
            <a:extLst>
              <a:ext uri="{FF2B5EF4-FFF2-40B4-BE49-F238E27FC236}">
                <a16:creationId xmlns:a16="http://schemas.microsoft.com/office/drawing/2014/main" id="{574799C2-CF17-459D-91E9-70B819B78EB9}"/>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0D7B8DD-CD91-47E6-9973-24078DC4CF8B}"/>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B01C44E-8A6D-4ACD-B5B0-6312A120CBC1}"/>
              </a:ext>
            </a:extLst>
          </p:cNvPr>
          <p:cNvSpPr>
            <a:spLocks noGrp="1"/>
          </p:cNvSpPr>
          <p:nvPr/>
        </p:nvSpPr>
        <p:spPr>
          <a:xfrm>
            <a:off x="749808" y="2066543"/>
            <a:ext cx="10698480" cy="283464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F36BA67-ED29-41BE-BD84-B18FABE2CA22}"/>
              </a:ext>
            </a:extLst>
          </p:cNvPr>
          <p:cNvSpPr>
            <a:spLocks noGrp="1"/>
          </p:cNvSpPr>
          <p:nvPr/>
        </p:nvSpPr>
        <p:spPr>
          <a:xfrm>
            <a:off x="1115568" y="2532888"/>
            <a:ext cx="301752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B808481D-718F-4842-807C-5AA9E803C37D}"/>
              </a:ext>
            </a:extLst>
          </p:cNvPr>
          <p:cNvSpPr>
            <a:spLocks noGrp="1"/>
          </p:cNvSpPr>
          <p:nvPr/>
        </p:nvSpPr>
        <p:spPr>
          <a:xfrm>
            <a:off x="1115568" y="3108960"/>
            <a:ext cx="3017520" cy="7498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1F2730"/>
                </a:solidFill>
                <a:latin typeface="Arial"/>
                <a:ea typeface="Arial"/>
                <a:cs typeface="Arial"/>
              </a:rPr>
              <a:t>13 protein-coding genes
encoded by mtDNA</a:t>
            </a:r>
          </a:p>
        </p:txBody>
      </p:sp>
      <p:sp>
        <p:nvSpPr>
          <p:cNvPr id="15" name="TextBox 14">
            <a:extLst>
              <a:ext uri="{FF2B5EF4-FFF2-40B4-BE49-F238E27FC236}">
                <a16:creationId xmlns:a16="http://schemas.microsoft.com/office/drawing/2014/main" id="{34A38E06-808B-4DBC-84B7-B0DCCCE65514}"/>
              </a:ext>
            </a:extLst>
          </p:cNvPr>
          <p:cNvSpPr>
            <a:spLocks noGrp="1"/>
          </p:cNvSpPr>
          <p:nvPr/>
        </p:nvSpPr>
        <p:spPr>
          <a:xfrm>
            <a:off x="4590288" y="2880360"/>
            <a:ext cx="914400" cy="6766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400" b="1" i="0">
                <a:solidFill>
                  <a:srgbClr val="0072B2"/>
                </a:solidFill>
                <a:latin typeface="Arial"/>
                <a:ea typeface="Arial"/>
                <a:cs typeface="Arial"/>
              </a:rPr>
              <a:t>→</a:t>
            </a:r>
          </a:p>
        </p:txBody>
      </p:sp>
      <p:sp>
        <p:nvSpPr>
          <p:cNvPr id="16" name="TextBox 15">
            <a:extLst>
              <a:ext uri="{FF2B5EF4-FFF2-40B4-BE49-F238E27FC236}">
                <a16:creationId xmlns:a16="http://schemas.microsoft.com/office/drawing/2014/main" id="{C07D0BB6-E278-4ED9-873F-178358A80ED7}"/>
              </a:ext>
            </a:extLst>
          </p:cNvPr>
          <p:cNvSpPr>
            <a:spLocks noGrp="1"/>
          </p:cNvSpPr>
          <p:nvPr/>
        </p:nvSpPr>
        <p:spPr>
          <a:xfrm>
            <a:off x="5833872" y="2532888"/>
            <a:ext cx="292608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RNA abundance</a:t>
            </a:r>
          </a:p>
        </p:txBody>
      </p:sp>
      <p:sp>
        <p:nvSpPr>
          <p:cNvPr id="17" name="TextBox 16">
            <a:extLst>
              <a:ext uri="{FF2B5EF4-FFF2-40B4-BE49-F238E27FC236}">
                <a16:creationId xmlns:a16="http://schemas.microsoft.com/office/drawing/2014/main" id="{FB189D88-BC57-415E-BBA7-B40A4B0E74B3}"/>
              </a:ext>
            </a:extLst>
          </p:cNvPr>
          <p:cNvSpPr>
            <a:spLocks noGrp="1"/>
          </p:cNvSpPr>
          <p:nvPr/>
        </p:nvSpPr>
        <p:spPr>
          <a:xfrm>
            <a:off x="8887968" y="2587752"/>
            <a:ext cx="1133856" cy="11521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5200" b="1" i="0">
                <a:solidFill>
                  <a:srgbClr val="00684D"/>
                </a:solidFill>
                <a:latin typeface="Arial"/>
                <a:ea typeface="Arial"/>
                <a:cs typeface="Arial"/>
              </a:rPr>
              <a:t>↑</a:t>
            </a:r>
          </a:p>
        </p:txBody>
      </p:sp>
      <p:sp>
        <p:nvSpPr>
          <p:cNvPr id="18" name="TextBox 17">
            <a:extLst>
              <a:ext uri="{FF2B5EF4-FFF2-40B4-BE49-F238E27FC236}">
                <a16:creationId xmlns:a16="http://schemas.microsoft.com/office/drawing/2014/main" id="{B59759B8-2C33-455B-AA6A-ADCAEDC593E8}"/>
              </a:ext>
            </a:extLst>
          </p:cNvPr>
          <p:cNvSpPr>
            <a:spLocks noGrp="1"/>
          </p:cNvSpPr>
          <p:nvPr/>
        </p:nvSpPr>
        <p:spPr>
          <a:xfrm>
            <a:off x="5596128" y="3136392"/>
            <a:ext cx="3401568" cy="7132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80" b="1" i="0">
                <a:solidFill>
                  <a:srgbClr val="1F2730"/>
                </a:solidFill>
                <a:latin typeface="Arial"/>
                <a:ea typeface="Arial"/>
                <a:cs typeface="Arial"/>
              </a:rPr>
              <a:t>higher core MT gene expression
in AD than in the comparison group</a:t>
            </a:r>
          </a:p>
        </p:txBody>
      </p:sp>
      <p:sp>
        <p:nvSpPr>
          <p:cNvPr id="19" name="Rounded Rectangle 18">
            <a:extLst>
              <a:ext uri="{FF2B5EF4-FFF2-40B4-BE49-F238E27FC236}">
                <a16:creationId xmlns:a16="http://schemas.microsoft.com/office/drawing/2014/main" id="{DF0611BE-3342-4FDE-A989-60D2197AE405}"/>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67EC3F6-1DCC-4C95-8C82-A4F04FD76544}"/>
              </a:ext>
            </a:extLst>
          </p:cNvPr>
          <p:cNvSpPr>
            <a:spLocks noGrp="1"/>
          </p:cNvSpPr>
          <p:nvPr/>
        </p:nvSpPr>
        <p:spPr>
          <a:xfrm>
            <a:off x="987552" y="5431536"/>
            <a:ext cx="10222992" cy="4815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a:solidFill>
                  <a:srgbClr val="7E4C9A"/>
                </a:solidFill>
                <a:latin typeface="Arial"/>
                <a:ea typeface="Arial"/>
                <a:cs typeface="Arial"/>
              </a:rPr>
              <a:t>Nuclear-encoded OXPHOS gene expression also rises in ROSMAP, but cross-cohort support is strongest for core MT genes.</a:t>
            </a:r>
          </a:p>
        </p:txBody>
      </p:sp>
    </p:spTree>
    <p:extLst>
      <p:ext uri="{BB962C8B-B14F-4D97-AF65-F5344CB8AC3E}">
        <p14:creationId xmlns:p14="http://schemas.microsoft.com/office/powerpoint/2010/main" val="18929641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9A384A-7A4A-4863-A573-B5BF9F11190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ε3/ε3 OXPHOS signals are predominantly AD-up</a:t>
            </a:r>
          </a:p>
        </p:txBody>
      </p:sp>
      <p:sp>
        <p:nvSpPr>
          <p:cNvPr id="4" name="Rounded Rectangle 3">
            <a:extLst>
              <a:ext uri="{FF2B5EF4-FFF2-40B4-BE49-F238E27FC236}">
                <a16:creationId xmlns:a16="http://schemas.microsoft.com/office/drawing/2014/main" id="{ECBBD7C1-5CD4-4521-8FF3-D64CCD516E5C}"/>
              </a:ext>
            </a:extLst>
          </p:cNvPr>
          <p:cNvSpPr>
            <a:spLocks noGrp="1"/>
          </p:cNvSpPr>
          <p:nvPr/>
        </p:nvSpPr>
        <p:spPr>
          <a:xfrm>
            <a:off x="658368" y="2402699"/>
            <a:ext cx="10881360" cy="11338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57C5A574-BC49-484D-9EE8-4581842795EE}"/>
              </a:ext>
            </a:extLst>
          </p:cNvPr>
          <p:cNvSpPr>
            <a:spLocks noGrp="1"/>
          </p:cNvSpPr>
          <p:nvPr/>
        </p:nvSpPr>
        <p:spPr>
          <a:xfrm>
            <a:off x="987552" y="2727763"/>
            <a:ext cx="4946904" cy="670953"/>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000" b="1" i="0">
                <a:solidFill>
                  <a:srgbClr val="0072B2"/>
                </a:solidFill>
                <a:latin typeface="Arial"/>
                <a:ea typeface="Arial"/>
                <a:cs typeface="Arial"/>
              </a:rPr>
              <a:t>Core MT genes</a:t>
            </a:r>
          </a:p>
          <a:p>
            <a:pPr algn="ctr">
              <a:lnSpc>
                <a:spcPct val="100000"/>
              </a:lnSpc>
              <a:spcBef>
                <a:spcPts val="0"/>
              </a:spcBef>
              <a:spcAft>
                <a:spcPts val="0"/>
              </a:spcAft>
              <a:buNone/>
            </a:pPr>
            <a:r>
              <a:rPr sz="2000" b="1" i="0">
                <a:solidFill>
                  <a:srgbClr val="0072B2"/>
                </a:solidFill>
                <a:latin typeface="Arial"/>
                <a:ea typeface="Arial"/>
                <a:cs typeface="Arial"/>
              </a:rPr>
              <a:t>217/217 occurrences are AD-up</a:t>
            </a:r>
          </a:p>
        </p:txBody>
      </p:sp>
      <p:sp>
        <p:nvSpPr>
          <p:cNvPr id="7" name="TextBox 6">
            <a:extLst>
              <a:ext uri="{FF2B5EF4-FFF2-40B4-BE49-F238E27FC236}">
                <a16:creationId xmlns:a16="http://schemas.microsoft.com/office/drawing/2014/main" id="{8557A361-83E3-46C3-9ED2-8824F70BA33C}"/>
              </a:ext>
            </a:extLst>
          </p:cNvPr>
          <p:cNvSpPr>
            <a:spLocks noGrp="1"/>
          </p:cNvSpPr>
          <p:nvPr/>
        </p:nvSpPr>
        <p:spPr>
          <a:xfrm>
            <a:off x="6263640" y="2578608"/>
            <a:ext cx="4901184"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Nuclear-encoded OXPHOS genes</a:t>
            </a:r>
          </a:p>
          <a:p>
            <a:pPr algn="ctr">
              <a:lnSpc>
                <a:spcPct val="100000"/>
              </a:lnSpc>
              <a:spcBef>
                <a:spcPts val="0"/>
              </a:spcBef>
              <a:spcAft>
                <a:spcPts val="0"/>
              </a:spcAft>
              <a:buNone/>
            </a:pPr>
            <a:r>
              <a:rPr sz="1200" b="1" i="0">
                <a:solidFill>
                  <a:srgbClr val="4E5A68"/>
                </a:solidFill>
                <a:latin typeface="Arial"/>
                <a:ea typeface="Arial"/>
                <a:cs typeface="Arial"/>
              </a:rPr>
              <a:t>76/89 occurrences are AD-up (85%)</a:t>
            </a:r>
          </a:p>
        </p:txBody>
      </p:sp>
      <p:sp>
        <p:nvSpPr>
          <p:cNvPr id="8" name="Rectangle 7">
            <a:extLst>
              <a:ext uri="{FF2B5EF4-FFF2-40B4-BE49-F238E27FC236}">
                <a16:creationId xmlns:a16="http://schemas.microsoft.com/office/drawing/2014/main" id="{DDFC3800-4C7F-4A91-8AB1-911E83C21F47}"/>
              </a:ext>
            </a:extLst>
          </p:cNvPr>
          <p:cNvSpPr>
            <a:spLocks noGrp="1"/>
          </p:cNvSpPr>
          <p:nvPr/>
        </p:nvSpPr>
        <p:spPr>
          <a:xfrm>
            <a:off x="822960" y="3911459"/>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033C06-FC81-48EB-A493-B65D6F687FB5}"/>
              </a:ext>
            </a:extLst>
          </p:cNvPr>
          <p:cNvSpPr>
            <a:spLocks noGrp="1"/>
          </p:cNvSpPr>
          <p:nvPr/>
        </p:nvSpPr>
        <p:spPr>
          <a:xfrm>
            <a:off x="969264" y="3884027"/>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Within </a:t>
            </a:r>
            <a:r>
              <a:rPr sz="1520" b="1">
                <a:solidFill>
                  <a:srgbClr val="0F233D"/>
                </a:solidFill>
                <a:latin typeface="Arial"/>
                <a:ea typeface="Arial"/>
                <a:cs typeface="Arial"/>
              </a:rPr>
              <a:t>excitatory</a:t>
            </a:r>
            <a:r>
              <a:rPr sz="1520" b="1" i="0">
                <a:solidFill>
                  <a:srgbClr val="0F233D"/>
                </a:solidFill>
                <a:latin typeface="Arial"/>
                <a:ea typeface="Arial"/>
                <a:cs typeface="Arial"/>
              </a:rPr>
              <a:t> neurons</a:t>
            </a:r>
          </a:p>
        </p:txBody>
      </p:sp>
      <p:sp>
        <p:nvSpPr>
          <p:cNvPr id="10" name="Rounded Rectangle 9">
            <a:extLst>
              <a:ext uri="{FF2B5EF4-FFF2-40B4-BE49-F238E27FC236}">
                <a16:creationId xmlns:a16="http://schemas.microsoft.com/office/drawing/2014/main" id="{37072A8D-E6F1-4F46-A677-AF6EC3872EAF}"/>
              </a:ext>
            </a:extLst>
          </p:cNvPr>
          <p:cNvSpPr>
            <a:spLocks noGrp="1"/>
          </p:cNvSpPr>
          <p:nvPr/>
        </p:nvSpPr>
        <p:spPr>
          <a:xfrm>
            <a:off x="2622890" y="4432667"/>
            <a:ext cx="3255264"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40C169-80D6-4CCC-B256-D0096F52BA60}"/>
              </a:ext>
            </a:extLst>
          </p:cNvPr>
          <p:cNvSpPr>
            <a:spLocks noGrp="1"/>
          </p:cNvSpPr>
          <p:nvPr/>
        </p:nvSpPr>
        <p:spPr>
          <a:xfrm>
            <a:off x="2787482"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14</a:t>
            </a:r>
          </a:p>
        </p:txBody>
      </p:sp>
      <p:sp>
        <p:nvSpPr>
          <p:cNvPr id="12" name="TextBox 11">
            <a:extLst>
              <a:ext uri="{FF2B5EF4-FFF2-40B4-BE49-F238E27FC236}">
                <a16:creationId xmlns:a16="http://schemas.microsoft.com/office/drawing/2014/main" id="{131575DD-DCF1-470C-AFD7-7261A2130067}"/>
              </a:ext>
            </a:extLst>
          </p:cNvPr>
          <p:cNvSpPr>
            <a:spLocks noGrp="1"/>
          </p:cNvSpPr>
          <p:nvPr/>
        </p:nvSpPr>
        <p:spPr>
          <a:xfrm>
            <a:off x="2787482" y="5091035"/>
            <a:ext cx="2926080" cy="21223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a:solidFill>
                  <a:srgbClr val="0F233D"/>
                </a:solidFill>
                <a:latin typeface="Arial"/>
                <a:ea typeface="Arial"/>
                <a:cs typeface="Arial"/>
              </a:rPr>
              <a:t>f</a:t>
            </a:r>
            <a:r>
              <a:rPr sz="1019" b="1" i="0">
                <a:solidFill>
                  <a:srgbClr val="0F233D"/>
                </a:solidFill>
                <a:latin typeface="Arial"/>
                <a:ea typeface="Arial"/>
                <a:cs typeface="Arial"/>
              </a:rPr>
              <a:t>ine-cell DEG lists included</a:t>
            </a:r>
          </a:p>
        </p:txBody>
      </p:sp>
      <p:sp>
        <p:nvSpPr>
          <p:cNvPr id="13" name="Rounded Rectangle 12">
            <a:extLst>
              <a:ext uri="{FF2B5EF4-FFF2-40B4-BE49-F238E27FC236}">
                <a16:creationId xmlns:a16="http://schemas.microsoft.com/office/drawing/2014/main" id="{21900610-13B3-4EB5-B45E-381F8D68E466}"/>
              </a:ext>
            </a:extLst>
          </p:cNvPr>
          <p:cNvSpPr>
            <a:spLocks noGrp="1"/>
          </p:cNvSpPr>
          <p:nvPr/>
        </p:nvSpPr>
        <p:spPr>
          <a:xfrm>
            <a:off x="6262202" y="4432667"/>
            <a:ext cx="3255264"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7BE3BB-092A-435E-AE34-69336CCD976C}"/>
              </a:ext>
            </a:extLst>
          </p:cNvPr>
          <p:cNvSpPr>
            <a:spLocks noGrp="1"/>
          </p:cNvSpPr>
          <p:nvPr/>
        </p:nvSpPr>
        <p:spPr>
          <a:xfrm>
            <a:off x="6426794"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123</a:t>
            </a:r>
          </a:p>
        </p:txBody>
      </p:sp>
      <p:sp>
        <p:nvSpPr>
          <p:cNvPr id="15" name="TextBox 14">
            <a:extLst>
              <a:ext uri="{FF2B5EF4-FFF2-40B4-BE49-F238E27FC236}">
                <a16:creationId xmlns:a16="http://schemas.microsoft.com/office/drawing/2014/main" id="{874B3382-6DE7-4669-98B0-2EBBCFE51CA5}"/>
              </a:ext>
            </a:extLst>
          </p:cNvPr>
          <p:cNvSpPr>
            <a:spLocks noGrp="1"/>
          </p:cNvSpPr>
          <p:nvPr/>
        </p:nvSpPr>
        <p:spPr>
          <a:xfrm>
            <a:off x="6426794" y="5091035"/>
            <a:ext cx="292608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DEG occurrences</a:t>
            </a:r>
          </a:p>
        </p:txBody>
      </p:sp>
      <p:sp>
        <p:nvSpPr>
          <p:cNvPr id="19" name="Rounded Rectangle 18">
            <a:extLst>
              <a:ext uri="{FF2B5EF4-FFF2-40B4-BE49-F238E27FC236}">
                <a16:creationId xmlns:a16="http://schemas.microsoft.com/office/drawing/2014/main" id="{111CC3A6-1B5D-4A64-8308-AD8C656EC246}"/>
              </a:ext>
            </a:extLst>
          </p:cNvPr>
          <p:cNvSpPr>
            <a:spLocks noGrp="1"/>
          </p:cNvSpPr>
          <p:nvPr/>
        </p:nvSpPr>
        <p:spPr>
          <a:xfrm>
            <a:off x="822960" y="5880464"/>
            <a:ext cx="10533888"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Rectangle 19">
            <a:extLst>
              <a:ext uri="{FF2B5EF4-FFF2-40B4-BE49-F238E27FC236}">
                <a16:creationId xmlns:a16="http://schemas.microsoft.com/office/drawing/2014/main" id="{B9432BB9-196A-4B83-BF88-F362828F559D}"/>
              </a:ext>
            </a:extLst>
          </p:cNvPr>
          <p:cNvSpPr>
            <a:spLocks noGrp="1"/>
          </p:cNvSpPr>
          <p:nvPr/>
        </p:nvSpPr>
        <p:spPr>
          <a:xfrm>
            <a:off x="1042415" y="6142595"/>
            <a:ext cx="8924544" cy="18288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8F193D5-6095-4F4D-A363-B705B9523607}"/>
              </a:ext>
            </a:extLst>
          </p:cNvPr>
          <p:cNvSpPr>
            <a:spLocks noGrp="1"/>
          </p:cNvSpPr>
          <p:nvPr/>
        </p:nvSpPr>
        <p:spPr>
          <a:xfrm>
            <a:off x="1042415" y="5895707"/>
            <a:ext cx="21945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684D"/>
                </a:solidFill>
                <a:latin typeface="Arial"/>
                <a:ea typeface="Arial"/>
                <a:cs typeface="Arial"/>
              </a:rPr>
              <a:t>123 AD-up</a:t>
            </a:r>
          </a:p>
        </p:txBody>
      </p:sp>
      <p:sp>
        <p:nvSpPr>
          <p:cNvPr id="22" name="TextBox 21">
            <a:extLst>
              <a:ext uri="{FF2B5EF4-FFF2-40B4-BE49-F238E27FC236}">
                <a16:creationId xmlns:a16="http://schemas.microsoft.com/office/drawing/2014/main" id="{C5F40C86-C6A3-4BF6-98A0-CD69CC071E4B}"/>
              </a:ext>
            </a:extLst>
          </p:cNvPr>
          <p:cNvSpPr>
            <a:spLocks noGrp="1"/>
          </p:cNvSpPr>
          <p:nvPr/>
        </p:nvSpPr>
        <p:spPr>
          <a:xfrm>
            <a:off x="9948672" y="5895707"/>
            <a:ext cx="1133856"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50" b="1" i="0">
                <a:solidFill>
                  <a:srgbClr val="9E3A00"/>
                </a:solidFill>
                <a:latin typeface="Arial"/>
                <a:ea typeface="Arial"/>
                <a:cs typeface="Arial"/>
              </a:rPr>
              <a:t>0 AD-down</a:t>
            </a:r>
          </a:p>
        </p:txBody>
      </p:sp>
      <p:sp>
        <p:nvSpPr>
          <p:cNvPr id="26" name="Rectangle 25">
            <a:extLst>
              <a:ext uri="{FF2B5EF4-FFF2-40B4-BE49-F238E27FC236}">
                <a16:creationId xmlns:a16="http://schemas.microsoft.com/office/drawing/2014/main" id="{A3EE13A9-22D5-50A2-11CE-AB3CAD176957}"/>
              </a:ext>
            </a:extLst>
          </p:cNvPr>
          <p:cNvSpPr>
            <a:spLocks noGrp="1"/>
          </p:cNvSpPr>
          <p:nvPr/>
        </p:nvSpPr>
        <p:spPr>
          <a:xfrm>
            <a:off x="809895" y="2008624"/>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15B8895-9C9B-00FA-D032-13DF052A1BD1}"/>
              </a:ext>
            </a:extLst>
          </p:cNvPr>
          <p:cNvSpPr>
            <a:spLocks noGrp="1"/>
          </p:cNvSpPr>
          <p:nvPr/>
        </p:nvSpPr>
        <p:spPr>
          <a:xfrm>
            <a:off x="956199" y="1981192"/>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All included female ε3/ε3 DEG lists</a:t>
            </a:r>
          </a:p>
        </p:txBody>
      </p:sp>
    </p:spTree>
    <p:extLst>
      <p:ext uri="{BB962C8B-B14F-4D97-AF65-F5344CB8AC3E}">
        <p14:creationId xmlns:p14="http://schemas.microsoft.com/office/powerpoint/2010/main" val="3319326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6D2DCA-6440-4FC8-ADC6-70416DB822CC}"/>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strong support for the excitatory-neuron core MT gene pattern</a:t>
            </a:r>
          </a:p>
        </p:txBody>
      </p:sp>
      <p:sp>
        <p:nvSpPr>
          <p:cNvPr id="3" name="TextBox 2">
            <a:extLst>
              <a:ext uri="{FF2B5EF4-FFF2-40B4-BE49-F238E27FC236}">
                <a16:creationId xmlns:a16="http://schemas.microsoft.com/office/drawing/2014/main" id="{57C75997-8929-4D69-A9F0-62952DF2C73C}"/>
              </a:ext>
            </a:extLst>
          </p:cNvPr>
          <p:cNvSpPr>
            <a:spLocks noGrp="1"/>
          </p:cNvSpPr>
          <p:nvPr/>
        </p:nvSpPr>
        <p:spPr>
          <a:xfrm>
            <a:off x="548640" y="9692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Only one SEA-AD fine-cell DEG list contributed to the matched female ε3/ε3 excitatory-neuron comparison, so coverage is limited.</a:t>
            </a:r>
          </a:p>
        </p:txBody>
      </p:sp>
      <p:sp>
        <p:nvSpPr>
          <p:cNvPr id="4" name="Rounded Rectangle 3">
            <a:extLst>
              <a:ext uri="{FF2B5EF4-FFF2-40B4-BE49-F238E27FC236}">
                <a16:creationId xmlns:a16="http://schemas.microsoft.com/office/drawing/2014/main" id="{8C4139BF-7618-4986-9D53-5EF567B29CD6}"/>
              </a:ext>
            </a:extLst>
          </p:cNvPr>
          <p:cNvSpPr>
            <a:spLocks noGrp="1"/>
          </p:cNvSpPr>
          <p:nvPr/>
        </p:nvSpPr>
        <p:spPr>
          <a:xfrm>
            <a:off x="713232" y="1371600"/>
            <a:ext cx="327355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E2FF06-B7A9-4AEC-9585-668D9E48A9C9}"/>
              </a:ext>
            </a:extLst>
          </p:cNvPr>
          <p:cNvSpPr>
            <a:spLocks noGrp="1"/>
          </p:cNvSpPr>
          <p:nvPr/>
        </p:nvSpPr>
        <p:spPr>
          <a:xfrm>
            <a:off x="877824" y="1499616"/>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9/10</a:t>
            </a:r>
          </a:p>
        </p:txBody>
      </p:sp>
      <p:sp>
        <p:nvSpPr>
          <p:cNvPr id="6" name="TextBox 5">
            <a:extLst>
              <a:ext uri="{FF2B5EF4-FFF2-40B4-BE49-F238E27FC236}">
                <a16:creationId xmlns:a16="http://schemas.microsoft.com/office/drawing/2014/main" id="{6BA52C5B-057E-49B8-8749-CCB6EA7832A8}"/>
              </a:ext>
            </a:extLst>
          </p:cNvPr>
          <p:cNvSpPr>
            <a:spLocks noGrp="1"/>
          </p:cNvSpPr>
          <p:nvPr/>
        </p:nvSpPr>
        <p:spPr>
          <a:xfrm>
            <a:off x="877824" y="2029967"/>
            <a:ext cx="2944368" cy="3654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SEA-AD MitoCarta MT DEGs also found in ROSMAP</a:t>
            </a:r>
          </a:p>
        </p:txBody>
      </p:sp>
      <p:sp>
        <p:nvSpPr>
          <p:cNvPr id="7" name="Rounded Rectangle 6">
            <a:extLst>
              <a:ext uri="{FF2B5EF4-FFF2-40B4-BE49-F238E27FC236}">
                <a16:creationId xmlns:a16="http://schemas.microsoft.com/office/drawing/2014/main" id="{90943F31-8715-48FB-9D25-65D2570FE648}"/>
              </a:ext>
            </a:extLst>
          </p:cNvPr>
          <p:cNvSpPr>
            <a:spLocks noGrp="1"/>
          </p:cNvSpPr>
          <p:nvPr/>
        </p:nvSpPr>
        <p:spPr>
          <a:xfrm>
            <a:off x="713232" y="2807208"/>
            <a:ext cx="327355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ACECCD25-F81C-44BD-B1BE-6CCD007CCAFF}"/>
              </a:ext>
            </a:extLst>
          </p:cNvPr>
          <p:cNvSpPr>
            <a:spLocks noGrp="1"/>
          </p:cNvSpPr>
          <p:nvPr/>
        </p:nvSpPr>
        <p:spPr>
          <a:xfrm>
            <a:off x="877824" y="2935224"/>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9/9</a:t>
            </a:r>
          </a:p>
        </p:txBody>
      </p:sp>
      <p:sp>
        <p:nvSpPr>
          <p:cNvPr id="9" name="TextBox 8">
            <a:extLst>
              <a:ext uri="{FF2B5EF4-FFF2-40B4-BE49-F238E27FC236}">
                <a16:creationId xmlns:a16="http://schemas.microsoft.com/office/drawing/2014/main" id="{B2BC4AF6-22C0-4101-A1EC-194EF2F07DA1}"/>
              </a:ext>
            </a:extLst>
          </p:cNvPr>
          <p:cNvSpPr>
            <a:spLocks noGrp="1"/>
          </p:cNvSpPr>
          <p:nvPr/>
        </p:nvSpPr>
        <p:spPr>
          <a:xfrm>
            <a:off x="877824" y="3465576"/>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are AD-up in both cohorts</a:t>
            </a:r>
          </a:p>
        </p:txBody>
      </p:sp>
      <p:sp>
        <p:nvSpPr>
          <p:cNvPr id="10" name="Rounded Rectangle 9">
            <a:extLst>
              <a:ext uri="{FF2B5EF4-FFF2-40B4-BE49-F238E27FC236}">
                <a16:creationId xmlns:a16="http://schemas.microsoft.com/office/drawing/2014/main" id="{EAA86796-15D8-42E8-A625-E146CA6C3481}"/>
              </a:ext>
            </a:extLst>
          </p:cNvPr>
          <p:cNvSpPr>
            <a:spLocks noGrp="1"/>
          </p:cNvSpPr>
          <p:nvPr/>
        </p:nvSpPr>
        <p:spPr>
          <a:xfrm>
            <a:off x="713232" y="4242816"/>
            <a:ext cx="327355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15DA7CE-911F-44E8-9A2F-474FE65548FF}"/>
              </a:ext>
            </a:extLst>
          </p:cNvPr>
          <p:cNvSpPr>
            <a:spLocks noGrp="1"/>
          </p:cNvSpPr>
          <p:nvPr/>
        </p:nvSpPr>
        <p:spPr>
          <a:xfrm>
            <a:off x="877824" y="4370831"/>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Adjusted P = 0.005</a:t>
            </a:r>
          </a:p>
        </p:txBody>
      </p:sp>
      <p:sp>
        <p:nvSpPr>
          <p:cNvPr id="12" name="TextBox 11">
            <a:extLst>
              <a:ext uri="{FF2B5EF4-FFF2-40B4-BE49-F238E27FC236}">
                <a16:creationId xmlns:a16="http://schemas.microsoft.com/office/drawing/2014/main" id="{9ADD6921-AD74-4B94-AB0A-D0B2CFFAC018}"/>
              </a:ext>
            </a:extLst>
          </p:cNvPr>
          <p:cNvSpPr>
            <a:spLocks noGrp="1"/>
          </p:cNvSpPr>
          <p:nvPr/>
        </p:nvSpPr>
        <p:spPr>
          <a:xfrm>
            <a:off x="877824" y="4901183"/>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shared-gene overlap between cohorts</a:t>
            </a:r>
          </a:p>
        </p:txBody>
      </p:sp>
      <p:sp>
        <p:nvSpPr>
          <p:cNvPr id="13" name="TextBox 12">
            <a:extLst>
              <a:ext uri="{FF2B5EF4-FFF2-40B4-BE49-F238E27FC236}">
                <a16:creationId xmlns:a16="http://schemas.microsoft.com/office/drawing/2014/main" id="{04AF87D9-8701-44A2-A573-D4F8BFC9199F}"/>
              </a:ext>
            </a:extLst>
          </p:cNvPr>
          <p:cNvSpPr>
            <a:spLocks noGrp="1"/>
          </p:cNvSpPr>
          <p:nvPr/>
        </p:nvSpPr>
        <p:spPr>
          <a:xfrm>
            <a:off x="877824" y="5230368"/>
            <a:ext cx="294436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9 shared versus 3.83 expected</a:t>
            </a:r>
          </a:p>
        </p:txBody>
      </p:sp>
      <p:sp>
        <p:nvSpPr>
          <p:cNvPr id="14" name="Rounded Rectangle 13">
            <a:extLst>
              <a:ext uri="{FF2B5EF4-FFF2-40B4-BE49-F238E27FC236}">
                <a16:creationId xmlns:a16="http://schemas.microsoft.com/office/drawing/2014/main" id="{41A2725F-0694-4957-AE4A-FD6EC15292FD}"/>
              </a:ext>
            </a:extLst>
          </p:cNvPr>
          <p:cNvSpPr>
            <a:spLocks noGrp="1"/>
          </p:cNvSpPr>
          <p:nvPr/>
        </p:nvSpPr>
        <p:spPr>
          <a:xfrm>
            <a:off x="4315968" y="1371600"/>
            <a:ext cx="7150608" cy="433425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Rectangle 14">
            <a:extLst>
              <a:ext uri="{FF2B5EF4-FFF2-40B4-BE49-F238E27FC236}">
                <a16:creationId xmlns:a16="http://schemas.microsoft.com/office/drawing/2014/main" id="{ACEB790C-B7A7-447A-8FDC-7C5664E31F24}"/>
              </a:ext>
            </a:extLst>
          </p:cNvPr>
          <p:cNvSpPr>
            <a:spLocks noGrp="1"/>
          </p:cNvSpPr>
          <p:nvPr/>
        </p:nvSpPr>
        <p:spPr>
          <a:xfrm>
            <a:off x="46085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4F275946-0725-45E6-843F-95BBC8C7CAFC}"/>
              </a:ext>
            </a:extLst>
          </p:cNvPr>
          <p:cNvSpPr>
            <a:spLocks noGrp="1"/>
          </p:cNvSpPr>
          <p:nvPr/>
        </p:nvSpPr>
        <p:spPr>
          <a:xfrm>
            <a:off x="4754880" y="1664208"/>
            <a:ext cx="63642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Nine shared core MT genes</a:t>
            </a:r>
          </a:p>
        </p:txBody>
      </p:sp>
      <p:sp>
        <p:nvSpPr>
          <p:cNvPr id="17" name="Rounded Rectangle 16">
            <a:extLst>
              <a:ext uri="{FF2B5EF4-FFF2-40B4-BE49-F238E27FC236}">
                <a16:creationId xmlns:a16="http://schemas.microsoft.com/office/drawing/2014/main" id="{CAD8F1F9-49BD-489B-A42F-855641139CE9}"/>
              </a:ext>
            </a:extLst>
          </p:cNvPr>
          <p:cNvSpPr>
            <a:spLocks noGrp="1"/>
          </p:cNvSpPr>
          <p:nvPr/>
        </p:nvSpPr>
        <p:spPr>
          <a:xfrm>
            <a:off x="462686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11F70E4-676B-43C5-B532-4C6DDBAE917C}"/>
              </a:ext>
            </a:extLst>
          </p:cNvPr>
          <p:cNvSpPr>
            <a:spLocks noGrp="1"/>
          </p:cNvSpPr>
          <p:nvPr/>
        </p:nvSpPr>
        <p:spPr>
          <a:xfrm>
            <a:off x="471830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MT-ATP6</a:t>
            </a:r>
          </a:p>
        </p:txBody>
      </p:sp>
      <p:sp>
        <p:nvSpPr>
          <p:cNvPr id="19" name="Rounded Rectangle 18">
            <a:extLst>
              <a:ext uri="{FF2B5EF4-FFF2-40B4-BE49-F238E27FC236}">
                <a16:creationId xmlns:a16="http://schemas.microsoft.com/office/drawing/2014/main" id="{28889E98-08F5-4EA2-B5E9-BF6C95FC4AE3}"/>
              </a:ext>
            </a:extLst>
          </p:cNvPr>
          <p:cNvSpPr>
            <a:spLocks noGrp="1"/>
          </p:cNvSpPr>
          <p:nvPr/>
        </p:nvSpPr>
        <p:spPr>
          <a:xfrm>
            <a:off x="6729983"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3AF5785-B372-4F0A-B5EE-9CA243B074C7}"/>
              </a:ext>
            </a:extLst>
          </p:cNvPr>
          <p:cNvSpPr>
            <a:spLocks noGrp="1"/>
          </p:cNvSpPr>
          <p:nvPr/>
        </p:nvSpPr>
        <p:spPr>
          <a:xfrm>
            <a:off x="682142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MT-CO1</a:t>
            </a:r>
          </a:p>
        </p:txBody>
      </p:sp>
      <p:sp>
        <p:nvSpPr>
          <p:cNvPr id="21" name="Rounded Rectangle 20">
            <a:extLst>
              <a:ext uri="{FF2B5EF4-FFF2-40B4-BE49-F238E27FC236}">
                <a16:creationId xmlns:a16="http://schemas.microsoft.com/office/drawing/2014/main" id="{53655F11-2343-48DD-91C0-608962052EEA}"/>
              </a:ext>
            </a:extLst>
          </p:cNvPr>
          <p:cNvSpPr>
            <a:spLocks noGrp="1"/>
          </p:cNvSpPr>
          <p:nvPr/>
        </p:nvSpPr>
        <p:spPr>
          <a:xfrm>
            <a:off x="883310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9F497667-459B-41E4-A14A-F2D5989BAC9F}"/>
              </a:ext>
            </a:extLst>
          </p:cNvPr>
          <p:cNvSpPr>
            <a:spLocks noGrp="1"/>
          </p:cNvSpPr>
          <p:nvPr/>
        </p:nvSpPr>
        <p:spPr>
          <a:xfrm>
            <a:off x="8924544"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MT-CO2</a:t>
            </a:r>
          </a:p>
        </p:txBody>
      </p:sp>
      <p:sp>
        <p:nvSpPr>
          <p:cNvPr id="23" name="Rounded Rectangle 22">
            <a:extLst>
              <a:ext uri="{FF2B5EF4-FFF2-40B4-BE49-F238E27FC236}">
                <a16:creationId xmlns:a16="http://schemas.microsoft.com/office/drawing/2014/main" id="{88514EA0-9428-48CB-BEA4-1FC3FCA51D15}"/>
              </a:ext>
            </a:extLst>
          </p:cNvPr>
          <p:cNvSpPr>
            <a:spLocks noGrp="1"/>
          </p:cNvSpPr>
          <p:nvPr/>
        </p:nvSpPr>
        <p:spPr>
          <a:xfrm>
            <a:off x="462686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65BFBB08-39FF-42FC-8B5C-979C25BA3C13}"/>
              </a:ext>
            </a:extLst>
          </p:cNvPr>
          <p:cNvSpPr>
            <a:spLocks noGrp="1"/>
          </p:cNvSpPr>
          <p:nvPr/>
        </p:nvSpPr>
        <p:spPr>
          <a:xfrm>
            <a:off x="471830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MT-CO3</a:t>
            </a:r>
          </a:p>
        </p:txBody>
      </p:sp>
      <p:sp>
        <p:nvSpPr>
          <p:cNvPr id="25" name="Rounded Rectangle 24">
            <a:extLst>
              <a:ext uri="{FF2B5EF4-FFF2-40B4-BE49-F238E27FC236}">
                <a16:creationId xmlns:a16="http://schemas.microsoft.com/office/drawing/2014/main" id="{1FB03E35-E519-4ABD-A350-B0B73DEF330D}"/>
              </a:ext>
            </a:extLst>
          </p:cNvPr>
          <p:cNvSpPr>
            <a:spLocks noGrp="1"/>
          </p:cNvSpPr>
          <p:nvPr/>
        </p:nvSpPr>
        <p:spPr>
          <a:xfrm>
            <a:off x="6729983"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BC938378-EC21-405A-9015-88126D16BFF6}"/>
              </a:ext>
            </a:extLst>
          </p:cNvPr>
          <p:cNvSpPr>
            <a:spLocks noGrp="1"/>
          </p:cNvSpPr>
          <p:nvPr/>
        </p:nvSpPr>
        <p:spPr>
          <a:xfrm>
            <a:off x="682142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MT-CYB</a:t>
            </a:r>
          </a:p>
        </p:txBody>
      </p:sp>
      <p:sp>
        <p:nvSpPr>
          <p:cNvPr id="27" name="Rounded Rectangle 26">
            <a:extLst>
              <a:ext uri="{FF2B5EF4-FFF2-40B4-BE49-F238E27FC236}">
                <a16:creationId xmlns:a16="http://schemas.microsoft.com/office/drawing/2014/main" id="{654B293A-1D64-4775-A6A4-BE65C26A1FF7}"/>
              </a:ext>
            </a:extLst>
          </p:cNvPr>
          <p:cNvSpPr>
            <a:spLocks noGrp="1"/>
          </p:cNvSpPr>
          <p:nvPr/>
        </p:nvSpPr>
        <p:spPr>
          <a:xfrm>
            <a:off x="883310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6B52AD8F-EDD8-4C34-A877-8829A680EF2B}"/>
              </a:ext>
            </a:extLst>
          </p:cNvPr>
          <p:cNvSpPr>
            <a:spLocks noGrp="1"/>
          </p:cNvSpPr>
          <p:nvPr/>
        </p:nvSpPr>
        <p:spPr>
          <a:xfrm>
            <a:off x="8924544"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MT-ND1</a:t>
            </a:r>
          </a:p>
        </p:txBody>
      </p:sp>
      <p:sp>
        <p:nvSpPr>
          <p:cNvPr id="29" name="Rounded Rectangle 28">
            <a:extLst>
              <a:ext uri="{FF2B5EF4-FFF2-40B4-BE49-F238E27FC236}">
                <a16:creationId xmlns:a16="http://schemas.microsoft.com/office/drawing/2014/main" id="{163336B0-1C3F-47A7-9CF3-B5551FCC3669}"/>
              </a:ext>
            </a:extLst>
          </p:cNvPr>
          <p:cNvSpPr>
            <a:spLocks noGrp="1"/>
          </p:cNvSpPr>
          <p:nvPr/>
        </p:nvSpPr>
        <p:spPr>
          <a:xfrm>
            <a:off x="462686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21463F87-EB9A-4B85-8E11-C5961CA95310}"/>
              </a:ext>
            </a:extLst>
          </p:cNvPr>
          <p:cNvSpPr>
            <a:spLocks noGrp="1"/>
          </p:cNvSpPr>
          <p:nvPr/>
        </p:nvSpPr>
        <p:spPr>
          <a:xfrm>
            <a:off x="471830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MT-ND2</a:t>
            </a:r>
          </a:p>
        </p:txBody>
      </p:sp>
      <p:sp>
        <p:nvSpPr>
          <p:cNvPr id="31" name="Rounded Rectangle 30">
            <a:extLst>
              <a:ext uri="{FF2B5EF4-FFF2-40B4-BE49-F238E27FC236}">
                <a16:creationId xmlns:a16="http://schemas.microsoft.com/office/drawing/2014/main" id="{DA78BB86-560D-465E-853B-8709711AC76C}"/>
              </a:ext>
            </a:extLst>
          </p:cNvPr>
          <p:cNvSpPr>
            <a:spLocks noGrp="1"/>
          </p:cNvSpPr>
          <p:nvPr/>
        </p:nvSpPr>
        <p:spPr>
          <a:xfrm>
            <a:off x="6729983"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CD6E3EF-3EA1-45FC-8A36-71F17563A453}"/>
              </a:ext>
            </a:extLst>
          </p:cNvPr>
          <p:cNvSpPr>
            <a:spLocks noGrp="1"/>
          </p:cNvSpPr>
          <p:nvPr/>
        </p:nvSpPr>
        <p:spPr>
          <a:xfrm>
            <a:off x="682142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MT-ND4</a:t>
            </a:r>
          </a:p>
        </p:txBody>
      </p:sp>
      <p:sp>
        <p:nvSpPr>
          <p:cNvPr id="33" name="Rounded Rectangle 32">
            <a:extLst>
              <a:ext uri="{FF2B5EF4-FFF2-40B4-BE49-F238E27FC236}">
                <a16:creationId xmlns:a16="http://schemas.microsoft.com/office/drawing/2014/main" id="{DB2F1ABD-2547-4C59-8D56-6E9F4049067B}"/>
              </a:ext>
            </a:extLst>
          </p:cNvPr>
          <p:cNvSpPr>
            <a:spLocks noGrp="1"/>
          </p:cNvSpPr>
          <p:nvPr/>
        </p:nvSpPr>
        <p:spPr>
          <a:xfrm>
            <a:off x="883310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2B3495B9-FC33-4BB1-BD9D-AEA2D3999F0E}"/>
              </a:ext>
            </a:extLst>
          </p:cNvPr>
          <p:cNvSpPr>
            <a:spLocks noGrp="1"/>
          </p:cNvSpPr>
          <p:nvPr/>
        </p:nvSpPr>
        <p:spPr>
          <a:xfrm>
            <a:off x="8924544"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MT-ND5</a:t>
            </a:r>
          </a:p>
        </p:txBody>
      </p:sp>
      <p:sp>
        <p:nvSpPr>
          <p:cNvPr id="35" name="Rounded Rectangle 34">
            <a:extLst>
              <a:ext uri="{FF2B5EF4-FFF2-40B4-BE49-F238E27FC236}">
                <a16:creationId xmlns:a16="http://schemas.microsoft.com/office/drawing/2014/main" id="{B37771B0-73EB-4918-A9F6-1BC3F202E5AA}"/>
              </a:ext>
            </a:extLst>
          </p:cNvPr>
          <p:cNvSpPr>
            <a:spLocks noGrp="1"/>
          </p:cNvSpPr>
          <p:nvPr/>
        </p:nvSpPr>
        <p:spPr>
          <a:xfrm>
            <a:off x="4626864" y="4828032"/>
            <a:ext cx="6272784" cy="54864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1B6AB063-6B63-4EA7-9907-FC63046875D9}"/>
              </a:ext>
            </a:extLst>
          </p:cNvPr>
          <p:cNvSpPr>
            <a:spLocks noGrp="1"/>
          </p:cNvSpPr>
          <p:nvPr/>
        </p:nvSpPr>
        <p:spPr>
          <a:xfrm>
            <a:off x="4828032" y="4992624"/>
            <a:ext cx="5870448"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All nine core MT genes are upregulated in both cohorts.</a:t>
            </a:r>
          </a:p>
        </p:txBody>
      </p:sp>
    </p:spTree>
    <p:extLst>
      <p:ext uri="{BB962C8B-B14F-4D97-AF65-F5344CB8AC3E}">
        <p14:creationId xmlns:p14="http://schemas.microsoft.com/office/powerpoint/2010/main" val="111049478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CA654A-AB07-4E8B-BA1D-A8745CB8ECC8}"/>
              </a:ext>
            </a:extLst>
          </p:cNvPr>
          <p:cNvSpPr>
            <a:spLocks noGrp="1"/>
          </p:cNvSpPr>
          <p:nvPr/>
        </p:nvSpPr>
        <p:spPr>
          <a:xfrm>
            <a:off x="530352" y="292608"/>
            <a:ext cx="11064240" cy="67095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excitatory neurons may be conducting a coordinated mitochondrial response</a:t>
            </a:r>
          </a:p>
        </p:txBody>
      </p:sp>
      <p:sp>
        <p:nvSpPr>
          <p:cNvPr id="3" name="TextBox 2">
            <a:extLst>
              <a:ext uri="{FF2B5EF4-FFF2-40B4-BE49-F238E27FC236}">
                <a16:creationId xmlns:a16="http://schemas.microsoft.com/office/drawing/2014/main" id="{B99129EA-A2AE-46B0-8E3F-650537ACB8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repeated direction is biologically informative even though its functional meaning remains open.</a:t>
            </a:r>
          </a:p>
        </p:txBody>
      </p:sp>
      <p:sp>
        <p:nvSpPr>
          <p:cNvPr id="4" name="Rounded Rectangle 3">
            <a:extLst>
              <a:ext uri="{FF2B5EF4-FFF2-40B4-BE49-F238E27FC236}">
                <a16:creationId xmlns:a16="http://schemas.microsoft.com/office/drawing/2014/main" id="{3F1E3BBD-14B7-4A02-B94E-67585B5D8D48}"/>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8F5142AC-4C6A-4EA2-AFC8-2728EB6DF64F}"/>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82E2D5C6-C022-45AF-B4C2-A43A7FF17B8B}"/>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380516AF-6A39-4FEB-BB55-12201169B8D9}"/>
              </a:ext>
            </a:extLst>
          </p:cNvPr>
          <p:cNvSpPr>
            <a:spLocks noGrp="1"/>
          </p:cNvSpPr>
          <p:nvPr/>
        </p:nvSpPr>
        <p:spPr>
          <a:xfrm>
            <a:off x="157276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High energy demand</a:t>
            </a:r>
          </a:p>
        </p:txBody>
      </p:sp>
      <p:sp>
        <p:nvSpPr>
          <p:cNvPr id="8" name="TextBox 7">
            <a:extLst>
              <a:ext uri="{FF2B5EF4-FFF2-40B4-BE49-F238E27FC236}">
                <a16:creationId xmlns:a16="http://schemas.microsoft.com/office/drawing/2014/main" id="{73B618EF-651F-449B-9C83-89A5D4523DA3}"/>
              </a:ext>
            </a:extLst>
          </p:cNvPr>
          <p:cNvSpPr>
            <a:spLocks noGrp="1"/>
          </p:cNvSpPr>
          <p:nvPr/>
        </p:nvSpPr>
        <p:spPr>
          <a:xfrm>
            <a:off x="95097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Excitatory neurons spend substantial energy sending and restoring electrical signals.</a:t>
            </a:r>
          </a:p>
        </p:txBody>
      </p:sp>
      <p:sp>
        <p:nvSpPr>
          <p:cNvPr id="9" name="Rounded Rectangle 8">
            <a:extLst>
              <a:ext uri="{FF2B5EF4-FFF2-40B4-BE49-F238E27FC236}">
                <a16:creationId xmlns:a16="http://schemas.microsoft.com/office/drawing/2014/main" id="{BEB91B40-BDC4-472D-9374-07C6725FDCBD}"/>
              </a:ext>
            </a:extLst>
          </p:cNvPr>
          <p:cNvSpPr>
            <a:spLocks noGrp="1"/>
          </p:cNvSpPr>
          <p:nvPr/>
        </p:nvSpPr>
        <p:spPr>
          <a:xfrm>
            <a:off x="4453128" y="1444752"/>
            <a:ext cx="3456432" cy="292608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9A65E5DC-1AAC-4450-AFD0-D7826B5DEAE0}"/>
              </a:ext>
            </a:extLst>
          </p:cNvPr>
          <p:cNvSpPr>
            <a:spLocks noGrp="1"/>
          </p:cNvSpPr>
          <p:nvPr/>
        </p:nvSpPr>
        <p:spPr>
          <a:xfrm>
            <a:off x="4709160" y="1755648"/>
            <a:ext cx="512064" cy="51206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B2D1F9B-9B71-49A6-9999-3FE1F8A78E7C}"/>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969D0F82-104E-4BEF-B341-49D46A6D1A8C}"/>
              </a:ext>
            </a:extLst>
          </p:cNvPr>
          <p:cNvSpPr>
            <a:spLocks noGrp="1"/>
          </p:cNvSpPr>
          <p:nvPr/>
        </p:nvSpPr>
        <p:spPr>
          <a:xfrm>
            <a:off x="5367528" y="1773936"/>
            <a:ext cx="2249424" cy="5425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Essential core MT genes</a:t>
            </a:r>
          </a:p>
        </p:txBody>
      </p:sp>
      <p:sp>
        <p:nvSpPr>
          <p:cNvPr id="13" name="TextBox 12">
            <a:extLst>
              <a:ext uri="{FF2B5EF4-FFF2-40B4-BE49-F238E27FC236}">
                <a16:creationId xmlns:a16="http://schemas.microsoft.com/office/drawing/2014/main" id="{AD5164C9-0653-483A-A83B-798C6BD58C43}"/>
              </a:ext>
            </a:extLst>
          </p:cNvPr>
          <p:cNvSpPr>
            <a:spLocks noGrp="1"/>
          </p:cNvSpPr>
          <p:nvPr/>
        </p:nvSpPr>
        <p:spPr>
          <a:xfrm>
            <a:off x="474573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The 13 core MT genes encode structural OXPHOS subunits needed for respiration.</a:t>
            </a:r>
          </a:p>
        </p:txBody>
      </p:sp>
      <p:sp>
        <p:nvSpPr>
          <p:cNvPr id="14" name="Rounded Rectangle 13">
            <a:extLst>
              <a:ext uri="{FF2B5EF4-FFF2-40B4-BE49-F238E27FC236}">
                <a16:creationId xmlns:a16="http://schemas.microsoft.com/office/drawing/2014/main" id="{A63BD49F-492F-49A8-8701-D94C1DE8F87D}"/>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4DA3D490-7D99-463B-8604-7EDF75732275}"/>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12242748-53CE-4A4C-BCD5-10502CC6D3BD}"/>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588883E8-7003-4329-BB64-A8502198D660}"/>
              </a:ext>
            </a:extLst>
          </p:cNvPr>
          <p:cNvSpPr>
            <a:spLocks noGrp="1"/>
          </p:cNvSpPr>
          <p:nvPr/>
        </p:nvSpPr>
        <p:spPr>
          <a:xfrm>
            <a:off x="916228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Repeated AD response</a:t>
            </a:r>
          </a:p>
        </p:txBody>
      </p:sp>
      <p:sp>
        <p:nvSpPr>
          <p:cNvPr id="18" name="TextBox 17">
            <a:extLst>
              <a:ext uri="{FF2B5EF4-FFF2-40B4-BE49-F238E27FC236}">
                <a16:creationId xmlns:a16="http://schemas.microsoft.com/office/drawing/2014/main" id="{5F19A3CD-3D44-4938-90FF-50898D83B761}"/>
              </a:ext>
            </a:extLst>
          </p:cNvPr>
          <p:cNvSpPr>
            <a:spLocks noGrp="1"/>
          </p:cNvSpPr>
          <p:nvPr/>
        </p:nvSpPr>
        <p:spPr>
          <a:xfrm>
            <a:off x="854049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Core MT genes are mostly upregulated in both cohorts. Nuclear-encoded OXPHOS genes are also mostly upregulated in ROSMAP.</a:t>
            </a:r>
          </a:p>
        </p:txBody>
      </p:sp>
      <p:sp>
        <p:nvSpPr>
          <p:cNvPr id="19" name="Rounded Rectangle 18">
            <a:extLst>
              <a:ext uri="{FF2B5EF4-FFF2-40B4-BE49-F238E27FC236}">
                <a16:creationId xmlns:a16="http://schemas.microsoft.com/office/drawing/2014/main" id="{E2D5DF43-11A8-4F0E-9BBD-EFE3CF9F45F3}"/>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CC970E90-991B-45D4-B5BD-5B5891C6F68C}"/>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7EB9ECA3-37D5-4D30-BB16-F102C2520C90}"/>
              </a:ext>
            </a:extLst>
          </p:cNvPr>
          <p:cNvSpPr>
            <a:spLocks noGrp="1"/>
          </p:cNvSpPr>
          <p:nvPr/>
        </p:nvSpPr>
        <p:spPr>
          <a:xfrm>
            <a:off x="3246120" y="4886641"/>
            <a:ext cx="7836408" cy="4862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The increase may be compensation or a stress response. It is not evidence that mitochondria make more ATP.</a:t>
            </a:r>
          </a:p>
        </p:txBody>
      </p:sp>
    </p:spTree>
    <p:extLst>
      <p:ext uri="{BB962C8B-B14F-4D97-AF65-F5344CB8AC3E}">
        <p14:creationId xmlns:p14="http://schemas.microsoft.com/office/powerpoint/2010/main" val="11867742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8B5F9-322B-4386-A785-C37404D5BAC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makes the result plausible—but does not duplicate it</a:t>
            </a:r>
          </a:p>
        </p:txBody>
      </p:sp>
      <p:sp>
        <p:nvSpPr>
          <p:cNvPr id="3" name="TextBox 2">
            <a:extLst>
              <a:ext uri="{FF2B5EF4-FFF2-40B4-BE49-F238E27FC236}">
                <a16:creationId xmlns:a16="http://schemas.microsoft.com/office/drawing/2014/main" id="{81CF9610-7B95-4B5F-B65C-16227BB579F7}"/>
              </a:ext>
            </a:extLst>
          </p:cNvPr>
          <p:cNvSpPr>
            <a:spLocks noGrp="1"/>
          </p:cNvSpPr>
          <p:nvPr/>
        </p:nvSpPr>
        <p:spPr>
          <a:xfrm>
            <a:off x="548640" y="872550"/>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4E5A68"/>
                </a:solidFill>
                <a:latin typeface="Arial"/>
                <a:ea typeface="Arial"/>
                <a:cs typeface="Arial"/>
              </a:rPr>
              <a:t>Each study supports one part of the interpretation; none establishes this exact female ε3/ε3 excitatory-neuron pattern.</a:t>
            </a:r>
          </a:p>
        </p:txBody>
      </p:sp>
      <p:sp>
        <p:nvSpPr>
          <p:cNvPr id="4" name="Rounded Rectangle 3">
            <a:extLst>
              <a:ext uri="{FF2B5EF4-FFF2-40B4-BE49-F238E27FC236}">
                <a16:creationId xmlns:a16="http://schemas.microsoft.com/office/drawing/2014/main" id="{394C9100-E676-4B83-BBF5-208FF175DCC7}"/>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E71738A-BFCA-46D3-B314-8F7BC03CEBF9}"/>
              </a:ext>
            </a:extLst>
          </p:cNvPr>
          <p:cNvSpPr>
            <a:spLocks noGrp="1"/>
          </p:cNvSpPr>
          <p:nvPr/>
        </p:nvSpPr>
        <p:spPr>
          <a:xfrm>
            <a:off x="93268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Guo et al. 2023</a:t>
            </a:r>
          </a:p>
        </p:txBody>
      </p:sp>
      <p:sp>
        <p:nvSpPr>
          <p:cNvPr id="6" name="TextBox 5">
            <a:extLst>
              <a:ext uri="{FF2B5EF4-FFF2-40B4-BE49-F238E27FC236}">
                <a16:creationId xmlns:a16="http://schemas.microsoft.com/office/drawing/2014/main" id="{C6B97ED5-851E-44EE-BCBE-CD2D5F21106D}"/>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Sex-specific AD networks</a:t>
            </a:r>
          </a:p>
        </p:txBody>
      </p:sp>
      <p:sp>
        <p:nvSpPr>
          <p:cNvPr id="7" name="TextBox 6">
            <a:extLst>
              <a:ext uri="{FF2B5EF4-FFF2-40B4-BE49-F238E27FC236}">
                <a16:creationId xmlns:a16="http://schemas.microsoft.com/office/drawing/2014/main" id="{3F863A1C-2D8D-4748-BAD0-697A8716AA65}"/>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248D306-76C9-45EB-960F-CD5C7D675957}"/>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analyzing AD networks separately by sex.</a:t>
            </a:r>
          </a:p>
        </p:txBody>
      </p:sp>
      <p:sp>
        <p:nvSpPr>
          <p:cNvPr id="9" name="TextBox 8">
            <a:extLst>
              <a:ext uri="{FF2B5EF4-FFF2-40B4-BE49-F238E27FC236}">
                <a16:creationId xmlns:a16="http://schemas.microsoft.com/office/drawing/2014/main" id="{FE198E2D-1E7A-47A1-ABD2-F6EB57BDE7D1}"/>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2546F6-86E1-4B50-A624-902AFFE83666}"/>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Does not test this exact core MT gene pattern.</a:t>
            </a:r>
          </a:p>
        </p:txBody>
      </p:sp>
      <p:sp>
        <p:nvSpPr>
          <p:cNvPr id="11" name="Rounded Rectangle 10">
            <a:extLst>
              <a:ext uri="{FF2B5EF4-FFF2-40B4-BE49-F238E27FC236}">
                <a16:creationId xmlns:a16="http://schemas.microsoft.com/office/drawing/2014/main" id="{99DA58C5-0667-4403-9E80-28206F6D5529}"/>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9D63C74-7D1D-4243-A747-9DFFB3A7A462}"/>
              </a:ext>
            </a:extLst>
          </p:cNvPr>
          <p:cNvSpPr>
            <a:spLocks noGrp="1"/>
          </p:cNvSpPr>
          <p:nvPr/>
        </p:nvSpPr>
        <p:spPr>
          <a:xfrm>
            <a:off x="472744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Mathys et al. 2024</a:t>
            </a:r>
          </a:p>
        </p:txBody>
      </p:sp>
      <p:sp>
        <p:nvSpPr>
          <p:cNvPr id="13" name="TextBox 12">
            <a:extLst>
              <a:ext uri="{FF2B5EF4-FFF2-40B4-BE49-F238E27FC236}">
                <a16:creationId xmlns:a16="http://schemas.microsoft.com/office/drawing/2014/main" id="{8B139909-1E60-4B7D-9E5A-7BE7C0E71598}"/>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14" name="TextBox 13">
            <a:extLst>
              <a:ext uri="{FF2B5EF4-FFF2-40B4-BE49-F238E27FC236}">
                <a16:creationId xmlns:a16="http://schemas.microsoft.com/office/drawing/2014/main" id="{D07D753A-5819-43D5-9D8E-692D4BCC19D7}"/>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094C5EDA-62A5-4BA8-9214-4716D14A290F}"/>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strong cell-type heterogeneity.</a:t>
            </a:r>
          </a:p>
        </p:txBody>
      </p:sp>
      <p:sp>
        <p:nvSpPr>
          <p:cNvPr id="16" name="TextBox 15">
            <a:extLst>
              <a:ext uri="{FF2B5EF4-FFF2-40B4-BE49-F238E27FC236}">
                <a16:creationId xmlns:a16="http://schemas.microsoft.com/office/drawing/2014/main" id="{88F43116-0C65-4488-A9FA-1811F9FE34AD}"/>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F77D202-D2A9-435A-BC07-B5EFCE7D469E}"/>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Uses ROSMAP, so it is not independent.</a:t>
            </a:r>
          </a:p>
        </p:txBody>
      </p:sp>
      <p:sp>
        <p:nvSpPr>
          <p:cNvPr id="18" name="Rounded Rectangle 17">
            <a:extLst>
              <a:ext uri="{FF2B5EF4-FFF2-40B4-BE49-F238E27FC236}">
                <a16:creationId xmlns:a16="http://schemas.microsoft.com/office/drawing/2014/main" id="{6B8728A4-00D1-4FE0-B181-2C5422370349}"/>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7DD6AA2-4D33-4522-829A-91B4C555BCB3}"/>
              </a:ext>
            </a:extLst>
          </p:cNvPr>
          <p:cNvSpPr>
            <a:spLocks noGrp="1"/>
          </p:cNvSpPr>
          <p:nvPr/>
        </p:nvSpPr>
        <p:spPr>
          <a:xfrm>
            <a:off x="852220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D3350B37-7599-494A-99BD-AE1E6AAD4AA5}"/>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APOE and mitochondria</a:t>
            </a:r>
          </a:p>
        </p:txBody>
      </p:sp>
      <p:sp>
        <p:nvSpPr>
          <p:cNvPr id="21" name="TextBox 20">
            <a:extLst>
              <a:ext uri="{FF2B5EF4-FFF2-40B4-BE49-F238E27FC236}">
                <a16:creationId xmlns:a16="http://schemas.microsoft.com/office/drawing/2014/main" id="{5772E729-F288-432E-B988-644CE4473BF0}"/>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7A3CE70-752E-44EA-8215-399BC87A0B06}"/>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Links APOE4 astrocytes to impaired mitochondrial homeostasis.</a:t>
            </a:r>
          </a:p>
        </p:txBody>
      </p:sp>
      <p:sp>
        <p:nvSpPr>
          <p:cNvPr id="23" name="TextBox 22">
            <a:extLst>
              <a:ext uri="{FF2B5EF4-FFF2-40B4-BE49-F238E27FC236}">
                <a16:creationId xmlns:a16="http://schemas.microsoft.com/office/drawing/2014/main" id="{1D0B974E-5CAB-4B97-9C99-4892975302B5}"/>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B1EF16E-4104-415B-9EE6-BFEB0DEE37AA}"/>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Different APOE group and cell type.</a:t>
            </a:r>
          </a:p>
        </p:txBody>
      </p:sp>
      <p:sp>
        <p:nvSpPr>
          <p:cNvPr id="25" name="Rounded Rectangle 24">
            <a:extLst>
              <a:ext uri="{FF2B5EF4-FFF2-40B4-BE49-F238E27FC236}">
                <a16:creationId xmlns:a16="http://schemas.microsoft.com/office/drawing/2014/main" id="{99DC217A-C5DA-41D7-BA8B-F4026C1DFE30}"/>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8B586943-769E-49E5-85F0-0DDD8D4EDDA4}"/>
              </a:ext>
            </a:extLst>
          </p:cNvPr>
          <p:cNvSpPr>
            <a:spLocks noGrp="1"/>
          </p:cNvSpPr>
          <p:nvPr/>
        </p:nvSpPr>
        <p:spPr>
          <a:xfrm>
            <a:off x="896112" y="589788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Novelty assessment: moderate—known mitochondrial biology in a less-established sex/APOE/cell context.</a:t>
            </a:r>
          </a:p>
        </p:txBody>
      </p:sp>
    </p:spTree>
    <p:extLst>
      <p:ext uri="{BB962C8B-B14F-4D97-AF65-F5344CB8AC3E}">
        <p14:creationId xmlns:p14="http://schemas.microsoft.com/office/powerpoint/2010/main" val="34811376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F9124A-1A92-4E9C-B8C1-0F36083BD1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2</a:t>
            </a:r>
          </a:p>
        </p:txBody>
      </p:sp>
      <p:sp>
        <p:nvSpPr>
          <p:cNvPr id="3" name="Rectangle 2">
            <a:extLst>
              <a:ext uri="{FF2B5EF4-FFF2-40B4-BE49-F238E27FC236}">
                <a16:creationId xmlns:a16="http://schemas.microsoft.com/office/drawing/2014/main" id="{F29E777B-DE41-4CC4-A223-0DAE0AF9458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F2EE16-EB2B-4E46-B9D4-E66404F13B0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Male APOE ε3/ε3 cells show opposite core MT and nuclear-encoded OXPHOS directions</a:t>
            </a:r>
          </a:p>
        </p:txBody>
      </p:sp>
      <p:sp>
        <p:nvSpPr>
          <p:cNvPr id="5" name="TextBox 4">
            <a:extLst>
              <a:ext uri="{FF2B5EF4-FFF2-40B4-BE49-F238E27FC236}">
                <a16:creationId xmlns:a16="http://schemas.microsoft.com/office/drawing/2014/main" id="{A588FD2C-EB60-4577-8821-E5F5021BA1C8}"/>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DEG finding based on the directions of two defined OXPHOS gene sets.</a:t>
            </a:r>
          </a:p>
        </p:txBody>
      </p:sp>
      <p:sp>
        <p:nvSpPr>
          <p:cNvPr id="6" name="Rounded Rectangle 5">
            <a:extLst>
              <a:ext uri="{FF2B5EF4-FFF2-40B4-BE49-F238E27FC236}">
                <a16:creationId xmlns:a16="http://schemas.microsoft.com/office/drawing/2014/main" id="{4AB68BF7-738C-44F8-84C1-D77201484E6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D86FA87E-93AC-45B3-84EA-A3CA04235AE7}"/>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7A04348-1C76-4D1C-B8AC-3EAF85E045F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52F1C3F-7A36-4E03-A6C4-0613900CEA2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552BAB4-2207-4F4D-8992-69750669E9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7A656E3B-C25F-4358-8744-6B69A65324A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857FEE0-4FA6-4463-9B7D-74746D46318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A57F751B-861E-4858-BE4F-8A6DD59F193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973D29A-9145-4E4D-89F5-AC1BCDB8D5B2}"/>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D7D48CD-32D2-496C-BA2E-A10C4966E0B8}"/>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698853C-FD5E-4454-95DC-0E479B798FB5}"/>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AE991DE2-7759-4369-BB68-091CD975BA8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5E18EF7-8353-4915-84F5-D0AADCED05F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1059528-957D-41CF-8D38-5860BE5B5CD5}"/>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9783892-98D7-4CBA-9CBA-83A45F37F2E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3B01D2-604E-44C2-A51B-87CA43C4539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inhibitory-neuron pattern through shared DEGs with matching AD directions.</a:t>
            </a:r>
          </a:p>
        </p:txBody>
      </p:sp>
    </p:spTree>
    <p:extLst>
      <p:ext uri="{BB962C8B-B14F-4D97-AF65-F5344CB8AC3E}">
        <p14:creationId xmlns:p14="http://schemas.microsoft.com/office/powerpoint/2010/main" val="198050113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3EDD71-7F75-4FE2-8F11-10F0B9E568D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Male ε3/ε3 cells show opposite directions in OXPHOS gene expression</a:t>
            </a:r>
          </a:p>
        </p:txBody>
      </p:sp>
      <p:sp>
        <p:nvSpPr>
          <p:cNvPr id="3" name="TextBox 2">
            <a:extLst>
              <a:ext uri="{FF2B5EF4-FFF2-40B4-BE49-F238E27FC236}">
                <a16:creationId xmlns:a16="http://schemas.microsoft.com/office/drawing/2014/main" id="{02698264-837A-4235-8D99-EC3D63D97BD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OXPHOS gene sets often move in opposite directions. Matched inhibitory neurons show the pattern in SEA-AD.</a:t>
            </a:r>
          </a:p>
        </p:txBody>
      </p:sp>
      <p:sp>
        <p:nvSpPr>
          <p:cNvPr id="4" name="Rounded Rectangle 3">
            <a:extLst>
              <a:ext uri="{FF2B5EF4-FFF2-40B4-BE49-F238E27FC236}">
                <a16:creationId xmlns:a16="http://schemas.microsoft.com/office/drawing/2014/main" id="{397E169F-A1C0-44A6-9812-A2BC35F60F22}"/>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C7E636-8347-42FB-B8CE-ECB30E056362}"/>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080E6272-1353-49C9-9122-5FE680AC7958}"/>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7F5CC54D-8B7F-4617-A22B-EA9AB2170A91}"/>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E37D0E96-E63A-4D64-B1AD-FFEF11108557}"/>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2EC3789-9769-4D18-A494-38C1F2CBEFD3}"/>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Inhibitory neurons</a:t>
            </a:r>
          </a:p>
        </p:txBody>
      </p:sp>
      <p:sp>
        <p:nvSpPr>
          <p:cNvPr id="10" name="Rounded Rectangle 9">
            <a:extLst>
              <a:ext uri="{FF2B5EF4-FFF2-40B4-BE49-F238E27FC236}">
                <a16:creationId xmlns:a16="http://schemas.microsoft.com/office/drawing/2014/main" id="{60146EAA-D4F4-45A4-9355-40543682B813}"/>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96D18F2-A872-41A6-97F4-F5C7EF050809}"/>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D84102F-E14A-43A2-A63D-C515B39DDDC8}"/>
              </a:ext>
            </a:extLst>
          </p:cNvPr>
          <p:cNvSpPr>
            <a:spLocks noGrp="1"/>
          </p:cNvSpPr>
          <p:nvPr/>
        </p:nvSpPr>
        <p:spPr>
          <a:xfrm>
            <a:off x="749808" y="2084831"/>
            <a:ext cx="5047488" cy="27614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9273371-8277-45C0-BF8D-3E927D545CAB}"/>
              </a:ext>
            </a:extLst>
          </p:cNvPr>
          <p:cNvSpPr>
            <a:spLocks noGrp="1"/>
          </p:cNvSpPr>
          <p:nvPr/>
        </p:nvSpPr>
        <p:spPr>
          <a:xfrm>
            <a:off x="1024128" y="2468880"/>
            <a:ext cx="4498848"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EC86CDF9-4226-49D3-AC82-153B477F37E8}"/>
              </a:ext>
            </a:extLst>
          </p:cNvPr>
          <p:cNvSpPr>
            <a:spLocks noGrp="1"/>
          </p:cNvSpPr>
          <p:nvPr/>
        </p:nvSpPr>
        <p:spPr>
          <a:xfrm>
            <a:off x="1188720"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00684D"/>
                </a:solidFill>
                <a:latin typeface="Arial"/>
                <a:ea typeface="Arial"/>
                <a:cs typeface="Arial"/>
              </a:rPr>
              <a:t>↑</a:t>
            </a:r>
          </a:p>
        </p:txBody>
      </p:sp>
      <p:sp>
        <p:nvSpPr>
          <p:cNvPr id="15" name="TextBox 14">
            <a:extLst>
              <a:ext uri="{FF2B5EF4-FFF2-40B4-BE49-F238E27FC236}">
                <a16:creationId xmlns:a16="http://schemas.microsoft.com/office/drawing/2014/main" id="{10DFCD5E-8BA6-4D59-9D89-DB09251C5134}"/>
              </a:ext>
            </a:extLst>
          </p:cNvPr>
          <p:cNvSpPr>
            <a:spLocks noGrp="1"/>
          </p:cNvSpPr>
          <p:nvPr/>
        </p:nvSpPr>
        <p:spPr>
          <a:xfrm>
            <a:off x="2267712" y="3099816"/>
            <a:ext cx="2944368"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core MT gene expression</a:t>
            </a:r>
          </a:p>
        </p:txBody>
      </p:sp>
      <p:sp>
        <p:nvSpPr>
          <p:cNvPr id="16" name="Rounded Rectangle 15">
            <a:extLst>
              <a:ext uri="{FF2B5EF4-FFF2-40B4-BE49-F238E27FC236}">
                <a16:creationId xmlns:a16="http://schemas.microsoft.com/office/drawing/2014/main" id="{F2C9BFD7-5374-4B5C-A818-B7754BFF8571}"/>
              </a:ext>
            </a:extLst>
          </p:cNvPr>
          <p:cNvSpPr>
            <a:spLocks noGrp="1"/>
          </p:cNvSpPr>
          <p:nvPr/>
        </p:nvSpPr>
        <p:spPr>
          <a:xfrm>
            <a:off x="6382512" y="2084831"/>
            <a:ext cx="5065776" cy="276148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B10E5A-F95E-4833-9E71-C100046AE67B}"/>
              </a:ext>
            </a:extLst>
          </p:cNvPr>
          <p:cNvSpPr>
            <a:spLocks noGrp="1"/>
          </p:cNvSpPr>
          <p:nvPr/>
        </p:nvSpPr>
        <p:spPr>
          <a:xfrm>
            <a:off x="6656832" y="2468880"/>
            <a:ext cx="4517136"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3FB05672-2D66-45B7-9F63-D10F46741A3D}"/>
              </a:ext>
            </a:extLst>
          </p:cNvPr>
          <p:cNvSpPr>
            <a:spLocks noGrp="1"/>
          </p:cNvSpPr>
          <p:nvPr/>
        </p:nvSpPr>
        <p:spPr>
          <a:xfrm>
            <a:off x="6821424"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9E3A00"/>
                </a:solidFill>
                <a:latin typeface="Arial"/>
                <a:ea typeface="Arial"/>
                <a:cs typeface="Arial"/>
              </a:rPr>
              <a:t>↓</a:t>
            </a:r>
          </a:p>
        </p:txBody>
      </p:sp>
      <p:sp>
        <p:nvSpPr>
          <p:cNvPr id="19" name="TextBox 18">
            <a:extLst>
              <a:ext uri="{FF2B5EF4-FFF2-40B4-BE49-F238E27FC236}">
                <a16:creationId xmlns:a16="http://schemas.microsoft.com/office/drawing/2014/main" id="{951C76EB-DABD-49D9-AD3C-D22A60A26F75}"/>
              </a:ext>
            </a:extLst>
          </p:cNvPr>
          <p:cNvSpPr>
            <a:spLocks noGrp="1"/>
          </p:cNvSpPr>
          <p:nvPr/>
        </p:nvSpPr>
        <p:spPr>
          <a:xfrm>
            <a:off x="7900416" y="3099816"/>
            <a:ext cx="2962656"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nuclear-encoded OXPHOS gene expression</a:t>
            </a:r>
          </a:p>
        </p:txBody>
      </p:sp>
      <p:sp>
        <p:nvSpPr>
          <p:cNvPr id="20" name="Rounded Rectangle 19">
            <a:extLst>
              <a:ext uri="{FF2B5EF4-FFF2-40B4-BE49-F238E27FC236}">
                <a16:creationId xmlns:a16="http://schemas.microsoft.com/office/drawing/2014/main" id="{9191A2DE-8434-4DED-9FA6-D055D1E9F3CC}"/>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16A2FE-9DEB-444D-B9B7-8EF09A72E49E}"/>
              </a:ext>
            </a:extLst>
          </p:cNvPr>
          <p:cNvSpPr>
            <a:spLocks noGrp="1"/>
          </p:cNvSpPr>
          <p:nvPr/>
        </p:nvSpPr>
        <p:spPr>
          <a:xfrm>
            <a:off x="987552" y="5422392"/>
            <a:ext cx="10222992" cy="2926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40" b="1" i="0">
                <a:solidFill>
                  <a:srgbClr val="7E4C9A"/>
                </a:solidFill>
                <a:latin typeface="Arial"/>
                <a:ea typeface="Arial"/>
                <a:cs typeface="Arial"/>
              </a:rPr>
              <a:t>Plain meaning: the two sets of respiratory genes show opposite expression directions.</a:t>
            </a:r>
          </a:p>
        </p:txBody>
      </p:sp>
      <p:sp>
        <p:nvSpPr>
          <p:cNvPr id="22" name="TextBox 21">
            <a:extLst>
              <a:ext uri="{FF2B5EF4-FFF2-40B4-BE49-F238E27FC236}">
                <a16:creationId xmlns:a16="http://schemas.microsoft.com/office/drawing/2014/main" id="{8B9BB39C-2AD4-4988-96CB-DE0217C23F63}"/>
              </a:ext>
            </a:extLst>
          </p:cNvPr>
          <p:cNvSpPr>
            <a:spLocks noGrp="1"/>
          </p:cNvSpPr>
          <p:nvPr/>
        </p:nvSpPr>
        <p:spPr>
          <a:xfrm>
            <a:off x="658368" y="6473952"/>
            <a:ext cx="10881360" cy="16611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730" b="0" i="0">
                <a:solidFill>
                  <a:srgbClr val="4E5A68"/>
                </a:solidFill>
                <a:latin typeface="Arial"/>
                <a:ea typeface="Arial"/>
                <a:cs typeface="Arial"/>
              </a:rPr>
              <a:t>ROSMAP provides the primary evidence. SEA-AD adds support from matched inhibitory-neuron DEGs.</a:t>
            </a:r>
          </a:p>
        </p:txBody>
      </p:sp>
    </p:spTree>
    <p:extLst>
      <p:ext uri="{BB962C8B-B14F-4D97-AF65-F5344CB8AC3E}">
        <p14:creationId xmlns:p14="http://schemas.microsoft.com/office/powerpoint/2010/main" val="133670613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DF3AA2-2949-4CB9-BFD3-1140A994245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ε3/ε3 cells show opposite directions in OXPHOS gene expression</a:t>
            </a:r>
          </a:p>
        </p:txBody>
      </p:sp>
      <p:sp>
        <p:nvSpPr>
          <p:cNvPr id="3" name="TextBox 2">
            <a:extLst>
              <a:ext uri="{FF2B5EF4-FFF2-40B4-BE49-F238E27FC236}">
                <a16:creationId xmlns:a16="http://schemas.microsoft.com/office/drawing/2014/main" id="{8F0EBA17-C3F1-4CBE-BFAA-4125E846F84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Across 31 included fine-cell DEG lists. The same gene can recur in different comparisons.</a:t>
            </a:r>
          </a:p>
        </p:txBody>
      </p:sp>
      <p:sp>
        <p:nvSpPr>
          <p:cNvPr id="4" name="Rounded Rectangle 3">
            <a:extLst>
              <a:ext uri="{FF2B5EF4-FFF2-40B4-BE49-F238E27FC236}">
                <a16:creationId xmlns:a16="http://schemas.microsoft.com/office/drawing/2014/main" id="{A7492153-533E-45DD-89CE-40239C37D7DC}"/>
              </a:ext>
            </a:extLst>
          </p:cNvPr>
          <p:cNvSpPr>
            <a:spLocks noGrp="1"/>
          </p:cNvSpPr>
          <p:nvPr/>
        </p:nvSpPr>
        <p:spPr>
          <a:xfrm>
            <a:off x="658368" y="1649771"/>
            <a:ext cx="5285232" cy="4370832"/>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BD24C7C6-C67A-4444-91EC-6C3A647E6A12}"/>
              </a:ext>
            </a:extLst>
          </p:cNvPr>
          <p:cNvSpPr>
            <a:spLocks noGrp="1"/>
          </p:cNvSpPr>
          <p:nvPr/>
        </p:nvSpPr>
        <p:spPr>
          <a:xfrm>
            <a:off x="950976" y="1988099"/>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60C00B9-577D-4DCA-AA58-174B80A2AF4E}"/>
              </a:ext>
            </a:extLst>
          </p:cNvPr>
          <p:cNvSpPr>
            <a:spLocks noGrp="1"/>
          </p:cNvSpPr>
          <p:nvPr/>
        </p:nvSpPr>
        <p:spPr>
          <a:xfrm>
            <a:off x="1097280" y="1960667"/>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Core MT genes</a:t>
            </a:r>
          </a:p>
        </p:txBody>
      </p:sp>
      <p:sp>
        <p:nvSpPr>
          <p:cNvPr id="7" name="TextBox 6">
            <a:extLst>
              <a:ext uri="{FF2B5EF4-FFF2-40B4-BE49-F238E27FC236}">
                <a16:creationId xmlns:a16="http://schemas.microsoft.com/office/drawing/2014/main" id="{F47E809B-8CCD-4960-984D-A19B502F51A9}"/>
              </a:ext>
            </a:extLst>
          </p:cNvPr>
          <p:cNvSpPr>
            <a:spLocks noGrp="1"/>
          </p:cNvSpPr>
          <p:nvPr/>
        </p:nvSpPr>
        <p:spPr>
          <a:xfrm>
            <a:off x="98755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0072B2"/>
                </a:solidFill>
                <a:latin typeface="Arial"/>
                <a:ea typeface="Arial"/>
                <a:cs typeface="Arial"/>
              </a:rPr>
              <a:t>81</a:t>
            </a:r>
          </a:p>
        </p:txBody>
      </p:sp>
      <p:sp>
        <p:nvSpPr>
          <p:cNvPr id="8" name="TextBox 7">
            <a:extLst>
              <a:ext uri="{FF2B5EF4-FFF2-40B4-BE49-F238E27FC236}">
                <a16:creationId xmlns:a16="http://schemas.microsoft.com/office/drawing/2014/main" id="{C3665464-878D-4BEE-A99A-4A05CF1AB15F}"/>
              </a:ext>
            </a:extLst>
          </p:cNvPr>
          <p:cNvSpPr>
            <a:spLocks noGrp="1"/>
          </p:cNvSpPr>
          <p:nvPr/>
        </p:nvSpPr>
        <p:spPr>
          <a:xfrm>
            <a:off x="243230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9" name="TextBox 8">
            <a:extLst>
              <a:ext uri="{FF2B5EF4-FFF2-40B4-BE49-F238E27FC236}">
                <a16:creationId xmlns:a16="http://schemas.microsoft.com/office/drawing/2014/main" id="{1FB611C5-B6CD-4E54-A575-ACB7B18BADA9}"/>
              </a:ext>
            </a:extLst>
          </p:cNvPr>
          <p:cNvSpPr>
            <a:spLocks noGrp="1"/>
          </p:cNvSpPr>
          <p:nvPr/>
        </p:nvSpPr>
        <p:spPr>
          <a:xfrm>
            <a:off x="102412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70 AD-up  •  11 AD-down</a:t>
            </a:r>
          </a:p>
        </p:txBody>
      </p:sp>
      <p:sp>
        <p:nvSpPr>
          <p:cNvPr id="10" name="Rounded Rectangle 9">
            <a:extLst>
              <a:ext uri="{FF2B5EF4-FFF2-40B4-BE49-F238E27FC236}">
                <a16:creationId xmlns:a16="http://schemas.microsoft.com/office/drawing/2014/main" id="{FCE84EFA-3452-4D3C-9141-37E6717F9FE4}"/>
              </a:ext>
            </a:extLst>
          </p:cNvPr>
          <p:cNvSpPr>
            <a:spLocks noGrp="1"/>
          </p:cNvSpPr>
          <p:nvPr/>
        </p:nvSpPr>
        <p:spPr>
          <a:xfrm>
            <a:off x="102412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0D57644E-EF30-480F-8C6B-15E9084154A8}"/>
              </a:ext>
            </a:extLst>
          </p:cNvPr>
          <p:cNvSpPr>
            <a:spLocks noGrp="1"/>
          </p:cNvSpPr>
          <p:nvPr/>
        </p:nvSpPr>
        <p:spPr>
          <a:xfrm>
            <a:off x="1024128" y="3734603"/>
            <a:ext cx="3730752"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D9E5B954-A61F-42C6-BC7E-E70F51280E4C}"/>
              </a:ext>
            </a:extLst>
          </p:cNvPr>
          <p:cNvSpPr>
            <a:spLocks noGrp="1"/>
          </p:cNvSpPr>
          <p:nvPr/>
        </p:nvSpPr>
        <p:spPr>
          <a:xfrm>
            <a:off x="4754880" y="3734603"/>
            <a:ext cx="585216"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2656C86-8A13-48BD-A01D-EE40E47DD509}"/>
              </a:ext>
            </a:extLst>
          </p:cNvPr>
          <p:cNvSpPr>
            <a:spLocks noGrp="1"/>
          </p:cNvSpPr>
          <p:nvPr/>
        </p:nvSpPr>
        <p:spPr>
          <a:xfrm>
            <a:off x="1078992" y="4127795"/>
            <a:ext cx="1847088"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1" i="0">
                <a:solidFill>
                  <a:srgbClr val="00684D"/>
                </a:solidFill>
                <a:latin typeface="Arial"/>
                <a:ea typeface="Arial"/>
                <a:cs typeface="Arial"/>
              </a:rPr>
              <a:t>86% up</a:t>
            </a:r>
          </a:p>
        </p:txBody>
      </p:sp>
      <p:sp>
        <p:nvSpPr>
          <p:cNvPr id="16" name="Rounded Rectangle 15">
            <a:extLst>
              <a:ext uri="{FF2B5EF4-FFF2-40B4-BE49-F238E27FC236}">
                <a16:creationId xmlns:a16="http://schemas.microsoft.com/office/drawing/2014/main" id="{78B2F20E-1F38-4D6E-866C-62A34CC13AC4}"/>
              </a:ext>
            </a:extLst>
          </p:cNvPr>
          <p:cNvSpPr>
            <a:spLocks noGrp="1"/>
          </p:cNvSpPr>
          <p:nvPr/>
        </p:nvSpPr>
        <p:spPr>
          <a:xfrm>
            <a:off x="6236208" y="1649771"/>
            <a:ext cx="5303520" cy="437083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Rectangle 16">
            <a:extLst>
              <a:ext uri="{FF2B5EF4-FFF2-40B4-BE49-F238E27FC236}">
                <a16:creationId xmlns:a16="http://schemas.microsoft.com/office/drawing/2014/main" id="{5D3AD0A4-50E9-47AC-A0A1-2293894B4878}"/>
              </a:ext>
            </a:extLst>
          </p:cNvPr>
          <p:cNvSpPr>
            <a:spLocks noGrp="1"/>
          </p:cNvSpPr>
          <p:nvPr/>
        </p:nvSpPr>
        <p:spPr>
          <a:xfrm>
            <a:off x="6528816" y="1988099"/>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ABEF69A-04D3-462A-802D-2ACC8A25F572}"/>
              </a:ext>
            </a:extLst>
          </p:cNvPr>
          <p:cNvSpPr>
            <a:spLocks noGrp="1"/>
          </p:cNvSpPr>
          <p:nvPr/>
        </p:nvSpPr>
        <p:spPr>
          <a:xfrm>
            <a:off x="6675120" y="1960667"/>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AB4C81-D082-4C02-A468-F1B3B6B33BB4}"/>
              </a:ext>
            </a:extLst>
          </p:cNvPr>
          <p:cNvSpPr>
            <a:spLocks noGrp="1"/>
          </p:cNvSpPr>
          <p:nvPr/>
        </p:nvSpPr>
        <p:spPr>
          <a:xfrm>
            <a:off x="656539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9E3A00"/>
                </a:solidFill>
                <a:latin typeface="Arial"/>
                <a:ea typeface="Arial"/>
                <a:cs typeface="Arial"/>
              </a:rPr>
              <a:t>68</a:t>
            </a:r>
          </a:p>
        </p:txBody>
      </p:sp>
      <p:sp>
        <p:nvSpPr>
          <p:cNvPr id="20" name="TextBox 19">
            <a:extLst>
              <a:ext uri="{FF2B5EF4-FFF2-40B4-BE49-F238E27FC236}">
                <a16:creationId xmlns:a16="http://schemas.microsoft.com/office/drawing/2014/main" id="{D27BC3EE-2871-40FE-B812-4BFA9C23525E}"/>
              </a:ext>
            </a:extLst>
          </p:cNvPr>
          <p:cNvSpPr>
            <a:spLocks noGrp="1"/>
          </p:cNvSpPr>
          <p:nvPr/>
        </p:nvSpPr>
        <p:spPr>
          <a:xfrm>
            <a:off x="801014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21" name="TextBox 20">
            <a:extLst>
              <a:ext uri="{FF2B5EF4-FFF2-40B4-BE49-F238E27FC236}">
                <a16:creationId xmlns:a16="http://schemas.microsoft.com/office/drawing/2014/main" id="{ADFD6B79-6388-463F-833F-96BF45701DE8}"/>
              </a:ext>
            </a:extLst>
          </p:cNvPr>
          <p:cNvSpPr>
            <a:spLocks noGrp="1"/>
          </p:cNvSpPr>
          <p:nvPr/>
        </p:nvSpPr>
        <p:spPr>
          <a:xfrm>
            <a:off x="660196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8 AD-up  •  60 AD-down</a:t>
            </a:r>
          </a:p>
        </p:txBody>
      </p:sp>
      <p:sp>
        <p:nvSpPr>
          <p:cNvPr id="22" name="Rounded Rectangle 21">
            <a:extLst>
              <a:ext uri="{FF2B5EF4-FFF2-40B4-BE49-F238E27FC236}">
                <a16:creationId xmlns:a16="http://schemas.microsoft.com/office/drawing/2014/main" id="{CBD8C23D-E7E8-4741-B714-1B48EBCA084D}"/>
              </a:ext>
            </a:extLst>
          </p:cNvPr>
          <p:cNvSpPr>
            <a:spLocks noGrp="1"/>
          </p:cNvSpPr>
          <p:nvPr/>
        </p:nvSpPr>
        <p:spPr>
          <a:xfrm>
            <a:off x="660196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Rectangle 22">
            <a:extLst>
              <a:ext uri="{FF2B5EF4-FFF2-40B4-BE49-F238E27FC236}">
                <a16:creationId xmlns:a16="http://schemas.microsoft.com/office/drawing/2014/main" id="{E3E38530-2E12-4E4C-9B74-8EA94064FF94}"/>
              </a:ext>
            </a:extLst>
          </p:cNvPr>
          <p:cNvSpPr>
            <a:spLocks noGrp="1"/>
          </p:cNvSpPr>
          <p:nvPr/>
        </p:nvSpPr>
        <p:spPr>
          <a:xfrm>
            <a:off x="6601968" y="3734603"/>
            <a:ext cx="512064"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9D1FA94D-B10C-490A-94FA-1D28EA88EA4D}"/>
              </a:ext>
            </a:extLst>
          </p:cNvPr>
          <p:cNvSpPr>
            <a:spLocks noGrp="1"/>
          </p:cNvSpPr>
          <p:nvPr/>
        </p:nvSpPr>
        <p:spPr>
          <a:xfrm>
            <a:off x="7114032" y="3734603"/>
            <a:ext cx="3803904"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24F91E6-E18B-4D94-90DF-F8F2769C0BE2}"/>
              </a:ext>
            </a:extLst>
          </p:cNvPr>
          <p:cNvSpPr>
            <a:spLocks noGrp="1"/>
          </p:cNvSpPr>
          <p:nvPr/>
        </p:nvSpPr>
        <p:spPr>
          <a:xfrm>
            <a:off x="9070848" y="4127795"/>
            <a:ext cx="1847088"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9E3A00"/>
                </a:solidFill>
                <a:latin typeface="Arial"/>
                <a:ea typeface="Arial"/>
                <a:cs typeface="Arial"/>
              </a:rPr>
              <a:t>88% down</a:t>
            </a:r>
          </a:p>
        </p:txBody>
      </p:sp>
    </p:spTree>
    <p:extLst>
      <p:ext uri="{BB962C8B-B14F-4D97-AF65-F5344CB8AC3E}">
        <p14:creationId xmlns:p14="http://schemas.microsoft.com/office/powerpoint/2010/main" val="70590723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228AE8-F522-4A04-90BB-C26467E300B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supports the matched male ε3/ε3 inhibitory-neuron DEG pattern</a:t>
            </a:r>
          </a:p>
        </p:txBody>
      </p:sp>
      <p:sp>
        <p:nvSpPr>
          <p:cNvPr id="3" name="TextBox 2">
            <a:extLst>
              <a:ext uri="{FF2B5EF4-FFF2-40B4-BE49-F238E27FC236}">
                <a16:creationId xmlns:a16="http://schemas.microsoft.com/office/drawing/2014/main" id="{D73F4564-F934-415C-B6E2-00B42ED64D5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Eight SEA-AD fine-cell DEG lists contributed. Support comes from shared MitoCarta MT DEGs with the same AD direction.</a:t>
            </a:r>
          </a:p>
        </p:txBody>
      </p:sp>
      <p:sp>
        <p:nvSpPr>
          <p:cNvPr id="4" name="Rounded Rectangle 3">
            <a:extLst>
              <a:ext uri="{FF2B5EF4-FFF2-40B4-BE49-F238E27FC236}">
                <a16:creationId xmlns:a16="http://schemas.microsoft.com/office/drawing/2014/main" id="{9B84C10C-3569-44E6-ACF0-AA947B15657B}"/>
              </a:ext>
            </a:extLst>
          </p:cNvPr>
          <p:cNvSpPr>
            <a:spLocks noGrp="1"/>
          </p:cNvSpPr>
          <p:nvPr/>
        </p:nvSpPr>
        <p:spPr>
          <a:xfrm>
            <a:off x="658368" y="1447639"/>
            <a:ext cx="345643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70DED24-64B1-41A2-B72D-E56FEA529086}"/>
              </a:ext>
            </a:extLst>
          </p:cNvPr>
          <p:cNvSpPr>
            <a:spLocks noGrp="1"/>
          </p:cNvSpPr>
          <p:nvPr/>
        </p:nvSpPr>
        <p:spPr>
          <a:xfrm>
            <a:off x="822959"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22</a:t>
            </a:r>
          </a:p>
        </p:txBody>
      </p:sp>
      <p:sp>
        <p:nvSpPr>
          <p:cNvPr id="6" name="TextBox 5">
            <a:extLst>
              <a:ext uri="{FF2B5EF4-FFF2-40B4-BE49-F238E27FC236}">
                <a16:creationId xmlns:a16="http://schemas.microsoft.com/office/drawing/2014/main" id="{D93AB62E-39C3-4E0C-BBF9-9AF87160AC38}"/>
              </a:ext>
            </a:extLst>
          </p:cNvPr>
          <p:cNvSpPr>
            <a:spLocks noGrp="1"/>
          </p:cNvSpPr>
          <p:nvPr/>
        </p:nvSpPr>
        <p:spPr>
          <a:xfrm>
            <a:off x="822959"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MitoCarta MT DEGs</a:t>
            </a:r>
          </a:p>
        </p:txBody>
      </p:sp>
      <p:sp>
        <p:nvSpPr>
          <p:cNvPr id="7" name="Rounded Rectangle 6">
            <a:extLst>
              <a:ext uri="{FF2B5EF4-FFF2-40B4-BE49-F238E27FC236}">
                <a16:creationId xmlns:a16="http://schemas.microsoft.com/office/drawing/2014/main" id="{0D99DAC8-4944-4587-9967-2F5576FB7CF0}"/>
              </a:ext>
            </a:extLst>
          </p:cNvPr>
          <p:cNvSpPr>
            <a:spLocks noGrp="1"/>
          </p:cNvSpPr>
          <p:nvPr/>
        </p:nvSpPr>
        <p:spPr>
          <a:xfrm>
            <a:off x="4370832" y="1447639"/>
            <a:ext cx="345643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8405ABA6-E07E-40BB-B8D7-F8A0ACDCD496}"/>
              </a:ext>
            </a:extLst>
          </p:cNvPr>
          <p:cNvSpPr>
            <a:spLocks noGrp="1"/>
          </p:cNvSpPr>
          <p:nvPr/>
        </p:nvSpPr>
        <p:spPr>
          <a:xfrm>
            <a:off x="4535424"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19/22</a:t>
            </a:r>
          </a:p>
        </p:txBody>
      </p:sp>
      <p:sp>
        <p:nvSpPr>
          <p:cNvPr id="9" name="TextBox 8">
            <a:extLst>
              <a:ext uri="{FF2B5EF4-FFF2-40B4-BE49-F238E27FC236}">
                <a16:creationId xmlns:a16="http://schemas.microsoft.com/office/drawing/2014/main" id="{88943738-AAC9-4816-8E05-B0BF5F0B3367}"/>
              </a:ext>
            </a:extLst>
          </p:cNvPr>
          <p:cNvSpPr>
            <a:spLocks noGrp="1"/>
          </p:cNvSpPr>
          <p:nvPr/>
        </p:nvSpPr>
        <p:spPr>
          <a:xfrm>
            <a:off x="4535424"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have the same AD direction</a:t>
            </a:r>
          </a:p>
        </p:txBody>
      </p:sp>
      <p:sp>
        <p:nvSpPr>
          <p:cNvPr id="10" name="Rounded Rectangle 9">
            <a:extLst>
              <a:ext uri="{FF2B5EF4-FFF2-40B4-BE49-F238E27FC236}">
                <a16:creationId xmlns:a16="http://schemas.microsoft.com/office/drawing/2014/main" id="{9C09C538-8BDC-4B39-80AB-2D30E7263B31}"/>
              </a:ext>
            </a:extLst>
          </p:cNvPr>
          <p:cNvSpPr>
            <a:spLocks noGrp="1"/>
          </p:cNvSpPr>
          <p:nvPr/>
        </p:nvSpPr>
        <p:spPr>
          <a:xfrm>
            <a:off x="8083296" y="1447639"/>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7A8EBF3-50B2-4CC3-BEC8-2FAAB654E0FB}"/>
              </a:ext>
            </a:extLst>
          </p:cNvPr>
          <p:cNvSpPr>
            <a:spLocks noGrp="1"/>
          </p:cNvSpPr>
          <p:nvPr/>
        </p:nvSpPr>
        <p:spPr>
          <a:xfrm>
            <a:off x="8247888"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Adjusted P = 0.0417</a:t>
            </a:r>
          </a:p>
        </p:txBody>
      </p:sp>
      <p:sp>
        <p:nvSpPr>
          <p:cNvPr id="12" name="TextBox 11">
            <a:extLst>
              <a:ext uri="{FF2B5EF4-FFF2-40B4-BE49-F238E27FC236}">
                <a16:creationId xmlns:a16="http://schemas.microsoft.com/office/drawing/2014/main" id="{1E1FC778-0DBC-4885-802B-F114AFCC49FF}"/>
              </a:ext>
            </a:extLst>
          </p:cNvPr>
          <p:cNvSpPr>
            <a:spLocks noGrp="1"/>
          </p:cNvSpPr>
          <p:nvPr/>
        </p:nvSpPr>
        <p:spPr>
          <a:xfrm>
            <a:off x="8247888"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shared-gene overlap between cohorts</a:t>
            </a:r>
          </a:p>
        </p:txBody>
      </p:sp>
      <p:sp>
        <p:nvSpPr>
          <p:cNvPr id="13" name="TextBox 12">
            <a:extLst>
              <a:ext uri="{FF2B5EF4-FFF2-40B4-BE49-F238E27FC236}">
                <a16:creationId xmlns:a16="http://schemas.microsoft.com/office/drawing/2014/main" id="{729EEACE-7AB7-49AB-8CFE-8379EA3FAF06}"/>
              </a:ext>
            </a:extLst>
          </p:cNvPr>
          <p:cNvSpPr>
            <a:spLocks noGrp="1"/>
          </p:cNvSpPr>
          <p:nvPr/>
        </p:nvSpPr>
        <p:spPr>
          <a:xfrm>
            <a:off x="8247888" y="2435191"/>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22 shared versus 15.17 expected</a:t>
            </a:r>
          </a:p>
        </p:txBody>
      </p:sp>
      <p:sp>
        <p:nvSpPr>
          <p:cNvPr id="14" name="Rounded Rectangle 13">
            <a:extLst>
              <a:ext uri="{FF2B5EF4-FFF2-40B4-BE49-F238E27FC236}">
                <a16:creationId xmlns:a16="http://schemas.microsoft.com/office/drawing/2014/main" id="{C52CC1AA-C592-409D-9C8F-C4C7C5796C52}"/>
              </a:ext>
            </a:extLst>
          </p:cNvPr>
          <p:cNvSpPr>
            <a:spLocks noGrp="1"/>
          </p:cNvSpPr>
          <p:nvPr/>
        </p:nvSpPr>
        <p:spPr>
          <a:xfrm>
            <a:off x="658368" y="3005006"/>
            <a:ext cx="5285232" cy="25786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EC22928-71CD-4979-B6FD-7044B29A7691}"/>
              </a:ext>
            </a:extLst>
          </p:cNvPr>
          <p:cNvSpPr>
            <a:spLocks noGrp="1"/>
          </p:cNvSpPr>
          <p:nvPr/>
        </p:nvSpPr>
        <p:spPr>
          <a:xfrm>
            <a:off x="969264" y="3352478"/>
            <a:ext cx="327355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CORE MT GENES</a:t>
            </a:r>
          </a:p>
        </p:txBody>
      </p:sp>
      <p:sp>
        <p:nvSpPr>
          <p:cNvPr id="16" name="TextBox 15">
            <a:extLst>
              <a:ext uri="{FF2B5EF4-FFF2-40B4-BE49-F238E27FC236}">
                <a16:creationId xmlns:a16="http://schemas.microsoft.com/office/drawing/2014/main" id="{05E7B790-23B2-4282-8021-0D8ED01E8BE6}"/>
              </a:ext>
            </a:extLst>
          </p:cNvPr>
          <p:cNvSpPr>
            <a:spLocks noGrp="1"/>
          </p:cNvSpPr>
          <p:nvPr/>
        </p:nvSpPr>
        <p:spPr>
          <a:xfrm>
            <a:off x="4370832"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00684D"/>
                </a:solidFill>
                <a:latin typeface="Arial"/>
                <a:ea typeface="Arial"/>
                <a:cs typeface="Arial"/>
              </a:rPr>
              <a:t>↑</a:t>
            </a:r>
          </a:p>
        </p:txBody>
      </p:sp>
      <p:sp>
        <p:nvSpPr>
          <p:cNvPr id="17" name="TextBox 16">
            <a:extLst>
              <a:ext uri="{FF2B5EF4-FFF2-40B4-BE49-F238E27FC236}">
                <a16:creationId xmlns:a16="http://schemas.microsoft.com/office/drawing/2014/main" id="{21EBDE05-7773-43CF-99DF-996AA2B14BF8}"/>
              </a:ext>
            </a:extLst>
          </p:cNvPr>
          <p:cNvSpPr>
            <a:spLocks noGrp="1"/>
          </p:cNvSpPr>
          <p:nvPr/>
        </p:nvSpPr>
        <p:spPr>
          <a:xfrm>
            <a:off x="969264" y="4138862"/>
            <a:ext cx="4663440" cy="6400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9 core MT genes are AD-up in both cohorts</a:t>
            </a:r>
          </a:p>
        </p:txBody>
      </p:sp>
      <p:sp>
        <p:nvSpPr>
          <p:cNvPr id="18" name="Rounded Rectangle 17">
            <a:extLst>
              <a:ext uri="{FF2B5EF4-FFF2-40B4-BE49-F238E27FC236}">
                <a16:creationId xmlns:a16="http://schemas.microsoft.com/office/drawing/2014/main" id="{21A736C1-D371-4DFB-85A3-D5F9EC58CEDA}"/>
              </a:ext>
            </a:extLst>
          </p:cNvPr>
          <p:cNvSpPr>
            <a:spLocks noGrp="1"/>
          </p:cNvSpPr>
          <p:nvPr/>
        </p:nvSpPr>
        <p:spPr>
          <a:xfrm>
            <a:off x="6236208" y="3005006"/>
            <a:ext cx="5303520" cy="25786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AEA45A9-E7D1-44D5-8311-0C8E2001C095}"/>
              </a:ext>
            </a:extLst>
          </p:cNvPr>
          <p:cNvSpPr>
            <a:spLocks noGrp="1"/>
          </p:cNvSpPr>
          <p:nvPr/>
        </p:nvSpPr>
        <p:spPr>
          <a:xfrm>
            <a:off x="6547104" y="3352478"/>
            <a:ext cx="345643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Nuclear-encoded MT genes</a:t>
            </a:r>
          </a:p>
        </p:txBody>
      </p:sp>
      <p:sp>
        <p:nvSpPr>
          <p:cNvPr id="20" name="TextBox 19">
            <a:extLst>
              <a:ext uri="{FF2B5EF4-FFF2-40B4-BE49-F238E27FC236}">
                <a16:creationId xmlns:a16="http://schemas.microsoft.com/office/drawing/2014/main" id="{05A97C27-82B4-45D6-B9F2-F51E224B071E}"/>
              </a:ext>
            </a:extLst>
          </p:cNvPr>
          <p:cNvSpPr>
            <a:spLocks noGrp="1"/>
          </p:cNvSpPr>
          <p:nvPr/>
        </p:nvSpPr>
        <p:spPr>
          <a:xfrm>
            <a:off x="10094976"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9E3A00"/>
                </a:solidFill>
                <a:latin typeface="Arial"/>
                <a:ea typeface="Arial"/>
                <a:cs typeface="Arial"/>
              </a:rPr>
              <a:t>↓</a:t>
            </a:r>
          </a:p>
        </p:txBody>
      </p:sp>
      <p:sp>
        <p:nvSpPr>
          <p:cNvPr id="21" name="TextBox 20">
            <a:extLst>
              <a:ext uri="{FF2B5EF4-FFF2-40B4-BE49-F238E27FC236}">
                <a16:creationId xmlns:a16="http://schemas.microsoft.com/office/drawing/2014/main" id="{FEDF88CC-C203-439A-A4B9-853512E75892}"/>
              </a:ext>
            </a:extLst>
          </p:cNvPr>
          <p:cNvSpPr>
            <a:spLocks noGrp="1"/>
          </p:cNvSpPr>
          <p:nvPr/>
        </p:nvSpPr>
        <p:spPr>
          <a:xfrm>
            <a:off x="6547104" y="4047422"/>
            <a:ext cx="4663440" cy="8229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Genes for OXPHOS, protein import, mitochondrial ribosomes, and DNA/RNA maintenance are AD-down in both cohorts</a:t>
            </a:r>
          </a:p>
        </p:txBody>
      </p:sp>
      <p:sp>
        <p:nvSpPr>
          <p:cNvPr id="22" name="Rounded Rectangle 21">
            <a:extLst>
              <a:ext uri="{FF2B5EF4-FFF2-40B4-BE49-F238E27FC236}">
                <a16:creationId xmlns:a16="http://schemas.microsoft.com/office/drawing/2014/main" id="{52E1BD7B-24E1-436E-8704-3A9BB378E2B3}"/>
              </a:ext>
            </a:extLst>
          </p:cNvPr>
          <p:cNvSpPr>
            <a:spLocks noGrp="1"/>
          </p:cNvSpPr>
          <p:nvPr/>
        </p:nvSpPr>
        <p:spPr>
          <a:xfrm>
            <a:off x="658368" y="5912798"/>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5D11F732-E17F-4B19-A6DF-B3E7019864C6}"/>
              </a:ext>
            </a:extLst>
          </p:cNvPr>
          <p:cNvSpPr>
            <a:spLocks noGrp="1"/>
          </p:cNvSpPr>
          <p:nvPr/>
        </p:nvSpPr>
        <p:spPr>
          <a:xfrm>
            <a:off x="896112" y="6059102"/>
            <a:ext cx="10405872" cy="270843"/>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7E4C9A"/>
                </a:solidFill>
                <a:latin typeface="Arial"/>
                <a:ea typeface="Arial"/>
                <a:cs typeface="Arial"/>
              </a:rPr>
              <a:t>Sensitivity check excluding genes with uncertain mitochondrial identity: 21 shared, adjusted P = 0.0486.</a:t>
            </a:r>
          </a:p>
        </p:txBody>
      </p:sp>
    </p:spTree>
    <p:extLst>
      <p:ext uri="{BB962C8B-B14F-4D97-AF65-F5344CB8AC3E}">
        <p14:creationId xmlns:p14="http://schemas.microsoft.com/office/powerpoint/2010/main" val="193036778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141920-9135-499A-86FA-022B8A4032B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Which genes account for the matched inhibitory-neuron pattern?</a:t>
            </a:r>
          </a:p>
        </p:txBody>
      </p:sp>
      <p:sp>
        <p:nvSpPr>
          <p:cNvPr id="3" name="TextBox 2">
            <a:extLst>
              <a:ext uri="{FF2B5EF4-FFF2-40B4-BE49-F238E27FC236}">
                <a16:creationId xmlns:a16="http://schemas.microsoft.com/office/drawing/2014/main" id="{73C71CD7-CDF5-47CA-9D73-AF47E6DC1D79}"/>
              </a:ext>
            </a:extLst>
          </p:cNvPr>
          <p:cNvSpPr>
            <a:spLocks noGrp="1"/>
          </p:cNvSpPr>
          <p:nvPr/>
        </p:nvSpPr>
        <p:spPr>
          <a:xfrm>
            <a:off x="548640" y="873013"/>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Shared genes include OXPHOS subunits and genes for protein import, mitochondrial ribosomes, and DNA/RNA maintenance.</a:t>
            </a:r>
          </a:p>
        </p:txBody>
      </p:sp>
      <p:sp>
        <p:nvSpPr>
          <p:cNvPr id="4" name="Rounded Rectangle 3">
            <a:extLst>
              <a:ext uri="{FF2B5EF4-FFF2-40B4-BE49-F238E27FC236}">
                <a16:creationId xmlns:a16="http://schemas.microsoft.com/office/drawing/2014/main" id="{A238567A-BE19-4CB9-9289-BCA988D2517D}"/>
              </a:ext>
            </a:extLst>
          </p:cNvPr>
          <p:cNvSpPr>
            <a:spLocks noGrp="1"/>
          </p:cNvSpPr>
          <p:nvPr/>
        </p:nvSpPr>
        <p:spPr>
          <a:xfrm>
            <a:off x="658368" y="1353312"/>
            <a:ext cx="5285232" cy="360273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F0BB154C-7586-4643-B485-3B1EEAAD8995}"/>
              </a:ext>
            </a:extLst>
          </p:cNvPr>
          <p:cNvSpPr>
            <a:spLocks noGrp="1"/>
          </p:cNvSpPr>
          <p:nvPr/>
        </p:nvSpPr>
        <p:spPr>
          <a:xfrm>
            <a:off x="9509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C8E6BC7-981A-43D3-8A45-EB2FCC434A4E}"/>
              </a:ext>
            </a:extLst>
          </p:cNvPr>
          <p:cNvSpPr>
            <a:spLocks noGrp="1"/>
          </p:cNvSpPr>
          <p:nvPr/>
        </p:nvSpPr>
        <p:spPr>
          <a:xfrm>
            <a:off x="1097280" y="1664208"/>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9 core MT genes ↑ in both</a:t>
            </a:r>
          </a:p>
        </p:txBody>
      </p:sp>
      <p:sp>
        <p:nvSpPr>
          <p:cNvPr id="7" name="Rounded Rectangle 6">
            <a:extLst>
              <a:ext uri="{FF2B5EF4-FFF2-40B4-BE49-F238E27FC236}">
                <a16:creationId xmlns:a16="http://schemas.microsoft.com/office/drawing/2014/main" id="{574FAC51-7F33-40DB-AE27-D43AFD85E769}"/>
              </a:ext>
            </a:extLst>
          </p:cNvPr>
          <p:cNvSpPr>
            <a:spLocks noGrp="1"/>
          </p:cNvSpPr>
          <p:nvPr/>
        </p:nvSpPr>
        <p:spPr>
          <a:xfrm>
            <a:off x="950976"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20E6F877-FE86-45C8-84AA-40630E895549}"/>
              </a:ext>
            </a:extLst>
          </p:cNvPr>
          <p:cNvSpPr>
            <a:spLocks noGrp="1"/>
          </p:cNvSpPr>
          <p:nvPr/>
        </p:nvSpPr>
        <p:spPr>
          <a:xfrm>
            <a:off x="1042416"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MT-ATP6</a:t>
            </a:r>
          </a:p>
        </p:txBody>
      </p:sp>
      <p:sp>
        <p:nvSpPr>
          <p:cNvPr id="9" name="Rounded Rectangle 8">
            <a:extLst>
              <a:ext uri="{FF2B5EF4-FFF2-40B4-BE49-F238E27FC236}">
                <a16:creationId xmlns:a16="http://schemas.microsoft.com/office/drawing/2014/main" id="{5BBFD0A2-393E-4060-9F36-FD8B6C9BFA65}"/>
              </a:ext>
            </a:extLst>
          </p:cNvPr>
          <p:cNvSpPr>
            <a:spLocks noGrp="1"/>
          </p:cNvSpPr>
          <p:nvPr/>
        </p:nvSpPr>
        <p:spPr>
          <a:xfrm>
            <a:off x="2478024"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E3E93762-9440-458A-8CFC-05D7BA1BFC2D}"/>
              </a:ext>
            </a:extLst>
          </p:cNvPr>
          <p:cNvSpPr>
            <a:spLocks noGrp="1"/>
          </p:cNvSpPr>
          <p:nvPr/>
        </p:nvSpPr>
        <p:spPr>
          <a:xfrm>
            <a:off x="2569464"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MT-CO2</a:t>
            </a:r>
          </a:p>
        </p:txBody>
      </p:sp>
      <p:sp>
        <p:nvSpPr>
          <p:cNvPr id="11" name="Rounded Rectangle 10">
            <a:extLst>
              <a:ext uri="{FF2B5EF4-FFF2-40B4-BE49-F238E27FC236}">
                <a16:creationId xmlns:a16="http://schemas.microsoft.com/office/drawing/2014/main" id="{1171B2B7-9E0A-4A84-8B7F-BA91C1AB4279}"/>
              </a:ext>
            </a:extLst>
          </p:cNvPr>
          <p:cNvSpPr>
            <a:spLocks noGrp="1"/>
          </p:cNvSpPr>
          <p:nvPr/>
        </p:nvSpPr>
        <p:spPr>
          <a:xfrm>
            <a:off x="4005072"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3EC02D-C44E-4392-BB9E-1AA71DDB5D93}"/>
              </a:ext>
            </a:extLst>
          </p:cNvPr>
          <p:cNvSpPr>
            <a:spLocks noGrp="1"/>
          </p:cNvSpPr>
          <p:nvPr/>
        </p:nvSpPr>
        <p:spPr>
          <a:xfrm>
            <a:off x="4096511"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MT-CO3</a:t>
            </a:r>
          </a:p>
        </p:txBody>
      </p:sp>
      <p:sp>
        <p:nvSpPr>
          <p:cNvPr id="13" name="Rounded Rectangle 12">
            <a:extLst>
              <a:ext uri="{FF2B5EF4-FFF2-40B4-BE49-F238E27FC236}">
                <a16:creationId xmlns:a16="http://schemas.microsoft.com/office/drawing/2014/main" id="{C8783C2B-A917-46AB-A1EE-C734B385F2E4}"/>
              </a:ext>
            </a:extLst>
          </p:cNvPr>
          <p:cNvSpPr>
            <a:spLocks noGrp="1"/>
          </p:cNvSpPr>
          <p:nvPr/>
        </p:nvSpPr>
        <p:spPr>
          <a:xfrm>
            <a:off x="950976"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ED2432E-722A-42AA-A1E2-8B74EE2A28D8}"/>
              </a:ext>
            </a:extLst>
          </p:cNvPr>
          <p:cNvSpPr>
            <a:spLocks noGrp="1"/>
          </p:cNvSpPr>
          <p:nvPr/>
        </p:nvSpPr>
        <p:spPr>
          <a:xfrm>
            <a:off x="1042416"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MT-CYB</a:t>
            </a:r>
          </a:p>
        </p:txBody>
      </p:sp>
      <p:sp>
        <p:nvSpPr>
          <p:cNvPr id="15" name="Rounded Rectangle 14">
            <a:extLst>
              <a:ext uri="{FF2B5EF4-FFF2-40B4-BE49-F238E27FC236}">
                <a16:creationId xmlns:a16="http://schemas.microsoft.com/office/drawing/2014/main" id="{BDF2196C-1BD1-4FF0-B623-2E82FCDEC8C3}"/>
              </a:ext>
            </a:extLst>
          </p:cNvPr>
          <p:cNvSpPr>
            <a:spLocks noGrp="1"/>
          </p:cNvSpPr>
          <p:nvPr/>
        </p:nvSpPr>
        <p:spPr>
          <a:xfrm>
            <a:off x="2478024"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091A08BF-16AF-4B58-A566-0552A3C0164B}"/>
              </a:ext>
            </a:extLst>
          </p:cNvPr>
          <p:cNvSpPr>
            <a:spLocks noGrp="1"/>
          </p:cNvSpPr>
          <p:nvPr/>
        </p:nvSpPr>
        <p:spPr>
          <a:xfrm>
            <a:off x="2569464"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MT-ND1</a:t>
            </a:r>
          </a:p>
        </p:txBody>
      </p:sp>
      <p:sp>
        <p:nvSpPr>
          <p:cNvPr id="17" name="Rounded Rectangle 16">
            <a:extLst>
              <a:ext uri="{FF2B5EF4-FFF2-40B4-BE49-F238E27FC236}">
                <a16:creationId xmlns:a16="http://schemas.microsoft.com/office/drawing/2014/main" id="{A09B3222-631D-4C02-BD7C-C8B4F6716921}"/>
              </a:ext>
            </a:extLst>
          </p:cNvPr>
          <p:cNvSpPr>
            <a:spLocks noGrp="1"/>
          </p:cNvSpPr>
          <p:nvPr/>
        </p:nvSpPr>
        <p:spPr>
          <a:xfrm>
            <a:off x="4005072"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A70FDBD-B0EE-475D-B398-3015AEA676E3}"/>
              </a:ext>
            </a:extLst>
          </p:cNvPr>
          <p:cNvSpPr>
            <a:spLocks noGrp="1"/>
          </p:cNvSpPr>
          <p:nvPr/>
        </p:nvSpPr>
        <p:spPr>
          <a:xfrm>
            <a:off x="4096511"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MT-ND2</a:t>
            </a:r>
          </a:p>
        </p:txBody>
      </p:sp>
      <p:sp>
        <p:nvSpPr>
          <p:cNvPr id="19" name="Rounded Rectangle 18">
            <a:extLst>
              <a:ext uri="{FF2B5EF4-FFF2-40B4-BE49-F238E27FC236}">
                <a16:creationId xmlns:a16="http://schemas.microsoft.com/office/drawing/2014/main" id="{9E4EDCEE-330A-4C30-B731-B4AFFDA016A9}"/>
              </a:ext>
            </a:extLst>
          </p:cNvPr>
          <p:cNvSpPr>
            <a:spLocks noGrp="1"/>
          </p:cNvSpPr>
          <p:nvPr/>
        </p:nvSpPr>
        <p:spPr>
          <a:xfrm>
            <a:off x="950976"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93B357DB-153B-4294-B85A-B8EB8A00302C}"/>
              </a:ext>
            </a:extLst>
          </p:cNvPr>
          <p:cNvSpPr>
            <a:spLocks noGrp="1"/>
          </p:cNvSpPr>
          <p:nvPr/>
        </p:nvSpPr>
        <p:spPr>
          <a:xfrm>
            <a:off x="1042416"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MT-ND3</a:t>
            </a:r>
          </a:p>
        </p:txBody>
      </p:sp>
      <p:sp>
        <p:nvSpPr>
          <p:cNvPr id="21" name="Rounded Rectangle 20">
            <a:extLst>
              <a:ext uri="{FF2B5EF4-FFF2-40B4-BE49-F238E27FC236}">
                <a16:creationId xmlns:a16="http://schemas.microsoft.com/office/drawing/2014/main" id="{DCA6CB8D-35EC-45D1-B544-B245023B6A11}"/>
              </a:ext>
            </a:extLst>
          </p:cNvPr>
          <p:cNvSpPr>
            <a:spLocks noGrp="1"/>
          </p:cNvSpPr>
          <p:nvPr/>
        </p:nvSpPr>
        <p:spPr>
          <a:xfrm>
            <a:off x="2478024"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30CB0331-FFB8-4D19-87C8-C8EB747B2B72}"/>
              </a:ext>
            </a:extLst>
          </p:cNvPr>
          <p:cNvSpPr>
            <a:spLocks noGrp="1"/>
          </p:cNvSpPr>
          <p:nvPr/>
        </p:nvSpPr>
        <p:spPr>
          <a:xfrm>
            <a:off x="2569464"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a:t>
            </a:r>
          </a:p>
        </p:txBody>
      </p:sp>
      <p:sp>
        <p:nvSpPr>
          <p:cNvPr id="23" name="Rounded Rectangle 22">
            <a:extLst>
              <a:ext uri="{FF2B5EF4-FFF2-40B4-BE49-F238E27FC236}">
                <a16:creationId xmlns:a16="http://schemas.microsoft.com/office/drawing/2014/main" id="{04029D47-3EA5-4D85-9276-1AC2B5CC904A}"/>
              </a:ext>
            </a:extLst>
          </p:cNvPr>
          <p:cNvSpPr>
            <a:spLocks noGrp="1"/>
          </p:cNvSpPr>
          <p:nvPr/>
        </p:nvSpPr>
        <p:spPr>
          <a:xfrm>
            <a:off x="4005072"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0A26401-7BFB-4C8F-9EA3-C4B6F0E212CA}"/>
              </a:ext>
            </a:extLst>
          </p:cNvPr>
          <p:cNvSpPr>
            <a:spLocks noGrp="1"/>
          </p:cNvSpPr>
          <p:nvPr/>
        </p:nvSpPr>
        <p:spPr>
          <a:xfrm>
            <a:off x="4096511"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MT-ND4L</a:t>
            </a:r>
          </a:p>
        </p:txBody>
      </p:sp>
      <p:sp>
        <p:nvSpPr>
          <p:cNvPr id="25" name="Rounded Rectangle 24">
            <a:extLst>
              <a:ext uri="{FF2B5EF4-FFF2-40B4-BE49-F238E27FC236}">
                <a16:creationId xmlns:a16="http://schemas.microsoft.com/office/drawing/2014/main" id="{20673662-2E76-4EEE-AD3E-DBC5A8F792CC}"/>
              </a:ext>
            </a:extLst>
          </p:cNvPr>
          <p:cNvSpPr>
            <a:spLocks noGrp="1"/>
          </p:cNvSpPr>
          <p:nvPr/>
        </p:nvSpPr>
        <p:spPr>
          <a:xfrm>
            <a:off x="6236208" y="1353312"/>
            <a:ext cx="5303520" cy="3602736"/>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BA34ED79-956B-413D-B5CE-FEFFF8D61234}"/>
              </a:ext>
            </a:extLst>
          </p:cNvPr>
          <p:cNvSpPr>
            <a:spLocks noGrp="1"/>
          </p:cNvSpPr>
          <p:nvPr/>
        </p:nvSpPr>
        <p:spPr>
          <a:xfrm>
            <a:off x="6528816" y="169164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ECCD7B4-D946-4D83-A898-FA961ED119BE}"/>
              </a:ext>
            </a:extLst>
          </p:cNvPr>
          <p:cNvSpPr>
            <a:spLocks noGrp="1"/>
          </p:cNvSpPr>
          <p:nvPr/>
        </p:nvSpPr>
        <p:spPr>
          <a:xfrm>
            <a:off x="6675120" y="1664208"/>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8 nuclear-encoded MitoCarta MT genes ↓ in both</a:t>
            </a:r>
          </a:p>
        </p:txBody>
      </p:sp>
      <p:sp>
        <p:nvSpPr>
          <p:cNvPr id="28" name="Rounded Rectangle 27">
            <a:extLst>
              <a:ext uri="{FF2B5EF4-FFF2-40B4-BE49-F238E27FC236}">
                <a16:creationId xmlns:a16="http://schemas.microsoft.com/office/drawing/2014/main" id="{FAA68ABB-712A-45AE-862F-5D741259402E}"/>
              </a:ext>
            </a:extLst>
          </p:cNvPr>
          <p:cNvSpPr>
            <a:spLocks noGrp="1"/>
          </p:cNvSpPr>
          <p:nvPr/>
        </p:nvSpPr>
        <p:spPr>
          <a:xfrm>
            <a:off x="6565392"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CE661190-7927-4A73-8473-F125B946518C}"/>
              </a:ext>
            </a:extLst>
          </p:cNvPr>
          <p:cNvSpPr>
            <a:spLocks noGrp="1"/>
          </p:cNvSpPr>
          <p:nvPr/>
        </p:nvSpPr>
        <p:spPr>
          <a:xfrm>
            <a:off x="6656831"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UQCRFS1</a:t>
            </a:r>
          </a:p>
        </p:txBody>
      </p:sp>
      <p:sp>
        <p:nvSpPr>
          <p:cNvPr id="30" name="Rounded Rectangle 29">
            <a:extLst>
              <a:ext uri="{FF2B5EF4-FFF2-40B4-BE49-F238E27FC236}">
                <a16:creationId xmlns:a16="http://schemas.microsoft.com/office/drawing/2014/main" id="{BBABDB61-D35F-4ED9-994F-9A0CF5B82E15}"/>
              </a:ext>
            </a:extLst>
          </p:cNvPr>
          <p:cNvSpPr>
            <a:spLocks noGrp="1"/>
          </p:cNvSpPr>
          <p:nvPr/>
        </p:nvSpPr>
        <p:spPr>
          <a:xfrm>
            <a:off x="8833104"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740B0317-278F-4347-92F7-6319EB85A48D}"/>
              </a:ext>
            </a:extLst>
          </p:cNvPr>
          <p:cNvSpPr>
            <a:spLocks noGrp="1"/>
          </p:cNvSpPr>
          <p:nvPr/>
        </p:nvSpPr>
        <p:spPr>
          <a:xfrm>
            <a:off x="8924544"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SLC25A5</a:t>
            </a:r>
          </a:p>
        </p:txBody>
      </p:sp>
      <p:sp>
        <p:nvSpPr>
          <p:cNvPr id="32" name="Rounded Rectangle 31">
            <a:extLst>
              <a:ext uri="{FF2B5EF4-FFF2-40B4-BE49-F238E27FC236}">
                <a16:creationId xmlns:a16="http://schemas.microsoft.com/office/drawing/2014/main" id="{1D48AAAC-0032-4DDD-83FE-48AE10AEA4C4}"/>
              </a:ext>
            </a:extLst>
          </p:cNvPr>
          <p:cNvSpPr>
            <a:spLocks noGrp="1"/>
          </p:cNvSpPr>
          <p:nvPr/>
        </p:nvSpPr>
        <p:spPr>
          <a:xfrm>
            <a:off x="6565392"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E53ADCE1-CA88-4B3F-80B5-7456C4A245FC}"/>
              </a:ext>
            </a:extLst>
          </p:cNvPr>
          <p:cNvSpPr>
            <a:spLocks noGrp="1"/>
          </p:cNvSpPr>
          <p:nvPr/>
        </p:nvSpPr>
        <p:spPr>
          <a:xfrm>
            <a:off x="6656831"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TIMM13</a:t>
            </a:r>
          </a:p>
        </p:txBody>
      </p:sp>
      <p:sp>
        <p:nvSpPr>
          <p:cNvPr id="34" name="Rounded Rectangle 33">
            <a:extLst>
              <a:ext uri="{FF2B5EF4-FFF2-40B4-BE49-F238E27FC236}">
                <a16:creationId xmlns:a16="http://schemas.microsoft.com/office/drawing/2014/main" id="{A6ED0EB4-CC97-4758-9DE0-4B394B4EE270}"/>
              </a:ext>
            </a:extLst>
          </p:cNvPr>
          <p:cNvSpPr>
            <a:spLocks noGrp="1"/>
          </p:cNvSpPr>
          <p:nvPr/>
        </p:nvSpPr>
        <p:spPr>
          <a:xfrm>
            <a:off x="8833104"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0E25720A-91FC-49D1-8D91-9088C37BC187}"/>
              </a:ext>
            </a:extLst>
          </p:cNvPr>
          <p:cNvSpPr>
            <a:spLocks noGrp="1"/>
          </p:cNvSpPr>
          <p:nvPr/>
        </p:nvSpPr>
        <p:spPr>
          <a:xfrm>
            <a:off x="8924544"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TIMM17A</a:t>
            </a:r>
          </a:p>
        </p:txBody>
      </p:sp>
      <p:sp>
        <p:nvSpPr>
          <p:cNvPr id="36" name="Rounded Rectangle 35">
            <a:extLst>
              <a:ext uri="{FF2B5EF4-FFF2-40B4-BE49-F238E27FC236}">
                <a16:creationId xmlns:a16="http://schemas.microsoft.com/office/drawing/2014/main" id="{8D0EAADA-EA66-48E7-B3F4-1F04C0904F51}"/>
              </a:ext>
            </a:extLst>
          </p:cNvPr>
          <p:cNvSpPr>
            <a:spLocks noGrp="1"/>
          </p:cNvSpPr>
          <p:nvPr/>
        </p:nvSpPr>
        <p:spPr>
          <a:xfrm>
            <a:off x="6565392"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D73FE672-1675-4AFF-B10F-F3C3DA4C0FD6}"/>
              </a:ext>
            </a:extLst>
          </p:cNvPr>
          <p:cNvSpPr>
            <a:spLocks noGrp="1"/>
          </p:cNvSpPr>
          <p:nvPr/>
        </p:nvSpPr>
        <p:spPr>
          <a:xfrm>
            <a:off x="6656831"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MRPL16</a:t>
            </a:r>
          </a:p>
        </p:txBody>
      </p:sp>
      <p:sp>
        <p:nvSpPr>
          <p:cNvPr id="38" name="Rounded Rectangle 37">
            <a:extLst>
              <a:ext uri="{FF2B5EF4-FFF2-40B4-BE49-F238E27FC236}">
                <a16:creationId xmlns:a16="http://schemas.microsoft.com/office/drawing/2014/main" id="{9465C8DE-8788-4B61-894D-1FA77641511B}"/>
              </a:ext>
            </a:extLst>
          </p:cNvPr>
          <p:cNvSpPr>
            <a:spLocks noGrp="1"/>
          </p:cNvSpPr>
          <p:nvPr/>
        </p:nvSpPr>
        <p:spPr>
          <a:xfrm>
            <a:off x="8833104"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0D14650F-E567-4F55-9B53-A70E1B67177B}"/>
              </a:ext>
            </a:extLst>
          </p:cNvPr>
          <p:cNvSpPr>
            <a:spLocks noGrp="1"/>
          </p:cNvSpPr>
          <p:nvPr/>
        </p:nvSpPr>
        <p:spPr>
          <a:xfrm>
            <a:off x="8924544"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MRPS34</a:t>
            </a:r>
          </a:p>
        </p:txBody>
      </p:sp>
      <p:sp>
        <p:nvSpPr>
          <p:cNvPr id="40" name="Rounded Rectangle 39">
            <a:extLst>
              <a:ext uri="{FF2B5EF4-FFF2-40B4-BE49-F238E27FC236}">
                <a16:creationId xmlns:a16="http://schemas.microsoft.com/office/drawing/2014/main" id="{FC6DA421-533E-419C-9152-C997B7449409}"/>
              </a:ext>
            </a:extLst>
          </p:cNvPr>
          <p:cNvSpPr>
            <a:spLocks noGrp="1"/>
          </p:cNvSpPr>
          <p:nvPr/>
        </p:nvSpPr>
        <p:spPr>
          <a:xfrm>
            <a:off x="6565392"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86D0335-838E-466D-88BE-65362C921125}"/>
              </a:ext>
            </a:extLst>
          </p:cNvPr>
          <p:cNvSpPr>
            <a:spLocks noGrp="1"/>
          </p:cNvSpPr>
          <p:nvPr/>
        </p:nvSpPr>
        <p:spPr>
          <a:xfrm>
            <a:off x="6656831"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ENDOG</a:t>
            </a:r>
          </a:p>
        </p:txBody>
      </p:sp>
      <p:sp>
        <p:nvSpPr>
          <p:cNvPr id="42" name="Rounded Rectangle 41">
            <a:extLst>
              <a:ext uri="{FF2B5EF4-FFF2-40B4-BE49-F238E27FC236}">
                <a16:creationId xmlns:a16="http://schemas.microsoft.com/office/drawing/2014/main" id="{10CD3535-2950-4B88-B210-BE54B8A346C8}"/>
              </a:ext>
            </a:extLst>
          </p:cNvPr>
          <p:cNvSpPr>
            <a:spLocks noGrp="1"/>
          </p:cNvSpPr>
          <p:nvPr/>
        </p:nvSpPr>
        <p:spPr>
          <a:xfrm>
            <a:off x="8833104"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281CBB33-160C-4C25-9404-B8B4781F70F5}"/>
              </a:ext>
            </a:extLst>
          </p:cNvPr>
          <p:cNvSpPr>
            <a:spLocks noGrp="1"/>
          </p:cNvSpPr>
          <p:nvPr/>
        </p:nvSpPr>
        <p:spPr>
          <a:xfrm>
            <a:off x="8924544"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MTCH1</a:t>
            </a:r>
          </a:p>
        </p:txBody>
      </p:sp>
      <p:sp>
        <p:nvSpPr>
          <p:cNvPr id="44" name="Rounded Rectangle 43">
            <a:extLst>
              <a:ext uri="{FF2B5EF4-FFF2-40B4-BE49-F238E27FC236}">
                <a16:creationId xmlns:a16="http://schemas.microsoft.com/office/drawing/2014/main" id="{4E440860-7147-4579-B9E0-1945D3EF1CF2}"/>
              </a:ext>
            </a:extLst>
          </p:cNvPr>
          <p:cNvSpPr>
            <a:spLocks noGrp="1"/>
          </p:cNvSpPr>
          <p:nvPr/>
        </p:nvSpPr>
        <p:spPr>
          <a:xfrm>
            <a:off x="658368" y="5230368"/>
            <a:ext cx="5285232" cy="95097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F3E5D0AC-ECBE-445D-8D6B-C4442DCF3908}"/>
              </a:ext>
            </a:extLst>
          </p:cNvPr>
          <p:cNvSpPr>
            <a:spLocks noGrp="1"/>
          </p:cNvSpPr>
          <p:nvPr/>
        </p:nvSpPr>
        <p:spPr>
          <a:xfrm>
            <a:off x="932688" y="5449824"/>
            <a:ext cx="202996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00684D"/>
                </a:solidFill>
                <a:latin typeface="Arial"/>
                <a:ea typeface="Arial"/>
                <a:cs typeface="Arial"/>
              </a:rPr>
              <a:t>Other genes with the same direction</a:t>
            </a:r>
          </a:p>
        </p:txBody>
      </p:sp>
      <p:sp>
        <p:nvSpPr>
          <p:cNvPr id="46" name="TextBox 45">
            <a:extLst>
              <a:ext uri="{FF2B5EF4-FFF2-40B4-BE49-F238E27FC236}">
                <a16:creationId xmlns:a16="http://schemas.microsoft.com/office/drawing/2014/main" id="{D8AC2C88-E4B4-4FB6-8956-990AD7AE975A}"/>
              </a:ext>
            </a:extLst>
          </p:cNvPr>
          <p:cNvSpPr>
            <a:spLocks noGrp="1"/>
          </p:cNvSpPr>
          <p:nvPr/>
        </p:nvSpPr>
        <p:spPr>
          <a:xfrm>
            <a:off x="2816352" y="5422392"/>
            <a:ext cx="277977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1F2730"/>
                </a:solidFill>
                <a:latin typeface="Arial"/>
                <a:ea typeface="Arial"/>
                <a:cs typeface="Arial"/>
              </a:rPr>
              <a:t>DBP ↓   •   PRELID2 ↑</a:t>
            </a:r>
          </a:p>
        </p:txBody>
      </p:sp>
      <p:sp>
        <p:nvSpPr>
          <p:cNvPr id="47" name="Rounded Rectangle 46">
            <a:extLst>
              <a:ext uri="{FF2B5EF4-FFF2-40B4-BE49-F238E27FC236}">
                <a16:creationId xmlns:a16="http://schemas.microsoft.com/office/drawing/2014/main" id="{663F6E21-C900-4814-90AB-BA9EE26BB292}"/>
              </a:ext>
            </a:extLst>
          </p:cNvPr>
          <p:cNvSpPr>
            <a:spLocks noGrp="1"/>
          </p:cNvSpPr>
          <p:nvPr/>
        </p:nvSpPr>
        <p:spPr>
          <a:xfrm>
            <a:off x="6236208" y="5230368"/>
            <a:ext cx="5303520" cy="95097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8" name="TextBox 47">
            <a:extLst>
              <a:ext uri="{FF2B5EF4-FFF2-40B4-BE49-F238E27FC236}">
                <a16:creationId xmlns:a16="http://schemas.microsoft.com/office/drawing/2014/main" id="{08C11003-7189-4AE0-B9A7-977E6461EB5C}"/>
              </a:ext>
            </a:extLst>
          </p:cNvPr>
          <p:cNvSpPr>
            <a:spLocks noGrp="1"/>
          </p:cNvSpPr>
          <p:nvPr/>
        </p:nvSpPr>
        <p:spPr>
          <a:xfrm>
            <a:off x="6510528" y="5449824"/>
            <a:ext cx="1773936"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895600"/>
                </a:solidFill>
                <a:latin typeface="Arial"/>
                <a:ea typeface="Arial"/>
                <a:cs typeface="Arial"/>
              </a:rPr>
              <a:t>3 genes with opposite directions</a:t>
            </a:r>
          </a:p>
        </p:txBody>
      </p:sp>
      <p:sp>
        <p:nvSpPr>
          <p:cNvPr id="49" name="TextBox 48">
            <a:extLst>
              <a:ext uri="{FF2B5EF4-FFF2-40B4-BE49-F238E27FC236}">
                <a16:creationId xmlns:a16="http://schemas.microsoft.com/office/drawing/2014/main" id="{D84AABC3-9771-44B1-9E16-FCE13BC2D2E5}"/>
              </a:ext>
            </a:extLst>
          </p:cNvPr>
          <p:cNvSpPr>
            <a:spLocks noGrp="1"/>
          </p:cNvSpPr>
          <p:nvPr/>
        </p:nvSpPr>
        <p:spPr>
          <a:xfrm>
            <a:off x="8174736" y="5422392"/>
            <a:ext cx="305409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1F2730"/>
                </a:solidFill>
                <a:latin typeface="Arial"/>
                <a:ea typeface="Arial"/>
                <a:cs typeface="Arial"/>
              </a:rPr>
              <a:t>HIBCH   •   ISCU   •   TMEM126B</a:t>
            </a:r>
          </a:p>
        </p:txBody>
      </p:sp>
    </p:spTree>
    <p:extLst>
      <p:ext uri="{BB962C8B-B14F-4D97-AF65-F5344CB8AC3E}">
        <p14:creationId xmlns:p14="http://schemas.microsoft.com/office/powerpoint/2010/main" val="161746955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89BDDB-19F9-43E6-B898-18332942BF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one respiratory system depends on two genomes</a:t>
            </a:r>
          </a:p>
        </p:txBody>
      </p:sp>
      <p:sp>
        <p:nvSpPr>
          <p:cNvPr id="3" name="TextBox 2">
            <a:extLst>
              <a:ext uri="{FF2B5EF4-FFF2-40B4-BE49-F238E27FC236}">
                <a16:creationId xmlns:a16="http://schemas.microsoft.com/office/drawing/2014/main" id="{C6E31DFF-652B-4442-ADF2-A5AB65F6F94A}"/>
              </a:ext>
            </a:extLst>
          </p:cNvPr>
          <p:cNvSpPr>
            <a:spLocks noGrp="1"/>
          </p:cNvSpPr>
          <p:nvPr/>
        </p:nvSpPr>
        <p:spPr>
          <a:xfrm>
            <a:off x="548640" y="9307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Opposite directions in OXPHOS gene expression could challenge coordination, but the functional outcome remains unknown.</a:t>
            </a:r>
          </a:p>
        </p:txBody>
      </p:sp>
      <p:sp>
        <p:nvSpPr>
          <p:cNvPr id="4" name="Rounded Rectangle 3">
            <a:extLst>
              <a:ext uri="{FF2B5EF4-FFF2-40B4-BE49-F238E27FC236}">
                <a16:creationId xmlns:a16="http://schemas.microsoft.com/office/drawing/2014/main" id="{80FA1F4E-346A-40E9-A30B-0C83C1DD8C40}"/>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5F4915F5-1C46-40F3-8E59-A43B43378EA6}"/>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B51B34E-EBD8-4101-9893-44567F046DBE}"/>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AC336E15-6B87-4A24-BC94-2175198B6CB6}"/>
              </a:ext>
            </a:extLst>
          </p:cNvPr>
          <p:cNvSpPr>
            <a:spLocks noGrp="1"/>
          </p:cNvSpPr>
          <p:nvPr/>
        </p:nvSpPr>
        <p:spPr>
          <a:xfrm>
            <a:off x="1572768" y="1773936"/>
            <a:ext cx="2249424" cy="2862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Two genomes</a:t>
            </a:r>
          </a:p>
        </p:txBody>
      </p:sp>
      <p:sp>
        <p:nvSpPr>
          <p:cNvPr id="8" name="TextBox 7">
            <a:extLst>
              <a:ext uri="{FF2B5EF4-FFF2-40B4-BE49-F238E27FC236}">
                <a16:creationId xmlns:a16="http://schemas.microsoft.com/office/drawing/2014/main" id="{68925F42-4398-4E11-B6EF-79DA1E2328C2}"/>
              </a:ext>
            </a:extLst>
          </p:cNvPr>
          <p:cNvSpPr>
            <a:spLocks noGrp="1"/>
          </p:cNvSpPr>
          <p:nvPr/>
        </p:nvSpPr>
        <p:spPr>
          <a:xfrm>
            <a:off x="95097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OXPHOS complexes combine proteins encoded by core MT genes and nuclear-encoded OXPHOS genes.</a:t>
            </a:r>
          </a:p>
        </p:txBody>
      </p:sp>
      <p:sp>
        <p:nvSpPr>
          <p:cNvPr id="9" name="Rounded Rectangle 8">
            <a:extLst>
              <a:ext uri="{FF2B5EF4-FFF2-40B4-BE49-F238E27FC236}">
                <a16:creationId xmlns:a16="http://schemas.microsoft.com/office/drawing/2014/main" id="{8C8F44F2-A583-41BD-8AAE-D065D0E3A44C}"/>
              </a:ext>
            </a:extLst>
          </p:cNvPr>
          <p:cNvSpPr>
            <a:spLocks noGrp="1"/>
          </p:cNvSpPr>
          <p:nvPr/>
        </p:nvSpPr>
        <p:spPr>
          <a:xfrm>
            <a:off x="4453128" y="1444752"/>
            <a:ext cx="3456432" cy="292608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55535B3C-9025-4877-AE27-4F730F4EDCEB}"/>
              </a:ext>
            </a:extLst>
          </p:cNvPr>
          <p:cNvSpPr>
            <a:spLocks noGrp="1"/>
          </p:cNvSpPr>
          <p:nvPr/>
        </p:nvSpPr>
        <p:spPr>
          <a:xfrm>
            <a:off x="4709160" y="1755648"/>
            <a:ext cx="512064" cy="51206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7B9ADB5A-D665-478D-A4C2-D6F552769A60}"/>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A52A05AC-F6B3-4522-9E9D-440CF3FD3009}"/>
              </a:ext>
            </a:extLst>
          </p:cNvPr>
          <p:cNvSpPr>
            <a:spLocks noGrp="1"/>
          </p:cNvSpPr>
          <p:nvPr/>
        </p:nvSpPr>
        <p:spPr>
          <a:xfrm>
            <a:off x="536752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Other mitochondrial processes also decrease</a:t>
            </a:r>
          </a:p>
        </p:txBody>
      </p:sp>
      <p:sp>
        <p:nvSpPr>
          <p:cNvPr id="13" name="TextBox 12">
            <a:extLst>
              <a:ext uri="{FF2B5EF4-FFF2-40B4-BE49-F238E27FC236}">
                <a16:creationId xmlns:a16="http://schemas.microsoft.com/office/drawing/2014/main" id="{737F4522-E85C-4374-8AFE-3C93CC6427A3}"/>
              </a:ext>
            </a:extLst>
          </p:cNvPr>
          <p:cNvSpPr>
            <a:spLocks noGrp="1"/>
          </p:cNvSpPr>
          <p:nvPr/>
        </p:nvSpPr>
        <p:spPr>
          <a:xfrm>
            <a:off x="474573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Genes for protein import, mitochondrial ribosomes, metabolite transport, and DNA/RNA maintenance are down in both cohorts.</a:t>
            </a:r>
          </a:p>
        </p:txBody>
      </p:sp>
      <p:sp>
        <p:nvSpPr>
          <p:cNvPr id="14" name="Rounded Rectangle 13">
            <a:extLst>
              <a:ext uri="{FF2B5EF4-FFF2-40B4-BE49-F238E27FC236}">
                <a16:creationId xmlns:a16="http://schemas.microsoft.com/office/drawing/2014/main" id="{4E5AE5C1-CACE-4CDD-BA6B-58AFC97688E0}"/>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3C73238A-1805-4B14-9818-C3823CA03A84}"/>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937DE2F-CA42-4B1A-BBD9-9BDE6CE438CA}"/>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C903F3CC-926C-4B85-B76F-E6FC31B3195D}"/>
              </a:ext>
            </a:extLst>
          </p:cNvPr>
          <p:cNvSpPr>
            <a:spLocks noGrp="1"/>
          </p:cNvSpPr>
          <p:nvPr/>
        </p:nvSpPr>
        <p:spPr>
          <a:xfrm>
            <a:off x="916228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Possible cellular strain</a:t>
            </a:r>
          </a:p>
        </p:txBody>
      </p:sp>
      <p:sp>
        <p:nvSpPr>
          <p:cNvPr id="18" name="TextBox 17">
            <a:extLst>
              <a:ext uri="{FF2B5EF4-FFF2-40B4-BE49-F238E27FC236}">
                <a16:creationId xmlns:a16="http://schemas.microsoft.com/office/drawing/2014/main" id="{B5EE971D-CCA3-40AB-B239-DC9FA51E5711}"/>
              </a:ext>
            </a:extLst>
          </p:cNvPr>
          <p:cNvSpPr>
            <a:spLocks noGrp="1"/>
          </p:cNvSpPr>
          <p:nvPr/>
        </p:nvSpPr>
        <p:spPr>
          <a:xfrm>
            <a:off x="854049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The pattern could reflect compensation, unassembled parts, altered cell state, or mitochondrial stress.</a:t>
            </a:r>
          </a:p>
        </p:txBody>
      </p:sp>
      <p:sp>
        <p:nvSpPr>
          <p:cNvPr id="19" name="Rounded Rectangle 18">
            <a:extLst>
              <a:ext uri="{FF2B5EF4-FFF2-40B4-BE49-F238E27FC236}">
                <a16:creationId xmlns:a16="http://schemas.microsoft.com/office/drawing/2014/main" id="{A96C6193-504C-4278-BE8F-B54E3187356F}"/>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44DB96F8-B5A0-4FA3-808C-4E1766C0D259}"/>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C4612D2D-EB94-410E-98BE-66523814461D}"/>
              </a:ext>
            </a:extLst>
          </p:cNvPr>
          <p:cNvSpPr>
            <a:spLocks noGrp="1"/>
          </p:cNvSpPr>
          <p:nvPr/>
        </p:nvSpPr>
        <p:spPr>
          <a:xfrm>
            <a:off x="3246120" y="4882896"/>
            <a:ext cx="7836408" cy="5120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60" b="1" i="0">
                <a:solidFill>
                  <a:srgbClr val="1F2730"/>
                </a:solidFill>
                <a:latin typeface="Arial"/>
                <a:ea typeface="Arial"/>
                <a:cs typeface="Arial"/>
              </a:rPr>
              <a:t>This is an RNA-level difference between the two OXPHOS gene sets, not proof that respiratory proteins or ATP production are unbalanced.</a:t>
            </a:r>
          </a:p>
        </p:txBody>
      </p:sp>
    </p:spTree>
    <p:extLst>
      <p:ext uri="{BB962C8B-B14F-4D97-AF65-F5344CB8AC3E}">
        <p14:creationId xmlns:p14="http://schemas.microsoft.com/office/powerpoint/2010/main" val="134427686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1E831F-9C83-460B-A9F6-F57B4FD91C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supports the biological context, but not this exact pattern</a:t>
            </a:r>
          </a:p>
        </p:txBody>
      </p:sp>
      <p:sp>
        <p:nvSpPr>
          <p:cNvPr id="3" name="TextBox 2">
            <a:extLst>
              <a:ext uri="{FF2B5EF4-FFF2-40B4-BE49-F238E27FC236}">
                <a16:creationId xmlns:a16="http://schemas.microsoft.com/office/drawing/2014/main" id="{FFC3B33B-FA26-4DB3-90A1-C59CD3B5D429}"/>
              </a:ext>
            </a:extLst>
          </p:cNvPr>
          <p:cNvSpPr>
            <a:spLocks noGrp="1"/>
          </p:cNvSpPr>
          <p:nvPr/>
        </p:nvSpPr>
        <p:spPr>
          <a:xfrm>
            <a:off x="548640" y="892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Two-genome OXPHOS biology and cell-resolved AD studies make the finding plausible without independently reproducing it.</a:t>
            </a:r>
          </a:p>
        </p:txBody>
      </p:sp>
      <p:sp>
        <p:nvSpPr>
          <p:cNvPr id="4" name="Rounded Rectangle 3">
            <a:extLst>
              <a:ext uri="{FF2B5EF4-FFF2-40B4-BE49-F238E27FC236}">
                <a16:creationId xmlns:a16="http://schemas.microsoft.com/office/drawing/2014/main" id="{F9060371-20DB-4C6A-8FCA-CF7D5B51DB8B}"/>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39C4ABF-05B2-4485-B2CB-5AC16080D05A}"/>
              </a:ext>
            </a:extLst>
          </p:cNvPr>
          <p:cNvSpPr>
            <a:spLocks noGrp="1"/>
          </p:cNvSpPr>
          <p:nvPr/>
        </p:nvSpPr>
        <p:spPr>
          <a:xfrm>
            <a:off x="93268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72B2"/>
                </a:solidFill>
                <a:latin typeface="Arial"/>
                <a:ea typeface="Arial"/>
                <a:cs typeface="Arial"/>
              </a:rPr>
              <a:t>Two-genome OXPHOS biology</a:t>
            </a:r>
          </a:p>
        </p:txBody>
      </p:sp>
      <p:sp>
        <p:nvSpPr>
          <p:cNvPr id="6" name="TextBox 5">
            <a:extLst>
              <a:ext uri="{FF2B5EF4-FFF2-40B4-BE49-F238E27FC236}">
                <a16:creationId xmlns:a16="http://schemas.microsoft.com/office/drawing/2014/main" id="{E4E8C0BF-18CE-4AFE-A685-EE6B952528DC}"/>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Two-genome assembly</a:t>
            </a:r>
          </a:p>
        </p:txBody>
      </p:sp>
      <p:sp>
        <p:nvSpPr>
          <p:cNvPr id="7" name="TextBox 6">
            <a:extLst>
              <a:ext uri="{FF2B5EF4-FFF2-40B4-BE49-F238E27FC236}">
                <a16:creationId xmlns:a16="http://schemas.microsoft.com/office/drawing/2014/main" id="{AFF2BC40-434D-4FBA-A545-2D12E535E323}"/>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449C21F-77B6-4B10-A6D6-BCE8CD5DBF86}"/>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OXPHOS requires coordinated core MT and nuclear-encoded OXPHOS subunits.</a:t>
            </a:r>
          </a:p>
        </p:txBody>
      </p:sp>
      <p:sp>
        <p:nvSpPr>
          <p:cNvPr id="9" name="TextBox 8">
            <a:extLst>
              <a:ext uri="{FF2B5EF4-FFF2-40B4-BE49-F238E27FC236}">
                <a16:creationId xmlns:a16="http://schemas.microsoft.com/office/drawing/2014/main" id="{4601FF6A-C67F-4716-A237-7D321428E363}"/>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86DC17D-EE6F-4D02-827E-650F8C66C97D}"/>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show protein imbalance in these samples.</a:t>
            </a:r>
          </a:p>
        </p:txBody>
      </p:sp>
      <p:sp>
        <p:nvSpPr>
          <p:cNvPr id="11" name="Rounded Rectangle 10">
            <a:extLst>
              <a:ext uri="{FF2B5EF4-FFF2-40B4-BE49-F238E27FC236}">
                <a16:creationId xmlns:a16="http://schemas.microsoft.com/office/drawing/2014/main" id="{0B2A38F5-FB2D-4CF3-A9F0-F457BE571D03}"/>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6BFD020-53F5-4564-97F4-8BD4130FC6FC}"/>
              </a:ext>
            </a:extLst>
          </p:cNvPr>
          <p:cNvSpPr>
            <a:spLocks noGrp="1"/>
          </p:cNvSpPr>
          <p:nvPr/>
        </p:nvSpPr>
        <p:spPr>
          <a:xfrm>
            <a:off x="472744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6D0A466B-8AB2-45E9-84F1-FFCD242B7E59}"/>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Sex-aware AD networks</a:t>
            </a:r>
          </a:p>
        </p:txBody>
      </p:sp>
      <p:sp>
        <p:nvSpPr>
          <p:cNvPr id="14" name="TextBox 13">
            <a:extLst>
              <a:ext uri="{FF2B5EF4-FFF2-40B4-BE49-F238E27FC236}">
                <a16:creationId xmlns:a16="http://schemas.microsoft.com/office/drawing/2014/main" id="{586FD83A-3ACD-4F9D-A2A5-4F124A27883A}"/>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9EEDF50F-9447-4FD7-800B-EA90B0F6DB82}"/>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analyzing Alzheimer’s biology separately by sex.</a:t>
            </a:r>
          </a:p>
        </p:txBody>
      </p:sp>
      <p:sp>
        <p:nvSpPr>
          <p:cNvPr id="16" name="TextBox 15">
            <a:extLst>
              <a:ext uri="{FF2B5EF4-FFF2-40B4-BE49-F238E27FC236}">
                <a16:creationId xmlns:a16="http://schemas.microsoft.com/office/drawing/2014/main" id="{6384EE38-F467-440F-9FD8-2D72FFA42C82}"/>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5A05C343-C7CE-4368-8C99-FBF7A2F6885F}"/>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test this exact male ε3/ε3 mismatch.</a:t>
            </a:r>
          </a:p>
        </p:txBody>
      </p:sp>
      <p:sp>
        <p:nvSpPr>
          <p:cNvPr id="18" name="Rounded Rectangle 17">
            <a:extLst>
              <a:ext uri="{FF2B5EF4-FFF2-40B4-BE49-F238E27FC236}">
                <a16:creationId xmlns:a16="http://schemas.microsoft.com/office/drawing/2014/main" id="{18EF5C68-B1D9-439B-BE8C-543E06DF563B}"/>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6B41355-BED5-4D8F-9063-8D53F6E2A4AB}"/>
              </a:ext>
            </a:extLst>
          </p:cNvPr>
          <p:cNvSpPr>
            <a:spLocks noGrp="1"/>
          </p:cNvSpPr>
          <p:nvPr/>
        </p:nvSpPr>
        <p:spPr>
          <a:xfrm>
            <a:off x="852220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C801EF30-8F56-4FC1-9D6C-63768761F467}"/>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E072959F-CF85-425C-9FCB-B3BFE0AF227D}"/>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7F8B516A-AB2C-4A36-8602-CE0E5358BFDC}"/>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strong differences among brain cell populations.</a:t>
            </a:r>
          </a:p>
        </p:txBody>
      </p:sp>
      <p:sp>
        <p:nvSpPr>
          <p:cNvPr id="23" name="TextBox 22">
            <a:extLst>
              <a:ext uri="{FF2B5EF4-FFF2-40B4-BE49-F238E27FC236}">
                <a16:creationId xmlns:a16="http://schemas.microsoft.com/office/drawing/2014/main" id="{A6ECEF22-FABE-410D-8784-E7F2998E20A6}"/>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21FD359D-C558-432B-914A-593D1E0168A9}"/>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Uses ROSMAP, so it is not independent replication.</a:t>
            </a:r>
          </a:p>
        </p:txBody>
      </p:sp>
      <p:sp>
        <p:nvSpPr>
          <p:cNvPr id="25" name="Rounded Rectangle 24">
            <a:extLst>
              <a:ext uri="{FF2B5EF4-FFF2-40B4-BE49-F238E27FC236}">
                <a16:creationId xmlns:a16="http://schemas.microsoft.com/office/drawing/2014/main" id="{B37725D5-7D86-4A21-A63D-7705A5353CB5}"/>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59CF6FA-4A58-409C-9C1D-D761CE118228}"/>
              </a:ext>
            </a:extLst>
          </p:cNvPr>
          <p:cNvSpPr>
            <a:spLocks noGrp="1"/>
          </p:cNvSpPr>
          <p:nvPr/>
        </p:nvSpPr>
        <p:spPr>
          <a:xfrm>
            <a:off x="896112" y="5852160"/>
            <a:ext cx="10405872"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7E4C9A"/>
                </a:solidFill>
                <a:latin typeface="Arial"/>
                <a:ea typeface="Arial"/>
                <a:cs typeface="Arial"/>
              </a:rPr>
              <a:t>Novelty assessment: high. Opposite OXPHOS directions are biologically plausible, but this cross-cohort male ε3/ε3 inhibitory-neuron pattern was not identified previously.</a:t>
            </a:r>
          </a:p>
        </p:txBody>
      </p:sp>
    </p:spTree>
    <p:extLst>
      <p:ext uri="{BB962C8B-B14F-4D97-AF65-F5344CB8AC3E}">
        <p14:creationId xmlns:p14="http://schemas.microsoft.com/office/powerpoint/2010/main" val="6971865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ECE486-CA54-4977-8625-3EA1DCB4429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3</a:t>
            </a:r>
          </a:p>
        </p:txBody>
      </p:sp>
      <p:sp>
        <p:nvSpPr>
          <p:cNvPr id="3" name="Rectangle 2">
            <a:extLst>
              <a:ext uri="{FF2B5EF4-FFF2-40B4-BE49-F238E27FC236}">
                <a16:creationId xmlns:a16="http://schemas.microsoft.com/office/drawing/2014/main" id="{138471B2-2173-4244-8D10-17BE35E5E13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4645D77-F763-49F2-A727-2F3A58991A9F}"/>
              </a:ext>
            </a:extLst>
          </p:cNvPr>
          <p:cNvSpPr>
            <a:spLocks noGrp="1"/>
          </p:cNvSpPr>
          <p:nvPr/>
        </p:nvSpPr>
        <p:spPr>
          <a:xfrm>
            <a:off x="1078992" y="1357390"/>
            <a:ext cx="7498079" cy="73250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lang="en-US" sz="2200" b="1" i="0" dirty="0">
                <a:solidFill>
                  <a:srgbClr val="FFFFFF"/>
                </a:solidFill>
                <a:latin typeface="Arial"/>
                <a:ea typeface="Arial"/>
                <a:cs typeface="Arial"/>
              </a:rPr>
              <a:t>Both core MT and </a:t>
            </a:r>
            <a:r>
              <a:rPr lang="en-US" sz="2200" b="1" i="0" dirty="0" err="1">
                <a:solidFill>
                  <a:srgbClr val="FFFFFF"/>
                </a:solidFill>
                <a:latin typeface="Arial"/>
                <a:ea typeface="Arial"/>
                <a:cs typeface="Arial"/>
              </a:rPr>
              <a:t>nuclear</a:t>
            </a:r>
            <a:r>
              <a:rPr lang="en-US" sz="2200" b="1" i="0" dirty="0">
                <a:solidFill>
                  <a:srgbClr val="FFFFFF"/>
                </a:solidFill>
                <a:latin typeface="Arial"/>
                <a:ea typeface="Arial"/>
                <a:cs typeface="Arial"/>
              </a:rPr>
              <a:t>-encoded OXPHOS genes were upregulated in </a:t>
            </a:r>
            <a:r>
              <a:rPr sz="2200" b="1" i="0" dirty="0">
                <a:solidFill>
                  <a:srgbClr val="FFFFFF"/>
                </a:solidFill>
                <a:latin typeface="Arial"/>
                <a:ea typeface="Arial"/>
                <a:cs typeface="Arial"/>
              </a:rPr>
              <a:t>Female APOE ε2</a:t>
            </a:r>
          </a:p>
        </p:txBody>
      </p:sp>
      <p:sp>
        <p:nvSpPr>
          <p:cNvPr id="6" name="Rounded Rectangle 5">
            <a:extLst>
              <a:ext uri="{FF2B5EF4-FFF2-40B4-BE49-F238E27FC236}">
                <a16:creationId xmlns:a16="http://schemas.microsoft.com/office/drawing/2014/main" id="{5E40BCAB-0F47-47AB-A9D0-246DD9EA3AFF}"/>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7EE485-852A-4E1F-B149-698806EE7684}"/>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2AB918F-F4EF-4C88-85CD-B16EDBBD6506}"/>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8A4456E-170C-4FFB-AC21-DF2280DD295B}"/>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278BE8F-D6C8-4B5E-9FBA-1D3C52140AE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D5FFA43-332B-40D2-8B89-D38EFFCAB4B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2771F0-C602-4C21-9B3E-92F904F7EF3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F40AA60-FA3E-4F24-9E55-D64A18F2718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00DDA4A-5D72-41DD-B527-A35D174524D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DD67D77-8008-4EB2-AAAF-977A95B417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19B0672-1812-442D-B01C-B11154BC8AB0}"/>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C0BE10BC-91E1-4F79-9CC6-930A4D220218}"/>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CFD26F0-03BF-4B2A-B699-0CC95CEC035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FF45227-BD7A-4773-91B1-26BD077F7D7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Tree>
    <p:extLst>
      <p:ext uri="{BB962C8B-B14F-4D97-AF65-F5344CB8AC3E}">
        <p14:creationId xmlns:p14="http://schemas.microsoft.com/office/powerpoint/2010/main" val="141714277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8ADFB2-0905-45C5-8F69-3585DC82971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ε2 cells show higher expression of both OXPHOS gene sets in AD</a:t>
            </a:r>
          </a:p>
        </p:txBody>
      </p:sp>
      <p:sp>
        <p:nvSpPr>
          <p:cNvPr id="3" name="TextBox 2">
            <a:extLst>
              <a:ext uri="{FF2B5EF4-FFF2-40B4-BE49-F238E27FC236}">
                <a16:creationId xmlns:a16="http://schemas.microsoft.com/office/drawing/2014/main" id="{45FEE0B3-D031-42B6-AA03-FB4DA928D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OXPHOS gene sets move in the same direction at the RNA level, especially in fine excitatory-neuron results.</a:t>
            </a:r>
          </a:p>
        </p:txBody>
      </p:sp>
      <p:sp>
        <p:nvSpPr>
          <p:cNvPr id="4" name="Rounded Rectangle 3">
            <a:extLst>
              <a:ext uri="{FF2B5EF4-FFF2-40B4-BE49-F238E27FC236}">
                <a16:creationId xmlns:a16="http://schemas.microsoft.com/office/drawing/2014/main" id="{615CD607-31E8-4B00-8C02-834BBE7C7BD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6C90F5E-0846-4909-9774-8333DBC30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4D522616-4114-4BA1-B5FD-1BF342F326A4}"/>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FB5F3E0-35DB-4F5C-8DA6-E665DF603B1F}"/>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81AAE375-C85C-434E-9749-A1D973322FD8}"/>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0BAB63-6C86-40F0-A5CF-58DB3379316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 cell types</a:t>
            </a:r>
          </a:p>
        </p:txBody>
      </p:sp>
      <p:sp>
        <p:nvSpPr>
          <p:cNvPr id="10" name="Rounded Rectangle 9">
            <a:extLst>
              <a:ext uri="{FF2B5EF4-FFF2-40B4-BE49-F238E27FC236}">
                <a16:creationId xmlns:a16="http://schemas.microsoft.com/office/drawing/2014/main" id="{640BB072-0DE5-4A4B-8633-40676AC2DD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BD09F1-B0CE-49CA-8812-B979165F134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AD versus no cognitive impairment</a:t>
            </a:r>
          </a:p>
        </p:txBody>
      </p:sp>
      <p:sp>
        <p:nvSpPr>
          <p:cNvPr id="12" name="Rounded Rectangle 11">
            <a:extLst>
              <a:ext uri="{FF2B5EF4-FFF2-40B4-BE49-F238E27FC236}">
                <a16:creationId xmlns:a16="http://schemas.microsoft.com/office/drawing/2014/main" id="{CCFF4350-6F05-4276-B473-B297DCE1FAF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E6151C1-09D4-4C23-A48E-921FE70A771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35B4C088-C07B-495E-8DE3-46A33B87E624}"/>
              </a:ext>
            </a:extLst>
          </p:cNvPr>
          <p:cNvSpPr>
            <a:spLocks noGrp="1"/>
          </p:cNvSpPr>
          <p:nvPr/>
        </p:nvSpPr>
        <p:spPr>
          <a:xfrm>
            <a:off x="93268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127 of 128 </a:t>
            </a:r>
            <a:r>
              <a:rPr lang="en-US" sz="1600" b="1" i="0" dirty="0" err="1">
                <a:solidFill>
                  <a:srgbClr val="0F233D"/>
                </a:solidFill>
                <a:latin typeface="Arial"/>
                <a:ea typeface="Arial"/>
                <a:cs typeface="Arial"/>
              </a:rPr>
              <a:t>occurrences</a:t>
            </a:r>
            <a:r>
              <a:rPr lang="en-US" sz="1600" b="1" i="0" dirty="0">
                <a:solidFill>
                  <a:srgbClr val="0F233D"/>
                </a:solidFill>
                <a:latin typeface="Arial"/>
                <a:ea typeface="Arial"/>
                <a:cs typeface="Arial"/>
              </a:rPr>
              <a:t> </a:t>
            </a:r>
            <a:r>
              <a:rPr sz="1600" b="1" i="0" dirty="0">
                <a:solidFill>
                  <a:srgbClr val="0F233D"/>
                </a:solidFill>
                <a:latin typeface="Arial"/>
                <a:ea typeface="Arial"/>
                <a:cs typeface="Arial"/>
              </a:rPr>
              <a:t>up</a:t>
            </a:r>
          </a:p>
        </p:txBody>
      </p:sp>
      <p:sp>
        <p:nvSpPr>
          <p:cNvPr id="15" name="TextBox 14">
            <a:extLst>
              <a:ext uri="{FF2B5EF4-FFF2-40B4-BE49-F238E27FC236}">
                <a16:creationId xmlns:a16="http://schemas.microsoft.com/office/drawing/2014/main" id="{C6F28943-3E6E-4BBB-950C-78E3CFE2221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13 core MT genes encode structural OXPHOS subunits.</a:t>
            </a:r>
          </a:p>
        </p:txBody>
      </p:sp>
      <p:sp>
        <p:nvSpPr>
          <p:cNvPr id="16" name="Rounded Rectangle 15">
            <a:extLst>
              <a:ext uri="{FF2B5EF4-FFF2-40B4-BE49-F238E27FC236}">
                <a16:creationId xmlns:a16="http://schemas.microsoft.com/office/drawing/2014/main" id="{B3F8FAB2-AB08-4807-999C-9A29E0EAD92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5E57DE2-C8A5-4024-AFEF-21B7B1D37A9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NUCLEAR-ENCODED OXPHOS</a:t>
            </a:r>
          </a:p>
        </p:txBody>
      </p:sp>
      <p:sp>
        <p:nvSpPr>
          <p:cNvPr id="18" name="TextBox 17">
            <a:extLst>
              <a:ext uri="{FF2B5EF4-FFF2-40B4-BE49-F238E27FC236}">
                <a16:creationId xmlns:a16="http://schemas.microsoft.com/office/drawing/2014/main" id="{8647837D-D3D4-4731-A23D-F871D75BEB80}"/>
              </a:ext>
            </a:extLst>
          </p:cNvPr>
          <p:cNvSpPr>
            <a:spLocks noGrp="1"/>
          </p:cNvSpPr>
          <p:nvPr/>
        </p:nvSpPr>
        <p:spPr>
          <a:xfrm>
            <a:off x="472744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239 of 243 </a:t>
            </a:r>
            <a:r>
              <a:rPr lang="en-US" sz="1600" b="1" i="0" dirty="0">
                <a:solidFill>
                  <a:srgbClr val="0F233D"/>
                </a:solidFill>
                <a:latin typeface="Arial"/>
                <a:ea typeface="Arial"/>
                <a:cs typeface="Arial"/>
              </a:rPr>
              <a:t>occurrences </a:t>
            </a:r>
            <a:r>
              <a:rPr sz="1600" b="1" i="0" dirty="0">
                <a:solidFill>
                  <a:srgbClr val="0F233D"/>
                </a:solidFill>
                <a:latin typeface="Arial"/>
                <a:ea typeface="Arial"/>
                <a:cs typeface="Arial"/>
              </a:rPr>
              <a:t>up</a:t>
            </a:r>
          </a:p>
        </p:txBody>
      </p:sp>
      <p:sp>
        <p:nvSpPr>
          <p:cNvPr id="19" name="TextBox 18">
            <a:extLst>
              <a:ext uri="{FF2B5EF4-FFF2-40B4-BE49-F238E27FC236}">
                <a16:creationId xmlns:a16="http://schemas.microsoft.com/office/drawing/2014/main" id="{81D08820-2DCE-4653-B509-0A6618C668A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86 nuclear-encoded OXPHOS genes supply most structural subunits.</a:t>
            </a:r>
          </a:p>
        </p:txBody>
      </p:sp>
      <p:sp>
        <p:nvSpPr>
          <p:cNvPr id="20" name="Rounded Rectangle 19">
            <a:extLst>
              <a:ext uri="{FF2B5EF4-FFF2-40B4-BE49-F238E27FC236}">
                <a16:creationId xmlns:a16="http://schemas.microsoft.com/office/drawing/2014/main" id="{C10ADB4A-6CEB-4F5C-A064-A60E535BCA5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382F0BF-8B66-4367-B4E4-02AF2B343585}"/>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6755171-8733-4E22-8C19-C708562A8E3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gene expression</a:t>
            </a:r>
          </a:p>
        </p:txBody>
      </p:sp>
      <p:sp>
        <p:nvSpPr>
          <p:cNvPr id="23" name="TextBox 22">
            <a:extLst>
              <a:ext uri="{FF2B5EF4-FFF2-40B4-BE49-F238E27FC236}">
                <a16:creationId xmlns:a16="http://schemas.microsoft.com/office/drawing/2014/main" id="{56550C95-A42B-4A0A-AF6B-EDAF263C268F}"/>
              </a:ext>
            </a:extLst>
          </p:cNvPr>
          <p:cNvSpPr>
            <a:spLocks noGrp="1"/>
          </p:cNvSpPr>
          <p:nvPr/>
        </p:nvSpPr>
        <p:spPr>
          <a:xfrm>
            <a:off x="8558784" y="4162100"/>
            <a:ext cx="2834640" cy="61863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a:solidFill>
                  <a:srgbClr val="1F2730"/>
                </a:solidFill>
                <a:latin typeface="Arial"/>
                <a:ea typeface="Arial"/>
                <a:cs typeface="Arial"/>
              </a:rPr>
              <a:t>Both gene sets are upregulated together. Protein assembly and ATP </a:t>
            </a:r>
            <a:r>
              <a:rPr lang="en-US" sz="1220" b="0" i="0" dirty="0">
                <a:solidFill>
                  <a:srgbClr val="1F2730"/>
                </a:solidFill>
                <a:latin typeface="Arial"/>
                <a:ea typeface="Arial"/>
                <a:cs typeface="Arial"/>
              </a:rPr>
              <a:t>are not </a:t>
            </a:r>
            <a:r>
              <a:rPr sz="1220" b="0" i="0" dirty="0">
                <a:solidFill>
                  <a:srgbClr val="1F2730"/>
                </a:solidFill>
                <a:latin typeface="Arial"/>
                <a:ea typeface="Arial"/>
                <a:cs typeface="Arial"/>
              </a:rPr>
              <a:t>measured.</a:t>
            </a:r>
          </a:p>
        </p:txBody>
      </p:sp>
    </p:spTree>
    <p:extLst>
      <p:ext uri="{BB962C8B-B14F-4D97-AF65-F5344CB8AC3E}">
        <p14:creationId xmlns:p14="http://schemas.microsoft.com/office/powerpoint/2010/main" val="17833224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BC9E2C-A43A-428C-8D32-D565D0C09F7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ε2 OXPHOS occurrences are almost uniformly AD-up</a:t>
            </a:r>
          </a:p>
        </p:txBody>
      </p:sp>
      <p:sp>
        <p:nvSpPr>
          <p:cNvPr id="4" name="Rounded Rectangle 3">
            <a:extLst>
              <a:ext uri="{FF2B5EF4-FFF2-40B4-BE49-F238E27FC236}">
                <a16:creationId xmlns:a16="http://schemas.microsoft.com/office/drawing/2014/main" id="{690C6019-63E3-4A80-8A7C-577AC9655D7D}"/>
              </a:ext>
            </a:extLst>
          </p:cNvPr>
          <p:cNvSpPr>
            <a:spLocks noGrp="1"/>
          </p:cNvSpPr>
          <p:nvPr/>
        </p:nvSpPr>
        <p:spPr>
          <a:xfrm>
            <a:off x="2691561"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3979D85-AEF6-4DC8-86D5-170C6E2B4A70}"/>
              </a:ext>
            </a:extLst>
          </p:cNvPr>
          <p:cNvSpPr>
            <a:spLocks noGrp="1"/>
          </p:cNvSpPr>
          <p:nvPr/>
        </p:nvSpPr>
        <p:spPr>
          <a:xfrm>
            <a:off x="2856152"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128</a:t>
            </a:r>
          </a:p>
        </p:txBody>
      </p:sp>
      <p:sp>
        <p:nvSpPr>
          <p:cNvPr id="6" name="TextBox 5">
            <a:extLst>
              <a:ext uri="{FF2B5EF4-FFF2-40B4-BE49-F238E27FC236}">
                <a16:creationId xmlns:a16="http://schemas.microsoft.com/office/drawing/2014/main" id="{25F5AA99-A99A-4836-BDEA-BD8AA79D623E}"/>
              </a:ext>
            </a:extLst>
          </p:cNvPr>
          <p:cNvSpPr>
            <a:spLocks noGrp="1"/>
          </p:cNvSpPr>
          <p:nvPr/>
        </p:nvSpPr>
        <p:spPr>
          <a:xfrm>
            <a:off x="2856152"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0024E1DE-484B-49AC-A43A-45F8CE93BB80}"/>
              </a:ext>
            </a:extLst>
          </p:cNvPr>
          <p:cNvSpPr>
            <a:spLocks noGrp="1"/>
          </p:cNvSpPr>
          <p:nvPr/>
        </p:nvSpPr>
        <p:spPr>
          <a:xfrm>
            <a:off x="2856152"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127 up, 1 down</a:t>
            </a:r>
          </a:p>
        </p:txBody>
      </p:sp>
      <p:sp>
        <p:nvSpPr>
          <p:cNvPr id="8" name="Rounded Rectangle 7">
            <a:extLst>
              <a:ext uri="{FF2B5EF4-FFF2-40B4-BE49-F238E27FC236}">
                <a16:creationId xmlns:a16="http://schemas.microsoft.com/office/drawing/2014/main" id="{08BFA9F0-5974-463C-A027-995ECDD47DB3}"/>
              </a:ext>
            </a:extLst>
          </p:cNvPr>
          <p:cNvSpPr>
            <a:spLocks noGrp="1"/>
          </p:cNvSpPr>
          <p:nvPr/>
        </p:nvSpPr>
        <p:spPr>
          <a:xfrm>
            <a:off x="6486321"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C42CBD5-2B07-46FC-87C5-DF4702DD9054}"/>
              </a:ext>
            </a:extLst>
          </p:cNvPr>
          <p:cNvSpPr>
            <a:spLocks noGrp="1"/>
          </p:cNvSpPr>
          <p:nvPr/>
        </p:nvSpPr>
        <p:spPr>
          <a:xfrm>
            <a:off x="6650913"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243</a:t>
            </a:r>
          </a:p>
        </p:txBody>
      </p:sp>
      <p:sp>
        <p:nvSpPr>
          <p:cNvPr id="10" name="TextBox 9">
            <a:extLst>
              <a:ext uri="{FF2B5EF4-FFF2-40B4-BE49-F238E27FC236}">
                <a16:creationId xmlns:a16="http://schemas.microsoft.com/office/drawing/2014/main" id="{F674C36B-A52D-4CF0-B90D-21A6784CFCB9}"/>
              </a:ext>
            </a:extLst>
          </p:cNvPr>
          <p:cNvSpPr>
            <a:spLocks noGrp="1"/>
          </p:cNvSpPr>
          <p:nvPr/>
        </p:nvSpPr>
        <p:spPr>
          <a:xfrm>
            <a:off x="6650913"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6BBDB451-3509-4807-A5AC-128A5957B884}"/>
              </a:ext>
            </a:extLst>
          </p:cNvPr>
          <p:cNvSpPr>
            <a:spLocks noGrp="1"/>
          </p:cNvSpPr>
          <p:nvPr/>
        </p:nvSpPr>
        <p:spPr>
          <a:xfrm>
            <a:off x="6650913"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239 up, 4 down</a:t>
            </a:r>
          </a:p>
        </p:txBody>
      </p:sp>
      <p:sp>
        <p:nvSpPr>
          <p:cNvPr id="16" name="Rounded Rectangle 15">
            <a:extLst>
              <a:ext uri="{FF2B5EF4-FFF2-40B4-BE49-F238E27FC236}">
                <a16:creationId xmlns:a16="http://schemas.microsoft.com/office/drawing/2014/main" id="{082648EB-DE55-4599-9CE8-1ED13F13BBB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D3823A-19DE-4472-860E-72CC4D79A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B547348-8D7D-4F53-8F7B-7E679F66C98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99% up</a:t>
            </a:r>
          </a:p>
        </p:txBody>
      </p:sp>
      <p:sp>
        <p:nvSpPr>
          <p:cNvPr id="19" name="TextBox 18">
            <a:extLst>
              <a:ext uri="{FF2B5EF4-FFF2-40B4-BE49-F238E27FC236}">
                <a16:creationId xmlns:a16="http://schemas.microsoft.com/office/drawing/2014/main" id="{6FF06687-1865-42AE-B585-878BF683F694}"/>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127 AD-up and 1 AD-down occurrence across included fine-cell comparisons</a:t>
            </a:r>
          </a:p>
        </p:txBody>
      </p:sp>
      <p:sp>
        <p:nvSpPr>
          <p:cNvPr id="20" name="Rounded Rectangle 19">
            <a:extLst>
              <a:ext uri="{FF2B5EF4-FFF2-40B4-BE49-F238E27FC236}">
                <a16:creationId xmlns:a16="http://schemas.microsoft.com/office/drawing/2014/main" id="{1DBC9E74-A637-4BB2-A479-E6D6BDAF3B58}"/>
              </a:ext>
            </a:extLst>
          </p:cNvPr>
          <p:cNvSpPr>
            <a:spLocks noGrp="1"/>
          </p:cNvSpPr>
          <p:nvPr/>
        </p:nvSpPr>
        <p:spPr>
          <a:xfrm>
            <a:off x="749808" y="388620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A7F0D26-0619-47EA-A6A1-8C19ADC3A018}"/>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8C2B5561-5EC5-4B47-BB0A-B05F6D88826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98% up</a:t>
            </a:r>
          </a:p>
        </p:txBody>
      </p:sp>
      <p:sp>
        <p:nvSpPr>
          <p:cNvPr id="23" name="TextBox 22">
            <a:extLst>
              <a:ext uri="{FF2B5EF4-FFF2-40B4-BE49-F238E27FC236}">
                <a16:creationId xmlns:a16="http://schemas.microsoft.com/office/drawing/2014/main" id="{597D4E02-CBE3-4430-9468-C95E08B5BC1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239 AD-up and 4 AD-down occurrences across included fine-cell comparisons</a:t>
            </a:r>
          </a:p>
        </p:txBody>
      </p:sp>
    </p:spTree>
    <p:extLst>
      <p:ext uri="{BB962C8B-B14F-4D97-AF65-F5344CB8AC3E}">
        <p14:creationId xmlns:p14="http://schemas.microsoft.com/office/powerpoint/2010/main" val="45807546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B1853A5-994E-46E2-BCD9-22CA9C32B780}"/>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dirty="0">
                <a:solidFill>
                  <a:srgbClr val="0F233D"/>
                </a:solidFill>
                <a:latin typeface="Arial"/>
                <a:ea typeface="Arial"/>
                <a:cs typeface="Arial"/>
              </a:rPr>
              <a:t>Fine-cell </a:t>
            </a:r>
            <a:r>
              <a:rPr lang="en-US" sz="2200" b="1" i="0" dirty="0">
                <a:solidFill>
                  <a:srgbClr val="0F233D"/>
                </a:solidFill>
                <a:latin typeface="Arial"/>
                <a:ea typeface="Arial"/>
                <a:cs typeface="Arial"/>
              </a:rPr>
              <a:t>and broad-cell </a:t>
            </a:r>
            <a:r>
              <a:rPr sz="2200" b="1" i="0" dirty="0">
                <a:solidFill>
                  <a:srgbClr val="0F233D"/>
                </a:solidFill>
                <a:latin typeface="Arial"/>
                <a:ea typeface="Arial"/>
                <a:cs typeface="Arial"/>
              </a:rPr>
              <a:t>evidence support</a:t>
            </a:r>
          </a:p>
        </p:txBody>
      </p:sp>
      <p:sp>
        <p:nvSpPr>
          <p:cNvPr id="4" name="Rounded Rectangle 3">
            <a:extLst>
              <a:ext uri="{FF2B5EF4-FFF2-40B4-BE49-F238E27FC236}">
                <a16:creationId xmlns:a16="http://schemas.microsoft.com/office/drawing/2014/main" id="{3A6C7F85-F045-4386-B7A4-EA6B72A7075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B52520A-0047-4427-91B1-3EE62DE3F104}"/>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FINE-CELL ROSMAP</a:t>
            </a:r>
          </a:p>
        </p:txBody>
      </p:sp>
      <p:sp>
        <p:nvSpPr>
          <p:cNvPr id="6" name="TextBox 5">
            <a:extLst>
              <a:ext uri="{FF2B5EF4-FFF2-40B4-BE49-F238E27FC236}">
                <a16:creationId xmlns:a16="http://schemas.microsoft.com/office/drawing/2014/main" id="{ABC276E4-FF64-4D51-AE53-9D60FB42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Excitatory localization</a:t>
            </a:r>
          </a:p>
        </p:txBody>
      </p:sp>
      <p:sp>
        <p:nvSpPr>
          <p:cNvPr id="7" name="TextBox 6">
            <a:extLst>
              <a:ext uri="{FF2B5EF4-FFF2-40B4-BE49-F238E27FC236}">
                <a16:creationId xmlns:a16="http://schemas.microsoft.com/office/drawing/2014/main" id="{441224C6-C4A4-4EE8-8AAB-5BF6A3FE672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Significant enrichment of upregulated genes appeared in 9 of 12 fine cell types for core MT genes and 8 of 12 for nuclear-encoded OXPHOS genes.</a:t>
            </a:r>
          </a:p>
        </p:txBody>
      </p:sp>
      <p:sp>
        <p:nvSpPr>
          <p:cNvPr id="8" name="Rounded Rectangle 7">
            <a:extLst>
              <a:ext uri="{FF2B5EF4-FFF2-40B4-BE49-F238E27FC236}">
                <a16:creationId xmlns:a16="http://schemas.microsoft.com/office/drawing/2014/main" id="{E191E617-D79A-4B13-B3AE-72E76F97CD0F}"/>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04144AD-9907-4814-B2E3-280F7CF3C2E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DIRECT BROAD ROSMAP</a:t>
            </a:r>
          </a:p>
        </p:txBody>
      </p:sp>
      <p:sp>
        <p:nvSpPr>
          <p:cNvPr id="10" name="TextBox 9">
            <a:extLst>
              <a:ext uri="{FF2B5EF4-FFF2-40B4-BE49-F238E27FC236}">
                <a16:creationId xmlns:a16="http://schemas.microsoft.com/office/drawing/2014/main" id="{856D1FAC-D9FA-4090-840C-9579AFAD08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the nuclear side persists</a:t>
            </a:r>
          </a:p>
        </p:txBody>
      </p:sp>
      <p:sp>
        <p:nvSpPr>
          <p:cNvPr id="11" name="TextBox 10">
            <a:extLst>
              <a:ext uri="{FF2B5EF4-FFF2-40B4-BE49-F238E27FC236}">
                <a16:creationId xmlns:a16="http://schemas.microsoft.com/office/drawing/2014/main" id="{2CA38377-BFA0-4F99-B085-CDE6E588C0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nuclear-encoded OXPHOS remained strongly up, while the core MT component was not significant.</a:t>
            </a:r>
          </a:p>
        </p:txBody>
      </p:sp>
      <p:sp>
        <p:nvSpPr>
          <p:cNvPr id="12" name="Rounded Rectangle 11">
            <a:extLst>
              <a:ext uri="{FF2B5EF4-FFF2-40B4-BE49-F238E27FC236}">
                <a16:creationId xmlns:a16="http://schemas.microsoft.com/office/drawing/2014/main" id="{5EEFC995-60E4-4876-8C6A-EADB6260D5BF}"/>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625C7E5-16CD-4D93-B551-4008E19FAD3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8914A330-5E1F-4013-B018-561B8F4493B6}"/>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matched DEG result</a:t>
            </a:r>
          </a:p>
        </p:txBody>
      </p:sp>
      <p:sp>
        <p:nvSpPr>
          <p:cNvPr id="15" name="TextBox 14">
            <a:extLst>
              <a:ext uri="{FF2B5EF4-FFF2-40B4-BE49-F238E27FC236}">
                <a16:creationId xmlns:a16="http://schemas.microsoft.com/office/drawing/2014/main" id="{23A27A98-4197-4AFA-B5BB-F540A02FF31C}"/>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matched female ε2 fine-cell DEG result was available. This adds no evidence for or against the finding.</a:t>
            </a:r>
          </a:p>
        </p:txBody>
      </p:sp>
      <p:sp>
        <p:nvSpPr>
          <p:cNvPr id="16" name="Rounded Rectangle 15">
            <a:extLst>
              <a:ext uri="{FF2B5EF4-FFF2-40B4-BE49-F238E27FC236}">
                <a16:creationId xmlns:a16="http://schemas.microsoft.com/office/drawing/2014/main" id="{1A6898F8-61A4-4041-BEDA-98E3CB5D4509}"/>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A85A977-FC6A-4379-959A-9714301A1434}"/>
              </a:ext>
            </a:extLst>
          </p:cNvPr>
          <p:cNvSpPr>
            <a:spLocks noGrp="1"/>
          </p:cNvSpPr>
          <p:nvPr/>
        </p:nvSpPr>
        <p:spPr>
          <a:xfrm>
            <a:off x="896112" y="5888736"/>
            <a:ext cx="10405872" cy="22929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dirty="0">
                <a:solidFill>
                  <a:srgbClr val="7E4C9A"/>
                </a:solidFill>
                <a:latin typeface="Arial"/>
                <a:ea typeface="Arial"/>
                <a:cs typeface="Arial"/>
              </a:rPr>
              <a:t>The two-gene-set pattern </a:t>
            </a:r>
            <a:r>
              <a:rPr lang="en-US" sz="1130" b="1" i="0" dirty="0">
                <a:solidFill>
                  <a:srgbClr val="7E4C9A"/>
                </a:solidFill>
                <a:latin typeface="Arial"/>
                <a:ea typeface="Arial"/>
                <a:cs typeface="Arial"/>
              </a:rPr>
              <a:t>is </a:t>
            </a:r>
            <a:r>
              <a:rPr sz="1130" b="1" i="0" dirty="0">
                <a:solidFill>
                  <a:srgbClr val="7E4C9A"/>
                </a:solidFill>
                <a:latin typeface="Arial"/>
                <a:ea typeface="Arial"/>
                <a:cs typeface="Arial"/>
              </a:rPr>
              <a:t>mainly </a:t>
            </a:r>
            <a:r>
              <a:rPr lang="en-US" sz="1130" b="1" i="0" dirty="0">
                <a:solidFill>
                  <a:srgbClr val="7E4C9A"/>
                </a:solidFill>
                <a:latin typeface="Arial"/>
                <a:ea typeface="Arial"/>
                <a:cs typeface="Arial"/>
              </a:rPr>
              <a:t>supported by</a:t>
            </a:r>
            <a:r>
              <a:rPr sz="1130" b="1" i="0" dirty="0">
                <a:solidFill>
                  <a:srgbClr val="7E4C9A"/>
                </a:solidFill>
                <a:latin typeface="Arial"/>
                <a:ea typeface="Arial"/>
                <a:cs typeface="Arial"/>
              </a:rPr>
              <a:t> fine-cell ROSMAP evidence.</a:t>
            </a:r>
          </a:p>
        </p:txBody>
      </p:sp>
    </p:spTree>
    <p:extLst>
      <p:ext uri="{BB962C8B-B14F-4D97-AF65-F5344CB8AC3E}">
        <p14:creationId xmlns:p14="http://schemas.microsoft.com/office/powerpoint/2010/main" val="20427968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601813-29EF-4238-9DCE-E978BA98BEA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an ε2-associated response may coordinate both OXPHOS gene sets</a:t>
            </a:r>
          </a:p>
        </p:txBody>
      </p:sp>
      <p:sp>
        <p:nvSpPr>
          <p:cNvPr id="3" name="TextBox 2">
            <a:extLst>
              <a:ext uri="{FF2B5EF4-FFF2-40B4-BE49-F238E27FC236}">
                <a16:creationId xmlns:a16="http://schemas.microsoft.com/office/drawing/2014/main" id="{E9093F75-875C-4040-980C-59BF7BF94D9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APOE ε2 lowers population risk, but a molecular pattern in diseased tissue can still reflect compensation or stress.</a:t>
            </a:r>
          </a:p>
        </p:txBody>
      </p:sp>
      <p:sp>
        <p:nvSpPr>
          <p:cNvPr id="4" name="Rounded Rectangle 3">
            <a:extLst>
              <a:ext uri="{FF2B5EF4-FFF2-40B4-BE49-F238E27FC236}">
                <a16:creationId xmlns:a16="http://schemas.microsoft.com/office/drawing/2014/main" id="{F8F3EA24-6E25-44FD-8895-B1D141F1500C}"/>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0D8776F-F3E6-4C8A-ACC7-D490392899F6}"/>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BIOLOGICAL CONTRAST</a:t>
            </a:r>
          </a:p>
        </p:txBody>
      </p:sp>
      <p:sp>
        <p:nvSpPr>
          <p:cNvPr id="6" name="TextBox 5">
            <a:extLst>
              <a:ext uri="{FF2B5EF4-FFF2-40B4-BE49-F238E27FC236}">
                <a16:creationId xmlns:a16="http://schemas.microsoft.com/office/drawing/2014/main" id="{A645CCA1-BA20-45BD-B5F1-31701CBF696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Different from the male ε3/ε3 mismatch</a:t>
            </a:r>
          </a:p>
        </p:txBody>
      </p:sp>
      <p:sp>
        <p:nvSpPr>
          <p:cNvPr id="7" name="TextBox 6">
            <a:extLst>
              <a:ext uri="{FF2B5EF4-FFF2-40B4-BE49-F238E27FC236}">
                <a16:creationId xmlns:a16="http://schemas.microsoft.com/office/drawing/2014/main" id="{C5A86D1A-7A19-481B-944C-00BB512EEA55}"/>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upward instead of separating.</a:t>
            </a:r>
          </a:p>
        </p:txBody>
      </p:sp>
      <p:sp>
        <p:nvSpPr>
          <p:cNvPr id="8" name="Rounded Rectangle 7">
            <a:extLst>
              <a:ext uri="{FF2B5EF4-FFF2-40B4-BE49-F238E27FC236}">
                <a16:creationId xmlns:a16="http://schemas.microsoft.com/office/drawing/2014/main" id="{9A4BCC61-9636-4A2B-A2CE-63EEE69E6E38}"/>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96F0F40-70A6-4848-A3C8-4C32BE1D34E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POSSIBLE MEANING</a:t>
            </a:r>
          </a:p>
        </p:txBody>
      </p:sp>
      <p:sp>
        <p:nvSpPr>
          <p:cNvPr id="10" name="TextBox 9">
            <a:extLst>
              <a:ext uri="{FF2B5EF4-FFF2-40B4-BE49-F238E27FC236}">
                <a16:creationId xmlns:a16="http://schemas.microsoft.com/office/drawing/2014/main" id="{C8101B43-A67E-4665-B80D-079DAC2C323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Compensation or altered disease state</a:t>
            </a:r>
          </a:p>
        </p:txBody>
      </p:sp>
      <p:sp>
        <p:nvSpPr>
          <p:cNvPr id="11" name="TextBox 10">
            <a:extLst>
              <a:ext uri="{FF2B5EF4-FFF2-40B4-BE49-F238E27FC236}">
                <a16:creationId xmlns:a16="http://schemas.microsoft.com/office/drawing/2014/main" id="{F13BEB7D-9922-4326-BA53-236575A05E4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cells may increase respiratory instructions in response to inefficient mitochondria.</a:t>
            </a:r>
          </a:p>
        </p:txBody>
      </p:sp>
      <p:sp>
        <p:nvSpPr>
          <p:cNvPr id="12" name="Rounded Rectangle 11">
            <a:extLst>
              <a:ext uri="{FF2B5EF4-FFF2-40B4-BE49-F238E27FC236}">
                <a16:creationId xmlns:a16="http://schemas.microsoft.com/office/drawing/2014/main" id="{BF7D3617-7BB7-40B0-AA73-01C21E72DE8F}"/>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1DA468E-DF43-40D4-BB38-376AF1C7C9B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REQUIRED CAUTION</a:t>
            </a:r>
          </a:p>
        </p:txBody>
      </p:sp>
      <p:sp>
        <p:nvSpPr>
          <p:cNvPr id="14" name="TextBox 13">
            <a:extLst>
              <a:ext uri="{FF2B5EF4-FFF2-40B4-BE49-F238E27FC236}">
                <a16:creationId xmlns:a16="http://schemas.microsoft.com/office/drawing/2014/main" id="{351080BB-A239-4C80-997C-2A88CDB161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Protection is not established</a:t>
            </a:r>
          </a:p>
        </p:txBody>
      </p:sp>
      <p:sp>
        <p:nvSpPr>
          <p:cNvPr id="15" name="TextBox 14">
            <a:extLst>
              <a:ext uri="{FF2B5EF4-FFF2-40B4-BE49-F238E27FC236}">
                <a16:creationId xmlns:a16="http://schemas.microsoft.com/office/drawing/2014/main" id="{FC9545C3-7A2A-4865-823B-BFE5DB57A6C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Population-level ε2 protection does not make this gene-expression pattern protective by itself.</a:t>
            </a:r>
          </a:p>
        </p:txBody>
      </p:sp>
      <p:sp>
        <p:nvSpPr>
          <p:cNvPr id="16" name="Rounded Rectangle 15">
            <a:extLst>
              <a:ext uri="{FF2B5EF4-FFF2-40B4-BE49-F238E27FC236}">
                <a16:creationId xmlns:a16="http://schemas.microsoft.com/office/drawing/2014/main" id="{72B95D4F-865C-4AA6-B047-94D15301D1AE}"/>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04DB52-7FA7-4AAB-8877-BE461C0F6E7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CB5FEA1-0D6F-449C-AC3F-4A75E5EEEF19}"/>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motivates a protective-response hypothesis but does not demonstrate a protective mechanism.</a:t>
            </a:r>
          </a:p>
        </p:txBody>
      </p:sp>
    </p:spTree>
    <p:extLst>
      <p:ext uri="{BB962C8B-B14F-4D97-AF65-F5344CB8AC3E}">
        <p14:creationId xmlns:p14="http://schemas.microsoft.com/office/powerpoint/2010/main" val="88885086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5345D8-743B-4F92-856E-EAD323BC0C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3</a:t>
            </a:r>
          </a:p>
        </p:txBody>
      </p:sp>
      <p:sp>
        <p:nvSpPr>
          <p:cNvPr id="3" name="TextBox 2">
            <a:extLst>
              <a:ext uri="{FF2B5EF4-FFF2-40B4-BE49-F238E27FC236}">
                <a16:creationId xmlns:a16="http://schemas.microsoft.com/office/drawing/2014/main" id="{8F063471-6559-4E80-8221-8E8E2AF2B40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38C23AC6-435A-4B38-9349-5942E7DAA4C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1BCAEEB-4B50-4ABA-A8B0-141138736D74}"/>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61D72E2-F3A7-448B-8E28-1B08522E943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D687DE74-4101-4CE6-8670-93675C24776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454F7115-1BAA-4921-8EA5-3E94FDE49069}"/>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large Alzheimer’s risk differences among APOE alleles.</a:t>
            </a:r>
          </a:p>
        </p:txBody>
      </p:sp>
      <p:sp>
        <p:nvSpPr>
          <p:cNvPr id="9" name="TextBox 8">
            <a:extLst>
              <a:ext uri="{FF2B5EF4-FFF2-40B4-BE49-F238E27FC236}">
                <a16:creationId xmlns:a16="http://schemas.microsoft.com/office/drawing/2014/main" id="{F7A4BB6B-4371-4A92-B9E3-2A1BD6D0DEE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DFD8B593-B01A-48F9-BB3C-5E3014169FE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the observed expression pattern in female ε2 cells.</a:t>
            </a:r>
          </a:p>
        </p:txBody>
      </p:sp>
      <p:sp>
        <p:nvSpPr>
          <p:cNvPr id="11" name="Rounded Rectangle 10">
            <a:extLst>
              <a:ext uri="{FF2B5EF4-FFF2-40B4-BE49-F238E27FC236}">
                <a16:creationId xmlns:a16="http://schemas.microsoft.com/office/drawing/2014/main" id="{48A8DA3D-79F5-4576-B2F1-D754D20871E3}"/>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171C25C-B0DF-4E30-B811-5B7D7B8C2B9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BA2BFD3F-0612-46E2-8E43-4866376D2BC3}"/>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mitochondria</a:t>
            </a:r>
          </a:p>
        </p:txBody>
      </p:sp>
      <p:sp>
        <p:nvSpPr>
          <p:cNvPr id="14" name="TextBox 13">
            <a:extLst>
              <a:ext uri="{FF2B5EF4-FFF2-40B4-BE49-F238E27FC236}">
                <a16:creationId xmlns:a16="http://schemas.microsoft.com/office/drawing/2014/main" id="{25365557-B7E5-4D1B-87DE-59982CA620AE}"/>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269B6732-CCEE-4283-8AAE-4B009FFC4C19}"/>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 state can alter mitochondrial homeostasis.</a:t>
            </a:r>
          </a:p>
        </p:txBody>
      </p:sp>
      <p:sp>
        <p:nvSpPr>
          <p:cNvPr id="16" name="TextBox 15">
            <a:extLst>
              <a:ext uri="{FF2B5EF4-FFF2-40B4-BE49-F238E27FC236}">
                <a16:creationId xmlns:a16="http://schemas.microsoft.com/office/drawing/2014/main" id="{7EC2DEB2-A3B7-4A7A-B89F-241825498D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723745-3BD7-4BE7-8470-6C4A4EBD304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 different APOE group and experimental context.</a:t>
            </a:r>
          </a:p>
        </p:txBody>
      </p:sp>
      <p:sp>
        <p:nvSpPr>
          <p:cNvPr id="18" name="Rounded Rectangle 17">
            <a:extLst>
              <a:ext uri="{FF2B5EF4-FFF2-40B4-BE49-F238E27FC236}">
                <a16:creationId xmlns:a16="http://schemas.microsoft.com/office/drawing/2014/main" id="{35D9A967-C87D-4290-958C-CD5FAAE4FBB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7082910-6C3F-4CCD-B1B3-2C7AA23783EF}"/>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123A1DF3-BCAE-45BE-8442-BDD96635F438}"/>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AD networks</a:t>
            </a:r>
          </a:p>
        </p:txBody>
      </p:sp>
      <p:sp>
        <p:nvSpPr>
          <p:cNvPr id="21" name="TextBox 20">
            <a:extLst>
              <a:ext uri="{FF2B5EF4-FFF2-40B4-BE49-F238E27FC236}">
                <a16:creationId xmlns:a16="http://schemas.microsoft.com/office/drawing/2014/main" id="{59F07A75-2EE1-4D60-9786-0F23DF2582DC}"/>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6A71E1-1013-4A2B-A10D-B5DFDBF4D5C7}"/>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analyzing Alzheimer’s biology by sex and cell type.</a:t>
            </a:r>
          </a:p>
        </p:txBody>
      </p:sp>
      <p:sp>
        <p:nvSpPr>
          <p:cNvPr id="23" name="TextBox 22">
            <a:extLst>
              <a:ext uri="{FF2B5EF4-FFF2-40B4-BE49-F238E27FC236}">
                <a16:creationId xmlns:a16="http://schemas.microsoft.com/office/drawing/2014/main" id="{B8AF796C-C116-4095-8204-2CF009C27950}"/>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81CFC136-DBEC-4C06-AE7C-AF853069783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female ε2 OXPHOS pattern.</a:t>
            </a:r>
          </a:p>
        </p:txBody>
      </p:sp>
      <p:sp>
        <p:nvSpPr>
          <p:cNvPr id="25" name="Rounded Rectangle 24">
            <a:extLst>
              <a:ext uri="{FF2B5EF4-FFF2-40B4-BE49-F238E27FC236}">
                <a16:creationId xmlns:a16="http://schemas.microsoft.com/office/drawing/2014/main" id="{B8DC183B-16BE-40EC-BF0B-B42D31C88BC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3212225-CCEC-4FB4-8350-843AC90B44C7}"/>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dirty="0">
                <a:solidFill>
                  <a:srgbClr val="7E4C9A"/>
                </a:solidFill>
                <a:latin typeface="Arial"/>
                <a:ea typeface="Arial"/>
                <a:cs typeface="Arial"/>
              </a:rPr>
              <a:t>N</a:t>
            </a:r>
            <a:r>
              <a:rPr sz="1080" b="1" i="0" dirty="0">
                <a:solidFill>
                  <a:srgbClr val="7E4C9A"/>
                </a:solidFill>
                <a:latin typeface="Arial"/>
                <a:ea typeface="Arial"/>
                <a:cs typeface="Arial"/>
              </a:rPr>
              <a:t>ovelty: High</a:t>
            </a:r>
          </a:p>
        </p:txBody>
      </p:sp>
    </p:spTree>
    <p:extLst>
      <p:ext uri="{BB962C8B-B14F-4D97-AF65-F5344CB8AC3E}">
        <p14:creationId xmlns:p14="http://schemas.microsoft.com/office/powerpoint/2010/main" val="9146986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39B9759-8C24-40FC-9F64-84570C3254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4</a:t>
            </a:r>
          </a:p>
        </p:txBody>
      </p:sp>
      <p:sp>
        <p:nvSpPr>
          <p:cNvPr id="3" name="Rectangle 2">
            <a:extLst>
              <a:ext uri="{FF2B5EF4-FFF2-40B4-BE49-F238E27FC236}">
                <a16:creationId xmlns:a16="http://schemas.microsoft.com/office/drawing/2014/main" id="{5BBDA2B6-748D-41D9-862D-7E18BB2B5EA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D76020A-FCE8-438D-BB31-4DC3B5F14D24}"/>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fine-cell results show a strong nuclear-encoded OXPHOS decrease</a:t>
            </a:r>
          </a:p>
        </p:txBody>
      </p:sp>
      <p:sp>
        <p:nvSpPr>
          <p:cNvPr id="5" name="TextBox 4">
            <a:extLst>
              <a:ext uri="{FF2B5EF4-FFF2-40B4-BE49-F238E27FC236}">
                <a16:creationId xmlns:a16="http://schemas.microsoft.com/office/drawing/2014/main" id="{E6B72473-605E-4B15-A710-E0E87504CEEB}"/>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DEG directions across fine-cell comparisons.</a:t>
            </a:r>
          </a:p>
        </p:txBody>
      </p:sp>
      <p:sp>
        <p:nvSpPr>
          <p:cNvPr id="6" name="Rounded Rectangle 5">
            <a:extLst>
              <a:ext uri="{FF2B5EF4-FFF2-40B4-BE49-F238E27FC236}">
                <a16:creationId xmlns:a16="http://schemas.microsoft.com/office/drawing/2014/main" id="{61741430-38B3-41F7-B957-964A801B7A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D464EA5-2FB1-41DE-B66E-27CBBCF1682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7EA8D99-C02A-4788-8BAC-19AB7802536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61EBDF4-CC0C-408C-9B6A-191DD08C45B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6ED3613-1DE2-4ED9-B304-70C3BF6E2F8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4D6D3497-1532-43A3-B90B-868123101E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AA0014-E189-41F8-9EDA-538A301A2B7E}"/>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85CC86D-E673-4A4D-BCD4-A17C265A93D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F6ECD27-E612-42B2-A097-22AD5D5F4E1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3199226C-0ACA-4C10-9CC3-512A6B88301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9ADCB95-7C34-4583-8E5D-733E8F1BC35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D05F1D8-4983-4839-928F-9660ECDD84A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D96C1F8-7416-4C36-AEF3-8C5EC8CB834A}"/>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6D4276BB-3C28-4E39-A937-01C6393F2A2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917F796A-CADC-4639-9BBC-33FD0EE492E7}"/>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3D46ED2-4710-4AF3-A347-5D5DAB51261B}"/>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The strongest signal is lower expression of nuclear-encoded OXPHOS genes in fine-cell results.</a:t>
            </a:r>
          </a:p>
        </p:txBody>
      </p:sp>
    </p:spTree>
    <p:extLst>
      <p:ext uri="{BB962C8B-B14F-4D97-AF65-F5344CB8AC3E}">
        <p14:creationId xmlns:p14="http://schemas.microsoft.com/office/powerpoint/2010/main" val="103924680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fine-cell results show lower nuclear-encoded OXPHOS gene expression in AD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Nuclear-encoded OXPHOS genes are strongly downward, while core MT genes show mixed directions.</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Fine-cell primary</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Resolution-sensitive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206 of 216 down</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Most structural respiratory-complex subunit genes are nuclear-encoded.</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CORE MT GENES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Mixed direction</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Core MT genes contribute 26 upregulated and 38 downregulated occurrences.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INTERPRETATION</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decrease</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result should not be described as a uniform decrease of all MitoCarta MT genes.</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finding is specific to fine-cell DEG occurrences because direct broad-cell results disagree.</a:t>
            </a:r>
          </a:p>
        </p:txBody>
      </p:sp>
    </p:spTree>
    <p:extLst>
      <p:ext uri="{BB962C8B-B14F-4D97-AF65-F5344CB8AC3E}">
        <p14:creationId xmlns:p14="http://schemas.microsoft.com/office/powerpoint/2010/main" val="126215820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16E7C6-C798-4825-8ADF-356B5B54EA3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95% of female ε4 nuclear-encoded OXPHOS occurrences are AD-down</a:t>
            </a:r>
          </a:p>
        </p:txBody>
      </p:sp>
      <p:sp>
        <p:nvSpPr>
          <p:cNvPr id="3" name="TextBox 2">
            <a:extLst>
              <a:ext uri="{FF2B5EF4-FFF2-40B4-BE49-F238E27FC236}">
                <a16:creationId xmlns:a16="http://schemas.microsoft.com/office/drawing/2014/main" id="{A4B8AFD9-E3A2-4DF9-81CD-7C81CE7DADE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core MT component is smaller and more mixed than the nuclear-encoded component.</a:t>
            </a:r>
          </a:p>
        </p:txBody>
      </p:sp>
      <p:sp>
        <p:nvSpPr>
          <p:cNvPr id="4" name="Rounded Rectangle 3">
            <a:extLst>
              <a:ext uri="{FF2B5EF4-FFF2-40B4-BE49-F238E27FC236}">
                <a16:creationId xmlns:a16="http://schemas.microsoft.com/office/drawing/2014/main" id="{50746D33-BB30-408B-9C9E-FF12599B34E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D214BFD-9CB2-42A4-89AE-8FFD5BC9576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216</a:t>
            </a:r>
          </a:p>
        </p:txBody>
      </p:sp>
      <p:sp>
        <p:nvSpPr>
          <p:cNvPr id="6" name="TextBox 5">
            <a:extLst>
              <a:ext uri="{FF2B5EF4-FFF2-40B4-BE49-F238E27FC236}">
                <a16:creationId xmlns:a16="http://schemas.microsoft.com/office/drawing/2014/main" id="{2611586C-DC6A-4FFA-9337-383B37FE6B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7" name="TextBox 6">
            <a:extLst>
              <a:ext uri="{FF2B5EF4-FFF2-40B4-BE49-F238E27FC236}">
                <a16:creationId xmlns:a16="http://schemas.microsoft.com/office/drawing/2014/main" id="{3FA2DD5C-37CE-47B8-BA0D-4EFF5279FD3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up, 206 down</a:t>
            </a:r>
          </a:p>
        </p:txBody>
      </p:sp>
      <p:sp>
        <p:nvSpPr>
          <p:cNvPr id="8" name="Rounded Rectangle 7">
            <a:extLst>
              <a:ext uri="{FF2B5EF4-FFF2-40B4-BE49-F238E27FC236}">
                <a16:creationId xmlns:a16="http://schemas.microsoft.com/office/drawing/2014/main" id="{C367C7A9-94DC-4D2B-B71F-0FDBE87A16E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E88F76C-26B3-454D-8275-E2E91DB2450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64</a:t>
            </a:r>
          </a:p>
        </p:txBody>
      </p:sp>
      <p:sp>
        <p:nvSpPr>
          <p:cNvPr id="10" name="TextBox 9">
            <a:extLst>
              <a:ext uri="{FF2B5EF4-FFF2-40B4-BE49-F238E27FC236}">
                <a16:creationId xmlns:a16="http://schemas.microsoft.com/office/drawing/2014/main" id="{24F47D21-06A0-49A7-843A-35EF63D4EEB1}"/>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a:ext uri="{FF2B5EF4-FFF2-40B4-BE49-F238E27FC236}">
                <a16:creationId xmlns:a16="http://schemas.microsoft.com/office/drawing/2014/main" id="{E00687D7-70B0-4750-B1C7-9FF467343380}"/>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26 up, 38 down</a:t>
            </a:r>
          </a:p>
        </p:txBody>
      </p:sp>
      <p:sp>
        <p:nvSpPr>
          <p:cNvPr id="12" name="Rounded Rectangle 11">
            <a:extLst>
              <a:ext uri="{FF2B5EF4-FFF2-40B4-BE49-F238E27FC236}">
                <a16:creationId xmlns:a16="http://schemas.microsoft.com/office/drawing/2014/main" id="{1FC6D3C9-53C5-436A-80F4-E4C130F4115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EFE16A-BBAE-434D-B4D4-F4BBF16D1597}"/>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95%</a:t>
            </a:r>
          </a:p>
        </p:txBody>
      </p:sp>
      <p:sp>
        <p:nvSpPr>
          <p:cNvPr id="14" name="TextBox 13">
            <a:extLst>
              <a:ext uri="{FF2B5EF4-FFF2-40B4-BE49-F238E27FC236}">
                <a16:creationId xmlns:a16="http://schemas.microsoft.com/office/drawing/2014/main" id="{AC6C476A-D8B0-4988-AB23-A9274BE7A62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occurrences</a:t>
            </a:r>
          </a:p>
        </p:txBody>
      </p:sp>
      <p:sp>
        <p:nvSpPr>
          <p:cNvPr id="15" name="TextBox 14">
            <a:extLst>
              <a:ext uri="{FF2B5EF4-FFF2-40B4-BE49-F238E27FC236}">
                <a16:creationId xmlns:a16="http://schemas.microsoft.com/office/drawing/2014/main" id="{864BD5C9-7313-4258-90C2-44621A549A53}"/>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AD-down across fine-cell comparisons</a:t>
            </a:r>
          </a:p>
        </p:txBody>
      </p:sp>
      <p:sp>
        <p:nvSpPr>
          <p:cNvPr id="16" name="Rounded Rectangle 15">
            <a:extLst>
              <a:ext uri="{FF2B5EF4-FFF2-40B4-BE49-F238E27FC236}">
                <a16:creationId xmlns:a16="http://schemas.microsoft.com/office/drawing/2014/main" id="{20141D58-A058-4EE4-BC6F-0C603708A55B}"/>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9B384E-3324-406A-9BD4-5866F2601348}"/>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D711E9C4-E615-4164-8E0E-C48683BB7C4A}"/>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95% down</a:t>
            </a:r>
          </a:p>
        </p:txBody>
      </p:sp>
      <p:sp>
        <p:nvSpPr>
          <p:cNvPr id="19" name="TextBox 18">
            <a:extLst>
              <a:ext uri="{FF2B5EF4-FFF2-40B4-BE49-F238E27FC236}">
                <a16:creationId xmlns:a16="http://schemas.microsoft.com/office/drawing/2014/main" id="{18248536-6E97-4D19-897C-624A3F6312C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206 AD-down and 10 AD-up occurrences</a:t>
            </a:r>
          </a:p>
        </p:txBody>
      </p:sp>
      <p:sp>
        <p:nvSpPr>
          <p:cNvPr id="20" name="Rounded Rectangle 19">
            <a:extLst>
              <a:ext uri="{FF2B5EF4-FFF2-40B4-BE49-F238E27FC236}">
                <a16:creationId xmlns:a16="http://schemas.microsoft.com/office/drawing/2014/main" id="{5E29091D-B675-49BE-A878-6A96D56F4DD7}"/>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7CA1F7-0F95-4126-9E08-408394415F68}"/>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22" name="TextBox 21">
            <a:extLst>
              <a:ext uri="{FF2B5EF4-FFF2-40B4-BE49-F238E27FC236}">
                <a16:creationId xmlns:a16="http://schemas.microsoft.com/office/drawing/2014/main" id="{FAE57504-3744-40A4-B02C-4F8FF1267295}"/>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59% down</a:t>
            </a:r>
          </a:p>
        </p:txBody>
      </p:sp>
      <p:sp>
        <p:nvSpPr>
          <p:cNvPr id="23" name="TextBox 22">
            <a:extLst>
              <a:ext uri="{FF2B5EF4-FFF2-40B4-BE49-F238E27FC236}">
                <a16:creationId xmlns:a16="http://schemas.microsoft.com/office/drawing/2014/main" id="{FC5B3EDE-C98C-45CA-AB93-D3059D42173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38 AD-down and 26 AD-up occurrences</a:t>
            </a:r>
          </a:p>
        </p:txBody>
      </p:sp>
      <p:sp>
        <p:nvSpPr>
          <p:cNvPr id="24" name="Rounded Rectangle 23">
            <a:extLst>
              <a:ext uri="{FF2B5EF4-FFF2-40B4-BE49-F238E27FC236}">
                <a16:creationId xmlns:a16="http://schemas.microsoft.com/office/drawing/2014/main" id="{36BA72D2-3B9D-4CFD-9032-9F25BBDF9111}"/>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4084EDC-C5DD-434C-8042-3C9AE2B5124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Main DEG pattern</a:t>
            </a:r>
          </a:p>
        </p:txBody>
      </p:sp>
      <p:sp>
        <p:nvSpPr>
          <p:cNvPr id="26" name="TextBox 25">
            <a:extLst>
              <a:ext uri="{FF2B5EF4-FFF2-40B4-BE49-F238E27FC236}">
                <a16:creationId xmlns:a16="http://schemas.microsoft.com/office/drawing/2014/main" id="{C77EC147-AB27-4522-80DF-24CAB245A813}"/>
              </a:ext>
            </a:extLst>
          </p:cNvPr>
          <p:cNvSpPr>
            <a:spLocks noGrp="1"/>
          </p:cNvSpPr>
          <p:nvPr/>
        </p:nvSpPr>
        <p:spPr>
          <a:xfrm>
            <a:off x="3419856" y="4965192"/>
            <a:ext cx="1975104" cy="5425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Nuclear-encoded decrease</a:t>
            </a:r>
          </a:p>
        </p:txBody>
      </p:sp>
      <p:sp>
        <p:nvSpPr>
          <p:cNvPr id="27" name="TextBox 26">
            <a:extLst>
              <a:ext uri="{FF2B5EF4-FFF2-40B4-BE49-F238E27FC236}">
                <a16:creationId xmlns:a16="http://schemas.microsoft.com/office/drawing/2014/main" id="{7EFA35EA-3110-4A6D-B50D-300EE9DE777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clearest pattern is lower nuclear-encoded OXPHOS expression across female ε4 fine-cell comparisons.</a:t>
            </a:r>
          </a:p>
        </p:txBody>
      </p:sp>
    </p:spTree>
    <p:extLst>
      <p:ext uri="{BB962C8B-B14F-4D97-AF65-F5344CB8AC3E}">
        <p14:creationId xmlns:p14="http://schemas.microsoft.com/office/powerpoint/2010/main" val="135284564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230396-C711-48F4-9F3F-E125CDE36E8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results do not reproduce the female ε4 fine-cell OXPHOS decrease</a:t>
            </a:r>
          </a:p>
        </p:txBody>
      </p:sp>
      <p:sp>
        <p:nvSpPr>
          <p:cNvPr id="3" name="TextBox 2">
            <a:extLst>
              <a:ext uri="{FF2B5EF4-FFF2-40B4-BE49-F238E27FC236}">
                <a16:creationId xmlns:a16="http://schemas.microsoft.com/office/drawing/2014/main" id="{90C9A94E-CA5C-479F-A04F-576DC97C1DC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disagreement lowers confidence that the signal generalizes across resolutions.</a:t>
            </a:r>
          </a:p>
        </p:txBody>
      </p:sp>
      <p:sp>
        <p:nvSpPr>
          <p:cNvPr id="4" name="Rounded Rectangle 3">
            <a:extLst>
              <a:ext uri="{FF2B5EF4-FFF2-40B4-BE49-F238E27FC236}">
                <a16:creationId xmlns:a16="http://schemas.microsoft.com/office/drawing/2014/main" id="{F5165143-019E-4190-A879-4C33055182B6}"/>
              </a:ext>
            </a:extLst>
          </p:cNvPr>
          <p:cNvSpPr>
            <a:spLocks noGrp="1"/>
          </p:cNvSpPr>
          <p:nvPr/>
        </p:nvSpPr>
        <p:spPr>
          <a:xfrm>
            <a:off x="65836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5FB12EF-F685-41F0-B76D-A60DE55D51F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ROSMAP DIRECT BROAD</a:t>
            </a:r>
          </a:p>
        </p:txBody>
      </p:sp>
      <p:sp>
        <p:nvSpPr>
          <p:cNvPr id="6" name="TextBox 5">
            <a:extLst>
              <a:ext uri="{FF2B5EF4-FFF2-40B4-BE49-F238E27FC236}">
                <a16:creationId xmlns:a16="http://schemas.microsoft.com/office/drawing/2014/main" id="{FA677EEF-E3B8-454B-9005-52648E8CD2D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AD-up direction, not significant</a:t>
            </a:r>
          </a:p>
        </p:txBody>
      </p:sp>
      <p:sp>
        <p:nvSpPr>
          <p:cNvPr id="7" name="TextBox 6">
            <a:extLst>
              <a:ext uri="{FF2B5EF4-FFF2-40B4-BE49-F238E27FC236}">
                <a16:creationId xmlns:a16="http://schemas.microsoft.com/office/drawing/2014/main" id="{A9ADC9DF-DE25-4165-9BCE-7FDD7797B58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neurons: NES = +0.70 and adjusted P = 0.991. The AD-up direction is not significant.</a:t>
            </a:r>
          </a:p>
        </p:txBody>
      </p:sp>
      <p:sp>
        <p:nvSpPr>
          <p:cNvPr id="8" name="Rounded Rectangle 7">
            <a:extLst>
              <a:ext uri="{FF2B5EF4-FFF2-40B4-BE49-F238E27FC236}">
                <a16:creationId xmlns:a16="http://schemas.microsoft.com/office/drawing/2014/main" id="{889EF010-CCDC-4C5D-8BAC-6BD282885F6D}"/>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B111569-40F8-417C-BE49-30200131459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SEA-AD DIRECT BROAD</a:t>
            </a:r>
          </a:p>
        </p:txBody>
      </p:sp>
      <p:sp>
        <p:nvSpPr>
          <p:cNvPr id="10" name="TextBox 9">
            <a:extLst>
              <a:ext uri="{FF2B5EF4-FFF2-40B4-BE49-F238E27FC236}">
                <a16:creationId xmlns:a16="http://schemas.microsoft.com/office/drawing/2014/main" id="{C5392091-01E3-4C10-9025-5BFF104E2A5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pathway is significantly AD-up</a:t>
            </a:r>
          </a:p>
        </p:txBody>
      </p:sp>
      <p:sp>
        <p:nvSpPr>
          <p:cNvPr id="11" name="TextBox 10">
            <a:extLst>
              <a:ext uri="{FF2B5EF4-FFF2-40B4-BE49-F238E27FC236}">
                <a16:creationId xmlns:a16="http://schemas.microsoft.com/office/drawing/2014/main" id="{F8AF9F05-3A6A-431E-902C-6B7B0F1A859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neurons: NES = +2.01 and adjusted P = 5.62 × 10⁻⁵. The pathway result is significantly AD-up.</a:t>
            </a:r>
          </a:p>
        </p:txBody>
      </p:sp>
      <p:sp>
        <p:nvSpPr>
          <p:cNvPr id="12" name="Rounded Rectangle 11">
            <a:extLst>
              <a:ext uri="{FF2B5EF4-FFF2-40B4-BE49-F238E27FC236}">
                <a16:creationId xmlns:a16="http://schemas.microsoft.com/office/drawing/2014/main" id="{21869939-BD43-4C0D-A433-E130C70A870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CCFB44D-1E4B-485C-ACAF-A84BFF5D40C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FINE-CELL DEG CHECK</a:t>
            </a:r>
          </a:p>
        </p:txBody>
      </p:sp>
      <p:sp>
        <p:nvSpPr>
          <p:cNvPr id="14" name="TextBox 13">
            <a:extLst>
              <a:ext uri="{FF2B5EF4-FFF2-40B4-BE49-F238E27FC236}">
                <a16:creationId xmlns:a16="http://schemas.microsoft.com/office/drawing/2014/main" id="{8572C540-E22E-4F44-9781-55EC90D5766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small astrocyte DEG list</a:t>
            </a:r>
          </a:p>
        </p:txBody>
      </p:sp>
      <p:sp>
        <p:nvSpPr>
          <p:cNvPr id="15" name="TextBox 14">
            <a:extLst>
              <a:ext uri="{FF2B5EF4-FFF2-40B4-BE49-F238E27FC236}">
                <a16:creationId xmlns:a16="http://schemas.microsoft.com/office/drawing/2014/main" id="{10895380-1863-406D-9702-C421FF0FD9E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Only two DEGs overlapped with ROSMAP, and the overlap was not significant (adjusted P = 0.819).</a:t>
            </a:r>
          </a:p>
        </p:txBody>
      </p:sp>
      <p:sp>
        <p:nvSpPr>
          <p:cNvPr id="16" name="Rounded Rectangle 15">
            <a:extLst>
              <a:ext uri="{FF2B5EF4-FFF2-40B4-BE49-F238E27FC236}">
                <a16:creationId xmlns:a16="http://schemas.microsoft.com/office/drawing/2014/main" id="{A98D7891-F31E-4753-96F8-2CFBC221DFB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C6F6C08-F66F-45E6-81F4-3E8EE9F63344}"/>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female ε4 decrease is specific to the fine-cell analysis. Direct broad-cell results point upward.</a:t>
            </a:r>
          </a:p>
        </p:txBody>
      </p:sp>
    </p:spTree>
    <p:extLst>
      <p:ext uri="{BB962C8B-B14F-4D97-AF65-F5344CB8AC3E}">
        <p14:creationId xmlns:p14="http://schemas.microsoft.com/office/powerpoint/2010/main" val="84294843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284EB6-DC66-4084-8B6F-64336FD34BA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most respiratory-complex genes are nuclear-encoded</a:t>
            </a:r>
          </a:p>
        </p:txBody>
      </p:sp>
      <p:sp>
        <p:nvSpPr>
          <p:cNvPr id="3" name="TextBox 2">
            <a:extLst>
              <a:ext uri="{FF2B5EF4-FFF2-40B4-BE49-F238E27FC236}">
                <a16:creationId xmlns:a16="http://schemas.microsoft.com/office/drawing/2014/main" id="{C466DD47-872F-4C62-8377-A4EF3A49870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decrease may reflect reduced expression of respiratory-complex genes, cellular stress, or a different cell state.</a:t>
            </a:r>
          </a:p>
        </p:txBody>
      </p:sp>
      <p:sp>
        <p:nvSpPr>
          <p:cNvPr id="4" name="Rounded Rectangle 3">
            <a:extLst>
              <a:ext uri="{FF2B5EF4-FFF2-40B4-BE49-F238E27FC236}">
                <a16:creationId xmlns:a16="http://schemas.microsoft.com/office/drawing/2014/main" id="{E3B1B35F-17E4-4DE0-AFDA-4B3ED47BAFA9}"/>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4DC046-8AA5-4E91-887D-A98906E8409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RESPIRATORY MACHINERY</a:t>
            </a:r>
          </a:p>
        </p:txBody>
      </p:sp>
      <p:sp>
        <p:nvSpPr>
          <p:cNvPr id="6" name="TextBox 5">
            <a:extLst>
              <a:ext uri="{FF2B5EF4-FFF2-40B4-BE49-F238E27FC236}">
                <a16:creationId xmlns:a16="http://schemas.microsoft.com/office/drawing/2014/main" id="{874D440F-894C-4273-9AB2-B5D3074AAAE7}"/>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 subunits are nuclear-encoded</a:t>
            </a:r>
          </a:p>
        </p:txBody>
      </p:sp>
      <p:sp>
        <p:nvSpPr>
          <p:cNvPr id="7" name="TextBox 6">
            <a:extLst>
              <a:ext uri="{FF2B5EF4-FFF2-40B4-BE49-F238E27FC236}">
                <a16:creationId xmlns:a16="http://schemas.microsoft.com/office/drawing/2014/main" id="{23E9BE30-1213-49F7-B09C-1418F354AE1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expression across many nuclear-encoded OXPHOS genes could reduce the supply of respiratory-complex parts.</a:t>
            </a:r>
          </a:p>
        </p:txBody>
      </p:sp>
      <p:sp>
        <p:nvSpPr>
          <p:cNvPr id="8" name="Rounded Rectangle 7">
            <a:extLst>
              <a:ext uri="{FF2B5EF4-FFF2-40B4-BE49-F238E27FC236}">
                <a16:creationId xmlns:a16="http://schemas.microsoft.com/office/drawing/2014/main" id="{04293C45-DC1A-40F9-8632-91036F829E49}"/>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E261050-2EAF-4BA5-AF33-03400EE963A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APOE CONTEXT</a:t>
            </a:r>
          </a:p>
        </p:txBody>
      </p:sp>
      <p:sp>
        <p:nvSpPr>
          <p:cNvPr id="10" name="TextBox 9">
            <a:extLst>
              <a:ext uri="{FF2B5EF4-FFF2-40B4-BE49-F238E27FC236}">
                <a16:creationId xmlns:a16="http://schemas.microsoft.com/office/drawing/2014/main" id="{09FC0182-46A2-4020-8435-213138674BC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ε4 makes the hypothesis important</a:t>
            </a:r>
          </a:p>
        </p:txBody>
      </p:sp>
      <p:sp>
        <p:nvSpPr>
          <p:cNvPr id="11" name="TextBox 10">
            <a:extLst>
              <a:ext uri="{FF2B5EF4-FFF2-40B4-BE49-F238E27FC236}">
                <a16:creationId xmlns:a16="http://schemas.microsoft.com/office/drawing/2014/main" id="{12D72163-D70F-4797-96D1-5442314CE3D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ε4 strongly increases late-onset Alzheimer’s risk at the population level.</a:t>
            </a:r>
          </a:p>
        </p:txBody>
      </p:sp>
      <p:sp>
        <p:nvSpPr>
          <p:cNvPr id="12" name="Rounded Rectangle 11">
            <a:extLst>
              <a:ext uri="{FF2B5EF4-FFF2-40B4-BE49-F238E27FC236}">
                <a16:creationId xmlns:a16="http://schemas.microsoft.com/office/drawing/2014/main" id="{A71F567C-33CB-4608-886E-DCC40B898C0C}"/>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F20F9C6-2CBB-4777-8A74-FE8BA83A8D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RESOLUTION WARNING</a:t>
            </a:r>
          </a:p>
        </p:txBody>
      </p:sp>
      <p:sp>
        <p:nvSpPr>
          <p:cNvPr id="14" name="TextBox 13">
            <a:extLst>
              <a:ext uri="{FF2B5EF4-FFF2-40B4-BE49-F238E27FC236}">
                <a16:creationId xmlns:a16="http://schemas.microsoft.com/office/drawing/2014/main" id="{7B508054-B88B-448D-9F25-D5D8DA0F08B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Broad-cell direction reverses</a:t>
            </a:r>
          </a:p>
        </p:txBody>
      </p:sp>
      <p:sp>
        <p:nvSpPr>
          <p:cNvPr id="15" name="TextBox 14">
            <a:extLst>
              <a:ext uri="{FF2B5EF4-FFF2-40B4-BE49-F238E27FC236}">
                <a16:creationId xmlns:a16="http://schemas.microsoft.com/office/drawing/2014/main" id="{A7FF3F70-622D-4082-8EEA-32B4CF420D0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Differences in the mix of fine cell types may influence the direct broad-cell result.</a:t>
            </a:r>
          </a:p>
        </p:txBody>
      </p:sp>
      <p:sp>
        <p:nvSpPr>
          <p:cNvPr id="16" name="Rounded Rectangle 15">
            <a:extLst>
              <a:ext uri="{FF2B5EF4-FFF2-40B4-BE49-F238E27FC236}">
                <a16:creationId xmlns:a16="http://schemas.microsoft.com/office/drawing/2014/main" id="{8C891208-1195-4DBE-B866-2D4F14AC8FF4}"/>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40AEFF-653E-4E88-BB8D-F975F5126A7F}"/>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E915A7F-791C-41A5-A90B-0BC6B338FEF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fine-cell signal warrants follow-up, but the broad-cell disagreement must stay visible.</a:t>
            </a:r>
          </a:p>
        </p:txBody>
      </p:sp>
    </p:spTree>
    <p:extLst>
      <p:ext uri="{BB962C8B-B14F-4D97-AF65-F5344CB8AC3E}">
        <p14:creationId xmlns:p14="http://schemas.microsoft.com/office/powerpoint/2010/main" val="11485792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C40590-71AC-4C4D-A67D-0830EDF1B98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4</a:t>
            </a:r>
          </a:p>
        </p:txBody>
      </p:sp>
      <p:sp>
        <p:nvSpPr>
          <p:cNvPr id="3" name="TextBox 2">
            <a:extLst>
              <a:ext uri="{FF2B5EF4-FFF2-40B4-BE49-F238E27FC236}">
                <a16:creationId xmlns:a16="http://schemas.microsoft.com/office/drawing/2014/main" id="{8B4123C0-53E7-4530-B8FD-83F2DC61A6A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EFC189B-338C-4FB8-A899-371B4554D0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3FDB348-D11A-4E1D-B039-68758C28185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Schmukler et al. 2020</a:t>
            </a:r>
          </a:p>
        </p:txBody>
      </p:sp>
      <p:sp>
        <p:nvSpPr>
          <p:cNvPr id="6" name="TextBox 5">
            <a:extLst>
              <a:ext uri="{FF2B5EF4-FFF2-40B4-BE49-F238E27FC236}">
                <a16:creationId xmlns:a16="http://schemas.microsoft.com/office/drawing/2014/main" id="{0D4984E5-FAE7-40C9-AE61-3D566A1E0915}"/>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mitochondrial quality control</a:t>
            </a:r>
          </a:p>
        </p:txBody>
      </p:sp>
      <p:sp>
        <p:nvSpPr>
          <p:cNvPr id="7" name="TextBox 6">
            <a:extLst>
              <a:ext uri="{FF2B5EF4-FFF2-40B4-BE49-F238E27FC236}">
                <a16:creationId xmlns:a16="http://schemas.microsoft.com/office/drawing/2014/main" id="{D4FD2E75-1220-441B-926F-DEF7213E5B5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666C0A-FAEC-4586-9035-29FCF9C2837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models to mitochondrial dynamics and removal of damaged mitochondria.</a:t>
            </a:r>
          </a:p>
        </p:txBody>
      </p:sp>
      <p:sp>
        <p:nvSpPr>
          <p:cNvPr id="9" name="TextBox 8">
            <a:extLst>
              <a:ext uri="{FF2B5EF4-FFF2-40B4-BE49-F238E27FC236}">
                <a16:creationId xmlns:a16="http://schemas.microsoft.com/office/drawing/2014/main" id="{C20664A6-60FE-4657-B500-B5BF4369786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9254D0C-D77D-4368-8BB2-4B694D4B1E5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reproduce the nuclear-encoded OXPHOS gene-expression pattern.</a:t>
            </a:r>
          </a:p>
        </p:txBody>
      </p:sp>
      <p:sp>
        <p:nvSpPr>
          <p:cNvPr id="11" name="Rounded Rectangle 10">
            <a:extLst>
              <a:ext uri="{FF2B5EF4-FFF2-40B4-BE49-F238E27FC236}">
                <a16:creationId xmlns:a16="http://schemas.microsoft.com/office/drawing/2014/main" id="{FABCE98F-F22F-4B91-91E2-3E4F790D1F85}"/>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D38BFD6-1BE9-451D-8A76-029AD290F94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8033BCD3-113D-4007-BB72-3BDF025C0DF2}"/>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astrocytes</a:t>
            </a:r>
          </a:p>
        </p:txBody>
      </p:sp>
      <p:sp>
        <p:nvSpPr>
          <p:cNvPr id="14" name="TextBox 13">
            <a:extLst>
              <a:ext uri="{FF2B5EF4-FFF2-40B4-BE49-F238E27FC236}">
                <a16:creationId xmlns:a16="http://schemas.microsoft.com/office/drawing/2014/main" id="{12949E16-F32A-477E-9432-0BF74E8C5FF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0FC22AC-8BBA-448A-BFCA-77D9E8A039B8}"/>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state to impaired maintenance of mitochondrial function.</a:t>
            </a:r>
          </a:p>
        </p:txBody>
      </p:sp>
      <p:sp>
        <p:nvSpPr>
          <p:cNvPr id="16" name="TextBox 15">
            <a:extLst>
              <a:ext uri="{FF2B5EF4-FFF2-40B4-BE49-F238E27FC236}">
                <a16:creationId xmlns:a16="http://schemas.microsoft.com/office/drawing/2014/main" id="{63C44BE8-4AF6-40C1-A9AD-C10AC164F936}"/>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B54E93C2-E812-4EE6-8301-A43E5841C1F2}"/>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Different cell context and experimental design.</a:t>
            </a:r>
          </a:p>
        </p:txBody>
      </p:sp>
      <p:sp>
        <p:nvSpPr>
          <p:cNvPr id="18" name="Rounded Rectangle 17">
            <a:extLst>
              <a:ext uri="{FF2B5EF4-FFF2-40B4-BE49-F238E27FC236}">
                <a16:creationId xmlns:a16="http://schemas.microsoft.com/office/drawing/2014/main" id="{92589BE4-7F80-4DA2-911C-363BA86ADA5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661FB0-5058-43DE-B243-D0EF9CF4EF16}"/>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362A90CB-A637-445E-8B51-2350713A7075}"/>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597F2BA8-2007-4A85-8BC9-506143C0F9A4}"/>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CB6986F3-CF18-475A-94F9-C9A8F952B1EE}"/>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strong differences among brain cell states.</a:t>
            </a:r>
          </a:p>
        </p:txBody>
      </p:sp>
      <p:sp>
        <p:nvSpPr>
          <p:cNvPr id="23" name="TextBox 22">
            <a:extLst>
              <a:ext uri="{FF2B5EF4-FFF2-40B4-BE49-F238E27FC236}">
                <a16:creationId xmlns:a16="http://schemas.microsoft.com/office/drawing/2014/main" id="{7F919ED5-2F8B-4B99-8353-035EAC9329C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7C881AE-9707-4DF5-B032-CB8AD6F94FF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is not an independent replication.</a:t>
            </a:r>
          </a:p>
        </p:txBody>
      </p:sp>
      <p:sp>
        <p:nvSpPr>
          <p:cNvPr id="25" name="Rounded Rectangle 24">
            <a:extLst>
              <a:ext uri="{FF2B5EF4-FFF2-40B4-BE49-F238E27FC236}">
                <a16:creationId xmlns:a16="http://schemas.microsoft.com/office/drawing/2014/main" id="{D22B9BBF-BCFD-4539-B9CA-7DDE989A13D7}"/>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D11175-1C40-4C76-8D0F-A629CB55862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786193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EF2E26F-2CDF-4E65-8BA1-34F46AD706D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5</a:t>
            </a:r>
          </a:p>
        </p:txBody>
      </p:sp>
      <p:sp>
        <p:nvSpPr>
          <p:cNvPr id="3" name="Rectangle 2">
            <a:extLst>
              <a:ext uri="{FF2B5EF4-FFF2-40B4-BE49-F238E27FC236}">
                <a16:creationId xmlns:a16="http://schemas.microsoft.com/office/drawing/2014/main" id="{679FEE76-9C69-4E79-9D0E-33754FA43E2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141759-D659-44D6-8951-9C9972B5510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ε2 cells show broad decreases across both OXPHOS gene sets</a:t>
            </a:r>
          </a:p>
        </p:txBody>
      </p:sp>
      <p:sp>
        <p:nvSpPr>
          <p:cNvPr id="5" name="TextBox 4">
            <a:extLst>
              <a:ext uri="{FF2B5EF4-FFF2-40B4-BE49-F238E27FC236}">
                <a16:creationId xmlns:a16="http://schemas.microsoft.com/office/drawing/2014/main" id="{444133BC-3F24-48B3-8674-96DDA42DC308}"/>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DEG directions across fine-cell comparisons.</a:t>
            </a:r>
          </a:p>
        </p:txBody>
      </p:sp>
      <p:sp>
        <p:nvSpPr>
          <p:cNvPr id="6" name="Rounded Rectangle 5">
            <a:extLst>
              <a:ext uri="{FF2B5EF4-FFF2-40B4-BE49-F238E27FC236}">
                <a16:creationId xmlns:a16="http://schemas.microsoft.com/office/drawing/2014/main" id="{7D622FD7-0151-4AF9-A487-7DE206047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58018-9D15-438B-8510-E212F9931423}"/>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32E41CE8-CDFA-44D4-A17F-1D85D2DF329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F14DF69-6E24-4830-A88A-57EB39EAA40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88A9BC0-42FC-41E9-8C8D-8862108F070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86A3D6A-050D-454B-A2A4-F432AE04DA3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1E439F-F7F3-4C2D-9AED-A1B048E90A44}"/>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2023D3E-15BB-4049-A8AD-079F974409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B5C00B5F-F220-4649-BE0A-E55B74FD74D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D486C808-47D2-42CB-AACF-203A868DF3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CEEC43C-DBFF-4642-9E0A-F21A82A46B5C}"/>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8A202477-1FEE-4A36-810D-A2539DCF225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363E3D9-9544-4D85-BFEB-2823E795F07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10748D0A-7A11-478D-861B-3D0939C13BAA}"/>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84BAA67-2B8F-485F-9374-B6D5A8BAC42F}"/>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09FD795-F30A-4125-BD47-A454AEFBD2C8}"/>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Both OXPHOS gene sets show lower expression across fine-cell DEG occurrences.</a:t>
            </a:r>
          </a:p>
        </p:txBody>
      </p:sp>
    </p:spTree>
    <p:extLst>
      <p:ext uri="{BB962C8B-B14F-4D97-AF65-F5344CB8AC3E}">
        <p14:creationId xmlns:p14="http://schemas.microsoft.com/office/powerpoint/2010/main" val="68326628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C286BED-F564-486A-BCC8-11405F5499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cells show lower expression of both OXPHOS gene sets in AD</a:t>
            </a:r>
          </a:p>
        </p:txBody>
      </p:sp>
      <p:sp>
        <p:nvSpPr>
          <p:cNvPr id="3" name="TextBox 2">
            <a:extLst>
              <a:ext uri="{FF2B5EF4-FFF2-40B4-BE49-F238E27FC236}">
                <a16:creationId xmlns:a16="http://schemas.microsoft.com/office/drawing/2014/main" id="{3D2C08D8-D9F5-4F06-B850-B7758BAABFF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is the strongest coordinated downward OXPHOS pattern in ROSMAP.</a:t>
            </a:r>
          </a:p>
        </p:txBody>
      </p:sp>
      <p:sp>
        <p:nvSpPr>
          <p:cNvPr id="4" name="Rounded Rectangle 3">
            <a:extLst>
              <a:ext uri="{FF2B5EF4-FFF2-40B4-BE49-F238E27FC236}">
                <a16:creationId xmlns:a16="http://schemas.microsoft.com/office/drawing/2014/main" id="{AF633511-2899-4B97-9AB6-D15EDC6E655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44AC28-46AD-4350-B6AE-F9533B31B94F}"/>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E0A46577-F0BD-402F-8EC0-3EA55F4145E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CC54C5A-2B30-48CC-AA93-BD5183BD696A}"/>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50151338-65D5-4E79-A86F-F25D1C48D69A}"/>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C526B50-273F-448E-82DE-6DA8ECEE9FC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Both gene sets down</a:t>
            </a:r>
          </a:p>
        </p:txBody>
      </p:sp>
      <p:sp>
        <p:nvSpPr>
          <p:cNvPr id="10" name="Rounded Rectangle 9">
            <a:extLst>
              <a:ext uri="{FF2B5EF4-FFF2-40B4-BE49-F238E27FC236}">
                <a16:creationId xmlns:a16="http://schemas.microsoft.com/office/drawing/2014/main" id="{0B34286A-226C-482A-A665-5A8CD6EC5CFC}"/>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0E08D2-330A-472E-8033-832F01D56BAE}"/>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Large DEG sets</a:t>
            </a:r>
          </a:p>
        </p:txBody>
      </p:sp>
      <p:sp>
        <p:nvSpPr>
          <p:cNvPr id="12" name="Rounded Rectangle 11">
            <a:extLst>
              <a:ext uri="{FF2B5EF4-FFF2-40B4-BE49-F238E27FC236}">
                <a16:creationId xmlns:a16="http://schemas.microsoft.com/office/drawing/2014/main" id="{54262262-A93C-4CDF-AB68-A8E1F318B890}"/>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3E70AAA-A0B8-4007-BA8D-B263820634C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CORE MT GENES</a:t>
            </a:r>
          </a:p>
        </p:txBody>
      </p:sp>
      <p:sp>
        <p:nvSpPr>
          <p:cNvPr id="14" name="TextBox 13">
            <a:extLst>
              <a:ext uri="{FF2B5EF4-FFF2-40B4-BE49-F238E27FC236}">
                <a16:creationId xmlns:a16="http://schemas.microsoft.com/office/drawing/2014/main" id="{8076B748-9DA2-4800-A2FF-5A4ED6F02FB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119 of 132 down</a:t>
            </a:r>
          </a:p>
        </p:txBody>
      </p:sp>
      <p:sp>
        <p:nvSpPr>
          <p:cNvPr id="15" name="TextBox 14">
            <a:extLst>
              <a:ext uri="{FF2B5EF4-FFF2-40B4-BE49-F238E27FC236}">
                <a16:creationId xmlns:a16="http://schemas.microsoft.com/office/drawing/2014/main" id="{38BFA3FB-E15C-416C-9B94-C74F2F0ADFCD}"/>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90% of core MT gene occurrences were lower in AD.</a:t>
            </a:r>
          </a:p>
        </p:txBody>
      </p:sp>
      <p:sp>
        <p:nvSpPr>
          <p:cNvPr id="16" name="Rounded Rectangle 15">
            <a:extLst>
              <a:ext uri="{FF2B5EF4-FFF2-40B4-BE49-F238E27FC236}">
                <a16:creationId xmlns:a16="http://schemas.microsoft.com/office/drawing/2014/main" id="{27F1F4AA-18FD-4180-9D37-EEB5D5304B4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4082EB-264B-4B5A-8297-C444A4D0814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118FE9BB-5E81-4FCC-B356-42F37286EB4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404 of 467 down</a:t>
            </a:r>
          </a:p>
        </p:txBody>
      </p:sp>
      <p:sp>
        <p:nvSpPr>
          <p:cNvPr id="19" name="TextBox 18">
            <a:extLst>
              <a:ext uri="{FF2B5EF4-FFF2-40B4-BE49-F238E27FC236}">
                <a16:creationId xmlns:a16="http://schemas.microsoft.com/office/drawing/2014/main" id="{294A6B3A-48A7-41A4-9C9F-DD509BA8951E}"/>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87% of nuclear-encoded OXPHOS gene occurrences were lower in AD.</a:t>
            </a:r>
          </a:p>
        </p:txBody>
      </p:sp>
      <p:sp>
        <p:nvSpPr>
          <p:cNvPr id="20" name="Rounded Rectangle 19">
            <a:extLst>
              <a:ext uri="{FF2B5EF4-FFF2-40B4-BE49-F238E27FC236}">
                <a16:creationId xmlns:a16="http://schemas.microsoft.com/office/drawing/2014/main" id="{58AA7E7F-69E0-4505-8E3C-62A2BB94F23D}"/>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5ADE7F7-B4AE-44FC-847A-765D98C65B77}"/>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KEY DISTINCTION</a:t>
            </a:r>
          </a:p>
        </p:txBody>
      </p:sp>
      <p:sp>
        <p:nvSpPr>
          <p:cNvPr id="22" name="TextBox 21">
            <a:extLst>
              <a:ext uri="{FF2B5EF4-FFF2-40B4-BE49-F238E27FC236}">
                <a16:creationId xmlns:a16="http://schemas.microsoft.com/office/drawing/2014/main" id="{E6CD5148-E748-4F6A-B1D0-98451BF00C5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decrease</a:t>
            </a:r>
          </a:p>
        </p:txBody>
      </p:sp>
      <p:sp>
        <p:nvSpPr>
          <p:cNvPr id="23" name="TextBox 22">
            <a:extLst>
              <a:ext uri="{FF2B5EF4-FFF2-40B4-BE49-F238E27FC236}">
                <a16:creationId xmlns:a16="http://schemas.microsoft.com/office/drawing/2014/main" id="{414D44C9-D8CE-4D80-B982-C37B9274C8C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downward, unlike the opposite-direction pattern in male ε3/ε3.</a:t>
            </a:r>
          </a:p>
        </p:txBody>
      </p:sp>
      <p:sp>
        <p:nvSpPr>
          <p:cNvPr id="24" name="Rounded Rectangle 23">
            <a:extLst>
              <a:ext uri="{FF2B5EF4-FFF2-40B4-BE49-F238E27FC236}">
                <a16:creationId xmlns:a16="http://schemas.microsoft.com/office/drawing/2014/main" id="{35B557CF-AC23-44D3-8493-322B013D4621}"/>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DA97776B-399C-4369-BD4F-5FAE65064E5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An ε2 allele can be protective at the population level while diseased tissue still shows lower OXPHOS gene expression.</a:t>
            </a:r>
          </a:p>
        </p:txBody>
      </p:sp>
    </p:spTree>
    <p:extLst>
      <p:ext uri="{BB962C8B-B14F-4D97-AF65-F5344CB8AC3E}">
        <p14:creationId xmlns:p14="http://schemas.microsoft.com/office/powerpoint/2010/main" val="45396562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BD277D-7431-4A7A-A1C7-72AF1F26B21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ε2 has the most downward OXPHOS DEG occurrences</a:t>
            </a:r>
          </a:p>
        </p:txBody>
      </p:sp>
      <p:sp>
        <p:nvSpPr>
          <p:cNvPr id="3" name="TextBox 2">
            <a:extLst>
              <a:ext uri="{FF2B5EF4-FFF2-40B4-BE49-F238E27FC236}">
                <a16:creationId xmlns:a16="http://schemas.microsoft.com/office/drawing/2014/main" id="{90923344-F35D-4EFF-A0E6-1084F7A5BE5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Fine-cell DEG occurrences and direct broad-cell sensitivity point mainly downward.</a:t>
            </a:r>
          </a:p>
        </p:txBody>
      </p:sp>
      <p:sp>
        <p:nvSpPr>
          <p:cNvPr id="4" name="Rounded Rectangle 3">
            <a:extLst>
              <a:ext uri="{FF2B5EF4-FFF2-40B4-BE49-F238E27FC236}">
                <a16:creationId xmlns:a16="http://schemas.microsoft.com/office/drawing/2014/main" id="{815A4D51-038B-4DB5-BB9D-C51DE16B673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624508B-2051-4B1C-8CFD-BB759936A4B0}"/>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132</a:t>
            </a:r>
          </a:p>
        </p:txBody>
      </p:sp>
      <p:sp>
        <p:nvSpPr>
          <p:cNvPr id="6" name="TextBox 5">
            <a:extLst>
              <a:ext uri="{FF2B5EF4-FFF2-40B4-BE49-F238E27FC236}">
                <a16:creationId xmlns:a16="http://schemas.microsoft.com/office/drawing/2014/main" id="{8CF85EEA-A167-43C8-AFCD-1D6C6354386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E9B93EE7-DD66-498F-A3CB-2420119AF29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13 up, 119 down</a:t>
            </a:r>
          </a:p>
        </p:txBody>
      </p:sp>
      <p:sp>
        <p:nvSpPr>
          <p:cNvPr id="8" name="Rounded Rectangle 7">
            <a:extLst>
              <a:ext uri="{FF2B5EF4-FFF2-40B4-BE49-F238E27FC236}">
                <a16:creationId xmlns:a16="http://schemas.microsoft.com/office/drawing/2014/main" id="{67A0F397-F140-4D64-B92B-A6E3A29C0C8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FD5BF0-813B-49E9-A0B0-0F89CDDD3B97}"/>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467</a:t>
            </a:r>
          </a:p>
        </p:txBody>
      </p:sp>
      <p:sp>
        <p:nvSpPr>
          <p:cNvPr id="10" name="TextBox 9">
            <a:extLst>
              <a:ext uri="{FF2B5EF4-FFF2-40B4-BE49-F238E27FC236}">
                <a16:creationId xmlns:a16="http://schemas.microsoft.com/office/drawing/2014/main" id="{ED6BE81B-2B7A-40DB-904F-8CC485792EC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3D970A38-BB5D-47A0-B7C7-04DD293709E6}"/>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63 up, 404 down</a:t>
            </a:r>
          </a:p>
        </p:txBody>
      </p:sp>
      <p:sp>
        <p:nvSpPr>
          <p:cNvPr id="12" name="Rounded Rectangle 11">
            <a:extLst>
              <a:ext uri="{FF2B5EF4-FFF2-40B4-BE49-F238E27FC236}">
                <a16:creationId xmlns:a16="http://schemas.microsoft.com/office/drawing/2014/main" id="{6496313E-1382-41C2-BA3E-34797C7311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73DE1FB-C935-4CE6-AEFC-33DD5D47F466}"/>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523</a:t>
            </a:r>
          </a:p>
        </p:txBody>
      </p:sp>
      <p:sp>
        <p:nvSpPr>
          <p:cNvPr id="14" name="TextBox 13">
            <a:extLst>
              <a:ext uri="{FF2B5EF4-FFF2-40B4-BE49-F238E27FC236}">
                <a16:creationId xmlns:a16="http://schemas.microsoft.com/office/drawing/2014/main" id="{CF18A02B-0A7A-418F-A578-702C906E2E9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AD-down OXPHOS occurrences</a:t>
            </a:r>
          </a:p>
        </p:txBody>
      </p:sp>
      <p:sp>
        <p:nvSpPr>
          <p:cNvPr id="15" name="TextBox 14">
            <a:extLst>
              <a:ext uri="{FF2B5EF4-FFF2-40B4-BE49-F238E27FC236}">
                <a16:creationId xmlns:a16="http://schemas.microsoft.com/office/drawing/2014/main" id="{768B58E6-3DE9-4A64-ADE5-DAE50470903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119 core MT + 404 nuclear-encoded</a:t>
            </a:r>
          </a:p>
        </p:txBody>
      </p:sp>
      <p:sp>
        <p:nvSpPr>
          <p:cNvPr id="16" name="Rounded Rectangle 15">
            <a:extLst>
              <a:ext uri="{FF2B5EF4-FFF2-40B4-BE49-F238E27FC236}">
                <a16:creationId xmlns:a16="http://schemas.microsoft.com/office/drawing/2014/main" id="{E5A95870-C1EA-4EB8-9CF4-5203996357A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4573671-11D6-4F8E-B1D0-41F33E45DE3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8CD198EE-16C1-4164-9FD9-20D0FAB36B4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90% down</a:t>
            </a:r>
          </a:p>
        </p:txBody>
      </p:sp>
      <p:sp>
        <p:nvSpPr>
          <p:cNvPr id="19" name="TextBox 18">
            <a:extLst>
              <a:ext uri="{FF2B5EF4-FFF2-40B4-BE49-F238E27FC236}">
                <a16:creationId xmlns:a16="http://schemas.microsoft.com/office/drawing/2014/main" id="{A5C5029B-3122-4C07-94E1-F116864314BE}"/>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119 AD-down and 13 AD-up occurrences</a:t>
            </a:r>
          </a:p>
        </p:txBody>
      </p:sp>
      <p:sp>
        <p:nvSpPr>
          <p:cNvPr id="20" name="Rounded Rectangle 19">
            <a:extLst>
              <a:ext uri="{FF2B5EF4-FFF2-40B4-BE49-F238E27FC236}">
                <a16:creationId xmlns:a16="http://schemas.microsoft.com/office/drawing/2014/main" id="{71D52A82-59E2-4945-8028-CA41F6C9A11E}"/>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47D7A2-4F91-4259-82A1-BB0EA1CBB01C}"/>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A11BD4C5-04ED-4483-9A6B-20C61A55CD8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87% down</a:t>
            </a:r>
          </a:p>
        </p:txBody>
      </p:sp>
      <p:sp>
        <p:nvSpPr>
          <p:cNvPr id="23" name="TextBox 22">
            <a:extLst>
              <a:ext uri="{FF2B5EF4-FFF2-40B4-BE49-F238E27FC236}">
                <a16:creationId xmlns:a16="http://schemas.microsoft.com/office/drawing/2014/main" id="{92AD0BB7-7863-4F61-9BD7-B2D2ED0A88E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404 AD-down and 63 AD-up occurrences</a:t>
            </a:r>
          </a:p>
        </p:txBody>
      </p:sp>
      <p:sp>
        <p:nvSpPr>
          <p:cNvPr id="24" name="Rounded Rectangle 23">
            <a:extLst>
              <a:ext uri="{FF2B5EF4-FFF2-40B4-BE49-F238E27FC236}">
                <a16:creationId xmlns:a16="http://schemas.microsoft.com/office/drawing/2014/main" id="{A93000DB-86CF-4280-A9AF-87FD1D9D7947}"/>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1DBCA1F-5166-40A9-9CAB-5643CEBFD24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Overall DEG direction</a:t>
            </a:r>
          </a:p>
        </p:txBody>
      </p:sp>
      <p:sp>
        <p:nvSpPr>
          <p:cNvPr id="26" name="TextBox 25">
            <a:extLst>
              <a:ext uri="{FF2B5EF4-FFF2-40B4-BE49-F238E27FC236}">
                <a16:creationId xmlns:a16="http://schemas.microsoft.com/office/drawing/2014/main" id="{2262FB5A-6F52-47C7-A4ED-CE564717D573}"/>
              </a:ext>
            </a:extLst>
          </p:cNvPr>
          <p:cNvSpPr>
            <a:spLocks noGrp="1"/>
          </p:cNvSpPr>
          <p:nvPr/>
        </p:nvSpPr>
        <p:spPr>
          <a:xfrm>
            <a:off x="3419856" y="4965192"/>
            <a:ext cx="1975104" cy="5425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Both gene sets down</a:t>
            </a:r>
          </a:p>
        </p:txBody>
      </p:sp>
      <p:sp>
        <p:nvSpPr>
          <p:cNvPr id="27" name="TextBox 26">
            <a:extLst>
              <a:ext uri="{FF2B5EF4-FFF2-40B4-BE49-F238E27FC236}">
                <a16:creationId xmlns:a16="http://schemas.microsoft.com/office/drawing/2014/main" id="{B8F6995F-6CE2-4495-A815-7B8D5120FB1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Core MT and nuclear-encoded OXPHOS occurrences are predominantly AD-down.</a:t>
            </a:r>
          </a:p>
        </p:txBody>
      </p:sp>
    </p:spTree>
    <p:extLst>
      <p:ext uri="{BB962C8B-B14F-4D97-AF65-F5344CB8AC3E}">
        <p14:creationId xmlns:p14="http://schemas.microsoft.com/office/powerpoint/2010/main" val="155230460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6A0A466-65B9-4B02-9FC4-4A0CF223C3C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has unusually large MitoCarta MT DEG sets</a:t>
            </a:r>
          </a:p>
        </p:txBody>
      </p:sp>
      <p:sp>
        <p:nvSpPr>
          <p:cNvPr id="3" name="TextBox 2">
            <a:extLst>
              <a:ext uri="{FF2B5EF4-FFF2-40B4-BE49-F238E27FC236}">
                <a16:creationId xmlns:a16="http://schemas.microsoft.com/office/drawing/2014/main" id="{678755B5-2808-464C-BE3F-F32B109D9C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Larger DEG sets help explain why male ε2 contributes many DEG occurrences.</a:t>
            </a:r>
          </a:p>
        </p:txBody>
      </p:sp>
      <p:sp>
        <p:nvSpPr>
          <p:cNvPr id="4" name="Rounded Rectangle 3">
            <a:extLst>
              <a:ext uri="{FF2B5EF4-FFF2-40B4-BE49-F238E27FC236}">
                <a16:creationId xmlns:a16="http://schemas.microsoft.com/office/drawing/2014/main" id="{BDCABD88-CDF9-4096-9BD8-9FD4BD2BD3B8}"/>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C8BCB1-D1DE-4C49-93A0-C071B997ADB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 MEDIAN</a:t>
            </a:r>
          </a:p>
        </p:txBody>
      </p:sp>
      <p:sp>
        <p:nvSpPr>
          <p:cNvPr id="6" name="TextBox 5">
            <a:extLst>
              <a:ext uri="{FF2B5EF4-FFF2-40B4-BE49-F238E27FC236}">
                <a16:creationId xmlns:a16="http://schemas.microsoft.com/office/drawing/2014/main" id="{4625E702-DCA4-444B-B0B0-7901133E832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85 MitoCarta MT DEGs</a:t>
            </a:r>
          </a:p>
        </p:txBody>
      </p:sp>
      <p:sp>
        <p:nvSpPr>
          <p:cNvPr id="7" name="TextBox 6">
            <a:extLst>
              <a:ext uri="{FF2B5EF4-FFF2-40B4-BE49-F238E27FC236}">
                <a16:creationId xmlns:a16="http://schemas.microsoft.com/office/drawing/2014/main" id="{D8DB4B45-4487-4D5E-9743-9C36A6B0B6CE}"/>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median male ε2 DEG set was more than five times the overall median.</a:t>
            </a:r>
          </a:p>
        </p:txBody>
      </p:sp>
      <p:sp>
        <p:nvSpPr>
          <p:cNvPr id="8" name="Rounded Rectangle 7">
            <a:extLst>
              <a:ext uri="{FF2B5EF4-FFF2-40B4-BE49-F238E27FC236}">
                <a16:creationId xmlns:a16="http://schemas.microsoft.com/office/drawing/2014/main" id="{D2DEE9FA-A444-440D-B9EC-4568849FCEDD}"/>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5E2B186-5E0C-47B5-8F7B-C775F6D95A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ALL INCLUDED FINE-CELL COMPARISONS</a:t>
            </a:r>
          </a:p>
        </p:txBody>
      </p:sp>
      <p:sp>
        <p:nvSpPr>
          <p:cNvPr id="10" name="TextBox 9">
            <a:extLst>
              <a:ext uri="{FF2B5EF4-FFF2-40B4-BE49-F238E27FC236}">
                <a16:creationId xmlns:a16="http://schemas.microsoft.com/office/drawing/2014/main" id="{E927D0C2-C1BB-44DE-94D7-B63E61AAD4D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16.5 MitoCarta MT DEGs</a:t>
            </a:r>
          </a:p>
        </p:txBody>
      </p:sp>
      <p:sp>
        <p:nvSpPr>
          <p:cNvPr id="11" name="TextBox 10">
            <a:extLst>
              <a:ext uri="{FF2B5EF4-FFF2-40B4-BE49-F238E27FC236}">
                <a16:creationId xmlns:a16="http://schemas.microsoft.com/office/drawing/2014/main" id="{7B2BB62E-46AF-4ACF-B00A-E6BF7669316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overall median shows how unusual the male ε2 DEG-set size was.</a:t>
            </a:r>
          </a:p>
        </p:txBody>
      </p:sp>
      <p:sp>
        <p:nvSpPr>
          <p:cNvPr id="12" name="Rounded Rectangle 11">
            <a:extLst>
              <a:ext uri="{FF2B5EF4-FFF2-40B4-BE49-F238E27FC236}">
                <a16:creationId xmlns:a16="http://schemas.microsoft.com/office/drawing/2014/main" id="{65F6F61B-5B86-4ED5-B8F5-5A13FAEC2D31}"/>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0B7689-4FA7-48F5-9F40-9D61578285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D7A8BAE3-2CF9-4C3A-8F56-DE08415FB22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matched DEG result</a:t>
            </a:r>
          </a:p>
        </p:txBody>
      </p:sp>
      <p:sp>
        <p:nvSpPr>
          <p:cNvPr id="15" name="TextBox 14">
            <a:extLst>
              <a:ext uri="{FF2B5EF4-FFF2-40B4-BE49-F238E27FC236}">
                <a16:creationId xmlns:a16="http://schemas.microsoft.com/office/drawing/2014/main" id="{C90626B7-0775-4368-BF4A-E28B97D6014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matched male ε2 fine-cell DEG result was available, so SEA-AD adds no evidence in either direction.</a:t>
            </a:r>
          </a:p>
        </p:txBody>
      </p:sp>
      <p:sp>
        <p:nvSpPr>
          <p:cNvPr id="16" name="Rounded Rectangle 15">
            <a:extLst>
              <a:ext uri="{FF2B5EF4-FFF2-40B4-BE49-F238E27FC236}">
                <a16:creationId xmlns:a16="http://schemas.microsoft.com/office/drawing/2014/main" id="{05306AF1-7D7C-4CF2-B3B2-D39FE71A3E60}"/>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24E6BE-8240-49F9-A3F0-81F96F86B214}"/>
              </a:ext>
            </a:extLst>
          </p:cNvPr>
          <p:cNvSpPr>
            <a:spLocks noGrp="1"/>
          </p:cNvSpPr>
          <p:nvPr/>
        </p:nvSpPr>
        <p:spPr>
          <a:xfrm>
            <a:off x="896112" y="5888736"/>
            <a:ext cx="10405872" cy="3992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Larger DEG sets can produce more DEG occurrences across fine-cell comparisons. This does not change the direction percentages on the preceding slide.</a:t>
            </a:r>
          </a:p>
        </p:txBody>
      </p:sp>
    </p:spTree>
    <p:extLst>
      <p:ext uri="{BB962C8B-B14F-4D97-AF65-F5344CB8AC3E}">
        <p14:creationId xmlns:p14="http://schemas.microsoft.com/office/powerpoint/2010/main" val="204554098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1EA402-C5A0-4E1B-B43F-EED1CD22F6C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molecular direction does not directly equal inherited risk</a:t>
            </a:r>
          </a:p>
        </p:txBody>
      </p:sp>
      <p:sp>
        <p:nvSpPr>
          <p:cNvPr id="3" name="TextBox 2">
            <a:extLst>
              <a:ext uri="{FF2B5EF4-FFF2-40B4-BE49-F238E27FC236}">
                <a16:creationId xmlns:a16="http://schemas.microsoft.com/office/drawing/2014/main" id="{067D81D1-DE61-49CF-B923-71CE71FBCB8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downward OXPHOS pattern could reflect respiratory reduction, altered cell state, or selective survival.</a:t>
            </a:r>
          </a:p>
        </p:txBody>
      </p:sp>
      <p:sp>
        <p:nvSpPr>
          <p:cNvPr id="4" name="Rounded Rectangle 3">
            <a:extLst>
              <a:ext uri="{FF2B5EF4-FFF2-40B4-BE49-F238E27FC236}">
                <a16:creationId xmlns:a16="http://schemas.microsoft.com/office/drawing/2014/main" id="{011FB5E7-B20B-4700-B4B3-EC4194685D75}"/>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6C5AD6E-D080-4D27-AFE6-E57173C9CCD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POPULATION GENETICS</a:t>
            </a:r>
          </a:p>
        </p:txBody>
      </p:sp>
      <p:sp>
        <p:nvSpPr>
          <p:cNvPr id="6" name="TextBox 5">
            <a:extLst>
              <a:ext uri="{FF2B5EF4-FFF2-40B4-BE49-F238E27FC236}">
                <a16:creationId xmlns:a16="http://schemas.microsoft.com/office/drawing/2014/main" id="{9DCBD8C7-6EF5-4D51-A91D-4C2BE9AFFAE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ε2 lowers average AD risk</a:t>
            </a:r>
          </a:p>
        </p:txBody>
      </p:sp>
      <p:sp>
        <p:nvSpPr>
          <p:cNvPr id="7" name="TextBox 6">
            <a:extLst>
              <a:ext uri="{FF2B5EF4-FFF2-40B4-BE49-F238E27FC236}">
                <a16:creationId xmlns:a16="http://schemas.microsoft.com/office/drawing/2014/main" id="{881A60AA-37D5-4EAD-AA8D-B931443EB1C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Risk protection does not predict every molecular state after disease develops.</a:t>
            </a:r>
          </a:p>
        </p:txBody>
      </p:sp>
      <p:sp>
        <p:nvSpPr>
          <p:cNvPr id="8" name="Rounded Rectangle 7">
            <a:extLst>
              <a:ext uri="{FF2B5EF4-FFF2-40B4-BE49-F238E27FC236}">
                <a16:creationId xmlns:a16="http://schemas.microsoft.com/office/drawing/2014/main" id="{6B2AE7DB-C180-4953-A160-763D03A4508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F2C5F2C-F92E-4969-B5FF-EFC20A09DA8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TISSUE BIOLOGY</a:t>
            </a:r>
          </a:p>
        </p:txBody>
      </p:sp>
      <p:sp>
        <p:nvSpPr>
          <p:cNvPr id="10" name="TextBox 9">
            <a:extLst>
              <a:ext uri="{FF2B5EF4-FFF2-40B4-BE49-F238E27FC236}">
                <a16:creationId xmlns:a16="http://schemas.microsoft.com/office/drawing/2014/main" id="{4257C55A-E6B2-47C9-848A-CFBFA9DC333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Surviving cells may differ</a:t>
            </a:r>
          </a:p>
        </p:txBody>
      </p:sp>
      <p:sp>
        <p:nvSpPr>
          <p:cNvPr id="11" name="TextBox 10">
            <a:extLst>
              <a:ext uri="{FF2B5EF4-FFF2-40B4-BE49-F238E27FC236}">
                <a16:creationId xmlns:a16="http://schemas.microsoft.com/office/drawing/2014/main" id="{F5AFB380-15C5-4EF8-AEE9-52CA21D4B29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observed nuclei may represent cells that persist under a particular disease state.</a:t>
            </a:r>
          </a:p>
        </p:txBody>
      </p:sp>
      <p:sp>
        <p:nvSpPr>
          <p:cNvPr id="12" name="Rounded Rectangle 11">
            <a:extLst>
              <a:ext uri="{FF2B5EF4-FFF2-40B4-BE49-F238E27FC236}">
                <a16:creationId xmlns:a16="http://schemas.microsoft.com/office/drawing/2014/main" id="{D168868F-90BB-4DF9-B31E-58060BC6C9F8}"/>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A567D2E-D3C8-4434-AF52-FAF6402709B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DEG INTERPRETATION</a:t>
            </a:r>
          </a:p>
        </p:txBody>
      </p:sp>
      <p:sp>
        <p:nvSpPr>
          <p:cNvPr id="14" name="TextBox 13">
            <a:extLst>
              <a:ext uri="{FF2B5EF4-FFF2-40B4-BE49-F238E27FC236}">
                <a16:creationId xmlns:a16="http://schemas.microsoft.com/office/drawing/2014/main" id="{276D68BD-1C7A-4A2D-A6ED-68F1E132DCAB}"/>
              </a:ext>
            </a:extLst>
          </p:cNvPr>
          <p:cNvSpPr>
            <a:spLocks noGrp="1"/>
          </p:cNvSpPr>
          <p:nvPr/>
        </p:nvSpPr>
        <p:spPr>
          <a:xfrm>
            <a:off x="8522208" y="2176272"/>
            <a:ext cx="2907792" cy="78638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not function</a:t>
            </a:r>
          </a:p>
        </p:txBody>
      </p:sp>
      <p:sp>
        <p:nvSpPr>
          <p:cNvPr id="15" name="TextBox 14">
            <a:extLst>
              <a:ext uri="{FF2B5EF4-FFF2-40B4-BE49-F238E27FC236}">
                <a16:creationId xmlns:a16="http://schemas.microsoft.com/office/drawing/2014/main" id="{7D52DBC3-B64D-4B83-982C-4BC0804328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gene expression does not by itself show lower respiration, ATP production, or mitochondrial fitness.</a:t>
            </a:r>
          </a:p>
        </p:txBody>
      </p:sp>
      <p:sp>
        <p:nvSpPr>
          <p:cNvPr id="16" name="Rounded Rectangle 15">
            <a:extLst>
              <a:ext uri="{FF2B5EF4-FFF2-40B4-BE49-F238E27FC236}">
                <a16:creationId xmlns:a16="http://schemas.microsoft.com/office/drawing/2014/main" id="{492E22EF-A767-4394-AB9C-6A374B84A56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3BA675F-8177-4E3B-A875-82424698D527}"/>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87659E-1E7C-4EAF-BEA0-DF9393F5C275}"/>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coordinated DEG decrease is biologically interesting and needs protein or functional follow-up.</a:t>
            </a:r>
          </a:p>
        </p:txBody>
      </p:sp>
    </p:spTree>
    <p:extLst>
      <p:ext uri="{BB962C8B-B14F-4D97-AF65-F5344CB8AC3E}">
        <p14:creationId xmlns:p14="http://schemas.microsoft.com/office/powerpoint/2010/main" val="190479479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EECCD3-32E9-4799-B078-0328186A382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5</a:t>
            </a:r>
          </a:p>
        </p:txBody>
      </p:sp>
      <p:sp>
        <p:nvSpPr>
          <p:cNvPr id="3" name="TextBox 2">
            <a:extLst>
              <a:ext uri="{FF2B5EF4-FFF2-40B4-BE49-F238E27FC236}">
                <a16:creationId xmlns:a16="http://schemas.microsoft.com/office/drawing/2014/main" id="{B83245C9-1A4F-4159-A55B-06835EB2C15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EE309FE-2CC6-4645-81A1-9CA70B59ECC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D9CF9D7-C2B8-4D10-B60E-EBD8E3E4D12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F39FA4C9-46FF-4AF9-A8A0-9F057D7A6B47}"/>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E3BB55D8-B954-4C37-B212-71FDD0B75B2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9850BBF-2F52-401A-8F19-4C831D1C735E}"/>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population-level protection associated with ε2.</a:t>
            </a:r>
          </a:p>
        </p:txBody>
      </p:sp>
      <p:sp>
        <p:nvSpPr>
          <p:cNvPr id="9" name="TextBox 8">
            <a:extLst>
              <a:ext uri="{FF2B5EF4-FFF2-40B4-BE49-F238E27FC236}">
                <a16:creationId xmlns:a16="http://schemas.microsoft.com/office/drawing/2014/main" id="{2FC401E3-803C-46BE-8656-4375034AA84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946D9350-046E-4CC6-BA4A-B02DB049C1F4}"/>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predict the molecular state of diseased male ε2 cells.</a:t>
            </a:r>
          </a:p>
        </p:txBody>
      </p:sp>
      <p:sp>
        <p:nvSpPr>
          <p:cNvPr id="11" name="Rounded Rectangle 10">
            <a:extLst>
              <a:ext uri="{FF2B5EF4-FFF2-40B4-BE49-F238E27FC236}">
                <a16:creationId xmlns:a16="http://schemas.microsoft.com/office/drawing/2014/main" id="{F3D49414-E866-4051-8C1E-2CF5C9B0B5D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50ADC2B-B8E2-4CBD-8FD8-133E6FF0BAA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DCCF2D89-9588-4B41-AE19-2380E965678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Sex-specific AD networks</a:t>
            </a:r>
          </a:p>
        </p:txBody>
      </p:sp>
      <p:sp>
        <p:nvSpPr>
          <p:cNvPr id="14" name="TextBox 13">
            <a:extLst>
              <a:ext uri="{FF2B5EF4-FFF2-40B4-BE49-F238E27FC236}">
                <a16:creationId xmlns:a16="http://schemas.microsoft.com/office/drawing/2014/main" id="{B7F6D7F7-B557-4536-BF32-AB8C0AADCE78}"/>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DB25E9D-229E-4B2C-B4A3-C8816441955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sex-aware cell-resolved analysis.</a:t>
            </a:r>
          </a:p>
        </p:txBody>
      </p:sp>
      <p:sp>
        <p:nvSpPr>
          <p:cNvPr id="16" name="TextBox 15">
            <a:extLst>
              <a:ext uri="{FF2B5EF4-FFF2-40B4-BE49-F238E27FC236}">
                <a16:creationId xmlns:a16="http://schemas.microsoft.com/office/drawing/2014/main" id="{5FF9F344-78A9-4C9C-B23C-F5E2EF6EFCC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3559057-2595-45C1-8AF9-C068FC58D80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male ε2 decrease.</a:t>
            </a:r>
          </a:p>
        </p:txBody>
      </p:sp>
      <p:sp>
        <p:nvSpPr>
          <p:cNvPr id="18" name="Rounded Rectangle 17">
            <a:extLst>
              <a:ext uri="{FF2B5EF4-FFF2-40B4-BE49-F238E27FC236}">
                <a16:creationId xmlns:a16="http://schemas.microsoft.com/office/drawing/2014/main" id="{3440115D-D044-4790-A7C4-56C39B0C462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FD44C0-79A2-42FD-A8CD-CCE2A07859D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EB7DAED1-A768-40A3-B470-2623950E9D3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Cell-state heterogeneity</a:t>
            </a:r>
          </a:p>
        </p:txBody>
      </p:sp>
      <p:sp>
        <p:nvSpPr>
          <p:cNvPr id="21" name="TextBox 20">
            <a:extLst>
              <a:ext uri="{FF2B5EF4-FFF2-40B4-BE49-F238E27FC236}">
                <a16:creationId xmlns:a16="http://schemas.microsoft.com/office/drawing/2014/main" id="{DDEA53DF-F394-4E28-8387-CDB3D64F784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F1BF8061-0CE4-4A14-92B2-C14E1CCF93F8}"/>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Alzheimer’s responses differ among brain cell populations.</a:t>
            </a:r>
          </a:p>
        </p:txBody>
      </p:sp>
      <p:sp>
        <p:nvSpPr>
          <p:cNvPr id="23" name="TextBox 22">
            <a:extLst>
              <a:ext uri="{FF2B5EF4-FFF2-40B4-BE49-F238E27FC236}">
                <a16:creationId xmlns:a16="http://schemas.microsoft.com/office/drawing/2014/main" id="{A8F93BE3-227F-4761-ACCD-4E2651C422DC}"/>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E5E719CF-4F66-44AD-875C-18F417D3492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cannot independently validate this pattern.</a:t>
            </a:r>
          </a:p>
        </p:txBody>
      </p:sp>
      <p:sp>
        <p:nvSpPr>
          <p:cNvPr id="25" name="Rounded Rectangle 24">
            <a:extLst>
              <a:ext uri="{FF2B5EF4-FFF2-40B4-BE49-F238E27FC236}">
                <a16:creationId xmlns:a16="http://schemas.microsoft.com/office/drawing/2014/main" id="{DE86A240-4B7B-42CC-BD80-2A8B031010E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65DF215-5B13-44E3-9C3B-0D412781BBE1}"/>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077769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E19B05-BA8A-4AAD-8256-41950FD1AE8D}"/>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6</a:t>
            </a:r>
          </a:p>
        </p:txBody>
      </p:sp>
      <p:sp>
        <p:nvSpPr>
          <p:cNvPr id="3" name="Rectangle 2">
            <a:extLst>
              <a:ext uri="{FF2B5EF4-FFF2-40B4-BE49-F238E27FC236}">
                <a16:creationId xmlns:a16="http://schemas.microsoft.com/office/drawing/2014/main" id="{9C414A89-DDB8-42A0-9EC6-D293FB14A02B}"/>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6B6825F1-FF14-4CD5-96CA-6ADABC833E68}"/>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ε4 cells may show opposite core MT and nuclear-encoded OXPHOS directions</a:t>
            </a:r>
          </a:p>
        </p:txBody>
      </p:sp>
      <p:sp>
        <p:nvSpPr>
          <p:cNvPr id="5" name="TextBox 4">
            <a:extLst>
              <a:ext uri="{FF2B5EF4-FFF2-40B4-BE49-F238E27FC236}">
                <a16:creationId xmlns:a16="http://schemas.microsoft.com/office/drawing/2014/main" id="{5D9D1649-587C-4456-8166-A2187405784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Mitochondrial pathway finding based on DEGs.</a:t>
            </a:r>
          </a:p>
        </p:txBody>
      </p:sp>
      <p:sp>
        <p:nvSpPr>
          <p:cNvPr id="6" name="Rounded Rectangle 5">
            <a:extLst>
              <a:ext uri="{FF2B5EF4-FFF2-40B4-BE49-F238E27FC236}">
                <a16:creationId xmlns:a16="http://schemas.microsoft.com/office/drawing/2014/main" id="{33A304A7-B58D-4C4E-A99B-7833A7FA23F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BEE6627-F54D-4C1B-AE70-D3BFAE6C28A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651492E-D736-49FB-BB72-A69322B800B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B114C09-DD52-47D4-9524-99BEFDE7BF25}"/>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4D7426F-91F4-4023-8BA9-3061DDF9557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270CF31-5481-440D-B33F-BADDCF5D132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2C89362-138A-4072-BCF2-AC08AE17FC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7458DE17-7623-4714-9E30-190E103E7D8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1F52A3A3-A0C6-4294-A8A8-435411787E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1B79BF-C986-4D02-BD2E-C7260DE1D23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EBC224F-844D-49AA-8950-F906778CD2E8}"/>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CF549B9-704B-48D1-A9CC-6A29B7C9DD1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B7F4820-68C4-4DBF-8007-85F4C1EC83AD}"/>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5AE5697A-FEB6-42FE-8F43-0AB15C40E286}"/>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C4B01E0B-2F27-4747-ACB5-C2FD2A0C2721}"/>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F03B32E-B45F-4290-8A68-D9149DD4144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Core MT genes are mostly upregulated and nuclear-encoded OXPHOS genes are modestly downregulated, with mixed cross-cohort sensitivity.</a:t>
            </a:r>
          </a:p>
        </p:txBody>
      </p:sp>
    </p:spTree>
    <p:extLst>
      <p:ext uri="{BB962C8B-B14F-4D97-AF65-F5344CB8AC3E}">
        <p14:creationId xmlns:p14="http://schemas.microsoft.com/office/powerpoint/2010/main" val="119240730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F51D327-FE6B-4D0A-BADE-FE0B68D28D3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ε4 cells may show opposite directions in OXPHOS gene expression</a:t>
            </a:r>
          </a:p>
        </p:txBody>
      </p:sp>
      <p:sp>
        <p:nvSpPr>
          <p:cNvPr id="3" name="TextBox 2">
            <a:extLst>
              <a:ext uri="{FF2B5EF4-FFF2-40B4-BE49-F238E27FC236}">
                <a16:creationId xmlns:a16="http://schemas.microsoft.com/office/drawing/2014/main" id="{866E4AAE-C2DA-4F9B-94EA-3819FFE9643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direction split resembles male ε3/ε3, but the nuclear decrease is weaker and cross-cohort broad-cell evidence disagrees.</a:t>
            </a:r>
          </a:p>
        </p:txBody>
      </p:sp>
      <p:sp>
        <p:nvSpPr>
          <p:cNvPr id="4" name="Rounded Rectangle 3">
            <a:extLst>
              <a:ext uri="{FF2B5EF4-FFF2-40B4-BE49-F238E27FC236}">
                <a16:creationId xmlns:a16="http://schemas.microsoft.com/office/drawing/2014/main" id="{DBB05C66-5366-4F96-BB98-5A2B16F87ADC}"/>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6908346-AE80-496F-B440-A54BBFED468C}"/>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B9FD771D-AE09-4B06-B711-5406E8C28D3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1CD4C10-E134-428F-985D-8F02AF10B30D}"/>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D4E877AF-D3FE-4F76-B9A0-902C832EF70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EC5E80-C583-4798-9C40-FF744018F62B}"/>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Possible mismatch</a:t>
            </a:r>
          </a:p>
        </p:txBody>
      </p:sp>
      <p:sp>
        <p:nvSpPr>
          <p:cNvPr id="10" name="Rounded Rectangle 9">
            <a:extLst>
              <a:ext uri="{FF2B5EF4-FFF2-40B4-BE49-F238E27FC236}">
                <a16:creationId xmlns:a16="http://schemas.microsoft.com/office/drawing/2014/main" id="{CF923EF2-BD44-484F-9B6C-6EE0E7F4FD97}"/>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828C884-CF67-4323-BBA1-48B292856B1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Needs replication</a:t>
            </a:r>
          </a:p>
        </p:txBody>
      </p:sp>
      <p:sp>
        <p:nvSpPr>
          <p:cNvPr id="12" name="Rounded Rectangle 11">
            <a:extLst>
              <a:ext uri="{FF2B5EF4-FFF2-40B4-BE49-F238E27FC236}">
                <a16:creationId xmlns:a16="http://schemas.microsoft.com/office/drawing/2014/main" id="{019B40E9-BFC8-4286-BBE1-85E17BAD1A8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DDFE37A-0F2D-41E1-A604-F71E6B424F5F}"/>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E94F56C6-CAC0-4C2A-9D04-AB1C93AB477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87 of 110 up</a:t>
            </a:r>
          </a:p>
        </p:txBody>
      </p:sp>
      <p:sp>
        <p:nvSpPr>
          <p:cNvPr id="15" name="TextBox 14">
            <a:extLst>
              <a:ext uri="{FF2B5EF4-FFF2-40B4-BE49-F238E27FC236}">
                <a16:creationId xmlns:a16="http://schemas.microsoft.com/office/drawing/2014/main" id="{3B12252E-94C2-421D-B8E5-BC76C9CD82BE}"/>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Core MT gene expression mostly increases in AD.</a:t>
            </a:r>
          </a:p>
        </p:txBody>
      </p:sp>
      <p:sp>
        <p:nvSpPr>
          <p:cNvPr id="16" name="Rounded Rectangle 15">
            <a:extLst>
              <a:ext uri="{FF2B5EF4-FFF2-40B4-BE49-F238E27FC236}">
                <a16:creationId xmlns:a16="http://schemas.microsoft.com/office/drawing/2014/main" id="{9AFA687E-D246-4A14-8D2E-A6635ECDA8CD}"/>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7BF302F-CECB-4A9F-A24A-E027071673A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A2A1D15B-EA5F-477D-AF2B-21FB5A93F2A7}"/>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55 of 89 down</a:t>
            </a:r>
          </a:p>
        </p:txBody>
      </p:sp>
      <p:sp>
        <p:nvSpPr>
          <p:cNvPr id="19" name="TextBox 18">
            <a:extLst>
              <a:ext uri="{FF2B5EF4-FFF2-40B4-BE49-F238E27FC236}">
                <a16:creationId xmlns:a16="http://schemas.microsoft.com/office/drawing/2014/main" id="{A471FEAF-08F4-405F-9F71-ACEA3114684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gene expression tends to decrease, but less consistently.</a:t>
            </a:r>
          </a:p>
        </p:txBody>
      </p:sp>
      <p:sp>
        <p:nvSpPr>
          <p:cNvPr id="20" name="Rounded Rectangle 19">
            <a:extLst>
              <a:ext uri="{FF2B5EF4-FFF2-40B4-BE49-F238E27FC236}">
                <a16:creationId xmlns:a16="http://schemas.microsoft.com/office/drawing/2014/main" id="{127EC019-DEAF-4830-9BDF-E8FC4E5D6C9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01E40FA-D200-4AB8-9D14-C59E36BACC7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47AB25A-4A19-469E-B083-E1E9AECA12F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Weaker mismatch</a:t>
            </a:r>
          </a:p>
        </p:txBody>
      </p:sp>
      <p:sp>
        <p:nvSpPr>
          <p:cNvPr id="23" name="TextBox 22">
            <a:extLst>
              <a:ext uri="{FF2B5EF4-FFF2-40B4-BE49-F238E27FC236}">
                <a16:creationId xmlns:a16="http://schemas.microsoft.com/office/drawing/2014/main" id="{32530C92-1924-49DF-8A13-2600E990EAE4}"/>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two sides differ, but the evidence does not support a definitive mismatch claim.</a:t>
            </a:r>
          </a:p>
        </p:txBody>
      </p:sp>
      <p:sp>
        <p:nvSpPr>
          <p:cNvPr id="24" name="Rounded Rectangle 23">
            <a:extLst>
              <a:ext uri="{FF2B5EF4-FFF2-40B4-BE49-F238E27FC236}">
                <a16:creationId xmlns:a16="http://schemas.microsoft.com/office/drawing/2014/main" id="{EE73C825-D016-4226-86FF-B3C7A1275FE8}"/>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6847202D-DABD-49F6-9699-6502FC7A5C8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pattern is a provisional RNA-level hypothesis, not evidence of unbalanced respiratory proteins.</a:t>
            </a:r>
          </a:p>
        </p:txBody>
      </p:sp>
    </p:spTree>
    <p:extLst>
      <p:ext uri="{BB962C8B-B14F-4D97-AF65-F5344CB8AC3E}">
        <p14:creationId xmlns:p14="http://schemas.microsoft.com/office/powerpoint/2010/main" val="43849380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A58526-89F3-4E38-BF49-AEBBD936060E}"/>
              </a:ext>
            </a:extLst>
          </p:cNvPr>
          <p:cNvSpPr>
            <a:spLocks noGrp="1"/>
          </p:cNvSpPr>
          <p:nvPr/>
        </p:nvSpPr>
        <p:spPr>
          <a:xfrm>
            <a:off x="530352" y="292608"/>
            <a:ext cx="1106424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male ε4 shows clear core MT upregulation and modest nuclear-encoded OXPHOS downregulation</a:t>
            </a:r>
          </a:p>
        </p:txBody>
      </p:sp>
      <p:sp>
        <p:nvSpPr>
          <p:cNvPr id="3" name="TextBox 2">
            <a:extLst>
              <a:ext uri="{FF2B5EF4-FFF2-40B4-BE49-F238E27FC236}">
                <a16:creationId xmlns:a16="http://schemas.microsoft.com/office/drawing/2014/main" id="{ECFA4E0E-884F-4652-96F2-167C56BD9EE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nuclear direction is substantially less one-sided than in male ε3/ε3.</a:t>
            </a:r>
          </a:p>
        </p:txBody>
      </p:sp>
      <p:sp>
        <p:nvSpPr>
          <p:cNvPr id="4" name="Rounded Rectangle 3">
            <a:extLst>
              <a:ext uri="{FF2B5EF4-FFF2-40B4-BE49-F238E27FC236}">
                <a16:creationId xmlns:a16="http://schemas.microsoft.com/office/drawing/2014/main" id="{8839F25B-91B3-46BE-887D-E61B8C50F23C}"/>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C7138D0-B75E-406D-B74A-89AFB1B1331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110</a:t>
            </a:r>
          </a:p>
        </p:txBody>
      </p:sp>
      <p:sp>
        <p:nvSpPr>
          <p:cNvPr id="6" name="TextBox 5">
            <a:extLst>
              <a:ext uri="{FF2B5EF4-FFF2-40B4-BE49-F238E27FC236}">
                <a16:creationId xmlns:a16="http://schemas.microsoft.com/office/drawing/2014/main" id="{35317A91-B5E5-4086-970C-D8770C8A9AA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FB5B17FA-E20B-417B-B6BD-6FAEE0CBA6F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87 up, 23 down</a:t>
            </a:r>
          </a:p>
        </p:txBody>
      </p:sp>
      <p:sp>
        <p:nvSpPr>
          <p:cNvPr id="8" name="Rounded Rectangle 7">
            <a:extLst>
              <a:ext uri="{FF2B5EF4-FFF2-40B4-BE49-F238E27FC236}">
                <a16:creationId xmlns:a16="http://schemas.microsoft.com/office/drawing/2014/main" id="{5B61249A-9F51-456A-BDD9-B5D54681952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BDCA7DC-736C-442B-8A2B-26A895ECD84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89</a:t>
            </a:r>
          </a:p>
        </p:txBody>
      </p:sp>
      <p:sp>
        <p:nvSpPr>
          <p:cNvPr id="10" name="TextBox 9">
            <a:extLst>
              <a:ext uri="{FF2B5EF4-FFF2-40B4-BE49-F238E27FC236}">
                <a16:creationId xmlns:a16="http://schemas.microsoft.com/office/drawing/2014/main" id="{D30E1E56-4519-4229-853B-C5AC802C6F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1A25E093-3DDF-4EAE-9E85-E28645A8669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34 up, 55 down</a:t>
            </a:r>
          </a:p>
        </p:txBody>
      </p:sp>
      <p:sp>
        <p:nvSpPr>
          <p:cNvPr id="12" name="Rounded Rectangle 11">
            <a:extLst>
              <a:ext uri="{FF2B5EF4-FFF2-40B4-BE49-F238E27FC236}">
                <a16:creationId xmlns:a16="http://schemas.microsoft.com/office/drawing/2014/main" id="{D457E9F9-CA25-410E-B050-7D1E6E146DC3}"/>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D72DAD8-ADBF-4AAD-B91E-03EC7BC07290}"/>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11/13</a:t>
            </a:r>
          </a:p>
        </p:txBody>
      </p:sp>
      <p:sp>
        <p:nvSpPr>
          <p:cNvPr id="14" name="TextBox 13">
            <a:extLst>
              <a:ext uri="{FF2B5EF4-FFF2-40B4-BE49-F238E27FC236}">
                <a16:creationId xmlns:a16="http://schemas.microsoft.com/office/drawing/2014/main" id="{7CC83DB0-9BCF-47E2-8983-1478D16862E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excitatory fine types</a:t>
            </a:r>
          </a:p>
        </p:txBody>
      </p:sp>
      <p:sp>
        <p:nvSpPr>
          <p:cNvPr id="15" name="TextBox 14">
            <a:extLst>
              <a:ext uri="{FF2B5EF4-FFF2-40B4-BE49-F238E27FC236}">
                <a16:creationId xmlns:a16="http://schemas.microsoft.com/office/drawing/2014/main" id="{4EDDD363-790B-4679-91A8-652C214FE2A1}"/>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 enrichment</a:t>
            </a:r>
          </a:p>
        </p:txBody>
      </p:sp>
      <p:sp>
        <p:nvSpPr>
          <p:cNvPr id="16" name="Rounded Rectangle 15">
            <a:extLst>
              <a:ext uri="{FF2B5EF4-FFF2-40B4-BE49-F238E27FC236}">
                <a16:creationId xmlns:a16="http://schemas.microsoft.com/office/drawing/2014/main" id="{8B5F62F4-DC64-47A1-A18A-5FD88265ED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093E008-61D7-40F6-9A6F-BC2FF076758D}"/>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707857E-E969-4440-A759-25E1BA12442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79% up</a:t>
            </a:r>
          </a:p>
        </p:txBody>
      </p:sp>
      <p:sp>
        <p:nvSpPr>
          <p:cNvPr id="19" name="TextBox 18">
            <a:extLst>
              <a:ext uri="{FF2B5EF4-FFF2-40B4-BE49-F238E27FC236}">
                <a16:creationId xmlns:a16="http://schemas.microsoft.com/office/drawing/2014/main" id="{825E04B9-EB02-49C9-AD11-CA5CE1282DFD}"/>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Fifteen eligible KDA calls showed significant enrichment</a:t>
            </a:r>
          </a:p>
        </p:txBody>
      </p:sp>
      <p:sp>
        <p:nvSpPr>
          <p:cNvPr id="20" name="Rounded Rectangle 19">
            <a:extLst>
              <a:ext uri="{FF2B5EF4-FFF2-40B4-BE49-F238E27FC236}">
                <a16:creationId xmlns:a16="http://schemas.microsoft.com/office/drawing/2014/main" id="{1EEF9F57-B4FE-490B-8BD7-9C11F26EC805}"/>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7777A6-286D-4DA8-9447-43A8BD798CE7}"/>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426D93DF-FA27-484D-978D-B97329F1FB3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62% down</a:t>
            </a:r>
          </a:p>
        </p:txBody>
      </p:sp>
      <p:sp>
        <p:nvSpPr>
          <p:cNvPr id="23" name="TextBox 22">
            <a:extLst>
              <a:ext uri="{FF2B5EF4-FFF2-40B4-BE49-F238E27FC236}">
                <a16:creationId xmlns:a16="http://schemas.microsoft.com/office/drawing/2014/main" id="{FCF53A21-6035-4E39-BA20-E4B69FCE5D9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Only three eligible KDA calls showed significant enrichment</a:t>
            </a:r>
          </a:p>
        </p:txBody>
      </p:sp>
      <p:sp>
        <p:nvSpPr>
          <p:cNvPr id="24" name="Rounded Rectangle 23">
            <a:extLst>
              <a:ext uri="{FF2B5EF4-FFF2-40B4-BE49-F238E27FC236}">
                <a16:creationId xmlns:a16="http://schemas.microsoft.com/office/drawing/2014/main" id="{C35569EA-A504-4FEF-A234-A7B52E09A63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E2A3A88-02E2-4D5C-8DC6-503323D5E5C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Strength of split</a:t>
            </a:r>
          </a:p>
        </p:txBody>
      </p:sp>
      <p:sp>
        <p:nvSpPr>
          <p:cNvPr id="26" name="TextBox 25">
            <a:extLst>
              <a:ext uri="{FF2B5EF4-FFF2-40B4-BE49-F238E27FC236}">
                <a16:creationId xmlns:a16="http://schemas.microsoft.com/office/drawing/2014/main" id="{B161D71B-8C91-4EA5-AAFD-66B5A5D14474}"/>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Possible, not definitive</a:t>
            </a:r>
          </a:p>
        </p:txBody>
      </p:sp>
      <p:sp>
        <p:nvSpPr>
          <p:cNvPr id="27" name="TextBox 26">
            <a:extLst>
              <a:ext uri="{FF2B5EF4-FFF2-40B4-BE49-F238E27FC236}">
                <a16:creationId xmlns:a16="http://schemas.microsoft.com/office/drawing/2014/main" id="{323F2BA4-0FC2-4EFB-8919-5680A33994A4}"/>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nuclear side is too mixed to match the strength of Finding 2</a:t>
            </a:r>
          </a:p>
        </p:txBody>
      </p:sp>
    </p:spTree>
    <p:extLst>
      <p:ext uri="{BB962C8B-B14F-4D97-AF65-F5344CB8AC3E}">
        <p14:creationId xmlns:p14="http://schemas.microsoft.com/office/powerpoint/2010/main" val="23856528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B9C1982-3E55-4313-9CE5-CFD54282201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evidence agrees in ROSMAP but reverses in SEA-AD</a:t>
            </a:r>
          </a:p>
        </p:txBody>
      </p:sp>
      <p:sp>
        <p:nvSpPr>
          <p:cNvPr id="3" name="TextBox 2">
            <a:extLst>
              <a:ext uri="{FF2B5EF4-FFF2-40B4-BE49-F238E27FC236}">
                <a16:creationId xmlns:a16="http://schemas.microsoft.com/office/drawing/2014/main" id="{D5AA194A-7D48-410F-B140-EDD62AD58FB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Cross-resolution disagreement keeps the male ε4 mismatch provisional.</a:t>
            </a:r>
          </a:p>
        </p:txBody>
      </p:sp>
      <p:sp>
        <p:nvSpPr>
          <p:cNvPr id="4" name="Rounded Rectangle 3">
            <a:extLst>
              <a:ext uri="{FF2B5EF4-FFF2-40B4-BE49-F238E27FC236}">
                <a16:creationId xmlns:a16="http://schemas.microsoft.com/office/drawing/2014/main" id="{73F80850-1DD1-48CA-9C04-41340D4E44B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48C75F-F33A-4A18-9BE1-6D4E87512E5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ROSMAP EXCITATORY</a:t>
            </a:r>
          </a:p>
        </p:txBody>
      </p:sp>
      <p:sp>
        <p:nvSpPr>
          <p:cNvPr id="6" name="TextBox 5">
            <a:extLst>
              <a:ext uri="{FF2B5EF4-FFF2-40B4-BE49-F238E27FC236}">
                <a16:creationId xmlns:a16="http://schemas.microsoft.com/office/drawing/2014/main" id="{864C8E28-1A3C-4699-ADBE-859F3C0D8C9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+2.03 core MT NES</a:t>
            </a:r>
          </a:p>
        </p:txBody>
      </p:sp>
      <p:sp>
        <p:nvSpPr>
          <p:cNvPr id="7" name="TextBox 6">
            <a:extLst>
              <a:ext uri="{FF2B5EF4-FFF2-40B4-BE49-F238E27FC236}">
                <a16:creationId xmlns:a16="http://schemas.microsoft.com/office/drawing/2014/main" id="{03F655E6-FFC7-4631-970A-44D7AFB7CF6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core MT upregulation component survived composition adjustment.</a:t>
            </a:r>
          </a:p>
        </p:txBody>
      </p:sp>
      <p:sp>
        <p:nvSpPr>
          <p:cNvPr id="8" name="Rounded Rectangle 7">
            <a:extLst>
              <a:ext uri="{FF2B5EF4-FFF2-40B4-BE49-F238E27FC236}">
                <a16:creationId xmlns:a16="http://schemas.microsoft.com/office/drawing/2014/main" id="{7E6B98DB-8D6C-4CAB-BF4E-9C7F8346527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EE532F-578A-4EA2-8AA2-22F222211B6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EXCITATORY</a:t>
            </a:r>
          </a:p>
        </p:txBody>
      </p:sp>
      <p:sp>
        <p:nvSpPr>
          <p:cNvPr id="10" name="TextBox 9">
            <a:extLst>
              <a:ext uri="{FF2B5EF4-FFF2-40B4-BE49-F238E27FC236}">
                <a16:creationId xmlns:a16="http://schemas.microsoft.com/office/drawing/2014/main" id="{32654655-8723-4E99-BD57-5845AA5E34A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−1.72 nuclear NES</a:t>
            </a:r>
          </a:p>
        </p:txBody>
      </p:sp>
      <p:sp>
        <p:nvSpPr>
          <p:cNvPr id="11" name="TextBox 10">
            <a:extLst>
              <a:ext uri="{FF2B5EF4-FFF2-40B4-BE49-F238E27FC236}">
                <a16:creationId xmlns:a16="http://schemas.microsoft.com/office/drawing/2014/main" id="{D4FE3084-A79F-4FDE-8D72-2E973ED4F01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nuclear-down component also survived composition adjustment.</a:t>
            </a:r>
          </a:p>
        </p:txBody>
      </p:sp>
      <p:sp>
        <p:nvSpPr>
          <p:cNvPr id="12" name="Rounded Rectangle 11">
            <a:extLst>
              <a:ext uri="{FF2B5EF4-FFF2-40B4-BE49-F238E27FC236}">
                <a16:creationId xmlns:a16="http://schemas.microsoft.com/office/drawing/2014/main" id="{833837A4-38EF-47FE-AB96-23F07DD25D5A}"/>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5B039C5-F3B5-4569-B1E5-C8A190B4B19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14" name="TextBox 13">
            <a:extLst>
              <a:ext uri="{FF2B5EF4-FFF2-40B4-BE49-F238E27FC236}">
                <a16:creationId xmlns:a16="http://schemas.microsoft.com/office/drawing/2014/main" id="{E255F907-3726-4ED6-BA97-1B56DA232D5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+2.46 nuclear NES</a:t>
            </a:r>
          </a:p>
        </p:txBody>
      </p:sp>
      <p:sp>
        <p:nvSpPr>
          <p:cNvPr id="15" name="TextBox 14">
            <a:extLst>
              <a:ext uri="{FF2B5EF4-FFF2-40B4-BE49-F238E27FC236}">
                <a16:creationId xmlns:a16="http://schemas.microsoft.com/office/drawing/2014/main" id="{826F063C-28A4-4A84-B6BB-4F74EAADF36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SEA-AD showed the opposite nuclear direction and no active male ε4 fine-cell KDA query.</a:t>
            </a:r>
          </a:p>
        </p:txBody>
      </p:sp>
      <p:sp>
        <p:nvSpPr>
          <p:cNvPr id="16" name="Rounded Rectangle 15">
            <a:extLst>
              <a:ext uri="{FF2B5EF4-FFF2-40B4-BE49-F238E27FC236}">
                <a16:creationId xmlns:a16="http://schemas.microsoft.com/office/drawing/2014/main" id="{300DBFEC-3417-4C51-B020-FF44A48774A1}"/>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2029546-FCA5-418B-A6A9-3321BA3150B0}"/>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broad-cell mismatch is not robust across cohorts, and SEA-AD cannot test it at fine-cell KDA resolution.</a:t>
            </a:r>
          </a:p>
        </p:txBody>
      </p:sp>
    </p:spTree>
    <p:extLst>
      <p:ext uri="{BB962C8B-B14F-4D97-AF65-F5344CB8AC3E}">
        <p14:creationId xmlns:p14="http://schemas.microsoft.com/office/powerpoint/2010/main" val="10694160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05641A-583C-4992-BB25-C4C9E643239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mismatch outside ε3/ε3 would broaden the hypothesis</a:t>
            </a:r>
          </a:p>
        </p:txBody>
      </p:sp>
      <p:sp>
        <p:nvSpPr>
          <p:cNvPr id="3" name="TextBox 2">
            <a:extLst>
              <a:ext uri="{FF2B5EF4-FFF2-40B4-BE49-F238E27FC236}">
                <a16:creationId xmlns:a16="http://schemas.microsoft.com/office/drawing/2014/main" id="{58633844-E6EF-4BE9-970C-B818B8CC1EF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If confirmed, the split could represent a general male response or an APOE-dependent gradient.</a:t>
            </a:r>
          </a:p>
        </p:txBody>
      </p:sp>
      <p:sp>
        <p:nvSpPr>
          <p:cNvPr id="4" name="Rounded Rectangle 3">
            <a:extLst>
              <a:ext uri="{FF2B5EF4-FFF2-40B4-BE49-F238E27FC236}">
                <a16:creationId xmlns:a16="http://schemas.microsoft.com/office/drawing/2014/main" id="{FBF3FBD6-C6C0-4535-80F5-8E418D24ECCB}"/>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821D29E-021F-40F6-88D9-1738C9BDB4B9}"/>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COMPARISON</a:t>
            </a:r>
          </a:p>
        </p:txBody>
      </p:sp>
      <p:sp>
        <p:nvSpPr>
          <p:cNvPr id="6" name="TextBox 5">
            <a:extLst>
              <a:ext uri="{FF2B5EF4-FFF2-40B4-BE49-F238E27FC236}">
                <a16:creationId xmlns:a16="http://schemas.microsoft.com/office/drawing/2014/main" id="{9B95D7C0-68A2-44B6-8AE3-10803B0BEF7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to Finding 2</a:t>
            </a:r>
          </a:p>
        </p:txBody>
      </p:sp>
      <p:sp>
        <p:nvSpPr>
          <p:cNvPr id="7" name="TextBox 6">
            <a:extLst>
              <a:ext uri="{FF2B5EF4-FFF2-40B4-BE49-F238E27FC236}">
                <a16:creationId xmlns:a16="http://schemas.microsoft.com/office/drawing/2014/main" id="{3C634A4A-98EB-4C7E-90DD-E2FD0C6976C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findings place core MT genes upward and nuclear-encoded OXPHOS genes downward.</a:t>
            </a:r>
          </a:p>
        </p:txBody>
      </p:sp>
      <p:sp>
        <p:nvSpPr>
          <p:cNvPr id="8" name="Rounded Rectangle 7">
            <a:extLst>
              <a:ext uri="{FF2B5EF4-FFF2-40B4-BE49-F238E27FC236}">
                <a16:creationId xmlns:a16="http://schemas.microsoft.com/office/drawing/2014/main" id="{44A3155E-5365-4F5E-AFD2-554245C0600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A644B14-4140-4C64-8588-8E8B9A63FFF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DIFFERENCE</a:t>
            </a:r>
          </a:p>
        </p:txBody>
      </p:sp>
      <p:sp>
        <p:nvSpPr>
          <p:cNvPr id="10" name="TextBox 9">
            <a:extLst>
              <a:ext uri="{FF2B5EF4-FFF2-40B4-BE49-F238E27FC236}">
                <a16:creationId xmlns:a16="http://schemas.microsoft.com/office/drawing/2014/main" id="{97870FB4-2C51-4BE1-B022-2E22607B804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The ε4 split is weaker</a:t>
            </a:r>
          </a:p>
        </p:txBody>
      </p:sp>
      <p:sp>
        <p:nvSpPr>
          <p:cNvPr id="11" name="TextBox 10">
            <a:extLst>
              <a:ext uri="{FF2B5EF4-FFF2-40B4-BE49-F238E27FC236}">
                <a16:creationId xmlns:a16="http://schemas.microsoft.com/office/drawing/2014/main" id="{0917A412-A9D7-4B98-842E-4C1E412EED3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 component contains many more up occurrences than the male ε3/ε3 result.</a:t>
            </a:r>
          </a:p>
        </p:txBody>
      </p:sp>
      <p:sp>
        <p:nvSpPr>
          <p:cNvPr id="12" name="Rounded Rectangle 11">
            <a:extLst>
              <a:ext uri="{FF2B5EF4-FFF2-40B4-BE49-F238E27FC236}">
                <a16:creationId xmlns:a16="http://schemas.microsoft.com/office/drawing/2014/main" id="{20DB37EA-5442-450B-925E-213927510EE6}"/>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95C0462-B63B-42A0-A2F9-871984922E2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a:t>
            </a:r>
          </a:p>
        </p:txBody>
      </p:sp>
      <p:sp>
        <p:nvSpPr>
          <p:cNvPr id="14" name="TextBox 13">
            <a:extLst>
              <a:ext uri="{FF2B5EF4-FFF2-40B4-BE49-F238E27FC236}">
                <a16:creationId xmlns:a16="http://schemas.microsoft.com/office/drawing/2014/main" id="{4585C609-7948-4621-91F5-67CE7ED0E18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 comparisons are required</a:t>
            </a:r>
          </a:p>
        </p:txBody>
      </p:sp>
      <p:sp>
        <p:nvSpPr>
          <p:cNvPr id="15" name="TextBox 14">
            <a:extLst>
              <a:ext uri="{FF2B5EF4-FFF2-40B4-BE49-F238E27FC236}">
                <a16:creationId xmlns:a16="http://schemas.microsoft.com/office/drawing/2014/main" id="{0BBC561B-EB2C-4DFB-BD6D-952F4250608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Separate strata cannot distinguish a general male response from an APOE effect.</a:t>
            </a:r>
          </a:p>
        </p:txBody>
      </p:sp>
      <p:sp>
        <p:nvSpPr>
          <p:cNvPr id="16" name="Rounded Rectangle 15">
            <a:extLst>
              <a:ext uri="{FF2B5EF4-FFF2-40B4-BE49-F238E27FC236}">
                <a16:creationId xmlns:a16="http://schemas.microsoft.com/office/drawing/2014/main" id="{3D286636-188B-4CE3-950A-6F3D38DF3F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4682283-93A0-457E-86E4-942B19E5A046}"/>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3BAB5CC-C225-4EBE-BB90-009213F7E39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prespecified balance score would test the strength of the split directly across groups.</a:t>
            </a:r>
          </a:p>
        </p:txBody>
      </p:sp>
    </p:spTree>
    <p:extLst>
      <p:ext uri="{BB962C8B-B14F-4D97-AF65-F5344CB8AC3E}">
        <p14:creationId xmlns:p14="http://schemas.microsoft.com/office/powerpoint/2010/main" val="62028445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A2A71E9-ACDA-4765-A7F9-B0CEB1DF662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6</a:t>
            </a:r>
          </a:p>
        </p:txBody>
      </p:sp>
      <p:sp>
        <p:nvSpPr>
          <p:cNvPr id="3" name="TextBox 2">
            <a:extLst>
              <a:ext uri="{FF2B5EF4-FFF2-40B4-BE49-F238E27FC236}">
                <a16:creationId xmlns:a16="http://schemas.microsoft.com/office/drawing/2014/main" id="{48F05558-F943-4C0C-9C78-73E3EBC443D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0C903E9D-C867-4E6D-B6F1-2D65D2917DF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7AE226-23F7-4507-B0B8-8C300C84E9AE}"/>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CE5FF710-8136-46D7-B9C6-284FD0953E34}"/>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ε4 risk</a:t>
            </a:r>
          </a:p>
        </p:txBody>
      </p:sp>
      <p:sp>
        <p:nvSpPr>
          <p:cNvPr id="7" name="TextBox 6">
            <a:extLst>
              <a:ext uri="{FF2B5EF4-FFF2-40B4-BE49-F238E27FC236}">
                <a16:creationId xmlns:a16="http://schemas.microsoft.com/office/drawing/2014/main" id="{BE9C768D-62BE-407B-828D-D02B15976982}"/>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9BAE84CC-1156-45D1-B3EC-2DE3677830A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ε4 as a major common risk allele for late-onset AD.</a:t>
            </a:r>
          </a:p>
        </p:txBody>
      </p:sp>
      <p:sp>
        <p:nvSpPr>
          <p:cNvPr id="9" name="TextBox 8">
            <a:extLst>
              <a:ext uri="{FF2B5EF4-FFF2-40B4-BE49-F238E27FC236}">
                <a16:creationId xmlns:a16="http://schemas.microsoft.com/office/drawing/2014/main" id="{86212FEB-C905-4023-B4CE-3E39222AAF43}"/>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DF6AFE-5D1D-4221-BE74-25CA572331ED}"/>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Risk association does not validate the gene-expression mismatch.</a:t>
            </a:r>
          </a:p>
        </p:txBody>
      </p:sp>
      <p:sp>
        <p:nvSpPr>
          <p:cNvPr id="11" name="Rounded Rectangle 10">
            <a:extLst>
              <a:ext uri="{FF2B5EF4-FFF2-40B4-BE49-F238E27FC236}">
                <a16:creationId xmlns:a16="http://schemas.microsoft.com/office/drawing/2014/main" id="{FA5A70B5-ED40-4A94-9C96-69CF00AAD1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619859B-7770-4E65-9610-E6F7B16750F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A6B440C9-AFA2-4622-B717-DF2B9BEE1DDA}"/>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mitochondrial biology</a:t>
            </a:r>
          </a:p>
        </p:txBody>
      </p:sp>
      <p:sp>
        <p:nvSpPr>
          <p:cNvPr id="14" name="TextBox 13">
            <a:extLst>
              <a:ext uri="{FF2B5EF4-FFF2-40B4-BE49-F238E27FC236}">
                <a16:creationId xmlns:a16="http://schemas.microsoft.com/office/drawing/2014/main" id="{20C1216D-627E-4BAF-93EC-FF63B2D2A9AB}"/>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F7CF12F-A69F-4AE5-8842-F672880271B2}"/>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APOE4 can alter mitochondrial homeostasis.</a:t>
            </a:r>
          </a:p>
        </p:txBody>
      </p:sp>
      <p:sp>
        <p:nvSpPr>
          <p:cNvPr id="16" name="TextBox 15">
            <a:extLst>
              <a:ext uri="{FF2B5EF4-FFF2-40B4-BE49-F238E27FC236}">
                <a16:creationId xmlns:a16="http://schemas.microsoft.com/office/drawing/2014/main" id="{D60C0674-C91F-4F95-B95A-6EDEAF6B2D83}"/>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DFEF089C-4CF8-487F-BC4B-57340E96F36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astrocyte models rather than this male cell context.</a:t>
            </a:r>
          </a:p>
        </p:txBody>
      </p:sp>
      <p:sp>
        <p:nvSpPr>
          <p:cNvPr id="18" name="Rounded Rectangle 17">
            <a:extLst>
              <a:ext uri="{FF2B5EF4-FFF2-40B4-BE49-F238E27FC236}">
                <a16:creationId xmlns:a16="http://schemas.microsoft.com/office/drawing/2014/main" id="{087EB3B4-9294-4423-B7F0-8277CEE7876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7CBDB310-912D-46D4-9AA6-6CD32DDC683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B57CC57B-E52D-4903-8DEE-48C40C4A2597}"/>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networks</a:t>
            </a:r>
          </a:p>
        </p:txBody>
      </p:sp>
      <p:sp>
        <p:nvSpPr>
          <p:cNvPr id="21" name="TextBox 20">
            <a:extLst>
              <a:ext uri="{FF2B5EF4-FFF2-40B4-BE49-F238E27FC236}">
                <a16:creationId xmlns:a16="http://schemas.microsoft.com/office/drawing/2014/main" id="{517E81FA-421A-4304-A594-F165D93BA2F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209B394-6AA7-4AE2-B249-1B9166E9C76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testing Alzheimer’s molecular patterns separately by sex.</a:t>
            </a:r>
          </a:p>
        </p:txBody>
      </p:sp>
      <p:sp>
        <p:nvSpPr>
          <p:cNvPr id="23" name="TextBox 22">
            <a:extLst>
              <a:ext uri="{FF2B5EF4-FFF2-40B4-BE49-F238E27FC236}">
                <a16:creationId xmlns:a16="http://schemas.microsoft.com/office/drawing/2014/main" id="{C90C4C24-932F-41F6-B2ED-490C4F59A28D}"/>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4A7C164-EF61-40AF-86A9-58D75AA0F8B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male ε4 mitonuclear split.</a:t>
            </a:r>
          </a:p>
        </p:txBody>
      </p:sp>
      <p:sp>
        <p:nvSpPr>
          <p:cNvPr id="25" name="Rounded Rectangle 24">
            <a:extLst>
              <a:ext uri="{FF2B5EF4-FFF2-40B4-BE49-F238E27FC236}">
                <a16:creationId xmlns:a16="http://schemas.microsoft.com/office/drawing/2014/main" id="{AF22BE5D-53D8-4A84-8D39-F3A1BF013D0F}"/>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CE44620-9CD4-47D3-984A-8DA730CB5F6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6955689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30096C-D55D-4ABE-BE88-C387D0BC82F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7</a:t>
            </a:r>
          </a:p>
        </p:txBody>
      </p:sp>
      <p:sp>
        <p:nvSpPr>
          <p:cNvPr id="3" name="Rectangle 2">
            <a:extLst>
              <a:ext uri="{FF2B5EF4-FFF2-40B4-BE49-F238E27FC236}">
                <a16:creationId xmlns:a16="http://schemas.microsoft.com/office/drawing/2014/main" id="{07B0CE75-22FC-4100-8313-E4706E44D4A7}"/>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C3C69431-9FF7-455D-B05B-FDEFC565A9F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 cytosolic-ribosome module repeatedly connects to nuclear-encoded OXPHOS genes</a:t>
            </a:r>
          </a:p>
        </p:txBody>
      </p:sp>
      <p:sp>
        <p:nvSpPr>
          <p:cNvPr id="5" name="TextBox 4">
            <a:extLst>
              <a:ext uri="{FF2B5EF4-FFF2-40B4-BE49-F238E27FC236}">
                <a16:creationId xmlns:a16="http://schemas.microsoft.com/office/drawing/2014/main" id="{F8D6A132-DA96-4B45-A6C1-D185F88F3AA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network-module finding.</a:t>
            </a:r>
          </a:p>
        </p:txBody>
      </p:sp>
      <p:sp>
        <p:nvSpPr>
          <p:cNvPr id="6" name="Rounded Rectangle 5">
            <a:extLst>
              <a:ext uri="{FF2B5EF4-FFF2-40B4-BE49-F238E27FC236}">
                <a16:creationId xmlns:a16="http://schemas.microsoft.com/office/drawing/2014/main" id="{5E0DD4EE-16C5-4B5E-8D67-C37838FD31D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992BAB1-4CF7-49F2-A7F6-F7C44F5441D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D2E195A-3D64-4006-9A64-A4891184F27E}"/>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DFA596-292D-43DA-A9B2-AC8E7D6DCF6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4A5EBE7-AA63-4C62-B3E7-BE1548BF254A}"/>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D94ECA2-C6DC-47D4-A59B-8706C781052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636E218-D1FF-479C-B0D8-E316DCA8565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538101FC-12F6-4201-B4F7-40718E74E9F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3949646-4552-4DCA-8126-1D1729BF38F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CD2DD9D-3B14-4251-A7B1-CDF917C0999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4557481F-5C9A-45C6-B1DC-49C44F3B9F5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3ABF24A2-A5FD-43C9-9B7C-7067C81CCBD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634772-17BE-4470-B29B-9F033C6E0A2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E70C0E51-8788-4D9D-BD42-EE7F7D56DFD1}"/>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BA88BDA-1487-4601-96AB-7683EE0DB8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022C60-AB20-43D1-B804-5E0878689463}"/>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RPL11, RPS15, and related cytosolic ribosome genes recur near nuclear-encoded OXPHOS query genes.</a:t>
            </a:r>
          </a:p>
        </p:txBody>
      </p:sp>
    </p:spTree>
    <p:extLst>
      <p:ext uri="{BB962C8B-B14F-4D97-AF65-F5344CB8AC3E}">
        <p14:creationId xmlns:p14="http://schemas.microsoft.com/office/powerpoint/2010/main" val="136029703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DFBB544-D8F6-4A23-8F92-A0EF20B5404B}"/>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Cytosolic ribosome genes repeatedly connect to nuclear-encoded OXPHOS query genes</a:t>
            </a:r>
          </a:p>
        </p:txBody>
      </p:sp>
      <p:sp>
        <p:nvSpPr>
          <p:cNvPr id="3" name="TextBox 2">
            <a:extLst>
              <a:ext uri="{FF2B5EF4-FFF2-40B4-BE49-F238E27FC236}">
                <a16:creationId xmlns:a16="http://schemas.microsoft.com/office/drawing/2014/main" id="{F5F948E9-1AF0-4521-BF33-5C488EBD0DF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cytosolic ribosome builds most cellular proteins. The signal is more credible as one module than as 20 independent genes returned from KDA calls.</a:t>
            </a:r>
          </a:p>
        </p:txBody>
      </p:sp>
      <p:sp>
        <p:nvSpPr>
          <p:cNvPr id="4" name="Rounded Rectangle 3">
            <a:extLst>
              <a:ext uri="{FF2B5EF4-FFF2-40B4-BE49-F238E27FC236}">
                <a16:creationId xmlns:a16="http://schemas.microsoft.com/office/drawing/2014/main" id="{7B5F358A-4756-4D54-A5C1-0832FF4DB8B9}"/>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F618BE8-344B-4EF7-BC67-F133103B2DD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20 ribosome genes</a:t>
            </a:r>
          </a:p>
        </p:txBody>
      </p:sp>
      <p:sp>
        <p:nvSpPr>
          <p:cNvPr id="6" name="Rounded Rectangle 5">
            <a:extLst>
              <a:ext uri="{FF2B5EF4-FFF2-40B4-BE49-F238E27FC236}">
                <a16:creationId xmlns:a16="http://schemas.microsoft.com/office/drawing/2014/main" id="{E89E6262-E83F-468C-B5C3-934B522C060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02F4112-022A-4367-9B1E-F8B0600D2E8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19 categories</a:t>
            </a:r>
          </a:p>
        </p:txBody>
      </p:sp>
      <p:sp>
        <p:nvSpPr>
          <p:cNvPr id="8" name="Rounded Rectangle 7">
            <a:extLst>
              <a:ext uri="{FF2B5EF4-FFF2-40B4-BE49-F238E27FC236}">
                <a16:creationId xmlns:a16="http://schemas.microsoft.com/office/drawing/2014/main" id="{9F478587-B06E-4AAE-AD39-1B83458A175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447518-AEF0-4634-A75A-F701EB75319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RPL11 and RPS15</a:t>
            </a:r>
          </a:p>
        </p:txBody>
      </p:sp>
      <p:sp>
        <p:nvSpPr>
          <p:cNvPr id="10" name="Rounded Rectangle 9">
            <a:extLst>
              <a:ext uri="{FF2B5EF4-FFF2-40B4-BE49-F238E27FC236}">
                <a16:creationId xmlns:a16="http://schemas.microsoft.com/office/drawing/2014/main" id="{C1064A77-A287-4464-8DB0-F4D1D1C92B6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A360CBE-6388-4CE9-AD62-23D21E880FC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Module-level claim</a:t>
            </a:r>
          </a:p>
        </p:txBody>
      </p:sp>
      <p:sp>
        <p:nvSpPr>
          <p:cNvPr id="12" name="Rounded Rectangle 11">
            <a:extLst>
              <a:ext uri="{FF2B5EF4-FFF2-40B4-BE49-F238E27FC236}">
                <a16:creationId xmlns:a16="http://schemas.microsoft.com/office/drawing/2014/main" id="{7C4A4FEE-B5D0-4C1C-BC2A-C9D3CC159D54}"/>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29C9D1E-DFCA-49A2-B24F-8A510720E7DD}"/>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PROTEIN PRODUCTION</a:t>
            </a:r>
          </a:p>
        </p:txBody>
      </p:sp>
      <p:sp>
        <p:nvSpPr>
          <p:cNvPr id="14" name="TextBox 13">
            <a:extLst>
              <a:ext uri="{FF2B5EF4-FFF2-40B4-BE49-F238E27FC236}">
                <a16:creationId xmlns:a16="http://schemas.microsoft.com/office/drawing/2014/main" id="{6046503C-D1FF-484C-B6DD-48E57AB617F6}"/>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Cytosolic ribosome</a:t>
            </a:r>
          </a:p>
        </p:txBody>
      </p:sp>
      <p:sp>
        <p:nvSpPr>
          <p:cNvPr id="15" name="TextBox 14">
            <a:extLst>
              <a:ext uri="{FF2B5EF4-FFF2-40B4-BE49-F238E27FC236}">
                <a16:creationId xmlns:a16="http://schemas.microsoft.com/office/drawing/2014/main" id="{AF24597A-943C-4FBA-8507-31BB0E72E47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molecular machine builds most proteins outside mitochondria.</a:t>
            </a:r>
          </a:p>
        </p:txBody>
      </p:sp>
      <p:sp>
        <p:nvSpPr>
          <p:cNvPr id="16" name="Rounded Rectangle 15">
            <a:extLst>
              <a:ext uri="{FF2B5EF4-FFF2-40B4-BE49-F238E27FC236}">
                <a16:creationId xmlns:a16="http://schemas.microsoft.com/office/drawing/2014/main" id="{839150BF-0612-4C7E-8DE5-4D72DF1AC83E}"/>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CB9F65F-8DEB-4394-8293-29C490762A83}"/>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NETWORK NEIGHBORHOOD</a:t>
            </a:r>
          </a:p>
        </p:txBody>
      </p:sp>
      <p:sp>
        <p:nvSpPr>
          <p:cNvPr id="18" name="TextBox 17">
            <a:extLst>
              <a:ext uri="{FF2B5EF4-FFF2-40B4-BE49-F238E27FC236}">
                <a16:creationId xmlns:a16="http://schemas.microsoft.com/office/drawing/2014/main" id="{F2E56F0C-C337-4213-AF26-E3694C5C497C}"/>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BC256B-4C52-4B77-89A0-46093E677641}"/>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Many ribosomal genes returned from KDA calls sit near nuclear genes that encode respiratory parts.</a:t>
            </a:r>
          </a:p>
        </p:txBody>
      </p:sp>
      <p:sp>
        <p:nvSpPr>
          <p:cNvPr id="20" name="Rounded Rectangle 19">
            <a:extLst>
              <a:ext uri="{FF2B5EF4-FFF2-40B4-BE49-F238E27FC236}">
                <a16:creationId xmlns:a16="http://schemas.microsoft.com/office/drawing/2014/main" id="{E192E207-FA87-4FBB-8BF7-AC2FBF7243A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72387CA-D53D-43E0-BB76-1EA94052DE2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INTERPRETATION</a:t>
            </a:r>
          </a:p>
        </p:txBody>
      </p:sp>
      <p:sp>
        <p:nvSpPr>
          <p:cNvPr id="22" name="TextBox 21">
            <a:extLst>
              <a:ext uri="{FF2B5EF4-FFF2-40B4-BE49-F238E27FC236}">
                <a16:creationId xmlns:a16="http://schemas.microsoft.com/office/drawing/2014/main" id="{E7B1DBBA-A9DD-4A8A-9D9F-3C29084EB6F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recurrent module</a:t>
            </a:r>
          </a:p>
        </p:txBody>
      </p:sp>
      <p:sp>
        <p:nvSpPr>
          <p:cNvPr id="23" name="TextBox 22">
            <a:extLst>
              <a:ext uri="{FF2B5EF4-FFF2-40B4-BE49-F238E27FC236}">
                <a16:creationId xmlns:a16="http://schemas.microsoft.com/office/drawing/2014/main" id="{666C867F-9E8C-4E47-997A-A993B62C5C1D}"/>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Shared biology and network connectivity make the genes non-independent candidates.</a:t>
            </a:r>
          </a:p>
        </p:txBody>
      </p:sp>
      <p:sp>
        <p:nvSpPr>
          <p:cNvPr id="24" name="Rounded Rectangle 23">
            <a:extLst>
              <a:ext uri="{FF2B5EF4-FFF2-40B4-BE49-F238E27FC236}">
                <a16:creationId xmlns:a16="http://schemas.microsoft.com/office/drawing/2014/main" id="{86D1A0DC-0847-4936-9BD9-E2D13416701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698503D-46AA-46F9-AFE6-331ADBF5074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analysis prioritizes a ribosome-to-OXPHOS system, not 20 separate proven mitochondrial controllers.</a:t>
            </a:r>
          </a:p>
        </p:txBody>
      </p:sp>
    </p:spTree>
    <p:extLst>
      <p:ext uri="{BB962C8B-B14F-4D97-AF65-F5344CB8AC3E}">
        <p14:creationId xmlns:p14="http://schemas.microsoft.com/office/powerpoint/2010/main" val="121357190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03088E-7B7F-40A5-A318-955B4FE0003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cytosolic ribosome genes are strongly over-represented among genes returned from KDA calls</a:t>
            </a:r>
          </a:p>
        </p:txBody>
      </p:sp>
      <p:sp>
        <p:nvSpPr>
          <p:cNvPr id="3" name="TextBox 2">
            <a:extLst>
              <a:ext uri="{FF2B5EF4-FFF2-40B4-BE49-F238E27FC236}">
                <a16:creationId xmlns:a16="http://schemas.microsoft.com/office/drawing/2014/main" id="{04DDBCE3-B07A-4DD9-AFA8-CBAD55D2B79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enrichment test compares 228 unique non-MitoCarta genes returned from KDA calls with the exact network background.</a:t>
            </a:r>
          </a:p>
        </p:txBody>
      </p:sp>
      <p:sp>
        <p:nvSpPr>
          <p:cNvPr id="4" name="Rounded Rectangle 3">
            <a:extLst>
              <a:ext uri="{FF2B5EF4-FFF2-40B4-BE49-F238E27FC236}">
                <a16:creationId xmlns:a16="http://schemas.microsoft.com/office/drawing/2014/main" id="{070465E0-6370-475D-909C-DF9DE1A646C5}"/>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B9C1632-7C2F-4B62-B2DA-D1237A884F2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20/228</a:t>
            </a:r>
          </a:p>
        </p:txBody>
      </p:sp>
      <p:sp>
        <p:nvSpPr>
          <p:cNvPr id="6" name="TextBox 5">
            <a:extLst>
              <a:ext uri="{FF2B5EF4-FFF2-40B4-BE49-F238E27FC236}">
                <a16:creationId xmlns:a16="http://schemas.microsoft.com/office/drawing/2014/main" id="{B45BD6CB-3B2D-45FA-9C27-691CD049C09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returned genes in KEGG ribosome</a:t>
            </a:r>
          </a:p>
        </p:txBody>
      </p:sp>
      <p:sp>
        <p:nvSpPr>
          <p:cNvPr id="7" name="TextBox 6">
            <a:extLst>
              <a:ext uri="{FF2B5EF4-FFF2-40B4-BE49-F238E27FC236}">
                <a16:creationId xmlns:a16="http://schemas.microsoft.com/office/drawing/2014/main" id="{26B151A9-D7BA-4BBA-A3CD-5C614745396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8.8% of returned genes</a:t>
            </a:r>
          </a:p>
        </p:txBody>
      </p:sp>
      <p:sp>
        <p:nvSpPr>
          <p:cNvPr id="8" name="Rounded Rectangle 7">
            <a:extLst>
              <a:ext uri="{FF2B5EF4-FFF2-40B4-BE49-F238E27FC236}">
                <a16:creationId xmlns:a16="http://schemas.microsoft.com/office/drawing/2014/main" id="{18E7AB4F-91F3-4F21-A0E9-33F0E55BCC4B}"/>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BEC5A8B-0959-4C55-8BFE-AB540D794AA5}"/>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71/11,478</a:t>
            </a:r>
          </a:p>
        </p:txBody>
      </p:sp>
      <p:sp>
        <p:nvSpPr>
          <p:cNvPr id="10" name="TextBox 9">
            <a:extLst>
              <a:ext uri="{FF2B5EF4-FFF2-40B4-BE49-F238E27FC236}">
                <a16:creationId xmlns:a16="http://schemas.microsoft.com/office/drawing/2014/main" id="{76178430-4303-4D2F-AFC8-9EB6B75A56E2}"/>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ribosome genes in background</a:t>
            </a:r>
          </a:p>
        </p:txBody>
      </p:sp>
      <p:sp>
        <p:nvSpPr>
          <p:cNvPr id="11" name="TextBox 10">
            <a:extLst>
              <a:ext uri="{FF2B5EF4-FFF2-40B4-BE49-F238E27FC236}">
                <a16:creationId xmlns:a16="http://schemas.microsoft.com/office/drawing/2014/main" id="{36DA09F3-D6BA-4B92-B7B5-D214C36B1071}"/>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0.62% of background</a:t>
            </a:r>
          </a:p>
        </p:txBody>
      </p:sp>
      <p:sp>
        <p:nvSpPr>
          <p:cNvPr id="12" name="Rounded Rectangle 11">
            <a:extLst>
              <a:ext uri="{FF2B5EF4-FFF2-40B4-BE49-F238E27FC236}">
                <a16:creationId xmlns:a16="http://schemas.microsoft.com/office/drawing/2014/main" id="{B868E2BB-FEAE-47E4-95C6-3CF71804D14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2C19F39-395A-4FC9-999E-31EA61BC569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3.56 × 10⁻¹⁵</a:t>
            </a:r>
          </a:p>
        </p:txBody>
      </p:sp>
      <p:sp>
        <p:nvSpPr>
          <p:cNvPr id="14" name="TextBox 13">
            <a:extLst>
              <a:ext uri="{FF2B5EF4-FFF2-40B4-BE49-F238E27FC236}">
                <a16:creationId xmlns:a16="http://schemas.microsoft.com/office/drawing/2014/main" id="{5C6F3150-E512-4764-9B62-2F030B27B8D6}"/>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BH-adjusted enrichment</a:t>
            </a:r>
          </a:p>
        </p:txBody>
      </p:sp>
      <p:sp>
        <p:nvSpPr>
          <p:cNvPr id="15" name="TextBox 14">
            <a:extLst>
              <a:ext uri="{FF2B5EF4-FFF2-40B4-BE49-F238E27FC236}">
                <a16:creationId xmlns:a16="http://schemas.microsoft.com/office/drawing/2014/main" id="{C5479A13-DB3C-423D-A352-1DA9C260821E}"/>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one-sided hypergeometric</a:t>
            </a:r>
          </a:p>
        </p:txBody>
      </p:sp>
      <p:sp>
        <p:nvSpPr>
          <p:cNvPr id="16" name="Rounded Rectangle 15">
            <a:extLst>
              <a:ext uri="{FF2B5EF4-FFF2-40B4-BE49-F238E27FC236}">
                <a16:creationId xmlns:a16="http://schemas.microsoft.com/office/drawing/2014/main" id="{3527DFDE-BA14-4702-BCD8-C301A7AEB06E}"/>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21CF7D-A077-43C8-ACA9-72B49E036694}"/>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recurrence</a:t>
            </a:r>
          </a:p>
        </p:txBody>
      </p:sp>
      <p:sp>
        <p:nvSpPr>
          <p:cNvPr id="18" name="TextBox 17">
            <a:extLst>
              <a:ext uri="{FF2B5EF4-FFF2-40B4-BE49-F238E27FC236}">
                <a16:creationId xmlns:a16="http://schemas.microsoft.com/office/drawing/2014/main" id="{9BD0921F-6F38-4B9F-8885-64432A51DA65}"/>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19 of 29</a:t>
            </a:r>
          </a:p>
        </p:txBody>
      </p:sp>
      <p:sp>
        <p:nvSpPr>
          <p:cNvPr id="19" name="TextBox 18">
            <a:extLst>
              <a:ext uri="{FF2B5EF4-FFF2-40B4-BE49-F238E27FC236}">
                <a16:creationId xmlns:a16="http://schemas.microsoft.com/office/drawing/2014/main" id="{FF69B278-636A-4731-9D5B-E83CEE98A55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occur in 19 categories containing non-MitoCarta genes returned from KDA calls</a:t>
            </a:r>
          </a:p>
        </p:txBody>
      </p:sp>
      <p:sp>
        <p:nvSpPr>
          <p:cNvPr id="20" name="Rounded Rectangle 19">
            <a:extLst>
              <a:ext uri="{FF2B5EF4-FFF2-40B4-BE49-F238E27FC236}">
                <a16:creationId xmlns:a16="http://schemas.microsoft.com/office/drawing/2014/main" id="{27237102-88B2-4F21-8E41-73E22D11A1A8}"/>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4501BF3-DDC5-4C55-B9F7-27CADF7206C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units</a:t>
            </a:r>
          </a:p>
        </p:txBody>
      </p:sp>
      <p:sp>
        <p:nvSpPr>
          <p:cNvPr id="22" name="TextBox 21">
            <a:extLst>
              <a:ext uri="{FF2B5EF4-FFF2-40B4-BE49-F238E27FC236}">
                <a16:creationId xmlns:a16="http://schemas.microsoft.com/office/drawing/2014/main" id="{6803D6A2-450E-47B3-AFAC-1F54A320FDE1}"/>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70 of 381</a:t>
            </a:r>
          </a:p>
        </p:txBody>
      </p:sp>
      <p:sp>
        <p:nvSpPr>
          <p:cNvPr id="23" name="TextBox 22">
            <a:extLst>
              <a:ext uri="{FF2B5EF4-FFF2-40B4-BE49-F238E27FC236}">
                <a16:creationId xmlns:a16="http://schemas.microsoft.com/office/drawing/2014/main" id="{F3762E1C-DCD7-4394-9FCB-80052C34923A}"/>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18.4% of non-MitoCarta gene-by-category units</a:t>
            </a:r>
          </a:p>
        </p:txBody>
      </p:sp>
      <p:sp>
        <p:nvSpPr>
          <p:cNvPr id="24" name="Rounded Rectangle 23">
            <a:extLst>
              <a:ext uri="{FF2B5EF4-FFF2-40B4-BE49-F238E27FC236}">
                <a16:creationId xmlns:a16="http://schemas.microsoft.com/office/drawing/2014/main" id="{305784A7-FB06-45B2-91E0-70535D7D4D3F}"/>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1477520-6929-4135-B126-74E8CF9A7BF1}"/>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within each KDA call returns</a:t>
            </a:r>
          </a:p>
        </p:txBody>
      </p:sp>
      <p:sp>
        <p:nvSpPr>
          <p:cNvPr id="26" name="TextBox 25">
            <a:extLst>
              <a:ext uri="{FF2B5EF4-FFF2-40B4-BE49-F238E27FC236}">
                <a16:creationId xmlns:a16="http://schemas.microsoft.com/office/drawing/2014/main" id="{FAD1FA64-59DA-44CB-8DCE-1D0AAA93DBA0}"/>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133 of 623</a:t>
            </a:r>
          </a:p>
        </p:txBody>
      </p:sp>
      <p:sp>
        <p:nvSpPr>
          <p:cNvPr id="27" name="TextBox 26">
            <a:extLst>
              <a:ext uri="{FF2B5EF4-FFF2-40B4-BE49-F238E27FC236}">
                <a16:creationId xmlns:a16="http://schemas.microsoft.com/office/drawing/2014/main" id="{6259C5B6-DA10-404B-B8FF-6098C752DAF3}"/>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21.3% of non-MitoCarta genes returned from KDA calls</a:t>
            </a:r>
          </a:p>
        </p:txBody>
      </p:sp>
    </p:spTree>
    <p:extLst>
      <p:ext uri="{BB962C8B-B14F-4D97-AF65-F5344CB8AC3E}">
        <p14:creationId xmlns:p14="http://schemas.microsoft.com/office/powerpoint/2010/main" val="98465683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ECEB0D-82E5-4A68-A750-B6FFB744DF9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RPL11 and RPS15 anchor the recurrent ribosome module</a:t>
            </a:r>
          </a:p>
        </p:txBody>
      </p:sp>
      <p:sp>
        <p:nvSpPr>
          <p:cNvPr id="3" name="TextBox 2">
            <a:extLst>
              <a:ext uri="{FF2B5EF4-FFF2-40B4-BE49-F238E27FC236}">
                <a16:creationId xmlns:a16="http://schemas.microsoft.com/office/drawing/2014/main" id="{9C4B00F1-7172-4E70-B7A6-4FE0B604F0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RPL11 has a broad nuclear-encoded OXPHOS neighborhood, while RPS15 recurs across the most categories.</a:t>
            </a:r>
          </a:p>
        </p:txBody>
      </p:sp>
      <p:sp>
        <p:nvSpPr>
          <p:cNvPr id="4" name="Rounded Rectangle 3">
            <a:extLst>
              <a:ext uri="{FF2B5EF4-FFF2-40B4-BE49-F238E27FC236}">
                <a16:creationId xmlns:a16="http://schemas.microsoft.com/office/drawing/2014/main" id="{A94105D6-9B82-4584-9332-A1A86CF5C026}"/>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D41EB52-46A9-4F9F-8911-18CA06570A68}"/>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RPL11 RECURRENCE</a:t>
            </a:r>
          </a:p>
        </p:txBody>
      </p:sp>
      <p:sp>
        <p:nvSpPr>
          <p:cNvPr id="6" name="TextBox 5">
            <a:extLst>
              <a:ext uri="{FF2B5EF4-FFF2-40B4-BE49-F238E27FC236}">
                <a16:creationId xmlns:a16="http://schemas.microsoft.com/office/drawing/2014/main" id="{84FA191D-3DA5-4D7C-8A90-3A882FB297A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 KDA calls, 10 categories</a:t>
            </a:r>
          </a:p>
        </p:txBody>
      </p:sp>
      <p:sp>
        <p:nvSpPr>
          <p:cNvPr id="7" name="TextBox 6">
            <a:extLst>
              <a:ext uri="{FF2B5EF4-FFF2-40B4-BE49-F238E27FC236}">
                <a16:creationId xmlns:a16="http://schemas.microsoft.com/office/drawing/2014/main" id="{5C7198F6-4A48-4023-906E-67C94CAD07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KDA calls span all six strata and four broad networks.</a:t>
            </a:r>
          </a:p>
        </p:txBody>
      </p:sp>
      <p:sp>
        <p:nvSpPr>
          <p:cNvPr id="8" name="Rounded Rectangle 7">
            <a:extLst>
              <a:ext uri="{FF2B5EF4-FFF2-40B4-BE49-F238E27FC236}">
                <a16:creationId xmlns:a16="http://schemas.microsoft.com/office/drawing/2014/main" id="{BD8980A6-18D0-49D1-93F4-4D2C46CEFC19}"/>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6BAFD5-50B5-404C-B88E-7BE7ECB81A7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RPL11 NEIGHBORHOOD</a:t>
            </a:r>
          </a:p>
        </p:txBody>
      </p:sp>
      <p:sp>
        <p:nvSpPr>
          <p:cNvPr id="10" name="TextBox 9">
            <a:extLst>
              <a:ext uri="{FF2B5EF4-FFF2-40B4-BE49-F238E27FC236}">
                <a16:creationId xmlns:a16="http://schemas.microsoft.com/office/drawing/2014/main" id="{1FE26178-FBD9-48F2-88CD-95EE39996A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253 overlaps, 37 genes</a:t>
            </a:r>
          </a:p>
        </p:txBody>
      </p:sp>
      <p:sp>
        <p:nvSpPr>
          <p:cNvPr id="11" name="TextBox 10">
            <a:extLst>
              <a:ext uri="{FF2B5EF4-FFF2-40B4-BE49-F238E27FC236}">
                <a16:creationId xmlns:a16="http://schemas.microsoft.com/office/drawing/2014/main" id="{23309AD4-C1DB-40A5-B36C-B8B541EA27B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contributes 151 overlaps, including 100 AD-down occurrences.</a:t>
            </a:r>
          </a:p>
        </p:txBody>
      </p:sp>
      <p:sp>
        <p:nvSpPr>
          <p:cNvPr id="12" name="Rounded Rectangle 11">
            <a:extLst>
              <a:ext uri="{FF2B5EF4-FFF2-40B4-BE49-F238E27FC236}">
                <a16:creationId xmlns:a16="http://schemas.microsoft.com/office/drawing/2014/main" id="{DC5F9ACF-3048-4799-BFC7-1446758F7C58}"/>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751D64-CD33-4E47-B920-0DCC8F68C20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RPS15 RECURRENCE</a:t>
            </a:r>
          </a:p>
        </p:txBody>
      </p:sp>
      <p:sp>
        <p:nvSpPr>
          <p:cNvPr id="14" name="TextBox 13">
            <a:extLst>
              <a:ext uri="{FF2B5EF4-FFF2-40B4-BE49-F238E27FC236}">
                <a16:creationId xmlns:a16="http://schemas.microsoft.com/office/drawing/2014/main" id="{271013E1-5CAF-4208-8AD3-4CE6E39C89D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22 KDA calls, 11 categories</a:t>
            </a:r>
          </a:p>
        </p:txBody>
      </p:sp>
      <p:sp>
        <p:nvSpPr>
          <p:cNvPr id="15" name="TextBox 14">
            <a:extLst>
              <a:ext uri="{FF2B5EF4-FFF2-40B4-BE49-F238E27FC236}">
                <a16:creationId xmlns:a16="http://schemas.microsoft.com/office/drawing/2014/main" id="{1AE2C159-7217-451E-B2C5-CE86DDC2A68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RPS15 is the most broadly recurrent individual representative.</a:t>
            </a:r>
          </a:p>
        </p:txBody>
      </p:sp>
      <p:sp>
        <p:nvSpPr>
          <p:cNvPr id="16" name="Rounded Rectangle 15">
            <a:extLst>
              <a:ext uri="{FF2B5EF4-FFF2-40B4-BE49-F238E27FC236}">
                <a16:creationId xmlns:a16="http://schemas.microsoft.com/office/drawing/2014/main" id="{BECF2EDB-75A0-4EA0-936D-1D86C5C8B0D2}"/>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78829E4-8A6A-4094-9DD9-26775597AB03}"/>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Frequent RPL11 neighbors include COX7C, UQCRQ, NDUFS5, NDUFA1, ATP5PF, NDUFB9, and NDUFB3.</a:t>
            </a:r>
          </a:p>
        </p:txBody>
      </p:sp>
    </p:spTree>
    <p:extLst>
      <p:ext uri="{BB962C8B-B14F-4D97-AF65-F5344CB8AC3E}">
        <p14:creationId xmlns:p14="http://schemas.microsoft.com/office/powerpoint/2010/main" val="19244517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40BC72-964A-4CD2-B5F9-2B0F797DACE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cellular protein production may track mitochondrial respiratory stress</a:t>
            </a:r>
          </a:p>
        </p:txBody>
      </p:sp>
      <p:sp>
        <p:nvSpPr>
          <p:cNvPr id="3" name="TextBox 2">
            <a:extLst>
              <a:ext uri="{FF2B5EF4-FFF2-40B4-BE49-F238E27FC236}">
                <a16:creationId xmlns:a16="http://schemas.microsoft.com/office/drawing/2014/main" id="{3F8C7EFD-4F1B-431D-AAAE-56EE2E0D66F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Ribosome stress and OXPHOS changes can be biologically linked, but network topology offers a technical alternative.</a:t>
            </a:r>
          </a:p>
        </p:txBody>
      </p:sp>
      <p:sp>
        <p:nvSpPr>
          <p:cNvPr id="4" name="Rounded Rectangle 3">
            <a:extLst>
              <a:ext uri="{FF2B5EF4-FFF2-40B4-BE49-F238E27FC236}">
                <a16:creationId xmlns:a16="http://schemas.microsoft.com/office/drawing/2014/main" id="{9619287F-EE6E-41B9-AF6C-20A166E9058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A503887-5DA6-4131-95DF-76140003FFE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BIOLOGICAL MODEL</a:t>
            </a:r>
          </a:p>
        </p:txBody>
      </p:sp>
      <p:sp>
        <p:nvSpPr>
          <p:cNvPr id="6" name="TextBox 5">
            <a:extLst>
              <a:ext uri="{FF2B5EF4-FFF2-40B4-BE49-F238E27FC236}">
                <a16:creationId xmlns:a16="http://schemas.microsoft.com/office/drawing/2014/main" id="{38DF7140-D0BF-4FD4-BD8E-888370115E5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Translation and respiration are coupled</a:t>
            </a:r>
          </a:p>
        </p:txBody>
      </p:sp>
      <p:sp>
        <p:nvSpPr>
          <p:cNvPr id="7" name="TextBox 6">
            <a:extLst>
              <a:ext uri="{FF2B5EF4-FFF2-40B4-BE49-F238E27FC236}">
                <a16:creationId xmlns:a16="http://schemas.microsoft.com/office/drawing/2014/main" id="{F5DD6E54-2AB9-4B9D-9D36-74720FEFCEE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must produce nuclear-encoded OXPHOS proteins before respiratory complexes can assemble.</a:t>
            </a:r>
          </a:p>
        </p:txBody>
      </p:sp>
      <p:sp>
        <p:nvSpPr>
          <p:cNvPr id="8" name="Rounded Rectangle 7">
            <a:extLst>
              <a:ext uri="{FF2B5EF4-FFF2-40B4-BE49-F238E27FC236}">
                <a16:creationId xmlns:a16="http://schemas.microsoft.com/office/drawing/2014/main" id="{24F967C4-333E-41D0-8D8C-DD422AE4005D}"/>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81D10F2-B23C-4EC9-96A3-5F3D82C6BC5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STRESS MODEL</a:t>
            </a:r>
          </a:p>
        </p:txBody>
      </p:sp>
      <p:sp>
        <p:nvSpPr>
          <p:cNvPr id="10" name="TextBox 9">
            <a:extLst>
              <a:ext uri="{FF2B5EF4-FFF2-40B4-BE49-F238E27FC236}">
                <a16:creationId xmlns:a16="http://schemas.microsoft.com/office/drawing/2014/main" id="{BC0E480D-53C1-4786-9F48-53A6D896EEC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RPL11 can signal ribosomal stress</a:t>
            </a:r>
          </a:p>
        </p:txBody>
      </p:sp>
      <p:sp>
        <p:nvSpPr>
          <p:cNvPr id="11" name="TextBox 10">
            <a:extLst>
              <a:ext uri="{FF2B5EF4-FFF2-40B4-BE49-F238E27FC236}">
                <a16:creationId xmlns:a16="http://schemas.microsoft.com/office/drawing/2014/main" id="{0615F3DB-50FE-4882-803F-E8F4A376C28E}"/>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systems connect RPL11 with MDM2 and p53 signaling.</a:t>
            </a:r>
          </a:p>
        </p:txBody>
      </p:sp>
      <p:sp>
        <p:nvSpPr>
          <p:cNvPr id="12" name="Rounded Rectangle 11">
            <a:extLst>
              <a:ext uri="{FF2B5EF4-FFF2-40B4-BE49-F238E27FC236}">
                <a16:creationId xmlns:a16="http://schemas.microsoft.com/office/drawing/2014/main" id="{CFB3EC32-C6DD-4A23-85B8-FF8FEC1A9AA3}"/>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E484985-B36C-43D8-8C42-091DB120868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TECHNICAL MODEL</a:t>
            </a:r>
          </a:p>
        </p:txBody>
      </p:sp>
      <p:sp>
        <p:nvSpPr>
          <p:cNvPr id="14" name="TextBox 13">
            <a:extLst>
              <a:ext uri="{FF2B5EF4-FFF2-40B4-BE49-F238E27FC236}">
                <a16:creationId xmlns:a16="http://schemas.microsoft.com/office/drawing/2014/main" id="{7D64DB26-CCC4-4DEA-BCE1-0B4A73CC971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Highly connected genes rank easily</a:t>
            </a:r>
          </a:p>
        </p:txBody>
      </p:sp>
      <p:sp>
        <p:nvSpPr>
          <p:cNvPr id="15" name="TextBox 14">
            <a:extLst>
              <a:ext uri="{FF2B5EF4-FFF2-40B4-BE49-F238E27FC236}">
                <a16:creationId xmlns:a16="http://schemas.microsoft.com/office/drawing/2014/main" id="{7A21DBE8-3B71-4E73-961E-D4E52983787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Abundant ribosomal genes may receive an advantage in network-based selection.</a:t>
            </a:r>
          </a:p>
        </p:txBody>
      </p:sp>
      <p:sp>
        <p:nvSpPr>
          <p:cNvPr id="16" name="Rounded Rectangle 15">
            <a:extLst>
              <a:ext uri="{FF2B5EF4-FFF2-40B4-BE49-F238E27FC236}">
                <a16:creationId xmlns:a16="http://schemas.microsoft.com/office/drawing/2014/main" id="{18D03085-4147-44B0-9DA5-45ED7C667777}"/>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BDFD376-0BC0-4A41-8A6D-1E5DAD72A90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11ACFECC-ECC3-4DA5-BE84-F64FE94253F2}"/>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Degree-matched network tests are necessary before interpreting ribosomal recurrence as regulation.</a:t>
            </a:r>
          </a:p>
        </p:txBody>
      </p:sp>
    </p:spTree>
    <p:extLst>
      <p:ext uri="{BB962C8B-B14F-4D97-AF65-F5344CB8AC3E}">
        <p14:creationId xmlns:p14="http://schemas.microsoft.com/office/powerpoint/2010/main" val="205424962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C333D30-89FA-4312-AEC1-36B8E06C111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7</a:t>
            </a:r>
          </a:p>
        </p:txBody>
      </p:sp>
      <p:sp>
        <p:nvSpPr>
          <p:cNvPr id="3" name="TextBox 2">
            <a:extLst>
              <a:ext uri="{FF2B5EF4-FFF2-40B4-BE49-F238E27FC236}">
                <a16:creationId xmlns:a16="http://schemas.microsoft.com/office/drawing/2014/main" id="{9EACC32D-13D1-49F2-8DF6-04E8F20B0B3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EF66AB3-A9AD-446A-BC67-5E08F1F79B9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7FC84C1-18EE-41D8-A7A8-FADA2B4FEEB9}"/>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Ding et al. 2005</a:t>
            </a:r>
          </a:p>
        </p:txBody>
      </p:sp>
      <p:sp>
        <p:nvSpPr>
          <p:cNvPr id="6" name="TextBox 5">
            <a:extLst>
              <a:ext uri="{FF2B5EF4-FFF2-40B4-BE49-F238E27FC236}">
                <a16:creationId xmlns:a16="http://schemas.microsoft.com/office/drawing/2014/main" id="{66CFE5F6-A264-4A47-8139-41A633D3601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Ribosome dysfunction in AD</a:t>
            </a:r>
          </a:p>
        </p:txBody>
      </p:sp>
      <p:sp>
        <p:nvSpPr>
          <p:cNvPr id="7" name="TextBox 6">
            <a:extLst>
              <a:ext uri="{FF2B5EF4-FFF2-40B4-BE49-F238E27FC236}">
                <a16:creationId xmlns:a16="http://schemas.microsoft.com/office/drawing/2014/main" id="{28EC7146-2BD3-47B3-90B9-27D3EEF8C06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BA28E06B-C23B-4967-9643-E071B00D26F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impaired protein synthesis and RNA oxidation in human AD tissue.</a:t>
            </a:r>
          </a:p>
        </p:txBody>
      </p:sp>
      <p:sp>
        <p:nvSpPr>
          <p:cNvPr id="9" name="TextBox 8">
            <a:extLst>
              <a:ext uri="{FF2B5EF4-FFF2-40B4-BE49-F238E27FC236}">
                <a16:creationId xmlns:a16="http://schemas.microsoft.com/office/drawing/2014/main" id="{3E18336E-B058-4640-9654-6F33E58BFAD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65DBFD-4FA2-4235-BB81-17867B61871F}"/>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ROSMAP ribosome-to-OXPHOS network.</a:t>
            </a:r>
          </a:p>
        </p:txBody>
      </p:sp>
      <p:sp>
        <p:nvSpPr>
          <p:cNvPr id="11" name="Rounded Rectangle 10">
            <a:extLst>
              <a:ext uri="{FF2B5EF4-FFF2-40B4-BE49-F238E27FC236}">
                <a16:creationId xmlns:a16="http://schemas.microsoft.com/office/drawing/2014/main" id="{4BB403BE-68DA-4AC0-8655-DD54541523E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D7F784D-F01C-4793-9367-C4AF8701C95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Zhang et al. 2003</a:t>
            </a:r>
          </a:p>
        </p:txBody>
      </p:sp>
      <p:sp>
        <p:nvSpPr>
          <p:cNvPr id="13" name="TextBox 12">
            <a:extLst>
              <a:ext uri="{FF2B5EF4-FFF2-40B4-BE49-F238E27FC236}">
                <a16:creationId xmlns:a16="http://schemas.microsoft.com/office/drawing/2014/main" id="{E7E32300-4DD4-4EBA-8FA7-189731843BB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RPL11 stress signaling</a:t>
            </a:r>
          </a:p>
        </p:txBody>
      </p:sp>
      <p:sp>
        <p:nvSpPr>
          <p:cNvPr id="14" name="TextBox 13">
            <a:extLst>
              <a:ext uri="{FF2B5EF4-FFF2-40B4-BE49-F238E27FC236}">
                <a16:creationId xmlns:a16="http://schemas.microsoft.com/office/drawing/2014/main" id="{4DEC5479-E630-463C-B82E-67D97BA3BD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16CD5EF-B007-4055-A7A5-A1954BC81614}"/>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RPL11 can signal through the MDM2 and p53 pathway.</a:t>
            </a:r>
          </a:p>
        </p:txBody>
      </p:sp>
      <p:sp>
        <p:nvSpPr>
          <p:cNvPr id="16" name="TextBox 15">
            <a:extLst>
              <a:ext uri="{FF2B5EF4-FFF2-40B4-BE49-F238E27FC236}">
                <a16:creationId xmlns:a16="http://schemas.microsoft.com/office/drawing/2014/main" id="{1EBEB420-E72A-4D33-8191-B41B784A29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9E47C3D-56D9-43BA-B268-5ED4837DD607}"/>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stress biology does not prove mitochondrial regulation.</a:t>
            </a:r>
          </a:p>
        </p:txBody>
      </p:sp>
      <p:sp>
        <p:nvSpPr>
          <p:cNvPr id="18" name="Rounded Rectangle 17">
            <a:extLst>
              <a:ext uri="{FF2B5EF4-FFF2-40B4-BE49-F238E27FC236}">
                <a16:creationId xmlns:a16="http://schemas.microsoft.com/office/drawing/2014/main" id="{BD79985C-21FE-48A3-95BB-E7BEA42CECDC}"/>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2896DA6-7088-4B6B-9EEA-0F4503A01F6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AB561183-F25C-4F85-B3D0-E28D72ED050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Module recurrence</a:t>
            </a:r>
          </a:p>
        </p:txBody>
      </p:sp>
      <p:sp>
        <p:nvSpPr>
          <p:cNvPr id="21" name="TextBox 20">
            <a:extLst>
              <a:ext uri="{FF2B5EF4-FFF2-40B4-BE49-F238E27FC236}">
                <a16:creationId xmlns:a16="http://schemas.microsoft.com/office/drawing/2014/main" id="{621BFD6C-6867-4FDD-BCE1-A374D40526A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5588C7B-010A-4359-A5D4-23378BA6C9E0}"/>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Multiple ribosomal genes recur across categories and OXPHOS neighborhoods.</a:t>
            </a:r>
          </a:p>
        </p:txBody>
      </p:sp>
      <p:sp>
        <p:nvSpPr>
          <p:cNvPr id="23" name="TextBox 22">
            <a:extLst>
              <a:ext uri="{FF2B5EF4-FFF2-40B4-BE49-F238E27FC236}">
                <a16:creationId xmlns:a16="http://schemas.microsoft.com/office/drawing/2014/main" id="{7CDE4019-B2BE-4F28-B4F7-4BD2131ED408}"/>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0114D933-4627-4A99-B116-A7F6254C862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Shared donors and network connectivity limit independence.</a:t>
            </a:r>
          </a:p>
        </p:txBody>
      </p:sp>
      <p:sp>
        <p:nvSpPr>
          <p:cNvPr id="25" name="Rounded Rectangle 24">
            <a:extLst>
              <a:ext uri="{FF2B5EF4-FFF2-40B4-BE49-F238E27FC236}">
                <a16:creationId xmlns:a16="http://schemas.microsoft.com/office/drawing/2014/main" id="{C552AB3A-E34F-40D0-BEC3-7292C27F6EE8}"/>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A0B9314-4708-4685-9F69-7142B6ECC13C}"/>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81318137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C82DA3-855D-4B60-9FDB-23AF3878CB6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8</a:t>
            </a:r>
          </a:p>
        </p:txBody>
      </p:sp>
      <p:sp>
        <p:nvSpPr>
          <p:cNvPr id="3" name="Rectangle 2">
            <a:extLst>
              <a:ext uri="{FF2B5EF4-FFF2-40B4-BE49-F238E27FC236}">
                <a16:creationId xmlns:a16="http://schemas.microsoft.com/office/drawing/2014/main" id="{D0A03960-B5C1-46DA-AA0B-605DB7F9871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80942F9A-53CF-4DFE-87B9-5C9F500963A2}"/>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LAMTOR5 links lysosomal nutrient sensing to OXPHOS</a:t>
            </a:r>
          </a:p>
        </p:txBody>
      </p:sp>
      <p:sp>
        <p:nvSpPr>
          <p:cNvPr id="5" name="TextBox 4">
            <a:extLst>
              <a:ext uri="{FF2B5EF4-FFF2-40B4-BE49-F238E27FC236}">
                <a16:creationId xmlns:a16="http://schemas.microsoft.com/office/drawing/2014/main" id="{EA1BD881-943D-4E87-A6AA-2F687CA5502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recurrent gene returned from ROSMAP KDA calls.</a:t>
            </a:r>
          </a:p>
        </p:txBody>
      </p:sp>
      <p:sp>
        <p:nvSpPr>
          <p:cNvPr id="6" name="Rounded Rectangle 5">
            <a:extLst>
              <a:ext uri="{FF2B5EF4-FFF2-40B4-BE49-F238E27FC236}">
                <a16:creationId xmlns:a16="http://schemas.microsoft.com/office/drawing/2014/main" id="{DCEE8990-4014-4F1D-9D00-7427414F357C}"/>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A0B9090-3EB6-47B0-AA7A-C29081739B7E}"/>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A16C7C97-0645-44E7-A27D-2B37C78A107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BCDA1B8-001C-4A44-8D2D-DB5A24930E5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DFBCD45-7C59-4FD1-810E-9DF341A99AD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61CB01AA-225D-47AB-BE13-CAE5873456BF}"/>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B8BE7EE-9A92-4DDA-B9BF-1EAA5578E42B}"/>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CDCEE71-D334-445F-8A60-5CC03FA405F2}"/>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FEC7FB8-3F63-4DB6-A355-64743A00795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1174472-58A2-40B0-97F9-807994C7098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ED415DF-CD9D-4C53-9B25-F064E25ED7C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F33F28C-E14F-458F-B7B2-22741C587BB0}"/>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5577357-C5FB-4D5E-8048-0436DAA50F4B}"/>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E73047E-159F-4BBB-A7A7-11C0661695A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9D2232A-4B6B-4BAB-A528-B6DE729A2F8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79C19BF-F4D9-429D-BE0C-6E00EDB0D50D}"/>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LAMTOR5 repeatedly links lysosomal nutrient sensing with mostly decreased nuclear-encoded OXPHOS genes.</a:t>
            </a:r>
          </a:p>
        </p:txBody>
      </p:sp>
    </p:spTree>
    <p:extLst>
      <p:ext uri="{BB962C8B-B14F-4D97-AF65-F5344CB8AC3E}">
        <p14:creationId xmlns:p14="http://schemas.microsoft.com/office/powerpoint/2010/main" val="154640372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121AF4-5F17-4383-B99F-23608A038B9C}"/>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LAMTOR5 connects lysosomal nutrient sensing with nuclear-encoded OXPHOS genes</a:t>
            </a:r>
          </a:p>
        </p:txBody>
      </p:sp>
      <p:sp>
        <p:nvSpPr>
          <p:cNvPr id="3" name="TextBox 2">
            <a:extLst>
              <a:ext uri="{FF2B5EF4-FFF2-40B4-BE49-F238E27FC236}">
                <a16:creationId xmlns:a16="http://schemas.microsoft.com/office/drawing/2014/main" id="{F359CD9C-D123-4C59-A0AC-15CDDFEF909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Lysosomes recycle cellular material and help sense nutrients. LAMTOR5 helps relay that information to mTORC1.</a:t>
            </a:r>
          </a:p>
        </p:txBody>
      </p:sp>
      <p:sp>
        <p:nvSpPr>
          <p:cNvPr id="4" name="Rounded Rectangle 3">
            <a:extLst>
              <a:ext uri="{FF2B5EF4-FFF2-40B4-BE49-F238E27FC236}">
                <a16:creationId xmlns:a16="http://schemas.microsoft.com/office/drawing/2014/main" id="{C0686943-6724-43E0-9D97-D072207B5F5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2F75C9D-8F57-4357-9096-351B2F7929E4}"/>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17 neuronal KDA calls</a:t>
            </a:r>
          </a:p>
        </p:txBody>
      </p:sp>
      <p:sp>
        <p:nvSpPr>
          <p:cNvPr id="6" name="Rounded Rectangle 5">
            <a:extLst>
              <a:ext uri="{FF2B5EF4-FFF2-40B4-BE49-F238E27FC236}">
                <a16:creationId xmlns:a16="http://schemas.microsoft.com/office/drawing/2014/main" id="{6447CFFB-9A99-460C-A181-6A7F299921A0}"/>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6D333C4-9214-492E-A053-2B16782FB7D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B50DB23B-F923-49BD-808D-BEACEC89E56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B59CAE3-8450-44F6-9E1E-AEB731EE7A7E}"/>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Lysosome and mTORC1</a:t>
            </a:r>
          </a:p>
        </p:txBody>
      </p:sp>
      <p:sp>
        <p:nvSpPr>
          <p:cNvPr id="10" name="Rounded Rectangle 9">
            <a:extLst>
              <a:ext uri="{FF2B5EF4-FFF2-40B4-BE49-F238E27FC236}">
                <a16:creationId xmlns:a16="http://schemas.microsoft.com/office/drawing/2014/main" id="{DA6980E2-6984-4D38-A5F2-1C7582EA1EB2}"/>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0EA3F30F-888D-4836-BDCB-FE8E0D1BB166}"/>
              </a:ext>
            </a:extLst>
          </p:cNvPr>
          <p:cNvSpPr>
            <a:spLocks noGrp="1"/>
          </p:cNvSpPr>
          <p:nvPr/>
        </p:nvSpPr>
        <p:spPr>
          <a:xfrm>
            <a:off x="929030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Nuclear-encoded OXPHOS genes</a:t>
            </a:r>
          </a:p>
        </p:txBody>
      </p:sp>
      <p:sp>
        <p:nvSpPr>
          <p:cNvPr id="12" name="Rounded Rectangle 11">
            <a:extLst>
              <a:ext uri="{FF2B5EF4-FFF2-40B4-BE49-F238E27FC236}">
                <a16:creationId xmlns:a16="http://schemas.microsoft.com/office/drawing/2014/main" id="{1274827F-6508-41D8-ABCA-BBDBD2E11D5B}"/>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2D6327C-B1D3-494F-9F63-F095ADAE2EB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LYSOSOME</a:t>
            </a:r>
          </a:p>
        </p:txBody>
      </p:sp>
      <p:sp>
        <p:nvSpPr>
          <p:cNvPr id="14" name="TextBox 13">
            <a:extLst>
              <a:ext uri="{FF2B5EF4-FFF2-40B4-BE49-F238E27FC236}">
                <a16:creationId xmlns:a16="http://schemas.microsoft.com/office/drawing/2014/main" id="{EFEDAECC-6737-4DED-930C-A05E00FB376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Recycling and nutrient sensing</a:t>
            </a:r>
          </a:p>
        </p:txBody>
      </p:sp>
      <p:sp>
        <p:nvSpPr>
          <p:cNvPr id="15" name="TextBox 14">
            <a:extLst>
              <a:ext uri="{FF2B5EF4-FFF2-40B4-BE49-F238E27FC236}">
                <a16:creationId xmlns:a16="http://schemas.microsoft.com/office/drawing/2014/main" id="{FB2E5AFE-33E8-41B1-9867-C2CDC19830A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lysosome breaks down material and helps the cell judge nutrient availability.</a:t>
            </a:r>
          </a:p>
        </p:txBody>
      </p:sp>
      <p:sp>
        <p:nvSpPr>
          <p:cNvPr id="16" name="Rounded Rectangle 15">
            <a:extLst>
              <a:ext uri="{FF2B5EF4-FFF2-40B4-BE49-F238E27FC236}">
                <a16:creationId xmlns:a16="http://schemas.microsoft.com/office/drawing/2014/main" id="{7E93B811-023D-413F-BA28-9FF12B93E72B}"/>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13FB113-87E2-4F79-9D8D-6A60FFEF266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LAMTOR5</a:t>
            </a:r>
          </a:p>
        </p:txBody>
      </p:sp>
      <p:sp>
        <p:nvSpPr>
          <p:cNvPr id="18" name="TextBox 17">
            <a:extLst>
              <a:ext uri="{FF2B5EF4-FFF2-40B4-BE49-F238E27FC236}">
                <a16:creationId xmlns:a16="http://schemas.microsoft.com/office/drawing/2014/main" id="{6AB71A9D-6ECB-4E5B-955A-1E89D770EEAE}"/>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Ragulator component</a:t>
            </a:r>
          </a:p>
        </p:txBody>
      </p:sp>
      <p:sp>
        <p:nvSpPr>
          <p:cNvPr id="19" name="TextBox 18">
            <a:extLst>
              <a:ext uri="{FF2B5EF4-FFF2-40B4-BE49-F238E27FC236}">
                <a16:creationId xmlns:a16="http://schemas.microsoft.com/office/drawing/2014/main" id="{F936FED7-6000-4CEA-90A0-B1565794E309}"/>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LAMTOR5 helps connect amino-acid sensing at lysosomes to mTORC1 signaling.</a:t>
            </a:r>
          </a:p>
        </p:txBody>
      </p:sp>
      <p:sp>
        <p:nvSpPr>
          <p:cNvPr id="20" name="Rounded Rectangle 19">
            <a:extLst>
              <a:ext uri="{FF2B5EF4-FFF2-40B4-BE49-F238E27FC236}">
                <a16:creationId xmlns:a16="http://schemas.microsoft.com/office/drawing/2014/main" id="{E7CFBBF7-D2CB-46BA-9933-B93BE7AD21C6}"/>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146252F-853E-4B38-A203-08AB81BCFD4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a:t>
            </a:r>
          </a:p>
        </p:txBody>
      </p:sp>
      <p:sp>
        <p:nvSpPr>
          <p:cNvPr id="22" name="TextBox 21">
            <a:extLst>
              <a:ext uri="{FF2B5EF4-FFF2-40B4-BE49-F238E27FC236}">
                <a16:creationId xmlns:a16="http://schemas.microsoft.com/office/drawing/2014/main" id="{56B4B593-96E2-4789-AE03-4282F26DC2AE}"/>
              </a:ext>
            </a:extLst>
          </p:cNvPr>
          <p:cNvSpPr>
            <a:spLocks noGrp="1"/>
          </p:cNvSpPr>
          <p:nvPr/>
        </p:nvSpPr>
        <p:spPr>
          <a:xfrm>
            <a:off x="8522208" y="2724912"/>
            <a:ext cx="2907792" cy="78638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Mostly decreased nuclear-encoded OXPHOS genes</a:t>
            </a:r>
          </a:p>
        </p:txBody>
      </p:sp>
      <p:sp>
        <p:nvSpPr>
          <p:cNvPr id="23" name="TextBox 22">
            <a:extLst>
              <a:ext uri="{FF2B5EF4-FFF2-40B4-BE49-F238E27FC236}">
                <a16:creationId xmlns:a16="http://schemas.microsoft.com/office/drawing/2014/main" id="{A749FEA7-7B20-45A2-8571-B5BDA43C267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network neighborhood suggests a connection with respiratory investment.</a:t>
            </a:r>
          </a:p>
        </p:txBody>
      </p:sp>
      <p:sp>
        <p:nvSpPr>
          <p:cNvPr id="24" name="Rounded Rectangle 23">
            <a:extLst>
              <a:ext uri="{FF2B5EF4-FFF2-40B4-BE49-F238E27FC236}">
                <a16:creationId xmlns:a16="http://schemas.microsoft.com/office/drawing/2014/main" id="{B6CE5C23-5CCE-4CB4-AEB9-ADA1B3113CF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268397F-3844-4D11-A2F2-7D68DBB8EC7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result proposes a lysosome-to-mitochondria bridge, while KDA cannot prove the direction of control.</a:t>
            </a:r>
          </a:p>
        </p:txBody>
      </p:sp>
    </p:spTree>
    <p:extLst>
      <p:ext uri="{BB962C8B-B14F-4D97-AF65-F5344CB8AC3E}">
        <p14:creationId xmlns:p14="http://schemas.microsoft.com/office/powerpoint/2010/main" val="3403197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E618DA0-DD00-42B7-8B97-160374CEBD8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LAMTOR5 recurs in neuronal KDA calls with coherent OXPHOS neighborhoods</a:t>
            </a:r>
          </a:p>
        </p:txBody>
      </p:sp>
      <p:sp>
        <p:nvSpPr>
          <p:cNvPr id="3" name="TextBox 2">
            <a:extLst>
              <a:ext uri="{FF2B5EF4-FFF2-40B4-BE49-F238E27FC236}">
                <a16:creationId xmlns:a16="http://schemas.microsoft.com/office/drawing/2014/main" id="{01F8EF43-5476-4423-AEE5-45AEFB4FB7C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strongest category scores occur in male ε2 neurons, where query size is unusually large.</a:t>
            </a:r>
          </a:p>
        </p:txBody>
      </p:sp>
      <p:sp>
        <p:nvSpPr>
          <p:cNvPr id="4" name="Rounded Rectangle 3">
            <a:extLst>
              <a:ext uri="{FF2B5EF4-FFF2-40B4-BE49-F238E27FC236}">
                <a16:creationId xmlns:a16="http://schemas.microsoft.com/office/drawing/2014/main" id="{5B6610EF-EE09-4BBC-888D-3918D4DEA2FE}"/>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E3E1BC-9FE3-4023-9242-6BD6511C515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17</a:t>
            </a:r>
          </a:p>
        </p:txBody>
      </p:sp>
      <p:sp>
        <p:nvSpPr>
          <p:cNvPr id="6" name="TextBox 5">
            <a:extLst>
              <a:ext uri="{FF2B5EF4-FFF2-40B4-BE49-F238E27FC236}">
                <a16:creationId xmlns:a16="http://schemas.microsoft.com/office/drawing/2014/main" id="{200A218C-6159-401C-B82A-9A4416E0854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35D93A9F-FD86-4ED2-94D0-7E25DE52C255}"/>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67640710-8B6F-4AB4-ABCE-B8454C29855F}"/>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D7A83D0-92A8-4A15-835C-AD73A46C8A68}"/>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87</a:t>
            </a:r>
          </a:p>
        </p:txBody>
      </p:sp>
      <p:sp>
        <p:nvSpPr>
          <p:cNvPr id="10" name="TextBox 9">
            <a:extLst>
              <a:ext uri="{FF2B5EF4-FFF2-40B4-BE49-F238E27FC236}">
                <a16:creationId xmlns:a16="http://schemas.microsoft.com/office/drawing/2014/main" id="{93D960B7-3A3E-4AAE-B921-94D7F1D663E6}"/>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6A0553C6-6AF6-4034-B1C1-3E7A6C4233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39 nuclear-encoded OXPHOS</a:t>
            </a:r>
          </a:p>
        </p:txBody>
      </p:sp>
      <p:sp>
        <p:nvSpPr>
          <p:cNvPr id="12" name="Rounded Rectangle 11">
            <a:extLst>
              <a:ext uri="{FF2B5EF4-FFF2-40B4-BE49-F238E27FC236}">
                <a16:creationId xmlns:a16="http://schemas.microsoft.com/office/drawing/2014/main" id="{4EEC72E9-2837-4155-9F47-73542548BE5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156942-89A3-4B13-AB69-795AF9179B7D}"/>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14/17</a:t>
            </a:r>
          </a:p>
        </p:txBody>
      </p:sp>
      <p:sp>
        <p:nvSpPr>
          <p:cNvPr id="14" name="TextBox 13">
            <a:extLst>
              <a:ext uri="{FF2B5EF4-FFF2-40B4-BE49-F238E27FC236}">
                <a16:creationId xmlns:a16="http://schemas.microsoft.com/office/drawing/2014/main" id="{0AE85854-4DFB-4782-BBC6-801B2488FBD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supporting queries</a:t>
            </a:r>
          </a:p>
        </p:txBody>
      </p:sp>
      <p:sp>
        <p:nvSpPr>
          <p:cNvPr id="15" name="TextBox 14">
            <a:extLst>
              <a:ext uri="{FF2B5EF4-FFF2-40B4-BE49-F238E27FC236}">
                <a16:creationId xmlns:a16="http://schemas.microsoft.com/office/drawing/2014/main" id="{24A0DDAE-34C1-4254-B5B5-A21E0B2DE4A0}"/>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63BBC23D-B8DA-4EC9-85EE-B8C8AA56DB85}"/>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84227B-DBEB-4EBC-B6EC-C9FB3634F17E}"/>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7FC7A39A-7538-4092-AF60-7ED08CB90D11}"/>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30 of 39 down</a:t>
            </a:r>
          </a:p>
        </p:txBody>
      </p:sp>
      <p:sp>
        <p:nvSpPr>
          <p:cNvPr id="19" name="TextBox 18">
            <a:extLst>
              <a:ext uri="{FF2B5EF4-FFF2-40B4-BE49-F238E27FC236}">
                <a16:creationId xmlns:a16="http://schemas.microsoft.com/office/drawing/2014/main" id="{EE2A3DAB-129C-4E11-B570-BB69456AF5C7}"/>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structural OXPHOS overlaps show lower gene expression in AD</a:t>
            </a:r>
          </a:p>
        </p:txBody>
      </p:sp>
      <p:sp>
        <p:nvSpPr>
          <p:cNvPr id="20" name="Rounded Rectangle 19">
            <a:extLst>
              <a:ext uri="{FF2B5EF4-FFF2-40B4-BE49-F238E27FC236}">
                <a16:creationId xmlns:a16="http://schemas.microsoft.com/office/drawing/2014/main" id="{8D50F26C-3B9E-432A-85A1-6CB3EB4AE65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DDFEE9-2C9B-49EB-83FB-D942B50AA95D}"/>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Frequent neighbors</a:t>
            </a:r>
          </a:p>
        </p:txBody>
      </p:sp>
      <p:sp>
        <p:nvSpPr>
          <p:cNvPr id="22" name="TextBox 21">
            <a:extLst>
              <a:ext uri="{FF2B5EF4-FFF2-40B4-BE49-F238E27FC236}">
                <a16:creationId xmlns:a16="http://schemas.microsoft.com/office/drawing/2014/main" id="{FB4E30BB-A429-4D43-8B29-50E0FBFAF62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ATP5IF1, CHCHD10, ATP5MC2</a:t>
            </a:r>
          </a:p>
        </p:txBody>
      </p:sp>
      <p:sp>
        <p:nvSpPr>
          <p:cNvPr id="23" name="TextBox 22">
            <a:extLst>
              <a:ext uri="{FF2B5EF4-FFF2-40B4-BE49-F238E27FC236}">
                <a16:creationId xmlns:a16="http://schemas.microsoft.com/office/drawing/2014/main" id="{6E044256-F590-4040-9072-85C788DC52F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Additional repeated genes include NDUFA6, NDUFB6, TMEM11, and MRPL4</a:t>
            </a:r>
          </a:p>
        </p:txBody>
      </p:sp>
      <p:sp>
        <p:nvSpPr>
          <p:cNvPr id="24" name="Rounded Rectangle 23">
            <a:extLst>
              <a:ext uri="{FF2B5EF4-FFF2-40B4-BE49-F238E27FC236}">
                <a16:creationId xmlns:a16="http://schemas.microsoft.com/office/drawing/2014/main" id="{97E598F9-1D9C-4BC1-919E-ED62F946486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6102808-6A62-441A-A105-24DE4EE3966D}"/>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LAMTOR5 itself</a:t>
            </a:r>
          </a:p>
        </p:txBody>
      </p:sp>
      <p:sp>
        <p:nvSpPr>
          <p:cNvPr id="26" name="TextBox 25">
            <a:extLst>
              <a:ext uri="{FF2B5EF4-FFF2-40B4-BE49-F238E27FC236}">
                <a16:creationId xmlns:a16="http://schemas.microsoft.com/office/drawing/2014/main" id="{D5F21F3A-6495-4024-AFDC-B6370080963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11 of 17</a:t>
            </a:r>
          </a:p>
        </p:txBody>
      </p:sp>
      <p:sp>
        <p:nvSpPr>
          <p:cNvPr id="27" name="TextBox 26">
            <a:extLst>
              <a:ext uri="{FF2B5EF4-FFF2-40B4-BE49-F238E27FC236}">
                <a16:creationId xmlns:a16="http://schemas.microsoft.com/office/drawing/2014/main" id="{8FE10D41-31AC-42AA-9565-1A339F415C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Up in female ε2 excitatory KDA calls and down in the strongest male ε2 KDA calls</a:t>
            </a:r>
          </a:p>
        </p:txBody>
      </p:sp>
    </p:spTree>
    <p:extLst>
      <p:ext uri="{BB962C8B-B14F-4D97-AF65-F5344CB8AC3E}">
        <p14:creationId xmlns:p14="http://schemas.microsoft.com/office/powerpoint/2010/main" val="179638202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69ADDD6-6FED-4518-ADC4-61AB5B43B3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Other genes returned from KDA calls reinforce the lysosome and autophagy axis</a:t>
            </a:r>
          </a:p>
        </p:txBody>
      </p:sp>
      <p:sp>
        <p:nvSpPr>
          <p:cNvPr id="3" name="TextBox 2">
            <a:extLst>
              <a:ext uri="{FF2B5EF4-FFF2-40B4-BE49-F238E27FC236}">
                <a16:creationId xmlns:a16="http://schemas.microsoft.com/office/drawing/2014/main" id="{A71DAF7A-FC33-4250-B132-374EDD7426B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broader module reduces reliance on a single LAMTOR5 result.</a:t>
            </a:r>
          </a:p>
        </p:txBody>
      </p:sp>
      <p:sp>
        <p:nvSpPr>
          <p:cNvPr id="4" name="Rounded Rectangle 3">
            <a:extLst>
              <a:ext uri="{FF2B5EF4-FFF2-40B4-BE49-F238E27FC236}">
                <a16:creationId xmlns:a16="http://schemas.microsoft.com/office/drawing/2014/main" id="{F91FC570-216D-46E9-ABB2-8246A7DAD243}"/>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04346BE-47C9-4272-9553-138E219F50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GABARAPL2</a:t>
            </a:r>
          </a:p>
        </p:txBody>
      </p:sp>
      <p:sp>
        <p:nvSpPr>
          <p:cNvPr id="6" name="TextBox 5">
            <a:extLst>
              <a:ext uri="{FF2B5EF4-FFF2-40B4-BE49-F238E27FC236}">
                <a16:creationId xmlns:a16="http://schemas.microsoft.com/office/drawing/2014/main" id="{C339804A-F7E7-417C-A6F8-D9252341FD0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13 KDA calls, five categories</a:t>
            </a:r>
          </a:p>
        </p:txBody>
      </p:sp>
      <p:sp>
        <p:nvSpPr>
          <p:cNvPr id="7" name="TextBox 6">
            <a:extLst>
              <a:ext uri="{FF2B5EF4-FFF2-40B4-BE49-F238E27FC236}">
                <a16:creationId xmlns:a16="http://schemas.microsoft.com/office/drawing/2014/main" id="{13A0E292-077A-4A48-9860-B08FEBDADA7B}"/>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contain CHCHD2, ATP5MC3, PARK7, and mitochondrial-ribosome genes.</a:t>
            </a:r>
          </a:p>
        </p:txBody>
      </p:sp>
      <p:sp>
        <p:nvSpPr>
          <p:cNvPr id="8" name="Rounded Rectangle 7">
            <a:extLst>
              <a:ext uri="{FF2B5EF4-FFF2-40B4-BE49-F238E27FC236}">
                <a16:creationId xmlns:a16="http://schemas.microsoft.com/office/drawing/2014/main" id="{A47BA0A2-94C9-4B9E-A118-40501FBFCE1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DCBA099-7F42-4EA1-89A4-B7C1D4ED97FE}"/>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ATG101</a:t>
            </a:r>
          </a:p>
        </p:txBody>
      </p:sp>
      <p:sp>
        <p:nvSpPr>
          <p:cNvPr id="10" name="TextBox 9">
            <a:extLst>
              <a:ext uri="{FF2B5EF4-FFF2-40B4-BE49-F238E27FC236}">
                <a16:creationId xmlns:a16="http://schemas.microsoft.com/office/drawing/2014/main" id="{258D499A-CA8E-414D-AE1A-38C1AB43F0C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1" name="TextBox 10">
            <a:extLst>
              <a:ext uri="{FF2B5EF4-FFF2-40B4-BE49-F238E27FC236}">
                <a16:creationId xmlns:a16="http://schemas.microsoft.com/office/drawing/2014/main" id="{4E00DD08-A1BA-4244-AA29-9792AE047B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include MRPS34, UQCRFS1, CLPP, and PINK1.</a:t>
            </a:r>
          </a:p>
        </p:txBody>
      </p:sp>
      <p:sp>
        <p:nvSpPr>
          <p:cNvPr id="12" name="Rounded Rectangle 11">
            <a:extLst>
              <a:ext uri="{FF2B5EF4-FFF2-40B4-BE49-F238E27FC236}">
                <a16:creationId xmlns:a16="http://schemas.microsoft.com/office/drawing/2014/main" id="{487A7ABE-01C7-4C69-94D7-AC83C0C40D1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9DA3052-4ECB-4DE7-A611-F1AAF9A03EA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ATP6AP2</a:t>
            </a:r>
          </a:p>
        </p:txBody>
      </p:sp>
      <p:sp>
        <p:nvSpPr>
          <p:cNvPr id="14" name="TextBox 13">
            <a:extLst>
              <a:ext uri="{FF2B5EF4-FFF2-40B4-BE49-F238E27FC236}">
                <a16:creationId xmlns:a16="http://schemas.microsoft.com/office/drawing/2014/main" id="{4F6181FC-CA8D-4CD6-8320-59C7AC43DFEC}"/>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5" name="TextBox 14">
            <a:extLst>
              <a:ext uri="{FF2B5EF4-FFF2-40B4-BE49-F238E27FC236}">
                <a16:creationId xmlns:a16="http://schemas.microsoft.com/office/drawing/2014/main" id="{882217B3-ECB9-4298-8BF8-98AA9655911E}"/>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 links V-ATPase biology with OXPHOS and mitochondrial protein import.</a:t>
            </a:r>
          </a:p>
        </p:txBody>
      </p:sp>
      <p:sp>
        <p:nvSpPr>
          <p:cNvPr id="16" name="Rounded Rectangle 15">
            <a:extLst>
              <a:ext uri="{FF2B5EF4-FFF2-40B4-BE49-F238E27FC236}">
                <a16:creationId xmlns:a16="http://schemas.microsoft.com/office/drawing/2014/main" id="{113A5B04-46B9-4535-9497-5F32F45F75A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99DDA78-675A-4FF5-AD9C-85182EE852C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KDA call in a matching LAMTOR5 discovery category, so exact-context support is unavailable.</a:t>
            </a:r>
          </a:p>
        </p:txBody>
      </p:sp>
    </p:spTree>
    <p:extLst>
      <p:ext uri="{BB962C8B-B14F-4D97-AF65-F5344CB8AC3E}">
        <p14:creationId xmlns:p14="http://schemas.microsoft.com/office/powerpoint/2010/main" val="122287166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808FA7-0724-4CE1-A90E-0D6AC16439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nutrient sensing coordinates protein production and oxidative capacity</a:t>
            </a:r>
          </a:p>
        </p:txBody>
      </p:sp>
      <p:sp>
        <p:nvSpPr>
          <p:cNvPr id="3" name="TextBox 2">
            <a:extLst>
              <a:ext uri="{FF2B5EF4-FFF2-40B4-BE49-F238E27FC236}">
                <a16:creationId xmlns:a16="http://schemas.microsoft.com/office/drawing/2014/main" id="{25715E06-95E2-4FAF-8B17-707536FE433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LAMTOR5 sits in a plausible biological position between lysosomes, mTORC1, and mitochondria.</a:t>
            </a:r>
          </a:p>
        </p:txBody>
      </p:sp>
      <p:sp>
        <p:nvSpPr>
          <p:cNvPr id="4" name="Rounded Rectangle 3">
            <a:extLst>
              <a:ext uri="{FF2B5EF4-FFF2-40B4-BE49-F238E27FC236}">
                <a16:creationId xmlns:a16="http://schemas.microsoft.com/office/drawing/2014/main" id="{344EE80B-4EFE-4C99-9B5B-6104A03D109A}"/>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A3DC2D-52FA-4702-BC18-C9DBD83C75D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NUTRIENT SIGNAL</a:t>
            </a:r>
          </a:p>
        </p:txBody>
      </p:sp>
      <p:sp>
        <p:nvSpPr>
          <p:cNvPr id="6" name="TextBox 5">
            <a:extLst>
              <a:ext uri="{FF2B5EF4-FFF2-40B4-BE49-F238E27FC236}">
                <a16:creationId xmlns:a16="http://schemas.microsoft.com/office/drawing/2014/main" id="{18FCC223-B68E-4B86-A617-35B83FDA7D0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Amino acids activate mTORC1</a:t>
            </a:r>
          </a:p>
        </p:txBody>
      </p:sp>
      <p:sp>
        <p:nvSpPr>
          <p:cNvPr id="7" name="TextBox 6">
            <a:extLst>
              <a:ext uri="{FF2B5EF4-FFF2-40B4-BE49-F238E27FC236}">
                <a16:creationId xmlns:a16="http://schemas.microsoft.com/office/drawing/2014/main" id="{22BF6CE5-05B5-43E1-B59E-E5BB6506147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Ragulator helps position nutrient signaling at the lysosomal surface.</a:t>
            </a:r>
          </a:p>
        </p:txBody>
      </p:sp>
      <p:sp>
        <p:nvSpPr>
          <p:cNvPr id="8" name="Rounded Rectangle 7">
            <a:extLst>
              <a:ext uri="{FF2B5EF4-FFF2-40B4-BE49-F238E27FC236}">
                <a16:creationId xmlns:a16="http://schemas.microsoft.com/office/drawing/2014/main" id="{31398985-4842-402E-A559-42903A21FA1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8A77284-753F-40D9-9781-52777D83B6E5}"/>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CELLULAR RESPONSE</a:t>
            </a:r>
          </a:p>
        </p:txBody>
      </p:sp>
      <p:sp>
        <p:nvSpPr>
          <p:cNvPr id="10" name="TextBox 9">
            <a:extLst>
              <a:ext uri="{FF2B5EF4-FFF2-40B4-BE49-F238E27FC236}">
                <a16:creationId xmlns:a16="http://schemas.microsoft.com/office/drawing/2014/main" id="{89814C3A-1FE9-4A28-B230-438E76E7E5E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mTORC1 adjusts protein production</a:t>
            </a:r>
          </a:p>
        </p:txBody>
      </p:sp>
      <p:sp>
        <p:nvSpPr>
          <p:cNvPr id="11" name="TextBox 10">
            <a:extLst>
              <a:ext uri="{FF2B5EF4-FFF2-40B4-BE49-F238E27FC236}">
                <a16:creationId xmlns:a16="http://schemas.microsoft.com/office/drawing/2014/main" id="{2AF010EB-1765-46EE-8869-44E43F0973E5}"/>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pathway can influence nuclear-encoded mitochondrial proteins and oxidative capacity.</a:t>
            </a:r>
          </a:p>
        </p:txBody>
      </p:sp>
      <p:sp>
        <p:nvSpPr>
          <p:cNvPr id="12" name="Rounded Rectangle 11">
            <a:extLst>
              <a:ext uri="{FF2B5EF4-FFF2-40B4-BE49-F238E27FC236}">
                <a16:creationId xmlns:a16="http://schemas.microsoft.com/office/drawing/2014/main" id="{1BB90CF3-8865-47A4-A44A-C8B564622900}"/>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F768-5BAF-4664-B9DE-9FE3C3FE6F6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AD RELEVANCE</a:t>
            </a:r>
          </a:p>
        </p:txBody>
      </p:sp>
      <p:sp>
        <p:nvSpPr>
          <p:cNvPr id="14" name="TextBox 13">
            <a:extLst>
              <a:ext uri="{FF2B5EF4-FFF2-40B4-BE49-F238E27FC236}">
                <a16:creationId xmlns:a16="http://schemas.microsoft.com/office/drawing/2014/main" id="{CCF3F909-BF96-4102-9FDD-9FA219E51F4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Aβ can disrupt this communication</a:t>
            </a:r>
          </a:p>
        </p:txBody>
      </p:sp>
      <p:sp>
        <p:nvSpPr>
          <p:cNvPr id="15" name="TextBox 14">
            <a:extLst>
              <a:ext uri="{FF2B5EF4-FFF2-40B4-BE49-F238E27FC236}">
                <a16:creationId xmlns:a16="http://schemas.microsoft.com/office/drawing/2014/main" id="{FB7F615E-B862-4ECF-BABA-A02AFB8A887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work links neuronal lysosome-to-mitochondria signaling with tau-dependent stress.</a:t>
            </a:r>
          </a:p>
        </p:txBody>
      </p:sp>
      <p:sp>
        <p:nvSpPr>
          <p:cNvPr id="16" name="Rounded Rectangle 15">
            <a:extLst>
              <a:ext uri="{FF2B5EF4-FFF2-40B4-BE49-F238E27FC236}">
                <a16:creationId xmlns:a16="http://schemas.microsoft.com/office/drawing/2014/main" id="{6B8A541C-CA1C-4F66-9B0F-F86F5507FF1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A96F3A-D1DB-4D30-B396-2990C557CC38}"/>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4DF2460-0AC6-49CF-9635-A1084195692B}"/>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Biological plausibility supports perturbation studies but does not validate the inferred LAMTOR5 edges.</a:t>
            </a:r>
          </a:p>
        </p:txBody>
      </p:sp>
    </p:spTree>
    <p:extLst>
      <p:ext uri="{BB962C8B-B14F-4D97-AF65-F5344CB8AC3E}">
        <p14:creationId xmlns:p14="http://schemas.microsoft.com/office/powerpoint/2010/main" val="82837738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0606DE-1031-4133-BC4E-9B718D40342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8</a:t>
            </a:r>
          </a:p>
        </p:txBody>
      </p:sp>
      <p:sp>
        <p:nvSpPr>
          <p:cNvPr id="3" name="TextBox 2">
            <a:extLst>
              <a:ext uri="{FF2B5EF4-FFF2-40B4-BE49-F238E27FC236}">
                <a16:creationId xmlns:a16="http://schemas.microsoft.com/office/drawing/2014/main" id="{D620462D-1240-4841-B4E5-B075D059C38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44BDF-884D-4191-A1AF-13033991DC8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B16D4E4-0CAE-47DE-B06F-A9DA580B1E0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Bar-Peled et al. 2012</a:t>
            </a:r>
          </a:p>
        </p:txBody>
      </p:sp>
      <p:sp>
        <p:nvSpPr>
          <p:cNvPr id="6" name="TextBox 5">
            <a:extLst>
              <a:ext uri="{FF2B5EF4-FFF2-40B4-BE49-F238E27FC236}">
                <a16:creationId xmlns:a16="http://schemas.microsoft.com/office/drawing/2014/main" id="{8678EFDD-D533-49C7-AAB3-34D93C4C237B}"/>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Ragulator and mTORC1</a:t>
            </a:r>
          </a:p>
        </p:txBody>
      </p:sp>
      <p:sp>
        <p:nvSpPr>
          <p:cNvPr id="7" name="TextBox 6">
            <a:extLst>
              <a:ext uri="{FF2B5EF4-FFF2-40B4-BE49-F238E27FC236}">
                <a16:creationId xmlns:a16="http://schemas.microsoft.com/office/drawing/2014/main" id="{D4232848-0C8E-4412-B915-836BBE7332E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56CD44B-9F47-46B4-AD6B-1057CC4B5DD8}"/>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LAMTOR5 in amino-acid sensing at the lysosome.</a:t>
            </a:r>
          </a:p>
        </p:txBody>
      </p:sp>
      <p:sp>
        <p:nvSpPr>
          <p:cNvPr id="9" name="TextBox 8">
            <a:extLst>
              <a:ext uri="{FF2B5EF4-FFF2-40B4-BE49-F238E27FC236}">
                <a16:creationId xmlns:a16="http://schemas.microsoft.com/office/drawing/2014/main" id="{9A995592-C07A-483B-AF82-A7E0605F5BF0}"/>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7CE5BE1-FF84-4909-8C9B-F14CAE8773E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test Alzheimer’s neurons or OXPHOS neighbors.</a:t>
            </a:r>
          </a:p>
        </p:txBody>
      </p:sp>
      <p:sp>
        <p:nvSpPr>
          <p:cNvPr id="11" name="Rounded Rectangle 10">
            <a:extLst>
              <a:ext uri="{FF2B5EF4-FFF2-40B4-BE49-F238E27FC236}">
                <a16:creationId xmlns:a16="http://schemas.microsoft.com/office/drawing/2014/main" id="{FA0293C0-6906-4FE3-884E-8C0ACB6085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30869E2-CDF6-48FF-9F14-65C2C6F177AC}"/>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Morita et al. 2013</a:t>
            </a:r>
          </a:p>
        </p:txBody>
      </p:sp>
      <p:sp>
        <p:nvSpPr>
          <p:cNvPr id="13" name="TextBox 12">
            <a:extLst>
              <a:ext uri="{FF2B5EF4-FFF2-40B4-BE49-F238E27FC236}">
                <a16:creationId xmlns:a16="http://schemas.microsoft.com/office/drawing/2014/main" id="{E0ADE300-B1CD-44F4-9F95-83E47F9E7C2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mTORC1 and mitochondria</a:t>
            </a:r>
          </a:p>
        </p:txBody>
      </p:sp>
      <p:sp>
        <p:nvSpPr>
          <p:cNvPr id="14" name="TextBox 13">
            <a:extLst>
              <a:ext uri="{FF2B5EF4-FFF2-40B4-BE49-F238E27FC236}">
                <a16:creationId xmlns:a16="http://schemas.microsoft.com/office/drawing/2014/main" id="{52EBF4CC-FDD5-4062-BB1B-5ABE8CD31826}"/>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86DF77A-F54C-43D3-BE1B-B6C80E9FBBCD}"/>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mTORC1 with mitochondrial protein production and oxidative capacity.</a:t>
            </a:r>
          </a:p>
        </p:txBody>
      </p:sp>
      <p:sp>
        <p:nvSpPr>
          <p:cNvPr id="16" name="TextBox 15">
            <a:extLst>
              <a:ext uri="{FF2B5EF4-FFF2-40B4-BE49-F238E27FC236}">
                <a16:creationId xmlns:a16="http://schemas.microsoft.com/office/drawing/2014/main" id="{FF113B61-5D92-4ECE-AFCA-E9B61834C2B7}"/>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0ECC58D-3CF0-461A-94CC-2874B851EE9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LAMTOR5 as the causal node here.</a:t>
            </a:r>
          </a:p>
        </p:txBody>
      </p:sp>
      <p:sp>
        <p:nvSpPr>
          <p:cNvPr id="18" name="Rounded Rectangle 17">
            <a:extLst>
              <a:ext uri="{FF2B5EF4-FFF2-40B4-BE49-F238E27FC236}">
                <a16:creationId xmlns:a16="http://schemas.microsoft.com/office/drawing/2014/main" id="{E99D3638-F002-4BE6-B773-53917FDD777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2FCB6618-8E29-4F15-8133-79011DE5CBF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Norambuena et al. 2018</a:t>
            </a:r>
          </a:p>
        </p:txBody>
      </p:sp>
      <p:sp>
        <p:nvSpPr>
          <p:cNvPr id="20" name="TextBox 19">
            <a:extLst>
              <a:ext uri="{FF2B5EF4-FFF2-40B4-BE49-F238E27FC236}">
                <a16:creationId xmlns:a16="http://schemas.microsoft.com/office/drawing/2014/main" id="{AB0E36CC-A8B5-4F06-A941-F2B3BCD8CE1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AD nutrient signaling</a:t>
            </a:r>
          </a:p>
        </p:txBody>
      </p:sp>
      <p:sp>
        <p:nvSpPr>
          <p:cNvPr id="21" name="TextBox 20">
            <a:extLst>
              <a:ext uri="{FF2B5EF4-FFF2-40B4-BE49-F238E27FC236}">
                <a16:creationId xmlns:a16="http://schemas.microsoft.com/office/drawing/2014/main" id="{250F9EFA-B34F-41A8-BB3B-4D0C5D0F340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670960B3-93A8-4E82-AF92-7C52E57B062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Aβ disruption of a neuronal lysosome-to-mitochondria pathway.</a:t>
            </a:r>
          </a:p>
        </p:txBody>
      </p:sp>
      <p:sp>
        <p:nvSpPr>
          <p:cNvPr id="23" name="TextBox 22">
            <a:extLst>
              <a:ext uri="{FF2B5EF4-FFF2-40B4-BE49-F238E27FC236}">
                <a16:creationId xmlns:a16="http://schemas.microsoft.com/office/drawing/2014/main" id="{F7D8AF45-F4FE-403E-AB41-485EDED3895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E5E292C-94ED-43A9-9CD7-271A8618E93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LAMTOR5 was not manipulated in that study.</a:t>
            </a:r>
          </a:p>
        </p:txBody>
      </p:sp>
      <p:sp>
        <p:nvSpPr>
          <p:cNvPr id="25" name="Rounded Rectangle 24">
            <a:extLst>
              <a:ext uri="{FF2B5EF4-FFF2-40B4-BE49-F238E27FC236}">
                <a16:creationId xmlns:a16="http://schemas.microsoft.com/office/drawing/2014/main" id="{FD73361F-A8F3-4098-AD2F-28191F9609A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D6AA771-BFEA-4960-8190-3B8B934AD53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813365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6DE2F4-C6B3-44D8-857B-952970A51AF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9</a:t>
            </a:r>
          </a:p>
        </p:txBody>
      </p:sp>
      <p:sp>
        <p:nvSpPr>
          <p:cNvPr id="3" name="Rectangle 2">
            <a:extLst>
              <a:ext uri="{FF2B5EF4-FFF2-40B4-BE49-F238E27FC236}">
                <a16:creationId xmlns:a16="http://schemas.microsoft.com/office/drawing/2014/main" id="{F9261DC5-E2AF-4832-A098-ACAC8644BA4C}"/>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37819F4-9571-433D-85CD-29ECE42A4D1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WDR82 is linked to a narrow excitatory-neuron core MT upregulation module</a:t>
            </a:r>
          </a:p>
        </p:txBody>
      </p:sp>
      <p:sp>
        <p:nvSpPr>
          <p:cNvPr id="5" name="TextBox 4">
            <a:extLst>
              <a:ext uri="{FF2B5EF4-FFF2-40B4-BE49-F238E27FC236}">
                <a16:creationId xmlns:a16="http://schemas.microsoft.com/office/drawing/2014/main" id="{E1C76D5E-5A45-4A22-B050-6AF0B40A6D0C}"/>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gene returned from ROSMAP KDA calls.</a:t>
            </a:r>
          </a:p>
        </p:txBody>
      </p:sp>
      <p:sp>
        <p:nvSpPr>
          <p:cNvPr id="6" name="Rounded Rectangle 5">
            <a:extLst>
              <a:ext uri="{FF2B5EF4-FFF2-40B4-BE49-F238E27FC236}">
                <a16:creationId xmlns:a16="http://schemas.microsoft.com/office/drawing/2014/main" id="{E01B366B-55F5-4EB3-BC06-3DAB98158FB0}"/>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41554B8-509E-4465-85E2-807035C36D08}"/>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27ABC8F-91F5-4265-9920-8F5A6E88530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BE7B6EB-3F0A-4753-8783-5D19EA285717}"/>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8A0443E2-41E7-439E-BEEC-D287382D061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5736036-4C6F-499A-8FAD-DD3C6BA3FCA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B60235-261F-4CCC-A521-22428F84244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5C7DE15-D12F-4F80-A19F-EEB5A98EB77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C2160E2-9246-454A-90A3-46E834C22C4E}"/>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5A7196A-6B65-4D83-893D-895BC44D30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86D1155-C7D0-4983-A64D-42A0F351DCC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AD283F2-C660-41EE-9766-307D2F38D65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623316-45E1-477F-93B3-7B772E2E2C08}"/>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D0F5029-7AE9-4DC6-A9DA-2A6ACE5F69A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F029BB7B-150C-4C1D-AD53-95A2732CCCA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F83B68-0D98-4486-8337-05D44ED914D4}"/>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WDR82 appears only in excitatory neurons and sits near a four-gene core MT upregulation neighborhood.</a:t>
            </a:r>
          </a:p>
        </p:txBody>
      </p:sp>
    </p:spTree>
    <p:extLst>
      <p:ext uri="{BB962C8B-B14F-4D97-AF65-F5344CB8AC3E}">
        <p14:creationId xmlns:p14="http://schemas.microsoft.com/office/powerpoint/2010/main" val="108580773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B6F843-65D3-4DC2-AECA-814829ECEEE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sits near a focused core MT upregulation signal in excitatory neurons</a:t>
            </a:r>
          </a:p>
        </p:txBody>
      </p:sp>
      <p:sp>
        <p:nvSpPr>
          <p:cNvPr id="3" name="TextBox 2">
            <a:extLst>
              <a:ext uri="{FF2B5EF4-FFF2-40B4-BE49-F238E27FC236}">
                <a16:creationId xmlns:a16="http://schemas.microsoft.com/office/drawing/2014/main" id="{09CDB6A8-B057-4011-BD78-1953592D7A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exact neighborhood is narrow, and four recurring core MT genes originate within one long mitochondrial RNA.</a:t>
            </a:r>
          </a:p>
        </p:txBody>
      </p:sp>
      <p:sp>
        <p:nvSpPr>
          <p:cNvPr id="4" name="Rounded Rectangle 3">
            <a:extLst>
              <a:ext uri="{FF2B5EF4-FFF2-40B4-BE49-F238E27FC236}">
                <a16:creationId xmlns:a16="http://schemas.microsoft.com/office/drawing/2014/main" id="{47F264EC-8CC9-4984-AFD8-786596DC0677}"/>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0FFC7A2-A032-43D6-B811-027913372F8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Excitatory only</a:t>
            </a:r>
          </a:p>
        </p:txBody>
      </p:sp>
      <p:sp>
        <p:nvSpPr>
          <p:cNvPr id="6" name="Rounded Rectangle 5">
            <a:extLst>
              <a:ext uri="{FF2B5EF4-FFF2-40B4-BE49-F238E27FC236}">
                <a16:creationId xmlns:a16="http://schemas.microsoft.com/office/drawing/2014/main" id="{FD23F777-13D8-4393-BF91-AC4CC27761EB}"/>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AE3EA2A-8F47-4B4F-8B65-9DAF2B0959BB}"/>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18 KDA calls</a:t>
            </a:r>
          </a:p>
        </p:txBody>
      </p:sp>
      <p:sp>
        <p:nvSpPr>
          <p:cNvPr id="8" name="Rounded Rectangle 7">
            <a:extLst>
              <a:ext uri="{FF2B5EF4-FFF2-40B4-BE49-F238E27FC236}">
                <a16:creationId xmlns:a16="http://schemas.microsoft.com/office/drawing/2014/main" id="{862B976E-1A09-4A7A-A113-9BB339C4F9F4}"/>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61A465-3D17-4C9A-840B-FCA69CC8FBA1}"/>
              </a:ext>
            </a:extLst>
          </p:cNvPr>
          <p:cNvSpPr>
            <a:spLocks noGrp="1"/>
          </p:cNvSpPr>
          <p:nvPr/>
        </p:nvSpPr>
        <p:spPr>
          <a:xfrm>
            <a:off x="6473952"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Four core MT genes</a:t>
            </a:r>
          </a:p>
        </p:txBody>
      </p:sp>
      <p:sp>
        <p:nvSpPr>
          <p:cNvPr id="10" name="Rounded Rectangle 9">
            <a:extLst>
              <a:ext uri="{FF2B5EF4-FFF2-40B4-BE49-F238E27FC236}">
                <a16:creationId xmlns:a16="http://schemas.microsoft.com/office/drawing/2014/main" id="{FD369C69-550E-4864-9C5E-370DFEE7452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A0DF023-447F-42A7-8179-97567E05693D}"/>
              </a:ext>
            </a:extLst>
          </p:cNvPr>
          <p:cNvSpPr>
            <a:spLocks noGrp="1"/>
          </p:cNvSpPr>
          <p:nvPr/>
        </p:nvSpPr>
        <p:spPr>
          <a:xfrm>
            <a:off x="9290304" y="1399032"/>
            <a:ext cx="2359151" cy="3718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Gene returned from KDA calls ≠ strong DEG</a:t>
            </a:r>
          </a:p>
        </p:txBody>
      </p:sp>
      <p:sp>
        <p:nvSpPr>
          <p:cNvPr id="12" name="Rounded Rectangle 11">
            <a:extLst>
              <a:ext uri="{FF2B5EF4-FFF2-40B4-BE49-F238E27FC236}">
                <a16:creationId xmlns:a16="http://schemas.microsoft.com/office/drawing/2014/main" id="{60570FE2-97FF-4F30-BE56-76C7E595F28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0723DBB-7C4D-48A6-9FFF-3C2845BDC606}"/>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WDR82</a:t>
            </a:r>
          </a:p>
        </p:txBody>
      </p:sp>
      <p:sp>
        <p:nvSpPr>
          <p:cNvPr id="14" name="TextBox 13">
            <a:extLst>
              <a:ext uri="{FF2B5EF4-FFF2-40B4-BE49-F238E27FC236}">
                <a16:creationId xmlns:a16="http://schemas.microsoft.com/office/drawing/2014/main" id="{401487DF-461F-4067-9C22-DAE704EBD00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Chromatin-associated candidate</a:t>
            </a:r>
          </a:p>
        </p:txBody>
      </p:sp>
      <p:sp>
        <p:nvSpPr>
          <p:cNvPr id="15" name="TextBox 14">
            <a:extLst>
              <a:ext uri="{FF2B5EF4-FFF2-40B4-BE49-F238E27FC236}">
                <a16:creationId xmlns:a16="http://schemas.microsoft.com/office/drawing/2014/main" id="{A9817818-1B1F-47C2-92C0-B450F5FD7683}"/>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participates in nuclear chromatin regulation rather than the mitochondrial ribosome.</a:t>
            </a:r>
          </a:p>
        </p:txBody>
      </p:sp>
      <p:sp>
        <p:nvSpPr>
          <p:cNvPr id="16" name="Rounded Rectangle 15">
            <a:extLst>
              <a:ext uri="{FF2B5EF4-FFF2-40B4-BE49-F238E27FC236}">
                <a16:creationId xmlns:a16="http://schemas.microsoft.com/office/drawing/2014/main" id="{DD4B88B4-4666-43BD-89C6-D379BB4E8C12}"/>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6E28FC7-1275-4747-9941-6E647C2BD34C}"/>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NEIGHBORHOOD</a:t>
            </a:r>
          </a:p>
        </p:txBody>
      </p:sp>
      <p:sp>
        <p:nvSpPr>
          <p:cNvPr id="18" name="TextBox 17">
            <a:extLst>
              <a:ext uri="{FF2B5EF4-FFF2-40B4-BE49-F238E27FC236}">
                <a16:creationId xmlns:a16="http://schemas.microsoft.com/office/drawing/2014/main" id="{DB27678E-ED00-49A1-A302-2F3ABEDE6D8D}"/>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MT-ND1, ND3, ND4L, ND5</a:t>
            </a:r>
          </a:p>
        </p:txBody>
      </p:sp>
      <p:sp>
        <p:nvSpPr>
          <p:cNvPr id="19" name="TextBox 18">
            <a:extLst>
              <a:ext uri="{FF2B5EF4-FFF2-40B4-BE49-F238E27FC236}">
                <a16:creationId xmlns:a16="http://schemas.microsoft.com/office/drawing/2014/main" id="{4A03DAC7-8CD7-4C42-80AC-4E41F060FADC}"/>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four core MT genes account for nearly every exact KDA overlap.</a:t>
            </a:r>
          </a:p>
        </p:txBody>
      </p:sp>
      <p:sp>
        <p:nvSpPr>
          <p:cNvPr id="20" name="Rounded Rectangle 19">
            <a:extLst>
              <a:ext uri="{FF2B5EF4-FFF2-40B4-BE49-F238E27FC236}">
                <a16:creationId xmlns:a16="http://schemas.microsoft.com/office/drawing/2014/main" id="{65594A46-3A96-418C-B524-C4840B8F104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9A2061-C4E3-492B-9B80-6A7A2140BCD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DEPENDENCE WARNING</a:t>
            </a:r>
          </a:p>
        </p:txBody>
      </p:sp>
      <p:sp>
        <p:nvSpPr>
          <p:cNvPr id="22" name="TextBox 21">
            <a:extLst>
              <a:ext uri="{FF2B5EF4-FFF2-40B4-BE49-F238E27FC236}">
                <a16:creationId xmlns:a16="http://schemas.microsoft.com/office/drawing/2014/main" id="{2BAAECB7-AA89-4F07-B1DD-11DB6DC05CF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long starting RNA</a:t>
            </a:r>
          </a:p>
        </p:txBody>
      </p:sp>
      <p:sp>
        <p:nvSpPr>
          <p:cNvPr id="23" name="TextBox 22">
            <a:extLst>
              <a:ext uri="{FF2B5EF4-FFF2-40B4-BE49-F238E27FC236}">
                <a16:creationId xmlns:a16="http://schemas.microsoft.com/office/drawing/2014/main" id="{D5FDC23C-31E2-4E5F-AC3E-A1891C01536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mitochondrial heavy strand produces a long RNA that is later cut into gene products.</a:t>
            </a:r>
          </a:p>
        </p:txBody>
      </p:sp>
      <p:sp>
        <p:nvSpPr>
          <p:cNvPr id="24" name="Rounded Rectangle 23">
            <a:extLst>
              <a:ext uri="{FF2B5EF4-FFF2-40B4-BE49-F238E27FC236}">
                <a16:creationId xmlns:a16="http://schemas.microsoft.com/office/drawing/2014/main" id="{FDFF0E3F-E441-4EAB-9592-E47BE4B0D44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C360B10-0AD0-4C46-86B9-F15B37E225D3}"/>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Four gene names do not provide four independent regulatory observations when they share one starting transcript.</a:t>
            </a:r>
          </a:p>
        </p:txBody>
      </p:sp>
    </p:spTree>
    <p:extLst>
      <p:ext uri="{BB962C8B-B14F-4D97-AF65-F5344CB8AC3E}">
        <p14:creationId xmlns:p14="http://schemas.microsoft.com/office/powerpoint/2010/main" val="170699458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96B948-329C-415E-9CF6-26C4094BD2E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every WDR82-supporting query shows enriched core MT upregulation</a:t>
            </a:r>
          </a:p>
        </p:txBody>
      </p:sp>
      <p:sp>
        <p:nvSpPr>
          <p:cNvPr id="3" name="TextBox 2">
            <a:extLst>
              <a:ext uri="{FF2B5EF4-FFF2-40B4-BE49-F238E27FC236}">
                <a16:creationId xmlns:a16="http://schemas.microsoft.com/office/drawing/2014/main" id="{AFAD291E-EFAE-4E7A-967B-7776BBD0147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gene can be returned from a KDA call because of its network position even when the candidate is not a strong DEG.</a:t>
            </a:r>
          </a:p>
        </p:txBody>
      </p:sp>
      <p:sp>
        <p:nvSpPr>
          <p:cNvPr id="4" name="Rounded Rectangle 3">
            <a:extLst>
              <a:ext uri="{FF2B5EF4-FFF2-40B4-BE49-F238E27FC236}">
                <a16:creationId xmlns:a16="http://schemas.microsoft.com/office/drawing/2014/main" id="{8FD6FF4E-746E-45F3-A081-166CF533595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51D04D5-6BCD-4354-B043-BCE629EE33C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18</a:t>
            </a:r>
          </a:p>
        </p:txBody>
      </p:sp>
      <p:sp>
        <p:nvSpPr>
          <p:cNvPr id="6" name="TextBox 5">
            <a:extLst>
              <a:ext uri="{FF2B5EF4-FFF2-40B4-BE49-F238E27FC236}">
                <a16:creationId xmlns:a16="http://schemas.microsoft.com/office/drawing/2014/main" id="{2236BBA9-91A7-40CE-A0BB-AEFC68CD8EE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excitatory KDA calls</a:t>
            </a:r>
          </a:p>
        </p:txBody>
      </p:sp>
      <p:sp>
        <p:nvSpPr>
          <p:cNvPr id="7" name="TextBox 6">
            <a:extLst>
              <a:ext uri="{FF2B5EF4-FFF2-40B4-BE49-F238E27FC236}">
                <a16:creationId xmlns:a16="http://schemas.microsoft.com/office/drawing/2014/main" id="{D8B6C167-1229-499D-95C6-945479D9FC7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four sex/APOE strata</a:t>
            </a:r>
          </a:p>
        </p:txBody>
      </p:sp>
      <p:sp>
        <p:nvSpPr>
          <p:cNvPr id="8" name="Rounded Rectangle 7">
            <a:extLst>
              <a:ext uri="{FF2B5EF4-FFF2-40B4-BE49-F238E27FC236}">
                <a16:creationId xmlns:a16="http://schemas.microsoft.com/office/drawing/2014/main" id="{25DACDB5-BB63-416B-BC49-EB0D9D8FC7E4}"/>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1370508-08F2-441C-AE02-6B6D3B856F5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172</a:t>
            </a:r>
          </a:p>
        </p:txBody>
      </p:sp>
      <p:sp>
        <p:nvSpPr>
          <p:cNvPr id="10" name="TextBox 9">
            <a:extLst>
              <a:ext uri="{FF2B5EF4-FFF2-40B4-BE49-F238E27FC236}">
                <a16:creationId xmlns:a16="http://schemas.microsoft.com/office/drawing/2014/main" id="{14E6401D-BAFC-4A6C-A669-F6A94CFA353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a:ext uri="{FF2B5EF4-FFF2-40B4-BE49-F238E27FC236}">
                <a16:creationId xmlns:a16="http://schemas.microsoft.com/office/drawing/2014/main" id="{4D9D31F6-550A-48F1-8FC4-D4EBEC8A003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172 AD-up</a:t>
            </a:r>
          </a:p>
        </p:txBody>
      </p:sp>
      <p:sp>
        <p:nvSpPr>
          <p:cNvPr id="12" name="Rounded Rectangle 11">
            <a:extLst>
              <a:ext uri="{FF2B5EF4-FFF2-40B4-BE49-F238E27FC236}">
                <a16:creationId xmlns:a16="http://schemas.microsoft.com/office/drawing/2014/main" id="{BDE3E703-E12A-4F9D-92C9-1E0ABF94737B}"/>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CB5A99A-1A79-4DBC-B388-2428F770EC65}"/>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18/18</a:t>
            </a:r>
          </a:p>
        </p:txBody>
      </p:sp>
      <p:sp>
        <p:nvSpPr>
          <p:cNvPr id="14" name="TextBox 13">
            <a:extLst>
              <a:ext uri="{FF2B5EF4-FFF2-40B4-BE49-F238E27FC236}">
                <a16:creationId xmlns:a16="http://schemas.microsoft.com/office/drawing/2014/main" id="{86A07C68-3DBC-4C49-985D-4B0E890749E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177DB582-E05C-4993-A604-8C3A4861DC5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genes</a:t>
            </a:r>
          </a:p>
        </p:txBody>
      </p:sp>
      <p:sp>
        <p:nvSpPr>
          <p:cNvPr id="16" name="Rounded Rectangle 15">
            <a:extLst>
              <a:ext uri="{FF2B5EF4-FFF2-40B4-BE49-F238E27FC236}">
                <a16:creationId xmlns:a16="http://schemas.microsoft.com/office/drawing/2014/main" id="{64ADBA97-2591-4917-8655-CB19C351EE4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A577C3C-ABD3-4F70-B11B-19BCD15774D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Exact KDA overlap</a:t>
            </a:r>
          </a:p>
        </p:txBody>
      </p:sp>
      <p:sp>
        <p:nvSpPr>
          <p:cNvPr id="18" name="TextBox 17">
            <a:extLst>
              <a:ext uri="{FF2B5EF4-FFF2-40B4-BE49-F238E27FC236}">
                <a16:creationId xmlns:a16="http://schemas.microsoft.com/office/drawing/2014/main" id="{3D653BD3-3075-442E-9DC0-00010DD938F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68 of 70</a:t>
            </a:r>
          </a:p>
        </p:txBody>
      </p:sp>
      <p:sp>
        <p:nvSpPr>
          <p:cNvPr id="19" name="TextBox 18">
            <a:extLst>
              <a:ext uri="{FF2B5EF4-FFF2-40B4-BE49-F238E27FC236}">
                <a16:creationId xmlns:a16="http://schemas.microsoft.com/office/drawing/2014/main" id="{A714C674-5A8A-4546-8B4C-250F4DFA3F91}"/>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Occurrences are MT-ND1, MT-ND3, MT-ND4L, or MT-ND5</a:t>
            </a:r>
          </a:p>
        </p:txBody>
      </p:sp>
      <p:sp>
        <p:nvSpPr>
          <p:cNvPr id="20" name="Rounded Rectangle 19">
            <a:extLst>
              <a:ext uri="{FF2B5EF4-FFF2-40B4-BE49-F238E27FC236}">
                <a16:creationId xmlns:a16="http://schemas.microsoft.com/office/drawing/2014/main" id="{6E8E0C8C-7F4B-4E2C-9AC4-00B0E122210F}"/>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13D908-77AA-4EC2-8457-2F3AA27C7FE7}"/>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Other overlap</a:t>
            </a:r>
          </a:p>
        </p:txBody>
      </p:sp>
      <p:sp>
        <p:nvSpPr>
          <p:cNvPr id="22" name="TextBox 21">
            <a:extLst>
              <a:ext uri="{FF2B5EF4-FFF2-40B4-BE49-F238E27FC236}">
                <a16:creationId xmlns:a16="http://schemas.microsoft.com/office/drawing/2014/main" id="{9D28BF30-E253-4B89-A5E5-63303F7F09A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2 of 70</a:t>
            </a:r>
          </a:p>
        </p:txBody>
      </p:sp>
      <p:sp>
        <p:nvSpPr>
          <p:cNvPr id="23" name="TextBox 22">
            <a:extLst>
              <a:ext uri="{FF2B5EF4-FFF2-40B4-BE49-F238E27FC236}">
                <a16:creationId xmlns:a16="http://schemas.microsoft.com/office/drawing/2014/main" id="{B22B4619-F3BE-4FE8-B56E-A179B0E7333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only other exact overlap gene is PIM1</a:t>
            </a:r>
          </a:p>
        </p:txBody>
      </p:sp>
      <p:sp>
        <p:nvSpPr>
          <p:cNvPr id="24" name="Rounded Rectangle 23">
            <a:extLst>
              <a:ext uri="{FF2B5EF4-FFF2-40B4-BE49-F238E27FC236}">
                <a16:creationId xmlns:a16="http://schemas.microsoft.com/office/drawing/2014/main" id="{6DA145B3-3CC8-42EB-A1CB-383A6D840DC1}"/>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15BAB0A-9470-4A54-A38A-A18DAAE9A1A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WDR82 expression</a:t>
            </a:r>
          </a:p>
        </p:txBody>
      </p:sp>
      <p:sp>
        <p:nvSpPr>
          <p:cNvPr id="26" name="TextBox 25">
            <a:extLst>
              <a:ext uri="{FF2B5EF4-FFF2-40B4-BE49-F238E27FC236}">
                <a16:creationId xmlns:a16="http://schemas.microsoft.com/office/drawing/2014/main" id="{80C6E07F-2F04-4085-92BF-E42B8450CA75}"/>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0 of 18 paper DEGs</a:t>
            </a:r>
          </a:p>
        </p:txBody>
      </p:sp>
      <p:sp>
        <p:nvSpPr>
          <p:cNvPr id="27" name="TextBox 26">
            <a:extLst>
              <a:ext uri="{FF2B5EF4-FFF2-40B4-BE49-F238E27FC236}">
                <a16:creationId xmlns:a16="http://schemas.microsoft.com/office/drawing/2014/main" id="{D629ABC0-05A9-41EF-AD94-0E662EC14FA0}"/>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Thirteen KDA calls had FDR below 0.05, but effects stayed below the stored size threshold</a:t>
            </a:r>
          </a:p>
        </p:txBody>
      </p:sp>
    </p:spTree>
    <p:extLst>
      <p:ext uri="{BB962C8B-B14F-4D97-AF65-F5344CB8AC3E}">
        <p14:creationId xmlns:p14="http://schemas.microsoft.com/office/powerpoint/2010/main" val="1194657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3577BC-B712-49C5-8783-0ED5DDDA082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recurrence concentrates in female ε3/ε3 excitatory neurons</a:t>
            </a:r>
          </a:p>
        </p:txBody>
      </p:sp>
      <p:sp>
        <p:nvSpPr>
          <p:cNvPr id="3" name="TextBox 2">
            <a:extLst>
              <a:ext uri="{FF2B5EF4-FFF2-40B4-BE49-F238E27FC236}">
                <a16:creationId xmlns:a16="http://schemas.microsoft.com/office/drawing/2014/main" id="{55BC1B4F-CAE8-42A2-8371-AE7622605D1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appears in four strata but most supporting KDA calls come from one group.</a:t>
            </a:r>
          </a:p>
        </p:txBody>
      </p:sp>
      <p:sp>
        <p:nvSpPr>
          <p:cNvPr id="4" name="Rounded Rectangle 3">
            <a:extLst>
              <a:ext uri="{FF2B5EF4-FFF2-40B4-BE49-F238E27FC236}">
                <a16:creationId xmlns:a16="http://schemas.microsoft.com/office/drawing/2014/main" id="{00CB042C-54F6-4FBA-985B-2482487986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25C6F-53B8-41E4-8AB2-B73C933DFE8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FEMALE Ε2</a:t>
            </a:r>
          </a:p>
        </p:txBody>
      </p:sp>
      <p:sp>
        <p:nvSpPr>
          <p:cNvPr id="6" name="TextBox 5">
            <a:extLst>
              <a:ext uri="{FF2B5EF4-FFF2-40B4-BE49-F238E27FC236}">
                <a16:creationId xmlns:a16="http://schemas.microsoft.com/office/drawing/2014/main" id="{F000513F-0312-46CD-A648-A26CBE5522B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 KDA calls</a:t>
            </a:r>
          </a:p>
        </p:txBody>
      </p:sp>
      <p:sp>
        <p:nvSpPr>
          <p:cNvPr id="7" name="TextBox 6">
            <a:extLst>
              <a:ext uri="{FF2B5EF4-FFF2-40B4-BE49-F238E27FC236}">
                <a16:creationId xmlns:a16="http://schemas.microsoft.com/office/drawing/2014/main" id="{164AF88A-EA03-4310-BAB3-81FC5ACED44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appears in two excitatory fine-cell queries.</a:t>
            </a:r>
          </a:p>
        </p:txBody>
      </p:sp>
      <p:sp>
        <p:nvSpPr>
          <p:cNvPr id="8" name="Rounded Rectangle 7">
            <a:extLst>
              <a:ext uri="{FF2B5EF4-FFF2-40B4-BE49-F238E27FC236}">
                <a16:creationId xmlns:a16="http://schemas.microsoft.com/office/drawing/2014/main" id="{E362C373-5357-46CE-9D06-755B64ED7110}"/>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EC43-6F1F-451C-9E54-6595672D0CC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Ε3/Ε3</a:t>
            </a:r>
          </a:p>
        </p:txBody>
      </p:sp>
      <p:sp>
        <p:nvSpPr>
          <p:cNvPr id="10" name="TextBox 9">
            <a:extLst>
              <a:ext uri="{FF2B5EF4-FFF2-40B4-BE49-F238E27FC236}">
                <a16:creationId xmlns:a16="http://schemas.microsoft.com/office/drawing/2014/main" id="{9606A6E2-34B7-4693-8D6C-43D85ABAE7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 KDA calls</a:t>
            </a:r>
          </a:p>
        </p:txBody>
      </p:sp>
      <p:sp>
        <p:nvSpPr>
          <p:cNvPr id="11" name="TextBox 10">
            <a:extLst>
              <a:ext uri="{FF2B5EF4-FFF2-40B4-BE49-F238E27FC236}">
                <a16:creationId xmlns:a16="http://schemas.microsoft.com/office/drawing/2014/main" id="{4D0ECC26-9E6E-47FB-B8DD-87842386620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group supplies most of the WDR82 recurrence and the strongest gene-set support.</a:t>
            </a:r>
          </a:p>
        </p:txBody>
      </p:sp>
      <p:sp>
        <p:nvSpPr>
          <p:cNvPr id="12" name="Rounded Rectangle 11">
            <a:extLst>
              <a:ext uri="{FF2B5EF4-FFF2-40B4-BE49-F238E27FC236}">
                <a16:creationId xmlns:a16="http://schemas.microsoft.com/office/drawing/2014/main" id="{9A7C7EEB-D71B-456A-BAA9-0E523A953F41}"/>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B739942-0EB5-4188-8FF6-288E39BF17B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MALE GROUPS</a:t>
            </a:r>
          </a:p>
        </p:txBody>
      </p:sp>
      <p:sp>
        <p:nvSpPr>
          <p:cNvPr id="14" name="TextBox 13">
            <a:extLst>
              <a:ext uri="{FF2B5EF4-FFF2-40B4-BE49-F238E27FC236}">
                <a16:creationId xmlns:a16="http://schemas.microsoft.com/office/drawing/2014/main" id="{B395D5CF-F802-42FB-B9C1-D6270E06E6E3}"/>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 KDA calls</a:t>
            </a:r>
          </a:p>
        </p:txBody>
      </p:sp>
      <p:sp>
        <p:nvSpPr>
          <p:cNvPr id="15" name="TextBox 14">
            <a:extLst>
              <a:ext uri="{FF2B5EF4-FFF2-40B4-BE49-F238E27FC236}">
                <a16:creationId xmlns:a16="http://schemas.microsoft.com/office/drawing/2014/main" id="{8A7ED49C-3956-4B2A-B158-7C40AE0E050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Two male ε3/ε3 and three male ε4 WDR82 is also returned from these excitatory KDA calls.</a:t>
            </a:r>
          </a:p>
        </p:txBody>
      </p:sp>
      <p:sp>
        <p:nvSpPr>
          <p:cNvPr id="16" name="Rounded Rectangle 15">
            <a:extLst>
              <a:ext uri="{FF2B5EF4-FFF2-40B4-BE49-F238E27FC236}">
                <a16:creationId xmlns:a16="http://schemas.microsoft.com/office/drawing/2014/main" id="{98310792-F3F2-490C-B04A-C84A298FCEE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3A01EF-6750-4D05-9993-77C0638107B4}"/>
              </a:ext>
            </a:extLst>
          </p:cNvPr>
          <p:cNvSpPr>
            <a:spLocks noGrp="1"/>
          </p:cNvSpPr>
          <p:nvPr/>
        </p:nvSpPr>
        <p:spPr>
          <a:xfrm>
            <a:off x="896112" y="5888736"/>
            <a:ext cx="10405872" cy="3992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WDR82 could have been returned from a KDA call in 11 matching SEA-AD excitatory backgrounds but was not, although SEA-AD supports the female ε3/ε3 core MT gene pattern.</a:t>
            </a:r>
          </a:p>
        </p:txBody>
      </p:sp>
    </p:spTree>
    <p:extLst>
      <p:ext uri="{BB962C8B-B14F-4D97-AF65-F5344CB8AC3E}">
        <p14:creationId xmlns:p14="http://schemas.microsoft.com/office/powerpoint/2010/main" val="132881313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57B15C-FA8E-42D0-B963-DC46025F0D0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chromatin candidate may track mitochondrial RNA abundance</a:t>
            </a:r>
          </a:p>
        </p:txBody>
      </p:sp>
      <p:sp>
        <p:nvSpPr>
          <p:cNvPr id="3" name="TextBox 2">
            <a:extLst>
              <a:ext uri="{FF2B5EF4-FFF2-40B4-BE49-F238E27FC236}">
                <a16:creationId xmlns:a16="http://schemas.microsoft.com/office/drawing/2014/main" id="{B06C8095-1533-4338-A18C-FFDA6CA2D4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signal could reflect transcriptional coupling, global mitochondrial RNA, or network construction.</a:t>
            </a:r>
          </a:p>
        </p:txBody>
      </p:sp>
      <p:sp>
        <p:nvSpPr>
          <p:cNvPr id="4" name="Rounded Rectangle 3">
            <a:extLst>
              <a:ext uri="{FF2B5EF4-FFF2-40B4-BE49-F238E27FC236}">
                <a16:creationId xmlns:a16="http://schemas.microsoft.com/office/drawing/2014/main" id="{895C1DF2-F876-4518-965C-3A5512E7F96F}"/>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610171-ADDC-4D5A-BC4E-290CD0825C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MECHANISTIC HYPOTHESIS</a:t>
            </a:r>
          </a:p>
        </p:txBody>
      </p:sp>
      <p:sp>
        <p:nvSpPr>
          <p:cNvPr id="6" name="TextBox 5">
            <a:extLst>
              <a:ext uri="{FF2B5EF4-FFF2-40B4-BE49-F238E27FC236}">
                <a16:creationId xmlns:a16="http://schemas.microsoft.com/office/drawing/2014/main" id="{089ABC3D-679B-4132-9B68-3959E398190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Nuclear chromatin state influences mtRNA</a:t>
            </a:r>
          </a:p>
        </p:txBody>
      </p:sp>
      <p:sp>
        <p:nvSpPr>
          <p:cNvPr id="7" name="TextBox 6">
            <a:extLst>
              <a:ext uri="{FF2B5EF4-FFF2-40B4-BE49-F238E27FC236}">
                <a16:creationId xmlns:a16="http://schemas.microsoft.com/office/drawing/2014/main" id="{70C692F7-A208-403E-82B4-1E71D81F50D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could indirectly affect mitochondrial pathways through nuclear regulation.</a:t>
            </a:r>
          </a:p>
        </p:txBody>
      </p:sp>
      <p:sp>
        <p:nvSpPr>
          <p:cNvPr id="8" name="Rounded Rectangle 7">
            <a:extLst>
              <a:ext uri="{FF2B5EF4-FFF2-40B4-BE49-F238E27FC236}">
                <a16:creationId xmlns:a16="http://schemas.microsoft.com/office/drawing/2014/main" id="{9C86A597-D8D9-4B11-8F54-91E488B89F2B}"/>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6ADC6BE-4EC5-4984-825C-2ADFE79B37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ALTERNATIVE EXPLANATION</a:t>
            </a:r>
          </a:p>
        </p:txBody>
      </p:sp>
      <p:sp>
        <p:nvSpPr>
          <p:cNvPr id="10" name="TextBox 9">
            <a:extLst>
              <a:ext uri="{FF2B5EF4-FFF2-40B4-BE49-F238E27FC236}">
                <a16:creationId xmlns:a16="http://schemas.microsoft.com/office/drawing/2014/main" id="{98BAF5EC-0F0B-45F0-A2A0-3909E487733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read fraction</a:t>
            </a:r>
          </a:p>
        </p:txBody>
      </p:sp>
      <p:sp>
        <p:nvSpPr>
          <p:cNvPr id="11" name="TextBox 10">
            <a:extLst>
              <a:ext uri="{FF2B5EF4-FFF2-40B4-BE49-F238E27FC236}">
                <a16:creationId xmlns:a16="http://schemas.microsoft.com/office/drawing/2014/main" id="{0B3042C7-B44D-4868-8AD0-8FD9708723E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repeated core MT gene cluster may track overall mitochondrial RNA abundance or sample quality.</a:t>
            </a:r>
          </a:p>
        </p:txBody>
      </p:sp>
      <p:sp>
        <p:nvSpPr>
          <p:cNvPr id="12" name="Rounded Rectangle 11">
            <a:extLst>
              <a:ext uri="{FF2B5EF4-FFF2-40B4-BE49-F238E27FC236}">
                <a16:creationId xmlns:a16="http://schemas.microsoft.com/office/drawing/2014/main" id="{79E4BDE7-F785-401E-A218-544AE994E86D}"/>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A6AAC8-7EC5-49C1-8DFB-5FF71E47E44E}"/>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NETWORK EXPLANATION</a:t>
            </a:r>
          </a:p>
        </p:txBody>
      </p:sp>
      <p:sp>
        <p:nvSpPr>
          <p:cNvPr id="14" name="TextBox 13">
            <a:extLst>
              <a:ext uri="{FF2B5EF4-FFF2-40B4-BE49-F238E27FC236}">
                <a16:creationId xmlns:a16="http://schemas.microsoft.com/office/drawing/2014/main" id="{53677C3F-1BC2-4324-9638-5FB2DFC538B4}"/>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Four linked genes dominate</a:t>
            </a:r>
          </a:p>
        </p:txBody>
      </p:sp>
      <p:sp>
        <p:nvSpPr>
          <p:cNvPr id="15" name="TextBox 14">
            <a:extLst>
              <a:ext uri="{FF2B5EF4-FFF2-40B4-BE49-F238E27FC236}">
                <a16:creationId xmlns:a16="http://schemas.microsoft.com/office/drawing/2014/main" id="{F0319EB6-B457-4138-A236-1FCA7301057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narrow neighborhood may amplify one polycistronic signal rather than four mechanisms.</a:t>
            </a:r>
          </a:p>
        </p:txBody>
      </p:sp>
      <p:sp>
        <p:nvSpPr>
          <p:cNvPr id="16" name="Rounded Rectangle 15">
            <a:extLst>
              <a:ext uri="{FF2B5EF4-FFF2-40B4-BE49-F238E27FC236}">
                <a16:creationId xmlns:a16="http://schemas.microsoft.com/office/drawing/2014/main" id="{69447BE5-0CDC-46E5-B7CE-C76E83C13C8B}"/>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915CA14-8CE6-46E8-8B14-853C11F418F9}"/>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2CA5A8A-58B5-455A-8344-9898C2FF0B5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Removing core MT genes from the queries is an important sensitivity test before mechanistic interpretation.</a:t>
            </a:r>
          </a:p>
        </p:txBody>
      </p:sp>
    </p:spTree>
    <p:extLst>
      <p:ext uri="{BB962C8B-B14F-4D97-AF65-F5344CB8AC3E}">
        <p14:creationId xmlns:p14="http://schemas.microsoft.com/office/powerpoint/2010/main" val="12291768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39ADA1-1264-4D43-BF84-FE3F6710FB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9</a:t>
            </a:r>
          </a:p>
        </p:txBody>
      </p:sp>
      <p:sp>
        <p:nvSpPr>
          <p:cNvPr id="3" name="TextBox 2">
            <a:extLst>
              <a:ext uri="{FF2B5EF4-FFF2-40B4-BE49-F238E27FC236}">
                <a16:creationId xmlns:a16="http://schemas.microsoft.com/office/drawing/2014/main" id="{9FF69022-10FC-43B0-BAA5-4043EF6DA07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D261BC36-F294-488B-B684-312D777F957E}"/>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EDEAE-B995-40CF-91AF-682213E514F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Lee and Skalnik 2008</a:t>
            </a:r>
          </a:p>
        </p:txBody>
      </p:sp>
      <p:sp>
        <p:nvSpPr>
          <p:cNvPr id="6" name="TextBox 5">
            <a:extLst>
              <a:ext uri="{FF2B5EF4-FFF2-40B4-BE49-F238E27FC236}">
                <a16:creationId xmlns:a16="http://schemas.microsoft.com/office/drawing/2014/main" id="{21F7AFCC-881A-4B36-B978-92626603BBF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chromatin biology</a:t>
            </a:r>
          </a:p>
        </p:txBody>
      </p:sp>
      <p:sp>
        <p:nvSpPr>
          <p:cNvPr id="7" name="TextBox 6">
            <a:extLst>
              <a:ext uri="{FF2B5EF4-FFF2-40B4-BE49-F238E27FC236}">
                <a16:creationId xmlns:a16="http://schemas.microsoft.com/office/drawing/2014/main" id="{84B82749-6E60-431C-A6D8-3B5817954A2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6C21AFCE-3C0C-4917-B701-2522EC77B7B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WDR82 in SETD1A/B complexes and H3K4 trimethylation.</a:t>
            </a:r>
          </a:p>
        </p:txBody>
      </p:sp>
      <p:sp>
        <p:nvSpPr>
          <p:cNvPr id="9" name="TextBox 8">
            <a:extLst>
              <a:ext uri="{FF2B5EF4-FFF2-40B4-BE49-F238E27FC236}">
                <a16:creationId xmlns:a16="http://schemas.microsoft.com/office/drawing/2014/main" id="{838C3FFA-354C-4870-8119-095EF82C9F4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FCB5B94-737A-422A-A1C9-2F6170977A3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Provides no direct mitochondrial mechanism.</a:t>
            </a:r>
          </a:p>
        </p:txBody>
      </p:sp>
      <p:sp>
        <p:nvSpPr>
          <p:cNvPr id="11" name="Rounded Rectangle 10">
            <a:extLst>
              <a:ext uri="{FF2B5EF4-FFF2-40B4-BE49-F238E27FC236}">
                <a16:creationId xmlns:a16="http://schemas.microsoft.com/office/drawing/2014/main" id="{E36E3500-90C9-4469-8EBA-F3BD35B5B277}"/>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C744286-96AC-4427-83BD-3370ACCD386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Mercer et al. 2011</a:t>
            </a:r>
          </a:p>
        </p:txBody>
      </p:sp>
      <p:sp>
        <p:nvSpPr>
          <p:cNvPr id="13" name="TextBox 12">
            <a:extLst>
              <a:ext uri="{FF2B5EF4-FFF2-40B4-BE49-F238E27FC236}">
                <a16:creationId xmlns:a16="http://schemas.microsoft.com/office/drawing/2014/main" id="{BE5F6A61-72D0-46CE-9F9D-E47F5BC9C60C}"/>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Mitochondrial RNA processing</a:t>
            </a:r>
          </a:p>
        </p:txBody>
      </p:sp>
      <p:sp>
        <p:nvSpPr>
          <p:cNvPr id="14" name="TextBox 13">
            <a:extLst>
              <a:ext uri="{FF2B5EF4-FFF2-40B4-BE49-F238E27FC236}">
                <a16:creationId xmlns:a16="http://schemas.microsoft.com/office/drawing/2014/main" id="{1F36A31B-0769-4CE5-9CC2-0B9057CF0A4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76A8C47-E8F0-4044-9210-F9C8370B4443}"/>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core MT genes are transcribed within long polycistronic RNAs.</a:t>
            </a:r>
          </a:p>
        </p:txBody>
      </p:sp>
      <p:sp>
        <p:nvSpPr>
          <p:cNvPr id="16" name="TextBox 15">
            <a:extLst>
              <a:ext uri="{FF2B5EF4-FFF2-40B4-BE49-F238E27FC236}">
                <a16:creationId xmlns:a16="http://schemas.microsoft.com/office/drawing/2014/main" id="{DD92914E-7AC8-4F6F-9A77-054D9D11213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8287521-685F-47B2-9192-4DEA7A0BBA7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connect WDR82 with mitochondrial transcription.</a:t>
            </a:r>
          </a:p>
        </p:txBody>
      </p:sp>
      <p:sp>
        <p:nvSpPr>
          <p:cNvPr id="18" name="Rounded Rectangle 17">
            <a:extLst>
              <a:ext uri="{FF2B5EF4-FFF2-40B4-BE49-F238E27FC236}">
                <a16:creationId xmlns:a16="http://schemas.microsoft.com/office/drawing/2014/main" id="{C0B7FC5B-68CB-4457-A32D-CBAEF6AB0E0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D5EA5C3E-6315-490E-AC21-CDCEF0907C52}"/>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Zhu et al. 2015</a:t>
            </a:r>
          </a:p>
        </p:txBody>
      </p:sp>
      <p:sp>
        <p:nvSpPr>
          <p:cNvPr id="20" name="TextBox 19">
            <a:extLst>
              <a:ext uri="{FF2B5EF4-FFF2-40B4-BE49-F238E27FC236}">
                <a16:creationId xmlns:a16="http://schemas.microsoft.com/office/drawing/2014/main" id="{A0F99D78-6E4B-43F8-8F49-3B164C77437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in AD expression</a:t>
            </a:r>
          </a:p>
        </p:txBody>
      </p:sp>
      <p:sp>
        <p:nvSpPr>
          <p:cNvPr id="21" name="TextBox 20">
            <a:extLst>
              <a:ext uri="{FF2B5EF4-FFF2-40B4-BE49-F238E27FC236}">
                <a16:creationId xmlns:a16="http://schemas.microsoft.com/office/drawing/2014/main" id="{96D7A8A8-DF2A-439A-8112-C04F8AE18408}"/>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B4F1E2-E827-4E5A-8E29-E08154D910DA}"/>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increased WDR82 and hub status in bulk hippocampal reanalysis.</a:t>
            </a:r>
          </a:p>
        </p:txBody>
      </p:sp>
      <p:sp>
        <p:nvSpPr>
          <p:cNvPr id="23" name="TextBox 22">
            <a:extLst>
              <a:ext uri="{FF2B5EF4-FFF2-40B4-BE49-F238E27FC236}">
                <a16:creationId xmlns:a16="http://schemas.microsoft.com/office/drawing/2014/main" id="{4426865A-B1FE-455C-A9EA-65BF458826C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3D5CCAB-FB1D-47FA-91EB-C11D14641679}"/>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Bulk reanalysis lacks cell-resolved external validation.</a:t>
            </a:r>
          </a:p>
        </p:txBody>
      </p:sp>
      <p:sp>
        <p:nvSpPr>
          <p:cNvPr id="25" name="Rounded Rectangle 24">
            <a:extLst>
              <a:ext uri="{FF2B5EF4-FFF2-40B4-BE49-F238E27FC236}">
                <a16:creationId xmlns:a16="http://schemas.microsoft.com/office/drawing/2014/main" id="{EA36AB37-E771-4BE9-8277-71CF154B689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6E150D6-F7CB-4C52-90FF-95731FB4C30B}"/>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6638461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A37315F-4C9F-42A5-998B-201DF734269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10</a:t>
            </a:r>
          </a:p>
        </p:txBody>
      </p:sp>
      <p:sp>
        <p:nvSpPr>
          <p:cNvPr id="3" name="Rectangle 2">
            <a:extLst>
              <a:ext uri="{FF2B5EF4-FFF2-40B4-BE49-F238E27FC236}">
                <a16:creationId xmlns:a16="http://schemas.microsoft.com/office/drawing/2014/main" id="{D82A6CED-CB25-4C33-866D-9CBDC645DA6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73FB08E8-8956-4827-88DB-F3103173F13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SELENOM links ER redox biology to mitochondrial protein production</a:t>
            </a:r>
          </a:p>
        </p:txBody>
      </p:sp>
      <p:sp>
        <p:nvSpPr>
          <p:cNvPr id="5" name="TextBox 4">
            <a:extLst>
              <a:ext uri="{FF2B5EF4-FFF2-40B4-BE49-F238E27FC236}">
                <a16:creationId xmlns:a16="http://schemas.microsoft.com/office/drawing/2014/main" id="{44021B8F-8A41-425E-9D1C-4F81E8BCEE92}"/>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recurrent gene returned from ROSMAP KDA calls.</a:t>
            </a:r>
          </a:p>
        </p:txBody>
      </p:sp>
      <p:sp>
        <p:nvSpPr>
          <p:cNvPr id="6" name="Rounded Rectangle 5">
            <a:extLst>
              <a:ext uri="{FF2B5EF4-FFF2-40B4-BE49-F238E27FC236}">
                <a16:creationId xmlns:a16="http://schemas.microsoft.com/office/drawing/2014/main" id="{AAF8E368-C796-44BA-99C7-F77398635149}"/>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C1AD072C-DCFB-460C-92ED-834DD7B72F5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82DD8406-EFB2-466C-A95A-4F375E658C1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169A47A-0070-4249-A45B-C63957021AF8}"/>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1034924A-8F59-439F-A417-A857F4EAFE2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AB65C9B-9A68-49FA-AE5E-0207D2669CF0}"/>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E55D9C9-AE40-4312-BFB9-3F1575A02950}"/>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6438963-E7CC-421C-AA39-E9324CC389F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23B3C5F-F468-44E8-A6C2-C11568E8ED1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50CB4E-D4FD-4820-928D-07586863E90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205388F7-7912-49C2-8E12-D36B5FCB51D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E3ACC1A0-7A63-4223-A381-1F2CE3B2811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9B44996-3F63-4110-A49E-1DF8EC29FC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87BBFCC-07BA-4EFB-BCC0-068D2E0FFF6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4571236-B70A-47CE-92CB-D719BDAF2B9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F627F4-DFA9-42C4-AF9D-C3BADE0E4AF6}"/>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SELENOM repeatedly sits near decreased mitochondrial-translation genes in neuronal queries.</a:t>
            </a:r>
          </a:p>
        </p:txBody>
      </p:sp>
    </p:spTree>
    <p:extLst>
      <p:ext uri="{BB962C8B-B14F-4D97-AF65-F5344CB8AC3E}">
        <p14:creationId xmlns:p14="http://schemas.microsoft.com/office/powerpoint/2010/main" val="5748846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25048A-935D-4BFD-BEEC-32E294D8B83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SELENOM connects ER redox control with mitochondrial protein production</a:t>
            </a:r>
          </a:p>
        </p:txBody>
      </p:sp>
      <p:sp>
        <p:nvSpPr>
          <p:cNvPr id="3" name="TextBox 2">
            <a:extLst>
              <a:ext uri="{FF2B5EF4-FFF2-40B4-BE49-F238E27FC236}">
                <a16:creationId xmlns:a16="http://schemas.microsoft.com/office/drawing/2014/main" id="{D3BC54F8-229E-4612-9FCF-BB8F5AB9B0A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endoplasmic reticulum, or ER, folds many proteins and helps regulate calcium and oxidation.</a:t>
            </a:r>
          </a:p>
        </p:txBody>
      </p:sp>
      <p:sp>
        <p:nvSpPr>
          <p:cNvPr id="4" name="Rounded Rectangle 3">
            <a:extLst>
              <a:ext uri="{FF2B5EF4-FFF2-40B4-BE49-F238E27FC236}">
                <a16:creationId xmlns:a16="http://schemas.microsoft.com/office/drawing/2014/main" id="{0CCC3B6B-D7D9-4C2B-A320-6946B7746EA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F861887-F1EC-40A3-87E2-912C717D303A}"/>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12 neuronal KDA calls</a:t>
            </a:r>
          </a:p>
        </p:txBody>
      </p:sp>
      <p:sp>
        <p:nvSpPr>
          <p:cNvPr id="6" name="Rounded Rectangle 5">
            <a:extLst>
              <a:ext uri="{FF2B5EF4-FFF2-40B4-BE49-F238E27FC236}">
                <a16:creationId xmlns:a16="http://schemas.microsoft.com/office/drawing/2014/main" id="{759D17D2-1868-4FEE-B8F9-F0E95F5E4FEA}"/>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E524B19-F525-4D2A-92D8-58C0AE86562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All six strata</a:t>
            </a:r>
          </a:p>
        </p:txBody>
      </p:sp>
      <p:sp>
        <p:nvSpPr>
          <p:cNvPr id="8" name="Rounded Rectangle 7">
            <a:extLst>
              <a:ext uri="{FF2B5EF4-FFF2-40B4-BE49-F238E27FC236}">
                <a16:creationId xmlns:a16="http://schemas.microsoft.com/office/drawing/2014/main" id="{59B65B70-174B-43A0-8922-9C3EDAAB180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30C86C-895A-44E3-94A8-4383A84CC8B2}"/>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ER redox and calcium</a:t>
            </a:r>
          </a:p>
        </p:txBody>
      </p:sp>
      <p:sp>
        <p:nvSpPr>
          <p:cNvPr id="10" name="Rounded Rectangle 9">
            <a:extLst>
              <a:ext uri="{FF2B5EF4-FFF2-40B4-BE49-F238E27FC236}">
                <a16:creationId xmlns:a16="http://schemas.microsoft.com/office/drawing/2014/main" id="{7B952B3E-3848-4CD9-B2AF-BE8178835C9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C5917DD-50E9-4250-81C9-51928DC52E77}"/>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Mitochondrial translation</a:t>
            </a:r>
          </a:p>
        </p:txBody>
      </p:sp>
      <p:sp>
        <p:nvSpPr>
          <p:cNvPr id="12" name="Rounded Rectangle 11">
            <a:extLst>
              <a:ext uri="{FF2B5EF4-FFF2-40B4-BE49-F238E27FC236}">
                <a16:creationId xmlns:a16="http://schemas.microsoft.com/office/drawing/2014/main" id="{4DE8C956-CF25-43E4-AE67-1382D39027E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06D35F-BCAC-40EF-B246-C1D6799A872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SELENOM</a:t>
            </a:r>
          </a:p>
        </p:txBody>
      </p:sp>
      <p:sp>
        <p:nvSpPr>
          <p:cNvPr id="14" name="TextBox 13">
            <a:extLst>
              <a:ext uri="{FF2B5EF4-FFF2-40B4-BE49-F238E27FC236}">
                <a16:creationId xmlns:a16="http://schemas.microsoft.com/office/drawing/2014/main" id="{442295C3-B4A3-460A-ACB4-FCC56A7F1FE0}"/>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ER redox protein</a:t>
            </a:r>
          </a:p>
        </p:txBody>
      </p:sp>
      <p:sp>
        <p:nvSpPr>
          <p:cNvPr id="15" name="TextBox 14">
            <a:extLst>
              <a:ext uri="{FF2B5EF4-FFF2-40B4-BE49-F238E27FC236}">
                <a16:creationId xmlns:a16="http://schemas.microsoft.com/office/drawing/2014/main" id="{37911221-0597-4BC4-8833-2698A7CE034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selenium-containing protein helps regulate reversible oxidation inside the ER.</a:t>
            </a:r>
          </a:p>
        </p:txBody>
      </p:sp>
      <p:sp>
        <p:nvSpPr>
          <p:cNvPr id="16" name="Rounded Rectangle 15">
            <a:extLst>
              <a:ext uri="{FF2B5EF4-FFF2-40B4-BE49-F238E27FC236}">
                <a16:creationId xmlns:a16="http://schemas.microsoft.com/office/drawing/2014/main" id="{03CC68D1-D9DA-442E-824B-8ED476870935}"/>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86DE238-E9DF-4EB3-9A36-4E6E50BBF8C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TRANSLATION</a:t>
            </a:r>
          </a:p>
        </p:txBody>
      </p:sp>
      <p:sp>
        <p:nvSpPr>
          <p:cNvPr id="18" name="TextBox 17">
            <a:extLst>
              <a:ext uri="{FF2B5EF4-FFF2-40B4-BE49-F238E27FC236}">
                <a16:creationId xmlns:a16="http://schemas.microsoft.com/office/drawing/2014/main" id="{77CED781-C8E6-47BF-A3AC-F2754A772C8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Protein production inside mitochondria</a:t>
            </a:r>
          </a:p>
        </p:txBody>
      </p:sp>
      <p:sp>
        <p:nvSpPr>
          <p:cNvPr id="19" name="TextBox 18">
            <a:extLst>
              <a:ext uri="{FF2B5EF4-FFF2-40B4-BE49-F238E27FC236}">
                <a16:creationId xmlns:a16="http://schemas.microsoft.com/office/drawing/2014/main" id="{2459F011-6AB6-4E7D-9FBF-8BE2A2ECCE2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Mitochondrial ribosomes and factors build proteins encoded by core MT genes.</a:t>
            </a:r>
          </a:p>
        </p:txBody>
      </p:sp>
      <p:sp>
        <p:nvSpPr>
          <p:cNvPr id="20" name="Rounded Rectangle 19">
            <a:extLst>
              <a:ext uri="{FF2B5EF4-FFF2-40B4-BE49-F238E27FC236}">
                <a16:creationId xmlns:a16="http://schemas.microsoft.com/office/drawing/2014/main" id="{C8C1AA6C-8E07-44FC-BA6D-4D8952303E58}"/>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0BA2804-00A6-4362-9CF6-B4442CA667F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OBSERVED LINK</a:t>
            </a:r>
          </a:p>
        </p:txBody>
      </p:sp>
      <p:sp>
        <p:nvSpPr>
          <p:cNvPr id="22" name="TextBox 21">
            <a:extLst>
              <a:ext uri="{FF2B5EF4-FFF2-40B4-BE49-F238E27FC236}">
                <a16:creationId xmlns:a16="http://schemas.microsoft.com/office/drawing/2014/main" id="{D9D9C46E-1536-47F7-92D7-F3910985FE2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genes mostly down</a:t>
            </a:r>
          </a:p>
        </p:txBody>
      </p:sp>
      <p:sp>
        <p:nvSpPr>
          <p:cNvPr id="23" name="TextBox 22">
            <a:extLst>
              <a:ext uri="{FF2B5EF4-FFF2-40B4-BE49-F238E27FC236}">
                <a16:creationId xmlns:a16="http://schemas.microsoft.com/office/drawing/2014/main" id="{6AA0E181-361D-48CB-9FB5-FF568E55A4D6}"/>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exact network neighborhood connects the ER candidate with lower expression of mitochondrial translation genes.</a:t>
            </a:r>
          </a:p>
        </p:txBody>
      </p:sp>
      <p:sp>
        <p:nvSpPr>
          <p:cNvPr id="24" name="Rounded Rectangle 23">
            <a:extLst>
              <a:ext uri="{FF2B5EF4-FFF2-40B4-BE49-F238E27FC236}">
                <a16:creationId xmlns:a16="http://schemas.microsoft.com/office/drawing/2014/main" id="{0592564E-9542-4F5F-9B24-4FB9546E4AC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66ECDC3-B901-402A-BFB6-301059DDAB3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SELENOM is not part of the mitochondrial ribosome. KDA links two cellular systems through network proximity.</a:t>
            </a:r>
          </a:p>
        </p:txBody>
      </p:sp>
    </p:spTree>
    <p:extLst>
      <p:ext uri="{BB962C8B-B14F-4D97-AF65-F5344CB8AC3E}">
        <p14:creationId xmlns:p14="http://schemas.microsoft.com/office/powerpoint/2010/main" val="144623237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21B74E3-AB8F-48D2-8577-5E207E6BE4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mitochondrial-translation genes dominate the SELENOM neighborhood</a:t>
            </a:r>
          </a:p>
        </p:txBody>
      </p:sp>
      <p:sp>
        <p:nvSpPr>
          <p:cNvPr id="3" name="TextBox 2">
            <a:extLst>
              <a:ext uri="{FF2B5EF4-FFF2-40B4-BE49-F238E27FC236}">
                <a16:creationId xmlns:a16="http://schemas.microsoft.com/office/drawing/2014/main" id="{EAF1DA34-721D-4B7F-BC6B-284728F64E1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recurs across groups, so the result is not sex- or APOE-specific.</a:t>
            </a:r>
          </a:p>
        </p:txBody>
      </p:sp>
      <p:sp>
        <p:nvSpPr>
          <p:cNvPr id="4" name="Rounded Rectangle 3">
            <a:extLst>
              <a:ext uri="{FF2B5EF4-FFF2-40B4-BE49-F238E27FC236}">
                <a16:creationId xmlns:a16="http://schemas.microsoft.com/office/drawing/2014/main" id="{B80902C0-095D-493F-960E-5450F231C91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9F4C998-1FAE-4AD5-8F7C-E78DD528019F}"/>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a:t>
            </a:r>
          </a:p>
        </p:txBody>
      </p:sp>
      <p:sp>
        <p:nvSpPr>
          <p:cNvPr id="6" name="TextBox 5">
            <a:extLst>
              <a:ext uri="{FF2B5EF4-FFF2-40B4-BE49-F238E27FC236}">
                <a16:creationId xmlns:a16="http://schemas.microsoft.com/office/drawing/2014/main" id="{E059FF04-A750-46F7-83F4-009DDFB6FCE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KDA calls</a:t>
            </a:r>
          </a:p>
        </p:txBody>
      </p:sp>
      <p:sp>
        <p:nvSpPr>
          <p:cNvPr id="7" name="TextBox 6">
            <a:extLst>
              <a:ext uri="{FF2B5EF4-FFF2-40B4-BE49-F238E27FC236}">
                <a16:creationId xmlns:a16="http://schemas.microsoft.com/office/drawing/2014/main" id="{4D021A94-834F-451B-B75F-D8F125B70D7B}"/>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excitatory, 2 inhibitory</a:t>
            </a:r>
          </a:p>
        </p:txBody>
      </p:sp>
      <p:sp>
        <p:nvSpPr>
          <p:cNvPr id="8" name="Rounded Rectangle 7">
            <a:extLst>
              <a:ext uri="{FF2B5EF4-FFF2-40B4-BE49-F238E27FC236}">
                <a16:creationId xmlns:a16="http://schemas.microsoft.com/office/drawing/2014/main" id="{479C9FF7-EC84-454E-B87F-996E75E637D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039420D-4087-467E-A9C4-B27E45272B1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51</a:t>
            </a:r>
          </a:p>
        </p:txBody>
      </p:sp>
      <p:sp>
        <p:nvSpPr>
          <p:cNvPr id="10" name="TextBox 9">
            <a:extLst>
              <a:ext uri="{FF2B5EF4-FFF2-40B4-BE49-F238E27FC236}">
                <a16:creationId xmlns:a16="http://schemas.microsoft.com/office/drawing/2014/main" id="{01E3F8C2-F2E3-45F5-8BEA-59E9C2467A8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2CBEA001-8398-49D8-B802-AC7DBDAAD21D}"/>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27 translation genes</a:t>
            </a:r>
          </a:p>
        </p:txBody>
      </p:sp>
      <p:sp>
        <p:nvSpPr>
          <p:cNvPr id="12" name="Rounded Rectangle 11">
            <a:extLst>
              <a:ext uri="{FF2B5EF4-FFF2-40B4-BE49-F238E27FC236}">
                <a16:creationId xmlns:a16="http://schemas.microsoft.com/office/drawing/2014/main" id="{3FF76E23-954D-4A34-BFF3-E01B70C8B1F4}"/>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776E1F0-8D9D-45F2-8002-F8952774B882}"/>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11/12</a:t>
            </a:r>
          </a:p>
        </p:txBody>
      </p:sp>
      <p:sp>
        <p:nvSpPr>
          <p:cNvPr id="14" name="TextBox 13">
            <a:extLst>
              <a:ext uri="{FF2B5EF4-FFF2-40B4-BE49-F238E27FC236}">
                <a16:creationId xmlns:a16="http://schemas.microsoft.com/office/drawing/2014/main" id="{7A776ADF-02EC-4E24-8FA5-673EA89B9BC4}"/>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7C88409E-0F7C-476E-A00A-66C6D8E5315D}"/>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B81D0D4-8592-477D-9387-D054683E836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C1054FA-D0A0-41E1-845D-89EDCC1076D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direction</a:t>
            </a:r>
          </a:p>
        </p:txBody>
      </p:sp>
      <p:sp>
        <p:nvSpPr>
          <p:cNvPr id="18" name="TextBox 17">
            <a:extLst>
              <a:ext uri="{FF2B5EF4-FFF2-40B4-BE49-F238E27FC236}">
                <a16:creationId xmlns:a16="http://schemas.microsoft.com/office/drawing/2014/main" id="{B27210B7-C4CC-41A0-829C-2D6549BAB35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22 of 27 down</a:t>
            </a:r>
          </a:p>
        </p:txBody>
      </p:sp>
      <p:sp>
        <p:nvSpPr>
          <p:cNvPr id="19" name="TextBox 18">
            <a:extLst>
              <a:ext uri="{FF2B5EF4-FFF2-40B4-BE49-F238E27FC236}">
                <a16:creationId xmlns:a16="http://schemas.microsoft.com/office/drawing/2014/main" id="{FFB330F5-B8B2-418A-81AD-1C58BAA57F9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mitochondrial-translation overlaps show lower gene expression in AD</a:t>
            </a:r>
          </a:p>
        </p:txBody>
      </p:sp>
      <p:sp>
        <p:nvSpPr>
          <p:cNvPr id="20" name="Rounded Rectangle 19">
            <a:extLst>
              <a:ext uri="{FF2B5EF4-FFF2-40B4-BE49-F238E27FC236}">
                <a16:creationId xmlns:a16="http://schemas.microsoft.com/office/drawing/2014/main" id="{5124F938-A41A-4805-BD42-7FA0ED50CEBC}"/>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E69DA5F-5A06-4327-8981-A6CA33BA67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Repeated neighbors</a:t>
            </a:r>
          </a:p>
        </p:txBody>
      </p:sp>
      <p:sp>
        <p:nvSpPr>
          <p:cNvPr id="22" name="TextBox 21">
            <a:extLst>
              <a:ext uri="{FF2B5EF4-FFF2-40B4-BE49-F238E27FC236}">
                <a16:creationId xmlns:a16="http://schemas.microsoft.com/office/drawing/2014/main" id="{8FF084EE-59CB-4E89-96FE-CB67147C78B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TUFM, MRPS7</a:t>
            </a:r>
          </a:p>
        </p:txBody>
      </p:sp>
      <p:sp>
        <p:nvSpPr>
          <p:cNvPr id="23" name="TextBox 22">
            <a:extLst>
              <a:ext uri="{FF2B5EF4-FFF2-40B4-BE49-F238E27FC236}">
                <a16:creationId xmlns:a16="http://schemas.microsoft.com/office/drawing/2014/main" id="{BCF5FACD-DCE9-4190-8C0C-1B3D2F8BDD9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CLPP and MRPS26 also recur in the exact KDA neighborhood</a:t>
            </a:r>
          </a:p>
        </p:txBody>
      </p:sp>
      <p:sp>
        <p:nvSpPr>
          <p:cNvPr id="24" name="Rounded Rectangle 23">
            <a:extLst>
              <a:ext uri="{FF2B5EF4-FFF2-40B4-BE49-F238E27FC236}">
                <a16:creationId xmlns:a16="http://schemas.microsoft.com/office/drawing/2014/main" id="{57AF983D-0F7E-4804-BC13-D1AE82663D1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B76E8CF5-5C1A-4EC2-ABD3-78A13094D48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SELENOM itself</a:t>
            </a:r>
          </a:p>
        </p:txBody>
      </p:sp>
      <p:sp>
        <p:nvSpPr>
          <p:cNvPr id="26" name="TextBox 25">
            <a:extLst>
              <a:ext uri="{FF2B5EF4-FFF2-40B4-BE49-F238E27FC236}">
                <a16:creationId xmlns:a16="http://schemas.microsoft.com/office/drawing/2014/main" id="{3D1F4111-3C4B-46FA-A9AF-1148415B2D36}"/>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12</a:t>
            </a:r>
          </a:p>
        </p:txBody>
      </p:sp>
      <p:sp>
        <p:nvSpPr>
          <p:cNvPr id="27" name="TextBox 26">
            <a:extLst>
              <a:ext uri="{FF2B5EF4-FFF2-40B4-BE49-F238E27FC236}">
                <a16:creationId xmlns:a16="http://schemas.microsoft.com/office/drawing/2014/main" id="{7B93D71D-961F-4FB5-A06E-D4A15158ADD1}"/>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gene returned from KDA calls also changes expression frequently</a:t>
            </a:r>
          </a:p>
        </p:txBody>
      </p:sp>
    </p:spTree>
    <p:extLst>
      <p:ext uri="{BB962C8B-B14F-4D97-AF65-F5344CB8AC3E}">
        <p14:creationId xmlns:p14="http://schemas.microsoft.com/office/powerpoint/2010/main" val="173846250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A4EE6E-0343-4FDF-BCD2-55656C5CE6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Cross-cohort and genetic evidence do not yet support SELENOM directly</a:t>
            </a:r>
          </a:p>
        </p:txBody>
      </p:sp>
      <p:sp>
        <p:nvSpPr>
          <p:cNvPr id="3" name="TextBox 2">
            <a:extLst>
              <a:ext uri="{FF2B5EF4-FFF2-40B4-BE49-F238E27FC236}">
                <a16:creationId xmlns:a16="http://schemas.microsoft.com/office/drawing/2014/main" id="{58FC2311-DB43-4F16-B2F5-7C5FA0E224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ROSMAP recurrence and coherent neighborhood remain the main evidence.</a:t>
            </a:r>
          </a:p>
        </p:txBody>
      </p:sp>
      <p:sp>
        <p:nvSpPr>
          <p:cNvPr id="4" name="Rounded Rectangle 3">
            <a:extLst>
              <a:ext uri="{FF2B5EF4-FFF2-40B4-BE49-F238E27FC236}">
                <a16:creationId xmlns:a16="http://schemas.microsoft.com/office/drawing/2014/main" id="{911ABC21-FD78-4DEE-A5D3-635418BB52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62159CA-286E-4728-A718-AAC584AB721D}"/>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SEA-AD TESTABILITY</a:t>
            </a:r>
          </a:p>
        </p:txBody>
      </p:sp>
      <p:sp>
        <p:nvSpPr>
          <p:cNvPr id="6" name="TextBox 5">
            <a:extLst>
              <a:ext uri="{FF2B5EF4-FFF2-40B4-BE49-F238E27FC236}">
                <a16:creationId xmlns:a16="http://schemas.microsoft.com/office/drawing/2014/main" id="{48E0EAD5-1B12-4153-9406-C3BF595AA83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10 matching backgrounds</a:t>
            </a:r>
          </a:p>
        </p:txBody>
      </p:sp>
      <p:sp>
        <p:nvSpPr>
          <p:cNvPr id="7" name="TextBox 6">
            <a:extLst>
              <a:ext uri="{FF2B5EF4-FFF2-40B4-BE49-F238E27FC236}">
                <a16:creationId xmlns:a16="http://schemas.microsoft.com/office/drawing/2014/main" id="{42B67F14-65F8-4619-B9B6-E7F88A3BCF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available in all male ε3/ε3 excitatory networks.</a:t>
            </a:r>
          </a:p>
        </p:txBody>
      </p:sp>
      <p:sp>
        <p:nvSpPr>
          <p:cNvPr id="8" name="Rounded Rectangle 7">
            <a:extLst>
              <a:ext uri="{FF2B5EF4-FFF2-40B4-BE49-F238E27FC236}">
                <a16:creationId xmlns:a16="http://schemas.microsoft.com/office/drawing/2014/main" id="{7A2F2BC8-BA8C-4ABC-9D2F-2AA2A653D16C}"/>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25B389-5C17-4BAA-B051-AD0BE181FFA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RETURN</a:t>
            </a:r>
          </a:p>
        </p:txBody>
      </p:sp>
      <p:sp>
        <p:nvSpPr>
          <p:cNvPr id="10" name="TextBox 9">
            <a:extLst>
              <a:ext uri="{FF2B5EF4-FFF2-40B4-BE49-F238E27FC236}">
                <a16:creationId xmlns:a16="http://schemas.microsoft.com/office/drawing/2014/main" id="{26F8A0E1-7CBA-4146-8FA6-44E6BACC4EC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a:t>
            </a:r>
          </a:p>
        </p:txBody>
      </p:sp>
      <p:sp>
        <p:nvSpPr>
          <p:cNvPr id="11" name="TextBox 10">
            <a:extLst>
              <a:ext uri="{FF2B5EF4-FFF2-40B4-BE49-F238E27FC236}">
                <a16:creationId xmlns:a16="http://schemas.microsoft.com/office/drawing/2014/main" id="{6B3E71B3-D882-4840-B944-B21828D430B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not returned from those SEA-AD KDA calls.</a:t>
            </a:r>
          </a:p>
        </p:txBody>
      </p:sp>
      <p:sp>
        <p:nvSpPr>
          <p:cNvPr id="12" name="Rounded Rectangle 11">
            <a:extLst>
              <a:ext uri="{FF2B5EF4-FFF2-40B4-BE49-F238E27FC236}">
                <a16:creationId xmlns:a16="http://schemas.microsoft.com/office/drawing/2014/main" id="{B20FD01D-B845-4216-AC5B-BE46305DA9B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1B46D3D-636D-496F-9DFC-23FA75F81B4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HUMAN GENETICS</a:t>
            </a:r>
          </a:p>
        </p:txBody>
      </p:sp>
      <p:sp>
        <p:nvSpPr>
          <p:cNvPr id="14" name="TextBox 13">
            <a:extLst>
              <a:ext uri="{FF2B5EF4-FFF2-40B4-BE49-F238E27FC236}">
                <a16:creationId xmlns:a16="http://schemas.microsoft.com/office/drawing/2014/main" id="{08D00B65-EE3E-410C-AB29-675883E6AB38}"/>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direct support found</a:t>
            </a:r>
          </a:p>
        </p:txBody>
      </p:sp>
      <p:sp>
        <p:nvSpPr>
          <p:cNvPr id="15" name="TextBox 14">
            <a:extLst>
              <a:ext uri="{FF2B5EF4-FFF2-40B4-BE49-F238E27FC236}">
                <a16:creationId xmlns:a16="http://schemas.microsoft.com/office/drawing/2014/main" id="{C26F7CB6-9F28-4BD4-A3B1-DDEC1898AD00}"/>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local genetic screen did not provide direct gene-level support for SELENOM.</a:t>
            </a:r>
          </a:p>
        </p:txBody>
      </p:sp>
      <p:sp>
        <p:nvSpPr>
          <p:cNvPr id="16" name="Rounded Rectangle 15">
            <a:extLst>
              <a:ext uri="{FF2B5EF4-FFF2-40B4-BE49-F238E27FC236}">
                <a16:creationId xmlns:a16="http://schemas.microsoft.com/office/drawing/2014/main" id="{88A9747E-F53C-41AF-860E-A637215130D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2C4961-AB50-4144-8348-7E6E55FCEB16}"/>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Lack of SEA-AD or genetic support lowers external confidence but does not erase recurrent ROSMAP evidence.</a:t>
            </a:r>
          </a:p>
        </p:txBody>
      </p:sp>
    </p:spTree>
    <p:extLst>
      <p:ext uri="{BB962C8B-B14F-4D97-AF65-F5344CB8AC3E}">
        <p14:creationId xmlns:p14="http://schemas.microsoft.com/office/powerpoint/2010/main" val="17058804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961931-DB1A-4D8D-9E59-4FF664EFC7D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ER and mitochondrial stress responses depend on each other</a:t>
            </a:r>
          </a:p>
        </p:txBody>
      </p:sp>
      <p:sp>
        <p:nvSpPr>
          <p:cNvPr id="3" name="TextBox 2">
            <a:extLst>
              <a:ext uri="{FF2B5EF4-FFF2-40B4-BE49-F238E27FC236}">
                <a16:creationId xmlns:a16="http://schemas.microsoft.com/office/drawing/2014/main" id="{9030C8CA-04A9-4663-8E2C-46DC881652F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Calcium and oxidation move between the ER and mitochondria, influencing protein folding and energy production.</a:t>
            </a:r>
          </a:p>
        </p:txBody>
      </p:sp>
      <p:sp>
        <p:nvSpPr>
          <p:cNvPr id="4" name="Rounded Rectangle 3">
            <a:extLst>
              <a:ext uri="{FF2B5EF4-FFF2-40B4-BE49-F238E27FC236}">
                <a16:creationId xmlns:a16="http://schemas.microsoft.com/office/drawing/2014/main" id="{084602C6-90C6-454C-BB1E-C05872F85CC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4B183CB-8DE4-4569-B23B-5B4DD3B5D25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ER FUNCTION</a:t>
            </a:r>
          </a:p>
        </p:txBody>
      </p:sp>
      <p:sp>
        <p:nvSpPr>
          <p:cNvPr id="6" name="TextBox 5">
            <a:extLst>
              <a:ext uri="{FF2B5EF4-FFF2-40B4-BE49-F238E27FC236}">
                <a16:creationId xmlns:a16="http://schemas.microsoft.com/office/drawing/2014/main" id="{69D73032-F8F4-4986-B4CB-2E2A57F516E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 folding and calcium</a:t>
            </a:r>
          </a:p>
        </p:txBody>
      </p:sp>
      <p:sp>
        <p:nvSpPr>
          <p:cNvPr id="7" name="TextBox 6">
            <a:extLst>
              <a:ext uri="{FF2B5EF4-FFF2-40B4-BE49-F238E27FC236}">
                <a16:creationId xmlns:a16="http://schemas.microsoft.com/office/drawing/2014/main" id="{DC4A171B-45B3-4A7C-812C-62F3F557E30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Disrupted ER balance can alter cellular stress signaling.</a:t>
            </a:r>
          </a:p>
        </p:txBody>
      </p:sp>
      <p:sp>
        <p:nvSpPr>
          <p:cNvPr id="8" name="Rounded Rectangle 7">
            <a:extLst>
              <a:ext uri="{FF2B5EF4-FFF2-40B4-BE49-F238E27FC236}">
                <a16:creationId xmlns:a16="http://schemas.microsoft.com/office/drawing/2014/main" id="{64D82D6D-D8D3-4638-8CBD-F209431DC4F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CED050F-F90E-4C37-B63C-51F32FE48A3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MITOCHONDRIAL FUNCTION</a:t>
            </a:r>
          </a:p>
        </p:txBody>
      </p:sp>
      <p:sp>
        <p:nvSpPr>
          <p:cNvPr id="10" name="TextBox 9">
            <a:extLst>
              <a:ext uri="{FF2B5EF4-FFF2-40B4-BE49-F238E27FC236}">
                <a16:creationId xmlns:a16="http://schemas.microsoft.com/office/drawing/2014/main" id="{BB6D8CA6-6F93-404C-A02B-E57A9FC9FE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supplies proteins encoded by core MT genes</a:t>
            </a:r>
          </a:p>
        </p:txBody>
      </p:sp>
      <p:sp>
        <p:nvSpPr>
          <p:cNvPr id="11" name="TextBox 10">
            <a:extLst>
              <a:ext uri="{FF2B5EF4-FFF2-40B4-BE49-F238E27FC236}">
                <a16:creationId xmlns:a16="http://schemas.microsoft.com/office/drawing/2014/main" id="{9C18F9AA-D02B-41C1-BBFB-8DDCCD7C054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translation machinery could affect respiratory-complex assembly.</a:t>
            </a:r>
          </a:p>
        </p:txBody>
      </p:sp>
      <p:sp>
        <p:nvSpPr>
          <p:cNvPr id="12" name="Rounded Rectangle 11">
            <a:extLst>
              <a:ext uri="{FF2B5EF4-FFF2-40B4-BE49-F238E27FC236}">
                <a16:creationId xmlns:a16="http://schemas.microsoft.com/office/drawing/2014/main" id="{C938B0A7-F1D5-4BF9-908E-FE01BFA437CF}"/>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289F945-FB3C-4F88-8EC0-7460C543298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CANDIDATE MECHANISM</a:t>
            </a:r>
          </a:p>
        </p:txBody>
      </p:sp>
      <p:sp>
        <p:nvSpPr>
          <p:cNvPr id="14" name="TextBox 13">
            <a:extLst>
              <a:ext uri="{FF2B5EF4-FFF2-40B4-BE49-F238E27FC236}">
                <a16:creationId xmlns:a16="http://schemas.microsoft.com/office/drawing/2014/main" id="{BA2E20E9-9A03-4905-9B10-3AE5DC6CBCD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Cross-organelle stress</a:t>
            </a:r>
          </a:p>
        </p:txBody>
      </p:sp>
      <p:sp>
        <p:nvSpPr>
          <p:cNvPr id="15" name="TextBox 14">
            <a:extLst>
              <a:ext uri="{FF2B5EF4-FFF2-40B4-BE49-F238E27FC236}">
                <a16:creationId xmlns:a16="http://schemas.microsoft.com/office/drawing/2014/main" id="{70FE139F-123B-4EDA-9549-D0FC6C9E9E16}"/>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could influence mitochondria indirectly through ER redox or calcium control.</a:t>
            </a:r>
          </a:p>
        </p:txBody>
      </p:sp>
      <p:sp>
        <p:nvSpPr>
          <p:cNvPr id="16" name="Rounded Rectangle 15">
            <a:extLst>
              <a:ext uri="{FF2B5EF4-FFF2-40B4-BE49-F238E27FC236}">
                <a16:creationId xmlns:a16="http://schemas.microsoft.com/office/drawing/2014/main" id="{0B195959-579A-4FAC-8465-45BF60AF65C8}"/>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C8773B5-1324-420E-AC08-9270056E69A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F92D06E9-C383-4E1A-BF39-EF8478DCEC5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joint ER and mitochondrial perturbation experiment can distinguish specific coupling from general stress.</a:t>
            </a:r>
          </a:p>
        </p:txBody>
      </p:sp>
    </p:spTree>
    <p:extLst>
      <p:ext uri="{BB962C8B-B14F-4D97-AF65-F5344CB8AC3E}">
        <p14:creationId xmlns:p14="http://schemas.microsoft.com/office/powerpoint/2010/main" val="62563412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9D8F2BA-EA13-4344-BB28-DCEA1268D94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10</a:t>
            </a:r>
          </a:p>
        </p:txBody>
      </p:sp>
      <p:sp>
        <p:nvSpPr>
          <p:cNvPr id="3" name="TextBox 2">
            <a:extLst>
              <a:ext uri="{FF2B5EF4-FFF2-40B4-BE49-F238E27FC236}">
                <a16:creationId xmlns:a16="http://schemas.microsoft.com/office/drawing/2014/main" id="{CC084186-73EE-4850-AE7A-77F15A65910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7A73BA5-9171-4E9A-95B6-AF859E9BCD40}"/>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A1B4E3-73DE-4DB1-8E23-438B4390052D}"/>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Ferguson et al. 2006</a:t>
            </a:r>
          </a:p>
        </p:txBody>
      </p:sp>
      <p:sp>
        <p:nvSpPr>
          <p:cNvPr id="6" name="TextBox 5">
            <a:extLst>
              <a:ext uri="{FF2B5EF4-FFF2-40B4-BE49-F238E27FC236}">
                <a16:creationId xmlns:a16="http://schemas.microsoft.com/office/drawing/2014/main" id="{B7E6A33E-B068-4D68-9276-D8E4243CBAFF}"/>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molecular function</a:t>
            </a:r>
          </a:p>
        </p:txBody>
      </p:sp>
      <p:sp>
        <p:nvSpPr>
          <p:cNvPr id="7" name="TextBox 6">
            <a:extLst>
              <a:ext uri="{FF2B5EF4-FFF2-40B4-BE49-F238E27FC236}">
                <a16:creationId xmlns:a16="http://schemas.microsoft.com/office/drawing/2014/main" id="{B423AADD-68F7-42DC-8C55-173CBC52095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0742ECA0-2C00-4E88-8789-BF08A61F8F6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Defines SELENOM as an ER-lumen thioredoxin-like oxidoreductase.</a:t>
            </a:r>
          </a:p>
        </p:txBody>
      </p:sp>
      <p:sp>
        <p:nvSpPr>
          <p:cNvPr id="9" name="TextBox 8">
            <a:extLst>
              <a:ext uri="{FF2B5EF4-FFF2-40B4-BE49-F238E27FC236}">
                <a16:creationId xmlns:a16="http://schemas.microsoft.com/office/drawing/2014/main" id="{F5C681ED-C22F-409B-8F4A-087032B5111B}"/>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3C10CD6C-F45D-4932-8331-D7AA10FBBDE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mitochondrial regulation in AD.</a:t>
            </a:r>
          </a:p>
        </p:txBody>
      </p:sp>
      <p:sp>
        <p:nvSpPr>
          <p:cNvPr id="11" name="Rounded Rectangle 10">
            <a:extLst>
              <a:ext uri="{FF2B5EF4-FFF2-40B4-BE49-F238E27FC236}">
                <a16:creationId xmlns:a16="http://schemas.microsoft.com/office/drawing/2014/main" id="{B1E1B27D-FD26-45EE-8154-2B16B1018FAB}"/>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EDCAD3-328B-4EC4-94C3-316A45E9B3C9}"/>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Yim et al. 2009</a:t>
            </a:r>
          </a:p>
        </p:txBody>
      </p:sp>
      <p:sp>
        <p:nvSpPr>
          <p:cNvPr id="13" name="TextBox 12">
            <a:extLst>
              <a:ext uri="{FF2B5EF4-FFF2-40B4-BE49-F238E27FC236}">
                <a16:creationId xmlns:a16="http://schemas.microsoft.com/office/drawing/2014/main" id="{A5841D23-41FA-429A-9D1F-29AC1219A37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Neuronal redox and calcium</a:t>
            </a:r>
          </a:p>
        </p:txBody>
      </p:sp>
      <p:sp>
        <p:nvSpPr>
          <p:cNvPr id="14" name="TextBox 13">
            <a:extLst>
              <a:ext uri="{FF2B5EF4-FFF2-40B4-BE49-F238E27FC236}">
                <a16:creationId xmlns:a16="http://schemas.microsoft.com/office/drawing/2014/main" id="{BAF7FCCB-92E1-4224-BF2D-D70FDB407B6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737E11E-28F5-4D49-B55D-0CBB650C860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SELENOM with neuronal redox and calcium regulation.</a:t>
            </a:r>
          </a:p>
        </p:txBody>
      </p:sp>
      <p:sp>
        <p:nvSpPr>
          <p:cNvPr id="16" name="TextBox 15">
            <a:extLst>
              <a:ext uri="{FF2B5EF4-FFF2-40B4-BE49-F238E27FC236}">
                <a16:creationId xmlns:a16="http://schemas.microsoft.com/office/drawing/2014/main" id="{AE4E3E12-130F-4733-8F0E-5766C63E167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136EF260-BB56-4396-AA72-743B3C7C95E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evidence does not reproduce the human network.</a:t>
            </a:r>
          </a:p>
        </p:txBody>
      </p:sp>
      <p:sp>
        <p:nvSpPr>
          <p:cNvPr id="18" name="Rounded Rectangle 17">
            <a:extLst>
              <a:ext uri="{FF2B5EF4-FFF2-40B4-BE49-F238E27FC236}">
                <a16:creationId xmlns:a16="http://schemas.microsoft.com/office/drawing/2014/main" id="{5885393C-5225-4F0A-BED9-7115AC38A846}"/>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00AC170-5527-4A10-9192-E94ECFE18EB5}"/>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Experimental Aβ study</a:t>
            </a:r>
          </a:p>
        </p:txBody>
      </p:sp>
      <p:sp>
        <p:nvSpPr>
          <p:cNvPr id="20" name="TextBox 19">
            <a:extLst>
              <a:ext uri="{FF2B5EF4-FFF2-40B4-BE49-F238E27FC236}">
                <a16:creationId xmlns:a16="http://schemas.microsoft.com/office/drawing/2014/main" id="{ECA4BFE1-40FC-448E-BA23-245BF5C4741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and AD phenotypes</a:t>
            </a:r>
          </a:p>
        </p:txBody>
      </p:sp>
      <p:sp>
        <p:nvSpPr>
          <p:cNvPr id="21" name="TextBox 20">
            <a:extLst>
              <a:ext uri="{FF2B5EF4-FFF2-40B4-BE49-F238E27FC236}">
                <a16:creationId xmlns:a16="http://schemas.microsoft.com/office/drawing/2014/main" id="{32415A96-B758-41C0-8122-D6B4D052504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5D4E651-D6ED-4FDB-8C57-33BF50D036A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effects on Aβ-related and mitochondrial phenotypes in models.</a:t>
            </a:r>
          </a:p>
        </p:txBody>
      </p:sp>
      <p:sp>
        <p:nvSpPr>
          <p:cNvPr id="23" name="TextBox 22">
            <a:extLst>
              <a:ext uri="{FF2B5EF4-FFF2-40B4-BE49-F238E27FC236}">
                <a16:creationId xmlns:a16="http://schemas.microsoft.com/office/drawing/2014/main" id="{AACB4F48-A51D-48D7-950D-0931989352B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44A4F606-21B2-44D9-A8D0-C2319281231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Model-system evidence does not prove the ROSMAP edges.</a:t>
            </a:r>
          </a:p>
        </p:txBody>
      </p:sp>
      <p:sp>
        <p:nvSpPr>
          <p:cNvPr id="25" name="Rounded Rectangle 24">
            <a:extLst>
              <a:ext uri="{FF2B5EF4-FFF2-40B4-BE49-F238E27FC236}">
                <a16:creationId xmlns:a16="http://schemas.microsoft.com/office/drawing/2014/main" id="{89980199-0156-448F-B7C6-E4FDFC8F359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FB7570F-8D64-454C-B200-26CB726C53F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5791603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8AE71C3-B903-4E26-A80F-F179F437B99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11</a:t>
            </a:r>
          </a:p>
        </p:txBody>
      </p:sp>
      <p:sp>
        <p:nvSpPr>
          <p:cNvPr id="3" name="Rectangle 2">
            <a:extLst>
              <a:ext uri="{FF2B5EF4-FFF2-40B4-BE49-F238E27FC236}">
                <a16:creationId xmlns:a16="http://schemas.microsoft.com/office/drawing/2014/main" id="{2AF96CC5-472B-4533-A22E-A5C552FA5415}"/>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49DE99C8-9D8F-416F-8040-BDD70E3EBAB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SELENOW connects redox and protein-quality control to respiration</a:t>
            </a:r>
          </a:p>
        </p:txBody>
      </p:sp>
      <p:sp>
        <p:nvSpPr>
          <p:cNvPr id="5" name="TextBox 4">
            <a:extLst>
              <a:ext uri="{FF2B5EF4-FFF2-40B4-BE49-F238E27FC236}">
                <a16:creationId xmlns:a16="http://schemas.microsoft.com/office/drawing/2014/main" id="{9452CEC1-6E1B-4A65-8B79-583802130A0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driver finding.</a:t>
            </a:r>
          </a:p>
        </p:txBody>
      </p:sp>
      <p:sp>
        <p:nvSpPr>
          <p:cNvPr id="6" name="Rounded Rectangle 5">
            <a:extLst>
              <a:ext uri="{FF2B5EF4-FFF2-40B4-BE49-F238E27FC236}">
                <a16:creationId xmlns:a16="http://schemas.microsoft.com/office/drawing/2014/main" id="{E22CBE5B-0DE4-47C3-99AC-3A553184D18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E6DEDB-C735-4E80-BC67-4AECA14A669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263190D-3F71-4A68-B64B-DE0557DE3B7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286501B-5C6D-4F2B-A603-95FC5F42608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3878683-A7A6-4791-9464-99AD1AD7FA6F}"/>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DC5220BB-36F0-4523-96B5-FEDC73F3ADF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7B96EE4-E690-4F74-BE82-E4AA97E7B8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F2625498-03E7-4191-8344-1B2B354EB22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00F69BB-A3A7-40E1-B493-89E56D9D52E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05D5331-ED92-4E62-9E2B-A5607D6CC74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7EB28AC4-F9F6-4819-B3D0-1D2617FD7B2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01EE904-01D1-4D0D-B66C-E1B718E0E174}"/>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CBB69BA-0A80-4C2F-9339-EB12447333E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A1FC943-E13B-4F93-A7A5-812008EECEC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3BCD8BF1-8926-49EE-BAF2-80D6283B87B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FB8FB4-1B1F-49D7-9D34-1F1262EE2FF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SELENOW has a broad mitochondrial neighborhood spanning respiration, translation, and protein quality control.</a:t>
            </a:r>
          </a:p>
        </p:txBody>
      </p:sp>
    </p:spTree>
    <p:extLst>
      <p:ext uri="{BB962C8B-B14F-4D97-AF65-F5344CB8AC3E}">
        <p14:creationId xmlns:p14="http://schemas.microsoft.com/office/powerpoint/2010/main" val="137180708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1092ED-78A0-4E0A-B7D8-E9C8BB682A6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SELENOW connects redox balance and mitochondrial protein quality with respiration</a:t>
            </a:r>
          </a:p>
        </p:txBody>
      </p:sp>
      <p:sp>
        <p:nvSpPr>
          <p:cNvPr id="3" name="TextBox 2">
            <a:extLst>
              <a:ext uri="{FF2B5EF4-FFF2-40B4-BE49-F238E27FC236}">
                <a16:creationId xmlns:a16="http://schemas.microsoft.com/office/drawing/2014/main" id="{14097AC4-DF0C-4E5B-8288-18A112672E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Redox balance keeps oxidation within a range the cell can tolerate. SELENOW should not be treated as the same mechanism as SELENOM.</a:t>
            </a:r>
          </a:p>
        </p:txBody>
      </p:sp>
      <p:sp>
        <p:nvSpPr>
          <p:cNvPr id="4" name="Rounded Rectangle 3">
            <a:extLst>
              <a:ext uri="{FF2B5EF4-FFF2-40B4-BE49-F238E27FC236}">
                <a16:creationId xmlns:a16="http://schemas.microsoft.com/office/drawing/2014/main" id="{3BA7FE4B-6C76-456F-B1A5-EEC56BB91FFF}"/>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3B94E2F-9849-4C59-AA76-9518695ABE29}"/>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16 neuronal KDA calls</a:t>
            </a:r>
          </a:p>
        </p:txBody>
      </p:sp>
      <p:sp>
        <p:nvSpPr>
          <p:cNvPr id="6" name="Rounded Rectangle 5">
            <a:extLst>
              <a:ext uri="{FF2B5EF4-FFF2-40B4-BE49-F238E27FC236}">
                <a16:creationId xmlns:a16="http://schemas.microsoft.com/office/drawing/2014/main" id="{61B89432-C079-4B9E-BA7C-C5A9F080EB9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C16F0CA-8684-4D40-B1DD-AAFAB6760928}"/>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3A01FA95-8520-4130-A2B9-131EF843A4BD}"/>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5B5A533-E38B-4593-9033-C841FC61042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Redox biology</a:t>
            </a:r>
          </a:p>
        </p:txBody>
      </p:sp>
      <p:sp>
        <p:nvSpPr>
          <p:cNvPr id="10" name="Rounded Rectangle 9">
            <a:extLst>
              <a:ext uri="{FF2B5EF4-FFF2-40B4-BE49-F238E27FC236}">
                <a16:creationId xmlns:a16="http://schemas.microsoft.com/office/drawing/2014/main" id="{8601A96E-7703-47A2-BFCC-D0BDBA431D9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82BF97E-2C7A-4803-A63F-21DB76A05EC0}"/>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Broad mitochondrial neighborhood</a:t>
            </a:r>
          </a:p>
        </p:txBody>
      </p:sp>
      <p:sp>
        <p:nvSpPr>
          <p:cNvPr id="12" name="Rounded Rectangle 11">
            <a:extLst>
              <a:ext uri="{FF2B5EF4-FFF2-40B4-BE49-F238E27FC236}">
                <a16:creationId xmlns:a16="http://schemas.microsoft.com/office/drawing/2014/main" id="{EA650C1E-A510-40C3-BA62-61E4A8A0C16A}"/>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F9CAEDA-41E6-437C-B7AD-C4610C4CF98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RESPIRATION</a:t>
            </a:r>
          </a:p>
        </p:txBody>
      </p:sp>
      <p:sp>
        <p:nvSpPr>
          <p:cNvPr id="14" name="TextBox 13">
            <a:extLst>
              <a:ext uri="{FF2B5EF4-FFF2-40B4-BE49-F238E27FC236}">
                <a16:creationId xmlns:a16="http://schemas.microsoft.com/office/drawing/2014/main" id="{8605780C-D738-4FE1-93F6-BDEC83006E8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NDUFB11, COA3, CYC1</a:t>
            </a:r>
          </a:p>
        </p:txBody>
      </p:sp>
      <p:sp>
        <p:nvSpPr>
          <p:cNvPr id="15" name="TextBox 14">
            <a:extLst>
              <a:ext uri="{FF2B5EF4-FFF2-40B4-BE49-F238E27FC236}">
                <a16:creationId xmlns:a16="http://schemas.microsoft.com/office/drawing/2014/main" id="{0633BAC4-C298-4D36-B837-91837F4CFD1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support respiratory-complex function.</a:t>
            </a:r>
          </a:p>
        </p:txBody>
      </p:sp>
      <p:sp>
        <p:nvSpPr>
          <p:cNvPr id="16" name="Rounded Rectangle 15">
            <a:extLst>
              <a:ext uri="{FF2B5EF4-FFF2-40B4-BE49-F238E27FC236}">
                <a16:creationId xmlns:a16="http://schemas.microsoft.com/office/drawing/2014/main" id="{6293577D-DCF4-4591-8017-096DE898038F}"/>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AE82BB7-AEB2-4F81-AFB4-170F4C2B452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PRODUCTION</a:t>
            </a:r>
          </a:p>
        </p:txBody>
      </p:sp>
      <p:sp>
        <p:nvSpPr>
          <p:cNvPr id="18" name="TextBox 17">
            <a:extLst>
              <a:ext uri="{FF2B5EF4-FFF2-40B4-BE49-F238E27FC236}">
                <a16:creationId xmlns:a16="http://schemas.microsoft.com/office/drawing/2014/main" id="{F464E1D9-5B66-422B-899F-F374D2023D8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MRPS34 and MRPL34</a:t>
            </a:r>
          </a:p>
        </p:txBody>
      </p:sp>
      <p:sp>
        <p:nvSpPr>
          <p:cNvPr id="19" name="TextBox 18">
            <a:extLst>
              <a:ext uri="{FF2B5EF4-FFF2-40B4-BE49-F238E27FC236}">
                <a16:creationId xmlns:a16="http://schemas.microsoft.com/office/drawing/2014/main" id="{E4B8A19B-713B-4AD9-92F7-5B0AB19683D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help mitochondria make their own encoded proteins.</a:t>
            </a:r>
          </a:p>
        </p:txBody>
      </p:sp>
      <p:sp>
        <p:nvSpPr>
          <p:cNvPr id="20" name="Rounded Rectangle 19">
            <a:extLst>
              <a:ext uri="{FF2B5EF4-FFF2-40B4-BE49-F238E27FC236}">
                <a16:creationId xmlns:a16="http://schemas.microsoft.com/office/drawing/2014/main" id="{738A54D0-AE13-4F8F-8F23-CEF987131147}"/>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772BFD78-5A7B-436C-84D8-22B50F10DAD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QUALITY CONTROL</a:t>
            </a:r>
          </a:p>
        </p:txBody>
      </p:sp>
      <p:sp>
        <p:nvSpPr>
          <p:cNvPr id="22" name="TextBox 21">
            <a:extLst>
              <a:ext uri="{FF2B5EF4-FFF2-40B4-BE49-F238E27FC236}">
                <a16:creationId xmlns:a16="http://schemas.microsoft.com/office/drawing/2014/main" id="{51AE5BD1-B7D5-4571-8956-2D6D677DDFC8}"/>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membrane genes</a:t>
            </a:r>
          </a:p>
        </p:txBody>
      </p:sp>
      <p:sp>
        <p:nvSpPr>
          <p:cNvPr id="23" name="TextBox 22">
            <a:extLst>
              <a:ext uri="{FF2B5EF4-FFF2-40B4-BE49-F238E27FC236}">
                <a16:creationId xmlns:a16="http://schemas.microsoft.com/office/drawing/2014/main" id="{02630CB0-F4F1-4249-A163-4B850644103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Damaged mitochondrial proteins and inner-membrane transport also appear in the neighborhood.</a:t>
            </a:r>
          </a:p>
        </p:txBody>
      </p:sp>
      <p:sp>
        <p:nvSpPr>
          <p:cNvPr id="24" name="Rounded Rectangle 23">
            <a:extLst>
              <a:ext uri="{FF2B5EF4-FFF2-40B4-BE49-F238E27FC236}">
                <a16:creationId xmlns:a16="http://schemas.microsoft.com/office/drawing/2014/main" id="{F3190ED8-2490-4867-B33B-748A0C59A89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1FC7F13-ECFE-4404-A16B-553577B13920}"/>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broad neighborhood suggests a redox and proteostasis system rather than one narrow OXPHOS edge.</a:t>
            </a:r>
          </a:p>
        </p:txBody>
      </p:sp>
    </p:spTree>
    <p:extLst>
      <p:ext uri="{BB962C8B-B14F-4D97-AF65-F5344CB8AC3E}">
        <p14:creationId xmlns:p14="http://schemas.microsoft.com/office/powerpoint/2010/main" val="98965190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6F3676-589A-4AF1-B6F5-35E35897C6A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SELENOW recurs across neuronal contexts with 123 mitochondrial overlaps</a:t>
            </a:r>
          </a:p>
        </p:txBody>
      </p:sp>
      <p:sp>
        <p:nvSpPr>
          <p:cNvPr id="3" name="TextBox 2">
            <a:extLst>
              <a:ext uri="{FF2B5EF4-FFF2-40B4-BE49-F238E27FC236}">
                <a16:creationId xmlns:a16="http://schemas.microsoft.com/office/drawing/2014/main" id="{05B7C524-54A8-402E-88EC-7DF2B8A07E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supporting KDA calls cover excitatory and inhibitory neurons in four sex/APOE strata.</a:t>
            </a:r>
          </a:p>
        </p:txBody>
      </p:sp>
      <p:sp>
        <p:nvSpPr>
          <p:cNvPr id="4" name="Rounded Rectangle 3">
            <a:extLst>
              <a:ext uri="{FF2B5EF4-FFF2-40B4-BE49-F238E27FC236}">
                <a16:creationId xmlns:a16="http://schemas.microsoft.com/office/drawing/2014/main" id="{ADC752C9-1673-4D21-A3F9-B202B5C6778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25F003C-1610-43EE-96A0-1B9801259E3B}"/>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16</a:t>
            </a:r>
          </a:p>
        </p:txBody>
      </p:sp>
      <p:sp>
        <p:nvSpPr>
          <p:cNvPr id="6" name="TextBox 5">
            <a:extLst>
              <a:ext uri="{FF2B5EF4-FFF2-40B4-BE49-F238E27FC236}">
                <a16:creationId xmlns:a16="http://schemas.microsoft.com/office/drawing/2014/main" id="{13711D29-916C-4E5D-9910-E3FE21D3B2C5}"/>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AA6447BB-5C78-4AE1-BC98-8FDA71692C8E}"/>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40D1835E-0C75-464F-8555-03A8ED2937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E3D9FF1-3B53-4FA6-8C9C-7C880F4EBD86}"/>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123</a:t>
            </a:r>
          </a:p>
        </p:txBody>
      </p:sp>
      <p:sp>
        <p:nvSpPr>
          <p:cNvPr id="10" name="TextBox 9">
            <a:extLst>
              <a:ext uri="{FF2B5EF4-FFF2-40B4-BE49-F238E27FC236}">
                <a16:creationId xmlns:a16="http://schemas.microsoft.com/office/drawing/2014/main" id="{E417C5CA-2976-4AD4-8BC8-563C6F7AE21F}"/>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36C19E73-754E-4921-A460-711FAEAB90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multiple mitochondrial systems</a:t>
            </a:r>
          </a:p>
        </p:txBody>
      </p:sp>
      <p:sp>
        <p:nvSpPr>
          <p:cNvPr id="12" name="Rounded Rectangle 11">
            <a:extLst>
              <a:ext uri="{FF2B5EF4-FFF2-40B4-BE49-F238E27FC236}">
                <a16:creationId xmlns:a16="http://schemas.microsoft.com/office/drawing/2014/main" id="{794412BA-44E5-480A-9907-57FE1FFFC6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E0C033A-2030-4E05-9D00-89F6B6450D7C}"/>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13/16</a:t>
            </a:r>
          </a:p>
        </p:txBody>
      </p:sp>
      <p:sp>
        <p:nvSpPr>
          <p:cNvPr id="14" name="TextBox 13">
            <a:extLst>
              <a:ext uri="{FF2B5EF4-FFF2-40B4-BE49-F238E27FC236}">
                <a16:creationId xmlns:a16="http://schemas.microsoft.com/office/drawing/2014/main" id="{AE6DDBDB-F681-4F8A-8135-23AD18DED5C9}"/>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24806FA7-26E3-450B-BC4D-B6C733064EF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2BF0066-25F5-449B-827B-C177C6ADDDBD}"/>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0A29D4D-9BA5-4DC7-B1B4-59C1D1123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Respiration</a:t>
            </a:r>
          </a:p>
        </p:txBody>
      </p:sp>
      <p:sp>
        <p:nvSpPr>
          <p:cNvPr id="18" name="TextBox 17">
            <a:extLst>
              <a:ext uri="{FF2B5EF4-FFF2-40B4-BE49-F238E27FC236}">
                <a16:creationId xmlns:a16="http://schemas.microsoft.com/office/drawing/2014/main" id="{87D61885-4DE4-4045-9A37-5D789A39518B}"/>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NDUFB11, COA3, CYC1</a:t>
            </a:r>
          </a:p>
        </p:txBody>
      </p:sp>
      <p:sp>
        <p:nvSpPr>
          <p:cNvPr id="19" name="TextBox 18">
            <a:extLst>
              <a:ext uri="{FF2B5EF4-FFF2-40B4-BE49-F238E27FC236}">
                <a16:creationId xmlns:a16="http://schemas.microsoft.com/office/drawing/2014/main" id="{79F5BAA8-8BAF-4E1A-8303-7C9B8C28E183}"/>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Repeated neighbors support respiratory-complex biology</a:t>
            </a:r>
          </a:p>
        </p:txBody>
      </p:sp>
      <p:sp>
        <p:nvSpPr>
          <p:cNvPr id="20" name="Rounded Rectangle 19">
            <a:extLst>
              <a:ext uri="{FF2B5EF4-FFF2-40B4-BE49-F238E27FC236}">
                <a16:creationId xmlns:a16="http://schemas.microsoft.com/office/drawing/2014/main" id="{C18E4912-EA5E-44C5-A0CD-1041605918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7C2BA3-D769-4542-AB72-27952583562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and quality</a:t>
            </a:r>
          </a:p>
        </p:txBody>
      </p:sp>
      <p:sp>
        <p:nvSpPr>
          <p:cNvPr id="22" name="TextBox 21">
            <a:extLst>
              <a:ext uri="{FF2B5EF4-FFF2-40B4-BE49-F238E27FC236}">
                <a16:creationId xmlns:a16="http://schemas.microsoft.com/office/drawing/2014/main" id="{A3F84135-6E23-4160-A1AD-7D9E236F701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MRPL34, CLPP</a:t>
            </a:r>
          </a:p>
        </p:txBody>
      </p:sp>
      <p:sp>
        <p:nvSpPr>
          <p:cNvPr id="23" name="TextBox 22">
            <a:extLst>
              <a:ext uri="{FF2B5EF4-FFF2-40B4-BE49-F238E27FC236}">
                <a16:creationId xmlns:a16="http://schemas.microsoft.com/office/drawing/2014/main" id="{6A053250-5A03-4CEB-A9A6-1F682A5A678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neighborhood includes mitochondrial ribosomes and damaged-protein removal</a:t>
            </a:r>
          </a:p>
        </p:txBody>
      </p:sp>
      <p:sp>
        <p:nvSpPr>
          <p:cNvPr id="24" name="Rounded Rectangle 23">
            <a:extLst>
              <a:ext uri="{FF2B5EF4-FFF2-40B4-BE49-F238E27FC236}">
                <a16:creationId xmlns:a16="http://schemas.microsoft.com/office/drawing/2014/main" id="{18A826BF-A0CC-470F-A7A9-C979E9A778DC}"/>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C875E17-90E8-4EDD-A9EC-AFCADB08D079}"/>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SELENOW itself</a:t>
            </a:r>
          </a:p>
        </p:txBody>
      </p:sp>
      <p:sp>
        <p:nvSpPr>
          <p:cNvPr id="26" name="TextBox 25">
            <a:extLst>
              <a:ext uri="{FF2B5EF4-FFF2-40B4-BE49-F238E27FC236}">
                <a16:creationId xmlns:a16="http://schemas.microsoft.com/office/drawing/2014/main" id="{94A72B70-9EAE-47BD-89DC-2ED6E49C781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16</a:t>
            </a:r>
          </a:p>
        </p:txBody>
      </p:sp>
      <p:sp>
        <p:nvSpPr>
          <p:cNvPr id="27" name="TextBox 26">
            <a:extLst>
              <a:ext uri="{FF2B5EF4-FFF2-40B4-BE49-F238E27FC236}">
                <a16:creationId xmlns:a16="http://schemas.microsoft.com/office/drawing/2014/main" id="{D5A4D0BB-353B-4C43-9C04-13BB200592DD}"/>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driver frequently changes expression in its supporting KDA calls</a:t>
            </a:r>
          </a:p>
        </p:txBody>
      </p:sp>
    </p:spTree>
    <p:extLst>
      <p:ext uri="{BB962C8B-B14F-4D97-AF65-F5344CB8AC3E}">
        <p14:creationId xmlns:p14="http://schemas.microsoft.com/office/powerpoint/2010/main" val="40548682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7B449E-C3E5-4225-9432-95F6F127109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a weak selenium-theme signal, not SELENOW replication</a:t>
            </a:r>
          </a:p>
        </p:txBody>
      </p:sp>
      <p:sp>
        <p:nvSpPr>
          <p:cNvPr id="3" name="TextBox 2">
            <a:extLst>
              <a:ext uri="{FF2B5EF4-FFF2-40B4-BE49-F238E27FC236}">
                <a16:creationId xmlns:a16="http://schemas.microsoft.com/office/drawing/2014/main" id="{47C0287B-86C7-432C-B01B-483400C8E54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Exact-gene support and pathway-theme support represent different evidence levels.</a:t>
            </a:r>
          </a:p>
        </p:txBody>
      </p:sp>
      <p:sp>
        <p:nvSpPr>
          <p:cNvPr id="4" name="Rounded Rectangle 3">
            <a:extLst>
              <a:ext uri="{FF2B5EF4-FFF2-40B4-BE49-F238E27FC236}">
                <a16:creationId xmlns:a16="http://schemas.microsoft.com/office/drawing/2014/main" id="{F28D5C44-6B91-45DF-B918-3EC41353C43B}"/>
              </a:ext>
            </a:extLst>
          </p:cNvPr>
          <p:cNvSpPr>
            <a:spLocks noGrp="1"/>
          </p:cNvSpPr>
          <p:nvPr/>
        </p:nvSpPr>
        <p:spPr>
          <a:xfrm>
            <a:off x="65836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842EBB1-0A0E-4045-869A-8653C41C2FD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6" name="TextBox 5">
            <a:extLst>
              <a:ext uri="{FF2B5EF4-FFF2-40B4-BE49-F238E27FC236}">
                <a16:creationId xmlns:a16="http://schemas.microsoft.com/office/drawing/2014/main" id="{06A30C0A-B785-4BA0-AF86-1E772E295CC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 returned</a:t>
            </a:r>
          </a:p>
        </p:txBody>
      </p:sp>
      <p:sp>
        <p:nvSpPr>
          <p:cNvPr id="7" name="TextBox 6">
            <a:extLst>
              <a:ext uri="{FF2B5EF4-FFF2-40B4-BE49-F238E27FC236}">
                <a16:creationId xmlns:a16="http://schemas.microsoft.com/office/drawing/2014/main" id="{E1436B3A-3F03-4B74-AABB-CC4A632518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available but not selected in matching male ε3/ε3 excitatory KDA calls.</a:t>
            </a:r>
          </a:p>
        </p:txBody>
      </p:sp>
      <p:sp>
        <p:nvSpPr>
          <p:cNvPr id="8" name="Rounded Rectangle 7">
            <a:extLst>
              <a:ext uri="{FF2B5EF4-FFF2-40B4-BE49-F238E27FC236}">
                <a16:creationId xmlns:a16="http://schemas.microsoft.com/office/drawing/2014/main" id="{966FC93E-F48B-46D5-AD33-5779EB041C1E}"/>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704F28D-7331-42F2-AD7C-D7CB1207105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INHIBITORY</a:t>
            </a:r>
          </a:p>
        </p:txBody>
      </p:sp>
      <p:sp>
        <p:nvSpPr>
          <p:cNvPr id="10" name="TextBox 9">
            <a:extLst>
              <a:ext uri="{FF2B5EF4-FFF2-40B4-BE49-F238E27FC236}">
                <a16:creationId xmlns:a16="http://schemas.microsoft.com/office/drawing/2014/main" id="{42461E13-DFF5-4ED0-AEC4-DE6582EB80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8 returned</a:t>
            </a:r>
          </a:p>
        </p:txBody>
      </p:sp>
      <p:sp>
        <p:nvSpPr>
          <p:cNvPr id="11" name="TextBox 10">
            <a:extLst>
              <a:ext uri="{FF2B5EF4-FFF2-40B4-BE49-F238E27FC236}">
                <a16:creationId xmlns:a16="http://schemas.microsoft.com/office/drawing/2014/main" id="{135310D6-601C-4EA9-A2A9-ABC77DA17DE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also available but not selected in matched inhibitory KDA calls.</a:t>
            </a:r>
          </a:p>
        </p:txBody>
      </p:sp>
      <p:sp>
        <p:nvSpPr>
          <p:cNvPr id="12" name="Rounded Rectangle 11">
            <a:extLst>
              <a:ext uri="{FF2B5EF4-FFF2-40B4-BE49-F238E27FC236}">
                <a16:creationId xmlns:a16="http://schemas.microsoft.com/office/drawing/2014/main" id="{83D1287A-43DB-45DC-A829-57F718A77A9A}"/>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127B9DF-C7E9-40DF-8D17-8944091BA5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RELATED SEA CANDIDATE</a:t>
            </a:r>
          </a:p>
        </p:txBody>
      </p:sp>
      <p:sp>
        <p:nvSpPr>
          <p:cNvPr id="14" name="TextBox 13">
            <a:extLst>
              <a:ext uri="{FF2B5EF4-FFF2-40B4-BE49-F238E27FC236}">
                <a16:creationId xmlns:a16="http://schemas.microsoft.com/office/drawing/2014/main" id="{78B4B3E3-905B-4EED-983A-EA79158DB9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SECISBP2 returned once</a:t>
            </a:r>
          </a:p>
        </p:txBody>
      </p:sp>
      <p:sp>
        <p:nvSpPr>
          <p:cNvPr id="15" name="TextBox 14">
            <a:extLst>
              <a:ext uri="{FF2B5EF4-FFF2-40B4-BE49-F238E27FC236}">
                <a16:creationId xmlns:a16="http://schemas.microsoft.com/office/drawing/2014/main" id="{5647C513-4AFF-404B-853D-B17F8B91373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different selenium-related gene provides only weak thematic support.</a:t>
            </a:r>
          </a:p>
        </p:txBody>
      </p:sp>
      <p:sp>
        <p:nvSpPr>
          <p:cNvPr id="16" name="Rounded Rectangle 15">
            <a:extLst>
              <a:ext uri="{FF2B5EF4-FFF2-40B4-BE49-F238E27FC236}">
                <a16:creationId xmlns:a16="http://schemas.microsoft.com/office/drawing/2014/main" id="{73F05D64-9DBA-4E2B-BEF2-5C90BCBE0B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68AE9EC-F312-4D19-9454-B8CB3CB1DDBC}"/>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local genetic screen adds weak transcriptome-wide association support but does not establish causality.</a:t>
            </a:r>
          </a:p>
        </p:txBody>
      </p:sp>
    </p:spTree>
    <p:extLst>
      <p:ext uri="{BB962C8B-B14F-4D97-AF65-F5344CB8AC3E}">
        <p14:creationId xmlns:p14="http://schemas.microsoft.com/office/powerpoint/2010/main" val="209025554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9C4F7C-3E3A-4074-93EA-54418CF131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redox balance, tau clearance, and mitochondrial function may converge</a:t>
            </a:r>
          </a:p>
        </p:txBody>
      </p:sp>
      <p:sp>
        <p:nvSpPr>
          <p:cNvPr id="3" name="TextBox 2">
            <a:extLst>
              <a:ext uri="{FF2B5EF4-FFF2-40B4-BE49-F238E27FC236}">
                <a16:creationId xmlns:a16="http://schemas.microsoft.com/office/drawing/2014/main" id="{026E6A23-3C80-4CAF-AA9D-B75EB07C752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Prior experiments connect SELENOW with respiration in immune cells and tau clearance in an AD mouse model.</a:t>
            </a:r>
          </a:p>
        </p:txBody>
      </p:sp>
      <p:sp>
        <p:nvSpPr>
          <p:cNvPr id="4" name="Rounded Rectangle 3">
            <a:extLst>
              <a:ext uri="{FF2B5EF4-FFF2-40B4-BE49-F238E27FC236}">
                <a16:creationId xmlns:a16="http://schemas.microsoft.com/office/drawing/2014/main" id="{B6205866-6E27-4598-8F97-E971AE4FE051}"/>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AE0FC9-CBFE-422D-A551-D9FC13EB50C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REDOX CONTROL</a:t>
            </a:r>
          </a:p>
        </p:txBody>
      </p:sp>
      <p:sp>
        <p:nvSpPr>
          <p:cNvPr id="6" name="TextBox 5">
            <a:extLst>
              <a:ext uri="{FF2B5EF4-FFF2-40B4-BE49-F238E27FC236}">
                <a16:creationId xmlns:a16="http://schemas.microsoft.com/office/drawing/2014/main" id="{1E31C8A3-0EF2-4BD1-8258-FD1DCE9FBBE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Mitochondria both use and shape redox state</a:t>
            </a:r>
          </a:p>
        </p:txBody>
      </p:sp>
      <p:sp>
        <p:nvSpPr>
          <p:cNvPr id="7" name="TextBox 6">
            <a:extLst>
              <a:ext uri="{FF2B5EF4-FFF2-40B4-BE49-F238E27FC236}">
                <a16:creationId xmlns:a16="http://schemas.microsoft.com/office/drawing/2014/main" id="{280918D3-265F-4964-9D21-20776EFCB15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Oxidative imbalance can damage proteins and respiratory machinery.</a:t>
            </a:r>
          </a:p>
        </p:txBody>
      </p:sp>
      <p:sp>
        <p:nvSpPr>
          <p:cNvPr id="8" name="Rounded Rectangle 7">
            <a:extLst>
              <a:ext uri="{FF2B5EF4-FFF2-40B4-BE49-F238E27FC236}">
                <a16:creationId xmlns:a16="http://schemas.microsoft.com/office/drawing/2014/main" id="{2700DAFB-494F-45AC-9C21-B9F24971AFD7}"/>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B4C4E9-8BFD-44FD-B33F-2542E5AE6DCF}"/>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QUALITY</a:t>
            </a:r>
          </a:p>
        </p:txBody>
      </p:sp>
      <p:sp>
        <p:nvSpPr>
          <p:cNvPr id="10" name="TextBox 9">
            <a:extLst>
              <a:ext uri="{FF2B5EF4-FFF2-40B4-BE49-F238E27FC236}">
                <a16:creationId xmlns:a16="http://schemas.microsoft.com/office/drawing/2014/main" id="{CDEA8F95-B30F-4290-A0A7-BBBBEB20D9D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tau-related evidence</a:t>
            </a:r>
          </a:p>
        </p:txBody>
      </p:sp>
      <p:sp>
        <p:nvSpPr>
          <p:cNvPr id="11" name="TextBox 10">
            <a:extLst>
              <a:ext uri="{FF2B5EF4-FFF2-40B4-BE49-F238E27FC236}">
                <a16:creationId xmlns:a16="http://schemas.microsoft.com/office/drawing/2014/main" id="{B5B935A5-C288-4A52-A86E-38A947DCD04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may connect mitochondrial protein cleanup with broader proteostasis.</a:t>
            </a:r>
          </a:p>
        </p:txBody>
      </p:sp>
      <p:sp>
        <p:nvSpPr>
          <p:cNvPr id="12" name="Rounded Rectangle 11">
            <a:extLst>
              <a:ext uri="{FF2B5EF4-FFF2-40B4-BE49-F238E27FC236}">
                <a16:creationId xmlns:a16="http://schemas.microsoft.com/office/drawing/2014/main" id="{0221743A-EADC-45F4-A2FD-074B7252A22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B97555B-F50F-410B-A290-E24A5D0A395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CAVEAT</a:t>
            </a:r>
          </a:p>
        </p:txBody>
      </p:sp>
      <p:sp>
        <p:nvSpPr>
          <p:cNvPr id="14" name="TextBox 13">
            <a:extLst>
              <a:ext uri="{FF2B5EF4-FFF2-40B4-BE49-F238E27FC236}">
                <a16:creationId xmlns:a16="http://schemas.microsoft.com/office/drawing/2014/main" id="{03124096-C258-43D0-B354-EF4521E2B2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Prior models differ</a:t>
            </a:r>
          </a:p>
        </p:txBody>
      </p:sp>
      <p:sp>
        <p:nvSpPr>
          <p:cNvPr id="15" name="TextBox 14">
            <a:extLst>
              <a:ext uri="{FF2B5EF4-FFF2-40B4-BE49-F238E27FC236}">
                <a16:creationId xmlns:a16="http://schemas.microsoft.com/office/drawing/2014/main" id="{8A30B23A-A43A-4DF4-8D39-DB14F2E185D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Macrophage and mouse evidence cannot establish a human neuronal mechanism.</a:t>
            </a:r>
          </a:p>
        </p:txBody>
      </p:sp>
      <p:sp>
        <p:nvSpPr>
          <p:cNvPr id="16" name="Rounded Rectangle 15">
            <a:extLst>
              <a:ext uri="{FF2B5EF4-FFF2-40B4-BE49-F238E27FC236}">
                <a16:creationId xmlns:a16="http://schemas.microsoft.com/office/drawing/2014/main" id="{5F74BBFF-9AB2-48E0-9DE5-36F181160B2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7FD3AE7-B793-41FE-AA6B-CA3B9B8F2DD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8073B91-CFF3-471C-8606-5BF4CB42737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SELENOW and SELENOM share selenium biology but have different neighborhoods and must remain separate hypotheses.</a:t>
            </a:r>
          </a:p>
        </p:txBody>
      </p:sp>
    </p:spTree>
    <p:extLst>
      <p:ext uri="{BB962C8B-B14F-4D97-AF65-F5344CB8AC3E}">
        <p14:creationId xmlns:p14="http://schemas.microsoft.com/office/powerpoint/2010/main" val="151953650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4C1B13-F082-4CDC-A4AF-9CF4CA419A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11</a:t>
            </a:r>
          </a:p>
        </p:txBody>
      </p:sp>
      <p:sp>
        <p:nvSpPr>
          <p:cNvPr id="3" name="TextBox 2">
            <a:extLst>
              <a:ext uri="{FF2B5EF4-FFF2-40B4-BE49-F238E27FC236}">
                <a16:creationId xmlns:a16="http://schemas.microsoft.com/office/drawing/2014/main" id="{96D5F005-6A5A-4651-B68E-63AD17BBE98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0FED5C9-94CD-4D86-A2D8-8AD51C417D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EB54504-3A9E-474A-9C5B-C2221EC2F142}"/>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Misra et al. 2023</a:t>
            </a:r>
          </a:p>
        </p:txBody>
      </p:sp>
      <p:sp>
        <p:nvSpPr>
          <p:cNvPr id="6" name="TextBox 5">
            <a:extLst>
              <a:ext uri="{FF2B5EF4-FFF2-40B4-BE49-F238E27FC236}">
                <a16:creationId xmlns:a16="http://schemas.microsoft.com/office/drawing/2014/main" id="{9295E1F1-CEE8-4582-AA06-AE190214E32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respiration</a:t>
            </a:r>
          </a:p>
        </p:txBody>
      </p:sp>
      <p:sp>
        <p:nvSpPr>
          <p:cNvPr id="7" name="TextBox 6">
            <a:extLst>
              <a:ext uri="{FF2B5EF4-FFF2-40B4-BE49-F238E27FC236}">
                <a16:creationId xmlns:a16="http://schemas.microsoft.com/office/drawing/2014/main" id="{59D511DE-3F6F-4A68-945C-2E6477BE6D21}"/>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EFC0DA10-90E5-4254-839D-3385C115238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SELENOW loss alters redox state and mitochondrial respiration.</a:t>
            </a:r>
          </a:p>
        </p:txBody>
      </p:sp>
      <p:sp>
        <p:nvSpPr>
          <p:cNvPr id="9" name="TextBox 8">
            <a:extLst>
              <a:ext uri="{FF2B5EF4-FFF2-40B4-BE49-F238E27FC236}">
                <a16:creationId xmlns:a16="http://schemas.microsoft.com/office/drawing/2014/main" id="{AC3A5FEE-019C-4C64-8AA2-7C354EAF703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05E63B8B-098A-4DA1-88AC-4E736F8DC4D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experiment used macrophages rather than neurons.</a:t>
            </a:r>
          </a:p>
        </p:txBody>
      </p:sp>
      <p:sp>
        <p:nvSpPr>
          <p:cNvPr id="11" name="Rounded Rectangle 10">
            <a:extLst>
              <a:ext uri="{FF2B5EF4-FFF2-40B4-BE49-F238E27FC236}">
                <a16:creationId xmlns:a16="http://schemas.microsoft.com/office/drawing/2014/main" id="{37B53BB3-FD78-4B18-9876-8FDDEFD2FB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F77C85D-3C0C-4B66-81B2-43CD83A207F4}"/>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Ren et al. 2024</a:t>
            </a:r>
          </a:p>
        </p:txBody>
      </p:sp>
      <p:sp>
        <p:nvSpPr>
          <p:cNvPr id="13" name="TextBox 12">
            <a:extLst>
              <a:ext uri="{FF2B5EF4-FFF2-40B4-BE49-F238E27FC236}">
                <a16:creationId xmlns:a16="http://schemas.microsoft.com/office/drawing/2014/main" id="{2EECD59F-9AC5-496F-8566-2FB6497259D4}"/>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tau</a:t>
            </a:r>
          </a:p>
        </p:txBody>
      </p:sp>
      <p:sp>
        <p:nvSpPr>
          <p:cNvPr id="14" name="TextBox 13">
            <a:extLst>
              <a:ext uri="{FF2B5EF4-FFF2-40B4-BE49-F238E27FC236}">
                <a16:creationId xmlns:a16="http://schemas.microsoft.com/office/drawing/2014/main" id="{1D979244-175D-41BA-924D-A31542990FF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CCA367C-5739-441A-85DA-B1ECF37998D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improved tau clearance and phenotypes after SELENOW overexpression.</a:t>
            </a:r>
          </a:p>
        </p:txBody>
      </p:sp>
      <p:sp>
        <p:nvSpPr>
          <p:cNvPr id="16" name="TextBox 15">
            <a:extLst>
              <a:ext uri="{FF2B5EF4-FFF2-40B4-BE49-F238E27FC236}">
                <a16:creationId xmlns:a16="http://schemas.microsoft.com/office/drawing/2014/main" id="{0CD0E5AC-C960-42E4-829C-810A332C4F1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64869D1-82F0-431C-B250-BAF278B240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Evidence comes from a 3×Tg-AD mouse model.</a:t>
            </a:r>
          </a:p>
        </p:txBody>
      </p:sp>
      <p:sp>
        <p:nvSpPr>
          <p:cNvPr id="18" name="Rounded Rectangle 17">
            <a:extLst>
              <a:ext uri="{FF2B5EF4-FFF2-40B4-BE49-F238E27FC236}">
                <a16:creationId xmlns:a16="http://schemas.microsoft.com/office/drawing/2014/main" id="{D8CC1CED-DDDC-47F0-8FE4-B929AD06AE3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1F0D2DED-9A5B-4AC5-B7DF-FBF7DB80F25E}"/>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AB4A8DF-DA0A-443B-A306-D6B44499365C}"/>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neuronal neighborhood</a:t>
            </a:r>
          </a:p>
        </p:txBody>
      </p:sp>
      <p:sp>
        <p:nvSpPr>
          <p:cNvPr id="21" name="TextBox 20">
            <a:extLst>
              <a:ext uri="{FF2B5EF4-FFF2-40B4-BE49-F238E27FC236}">
                <a16:creationId xmlns:a16="http://schemas.microsoft.com/office/drawing/2014/main" id="{4F1E8FE2-26D2-4DC8-832F-EC7C58FF239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216CC7A2-6356-43C1-B57D-08179BB5D352}"/>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cell-resolved links to respiration and mitochondrial quality control.</a:t>
            </a:r>
          </a:p>
        </p:txBody>
      </p:sp>
      <p:sp>
        <p:nvSpPr>
          <p:cNvPr id="23" name="TextBox 22">
            <a:extLst>
              <a:ext uri="{FF2B5EF4-FFF2-40B4-BE49-F238E27FC236}">
                <a16:creationId xmlns:a16="http://schemas.microsoft.com/office/drawing/2014/main" id="{64EF1530-95F7-41A7-8849-59B89EA6652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DF0DCAC-4AAC-4320-BE04-ECE3BA589D9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KDA does not prove direction or causality.</a:t>
            </a:r>
          </a:p>
        </p:txBody>
      </p:sp>
      <p:sp>
        <p:nvSpPr>
          <p:cNvPr id="25" name="Rounded Rectangle 24">
            <a:extLst>
              <a:ext uri="{FF2B5EF4-FFF2-40B4-BE49-F238E27FC236}">
                <a16:creationId xmlns:a16="http://schemas.microsoft.com/office/drawing/2014/main" id="{4F0A4715-DDA2-4CDE-AE71-17CEC7E27051}"/>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1A637B2-7B70-4294-BAD4-A3A3249195B4}"/>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57697078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10151A-41BA-4345-B5EA-DBDC0E3EBE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12</a:t>
            </a:r>
          </a:p>
        </p:txBody>
      </p:sp>
      <p:sp>
        <p:nvSpPr>
          <p:cNvPr id="3" name="Rectangle 2">
            <a:extLst>
              <a:ext uri="{FF2B5EF4-FFF2-40B4-BE49-F238E27FC236}">
                <a16:creationId xmlns:a16="http://schemas.microsoft.com/office/drawing/2014/main" id="{E94FA09A-EF68-4F00-A80F-531C6EA3D61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2787DBD-8C70-4D25-88D9-72B5E4DACBC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PGK1 links astrocyte glycolysis and hypoxia signaling to mitochondrial quality control</a:t>
            </a:r>
          </a:p>
        </p:txBody>
      </p:sp>
      <p:sp>
        <p:nvSpPr>
          <p:cNvPr id="5" name="TextBox 4">
            <a:extLst>
              <a:ext uri="{FF2B5EF4-FFF2-40B4-BE49-F238E27FC236}">
                <a16:creationId xmlns:a16="http://schemas.microsoft.com/office/drawing/2014/main" id="{ADB10DF0-F101-4520-BF07-F7B7480D7845}"/>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astrocyte-driver finding.</a:t>
            </a:r>
          </a:p>
        </p:txBody>
      </p:sp>
      <p:sp>
        <p:nvSpPr>
          <p:cNvPr id="6" name="Rounded Rectangle 5">
            <a:extLst>
              <a:ext uri="{FF2B5EF4-FFF2-40B4-BE49-F238E27FC236}">
                <a16:creationId xmlns:a16="http://schemas.microsoft.com/office/drawing/2014/main" id="{7CFB2E04-3813-43FC-9893-5DEE9CCAE05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5B51999-F34D-420B-93B1-A6B614FD43E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8F3A2D7-66CE-4568-A5BF-12B1402165B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6DD44B-FC09-4191-8DB8-6631B37C4DDC}"/>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AFDB70E-DD83-4D0B-8843-56D52672B0C9}"/>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E5EB1731-80B6-43FC-91E5-2E3F6EDA39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06AB7E-8D50-4482-A99B-7B95338DCCC7}"/>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C5C56F36-1935-43A4-9BB0-E7CD8C5E854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9B76A6D1-153F-4CEB-AFE0-7B5B49C084CD}"/>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F778557-B9A6-404B-941A-1B8DB03D264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BB27D24-647A-4669-95B8-B6FAFA5BCF4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13B06B5-E934-445A-8FC6-1A87AB9C12A3}"/>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0F4822B-7924-4D23-9A8F-46FB3C48F7F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5AACBF5-703E-4247-81BA-70B08D1DA8D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C274C91-3AF6-4228-8C48-9D6A636387B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67457D6-3123-4DBC-B5AA-71628443DB0E}"/>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PGK1 connects astrocyte glycolysis with a narrow BNIP3, BNIP3L, and FAM162A stress neighborhood.</a:t>
            </a:r>
          </a:p>
        </p:txBody>
      </p:sp>
    </p:spTree>
    <p:extLst>
      <p:ext uri="{BB962C8B-B14F-4D97-AF65-F5344CB8AC3E}">
        <p14:creationId xmlns:p14="http://schemas.microsoft.com/office/powerpoint/2010/main" val="191304843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B7F558-6829-4CCA-85E9-8EA5B536584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PGK1 links astrocyte sugar breakdown with removal of damaged mitochondria</a:t>
            </a:r>
          </a:p>
        </p:txBody>
      </p:sp>
      <p:sp>
        <p:nvSpPr>
          <p:cNvPr id="3" name="TextBox 2">
            <a:extLst>
              <a:ext uri="{FF2B5EF4-FFF2-40B4-BE49-F238E27FC236}">
                <a16:creationId xmlns:a16="http://schemas.microsoft.com/office/drawing/2014/main" id="{89BAE679-B633-4947-8266-01BA18D7062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Glycolysis makes energy from sugar outside mitochondria. Mitophagy is the recycling of damaged mitochondria.</a:t>
            </a:r>
          </a:p>
        </p:txBody>
      </p:sp>
      <p:sp>
        <p:nvSpPr>
          <p:cNvPr id="4" name="Rounded Rectangle 3">
            <a:extLst>
              <a:ext uri="{FF2B5EF4-FFF2-40B4-BE49-F238E27FC236}">
                <a16:creationId xmlns:a16="http://schemas.microsoft.com/office/drawing/2014/main" id="{47ED80FA-BFC2-43F4-8AAF-62F387718225}"/>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903C65-BA88-486E-894D-945D8EE3AC3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573FB060-EB71-44AC-8C31-9FBCCF787A3C}"/>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89922-1AFD-482B-A71B-C8C8CD42BB45}"/>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KDA calls</a:t>
            </a:r>
          </a:p>
        </p:txBody>
      </p:sp>
      <p:sp>
        <p:nvSpPr>
          <p:cNvPr id="8" name="Rounded Rectangle 7">
            <a:extLst>
              <a:ext uri="{FF2B5EF4-FFF2-40B4-BE49-F238E27FC236}">
                <a16:creationId xmlns:a16="http://schemas.microsoft.com/office/drawing/2014/main" id="{39CAED9D-8232-4695-A11B-D04EA2D5A22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FBA6-3B16-41CF-B91A-0B1301AB159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Glycolysis</a:t>
            </a:r>
          </a:p>
        </p:txBody>
      </p:sp>
      <p:sp>
        <p:nvSpPr>
          <p:cNvPr id="10" name="Rounded Rectangle 9">
            <a:extLst>
              <a:ext uri="{FF2B5EF4-FFF2-40B4-BE49-F238E27FC236}">
                <a16:creationId xmlns:a16="http://schemas.microsoft.com/office/drawing/2014/main" id="{DC571AE3-E827-48D6-8006-A3BBC12F4F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3CB9581-3A5C-435D-AE95-E23A83F8B585}"/>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Hypoxia and mitophagy</a:t>
            </a:r>
          </a:p>
        </p:txBody>
      </p:sp>
      <p:sp>
        <p:nvSpPr>
          <p:cNvPr id="12" name="Rounded Rectangle 11">
            <a:extLst>
              <a:ext uri="{FF2B5EF4-FFF2-40B4-BE49-F238E27FC236}">
                <a16:creationId xmlns:a16="http://schemas.microsoft.com/office/drawing/2014/main" id="{9EAD06E1-6770-4024-918D-B31A9AFD8229}"/>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9649F30-009B-4A33-89C9-FAAD0B421D2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PGK1</a:t>
            </a:r>
          </a:p>
        </p:txBody>
      </p:sp>
      <p:sp>
        <p:nvSpPr>
          <p:cNvPr id="14" name="TextBox 13">
            <a:extLst>
              <a:ext uri="{FF2B5EF4-FFF2-40B4-BE49-F238E27FC236}">
                <a16:creationId xmlns:a16="http://schemas.microsoft.com/office/drawing/2014/main" id="{EB010982-E7FF-4A27-8D2E-698ED72713F3}"/>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Glycolysis gene</a:t>
            </a:r>
          </a:p>
        </p:txBody>
      </p:sp>
      <p:sp>
        <p:nvSpPr>
          <p:cNvPr id="15" name="TextBox 14">
            <a:extLst>
              <a:ext uri="{FF2B5EF4-FFF2-40B4-BE49-F238E27FC236}">
                <a16:creationId xmlns:a16="http://schemas.microsoft.com/office/drawing/2014/main" id="{FB9899F7-137A-49E3-92E2-593E731D713A}"/>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participates in the pathway that breaks down glucose outside mitochondria.</a:t>
            </a:r>
          </a:p>
        </p:txBody>
      </p:sp>
      <p:sp>
        <p:nvSpPr>
          <p:cNvPr id="16" name="Rounded Rectangle 15">
            <a:extLst>
              <a:ext uri="{FF2B5EF4-FFF2-40B4-BE49-F238E27FC236}">
                <a16:creationId xmlns:a16="http://schemas.microsoft.com/office/drawing/2014/main" id="{F2A82254-E0D0-4592-B2C8-BD2CE3F6545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97F7430-EFBA-4174-8B86-141500AB5194}"/>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STRESS NEIGHBORHOOD</a:t>
            </a:r>
          </a:p>
        </p:txBody>
      </p:sp>
      <p:sp>
        <p:nvSpPr>
          <p:cNvPr id="18" name="TextBox 17">
            <a:extLst>
              <a:ext uri="{FF2B5EF4-FFF2-40B4-BE49-F238E27FC236}">
                <a16:creationId xmlns:a16="http://schemas.microsoft.com/office/drawing/2014/main" id="{4956E081-DD2C-4B86-890B-15AAED8FEB6A}"/>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and BNIP3</a:t>
            </a:r>
          </a:p>
        </p:txBody>
      </p:sp>
      <p:sp>
        <p:nvSpPr>
          <p:cNvPr id="19" name="TextBox 18">
            <a:extLst>
              <a:ext uri="{FF2B5EF4-FFF2-40B4-BE49-F238E27FC236}">
                <a16:creationId xmlns:a16="http://schemas.microsoft.com/office/drawing/2014/main" id="{E4B6BE57-7B21-46EB-B4B8-07C7047BE0B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respond to low oxygen and mitochondrial damage.</a:t>
            </a:r>
          </a:p>
        </p:txBody>
      </p:sp>
      <p:sp>
        <p:nvSpPr>
          <p:cNvPr id="20" name="Rounded Rectangle 19">
            <a:extLst>
              <a:ext uri="{FF2B5EF4-FFF2-40B4-BE49-F238E27FC236}">
                <a16:creationId xmlns:a16="http://schemas.microsoft.com/office/drawing/2014/main" id="{B5B0454C-87F7-46D9-AC9D-C258F8FE505C}"/>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4A31876-F730-41A3-82E1-26C44DB10FC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CLEANUP</a:t>
            </a:r>
          </a:p>
        </p:txBody>
      </p:sp>
      <p:sp>
        <p:nvSpPr>
          <p:cNvPr id="22" name="TextBox 21">
            <a:extLst>
              <a:ext uri="{FF2B5EF4-FFF2-40B4-BE49-F238E27FC236}">
                <a16:creationId xmlns:a16="http://schemas.microsoft.com/office/drawing/2014/main" id="{0B36BB3D-8B3E-4FE2-92A5-2C31F99320E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BNIP3L</a:t>
            </a:r>
          </a:p>
        </p:txBody>
      </p:sp>
      <p:sp>
        <p:nvSpPr>
          <p:cNvPr id="23" name="TextBox 22">
            <a:extLst>
              <a:ext uri="{FF2B5EF4-FFF2-40B4-BE49-F238E27FC236}">
                <a16:creationId xmlns:a16="http://schemas.microsoft.com/office/drawing/2014/main" id="{80957CE9-3905-4E15-87B7-36C2E3BB9A6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BNIP3L can help mark damaged mitochondria for recycling.</a:t>
            </a:r>
          </a:p>
        </p:txBody>
      </p:sp>
      <p:sp>
        <p:nvSpPr>
          <p:cNvPr id="24" name="Rounded Rectangle 23">
            <a:extLst>
              <a:ext uri="{FF2B5EF4-FFF2-40B4-BE49-F238E27FC236}">
                <a16:creationId xmlns:a16="http://schemas.microsoft.com/office/drawing/2014/main" id="{9E619A25-60EB-4338-89D1-FDE97321B67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E2785D-97BD-473E-94DD-1C0B3B017144}"/>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focused neighborhood suggests a glycolysis-to-mitophagy hypothesis, not broad control of all OXPHOS genes.</a:t>
            </a:r>
          </a:p>
        </p:txBody>
      </p:sp>
    </p:spTree>
    <p:extLst>
      <p:ext uri="{BB962C8B-B14F-4D97-AF65-F5344CB8AC3E}">
        <p14:creationId xmlns:p14="http://schemas.microsoft.com/office/powerpoint/2010/main" val="118991329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34ECCD-3005-43E7-8A12-A62269DF1A3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PGK1 appears in three astrocyte contexts with a three-gene neighborhood</a:t>
            </a:r>
          </a:p>
        </p:txBody>
      </p:sp>
      <p:sp>
        <p:nvSpPr>
          <p:cNvPr id="3" name="TextBox 2">
            <a:extLst>
              <a:ext uri="{FF2B5EF4-FFF2-40B4-BE49-F238E27FC236}">
                <a16:creationId xmlns:a16="http://schemas.microsoft.com/office/drawing/2014/main" id="{B1237EA6-8A72-4ABB-8504-3CA9DA6E9F4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category scores rank candidates but are exploratory rather than final q-values.</a:t>
            </a:r>
          </a:p>
        </p:txBody>
      </p:sp>
      <p:sp>
        <p:nvSpPr>
          <p:cNvPr id="4" name="Rounded Rectangle 3">
            <a:extLst>
              <a:ext uri="{FF2B5EF4-FFF2-40B4-BE49-F238E27FC236}">
                <a16:creationId xmlns:a16="http://schemas.microsoft.com/office/drawing/2014/main" id="{4EB4B218-2773-4039-97D9-0594082EFDE3}"/>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A6A47F5-78EC-4613-9887-AC2E40047FAD}"/>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9AF3B4E6-7A86-4790-B7EC-A9935BB2ED18}"/>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13242BF1-09E7-4CAB-9664-0FD69FED9A2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F_e4, M_e4</a:t>
            </a:r>
          </a:p>
        </p:txBody>
      </p:sp>
      <p:sp>
        <p:nvSpPr>
          <p:cNvPr id="8" name="Rounded Rectangle 7">
            <a:extLst>
              <a:ext uri="{FF2B5EF4-FFF2-40B4-BE49-F238E27FC236}">
                <a16:creationId xmlns:a16="http://schemas.microsoft.com/office/drawing/2014/main" id="{A77D6C01-7389-436C-BC46-33941816E95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6D1F92-7286-4B38-89BB-33A8D7D2C59A}"/>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a:t>
            </a:r>
          </a:p>
        </p:txBody>
      </p:sp>
      <p:sp>
        <p:nvSpPr>
          <p:cNvPr id="10" name="TextBox 9">
            <a:extLst>
              <a:ext uri="{FF2B5EF4-FFF2-40B4-BE49-F238E27FC236}">
                <a16:creationId xmlns:a16="http://schemas.microsoft.com/office/drawing/2014/main" id="{CE45EA34-F632-4FAF-9783-05EB53CC1CC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overlap occurrences</a:t>
            </a:r>
          </a:p>
        </p:txBody>
      </p:sp>
      <p:sp>
        <p:nvSpPr>
          <p:cNvPr id="11" name="TextBox 10">
            <a:extLst>
              <a:ext uri="{FF2B5EF4-FFF2-40B4-BE49-F238E27FC236}">
                <a16:creationId xmlns:a16="http://schemas.microsoft.com/office/drawing/2014/main" id="{2EDDE8DE-BC59-4E4F-B94F-FA088B4109B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three genes</a:t>
            </a:r>
          </a:p>
        </p:txBody>
      </p:sp>
      <p:sp>
        <p:nvSpPr>
          <p:cNvPr id="12" name="Rounded Rectangle 11">
            <a:extLst>
              <a:ext uri="{FF2B5EF4-FFF2-40B4-BE49-F238E27FC236}">
                <a16:creationId xmlns:a16="http://schemas.microsoft.com/office/drawing/2014/main" id="{2A433B62-D50C-42CE-807D-6EE2C629C3C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B38FB59-7DDF-4CF3-8FA2-3AC7890FA51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A21E4E72-49CB-4F47-8158-894559B2D23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neighbor genes</a:t>
            </a:r>
          </a:p>
        </p:txBody>
      </p:sp>
      <p:sp>
        <p:nvSpPr>
          <p:cNvPr id="15" name="TextBox 14">
            <a:extLst>
              <a:ext uri="{FF2B5EF4-FFF2-40B4-BE49-F238E27FC236}">
                <a16:creationId xmlns:a16="http://schemas.microsoft.com/office/drawing/2014/main" id="{4EC346BC-0759-4F0B-A2D9-D69060EC70D7}"/>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FAM162A, BNIP3, BNIP3L</a:t>
            </a:r>
          </a:p>
        </p:txBody>
      </p:sp>
      <p:sp>
        <p:nvSpPr>
          <p:cNvPr id="16" name="Rounded Rectangle 15">
            <a:extLst>
              <a:ext uri="{FF2B5EF4-FFF2-40B4-BE49-F238E27FC236}">
                <a16:creationId xmlns:a16="http://schemas.microsoft.com/office/drawing/2014/main" id="{F7462905-94EB-45AA-A9C1-76483A544358}"/>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FA5032A-67CF-4A27-807B-6CC6E486B9FC}"/>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A248D179-49EF-48D7-8640-B8E54FD0980F}"/>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+1.06</a:t>
            </a:r>
          </a:p>
        </p:txBody>
      </p:sp>
      <p:sp>
        <p:nvSpPr>
          <p:cNvPr id="19" name="TextBox 18">
            <a:extLst>
              <a:ext uri="{FF2B5EF4-FFF2-40B4-BE49-F238E27FC236}">
                <a16:creationId xmlns:a16="http://schemas.microsoft.com/office/drawing/2014/main" id="{CEFE52EB-E3A8-437E-BFB1-C446A745613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
        <p:nvSpPr>
          <p:cNvPr id="20" name="Rounded Rectangle 19">
            <a:extLst>
              <a:ext uri="{FF2B5EF4-FFF2-40B4-BE49-F238E27FC236}">
                <a16:creationId xmlns:a16="http://schemas.microsoft.com/office/drawing/2014/main" id="{163C2D99-61C4-4609-B9F5-A41BE06E79D3}"/>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62CE896-82E2-414F-BCE7-4E4EE5C9FDF2}"/>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2" name="TextBox 21">
            <a:extLst>
              <a:ext uri="{FF2B5EF4-FFF2-40B4-BE49-F238E27FC236}">
                <a16:creationId xmlns:a16="http://schemas.microsoft.com/office/drawing/2014/main" id="{3D617E52-6E88-4F32-A270-C23075F37C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logFC +0.03</a:t>
            </a:r>
          </a:p>
        </p:txBody>
      </p:sp>
      <p:sp>
        <p:nvSpPr>
          <p:cNvPr id="23" name="TextBox 22">
            <a:extLst>
              <a:ext uri="{FF2B5EF4-FFF2-40B4-BE49-F238E27FC236}">
                <a16:creationId xmlns:a16="http://schemas.microsoft.com/office/drawing/2014/main" id="{DFAE37E3-B0DD-4A9E-AD0B-213D2BABEFB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showed almost no expression change and was not a paper DEG</a:t>
            </a:r>
          </a:p>
        </p:txBody>
      </p:sp>
      <p:sp>
        <p:nvSpPr>
          <p:cNvPr id="24" name="Rounded Rectangle 23">
            <a:extLst>
              <a:ext uri="{FF2B5EF4-FFF2-40B4-BE49-F238E27FC236}">
                <a16:creationId xmlns:a16="http://schemas.microsoft.com/office/drawing/2014/main" id="{56E5093A-5C54-4EFC-BC39-17063F9BEFE2}"/>
              </a:ext>
            </a:extLst>
          </p:cNvPr>
          <p:cNvSpPr>
            <a:spLocks noGrp="1"/>
          </p:cNvSpPr>
          <p:nvPr/>
        </p:nvSpPr>
        <p:spPr>
          <a:xfrm>
            <a:off x="749808" y="484632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967871F-BBF0-43C9-B9DC-FDA1E86BA9E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ε4</a:t>
            </a:r>
          </a:p>
        </p:txBody>
      </p:sp>
      <p:sp>
        <p:nvSpPr>
          <p:cNvPr id="26" name="TextBox 25">
            <a:extLst>
              <a:ext uri="{FF2B5EF4-FFF2-40B4-BE49-F238E27FC236}">
                <a16:creationId xmlns:a16="http://schemas.microsoft.com/office/drawing/2014/main" id="{6C1D427A-C9F7-40EE-A46C-C6DCBC736DE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+0.95</a:t>
            </a:r>
          </a:p>
        </p:txBody>
      </p:sp>
      <p:sp>
        <p:nvSpPr>
          <p:cNvPr id="27" name="TextBox 26">
            <a:extLst>
              <a:ext uri="{FF2B5EF4-FFF2-40B4-BE49-F238E27FC236}">
                <a16:creationId xmlns:a16="http://schemas.microsoft.com/office/drawing/2014/main" id="{29D3692D-C336-456D-88CD-3A2ECEEEA0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Tree>
    <p:extLst>
      <p:ext uri="{BB962C8B-B14F-4D97-AF65-F5344CB8AC3E}">
        <p14:creationId xmlns:p14="http://schemas.microsoft.com/office/powerpoint/2010/main" val="22081009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A312CB-5F0B-4345-92DD-4F0394E290B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neighborhood is specific, while external support remains limited</a:t>
            </a:r>
          </a:p>
        </p:txBody>
      </p:sp>
      <p:sp>
        <p:nvSpPr>
          <p:cNvPr id="3" name="TextBox 2">
            <a:extLst>
              <a:ext uri="{FF2B5EF4-FFF2-40B4-BE49-F238E27FC236}">
                <a16:creationId xmlns:a16="http://schemas.microsoft.com/office/drawing/2014/main" id="{34F96E17-5704-4968-8FFC-4A9E6293D58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narrow module can sharpen a hypothesis but also depends heavily on a few genes.</a:t>
            </a:r>
          </a:p>
        </p:txBody>
      </p:sp>
      <p:sp>
        <p:nvSpPr>
          <p:cNvPr id="4" name="Rounded Rectangle 3">
            <a:extLst>
              <a:ext uri="{FF2B5EF4-FFF2-40B4-BE49-F238E27FC236}">
                <a16:creationId xmlns:a16="http://schemas.microsoft.com/office/drawing/2014/main" id="{2D5AFA68-09C1-4160-BFBC-2E55ECA39EA1}"/>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5003D-DE1C-4590-B184-70967E3A99AA}"/>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OVERLAP</a:t>
            </a:r>
          </a:p>
        </p:txBody>
      </p:sp>
      <p:sp>
        <p:nvSpPr>
          <p:cNvPr id="6" name="TextBox 5">
            <a:extLst>
              <a:ext uri="{FF2B5EF4-FFF2-40B4-BE49-F238E27FC236}">
                <a16:creationId xmlns:a16="http://schemas.microsoft.com/office/drawing/2014/main" id="{EF558C3A-0504-4E58-9BD1-4A923DDCD21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3, BNIP3 3, BNIP3L 2</a:t>
            </a:r>
          </a:p>
        </p:txBody>
      </p:sp>
      <p:sp>
        <p:nvSpPr>
          <p:cNvPr id="7" name="TextBox 6">
            <a:extLst>
              <a:ext uri="{FF2B5EF4-FFF2-40B4-BE49-F238E27FC236}">
                <a16:creationId xmlns:a16="http://schemas.microsoft.com/office/drawing/2014/main" id="{A9C49C52-BD4E-420E-94E4-96753C7A2C0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eight exact occurrences belong to the hypoxia and mitochondrial-quality theme.</a:t>
            </a:r>
          </a:p>
        </p:txBody>
      </p:sp>
      <p:sp>
        <p:nvSpPr>
          <p:cNvPr id="8" name="Rounded Rectangle 7">
            <a:extLst>
              <a:ext uri="{FF2B5EF4-FFF2-40B4-BE49-F238E27FC236}">
                <a16:creationId xmlns:a16="http://schemas.microsoft.com/office/drawing/2014/main" id="{4BC3BC37-F1EF-4116-9612-1C28E5F66893}"/>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AEC80D-36F8-4C7E-B96D-17BF8A9893A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a:t>
            </a:r>
          </a:p>
        </p:txBody>
      </p:sp>
      <p:sp>
        <p:nvSpPr>
          <p:cNvPr id="10" name="TextBox 9">
            <a:extLst>
              <a:ext uri="{FF2B5EF4-FFF2-40B4-BE49-F238E27FC236}">
                <a16:creationId xmlns:a16="http://schemas.microsoft.com/office/drawing/2014/main" id="{1117AB6D-06AA-4C3A-94B4-03661EA80071}"/>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Present but not returned</a:t>
            </a:r>
          </a:p>
        </p:txBody>
      </p:sp>
      <p:sp>
        <p:nvSpPr>
          <p:cNvPr id="11" name="TextBox 10">
            <a:extLst>
              <a:ext uri="{FF2B5EF4-FFF2-40B4-BE49-F238E27FC236}">
                <a16:creationId xmlns:a16="http://schemas.microsoft.com/office/drawing/2014/main" id="{DD6B5843-D1D2-420E-8C82-1520D4903537}"/>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was available in the only active female ε4 astrocyte network, whose query had only five genes.</a:t>
            </a:r>
          </a:p>
        </p:txBody>
      </p:sp>
      <p:sp>
        <p:nvSpPr>
          <p:cNvPr id="12" name="Rounded Rectangle 11">
            <a:extLst>
              <a:ext uri="{FF2B5EF4-FFF2-40B4-BE49-F238E27FC236}">
                <a16:creationId xmlns:a16="http://schemas.microsoft.com/office/drawing/2014/main" id="{2B9E94F1-54CA-4A52-AA6A-E5C109DD507C}"/>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986F0A-AD85-43D2-A63B-73E9D8239DF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DISCOVERY OVERLAP</a:t>
            </a:r>
          </a:p>
        </p:txBody>
      </p:sp>
      <p:sp>
        <p:nvSpPr>
          <p:cNvPr id="14" name="TextBox 13">
            <a:extLst>
              <a:ext uri="{FF2B5EF4-FFF2-40B4-BE49-F238E27FC236}">
                <a16:creationId xmlns:a16="http://schemas.microsoft.com/office/drawing/2014/main" id="{155E189E-0AC7-4D49-929A-D785A6EDF02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Mathys et al. uses ROSMAP</a:t>
            </a:r>
          </a:p>
        </p:txBody>
      </p:sp>
      <p:sp>
        <p:nvSpPr>
          <p:cNvPr id="15" name="TextBox 14">
            <a:extLst>
              <a:ext uri="{FF2B5EF4-FFF2-40B4-BE49-F238E27FC236}">
                <a16:creationId xmlns:a16="http://schemas.microsoft.com/office/drawing/2014/main" id="{43DA6F94-8431-4149-9553-A5AD0E0D7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Related glial glycolysis evidence may share donors and is not independent validation.</a:t>
            </a:r>
          </a:p>
        </p:txBody>
      </p:sp>
      <p:sp>
        <p:nvSpPr>
          <p:cNvPr id="16" name="Rounded Rectangle 15">
            <a:extLst>
              <a:ext uri="{FF2B5EF4-FFF2-40B4-BE49-F238E27FC236}">
                <a16:creationId xmlns:a16="http://schemas.microsoft.com/office/drawing/2014/main" id="{BF237AF4-0CF6-4942-96B7-AAEE100F85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CE18774-1FE5-498F-8839-3E3A2A0465B2}"/>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appears across several groups and should not be labeled sex- or APOE-specific.</a:t>
            </a:r>
          </a:p>
        </p:txBody>
      </p:sp>
    </p:spTree>
    <p:extLst>
      <p:ext uri="{BB962C8B-B14F-4D97-AF65-F5344CB8AC3E}">
        <p14:creationId xmlns:p14="http://schemas.microsoft.com/office/powerpoint/2010/main" val="92838143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6017EF-9EA4-4B57-B318-A497FEECDA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astrocytes can rebalance glycolysis and mitochondrial cleanup</a:t>
            </a:r>
          </a:p>
        </p:txBody>
      </p:sp>
      <p:sp>
        <p:nvSpPr>
          <p:cNvPr id="3" name="TextBox 2">
            <a:extLst>
              <a:ext uri="{FF2B5EF4-FFF2-40B4-BE49-F238E27FC236}">
                <a16:creationId xmlns:a16="http://schemas.microsoft.com/office/drawing/2014/main" id="{EBB140CF-AE96-471A-8FAA-A1B8D0A234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help regulate energy supply for neurons and respond strongly to Alzheimer’s pathology.</a:t>
            </a:r>
          </a:p>
        </p:txBody>
      </p:sp>
      <p:sp>
        <p:nvSpPr>
          <p:cNvPr id="4" name="Rounded Rectangle 3">
            <a:extLst>
              <a:ext uri="{FF2B5EF4-FFF2-40B4-BE49-F238E27FC236}">
                <a16:creationId xmlns:a16="http://schemas.microsoft.com/office/drawing/2014/main" id="{5E726C50-2F3E-427E-A57E-1B69F087D0A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3C51008-16CE-431B-94F1-A86C527D75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ENERGY ROUTING</a:t>
            </a:r>
          </a:p>
        </p:txBody>
      </p:sp>
      <p:sp>
        <p:nvSpPr>
          <p:cNvPr id="6" name="TextBox 5">
            <a:extLst>
              <a:ext uri="{FF2B5EF4-FFF2-40B4-BE49-F238E27FC236}">
                <a16:creationId xmlns:a16="http://schemas.microsoft.com/office/drawing/2014/main" id="{BE031E6D-135D-4F09-874E-FA2CF701A9E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More glycolysis may reduce mitochondrial demand</a:t>
            </a:r>
          </a:p>
        </p:txBody>
      </p:sp>
      <p:sp>
        <p:nvSpPr>
          <p:cNvPr id="7" name="TextBox 6">
            <a:extLst>
              <a:ext uri="{FF2B5EF4-FFF2-40B4-BE49-F238E27FC236}">
                <a16:creationId xmlns:a16="http://schemas.microsoft.com/office/drawing/2014/main" id="{ED255D3E-6D1A-4D3D-A762-664215183CF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can shift ATP production toward glucose breakdown outside mitochondria.</a:t>
            </a:r>
          </a:p>
        </p:txBody>
      </p:sp>
      <p:sp>
        <p:nvSpPr>
          <p:cNvPr id="8" name="Rounded Rectangle 7">
            <a:extLst>
              <a:ext uri="{FF2B5EF4-FFF2-40B4-BE49-F238E27FC236}">
                <a16:creationId xmlns:a16="http://schemas.microsoft.com/office/drawing/2014/main" id="{CDFC2C7B-D347-481B-AD76-71D110281DFC}"/>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92DABB1-44F0-4374-96C8-F946BC4B608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DAMAGE RESPONSE</a:t>
            </a:r>
          </a:p>
        </p:txBody>
      </p:sp>
      <p:sp>
        <p:nvSpPr>
          <p:cNvPr id="10" name="TextBox 9">
            <a:extLst>
              <a:ext uri="{FF2B5EF4-FFF2-40B4-BE49-F238E27FC236}">
                <a16:creationId xmlns:a16="http://schemas.microsoft.com/office/drawing/2014/main" id="{9640C069-87DE-4B35-AE5E-77E1C893AD9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 and BNIP3L mark stress</a:t>
            </a:r>
          </a:p>
        </p:txBody>
      </p:sp>
      <p:sp>
        <p:nvSpPr>
          <p:cNvPr id="11" name="TextBox 10">
            <a:extLst>
              <a:ext uri="{FF2B5EF4-FFF2-40B4-BE49-F238E27FC236}">
                <a16:creationId xmlns:a16="http://schemas.microsoft.com/office/drawing/2014/main" id="{271D10B8-AD24-4DAF-990A-FAD4840513A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Hypoxia-responsive genes can participate in removing damaged mitochondria.</a:t>
            </a:r>
          </a:p>
        </p:txBody>
      </p:sp>
      <p:sp>
        <p:nvSpPr>
          <p:cNvPr id="12" name="Rounded Rectangle 11">
            <a:extLst>
              <a:ext uri="{FF2B5EF4-FFF2-40B4-BE49-F238E27FC236}">
                <a16:creationId xmlns:a16="http://schemas.microsoft.com/office/drawing/2014/main" id="{845E213E-D488-4151-BC36-F972CF4AA0D6}"/>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0DF5-3B57-4BA0-AB28-51A2B176A78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AMBIGUOUS CONSEQUENCE</a:t>
            </a:r>
          </a:p>
        </p:txBody>
      </p:sp>
      <p:sp>
        <p:nvSpPr>
          <p:cNvPr id="14" name="TextBox 13">
            <a:extLst>
              <a:ext uri="{FF2B5EF4-FFF2-40B4-BE49-F238E27FC236}">
                <a16:creationId xmlns:a16="http://schemas.microsoft.com/office/drawing/2014/main" id="{59F13C28-E00C-4C60-B952-145C57CF8A8F}"/>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Adaptive or harmful</a:t>
            </a:r>
          </a:p>
        </p:txBody>
      </p:sp>
      <p:sp>
        <p:nvSpPr>
          <p:cNvPr id="15" name="TextBox 14">
            <a:extLst>
              <a:ext uri="{FF2B5EF4-FFF2-40B4-BE49-F238E27FC236}">
                <a16:creationId xmlns:a16="http://schemas.microsoft.com/office/drawing/2014/main" id="{CD556C10-4E1A-425E-AAB5-FAB1C75172D3}"/>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Increased glycolysis and mitophagy can protect cells or mark severe stress.</a:t>
            </a:r>
          </a:p>
        </p:txBody>
      </p:sp>
      <p:sp>
        <p:nvSpPr>
          <p:cNvPr id="16" name="Rounded Rectangle 15">
            <a:extLst>
              <a:ext uri="{FF2B5EF4-FFF2-40B4-BE49-F238E27FC236}">
                <a16:creationId xmlns:a16="http://schemas.microsoft.com/office/drawing/2014/main" id="{63BAF420-B9FE-4A44-A13F-0D02A8A9A64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3CAB94A-B4F6-4406-81BE-FD2E512C2323}"/>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01A1458-C04C-42F4-BA43-C198050F5E5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perturbation and rescue design can test whether PGK1 acts upstream of the BNIP3 pathway.</a:t>
            </a:r>
          </a:p>
        </p:txBody>
      </p:sp>
    </p:spTree>
    <p:extLst>
      <p:ext uri="{BB962C8B-B14F-4D97-AF65-F5344CB8AC3E}">
        <p14:creationId xmlns:p14="http://schemas.microsoft.com/office/powerpoint/2010/main" val="153484230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A72472-335B-421D-8BFE-877C12AA8D0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12</a:t>
            </a:r>
          </a:p>
        </p:txBody>
      </p:sp>
      <p:sp>
        <p:nvSpPr>
          <p:cNvPr id="3" name="TextBox 2">
            <a:extLst>
              <a:ext uri="{FF2B5EF4-FFF2-40B4-BE49-F238E27FC236}">
                <a16:creationId xmlns:a16="http://schemas.microsoft.com/office/drawing/2014/main" id="{C1974586-B6F4-444C-BD73-69D0205D12D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3AF9718-FEB6-4EDB-89BD-8E7C9BB67BBC}"/>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037E10-1714-4269-8944-52D55D8B0610}"/>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Mathys et al. 2024</a:t>
            </a:r>
          </a:p>
        </p:txBody>
      </p:sp>
      <p:sp>
        <p:nvSpPr>
          <p:cNvPr id="6" name="TextBox 5">
            <a:extLst>
              <a:ext uri="{FF2B5EF4-FFF2-40B4-BE49-F238E27FC236}">
                <a16:creationId xmlns:a16="http://schemas.microsoft.com/office/drawing/2014/main" id="{A0399F64-B103-4065-8020-6637B2FAB67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Glial glycolytic remodeling</a:t>
            </a:r>
          </a:p>
        </p:txBody>
      </p:sp>
      <p:sp>
        <p:nvSpPr>
          <p:cNvPr id="7" name="TextBox 6">
            <a:extLst>
              <a:ext uri="{FF2B5EF4-FFF2-40B4-BE49-F238E27FC236}">
                <a16:creationId xmlns:a16="http://schemas.microsoft.com/office/drawing/2014/main" id="{AF89A854-4A7E-4A1D-90D0-6B168ECEE33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FFB07D12-DE55-4C63-8310-242ECC43E33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glial glycolysis modules containing PGK1 and BNIP3L in human AD.</a:t>
            </a:r>
          </a:p>
        </p:txBody>
      </p:sp>
      <p:sp>
        <p:nvSpPr>
          <p:cNvPr id="9" name="TextBox 8">
            <a:extLst>
              <a:ext uri="{FF2B5EF4-FFF2-40B4-BE49-F238E27FC236}">
                <a16:creationId xmlns:a16="http://schemas.microsoft.com/office/drawing/2014/main" id="{832660BC-486E-4BBF-8DB9-DA681105A42F}"/>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EAA9EDC-3BA0-4734-9DE4-DD92E8C7DADA}"/>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so donor overlap must be checked.</a:t>
            </a:r>
          </a:p>
        </p:txBody>
      </p:sp>
      <p:sp>
        <p:nvSpPr>
          <p:cNvPr id="11" name="Rounded Rectangle 10">
            <a:extLst>
              <a:ext uri="{FF2B5EF4-FFF2-40B4-BE49-F238E27FC236}">
                <a16:creationId xmlns:a16="http://schemas.microsoft.com/office/drawing/2014/main" id="{F2C96634-4AEB-45EF-A344-E44980237E4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B80C256-A5CF-41EB-ACCF-4920B93F418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Schmukler et al. 2020</a:t>
            </a:r>
          </a:p>
        </p:txBody>
      </p:sp>
      <p:sp>
        <p:nvSpPr>
          <p:cNvPr id="13" name="TextBox 12">
            <a:extLst>
              <a:ext uri="{FF2B5EF4-FFF2-40B4-BE49-F238E27FC236}">
                <a16:creationId xmlns:a16="http://schemas.microsoft.com/office/drawing/2014/main" id="{E98BE54E-0057-433C-B95C-C382524CD479}"/>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mitophagy</a:t>
            </a:r>
          </a:p>
        </p:txBody>
      </p:sp>
      <p:sp>
        <p:nvSpPr>
          <p:cNvPr id="14" name="TextBox 13">
            <a:extLst>
              <a:ext uri="{FF2B5EF4-FFF2-40B4-BE49-F238E27FC236}">
                <a16:creationId xmlns:a16="http://schemas.microsoft.com/office/drawing/2014/main" id="{BFB74E40-3B89-4965-9442-92050071C5C4}"/>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0CE8E85-1C91-4C53-822E-470C06C7B01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astrocytes with altered mitochondrial dynamics and mitophagy.</a:t>
            </a:r>
          </a:p>
        </p:txBody>
      </p:sp>
      <p:sp>
        <p:nvSpPr>
          <p:cNvPr id="16" name="TextBox 15">
            <a:extLst>
              <a:ext uri="{FF2B5EF4-FFF2-40B4-BE49-F238E27FC236}">
                <a16:creationId xmlns:a16="http://schemas.microsoft.com/office/drawing/2014/main" id="{325AF80C-79E3-4D0F-9B2D-C2268452039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3808C9-A74C-45AC-945C-B9AB5BFF9AC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demonstrate PGK1 control of BNIP3 genes.</a:t>
            </a:r>
          </a:p>
        </p:txBody>
      </p:sp>
      <p:sp>
        <p:nvSpPr>
          <p:cNvPr id="18" name="Rounded Rectangle 17">
            <a:extLst>
              <a:ext uri="{FF2B5EF4-FFF2-40B4-BE49-F238E27FC236}">
                <a16:creationId xmlns:a16="http://schemas.microsoft.com/office/drawing/2014/main" id="{16EB823E-A46B-42BA-AA56-439FC30DC0B3}"/>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6624454F-B613-439F-9007-3441866F3B01}"/>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F344A294-12BB-4EE7-A2FF-32DB6F9156D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Astrocyte mitochondrial clearance</a:t>
            </a:r>
          </a:p>
        </p:txBody>
      </p:sp>
      <p:sp>
        <p:nvSpPr>
          <p:cNvPr id="21" name="TextBox 20">
            <a:extLst>
              <a:ext uri="{FF2B5EF4-FFF2-40B4-BE49-F238E27FC236}">
                <a16:creationId xmlns:a16="http://schemas.microsoft.com/office/drawing/2014/main" id="{6FFF97F4-62D3-4364-952F-BA90793F01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E196C6C-A208-4C35-860C-3560592FB001}"/>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lysosomal cholesterol with impaired mitochondrial clearance and respiration.</a:t>
            </a:r>
          </a:p>
        </p:txBody>
      </p:sp>
      <p:sp>
        <p:nvSpPr>
          <p:cNvPr id="23" name="TextBox 22">
            <a:extLst>
              <a:ext uri="{FF2B5EF4-FFF2-40B4-BE49-F238E27FC236}">
                <a16:creationId xmlns:a16="http://schemas.microsoft.com/office/drawing/2014/main" id="{1E48C5CE-B24A-443C-876F-2E5245D6731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B8778A3-C083-44C9-974E-D4DEEFC7C0A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an experimental APOE4 model rather than these three groups.</a:t>
            </a:r>
          </a:p>
        </p:txBody>
      </p:sp>
      <p:sp>
        <p:nvSpPr>
          <p:cNvPr id="25" name="Rounded Rectangle 24">
            <a:extLst>
              <a:ext uri="{FF2B5EF4-FFF2-40B4-BE49-F238E27FC236}">
                <a16:creationId xmlns:a16="http://schemas.microsoft.com/office/drawing/2014/main" id="{2E39FECE-7E07-4FBF-BF87-99029D63CED6}"/>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D7C171E-1E72-48F5-9911-0CA46AD9488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2958300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F76A8A-F354-48DB-AE5E-549D2446A38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13</a:t>
            </a:r>
          </a:p>
        </p:txBody>
      </p:sp>
      <p:sp>
        <p:nvSpPr>
          <p:cNvPr id="3" name="Rectangle 2">
            <a:extLst>
              <a:ext uri="{FF2B5EF4-FFF2-40B4-BE49-F238E27FC236}">
                <a16:creationId xmlns:a16="http://schemas.microsoft.com/office/drawing/2014/main" id="{3F6CDD18-C317-45FC-992F-203E3DFD6C6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37BF0920-6207-4318-8DD2-CE736A6128CF}"/>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An OPC FTL and ANKRD11 module links iron handling, GPX4, and autophagy</a:t>
            </a:r>
          </a:p>
        </p:txBody>
      </p:sp>
      <p:sp>
        <p:nvSpPr>
          <p:cNvPr id="5" name="TextBox 4">
            <a:extLst>
              <a:ext uri="{FF2B5EF4-FFF2-40B4-BE49-F238E27FC236}">
                <a16:creationId xmlns:a16="http://schemas.microsoft.com/office/drawing/2014/main" id="{494CBC75-8C44-499A-AD20-C9BF8080560F}"/>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OPC-module finding.</a:t>
            </a:r>
          </a:p>
        </p:txBody>
      </p:sp>
      <p:sp>
        <p:nvSpPr>
          <p:cNvPr id="6" name="Rounded Rectangle 5">
            <a:extLst>
              <a:ext uri="{FF2B5EF4-FFF2-40B4-BE49-F238E27FC236}">
                <a16:creationId xmlns:a16="http://schemas.microsoft.com/office/drawing/2014/main" id="{43DDCB73-D997-47AF-828E-7AFD1C6D5EB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B92767D-A62F-4697-B971-45A54282D2E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65AFF38-DA6F-4225-8265-7BF89C94803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1489CB2-B02C-462C-925C-B4A4EC9C8C02}"/>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9E7D0E4-FBAB-4096-8BAC-9039126D8EE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08FC1B6-4642-4657-AA88-CFC0EA366B19}"/>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5BBCEBA-F878-42CC-B19F-6A62620CD398}"/>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EFC41CC4-E9F8-4D57-9340-821A6BA5CA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EB0EA8E-025A-41A1-84F1-0AD484E7627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476EB50-25BD-4677-BF35-A1A6E00FE03C}"/>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6AFA8F8-AC9D-4AD1-B57A-B3C6DEE3DA4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D1981B82-1DB9-40EB-88F5-0AAC561935D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D504762-0C6A-4DA2-96C0-FFA4B01040A3}"/>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70B9C167-AB72-4F29-AC97-E34A4784870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6ACDFA9-4BAD-4B4F-918B-C03D0C1AA8C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3DB4A9E-B0AF-4D27-8DAC-E3046968A791}"/>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FTL and ANKRD11 share an OPC neighborhood involving iron storage, GPX4, OXPHOS, and autophagy.</a:t>
            </a:r>
          </a:p>
        </p:txBody>
      </p:sp>
    </p:spTree>
    <p:extLst>
      <p:ext uri="{BB962C8B-B14F-4D97-AF65-F5344CB8AC3E}">
        <p14:creationId xmlns:p14="http://schemas.microsoft.com/office/powerpoint/2010/main" val="174554239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4D26B4-7711-49C3-85EE-A076C12FED1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An OPC module links iron storage with mitochondrial protection and cleanup</a:t>
            </a:r>
          </a:p>
        </p:txBody>
      </p:sp>
      <p:sp>
        <p:nvSpPr>
          <p:cNvPr id="3" name="TextBox 2">
            <a:extLst>
              <a:ext uri="{FF2B5EF4-FFF2-40B4-BE49-F238E27FC236}">
                <a16:creationId xmlns:a16="http://schemas.microsoft.com/office/drawing/2014/main" id="{5E1D4E7A-86B1-4168-B437-CA984DE9C8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OPCs mature into myelin-producing cells. Ferroptosis is cell death caused by iron-dependent damage to membrane fats.</a:t>
            </a:r>
          </a:p>
        </p:txBody>
      </p:sp>
      <p:sp>
        <p:nvSpPr>
          <p:cNvPr id="4" name="Rounded Rectangle 3">
            <a:extLst>
              <a:ext uri="{FF2B5EF4-FFF2-40B4-BE49-F238E27FC236}">
                <a16:creationId xmlns:a16="http://schemas.microsoft.com/office/drawing/2014/main" id="{A21A3532-B9CC-4F0A-8070-64D137C73A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1CB731B-850F-4D22-859E-0A272DE37783}"/>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OPCs</a:t>
            </a:r>
          </a:p>
        </p:txBody>
      </p:sp>
      <p:sp>
        <p:nvSpPr>
          <p:cNvPr id="6" name="Rounded Rectangle 5">
            <a:extLst>
              <a:ext uri="{FF2B5EF4-FFF2-40B4-BE49-F238E27FC236}">
                <a16:creationId xmlns:a16="http://schemas.microsoft.com/office/drawing/2014/main" id="{F20BB2FD-99F0-407B-8023-231B2A90106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EDA9FC6-A03A-4D97-9E80-3573E4F595D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FTL and ANKRD11</a:t>
            </a:r>
          </a:p>
        </p:txBody>
      </p:sp>
      <p:sp>
        <p:nvSpPr>
          <p:cNvPr id="8" name="Rounded Rectangle 7">
            <a:extLst>
              <a:ext uri="{FF2B5EF4-FFF2-40B4-BE49-F238E27FC236}">
                <a16:creationId xmlns:a16="http://schemas.microsoft.com/office/drawing/2014/main" id="{7B6FCEEA-78A3-49D5-B642-625D0BACDB0B}"/>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C2110A9-1EE6-4DEF-872F-1E676E6DBB31}"/>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Iron and GPX4</a:t>
            </a:r>
          </a:p>
        </p:txBody>
      </p:sp>
      <p:sp>
        <p:nvSpPr>
          <p:cNvPr id="10" name="Rounded Rectangle 9">
            <a:extLst>
              <a:ext uri="{FF2B5EF4-FFF2-40B4-BE49-F238E27FC236}">
                <a16:creationId xmlns:a16="http://schemas.microsoft.com/office/drawing/2014/main" id="{FA402AC8-451F-49FE-8AE9-DB591F6CADE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3BB57BE-BEF3-46E9-AA4C-B450E2461D23}"/>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Ferroptosis not proven</a:t>
            </a:r>
          </a:p>
        </p:txBody>
      </p:sp>
      <p:sp>
        <p:nvSpPr>
          <p:cNvPr id="12" name="Rounded Rectangle 11">
            <a:extLst>
              <a:ext uri="{FF2B5EF4-FFF2-40B4-BE49-F238E27FC236}">
                <a16:creationId xmlns:a16="http://schemas.microsoft.com/office/drawing/2014/main" id="{84E7A8DD-6394-43FC-99D3-B0C4ADCBD4C8}"/>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4E9292C-3823-47A3-9C3F-C382BFD56681}"/>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IRON STORAGE</a:t>
            </a:r>
          </a:p>
        </p:txBody>
      </p:sp>
      <p:sp>
        <p:nvSpPr>
          <p:cNvPr id="14" name="TextBox 13">
            <a:extLst>
              <a:ext uri="{FF2B5EF4-FFF2-40B4-BE49-F238E27FC236}">
                <a16:creationId xmlns:a16="http://schemas.microsoft.com/office/drawing/2014/main" id="{F9F0A80B-3BDA-4E44-BF59-0CBB054C3E3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FTL and FTH1</a:t>
            </a:r>
          </a:p>
        </p:txBody>
      </p:sp>
      <p:sp>
        <p:nvSpPr>
          <p:cNvPr id="15" name="TextBox 14">
            <a:extLst>
              <a:ext uri="{FF2B5EF4-FFF2-40B4-BE49-F238E27FC236}">
                <a16:creationId xmlns:a16="http://schemas.microsoft.com/office/drawing/2014/main" id="{F761B7ED-5FD2-4D44-9F67-717668C9C06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stores iron in a safer form and limits damaging free iron.</a:t>
            </a:r>
          </a:p>
        </p:txBody>
      </p:sp>
      <p:sp>
        <p:nvSpPr>
          <p:cNvPr id="16" name="Rounded Rectangle 15">
            <a:extLst>
              <a:ext uri="{FF2B5EF4-FFF2-40B4-BE49-F238E27FC236}">
                <a16:creationId xmlns:a16="http://schemas.microsoft.com/office/drawing/2014/main" id="{6E20F4ED-5088-4271-8BD3-46AE92E23244}"/>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56F6015-84E4-475A-AD79-F20BFAA2EC7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LIPID PROTECTION</a:t>
            </a:r>
          </a:p>
        </p:txBody>
      </p:sp>
      <p:sp>
        <p:nvSpPr>
          <p:cNvPr id="18" name="TextBox 17">
            <a:extLst>
              <a:ext uri="{FF2B5EF4-FFF2-40B4-BE49-F238E27FC236}">
                <a16:creationId xmlns:a16="http://schemas.microsoft.com/office/drawing/2014/main" id="{CF043283-65B2-4BE6-ABB1-C641E33B07F3}"/>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a:t>
            </a:r>
          </a:p>
        </p:txBody>
      </p:sp>
      <p:sp>
        <p:nvSpPr>
          <p:cNvPr id="19" name="TextBox 18">
            <a:extLst>
              <a:ext uri="{FF2B5EF4-FFF2-40B4-BE49-F238E27FC236}">
                <a16:creationId xmlns:a16="http://schemas.microsoft.com/office/drawing/2014/main" id="{DE8EF361-2531-429E-A404-B3404C55BDD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GPX4 helps prevent oxidation of membrane fats.</a:t>
            </a:r>
          </a:p>
        </p:txBody>
      </p:sp>
      <p:sp>
        <p:nvSpPr>
          <p:cNvPr id="20" name="Rounded Rectangle 19">
            <a:extLst>
              <a:ext uri="{FF2B5EF4-FFF2-40B4-BE49-F238E27FC236}">
                <a16:creationId xmlns:a16="http://schemas.microsoft.com/office/drawing/2014/main" id="{5DA5BE98-9CAA-4AEE-BD02-893380534CA4}"/>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BC534A6-CF9A-4E6A-9AF5-C46405FFD458}"/>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MITOCHONDRIAL CLEANUP</a:t>
            </a:r>
          </a:p>
        </p:txBody>
      </p:sp>
      <p:sp>
        <p:nvSpPr>
          <p:cNvPr id="22" name="TextBox 21">
            <a:extLst>
              <a:ext uri="{FF2B5EF4-FFF2-40B4-BE49-F238E27FC236}">
                <a16:creationId xmlns:a16="http://schemas.microsoft.com/office/drawing/2014/main" id="{9A78A060-4F1C-4798-AE00-C0ABDF63D762}"/>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Autophagy and stress genes</a:t>
            </a:r>
          </a:p>
        </p:txBody>
      </p:sp>
      <p:sp>
        <p:nvSpPr>
          <p:cNvPr id="23" name="TextBox 22">
            <a:extLst>
              <a:ext uri="{FF2B5EF4-FFF2-40B4-BE49-F238E27FC236}">
                <a16:creationId xmlns:a16="http://schemas.microsoft.com/office/drawing/2014/main" id="{6E800DCB-E8BC-40A0-9DB7-CA52245745B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FIS1, PARK7, and PHB2 connect the neighborhood with mitochondrial quality control.</a:t>
            </a:r>
          </a:p>
        </p:txBody>
      </p:sp>
      <p:sp>
        <p:nvSpPr>
          <p:cNvPr id="24" name="Rounded Rectangle 23">
            <a:extLst>
              <a:ext uri="{FF2B5EF4-FFF2-40B4-BE49-F238E27FC236}">
                <a16:creationId xmlns:a16="http://schemas.microsoft.com/office/drawing/2014/main" id="{9E20BEBD-65A2-4045-8CD1-C369C5FC3D2A}"/>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14B2D07-6FC5-47E4-B3EC-8C9153932F0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evidence supports an iron and autophagy hypothesis. Ferroptosis requires direct lipid-damage and rescue measurements.</a:t>
            </a:r>
          </a:p>
        </p:txBody>
      </p:sp>
    </p:spTree>
    <p:extLst>
      <p:ext uri="{BB962C8B-B14F-4D97-AF65-F5344CB8AC3E}">
        <p14:creationId xmlns:p14="http://schemas.microsoft.com/office/powerpoint/2010/main" val="206761808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A3A515-B127-46B4-BC2D-130B02BFA19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FTL and ANKRD11 share nearly identical OPC neighborhoods</a:t>
            </a:r>
          </a:p>
        </p:txBody>
      </p:sp>
      <p:sp>
        <p:nvSpPr>
          <p:cNvPr id="3" name="TextBox 2">
            <a:extLst>
              <a:ext uri="{FF2B5EF4-FFF2-40B4-BE49-F238E27FC236}">
                <a16:creationId xmlns:a16="http://schemas.microsoft.com/office/drawing/2014/main" id="{80C59182-90D5-4B9B-950D-3F3DABEC717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ROSMAP contains one OPC fine type, so the two group-specific KDA calls do not provide broad subtype replication.</a:t>
            </a:r>
          </a:p>
        </p:txBody>
      </p:sp>
      <p:sp>
        <p:nvSpPr>
          <p:cNvPr id="4" name="Rounded Rectangle 3">
            <a:extLst>
              <a:ext uri="{FF2B5EF4-FFF2-40B4-BE49-F238E27FC236}">
                <a16:creationId xmlns:a16="http://schemas.microsoft.com/office/drawing/2014/main" id="{807A3378-950F-4FB8-B21D-216C8BD17B2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AA1BF9D-CBDF-4F52-BE37-97C8F287C9F9}"/>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A976AFD5-979B-4EFF-9132-718313DFD364}"/>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OPC KDA calls</a:t>
            </a:r>
          </a:p>
        </p:txBody>
      </p:sp>
      <p:sp>
        <p:nvSpPr>
          <p:cNvPr id="7" name="TextBox 6">
            <a:extLst>
              <a:ext uri="{FF2B5EF4-FFF2-40B4-BE49-F238E27FC236}">
                <a16:creationId xmlns:a16="http://schemas.microsoft.com/office/drawing/2014/main" id="{A081650B-2C0A-4497-AEB2-FEAD8AEE1D4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and M_e2</a:t>
            </a:r>
          </a:p>
        </p:txBody>
      </p:sp>
      <p:sp>
        <p:nvSpPr>
          <p:cNvPr id="8" name="Rounded Rectangle 7">
            <a:extLst>
              <a:ext uri="{FF2B5EF4-FFF2-40B4-BE49-F238E27FC236}">
                <a16:creationId xmlns:a16="http://schemas.microsoft.com/office/drawing/2014/main" id="{7E5E9991-22C7-4F85-9299-7C2D4225BC6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930B26-315E-40A1-B589-F86D7E5BDA2C}"/>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a:t>
            </a:r>
          </a:p>
        </p:txBody>
      </p:sp>
      <p:sp>
        <p:nvSpPr>
          <p:cNvPr id="10" name="TextBox 9">
            <a:extLst>
              <a:ext uri="{FF2B5EF4-FFF2-40B4-BE49-F238E27FC236}">
                <a16:creationId xmlns:a16="http://schemas.microsoft.com/office/drawing/2014/main" id="{F494C914-2D0F-461A-807D-3662B9AE61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core neighbors</a:t>
            </a:r>
          </a:p>
        </p:txBody>
      </p:sp>
      <p:sp>
        <p:nvSpPr>
          <p:cNvPr id="11" name="TextBox 10">
            <a:extLst>
              <a:ext uri="{FF2B5EF4-FFF2-40B4-BE49-F238E27FC236}">
                <a16:creationId xmlns:a16="http://schemas.microsoft.com/office/drawing/2014/main" id="{8F22BCF5-0C17-4D5F-9294-81EE9037A4C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FTH1, GPX4, COX5B, UQCR10</a:t>
            </a:r>
          </a:p>
        </p:txBody>
      </p:sp>
      <p:sp>
        <p:nvSpPr>
          <p:cNvPr id="12" name="Rounded Rectangle 11">
            <a:extLst>
              <a:ext uri="{FF2B5EF4-FFF2-40B4-BE49-F238E27FC236}">
                <a16:creationId xmlns:a16="http://schemas.microsoft.com/office/drawing/2014/main" id="{8180B172-2F6E-4700-95F8-331684066057}"/>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CEA1114-C969-4C9F-A44B-B9C657EB76CB}"/>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2/2</a:t>
            </a:r>
          </a:p>
        </p:txBody>
      </p:sp>
      <p:sp>
        <p:nvSpPr>
          <p:cNvPr id="14" name="TextBox 13">
            <a:extLst>
              <a:ext uri="{FF2B5EF4-FFF2-40B4-BE49-F238E27FC236}">
                <a16:creationId xmlns:a16="http://schemas.microsoft.com/office/drawing/2014/main" id="{FE776920-1A4D-4870-A8F1-D035D6520961}"/>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queries enriched</a:t>
            </a:r>
          </a:p>
        </p:txBody>
      </p:sp>
      <p:sp>
        <p:nvSpPr>
          <p:cNvPr id="15" name="TextBox 14">
            <a:extLst>
              <a:ext uri="{FF2B5EF4-FFF2-40B4-BE49-F238E27FC236}">
                <a16:creationId xmlns:a16="http://schemas.microsoft.com/office/drawing/2014/main" id="{A0848A86-711F-4106-83A1-685D7F5922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and nuclear-encoded OXPHOS genes</a:t>
            </a:r>
          </a:p>
        </p:txBody>
      </p:sp>
      <p:sp>
        <p:nvSpPr>
          <p:cNvPr id="16" name="Rounded Rectangle 15">
            <a:extLst>
              <a:ext uri="{FF2B5EF4-FFF2-40B4-BE49-F238E27FC236}">
                <a16:creationId xmlns:a16="http://schemas.microsoft.com/office/drawing/2014/main" id="{698475F8-CE69-46B6-8314-D74BD6764F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3567AB-A7FA-4822-AD40-3C4A945410D9}"/>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7D7FCAE9-A983-468D-9001-004BEC178932}"/>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FTL up</a:t>
            </a:r>
          </a:p>
        </p:txBody>
      </p:sp>
      <p:sp>
        <p:nvSpPr>
          <p:cNvPr id="19" name="TextBox 18">
            <a:extLst>
              <a:ext uri="{FF2B5EF4-FFF2-40B4-BE49-F238E27FC236}">
                <a16:creationId xmlns:a16="http://schemas.microsoft.com/office/drawing/2014/main" id="{A2261362-E5FD-4C3C-96E9-F15D49870ACF}"/>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met the DEG threshold in the shared OPC fine type</a:t>
            </a:r>
          </a:p>
        </p:txBody>
      </p:sp>
      <p:sp>
        <p:nvSpPr>
          <p:cNvPr id="20" name="Rounded Rectangle 19">
            <a:extLst>
              <a:ext uri="{FF2B5EF4-FFF2-40B4-BE49-F238E27FC236}">
                <a16:creationId xmlns:a16="http://schemas.microsoft.com/office/drawing/2014/main" id="{AC6EC929-80B9-4F30-A4D2-A22F90751C8D}"/>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E455E2-B24A-4140-BA61-9999BDCA9E0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ε2</a:t>
            </a:r>
          </a:p>
        </p:txBody>
      </p:sp>
      <p:sp>
        <p:nvSpPr>
          <p:cNvPr id="22" name="TextBox 21">
            <a:extLst>
              <a:ext uri="{FF2B5EF4-FFF2-40B4-BE49-F238E27FC236}">
                <a16:creationId xmlns:a16="http://schemas.microsoft.com/office/drawing/2014/main" id="{4B1D064E-ADA8-4CFC-9518-8EA5D75A48D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FTL down</a:t>
            </a:r>
          </a:p>
        </p:txBody>
      </p:sp>
      <p:sp>
        <p:nvSpPr>
          <p:cNvPr id="23" name="TextBox 22">
            <a:extLst>
              <a:ext uri="{FF2B5EF4-FFF2-40B4-BE49-F238E27FC236}">
                <a16:creationId xmlns:a16="http://schemas.microsoft.com/office/drawing/2014/main" id="{9099361F-A8A9-4F96-B281-D4BC483674E9}"/>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changed in the opposite direction in the male ε2 KDA call</a:t>
            </a:r>
          </a:p>
        </p:txBody>
      </p:sp>
      <p:sp>
        <p:nvSpPr>
          <p:cNvPr id="24" name="Rounded Rectangle 23">
            <a:extLst>
              <a:ext uri="{FF2B5EF4-FFF2-40B4-BE49-F238E27FC236}">
                <a16:creationId xmlns:a16="http://schemas.microsoft.com/office/drawing/2014/main" id="{0EC46CC7-76C7-472F-B0D1-58FEE97A84DF}"/>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CE61E4-F5B3-40A8-A7C4-999E6B82621F}"/>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ANKRD11</a:t>
            </a:r>
          </a:p>
        </p:txBody>
      </p:sp>
      <p:sp>
        <p:nvSpPr>
          <p:cNvPr id="26" name="TextBox 25">
            <a:extLst>
              <a:ext uri="{FF2B5EF4-FFF2-40B4-BE49-F238E27FC236}">
                <a16:creationId xmlns:a16="http://schemas.microsoft.com/office/drawing/2014/main" id="{3D6B138C-3F34-4E27-9C4A-5FD0366EB0C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Effect threshold only in M_e2</a:t>
            </a:r>
          </a:p>
        </p:txBody>
      </p:sp>
      <p:sp>
        <p:nvSpPr>
          <p:cNvPr id="27" name="TextBox 26">
            <a:extLst>
              <a:ext uri="{FF2B5EF4-FFF2-40B4-BE49-F238E27FC236}">
                <a16:creationId xmlns:a16="http://schemas.microsoft.com/office/drawing/2014/main" id="{ACA51FA8-E100-4D8C-8271-0B0575CE4DC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current network cannot establish whether ANKRD11 or FTL is upstream</a:t>
            </a:r>
          </a:p>
        </p:txBody>
      </p:sp>
    </p:spTree>
    <p:extLst>
      <p:ext uri="{BB962C8B-B14F-4D97-AF65-F5344CB8AC3E}">
        <p14:creationId xmlns:p14="http://schemas.microsoft.com/office/powerpoint/2010/main" val="56255882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3D3C8D-631F-46DF-846E-1A1208BFC17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OPC driver enrichment highlights autophagy and iron handling</a:t>
            </a:r>
          </a:p>
        </p:txBody>
      </p:sp>
      <p:sp>
        <p:nvSpPr>
          <p:cNvPr id="3" name="TextBox 2">
            <a:extLst>
              <a:ext uri="{FF2B5EF4-FFF2-40B4-BE49-F238E27FC236}">
                <a16:creationId xmlns:a16="http://schemas.microsoft.com/office/drawing/2014/main" id="{FB6AE97F-F788-4ABD-A408-FA9502CC398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terms overlap and partly depend on generic ubiquitin and tubulin genes.</a:t>
            </a:r>
          </a:p>
        </p:txBody>
      </p:sp>
      <p:sp>
        <p:nvSpPr>
          <p:cNvPr id="4" name="Rounded Rectangle 3">
            <a:extLst>
              <a:ext uri="{FF2B5EF4-FFF2-40B4-BE49-F238E27FC236}">
                <a16:creationId xmlns:a16="http://schemas.microsoft.com/office/drawing/2014/main" id="{AD4BFB6F-8E39-41B2-A029-D59C0714CC6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A44C3B8-2E5B-4119-8242-C3F578C37BE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SELECTIVE AUTOPHAGY</a:t>
            </a:r>
          </a:p>
        </p:txBody>
      </p:sp>
      <p:sp>
        <p:nvSpPr>
          <p:cNvPr id="6" name="TextBox 5">
            <a:extLst>
              <a:ext uri="{FF2B5EF4-FFF2-40B4-BE49-F238E27FC236}">
                <a16:creationId xmlns:a16="http://schemas.microsoft.com/office/drawing/2014/main" id="{DBF89FCE-59C4-4DE9-AD0A-3B73C97C187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9.00 × 10⁻⁵</a:t>
            </a:r>
          </a:p>
        </p:txBody>
      </p:sp>
      <p:sp>
        <p:nvSpPr>
          <p:cNvPr id="7" name="TextBox 6">
            <a:extLst>
              <a:ext uri="{FF2B5EF4-FFF2-40B4-BE49-F238E27FC236}">
                <a16:creationId xmlns:a16="http://schemas.microsoft.com/office/drawing/2014/main" id="{6A65FDE6-6991-4C06-BA04-0260F8C29B32}"/>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is the strongest exploratory OPC-driver pathway result.</a:t>
            </a:r>
          </a:p>
        </p:txBody>
      </p:sp>
      <p:sp>
        <p:nvSpPr>
          <p:cNvPr id="8" name="Rounded Rectangle 7">
            <a:extLst>
              <a:ext uri="{FF2B5EF4-FFF2-40B4-BE49-F238E27FC236}">
                <a16:creationId xmlns:a16="http://schemas.microsoft.com/office/drawing/2014/main" id="{CF6117FB-950A-44F0-BA24-B1A818AC51A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CE2E68C-781B-4070-A809-32BF6ACA970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MITOPHAGY</a:t>
            </a:r>
          </a:p>
        </p:txBody>
      </p:sp>
      <p:sp>
        <p:nvSpPr>
          <p:cNvPr id="10" name="TextBox 9">
            <a:extLst>
              <a:ext uri="{FF2B5EF4-FFF2-40B4-BE49-F238E27FC236}">
                <a16:creationId xmlns:a16="http://schemas.microsoft.com/office/drawing/2014/main" id="{E45FBE5E-432B-442E-A759-7E7748346D9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0.00233</a:t>
            </a:r>
          </a:p>
        </p:txBody>
      </p:sp>
      <p:sp>
        <p:nvSpPr>
          <p:cNvPr id="11" name="TextBox 10">
            <a:extLst>
              <a:ext uri="{FF2B5EF4-FFF2-40B4-BE49-F238E27FC236}">
                <a16:creationId xmlns:a16="http://schemas.microsoft.com/office/drawing/2014/main" id="{84F9E9EC-72CB-405B-809E-88723EE9A78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driver list contains genes associated with mitochondrial cleanup.</a:t>
            </a:r>
          </a:p>
        </p:txBody>
      </p:sp>
      <p:sp>
        <p:nvSpPr>
          <p:cNvPr id="12" name="Rounded Rectangle 11">
            <a:extLst>
              <a:ext uri="{FF2B5EF4-FFF2-40B4-BE49-F238E27FC236}">
                <a16:creationId xmlns:a16="http://schemas.microsoft.com/office/drawing/2014/main" id="{C8E5D028-3638-416D-B044-0094ED1E566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868C8D7-3409-432D-9F05-01E42EC93372}"/>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IRON UPTAKE AND TRANSPORT</a:t>
            </a:r>
          </a:p>
        </p:txBody>
      </p:sp>
      <p:sp>
        <p:nvSpPr>
          <p:cNvPr id="14" name="TextBox 13">
            <a:extLst>
              <a:ext uri="{FF2B5EF4-FFF2-40B4-BE49-F238E27FC236}">
                <a16:creationId xmlns:a16="http://schemas.microsoft.com/office/drawing/2014/main" id="{A7E76BEF-91FC-400C-9DFB-7C1DC9C4F06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0.00968</a:t>
            </a:r>
          </a:p>
        </p:txBody>
      </p:sp>
      <p:sp>
        <p:nvSpPr>
          <p:cNvPr id="15" name="TextBox 14">
            <a:extLst>
              <a:ext uri="{FF2B5EF4-FFF2-40B4-BE49-F238E27FC236}">
                <a16:creationId xmlns:a16="http://schemas.microsoft.com/office/drawing/2014/main" id="{7557BA89-E344-4BD1-B941-1607D2F8E42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FTL, UBB, and UBC contribute to this pathway term.</a:t>
            </a:r>
          </a:p>
        </p:txBody>
      </p:sp>
      <p:sp>
        <p:nvSpPr>
          <p:cNvPr id="16" name="Rounded Rectangle 15">
            <a:extLst>
              <a:ext uri="{FF2B5EF4-FFF2-40B4-BE49-F238E27FC236}">
                <a16:creationId xmlns:a16="http://schemas.microsoft.com/office/drawing/2014/main" id="{8958CAEE-C55A-448F-97CE-3A27EC1327A8}"/>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43B4E1E-0506-4FDE-BEE3-B927A0A8609F}"/>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OPC category, so the finding is not evaluable in that cohort.</a:t>
            </a:r>
          </a:p>
        </p:txBody>
      </p:sp>
    </p:spTree>
    <p:extLst>
      <p:ext uri="{BB962C8B-B14F-4D97-AF65-F5344CB8AC3E}">
        <p14:creationId xmlns:p14="http://schemas.microsoft.com/office/powerpoint/2010/main" val="1428804894"/>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6CFD8-63A4-45DF-A66D-F65C9CAC0589}"/>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OPCs may be vulnerable to iron-dependent lipid damage</a:t>
            </a:r>
          </a:p>
        </p:txBody>
      </p:sp>
      <p:sp>
        <p:nvSpPr>
          <p:cNvPr id="3" name="TextBox 2">
            <a:extLst>
              <a:ext uri="{FF2B5EF4-FFF2-40B4-BE49-F238E27FC236}">
                <a16:creationId xmlns:a16="http://schemas.microsoft.com/office/drawing/2014/main" id="{BA881331-5CBB-41BB-8E29-F74B82E9BB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Iron storage, GPX4 protection, and mitochondrial quality control converge on a testable vulnerability model.</a:t>
            </a:r>
          </a:p>
        </p:txBody>
      </p:sp>
      <p:sp>
        <p:nvSpPr>
          <p:cNvPr id="4" name="Rounded Rectangle 3">
            <a:extLst>
              <a:ext uri="{FF2B5EF4-FFF2-40B4-BE49-F238E27FC236}">
                <a16:creationId xmlns:a16="http://schemas.microsoft.com/office/drawing/2014/main" id="{3FBEF97B-4949-4D0B-9762-39D1E229189C}"/>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D2B3AD8-E634-4B41-9516-C9AA21D613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IRON PRESSURE</a:t>
            </a:r>
          </a:p>
        </p:txBody>
      </p:sp>
      <p:sp>
        <p:nvSpPr>
          <p:cNvPr id="6" name="TextBox 5">
            <a:extLst>
              <a:ext uri="{FF2B5EF4-FFF2-40B4-BE49-F238E27FC236}">
                <a16:creationId xmlns:a16="http://schemas.microsoft.com/office/drawing/2014/main" id="{BB564195-FE95-412B-9253-888383533B7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Free iron can promote oxidation</a:t>
            </a:r>
          </a:p>
        </p:txBody>
      </p:sp>
      <p:sp>
        <p:nvSpPr>
          <p:cNvPr id="7" name="TextBox 6">
            <a:extLst>
              <a:ext uri="{FF2B5EF4-FFF2-40B4-BE49-F238E27FC236}">
                <a16:creationId xmlns:a16="http://schemas.microsoft.com/office/drawing/2014/main" id="{51427753-039B-440F-A451-5F4CDB5A4E3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changes may indicate altered iron storage or a compensatory response.</a:t>
            </a:r>
          </a:p>
        </p:txBody>
      </p:sp>
      <p:sp>
        <p:nvSpPr>
          <p:cNvPr id="8" name="Rounded Rectangle 7">
            <a:extLst>
              <a:ext uri="{FF2B5EF4-FFF2-40B4-BE49-F238E27FC236}">
                <a16:creationId xmlns:a16="http://schemas.microsoft.com/office/drawing/2014/main" id="{86705461-EAF2-42EB-B6FB-E62C9D107DD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D58AA05-8D16-4BCB-A79E-4BA97156B32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MEMBRANE DEFENSE</a:t>
            </a:r>
          </a:p>
        </p:txBody>
      </p:sp>
      <p:sp>
        <p:nvSpPr>
          <p:cNvPr id="10" name="TextBox 9">
            <a:extLst>
              <a:ext uri="{FF2B5EF4-FFF2-40B4-BE49-F238E27FC236}">
                <a16:creationId xmlns:a16="http://schemas.microsoft.com/office/drawing/2014/main" id="{DDF09B92-2A69-4387-AD40-827E4B37FD88}"/>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 limits lipid damage</a:t>
            </a:r>
          </a:p>
        </p:txBody>
      </p:sp>
      <p:sp>
        <p:nvSpPr>
          <p:cNvPr id="11" name="TextBox 10">
            <a:extLst>
              <a:ext uri="{FF2B5EF4-FFF2-40B4-BE49-F238E27FC236}">
                <a16:creationId xmlns:a16="http://schemas.microsoft.com/office/drawing/2014/main" id="{2852A216-72CF-47EA-BA49-A6DD74A1642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Reduced GPX4 activity can make OPCs vulnerable to iron-dependent injury.</a:t>
            </a:r>
          </a:p>
        </p:txBody>
      </p:sp>
      <p:sp>
        <p:nvSpPr>
          <p:cNvPr id="12" name="Rounded Rectangle 11">
            <a:extLst>
              <a:ext uri="{FF2B5EF4-FFF2-40B4-BE49-F238E27FC236}">
                <a16:creationId xmlns:a16="http://schemas.microsoft.com/office/drawing/2014/main" id="{D29539D8-DFC5-4066-8AF7-A2B2BBBECF2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961A44-187B-41C6-A6CD-441F5EC747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MECHANISTIC THRESHOLD</a:t>
            </a:r>
          </a:p>
        </p:txBody>
      </p:sp>
      <p:sp>
        <p:nvSpPr>
          <p:cNvPr id="14" name="TextBox 13">
            <a:extLst>
              <a:ext uri="{FF2B5EF4-FFF2-40B4-BE49-F238E27FC236}">
                <a16:creationId xmlns:a16="http://schemas.microsoft.com/office/drawing/2014/main" id="{6175BC97-30CA-4A35-BAA4-A416015A9769}"/>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Rescue defines ferroptosis</a:t>
            </a:r>
          </a:p>
        </p:txBody>
      </p:sp>
      <p:sp>
        <p:nvSpPr>
          <p:cNvPr id="15" name="TextBox 14">
            <a:extLst>
              <a:ext uri="{FF2B5EF4-FFF2-40B4-BE49-F238E27FC236}">
                <a16:creationId xmlns:a16="http://schemas.microsoft.com/office/drawing/2014/main" id="{901ECCA5-4DE6-43C7-9A2C-20520B9AB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ferroptosis inhibitor must rescue lipid damage and survival before using that label.</a:t>
            </a:r>
          </a:p>
        </p:txBody>
      </p:sp>
      <p:sp>
        <p:nvSpPr>
          <p:cNvPr id="16" name="Rounded Rectangle 15">
            <a:extLst>
              <a:ext uri="{FF2B5EF4-FFF2-40B4-BE49-F238E27FC236}">
                <a16:creationId xmlns:a16="http://schemas.microsoft.com/office/drawing/2014/main" id="{1E8D6100-EE81-4131-9B8B-9DB33F9906D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B45C713-43BC-4D38-A1B3-C03B628049E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9BE2D8-C487-4C2B-92F7-2FB49A1DD7C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Opposite FTL directions warn against one simple model across sex/APOE groups.</a:t>
            </a:r>
          </a:p>
        </p:txBody>
      </p:sp>
    </p:spTree>
    <p:extLst>
      <p:ext uri="{BB962C8B-B14F-4D97-AF65-F5344CB8AC3E}">
        <p14:creationId xmlns:p14="http://schemas.microsoft.com/office/powerpoint/2010/main" val="58223044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B20F4B-8982-4FA8-860C-C5109ADC0F5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13</a:t>
            </a:r>
          </a:p>
        </p:txBody>
      </p:sp>
      <p:sp>
        <p:nvSpPr>
          <p:cNvPr id="3" name="TextBox 2">
            <a:extLst>
              <a:ext uri="{FF2B5EF4-FFF2-40B4-BE49-F238E27FC236}">
                <a16:creationId xmlns:a16="http://schemas.microsoft.com/office/drawing/2014/main" id="{BF0E0F79-8798-4112-A21C-783A6BAF1FF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56E32-6223-422E-92DF-B7A98087855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B860031-C0EF-4EFB-8CE0-45F1BCBB2EF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OPC ferroptosis study</a:t>
            </a:r>
          </a:p>
        </p:txBody>
      </p:sp>
      <p:sp>
        <p:nvSpPr>
          <p:cNvPr id="6" name="TextBox 5">
            <a:extLst>
              <a:ext uri="{FF2B5EF4-FFF2-40B4-BE49-F238E27FC236}">
                <a16:creationId xmlns:a16="http://schemas.microsoft.com/office/drawing/2014/main" id="{FE783941-7E0B-479B-A83E-07D00160FD63}"/>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GPX4-dependent OPC vulnerability</a:t>
            </a:r>
          </a:p>
        </p:txBody>
      </p:sp>
      <p:sp>
        <p:nvSpPr>
          <p:cNvPr id="7" name="TextBox 6">
            <a:extLst>
              <a:ext uri="{FF2B5EF4-FFF2-40B4-BE49-F238E27FC236}">
                <a16:creationId xmlns:a16="http://schemas.microsoft.com/office/drawing/2014/main" id="{753F0604-3FB8-40D3-943E-B83654D4F8B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857ED14-1F46-4E46-BBAE-47A89F0ECD3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impaired GPX4 protection can expose OPCs to iron-dependent lipid damage.</a:t>
            </a:r>
          </a:p>
        </p:txBody>
      </p:sp>
      <p:sp>
        <p:nvSpPr>
          <p:cNvPr id="9" name="TextBox 8">
            <a:extLst>
              <a:ext uri="{FF2B5EF4-FFF2-40B4-BE49-F238E27FC236}">
                <a16:creationId xmlns:a16="http://schemas.microsoft.com/office/drawing/2014/main" id="{A5C0E162-DE28-4F0B-ABDF-C5A103FCD9F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2C96941D-F1B6-41BD-AD36-D9B83E14D76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OPC vulnerability does not prove human AD ferroptosis.</a:t>
            </a:r>
          </a:p>
        </p:txBody>
      </p:sp>
      <p:sp>
        <p:nvSpPr>
          <p:cNvPr id="11" name="Rounded Rectangle 10">
            <a:extLst>
              <a:ext uri="{FF2B5EF4-FFF2-40B4-BE49-F238E27FC236}">
                <a16:creationId xmlns:a16="http://schemas.microsoft.com/office/drawing/2014/main" id="{B1360B0C-0DDB-4895-AFDB-A6932C1A098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9194F53-DA5A-4929-A9C1-685561AB8BEB}"/>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BMC Biology 2025</a:t>
            </a:r>
          </a:p>
        </p:txBody>
      </p:sp>
      <p:sp>
        <p:nvSpPr>
          <p:cNvPr id="13" name="TextBox 12">
            <a:extLst>
              <a:ext uri="{FF2B5EF4-FFF2-40B4-BE49-F238E27FC236}">
                <a16:creationId xmlns:a16="http://schemas.microsoft.com/office/drawing/2014/main" id="{32CF6EC9-0361-4C75-9564-6DFCAD75FA9B}"/>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Ferroptosis signatures in AD</a:t>
            </a:r>
          </a:p>
        </p:txBody>
      </p:sp>
      <p:sp>
        <p:nvSpPr>
          <p:cNvPr id="14" name="TextBox 13">
            <a:extLst>
              <a:ext uri="{FF2B5EF4-FFF2-40B4-BE49-F238E27FC236}">
                <a16:creationId xmlns:a16="http://schemas.microsoft.com/office/drawing/2014/main" id="{69C660CB-5216-4274-BA99-484E9794052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E60262E-B510-4DDD-9D57-A6C65E271C3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oxytosis and ferroptosis-related transcriptomic signatures in AD datasets.</a:t>
            </a:r>
          </a:p>
        </p:txBody>
      </p:sp>
      <p:sp>
        <p:nvSpPr>
          <p:cNvPr id="16" name="TextBox 15">
            <a:extLst>
              <a:ext uri="{FF2B5EF4-FFF2-40B4-BE49-F238E27FC236}">
                <a16:creationId xmlns:a16="http://schemas.microsoft.com/office/drawing/2014/main" id="{9FD1F9B7-04E3-41EC-AB41-FBEED10720CD}"/>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F792BB6C-631D-441C-B442-7A313AAFD8D1}"/>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A transcriptomic signature is not direct cell-death evidence.</a:t>
            </a:r>
          </a:p>
        </p:txBody>
      </p:sp>
      <p:sp>
        <p:nvSpPr>
          <p:cNvPr id="18" name="Rounded Rectangle 17">
            <a:extLst>
              <a:ext uri="{FF2B5EF4-FFF2-40B4-BE49-F238E27FC236}">
                <a16:creationId xmlns:a16="http://schemas.microsoft.com/office/drawing/2014/main" id="{5702C021-366E-45EC-86A3-C070303EE21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B39BD72D-3D48-40FA-AD94-BCE12137087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27AB1F1-AF08-4E1E-BBDB-F54DEE9E32CB}"/>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OPC network module</a:t>
            </a:r>
          </a:p>
        </p:txBody>
      </p:sp>
      <p:sp>
        <p:nvSpPr>
          <p:cNvPr id="21" name="TextBox 20">
            <a:extLst>
              <a:ext uri="{FF2B5EF4-FFF2-40B4-BE49-F238E27FC236}">
                <a16:creationId xmlns:a16="http://schemas.microsoft.com/office/drawing/2014/main" id="{07999494-00E0-40EC-AD4F-A2FB7DC6EE3D}"/>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80469AE-BE22-456D-B839-7112A6670513}"/>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a focused FTL, ANKRD11, GPX4, and autophagy neighborhood.</a:t>
            </a:r>
          </a:p>
        </p:txBody>
      </p:sp>
      <p:sp>
        <p:nvSpPr>
          <p:cNvPr id="23" name="TextBox 22">
            <a:extLst>
              <a:ext uri="{FF2B5EF4-FFF2-40B4-BE49-F238E27FC236}">
                <a16:creationId xmlns:a16="http://schemas.microsoft.com/office/drawing/2014/main" id="{C87DD507-DC24-419A-AD6C-DB24564E6A1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9166348B-6EA7-4736-8A8C-DA247F38FF25}"/>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OPC fine type contributes to the result.</a:t>
            </a:r>
          </a:p>
        </p:txBody>
      </p:sp>
      <p:sp>
        <p:nvSpPr>
          <p:cNvPr id="25" name="Rounded Rectangle 24">
            <a:extLst>
              <a:ext uri="{FF2B5EF4-FFF2-40B4-BE49-F238E27FC236}">
                <a16:creationId xmlns:a16="http://schemas.microsoft.com/office/drawing/2014/main" id="{D99DE60E-4C10-49A8-AA49-9A3C923404E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CD1A6B-D0E6-4AA8-9FC0-DFA60254BEE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3746282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010793-3F76-4FAE-A528-E47F6DB6BA1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14</a:t>
            </a:r>
          </a:p>
        </p:txBody>
      </p:sp>
      <p:sp>
        <p:nvSpPr>
          <p:cNvPr id="3" name="Rectangle 2">
            <a:extLst>
              <a:ext uri="{FF2B5EF4-FFF2-40B4-BE49-F238E27FC236}">
                <a16:creationId xmlns:a16="http://schemas.microsoft.com/office/drawing/2014/main" id="{3F7B492D-5F19-4E63-83A8-197F4599BBB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7235171-10F1-4FCD-B81B-603DA32E66F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PLCG2 is genetically important but its KDA neighborhood is fragile</a:t>
            </a:r>
          </a:p>
        </p:txBody>
      </p:sp>
      <p:sp>
        <p:nvSpPr>
          <p:cNvPr id="5" name="TextBox 4">
            <a:extLst>
              <a:ext uri="{FF2B5EF4-FFF2-40B4-BE49-F238E27FC236}">
                <a16:creationId xmlns:a16="http://schemas.microsoft.com/office/drawing/2014/main" id="{816B547B-D083-4134-99DC-A6695DA013FD}"/>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Genetically supported, low-confidence network finding.</a:t>
            </a:r>
          </a:p>
        </p:txBody>
      </p:sp>
      <p:sp>
        <p:nvSpPr>
          <p:cNvPr id="6" name="Rounded Rectangle 5">
            <a:extLst>
              <a:ext uri="{FF2B5EF4-FFF2-40B4-BE49-F238E27FC236}">
                <a16:creationId xmlns:a16="http://schemas.microsoft.com/office/drawing/2014/main" id="{AC106D8A-BE5E-4BC5-9D07-1CEC1C4D2553}"/>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9530756-BF9F-477F-8F72-8DCDDC4EF07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22E85BC3-EA19-4C30-B58D-C0E7E7599A4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A17FFE-22D8-4710-8A94-7D00E036C76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BD28ADA-ECEC-4C24-A1F5-805FAEC3C45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925330FA-890C-44A3-BA9C-64776956BF1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259FA27-E202-4E92-8E89-0E02D1DD53F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DC7384A-0610-48B3-9235-81A0F08190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E5A0CED-A94C-4FC4-BE4F-A13890A2D0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D3A9D37-FF64-4363-A566-B550E0A2662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02C0FDD-1763-4292-8FDA-0DDAB119FB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B773E74F-2C80-4552-9C74-57D94F85640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6518937-36D3-4B75-90C1-938D5B5FBB9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20E33752-EF78-4A42-82A7-3F9F387FD14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2C0BF287-2411-45FA-9CE4-F456BD2471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86F8EB-44AA-475F-A1DE-E4E69DD9DB9D}"/>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PLCG2 has strong Alzheimer’s genetics, but every exact mitochondrial KDA overlap is MT-CO1 alone.</a:t>
            </a:r>
          </a:p>
        </p:txBody>
      </p:sp>
    </p:spTree>
    <p:extLst>
      <p:ext uri="{BB962C8B-B14F-4D97-AF65-F5344CB8AC3E}">
        <p14:creationId xmlns:p14="http://schemas.microsoft.com/office/powerpoint/2010/main" val="184517547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93D325-92D5-4B5C-BA2D-143040A4BA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PLCG2 has strong genetic support but a one-gene mitochondrial neighborhood</a:t>
            </a:r>
          </a:p>
        </p:txBody>
      </p:sp>
      <p:sp>
        <p:nvSpPr>
          <p:cNvPr id="3" name="TextBox 2">
            <a:extLst>
              <a:ext uri="{FF2B5EF4-FFF2-40B4-BE49-F238E27FC236}">
                <a16:creationId xmlns:a16="http://schemas.microsoft.com/office/drawing/2014/main" id="{44B461C5-DE2E-4CE4-B5C6-1DA14ACBF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PLCG2 encodes a signaling enzyme. KDA selects network position, so a driver does not need to be a DEG.</a:t>
            </a:r>
          </a:p>
        </p:txBody>
      </p:sp>
      <p:sp>
        <p:nvSpPr>
          <p:cNvPr id="4" name="Rounded Rectangle 3">
            <a:extLst>
              <a:ext uri="{FF2B5EF4-FFF2-40B4-BE49-F238E27FC236}">
                <a16:creationId xmlns:a16="http://schemas.microsoft.com/office/drawing/2014/main" id="{166E4F90-9AE6-449F-A475-233D8B60970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F44AD01-AF1B-4C22-97B0-553B8EA2725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 inhibitory neurons</a:t>
            </a:r>
          </a:p>
        </p:txBody>
      </p:sp>
      <p:sp>
        <p:nvSpPr>
          <p:cNvPr id="6" name="Rounded Rectangle 5">
            <a:extLst>
              <a:ext uri="{FF2B5EF4-FFF2-40B4-BE49-F238E27FC236}">
                <a16:creationId xmlns:a16="http://schemas.microsoft.com/office/drawing/2014/main" id="{F5C00C36-CC9F-4640-A455-354A655E2507}"/>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51DDA22-987F-441E-BF92-D1A170FB56FD}"/>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KDA calls</a:t>
            </a:r>
          </a:p>
        </p:txBody>
      </p:sp>
      <p:sp>
        <p:nvSpPr>
          <p:cNvPr id="8" name="Rounded Rectangle 7">
            <a:extLst>
              <a:ext uri="{FF2B5EF4-FFF2-40B4-BE49-F238E27FC236}">
                <a16:creationId xmlns:a16="http://schemas.microsoft.com/office/drawing/2014/main" id="{7E36A6DD-1894-44EA-839F-DF0A7B4AF68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5503480-4166-4D38-9EB0-7EFBEAC658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MT-CO1 only</a:t>
            </a:r>
          </a:p>
        </p:txBody>
      </p:sp>
      <p:sp>
        <p:nvSpPr>
          <p:cNvPr id="10" name="Rounded Rectangle 9">
            <a:extLst>
              <a:ext uri="{FF2B5EF4-FFF2-40B4-BE49-F238E27FC236}">
                <a16:creationId xmlns:a16="http://schemas.microsoft.com/office/drawing/2014/main" id="{F2511350-D2E6-4EA1-BB4C-05C5C141EF6F}"/>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1A7FDBA1-A6D7-45ED-92AB-42AE2DA2B5B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Strong gene-level genetics</a:t>
            </a:r>
          </a:p>
        </p:txBody>
      </p:sp>
      <p:sp>
        <p:nvSpPr>
          <p:cNvPr id="12" name="Rounded Rectangle 11">
            <a:extLst>
              <a:ext uri="{FF2B5EF4-FFF2-40B4-BE49-F238E27FC236}">
                <a16:creationId xmlns:a16="http://schemas.microsoft.com/office/drawing/2014/main" id="{90BA8C6D-D78C-4A4B-926F-45B932056B8C}"/>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582B67C-C4D0-476D-AAD9-0A6339471D3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WHY PLCG2 MATTERS</a:t>
            </a:r>
          </a:p>
        </p:txBody>
      </p:sp>
      <p:sp>
        <p:nvSpPr>
          <p:cNvPr id="14" name="TextBox 13">
            <a:extLst>
              <a:ext uri="{FF2B5EF4-FFF2-40B4-BE49-F238E27FC236}">
                <a16:creationId xmlns:a16="http://schemas.microsoft.com/office/drawing/2014/main" id="{62DF46C9-2AF4-4AD2-B322-185265C6D62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Established AD genetics</a:t>
            </a:r>
          </a:p>
        </p:txBody>
      </p:sp>
      <p:sp>
        <p:nvSpPr>
          <p:cNvPr id="15" name="TextBox 14">
            <a:extLst>
              <a:ext uri="{FF2B5EF4-FFF2-40B4-BE49-F238E27FC236}">
                <a16:creationId xmlns:a16="http://schemas.microsoft.com/office/drawing/2014/main" id="{540053AF-2D35-47B4-8435-1E270D5963D2}"/>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Human variants make PLCG2 an important Alzheimer’s candidate.</a:t>
            </a:r>
          </a:p>
        </p:txBody>
      </p:sp>
      <p:sp>
        <p:nvSpPr>
          <p:cNvPr id="16" name="Rounded Rectangle 15">
            <a:extLst>
              <a:ext uri="{FF2B5EF4-FFF2-40B4-BE49-F238E27FC236}">
                <a16:creationId xmlns:a16="http://schemas.microsoft.com/office/drawing/2014/main" id="{7693E574-1BAD-42F9-82B1-1CC8E1799847}"/>
              </a:ext>
            </a:extLst>
          </p:cNvPr>
          <p:cNvSpPr>
            <a:spLocks noGrp="1"/>
          </p:cNvSpPr>
          <p:nvPr/>
        </p:nvSpPr>
        <p:spPr>
          <a:xfrm>
            <a:off x="445312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2AFD2A8-3A62-41D3-9692-BF2E2DC69F3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WHAT KDA FOUND</a:t>
            </a:r>
          </a:p>
        </p:txBody>
      </p:sp>
      <p:sp>
        <p:nvSpPr>
          <p:cNvPr id="18" name="TextBox 17">
            <a:extLst>
              <a:ext uri="{FF2B5EF4-FFF2-40B4-BE49-F238E27FC236}">
                <a16:creationId xmlns:a16="http://schemas.microsoft.com/office/drawing/2014/main" id="{10C01778-A627-4E41-A9AB-869A2A6C16D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female inhibitory KDA calls</a:t>
            </a:r>
          </a:p>
        </p:txBody>
      </p:sp>
      <p:sp>
        <p:nvSpPr>
          <p:cNvPr id="19" name="TextBox 18">
            <a:extLst>
              <a:ext uri="{FF2B5EF4-FFF2-40B4-BE49-F238E27FC236}">
                <a16:creationId xmlns:a16="http://schemas.microsoft.com/office/drawing/2014/main" id="{4B8FBA5F-3B26-4920-A946-B02839B9D33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appears in ε2, ε3/ε3, and ε4 female groups.</a:t>
            </a:r>
          </a:p>
        </p:txBody>
      </p:sp>
      <p:sp>
        <p:nvSpPr>
          <p:cNvPr id="20" name="Rounded Rectangle 19">
            <a:extLst>
              <a:ext uri="{FF2B5EF4-FFF2-40B4-BE49-F238E27FC236}">
                <a16:creationId xmlns:a16="http://schemas.microsoft.com/office/drawing/2014/main" id="{DFBEE552-C268-4A09-BAA9-6528EA10624C}"/>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884ADC8-52AA-4F3E-8212-D7C0B8EC976D}"/>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WHY THE EDGE IS FRAGILE</a:t>
            </a:r>
          </a:p>
        </p:txBody>
      </p:sp>
      <p:sp>
        <p:nvSpPr>
          <p:cNvPr id="22" name="TextBox 21">
            <a:extLst>
              <a:ext uri="{FF2B5EF4-FFF2-40B4-BE49-F238E27FC236}">
                <a16:creationId xmlns:a16="http://schemas.microsoft.com/office/drawing/2014/main" id="{EAEBF9DD-7C2A-4F53-9FB5-5C4E8518AF8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repeated neighbor</a:t>
            </a:r>
          </a:p>
        </p:txBody>
      </p:sp>
      <p:sp>
        <p:nvSpPr>
          <p:cNvPr id="23" name="TextBox 22">
            <a:extLst>
              <a:ext uri="{FF2B5EF4-FFF2-40B4-BE49-F238E27FC236}">
                <a16:creationId xmlns:a16="http://schemas.microsoft.com/office/drawing/2014/main" id="{E6E52BAF-6385-43CF-8AB1-373935A7875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Every exact mitochondrial overlap is MT-CO1 rather than a broad neighborhood.</a:t>
            </a:r>
          </a:p>
        </p:txBody>
      </p:sp>
      <p:sp>
        <p:nvSpPr>
          <p:cNvPr id="24" name="Rounded Rectangle 23">
            <a:extLst>
              <a:ext uri="{FF2B5EF4-FFF2-40B4-BE49-F238E27FC236}">
                <a16:creationId xmlns:a16="http://schemas.microsoft.com/office/drawing/2014/main" id="{B931485C-64FB-4192-8190-7CD79DA1C4E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54F2E07-3DA0-4C85-B7F0-98E886449C0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Strong genetics supports the gene, but it does not validate this inhibitory-neuron network edge.</a:t>
            </a:r>
          </a:p>
        </p:txBody>
      </p:sp>
    </p:spTree>
    <p:extLst>
      <p:ext uri="{BB962C8B-B14F-4D97-AF65-F5344CB8AC3E}">
        <p14:creationId xmlns:p14="http://schemas.microsoft.com/office/powerpoint/2010/main" val="14046638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AEAB08A-21F4-40DC-84DC-1C44C9E09D58}"/>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PLCG2 repeats across six KDA calls, but the exact overlap never broadens</a:t>
            </a:r>
          </a:p>
        </p:txBody>
      </p:sp>
      <p:sp>
        <p:nvSpPr>
          <p:cNvPr id="3" name="TextBox 2">
            <a:extLst>
              <a:ext uri="{FF2B5EF4-FFF2-40B4-BE49-F238E27FC236}">
                <a16:creationId xmlns:a16="http://schemas.microsoft.com/office/drawing/2014/main" id="{63A131CA-A16D-4B9B-8B6B-3EF8CC389B9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Repeated MT-CO1 is not equivalent to several distinct mitochondrial neighbors.</a:t>
            </a:r>
          </a:p>
        </p:txBody>
      </p:sp>
      <p:sp>
        <p:nvSpPr>
          <p:cNvPr id="4" name="Rounded Rectangle 3">
            <a:extLst>
              <a:ext uri="{FF2B5EF4-FFF2-40B4-BE49-F238E27FC236}">
                <a16:creationId xmlns:a16="http://schemas.microsoft.com/office/drawing/2014/main" id="{B0D59BDB-5D21-458F-8EE1-A6FFA6D98A62}"/>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4D2DCB4-7B01-4D15-8937-3A28B0BBC96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6</a:t>
            </a:r>
          </a:p>
        </p:txBody>
      </p:sp>
      <p:sp>
        <p:nvSpPr>
          <p:cNvPr id="6" name="TextBox 5">
            <a:extLst>
              <a:ext uri="{FF2B5EF4-FFF2-40B4-BE49-F238E27FC236}">
                <a16:creationId xmlns:a16="http://schemas.microsoft.com/office/drawing/2014/main" id="{2755BBAF-968F-4751-BA96-47E8F29801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inhibitory KDA calls</a:t>
            </a:r>
          </a:p>
        </p:txBody>
      </p:sp>
      <p:sp>
        <p:nvSpPr>
          <p:cNvPr id="7" name="TextBox 6">
            <a:extLst>
              <a:ext uri="{FF2B5EF4-FFF2-40B4-BE49-F238E27FC236}">
                <a16:creationId xmlns:a16="http://schemas.microsoft.com/office/drawing/2014/main" id="{6CB66C7D-7DEE-440A-98B9-AE2CF48947FC}"/>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in female strata</a:t>
            </a:r>
          </a:p>
        </p:txBody>
      </p:sp>
      <p:sp>
        <p:nvSpPr>
          <p:cNvPr id="8" name="Rounded Rectangle 7">
            <a:extLst>
              <a:ext uri="{FF2B5EF4-FFF2-40B4-BE49-F238E27FC236}">
                <a16:creationId xmlns:a16="http://schemas.microsoft.com/office/drawing/2014/main" id="{67FD2B28-9644-4040-AB8C-97FAA748722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CBDAFE1-E11A-4FED-B4D4-AB18A892C0D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a:t>
            </a:r>
          </a:p>
        </p:txBody>
      </p:sp>
      <p:sp>
        <p:nvSpPr>
          <p:cNvPr id="10" name="TextBox 9">
            <a:extLst>
              <a:ext uri="{FF2B5EF4-FFF2-40B4-BE49-F238E27FC236}">
                <a16:creationId xmlns:a16="http://schemas.microsoft.com/office/drawing/2014/main" id="{637DBB47-0857-4E64-A042-684D0606E8A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exact overlap gene</a:t>
            </a:r>
          </a:p>
        </p:txBody>
      </p:sp>
      <p:sp>
        <p:nvSpPr>
          <p:cNvPr id="11" name="TextBox 10">
            <a:extLst>
              <a:ext uri="{FF2B5EF4-FFF2-40B4-BE49-F238E27FC236}">
                <a16:creationId xmlns:a16="http://schemas.microsoft.com/office/drawing/2014/main" id="{AC32FC3E-DC02-43FA-81FE-0850DC422BEE}"/>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MT-CO1</a:t>
            </a:r>
          </a:p>
        </p:txBody>
      </p:sp>
      <p:sp>
        <p:nvSpPr>
          <p:cNvPr id="12" name="Rounded Rectangle 11">
            <a:extLst>
              <a:ext uri="{FF2B5EF4-FFF2-40B4-BE49-F238E27FC236}">
                <a16:creationId xmlns:a16="http://schemas.microsoft.com/office/drawing/2014/main" id="{BF13CB20-1965-450E-885F-C37BDFC33F76}"/>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10C21AD-8A71-4266-A5E5-63D53E1BF9F3}"/>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0/6</a:t>
            </a:r>
          </a:p>
        </p:txBody>
      </p:sp>
      <p:sp>
        <p:nvSpPr>
          <p:cNvPr id="14" name="TextBox 13">
            <a:extLst>
              <a:ext uri="{FF2B5EF4-FFF2-40B4-BE49-F238E27FC236}">
                <a16:creationId xmlns:a16="http://schemas.microsoft.com/office/drawing/2014/main" id="{B7689B35-1D42-4D78-AD77-B81A9E11E1A5}"/>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PLCG2 paper DEGs</a:t>
            </a:r>
          </a:p>
        </p:txBody>
      </p:sp>
      <p:sp>
        <p:nvSpPr>
          <p:cNvPr id="15" name="TextBox 14">
            <a:extLst>
              <a:ext uri="{FF2B5EF4-FFF2-40B4-BE49-F238E27FC236}">
                <a16:creationId xmlns:a16="http://schemas.microsoft.com/office/drawing/2014/main" id="{B348852C-CD76-4997-88B7-EF5C78BE9B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network nomination only</a:t>
            </a:r>
          </a:p>
        </p:txBody>
      </p:sp>
      <p:sp>
        <p:nvSpPr>
          <p:cNvPr id="16" name="Rounded Rectangle 15">
            <a:extLst>
              <a:ext uri="{FF2B5EF4-FFF2-40B4-BE49-F238E27FC236}">
                <a16:creationId xmlns:a16="http://schemas.microsoft.com/office/drawing/2014/main" id="{7BE7666F-65B3-416B-AA25-3E43369A9BF4}"/>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D5D83A-A540-4951-B7AE-4AE211818B25}"/>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ε2</a:t>
            </a:r>
          </a:p>
        </p:txBody>
      </p:sp>
      <p:sp>
        <p:nvSpPr>
          <p:cNvPr id="18" name="TextBox 17">
            <a:extLst>
              <a:ext uri="{FF2B5EF4-FFF2-40B4-BE49-F238E27FC236}">
                <a16:creationId xmlns:a16="http://schemas.microsoft.com/office/drawing/2014/main" id="{7F9B7E88-0219-4542-900F-66664AEAC494}"/>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 KDA call</a:t>
            </a:r>
          </a:p>
        </p:txBody>
      </p:sp>
      <p:sp>
        <p:nvSpPr>
          <p:cNvPr id="19" name="TextBox 18">
            <a:extLst>
              <a:ext uri="{FF2B5EF4-FFF2-40B4-BE49-F238E27FC236}">
                <a16:creationId xmlns:a16="http://schemas.microsoft.com/office/drawing/2014/main" id="{52F1F161-1620-433E-84E8-165DF8FE30BC}"/>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exact mitochondrial overlap is MT-CO1</a:t>
            </a:r>
          </a:p>
        </p:txBody>
      </p:sp>
      <p:sp>
        <p:nvSpPr>
          <p:cNvPr id="20" name="Rounded Rectangle 19">
            <a:extLst>
              <a:ext uri="{FF2B5EF4-FFF2-40B4-BE49-F238E27FC236}">
                <a16:creationId xmlns:a16="http://schemas.microsoft.com/office/drawing/2014/main" id="{826A56B8-23C7-4F38-A631-CC68B533EF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3BB00AC-49FA-4154-A137-C26A47EEE2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22" name="TextBox 21">
            <a:extLst>
              <a:ext uri="{FF2B5EF4-FFF2-40B4-BE49-F238E27FC236}">
                <a16:creationId xmlns:a16="http://schemas.microsoft.com/office/drawing/2014/main" id="{D3F4B366-363C-4DF3-9E1A-46E18955BB5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4 KDA calls</a:t>
            </a:r>
          </a:p>
        </p:txBody>
      </p:sp>
      <p:sp>
        <p:nvSpPr>
          <p:cNvPr id="23" name="TextBox 22">
            <a:extLst>
              <a:ext uri="{FF2B5EF4-FFF2-40B4-BE49-F238E27FC236}">
                <a16:creationId xmlns:a16="http://schemas.microsoft.com/office/drawing/2014/main" id="{664C3C66-112F-4275-8763-AB8A07C0427F}"/>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All four KDA calls repeat MT-CO1 as the exact overlap</a:t>
            </a:r>
          </a:p>
        </p:txBody>
      </p:sp>
      <p:sp>
        <p:nvSpPr>
          <p:cNvPr id="24" name="Rounded Rectangle 23">
            <a:extLst>
              <a:ext uri="{FF2B5EF4-FFF2-40B4-BE49-F238E27FC236}">
                <a16:creationId xmlns:a16="http://schemas.microsoft.com/office/drawing/2014/main" id="{0F3A0BBD-284A-4FF2-89B0-B5B197511974}"/>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BD1D858-583B-4461-9856-361B336432C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6" name="TextBox 25">
            <a:extLst>
              <a:ext uri="{FF2B5EF4-FFF2-40B4-BE49-F238E27FC236}">
                <a16:creationId xmlns:a16="http://schemas.microsoft.com/office/drawing/2014/main" id="{7432B381-69F1-45BC-80C4-4DF6211ABD2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1 KDA call</a:t>
            </a:r>
          </a:p>
        </p:txBody>
      </p:sp>
      <p:sp>
        <p:nvSpPr>
          <p:cNvPr id="27" name="TextBox 26">
            <a:extLst>
              <a:ext uri="{FF2B5EF4-FFF2-40B4-BE49-F238E27FC236}">
                <a16:creationId xmlns:a16="http://schemas.microsoft.com/office/drawing/2014/main" id="{C13C57DF-789B-41DF-B6B9-E715042468D9}"/>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Five MT-CO1 overlaps are AD-up overall and one is AD-down</a:t>
            </a:r>
          </a:p>
        </p:txBody>
      </p:sp>
    </p:spTree>
    <p:extLst>
      <p:ext uri="{BB962C8B-B14F-4D97-AF65-F5344CB8AC3E}">
        <p14:creationId xmlns:p14="http://schemas.microsoft.com/office/powerpoint/2010/main" val="207865503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DE1364-D7CA-4CF1-B2AE-EF408DFA2AFD}"/>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broader queries support core MT gene enrichment, but not a PLCG2 mechanism</a:t>
            </a:r>
          </a:p>
        </p:txBody>
      </p:sp>
      <p:sp>
        <p:nvSpPr>
          <p:cNvPr id="3" name="TextBox 2">
            <a:extLst>
              <a:ext uri="{FF2B5EF4-FFF2-40B4-BE49-F238E27FC236}">
                <a16:creationId xmlns:a16="http://schemas.microsoft.com/office/drawing/2014/main" id="{9E63CBB6-266E-497C-ABE6-E4895430116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Input-query coherence and exact driver neighborhoods answer different questions.</a:t>
            </a:r>
          </a:p>
        </p:txBody>
      </p:sp>
      <p:sp>
        <p:nvSpPr>
          <p:cNvPr id="4" name="Rounded Rectangle 3">
            <a:extLst>
              <a:ext uri="{FF2B5EF4-FFF2-40B4-BE49-F238E27FC236}">
                <a16:creationId xmlns:a16="http://schemas.microsoft.com/office/drawing/2014/main" id="{E6EBD8D5-C6F5-4450-8909-B37FF7534469}"/>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1347019-5245-4640-AF94-19E9A8BD164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SUPPORTING QUERIES</a:t>
            </a:r>
          </a:p>
        </p:txBody>
      </p:sp>
      <p:sp>
        <p:nvSpPr>
          <p:cNvPr id="6" name="TextBox 5">
            <a:extLst>
              <a:ext uri="{FF2B5EF4-FFF2-40B4-BE49-F238E27FC236}">
                <a16:creationId xmlns:a16="http://schemas.microsoft.com/office/drawing/2014/main" id="{A73733C9-0E33-4D29-AB20-07CA04C488F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41 core MT gene occurrences</a:t>
            </a:r>
          </a:p>
        </p:txBody>
      </p:sp>
      <p:sp>
        <p:nvSpPr>
          <p:cNvPr id="7" name="TextBox 6">
            <a:extLst>
              <a:ext uri="{FF2B5EF4-FFF2-40B4-BE49-F238E27FC236}">
                <a16:creationId xmlns:a16="http://schemas.microsoft.com/office/drawing/2014/main" id="{9C99F37D-6A64-4BB5-A356-E3A984932740}"/>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six full queries contain 36 AD-up and five AD-down core MT gene occurrences.</a:t>
            </a:r>
          </a:p>
        </p:txBody>
      </p:sp>
      <p:sp>
        <p:nvSpPr>
          <p:cNvPr id="8" name="Rounded Rectangle 7">
            <a:extLst>
              <a:ext uri="{FF2B5EF4-FFF2-40B4-BE49-F238E27FC236}">
                <a16:creationId xmlns:a16="http://schemas.microsoft.com/office/drawing/2014/main" id="{58CDD5B0-AB19-4D80-90C0-CD4344D7000E}"/>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D33928-E298-4036-90FE-D66CA9054D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PATHWAY ENRICHMENT</a:t>
            </a:r>
          </a:p>
        </p:txBody>
      </p:sp>
      <p:sp>
        <p:nvSpPr>
          <p:cNvPr id="10" name="TextBox 9">
            <a:extLst>
              <a:ext uri="{FF2B5EF4-FFF2-40B4-BE49-F238E27FC236}">
                <a16:creationId xmlns:a16="http://schemas.microsoft.com/office/drawing/2014/main" id="{C487B9B2-2279-4D72-AFCC-2C7FA261D98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6 of 6 KDA calls</a:t>
            </a:r>
          </a:p>
        </p:txBody>
      </p:sp>
      <p:sp>
        <p:nvSpPr>
          <p:cNvPr id="11" name="TextBox 10">
            <a:extLst>
              <a:ext uri="{FF2B5EF4-FFF2-40B4-BE49-F238E27FC236}">
                <a16:creationId xmlns:a16="http://schemas.microsoft.com/office/drawing/2014/main" id="{FF9D7348-86D0-4A2F-8FBF-9FA163317FC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six input queries show significant core MT gene enrichment.</a:t>
            </a:r>
          </a:p>
        </p:txBody>
      </p:sp>
      <p:sp>
        <p:nvSpPr>
          <p:cNvPr id="12" name="Rounded Rectangle 11">
            <a:extLst>
              <a:ext uri="{FF2B5EF4-FFF2-40B4-BE49-F238E27FC236}">
                <a16:creationId xmlns:a16="http://schemas.microsoft.com/office/drawing/2014/main" id="{7D216FCD-28AC-4783-AA63-93B016EA6F97}"/>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09FDC78-DEB5-4DF3-973A-A4E3AE4ED52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19A186B2-77EF-4FDD-9F45-DA99A9E980C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454CA942-628E-477D-9881-8D337B0D5101}"/>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female inhibitory category was active, so exact-context support is unavailable.</a:t>
            </a:r>
          </a:p>
        </p:txBody>
      </p:sp>
      <p:sp>
        <p:nvSpPr>
          <p:cNvPr id="16" name="Rounded Rectangle 15">
            <a:extLst>
              <a:ext uri="{FF2B5EF4-FFF2-40B4-BE49-F238E27FC236}">
                <a16:creationId xmlns:a16="http://schemas.microsoft.com/office/drawing/2014/main" id="{24DAACD2-93F8-4D73-9D1C-092E548B1BC6}"/>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E3406F3-4C51-4877-AD7A-ED76105BC5FD}"/>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Phase 19b supports PLCG2 at the gene level, while the MT-CO1 network edge remains technically narrow.</a:t>
            </a:r>
          </a:p>
        </p:txBody>
      </p:sp>
    </p:spTree>
    <p:extLst>
      <p:ext uri="{BB962C8B-B14F-4D97-AF65-F5344CB8AC3E}">
        <p14:creationId xmlns:p14="http://schemas.microsoft.com/office/powerpoint/2010/main" val="141567265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FA5DF-9BE5-4F46-94F7-35E07D62E4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genetic credibility and network credibility must stay separate</a:t>
            </a:r>
          </a:p>
        </p:txBody>
      </p:sp>
      <p:sp>
        <p:nvSpPr>
          <p:cNvPr id="3" name="TextBox 2">
            <a:extLst>
              <a:ext uri="{FF2B5EF4-FFF2-40B4-BE49-F238E27FC236}">
                <a16:creationId xmlns:a16="http://schemas.microsoft.com/office/drawing/2014/main" id="{8E4681D4-3C89-4D4C-B8FE-83320DC6AD7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well-established disease gene can still have an uncertain cell context or network neighborhood.</a:t>
            </a:r>
          </a:p>
        </p:txBody>
      </p:sp>
      <p:sp>
        <p:nvSpPr>
          <p:cNvPr id="4" name="Rounded Rectangle 3">
            <a:extLst>
              <a:ext uri="{FF2B5EF4-FFF2-40B4-BE49-F238E27FC236}">
                <a16:creationId xmlns:a16="http://schemas.microsoft.com/office/drawing/2014/main" id="{CC389AAE-30B5-4CD6-85A0-6C200FA7AF4E}"/>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C3D0DB9-8948-44F9-9AF8-6AB61DCC8A1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GENETIC EVIDENCE</a:t>
            </a:r>
          </a:p>
        </p:txBody>
      </p:sp>
      <p:sp>
        <p:nvSpPr>
          <p:cNvPr id="6" name="TextBox 5">
            <a:extLst>
              <a:ext uri="{FF2B5EF4-FFF2-40B4-BE49-F238E27FC236}">
                <a16:creationId xmlns:a16="http://schemas.microsoft.com/office/drawing/2014/main" id="{A2C11D2D-BF74-4B47-AC1A-3FF8ADC0246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PLCG2 affects AD risk</a:t>
            </a:r>
          </a:p>
        </p:txBody>
      </p:sp>
      <p:sp>
        <p:nvSpPr>
          <p:cNvPr id="7" name="TextBox 6">
            <a:extLst>
              <a:ext uri="{FF2B5EF4-FFF2-40B4-BE49-F238E27FC236}">
                <a16:creationId xmlns:a16="http://schemas.microsoft.com/office/drawing/2014/main" id="{CCEB27C8-4B86-4AA3-AD17-CC8177BB09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protective P522R variant slightly increases a PLCG2 function.</a:t>
            </a:r>
          </a:p>
        </p:txBody>
      </p:sp>
      <p:sp>
        <p:nvSpPr>
          <p:cNvPr id="8" name="Rounded Rectangle 7">
            <a:extLst>
              <a:ext uri="{FF2B5EF4-FFF2-40B4-BE49-F238E27FC236}">
                <a16:creationId xmlns:a16="http://schemas.microsoft.com/office/drawing/2014/main" id="{3032B4B7-61D3-466B-9833-0956A037112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B79A6C-E23C-4871-AA83-E46FFF31B8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QUESTION</a:t>
            </a:r>
          </a:p>
        </p:txBody>
      </p:sp>
      <p:sp>
        <p:nvSpPr>
          <p:cNvPr id="10" name="TextBox 9">
            <a:extLst>
              <a:ext uri="{FF2B5EF4-FFF2-40B4-BE49-F238E27FC236}">
                <a16:creationId xmlns:a16="http://schemas.microsoft.com/office/drawing/2014/main" id="{A4029145-61A7-4103-A718-9BB28910410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Unexpected inhibitory-neuron signal</a:t>
            </a:r>
          </a:p>
        </p:txBody>
      </p:sp>
      <p:sp>
        <p:nvSpPr>
          <p:cNvPr id="11" name="TextBox 10">
            <a:extLst>
              <a:ext uri="{FF2B5EF4-FFF2-40B4-BE49-F238E27FC236}">
                <a16:creationId xmlns:a16="http://schemas.microsoft.com/office/drawing/2014/main" id="{00E7B8D1-27EB-4039-96AA-AB103412252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PLCG2 has historically received more attention in microglia and dentate granule cells.</a:t>
            </a:r>
          </a:p>
        </p:txBody>
      </p:sp>
      <p:sp>
        <p:nvSpPr>
          <p:cNvPr id="12" name="Rounded Rectangle 11">
            <a:extLst>
              <a:ext uri="{FF2B5EF4-FFF2-40B4-BE49-F238E27FC236}">
                <a16:creationId xmlns:a16="http://schemas.microsoft.com/office/drawing/2014/main" id="{694FC633-9AB1-416E-AB0D-C64EF1E10A69}"/>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B4695FC-7E5D-4628-A40B-8CDAE00EE40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NETWORK QUESTION</a:t>
            </a:r>
          </a:p>
        </p:txBody>
      </p:sp>
      <p:sp>
        <p:nvSpPr>
          <p:cNvPr id="14" name="TextBox 13">
            <a:extLst>
              <a:ext uri="{FF2B5EF4-FFF2-40B4-BE49-F238E27FC236}">
                <a16:creationId xmlns:a16="http://schemas.microsoft.com/office/drawing/2014/main" id="{C84FA76D-D420-49BA-8331-0B207A23336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MT-CO1 may be fragile</a:t>
            </a:r>
          </a:p>
        </p:txBody>
      </p:sp>
      <p:sp>
        <p:nvSpPr>
          <p:cNvPr id="15" name="TextBox 14">
            <a:extLst>
              <a:ext uri="{FF2B5EF4-FFF2-40B4-BE49-F238E27FC236}">
                <a16:creationId xmlns:a16="http://schemas.microsoft.com/office/drawing/2014/main" id="{4077158F-19BE-4C8C-8EF7-D30F5379B36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Ambient RNA, mixed droplets, labels, or connectivity could contribute to the repeated edge.</a:t>
            </a:r>
          </a:p>
        </p:txBody>
      </p:sp>
      <p:sp>
        <p:nvSpPr>
          <p:cNvPr id="16" name="Rounded Rectangle 15">
            <a:extLst>
              <a:ext uri="{FF2B5EF4-FFF2-40B4-BE49-F238E27FC236}">
                <a16:creationId xmlns:a16="http://schemas.microsoft.com/office/drawing/2014/main" id="{E8F3ECFB-24B9-44D4-A828-458BFB092CD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B5431DE-D4B3-4E96-8789-721CAF75156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D088FFC-4965-4BFB-B4BB-74D4D1B7833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PLCG2 remains worth testing, but the first priority is verifying its neuronal presence and neighborhood.</a:t>
            </a:r>
          </a:p>
        </p:txBody>
      </p:sp>
    </p:spTree>
    <p:extLst>
      <p:ext uri="{BB962C8B-B14F-4D97-AF65-F5344CB8AC3E}">
        <p14:creationId xmlns:p14="http://schemas.microsoft.com/office/powerpoint/2010/main" val="85100882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C631C8-2EDF-46B0-8AF1-CCF8CEA2CF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14</a:t>
            </a:r>
          </a:p>
        </p:txBody>
      </p:sp>
      <p:sp>
        <p:nvSpPr>
          <p:cNvPr id="3" name="TextBox 2">
            <a:extLst>
              <a:ext uri="{FF2B5EF4-FFF2-40B4-BE49-F238E27FC236}">
                <a16:creationId xmlns:a16="http://schemas.microsoft.com/office/drawing/2014/main" id="{77127680-C722-445E-B41F-60BFF2DD02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64907A1-2207-45BA-A984-59615E6C39E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78AA1AF-2CAD-4886-8DD5-14A443471E4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Phase 19b genetic screen</a:t>
            </a:r>
          </a:p>
        </p:txBody>
      </p:sp>
      <p:sp>
        <p:nvSpPr>
          <p:cNvPr id="6" name="TextBox 5">
            <a:extLst>
              <a:ext uri="{FF2B5EF4-FFF2-40B4-BE49-F238E27FC236}">
                <a16:creationId xmlns:a16="http://schemas.microsoft.com/office/drawing/2014/main" id="{16F7CB15-6864-4BA6-A771-9D6E37506E9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gene-level support</a:t>
            </a:r>
          </a:p>
        </p:txBody>
      </p:sp>
      <p:sp>
        <p:nvSpPr>
          <p:cNvPr id="7" name="TextBox 6">
            <a:extLst>
              <a:ext uri="{FF2B5EF4-FFF2-40B4-BE49-F238E27FC236}">
                <a16:creationId xmlns:a16="http://schemas.microsoft.com/office/drawing/2014/main" id="{117E638B-49DC-4CC6-9C75-A0299E66923F}"/>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EA66D2-00A0-4D7B-8ADD-C25CAD44987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Provides strong local Alzheimer’s support for PLCG2.</a:t>
            </a:r>
          </a:p>
        </p:txBody>
      </p:sp>
      <p:sp>
        <p:nvSpPr>
          <p:cNvPr id="9" name="TextBox 8">
            <a:extLst>
              <a:ext uri="{FF2B5EF4-FFF2-40B4-BE49-F238E27FC236}">
                <a16:creationId xmlns:a16="http://schemas.microsoft.com/office/drawing/2014/main" id="{6D610A15-B29E-477B-BCA8-3A8E452ECA2A}"/>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C9F7CD-E8B8-46FA-A7E6-1C0EF03C4D4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Gene-level support does not validate cell context or network edges.</a:t>
            </a:r>
          </a:p>
        </p:txBody>
      </p:sp>
      <p:sp>
        <p:nvSpPr>
          <p:cNvPr id="11" name="Rounded Rectangle 10">
            <a:extLst>
              <a:ext uri="{FF2B5EF4-FFF2-40B4-BE49-F238E27FC236}">
                <a16:creationId xmlns:a16="http://schemas.microsoft.com/office/drawing/2014/main" id="{6C5F8BD3-7B4B-4DCB-8BC6-A6DC2006561A}"/>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D8CF9C-F2C4-4DEE-A65E-901036E185C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PLCG2 P522R study 2019</a:t>
            </a:r>
          </a:p>
        </p:txBody>
      </p:sp>
      <p:sp>
        <p:nvSpPr>
          <p:cNvPr id="13" name="TextBox 12">
            <a:extLst>
              <a:ext uri="{FF2B5EF4-FFF2-40B4-BE49-F238E27FC236}">
                <a16:creationId xmlns:a16="http://schemas.microsoft.com/office/drawing/2014/main" id="{CE7A865B-2AF4-4D9F-B0BE-358713BB370F}"/>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Protective weak hypermorph</a:t>
            </a:r>
          </a:p>
        </p:txBody>
      </p:sp>
      <p:sp>
        <p:nvSpPr>
          <p:cNvPr id="14" name="TextBox 13">
            <a:extLst>
              <a:ext uri="{FF2B5EF4-FFF2-40B4-BE49-F238E27FC236}">
                <a16:creationId xmlns:a16="http://schemas.microsoft.com/office/drawing/2014/main" id="{E20C52E4-96D0-4718-A639-D29FA6607D5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E0111B5-56EC-46DC-B12B-9AD05E5DFDA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the protective variant slightly increases a PLCG2 function.</a:t>
            </a:r>
          </a:p>
        </p:txBody>
      </p:sp>
      <p:sp>
        <p:nvSpPr>
          <p:cNvPr id="16" name="TextBox 15">
            <a:extLst>
              <a:ext uri="{FF2B5EF4-FFF2-40B4-BE49-F238E27FC236}">
                <a16:creationId xmlns:a16="http://schemas.microsoft.com/office/drawing/2014/main" id="{E32E7CA4-28FA-4DEA-81B5-709C26725135}"/>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230F760-D54C-42AC-A71B-1A78BE69E220}"/>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Variant biology does not establish the MT-CO1 relationship.</a:t>
            </a:r>
          </a:p>
        </p:txBody>
      </p:sp>
      <p:sp>
        <p:nvSpPr>
          <p:cNvPr id="18" name="Rounded Rectangle 17">
            <a:extLst>
              <a:ext uri="{FF2B5EF4-FFF2-40B4-BE49-F238E27FC236}">
                <a16:creationId xmlns:a16="http://schemas.microsoft.com/office/drawing/2014/main" id="{CD4DADFC-4659-4311-BBE7-E68B8E8F4029}"/>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CBE2566-BCF2-48CE-B018-6E90E35EC359}"/>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Nature Genetics 2026</a:t>
            </a:r>
          </a:p>
        </p:txBody>
      </p:sp>
      <p:sp>
        <p:nvSpPr>
          <p:cNvPr id="20" name="TextBox 19">
            <a:extLst>
              <a:ext uri="{FF2B5EF4-FFF2-40B4-BE49-F238E27FC236}">
                <a16:creationId xmlns:a16="http://schemas.microsoft.com/office/drawing/2014/main" id="{EC258E68-6FAF-4CF7-95B2-0E762C7E816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Neuron-intrinsic PLCG2</a:t>
            </a:r>
          </a:p>
        </p:txBody>
      </p:sp>
      <p:sp>
        <p:nvSpPr>
          <p:cNvPr id="21" name="TextBox 20">
            <a:extLst>
              <a:ext uri="{FF2B5EF4-FFF2-40B4-BE49-F238E27FC236}">
                <a16:creationId xmlns:a16="http://schemas.microsoft.com/office/drawing/2014/main" id="{063E57AE-A5DC-4E29-9318-AA92F7B5A0C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1BCAC311-89A2-4FEA-8508-A815E65C476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neuronal PLCG2 effects on synapses, Aβ, and tau.</a:t>
            </a:r>
          </a:p>
        </p:txBody>
      </p:sp>
      <p:sp>
        <p:nvSpPr>
          <p:cNvPr id="23" name="TextBox 22">
            <a:extLst>
              <a:ext uri="{FF2B5EF4-FFF2-40B4-BE49-F238E27FC236}">
                <a16:creationId xmlns:a16="http://schemas.microsoft.com/office/drawing/2014/main" id="{5A2F7B27-A175-45BF-9382-456EE13E2A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E4D5A57-793B-4838-BC0B-1CB691D59EEE}"/>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validate a PLCG2 to MT-CO1 regulatory edge.</a:t>
            </a:r>
          </a:p>
        </p:txBody>
      </p:sp>
      <p:sp>
        <p:nvSpPr>
          <p:cNvPr id="25" name="Rounded Rectangle 24">
            <a:extLst>
              <a:ext uri="{FF2B5EF4-FFF2-40B4-BE49-F238E27FC236}">
                <a16:creationId xmlns:a16="http://schemas.microsoft.com/office/drawing/2014/main" id="{5D350C6C-64CF-487B-8E13-FFDA91D5B740}"/>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27A34C37-51D8-4B08-BBFF-7B9D5FDC0B38}"/>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with low network confidence. Evidence strength and novelty are separate judgments.</a:t>
            </a:r>
          </a:p>
        </p:txBody>
      </p:sp>
    </p:spTree>
    <p:extLst>
      <p:ext uri="{BB962C8B-B14F-4D97-AF65-F5344CB8AC3E}">
        <p14:creationId xmlns:p14="http://schemas.microsoft.com/office/powerpoint/2010/main" val="1707979883"/>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7E3CB1-5775-438D-9DA1-49CAC992F6B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15</a:t>
            </a:r>
          </a:p>
        </p:txBody>
      </p:sp>
      <p:sp>
        <p:nvSpPr>
          <p:cNvPr id="3" name="Rectangle 2">
            <a:extLst>
              <a:ext uri="{FF2B5EF4-FFF2-40B4-BE49-F238E27FC236}">
                <a16:creationId xmlns:a16="http://schemas.microsoft.com/office/drawing/2014/main" id="{92C43A80-2136-442C-B384-C35B1CB1B359}"/>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600C980-BD9D-4BF8-8952-22A53D4AC47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Astrocyte APOE is context-dependent, not an ε4-only driver</a:t>
            </a:r>
          </a:p>
        </p:txBody>
      </p:sp>
      <p:sp>
        <p:nvSpPr>
          <p:cNvPr id="5" name="TextBox 4">
            <a:extLst>
              <a:ext uri="{FF2B5EF4-FFF2-40B4-BE49-F238E27FC236}">
                <a16:creationId xmlns:a16="http://schemas.microsoft.com/office/drawing/2014/main" id="{D9227460-C166-42D2-8252-5AEC381D73D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Context-dependent ROSMAP astrocyte-driver finding.</a:t>
            </a:r>
          </a:p>
        </p:txBody>
      </p:sp>
      <p:sp>
        <p:nvSpPr>
          <p:cNvPr id="6" name="Rounded Rectangle 5">
            <a:extLst>
              <a:ext uri="{FF2B5EF4-FFF2-40B4-BE49-F238E27FC236}">
                <a16:creationId xmlns:a16="http://schemas.microsoft.com/office/drawing/2014/main" id="{63A64C98-D3C6-4584-B347-47B63E386EE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23FB803D-05FE-4881-9E4A-E8ABBC59A62A}"/>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521AF801-B4B7-4207-A11B-476DF2A29DB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58E3DBA-D04D-4726-BCE3-6B2DC58D21CF}"/>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A27A970D-8949-4225-88C7-1642F5C06F86}"/>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F84447D-D66D-4F11-A0D0-72AEA39AD2B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4BEA45-7C29-4617-B503-C0D1286DF475}"/>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948F1B9-A97F-475B-9FF3-61F5B1CFCBDC}"/>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5E35E94-21F7-44CB-A341-3251C3E16D8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1B840A5-8348-4B5D-9835-0D4E6B17F93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D056DB8-6E32-4682-9E21-BB6F5CF80FB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E0845AE-340A-450E-B185-1DF3905E513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01DC2A4-409E-4A41-9E48-12F29BB5EA0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0A28C22-AE2B-4D16-A08C-9EAF4D1EA02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E807728-37B0-453E-AA4F-D0058207C394}"/>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4CAB60B-36D0-40BC-BDAF-D91627809850}"/>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APOE is returned in three astrocyte groups with opposite expression directions and different mitochondrial neighbors.</a:t>
            </a:r>
          </a:p>
        </p:txBody>
      </p:sp>
    </p:spTree>
    <p:extLst>
      <p:ext uri="{BB962C8B-B14F-4D97-AF65-F5344CB8AC3E}">
        <p14:creationId xmlns:p14="http://schemas.microsoft.com/office/powerpoint/2010/main" val="61018605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A7BDBBD-F2E8-4E21-A986-B4C42B04967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Astrocyte APOE changes direction across sex and genotype contexts</a:t>
            </a:r>
          </a:p>
        </p:txBody>
      </p:sp>
      <p:sp>
        <p:nvSpPr>
          <p:cNvPr id="3" name="TextBox 2">
            <a:extLst>
              <a:ext uri="{FF2B5EF4-FFF2-40B4-BE49-F238E27FC236}">
                <a16:creationId xmlns:a16="http://schemas.microsoft.com/office/drawing/2014/main" id="{36AB9882-E63F-4F68-B544-8CBD8E8209F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produce much of the brain’s APOE. Finding the gene in an APOE-stratified analysis does not make the result ε4-specific.</a:t>
            </a:r>
          </a:p>
        </p:txBody>
      </p:sp>
      <p:sp>
        <p:nvSpPr>
          <p:cNvPr id="4" name="Rounded Rectangle 3">
            <a:extLst>
              <a:ext uri="{FF2B5EF4-FFF2-40B4-BE49-F238E27FC236}">
                <a16:creationId xmlns:a16="http://schemas.microsoft.com/office/drawing/2014/main" id="{DD8DF232-1982-4274-AA47-1C936C7412A1}"/>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0356C74-7804-4F66-BF51-3515A780AF0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C58BFC2A-77CB-4882-BAA3-2AD0C1B84862}"/>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413CA0-E7E7-43FF-9E07-E1DEBC407F4B}"/>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groups</a:t>
            </a:r>
          </a:p>
        </p:txBody>
      </p:sp>
      <p:sp>
        <p:nvSpPr>
          <p:cNvPr id="8" name="Rounded Rectangle 7">
            <a:extLst>
              <a:ext uri="{FF2B5EF4-FFF2-40B4-BE49-F238E27FC236}">
                <a16:creationId xmlns:a16="http://schemas.microsoft.com/office/drawing/2014/main" id="{732AC20B-75E3-455D-946E-3D5BB678EE37}"/>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437F9F-EB3D-479F-8B5C-6AD920AC6D1F}"/>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Opposite directions</a:t>
            </a:r>
          </a:p>
        </p:txBody>
      </p:sp>
      <p:sp>
        <p:nvSpPr>
          <p:cNvPr id="10" name="Rounded Rectangle 9">
            <a:extLst>
              <a:ext uri="{FF2B5EF4-FFF2-40B4-BE49-F238E27FC236}">
                <a16:creationId xmlns:a16="http://schemas.microsoft.com/office/drawing/2014/main" id="{D236E57E-D15D-4571-A5E7-0BAB19891F49}"/>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4987A813-A649-48A9-B99F-090F4B17E439}"/>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Not ε4-only</a:t>
            </a:r>
          </a:p>
        </p:txBody>
      </p:sp>
      <p:sp>
        <p:nvSpPr>
          <p:cNvPr id="12" name="Rounded Rectangle 11">
            <a:extLst>
              <a:ext uri="{FF2B5EF4-FFF2-40B4-BE49-F238E27FC236}">
                <a16:creationId xmlns:a16="http://schemas.microsoft.com/office/drawing/2014/main" id="{B020C3B4-F40F-4DE3-93E3-E76DF0958D26}"/>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5AF1611-9C08-490C-BED2-DD4F6D5FADD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Ε2</a:t>
            </a:r>
          </a:p>
        </p:txBody>
      </p:sp>
      <p:sp>
        <p:nvSpPr>
          <p:cNvPr id="14" name="TextBox 13">
            <a:extLst>
              <a:ext uri="{FF2B5EF4-FFF2-40B4-BE49-F238E27FC236}">
                <a16:creationId xmlns:a16="http://schemas.microsoft.com/office/drawing/2014/main" id="{8FFC821C-3412-4A25-B682-AAC3A24FAD1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up</a:t>
            </a:r>
          </a:p>
        </p:txBody>
      </p:sp>
      <p:sp>
        <p:nvSpPr>
          <p:cNvPr id="15" name="TextBox 14">
            <a:extLst>
              <a:ext uri="{FF2B5EF4-FFF2-40B4-BE49-F238E27FC236}">
                <a16:creationId xmlns:a16="http://schemas.microsoft.com/office/drawing/2014/main" id="{75418366-6455-4017-BAD7-5B75CD3C1B6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+0.79 in the supporting astrocyte KDA call.</a:t>
            </a:r>
          </a:p>
        </p:txBody>
      </p:sp>
      <p:sp>
        <p:nvSpPr>
          <p:cNvPr id="16" name="Rounded Rectangle 15">
            <a:extLst>
              <a:ext uri="{FF2B5EF4-FFF2-40B4-BE49-F238E27FC236}">
                <a16:creationId xmlns:a16="http://schemas.microsoft.com/office/drawing/2014/main" id="{28CD9F12-7CEC-4A54-A0C3-22A9B0BE0639}"/>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E662BE-174F-4E99-80C0-8C0DD68B26AE}"/>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a:t>
            </a:r>
          </a:p>
        </p:txBody>
      </p:sp>
      <p:sp>
        <p:nvSpPr>
          <p:cNvPr id="18" name="TextBox 17">
            <a:extLst>
              <a:ext uri="{FF2B5EF4-FFF2-40B4-BE49-F238E27FC236}">
                <a16:creationId xmlns:a16="http://schemas.microsoft.com/office/drawing/2014/main" id="{8238B63A-5ABD-4C02-87A2-F7BDB4CD4464}"/>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19" name="TextBox 18">
            <a:extLst>
              <a:ext uri="{FF2B5EF4-FFF2-40B4-BE49-F238E27FC236}">
                <a16:creationId xmlns:a16="http://schemas.microsoft.com/office/drawing/2014/main" id="{84544582-FB55-4290-8C62-5870C9B9A4E6}"/>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−0.51 in the supporting astrocyte KDA call.</a:t>
            </a:r>
          </a:p>
        </p:txBody>
      </p:sp>
      <p:sp>
        <p:nvSpPr>
          <p:cNvPr id="20" name="Rounded Rectangle 19">
            <a:extLst>
              <a:ext uri="{FF2B5EF4-FFF2-40B4-BE49-F238E27FC236}">
                <a16:creationId xmlns:a16="http://schemas.microsoft.com/office/drawing/2014/main" id="{B58BE8CF-1963-497D-B53A-37AD8D79FBC5}"/>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896E67C-A867-4A99-84AF-3DD15270A2E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Ε4</a:t>
            </a:r>
          </a:p>
        </p:txBody>
      </p:sp>
      <p:sp>
        <p:nvSpPr>
          <p:cNvPr id="22" name="TextBox 21">
            <a:extLst>
              <a:ext uri="{FF2B5EF4-FFF2-40B4-BE49-F238E27FC236}">
                <a16:creationId xmlns:a16="http://schemas.microsoft.com/office/drawing/2014/main" id="{4BD41357-BFF6-43EB-996A-E0C138475321}"/>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23" name="TextBox 22">
            <a:extLst>
              <a:ext uri="{FF2B5EF4-FFF2-40B4-BE49-F238E27FC236}">
                <a16:creationId xmlns:a16="http://schemas.microsoft.com/office/drawing/2014/main" id="{055447C2-7613-4BD9-AAFF-EC9F2F17C8C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−1.25 in the supporting astrocyte KDA call.</a:t>
            </a:r>
          </a:p>
        </p:txBody>
      </p:sp>
      <p:sp>
        <p:nvSpPr>
          <p:cNvPr id="24" name="Rounded Rectangle 23">
            <a:extLst>
              <a:ext uri="{FF2B5EF4-FFF2-40B4-BE49-F238E27FC236}">
                <a16:creationId xmlns:a16="http://schemas.microsoft.com/office/drawing/2014/main" id="{AE33EDB6-0EC7-42DB-96BD-AF35BB41A48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00BDF19-611C-405E-BF29-CE5ED24AA91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Opposite within-group directions motivate a direct interaction test rather than an ε4-only story.</a:t>
            </a:r>
          </a:p>
        </p:txBody>
      </p:sp>
    </p:spTree>
    <p:extLst>
      <p:ext uri="{BB962C8B-B14F-4D97-AF65-F5344CB8AC3E}">
        <p14:creationId xmlns:p14="http://schemas.microsoft.com/office/powerpoint/2010/main" val="123851137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0DF12-CAFE-40B2-9E9B-85EFD408CEF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APOE is a DEG and KDA candidate in three astrocyte contexts</a:t>
            </a:r>
          </a:p>
        </p:txBody>
      </p:sp>
      <p:sp>
        <p:nvSpPr>
          <p:cNvPr id="3" name="TextBox 2">
            <a:extLst>
              <a:ext uri="{FF2B5EF4-FFF2-40B4-BE49-F238E27FC236}">
                <a16:creationId xmlns:a16="http://schemas.microsoft.com/office/drawing/2014/main" id="{325838C6-C3C9-4F96-B7FA-FE5A3EE167D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context contributes one KDA call, so the evidence is too sparse to define one shared module.</a:t>
            </a:r>
          </a:p>
        </p:txBody>
      </p:sp>
      <p:sp>
        <p:nvSpPr>
          <p:cNvPr id="4" name="Rounded Rectangle 3">
            <a:extLst>
              <a:ext uri="{FF2B5EF4-FFF2-40B4-BE49-F238E27FC236}">
                <a16:creationId xmlns:a16="http://schemas.microsoft.com/office/drawing/2014/main" id="{1A6B5B46-C3B9-4DC9-9492-CC1F2B1658F7}"/>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6E5DF5-50E0-4BBF-AC16-B39EBB7C346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5C6AB7C5-5EDA-4CB5-89E3-A09B2464A57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C6D0E058-BD7E-418E-995F-65CB332C304A}"/>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F_e2, M_e2, M_e4</a:t>
            </a:r>
          </a:p>
        </p:txBody>
      </p:sp>
      <p:sp>
        <p:nvSpPr>
          <p:cNvPr id="8" name="Rounded Rectangle 7">
            <a:extLst>
              <a:ext uri="{FF2B5EF4-FFF2-40B4-BE49-F238E27FC236}">
                <a16:creationId xmlns:a16="http://schemas.microsoft.com/office/drawing/2014/main" id="{F50E9667-E827-4070-B895-A93F3CECBE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BFD0F4-D759-4A63-94DC-744042D90EB0}"/>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3/3</a:t>
            </a:r>
          </a:p>
        </p:txBody>
      </p:sp>
      <p:sp>
        <p:nvSpPr>
          <p:cNvPr id="10" name="TextBox 9">
            <a:extLst>
              <a:ext uri="{FF2B5EF4-FFF2-40B4-BE49-F238E27FC236}">
                <a16:creationId xmlns:a16="http://schemas.microsoft.com/office/drawing/2014/main" id="{0D7DE755-0CCB-4FD4-B91E-8477C70A9B8E}"/>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APOE paper DEGs</a:t>
            </a:r>
          </a:p>
        </p:txBody>
      </p:sp>
      <p:sp>
        <p:nvSpPr>
          <p:cNvPr id="11" name="TextBox 10">
            <a:extLst>
              <a:ext uri="{FF2B5EF4-FFF2-40B4-BE49-F238E27FC236}">
                <a16:creationId xmlns:a16="http://schemas.microsoft.com/office/drawing/2014/main" id="{38403D78-55E1-43D5-998E-024B779759C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 up, two down</a:t>
            </a:r>
          </a:p>
        </p:txBody>
      </p:sp>
      <p:sp>
        <p:nvSpPr>
          <p:cNvPr id="12" name="Rounded Rectangle 11">
            <a:extLst>
              <a:ext uri="{FF2B5EF4-FFF2-40B4-BE49-F238E27FC236}">
                <a16:creationId xmlns:a16="http://schemas.microsoft.com/office/drawing/2014/main" id="{DAF7FECB-1A36-4DFE-9365-4956E7099C8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042B230-ED50-4E01-8356-2C12783183A4}"/>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a:t>
            </a:r>
          </a:p>
        </p:txBody>
      </p:sp>
      <p:sp>
        <p:nvSpPr>
          <p:cNvPr id="14" name="TextBox 13">
            <a:extLst>
              <a:ext uri="{FF2B5EF4-FFF2-40B4-BE49-F238E27FC236}">
                <a16:creationId xmlns:a16="http://schemas.microsoft.com/office/drawing/2014/main" id="{A26F21DE-FBAB-41F8-9B41-6761828F62A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named mitochondrial neighbors</a:t>
            </a:r>
          </a:p>
        </p:txBody>
      </p:sp>
      <p:sp>
        <p:nvSpPr>
          <p:cNvPr id="15" name="TextBox 14">
            <a:extLst>
              <a:ext uri="{FF2B5EF4-FFF2-40B4-BE49-F238E27FC236}">
                <a16:creationId xmlns:a16="http://schemas.microsoft.com/office/drawing/2014/main" id="{5FD3454F-4593-43F8-9BF0-AC615839E2D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across the three KDA calls</a:t>
            </a:r>
          </a:p>
        </p:txBody>
      </p:sp>
      <p:sp>
        <p:nvSpPr>
          <p:cNvPr id="16" name="Rounded Rectangle 15">
            <a:extLst>
              <a:ext uri="{FF2B5EF4-FFF2-40B4-BE49-F238E27FC236}">
                <a16:creationId xmlns:a16="http://schemas.microsoft.com/office/drawing/2014/main" id="{136F3A51-D620-4799-923D-1AE7006E05D1}"/>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2AE26FD-C1A8-4F06-B9FA-E065C4A0E6E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Protein production</a:t>
            </a:r>
          </a:p>
        </p:txBody>
      </p:sp>
      <p:sp>
        <p:nvSpPr>
          <p:cNvPr id="18" name="TextBox 17">
            <a:extLst>
              <a:ext uri="{FF2B5EF4-FFF2-40B4-BE49-F238E27FC236}">
                <a16:creationId xmlns:a16="http://schemas.microsoft.com/office/drawing/2014/main" id="{914107AC-8600-4AC6-AE9A-E63906531388}"/>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TUFM</a:t>
            </a:r>
          </a:p>
        </p:txBody>
      </p:sp>
      <p:sp>
        <p:nvSpPr>
          <p:cNvPr id="19" name="TextBox 18">
            <a:extLst>
              <a:ext uri="{FF2B5EF4-FFF2-40B4-BE49-F238E27FC236}">
                <a16:creationId xmlns:a16="http://schemas.microsoft.com/office/drawing/2014/main" id="{4BAEBC81-29FC-4D0F-88D5-9CB5B4B446E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 mitochondrial translation factor appears in the APOE neighborhoods</a:t>
            </a:r>
          </a:p>
        </p:txBody>
      </p:sp>
      <p:sp>
        <p:nvSpPr>
          <p:cNvPr id="20" name="Rounded Rectangle 19">
            <a:extLst>
              <a:ext uri="{FF2B5EF4-FFF2-40B4-BE49-F238E27FC236}">
                <a16:creationId xmlns:a16="http://schemas.microsoft.com/office/drawing/2014/main" id="{E774AF09-D3E3-4192-A558-B6D99539B70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D9CB29C-1063-4566-A39E-BF084AFB60DB}"/>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Energy and structure</a:t>
            </a:r>
          </a:p>
        </p:txBody>
      </p:sp>
      <p:sp>
        <p:nvSpPr>
          <p:cNvPr id="22" name="TextBox 21">
            <a:extLst>
              <a:ext uri="{FF2B5EF4-FFF2-40B4-BE49-F238E27FC236}">
                <a16:creationId xmlns:a16="http://schemas.microsoft.com/office/drawing/2014/main" id="{EA479AA6-47B1-4A30-8349-B80F6793DC6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LDHB and CHCHD10</a:t>
            </a:r>
          </a:p>
        </p:txBody>
      </p:sp>
      <p:sp>
        <p:nvSpPr>
          <p:cNvPr id="23" name="TextBox 22">
            <a:extLst>
              <a:ext uri="{FF2B5EF4-FFF2-40B4-BE49-F238E27FC236}">
                <a16:creationId xmlns:a16="http://schemas.microsoft.com/office/drawing/2014/main" id="{30111D26-E667-4F44-A292-8905CF92B1B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neighbors span metabolism and mitochondrial structure or stress</a:t>
            </a:r>
          </a:p>
        </p:txBody>
      </p:sp>
      <p:sp>
        <p:nvSpPr>
          <p:cNvPr id="24" name="Rounded Rectangle 23">
            <a:extLst>
              <a:ext uri="{FF2B5EF4-FFF2-40B4-BE49-F238E27FC236}">
                <a16:creationId xmlns:a16="http://schemas.microsoft.com/office/drawing/2014/main" id="{E4CECC0F-9D05-4241-A674-CA02C47CDF2C}"/>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4A2518C-BC25-484E-AEB8-BBC49FBE9802}"/>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ATP synthase</a:t>
            </a:r>
          </a:p>
        </p:txBody>
      </p:sp>
      <p:sp>
        <p:nvSpPr>
          <p:cNvPr id="26" name="TextBox 25">
            <a:extLst>
              <a:ext uri="{FF2B5EF4-FFF2-40B4-BE49-F238E27FC236}">
                <a16:creationId xmlns:a16="http://schemas.microsoft.com/office/drawing/2014/main" id="{C8C4D6EB-717C-4205-902E-7935BE129C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ATP5PB and ATP5F1A</a:t>
            </a:r>
          </a:p>
        </p:txBody>
      </p:sp>
      <p:sp>
        <p:nvSpPr>
          <p:cNvPr id="27" name="TextBox 26">
            <a:extLst>
              <a:ext uri="{FF2B5EF4-FFF2-40B4-BE49-F238E27FC236}">
                <a16:creationId xmlns:a16="http://schemas.microsoft.com/office/drawing/2014/main" id="{5CC055E4-14B1-4781-BA2D-3B99848B5FCB}"/>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Nuclear-encoded OXPHOS genes also appear</a:t>
            </a:r>
          </a:p>
        </p:txBody>
      </p:sp>
    </p:spTree>
    <p:extLst>
      <p:ext uri="{BB962C8B-B14F-4D97-AF65-F5344CB8AC3E}">
        <p14:creationId xmlns:p14="http://schemas.microsoft.com/office/powerpoint/2010/main" val="1056136102"/>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AEB1F6-FE5B-4913-9A43-BCF5AA8959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APOE neighborhoods vary rather than forming one repeated pathway</a:t>
            </a:r>
          </a:p>
        </p:txBody>
      </p:sp>
      <p:sp>
        <p:nvSpPr>
          <p:cNvPr id="3" name="TextBox 2">
            <a:extLst>
              <a:ext uri="{FF2B5EF4-FFF2-40B4-BE49-F238E27FC236}">
                <a16:creationId xmlns:a16="http://schemas.microsoft.com/office/drawing/2014/main" id="{7A4044D1-0A9A-437D-AFE1-87F48668077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Different directions and neighbors may reflect true context or cell-state and sampling differences.</a:t>
            </a:r>
          </a:p>
        </p:txBody>
      </p:sp>
      <p:sp>
        <p:nvSpPr>
          <p:cNvPr id="4" name="Rounded Rectangle 3">
            <a:extLst>
              <a:ext uri="{FF2B5EF4-FFF2-40B4-BE49-F238E27FC236}">
                <a16:creationId xmlns:a16="http://schemas.microsoft.com/office/drawing/2014/main" id="{815D1395-6282-423E-ADB6-0612F9F5CB3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916557E-3AE2-42DE-BCBE-291165FE28D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DIRECTION</a:t>
            </a:r>
          </a:p>
        </p:txBody>
      </p:sp>
      <p:sp>
        <p:nvSpPr>
          <p:cNvPr id="6" name="TextBox 5">
            <a:extLst>
              <a:ext uri="{FF2B5EF4-FFF2-40B4-BE49-F238E27FC236}">
                <a16:creationId xmlns:a16="http://schemas.microsoft.com/office/drawing/2014/main" id="{C4B3CF68-50E2-429A-9D0C-A8B7A549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+0.79 in F_e2</a:t>
            </a:r>
          </a:p>
        </p:txBody>
      </p:sp>
      <p:sp>
        <p:nvSpPr>
          <p:cNvPr id="7" name="TextBox 6">
            <a:extLst>
              <a:ext uri="{FF2B5EF4-FFF2-40B4-BE49-F238E27FC236}">
                <a16:creationId xmlns:a16="http://schemas.microsoft.com/office/drawing/2014/main" id="{D027D810-EE0F-4ADC-AC3F-2B76724C3AB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female ε2 astrocyte KDA call shows higher APOE expression in AD.</a:t>
            </a:r>
          </a:p>
        </p:txBody>
      </p:sp>
      <p:sp>
        <p:nvSpPr>
          <p:cNvPr id="8" name="Rounded Rectangle 7">
            <a:extLst>
              <a:ext uri="{FF2B5EF4-FFF2-40B4-BE49-F238E27FC236}">
                <a16:creationId xmlns:a16="http://schemas.microsoft.com/office/drawing/2014/main" id="{F0C40F7A-A178-4352-BB35-430AF2FD5537}"/>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6F6881C-69D9-4B61-8989-D60024536DD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DIRECTION</a:t>
            </a:r>
          </a:p>
        </p:txBody>
      </p:sp>
      <p:sp>
        <p:nvSpPr>
          <p:cNvPr id="10" name="TextBox 9">
            <a:extLst>
              <a:ext uri="{FF2B5EF4-FFF2-40B4-BE49-F238E27FC236}">
                <a16:creationId xmlns:a16="http://schemas.microsoft.com/office/drawing/2014/main" id="{2AAC44C0-938F-414E-8005-F3688A67AA5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−0.51 and −1.25</a:t>
            </a:r>
          </a:p>
        </p:txBody>
      </p:sp>
      <p:sp>
        <p:nvSpPr>
          <p:cNvPr id="11" name="TextBox 10">
            <a:extLst>
              <a:ext uri="{FF2B5EF4-FFF2-40B4-BE49-F238E27FC236}">
                <a16:creationId xmlns:a16="http://schemas.microsoft.com/office/drawing/2014/main" id="{7C608C16-2A75-44EF-A2A5-F167AF6CDC8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male ε2 and male ε4 astrocyte KDA calls show lower APOE expression in AD.</a:t>
            </a:r>
          </a:p>
        </p:txBody>
      </p:sp>
      <p:sp>
        <p:nvSpPr>
          <p:cNvPr id="12" name="Rounded Rectangle 11">
            <a:extLst>
              <a:ext uri="{FF2B5EF4-FFF2-40B4-BE49-F238E27FC236}">
                <a16:creationId xmlns:a16="http://schemas.microsoft.com/office/drawing/2014/main" id="{75C174F7-932C-4B35-A374-5366A8CDB3E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5CCBA06-917A-492B-9EE3-C1C457BBA8D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AAEA81A4-B3D4-4F94-8291-1C7C63377A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3C2BAC9E-627C-40CC-937A-DA2C3A7A734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None of the three matching categories was active in the supplemental cohort.</a:t>
            </a:r>
          </a:p>
        </p:txBody>
      </p:sp>
      <p:sp>
        <p:nvSpPr>
          <p:cNvPr id="16" name="Rounded Rectangle 15">
            <a:extLst>
              <a:ext uri="{FF2B5EF4-FFF2-40B4-BE49-F238E27FC236}">
                <a16:creationId xmlns:a16="http://schemas.microsoft.com/office/drawing/2014/main" id="{DC734C10-4507-4E7C-A867-39C680E0F7F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FAEE19D-4BA7-4C8E-A9CF-D7ADE1D05857}"/>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human genetic importance of APOE does not validate the direction differences or mitochondrial edges.</a:t>
            </a:r>
          </a:p>
        </p:txBody>
      </p:sp>
    </p:spTree>
    <p:extLst>
      <p:ext uri="{BB962C8B-B14F-4D97-AF65-F5344CB8AC3E}">
        <p14:creationId xmlns:p14="http://schemas.microsoft.com/office/powerpoint/2010/main" val="43577954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9989B1-C3B4-4F47-8D5B-5B69F0CEA4E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APOE biology depends on the cellular and genetic context</a:t>
            </a:r>
          </a:p>
        </p:txBody>
      </p:sp>
      <p:sp>
        <p:nvSpPr>
          <p:cNvPr id="3" name="TextBox 2">
            <a:extLst>
              <a:ext uri="{FF2B5EF4-FFF2-40B4-BE49-F238E27FC236}">
                <a16:creationId xmlns:a16="http://schemas.microsoft.com/office/drawing/2014/main" id="{E71441AA-787C-42D1-97F7-094466AEFD9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same gene may respond differently across groups even when its population-level risk role is well established.</a:t>
            </a:r>
          </a:p>
        </p:txBody>
      </p:sp>
      <p:sp>
        <p:nvSpPr>
          <p:cNvPr id="4" name="Rounded Rectangle 3">
            <a:extLst>
              <a:ext uri="{FF2B5EF4-FFF2-40B4-BE49-F238E27FC236}">
                <a16:creationId xmlns:a16="http://schemas.microsoft.com/office/drawing/2014/main" id="{FC9BE70D-1331-4F24-BF9F-398170D8CEC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9B0D97-B2A0-4F3E-ABBB-390E59F523B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CELL SOURCE</a:t>
            </a:r>
          </a:p>
        </p:txBody>
      </p:sp>
      <p:sp>
        <p:nvSpPr>
          <p:cNvPr id="6" name="TextBox 5">
            <a:extLst>
              <a:ext uri="{FF2B5EF4-FFF2-40B4-BE49-F238E27FC236}">
                <a16:creationId xmlns:a16="http://schemas.microsoft.com/office/drawing/2014/main" id="{89DF3344-B6ED-4599-AEB7-05928B8A7782}"/>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Astrocytes produce APOE</a:t>
            </a:r>
          </a:p>
        </p:txBody>
      </p:sp>
      <p:sp>
        <p:nvSpPr>
          <p:cNvPr id="7" name="TextBox 6">
            <a:extLst>
              <a:ext uri="{FF2B5EF4-FFF2-40B4-BE49-F238E27FC236}">
                <a16:creationId xmlns:a16="http://schemas.microsoft.com/office/drawing/2014/main" id="{E2C3D62B-D0EA-4553-AA4E-075CAE8C61A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 class makes the candidate biologically plausible.</a:t>
            </a:r>
          </a:p>
        </p:txBody>
      </p:sp>
      <p:sp>
        <p:nvSpPr>
          <p:cNvPr id="8" name="Rounded Rectangle 7">
            <a:extLst>
              <a:ext uri="{FF2B5EF4-FFF2-40B4-BE49-F238E27FC236}">
                <a16:creationId xmlns:a16="http://schemas.microsoft.com/office/drawing/2014/main" id="{7A25ACB2-946D-42CA-BFB5-4B8BB7B4A916}"/>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CAAF42-0B8D-448F-8572-DDB47A8CE6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DISEASE RESPONSE</a:t>
            </a:r>
          </a:p>
        </p:txBody>
      </p:sp>
      <p:sp>
        <p:nvSpPr>
          <p:cNvPr id="10" name="TextBox 9">
            <a:extLst>
              <a:ext uri="{FF2B5EF4-FFF2-40B4-BE49-F238E27FC236}">
                <a16:creationId xmlns:a16="http://schemas.microsoft.com/office/drawing/2014/main" id="{1E500922-1AFB-4A6E-A5B6-D943617FC9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changes by group</a:t>
            </a:r>
          </a:p>
        </p:txBody>
      </p:sp>
      <p:sp>
        <p:nvSpPr>
          <p:cNvPr id="11" name="TextBox 10">
            <a:extLst>
              <a:ext uri="{FF2B5EF4-FFF2-40B4-BE49-F238E27FC236}">
                <a16:creationId xmlns:a16="http://schemas.microsoft.com/office/drawing/2014/main" id="{2BD67977-451C-4627-A3CA-CB36DCA0486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expression may reflect different astrocyte states or responses to pathology.</a:t>
            </a:r>
          </a:p>
        </p:txBody>
      </p:sp>
      <p:sp>
        <p:nvSpPr>
          <p:cNvPr id="12" name="Rounded Rectangle 11">
            <a:extLst>
              <a:ext uri="{FF2B5EF4-FFF2-40B4-BE49-F238E27FC236}">
                <a16:creationId xmlns:a16="http://schemas.microsoft.com/office/drawing/2014/main" id="{91392F38-86F6-4BD3-BEAB-0303DDC5FA1F}"/>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55FD709-F7B7-45FF-ADC0-227F35E7FF2C}"/>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 LIMIT</a:t>
            </a:r>
          </a:p>
        </p:txBody>
      </p:sp>
      <p:sp>
        <p:nvSpPr>
          <p:cNvPr id="14" name="TextBox 13">
            <a:extLst>
              <a:ext uri="{FF2B5EF4-FFF2-40B4-BE49-F238E27FC236}">
                <a16:creationId xmlns:a16="http://schemas.microsoft.com/office/drawing/2014/main" id="{F8609CD8-9955-412A-B034-DD97427671F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Separate tests do not show interaction</a:t>
            </a:r>
          </a:p>
        </p:txBody>
      </p:sp>
      <p:sp>
        <p:nvSpPr>
          <p:cNvPr id="15" name="TextBox 14">
            <a:extLst>
              <a:ext uri="{FF2B5EF4-FFF2-40B4-BE49-F238E27FC236}">
                <a16:creationId xmlns:a16="http://schemas.microsoft.com/office/drawing/2014/main" id="{6218D191-E4F4-47BC-B8D7-622238F8C1A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formal model must compare disease effects across sex and genotype groups.</a:t>
            </a:r>
          </a:p>
        </p:txBody>
      </p:sp>
      <p:sp>
        <p:nvSpPr>
          <p:cNvPr id="16" name="Rounded Rectangle 15">
            <a:extLst>
              <a:ext uri="{FF2B5EF4-FFF2-40B4-BE49-F238E27FC236}">
                <a16:creationId xmlns:a16="http://schemas.microsoft.com/office/drawing/2014/main" id="{3BDAA785-1AE5-4B5F-835A-224D59960F5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15A4360-632D-4FB4-94F0-E3C3B9B3E4B1}"/>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0060E39-0F8F-4142-ADEC-FC7BEE9A57A3}"/>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argues for context-specific APOE models rather than an ε4-only interpretation.</a:t>
            </a:r>
          </a:p>
        </p:txBody>
      </p:sp>
    </p:spTree>
    <p:extLst>
      <p:ext uri="{BB962C8B-B14F-4D97-AF65-F5344CB8AC3E}">
        <p14:creationId xmlns:p14="http://schemas.microsoft.com/office/powerpoint/2010/main" val="126440418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780075-3F37-4C2D-91EB-6EC672CDDE4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15</a:t>
            </a:r>
          </a:p>
        </p:txBody>
      </p:sp>
      <p:sp>
        <p:nvSpPr>
          <p:cNvPr id="3" name="TextBox 2">
            <a:extLst>
              <a:ext uri="{FF2B5EF4-FFF2-40B4-BE49-F238E27FC236}">
                <a16:creationId xmlns:a16="http://schemas.microsoft.com/office/drawing/2014/main" id="{123A4D24-4729-4F17-91A0-BDAB0DE9F5F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2AD410D3-778D-4257-B4F7-C935FC1BCB1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5326824-3182-4E74-9E13-A66E89DB648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CF8B858-D6B5-4236-8831-BB23F0CA62A2}"/>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AD risk</a:t>
            </a:r>
          </a:p>
        </p:txBody>
      </p:sp>
      <p:sp>
        <p:nvSpPr>
          <p:cNvPr id="7" name="TextBox 6">
            <a:extLst>
              <a:ext uri="{FF2B5EF4-FFF2-40B4-BE49-F238E27FC236}">
                <a16:creationId xmlns:a16="http://schemas.microsoft.com/office/drawing/2014/main" id="{A88A4FAF-9035-489D-AC1D-1C65BACF196E}"/>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BE66AE4-9945-413A-BA03-2EC63C51EEF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APOE as the strongest common late-onset AD risk locus.</a:t>
            </a:r>
          </a:p>
        </p:txBody>
      </p:sp>
      <p:sp>
        <p:nvSpPr>
          <p:cNvPr id="9" name="TextBox 8">
            <a:extLst>
              <a:ext uri="{FF2B5EF4-FFF2-40B4-BE49-F238E27FC236}">
                <a16:creationId xmlns:a16="http://schemas.microsoft.com/office/drawing/2014/main" id="{DB7FDA31-6C12-47A2-A130-A99CBE0FCA86}"/>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88D60E7-973F-445B-BF2B-1D31A538386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Genetics does not validate these three network neighborhoods.</a:t>
            </a:r>
          </a:p>
        </p:txBody>
      </p:sp>
      <p:sp>
        <p:nvSpPr>
          <p:cNvPr id="11" name="Rounded Rectangle 10">
            <a:extLst>
              <a:ext uri="{FF2B5EF4-FFF2-40B4-BE49-F238E27FC236}">
                <a16:creationId xmlns:a16="http://schemas.microsoft.com/office/drawing/2014/main" id="{38BA0748-4ADD-492F-89D1-7136F555CC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AB2B353-F721-4AB1-B4E5-562BCC266B2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0937C6E6-8D88-4EEF-8381-F79A59F97C10}"/>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biology</a:t>
            </a:r>
          </a:p>
        </p:txBody>
      </p:sp>
      <p:sp>
        <p:nvSpPr>
          <p:cNvPr id="14" name="TextBox 13">
            <a:extLst>
              <a:ext uri="{FF2B5EF4-FFF2-40B4-BE49-F238E27FC236}">
                <a16:creationId xmlns:a16="http://schemas.microsoft.com/office/drawing/2014/main" id="{24D5D30A-BCCB-45BB-AC2C-B4F43B5137A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C3C85B5-A178-449A-BB94-D3DF6B0EF27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astrocyte APOE state can alter mitochondrial homeostasis.</a:t>
            </a:r>
          </a:p>
        </p:txBody>
      </p:sp>
      <p:sp>
        <p:nvSpPr>
          <p:cNvPr id="16" name="TextBox 15">
            <a:extLst>
              <a:ext uri="{FF2B5EF4-FFF2-40B4-BE49-F238E27FC236}">
                <a16:creationId xmlns:a16="http://schemas.microsoft.com/office/drawing/2014/main" id="{93E2BBD8-4F2B-42C7-80D9-B9CB222771A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AEB4A02-DAF8-4032-BFEE-C42BB179A86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opposite directions across these groups.</a:t>
            </a:r>
          </a:p>
        </p:txBody>
      </p:sp>
      <p:sp>
        <p:nvSpPr>
          <p:cNvPr id="18" name="Rounded Rectangle 17">
            <a:extLst>
              <a:ext uri="{FF2B5EF4-FFF2-40B4-BE49-F238E27FC236}">
                <a16:creationId xmlns:a16="http://schemas.microsoft.com/office/drawing/2014/main" id="{C0890806-8E84-482F-B541-F5432EC20A5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F9B2D66C-60E9-4247-BDCA-713D0EF20938}"/>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Schmukler et al. 2020</a:t>
            </a:r>
          </a:p>
        </p:txBody>
      </p:sp>
      <p:sp>
        <p:nvSpPr>
          <p:cNvPr id="20" name="TextBox 19">
            <a:extLst>
              <a:ext uri="{FF2B5EF4-FFF2-40B4-BE49-F238E27FC236}">
                <a16:creationId xmlns:a16="http://schemas.microsoft.com/office/drawing/2014/main" id="{342703C5-4F16-4BA3-B9D3-8F9BB5197C0F}"/>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mitophagy</a:t>
            </a:r>
          </a:p>
        </p:txBody>
      </p:sp>
      <p:sp>
        <p:nvSpPr>
          <p:cNvPr id="21" name="TextBox 20">
            <a:extLst>
              <a:ext uri="{FF2B5EF4-FFF2-40B4-BE49-F238E27FC236}">
                <a16:creationId xmlns:a16="http://schemas.microsoft.com/office/drawing/2014/main" id="{82198E31-F28F-4FB5-BE0D-5DDFB64E2555}"/>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9B71BD56-4AA9-480B-AC56-6080662C25E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astrocytes with mitochondrial dynamics and cleanup.</a:t>
            </a:r>
          </a:p>
        </p:txBody>
      </p:sp>
      <p:sp>
        <p:nvSpPr>
          <p:cNvPr id="23" name="TextBox 22">
            <a:extLst>
              <a:ext uri="{FF2B5EF4-FFF2-40B4-BE49-F238E27FC236}">
                <a16:creationId xmlns:a16="http://schemas.microsoft.com/office/drawing/2014/main" id="{EB422183-449C-4AD0-9DA0-68A82C61FEE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A4E32EA-A8B4-48EF-A32B-CAE6FC181CD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current KDA result also includes ε2 groups.</a:t>
            </a:r>
          </a:p>
        </p:txBody>
      </p:sp>
      <p:sp>
        <p:nvSpPr>
          <p:cNvPr id="25" name="Rounded Rectangle 24">
            <a:extLst>
              <a:ext uri="{FF2B5EF4-FFF2-40B4-BE49-F238E27FC236}">
                <a16:creationId xmlns:a16="http://schemas.microsoft.com/office/drawing/2014/main" id="{E6F9C21B-8A92-4B83-8610-DDF8CE010B3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953DCC0B-609C-4521-8A64-75B47DDAD632}"/>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9512371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B4866B-94BF-4EA4-8293-8F2AF3B4095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16</a:t>
            </a:r>
          </a:p>
        </p:txBody>
      </p:sp>
      <p:sp>
        <p:nvSpPr>
          <p:cNvPr id="3" name="Rectangle 2">
            <a:extLst>
              <a:ext uri="{FF2B5EF4-FFF2-40B4-BE49-F238E27FC236}">
                <a16:creationId xmlns:a16="http://schemas.microsoft.com/office/drawing/2014/main" id="{280A5786-1857-45E5-B911-7AD43CD3206E}"/>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BD3E44-910B-4A74-B1F5-06205A628E09}"/>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vascular cells show a small heat-shock module</a:t>
            </a:r>
          </a:p>
        </p:txBody>
      </p:sp>
      <p:sp>
        <p:nvSpPr>
          <p:cNvPr id="5" name="TextBox 4">
            <a:extLst>
              <a:ext uri="{FF2B5EF4-FFF2-40B4-BE49-F238E27FC236}">
                <a16:creationId xmlns:a16="http://schemas.microsoft.com/office/drawing/2014/main" id="{6B30A585-D160-4363-9CCB-0E4289900B8B}"/>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Preliminary ROSMAP vascular-module finding.</a:t>
            </a:r>
          </a:p>
        </p:txBody>
      </p:sp>
      <p:sp>
        <p:nvSpPr>
          <p:cNvPr id="6" name="Rounded Rectangle 5">
            <a:extLst>
              <a:ext uri="{FF2B5EF4-FFF2-40B4-BE49-F238E27FC236}">
                <a16:creationId xmlns:a16="http://schemas.microsoft.com/office/drawing/2014/main" id="{99ABAAFB-BE5E-4CB6-957F-57B24E9688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D4951E5-66C5-4A9E-8004-EF5B39EDF48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C0B97A71-8C0A-42FF-8529-A00BD0B84CF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B0E45B0-CD83-48B6-9E78-F0F0CB00A4E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F5E762F-15E6-4FA5-94C1-E05A61EADB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AFBD2A2C-8BDD-4523-A8A0-189BD82A1EB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4EA92A-0C9A-4A26-B2B0-64ECAB11B39F}"/>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01E7F6A4-1233-4269-B326-00125A51F92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36B5FE0B-270D-4DFA-B384-D70CADDDFA3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B833B61-1E74-4AA4-B71A-3EC76CE01E1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BE311415-6D3A-4348-AE42-39600B075F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781B1453-AD5A-4DEE-8548-821903613EAB}"/>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055413E8-B841-467D-934E-1A334CA8A4F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FFBBD16-97F9-42CB-854B-16B82A57EEE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616C0C1-C4ED-4097-ACC6-F7FBCB952B2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187EB02-95FE-45B0-9A86-56BDE382BC71}"/>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Three stress-response drivers define a small female ε4 vascular module across only two eligible KDA calls.</a:t>
            </a:r>
          </a:p>
        </p:txBody>
      </p:sp>
    </p:spTree>
    <p:extLst>
      <p:ext uri="{BB962C8B-B14F-4D97-AF65-F5344CB8AC3E}">
        <p14:creationId xmlns:p14="http://schemas.microsoft.com/office/powerpoint/2010/main" val="55796706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F89202-BCA1-4B9B-931E-675F0016DB8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vascular cells prioritize a small protein-stress module</a:t>
            </a:r>
          </a:p>
        </p:txBody>
      </p:sp>
      <p:sp>
        <p:nvSpPr>
          <p:cNvPr id="3" name="TextBox 2">
            <a:extLst>
              <a:ext uri="{FF2B5EF4-FFF2-40B4-BE49-F238E27FC236}">
                <a16:creationId xmlns:a16="http://schemas.microsoft.com/office/drawing/2014/main" id="{B85E40F5-DDF2-462E-B59D-F2FABD428D7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Heat-shock genes protect protein folding during many forms of cell stress. Literal high temperature is not required.</a:t>
            </a:r>
          </a:p>
        </p:txBody>
      </p:sp>
      <p:sp>
        <p:nvSpPr>
          <p:cNvPr id="4" name="Rounded Rectangle 3">
            <a:extLst>
              <a:ext uri="{FF2B5EF4-FFF2-40B4-BE49-F238E27FC236}">
                <a16:creationId xmlns:a16="http://schemas.microsoft.com/office/drawing/2014/main" id="{9EE5E1AD-6B10-4685-BC84-5F416399F3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25C89D-2748-49E6-A13D-5C2F53CA3226}"/>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A6CF6F6E-1B6C-41D8-80E5-803DEEEE578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A88055-16B3-44A2-B89E-80332AE7A599}"/>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0599409E-9766-458C-99BF-6F50ECD33AC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2D5B4FD-007D-43B1-8D9A-C067A69A15E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Vascular cells</a:t>
            </a:r>
          </a:p>
        </p:txBody>
      </p:sp>
      <p:sp>
        <p:nvSpPr>
          <p:cNvPr id="10" name="Rounded Rectangle 9">
            <a:extLst>
              <a:ext uri="{FF2B5EF4-FFF2-40B4-BE49-F238E27FC236}">
                <a16:creationId xmlns:a16="http://schemas.microsoft.com/office/drawing/2014/main" id="{B22C3E4F-15FA-4E07-AA6A-D7FA723DE406}"/>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D341FE4F-898E-474E-9062-64BB1223A734}"/>
              </a:ext>
            </a:extLst>
          </p:cNvPr>
          <p:cNvSpPr>
            <a:spLocks noGrp="1"/>
          </p:cNvSpPr>
          <p:nvPr/>
        </p:nvSpPr>
        <p:spPr>
          <a:xfrm>
            <a:off x="929030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Two eligible KDA calls</a:t>
            </a:r>
          </a:p>
        </p:txBody>
      </p:sp>
      <p:sp>
        <p:nvSpPr>
          <p:cNvPr id="12" name="Rounded Rectangle 11">
            <a:extLst>
              <a:ext uri="{FF2B5EF4-FFF2-40B4-BE49-F238E27FC236}">
                <a16:creationId xmlns:a16="http://schemas.microsoft.com/office/drawing/2014/main" id="{49903862-D5B7-4E1C-A89F-F9C1137E4313}"/>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B708D6C-9A1A-4E1D-AD08-CA82139F1683}"/>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HSPA1A</a:t>
            </a:r>
          </a:p>
        </p:txBody>
      </p:sp>
      <p:sp>
        <p:nvSpPr>
          <p:cNvPr id="14" name="TextBox 13">
            <a:extLst>
              <a:ext uri="{FF2B5EF4-FFF2-40B4-BE49-F238E27FC236}">
                <a16:creationId xmlns:a16="http://schemas.microsoft.com/office/drawing/2014/main" id="{7FE7E70C-3615-4D52-B19E-9F375F1A177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Stress-response chaperone</a:t>
            </a:r>
          </a:p>
        </p:txBody>
      </p:sp>
      <p:sp>
        <p:nvSpPr>
          <p:cNvPr id="15" name="TextBox 14">
            <a:extLst>
              <a:ext uri="{FF2B5EF4-FFF2-40B4-BE49-F238E27FC236}">
                <a16:creationId xmlns:a16="http://schemas.microsoft.com/office/drawing/2014/main" id="{9EBADCA5-936B-4174-BFDB-E0D36C179365}"/>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Helps proteins fold correctly or recover after stress.</a:t>
            </a:r>
          </a:p>
        </p:txBody>
      </p:sp>
      <p:sp>
        <p:nvSpPr>
          <p:cNvPr id="16" name="Rounded Rectangle 15">
            <a:extLst>
              <a:ext uri="{FF2B5EF4-FFF2-40B4-BE49-F238E27FC236}">
                <a16:creationId xmlns:a16="http://schemas.microsoft.com/office/drawing/2014/main" id="{39C6970C-FF6E-48C1-938C-B98E548B358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5D3CD1F-22E8-4AF5-BAB4-3A5D7F2BD32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HSPH1</a:t>
            </a:r>
          </a:p>
        </p:txBody>
      </p:sp>
      <p:sp>
        <p:nvSpPr>
          <p:cNvPr id="18" name="TextBox 17">
            <a:extLst>
              <a:ext uri="{FF2B5EF4-FFF2-40B4-BE49-F238E27FC236}">
                <a16:creationId xmlns:a16="http://schemas.microsoft.com/office/drawing/2014/main" id="{42AF5F4F-AB48-4BC1-8988-EEAE94EB3C3F}"/>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Protein-recovery chaperone</a:t>
            </a:r>
          </a:p>
        </p:txBody>
      </p:sp>
      <p:sp>
        <p:nvSpPr>
          <p:cNvPr id="19" name="TextBox 18">
            <a:extLst>
              <a:ext uri="{FF2B5EF4-FFF2-40B4-BE49-F238E27FC236}">
                <a16:creationId xmlns:a16="http://schemas.microsoft.com/office/drawing/2014/main" id="{113471AA-12ED-4B4A-B97A-D1CB9335CD03}"/>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Works with other heat-shock proteins to protect damaged proteins.</a:t>
            </a:r>
          </a:p>
        </p:txBody>
      </p:sp>
      <p:sp>
        <p:nvSpPr>
          <p:cNvPr id="20" name="Rounded Rectangle 19">
            <a:extLst>
              <a:ext uri="{FF2B5EF4-FFF2-40B4-BE49-F238E27FC236}">
                <a16:creationId xmlns:a16="http://schemas.microsoft.com/office/drawing/2014/main" id="{5B152E72-A344-40C5-8CD9-225BBE48CD26}"/>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0AC003-F13D-407A-AAFD-91811A16745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PTGES3</a:t>
            </a:r>
          </a:p>
        </p:txBody>
      </p:sp>
      <p:sp>
        <p:nvSpPr>
          <p:cNvPr id="22" name="TextBox 21">
            <a:extLst>
              <a:ext uri="{FF2B5EF4-FFF2-40B4-BE49-F238E27FC236}">
                <a16:creationId xmlns:a16="http://schemas.microsoft.com/office/drawing/2014/main" id="{1CAE43D6-75CE-48A5-B395-7A219029D2E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Chaperone-related protein</a:t>
            </a:r>
          </a:p>
        </p:txBody>
      </p:sp>
      <p:sp>
        <p:nvSpPr>
          <p:cNvPr id="23" name="TextBox 22">
            <a:extLst>
              <a:ext uri="{FF2B5EF4-FFF2-40B4-BE49-F238E27FC236}">
                <a16:creationId xmlns:a16="http://schemas.microsoft.com/office/drawing/2014/main" id="{2A44BDEA-4451-416A-854C-3838CA6B10A0}"/>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Has protein-folding functions in addition to its other cellular roles.</a:t>
            </a:r>
          </a:p>
        </p:txBody>
      </p:sp>
      <p:sp>
        <p:nvSpPr>
          <p:cNvPr id="24" name="Rounded Rectangle 23">
            <a:extLst>
              <a:ext uri="{FF2B5EF4-FFF2-40B4-BE49-F238E27FC236}">
                <a16:creationId xmlns:a16="http://schemas.microsoft.com/office/drawing/2014/main" id="{89FAC74D-291F-4F19-B75D-8E746E44DBC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CE56B958-D113-459E-99C0-83C778524E9C}"/>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Three related genes create a focused clue, not evidence of a broad vascular stress program.</a:t>
            </a:r>
          </a:p>
        </p:txBody>
      </p:sp>
    </p:spTree>
    <p:extLst>
      <p:ext uri="{BB962C8B-B14F-4D97-AF65-F5344CB8AC3E}">
        <p14:creationId xmlns:p14="http://schemas.microsoft.com/office/powerpoint/2010/main" val="197393502"/>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C90BE16-71B8-4733-9DF1-56F21DF7206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three of five female ε4 vascular candidates are stress-response genes</a:t>
            </a:r>
          </a:p>
        </p:txBody>
      </p:sp>
      <p:sp>
        <p:nvSpPr>
          <p:cNvPr id="3" name="TextBox 2">
            <a:extLst>
              <a:ext uri="{FF2B5EF4-FFF2-40B4-BE49-F238E27FC236}">
                <a16:creationId xmlns:a16="http://schemas.microsoft.com/office/drawing/2014/main" id="{427EF456-3FF2-40E7-91C9-5ABBE336057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analysis uses the vascular network background and remains exploratory.</a:t>
            </a:r>
          </a:p>
        </p:txBody>
      </p:sp>
      <p:sp>
        <p:nvSpPr>
          <p:cNvPr id="4" name="Rounded Rectangle 3">
            <a:extLst>
              <a:ext uri="{FF2B5EF4-FFF2-40B4-BE49-F238E27FC236}">
                <a16:creationId xmlns:a16="http://schemas.microsoft.com/office/drawing/2014/main" id="{D8E537D8-0A36-40EB-9362-1964AFD9727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E293BE-D4B1-4C58-853A-22216102DCD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5</a:t>
            </a:r>
          </a:p>
        </p:txBody>
      </p:sp>
      <p:sp>
        <p:nvSpPr>
          <p:cNvPr id="6" name="TextBox 5">
            <a:extLst>
              <a:ext uri="{FF2B5EF4-FFF2-40B4-BE49-F238E27FC236}">
                <a16:creationId xmlns:a16="http://schemas.microsoft.com/office/drawing/2014/main" id="{08C98539-9F26-40F9-B7CE-3A40AB9C4689}"/>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non-MitoCarta vascular drivers</a:t>
            </a:r>
          </a:p>
        </p:txBody>
      </p:sp>
      <p:sp>
        <p:nvSpPr>
          <p:cNvPr id="7" name="TextBox 6">
            <a:extLst>
              <a:ext uri="{FF2B5EF4-FFF2-40B4-BE49-F238E27FC236}">
                <a16:creationId xmlns:a16="http://schemas.microsoft.com/office/drawing/2014/main" id="{C9704254-6633-476E-8841-17132A24BE4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female ε4</a:t>
            </a:r>
          </a:p>
        </p:txBody>
      </p:sp>
      <p:sp>
        <p:nvSpPr>
          <p:cNvPr id="8" name="Rounded Rectangle 7">
            <a:extLst>
              <a:ext uri="{FF2B5EF4-FFF2-40B4-BE49-F238E27FC236}">
                <a16:creationId xmlns:a16="http://schemas.microsoft.com/office/drawing/2014/main" id="{DDA1DFA2-5DD9-4947-B275-7ECD32063BA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250FAAA-594C-4947-80E0-E4D846A0BB3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0" name="TextBox 9">
            <a:extLst>
              <a:ext uri="{FF2B5EF4-FFF2-40B4-BE49-F238E27FC236}">
                <a16:creationId xmlns:a16="http://schemas.microsoft.com/office/drawing/2014/main" id="{EC9C26BC-07DB-4E5A-B13A-CEDC1A837F3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stress-response drivers</a:t>
            </a:r>
          </a:p>
        </p:txBody>
      </p:sp>
      <p:sp>
        <p:nvSpPr>
          <p:cNvPr id="11" name="TextBox 10">
            <a:extLst>
              <a:ext uri="{FF2B5EF4-FFF2-40B4-BE49-F238E27FC236}">
                <a16:creationId xmlns:a16="http://schemas.microsoft.com/office/drawing/2014/main" id="{529C55DB-158A-43DB-9CCA-72393A0C29D5}"/>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HSPH1, HSPA1A, PTGES3</a:t>
            </a:r>
          </a:p>
        </p:txBody>
      </p:sp>
      <p:sp>
        <p:nvSpPr>
          <p:cNvPr id="12" name="Rounded Rectangle 11">
            <a:extLst>
              <a:ext uri="{FF2B5EF4-FFF2-40B4-BE49-F238E27FC236}">
                <a16:creationId xmlns:a16="http://schemas.microsoft.com/office/drawing/2014/main" id="{E135656B-22C9-4596-93EF-82BE0911207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2D0C028-F2B2-4941-B318-541C13E00AF9}"/>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a:t>
            </a:r>
          </a:p>
        </p:txBody>
      </p:sp>
      <p:sp>
        <p:nvSpPr>
          <p:cNvPr id="14" name="TextBox 13">
            <a:extLst>
              <a:ext uri="{FF2B5EF4-FFF2-40B4-BE49-F238E27FC236}">
                <a16:creationId xmlns:a16="http://schemas.microsoft.com/office/drawing/2014/main" id="{F4C2800E-6766-4123-A2B9-76474E22EACA}"/>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eligible vascular KDA calls</a:t>
            </a:r>
          </a:p>
        </p:txBody>
      </p:sp>
      <p:sp>
        <p:nvSpPr>
          <p:cNvPr id="15" name="TextBox 14">
            <a:extLst>
              <a:ext uri="{FF2B5EF4-FFF2-40B4-BE49-F238E27FC236}">
                <a16:creationId xmlns:a16="http://schemas.microsoft.com/office/drawing/2014/main" id="{4B0C3E05-B64D-46B0-BBBE-B74B0CEB738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small evidence base</a:t>
            </a:r>
          </a:p>
        </p:txBody>
      </p:sp>
      <p:sp>
        <p:nvSpPr>
          <p:cNvPr id="16" name="Rounded Rectangle 15">
            <a:extLst>
              <a:ext uri="{FF2B5EF4-FFF2-40B4-BE49-F238E27FC236}">
                <a16:creationId xmlns:a16="http://schemas.microsoft.com/office/drawing/2014/main" id="{80125B71-1B29-498F-ABB1-5203E1F6F8E0}"/>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D45FCE8-7C10-4078-996C-C2278413CEE2}"/>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HSF1 activation</a:t>
            </a:r>
          </a:p>
        </p:txBody>
      </p:sp>
      <p:sp>
        <p:nvSpPr>
          <p:cNvPr id="18" name="TextBox 17">
            <a:extLst>
              <a:ext uri="{FF2B5EF4-FFF2-40B4-BE49-F238E27FC236}">
                <a16:creationId xmlns:a16="http://schemas.microsoft.com/office/drawing/2014/main" id="{8EF4C5EA-BE03-4C0F-A28B-E17A97A1DFD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4.07 × 10⁻⁴</a:t>
            </a:r>
          </a:p>
        </p:txBody>
      </p:sp>
      <p:sp>
        <p:nvSpPr>
          <p:cNvPr id="19" name="TextBox 18">
            <a:extLst>
              <a:ext uri="{FF2B5EF4-FFF2-40B4-BE49-F238E27FC236}">
                <a16:creationId xmlns:a16="http://schemas.microsoft.com/office/drawing/2014/main" id="{59D9DCB1-EB33-44EA-A320-F64036E48E4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HSF1 regulates many heat-shock response genes</a:t>
            </a:r>
          </a:p>
        </p:txBody>
      </p:sp>
      <p:sp>
        <p:nvSpPr>
          <p:cNvPr id="20" name="Rounded Rectangle 19">
            <a:extLst>
              <a:ext uri="{FF2B5EF4-FFF2-40B4-BE49-F238E27FC236}">
                <a16:creationId xmlns:a16="http://schemas.microsoft.com/office/drawing/2014/main" id="{415F7833-5868-41C5-B8E2-B93C6704239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284674-0A41-4BB3-9833-BB53FFF4946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Cellular heat response</a:t>
            </a:r>
          </a:p>
        </p:txBody>
      </p:sp>
      <p:sp>
        <p:nvSpPr>
          <p:cNvPr id="22" name="TextBox 21">
            <a:extLst>
              <a:ext uri="{FF2B5EF4-FFF2-40B4-BE49-F238E27FC236}">
                <a16:creationId xmlns:a16="http://schemas.microsoft.com/office/drawing/2014/main" id="{8EB44782-AD0D-4F23-9F1B-6E3212BA1C7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0.00383</a:t>
            </a:r>
          </a:p>
        </p:txBody>
      </p:sp>
      <p:sp>
        <p:nvSpPr>
          <p:cNvPr id="23" name="TextBox 22">
            <a:extLst>
              <a:ext uri="{FF2B5EF4-FFF2-40B4-BE49-F238E27FC236}">
                <a16:creationId xmlns:a16="http://schemas.microsoft.com/office/drawing/2014/main" id="{3E617012-5334-42F1-BD91-44605F77F62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term reflects shared stress machinery, not necessarily temperature</a:t>
            </a:r>
          </a:p>
        </p:txBody>
      </p:sp>
      <p:sp>
        <p:nvSpPr>
          <p:cNvPr id="24" name="Rounded Rectangle 23">
            <a:extLst>
              <a:ext uri="{FF2B5EF4-FFF2-40B4-BE49-F238E27FC236}">
                <a16:creationId xmlns:a16="http://schemas.microsoft.com/office/drawing/2014/main" id="{82DEC458-90B9-43BD-A56C-08551CCBCDC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AB652C-F073-46D1-BFAB-11834D7E9BB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Pathway dependence</a:t>
            </a:r>
          </a:p>
        </p:txBody>
      </p:sp>
      <p:sp>
        <p:nvSpPr>
          <p:cNvPr id="26" name="TextBox 25">
            <a:extLst>
              <a:ext uri="{FF2B5EF4-FFF2-40B4-BE49-F238E27FC236}">
                <a16:creationId xmlns:a16="http://schemas.microsoft.com/office/drawing/2014/main" id="{EFD43A95-3AD4-4059-BB94-955C9625ED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Three genes</a:t>
            </a:r>
          </a:p>
        </p:txBody>
      </p:sp>
      <p:sp>
        <p:nvSpPr>
          <p:cNvPr id="27" name="TextBox 26">
            <a:extLst>
              <a:ext uri="{FF2B5EF4-FFF2-40B4-BE49-F238E27FC236}">
                <a16:creationId xmlns:a16="http://schemas.microsoft.com/office/drawing/2014/main" id="{782AB354-3D21-4821-894F-A2F0132593FE}"/>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Related terms overlap and are driven by a very small candidate set</a:t>
            </a:r>
          </a:p>
        </p:txBody>
      </p:sp>
    </p:spTree>
    <p:extLst>
      <p:ext uri="{BB962C8B-B14F-4D97-AF65-F5344CB8AC3E}">
        <p14:creationId xmlns:p14="http://schemas.microsoft.com/office/powerpoint/2010/main" val="153543536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9B8E18-004D-46FF-BDE6-F3A9E2E9CD8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Small KDA call count and missing SEA-AD coverage keep the module preliminary</a:t>
            </a:r>
          </a:p>
        </p:txBody>
      </p:sp>
      <p:sp>
        <p:nvSpPr>
          <p:cNvPr id="3" name="TextBox 2">
            <a:extLst>
              <a:ext uri="{FF2B5EF4-FFF2-40B4-BE49-F238E27FC236}">
                <a16:creationId xmlns:a16="http://schemas.microsoft.com/office/drawing/2014/main" id="{1F0B0B1A-FEA0-4948-AAAD-AF979EA027A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evidence level reflects internal sparsity rather than a failed external comparison.</a:t>
            </a:r>
          </a:p>
        </p:txBody>
      </p:sp>
      <p:sp>
        <p:nvSpPr>
          <p:cNvPr id="4" name="Rounded Rectangle 3">
            <a:extLst>
              <a:ext uri="{FF2B5EF4-FFF2-40B4-BE49-F238E27FC236}">
                <a16:creationId xmlns:a16="http://schemas.microsoft.com/office/drawing/2014/main" id="{44320DAE-8F6A-405E-B228-1E52A1E2E336}"/>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CCFE33-5434-4732-B36E-D684F7C88C4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COVERAGE</a:t>
            </a:r>
          </a:p>
        </p:txBody>
      </p:sp>
      <p:sp>
        <p:nvSpPr>
          <p:cNvPr id="6" name="TextBox 5">
            <a:extLst>
              <a:ext uri="{FF2B5EF4-FFF2-40B4-BE49-F238E27FC236}">
                <a16:creationId xmlns:a16="http://schemas.microsoft.com/office/drawing/2014/main" id="{1AAACB3F-ED8E-4016-8A19-390EFA1E074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eligible KDA calls</a:t>
            </a:r>
          </a:p>
        </p:txBody>
      </p:sp>
      <p:sp>
        <p:nvSpPr>
          <p:cNvPr id="7" name="TextBox 6">
            <a:extLst>
              <a:ext uri="{FF2B5EF4-FFF2-40B4-BE49-F238E27FC236}">
                <a16:creationId xmlns:a16="http://schemas.microsoft.com/office/drawing/2014/main" id="{D03A716A-9B2B-4819-A4C8-4C5D7D49C117}"/>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Very few fine-cell comparisons contribute to the vascular result.</a:t>
            </a:r>
          </a:p>
        </p:txBody>
      </p:sp>
      <p:sp>
        <p:nvSpPr>
          <p:cNvPr id="8" name="Rounded Rectangle 7">
            <a:extLst>
              <a:ext uri="{FF2B5EF4-FFF2-40B4-BE49-F238E27FC236}">
                <a16:creationId xmlns:a16="http://schemas.microsoft.com/office/drawing/2014/main" id="{535093A0-6580-48D4-BF71-13F5B5850EE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2E2BAB-F91A-4D75-9134-33F7327C88C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PATHWAY OVERLAP</a:t>
            </a:r>
          </a:p>
        </p:txBody>
      </p:sp>
      <p:sp>
        <p:nvSpPr>
          <p:cNvPr id="10" name="TextBox 9">
            <a:extLst>
              <a:ext uri="{FF2B5EF4-FFF2-40B4-BE49-F238E27FC236}">
                <a16:creationId xmlns:a16="http://schemas.microsoft.com/office/drawing/2014/main" id="{B54E2D0E-CA7A-49F7-9CAA-3FF9D101855F}"/>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terms share genes</a:t>
            </a:r>
          </a:p>
        </p:txBody>
      </p:sp>
      <p:sp>
        <p:nvSpPr>
          <p:cNvPr id="11" name="TextBox 10">
            <a:extLst>
              <a:ext uri="{FF2B5EF4-FFF2-40B4-BE49-F238E27FC236}">
                <a16:creationId xmlns:a16="http://schemas.microsoft.com/office/drawing/2014/main" id="{116C05EC-9A65-4ACE-856B-E3A26D92D36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HSF1 activation and heat-response pathways are not independent findings.</a:t>
            </a:r>
          </a:p>
        </p:txBody>
      </p:sp>
      <p:sp>
        <p:nvSpPr>
          <p:cNvPr id="12" name="Rounded Rectangle 11">
            <a:extLst>
              <a:ext uri="{FF2B5EF4-FFF2-40B4-BE49-F238E27FC236}">
                <a16:creationId xmlns:a16="http://schemas.microsoft.com/office/drawing/2014/main" id="{DB6204E1-2E47-409E-8D6B-004289E01DBB}"/>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60300FD-7711-4369-8838-04195227F51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28AC0E7A-F83D-43C6-B1D9-A86AF9D94E1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active vascular category</a:t>
            </a:r>
          </a:p>
        </p:txBody>
      </p:sp>
      <p:sp>
        <p:nvSpPr>
          <p:cNvPr id="15" name="TextBox 14">
            <a:extLst>
              <a:ext uri="{FF2B5EF4-FFF2-40B4-BE49-F238E27FC236}">
                <a16:creationId xmlns:a16="http://schemas.microsoft.com/office/drawing/2014/main" id="{81315B00-F390-4BEA-BC5A-F86E8496C2D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supplemental cohort cannot evaluate this context.</a:t>
            </a:r>
          </a:p>
        </p:txBody>
      </p:sp>
      <p:sp>
        <p:nvSpPr>
          <p:cNvPr id="16" name="Rounded Rectangle 15">
            <a:extLst>
              <a:ext uri="{FF2B5EF4-FFF2-40B4-BE49-F238E27FC236}">
                <a16:creationId xmlns:a16="http://schemas.microsoft.com/office/drawing/2014/main" id="{96170627-5E15-4EB1-8CD7-D8045CA05A4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F73A42-4714-4795-A615-2934D60CADD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remains a low-confidence ROSMAP clue because of sparse internal support.</a:t>
            </a:r>
          </a:p>
        </p:txBody>
      </p:sp>
    </p:spTree>
    <p:extLst>
      <p:ext uri="{BB962C8B-B14F-4D97-AF65-F5344CB8AC3E}">
        <p14:creationId xmlns:p14="http://schemas.microsoft.com/office/powerpoint/2010/main" val="1888563001"/>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DAC85EA-B106-47F3-B616-4971DD6CE97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vascular cells protect blood flow and the blood-brain barrier</a:t>
            </a:r>
          </a:p>
        </p:txBody>
      </p:sp>
      <p:sp>
        <p:nvSpPr>
          <p:cNvPr id="3" name="TextBox 2">
            <a:extLst>
              <a:ext uri="{FF2B5EF4-FFF2-40B4-BE49-F238E27FC236}">
                <a16:creationId xmlns:a16="http://schemas.microsoft.com/office/drawing/2014/main" id="{F7D3D0DC-E68C-472A-A2C7-8BA190070AE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protein-protection response could mark vascular strain near Alzheimer’s pathology.</a:t>
            </a:r>
          </a:p>
        </p:txBody>
      </p:sp>
      <p:sp>
        <p:nvSpPr>
          <p:cNvPr id="4" name="Rounded Rectangle 3">
            <a:extLst>
              <a:ext uri="{FF2B5EF4-FFF2-40B4-BE49-F238E27FC236}">
                <a16:creationId xmlns:a16="http://schemas.microsoft.com/office/drawing/2014/main" id="{E7F04649-B1B3-4FA2-89D0-F6C01808C66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0C158D1-43DF-422B-88E1-D753312721F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VASCULAR ROLE</a:t>
            </a:r>
          </a:p>
        </p:txBody>
      </p:sp>
      <p:sp>
        <p:nvSpPr>
          <p:cNvPr id="6" name="TextBox 5">
            <a:extLst>
              <a:ext uri="{FF2B5EF4-FFF2-40B4-BE49-F238E27FC236}">
                <a16:creationId xmlns:a16="http://schemas.microsoft.com/office/drawing/2014/main" id="{0EEDEEBE-5497-4302-B526-2608A42999B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Maintain brain circulation</a:t>
            </a:r>
          </a:p>
        </p:txBody>
      </p:sp>
      <p:sp>
        <p:nvSpPr>
          <p:cNvPr id="7" name="TextBox 6">
            <a:extLst>
              <a:ext uri="{FF2B5EF4-FFF2-40B4-BE49-F238E27FC236}">
                <a16:creationId xmlns:a16="http://schemas.microsoft.com/office/drawing/2014/main" id="{FA17E3DB-03B9-4B52-8987-65F2A21A872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Vascular cells help regulate blood flow and barrier function.</a:t>
            </a:r>
          </a:p>
        </p:txBody>
      </p:sp>
      <p:sp>
        <p:nvSpPr>
          <p:cNvPr id="8" name="Rounded Rectangle 7">
            <a:extLst>
              <a:ext uri="{FF2B5EF4-FFF2-40B4-BE49-F238E27FC236}">
                <a16:creationId xmlns:a16="http://schemas.microsoft.com/office/drawing/2014/main" id="{D7E4F167-CBF3-4549-9A78-B6F26F7A888B}"/>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421CDDF-1E6A-4E19-ACE8-5D56EA61119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STRESS RESPONSE</a:t>
            </a:r>
          </a:p>
        </p:txBody>
      </p:sp>
      <p:sp>
        <p:nvSpPr>
          <p:cNvPr id="10" name="TextBox 9">
            <a:extLst>
              <a:ext uri="{FF2B5EF4-FFF2-40B4-BE49-F238E27FC236}">
                <a16:creationId xmlns:a16="http://schemas.microsoft.com/office/drawing/2014/main" id="{FA3BBC75-0A0D-4D70-8707-2FCE388E22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Chaperones protect proteins</a:t>
            </a:r>
          </a:p>
        </p:txBody>
      </p:sp>
      <p:sp>
        <p:nvSpPr>
          <p:cNvPr id="11" name="TextBox 10">
            <a:extLst>
              <a:ext uri="{FF2B5EF4-FFF2-40B4-BE49-F238E27FC236}">
                <a16:creationId xmlns:a16="http://schemas.microsoft.com/office/drawing/2014/main" id="{BEBB1C93-915B-45AF-949F-9E4FE971641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module may reflect protein damage or a general protective reaction.</a:t>
            </a:r>
          </a:p>
        </p:txBody>
      </p:sp>
      <p:sp>
        <p:nvSpPr>
          <p:cNvPr id="12" name="Rounded Rectangle 11">
            <a:extLst>
              <a:ext uri="{FF2B5EF4-FFF2-40B4-BE49-F238E27FC236}">
                <a16:creationId xmlns:a16="http://schemas.microsoft.com/office/drawing/2014/main" id="{F457BA7A-3663-4294-850F-F85C1B93F8C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F34E08B-BBCB-46BE-9123-C937FE20D4D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UNKNOWN TRIGGER</a:t>
            </a:r>
          </a:p>
        </p:txBody>
      </p:sp>
      <p:sp>
        <p:nvSpPr>
          <p:cNvPr id="14" name="TextBox 13">
            <a:extLst>
              <a:ext uri="{FF2B5EF4-FFF2-40B4-BE49-F238E27FC236}">
                <a16:creationId xmlns:a16="http://schemas.microsoft.com/office/drawing/2014/main" id="{5BBDFD27-E46B-4ACC-A44E-46666C00A5E5}"/>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Many stresses activate HSF1</a:t>
            </a:r>
          </a:p>
        </p:txBody>
      </p:sp>
      <p:sp>
        <p:nvSpPr>
          <p:cNvPr id="15" name="TextBox 14">
            <a:extLst>
              <a:ext uri="{FF2B5EF4-FFF2-40B4-BE49-F238E27FC236}">
                <a16:creationId xmlns:a16="http://schemas.microsoft.com/office/drawing/2014/main" id="{B96FA72E-2924-43DD-85DE-56D57739113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Inflammation, oxidative stress, or other insults could produce the same genes.</a:t>
            </a:r>
          </a:p>
        </p:txBody>
      </p:sp>
      <p:sp>
        <p:nvSpPr>
          <p:cNvPr id="16" name="Rounded Rectangle 15">
            <a:extLst>
              <a:ext uri="{FF2B5EF4-FFF2-40B4-BE49-F238E27FC236}">
                <a16:creationId xmlns:a16="http://schemas.microsoft.com/office/drawing/2014/main" id="{A3A994EC-0E16-48B8-AC88-C8791ACD88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CC5BF49-F800-41CD-BE88-2A88EC3ED47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02EBAB8-A7D2-4E36-9316-CA9A34CF376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Spatial evidence can test whether the stress proteins rise near vascular Alzheimer’s pathology.</a:t>
            </a:r>
          </a:p>
        </p:txBody>
      </p:sp>
    </p:spTree>
    <p:extLst>
      <p:ext uri="{BB962C8B-B14F-4D97-AF65-F5344CB8AC3E}">
        <p14:creationId xmlns:p14="http://schemas.microsoft.com/office/powerpoint/2010/main" val="780574730"/>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8688B-25B0-4073-AD63-62F1465545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16</a:t>
            </a:r>
          </a:p>
        </p:txBody>
      </p:sp>
      <p:sp>
        <p:nvSpPr>
          <p:cNvPr id="3" name="TextBox 2">
            <a:extLst>
              <a:ext uri="{FF2B5EF4-FFF2-40B4-BE49-F238E27FC236}">
                <a16:creationId xmlns:a16="http://schemas.microsoft.com/office/drawing/2014/main" id="{3A41FB36-7742-48B7-AC03-52C491DE8A5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8F1A5C18-F0A3-484C-8355-D878AB58E483}"/>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CB0634-CD4C-49D0-8439-54357424EE06}"/>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Current network ORA</a:t>
            </a:r>
          </a:p>
        </p:txBody>
      </p:sp>
      <p:sp>
        <p:nvSpPr>
          <p:cNvPr id="6" name="TextBox 5">
            <a:extLst>
              <a:ext uri="{FF2B5EF4-FFF2-40B4-BE49-F238E27FC236}">
                <a16:creationId xmlns:a16="http://schemas.microsoft.com/office/drawing/2014/main" id="{721B77BB-735E-4AB9-B934-9D5E277670EC}"/>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HSF1 activation</a:t>
            </a:r>
          </a:p>
        </p:txBody>
      </p:sp>
      <p:sp>
        <p:nvSpPr>
          <p:cNvPr id="7" name="TextBox 6">
            <a:extLst>
              <a:ext uri="{FF2B5EF4-FFF2-40B4-BE49-F238E27FC236}">
                <a16:creationId xmlns:a16="http://schemas.microsoft.com/office/drawing/2014/main" id="{57D1B63E-7FED-4F80-BE8D-A69FF07E3C8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85DB6599-B1DB-4BFF-A9B5-85D4F1974EF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enrichment of a focused stress-response pathway in female ε4 vascular drivers.</a:t>
            </a:r>
          </a:p>
        </p:txBody>
      </p:sp>
      <p:sp>
        <p:nvSpPr>
          <p:cNvPr id="9" name="TextBox 8">
            <a:extLst>
              <a:ext uri="{FF2B5EF4-FFF2-40B4-BE49-F238E27FC236}">
                <a16:creationId xmlns:a16="http://schemas.microsoft.com/office/drawing/2014/main" id="{F1A5F1FA-A819-421D-8A1A-27D5F360CDA9}"/>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8E594356-7431-49A8-83CE-22C6021C1D5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three related genes and two KDA calls drive the result.</a:t>
            </a:r>
          </a:p>
        </p:txBody>
      </p:sp>
      <p:sp>
        <p:nvSpPr>
          <p:cNvPr id="11" name="Rounded Rectangle 10">
            <a:extLst>
              <a:ext uri="{FF2B5EF4-FFF2-40B4-BE49-F238E27FC236}">
                <a16:creationId xmlns:a16="http://schemas.microsoft.com/office/drawing/2014/main" id="{10535B00-4C24-4B62-A381-20486183AF59}"/>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620659-5161-4996-94EA-EF786B5AB69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5FD0FD60-67A9-46A2-A0C2-BD00BFD8E136}"/>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 and sex-aware AD networks</a:t>
            </a:r>
          </a:p>
        </p:txBody>
      </p:sp>
      <p:sp>
        <p:nvSpPr>
          <p:cNvPr id="14" name="TextBox 13">
            <a:extLst>
              <a:ext uri="{FF2B5EF4-FFF2-40B4-BE49-F238E27FC236}">
                <a16:creationId xmlns:a16="http://schemas.microsoft.com/office/drawing/2014/main" id="{FC9A5945-622E-40BE-B724-AAB72173A8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48320009-CECE-493D-9F64-0DF749B34DA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resolving Alzheimer’s responses by cell type and sex.</a:t>
            </a:r>
          </a:p>
        </p:txBody>
      </p:sp>
      <p:sp>
        <p:nvSpPr>
          <p:cNvPr id="16" name="TextBox 15">
            <a:extLst>
              <a:ext uri="{FF2B5EF4-FFF2-40B4-BE49-F238E27FC236}">
                <a16:creationId xmlns:a16="http://schemas.microsoft.com/office/drawing/2014/main" id="{038C98BE-C6DD-4572-9471-1B4F0500497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489DFA65-C5A0-4E5D-A248-63CDCD608FC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vascular heat-shock module.</a:t>
            </a:r>
          </a:p>
        </p:txBody>
      </p:sp>
      <p:sp>
        <p:nvSpPr>
          <p:cNvPr id="18" name="Rounded Rectangle 17">
            <a:extLst>
              <a:ext uri="{FF2B5EF4-FFF2-40B4-BE49-F238E27FC236}">
                <a16:creationId xmlns:a16="http://schemas.microsoft.com/office/drawing/2014/main" id="{0D3F8FF3-5BE6-40A1-8F16-B9D6958718E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9B16BB0-7772-4660-AD31-F1FA07319990}"/>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406DDA8F-6CA4-4498-A5A5-E31BA22CADE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heterogeneity</a:t>
            </a:r>
          </a:p>
        </p:txBody>
      </p:sp>
      <p:sp>
        <p:nvSpPr>
          <p:cNvPr id="21" name="TextBox 20">
            <a:extLst>
              <a:ext uri="{FF2B5EF4-FFF2-40B4-BE49-F238E27FC236}">
                <a16:creationId xmlns:a16="http://schemas.microsoft.com/office/drawing/2014/main" id="{C769C364-4F69-4CCF-AD7E-FA60268EBAB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26090D1-597B-4F2B-9D4E-4B241CA0C409}"/>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disease-associated states differ across brain cell populations.</a:t>
            </a:r>
          </a:p>
        </p:txBody>
      </p:sp>
      <p:sp>
        <p:nvSpPr>
          <p:cNvPr id="23" name="TextBox 22">
            <a:extLst>
              <a:ext uri="{FF2B5EF4-FFF2-40B4-BE49-F238E27FC236}">
                <a16:creationId xmlns:a16="http://schemas.microsoft.com/office/drawing/2014/main" id="{EE9AB56D-B3EA-46D2-8BE8-B9CC6C0E1E9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954DC6C-F372-4277-9FBD-525101A6EEB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does not independently replicate this module.</a:t>
            </a:r>
          </a:p>
        </p:txBody>
      </p:sp>
      <p:sp>
        <p:nvSpPr>
          <p:cNvPr id="25" name="Rounded Rectangle 24">
            <a:extLst>
              <a:ext uri="{FF2B5EF4-FFF2-40B4-BE49-F238E27FC236}">
                <a16:creationId xmlns:a16="http://schemas.microsoft.com/office/drawing/2014/main" id="{67D45B71-8398-4BE9-9FDD-5A7ADF10F78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78701A3A-71A8-430C-BC29-C73627C6FE7E}"/>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526754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F1CDD8E-8E4C-47F0-9945-65FF2B55A86A}"/>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17</a:t>
            </a:r>
          </a:p>
        </p:txBody>
      </p:sp>
      <p:sp>
        <p:nvSpPr>
          <p:cNvPr id="3" name="Rectangle 2">
            <a:extLst>
              <a:ext uri="{FF2B5EF4-FFF2-40B4-BE49-F238E27FC236}">
                <a16:creationId xmlns:a16="http://schemas.microsoft.com/office/drawing/2014/main" id="{155B7172-6FC6-4CFC-95FF-65E112CAAC8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07CED36-38A0-466B-B238-C3173273DC0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SEA-AD provides gene-set and cross-context support despite no exact driver matches</a:t>
            </a:r>
          </a:p>
        </p:txBody>
      </p:sp>
      <p:sp>
        <p:nvSpPr>
          <p:cNvPr id="5" name="TextBox 4">
            <a:extLst>
              <a:ext uri="{FF2B5EF4-FFF2-40B4-BE49-F238E27FC236}">
                <a16:creationId xmlns:a16="http://schemas.microsoft.com/office/drawing/2014/main" id="{4EC73085-128A-4138-A4A9-C93B3B0AD5E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Cross-cohort reproducibility finding.</a:t>
            </a:r>
          </a:p>
        </p:txBody>
      </p:sp>
      <p:sp>
        <p:nvSpPr>
          <p:cNvPr id="6" name="Rounded Rectangle 5">
            <a:extLst>
              <a:ext uri="{FF2B5EF4-FFF2-40B4-BE49-F238E27FC236}">
                <a16:creationId xmlns:a16="http://schemas.microsoft.com/office/drawing/2014/main" id="{2815F048-6CD5-4E68-8355-09E904DC9FC7}"/>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62143CE-18E2-42AE-8983-7DEF2DF7475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22BEF58-4153-4364-9D90-B400B7E63107}"/>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3AC467C-0A18-4A3D-86F0-F72DA388151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3FBDD533-731A-4C39-A879-2D039CAEF308}"/>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A263ED8-7BAC-4A4C-A249-5D22BFDAEA4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5C0863-D04F-49D7-953B-D5B863642252}"/>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99D9A72-4A58-4A93-B843-9E91BEF41ECF}"/>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9DF7874-5DC6-4469-BFFA-686B66574B5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E1E1ADF-52FC-407C-AEF1-4CFF921CD50D}"/>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ECD6740-D8C1-467F-83C9-DFD061E41CD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0C0B33DE-F51C-489D-BFB9-2776372B77D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FCA78BE-669F-4026-8AEC-92F11B5AFF2C}"/>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EE09A54-D439-4082-9AEA-C89B122CA79C}"/>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771122C-C83A-45AF-A849-0EC53E27305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2BEC5AF-7069-474A-B962-1CBCE4BBC87B}"/>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Mitochondrial gene-set patterns agree more strongly than exact driver identities across the two cohort-specific network analyses.</a:t>
            </a:r>
          </a:p>
        </p:txBody>
      </p:sp>
    </p:spTree>
    <p:extLst>
      <p:ext uri="{BB962C8B-B14F-4D97-AF65-F5344CB8AC3E}">
        <p14:creationId xmlns:p14="http://schemas.microsoft.com/office/powerpoint/2010/main" val="203979851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DF330A-59B8-4C56-BF14-16228D7C79E0}"/>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and SEA-AD agree more on mitochondrial gene-set patterns than on exact drivers</a:t>
            </a:r>
          </a:p>
        </p:txBody>
      </p:sp>
      <p:sp>
        <p:nvSpPr>
          <p:cNvPr id="3" name="TextBox 2">
            <a:extLst>
              <a:ext uri="{FF2B5EF4-FFF2-40B4-BE49-F238E27FC236}">
                <a16:creationId xmlns:a16="http://schemas.microsoft.com/office/drawing/2014/main" id="{BE312BEF-4654-4EBA-8CF8-4F682720F0C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 context means the same gene, sex/APOE group, and broad cell class in both cohorts.</a:t>
            </a:r>
          </a:p>
        </p:txBody>
      </p:sp>
      <p:sp>
        <p:nvSpPr>
          <p:cNvPr id="4" name="Rounded Rectangle 3">
            <a:extLst>
              <a:ext uri="{FF2B5EF4-FFF2-40B4-BE49-F238E27FC236}">
                <a16:creationId xmlns:a16="http://schemas.microsoft.com/office/drawing/2014/main" id="{21BBC1B0-AE5D-4C34-B1DF-455591D1A32D}"/>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2C70D88-CA29-4902-A408-038E3E78D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ROSMAP discovery</a:t>
            </a:r>
          </a:p>
        </p:txBody>
      </p:sp>
      <p:sp>
        <p:nvSpPr>
          <p:cNvPr id="6" name="Rounded Rectangle 5">
            <a:extLst>
              <a:ext uri="{FF2B5EF4-FFF2-40B4-BE49-F238E27FC236}">
                <a16:creationId xmlns:a16="http://schemas.microsoft.com/office/drawing/2014/main" id="{1B4B94DC-5846-4CAE-8E60-C2B1F2A97C2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28B68B7-034B-41D5-A81D-B158583B61C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SEA-AD support</a:t>
            </a:r>
          </a:p>
        </p:txBody>
      </p:sp>
      <p:sp>
        <p:nvSpPr>
          <p:cNvPr id="8" name="Rounded Rectangle 7">
            <a:extLst>
              <a:ext uri="{FF2B5EF4-FFF2-40B4-BE49-F238E27FC236}">
                <a16:creationId xmlns:a16="http://schemas.microsoft.com/office/drawing/2014/main" id="{9E3788A9-1BCE-47D9-B1D2-FAD7A41D612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1567607-C333-40E8-A008-F9C125B80B44}"/>
              </a:ext>
            </a:extLst>
          </p:cNvPr>
          <p:cNvSpPr>
            <a:spLocks noGrp="1"/>
          </p:cNvSpPr>
          <p:nvPr/>
        </p:nvSpPr>
        <p:spPr>
          <a:xfrm>
            <a:off x="6473952"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Zero exact non-MitoCarta matches</a:t>
            </a:r>
          </a:p>
        </p:txBody>
      </p:sp>
      <p:sp>
        <p:nvSpPr>
          <p:cNvPr id="10" name="Rounded Rectangle 9">
            <a:extLst>
              <a:ext uri="{FF2B5EF4-FFF2-40B4-BE49-F238E27FC236}">
                <a16:creationId xmlns:a16="http://schemas.microsoft.com/office/drawing/2014/main" id="{E771D704-E76E-4C57-B890-FD69BCCA8C7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F06A26B-D975-41F9-BC51-F3A9C31C0FB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Three relaxed matches</a:t>
            </a:r>
          </a:p>
        </p:txBody>
      </p:sp>
      <p:sp>
        <p:nvSpPr>
          <p:cNvPr id="12" name="Rounded Rectangle 11">
            <a:extLst>
              <a:ext uri="{FF2B5EF4-FFF2-40B4-BE49-F238E27FC236}">
                <a16:creationId xmlns:a16="http://schemas.microsoft.com/office/drawing/2014/main" id="{0751C4B3-A0D7-41D1-8561-1FD837E810A3}"/>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2242E3E-2504-47C6-AAE4-926555F0C3F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STRICT COMPARISON</a:t>
            </a:r>
          </a:p>
        </p:txBody>
      </p:sp>
      <p:sp>
        <p:nvSpPr>
          <p:cNvPr id="14" name="TextBox 13">
            <a:extLst>
              <a:ext uri="{FF2B5EF4-FFF2-40B4-BE49-F238E27FC236}">
                <a16:creationId xmlns:a16="http://schemas.microsoft.com/office/drawing/2014/main" id="{7B514A22-9CC2-4D1B-BE6F-856D30E254C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and same context</a:t>
            </a:r>
          </a:p>
        </p:txBody>
      </p:sp>
      <p:sp>
        <p:nvSpPr>
          <p:cNvPr id="15" name="TextBox 14">
            <a:extLst>
              <a:ext uri="{FF2B5EF4-FFF2-40B4-BE49-F238E27FC236}">
                <a16:creationId xmlns:a16="http://schemas.microsoft.com/office/drawing/2014/main" id="{EF09C707-29A1-4F8A-A4D8-35AAD80CBD5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directly testable non-MitoCarta driver met this strongest support tier.</a:t>
            </a:r>
          </a:p>
        </p:txBody>
      </p:sp>
      <p:sp>
        <p:nvSpPr>
          <p:cNvPr id="16" name="Rounded Rectangle 15">
            <a:extLst>
              <a:ext uri="{FF2B5EF4-FFF2-40B4-BE49-F238E27FC236}">
                <a16:creationId xmlns:a16="http://schemas.microsoft.com/office/drawing/2014/main" id="{08B5D0FD-4C5F-4485-9137-89C29558F812}"/>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EBEDEF-27DB-4788-BA91-021E3F501BE2}"/>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RELAXED COMPARISON</a:t>
            </a:r>
          </a:p>
        </p:txBody>
      </p:sp>
      <p:sp>
        <p:nvSpPr>
          <p:cNvPr id="18" name="TextBox 17">
            <a:extLst>
              <a:ext uri="{FF2B5EF4-FFF2-40B4-BE49-F238E27FC236}">
                <a16:creationId xmlns:a16="http://schemas.microsoft.com/office/drawing/2014/main" id="{C5728690-CEEA-4515-A80E-093509495D7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in another context</a:t>
            </a:r>
          </a:p>
        </p:txBody>
      </p:sp>
      <p:sp>
        <p:nvSpPr>
          <p:cNvPr id="19" name="TextBox 18">
            <a:extLst>
              <a:ext uri="{FF2B5EF4-FFF2-40B4-BE49-F238E27FC236}">
                <a16:creationId xmlns:a16="http://schemas.microsoft.com/office/drawing/2014/main" id="{34158053-375E-4BE5-98C2-FB080CCB758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LAGE3, MIPOL1, and PAPOLA recur across cohorts in partially matched settings.</a:t>
            </a:r>
          </a:p>
        </p:txBody>
      </p:sp>
      <p:sp>
        <p:nvSpPr>
          <p:cNvPr id="20" name="Rounded Rectangle 19">
            <a:extLst>
              <a:ext uri="{FF2B5EF4-FFF2-40B4-BE49-F238E27FC236}">
                <a16:creationId xmlns:a16="http://schemas.microsoft.com/office/drawing/2014/main" id="{4BFB6052-F03B-4710-A140-C3FC50562AB5}"/>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9F029D-09B5-4F6D-9E40-51D48DFE1A1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GENE-SET COMPARISON</a:t>
            </a:r>
          </a:p>
        </p:txBody>
      </p:sp>
      <p:sp>
        <p:nvSpPr>
          <p:cNvPr id="22" name="TextBox 21">
            <a:extLst>
              <a:ext uri="{FF2B5EF4-FFF2-40B4-BE49-F238E27FC236}">
                <a16:creationId xmlns:a16="http://schemas.microsoft.com/office/drawing/2014/main" id="{FFB4AB60-5B48-44DF-B4F2-AE8197B6DA4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patterns recur</a:t>
            </a:r>
          </a:p>
        </p:txBody>
      </p:sp>
      <p:sp>
        <p:nvSpPr>
          <p:cNvPr id="23" name="TextBox 22">
            <a:extLst>
              <a:ext uri="{FF2B5EF4-FFF2-40B4-BE49-F238E27FC236}">
                <a16:creationId xmlns:a16="http://schemas.microsoft.com/office/drawing/2014/main" id="{D2065A4A-53DE-46C7-929A-D0A26ECC9D37}"/>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and male ε3/ε3 gene-set evidence remains the strongest cross-cohort result.</a:t>
            </a:r>
          </a:p>
        </p:txBody>
      </p:sp>
      <p:sp>
        <p:nvSpPr>
          <p:cNvPr id="24" name="Rounded Rectangle 23">
            <a:extLst>
              <a:ext uri="{FF2B5EF4-FFF2-40B4-BE49-F238E27FC236}">
                <a16:creationId xmlns:a16="http://schemas.microsoft.com/office/drawing/2014/main" id="{F1A6FBBD-98D1-4345-8C33-FF1DB2D8942C}"/>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37C4828-37A1-4E8C-9283-5A90623DF32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Different cohort-specific networks can nominate different genes even when they point to similar mitochondrial biology.</a:t>
            </a:r>
          </a:p>
        </p:txBody>
      </p:sp>
    </p:spTree>
    <p:extLst>
      <p:ext uri="{BB962C8B-B14F-4D97-AF65-F5344CB8AC3E}">
        <p14:creationId xmlns:p14="http://schemas.microsoft.com/office/powerpoint/2010/main" val="155947394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DAA825-32C1-4009-83A0-9147A0DE81C6}"/>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Exact matching had little opportunity and produced zero non-MitoCarta driver matches</a:t>
            </a:r>
          </a:p>
        </p:txBody>
      </p:sp>
      <p:sp>
        <p:nvSpPr>
          <p:cNvPr id="3" name="TextBox 2">
            <a:extLst>
              <a:ext uri="{FF2B5EF4-FFF2-40B4-BE49-F238E27FC236}">
                <a16:creationId xmlns:a16="http://schemas.microsoft.com/office/drawing/2014/main" id="{ADAC240A-00F3-4DF4-8F30-44AC3537D92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gene absent from the matching SEA-AD network background could never be selected.</a:t>
            </a:r>
          </a:p>
        </p:txBody>
      </p:sp>
      <p:sp>
        <p:nvSpPr>
          <p:cNvPr id="4" name="Rounded Rectangle 3">
            <a:extLst>
              <a:ext uri="{FF2B5EF4-FFF2-40B4-BE49-F238E27FC236}">
                <a16:creationId xmlns:a16="http://schemas.microsoft.com/office/drawing/2014/main" id="{B440ED95-F404-4D66-AFAE-23B68FD85C7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68299FF-33AD-421B-936C-05D34F585A9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83</a:t>
            </a:r>
          </a:p>
        </p:txBody>
      </p:sp>
      <p:sp>
        <p:nvSpPr>
          <p:cNvPr id="6" name="TextBox 5">
            <a:extLst>
              <a:ext uri="{FF2B5EF4-FFF2-40B4-BE49-F238E27FC236}">
                <a16:creationId xmlns:a16="http://schemas.microsoft.com/office/drawing/2014/main" id="{3B57A4B3-3809-401D-872C-2DF95281AB9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ROSMAP units in testable categories</a:t>
            </a:r>
          </a:p>
        </p:txBody>
      </p:sp>
      <p:sp>
        <p:nvSpPr>
          <p:cNvPr id="7" name="TextBox 6">
            <a:extLst>
              <a:ext uri="{FF2B5EF4-FFF2-40B4-BE49-F238E27FC236}">
                <a16:creationId xmlns:a16="http://schemas.microsoft.com/office/drawing/2014/main" id="{F0B1C9B0-4634-46E2-AB9D-9DD1CF154BC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structural opportunity</a:t>
            </a:r>
          </a:p>
        </p:txBody>
      </p:sp>
      <p:sp>
        <p:nvSpPr>
          <p:cNvPr id="8" name="Rounded Rectangle 7">
            <a:extLst>
              <a:ext uri="{FF2B5EF4-FFF2-40B4-BE49-F238E27FC236}">
                <a16:creationId xmlns:a16="http://schemas.microsoft.com/office/drawing/2014/main" id="{01F0C32D-4EA6-4B09-AB15-6380A367B27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BF84B71-82EC-470D-9164-5472ADF36C1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72</a:t>
            </a:r>
          </a:p>
        </p:txBody>
      </p:sp>
      <p:sp>
        <p:nvSpPr>
          <p:cNvPr id="10" name="TextBox 9">
            <a:extLst>
              <a:ext uri="{FF2B5EF4-FFF2-40B4-BE49-F238E27FC236}">
                <a16:creationId xmlns:a16="http://schemas.microsoft.com/office/drawing/2014/main" id="{FC3CB2D5-1211-4E03-9E0A-98CB1889813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units with gene in SEA background</a:t>
            </a:r>
          </a:p>
        </p:txBody>
      </p:sp>
      <p:sp>
        <p:nvSpPr>
          <p:cNvPr id="11" name="TextBox 10">
            <a:extLst>
              <a:ext uri="{FF2B5EF4-FFF2-40B4-BE49-F238E27FC236}">
                <a16:creationId xmlns:a16="http://schemas.microsoft.com/office/drawing/2014/main" id="{099D4DEE-027D-4459-9563-E38A8E88F52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genuine KDA opportunity</a:t>
            </a:r>
          </a:p>
        </p:txBody>
      </p:sp>
      <p:sp>
        <p:nvSpPr>
          <p:cNvPr id="12" name="Rounded Rectangle 11">
            <a:extLst>
              <a:ext uri="{FF2B5EF4-FFF2-40B4-BE49-F238E27FC236}">
                <a16:creationId xmlns:a16="http://schemas.microsoft.com/office/drawing/2014/main" id="{2526A1D1-35C6-4DFB-934C-703CDB713A6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8FC5F02-ED2C-4880-B4A9-B88D416C374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a:t>
            </a:r>
          </a:p>
        </p:txBody>
      </p:sp>
      <p:sp>
        <p:nvSpPr>
          <p:cNvPr id="14" name="TextBox 13">
            <a:extLst>
              <a:ext uri="{FF2B5EF4-FFF2-40B4-BE49-F238E27FC236}">
                <a16:creationId xmlns:a16="http://schemas.microsoft.com/office/drawing/2014/main" id="{D629B002-010E-43F6-84DC-2A1D6B152A6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same-context returns</a:t>
            </a:r>
          </a:p>
        </p:txBody>
      </p:sp>
      <p:sp>
        <p:nvSpPr>
          <p:cNvPr id="15" name="TextBox 14">
            <a:extLst>
              <a:ext uri="{FF2B5EF4-FFF2-40B4-BE49-F238E27FC236}">
                <a16:creationId xmlns:a16="http://schemas.microsoft.com/office/drawing/2014/main" id="{914408BB-2D15-46DA-8F5C-007B9A9A62AF}"/>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non-MitoCarta drivers</a:t>
            </a:r>
          </a:p>
        </p:txBody>
      </p:sp>
      <p:sp>
        <p:nvSpPr>
          <p:cNvPr id="16" name="Rounded Rectangle 15">
            <a:extLst>
              <a:ext uri="{FF2B5EF4-FFF2-40B4-BE49-F238E27FC236}">
                <a16:creationId xmlns:a16="http://schemas.microsoft.com/office/drawing/2014/main" id="{A9B2B337-4D1E-486A-BF7D-3723D6CCA1A2}"/>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AA24594-AD30-4568-8B10-76F5D41FBFD0}"/>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Gene-category opportunities</a:t>
            </a:r>
          </a:p>
        </p:txBody>
      </p:sp>
      <p:sp>
        <p:nvSpPr>
          <p:cNvPr id="18" name="TextBox 17">
            <a:extLst>
              <a:ext uri="{FF2B5EF4-FFF2-40B4-BE49-F238E27FC236}">
                <a16:creationId xmlns:a16="http://schemas.microsoft.com/office/drawing/2014/main" id="{D0396D35-F0C9-4FB2-8A00-099C672CC073}"/>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12,941</a:t>
            </a:r>
          </a:p>
        </p:txBody>
      </p:sp>
      <p:sp>
        <p:nvSpPr>
          <p:cNvPr id="19" name="TextBox 18">
            <a:extLst>
              <a:ext uri="{FF2B5EF4-FFF2-40B4-BE49-F238E27FC236}">
                <a16:creationId xmlns:a16="http://schemas.microsoft.com/office/drawing/2014/main" id="{15BE2D79-C2E0-4380-A768-0253D3A43229}"/>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Intersected non-MitoCarta opportunities across matching contexts</a:t>
            </a:r>
          </a:p>
        </p:txBody>
      </p:sp>
      <p:sp>
        <p:nvSpPr>
          <p:cNvPr id="20" name="Rounded Rectangle 19">
            <a:extLst>
              <a:ext uri="{FF2B5EF4-FFF2-40B4-BE49-F238E27FC236}">
                <a16:creationId xmlns:a16="http://schemas.microsoft.com/office/drawing/2014/main" id="{778BBDB5-1C89-4883-86B9-5C2768DB83E6}"/>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08E9744-C940-47E4-A257-C78FA8DEB765}"/>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Expected exact matches</a:t>
            </a:r>
          </a:p>
        </p:txBody>
      </p:sp>
      <p:sp>
        <p:nvSpPr>
          <p:cNvPr id="22" name="TextBox 21">
            <a:extLst>
              <a:ext uri="{FF2B5EF4-FFF2-40B4-BE49-F238E27FC236}">
                <a16:creationId xmlns:a16="http://schemas.microsoft.com/office/drawing/2014/main" id="{BF557339-C72C-4F44-9E06-2B2AE0FBE3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0.173</a:t>
            </a:r>
          </a:p>
        </p:txBody>
      </p:sp>
      <p:sp>
        <p:nvSpPr>
          <p:cNvPr id="23" name="TextBox 22">
            <a:extLst>
              <a:ext uri="{FF2B5EF4-FFF2-40B4-BE49-F238E27FC236}">
                <a16:creationId xmlns:a16="http://schemas.microsoft.com/office/drawing/2014/main" id="{4E0B8127-7CE4-475A-A3E9-C676FE6F685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Random expectation was already far below one exact match</a:t>
            </a:r>
          </a:p>
        </p:txBody>
      </p:sp>
      <p:sp>
        <p:nvSpPr>
          <p:cNvPr id="24" name="Rounded Rectangle 23">
            <a:extLst>
              <a:ext uri="{FF2B5EF4-FFF2-40B4-BE49-F238E27FC236}">
                <a16:creationId xmlns:a16="http://schemas.microsoft.com/office/drawing/2014/main" id="{92B21285-4F01-4083-935C-20BA55CBFA63}"/>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8D61AE-6E22-46B1-88B0-208CB0D0377A}"/>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One-sided test</a:t>
            </a:r>
          </a:p>
        </p:txBody>
      </p:sp>
      <p:sp>
        <p:nvSpPr>
          <p:cNvPr id="26" name="TextBox 25">
            <a:extLst>
              <a:ext uri="{FF2B5EF4-FFF2-40B4-BE49-F238E27FC236}">
                <a16:creationId xmlns:a16="http://schemas.microsoft.com/office/drawing/2014/main" id="{095DAEF3-1814-465F-BA0C-0C8451F5DFF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 = 1</a:t>
            </a:r>
          </a:p>
        </p:txBody>
      </p:sp>
      <p:sp>
        <p:nvSpPr>
          <p:cNvPr id="27" name="TextBox 26">
            <a:extLst>
              <a:ext uri="{FF2B5EF4-FFF2-40B4-BE49-F238E27FC236}">
                <a16:creationId xmlns:a16="http://schemas.microsoft.com/office/drawing/2014/main" id="{04E292C6-FFB8-4535-A358-09932C359B86}"/>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Zero exact matches is not evidence of active disagreement</a:t>
            </a:r>
          </a:p>
        </p:txBody>
      </p:sp>
    </p:spTree>
    <p:extLst>
      <p:ext uri="{BB962C8B-B14F-4D97-AF65-F5344CB8AC3E}">
        <p14:creationId xmlns:p14="http://schemas.microsoft.com/office/powerpoint/2010/main" val="127200738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CC87A-9311-49E5-931E-22745C95844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Three genes provide context-relaxed cross-cohort support</a:t>
            </a:r>
          </a:p>
        </p:txBody>
      </p:sp>
      <p:sp>
        <p:nvSpPr>
          <p:cNvPr id="3" name="TextBox 2">
            <a:extLst>
              <a:ext uri="{FF2B5EF4-FFF2-40B4-BE49-F238E27FC236}">
                <a16:creationId xmlns:a16="http://schemas.microsoft.com/office/drawing/2014/main" id="{0BA68A66-12EC-43C9-88C8-84F7C8517D9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recurrences support general candidate relevance but do not confirm the original sex/APOE and cell context.</a:t>
            </a:r>
          </a:p>
        </p:txBody>
      </p:sp>
      <p:sp>
        <p:nvSpPr>
          <p:cNvPr id="4" name="Rounded Rectangle 3">
            <a:extLst>
              <a:ext uri="{FF2B5EF4-FFF2-40B4-BE49-F238E27FC236}">
                <a16:creationId xmlns:a16="http://schemas.microsoft.com/office/drawing/2014/main" id="{A54A2310-6726-40FF-B5C1-7387C5D746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D11FED0-5DB0-4B82-BB0E-DE0F9FCF7B1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LAGE3</a:t>
            </a:r>
          </a:p>
        </p:txBody>
      </p:sp>
      <p:sp>
        <p:nvSpPr>
          <p:cNvPr id="6" name="TextBox 5">
            <a:extLst>
              <a:ext uri="{FF2B5EF4-FFF2-40B4-BE49-F238E27FC236}">
                <a16:creationId xmlns:a16="http://schemas.microsoft.com/office/drawing/2014/main" id="{AAC4ADCF-AA53-4CC3-B11F-D61D4523BD4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group and neuron class</a:t>
            </a:r>
          </a:p>
        </p:txBody>
      </p:sp>
      <p:sp>
        <p:nvSpPr>
          <p:cNvPr id="7" name="TextBox 6">
            <a:extLst>
              <a:ext uri="{FF2B5EF4-FFF2-40B4-BE49-F238E27FC236}">
                <a16:creationId xmlns:a16="http://schemas.microsoft.com/office/drawing/2014/main" id="{6DEA0B31-FEEA-4EFA-903A-330CAC1DFAD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excitatory recurrence and SEA male ε3/ε3 inhibitory recurrence. The SEA neighborhood is mitochondrial.</a:t>
            </a:r>
          </a:p>
        </p:txBody>
      </p:sp>
      <p:sp>
        <p:nvSpPr>
          <p:cNvPr id="8" name="Rounded Rectangle 7">
            <a:extLst>
              <a:ext uri="{FF2B5EF4-FFF2-40B4-BE49-F238E27FC236}">
                <a16:creationId xmlns:a16="http://schemas.microsoft.com/office/drawing/2014/main" id="{3D490C04-FB3B-45F5-92D2-2E230400F9A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469C7F-7EAA-4EFF-8466-2086C6C17679}"/>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MIPOL1</a:t>
            </a:r>
          </a:p>
        </p:txBody>
      </p:sp>
      <p:sp>
        <p:nvSpPr>
          <p:cNvPr id="10" name="TextBox 9">
            <a:extLst>
              <a:ext uri="{FF2B5EF4-FFF2-40B4-BE49-F238E27FC236}">
                <a16:creationId xmlns:a16="http://schemas.microsoft.com/office/drawing/2014/main" id="{21682DBC-6626-4FAC-8759-D6326C9D9D3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male ε3/ε3 stratum</a:t>
            </a:r>
          </a:p>
        </p:txBody>
      </p:sp>
      <p:sp>
        <p:nvSpPr>
          <p:cNvPr id="11" name="TextBox 10">
            <a:extLst>
              <a:ext uri="{FF2B5EF4-FFF2-40B4-BE49-F238E27FC236}">
                <a16:creationId xmlns:a16="http://schemas.microsoft.com/office/drawing/2014/main" id="{7429F00D-0863-4994-A44F-2FB9DC5FA13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broad neuronal class differs, giving the closest partial context match.</a:t>
            </a:r>
          </a:p>
        </p:txBody>
      </p:sp>
      <p:sp>
        <p:nvSpPr>
          <p:cNvPr id="12" name="Rounded Rectangle 11">
            <a:extLst>
              <a:ext uri="{FF2B5EF4-FFF2-40B4-BE49-F238E27FC236}">
                <a16:creationId xmlns:a16="http://schemas.microsoft.com/office/drawing/2014/main" id="{E6551926-18DE-47E3-BF70-F99F60745C39}"/>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9A3AF84-1BB4-4927-A1AC-DB28702EF2C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PAPOLA</a:t>
            </a:r>
          </a:p>
        </p:txBody>
      </p:sp>
      <p:sp>
        <p:nvSpPr>
          <p:cNvPr id="14" name="TextBox 13">
            <a:extLst>
              <a:ext uri="{FF2B5EF4-FFF2-40B4-BE49-F238E27FC236}">
                <a16:creationId xmlns:a16="http://schemas.microsoft.com/office/drawing/2014/main" id="{425B5F0E-4346-4692-8F98-D2534DD0838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glial lineage</a:t>
            </a:r>
          </a:p>
        </p:txBody>
      </p:sp>
      <p:sp>
        <p:nvSpPr>
          <p:cNvPr id="15" name="TextBox 14">
            <a:extLst>
              <a:ext uri="{FF2B5EF4-FFF2-40B4-BE49-F238E27FC236}">
                <a16:creationId xmlns:a16="http://schemas.microsoft.com/office/drawing/2014/main" id="{D0E8AE00-8D13-45C0-813F-2B0CD8CA093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OPC and SEA oligodendrocyte results share lineage but not sex/APOE context.</a:t>
            </a:r>
          </a:p>
        </p:txBody>
      </p:sp>
      <p:sp>
        <p:nvSpPr>
          <p:cNvPr id="16" name="Rounded Rectangle 15">
            <a:extLst>
              <a:ext uri="{FF2B5EF4-FFF2-40B4-BE49-F238E27FC236}">
                <a16:creationId xmlns:a16="http://schemas.microsoft.com/office/drawing/2014/main" id="{FC812E65-BA32-4081-BEE9-F4C7392A7A2E}"/>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97AC4BE-2CA4-4ED6-9F30-44793C325198}"/>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Across all genes, 3 of 43 SEA-AD drivers overlap 228 ROSMAP drivers, odds ratio 3.15 and P 0.0812.</a:t>
            </a:r>
          </a:p>
        </p:txBody>
      </p:sp>
    </p:spTree>
    <p:extLst>
      <p:ext uri="{BB962C8B-B14F-4D97-AF65-F5344CB8AC3E}">
        <p14:creationId xmlns:p14="http://schemas.microsoft.com/office/powerpoint/2010/main" val="169351498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F28EA3-33A3-4DF2-80F0-C5A14CCFB4D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pathway agreement can survive driver-ranking differences</a:t>
            </a:r>
          </a:p>
        </p:txBody>
      </p:sp>
      <p:sp>
        <p:nvSpPr>
          <p:cNvPr id="3" name="TextBox 2">
            <a:extLst>
              <a:ext uri="{FF2B5EF4-FFF2-40B4-BE49-F238E27FC236}">
                <a16:creationId xmlns:a16="http://schemas.microsoft.com/office/drawing/2014/main" id="{2186D631-ED69-4B64-9A8D-A9E4E9A8CC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Networks, phenotype labels, available cell types, and query thresholds differ between cohorts.</a:t>
            </a:r>
          </a:p>
        </p:txBody>
      </p:sp>
      <p:sp>
        <p:nvSpPr>
          <p:cNvPr id="4" name="Rounded Rectangle 3">
            <a:extLst>
              <a:ext uri="{FF2B5EF4-FFF2-40B4-BE49-F238E27FC236}">
                <a16:creationId xmlns:a16="http://schemas.microsoft.com/office/drawing/2014/main" id="{033C0E26-9F12-464F-9F92-8EA6CD7372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6E38A9E-1606-4C20-93B0-065A4A46040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NETWORK STRUCTURE</a:t>
            </a:r>
          </a:p>
        </p:txBody>
      </p:sp>
      <p:sp>
        <p:nvSpPr>
          <p:cNvPr id="6" name="TextBox 5">
            <a:extLst>
              <a:ext uri="{FF2B5EF4-FFF2-40B4-BE49-F238E27FC236}">
                <a16:creationId xmlns:a16="http://schemas.microsoft.com/office/drawing/2014/main" id="{E5EF60F9-D733-413E-B344-E387AA3236F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edges change rankings</a:t>
            </a:r>
          </a:p>
        </p:txBody>
      </p:sp>
      <p:sp>
        <p:nvSpPr>
          <p:cNvPr id="7" name="TextBox 6">
            <a:extLst>
              <a:ext uri="{FF2B5EF4-FFF2-40B4-BE49-F238E27FC236}">
                <a16:creationId xmlns:a16="http://schemas.microsoft.com/office/drawing/2014/main" id="{476D9EAF-A0A1-4DB0-AD42-A5453BA58DCA}"/>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Cohort-specific networks can place different genes near the same query gene set.</a:t>
            </a:r>
          </a:p>
        </p:txBody>
      </p:sp>
      <p:sp>
        <p:nvSpPr>
          <p:cNvPr id="8" name="Rounded Rectangle 7">
            <a:extLst>
              <a:ext uri="{FF2B5EF4-FFF2-40B4-BE49-F238E27FC236}">
                <a16:creationId xmlns:a16="http://schemas.microsoft.com/office/drawing/2014/main" id="{3FB9A657-E152-445D-BF53-23C6B4BF7AE8}"/>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9F9BE43-550B-4C5B-88C0-3B21FE2A69F3}"/>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COVERAGE</a:t>
            </a:r>
          </a:p>
        </p:txBody>
      </p:sp>
      <p:sp>
        <p:nvSpPr>
          <p:cNvPr id="10" name="TextBox 9">
            <a:extLst>
              <a:ext uri="{FF2B5EF4-FFF2-40B4-BE49-F238E27FC236}">
                <a16:creationId xmlns:a16="http://schemas.microsoft.com/office/drawing/2014/main" id="{834F1894-B8DA-4A9C-BF25-3310879A96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22 SEA-AD active KDA calls</a:t>
            </a:r>
          </a:p>
        </p:txBody>
      </p:sp>
      <p:sp>
        <p:nvSpPr>
          <p:cNvPr id="11" name="TextBox 10">
            <a:extLst>
              <a:ext uri="{FF2B5EF4-FFF2-40B4-BE49-F238E27FC236}">
                <a16:creationId xmlns:a16="http://schemas.microsoft.com/office/drawing/2014/main" id="{4530A2DB-2CE2-4567-8DCA-20852B1D00FA}"/>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Twenty of the 22 KDA calls are male ε3/ε3, leaving most groups poorly covered.</a:t>
            </a:r>
          </a:p>
        </p:txBody>
      </p:sp>
      <p:sp>
        <p:nvSpPr>
          <p:cNvPr id="12" name="Rounded Rectangle 11">
            <a:extLst>
              <a:ext uri="{FF2B5EF4-FFF2-40B4-BE49-F238E27FC236}">
                <a16:creationId xmlns:a16="http://schemas.microsoft.com/office/drawing/2014/main" id="{B7FEB6B1-0D94-4FC5-91CC-D25E4ED17F21}"/>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DE97387-C816-47E2-A742-9FB34F97DDC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STRONGEST AGREEMENT</a:t>
            </a:r>
          </a:p>
        </p:txBody>
      </p:sp>
      <p:sp>
        <p:nvSpPr>
          <p:cNvPr id="14" name="TextBox 13">
            <a:extLst>
              <a:ext uri="{FF2B5EF4-FFF2-40B4-BE49-F238E27FC236}">
                <a16:creationId xmlns:a16="http://schemas.microsoft.com/office/drawing/2014/main" id="{0EC2FCF6-23A0-42B7-9A7D-AFE1AD6E11B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mitochondrial gene-set patterns</a:t>
            </a:r>
          </a:p>
        </p:txBody>
      </p:sp>
      <p:sp>
        <p:nvSpPr>
          <p:cNvPr id="15" name="TextBox 14">
            <a:extLst>
              <a:ext uri="{FF2B5EF4-FFF2-40B4-BE49-F238E27FC236}">
                <a16:creationId xmlns:a16="http://schemas.microsoft.com/office/drawing/2014/main" id="{890132DD-EF4B-4828-B512-4F845346CB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excitatory and male ε3/ε3 inhibitory patterns recur despite different drivers.</a:t>
            </a:r>
          </a:p>
        </p:txBody>
      </p:sp>
      <p:sp>
        <p:nvSpPr>
          <p:cNvPr id="16" name="Rounded Rectangle 15">
            <a:extLst>
              <a:ext uri="{FF2B5EF4-FFF2-40B4-BE49-F238E27FC236}">
                <a16:creationId xmlns:a16="http://schemas.microsoft.com/office/drawing/2014/main" id="{9A8D19FD-4DEA-4727-BB94-90FDE3BB78E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80A13A0-0003-43D5-B649-E5F4433E838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416ABDE-0FEE-4C5E-AB9C-22433437C54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Gene-set support can strengthen a ROSMAP finding without confirming its exact upstream candidate.</a:t>
            </a:r>
          </a:p>
        </p:txBody>
      </p:sp>
    </p:spTree>
    <p:extLst>
      <p:ext uri="{BB962C8B-B14F-4D97-AF65-F5344CB8AC3E}">
        <p14:creationId xmlns:p14="http://schemas.microsoft.com/office/powerpoint/2010/main" val="115954017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F17D0-27B4-40F3-B9A2-6DDD1B9E42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17</a:t>
            </a:r>
          </a:p>
        </p:txBody>
      </p:sp>
      <p:sp>
        <p:nvSpPr>
          <p:cNvPr id="3" name="TextBox 2">
            <a:extLst>
              <a:ext uri="{FF2B5EF4-FFF2-40B4-BE49-F238E27FC236}">
                <a16:creationId xmlns:a16="http://schemas.microsoft.com/office/drawing/2014/main" id="{249501AF-445F-4338-8E8F-E34A6D8A9E6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A191AEA-51BD-4391-9423-DF35EC8D10A5}"/>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F596638-4B6C-4331-9E6A-83F32EE9916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Female ε3/ε3 pattern</a:t>
            </a:r>
          </a:p>
        </p:txBody>
      </p:sp>
      <p:sp>
        <p:nvSpPr>
          <p:cNvPr id="6" name="TextBox 5">
            <a:extLst>
              <a:ext uri="{FF2B5EF4-FFF2-40B4-BE49-F238E27FC236}">
                <a16:creationId xmlns:a16="http://schemas.microsoft.com/office/drawing/2014/main" id="{95D7659A-8241-4717-A59C-98BD56EFA10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Strong but narrow support</a:t>
            </a:r>
          </a:p>
        </p:txBody>
      </p:sp>
      <p:sp>
        <p:nvSpPr>
          <p:cNvPr id="7" name="TextBox 6">
            <a:extLst>
              <a:ext uri="{FF2B5EF4-FFF2-40B4-BE49-F238E27FC236}">
                <a16:creationId xmlns:a16="http://schemas.microsoft.com/office/drawing/2014/main" id="{7C08F0BB-8318-4CD3-8D79-EE3C7D032E4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A5EC6D06-54BE-4B44-AF40-E356536BB43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 shared core MT genes are AD-up in both cohorts and overlap BH is 0.00505.</a:t>
            </a:r>
          </a:p>
        </p:txBody>
      </p:sp>
      <p:sp>
        <p:nvSpPr>
          <p:cNvPr id="9" name="TextBox 8">
            <a:extLst>
              <a:ext uri="{FF2B5EF4-FFF2-40B4-BE49-F238E27FC236}">
                <a16:creationId xmlns:a16="http://schemas.microsoft.com/office/drawing/2014/main" id="{B8894569-60E7-4348-833B-F6D568F62DD5}"/>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934DCB9-EEC6-42DF-8BB6-CB122EC9993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matched SEA-AD excitatory KDA call was evaluable.</a:t>
            </a:r>
          </a:p>
        </p:txBody>
      </p:sp>
      <p:sp>
        <p:nvSpPr>
          <p:cNvPr id="11" name="Rounded Rectangle 10">
            <a:extLst>
              <a:ext uri="{FF2B5EF4-FFF2-40B4-BE49-F238E27FC236}">
                <a16:creationId xmlns:a16="http://schemas.microsoft.com/office/drawing/2014/main" id="{B0DF5B9C-C7DC-45B7-A5C2-7FEF846E5B9E}"/>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10BA03C-69DB-4568-AA00-5F1D4430511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Male ε3/ε3 pattern</a:t>
            </a:r>
          </a:p>
        </p:txBody>
      </p:sp>
      <p:sp>
        <p:nvSpPr>
          <p:cNvPr id="13" name="TextBox 12">
            <a:extLst>
              <a:ext uri="{FF2B5EF4-FFF2-40B4-BE49-F238E27FC236}">
                <a16:creationId xmlns:a16="http://schemas.microsoft.com/office/drawing/2014/main" id="{A09F1D21-C3A3-4292-A15D-13A1248BFF71}"/>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Moderate to strong support</a:t>
            </a:r>
          </a:p>
        </p:txBody>
      </p:sp>
      <p:sp>
        <p:nvSpPr>
          <p:cNvPr id="14" name="TextBox 13">
            <a:extLst>
              <a:ext uri="{FF2B5EF4-FFF2-40B4-BE49-F238E27FC236}">
                <a16:creationId xmlns:a16="http://schemas.microsoft.com/office/drawing/2014/main" id="{8DC78D7D-9D57-4BE7-A626-26EB6E06372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87DA702-414E-487B-8AFA-63E3C9FCEC3A}"/>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Nineteen of 22 shared inhibitory-neuron genes have the same fixed direction.</a:t>
            </a:r>
          </a:p>
        </p:txBody>
      </p:sp>
      <p:sp>
        <p:nvSpPr>
          <p:cNvPr id="16" name="TextBox 15">
            <a:extLst>
              <a:ext uri="{FF2B5EF4-FFF2-40B4-BE49-F238E27FC236}">
                <a16:creationId xmlns:a16="http://schemas.microsoft.com/office/drawing/2014/main" id="{19CADD17-C69C-4A27-8ECB-97FAB98E378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0DC85666-4C4F-4A12-97D1-2455F7AA73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ROSMAP direct-broad significance is composition-sensitive.</a:t>
            </a:r>
          </a:p>
        </p:txBody>
      </p:sp>
      <p:sp>
        <p:nvSpPr>
          <p:cNvPr id="18" name="Rounded Rectangle 17">
            <a:extLst>
              <a:ext uri="{FF2B5EF4-FFF2-40B4-BE49-F238E27FC236}">
                <a16:creationId xmlns:a16="http://schemas.microsoft.com/office/drawing/2014/main" id="{289BB1B8-B4BE-4337-B37D-2538C083400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E0349AA-1624-44E2-BBCF-9D60E6FBD3B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Global driver overlap</a:t>
            </a:r>
          </a:p>
        </p:txBody>
      </p:sp>
      <p:sp>
        <p:nvSpPr>
          <p:cNvPr id="20" name="TextBox 19">
            <a:extLst>
              <a:ext uri="{FF2B5EF4-FFF2-40B4-BE49-F238E27FC236}">
                <a16:creationId xmlns:a16="http://schemas.microsoft.com/office/drawing/2014/main" id="{F280AD69-BE1C-48C2-9127-6D7C129632E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Suggestive, not significant</a:t>
            </a:r>
          </a:p>
        </p:txBody>
      </p:sp>
      <p:sp>
        <p:nvSpPr>
          <p:cNvPr id="21" name="TextBox 20">
            <a:extLst>
              <a:ext uri="{FF2B5EF4-FFF2-40B4-BE49-F238E27FC236}">
                <a16:creationId xmlns:a16="http://schemas.microsoft.com/office/drawing/2014/main" id="{FDBA1D66-212F-494B-A15B-C41380E2B0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06E185D-9B8F-4A0C-9AA8-1606ABEE49C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Three cross-context genes exceed the random point expectation.</a:t>
            </a:r>
          </a:p>
        </p:txBody>
      </p:sp>
      <p:sp>
        <p:nvSpPr>
          <p:cNvPr id="23" name="TextBox 22">
            <a:extLst>
              <a:ext uri="{FF2B5EF4-FFF2-40B4-BE49-F238E27FC236}">
                <a16:creationId xmlns:a16="http://schemas.microsoft.com/office/drawing/2014/main" id="{23908DBE-25FA-4BA1-9033-E5896D97CB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DD80D345-B728-4C0C-9083-02E0CB61C8FC}"/>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gene-level overlap P value is 0.0812.</a:t>
            </a:r>
          </a:p>
        </p:txBody>
      </p:sp>
      <p:sp>
        <p:nvSpPr>
          <p:cNvPr id="25" name="Rounded Rectangle 24">
            <a:extLst>
              <a:ext uri="{FF2B5EF4-FFF2-40B4-BE49-F238E27FC236}">
                <a16:creationId xmlns:a16="http://schemas.microsoft.com/office/drawing/2014/main" id="{915B11E8-7013-4878-BD53-9FBFA776CD6A}"/>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F63B0C29-AE66-4812-949A-23FA8E6B0EA5}"/>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and analytical. Evidence strength and novelty are separate judgments.</a:t>
            </a:r>
          </a:p>
        </p:txBody>
      </p:sp>
    </p:spTree>
    <p:extLst>
      <p:ext uri="{BB962C8B-B14F-4D97-AF65-F5344CB8AC3E}">
        <p14:creationId xmlns:p14="http://schemas.microsoft.com/office/powerpoint/2010/main" val="13203181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109</TotalTime>
  <Words>37881</Words>
  <Application>Microsoft Macintosh PowerPoint</Application>
  <DocSecurity>0</DocSecurity>
  <PresentationFormat>Widescreen</PresentationFormat>
  <Paragraphs>3519</Paragraphs>
  <Slides>156</Slides>
  <Notes>156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156</vt:i4>
      </vt:variant>
    </vt:vector>
  </HeadingPairs>
  <TitlesOfParts>
    <vt:vector size="15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Richard Zhuang</cp:lastModifiedBy>
  <cp:revision>19</cp:revision>
  <dcterms:created xsi:type="dcterms:W3CDTF">2026-09-20T15:55:40Z</dcterms:created>
  <dcterms:modified xsi:type="dcterms:W3CDTF">2026-09-22T01:34:23Z</dcterms:modified>
</cp:coreProperties>
</file>