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2" r:id="rId56"/>
    <p:sldId id="313"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27" r:id="rId71"/>
    <p:sldId id="328" r:id="rId72"/>
    <p:sldId id="329" r:id="rId73"/>
    <p:sldId id="330" r:id="rId74"/>
    <p:sldId id="331" r:id="rId75"/>
    <p:sldId id="332" r:id="rId76"/>
    <p:sldId id="333" r:id="rId77"/>
    <p:sldId id="334" r:id="rId78"/>
    <p:sldId id="335" r:id="rId79"/>
    <p:sldId id="336" r:id="rId80"/>
    <p:sldId id="337" r:id="rId81"/>
    <p:sldId id="338" r:id="rId82"/>
    <p:sldId id="339" r:id="rId83"/>
    <p:sldId id="340" r:id="rId84"/>
    <p:sldId id="341" r:id="rId85"/>
    <p:sldId id="342" r:id="rId86"/>
    <p:sldId id="343" r:id="rId87"/>
    <p:sldId id="344" r:id="rId88"/>
    <p:sldId id="345" r:id="rId89"/>
    <p:sldId id="346" r:id="rId90"/>
    <p:sldId id="347" r:id="rId91"/>
    <p:sldId id="348" r:id="rId92"/>
    <p:sldId id="349" r:id="rId93"/>
    <p:sldId id="350" r:id="rId94"/>
    <p:sldId id="351" r:id="rId95"/>
    <p:sldId id="352" r:id="rId96"/>
    <p:sldId id="353" r:id="rId97"/>
    <p:sldId id="354" r:id="rId98"/>
    <p:sldId id="355" r:id="rId99"/>
    <p:sldId id="356" r:id="rId100"/>
    <p:sldId id="357" r:id="rId101"/>
    <p:sldId id="358" r:id="rId102"/>
    <p:sldId id="359" r:id="rId103"/>
    <p:sldId id="360" r:id="rId104"/>
    <p:sldId id="361" r:id="rId105"/>
    <p:sldId id="362" r:id="rId106"/>
    <p:sldId id="363" r:id="rId107"/>
    <p:sldId id="364" r:id="rId108"/>
    <p:sldId id="365" r:id="rId109"/>
    <p:sldId id="366" r:id="rId110"/>
    <p:sldId id="367" r:id="rId111"/>
    <p:sldId id="368" r:id="rId112"/>
    <p:sldId id="369" r:id="rId113"/>
    <p:sldId id="370" r:id="rId114"/>
    <p:sldId id="371" r:id="rId115"/>
    <p:sldId id="372" r:id="rId116"/>
    <p:sldId id="373" r:id="rId117"/>
    <p:sldId id="374" r:id="rId118"/>
    <p:sldId id="375" r:id="rId119"/>
    <p:sldId id="376" r:id="rId120"/>
    <p:sldId id="377" r:id="rId121"/>
    <p:sldId id="378" r:id="rId122"/>
    <p:sldId id="379" r:id="rId123"/>
    <p:sldId id="380" r:id="rId124"/>
    <p:sldId id="381" r:id="rId125"/>
    <p:sldId id="382" r:id="rId126"/>
    <p:sldId id="383" r:id="rId127"/>
    <p:sldId id="384" r:id="rId128"/>
    <p:sldId id="385" r:id="rId129"/>
    <p:sldId id="386" r:id="rId130"/>
    <p:sldId id="387" r:id="rId131"/>
    <p:sldId id="388" r:id="rId132"/>
    <p:sldId id="389" r:id="rId133"/>
    <p:sldId id="390" r:id="rId134"/>
    <p:sldId id="391" r:id="rId135"/>
    <p:sldId id="392" r:id="rId136"/>
    <p:sldId id="393" r:id="rId137"/>
    <p:sldId id="394" r:id="rId138"/>
    <p:sldId id="395" r:id="rId139"/>
    <p:sldId id="396" r:id="rId140"/>
    <p:sldId id="397" r:id="rId141"/>
    <p:sldId id="398" r:id="rId142"/>
    <p:sldId id="399" r:id="rId143"/>
    <p:sldId id="400" r:id="rId144"/>
    <p:sldId id="401" r:id="rId145"/>
    <p:sldId id="402" r:id="rId146"/>
    <p:sldId id="403" r:id="rId147"/>
    <p:sldId id="404" r:id="rId148"/>
    <p:sldId id="405" r:id="rId149"/>
    <p:sldId id="406" r:id="rId150"/>
    <p:sldId id="407" r:id="rId151"/>
    <p:sldId id="408" r:id="rId152"/>
    <p:sldId id="409" r:id="rId153"/>
    <p:sldId id="410" r:id="rId154"/>
    <p:sldId id="411" r:id="rId155"/>
    <p:sldId id="412" r:id="rId156"/>
    <p:sldId id="413" r:id="rId157"/>
    <p:sldId id="414" r:id="rId158"/>
    <p:sldId id="415" r:id="rId159"/>
    <p:sldId id="416" r:id="rId160"/>
    <p:sldId id="417" r:id="rId1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42"/>
    <p:restoredTop sz="94653"/>
  </p:normalViewPr>
  <p:slideViewPr>
    <p:cSldViewPr snapToGrid="0" snapToObjects="1">
      <p:cViewPr varScale="1">
        <p:scale>
          <a:sx n="144" d="100"/>
          <a:sy n="144" d="100"/>
        </p:scale>
        <p:origin x="23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heme" Target="theme/theme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13 OXPHOS genes encoded by mitochondrial DNA</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86 structural OXPHOS genes encoded by nuclear DNA</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moves from DEG and pathway framing to KDA, sensitivity analyses, and 17 biological findings.</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the DEG analysis and define the comparison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by defining a contrast, the unit used for each AD-versus-comparison DEG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proceeds to call_key_drivers only when its mapped mitochondrial query contains at least three genes. One completed call can return a list of significant key-driver genes, with each gene appearing at most once in that call.</a:t>
            </a:r>
          </a:p>
          <a:p>
            <a:endParaRPr/>
          </a:p>
          <a:p>
            <a:r>
              <a:t>Scientific boundary: A planned contrast is a comparison opportunity, not a completed KDA test or an independent biological replication. A skipped contrast is unavailable rather than a completed null result.</a:t>
            </a:r>
          </a:p>
          <a:p>
            <a:endParaRPr/>
          </a:p>
          <a:p>
            <a:r>
              <a:t>Transition: With the contrast defined, summarize all significant DEG results across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significant gene-by-fine-cell comparison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significant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mitochondrial and nuclear OXPHOS,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Introduce the three-level MitoCarta hierarchy used to define the pathway sets.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mitochondrial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Next, explain how each fine-cell DEG list was tested against these pathway definitions.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two-stage pathway analysis and define a significant result.</a:t>
            </a:r>
          </a:p>
          <a:p>
            <a:endParaRPr/>
          </a:p>
          <a:p>
            <a:r>
              <a:t>Walk through: Each estimable fine-cell sex/APOE contrast was analyzed separately. For each contrast, the analysis created three mitochondrial DEG lists: all significant DEGs, genes up-regulated in AD, and genes down-regulated in AD. It then tested each pathway to ask whether the DEG list contained more pathway genes than expected among genes detectable in the same contrast. A significant result means that the greater-than-expected overlap remained significant after Benjamini-Hochberg correction across the pathways in the same collection for that DEG list, with a false-discovery rate below 5 percent. Twelve of the 46 Level 1 and Level 2 pathways and 18 of the 149 complete pathways had at least one significant result. Most significant results involved overlapping OXPHOS pathways. Non-OXPHOS signals were fewer and more localized.</a:t>
            </a:r>
          </a:p>
          <a:p>
            <a:endParaRPr/>
          </a:p>
          <a:p>
            <a:r>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endParaRPr/>
          </a:p>
          <a:p>
            <a:r>
              <a:t>Transition: Focus next on four mitochondrial pathways used repeatedly in the later findings.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mitochondrial pathways highlighted in the focused results.</a:t>
            </a:r>
          </a:p>
          <a:p>
            <a:endParaRPr/>
          </a:p>
          <a:p>
            <a:r>
              <a:t>Walk through: The focused analysis highlights four fixed pathway definitions, using the same gene membership in every contrast. The first contains the 13 OXPHOS subunits encoded by mitochondrial DNA. The second contains 86 structural OXPHOS subunits encoded by nuclear DNA. The third contains 155 genes involved in translating proteins inside mitochondria. The fourth contains 19 MIB/MICOS genes that organize the inner mitochondrial membrane and its folds, called cristae.</a:t>
            </a:r>
          </a:p>
          <a:p>
            <a:endParaRPr/>
          </a:p>
          <a:p>
            <a:r>
              <a:t>Scientific boundary: These are focused benchmark pathways, not the full pathway search. Phase 11 also tested 46 Level 1 and Level 2 MitoCarta pathway categories and all 149 MitoCarta pathways. Listing a pathway, or observing some of its genes among the DEGs, does not establish enrichment or altered function.</a:t>
            </a:r>
          </a:p>
          <a:p>
            <a:endParaRPr/>
          </a:p>
          <a:p>
            <a:r>
              <a:t>Transition: Next, explain how fine-cell DEG results are pooled into each overlap value.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and its worked example.</a:t>
            </a:r>
          </a:p>
          <a:p>
            <a:endParaRPr/>
          </a:p>
          <a:p>
            <a:r>
              <a:t>Walk through: This percentage summarizes one pathway within one sex/APOE group. The numerator is the number of unique pathway genes that were significant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Now inspect the calculated pathway-gene coverage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breadth of pathway-gene overlap with the fine-cell DEG results.</a:t>
            </a:r>
          </a:p>
          <a:p>
            <a:endParaRPr/>
          </a:p>
          <a:p>
            <a:r>
              <a:t>Walk through: For each sex/APOE group, a pathway gene is counted once if it was a significant DEG in at least one fine-cell comparison. The denominator is the full frozen pathway size shown on the previous slide. Twelve of the 13 mitochondrial-DNA OXPHOS genes appeared in every group. Male epsilon-2 had the broadest overlap in the other three pathways: 67 of 86 nuclear structural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occurrence and show how the upregulated OXPHOS occurrence percentage is calculated.</a:t>
            </a:r>
          </a:p>
          <a:p>
            <a:endParaRPr/>
          </a:p>
          <a:p>
            <a:r>
              <a:t>Walk through: Begin with the counting unit highlighted on the slide. One occurrence means that one pathway gene is a significant DEG in one fine-cell comparison. If the same gene is significant in another fine cell type, it contributes another occurrence. The calculation is performed separately for each sex/APOE group and each OXPHOS gene set. Divide the upregulated occurrences by all upregulated plus downregulated occurrences, then multiply by 100. In the male epsilon-3 homozygous mtDNA-encoded OXPHOS example, 70 occurrences were upregulated and 11 were downregulated. Seventy divided by 81 equals 86 percent upregulated. A value of 50 percent means the two directions occur equally often. Values above 50 percent favor upregulation, while values below 50 percent favor downregulation.</a:t>
            </a:r>
          </a:p>
          <a:p>
            <a:endParaRPr/>
          </a:p>
          <a:p>
            <a:r>
              <a:t>Scientific boundary: This occurrence-based summary gives more weight to genes that recur across fine-cell comparisons. It is not a fold change, the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OXPHOS genes encoded by mitochondrial DNA, and orange bars summarize 86 structural OXPHOS genes encoded by nuclear DNA.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mitochondrial-DNA set and 85 percent for the nuclear-DNA set. In male epsilon-3 homozygous, the two sets diverge: 86 percent of mitochondrial-DNA occurrences are upregulated, but only 12 percent of nuclear-DNA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3,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3 follows mitochondrial DEGs from one fine-cell contrast into one network query, identifies significant returned key drivers, and then aggregates repeated fine-cell evidence within sex/APOE by broad-cell categories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Before walking through KDA, define the category used to summarize fine-cell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calls in one category, the returned within-call adjusted P values are combined by equal-weight ACAT into one gene-by-category score.</a:t>
            </a:r>
          </a:p>
          <a:p>
            <a:endParaRPr/>
          </a:p>
          <a:p>
            <a:r>
              <a:t>Scientific boundary: Forty-two is the structural design space, not 42 observed negative or positive results. A category may lack an eligible call or a returned non-mitochondrial driver. The ACAT is returned-only: a call in which the gene was not returned does not contribute P equals one.</a:t>
            </a:r>
          </a:p>
          <a:p>
            <a:endParaRPr/>
          </a:p>
          <a:p>
            <a:r>
              <a:t>Transition: With categories defined, follow one contrast from DEG analysis to its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mitochondrial query, KDA call, and category result.</a:t>
            </a:r>
          </a:p>
          <a:p>
            <a:endParaRPr/>
          </a:p>
          <a:p>
            <a:r>
              <a:t>Walk through: A contrast is one signed DEG result and contributes one core-MT DEG query. A mapped query of at least three genes becomes one KDA call. A category is one sex/APOE group crossed with one broad network; returned non-MT drivers from eligible fine-cell runs are aggregated within it.</a:t>
            </a:r>
          </a:p>
          <a:p>
            <a:endParaRPr/>
          </a:p>
          <a:p>
            <a:r>
              <a:t>Scientific boundary: A candidate driver can be a non-DEG, non-mitochondrial network gene.</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non-mitochondrial gene-by-category combinations, representing 228 distinct genes across 29 populated categories. Each contrast contributes its mitochondrial DEG query, and returned fine-cell evidence is then aggregated within the matching sex/APOE-by-broad-cell category.</a:t>
            </a:r>
          </a:p>
          <a:p>
            <a:endParaRPr/>
          </a:p>
          <a:p>
            <a:r>
              <a:t>Scientific boundary: Planned contrasts, executable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calls meeting the mapped-query floor were completed: 164 returned significant drivers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mitochondrial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mitochondrial query.</a:t>
            </a:r>
          </a:p>
          <a:p>
            <a:endParaRPr/>
          </a:p>
          <a:p>
            <a:r>
              <a:t>Walk through: The DEG filters identify 4,258 positive and 5,004 negative core-MT memberships. Together these are 9,262 provisional memberships across contrasts; 7,933 remain after network-background mapping. Each contrast contributes one query and at most one KDA call.</a:t>
            </a:r>
          </a:p>
          <a:p>
            <a:endParaRPr/>
          </a:p>
          <a:p>
            <a:r>
              <a:t>Scientific boundary: These are repeated memberships across contrasts, not unique genes and not driver counts.</a:t>
            </a:r>
          </a:p>
          <a:p>
            <a:endParaRPr/>
          </a:p>
          <a:p>
            <a:r>
              <a:t>Transition: Summarize the returned non-mitochondrial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non-MT returned rows form 381 gene-by-category units representing 228 genes across 29 categories. The lower panels show their group, network, and recurrence distributions.</a:t>
            </a:r>
          </a:p>
          <a:p>
            <a:endParaRPr/>
          </a:p>
          <a:p>
            <a:r>
              <a:t>Scientific boundary: Counts condition on significant within-call returns and unequal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category recurrence.</a:t>
            </a:r>
          </a:p>
          <a:p>
            <a:endParaRPr/>
          </a:p>
          <a:p>
            <a:r>
              <a:t>Walk through: RPS15 occurs in 11 categories from 22 returned calls. RPL11 occurs in 10 categories from 24 calls. Bar length and the end label show the category count.</a:t>
            </a:r>
          </a:p>
          <a:p>
            <a:endParaRPr/>
          </a:p>
          <a:p>
            <a:r>
              <a:t>Scientific boundary: Category presence is descriptive and not independent replication.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non-MT drivers in each of 29 populated categories, for 123 displayed entries. For rows containing more than five drivers, n reports the total number of distinct non-MT driver genes in that category. For a gene returned by one KDA call, the ranking score is that call's within-call BH-adjusted KDA P value. For a gene returned by at least two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returned drivers.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non-mitochondrial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non-mitochondrial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non-mitochondrial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non-mitochondrial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calls return 44 non-mitochondrial gene-by-category combinations, representing 43 distinct genes across five populated categories. The analysis uses SEA-AD-specific networks rather than reusing ROSMAP networks.</a:t>
            </a:r>
          </a:p>
          <a:p>
            <a:endParaRPr/>
          </a:p>
          <a:p>
            <a:r>
              <a:t>Scientific boundary: Coverage is sparse and unbalanced: 20 of the 22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non-mitochondrial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non-MT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non-MT driver count when a category contains more than five genes. Within each category, one returned call passes through its within-call adjusted KDA P value, while at least two returned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SEA-AD excitatory-neuron key drivers recur across the six sex/APOE categories.</a:t>
            </a:r>
          </a:p>
          <a:p>
            <a:endParaRPr/>
          </a:p>
          <a:p>
            <a:r>
              <a:t>Walk through: Rows are the three female groups followed by the three male groups. Columns contain all 27 distinct non-mitochondrial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sensitivity analyses.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section reserved for all harmonized broad-cell KDA sensitivity analyses.</a:t>
            </a:r>
          </a:p>
          <a:p>
            <a:endParaRPr/>
          </a:p>
          <a:p>
            <a:r>
              <a:t>Walk through: Sensitivity checks may address donor support, nuclei-per-profile coverage, DEG query definition, and KDA filtering. The first check raises the disease-arm donor gate from three to five in both cohorts.</a:t>
            </a:r>
          </a:p>
          <a:p>
            <a:endParaRPr/>
          </a:p>
          <a:p>
            <a:r>
              <a:t>Scientific boundary: Each test must change one frozen decision at a time and retain its own interpretation boundary. The current test concerns donors per disease arm, not nuclei.</a:t>
            </a:r>
          </a:p>
          <a:p>
            <a:endParaRPr/>
          </a:p>
          <a:p>
            <a:r>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Define an arm and show the numerical impact of raising the minimum donor requirement from three to five in both cohorts.</a:t>
            </a:r>
          </a:p>
          <a:p xmlns:a="http://schemas.openxmlformats.org/drawingml/2006/main">
            <a:r>
              <a:t/>
            </a:r>
            <a:endParaRPr/>
          </a:p>
          <a:p xmlns:a="http://schemas.openxmlformats.org/drawingml/2006/main">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runs. Its returned driver rows fall from 39 to 13, and its unique non-mitochondrial drivers fall from 33 to 13. SEA-AD falls from 28 to 20 eligible contrasts, but its five KDA runs, 24 returned rows, and 18 unique non-mitochondrial drivers remain unchanged.</a:t>
            </a:r>
          </a:p>
          <a:p xmlns:a="http://schemas.openxmlformats.org/drawingml/2006/main">
            <a:r>
              <a:t/>
            </a:r>
            <a:endParaRPr/>
          </a:p>
          <a:p xmlns:a="http://schemas.openxmlformats.org/drawingml/2006/main">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xmlns:a="http://schemas.openxmlformats.org/drawingml/2006/main">
            <a:r>
              <a:t/>
            </a:r>
            <a:endParaRPr/>
          </a:p>
          <a:p xmlns:a="http://schemas.openxmlformats.org/drawingml/2006/main">
            <a:r>
              <a:t>Transition: Interpret why the two cohorts respond differently to the donor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call that generated 26 driver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Define the query-size threshold and show how increasing it changes KDA availability and returned drivers.</a:t>
            </a:r>
          </a:p>
          <a:p xmlns:a="http://schemas.openxmlformats.org/drawingml/2006/main">
            <a:r>
              <a:t/>
            </a:r>
            <a:endParaRPr/>
          </a:p>
          <a:p xmlns:a="http://schemas.openxmlformats.org/drawingml/2006/main">
            <a:r>
              <a:t>Walk through: The threshold is the minimum number of effective mitochondrial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KDA-run count. In ROSMAP, increasing the threshold from three to ten genes reduces the analysis from three runs and 39 significant rows to one run and 26 rows. Thresholds of 20 and 30 make no further change. SEA-AD remains unchanged at five genes, falls to three runs and eight rows at ten or twenty genes, and retains two runs and seven rows at thirty genes.</a:t>
            </a:r>
          </a:p>
          <a:p xmlns:a="http://schemas.openxmlformats.org/drawingml/2006/main">
            <a:r>
              <a:t/>
            </a:r>
            <a:endParaRPr/>
          </a:p>
          <a:p xmlns:a="http://schemas.openxmlformats.org/drawingml/2006/main">
            <a:r>
              <a:t>Scientific boundary: This sensitivity analysis filters existing calls by mapped query size. It does not refit DEG models or rerun KDA for retained calls. Significant rows are raw KDA returns, while the final column excludes MT-* genes and deduplicates drivers within each cohort. Source: validated Phase 22 and VH14 run manifests and significant-return tables dated 2026-09-11.</a:t>
            </a:r>
          </a:p>
          <a:p xmlns:a="http://schemas.openxmlformats.org/drawingml/2006/main">
            <a:r>
              <a:t/>
            </a:r>
            <a:endParaRPr/>
          </a:p>
          <a:p xmlns:a="http://schemas.openxmlformats.org/drawingml/2006/main">
            <a:r>
              <a:t>Transition: Identify the calls responsible for the query-size step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Identify the seven KDA calls that create the query-threshold pattern.</a:t>
            </a:r>
          </a:p>
          <a:p xmlns:a="http://schemas.openxmlformats.org/drawingml/2006/main">
            <a:r>
              <a:t/>
            </a:r>
            <a:endParaRPr/>
          </a:p>
          <a:p xmlns:a="http://schemas.openxmlformats.org/drawingml/2006/main">
            <a:r>
              <a:t>Walk through: Read the ROSMAP panel first. Its three executed queries contain 3, 8, and 78 mapped genes. A minimum of five removes the OPC female epsilon-4 call. A minimum of ten also removes the astrocyte female epsilon-4 call, leaving only the 78-gene vasculature male epsilon-2 call. That remaining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calls, reducing the output from 24 to 8 rows and from 18 to 3 unique non-MT drivers. A minimum of thirty also removes the 21-gene oligodendrocyte call, but its only returned gene is MT-*, so the non-MT driver count remains three.</a:t>
            </a:r>
          </a:p>
          <a:p xmlns:a="http://schemas.openxmlformats.org/drawingml/2006/main">
            <a:r>
              <a:t/>
            </a:r>
            <a:endParaRPr/>
          </a:p>
          <a:p xmlns:a="http://schemas.openxmlformats.org/drawingml/2006/main">
            <a:r>
              <a:t>Scientific boundary: Query size means the number of effective mitochondrial genes after network mapping, not the number of donors, cells, or genes in a pathway. This test filters existing calls and does not rerun KDA. Returned MT-* genes explain changes in raw row counts but are not eligible non-mitochondrial key drivers. Source: validated Phase 22 and VH14 run manifests and significant-return tables dated 2026-09-11.</a:t>
            </a:r>
          </a:p>
          <a:p xmlns:a="http://schemas.openxmlformats.org/drawingml/2006/main">
            <a:r>
              <a:t/>
            </a:r>
            <a:endParaRPr/>
          </a:p>
          <a:p xmlns:a="http://schemas.openxmlformats.org/drawingml/2006/main">
            <a:r>
              <a:t>Transition: Finish with the implications for matched-stratum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Non-mitochondrial driver overlap is zero at every threshold. The shared Astrocytes F_e4 stratum remains available at thresholds three and five but disappears from both cohorts at ten. Threshold five is the only stricter floor that preserves all SEA-AD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Part 5, the biological findings and discussion.</a:t>
            </a:r>
          </a:p>
          <a:p xmlns:a="http://schemas.openxmlformats.org/drawingml/2006/main">
            <a:r>
              <a:t/>
            </a:r>
            <a:endParaRPr/>
          </a:p>
          <a:p xmlns:a="http://schemas.openxmlformats.org/drawingml/2006/main">
            <a:r>
              <a:t>Walk through: Part 5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xmlns:a="http://schemas.openxmlformats.org/drawingml/2006/main">
            <a:r>
              <a:t/>
            </a:r>
            <a:endParaRPr/>
          </a:p>
          <a:p xmlns:a="http://schemas.openxmlformats.org/drawingml/2006/main">
            <a:r>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xmlns:a="http://schemas.openxmlformats.org/drawingml/2006/main">
            <a:r>
              <a:t/>
            </a:r>
            <a:endParaRPr/>
          </a:p>
          <a:p xmlns:a="http://schemas.openxmlformats.org/drawingml/2006/main">
            <a:r>
              <a:t>Transition: Begin with Finding 1, the female epsilon-3 homozygous mtDNA-OXPHOS increase.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first biological finding.</a:t>
            </a:r>
          </a:p>
          <a:p>
            <a:endParaRPr/>
          </a:p>
          <a:p>
            <a:r>
              <a:t>Walk through: Female APOE epsilon-3 homozygous cells repeatedly show higher mitochondrial-DNA-encoded oxidative-phosphorylation RNA in Alzheimer’s disease. The matched excitatory-neuron program also appears in SEA-AD.</a:t>
            </a:r>
          </a:p>
          <a:p>
            <a:endParaRPr/>
          </a:p>
          <a:p>
            <a:r>
              <a:t>Scientific boundary: This section describes a mitochondrial DEG program. It does not identify a causal key driver, prove better energy production, or establish a sex-by-APOE interaction.</a:t>
            </a:r>
          </a:p>
          <a:p>
            <a:endParaRPr/>
          </a:p>
          <a:p>
            <a:r>
              <a:t>Transition: State the first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finding without statistical jargon.</a:t>
            </a:r>
          </a:p>
          <a:p>
            <a:endParaRPr/>
          </a:p>
          <a:p>
            <a:r>
              <a:t>Walk through: In Alzheimer’s disease, female APOE epsilon-3 homozygous cells repeatedly contain more RNA from mitochondrial OXPHOS genes. Excitatory neurons provide the cleanest comparison across ROSMAP and SEA-AD.</a:t>
            </a:r>
          </a:p>
          <a:p>
            <a:endParaRPr/>
          </a:p>
          <a:p>
            <a:r>
              <a:t>Scientific boundary: More RNA is not the same as more protein, more ATP, or healthier mitochondria. The increase could be compensatory or stress related.</a:t>
            </a:r>
          </a:p>
          <a:p>
            <a:endParaRPr/>
          </a:p>
          <a:p>
            <a:r>
              <a:t>Transition: Show the ROSMAP numbers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at both stratum and excitatory-neuron levels.</a:t>
            </a:r>
          </a:p>
          <a:p>
            <a:endParaRPr/>
          </a:p>
          <a:p>
            <a:r>
              <a:t>Walk through: Before key-driver testing, each eligible mitochondrial-DEG input query was tested for over-representation of the 13 mtDNA-OXPHOS genes against its exact mitochondrial background, with BH correction across four prespecified programs. Across all eligible female epsilon-3 homozygous calls, all 217 mtDNA-OXPHOS occurrences are AD-up, and 29 input queries are enriched. In excitatory neurons, 14 eligible calls contain 123 occurrences, all up, and 12 of 14 input queries are enriched.</a:t>
            </a:r>
          </a:p>
          <a:p>
            <a:endParaRPr/>
          </a:p>
          <a:p>
            <a:r>
              <a:t>Scientific boundary: Enrichment describes the composition of a KDA input query; it is not the significance or number of key drivers returned by call_key_drivers. Occurrences repeat genes across calls and are not unique genes, donors, or independent replications.</a:t>
            </a:r>
          </a:p>
          <a:p>
            <a:endParaRPr/>
          </a:p>
          <a:p>
            <a:r>
              <a:t>Transition: Ask whether the same excitatory-neuron program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program evidence.</a:t>
            </a:r>
          </a:p>
          <a:p>
            <a:endParaRPr/>
          </a:p>
          <a:p>
            <a:r>
              <a:t>Walk through: The only evaluable female epsilon-3 homozygous excitatory-neuron call has ten effective query genes. Nine are the same mtDNA-OXPHOS genes found in ROSMAP, and all nine are dementia-up. The overlap is larger than expected under the category-specific background model and remains significant after multiple-testing correction.</a:t>
            </a:r>
          </a:p>
          <a:p>
            <a:endParaRPr/>
          </a:p>
          <a:p>
            <a:r>
              <a:t>Scientific boundary: This is one SEA-AD call, not broad replication across excitatory subtypes. It validates the direction of the program, not an exact key driver. Exact driver matching is not required in the analysis framework.</a:t>
            </a:r>
          </a:p>
          <a:p>
            <a:endParaRPr/>
          </a:p>
          <a:p>
            <a:r>
              <a:t>Transition: Explain why a repeated mitochondrial program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importance without claiming improved function.</a:t>
            </a:r>
          </a:p>
          <a:p>
            <a:endParaRPr/>
          </a:p>
          <a:p>
            <a:r>
              <a:t>Walk through: Excitatory neurons have high energy requirements, and mtDNA supplies essential respiratory-complex subunits. A repeated upward transcriptional response may reflect an attempt to compensate for inefficient mitochondria or a mitochondrial stress response.</a:t>
            </a:r>
          </a:p>
          <a:p>
            <a:endParaRPr/>
          </a:p>
          <a:p>
            <a:r>
              <a:t>Scientific boundary: RNA direction alone cannot distinguish compensation, injury, altered RNA processing, or surviving-cell composition.</a:t>
            </a:r>
          </a:p>
          <a:p>
            <a:endParaRPr/>
          </a:p>
          <a:p>
            <a:r>
              <a:t>Transition: Separate the observation from what still needs to be tested.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a:t>
            </a:r>
          </a:p>
          <a:p>
            <a:endParaRPr/>
          </a:p>
          <a:p>
            <a:r>
              <a:t>Walk through: The current result measures RNA. Donor-aware interaction models are needed to test sex and APOE specificity. Protein assembly and respiratory assays are needed to determine whether the transcriptional increase improves or impairs mitochondrial function.</a:t>
            </a:r>
          </a:p>
          <a:p>
            <a:endParaRPr/>
          </a:p>
          <a:p>
            <a:r>
              <a:t>Scientific boundary: SEA-AD support is valuable but optional. It cannot substitute for donor-aware statistics or functional experiments.</a:t>
            </a:r>
          </a:p>
          <a:p>
            <a:endParaRPr/>
          </a:p>
          <a:p>
            <a:r>
              <a:t>Transition: Place the first finding in prior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literature while preserving novelty boundaries.</a:t>
            </a:r>
          </a:p>
          <a:p>
            <a:endParaRPr/>
          </a:p>
          <a:p>
            <a:r>
              <a:t>Walk through: Guo and colleagues support sex-aware Alzheimer’s key-driver analysis. Mathys and colleagues show cell-resolved, multiregion disease responses but use ROSMAP, so that paper is supporting discovery-resource context. Lee and colleagues show an APOE–mitochondria link in human APOE4 astrocytes, a different genotype and cell type.</a:t>
            </a:r>
          </a:p>
          <a:p>
            <a:endParaRPr/>
          </a:p>
          <a:p>
            <a:r>
              <a:t>Scientific boundary: None of these studies independently establishes the exact female epsilon-3 homozygous excitatory-neuron mtDNA-up pattern.</a:t>
            </a:r>
          </a:p>
          <a:p>
            <a:endParaRPr/>
          </a:p>
          <a:p>
            <a:r>
              <a:t>Transition: Proceed to Finding 2, the male ε3/ε3 mitonuclear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RNA directions across the two genomes that encode oxidative-phosphorylation machinery. The matched inhibitory-neuron program also appears in SEA-AD.</a:t>
            </a:r>
          </a:p>
          <a:p>
            <a:endParaRPr/>
          </a:p>
          <a:p>
            <a:r>
              <a:t>Scientific boundary: This is a transcript-level mitochondrial program. It does not identify a causal upstream driver, prove protein imbalance, or establish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mitonuclear mismatch without statistical jargon.</a:t>
            </a:r>
          </a:p>
          <a:p>
            <a:endParaRPr/>
          </a:p>
          <a:p>
            <a:r>
              <a:t>Walk through: In male APOE epsilon-3 homozygous cells, mitochondrial-DNA OXPHOS RNA usually rises in Alzheimer’s disease while nuclear-encoded OXPHOS RNA usually falls. Inhibitory neurons provide the clearest cross-cohort support.</a:t>
            </a:r>
          </a:p>
          <a:p>
            <a:endParaRPr/>
          </a:p>
          <a:p>
            <a:r>
              <a:t>Scientific boundary: Opposite RNA directions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both genomes.</a:t>
            </a:r>
          </a:p>
          <a:p>
            <a:endParaRPr/>
          </a:p>
          <a:p>
            <a:r>
              <a:t>Walk through: Across 31 eligible male epsilon-3 homozygous calls, mtDNA OXPHOS contributes 81 occurrences: 70 up and 11 down. Nuclear OXPHOS contributes 68 occurrences: 8 up and 60 down. Twelve mtDNA input queries and one nuclear input query are enriched.</a:t>
            </a:r>
          </a:p>
          <a:p>
            <a:endParaRPr/>
          </a:p>
          <a:p>
            <a:r>
              <a:t>Scientific boundary: Occurrences repeat genes across calls and are not independent donors or replications. Enrichment describes the input query rather than returned key drivers.</a:t>
            </a:r>
          </a:p>
          <a:p>
            <a:endParaRPr/>
          </a:p>
          <a:p>
            <a:r>
              <a:t>Transition: Ask whether the matched inhibitory-neuron program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matched SEA-AD inhibitory-neuron evidence.</a:t>
            </a:r>
          </a:p>
          <a:p>
            <a:endParaRPr/>
          </a:p>
          <a:p>
            <a:r>
              <a:t>Walk through: Across 8 evaluable SEA-AD calls, the cohorts share 22 mitochondrial-query genes. Nineteen have the same fixed AD direction and three differ. The overlap is larger than expected and remains significant after multiple-testing correction.</a:t>
            </a:r>
          </a:p>
          <a:p>
            <a:endParaRPr/>
          </a:p>
          <a:p>
            <a:r>
              <a:t>Scientific boundary: The result supports a DEG program, not the exact ROSMAP key-driver genes. It remains a narrow comparison concentrated in male epsilon-3 homozygous inhibitory neurons.</a:t>
            </a:r>
          </a:p>
          <a:p>
            <a:endParaRPr/>
          </a:p>
          <a:p>
            <a:r>
              <a:t>Transition: Show which genes carry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underlying the cross-cohort directional agreement.</a:t>
            </a:r>
          </a:p>
          <a:p>
            <a:endParaRPr/>
          </a:p>
          <a:p>
            <a:r>
              <a:t>Walk through: Nine mtDNA OXPHOS genes rise in both cohorts. Eight highlighted nuclear or mitochondrial-support genes fall in both cohorts: UQCRFS1, SLC25A5, TIMM13, TIMM17A, MRPL16, MRPS34, ENDOG, and MTCH1. DBP and PRELID2 complete the nineteen concordant genes.</a:t>
            </a:r>
          </a:p>
          <a:p>
            <a:endParaRPr/>
          </a:p>
          <a:p>
            <a:r>
              <a:t>Scientific boundary: HIBCH, ISCU, and TMEM126B point in opposite directions across cohorts. Gene agreement still does not demonstrate protein-complex imbalance.</a:t>
            </a:r>
          </a:p>
          <a:p>
            <a:endParaRPr/>
          </a:p>
          <a:p>
            <a:r>
              <a:t>Transition: Explain why opposite directions across two genomes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importance without claiming impaired function.</a:t>
            </a:r>
          </a:p>
          <a:p>
            <a:endParaRPr/>
          </a:p>
          <a:p>
            <a:r>
              <a:t>Walk through: Respiratory complexes require matching parts encoded by two genomes. The cross-cohort decrease in import, mitochondrial-ribosome, transport, and maintenance genes makes the pattern broader than a single OXPHOS gene change.</a:t>
            </a:r>
          </a:p>
          <a:p>
            <a:endParaRPr/>
          </a:p>
          <a:p>
            <a:r>
              <a:t>Scientific boundary: RNA abundance cannot distinguish compensation, failed assembly, cell-state changes, or altered survival of cell populations.</a:t>
            </a:r>
          </a:p>
          <a:p>
            <a:endParaRPr/>
          </a:p>
          <a:p>
            <a:r>
              <a:t>Transition: Separate the observation from what still needs to be tested.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a:t>
            </a:r>
          </a:p>
          <a:p>
            <a:endParaRPr/>
          </a:p>
          <a:p>
            <a:r>
              <a:t>Walk through: Donor-aware interaction models are needed to test whether the mismatch differs by sex or APOE group. Paired protein, complex-assembly, respiration, ATP, and oxidative-stress assays are needed to determine functional consequences.</a:t>
            </a:r>
          </a:p>
          <a:p>
            <a:endParaRPr/>
          </a:p>
          <a:p>
            <a:r>
              <a:t>Scientific boundary: SEA-AD supplies program-level support but not exact driver replication or causal evidence.</a:t>
            </a:r>
          </a:p>
          <a:p>
            <a:endParaRPr/>
          </a:p>
          <a:p>
            <a:r>
              <a:t>Transition: Place the second finding in prior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novelty boundaries.</a:t>
            </a:r>
          </a:p>
          <a:p>
            <a:endParaRPr/>
          </a:p>
          <a:p>
            <a:r>
              <a:t>Walk through: Established mitonuclear biology explains why opposite directions across the two genomes could matter. Guo and colleagues support sex-aware Alzheimer’s network analysis. Mathys and colleagues support cell-resolved disease heterogeneity but use ROSMAP.</a:t>
            </a:r>
          </a:p>
          <a:p>
            <a:endParaRPr/>
          </a:p>
          <a:p>
            <a:r>
              <a:t>Scientific boundary: None of these sources independently establishes the exact male epsilon-3 homozygous inhibitory-neuron pattern. No sex-stratified human-genetic claim is used here.</a:t>
            </a:r>
          </a:p>
          <a:p>
            <a:endParaRPr/>
          </a:p>
          <a:p>
            <a:r>
              <a:t>Transition: Proceed to Finding 3, the coordinated female ε2 OXPHOS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a:t>
            </a:r>
          </a:p>
          <a:p>
            <a:endParaRPr/>
          </a:p>
          <a:p>
            <a:r>
              <a:t>Walk through: Both mitochondrial and nuclear OXPHOS RNA mostly increased in female ε2 cells. Source: docs/analysis/kda_w_human_validation/rosmap_sex_apoe_broad_kda_analysis.md, Finding 3.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3 without assuming specialist knowledge.</a:t>
            </a:r>
          </a:p>
          <a:p>
            <a:endParaRPr/>
          </a:p>
          <a:p>
            <a:r>
              <a:t>Walk through: The two genomes move in the same direction at the RNA level, especially in fine excitatory-neuron results. This is a coordinated transcriptional response, not evidence that mitochondria produce more energy. Source: docs/analysis/kda_w_human_validation/rosmap_sex_apoe_broad_kda_analysis.md, Finding 3.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3.</a:t>
            </a:r>
          </a:p>
          <a:p>
            <a:endParaRPr/>
          </a:p>
          <a:p>
            <a:r>
              <a:t>Walk through: The three summary metrics and three evidence rows preserve the units used in the analysis. Occurrences repeat a gene when it appears in another eligible fine-cell query. Source: docs/analysis/kda_w_human_validation/rosmap_sex_apoe_broad_kda_analysis.md, Finding 3. Literature: https://doi.org/10.1016/j.neuron.2019.03.075; https://doi.org/10.1016/j.celrep.2023.113183; https://doi.org/10.1186/s13024-023-00624-5</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3 in its internal and supplemental evidence context.</a:t>
            </a:r>
          </a:p>
          <a:p>
            <a:endParaRPr/>
          </a:p>
          <a:p>
            <a:r>
              <a:t>Walk through: The project treats fine-cell results as primary and direct broad-cell results as sensitivity evidence. The coordinated two-genome claim rests mainly on fine-cell ROSMAP evidence. Source: docs/analysis/kda_w_human_validation/rosmap_sex_apoe_broad_kda_analysis.md, Finding 3. Literature: https://doi.org/10.1016/j.neuron.2019.03.075; https://doi.org/10.1016/j.celrep.2023.113183; https://doi.org/10.1186/s13024-023-00624-5</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3 may matter without overstating function.</a:t>
            </a:r>
          </a:p>
          <a:p>
            <a:endParaRPr/>
          </a:p>
          <a:p>
            <a:r>
              <a:t>Walk through: APOE ε2 lowers population risk, but a molecular pattern in diseased tissue can still reflect compensation or stress. The result motivates a protective-response hypothesis but does not demonstrate a protective mechanism. Source: docs/analysis/kda_w_human_validation/rosmap_sex_apoe_broad_kda_analysis.md, Finding 3.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3.</a:t>
            </a:r>
          </a:p>
          <a:p>
            <a:endParaRPr/>
          </a:p>
          <a:p>
            <a:r>
              <a:t>Walk through: The left side lists claims that the current data cannot support. The right side lists experiments or analyses that directly address those gaps. Source: docs/analysis/kda_w_human_validation/rosmap_sex_apoe_broad_kda_analysis.md, Finding 3. Literature: https://doi.org/10.1016/j.neuron.2019.03.075; https://doi.org/10.1016/j.celrep.2023.113183; https://doi.org/10.1186/s13024-023-00624-5</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3.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a:t>
            </a:r>
          </a:p>
          <a:p>
            <a:endParaRPr/>
          </a:p>
          <a:p>
            <a:r>
              <a:t>Walk through: The strongest signal is a fine-cell decrease in nuclear-encoded OXPHOS RNA. Source: docs/analysis/kda_w_human_validation/rosmap_sex_apoe_broad_kda_analysis.md, Finding 4. Literature: https://doi.org/10.1038/s41419-020-02776-4; https://doi.org/10.1016/j.celrep.2023.113183;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4 without assuming specialist knowledge.</a:t>
            </a:r>
          </a:p>
          <a:p>
            <a:endParaRPr/>
          </a:p>
          <a:p>
            <a:r>
              <a:t>Walk through: The nuclear side is strongly downward, while mitochondrial-DNA OXPHOS genes show mixed directions. The finding is specific to fine-cell and KDA-aligned evidence because direct broad-cell results disagree. Source: docs/analysis/kda_w_human_validation/rosmap_sex_apoe_broad_kda_analysis.md, Finding 4. Literature: https://doi.org/10.1038/s41419-020-02776-4; https://doi.org/10.1016/j.celrep.2023.113183;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4.</a:t>
            </a:r>
          </a:p>
          <a:p>
            <a:endParaRPr/>
          </a:p>
          <a:p>
            <a:r>
              <a:t>Walk through: The three summary metrics and three evidence rows preserve the units used in the analysis. The mtDNA component is smaller and more mixed than the nuclear component. Source: docs/analysis/kda_w_human_validation/rosmap_sex_apoe_broad_kda_analysis.md, Finding 4. Literature: https://doi.org/10.1038/s41419-020-02776-4; https://doi.org/10.1016/j.celrep.2023.113183; https://doi.org/10.1038/s41586-024-07606-7</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its internal and supplemental evidence context.</a:t>
            </a:r>
          </a:p>
          <a:p>
            <a:endParaRPr/>
          </a:p>
          <a:p>
            <a:r>
              <a:t>Walk through: This disagreement lowers confidence that the signal generalizes across resolutions. Describe this as a fine-cell female ε4 signal, not a broad-cell-wide effect. Source: docs/analysis/kda_w_human_validation/rosmap_sex_apoe_broad_kda_analysis.md, Finding 4. Literature: https://doi.org/10.1038/s41419-020-02776-4; https://doi.org/10.1016/j.celrep.2023.113183; https://doi.org/10.1038/s41586-024-07606-7</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4 may matter without overstating function.</a:t>
            </a:r>
          </a:p>
          <a:p>
            <a:endParaRPr/>
          </a:p>
          <a:p>
            <a:r>
              <a:t>Walk through: A nuclear-sided reduction could reflect lower respiratory investment, stress, or a shift in cell state. The fine-cell signal warrants follow-up, but the broad-cell disagreement must stay visible. Source: docs/analysis/kda_w_human_validation/rosmap_sex_apoe_broad_kda_analysis.md, Finding 4. Literature: https://doi.org/10.1038/s41419-020-02776-4; https://doi.org/10.1016/j.celrep.2023.113183; https://doi.org/10.1038/s41586-024-07606-7</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4.</a:t>
            </a:r>
          </a:p>
          <a:p>
            <a:endParaRPr/>
          </a:p>
          <a:p>
            <a:r>
              <a:t>Walk through: The left side lists claims that the current data cannot support. The right side lists experiments or analyses that directly address those gaps. Source: docs/analysis/kda_w_human_validation/rosmap_sex_apoe_broad_kda_analysis.md, Finding 4. Literature: https://doi.org/10.1038/s41419-020-02776-4; https://doi.org/10.1016/j.celrep.2023.113183; https://doi.org/10.1038/s41586-024-07606-7</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4. Literature: https://doi.org/10.1038/s41419-020-02776-4; https://doi.org/10.1016/j.celrep.2023.113183; https://doi.org/10.1038/s41586-024-07606-7</a:t>
            </a:r>
          </a:p>
          <a:p>
            <a:endParaRPr/>
          </a:p>
          <a:p>
            <a:r>
              <a:t>Scientific boundary: The novelty label is provisional and comes from a focused rather than systematic literature review.</a:t>
            </a:r>
          </a:p>
          <a:p>
            <a:endParaRPr/>
          </a:p>
          <a:p>
            <a:r>
              <a:t>Transition: Proceed to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a:t>
            </a:r>
          </a:p>
          <a:p>
            <a:endParaRPr/>
          </a:p>
          <a:p>
            <a:r>
              <a:t>Walk through: Both mtDNA and nuclear OXPHOS RNA are broadly lower, but query size strongly affects KDA yield. Source: docs/analysis/kda_w_human_validation/rosmap_sex_apoe_broad_kda_analysis.md, Finding 5. Literature: https://doi.org/10.1016/j.neuron.2019.03.075;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5 without assuming specialist knowledge.</a:t>
            </a:r>
          </a:p>
          <a:p>
            <a:endParaRPr/>
          </a:p>
          <a:p>
            <a:r>
              <a:t>Walk through: This is the strongest coordinated downward OXPHOS pattern in ROSMAP. An ε2 allele can be protective at the population level while diseased tissue still shows an unfavorable-looking RNA pattern. Source: docs/analysis/kda_w_human_validation/rosmap_sex_apoe_broad_kda_analysis.md, Finding 5. Literature: https://doi.org/10.1016/j.neuron.2019.03.075;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5.</a:t>
            </a:r>
          </a:p>
          <a:p>
            <a:endParaRPr/>
          </a:p>
          <a:p>
            <a:r>
              <a:t>Walk through: The three summary metrics and three evidence rows preserve the units used in the analysis. Fine-cell pathway results and direct broad-cell sensitivity point mainly downward. Source: docs/analysis/kda_w_human_validation/rosmap_sex_apoe_broad_kda_analysis.md, Finding 5. Literature: https://doi.org/10.1016/j.neuron.2019.03.075; https://doi.org/10.1186/s13024-023-00624-5; https://doi.org/10.1038/s41586-024-07606-7</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its internal and supplemental evidence context.</a:t>
            </a:r>
          </a:p>
          <a:p>
            <a:endParaRPr/>
          </a:p>
          <a:p>
            <a:r>
              <a:t>Walk through: Query size can increase the number of network neighborhoods reached and drivers returned. Large queries confound KDA driver counts, although they do not automatically erase the DEG direction pattern. Source: docs/analysis/kda_w_human_validation/rosmap_sex_apoe_broad_kda_analysis.md, Finding 5. Literature: https://doi.org/10.1016/j.neuron.2019.03.075; https://doi.org/10.1186/s13024-023-00624-5; https://doi.org/10.1038/s41586-024-07606-7</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5 may matter without overstating function.</a:t>
            </a:r>
          </a:p>
          <a:p>
            <a:endParaRPr/>
          </a:p>
          <a:p>
            <a:r>
              <a:t>Walk through: The downward program could reflect respiratory reduction, altered cell state, or selective survival. The DEG direction is interesting, while the unusually high KDA yield needs query-size matching. Source: docs/analysis/kda_w_human_validation/rosmap_sex_apoe_broad_kda_analysis.md, Finding 5. Literature: https://doi.org/10.1016/j.neuron.2019.03.075; https://doi.org/10.1186/s13024-023-00624-5; https://doi.org/10.1038/s41586-024-07606-7</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5.</a:t>
            </a:r>
          </a:p>
          <a:p>
            <a:endParaRPr/>
          </a:p>
          <a:p>
            <a:r>
              <a:t>Walk through: The left side lists claims that the current data cannot support. The right side lists experiments or analyses that directly address those gaps. Source: docs/analysis/kda_w_human_validation/rosmap_sex_apoe_broad_kda_analysis.md, Finding 5. Literature: https://doi.org/10.1016/j.neuron.2019.03.075; https://doi.org/10.1186/s13024-023-00624-5; https://doi.org/10.1038/s41586-024-07606-7</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5. Literature: https://doi.org/10.1016/j.neuron.2019.03.075;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mtDNA OXPHOS is mostly up and nuclear OXPHOS is modestly down,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6.</a:t>
            </a:r>
          </a:p>
          <a:p>
            <a:endParaRPr/>
          </a:p>
          <a:p>
            <a:r>
              <a:t>Walk through: The left side lists claims that the current data cannot support. The right side lists experiments or analyses that directly address those gaps. Source: docs/analysis/kda_w_human_validation/rosmap_sex_apoe_broad_kda_analysis.md, Finding 6. Literature: https://doi.org/10.1016/j.neuron.2019.03.075; https://doi.org/10.1016/j.celrep.2023.113183; https://doi.org/10.1186/s13024-023-00624-5</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non-mitochondrial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7.</a:t>
            </a:r>
          </a:p>
          <a:p>
            <a:endParaRPr/>
          </a:p>
          <a:p>
            <a:r>
              <a:t>Walk through: The left side lists claims that the current data cannot support. The right side lists experiments or analyses that directly address those gaps. Source: docs/analysis/kda_w_human_validation/rosmap_sex_apoe_broad_kda_analysis.md, Finding 7. Literature: https://doi.org/10.1523/JNEUROSCI.3040-05.2005; https://doi.org/10.1128/MCB.23.23.8902-8912.2003</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8.</a:t>
            </a:r>
          </a:p>
          <a:p>
            <a:endParaRPr/>
          </a:p>
          <a:p>
            <a:r>
              <a:t>Walk through: The left side lists claims that the current data cannot support. The right side lists experiments or analyses that directly address those gaps. Source: docs/analysis/kda_w_human_validation/rosmap_sex_apoe_broad_kda_analysis.md, Finding 8. Literature: https://doi.org/10.1016/j.cell.2012.07.032; https://doi.org/10.1016/j.cmet.2013.10.001; https://doi.org/10.15252/embj.2018100241</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mtDNA-up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mitochondrial genes begin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calls come from one group. SEA-AD could return WDR82 in 11 matching excitatory backgrounds but did not, although it supports the female ε3/ε3 mtDNA program.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mtDNA query genes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9.</a:t>
            </a:r>
          </a:p>
          <a:p>
            <a:endParaRPr/>
          </a:p>
          <a:p>
            <a:r>
              <a:t>Walk through: The left side lists claims that the current data cannot support. The right side lists experiments or analyses that directly address those gaps. Source: docs/analysis/kda_w_human_validation/rosmap_sex_apoe_broad_kda_analysis.md, Finding 9. Literature: https://doi.org/10.1128/MCB.01356-07; https://doi.org/10.1016/j.cell.2011.06.051; https://doi.org/10.3892/mmr.2015.4271</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10.</a:t>
            </a:r>
          </a:p>
          <a:p>
            <a:endParaRPr/>
          </a:p>
          <a:p>
            <a:r>
              <a:t>Walk through: The left side lists claims that the current data cannot support. The right side lists experiments or analyses that directly address those gaps. Source: docs/analysis/kda_w_human_validation/rosmap_sex_apoe_broad_kda_analysis.md, Finding 10. Literature: https://doi.org/10.1074/jbc.M511386200; https://doi.org/10.3892/ijmm_00000211; https://doi.org/10.3390/ijms14034385</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11.</a:t>
            </a:r>
          </a:p>
          <a:p>
            <a:endParaRPr/>
          </a:p>
          <a:p>
            <a:r>
              <a:t>Walk through: The left side lists claims that the current data cannot support. The right side lists experiments or analyses that directly address those gaps. Source: docs/analysis/kda_w_human_validation/rosmap_sex_apoe_broad_kda_analysis.md, Finding 11. Literature: https://doi.org/10.1016/j.redox.2022.102571; https://doi.org/10.1038/s42003-024-06572-0</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12.</a:t>
            </a:r>
          </a:p>
          <a:p>
            <a:endParaRPr/>
          </a:p>
          <a:p>
            <a:r>
              <a:t>Walk through: The left side lists claims that the current data cannot support. The right side lists experiments or analyses that directly address those gaps. Source: docs/analysis/kda_w_human_validation/rosmap_sex_apoe_broad_kda_analysis.md, Finding 12. Literature: https://doi.org/10.1038/s41586-024-07606-7; https://doi.org/10.1038/s41419-020-02776-4; https://doi.org/10.1016/j.celrep.2023.113183</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13.</a:t>
            </a:r>
          </a:p>
          <a:p>
            <a:endParaRPr/>
          </a:p>
          <a:p>
            <a:r>
              <a:t>Walk through: The left side lists claims that the current data cannot support. The right side lists experiments or analyses that directly address those gaps. Source: docs/analysis/kda_w_human_validation/rosmap_sex_apoe_broad_kda_analysis.md, Finding 13. Literature: https://pmc.ncbi.nlm.nih.gov/articles/PMC8941078/; https://doi.org/10.1186/s12915-025-02235-6</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14.</a:t>
            </a:r>
          </a:p>
          <a:p>
            <a:endParaRPr/>
          </a:p>
          <a:p>
            <a:r>
              <a:t>Walk through: The left side lists claims that the current data cannot support. The right side lists experiments or analyses that directly address those gaps. Source: docs/analysis/kda_w_human_validation/rosmap_sex_apoe_broad_kda_analysis.md, Finding 14. Literature: https://doi.org/10.1186/s13195-019-0469-0; https://doi.org/10.1038/s41588-026-02709-5</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15.</a:t>
            </a:r>
          </a:p>
          <a:p>
            <a:endParaRPr/>
          </a:p>
          <a:p>
            <a:r>
              <a:t>Walk through: The left side lists claims that the current data cannot support. The right side lists experiments or analyses that directly address those gaps. Source: docs/analysis/kda_w_human_validation/rosmap_sex_apoe_broad_kda_analysis.md, Finding 15. Literature: https://doi.org/10.1016/j.neuron.2019.03.075; https://doi.org/10.1016/j.celrep.2023.113183; https://doi.org/10.1038/s41419-020-02776-4</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16.</a:t>
            </a:r>
          </a:p>
          <a:p>
            <a:endParaRPr/>
          </a:p>
          <a:p>
            <a:r>
              <a:t>Walk through: The left side lists claims that the current data cannot support. The right side lists experiments or analyses that directly address those gaps. Source: docs/analysis/kda_w_human_validation/rosmap_sex_apoe_broad_kda_analysis.md, Finding 16. Literature: https://doi.org/10.1186/s13024-023-00624-5; https://doi.org/10.1038/s41586-024-07606-7</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Programs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but unreturned driver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Program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Separate the observation from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scientific boundaries and next experiments for Finding 17.</a:t>
            </a:r>
          </a:p>
          <a:p>
            <a:endParaRPr/>
          </a:p>
          <a:p>
            <a:r>
              <a:t>Walk through: The left side lists claims that the current data cannot support. The right side lists experiments or analyses that directly address those gaps. Source: docs/analysis/kda_w_human_validation/rosmap_sex_apoe_broad_kda_analysis.md, Finding 17.</a:t>
            </a:r>
          </a:p>
          <a:p>
            <a:endParaRPr/>
          </a:p>
          <a:p>
            <a:r>
              <a:t>Scientific boundary: Another expression dataset can improve reproducibility, but perturbation and functional rescue are needed for a causal mechanism.</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program-level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9/19/26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9/19/26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9/19/26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9/19/26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9/19/26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9/19/26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9/19/26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753174"/>
            <a:ext cx="10287000" cy="193283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APOE, and Mitochondrial Gene Expression in Alzheimer’s Disease</a:t>
            </a:r>
          </a:p>
          <a:p>
            <a:endParaRPr sz="3400" b="1">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a:t>
            </a:r>
            <a:r>
              <a:rPr sz="1050" b="1">
                <a:solidFill>
                  <a:srgbClr val="0072B2"/>
                </a:solidFill>
                <a:latin typeface="Arial"/>
                <a:ea typeface="Arial"/>
                <a:cs typeface="Arial"/>
              </a:rPr>
              <a:t>1</a:t>
            </a:r>
            <a:endParaRPr sz="1050" b="1" i="0">
              <a:solidFill>
                <a:srgbClr val="0072B2"/>
              </a:solidFill>
              <a:latin typeface="Arial"/>
              <a:ea typeface="Arial"/>
              <a:cs typeface="Arial"/>
            </a:endParaRPr>
          </a:p>
        </p:txBody>
      </p:sp>
    </p:spTree>
    <p:extLst>
      <p:ext uri="{BB962C8B-B14F-4D97-AF65-F5344CB8AC3E}">
        <p14:creationId xmlns:p14="http://schemas.microsoft.com/office/powerpoint/2010/main"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and at most one KDA call</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mitochondrial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Run call_key_drivers()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The call returns a list of significant key-driver genes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1467083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significant gene in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significant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3815581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groups mitochondrial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Significant result = greater-than-expected pathway overlap after multiple-test correction (false-discovery rate &lt; 5%).</a:t>
            </a:r>
          </a:p>
        </p:txBody>
      </p:sp>
    </p:spTree>
    <p:extLst>
      <p:ext uri="{BB962C8B-B14F-4D97-AF65-F5344CB8AC3E}">
        <p14:creationId xmlns:p14="http://schemas.microsoft.com/office/powerpoint/2010/main" val="1336555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7D1B8E3-9AFE-44A7-84AC-59E060C1AB0A}"/>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mitochondrial pathways highlighted</a:t>
            </a:r>
          </a:p>
        </p:txBody>
      </p:sp>
      <p:sp>
        <p:nvSpPr>
          <p:cNvPr id="4" name="Rounded Rectangle 3">
            <a:extLst>
              <a:ext uri="{FF2B5EF4-FFF2-40B4-BE49-F238E27FC236}">
                <a16:creationId xmlns:a16="http://schemas.microsoft.com/office/drawing/2014/main" id="{76C30B73-B850-4890-A889-DFA3EAD38926}"/>
              </a:ext>
            </a:extLst>
          </p:cNvPr>
          <p:cNvSpPr>
            <a:spLocks noGrp="1"/>
          </p:cNvSpPr>
          <p:nvPr/>
        </p:nvSpPr>
        <p:spPr>
          <a:xfrm>
            <a:off x="658368" y="1298448"/>
            <a:ext cx="5248656" cy="15544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191EAFF-F0AB-46D5-9D7D-736F342B868E}"/>
              </a:ext>
            </a:extLst>
          </p:cNvPr>
          <p:cNvSpPr>
            <a:spLocks noGrp="1"/>
          </p:cNvSpPr>
          <p:nvPr/>
        </p:nvSpPr>
        <p:spPr>
          <a:xfrm>
            <a:off x="932688" y="1545336"/>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mtDNA-encoded OXPHOS</a:t>
            </a:r>
          </a:p>
        </p:txBody>
      </p:sp>
      <p:sp>
        <p:nvSpPr>
          <p:cNvPr id="6" name="Rounded Rectangle 5">
            <a:extLst>
              <a:ext uri="{FF2B5EF4-FFF2-40B4-BE49-F238E27FC236}">
                <a16:creationId xmlns:a16="http://schemas.microsoft.com/office/drawing/2014/main" id="{34C8B1B4-9F14-4280-835B-8A4AF2D1B91F}"/>
              </a:ext>
            </a:extLst>
          </p:cNvPr>
          <p:cNvSpPr>
            <a:spLocks noGrp="1"/>
          </p:cNvSpPr>
          <p:nvPr/>
        </p:nvSpPr>
        <p:spPr>
          <a:xfrm>
            <a:off x="4928616" y="1517904"/>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41289BC-A254-47D6-8E0A-0C7D52C5E414}"/>
              </a:ext>
            </a:extLst>
          </p:cNvPr>
          <p:cNvSpPr>
            <a:spLocks noGrp="1"/>
          </p:cNvSpPr>
          <p:nvPr/>
        </p:nvSpPr>
        <p:spPr>
          <a:xfrm>
            <a:off x="4928616" y="1581912"/>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072B2"/>
                </a:solidFill>
                <a:latin typeface="Arial"/>
                <a:ea typeface="Arial"/>
                <a:cs typeface="Arial"/>
              </a:rPr>
              <a:t>13</a:t>
            </a:r>
          </a:p>
        </p:txBody>
      </p:sp>
      <p:sp>
        <p:nvSpPr>
          <p:cNvPr id="8" name="TextBox 7">
            <a:extLst>
              <a:ext uri="{FF2B5EF4-FFF2-40B4-BE49-F238E27FC236}">
                <a16:creationId xmlns:a16="http://schemas.microsoft.com/office/drawing/2014/main" id="{D486F27E-C593-4CBC-92F0-7774ED084023}"/>
              </a:ext>
            </a:extLst>
          </p:cNvPr>
          <p:cNvSpPr>
            <a:spLocks noGrp="1"/>
          </p:cNvSpPr>
          <p:nvPr/>
        </p:nvSpPr>
        <p:spPr>
          <a:xfrm>
            <a:off x="4928616" y="1819655"/>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9" name="TextBox 8">
            <a:extLst>
              <a:ext uri="{FF2B5EF4-FFF2-40B4-BE49-F238E27FC236}">
                <a16:creationId xmlns:a16="http://schemas.microsoft.com/office/drawing/2014/main" id="{4CD8BB4D-8045-4530-B427-FE0F7658004D}"/>
              </a:ext>
            </a:extLst>
          </p:cNvPr>
          <p:cNvSpPr>
            <a:spLocks noGrp="1"/>
          </p:cNvSpPr>
          <p:nvPr/>
        </p:nvSpPr>
        <p:spPr>
          <a:xfrm>
            <a:off x="932688" y="2103120"/>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Core respiratory-complex subunits encoded by mitochondrial DNA.</a:t>
            </a:r>
          </a:p>
        </p:txBody>
      </p:sp>
      <p:sp>
        <p:nvSpPr>
          <p:cNvPr id="10" name="Rounded Rectangle 9">
            <a:extLst>
              <a:ext uri="{FF2B5EF4-FFF2-40B4-BE49-F238E27FC236}">
                <a16:creationId xmlns:a16="http://schemas.microsoft.com/office/drawing/2014/main" id="{9CF839F5-9891-4E7C-91FA-0AF64503FA1F}"/>
              </a:ext>
            </a:extLst>
          </p:cNvPr>
          <p:cNvSpPr>
            <a:spLocks noGrp="1"/>
          </p:cNvSpPr>
          <p:nvPr/>
        </p:nvSpPr>
        <p:spPr>
          <a:xfrm>
            <a:off x="6281928" y="1298448"/>
            <a:ext cx="5248656" cy="15544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5967B44-073D-439F-8228-FD11F1FFDE8B}"/>
              </a:ext>
            </a:extLst>
          </p:cNvPr>
          <p:cNvSpPr>
            <a:spLocks noGrp="1"/>
          </p:cNvSpPr>
          <p:nvPr/>
        </p:nvSpPr>
        <p:spPr>
          <a:xfrm>
            <a:off x="6556248" y="1545336"/>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Nuclear structural OXPHOS</a:t>
            </a:r>
          </a:p>
        </p:txBody>
      </p:sp>
      <p:sp>
        <p:nvSpPr>
          <p:cNvPr id="12" name="Rounded Rectangle 11">
            <a:extLst>
              <a:ext uri="{FF2B5EF4-FFF2-40B4-BE49-F238E27FC236}">
                <a16:creationId xmlns:a16="http://schemas.microsoft.com/office/drawing/2014/main" id="{BC8AE1D1-657D-4DBE-9679-214D81AB0DA0}"/>
              </a:ext>
            </a:extLst>
          </p:cNvPr>
          <p:cNvSpPr>
            <a:spLocks noGrp="1"/>
          </p:cNvSpPr>
          <p:nvPr/>
        </p:nvSpPr>
        <p:spPr>
          <a:xfrm>
            <a:off x="10552176" y="1517904"/>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4ED99B-6F63-4B5A-816E-C1F392EFB88A}"/>
              </a:ext>
            </a:extLst>
          </p:cNvPr>
          <p:cNvSpPr>
            <a:spLocks noGrp="1"/>
          </p:cNvSpPr>
          <p:nvPr/>
        </p:nvSpPr>
        <p:spPr>
          <a:xfrm>
            <a:off x="10552176" y="1581912"/>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9E3A00"/>
                </a:solidFill>
                <a:latin typeface="Arial"/>
                <a:ea typeface="Arial"/>
                <a:cs typeface="Arial"/>
              </a:rPr>
              <a:t>86</a:t>
            </a:r>
          </a:p>
        </p:txBody>
      </p:sp>
      <p:sp>
        <p:nvSpPr>
          <p:cNvPr id="14" name="TextBox 13">
            <a:extLst>
              <a:ext uri="{FF2B5EF4-FFF2-40B4-BE49-F238E27FC236}">
                <a16:creationId xmlns:a16="http://schemas.microsoft.com/office/drawing/2014/main" id="{D883BA72-E16B-4926-91CD-EA1C30D2DBA1}"/>
              </a:ext>
            </a:extLst>
          </p:cNvPr>
          <p:cNvSpPr>
            <a:spLocks noGrp="1"/>
          </p:cNvSpPr>
          <p:nvPr/>
        </p:nvSpPr>
        <p:spPr>
          <a:xfrm>
            <a:off x="10552176" y="1819655"/>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15" name="TextBox 14">
            <a:extLst>
              <a:ext uri="{FF2B5EF4-FFF2-40B4-BE49-F238E27FC236}">
                <a16:creationId xmlns:a16="http://schemas.microsoft.com/office/drawing/2014/main" id="{79A776E0-C79F-4F0C-A32E-D1866EEF5C46}"/>
              </a:ext>
            </a:extLst>
          </p:cNvPr>
          <p:cNvSpPr>
            <a:spLocks noGrp="1"/>
          </p:cNvSpPr>
          <p:nvPr/>
        </p:nvSpPr>
        <p:spPr>
          <a:xfrm>
            <a:off x="6556248" y="2103120"/>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Structural respiratory-complex subunits encoded by nuclear DNA.</a:t>
            </a:r>
          </a:p>
        </p:txBody>
      </p:sp>
      <p:sp>
        <p:nvSpPr>
          <p:cNvPr id="16" name="Rounded Rectangle 15">
            <a:extLst>
              <a:ext uri="{FF2B5EF4-FFF2-40B4-BE49-F238E27FC236}">
                <a16:creationId xmlns:a16="http://schemas.microsoft.com/office/drawing/2014/main" id="{526CC8CA-739A-46F1-B520-95335471516B}"/>
              </a:ext>
            </a:extLst>
          </p:cNvPr>
          <p:cNvSpPr>
            <a:spLocks noGrp="1"/>
          </p:cNvSpPr>
          <p:nvPr/>
        </p:nvSpPr>
        <p:spPr>
          <a:xfrm>
            <a:off x="658368" y="3182112"/>
            <a:ext cx="5248656" cy="15544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1B1EA69-A373-4CC9-9F80-7CB08D9F5F45}"/>
              </a:ext>
            </a:extLst>
          </p:cNvPr>
          <p:cNvSpPr>
            <a:spLocks noGrp="1"/>
          </p:cNvSpPr>
          <p:nvPr/>
        </p:nvSpPr>
        <p:spPr>
          <a:xfrm>
            <a:off x="932688" y="3429000"/>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Mitochondrial translation</a:t>
            </a:r>
          </a:p>
        </p:txBody>
      </p:sp>
      <p:sp>
        <p:nvSpPr>
          <p:cNvPr id="18" name="Rounded Rectangle 17">
            <a:extLst>
              <a:ext uri="{FF2B5EF4-FFF2-40B4-BE49-F238E27FC236}">
                <a16:creationId xmlns:a16="http://schemas.microsoft.com/office/drawing/2014/main" id="{BF53B588-109A-4290-9377-253109323524}"/>
              </a:ext>
            </a:extLst>
          </p:cNvPr>
          <p:cNvSpPr>
            <a:spLocks noGrp="1"/>
          </p:cNvSpPr>
          <p:nvPr/>
        </p:nvSpPr>
        <p:spPr>
          <a:xfrm>
            <a:off x="4928616" y="3401568"/>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9D23711-31E3-4169-BE39-FAEAE55842D9}"/>
              </a:ext>
            </a:extLst>
          </p:cNvPr>
          <p:cNvSpPr>
            <a:spLocks noGrp="1"/>
          </p:cNvSpPr>
          <p:nvPr/>
        </p:nvSpPr>
        <p:spPr>
          <a:xfrm>
            <a:off x="4928616" y="3465576"/>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0684D"/>
                </a:solidFill>
                <a:latin typeface="Arial"/>
                <a:ea typeface="Arial"/>
                <a:cs typeface="Arial"/>
              </a:rPr>
              <a:t>155</a:t>
            </a:r>
          </a:p>
        </p:txBody>
      </p:sp>
      <p:sp>
        <p:nvSpPr>
          <p:cNvPr id="20" name="TextBox 19">
            <a:extLst>
              <a:ext uri="{FF2B5EF4-FFF2-40B4-BE49-F238E27FC236}">
                <a16:creationId xmlns:a16="http://schemas.microsoft.com/office/drawing/2014/main" id="{CB1737FE-578C-4CD0-A492-F1BD90D55055}"/>
              </a:ext>
            </a:extLst>
          </p:cNvPr>
          <p:cNvSpPr>
            <a:spLocks noGrp="1"/>
          </p:cNvSpPr>
          <p:nvPr/>
        </p:nvSpPr>
        <p:spPr>
          <a:xfrm>
            <a:off x="4928616" y="3703320"/>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21" name="TextBox 20">
            <a:extLst>
              <a:ext uri="{FF2B5EF4-FFF2-40B4-BE49-F238E27FC236}">
                <a16:creationId xmlns:a16="http://schemas.microsoft.com/office/drawing/2014/main" id="{439B04FD-6FC4-4672-9476-B85E5850150C}"/>
              </a:ext>
            </a:extLst>
          </p:cNvPr>
          <p:cNvSpPr>
            <a:spLocks noGrp="1"/>
          </p:cNvSpPr>
          <p:nvPr/>
        </p:nvSpPr>
        <p:spPr>
          <a:xfrm>
            <a:off x="932688" y="3986784"/>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Ribosomal proteins and factors that make proteins inside mitochondria.</a:t>
            </a:r>
          </a:p>
        </p:txBody>
      </p:sp>
      <p:sp>
        <p:nvSpPr>
          <p:cNvPr id="22" name="Rounded Rectangle 21">
            <a:extLst>
              <a:ext uri="{FF2B5EF4-FFF2-40B4-BE49-F238E27FC236}">
                <a16:creationId xmlns:a16="http://schemas.microsoft.com/office/drawing/2014/main" id="{3997E6C8-CC02-4D09-881C-20FE60682995}"/>
              </a:ext>
            </a:extLst>
          </p:cNvPr>
          <p:cNvSpPr>
            <a:spLocks noGrp="1"/>
          </p:cNvSpPr>
          <p:nvPr/>
        </p:nvSpPr>
        <p:spPr>
          <a:xfrm>
            <a:off x="6281928" y="3182112"/>
            <a:ext cx="5248656" cy="15544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DB14D6E4-4D55-480A-BC1D-F214033C4A16}"/>
              </a:ext>
            </a:extLst>
          </p:cNvPr>
          <p:cNvSpPr>
            <a:spLocks noGrp="1"/>
          </p:cNvSpPr>
          <p:nvPr/>
        </p:nvSpPr>
        <p:spPr>
          <a:xfrm>
            <a:off x="6556248" y="3429000"/>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MIB/MICOS inner membrane</a:t>
            </a:r>
          </a:p>
        </p:txBody>
      </p:sp>
      <p:sp>
        <p:nvSpPr>
          <p:cNvPr id="24" name="Rounded Rectangle 23">
            <a:extLst>
              <a:ext uri="{FF2B5EF4-FFF2-40B4-BE49-F238E27FC236}">
                <a16:creationId xmlns:a16="http://schemas.microsoft.com/office/drawing/2014/main" id="{EBB36479-DAC4-4A96-A97F-A7C4CBEAD1BE}"/>
              </a:ext>
            </a:extLst>
          </p:cNvPr>
          <p:cNvSpPr>
            <a:spLocks noGrp="1"/>
          </p:cNvSpPr>
          <p:nvPr/>
        </p:nvSpPr>
        <p:spPr>
          <a:xfrm>
            <a:off x="10552176" y="3401568"/>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E9166DD-0031-4966-A398-0C70AF5B95FB}"/>
              </a:ext>
            </a:extLst>
          </p:cNvPr>
          <p:cNvSpPr>
            <a:spLocks noGrp="1"/>
          </p:cNvSpPr>
          <p:nvPr/>
        </p:nvSpPr>
        <p:spPr>
          <a:xfrm>
            <a:off x="10552176" y="3465576"/>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7E4C9A"/>
                </a:solidFill>
                <a:latin typeface="Arial"/>
                <a:ea typeface="Arial"/>
                <a:cs typeface="Arial"/>
              </a:rPr>
              <a:t>19</a:t>
            </a:r>
          </a:p>
        </p:txBody>
      </p:sp>
      <p:sp>
        <p:nvSpPr>
          <p:cNvPr id="26" name="TextBox 25">
            <a:extLst>
              <a:ext uri="{FF2B5EF4-FFF2-40B4-BE49-F238E27FC236}">
                <a16:creationId xmlns:a16="http://schemas.microsoft.com/office/drawing/2014/main" id="{B2208763-11A6-4D06-823D-801A51A3769F}"/>
              </a:ext>
            </a:extLst>
          </p:cNvPr>
          <p:cNvSpPr>
            <a:spLocks noGrp="1"/>
          </p:cNvSpPr>
          <p:nvPr/>
        </p:nvSpPr>
        <p:spPr>
          <a:xfrm>
            <a:off x="10552176" y="3703320"/>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27" name="TextBox 26">
            <a:extLst>
              <a:ext uri="{FF2B5EF4-FFF2-40B4-BE49-F238E27FC236}">
                <a16:creationId xmlns:a16="http://schemas.microsoft.com/office/drawing/2014/main" id="{60EF670B-4939-4139-B603-D1022072D211}"/>
              </a:ext>
            </a:extLst>
          </p:cNvPr>
          <p:cNvSpPr>
            <a:spLocks noGrp="1"/>
          </p:cNvSpPr>
          <p:nvPr/>
        </p:nvSpPr>
        <p:spPr>
          <a:xfrm>
            <a:off x="6556248" y="3986784"/>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Proteins that shape cristae—the folds of the inner mitochondrial membrane.</a:t>
            </a:r>
          </a:p>
        </p:txBody>
      </p:sp>
      <p:sp>
        <p:nvSpPr>
          <p:cNvPr id="28" name="Rounded Rectangle 27">
            <a:extLst>
              <a:ext uri="{FF2B5EF4-FFF2-40B4-BE49-F238E27FC236}">
                <a16:creationId xmlns:a16="http://schemas.microsoft.com/office/drawing/2014/main" id="{21F074FA-CF2F-4087-BE09-4880E2ED30D5}"/>
              </a:ext>
            </a:extLst>
          </p:cNvPr>
          <p:cNvSpPr>
            <a:spLocks noGrp="1"/>
          </p:cNvSpPr>
          <p:nvPr/>
        </p:nvSpPr>
        <p:spPr>
          <a:xfrm>
            <a:off x="658368" y="5138928"/>
            <a:ext cx="10881360" cy="950976"/>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E4829F8C-5C6A-48DB-A931-0E9DAE0E017B}"/>
              </a:ext>
            </a:extLst>
          </p:cNvPr>
          <p:cNvSpPr>
            <a:spLocks noGrp="1"/>
          </p:cNvSpPr>
          <p:nvPr/>
        </p:nvSpPr>
        <p:spPr>
          <a:xfrm>
            <a:off x="932688" y="5321808"/>
            <a:ext cx="15727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Two related questions</a:t>
            </a:r>
          </a:p>
        </p:txBody>
      </p:sp>
      <p:sp>
        <p:nvSpPr>
          <p:cNvPr id="30" name="TextBox 29">
            <a:extLst>
              <a:ext uri="{FF2B5EF4-FFF2-40B4-BE49-F238E27FC236}">
                <a16:creationId xmlns:a16="http://schemas.microsoft.com/office/drawing/2014/main" id="{AEB0958F-2F10-42D0-B04E-2CA42DA26A1E}"/>
              </a:ext>
            </a:extLst>
          </p:cNvPr>
          <p:cNvSpPr>
            <a:spLocks noGrp="1"/>
          </p:cNvSpPr>
          <p:nvPr/>
        </p:nvSpPr>
        <p:spPr>
          <a:xfrm>
            <a:off x="2651760" y="5285232"/>
            <a:ext cx="8412480"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0" i="0">
                <a:solidFill>
                  <a:srgbClr val="1F2730"/>
                </a:solidFill>
                <a:latin typeface="Arial"/>
                <a:ea typeface="Arial"/>
                <a:cs typeface="Arial"/>
              </a:rPr>
              <a:t>Overlap: which pathway genes are DEGs?   →   Enrichment: is that overlap larger than expected among detectable genes?</a:t>
            </a:r>
          </a:p>
        </p:txBody>
      </p:sp>
    </p:spTree>
    <p:extLst>
      <p:ext uri="{BB962C8B-B14F-4D97-AF65-F5344CB8AC3E}">
        <p14:creationId xmlns:p14="http://schemas.microsoft.com/office/powerpoint/2010/main" val="415004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to calculate pathway and sex/APOE 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 genes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 genes ÷ all genes in that pathway for one sex/APOE group.</a:t>
            </a:r>
          </a:p>
        </p:txBody>
      </p:sp>
      <p:pic>
        <p:nvPicPr>
          <p:cNvPr id="11" name="Heatmap showing the percentage and count of genes from four mitochondrial pathways that appeared as significant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mtDNA-encoded OXPHOS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lang="en-US"/>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defRPr sz="1350" b="0">
                <a:solidFill>
                  <a:srgbClr val="4E5A68"/>
                </a:solidFill>
                <a:latin typeface="Arial"/>
                <a:ea typeface="Arial"/>
                <a:cs typeface="Arial"/>
              </a:defRPr>
            </a:pPr>
            <a:r>
              <a:rPr sz="1600" b="1" dirty="0">
                <a:solidFill>
                  <a:srgbClr val="4E5A68"/>
                </a:solidFill>
                <a:latin typeface="Arial"/>
                <a:ea typeface="Arial"/>
                <a:cs typeface="Arial"/>
              </a:rPr>
              <a:t>1 occurrence = 1 significant pathway gene in 1 fine-cell comparison.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defRPr sz="1350" b="1">
                <a:solidFill>
                  <a:srgbClr val="00684D"/>
                </a:solidFill>
                <a:latin typeface="Arial"/>
                <a:ea typeface="Arial"/>
                <a:cs typeface="Arial"/>
              </a:defRPr>
            </a:pPr>
            <a:r>
              <a:rPr sz="1350" b="1">
                <a:solidFill>
                  <a:srgbClr val="00684D"/>
                </a:solidFill>
                <a:latin typeface="Arial"/>
                <a:ea typeface="Arial"/>
                <a:cs typeface="Arial"/>
              </a:rPr>
              <a:t>Example: male ε3/ε3, mtDNA-encoded OXPHOS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lang="en-US"/>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31089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mitochondrial-encoded genes rise while nuclear-encoded genes fall.</a:t>
            </a:r>
          </a:p>
        </p:txBody>
      </p:sp>
      <p:pic>
        <p:nvPicPr>
          <p:cNvPr id="22" name="Diverging paired bar chart of dominant Alzheimer’s disease direction for the 13 mitochondrial-DNA-encoded OXPHOS genes and 86 nuclear-DNA-encoded structural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7" name="Chart"/>
          <p:cNvGraphicFramePr/>
          <p:nvPr>
            <p:extLst>
              <p:ext uri="{D42A27DB-BD31-4B8C-83A1-F6EECF244321}">
                <p14:modId xmlns:p14="http://schemas.microsoft.com/office/powerpoint/2010/main" val="1972078188"/>
              </p:ext>
            </p:extLst>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mitochondrial-encoded genes rise while nuclear-encoded genes fall.</a:t>
            </a:r>
          </a:p>
        </p:txBody>
      </p:sp>
    </p:spTree>
    <p:extLst>
      <p:ext uri="{BB962C8B-B14F-4D97-AF65-F5344CB8AC3E}">
        <p14:creationId xmlns:p14="http://schemas.microsoft.com/office/powerpoint/2010/main" val="492696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a:t>
            </a:r>
            <a:r>
              <a:rPr sz="1050" b="1">
                <a:solidFill>
                  <a:srgbClr val="0072B2"/>
                </a:solidFill>
                <a:latin typeface="Arial"/>
                <a:ea typeface="Arial"/>
                <a:cs typeface="Arial"/>
              </a:rPr>
              <a:t>3</a:t>
            </a:r>
            <a:endParaRPr sz="1050" b="1" i="0">
              <a:solidFill>
                <a:srgbClr val="0072B2"/>
              </a:solidFill>
              <a:latin typeface="Arial"/>
              <a:ea typeface="Arial"/>
              <a:cs typeface="Arial"/>
            </a:endParaRP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analysis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Call key </a:t>
            </a:r>
            <a:r>
              <a:rPr sz="1110" b="1">
                <a:solidFill>
                  <a:srgbClr val="FFFFFF"/>
                </a:solidFill>
                <a:latin typeface="Arial"/>
                <a:ea typeface="Arial"/>
                <a:cs typeface="Arial"/>
              </a:rPr>
              <a:t>driver</a:t>
            </a:r>
            <a:endParaRPr sz="1110" b="1" i="0">
              <a:solidFill>
                <a:srgbClr val="FFFFFF"/>
              </a:solidFill>
              <a:latin typeface="Arial"/>
              <a:ea typeface="Arial"/>
              <a:cs typeface="Arial"/>
            </a:endParaRP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1089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calls and returned drivers.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Key-driver genes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returned values are combined by equal-weight, returned-only ACAT.</a:t>
            </a:r>
          </a:p>
        </p:txBody>
      </p:sp>
    </p:spTree>
    <p:extLst>
      <p:ext uri="{BB962C8B-B14F-4D97-AF65-F5344CB8AC3E}">
        <p14:creationId xmlns:p14="http://schemas.microsoft.com/office/powerpoint/2010/main" val="489644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one KDA query per contrast</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Mitochondrial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query per contrast with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run</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Use c</a:t>
            </a:r>
            <a:r>
              <a:rPr sz="1300" b="1" i="0">
                <a:solidFill>
                  <a:srgbClr val="0072B2"/>
                </a:solidFill>
                <a:latin typeface="Arial"/>
                <a:ea typeface="Arial"/>
                <a:cs typeface="Arial"/>
              </a:rPr>
              <a:t>all_key_drivers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KDA run for valid DEG contrast valid</a:t>
            </a:r>
          </a:p>
          <a:p>
            <a:pPr algn="ctr">
              <a:lnSpc>
                <a:spcPct val="100000"/>
              </a:lnSpc>
              <a:spcBef>
                <a:spcPts val="0"/>
              </a:spcBef>
              <a:spcAft>
                <a:spcPts val="0"/>
              </a:spcAft>
              <a:buNone/>
            </a:pPr>
            <a:r>
              <a:rPr sz="1130">
                <a:solidFill>
                  <a:srgbClr val="4E5A68"/>
                </a:solidFill>
                <a:latin typeface="Arial"/>
                <a:ea typeface="Arial"/>
                <a:cs typeface="Arial"/>
              </a:rPr>
              <a:t>n</a:t>
            </a:r>
            <a:r>
              <a:rPr sz="1130" b="0" i="0">
                <a:solidFill>
                  <a:srgbClr val="4E5A68"/>
                </a:solidFill>
                <a:latin typeface="Arial"/>
                <a:ea typeface="Arial"/>
                <a:cs typeface="Arial"/>
              </a:rPr>
              <a:t>umber of genes in query ≥ 3</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mitochondrial DEG query; significant non-MT returns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a:t>
            </a:r>
            <a:r>
              <a:rPr sz="1150" b="0" i="0">
                <a:solidFill>
                  <a:srgbClr val="1F2730"/>
                </a:solidFill>
                <a:latin typeface="Arial"/>
                <a:ea typeface="Arial"/>
                <a:cs typeface="Arial"/>
              </a:rPr>
              <a:t> KDA returned key driver using ACAT for each category</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mitochondrial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call_key_drivers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called?</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calls</a:t>
            </a:r>
          </a:p>
        </p:txBody>
      </p:sp>
    </p:spTree>
    <p:extLst>
      <p:ext uri="{BB962C8B-B14F-4D97-AF65-F5344CB8AC3E}">
        <p14:creationId xmlns:p14="http://schemas.microsoft.com/office/powerpoint/2010/main" val="9708499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a:t>
            </a:r>
            <a:r>
              <a:rPr sz="2100" b="1" i="0">
                <a:solidFill>
                  <a:srgbClr val="0F233D"/>
                </a:solidFill>
                <a:latin typeface="Arial"/>
                <a:ea typeface="Arial"/>
                <a:cs typeface="Arial"/>
              </a:rPr>
              <a:t>ource validity and query size decide whether KDA is called</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a:t>
            </a:r>
            <a:r>
              <a:rPr sz="2100" b="1" i="0">
                <a:solidFill>
                  <a:srgbClr val="0F233D"/>
                </a:solidFill>
                <a:latin typeface="Arial"/>
                <a:ea typeface="Arial"/>
                <a:cs typeface="Arial"/>
              </a:rPr>
              <a:t>itochondrial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Significant positive and negative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 rule ∩ core_mito_protein</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core-MT query genes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39572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genes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query genes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a:t>
            </a:r>
            <a:r>
              <a:rPr sz="2100" b="1" i="0">
                <a:solidFill>
                  <a:srgbClr val="0F233D"/>
                </a:solidFill>
                <a:latin typeface="Arial"/>
                <a:ea typeface="Arial"/>
                <a:cs typeface="Arial"/>
              </a:rPr>
              <a:t>: 381 non-MT gene x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606320"/>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non-MT gene returned from call_key_driver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non-MT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with non-MT returns</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non-MT driver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call counts.</a:t>
            </a:r>
          </a:p>
        </p:txBody>
      </p:sp>
    </p:spTree>
    <p:extLst>
      <p:ext uri="{BB962C8B-B14F-4D97-AF65-F5344CB8AC3E}">
        <p14:creationId xmlns:p14="http://schemas.microsoft.com/office/powerpoint/2010/main" val="13446296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groups, 4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groups, 4 networks.</a:t>
            </a:r>
          </a:p>
        </p:txBody>
      </p:sp>
    </p:spTree>
    <p:extLst>
      <p:ext uri="{BB962C8B-B14F-4D97-AF65-F5344CB8AC3E}">
        <p14:creationId xmlns:p14="http://schemas.microsoft.com/office/powerpoint/2010/main" val="15691138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non-MT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excitatory-neuron drivers recur across sex/APOE groups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non-MT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inhibitory-neuron drivers recur across sex/APOE groups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non-MT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 drivers recur across sex/APOE groups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non-MT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 drivers recur across sex/APOE groups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non-MT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a:t>
            </a:r>
            <a:r>
              <a:rPr sz="1050" b="1">
                <a:solidFill>
                  <a:srgbClr val="009E73"/>
                </a:solidFill>
                <a:latin typeface="Arial"/>
                <a:ea typeface="Arial"/>
                <a:cs typeface="Arial"/>
              </a:rPr>
              <a:t>4</a:t>
            </a:r>
            <a:endParaRPr sz="1050" b="1" i="0">
              <a:solidFill>
                <a:srgbClr val="009E73"/>
              </a:solidFill>
              <a:latin typeface="Arial"/>
              <a:ea typeface="Arial"/>
              <a:cs typeface="Arial"/>
            </a:endParaRP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Call key driver</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mitochondrial DEG query; significant non-MT returns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drivers return in an independent human cohort?</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calls are M_e33.</a:t>
            </a:r>
          </a:p>
        </p:txBody>
      </p:sp>
    </p:spTree>
    <p:extLst>
      <p:ext uri="{BB962C8B-B14F-4D97-AF65-F5344CB8AC3E}">
        <p14:creationId xmlns:p14="http://schemas.microsoft.com/office/powerpoint/2010/main" val="26908292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mitochondrial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a:t>
            </a:r>
            <a:r>
              <a:rPr sz="1900" b="1">
                <a:solidFill>
                  <a:srgbClr val="0F233D"/>
                </a:solidFill>
                <a:latin typeface="Arial"/>
                <a:ea typeface="Arial"/>
                <a:cs typeface="Arial"/>
              </a:rPr>
              <a:t>call_key_drivers calls</a:t>
            </a:r>
            <a:endParaRPr sz="1900" b="1" i="0">
              <a:solidFill>
                <a:srgbClr val="0F233D"/>
              </a:solidFill>
              <a:latin typeface="Arial"/>
              <a:ea typeface="Arial"/>
              <a:cs typeface="Arial"/>
            </a:endParaRP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called?</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calls, one F_e33 call, and one F_e4 call.</a:t>
            </a:r>
          </a:p>
        </p:txBody>
      </p:sp>
    </p:spTree>
    <p:extLst>
      <p:ext uri="{BB962C8B-B14F-4D97-AF65-F5344CB8AC3E}">
        <p14:creationId xmlns:p14="http://schemas.microsoft.com/office/powerpoint/2010/main" val="20297263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non-MT gene x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non-MT gene returned from call_key_driver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with returns</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22467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call_key_driver with returned results; 2 completed empty.</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significant return rows before mitochondrial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core-MitoCarta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non-MT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non-MT genes.</a:t>
            </a:r>
          </a:p>
        </p:txBody>
      </p:sp>
    </p:spTree>
    <p:extLst>
      <p:ext uri="{BB962C8B-B14F-4D97-AF65-F5344CB8AC3E}">
        <p14:creationId xmlns:p14="http://schemas.microsoft.com/office/powerpoint/2010/main" val="77059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non-MT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excitatory-neuron drivers occur in two sex/APOE groups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non-MT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4</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dirty="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runs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Significant driver rows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non-MT drivers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dirty="0"/>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Driver rows count significant returned KDA rows. Unique non-MT drivers exclude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4-versus-3-donor call, which alone generated 26 driver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mitochondrial queries. Therefore, all five KDA runs and all returned drivers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drivers.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Minimum effective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runs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Significant KD rows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non-MT KDs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dirty="0">
                <a:solidFill>
                  <a:srgbClr val="4E5A68"/>
                </a:solidFill>
                <a:latin typeface="Arial"/>
                <a:ea typeface="Arial"/>
                <a:cs typeface="Arial"/>
              </a:rPr>
              <a:t>One query is used per contrast, so query-passing contrasts and KDA runs are identical here.</a:t>
            </a:r>
          </a:p>
        </p:txBody>
      </p:sp>
    </p:spTree>
    <p:extLst>
      <p:ext uri="{BB962C8B-B14F-4D97-AF65-F5344CB8AC3E}">
        <p14:creationId xmlns:p14="http://schemas.microsoft.com/office/powerpoint/2010/main" val="7363244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driver rows.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call remains: 26 rows and 20 unique non-MT drivers.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non-MT drivers.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return is MT-*.</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non-MT driver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driver validation.</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non-MT driver overlap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drivers.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8288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run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dirty="0">
                <a:solidFill>
                  <a:srgbClr val="0072B2"/>
                </a:solidFill>
                <a:latin typeface="Arial"/>
                <a:ea typeface="Arial"/>
                <a:cs typeface="Arial"/>
              </a:rPr>
              <a:t>PART </a:t>
            </a:r>
            <a:r>
              <a:rPr lang="en-US" sz="1050" b="1" i="0" dirty="0">
                <a:solidFill>
                  <a:srgbClr val="0072B2"/>
                </a:solidFill>
                <a:latin typeface="Arial"/>
                <a:ea typeface="Arial"/>
                <a:cs typeface="Arial"/>
              </a:rPr>
              <a:t>5</a:t>
            </a:r>
            <a:endParaRPr sz="1050" b="1" i="0" dirty="0">
              <a:solidFill>
                <a:srgbClr val="0072B2"/>
              </a:solidFill>
              <a:latin typeface="Arial"/>
              <a:ea typeface="Arial"/>
              <a:cs typeface="Arial"/>
            </a:endParaRPr>
          </a:p>
        </p:txBody>
      </p:sp>
    </p:spTree>
    <p:extLst>
      <p:ext uri="{BB962C8B-B14F-4D97-AF65-F5344CB8AC3E}">
        <p14:creationId xmlns:p14="http://schemas.microsoft.com/office/powerpoint/2010/main" val="6867040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excitatory neurons show a reproducible mtDNA-OXPHOS increase</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DEG-program finding, not an identified upstream key driver.</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can support the same biological pattern without matching the exact key driver.</a:t>
            </a:r>
          </a:p>
        </p:txBody>
      </p:sp>
    </p:spTree>
    <p:extLst>
      <p:ext uri="{BB962C8B-B14F-4D97-AF65-F5344CB8AC3E}">
        <p14:creationId xmlns:p14="http://schemas.microsoft.com/office/powerpoint/2010/main" val="4259181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(especially excitatory neurons) raise mtDNA energy-gene RNA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result is repeated across ROSMAP calls and receives program-level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Mitochondrial DNA</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makes RNA instructions
for OXPHOS parts</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more mtDNA-OXPHOS RNA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Plain meaning: the cells make more RNA instructions for mitochondrial energy-system parts.</a:t>
            </a:r>
          </a:p>
        </p:txBody>
      </p:sp>
      <p:sp>
        <p:nvSpPr>
          <p:cNvPr id="21" name="TextBox 20">
            <a:extLst>
              <a:ext uri="{FF2B5EF4-FFF2-40B4-BE49-F238E27FC236}">
                <a16:creationId xmlns:a16="http://schemas.microsoft.com/office/drawing/2014/main" id="{BEA1B3FE-0204-468E-B285-5C23BE914339}"/>
              </a:ext>
            </a:extLst>
          </p:cNvPr>
          <p:cNvSpPr>
            <a:spLocks noGrp="1"/>
          </p:cNvSpPr>
          <p:nvPr/>
        </p:nvSpPr>
        <p:spPr>
          <a:xfrm>
            <a:off x="658368" y="6473952"/>
            <a:ext cx="10881360" cy="146304"/>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Finding 1 synthesis; ROSMAP discovery with supplemental SEA-AD program support.</a:t>
            </a:r>
          </a:p>
        </p:txBody>
      </p:sp>
    </p:spTree>
    <p:extLst>
      <p:ext uri="{BB962C8B-B14F-4D97-AF65-F5344CB8AC3E}">
        <p14:creationId xmlns:p14="http://schemas.microsoft.com/office/powerpoint/2010/main" val="18929641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the female ε3/ε3 mtDNA-OXPHOS signal is consistently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3730752" y="2688342"/>
            <a:ext cx="4809744" cy="47548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217 / 217 mtDNA-OXPHOS occurrences were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8613648" y="2825940"/>
            <a:ext cx="256032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29 F_e33 input queries enriched</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For </a:t>
            </a:r>
            <a:r>
              <a:rPr sz="1520" b="1">
                <a:solidFill>
                  <a:srgbClr val="0F233D"/>
                </a:solidFill>
                <a:latin typeface="Arial"/>
                <a:ea typeface="Arial"/>
                <a:cs typeface="Arial"/>
              </a:rPr>
              <a:t>e</a:t>
            </a:r>
            <a:r>
              <a:rPr sz="1520" b="1" i="0">
                <a:solidFill>
                  <a:srgbClr val="0F233D"/>
                </a:solidFill>
                <a:latin typeface="Arial"/>
                <a:ea typeface="Arial"/>
                <a:cs typeface="Arial"/>
              </a:rPr>
              <a:t>xcitatory-neuron only</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82296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98755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98755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e</a:t>
            </a:r>
            <a:r>
              <a:rPr sz="1019" b="1" i="0">
                <a:solidFill>
                  <a:srgbClr val="0F233D"/>
                </a:solidFill>
                <a:latin typeface="Arial"/>
                <a:ea typeface="Arial"/>
                <a:cs typeface="Arial"/>
              </a:rPr>
              <a:t>ligible fine-cell DEG queries</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446227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462686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462686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DEG occurrences</a:t>
            </a:r>
          </a:p>
        </p:txBody>
      </p:sp>
      <p:sp>
        <p:nvSpPr>
          <p:cNvPr id="16" name="Rounded Rectangle 15">
            <a:extLst>
              <a:ext uri="{FF2B5EF4-FFF2-40B4-BE49-F238E27FC236}">
                <a16:creationId xmlns:a16="http://schemas.microsoft.com/office/drawing/2014/main" id="{7BEBD8D8-AA58-4FB9-8DE6-C310C2812410}"/>
              </a:ext>
            </a:extLst>
          </p:cNvPr>
          <p:cNvSpPr>
            <a:spLocks noGrp="1"/>
          </p:cNvSpPr>
          <p:nvPr/>
        </p:nvSpPr>
        <p:spPr>
          <a:xfrm>
            <a:off x="8101583" y="4432667"/>
            <a:ext cx="3255264" cy="11430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A317F82-12DC-4FA1-A65A-735DF2578A27}"/>
              </a:ext>
            </a:extLst>
          </p:cNvPr>
          <p:cNvSpPr>
            <a:spLocks noGrp="1"/>
          </p:cNvSpPr>
          <p:nvPr/>
        </p:nvSpPr>
        <p:spPr>
          <a:xfrm>
            <a:off x="8266175"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12/14</a:t>
            </a:r>
          </a:p>
        </p:txBody>
      </p:sp>
      <p:sp>
        <p:nvSpPr>
          <p:cNvPr id="18" name="TextBox 17">
            <a:extLst>
              <a:ext uri="{FF2B5EF4-FFF2-40B4-BE49-F238E27FC236}">
                <a16:creationId xmlns:a16="http://schemas.microsoft.com/office/drawing/2014/main" id="{689B7B38-7AA5-4864-A93A-51C81459A594}"/>
              </a:ext>
            </a:extLst>
          </p:cNvPr>
          <p:cNvSpPr>
            <a:spLocks noGrp="1"/>
          </p:cNvSpPr>
          <p:nvPr/>
        </p:nvSpPr>
        <p:spPr>
          <a:xfrm>
            <a:off x="8266175"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KDA input queries enriched</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3" name="Rounded Rectangle 22">
            <a:extLst>
              <a:ext uri="{FF2B5EF4-FFF2-40B4-BE49-F238E27FC236}">
                <a16:creationId xmlns:a16="http://schemas.microsoft.com/office/drawing/2014/main" id="{7A26DA41-6A03-4CC9-BACC-DA751FFA8E7B}"/>
              </a:ext>
            </a:extLst>
          </p:cNvPr>
          <p:cNvSpPr>
            <a:spLocks noGrp="1"/>
          </p:cNvSpPr>
          <p:nvPr/>
        </p:nvSpPr>
        <p:spPr>
          <a:xfrm>
            <a:off x="658368" y="1210479"/>
            <a:ext cx="10881360" cy="586527"/>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808A5551-66D5-4B83-AAA6-63525B06F404}"/>
              </a:ext>
            </a:extLst>
          </p:cNvPr>
          <p:cNvSpPr>
            <a:spLocks noGrp="1"/>
          </p:cNvSpPr>
          <p:nvPr/>
        </p:nvSpPr>
        <p:spPr>
          <a:xfrm>
            <a:off x="1060704" y="1330657"/>
            <a:ext cx="10058400"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FF0000"/>
                </a:solidFill>
                <a:latin typeface="Arial"/>
                <a:ea typeface="Arial"/>
                <a:cs typeface="Arial"/>
              </a:rPr>
              <a:t>Enriched</a:t>
            </a:r>
            <a:r>
              <a:rPr sz="1200" b="0" i="0">
                <a:solidFill>
                  <a:srgbClr val="4E5A68"/>
                </a:solidFill>
                <a:latin typeface="Arial"/>
                <a:ea typeface="Arial"/>
                <a:cs typeface="Arial"/>
              </a:rPr>
              <a:t> = more mtDNA-OXPHOS genes than expected by chance in the exact background (BH-adjusted P &lt; 0.05)</a:t>
            </a:r>
            <a:r>
              <a:rPr sz="1200">
                <a:solidFill>
                  <a:srgbClr val="4E5A68"/>
                </a:solidFill>
                <a:latin typeface="Arial"/>
                <a:ea typeface="Arial"/>
                <a:cs typeface="Arial"/>
              </a:rPr>
              <a:t>, test genes in input query to call_key_drivers().</a:t>
            </a:r>
            <a:endParaRPr sz="1200" b="0" i="0">
              <a:solidFill>
                <a:srgbClr val="4E5A68"/>
              </a:solidFill>
              <a:latin typeface="Arial"/>
              <a:ea typeface="Arial"/>
              <a:cs typeface="Arial"/>
            </a:endParaRP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For all eligible F_e33 calls</a:t>
            </a:r>
          </a:p>
        </p:txBody>
      </p:sp>
    </p:spTree>
    <p:extLst>
      <p:ext uri="{BB962C8B-B14F-4D97-AF65-F5344CB8AC3E}">
        <p14:creationId xmlns:p14="http://schemas.microsoft.com/office/powerpoint/2010/main" val="3319326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narrow but strong support for the excitatory-neuron program</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Only one matched female ε3/ε3 excitatory call was evaluable, so support is strong in direction but limited in coverage.</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 query genes are shared mtDNA-OXPHOS genes</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BH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cross-cohort overlap after correction</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Every shared gene points upward in both datasets.</a:t>
            </a:r>
          </a:p>
        </p:txBody>
      </p:sp>
      <p:sp>
        <p:nvSpPr>
          <p:cNvPr id="37" name="TextBox 36">
            <a:extLst>
              <a:ext uri="{FF2B5EF4-FFF2-40B4-BE49-F238E27FC236}">
                <a16:creationId xmlns:a16="http://schemas.microsoft.com/office/drawing/2014/main" id="{0435DDB5-56F9-4CAD-A36C-1FB0D9BA8C96}"/>
              </a:ext>
            </a:extLst>
          </p:cNvPr>
          <p:cNvSpPr>
            <a:spLocks noGrp="1"/>
          </p:cNvSpPr>
          <p:nvPr/>
        </p:nvSpPr>
        <p:spPr>
          <a:xfrm>
            <a:off x="859536" y="5971032"/>
            <a:ext cx="10479024"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7E4C9A"/>
                </a:solidFill>
                <a:latin typeface="Arial"/>
                <a:ea typeface="Arial"/>
                <a:cs typeface="Arial"/>
              </a:rPr>
              <a:t>Program-level support is useful even though SEA-AD does not select the same upstream driver.</a:t>
            </a:r>
          </a:p>
        </p:txBody>
      </p:sp>
    </p:spTree>
    <p:extLst>
      <p:ext uri="{BB962C8B-B14F-4D97-AF65-F5344CB8AC3E}">
        <p14:creationId xmlns:p14="http://schemas.microsoft.com/office/powerpoint/2010/main" val="11104947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mounting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mtDNA parts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mitochondrial genome encodes 13 core OXPHOS proteins needed for the respiratory system.</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same upward RNA program appears across ROSMAP calls and in the matched SEA-AD comparison.</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919472"/>
            <a:ext cx="7836408" cy="42062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3AB9D-548E-40B1-B1DB-E255E1F441C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the finding does not prove—and the next evidence needed</a:t>
            </a:r>
          </a:p>
        </p:txBody>
      </p:sp>
      <p:sp>
        <p:nvSpPr>
          <p:cNvPr id="3" name="TextBox 2">
            <a:extLst>
              <a:ext uri="{FF2B5EF4-FFF2-40B4-BE49-F238E27FC236}">
                <a16:creationId xmlns:a16="http://schemas.microsoft.com/office/drawing/2014/main" id="{AEE759E3-221F-41CD-834B-FD7BFDB7EC5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RNA-program evidence generates a testable mechanism; it does not finish the mechanism.</a:t>
            </a:r>
          </a:p>
        </p:txBody>
      </p:sp>
      <p:sp>
        <p:nvSpPr>
          <p:cNvPr id="4" name="Rounded Rectangle 3">
            <a:extLst>
              <a:ext uri="{FF2B5EF4-FFF2-40B4-BE49-F238E27FC236}">
                <a16:creationId xmlns:a16="http://schemas.microsoft.com/office/drawing/2014/main" id="{6DF60FD9-435C-445F-AFE1-2154907C8B70}"/>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08092FE-DF35-424C-9739-DE19A60E021D}"/>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37AFEEA-D007-4056-98D6-23C47C001AA2}"/>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21C13DD7-A8DA-46CE-AD90-81BB4E81E0C9}"/>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800B9F7-282E-49F7-B831-6E6BE7C9AD15}"/>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More OXPHOS protein, respiration, or ATP production</a:t>
            </a:r>
          </a:p>
        </p:txBody>
      </p:sp>
      <p:sp>
        <p:nvSpPr>
          <p:cNvPr id="9" name="Oval 8">
            <a:extLst>
              <a:ext uri="{FF2B5EF4-FFF2-40B4-BE49-F238E27FC236}">
                <a16:creationId xmlns:a16="http://schemas.microsoft.com/office/drawing/2014/main" id="{748AB00F-5BF5-4D9F-910A-A57571DE6F01}"/>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F8C0462-616E-41C2-8AAE-98D124CA5550}"/>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female- or ε3/ε3-specific disease effect</a:t>
            </a:r>
          </a:p>
        </p:txBody>
      </p:sp>
      <p:sp>
        <p:nvSpPr>
          <p:cNvPr id="11" name="Oval 10">
            <a:extLst>
              <a:ext uri="{FF2B5EF4-FFF2-40B4-BE49-F238E27FC236}">
                <a16:creationId xmlns:a16="http://schemas.microsoft.com/office/drawing/2014/main" id="{4E0A03FD-DBE6-476E-9EE5-D63EC83A6E47}"/>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73F2430-556C-412C-B33D-4311C9F57492}"/>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Which upstream key driver caused the RNA increase</a:t>
            </a:r>
          </a:p>
        </p:txBody>
      </p:sp>
      <p:sp>
        <p:nvSpPr>
          <p:cNvPr id="13" name="Rounded Rectangle 12">
            <a:extLst>
              <a:ext uri="{FF2B5EF4-FFF2-40B4-BE49-F238E27FC236}">
                <a16:creationId xmlns:a16="http://schemas.microsoft.com/office/drawing/2014/main" id="{97C58CDA-796A-4819-9057-AFC87C2AA4E7}"/>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DFEBD149-D6AE-4E12-AD54-0E4A890365C5}"/>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7FDAEFD-E03B-491F-8404-5EB3362FA374}"/>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AAB9A2AC-9395-4AD2-940F-77E4721D102F}"/>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334B42D-DAD8-4A73-8114-0C5B327562BA}"/>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Donor-aware disease × sex × APOE interaction model</a:t>
            </a:r>
          </a:p>
        </p:txBody>
      </p:sp>
      <p:sp>
        <p:nvSpPr>
          <p:cNvPr id="18" name="Oval 17">
            <a:extLst>
              <a:ext uri="{FF2B5EF4-FFF2-40B4-BE49-F238E27FC236}">
                <a16:creationId xmlns:a16="http://schemas.microsoft.com/office/drawing/2014/main" id="{58249B90-537F-4C2D-9710-23D270AD83E6}"/>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107D0F6-BCD2-4018-9B8D-AD5579C63102}"/>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OXPHOS protein abundance and complex assembly</a:t>
            </a:r>
          </a:p>
        </p:txBody>
      </p:sp>
      <p:sp>
        <p:nvSpPr>
          <p:cNvPr id="20" name="Oval 19">
            <a:extLst>
              <a:ext uri="{FF2B5EF4-FFF2-40B4-BE49-F238E27FC236}">
                <a16:creationId xmlns:a16="http://schemas.microsoft.com/office/drawing/2014/main" id="{00C27A16-5258-4D73-A6CE-2A4CD99CC9DF}"/>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C922C75-C928-4658-A28F-517ED2AD3183}"/>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Oxygen consumption, membrane potential, and ATP</a:t>
            </a:r>
          </a:p>
        </p:txBody>
      </p:sp>
      <p:sp>
        <p:nvSpPr>
          <p:cNvPr id="22" name="TextBox 21">
            <a:extLst>
              <a:ext uri="{FF2B5EF4-FFF2-40B4-BE49-F238E27FC236}">
                <a16:creationId xmlns:a16="http://schemas.microsoft.com/office/drawing/2014/main" id="{99984907-9288-4E04-AEEC-A2CACABFCFAE}"/>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 causal claim requires perturbation and functional rescue—not only another expression dataset.</a:t>
            </a:r>
          </a:p>
        </p:txBody>
      </p:sp>
    </p:spTree>
    <p:extLst>
      <p:ext uri="{BB962C8B-B14F-4D97-AF65-F5344CB8AC3E}">
        <p14:creationId xmlns:p14="http://schemas.microsoft.com/office/powerpoint/2010/main" val="6605308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sex-aware key-driver analysis.</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mtDNA program.</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a mtDNA-up, nuclear-OXPHOS-down mismatch</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DEG-program finding, not an identified upstream key driver.</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DEG pattern without matching the exact ROSMAP drivers.</a:t>
            </a:r>
          </a:p>
        </p:txBody>
      </p:sp>
    </p:spTree>
    <p:extLst>
      <p:ext uri="{BB962C8B-B14F-4D97-AF65-F5344CB8AC3E}">
        <p14:creationId xmlns:p14="http://schemas.microsoft.com/office/powerpoint/2010/main" val="1980501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raise mtDNA energy-gene RNA while lowering nuclear energy-gene RNA</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genomes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support</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Mitochondrial DNA</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6583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mtDNA-OXPHOS RNA
mostly increases in AD</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 DNA</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6583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 OXPHOS RNA
mostly decreases in AD</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RNA instructions for two matching sets of respiratory parts move in opposite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46304"/>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Finding 2 synthesis; ROSMAP discovery with supplemental SEA-AD program support.</a:t>
            </a:r>
          </a:p>
        </p:txBody>
      </p:sp>
    </p:spTree>
    <p:extLst>
      <p:ext uri="{BB962C8B-B14F-4D97-AF65-F5344CB8AC3E}">
        <p14:creationId xmlns:p14="http://schemas.microsoft.com/office/powerpoint/2010/main" val="13367061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OXPHOS RNA directions</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Across 31 eligible fine-cell DEG queries; occurrences repeat genes across calls.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389888"/>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72821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70078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Mitochondrial-DNA OXPHOS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148840"/>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340864"/>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017520"/>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474720"/>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474720"/>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474720"/>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3867912"/>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4" name="TextBox 13">
            <a:extLst>
              <a:ext uri="{FF2B5EF4-FFF2-40B4-BE49-F238E27FC236}">
                <a16:creationId xmlns:a16="http://schemas.microsoft.com/office/drawing/2014/main" id="{23E74C38-1E09-4F5A-8FF9-281E78070AA5}"/>
              </a:ext>
            </a:extLst>
          </p:cNvPr>
          <p:cNvSpPr>
            <a:spLocks noGrp="1"/>
          </p:cNvSpPr>
          <p:nvPr/>
        </p:nvSpPr>
        <p:spPr>
          <a:xfrm>
            <a:off x="1024128" y="4645152"/>
            <a:ext cx="4572000" cy="3474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12 input queries enriched</a:t>
            </a:r>
          </a:p>
        </p:txBody>
      </p:sp>
      <p:sp>
        <p:nvSpPr>
          <p:cNvPr id="15" name="TextBox 14">
            <a:extLst>
              <a:ext uri="{FF2B5EF4-FFF2-40B4-BE49-F238E27FC236}">
                <a16:creationId xmlns:a16="http://schemas.microsoft.com/office/drawing/2014/main" id="{E8A5450C-7B4A-4CC1-BB18-35057EF4349F}"/>
              </a:ext>
            </a:extLst>
          </p:cNvPr>
          <p:cNvSpPr>
            <a:spLocks noGrp="1"/>
          </p:cNvSpPr>
          <p:nvPr/>
        </p:nvSpPr>
        <p:spPr>
          <a:xfrm>
            <a:off x="1024128" y="5065776"/>
            <a:ext cx="4572000"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All 12 enriched queries were in the AD-up direction.</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389888"/>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72821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70078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148840"/>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340864"/>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017520"/>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474720"/>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474720"/>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474720"/>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3867912"/>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
        <p:nvSpPr>
          <p:cNvPr id="26" name="TextBox 25">
            <a:extLst>
              <a:ext uri="{FF2B5EF4-FFF2-40B4-BE49-F238E27FC236}">
                <a16:creationId xmlns:a16="http://schemas.microsoft.com/office/drawing/2014/main" id="{14C01726-1F81-443E-829E-CBFA741B71C0}"/>
              </a:ext>
            </a:extLst>
          </p:cNvPr>
          <p:cNvSpPr>
            <a:spLocks noGrp="1"/>
          </p:cNvSpPr>
          <p:nvPr/>
        </p:nvSpPr>
        <p:spPr>
          <a:xfrm>
            <a:off x="6601968" y="4645152"/>
            <a:ext cx="4572000" cy="3474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9E3A00"/>
                </a:solidFill>
                <a:latin typeface="Arial"/>
                <a:ea typeface="Arial"/>
                <a:cs typeface="Arial"/>
              </a:rPr>
              <a:t>1 input query enriched</a:t>
            </a:r>
          </a:p>
        </p:txBody>
      </p:sp>
      <p:sp>
        <p:nvSpPr>
          <p:cNvPr id="27" name="TextBox 26">
            <a:extLst>
              <a:ext uri="{FF2B5EF4-FFF2-40B4-BE49-F238E27FC236}">
                <a16:creationId xmlns:a16="http://schemas.microsoft.com/office/drawing/2014/main" id="{6F07F581-9873-470D-BD95-B7AFBB6C96DE}"/>
              </a:ext>
            </a:extLst>
          </p:cNvPr>
          <p:cNvSpPr>
            <a:spLocks noGrp="1"/>
          </p:cNvSpPr>
          <p:nvPr/>
        </p:nvSpPr>
        <p:spPr>
          <a:xfrm>
            <a:off x="6601968" y="5065776"/>
            <a:ext cx="4572000"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enriched query was in the AD-down direction.</a:t>
            </a:r>
          </a:p>
        </p:txBody>
      </p:sp>
      <p:sp>
        <p:nvSpPr>
          <p:cNvPr id="28" name="Rounded Rectangle 27">
            <a:extLst>
              <a:ext uri="{FF2B5EF4-FFF2-40B4-BE49-F238E27FC236}">
                <a16:creationId xmlns:a16="http://schemas.microsoft.com/office/drawing/2014/main" id="{F5C9DF25-80E8-4137-9C88-DED94F91CC8D}"/>
              </a:ext>
            </a:extLst>
          </p:cNvPr>
          <p:cNvSpPr>
            <a:spLocks noGrp="1"/>
          </p:cNvSpPr>
          <p:nvPr/>
        </p:nvSpPr>
        <p:spPr>
          <a:xfrm>
            <a:off x="658368" y="5989320"/>
            <a:ext cx="10881360" cy="47548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89EAA1C3-6F43-46DA-B4F8-D7A5A131D2B5}"/>
              </a:ext>
            </a:extLst>
          </p:cNvPr>
          <p:cNvSpPr>
            <a:spLocks noGrp="1"/>
          </p:cNvSpPr>
          <p:nvPr/>
        </p:nvSpPr>
        <p:spPr>
          <a:xfrm>
            <a:off x="896112" y="6126480"/>
            <a:ext cx="10405872"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Enriched = more program genes than expected in a KDA input query (BH &lt; 0.05), not the number of key drivers returned.</a:t>
            </a:r>
          </a:p>
        </p:txBody>
      </p:sp>
    </p:spTree>
    <p:extLst>
      <p:ext uri="{BB962C8B-B14F-4D97-AF65-F5344CB8AC3E}">
        <p14:creationId xmlns:p14="http://schemas.microsoft.com/office/powerpoint/2010/main" val="7059072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program</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8 matched calls were evaluable; support is program-level rather than exact-driver replication.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389888"/>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1790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048256"/>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mitochondrial-query genes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389888"/>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1790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048256"/>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389888"/>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1790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BH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048256"/>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cross-cohort overlap after correction</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377440"/>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2889504"/>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236976"/>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Mitochondrial DNA</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127248"/>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023360"/>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mtDNA-OXPHOS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2889504"/>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236976"/>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 support systems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127248"/>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3931920"/>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OXPHOS, import, ribosome, and maintenance genes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797296"/>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594360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Identity-resolved sensitivity: 21 shared genes, BH = 0.0486.</a:t>
            </a:r>
          </a:p>
        </p:txBody>
      </p:sp>
    </p:spTree>
    <p:extLst>
      <p:ext uri="{BB962C8B-B14F-4D97-AF65-F5344CB8AC3E}">
        <p14:creationId xmlns:p14="http://schemas.microsoft.com/office/powerpoint/2010/main" val="1930367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carry the matched inhibitory-neuron signal?</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agreement spans respiratory subunits, transport, import, mitochondrial ribosomes, and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mtDNA-OXPHOS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 or maintenance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concordant genes</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discordant genes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Opposite RNA directions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Two-genome machine</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mitochondrial DNA and nuclear DNA.</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Support systems also fall</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Import, mitochondrial-ribosome, transport, and maintenance genes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mitonuclear mismatch—not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007CBC-D162-4FA8-AE54-932D4B487E0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the finding does not prove—and the next evidence needed</a:t>
            </a:r>
          </a:p>
        </p:txBody>
      </p:sp>
      <p:sp>
        <p:nvSpPr>
          <p:cNvPr id="3" name="TextBox 2">
            <a:extLst>
              <a:ext uri="{FF2B5EF4-FFF2-40B4-BE49-F238E27FC236}">
                <a16:creationId xmlns:a16="http://schemas.microsoft.com/office/drawing/2014/main" id="{A957451A-66D2-4766-B5A8-016AFE827EE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transcript-level mismatch is a testable hypothesis, not a completed mechanism.</a:t>
            </a:r>
          </a:p>
        </p:txBody>
      </p:sp>
      <p:sp>
        <p:nvSpPr>
          <p:cNvPr id="4" name="Rounded Rectangle 3">
            <a:extLst>
              <a:ext uri="{FF2B5EF4-FFF2-40B4-BE49-F238E27FC236}">
                <a16:creationId xmlns:a16="http://schemas.microsoft.com/office/drawing/2014/main" id="{81BEBC7A-2FE5-4782-A4BF-71630B8E625F}"/>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B647996-5C44-4A81-A071-0C51F76EE995}"/>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D3A5210-085C-492A-A66C-B75F63039958}"/>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0482B3EC-6647-4985-9468-43426D8E1E6D}"/>
              </a:ext>
            </a:extLst>
          </p:cNvPr>
          <p:cNvSpPr>
            <a:spLocks noGrp="1"/>
          </p:cNvSpPr>
          <p:nvPr/>
        </p:nvSpPr>
        <p:spPr>
          <a:xfrm>
            <a:off x="950976" y="2249424"/>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6DEA8BD-73FA-4EAB-9797-E2A227A658BF}"/>
              </a:ext>
            </a:extLst>
          </p:cNvPr>
          <p:cNvSpPr>
            <a:spLocks noGrp="1"/>
          </p:cNvSpPr>
          <p:nvPr/>
        </p:nvSpPr>
        <p:spPr>
          <a:xfrm>
            <a:off x="1124712" y="2121408"/>
            <a:ext cx="4398264"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Physical imbalance of OXPHOS proteins or complexes</a:t>
            </a:r>
          </a:p>
        </p:txBody>
      </p:sp>
      <p:sp>
        <p:nvSpPr>
          <p:cNvPr id="9" name="Oval 8">
            <a:extLst>
              <a:ext uri="{FF2B5EF4-FFF2-40B4-BE49-F238E27FC236}">
                <a16:creationId xmlns:a16="http://schemas.microsoft.com/office/drawing/2014/main" id="{ED99E4E7-24EA-4819-BCEC-0A9AEBCC51D3}"/>
              </a:ext>
            </a:extLst>
          </p:cNvPr>
          <p:cNvSpPr>
            <a:spLocks noGrp="1"/>
          </p:cNvSpPr>
          <p:nvPr/>
        </p:nvSpPr>
        <p:spPr>
          <a:xfrm>
            <a:off x="950976" y="2999232"/>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764D7331-D513-46E2-80A1-4223ED9CD2DF}"/>
              </a:ext>
            </a:extLst>
          </p:cNvPr>
          <p:cNvSpPr>
            <a:spLocks noGrp="1"/>
          </p:cNvSpPr>
          <p:nvPr/>
        </p:nvSpPr>
        <p:spPr>
          <a:xfrm>
            <a:off x="1124712" y="2871215"/>
            <a:ext cx="4398264"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Lower ATP, respiration, or higher oxidative stress</a:t>
            </a:r>
          </a:p>
        </p:txBody>
      </p:sp>
      <p:sp>
        <p:nvSpPr>
          <p:cNvPr id="11" name="Oval 10">
            <a:extLst>
              <a:ext uri="{FF2B5EF4-FFF2-40B4-BE49-F238E27FC236}">
                <a16:creationId xmlns:a16="http://schemas.microsoft.com/office/drawing/2014/main" id="{CAAFD71A-9356-4179-AC55-987E15D97B49}"/>
              </a:ext>
            </a:extLst>
          </p:cNvPr>
          <p:cNvSpPr>
            <a:spLocks noGrp="1"/>
          </p:cNvSpPr>
          <p:nvPr/>
        </p:nvSpPr>
        <p:spPr>
          <a:xfrm>
            <a:off x="950976" y="3749039"/>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5E30417-C349-48B8-A6A5-8B008FBFC05F}"/>
              </a:ext>
            </a:extLst>
          </p:cNvPr>
          <p:cNvSpPr>
            <a:spLocks noGrp="1"/>
          </p:cNvSpPr>
          <p:nvPr/>
        </p:nvSpPr>
        <p:spPr>
          <a:xfrm>
            <a:off x="1124712" y="3621023"/>
            <a:ext cx="4398264"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A male- or ε3/ε3-specific disease interaction</a:t>
            </a:r>
          </a:p>
        </p:txBody>
      </p:sp>
      <p:sp>
        <p:nvSpPr>
          <p:cNvPr id="13" name="Oval 12">
            <a:extLst>
              <a:ext uri="{FF2B5EF4-FFF2-40B4-BE49-F238E27FC236}">
                <a16:creationId xmlns:a16="http://schemas.microsoft.com/office/drawing/2014/main" id="{63004944-6C98-4EFF-A6E8-FD4BEF3F7463}"/>
              </a:ext>
            </a:extLst>
          </p:cNvPr>
          <p:cNvSpPr>
            <a:spLocks noGrp="1"/>
          </p:cNvSpPr>
          <p:nvPr/>
        </p:nvSpPr>
        <p:spPr>
          <a:xfrm>
            <a:off x="950976" y="449884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90F062D3-2B36-419C-A999-539721FE0746}"/>
              </a:ext>
            </a:extLst>
          </p:cNvPr>
          <p:cNvSpPr>
            <a:spLocks noGrp="1"/>
          </p:cNvSpPr>
          <p:nvPr/>
        </p:nvSpPr>
        <p:spPr>
          <a:xfrm>
            <a:off x="1124712" y="4370831"/>
            <a:ext cx="4398264"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Which upstream key driver caused the pattern</a:t>
            </a:r>
          </a:p>
        </p:txBody>
      </p:sp>
      <p:sp>
        <p:nvSpPr>
          <p:cNvPr id="15" name="Rounded Rectangle 14">
            <a:extLst>
              <a:ext uri="{FF2B5EF4-FFF2-40B4-BE49-F238E27FC236}">
                <a16:creationId xmlns:a16="http://schemas.microsoft.com/office/drawing/2014/main" id="{BBEB48D6-038A-478B-9505-C883AF8EB261}"/>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1A9873BC-6B5D-4269-B2F0-5DD3850655E5}"/>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E65-EA69-4A32-ADE0-DF108C9646A5}"/>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8" name="Oval 17">
            <a:extLst>
              <a:ext uri="{FF2B5EF4-FFF2-40B4-BE49-F238E27FC236}">
                <a16:creationId xmlns:a16="http://schemas.microsoft.com/office/drawing/2014/main" id="{77FB08E1-4B17-45E1-BD17-0E1A89ACDB3D}"/>
              </a:ext>
            </a:extLst>
          </p:cNvPr>
          <p:cNvSpPr>
            <a:spLocks noGrp="1"/>
          </p:cNvSpPr>
          <p:nvPr/>
        </p:nvSpPr>
        <p:spPr>
          <a:xfrm>
            <a:off x="6528816" y="2249424"/>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EB7D9F6D-3A0A-471D-9F87-6A0C5CA6542C}"/>
              </a:ext>
            </a:extLst>
          </p:cNvPr>
          <p:cNvSpPr>
            <a:spLocks noGrp="1"/>
          </p:cNvSpPr>
          <p:nvPr/>
        </p:nvSpPr>
        <p:spPr>
          <a:xfrm>
            <a:off x="6702552" y="2121408"/>
            <a:ext cx="4416551"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Donor-aware disease × sex × APOE interaction model</a:t>
            </a:r>
          </a:p>
        </p:txBody>
      </p:sp>
      <p:sp>
        <p:nvSpPr>
          <p:cNvPr id="20" name="Oval 19">
            <a:extLst>
              <a:ext uri="{FF2B5EF4-FFF2-40B4-BE49-F238E27FC236}">
                <a16:creationId xmlns:a16="http://schemas.microsoft.com/office/drawing/2014/main" id="{D834E154-C206-46BA-B7AA-F49AE7F0C014}"/>
              </a:ext>
            </a:extLst>
          </p:cNvPr>
          <p:cNvSpPr>
            <a:spLocks noGrp="1"/>
          </p:cNvSpPr>
          <p:nvPr/>
        </p:nvSpPr>
        <p:spPr>
          <a:xfrm>
            <a:off x="6528816" y="29992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55F9CF5-2B6C-45BF-91B3-BDF4F3BD1ED0}"/>
              </a:ext>
            </a:extLst>
          </p:cNvPr>
          <p:cNvSpPr>
            <a:spLocks noGrp="1"/>
          </p:cNvSpPr>
          <p:nvPr/>
        </p:nvSpPr>
        <p:spPr>
          <a:xfrm>
            <a:off x="6702552" y="2871215"/>
            <a:ext cx="4416551"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Paired mtDNA- and nuclear-encoded OXPHOS proteins</a:t>
            </a:r>
          </a:p>
        </p:txBody>
      </p:sp>
      <p:sp>
        <p:nvSpPr>
          <p:cNvPr id="22" name="Oval 21">
            <a:extLst>
              <a:ext uri="{FF2B5EF4-FFF2-40B4-BE49-F238E27FC236}">
                <a16:creationId xmlns:a16="http://schemas.microsoft.com/office/drawing/2014/main" id="{26501F6B-463F-4ADA-B725-5FC4EB988DB9}"/>
              </a:ext>
            </a:extLst>
          </p:cNvPr>
          <p:cNvSpPr>
            <a:spLocks noGrp="1"/>
          </p:cNvSpPr>
          <p:nvPr/>
        </p:nvSpPr>
        <p:spPr>
          <a:xfrm>
            <a:off x="6528816" y="374903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BF896A35-E0BC-48A7-A807-A5F90A8B8EDC}"/>
              </a:ext>
            </a:extLst>
          </p:cNvPr>
          <p:cNvSpPr>
            <a:spLocks noGrp="1"/>
          </p:cNvSpPr>
          <p:nvPr/>
        </p:nvSpPr>
        <p:spPr>
          <a:xfrm>
            <a:off x="6702552" y="3621023"/>
            <a:ext cx="4416551"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Respiratory-complex assembly, oxygen use, ATP, and ROS</a:t>
            </a:r>
          </a:p>
        </p:txBody>
      </p:sp>
      <p:sp>
        <p:nvSpPr>
          <p:cNvPr id="24" name="Oval 23">
            <a:extLst>
              <a:ext uri="{FF2B5EF4-FFF2-40B4-BE49-F238E27FC236}">
                <a16:creationId xmlns:a16="http://schemas.microsoft.com/office/drawing/2014/main" id="{C1DC7F49-436A-4DE2-BE4E-6137BC06044D}"/>
              </a:ext>
            </a:extLst>
          </p:cNvPr>
          <p:cNvSpPr>
            <a:spLocks noGrp="1"/>
          </p:cNvSpPr>
          <p:nvPr/>
        </p:nvSpPr>
        <p:spPr>
          <a:xfrm>
            <a:off x="6528816" y="449884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4EDC214-B227-4EEE-A2EF-7458075F4636}"/>
              </a:ext>
            </a:extLst>
          </p:cNvPr>
          <p:cNvSpPr>
            <a:spLocks noGrp="1"/>
          </p:cNvSpPr>
          <p:nvPr/>
        </p:nvSpPr>
        <p:spPr>
          <a:xfrm>
            <a:off x="6702552" y="4370831"/>
            <a:ext cx="4416551" cy="7498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Perturb candidate drivers and test functional rescue</a:t>
            </a:r>
          </a:p>
        </p:txBody>
      </p:sp>
      <p:sp>
        <p:nvSpPr>
          <p:cNvPr id="26" name="TextBox 25">
            <a:extLst>
              <a:ext uri="{FF2B5EF4-FFF2-40B4-BE49-F238E27FC236}">
                <a16:creationId xmlns:a16="http://schemas.microsoft.com/office/drawing/2014/main" id="{1AAD8A1E-1B2F-46D6-A47F-3E881E5AD891}"/>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7E4C9A"/>
                </a:solidFill>
                <a:latin typeface="Arial"/>
                <a:ea typeface="Arial"/>
                <a:cs typeface="Arial"/>
              </a:rPr>
              <a:t>SEA-AD strengthens the program observation but cannot replace interaction tests or functional measurements.</a:t>
            </a:r>
          </a:p>
        </p:txBody>
      </p:sp>
    </p:spTree>
    <p:extLst>
      <p:ext uri="{BB962C8B-B14F-4D97-AF65-F5344CB8AC3E}">
        <p14:creationId xmlns:p14="http://schemas.microsoft.com/office/powerpoint/2010/main" val="98077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ingredients—but not this exact mismatch</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Known mitonuclear biology and cell-resolved AD studies make the finding plausible without independently duplicating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Mitonuclear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mitochondrial- and nuclear-encoded parts.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high—mitonuclear imbalance is known,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ε2 cells show coordinated increases from both genomes</a:t>
            </a:r>
          </a:p>
        </p:txBody>
      </p:sp>
      <p:sp>
        <p:nvSpPr>
          <p:cNvPr id="5" name="TextBox 4">
            <a:extLst>
              <a:ext uri="{FF2B5EF4-FFF2-40B4-BE49-F238E27FC236}">
                <a16:creationId xmlns:a16="http://schemas.microsoft.com/office/drawing/2014/main" id="{756E40B9-C59D-4BAE-B894-B255DC34657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DEG-program finding.</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C0B8246-35BF-4AAF-8C67-D62A507C2F3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F49557A-AA46-4D8D-8851-D16CDD14D12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mitochondrial and nuclear OXPHOS RNA mostly increased in female ε2 cells.</a:t>
            </a:r>
          </a:p>
        </p:txBody>
      </p:sp>
    </p:spTree>
    <p:extLst>
      <p:ext uri="{BB962C8B-B14F-4D97-AF65-F5344CB8AC3E}">
        <p14:creationId xmlns:p14="http://schemas.microsoft.com/office/powerpoint/2010/main" val="14171427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raise both mitochondrial and nuclear OXPHOS RNA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genomes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NCI</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MITOCHONDRIAL DNA</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127 of 128 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genome supplies 13 core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 DNA</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239 of 243 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genome supplies most structural OXPHOS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RNA</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instruction sets rise together. Protein assembly and ATP remain unmeasured.</a:t>
            </a:r>
          </a:p>
        </p:txBody>
      </p:sp>
      <p:sp>
        <p:nvSpPr>
          <p:cNvPr id="24" name="Rounded Rectangle 23">
            <a:extLst>
              <a:ext uri="{FF2B5EF4-FFF2-40B4-BE49-F238E27FC236}">
                <a16:creationId xmlns:a16="http://schemas.microsoft.com/office/drawing/2014/main" id="{12FD5B38-A45E-4690-9C15-4C79B2CE5F3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37410B8-E789-453C-A907-5ADCCC9E86D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This is a coordinated transcriptional response, not evidence that mitochondria produce more energy.</a:t>
            </a:r>
          </a:p>
        </p:txBody>
      </p:sp>
    </p:spTree>
    <p:extLst>
      <p:ext uri="{BB962C8B-B14F-4D97-AF65-F5344CB8AC3E}">
        <p14:creationId xmlns:p14="http://schemas.microsoft.com/office/powerpoint/2010/main" val="17833224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3" name="TextBox 2">
            <a:extLst>
              <a:ext uri="{FF2B5EF4-FFF2-40B4-BE49-F238E27FC236}">
                <a16:creationId xmlns:a16="http://schemas.microsoft.com/office/drawing/2014/main" id="{8B78A23B-5C0A-4E24-ABAC-8EFD3DBD0D4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Occurrences repeat a gene when it appears in another eligible fine-cell query.</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nuclear-OXPHOS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2" name="Rounded Rectangle 11">
            <a:extLst>
              <a:ext uri="{FF2B5EF4-FFF2-40B4-BE49-F238E27FC236}">
                <a16:creationId xmlns:a16="http://schemas.microsoft.com/office/drawing/2014/main" id="{934FD0CB-E5F7-46C6-9FB5-1C05A08DA8B2}"/>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8BB4F0-342E-4CEF-9AA2-18F4A55B213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29</a:t>
            </a:r>
          </a:p>
        </p:txBody>
      </p:sp>
      <p:sp>
        <p:nvSpPr>
          <p:cNvPr id="14" name="TextBox 13">
            <a:extLst>
              <a:ext uri="{FF2B5EF4-FFF2-40B4-BE49-F238E27FC236}">
                <a16:creationId xmlns:a16="http://schemas.microsoft.com/office/drawing/2014/main" id="{0CE2AB23-53BC-4638-8749-E5BCF950A8AF}"/>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program-call enrichments</a:t>
            </a:r>
          </a:p>
        </p:txBody>
      </p:sp>
      <p:sp>
        <p:nvSpPr>
          <p:cNvPr id="15" name="TextBox 14">
            <a:extLst>
              <a:ext uri="{FF2B5EF4-FFF2-40B4-BE49-F238E27FC236}">
                <a16:creationId xmlns:a16="http://schemas.microsoft.com/office/drawing/2014/main" id="{F1422170-4328-4392-AF5C-C18E81B73ED6}"/>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20 mtDNA, 9 nuclear</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mtDNA OXPHOS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eligible calls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 OXPHOS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eligible calls</a:t>
            </a:r>
          </a:p>
        </p:txBody>
      </p:sp>
      <p:sp>
        <p:nvSpPr>
          <p:cNvPr id="24" name="Rounded Rectangle 23">
            <a:extLst>
              <a:ext uri="{FF2B5EF4-FFF2-40B4-BE49-F238E27FC236}">
                <a16:creationId xmlns:a16="http://schemas.microsoft.com/office/drawing/2014/main" id="{F1C2F9FB-7027-498B-8C5E-CFA9B32F0144}"/>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236BB1-A699-416F-8582-5524110EB2F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Fine excitatory neurons</a:t>
            </a:r>
          </a:p>
        </p:txBody>
      </p:sp>
      <p:sp>
        <p:nvSpPr>
          <p:cNvPr id="26" name="TextBox 25">
            <a:extLst>
              <a:ext uri="{FF2B5EF4-FFF2-40B4-BE49-F238E27FC236}">
                <a16:creationId xmlns:a16="http://schemas.microsoft.com/office/drawing/2014/main" id="{7B94A92C-0FE6-4A87-9730-14E21FEFD9E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9/12 and 8/12</a:t>
            </a:r>
          </a:p>
        </p:txBody>
      </p:sp>
      <p:sp>
        <p:nvSpPr>
          <p:cNvPr id="27" name="TextBox 26">
            <a:extLst>
              <a:ext uri="{FF2B5EF4-FFF2-40B4-BE49-F238E27FC236}">
                <a16:creationId xmlns:a16="http://schemas.microsoft.com/office/drawing/2014/main" id="{963A9B6B-3DE8-4312-AB95-8B51C21BD64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mtDNA-up and nuclear-OXPHOS-up enrichment, respectively</a:t>
            </a:r>
          </a:p>
        </p:txBody>
      </p:sp>
    </p:spTree>
    <p:extLst>
      <p:ext uri="{BB962C8B-B14F-4D97-AF65-F5344CB8AC3E}">
        <p14:creationId xmlns:p14="http://schemas.microsoft.com/office/powerpoint/2010/main" val="4580754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evidence supports coordination, while broader tests qualify it</a:t>
            </a:r>
          </a:p>
        </p:txBody>
      </p:sp>
      <p:sp>
        <p:nvSpPr>
          <p:cNvPr id="3" name="TextBox 2">
            <a:extLst>
              <a:ext uri="{FF2B5EF4-FFF2-40B4-BE49-F238E27FC236}">
                <a16:creationId xmlns:a16="http://schemas.microsoft.com/office/drawing/2014/main" id="{CED22A51-DB6F-4B92-805C-9D316C8C997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project treats fine-cell results as primary and direct broad-cell results as sensitivity evidence.</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PHASE 11</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Nine of 12 fine types enriched mtDNA-up and eight of 12 enriched nuclear OXPHOS-up.</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 OXPHOS remained strongly up, while the mtDNA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matching female ε2 category was active. Missing coverage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coordinated two-genome claim rests mainly on fine-cell ROSMAP evidence.</a:t>
            </a:r>
          </a:p>
        </p:txBody>
      </p:sp>
    </p:spTree>
    <p:extLst>
      <p:ext uri="{BB962C8B-B14F-4D97-AF65-F5344CB8AC3E}">
        <p14:creationId xmlns:p14="http://schemas.microsoft.com/office/powerpoint/2010/main" val="20427968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genomes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RNA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D54C77-E221-4CFC-86B8-C77A3555D8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3 does not prove, and the next evidence needed</a:t>
            </a:r>
          </a:p>
        </p:txBody>
      </p:sp>
      <p:sp>
        <p:nvSpPr>
          <p:cNvPr id="3" name="TextBox 2">
            <a:extLst>
              <a:ext uri="{FF2B5EF4-FFF2-40B4-BE49-F238E27FC236}">
                <a16:creationId xmlns:a16="http://schemas.microsoft.com/office/drawing/2014/main" id="{0F549F74-1C80-4E9C-A5BE-9E13020D711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5BA66B9B-5913-4764-8D38-0B94A43D0E29}"/>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9FF44744-64E8-429C-96EC-9314D0939B43}"/>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616F1CD8-BCFE-455E-BD1D-34908DEF4310}"/>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BDF3F7B0-1E6E-4DEC-AFD3-92652CE192FC}"/>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52062C0-E53C-4281-AEDA-1958F2EF8319}"/>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Higher OXPHOS protein, complex assembly, or ATP</a:t>
            </a:r>
          </a:p>
        </p:txBody>
      </p:sp>
      <p:sp>
        <p:nvSpPr>
          <p:cNvPr id="9" name="Oval 8">
            <a:extLst>
              <a:ext uri="{FF2B5EF4-FFF2-40B4-BE49-F238E27FC236}">
                <a16:creationId xmlns:a16="http://schemas.microsoft.com/office/drawing/2014/main" id="{825FBF48-A615-4568-9388-0019E2077A86}"/>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2E13B5A0-EAB4-4188-B8F0-3C1D6DB1E4AB}"/>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female by ε2 disease interaction</a:t>
            </a:r>
          </a:p>
        </p:txBody>
      </p:sp>
      <p:sp>
        <p:nvSpPr>
          <p:cNvPr id="11" name="Oval 10">
            <a:extLst>
              <a:ext uri="{FF2B5EF4-FFF2-40B4-BE49-F238E27FC236}">
                <a16:creationId xmlns:a16="http://schemas.microsoft.com/office/drawing/2014/main" id="{781230EB-DF9C-4ABB-BCBC-34C47F2E974F}"/>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66B191B-9598-472F-B969-D170565B4236}"/>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Independent replication across donors or cohorts</a:t>
            </a:r>
          </a:p>
        </p:txBody>
      </p:sp>
      <p:sp>
        <p:nvSpPr>
          <p:cNvPr id="13" name="Rounded Rectangle 12">
            <a:extLst>
              <a:ext uri="{FF2B5EF4-FFF2-40B4-BE49-F238E27FC236}">
                <a16:creationId xmlns:a16="http://schemas.microsoft.com/office/drawing/2014/main" id="{41DB2509-884D-45DD-961D-FC9657975281}"/>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A493BE11-7544-46A0-9363-3EED6D691C32}"/>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4B1EDB1-8DA2-49ED-980F-D3074B8883DD}"/>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490082C3-DDE8-4A14-B80B-7E3820DDC4DF}"/>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A5895E8-D387-44BF-A381-85E2F51C0F18}"/>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Donor-level disease by sex by APOE interaction model</a:t>
            </a:r>
          </a:p>
        </p:txBody>
      </p:sp>
      <p:sp>
        <p:nvSpPr>
          <p:cNvPr id="18" name="Oval 17">
            <a:extLst>
              <a:ext uri="{FF2B5EF4-FFF2-40B4-BE49-F238E27FC236}">
                <a16:creationId xmlns:a16="http://schemas.microsoft.com/office/drawing/2014/main" id="{D339FB7C-89DD-478E-90AB-78E6EE27BC78}"/>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8619CA5-15AD-44D1-A923-F9D7E89E86A7}"/>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APOE-isogenic female neuronal and glial models</a:t>
            </a:r>
          </a:p>
        </p:txBody>
      </p:sp>
      <p:sp>
        <p:nvSpPr>
          <p:cNvPr id="20" name="Oval 19">
            <a:extLst>
              <a:ext uri="{FF2B5EF4-FFF2-40B4-BE49-F238E27FC236}">
                <a16:creationId xmlns:a16="http://schemas.microsoft.com/office/drawing/2014/main" id="{7038F8E9-7C2E-4A5B-BC17-3B4A6EAA9981}"/>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9AF93E4-8EA2-4969-9EC0-A3F83D0FF96E}"/>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OXPHOS protein, ATP, respiration, and stress tolerance</a:t>
            </a:r>
          </a:p>
        </p:txBody>
      </p:sp>
      <p:sp>
        <p:nvSpPr>
          <p:cNvPr id="22" name="TextBox 21">
            <a:extLst>
              <a:ext uri="{FF2B5EF4-FFF2-40B4-BE49-F238E27FC236}">
                <a16:creationId xmlns:a16="http://schemas.microsoft.com/office/drawing/2014/main" id="{1C848634-9EB2-4A55-B804-C88DA91B4CFE}"/>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6580406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female ε2 RNA response.</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program.</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9146986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DEG-program finding.</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a fine-cell decrease in nuclear-encoded OXPHOS RNA.</a:t>
            </a:r>
          </a:p>
        </p:txBody>
      </p:sp>
    </p:spTree>
    <p:extLst>
      <p:ext uri="{BB962C8B-B14F-4D97-AF65-F5344CB8AC3E}">
        <p14:creationId xmlns:p14="http://schemas.microsoft.com/office/powerpoint/2010/main" val="10392468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lower nuclear-encoded OXPHOS RNA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side is strongly downward, while mitochondrial-DNA OXPHOS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subunits come from nuclear DNA.</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MTDNA OXPHOS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genome contributes 26 up and 38 down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Nuclear-sided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mitochondrial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and KDA-aligned evidence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mtDNA component is smaller and more mixed than the nuclear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nuclear-OXPHOS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4/13</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nuclear-down enrichment</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 OXPHOS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Six eligible calls showed significant nuclear-OXPHOS enrichment</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mtDNA OXPHOS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Ten calls showed significant enrichment, but direction was not uniform</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Primary localization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Excitatory fine types</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Four of 13 testable excitatory fine types enriched the nuclear-down program</a:t>
            </a:r>
          </a:p>
        </p:txBody>
      </p:sp>
    </p:spTree>
    <p:extLst>
      <p:ext uri="{BB962C8B-B14F-4D97-AF65-F5344CB8AC3E}">
        <p14:creationId xmlns:p14="http://schemas.microsoft.com/office/powerpoint/2010/main" val="135284564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nuclear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 positive,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 OXPHOS NES was +0.70 with local BH 0.991.</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Significant positive direction</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 OXPHOS NES was +2.01 with local BH 5.62 × 10⁻⁵.</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KDA</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one small astrocyte query</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genes overlapped and the corrected overlap test was not significant, BH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Describe this as a fine-cell female ε4 signal, not a broad-cell-wide effect.</a:t>
            </a:r>
          </a:p>
        </p:txBody>
      </p:sp>
    </p:spTree>
    <p:extLst>
      <p:ext uri="{BB962C8B-B14F-4D97-AF65-F5344CB8AC3E}">
        <p14:creationId xmlns:p14="http://schemas.microsoft.com/office/powerpoint/2010/main" val="8429484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instructions come from nuclear DNA</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nuclear-sided reduction could reflect lower respiratory investment, stress, or a shift in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broad RNA decrease could affect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Subtype composition or other aggregation effects may influence the fine-cell pattern.</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6823FC-2A1C-4B34-B637-3CA8948664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4 does not prove, and the next evidence needed</a:t>
            </a:r>
          </a:p>
        </p:txBody>
      </p:sp>
      <p:sp>
        <p:nvSpPr>
          <p:cNvPr id="3" name="TextBox 2">
            <a:extLst>
              <a:ext uri="{FF2B5EF4-FFF2-40B4-BE49-F238E27FC236}">
                <a16:creationId xmlns:a16="http://schemas.microsoft.com/office/drawing/2014/main" id="{416070F9-7630-4FC7-9721-D7AC838969B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E7C81AF3-0BF3-47C5-86AB-99E8D45F2C46}"/>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8000589-94A0-4BBD-B0BB-97BA6695299F}"/>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2651A58-9500-44C7-BB29-5B5DA526AC03}"/>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B29F2E91-F7A6-4C93-8595-D3FC62C2B0F7}"/>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D0A57F30-9CCB-4FD1-941B-BA2297C6A0B7}"/>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Reduced respiration, ATP, or respiratory-complex abundance</a:t>
            </a:r>
          </a:p>
        </p:txBody>
      </p:sp>
      <p:sp>
        <p:nvSpPr>
          <p:cNvPr id="9" name="Oval 8">
            <a:extLst>
              <a:ext uri="{FF2B5EF4-FFF2-40B4-BE49-F238E27FC236}">
                <a16:creationId xmlns:a16="http://schemas.microsoft.com/office/drawing/2014/main" id="{0E8C8D2D-A55D-43C2-AC79-671FD2E2B27C}"/>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43049DFD-3864-4C68-A9DD-0831D5BF7DFE}"/>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female by ε4 causal interaction</a:t>
            </a:r>
          </a:p>
        </p:txBody>
      </p:sp>
      <p:sp>
        <p:nvSpPr>
          <p:cNvPr id="11" name="Oval 10">
            <a:extLst>
              <a:ext uri="{FF2B5EF4-FFF2-40B4-BE49-F238E27FC236}">
                <a16:creationId xmlns:a16="http://schemas.microsoft.com/office/drawing/2014/main" id="{AA3EDFA5-591C-4259-80C5-0D786C72C25C}"/>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3E0EA0D-B2A0-40BB-9FD1-4B553E8D5B08}"/>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uniform decrease across all mitochondrial genes</a:t>
            </a:r>
          </a:p>
        </p:txBody>
      </p:sp>
      <p:sp>
        <p:nvSpPr>
          <p:cNvPr id="13" name="Rounded Rectangle 12">
            <a:extLst>
              <a:ext uri="{FF2B5EF4-FFF2-40B4-BE49-F238E27FC236}">
                <a16:creationId xmlns:a16="http://schemas.microsoft.com/office/drawing/2014/main" id="{BB2DE5DF-0997-4572-9145-E2D4623D4459}"/>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F3B450FF-905F-4D82-8F6B-AAEF36FBEB1D}"/>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AAA677-84B0-492A-9C88-2629897CF53C}"/>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CAB41422-A94A-4F57-A7C6-B1A30A616E86}"/>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D4EC82-F4F5-4D56-97E6-D833739B9911}"/>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Show every contributing broad and fine cell type</a:t>
            </a:r>
          </a:p>
        </p:txBody>
      </p:sp>
      <p:sp>
        <p:nvSpPr>
          <p:cNvPr id="18" name="Oval 17">
            <a:extLst>
              <a:ext uri="{FF2B5EF4-FFF2-40B4-BE49-F238E27FC236}">
                <a16:creationId xmlns:a16="http://schemas.microsoft.com/office/drawing/2014/main" id="{7406DF8C-513B-449E-9C98-03517828E607}"/>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13D49E9-628D-4287-8C11-4351373FD27A}"/>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Fit donor-level disease by sex by ε4 interactions</a:t>
            </a:r>
          </a:p>
        </p:txBody>
      </p:sp>
      <p:sp>
        <p:nvSpPr>
          <p:cNvPr id="20" name="Oval 19">
            <a:extLst>
              <a:ext uri="{FF2B5EF4-FFF2-40B4-BE49-F238E27FC236}">
                <a16:creationId xmlns:a16="http://schemas.microsoft.com/office/drawing/2014/main" id="{8EC3D292-D163-4C9A-B5A2-8D4EB2F6AAF9}"/>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9A7809D-027F-45D6-B784-7E73CA90CC0B}"/>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respiratory-complex proteins and function</a:t>
            </a:r>
          </a:p>
        </p:txBody>
      </p:sp>
      <p:sp>
        <p:nvSpPr>
          <p:cNvPr id="22" name="TextBox 21">
            <a:extLst>
              <a:ext uri="{FF2B5EF4-FFF2-40B4-BE49-F238E27FC236}">
                <a16:creationId xmlns:a16="http://schemas.microsoft.com/office/drawing/2014/main" id="{A7A63688-1928-4DC4-B417-35037F029C7F}"/>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99455142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mitophagy.</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nuclear-OXPHOS transcript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mitochondrial homeostasis.</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genomes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DEG-program finding.</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mtDNA and nuclear OXPHOS RNA are broadly lower, but query size strongly affects KDA yield.</a:t>
            </a:r>
          </a:p>
        </p:txBody>
      </p:sp>
    </p:spTree>
    <p:extLst>
      <p:ext uri="{BB962C8B-B14F-4D97-AF65-F5344CB8AC3E}">
        <p14:creationId xmlns:p14="http://schemas.microsoft.com/office/powerpoint/2010/main" val="6832662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lower both mitochondrial and nuclear OXPHOS RNA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genomes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queries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MTDNA OXPHOS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mitochondrial-genome OXPHOS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 structural OXPHOS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genomes move downward, unlike a mitonuclear mismatch.</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an unfavorable-looking RNA pattern.</a:t>
            </a:r>
          </a:p>
        </p:txBody>
      </p:sp>
    </p:spTree>
    <p:extLst>
      <p:ext uri="{BB962C8B-B14F-4D97-AF65-F5344CB8AC3E}">
        <p14:creationId xmlns:p14="http://schemas.microsoft.com/office/powerpoint/2010/main" val="453965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broadest downward OXPHOS burden</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pathway results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nuclear-OXPHOS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29</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fine-cell enrichments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 mtDNA, 17 nuclear</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mtDNA OXPHOS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eligible calls showed significant enrichment</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 OXPHOS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Ten eligible calls showed significant enrichment</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Excitatory fine types</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4/14 and 7/14</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mtDNA-down and nuclear-OXPHOS-down enrichment, respectively</a:t>
            </a:r>
          </a:p>
        </p:txBody>
      </p:sp>
    </p:spTree>
    <p:extLst>
      <p:ext uri="{BB962C8B-B14F-4D97-AF65-F5344CB8AC3E}">
        <p14:creationId xmlns:p14="http://schemas.microsoft.com/office/powerpoint/2010/main" val="15523046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mitochondrial queries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Query size can increase the number of network neighborhoods reached and drivers returned.</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query genes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eligible query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ELIGIBLE CALLS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query genes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query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matching male ε2 category was active,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 queries confound KDA driver counts, although they do not automatically erase the DEG direction pattern.</a:t>
            </a:r>
          </a:p>
        </p:txBody>
      </p:sp>
    </p:spTree>
    <p:extLst>
      <p:ext uri="{BB962C8B-B14F-4D97-AF65-F5344CB8AC3E}">
        <p14:creationId xmlns:p14="http://schemas.microsoft.com/office/powerpoint/2010/main" val="20455409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program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Driver abundance is confounded</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More query genes create more opportunities for KDA to return candidates.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DEG direction is interesting, while the unusually high KDA yield needs query-size matching.</a:t>
            </a:r>
          </a:p>
        </p:txBody>
      </p:sp>
    </p:spTree>
    <p:extLst>
      <p:ext uri="{BB962C8B-B14F-4D97-AF65-F5344CB8AC3E}">
        <p14:creationId xmlns:p14="http://schemas.microsoft.com/office/powerpoint/2010/main" val="19047947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F0A32F-D6C7-4C8E-86A6-C4CB9D64604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5 does not prove, and the next evidence needed</a:t>
            </a:r>
          </a:p>
        </p:txBody>
      </p:sp>
      <p:sp>
        <p:nvSpPr>
          <p:cNvPr id="3" name="TextBox 2">
            <a:extLst>
              <a:ext uri="{FF2B5EF4-FFF2-40B4-BE49-F238E27FC236}">
                <a16:creationId xmlns:a16="http://schemas.microsoft.com/office/drawing/2014/main" id="{BF5F9AC7-50F1-4498-8303-44522CE974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B477CD1A-22C7-48F6-997B-94263F4B49C0}"/>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E35D28A-5D92-4A5C-8821-8B460D1E857B}"/>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FBE19D-C86D-4097-87A8-7DB8BAFBBA5A}"/>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7E16EC88-28CE-4A96-9E0E-8FE614CAB692}"/>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BA211EC-02CF-443C-93AE-0A7998EE0EE6}"/>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Loss of mitochondrial function or ATP</a:t>
            </a:r>
          </a:p>
        </p:txBody>
      </p:sp>
      <p:sp>
        <p:nvSpPr>
          <p:cNvPr id="9" name="Oval 8">
            <a:extLst>
              <a:ext uri="{FF2B5EF4-FFF2-40B4-BE49-F238E27FC236}">
                <a16:creationId xmlns:a16="http://schemas.microsoft.com/office/drawing/2014/main" id="{4799BA33-800D-4832-9A98-2F6C11ABC1A8}"/>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5A17805F-D159-41C7-A3DF-74CA535C0A6F}"/>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APOE ε2 caused the downward program</a:t>
            </a:r>
          </a:p>
        </p:txBody>
      </p:sp>
      <p:sp>
        <p:nvSpPr>
          <p:cNvPr id="11" name="Oval 10">
            <a:extLst>
              <a:ext uri="{FF2B5EF4-FFF2-40B4-BE49-F238E27FC236}">
                <a16:creationId xmlns:a16="http://schemas.microsoft.com/office/drawing/2014/main" id="{9B0F6ECF-FB2B-427F-9BFA-0BE675452C0D}"/>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9519CD5-4337-435C-998E-B0D76F0F2F8A}"/>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male by ε2 interaction or stronger driver biology</a:t>
            </a:r>
          </a:p>
        </p:txBody>
      </p:sp>
      <p:sp>
        <p:nvSpPr>
          <p:cNvPr id="13" name="Rounded Rectangle 12">
            <a:extLst>
              <a:ext uri="{FF2B5EF4-FFF2-40B4-BE49-F238E27FC236}">
                <a16:creationId xmlns:a16="http://schemas.microsoft.com/office/drawing/2014/main" id="{BB6CCEF8-2FE3-481D-9F1C-3E618F236776}"/>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B2F35CF-66CD-4BA4-AE8D-969CD8F46FA8}"/>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5CCC071-1384-4885-A763-1435B31F72D1}"/>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6E27A391-3D08-4DF7-BD50-1592A1918395}"/>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C7D0A-A00E-4941-AB9D-F13AD3600B3D}"/>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Repeat KDA with query sizes matched across groups</a:t>
            </a:r>
          </a:p>
        </p:txBody>
      </p:sp>
      <p:sp>
        <p:nvSpPr>
          <p:cNvPr id="18" name="Oval 17">
            <a:extLst>
              <a:ext uri="{FF2B5EF4-FFF2-40B4-BE49-F238E27FC236}">
                <a16:creationId xmlns:a16="http://schemas.microsoft.com/office/drawing/2014/main" id="{21285B16-CB8E-4301-B44D-11BBCB4516AB}"/>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8D64A0B3-CE71-4736-A4CB-9DA3D41322A1}"/>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Fit donor-aware sex and APOE interaction models</a:t>
            </a:r>
          </a:p>
        </p:txBody>
      </p:sp>
      <p:sp>
        <p:nvSpPr>
          <p:cNvPr id="20" name="Oval 19">
            <a:extLst>
              <a:ext uri="{FF2B5EF4-FFF2-40B4-BE49-F238E27FC236}">
                <a16:creationId xmlns:a16="http://schemas.microsoft.com/office/drawing/2014/main" id="{B5759626-720B-468F-A088-60AD8897A34A}"/>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11B2A70-7FB0-4D1A-A1E3-2F8F7C27BB96}"/>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Test respiratory proteins and function in male ε2 models</a:t>
            </a:r>
          </a:p>
        </p:txBody>
      </p:sp>
      <p:sp>
        <p:nvSpPr>
          <p:cNvPr id="22" name="TextBox 21">
            <a:extLst>
              <a:ext uri="{FF2B5EF4-FFF2-40B4-BE49-F238E27FC236}">
                <a16:creationId xmlns:a16="http://schemas.microsoft.com/office/drawing/2014/main" id="{B1610400-DFDD-40D0-B2BD-793D7A8CD760}"/>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72357408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show a weaker possible mitonuclear mismatch</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DEG-program finding.</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mtDNA OXPHOS is mostly up and nuclear OXPHOS is modestly down,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separate mitochondrial and nuclear OXPHOS RNA directions</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MITOCHONDRIAL DNA</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mtDNA-encoded OXPHOS RNA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 DNA</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 structural OXPHOS RNA leans downward, but less strongly.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a clear mtDNA-up tendency and a modest nuclear-down tendency</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nuclear-OXPHOS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mtDNA-up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mtDNA OXPHOS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 OXPHOS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mtDNA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mtDNA-up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mtDNA OXPHOS upward and nuclear OXPHOS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E78E523-0835-4163-BC36-CCF786B36EE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6 does not prove, and the next evidence needed</a:t>
            </a:r>
          </a:p>
        </p:txBody>
      </p:sp>
      <p:sp>
        <p:nvSpPr>
          <p:cNvPr id="3" name="TextBox 2">
            <a:extLst>
              <a:ext uri="{FF2B5EF4-FFF2-40B4-BE49-F238E27FC236}">
                <a16:creationId xmlns:a16="http://schemas.microsoft.com/office/drawing/2014/main" id="{05FEF2B2-947D-4C22-BE17-A61D2FE9BE0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1EE20258-D6CA-44BE-A84E-3E1383A2D905}"/>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2B5057A0-6C26-4788-8B9D-9DFB31EBEF38}"/>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04538B8-629B-4B6C-A8E4-E564A1721449}"/>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BA27A618-5FFA-410B-9F4A-CAEA4D417E39}"/>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A1F62F8-EFD2-4A8D-94C1-FBBBC012E7E8}"/>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physical imbalance of OXPHOS proteins</a:t>
            </a:r>
          </a:p>
        </p:txBody>
      </p:sp>
      <p:sp>
        <p:nvSpPr>
          <p:cNvPr id="9" name="Oval 8">
            <a:extLst>
              <a:ext uri="{FF2B5EF4-FFF2-40B4-BE49-F238E27FC236}">
                <a16:creationId xmlns:a16="http://schemas.microsoft.com/office/drawing/2014/main" id="{52F680FE-D019-4BBE-8983-046C59D79FAB}"/>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7E1192A-8E1C-4214-A295-D908922A99E3}"/>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male by ε4 disease interaction</a:t>
            </a:r>
          </a:p>
        </p:txBody>
      </p:sp>
      <p:sp>
        <p:nvSpPr>
          <p:cNvPr id="11" name="Oval 10">
            <a:extLst>
              <a:ext uri="{FF2B5EF4-FFF2-40B4-BE49-F238E27FC236}">
                <a16:creationId xmlns:a16="http://schemas.microsoft.com/office/drawing/2014/main" id="{E8E5166A-8258-47E9-975E-872AAA6EF8C3}"/>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ABF07DB-33C4-4F84-8029-CE5800B31AA6}"/>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Cross-cohort robustness at broad or fine resolution</a:t>
            </a:r>
          </a:p>
        </p:txBody>
      </p:sp>
      <p:sp>
        <p:nvSpPr>
          <p:cNvPr id="13" name="Rounded Rectangle 12">
            <a:extLst>
              <a:ext uri="{FF2B5EF4-FFF2-40B4-BE49-F238E27FC236}">
                <a16:creationId xmlns:a16="http://schemas.microsoft.com/office/drawing/2014/main" id="{F9E68E1D-9E30-4ACD-B0D1-A6A3DA3A4D87}"/>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1020CD90-973C-492E-80B0-339BAA949249}"/>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4BEDD9F-8007-407A-9CFB-20B2C1B53D8C}"/>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46D0BCF9-C26F-4F8A-AD88-11B48956D1A3}"/>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6950AD8-AFA0-45DE-865A-E819C14F590E}"/>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Freeze a mitonuclear balance score before testing</a:t>
            </a:r>
          </a:p>
        </p:txBody>
      </p:sp>
      <p:sp>
        <p:nvSpPr>
          <p:cNvPr id="18" name="Oval 17">
            <a:extLst>
              <a:ext uri="{FF2B5EF4-FFF2-40B4-BE49-F238E27FC236}">
                <a16:creationId xmlns:a16="http://schemas.microsoft.com/office/drawing/2014/main" id="{A9270600-42B7-45D3-892E-15825AFDF8EB}"/>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EF62B9C9-D658-4409-B9D5-3A37C08E9CA7}"/>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Compare male ε4 with male ε3/ε3 and female ε4</a:t>
            </a:r>
          </a:p>
        </p:txBody>
      </p:sp>
      <p:sp>
        <p:nvSpPr>
          <p:cNvPr id="20" name="Oval 19">
            <a:extLst>
              <a:ext uri="{FF2B5EF4-FFF2-40B4-BE49-F238E27FC236}">
                <a16:creationId xmlns:a16="http://schemas.microsoft.com/office/drawing/2014/main" id="{1433335F-9A5E-417A-B093-67A4EB27DDE2}"/>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026048D-B65C-4D41-BC8E-B37EF1F38738}"/>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paired OXPHOS proteins and respiratory function</a:t>
            </a:r>
          </a:p>
        </p:txBody>
      </p:sp>
      <p:sp>
        <p:nvSpPr>
          <p:cNvPr id="22" name="TextBox 21">
            <a:extLst>
              <a:ext uri="{FF2B5EF4-FFF2-40B4-BE49-F238E27FC236}">
                <a16:creationId xmlns:a16="http://schemas.microsoft.com/office/drawing/2014/main" id="{4BC80B27-665E-4833-AB7B-6A152CEBB20D}"/>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3961173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RNA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mitochondrial OXPHOS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 OXPHOS query genes.</a:t>
            </a:r>
          </a:p>
        </p:txBody>
      </p:sp>
    </p:spTree>
    <p:extLst>
      <p:ext uri="{BB962C8B-B14F-4D97-AF65-F5344CB8AC3E}">
        <p14:creationId xmlns:p14="http://schemas.microsoft.com/office/powerpoint/2010/main" val="136029703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mitochondrial OXPHOS queries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drivers.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 OXPHOS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returned ribosomal genes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drivers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non-mitochondrial drivers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driver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drivers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non-mitochondrial drivers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non-mitochondrial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non-mitochondrial returns</a:t>
            </a:r>
          </a:p>
        </p:txBody>
      </p:sp>
    </p:spTree>
    <p:extLst>
      <p:ext uri="{BB962C8B-B14F-4D97-AF65-F5344CB8AC3E}">
        <p14:creationId xmlns:p14="http://schemas.microsoft.com/office/powerpoint/2010/main" val="98465683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 structural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804733-879C-41CC-B029-9964C7F80CC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7 does not prove, and the next evidence needed</a:t>
            </a:r>
          </a:p>
        </p:txBody>
      </p:sp>
      <p:sp>
        <p:nvSpPr>
          <p:cNvPr id="3" name="TextBox 2">
            <a:extLst>
              <a:ext uri="{FF2B5EF4-FFF2-40B4-BE49-F238E27FC236}">
                <a16:creationId xmlns:a16="http://schemas.microsoft.com/office/drawing/2014/main" id="{5650E44F-F8A0-4F4A-904C-AB9D2A1F38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4CF420AF-DA2A-49F0-85E1-630CB9FBC328}"/>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6456D83B-C654-4A56-BC86-69CB55204F20}"/>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58463B7-1A49-49CF-8926-D7D26A1FBBE9}"/>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365F1BDF-C98B-450A-A8D1-42E1233AF4C4}"/>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53101885-AF4D-451A-9ECC-0889764F1C27}"/>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ribosomal proteins regulate their OXPHOS neighbors</a:t>
            </a:r>
          </a:p>
        </p:txBody>
      </p:sp>
      <p:sp>
        <p:nvSpPr>
          <p:cNvPr id="9" name="Oval 8">
            <a:extLst>
              <a:ext uri="{FF2B5EF4-FFF2-40B4-BE49-F238E27FC236}">
                <a16:creationId xmlns:a16="http://schemas.microsoft.com/office/drawing/2014/main" id="{ED619F53-D5A8-4D25-96CD-6798FFFED171}"/>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BE3369C-8B63-4878-B05E-EB5E9782D795}"/>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Independent replication across fine-cell calls</a:t>
            </a:r>
          </a:p>
        </p:txBody>
      </p:sp>
      <p:sp>
        <p:nvSpPr>
          <p:cNvPr id="11" name="Oval 10">
            <a:extLst>
              <a:ext uri="{FF2B5EF4-FFF2-40B4-BE49-F238E27FC236}">
                <a16:creationId xmlns:a16="http://schemas.microsoft.com/office/drawing/2014/main" id="{75F02FBF-DD87-4E0D-B57A-D65B20ABED5B}"/>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FC595B2E-D648-49A7-92B6-A6599DC2002E}"/>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enrichment survives network-degree controls</a:t>
            </a:r>
          </a:p>
        </p:txBody>
      </p:sp>
      <p:sp>
        <p:nvSpPr>
          <p:cNvPr id="13" name="Rounded Rectangle 12">
            <a:extLst>
              <a:ext uri="{FF2B5EF4-FFF2-40B4-BE49-F238E27FC236}">
                <a16:creationId xmlns:a16="http://schemas.microsoft.com/office/drawing/2014/main" id="{2E11B984-FF21-4419-8B68-EA30DDEA515D}"/>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786AB69A-770A-4B27-A53A-47D3998A057C}"/>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A476CE9-76A0-432D-94A6-8F2D59DCC767}"/>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03DB64CB-43C3-40C7-8E7E-FC7898E27D18}"/>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7866790-71E9-48A8-AB65-4F604C1A7989}"/>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Use degree-matched randomized networks</a:t>
            </a:r>
          </a:p>
        </p:txBody>
      </p:sp>
      <p:sp>
        <p:nvSpPr>
          <p:cNvPr id="18" name="Oval 17">
            <a:extLst>
              <a:ext uri="{FF2B5EF4-FFF2-40B4-BE49-F238E27FC236}">
                <a16:creationId xmlns:a16="http://schemas.microsoft.com/office/drawing/2014/main" id="{7E15F2F3-295D-4A99-9CB9-8F975F00D781}"/>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EC2C3D7-DC0B-44CE-9366-057615F2CCCE}"/>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Repeat KDA after excluding cytosolic-ribosome nodes</a:t>
            </a:r>
          </a:p>
        </p:txBody>
      </p:sp>
      <p:sp>
        <p:nvSpPr>
          <p:cNvPr id="20" name="Oval 19">
            <a:extLst>
              <a:ext uri="{FF2B5EF4-FFF2-40B4-BE49-F238E27FC236}">
                <a16:creationId xmlns:a16="http://schemas.microsoft.com/office/drawing/2014/main" id="{B9A2A22F-BF60-4385-A22C-2BF2FCFA2995}"/>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0F46C43-E302-49ED-9B2C-86D3E98AF7E9}"/>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RPL11 or RPS15 and measure translation and respiration</a:t>
            </a:r>
          </a:p>
        </p:txBody>
      </p:sp>
      <p:sp>
        <p:nvSpPr>
          <p:cNvPr id="22" name="TextBox 21">
            <a:extLst>
              <a:ext uri="{FF2B5EF4-FFF2-40B4-BE49-F238E27FC236}">
                <a16:creationId xmlns:a16="http://schemas.microsoft.com/office/drawing/2014/main" id="{6A5CDAC5-1B5E-4425-9E63-1EA53F5CAAB5}"/>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71770642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 OXPHOS genes.</a:t>
            </a:r>
          </a:p>
        </p:txBody>
      </p:sp>
    </p:spTree>
    <p:extLst>
      <p:ext uri="{BB962C8B-B14F-4D97-AF65-F5344CB8AC3E}">
        <p14:creationId xmlns:p14="http://schemas.microsoft.com/office/powerpoint/2010/main" val="154640372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mitochondrial energy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 OXPHOS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 OXPHOS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 OXPHOS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point toward lower RNA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calls and down in the strongest male ε2 calls</a:t>
            </a:r>
          </a:p>
        </p:txBody>
      </p:sp>
    </p:spTree>
    <p:extLst>
      <p:ext uri="{BB962C8B-B14F-4D97-AF65-F5344CB8AC3E}">
        <p14:creationId xmlns:p14="http://schemas.microsoft.com/office/powerpoint/2010/main" val="17963820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drivers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4FFB41-BA99-400D-8FA8-A8E62CDC128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8 does not prove, and the next evidence needed</a:t>
            </a:r>
          </a:p>
        </p:txBody>
      </p:sp>
      <p:sp>
        <p:nvSpPr>
          <p:cNvPr id="3" name="TextBox 2">
            <a:extLst>
              <a:ext uri="{FF2B5EF4-FFF2-40B4-BE49-F238E27FC236}">
                <a16:creationId xmlns:a16="http://schemas.microsoft.com/office/drawing/2014/main" id="{26640BC7-60BB-4538-9A21-BFC7DB4A8F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DD0D0643-B59D-4677-AC08-CF07E569BCA7}"/>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75CF9AC-B95A-4525-BBE9-DC4246E6671E}"/>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6B01BC86-0C04-45D2-8873-CF6F66F6ADA4}"/>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CE003FB1-6E3A-4FB6-BE17-D1E1DFD659D6}"/>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AC40890-9529-4349-A10B-37AF645C2FE1}"/>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Direct control of the listed OXPHOS genes in AD neurons</a:t>
            </a:r>
          </a:p>
        </p:txBody>
      </p:sp>
      <p:sp>
        <p:nvSpPr>
          <p:cNvPr id="9" name="Oval 8">
            <a:extLst>
              <a:ext uri="{FF2B5EF4-FFF2-40B4-BE49-F238E27FC236}">
                <a16:creationId xmlns:a16="http://schemas.microsoft.com/office/drawing/2014/main" id="{B10E5288-5DEA-4630-8F84-A34FCB90C810}"/>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180BD80-0DD7-4852-A50B-8C12BDE5AF01}"/>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male ε2 recurrence is independent of large queries</a:t>
            </a:r>
          </a:p>
        </p:txBody>
      </p:sp>
      <p:sp>
        <p:nvSpPr>
          <p:cNvPr id="11" name="Oval 10">
            <a:extLst>
              <a:ext uri="{FF2B5EF4-FFF2-40B4-BE49-F238E27FC236}">
                <a16:creationId xmlns:a16="http://schemas.microsoft.com/office/drawing/2014/main" id="{0EEECB76-57D7-4B33-897F-AD5B16F0EDF5}"/>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150344-A58E-456E-B49E-17B5B9C0D4E0}"/>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Final q-value significance for exploratory category scores</a:t>
            </a:r>
          </a:p>
        </p:txBody>
      </p:sp>
      <p:sp>
        <p:nvSpPr>
          <p:cNvPr id="13" name="Rounded Rectangle 12">
            <a:extLst>
              <a:ext uri="{FF2B5EF4-FFF2-40B4-BE49-F238E27FC236}">
                <a16:creationId xmlns:a16="http://schemas.microsoft.com/office/drawing/2014/main" id="{36CDBB97-6285-4E41-8667-21EF8371A7CB}"/>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FEC0D39E-BDA6-4295-A749-7E5A0E8D9602}"/>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061705E-4541-4478-91FD-83D8CA2267A9}"/>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8E055974-296E-4377-BD2E-C6DAB879CFB1}"/>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1CF7992-DA0E-4C9B-8205-A463F75E71A0}"/>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LAMTOR5 in APOE-isogenic neurons</a:t>
            </a:r>
          </a:p>
        </p:txBody>
      </p:sp>
      <p:sp>
        <p:nvSpPr>
          <p:cNvPr id="18" name="Oval 17">
            <a:extLst>
              <a:ext uri="{FF2B5EF4-FFF2-40B4-BE49-F238E27FC236}">
                <a16:creationId xmlns:a16="http://schemas.microsoft.com/office/drawing/2014/main" id="{8E6CBFBE-9D34-44C9-94A1-8AD567D511F3}"/>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2A37CE6-47E0-47C7-A16A-F2D8197AFECA}"/>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lysosomal acidity, mTORC1, and autophagic flow</a:t>
            </a:r>
          </a:p>
        </p:txBody>
      </p:sp>
      <p:sp>
        <p:nvSpPr>
          <p:cNvPr id="20" name="Oval 19">
            <a:extLst>
              <a:ext uri="{FF2B5EF4-FFF2-40B4-BE49-F238E27FC236}">
                <a16:creationId xmlns:a16="http://schemas.microsoft.com/office/drawing/2014/main" id="{A615AA07-B0E3-4F9E-A38C-734B83DF568B}"/>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3FAA71-0996-42B1-A117-5A810B193350}"/>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OXPHOS proteins and respiration in the same cells</a:t>
            </a:r>
          </a:p>
        </p:txBody>
      </p:sp>
      <p:sp>
        <p:nvSpPr>
          <p:cNvPr id="22" name="TextBox 21">
            <a:extLst>
              <a:ext uri="{FF2B5EF4-FFF2-40B4-BE49-F238E27FC236}">
                <a16:creationId xmlns:a16="http://schemas.microsoft.com/office/drawing/2014/main" id="{61CB428E-45A6-4877-A6E5-511FB8A78A38}"/>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3828382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mtDNA-up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driver finding.</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mtDNA-up neighborhood.</a:t>
            </a:r>
          </a:p>
        </p:txBody>
      </p:sp>
    </p:spTree>
    <p:extLst>
      <p:ext uri="{BB962C8B-B14F-4D97-AF65-F5344CB8AC3E}">
        <p14:creationId xmlns:p14="http://schemas.microsoft.com/office/powerpoint/2010/main" val="108580773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mtDNA-up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mitochondrial genes begin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mtDNA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Driver not a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mtDNA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contains an enriched mtDNA-up program</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KDA can nominate a gene by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mtDNA-OXPHOS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mtDNA OXPHOS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program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excitatory calls also return WDR82.</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could return WDR82 in 11 matching excitatory backgrounds but did not, although it supports the female ε3/ε3 mtDNA program.</a:t>
            </a:r>
          </a:p>
        </p:txBody>
      </p:sp>
    </p:spTree>
    <p:extLst>
      <p:ext uri="{BB962C8B-B14F-4D97-AF65-F5344CB8AC3E}">
        <p14:creationId xmlns:p14="http://schemas.microsoft.com/office/powerpoint/2010/main" val="132881313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programs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mtDNA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mtDNA query genes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182F99E-0454-41F1-BE76-09BFD5CC81D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9 does not prove, and the next evidence needed</a:t>
            </a:r>
          </a:p>
        </p:txBody>
      </p:sp>
      <p:sp>
        <p:nvSpPr>
          <p:cNvPr id="3" name="TextBox 2">
            <a:extLst>
              <a:ext uri="{FF2B5EF4-FFF2-40B4-BE49-F238E27FC236}">
                <a16:creationId xmlns:a16="http://schemas.microsoft.com/office/drawing/2014/main" id="{B84AD215-CBE5-45E2-B19C-3F95B96D49E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3B717963-7A99-458A-9ADC-558C1DFAC43F}"/>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1C5556C0-A96C-4A08-A5DA-8F9A341ED256}"/>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0AC54AA5-B7E0-47FB-A6BB-7C454B8EF23D}"/>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3C28FEC2-4509-4CA0-A044-311E7FF3CB06}"/>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73B23FE-FECE-4EE1-A2BE-B6657CCCB8C1}"/>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Direct WDR82 binding to mtDNA or control of mtRNA</a:t>
            </a:r>
          </a:p>
        </p:txBody>
      </p:sp>
      <p:sp>
        <p:nvSpPr>
          <p:cNvPr id="9" name="Oval 8">
            <a:extLst>
              <a:ext uri="{FF2B5EF4-FFF2-40B4-BE49-F238E27FC236}">
                <a16:creationId xmlns:a16="http://schemas.microsoft.com/office/drawing/2014/main" id="{386CF712-FB92-4760-B331-B0B9AC005F9D}"/>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95EC2067-F1CC-40EC-ABD6-3421155D6901}"/>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Four independent mitochondrial regulatory edges</a:t>
            </a:r>
          </a:p>
        </p:txBody>
      </p:sp>
      <p:sp>
        <p:nvSpPr>
          <p:cNvPr id="11" name="Oval 10">
            <a:extLst>
              <a:ext uri="{FF2B5EF4-FFF2-40B4-BE49-F238E27FC236}">
                <a16:creationId xmlns:a16="http://schemas.microsoft.com/office/drawing/2014/main" id="{7322F1DA-5D86-4267-AC5A-C74314F1D35B}"/>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AB860F9-32CF-436A-A2DD-CCBD9B51AC7A}"/>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Cross-cohort driver replication in SEA-AD</a:t>
            </a:r>
          </a:p>
        </p:txBody>
      </p:sp>
      <p:sp>
        <p:nvSpPr>
          <p:cNvPr id="13" name="Rounded Rectangle 12">
            <a:extLst>
              <a:ext uri="{FF2B5EF4-FFF2-40B4-BE49-F238E27FC236}">
                <a16:creationId xmlns:a16="http://schemas.microsoft.com/office/drawing/2014/main" id="{C3FC8F51-203A-4C4D-A778-23963659F553}"/>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EF0EF673-ACFD-4FCA-B431-3FA7D4617695}"/>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8DF10FA-20DF-431C-850F-DE9C280A4E12}"/>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CFA192E3-14CB-4C8C-B16F-BC2CB6252E73}"/>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36CEC4B-7650-4D32-8FCD-18F073FB6DC0}"/>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Repeat KDA without mtDNA-encoded query genes</a:t>
            </a:r>
          </a:p>
        </p:txBody>
      </p:sp>
      <p:sp>
        <p:nvSpPr>
          <p:cNvPr id="18" name="Oval 17">
            <a:extLst>
              <a:ext uri="{FF2B5EF4-FFF2-40B4-BE49-F238E27FC236}">
                <a16:creationId xmlns:a16="http://schemas.microsoft.com/office/drawing/2014/main" id="{2540DAC0-5A84-4731-90D1-1FF3F894603D}"/>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3EF0639-6C75-4BB5-919C-BB41B0F16F28}"/>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Control mitochondrial read fraction and RNA quality</a:t>
            </a:r>
          </a:p>
        </p:txBody>
      </p:sp>
      <p:sp>
        <p:nvSpPr>
          <p:cNvPr id="20" name="Oval 19">
            <a:extLst>
              <a:ext uri="{FF2B5EF4-FFF2-40B4-BE49-F238E27FC236}">
                <a16:creationId xmlns:a16="http://schemas.microsoft.com/office/drawing/2014/main" id="{ACA77DCB-F78A-4A7E-A295-F45BA0A8AFD1}"/>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ED7401E-5FC0-46E4-9651-336E996F7097}"/>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WDR82 and measure mtRNA, H3K4me3, and respiration</a:t>
            </a:r>
          </a:p>
        </p:txBody>
      </p:sp>
      <p:sp>
        <p:nvSpPr>
          <p:cNvPr id="22" name="TextBox 21">
            <a:extLst>
              <a:ext uri="{FF2B5EF4-FFF2-40B4-BE49-F238E27FC236}">
                <a16:creationId xmlns:a16="http://schemas.microsoft.com/office/drawing/2014/main" id="{B04729F6-862D-4B2F-AB7A-22170ECA90A6}"/>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42666487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mtDNA genes begin within long polycistronic transcripts.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the proteins encoded by mtDNA.</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mitochondrial protein-production RNA.</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have lower RNA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as well as appearing in the network</a:t>
            </a:r>
          </a:p>
        </p:txBody>
      </p:sp>
    </p:spTree>
    <p:extLst>
      <p:ext uri="{BB962C8B-B14F-4D97-AF65-F5344CB8AC3E}">
        <p14:creationId xmlns:p14="http://schemas.microsoft.com/office/powerpoint/2010/main" val="173846250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did not select SELENOM as a key driver in those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mtDNA proteins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D2E0C6-BA00-4090-AD2C-97A515B2F9E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10 does not prove, and the next evidence needed</a:t>
            </a:r>
          </a:p>
        </p:txBody>
      </p:sp>
      <p:sp>
        <p:nvSpPr>
          <p:cNvPr id="3" name="TextBox 2">
            <a:extLst>
              <a:ext uri="{FF2B5EF4-FFF2-40B4-BE49-F238E27FC236}">
                <a16:creationId xmlns:a16="http://schemas.microsoft.com/office/drawing/2014/main" id="{6AB3BE6D-961D-45EC-B21E-AB238BAB782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04BC7D62-F917-45B2-8A51-4F1A2C7ECB95}"/>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573FFD7-EFFD-45A9-B766-8D6FF52F5CE5}"/>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EA54B85-BE77-4860-9DA2-1046FC8F76DF}"/>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EEAB249D-0313-40E3-B281-7172851A7D4E}"/>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B28A4D6-99E6-455D-AC40-6F578EC5996A}"/>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Direct SELENOM control of TUFM or MRPS proteins</a:t>
            </a:r>
          </a:p>
        </p:txBody>
      </p:sp>
      <p:sp>
        <p:nvSpPr>
          <p:cNvPr id="9" name="Oval 8">
            <a:extLst>
              <a:ext uri="{FF2B5EF4-FFF2-40B4-BE49-F238E27FC236}">
                <a16:creationId xmlns:a16="http://schemas.microsoft.com/office/drawing/2014/main" id="{70ED1DFD-EE7F-4028-8BAB-360EA448059A}"/>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7B1534-47FF-497E-B90F-51282F66F0E9}"/>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causal effect on mitochondrial translation</a:t>
            </a:r>
          </a:p>
        </p:txBody>
      </p:sp>
      <p:sp>
        <p:nvSpPr>
          <p:cNvPr id="11" name="Oval 10">
            <a:extLst>
              <a:ext uri="{FF2B5EF4-FFF2-40B4-BE49-F238E27FC236}">
                <a16:creationId xmlns:a16="http://schemas.microsoft.com/office/drawing/2014/main" id="{69AF9A20-C37E-44CB-A236-8A7533A3F670}"/>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3F034-D801-4311-842B-29BA16DFCCFA}"/>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Independent human or genetic validation</a:t>
            </a:r>
          </a:p>
        </p:txBody>
      </p:sp>
      <p:sp>
        <p:nvSpPr>
          <p:cNvPr id="13" name="Rounded Rectangle 12">
            <a:extLst>
              <a:ext uri="{FF2B5EF4-FFF2-40B4-BE49-F238E27FC236}">
                <a16:creationId xmlns:a16="http://schemas.microsoft.com/office/drawing/2014/main" id="{412A8E71-92FB-46E2-9E53-C94264916E3F}"/>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BB6BB246-9327-4C59-8A95-5F2823512109}"/>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3E208DA-BE55-480E-AC3D-C5FB9E7581F0}"/>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CC49A0B7-9904-4ECF-B1BA-8C682880AE0A}"/>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540B22D-F32B-49C1-979D-0D5AE74DAF8D}"/>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and rescue SELENOM in excitatory neurons</a:t>
            </a:r>
          </a:p>
        </p:txBody>
      </p:sp>
      <p:sp>
        <p:nvSpPr>
          <p:cNvPr id="18" name="Oval 17">
            <a:extLst>
              <a:ext uri="{FF2B5EF4-FFF2-40B4-BE49-F238E27FC236}">
                <a16:creationId xmlns:a16="http://schemas.microsoft.com/office/drawing/2014/main" id="{B6C7C7D7-4F7B-45C4-98DF-ADE20BD13279}"/>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00567C9-47A4-47D3-9613-E11253C8D37F}"/>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ER calcium and redox state</a:t>
            </a:r>
          </a:p>
        </p:txBody>
      </p:sp>
      <p:sp>
        <p:nvSpPr>
          <p:cNvPr id="20" name="Oval 19">
            <a:extLst>
              <a:ext uri="{FF2B5EF4-FFF2-40B4-BE49-F238E27FC236}">
                <a16:creationId xmlns:a16="http://schemas.microsoft.com/office/drawing/2014/main" id="{9C795723-901F-4364-8AE7-878F36AB7B4D}"/>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36CDEA5-71A7-4BFB-91E7-9BCFE14062B4}"/>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mitochondrial translation, OXPHOS proteins, and respiration</a:t>
            </a:r>
          </a:p>
        </p:txBody>
      </p:sp>
      <p:sp>
        <p:nvSpPr>
          <p:cNvPr id="22" name="TextBox 21">
            <a:extLst>
              <a:ext uri="{FF2B5EF4-FFF2-40B4-BE49-F238E27FC236}">
                <a16:creationId xmlns:a16="http://schemas.microsoft.com/office/drawing/2014/main" id="{5135C2A4-BC6F-4647-8AD5-F48DA88495C8}"/>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8378161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calls</a:t>
            </a:r>
          </a:p>
        </p:txBody>
      </p:sp>
    </p:spTree>
    <p:extLst>
      <p:ext uri="{BB962C8B-B14F-4D97-AF65-F5344CB8AC3E}">
        <p14:creationId xmlns:p14="http://schemas.microsoft.com/office/powerpoint/2010/main" val="4054868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15BA366-CA2D-4D90-8B3F-A43E4C07BC6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11 does not prove, and the next evidence needed</a:t>
            </a:r>
          </a:p>
        </p:txBody>
      </p:sp>
      <p:sp>
        <p:nvSpPr>
          <p:cNvPr id="3" name="TextBox 2">
            <a:extLst>
              <a:ext uri="{FF2B5EF4-FFF2-40B4-BE49-F238E27FC236}">
                <a16:creationId xmlns:a16="http://schemas.microsoft.com/office/drawing/2014/main" id="{4D818D53-5838-4D37-83CF-09BE9397F3F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0EB24A75-CA9F-4C22-98D0-D056F8E157C0}"/>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A14D5245-C411-420F-BC75-02FEFD0AB334}"/>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E01FA25-2E7D-4270-8386-0D230922CC5D}"/>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0D69C205-C0DF-406D-804F-B23ED5E0B92B}"/>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C9EA086-C116-4D20-8B58-C3EC998EEC65}"/>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Control of the listed mitochondrial genes in human neurons</a:t>
            </a:r>
          </a:p>
        </p:txBody>
      </p:sp>
      <p:sp>
        <p:nvSpPr>
          <p:cNvPr id="9" name="Oval 8">
            <a:extLst>
              <a:ext uri="{FF2B5EF4-FFF2-40B4-BE49-F238E27FC236}">
                <a16:creationId xmlns:a16="http://schemas.microsoft.com/office/drawing/2014/main" id="{DAE3FD7A-C895-4DEC-88F7-371E1210F442}"/>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E3F0F7A-2480-4327-8919-03BC9B8A429E}"/>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Exact cell, sex, or APOE replication</a:t>
            </a:r>
          </a:p>
        </p:txBody>
      </p:sp>
      <p:sp>
        <p:nvSpPr>
          <p:cNvPr id="11" name="Oval 10">
            <a:extLst>
              <a:ext uri="{FF2B5EF4-FFF2-40B4-BE49-F238E27FC236}">
                <a16:creationId xmlns:a16="http://schemas.microsoft.com/office/drawing/2014/main" id="{9AC8BD9E-101F-40C3-9DB8-C6C5EE2ED2A7}"/>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460B93B-71BA-4A48-842F-4409597E749F}"/>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weak genetic or selenium-theme evidence is causal</a:t>
            </a:r>
          </a:p>
        </p:txBody>
      </p:sp>
      <p:sp>
        <p:nvSpPr>
          <p:cNvPr id="13" name="Rounded Rectangle 12">
            <a:extLst>
              <a:ext uri="{FF2B5EF4-FFF2-40B4-BE49-F238E27FC236}">
                <a16:creationId xmlns:a16="http://schemas.microsoft.com/office/drawing/2014/main" id="{4BD474CC-C44E-44DA-9B8B-F332D782D5F2}"/>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AA73304E-9817-44F9-97E6-F624788999CF}"/>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5AFE9BF-731D-48AA-BA22-339722E61BF7}"/>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C47F3F06-60EA-445F-8A90-99937E51A44A}"/>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8139C09-28BD-44F8-8F25-6BF6F13E724A}"/>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SELENOW in excitatory and inhibitory neurons</a:t>
            </a:r>
          </a:p>
        </p:txBody>
      </p:sp>
      <p:sp>
        <p:nvSpPr>
          <p:cNvPr id="18" name="Oval 17">
            <a:extLst>
              <a:ext uri="{FF2B5EF4-FFF2-40B4-BE49-F238E27FC236}">
                <a16:creationId xmlns:a16="http://schemas.microsoft.com/office/drawing/2014/main" id="{EC72582C-A4E7-48E7-8E54-16795147F1E5}"/>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E32C35C0-91DA-4D44-AF1E-DDDDBEE7F239}"/>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tau clearance, redox state, and protein quality</a:t>
            </a:r>
          </a:p>
        </p:txBody>
      </p:sp>
      <p:sp>
        <p:nvSpPr>
          <p:cNvPr id="20" name="Oval 19">
            <a:extLst>
              <a:ext uri="{FF2B5EF4-FFF2-40B4-BE49-F238E27FC236}">
                <a16:creationId xmlns:a16="http://schemas.microsoft.com/office/drawing/2014/main" id="{9BBDD8AB-37DD-4ABA-8C96-B6629F41B042}"/>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D92FDC-7BBF-4902-BB55-879F9B54EC96}"/>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Compare normal SELENOW with a redox-inactive version</a:t>
            </a:r>
          </a:p>
        </p:txBody>
      </p:sp>
      <p:sp>
        <p:nvSpPr>
          <p:cNvPr id="22" name="TextBox 21">
            <a:extLst>
              <a:ext uri="{FF2B5EF4-FFF2-40B4-BE49-F238E27FC236}">
                <a16:creationId xmlns:a16="http://schemas.microsoft.com/office/drawing/2014/main" id="{2FA1A561-FA43-46CE-AC35-749ADCC42072}"/>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39315337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7D98B6-F7DD-420E-8D2B-D86072B495C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12 does not prove, and the next evidence needed</a:t>
            </a:r>
          </a:p>
        </p:txBody>
      </p:sp>
      <p:sp>
        <p:nvSpPr>
          <p:cNvPr id="3" name="TextBox 2">
            <a:extLst>
              <a:ext uri="{FF2B5EF4-FFF2-40B4-BE49-F238E27FC236}">
                <a16:creationId xmlns:a16="http://schemas.microsoft.com/office/drawing/2014/main" id="{D2C2129B-4AAA-4465-B5B6-7833BA65001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75033A15-DE31-4C2D-B307-CDACC0D60239}"/>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69184426-E0B1-4868-B75D-BCA3AEEBE81C}"/>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1C7B5CD9-4FFC-46E6-857C-FE139DDA5DE3}"/>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06FBA470-7B10-408F-BC77-A85949E4E30F}"/>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D4AECD7-8786-44C4-904D-21DDB02E7D47}"/>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PGK1 activates BNIP3 or BNIP3L</a:t>
            </a:r>
          </a:p>
        </p:txBody>
      </p:sp>
      <p:sp>
        <p:nvSpPr>
          <p:cNvPr id="9" name="Oval 8">
            <a:extLst>
              <a:ext uri="{FF2B5EF4-FFF2-40B4-BE49-F238E27FC236}">
                <a16:creationId xmlns:a16="http://schemas.microsoft.com/office/drawing/2014/main" id="{9587ADE9-C8E6-449B-BE3A-266CF9902B3F}"/>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08DFACA5-4BCF-4F27-9933-0EC5C9821E90}"/>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Whether glycolysis is adaptive or harmful</a:t>
            </a:r>
          </a:p>
        </p:txBody>
      </p:sp>
      <p:sp>
        <p:nvSpPr>
          <p:cNvPr id="11" name="Oval 10">
            <a:extLst>
              <a:ext uri="{FF2B5EF4-FFF2-40B4-BE49-F238E27FC236}">
                <a16:creationId xmlns:a16="http://schemas.microsoft.com/office/drawing/2014/main" id="{C2FB42A8-2461-4B39-9D49-4D410E1CAF2E}"/>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A99F17C-E3D7-4431-A8D5-D6DD493ED737}"/>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Independent SEA-AD or donor-independent validation</a:t>
            </a:r>
          </a:p>
        </p:txBody>
      </p:sp>
      <p:sp>
        <p:nvSpPr>
          <p:cNvPr id="13" name="Rounded Rectangle 12">
            <a:extLst>
              <a:ext uri="{FF2B5EF4-FFF2-40B4-BE49-F238E27FC236}">
                <a16:creationId xmlns:a16="http://schemas.microsoft.com/office/drawing/2014/main" id="{4C681E42-33E3-47D7-A6DA-1CFAAC0D7190}"/>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9502E2F0-999B-42B4-AE98-C0274FA7E735}"/>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189483E-F19A-4BA0-8592-42F6B997070D}"/>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117CCA0B-BB96-4829-9D34-53A503A955DE}"/>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6FAEE3B-3A0A-44F6-B706-DDAA5936420F}"/>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PGK1 in APOE-isogenic astrocytes</a:t>
            </a:r>
          </a:p>
        </p:txBody>
      </p:sp>
      <p:sp>
        <p:nvSpPr>
          <p:cNvPr id="18" name="Oval 17">
            <a:extLst>
              <a:ext uri="{FF2B5EF4-FFF2-40B4-BE49-F238E27FC236}">
                <a16:creationId xmlns:a16="http://schemas.microsoft.com/office/drawing/2014/main" id="{882F2F4D-9F0C-44B8-ACBD-462E5EBE0A38}"/>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A9C435E-5B35-4E5B-866E-57195F96B21D}"/>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glycolytic rate and mitophagic flow</a:t>
            </a:r>
          </a:p>
        </p:txBody>
      </p:sp>
      <p:sp>
        <p:nvSpPr>
          <p:cNvPr id="20" name="Oval 19">
            <a:extLst>
              <a:ext uri="{FF2B5EF4-FFF2-40B4-BE49-F238E27FC236}">
                <a16:creationId xmlns:a16="http://schemas.microsoft.com/office/drawing/2014/main" id="{99845921-7575-45A8-804E-04B85148BDE5}"/>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64793E09-4A45-4BC4-9C48-D7F5C67C0F29}"/>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Block or rescue BNIP3 and BNIP3L while measuring respiration</a:t>
            </a:r>
          </a:p>
        </p:txBody>
      </p:sp>
      <p:sp>
        <p:nvSpPr>
          <p:cNvPr id="22" name="TextBox 21">
            <a:extLst>
              <a:ext uri="{FF2B5EF4-FFF2-40B4-BE49-F238E27FC236}">
                <a16:creationId xmlns:a16="http://schemas.microsoft.com/office/drawing/2014/main" id="{3037FC5F-496C-4972-AC95-6C654B0A1B47}"/>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33307903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mtDNA and nuclear OXPHOS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5A14A75-15DA-4F90-AACD-655674A37C9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13 does not prove, and the next evidence needed</a:t>
            </a:r>
          </a:p>
        </p:txBody>
      </p:sp>
      <p:sp>
        <p:nvSpPr>
          <p:cNvPr id="3" name="TextBox 2">
            <a:extLst>
              <a:ext uri="{FF2B5EF4-FFF2-40B4-BE49-F238E27FC236}">
                <a16:creationId xmlns:a16="http://schemas.microsoft.com/office/drawing/2014/main" id="{67CEEC50-30EC-481D-B7F7-569F1865D5C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EA1B82A7-6A65-4A8B-8E5F-E160ACAF3705}"/>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53B7B1D0-2A06-4D54-98F0-80CC3AFD76B9}"/>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E4F99D4-51AE-4E8C-AF89-292F3336CC6A}"/>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E1B749AD-224E-43CF-A46A-ADE772B1ED14}"/>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C61F641-4673-402B-A985-445BFBD1670B}"/>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Ferroptosis in human AD OPCs</a:t>
            </a:r>
          </a:p>
        </p:txBody>
      </p:sp>
      <p:sp>
        <p:nvSpPr>
          <p:cNvPr id="9" name="Oval 8">
            <a:extLst>
              <a:ext uri="{FF2B5EF4-FFF2-40B4-BE49-F238E27FC236}">
                <a16:creationId xmlns:a16="http://schemas.microsoft.com/office/drawing/2014/main" id="{3FB51A03-3DC6-4B56-9DAD-E8E86F729BDD}"/>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0659D446-8CAC-4E99-85E3-ED504F64285E}"/>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direct ANKRD11 to ferritin or GPX4 mechanism</a:t>
            </a:r>
          </a:p>
        </p:txBody>
      </p:sp>
      <p:sp>
        <p:nvSpPr>
          <p:cNvPr id="11" name="Oval 10">
            <a:extLst>
              <a:ext uri="{FF2B5EF4-FFF2-40B4-BE49-F238E27FC236}">
                <a16:creationId xmlns:a16="http://schemas.microsoft.com/office/drawing/2014/main" id="{08D17A1F-BF3E-4D1B-BB31-980128F29A60}"/>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DED3833-D758-45E0-B8A8-AAC141A46E85}"/>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Independent recurrence of FTL and ANKRD11 modules</a:t>
            </a:r>
          </a:p>
        </p:txBody>
      </p:sp>
      <p:sp>
        <p:nvSpPr>
          <p:cNvPr id="13" name="Rounded Rectangle 12">
            <a:extLst>
              <a:ext uri="{FF2B5EF4-FFF2-40B4-BE49-F238E27FC236}">
                <a16:creationId xmlns:a16="http://schemas.microsoft.com/office/drawing/2014/main" id="{C8E3979C-1E86-43E5-A334-9318ECE5C4DF}"/>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038F78E9-B0D6-4D28-BD79-37C1D51BFE56}"/>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FDAF4B6-5930-471D-8698-80B00C9EAF3E}"/>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04A9325C-5DDE-4C0C-8938-EAEEA5F288DA}"/>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6636D12-FFEB-4F27-96A7-E1929E716BD9}"/>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free iron, oxidized lipids, and lipid ROS</a:t>
            </a:r>
          </a:p>
        </p:txBody>
      </p:sp>
      <p:sp>
        <p:nvSpPr>
          <p:cNvPr id="18" name="Oval 17">
            <a:extLst>
              <a:ext uri="{FF2B5EF4-FFF2-40B4-BE49-F238E27FC236}">
                <a16:creationId xmlns:a16="http://schemas.microsoft.com/office/drawing/2014/main" id="{7CAC48DA-28DD-4A5D-9D09-4FF6E58A73FA}"/>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8DB97735-AB2B-4B46-8208-684637AAEF82}"/>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GPX4 activity and OPC survival</a:t>
            </a:r>
          </a:p>
        </p:txBody>
      </p:sp>
      <p:sp>
        <p:nvSpPr>
          <p:cNvPr id="20" name="Oval 19">
            <a:extLst>
              <a:ext uri="{FF2B5EF4-FFF2-40B4-BE49-F238E27FC236}">
                <a16:creationId xmlns:a16="http://schemas.microsoft.com/office/drawing/2014/main" id="{00BEA33A-3876-458C-83B0-028A99544423}"/>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85D6F84-570F-44B2-A054-BD76D54DA65F}"/>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Test ferroptosis rescue and perturb FTL and ANKRD11 separately</a:t>
            </a:r>
          </a:p>
        </p:txBody>
      </p:sp>
      <p:sp>
        <p:nvSpPr>
          <p:cNvPr id="22" name="TextBox 21">
            <a:extLst>
              <a:ext uri="{FF2B5EF4-FFF2-40B4-BE49-F238E27FC236}">
                <a16:creationId xmlns:a16="http://schemas.microsoft.com/office/drawing/2014/main" id="{ED23D024-0BE1-4B91-B460-6753269663BA}"/>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90340390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mtDNA OXPHOS,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mtDNA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mtDNA-OXPHOS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PROGRAM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mtDNA-OXPHOS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A46540-7E71-43E3-8346-485E684701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14 does not prove, and the next evidence needed</a:t>
            </a:r>
          </a:p>
        </p:txBody>
      </p:sp>
      <p:sp>
        <p:nvSpPr>
          <p:cNvPr id="3" name="TextBox 2">
            <a:extLst>
              <a:ext uri="{FF2B5EF4-FFF2-40B4-BE49-F238E27FC236}">
                <a16:creationId xmlns:a16="http://schemas.microsoft.com/office/drawing/2014/main" id="{2A151998-81BA-44E7-91CB-EEEF027960B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C8F0062D-B662-4D7B-926A-9EC50263E96F}"/>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6E91E9-97AF-458D-A649-FEDC21BA18D4}"/>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10D564E-29E6-49BB-8693-5C26654AA2B2}"/>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C77D8976-336A-4BB3-B693-5165EB85240B}"/>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468A021F-B914-483C-AE39-341F100AF271}"/>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genetics validates the inhibitory-neuron edge</a:t>
            </a:r>
          </a:p>
        </p:txBody>
      </p:sp>
      <p:sp>
        <p:nvSpPr>
          <p:cNvPr id="9" name="Oval 8">
            <a:extLst>
              <a:ext uri="{FF2B5EF4-FFF2-40B4-BE49-F238E27FC236}">
                <a16:creationId xmlns:a16="http://schemas.microsoft.com/office/drawing/2014/main" id="{4EF929F6-CDE4-4F96-82EF-F4A427EE0CE3}"/>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42918862-31C3-4EAC-8722-3ABF11615A9D}"/>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broad PLCG2 mitochondrial mechanism</a:t>
            </a:r>
          </a:p>
        </p:txBody>
      </p:sp>
      <p:sp>
        <p:nvSpPr>
          <p:cNvPr id="11" name="Oval 10">
            <a:extLst>
              <a:ext uri="{FF2B5EF4-FFF2-40B4-BE49-F238E27FC236}">
                <a16:creationId xmlns:a16="http://schemas.microsoft.com/office/drawing/2014/main" id="{D5566734-D656-4761-B1B9-A65B9609AC90}"/>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4137AD2-0672-407F-8EBE-104E8CC64066}"/>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female-specific PLCG2 disease interaction</a:t>
            </a:r>
          </a:p>
        </p:txBody>
      </p:sp>
      <p:sp>
        <p:nvSpPr>
          <p:cNvPr id="13" name="Rounded Rectangle 12">
            <a:extLst>
              <a:ext uri="{FF2B5EF4-FFF2-40B4-BE49-F238E27FC236}">
                <a16:creationId xmlns:a16="http://schemas.microsoft.com/office/drawing/2014/main" id="{B180D863-8618-49A9-A8A7-D5D274CF93D7}"/>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35B378E-7422-4CA6-882B-187232101EF0}"/>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6081397-FE7E-4E83-920A-248E328E2919}"/>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B6FC62F7-6485-42B4-A044-406179032BA8}"/>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7D9F292-E40F-4112-B913-48BBFA3F5C54}"/>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Confirm PLCG2 RNA and protein by spatial or in situ methods</a:t>
            </a:r>
          </a:p>
        </p:txBody>
      </p:sp>
      <p:sp>
        <p:nvSpPr>
          <p:cNvPr id="18" name="Oval 17">
            <a:extLst>
              <a:ext uri="{FF2B5EF4-FFF2-40B4-BE49-F238E27FC236}">
                <a16:creationId xmlns:a16="http://schemas.microsoft.com/office/drawing/2014/main" id="{D6628816-0BA6-42EC-9A4D-EA16EAAC78E2}"/>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597B329-CFD5-42B4-904A-C473264F4D42}"/>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Perturb PLCG2 in validated neuronal models</a:t>
            </a:r>
          </a:p>
        </p:txBody>
      </p:sp>
      <p:sp>
        <p:nvSpPr>
          <p:cNvPr id="20" name="Oval 19">
            <a:extLst>
              <a:ext uri="{FF2B5EF4-FFF2-40B4-BE49-F238E27FC236}">
                <a16:creationId xmlns:a16="http://schemas.microsoft.com/office/drawing/2014/main" id="{44011077-5206-4E63-86DC-4FF1B08D4B42}"/>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B45353C-2048-4EB1-91B8-C867F4FFF91F}"/>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MT-CO1, other mtRNAs, synapses, and respiration</a:t>
            </a:r>
          </a:p>
        </p:txBody>
      </p:sp>
      <p:sp>
        <p:nvSpPr>
          <p:cNvPr id="22" name="TextBox 21">
            <a:extLst>
              <a:ext uri="{FF2B5EF4-FFF2-40B4-BE49-F238E27FC236}">
                <a16:creationId xmlns:a16="http://schemas.microsoft.com/office/drawing/2014/main" id="{584D4C50-2472-4A79-AE74-6BAEB40885AD}"/>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6532992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respiratory-complex genes also appear</a:t>
            </a:r>
          </a:p>
        </p:txBody>
      </p:sp>
    </p:spTree>
    <p:extLst>
      <p:ext uri="{BB962C8B-B14F-4D97-AF65-F5344CB8AC3E}">
        <p14:creationId xmlns:p14="http://schemas.microsoft.com/office/powerpoint/2010/main" val="105613610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call shows higher APOE RNA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calls show lower APOE RNA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RNA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637A4B1-0F23-4B28-B2F8-029E484BD46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15 does not prove, and the next evidence needed</a:t>
            </a:r>
          </a:p>
        </p:txBody>
      </p:sp>
      <p:sp>
        <p:nvSpPr>
          <p:cNvPr id="3" name="TextBox 2">
            <a:extLst>
              <a:ext uri="{FF2B5EF4-FFF2-40B4-BE49-F238E27FC236}">
                <a16:creationId xmlns:a16="http://schemas.microsoft.com/office/drawing/2014/main" id="{C4211589-5DF8-424E-B07F-9A3D1415634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835D9A16-A54C-4438-81F3-67A57A16AF76}"/>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8843AECE-D933-49DC-95E3-395C9108A192}"/>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4A0A1B8-9C26-498B-A4D0-A9A4F3320FA6}"/>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E95E8463-C794-4306-AA58-CCA169B78A99}"/>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AF16D9E-2DD7-4F1F-8941-936C7D77F0CF}"/>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APOE regulates the neighboring mitochondrial genes</a:t>
            </a:r>
          </a:p>
        </p:txBody>
      </p:sp>
      <p:sp>
        <p:nvSpPr>
          <p:cNvPr id="9" name="Oval 8">
            <a:extLst>
              <a:ext uri="{FF2B5EF4-FFF2-40B4-BE49-F238E27FC236}">
                <a16:creationId xmlns:a16="http://schemas.microsoft.com/office/drawing/2014/main" id="{E16DD561-6922-40B1-A418-C44725603E8F}"/>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C1BAA3BF-B3F8-48BC-BCE6-9B4608374562}"/>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One shared astrocyte module across groups</a:t>
            </a:r>
          </a:p>
        </p:txBody>
      </p:sp>
      <p:sp>
        <p:nvSpPr>
          <p:cNvPr id="11" name="Oval 10">
            <a:extLst>
              <a:ext uri="{FF2B5EF4-FFF2-40B4-BE49-F238E27FC236}">
                <a16:creationId xmlns:a16="http://schemas.microsoft.com/office/drawing/2014/main" id="{2E074677-EFA9-4511-A870-F034FCCBC684}"/>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78DB7E-32F6-4360-8806-FC5D2CF1DB78}"/>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sex or genotype interaction from three separate calls</a:t>
            </a:r>
          </a:p>
        </p:txBody>
      </p:sp>
      <p:sp>
        <p:nvSpPr>
          <p:cNvPr id="13" name="Rounded Rectangle 12">
            <a:extLst>
              <a:ext uri="{FF2B5EF4-FFF2-40B4-BE49-F238E27FC236}">
                <a16:creationId xmlns:a16="http://schemas.microsoft.com/office/drawing/2014/main" id="{B104D396-EF30-4C77-93C7-028136811965}"/>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DD1F0ACC-D716-4B30-AB90-9B704088A36E}"/>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7DF40C1-F4E2-4E08-A914-8E58DDC5F354}"/>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EF2E8255-B64E-499E-A78C-D4CD7ABA050D}"/>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E61D654-E60F-495D-963F-64E7E179F099}"/>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Fit disease by sex by APOE models for astrocyte APOE</a:t>
            </a:r>
          </a:p>
        </p:txBody>
      </p:sp>
      <p:sp>
        <p:nvSpPr>
          <p:cNvPr id="18" name="Oval 17">
            <a:extLst>
              <a:ext uri="{FF2B5EF4-FFF2-40B4-BE49-F238E27FC236}">
                <a16:creationId xmlns:a16="http://schemas.microsoft.com/office/drawing/2014/main" id="{714454C2-6720-4192-915E-5C3566C0E7BD}"/>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883DE8D6-147D-449E-A0B2-886913105A63}"/>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Use APOE-isogenic astrocytes</a:t>
            </a:r>
          </a:p>
        </p:txBody>
      </p:sp>
      <p:sp>
        <p:nvSpPr>
          <p:cNvPr id="20" name="Oval 19">
            <a:extLst>
              <a:ext uri="{FF2B5EF4-FFF2-40B4-BE49-F238E27FC236}">
                <a16:creationId xmlns:a16="http://schemas.microsoft.com/office/drawing/2014/main" id="{37A5FCA7-C2E3-4A9A-AF09-A44EC9FE16FF}"/>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FDFA38B-EEF9-40D6-AFF9-2C6AB5DB7FA9}"/>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lipid handling, neighboring proteins, and mitochondrial function</a:t>
            </a:r>
          </a:p>
        </p:txBody>
      </p:sp>
      <p:sp>
        <p:nvSpPr>
          <p:cNvPr id="22" name="TextBox 21">
            <a:extLst>
              <a:ext uri="{FF2B5EF4-FFF2-40B4-BE49-F238E27FC236}">
                <a16:creationId xmlns:a16="http://schemas.microsoft.com/office/drawing/2014/main" id="{CDFFDD35-A24B-4C3B-AB00-D1B6A283968C}"/>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133123282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calls.</a:t>
            </a:r>
          </a:p>
        </p:txBody>
      </p:sp>
    </p:spTree>
    <p:extLst>
      <p:ext uri="{BB962C8B-B14F-4D97-AF65-F5344CB8AC3E}">
        <p14:creationId xmlns:p14="http://schemas.microsoft.com/office/powerpoint/2010/main" val="55796706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non-MT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5C122C-AABD-4195-A2C7-7D285211C2D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16 does not prove, and the next evidence needed</a:t>
            </a:r>
          </a:p>
        </p:txBody>
      </p:sp>
      <p:sp>
        <p:nvSpPr>
          <p:cNvPr id="3" name="TextBox 2">
            <a:extLst>
              <a:ext uri="{FF2B5EF4-FFF2-40B4-BE49-F238E27FC236}">
                <a16:creationId xmlns:a16="http://schemas.microsoft.com/office/drawing/2014/main" id="{0F9A32C3-4064-4A27-9B80-A85C8DDBD20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A30BA365-049B-459E-A042-DFB723D9280F}"/>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24983D76-DB1E-4652-8599-AC59F746B347}"/>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E1EF561-0898-4125-8C1D-2A9EAD478646}"/>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CCBABE0F-2756-458A-9DA2-8D51C9336AEE}"/>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6D2C0FC-4E07-4A8C-906D-A67BB2B78215}"/>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The type of stress that activated the genes</a:t>
            </a:r>
          </a:p>
        </p:txBody>
      </p:sp>
      <p:sp>
        <p:nvSpPr>
          <p:cNvPr id="9" name="Oval 8">
            <a:extLst>
              <a:ext uri="{FF2B5EF4-FFF2-40B4-BE49-F238E27FC236}">
                <a16:creationId xmlns:a16="http://schemas.microsoft.com/office/drawing/2014/main" id="{110E0C3E-4483-4C8A-8A4D-9E23F7EEB33F}"/>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065554-A286-47AC-8640-DA0C5BA20A52}"/>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broad or sustained vascular response</a:t>
            </a:r>
          </a:p>
        </p:txBody>
      </p:sp>
      <p:sp>
        <p:nvSpPr>
          <p:cNvPr id="11" name="Oval 10">
            <a:extLst>
              <a:ext uri="{FF2B5EF4-FFF2-40B4-BE49-F238E27FC236}">
                <a16:creationId xmlns:a16="http://schemas.microsoft.com/office/drawing/2014/main" id="{45DEE74B-2F99-4E5F-8880-C899541C82AF}"/>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8066F44-EF28-4748-887C-D4C5204D00A5}"/>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female by ε4 disease interaction</a:t>
            </a:r>
          </a:p>
        </p:txBody>
      </p:sp>
      <p:sp>
        <p:nvSpPr>
          <p:cNvPr id="13" name="Rounded Rectangle 12">
            <a:extLst>
              <a:ext uri="{FF2B5EF4-FFF2-40B4-BE49-F238E27FC236}">
                <a16:creationId xmlns:a16="http://schemas.microsoft.com/office/drawing/2014/main" id="{E939EDE8-36EA-4905-A81B-755416534E2D}"/>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29EB9CBE-FD19-4F1D-A140-85CEECB2CA88}"/>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C9E5B0-0268-4E16-8192-014C00889CBA}"/>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1DC2BC51-F1AA-4062-A830-278CF14975E8}"/>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E738993-3945-44EA-8C93-D2F81B533839}"/>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Confirm the module in donor-level vascular data</a:t>
            </a:r>
          </a:p>
        </p:txBody>
      </p:sp>
      <p:sp>
        <p:nvSpPr>
          <p:cNvPr id="18" name="Oval 17">
            <a:extLst>
              <a:ext uri="{FF2B5EF4-FFF2-40B4-BE49-F238E27FC236}">
                <a16:creationId xmlns:a16="http://schemas.microsoft.com/office/drawing/2014/main" id="{A3542EAD-D9B7-407C-8185-3C931869CA68}"/>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5C9A346-D2A6-4E09-8335-FB45CF5531E3}"/>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Fit direct disease by sex by ε4 interactions</a:t>
            </a:r>
          </a:p>
        </p:txBody>
      </p:sp>
      <p:sp>
        <p:nvSpPr>
          <p:cNvPr id="20" name="Oval 19">
            <a:extLst>
              <a:ext uri="{FF2B5EF4-FFF2-40B4-BE49-F238E27FC236}">
                <a16:creationId xmlns:a16="http://schemas.microsoft.com/office/drawing/2014/main" id="{D0EA3927-0015-41DE-9DA7-30CAD3E434C8}"/>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EEE1A73-9946-43BA-B0B0-F266DC98E6D2}"/>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Measure HSF1 targets spatially near brain vessels</a:t>
            </a:r>
          </a:p>
        </p:txBody>
      </p:sp>
      <p:sp>
        <p:nvSpPr>
          <p:cNvPr id="22" name="TextBox 21">
            <a:extLst>
              <a:ext uri="{FF2B5EF4-FFF2-40B4-BE49-F238E27FC236}">
                <a16:creationId xmlns:a16="http://schemas.microsoft.com/office/drawing/2014/main" id="{D0B9E282-0801-4ED5-93EE-820E5B46247F}"/>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6773178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program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Programs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programs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non-MT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non-mitochondrial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PROGRAM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program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non-MT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non-mitochondrial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non-mitochondrial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program.</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programs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Program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8C8AAF-6A14-45F1-83DD-038175D9FC2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What Finding 17 does not prove, and the next evidence needed</a:t>
            </a:r>
          </a:p>
        </p:txBody>
      </p:sp>
      <p:sp>
        <p:nvSpPr>
          <p:cNvPr id="3" name="TextBox 2">
            <a:extLst>
              <a:ext uri="{FF2B5EF4-FFF2-40B4-BE49-F238E27FC236}">
                <a16:creationId xmlns:a16="http://schemas.microsoft.com/office/drawing/2014/main" id="{0401A84C-572D-46D0-A2B4-3CF8F08387C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current analysis defines a testable hypothesis rather than a completed mechanism.</a:t>
            </a:r>
          </a:p>
        </p:txBody>
      </p:sp>
      <p:sp>
        <p:nvSpPr>
          <p:cNvPr id="4" name="Rounded Rectangle 3">
            <a:extLst>
              <a:ext uri="{FF2B5EF4-FFF2-40B4-BE49-F238E27FC236}">
                <a16:creationId xmlns:a16="http://schemas.microsoft.com/office/drawing/2014/main" id="{4A038885-6E02-4777-90DD-C1FFFF5E20DD}"/>
              </a:ext>
            </a:extLst>
          </p:cNvPr>
          <p:cNvSpPr>
            <a:spLocks noGrp="1"/>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2ECAD3A-7CD5-4012-9F67-9A725D8D48A5}"/>
              </a:ext>
            </a:extLst>
          </p:cNvPr>
          <p:cNvSpPr>
            <a:spLocks noGrp="1"/>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CDB2F60-7483-479F-9DDA-1A8436D11557}"/>
              </a:ext>
            </a:extLst>
          </p:cNvPr>
          <p:cNvSpPr>
            <a:spLocks noGrp="1"/>
          </p:cNvSpPr>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Not proven</a:t>
            </a:r>
          </a:p>
        </p:txBody>
      </p:sp>
      <p:sp>
        <p:nvSpPr>
          <p:cNvPr id="7" name="Oval 6">
            <a:extLst>
              <a:ext uri="{FF2B5EF4-FFF2-40B4-BE49-F238E27FC236}">
                <a16:creationId xmlns:a16="http://schemas.microsoft.com/office/drawing/2014/main" id="{6F7D96FF-7481-41F5-A863-947E23CD85D7}"/>
              </a:ext>
            </a:extLst>
          </p:cNvPr>
          <p:cNvSpPr>
            <a:spLocks noGrp="1"/>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DBAF205D-D935-46C2-AE7C-0F7394E760D6}"/>
              </a:ext>
            </a:extLst>
          </p:cNvPr>
          <p:cNvSpPr>
            <a:spLocks noGrp="1"/>
          </p:cNvSpPr>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That zero exact matches refutes ROSMAP candidates</a:t>
            </a:r>
          </a:p>
        </p:txBody>
      </p:sp>
      <p:sp>
        <p:nvSpPr>
          <p:cNvPr id="9" name="Oval 8">
            <a:extLst>
              <a:ext uri="{FF2B5EF4-FFF2-40B4-BE49-F238E27FC236}">
                <a16:creationId xmlns:a16="http://schemas.microsoft.com/office/drawing/2014/main" id="{5CD7FE61-C01D-460C-A9BB-DEB859257B88}"/>
              </a:ext>
            </a:extLst>
          </p:cNvPr>
          <p:cNvSpPr>
            <a:spLocks noGrp="1"/>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7C72BE04-3FB6-45DC-A571-755640FBDC10}"/>
              </a:ext>
            </a:extLst>
          </p:cNvPr>
          <p:cNvSpPr>
            <a:spLocks noGrp="1"/>
          </p:cNvSpPr>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Original contexts for LAGE3, MIPOL1, or PAPOLA</a:t>
            </a:r>
          </a:p>
        </p:txBody>
      </p:sp>
      <p:sp>
        <p:nvSpPr>
          <p:cNvPr id="11" name="Oval 10">
            <a:extLst>
              <a:ext uri="{FF2B5EF4-FFF2-40B4-BE49-F238E27FC236}">
                <a16:creationId xmlns:a16="http://schemas.microsoft.com/office/drawing/2014/main" id="{32ED659D-829A-4B45-BB52-412B2BABB442}"/>
              </a:ext>
            </a:extLst>
          </p:cNvPr>
          <p:cNvSpPr>
            <a:spLocks noGrp="1"/>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D3BF874-C8E6-4DD8-AE42-9EC33F515F36}"/>
              </a:ext>
            </a:extLst>
          </p:cNvPr>
          <p:cNvSpPr>
            <a:spLocks noGrp="1"/>
          </p:cNvSpPr>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A shared upstream cause for similar mitochondrial programs</a:t>
            </a:r>
          </a:p>
        </p:txBody>
      </p:sp>
      <p:sp>
        <p:nvSpPr>
          <p:cNvPr id="13" name="Rounded Rectangle 12">
            <a:extLst>
              <a:ext uri="{FF2B5EF4-FFF2-40B4-BE49-F238E27FC236}">
                <a16:creationId xmlns:a16="http://schemas.microsoft.com/office/drawing/2014/main" id="{F84B8D58-C048-4BCD-AD6B-C02443BC451A}"/>
              </a:ext>
            </a:extLst>
          </p:cNvPr>
          <p:cNvSpPr>
            <a:spLocks noGrp="1"/>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7139715D-2729-46B7-B54C-C7728952164A}"/>
              </a:ext>
            </a:extLst>
          </p:cNvPr>
          <p:cNvSpPr>
            <a:spLocks noGrp="1"/>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A74774-D4C9-47DC-A54D-9E24C00758C4}"/>
              </a:ext>
            </a:extLst>
          </p:cNvPr>
          <p:cNvSpPr>
            <a:spLocks noGrp="1"/>
          </p:cNvSpPr>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Best next tests</a:t>
            </a:r>
          </a:p>
        </p:txBody>
      </p:sp>
      <p:sp>
        <p:nvSpPr>
          <p:cNvPr id="16" name="Oval 15">
            <a:extLst>
              <a:ext uri="{FF2B5EF4-FFF2-40B4-BE49-F238E27FC236}">
                <a16:creationId xmlns:a16="http://schemas.microsoft.com/office/drawing/2014/main" id="{66DAEF89-C272-4F7B-A7BC-D706EEAB233A}"/>
              </a:ext>
            </a:extLst>
          </p:cNvPr>
          <p:cNvSpPr>
            <a:spLocks noGrp="1"/>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42C559-DA01-490D-B5A4-38C9BB3EAC06}"/>
              </a:ext>
            </a:extLst>
          </p:cNvPr>
          <p:cNvSpPr>
            <a:spLocks noGrp="1"/>
          </p:cNvSpPr>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Freeze driver-associated signed gene sets before validation</a:t>
            </a:r>
          </a:p>
        </p:txBody>
      </p:sp>
      <p:sp>
        <p:nvSpPr>
          <p:cNvPr id="18" name="Oval 17">
            <a:extLst>
              <a:ext uri="{FF2B5EF4-FFF2-40B4-BE49-F238E27FC236}">
                <a16:creationId xmlns:a16="http://schemas.microsoft.com/office/drawing/2014/main" id="{C88A6372-0E0B-448A-A3B6-520BA29D2FB5}"/>
              </a:ext>
            </a:extLst>
          </p:cNvPr>
          <p:cNvSpPr>
            <a:spLocks noGrp="1"/>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651C554-9803-46B7-A16E-3613038D5594}"/>
              </a:ext>
            </a:extLst>
          </p:cNvPr>
          <p:cNvSpPr>
            <a:spLocks noGrp="1"/>
          </p:cNvSpPr>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Harmonize networks, stable IDs, and thresholds</a:t>
            </a:r>
          </a:p>
        </p:txBody>
      </p:sp>
      <p:sp>
        <p:nvSpPr>
          <p:cNvPr id="20" name="Oval 19">
            <a:extLst>
              <a:ext uri="{FF2B5EF4-FFF2-40B4-BE49-F238E27FC236}">
                <a16:creationId xmlns:a16="http://schemas.microsoft.com/office/drawing/2014/main" id="{4C709F26-04D6-47C5-A04A-E7CE6F1C241A}"/>
              </a:ext>
            </a:extLst>
          </p:cNvPr>
          <p:cNvSpPr>
            <a:spLocks noGrp="1"/>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6407286D-B69D-43EF-BE74-D885510BE770}"/>
              </a:ext>
            </a:extLst>
          </p:cNvPr>
          <p:cNvSpPr>
            <a:spLocks noGrp="1"/>
          </p:cNvSpPr>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0" i="0">
                <a:solidFill>
                  <a:srgbClr val="1F2730"/>
                </a:solidFill>
                <a:latin typeface="Arial"/>
                <a:ea typeface="Arial"/>
                <a:cs typeface="Arial"/>
              </a:rPr>
              <a:t>Test matched and related contexts in a larger balanced cohort</a:t>
            </a:r>
          </a:p>
        </p:txBody>
      </p:sp>
      <p:sp>
        <p:nvSpPr>
          <p:cNvPr id="22" name="TextBox 21">
            <a:extLst>
              <a:ext uri="{FF2B5EF4-FFF2-40B4-BE49-F238E27FC236}">
                <a16:creationId xmlns:a16="http://schemas.microsoft.com/office/drawing/2014/main" id="{DA7B2205-9968-4001-B93E-33EA7F034C16}"/>
              </a:ext>
            </a:extLst>
          </p:cNvPr>
          <p:cNvSpPr>
            <a:spLocks noGrp="1"/>
          </p:cNvSpPr>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Causal interpretation requires donor-aware statistics, perturbation, and functional measurement.</a:t>
            </a:r>
          </a:p>
        </p:txBody>
      </p:sp>
    </p:spTree>
    <p:extLst>
      <p:ext uri="{BB962C8B-B14F-4D97-AF65-F5344CB8AC3E}">
        <p14:creationId xmlns:p14="http://schemas.microsoft.com/office/powerpoint/2010/main" val="20709907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program</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mtDNA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program</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35313</Words>
  <Application>Microsoft Macintosh PowerPoint</Application>
  <DocSecurity>0</DocSecurity>
  <PresentationFormat>Widescreen</PresentationFormat>
  <Paragraphs>3548</Paragraphs>
  <Slides>160</Slides>
  <Notes>160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160</vt:i4>
      </vt:variant>
    </vt:vector>
  </HeadingPairs>
  <TitlesOfParts>
    <vt:vector size="16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7</cp:revision>
  <dcterms:created xsi:type="dcterms:W3CDTF">2026-09-19T15:08:58Z</dcterms:created>
  <dcterms:modified xsi:type="dcterms:W3CDTF">2026-09-19T18:01:02Z</dcterms:modified>
</cp:coreProperties>
</file>