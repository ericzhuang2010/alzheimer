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  <p:sldId id="273" r:id="rId9"/>
    <p:sldId id="272" r:id="rId10"/>
    <p:sldId id="271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/>
    <p:restoredTop sz="97023"/>
  </p:normalViewPr>
  <p:slideViewPr>
    <p:cSldViewPr snapToGrid="0" snapToObjects="1">
      <p:cViewPr varScale="1">
        <p:scale>
          <a:sx n="150" d="100"/>
          <a:sy n="150" d="100"/>
        </p:scale>
        <p:origin x="168" y="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1913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Introduce the analysis in both cohorts.</a:t>
            </a:r>
          </a:p>
          <a:p>
            <a:endParaRPr/>
          </a:p>
          <a:p>
            <a:r>
              <a:t>Walk through: Part I summarizes 194 ROSMAP KDA calls and 381 non-MT gene-by-category units. Part II summarizes 22 SEA-AD calls against SEA-AD-specific networks and 44 units.</a:t>
            </a:r>
          </a:p>
          <a:p>
            <a:endParaRPr/>
          </a:p>
          <a:p>
            <a:r>
              <a:t>Scientific boundary: Each contrast contributes at most one mitochondrial DEG query and one KDA call.</a:t>
            </a:r>
          </a:p>
          <a:p>
            <a:endParaRPr/>
          </a:p>
          <a:p>
            <a:r>
              <a:t>Transition: Compare the cohort and run structures before reviewing each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Give a side-by-side map of the two analyses.</a:t>
            </a:r>
          </a:p>
          <a:p>
            <a:endParaRPr/>
          </a:p>
          <a:p>
            <a:r>
              <a:t>Walk through: Define a category before using the counts: one sex/APOE group crossed with one broad cell type, such as M_e33 excitatory neurons. Returned drivers from eligible fine-cell or supertype KDA calls are aggregated within that category. ROSMAP contributes 194 calls and 381 gene-by-category units; SEA-AD contributes 22 active calls and 44 units.</a:t>
            </a:r>
          </a:p>
          <a:p>
            <a:endParaRPr/>
          </a:p>
          <a:p>
            <a:r>
              <a:t>Scientific boundary: Twenty of 22 SEA-AD calls are M_e33. Categories without calls are unavailable, not negative tests.</a:t>
            </a:r>
          </a:p>
          <a:p>
            <a:endParaRPr/>
          </a:p>
          <a:p>
            <a:r>
              <a:t>Transition: Review the ROSMAP branch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Introduce the ROSMAP fine-cell KDA branch.</a:t>
            </a:r>
          </a:p>
          <a:p>
            <a:endParaRPr/>
          </a:p>
          <a:p>
            <a:r>
              <a:t>Walk through: The section defines the one-query-per-contrast design, the eligibility funnel, query construction, and returned-only simple aggregation.</a:t>
            </a:r>
          </a:p>
          <a:p>
            <a:endParaRPr/>
          </a:p>
          <a:p>
            <a:r>
              <a:t>Scientific boundary: The analysis uses existing validated KDA results and does not pool sex/APOE groups.</a:t>
            </a:r>
          </a:p>
          <a:p>
            <a:endParaRPr/>
          </a:p>
          <a:p>
            <a:r>
              <a:t>Transition: Start with the four counting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Separate contrast, mitochondrial query, KDA call, and category result.</a:t>
            </a:r>
          </a:p>
          <a:p>
            <a:endParaRPr/>
          </a:p>
          <a:p>
            <a:r>
              <a:t>Walk through: A contrast is one signed DEG result and contributes one core-MT DEG query. A mapped query of at least three genes becomes one KDA call. A category is one sex/APOE group crossed with one broad network; returned non-MT drivers from eligible fine-cell runs are aggregated within it.</a:t>
            </a:r>
          </a:p>
          <a:p>
            <a:endParaRPr/>
          </a:p>
          <a:p>
            <a:r>
              <a:t>Scientific boundary: A candidate driver can be a non-DEG, non-mitochondrial network gene.</a:t>
            </a:r>
          </a:p>
          <a:p>
            <a:endParaRPr/>
          </a:p>
          <a:p>
            <a:r>
              <a:t>Transition: Apply the definitions to the 324-contrast universe.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Show how 324 contrasts become 194 KDA calls.</a:t>
            </a:r>
          </a:p>
          <a:p>
            <a:endParaRPr/>
          </a:p>
          <a:p>
            <a:r>
              <a:t>Walk through: Three source contrasts are invalid, 95 valid contrasts have an empty effective query, 32 retain one or two mapped genes, and 194 meet the three-gene floor.</a:t>
            </a:r>
          </a:p>
          <a:p>
            <a:endParaRPr/>
          </a:p>
          <a:p>
            <a:r>
              <a:t>Scientific boundary: Skipped contrasts have no KDA result and are not completed null tests.</a:t>
            </a:r>
          </a:p>
          <a:p>
            <a:endParaRPr/>
          </a:p>
          <a:p>
            <a:r>
              <a:t>Transition: Clarify the execution gate and source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Clarify the three-gene execution floor and the three invalid source contrasts.</a:t>
            </a:r>
          </a:p>
          <a:p>
            <a:endParaRPr/>
          </a:p>
          <a:p>
            <a:r>
              <a:t>Walk through: All 194 calls meeting the mapped-query floor were completed: 164 returned significant drivers and 30 returned none. The three concrete invalid MAST contrasts remain unavailable.</a:t>
            </a:r>
          </a:p>
          <a:p>
            <a:endParaRPr/>
          </a:p>
          <a:p>
            <a:r>
              <a:t>Scientific boundary: The minimum is an execution rule; small queries and low cell counts still require cautious interpretation.</a:t>
            </a:r>
          </a:p>
          <a:p>
            <a:endParaRPr/>
          </a:p>
          <a:p>
            <a:r>
              <a:t>Transition: Inspect how the mitochondrial query is constructed.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Explain the ROSMAP mitochondrial query.</a:t>
            </a:r>
          </a:p>
          <a:p>
            <a:endParaRPr/>
          </a:p>
          <a:p>
            <a:r>
              <a:t>Walk through: The DEG filters identify 4,258 positive and 5,004 negative core-MT memberships. Together these are 9,262 provisional memberships across contrasts; 7,933 remain after network-background mapping. Each contrast contributes one query and at most one KDA call.</a:t>
            </a:r>
          </a:p>
          <a:p>
            <a:endParaRPr/>
          </a:p>
          <a:p>
            <a:r>
              <a:t>Scientific boundary: These are repeated memberships across contrasts, not unique genes and not driver counts.</a:t>
            </a:r>
          </a:p>
          <a:p>
            <a:endParaRPr/>
          </a:p>
          <a:p>
            <a:r>
              <a:t>Transition: Review the returned non-MT top-five display.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Present the ROSMAP top-five results.</a:t>
            </a:r>
          </a:p>
          <a:p>
            <a:endParaRPr/>
          </a:p>
          <a:p>
            <a:r>
              <a:t>Walk through: The figure displays up to five non-MT drivers in each of 29 populated categories, for 123 displayed entries. Blue hatching denotes ACAT across at least two returned calls; orange denotes one-call q passthrough.</a:t>
            </a:r>
          </a:p>
          <a:p>
            <a:endParaRPr/>
          </a:p>
          <a:p>
            <a:r>
              <a:t>Scientific boundary: Top five is a display cap, and returned-only scores are exploratory without final across-gene FDR control.</a:t>
            </a:r>
          </a:p>
          <a:p>
            <a:endParaRPr/>
          </a:p>
          <a:p>
            <a:r>
              <a:t>Transition: Summarize recurrence across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Interpret category recurrence.</a:t>
            </a:r>
          </a:p>
          <a:p>
            <a:endParaRPr/>
          </a:p>
          <a:p>
            <a:r>
              <a:t>Walk through: RPS15 occurs in 11 categories from 22 returned calls. RPL11 occurs in 10 categories from 24 calls. Color encodes how many category scores combine at least two returned calls.</a:t>
            </a:r>
          </a:p>
          <a:p>
            <a:endParaRPr/>
          </a:p>
          <a:p>
            <a:r>
              <a:t>Scientific boundary: Category presence is descriptive and not independent replication.</a:t>
            </a:r>
          </a:p>
          <a:p>
            <a:endParaRPr/>
          </a:p>
          <a:p>
            <a:r>
              <a:t>Transition: Summarize the full ROSMAP output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Summarize the scale and distribution of the ROSMAP output.</a:t>
            </a:r>
          </a:p>
          <a:p>
            <a:endParaRPr/>
          </a:p>
          <a:p>
            <a:r>
              <a:t>Walk through: The 623 retained non-MT returned rows form 381 gene-by-category units representing 228 genes across 29 categories. The lower panels show their group, network, and recurrence distributions.</a:t>
            </a:r>
          </a:p>
          <a:p>
            <a:endParaRPr/>
          </a:p>
          <a:p>
            <a:r>
              <a:t>Scientific boundary: Counts condition on significant within-call returns and unequal call opportunities.</a:t>
            </a:r>
          </a:p>
          <a:p>
            <a:endParaRPr/>
          </a:p>
          <a:p>
            <a:r>
              <a:t>Transition: Move to the SEA-AD-specific-network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Introduce the SEA-AD-specific-network analysis.</a:t>
            </a:r>
          </a:p>
          <a:p>
            <a:endParaRPr/>
          </a:p>
          <a:p>
            <a:r>
              <a:t>Walk through: The section moves from 774 supertype-by-stratum contrasts to 22 executable KDA calls, then shows top-five, recurrence, and aggregate summaries.</a:t>
            </a:r>
          </a:p>
          <a:p>
            <a:endParaRPr/>
          </a:p>
          <a:p>
            <a:r>
              <a:t>Scientific boundary: The active calls are strongly concentrated in M_e33.</a:t>
            </a:r>
          </a:p>
          <a:p>
            <a:endParaRPr/>
          </a:p>
          <a:p>
            <a:r>
              <a:t>Transition: Start with the contrast-level funnel.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Show how 774 SEA-AD contrasts reduce to 22 executable calls.</a:t>
            </a:r>
          </a:p>
          <a:p>
            <a:endParaRPr/>
          </a:p>
          <a:p>
            <a:r>
              <a:t>Walk through: There are 393 non-estimable source contrasts, 348 estimable contrasts with an empty FDR-only query, 11 with one or two mapped genes, and 22 meeting the three-gene floor.</a:t>
            </a:r>
          </a:p>
          <a:p>
            <a:endParaRPr/>
          </a:p>
          <a:p>
            <a:r>
              <a:t>Scientific boundary: A skipped contrast is unavailable and is not a negative validation result.</a:t>
            </a:r>
          </a:p>
          <a:p>
            <a:endParaRPr/>
          </a:p>
          <a:p>
            <a:r>
              <a:t>Transition: Inspect the returned non-MT candidates.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Present leading SEA-AD non-MT candidates.</a:t>
            </a:r>
          </a:p>
          <a:p>
            <a:endParaRPr/>
          </a:p>
          <a:p>
            <a:r>
              <a:t>Walk through: Seventeen entries appear across F_e33 excitatory, F_e4 astrocyte, and three M_e33 categories. Blue hatching denotes ACAT across at least two calls; orange is one-call q passthrough.</a:t>
            </a:r>
          </a:p>
          <a:p>
            <a:endParaRPr/>
          </a:p>
          <a:p>
            <a:r>
              <a:t>Scientific boundary: Top five is a display cap and the five populated categories expose strong availability imbalance.</a:t>
            </a:r>
          </a:p>
          <a:p>
            <a:endParaRPr/>
          </a:p>
          <a:p>
            <a:r>
              <a:t>Transition: Review recurrence across those categories.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Interpret SEA-AD category recurrence.</a:t>
            </a:r>
          </a:p>
          <a:p>
            <a:endParaRPr/>
          </a:p>
          <a:p>
            <a:r>
              <a:t>Walk through: PJVK is the only gene present in two categories: M_e33 excitatory and inhibitory neurons. Every other gene on the top-20 display occurs in one category.</a:t>
            </a:r>
          </a:p>
          <a:p>
            <a:endParaRPr/>
          </a:p>
          <a:p>
            <a:r>
              <a:t>Scientific boundary: Five return-bearing categories impose a low recurrence ceiling.</a:t>
            </a:r>
          </a:p>
          <a:p>
            <a:endParaRPr/>
          </a:p>
          <a:p>
            <a:r>
              <a:t>Transition: Summarize the SEA-AD output scale.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Summarize the SEA-AD output.</a:t>
            </a:r>
          </a:p>
          <a:p>
            <a:endParaRPr/>
          </a:p>
          <a:p>
            <a:r>
              <a:t>Walk through: The 54 retained rows form 44 category units representing 43 genes across five categories. Thirty-nine units and 20 of 22 active calls are M_e33.</a:t>
            </a:r>
          </a:p>
          <a:p>
            <a:endParaRPr/>
          </a:p>
          <a:p>
            <a:r>
              <a:t>Scientific boundary: Returned-only scores remain exploratory and are not final-FDR controlled across genes.</a:t>
            </a:r>
          </a:p>
          <a:p>
            <a:endParaRPr/>
          </a:p>
          <a:p>
            <a:r>
              <a:t>Transition: Compare the driver sets across cohorts.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Frame the cross-cohort comparison.</a:t>
            </a:r>
          </a:p>
          <a:p>
            <a:endParaRPr/>
          </a:p>
          <a:p>
            <a:r>
              <a:t>Walk through: Part 3 compares driver symbols, category contexts, and all six cross-cohort unit pairings formed by the shared genes.</a:t>
            </a:r>
          </a:p>
          <a:p>
            <a:endParaRPr/>
          </a:p>
          <a:p>
            <a:r>
              <a:t>Scientific boundary: This is a cross-cohort and cross-network comparison, not an isolated test of cohort biology.</a:t>
            </a:r>
          </a:p>
          <a:p>
            <a:endParaRPr/>
          </a:p>
          <a:p>
            <a:r>
              <a:t>Transition: Define gene- and category-level agreement.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Define gene-level and category-level agreement.</a:t>
            </a:r>
          </a:p>
          <a:p>
            <a:endParaRPr/>
          </a:p>
          <a:p>
            <a:r>
              <a:t>Walk through: Gene-level overlap asks whether a symbol appears anywhere among 228 ROSMAP and 43 SEA-AD genes. Category agreement also requires the same sex/APOE group and broad network among 381 and 44 units.</a:t>
            </a:r>
          </a:p>
          <a:p>
            <a:endParaRPr/>
          </a:p>
          <a:p>
            <a:r>
              <a:t>Scientific boundary: Availability limits context comparison; four populated categories exist in both result sets.</a:t>
            </a:r>
          </a:p>
          <a:p>
            <a:endParaRPr/>
          </a:p>
          <a:p>
            <a:r>
              <a:t>Transition: State the gene-level overlap.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State the gene-level overlap.</a:t>
            </a:r>
          </a:p>
          <a:p>
            <a:endParaRPr/>
          </a:p>
          <a:p>
            <a:r>
              <a:t>Walk through: LAGE3, MIPOL1, and PAPOLA are shared: three of 43 SEA-AD genes, or seven percent. No shared gene keeps both group and broad-cell context.</a:t>
            </a:r>
          </a:p>
          <a:p>
            <a:endParaRPr/>
          </a:p>
          <a:p>
            <a:r>
              <a:t>Scientific boundary: Gene overlap is exploratory and influenced by cohort-specific topology and unbalanced call availability.</a:t>
            </a:r>
          </a:p>
          <a:p>
            <a:endParaRPr/>
          </a:p>
          <a:p>
            <a:r>
              <a:t>Transition: Inspect the three genes' contexts directly.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Show the direct context matrix for all three shared genes.</a:t>
            </a:r>
          </a:p>
          <a:p>
            <a:endParaRPr/>
          </a:p>
          <a:p>
            <a:r>
              <a:t>Walk through: LAGE3 and PAPOLA retain neither group nor broad cell type. MIPOL1 retains M_e33 in one ROSMAP category but switches from excitatory to inhibitory neurons.</a:t>
            </a:r>
          </a:p>
          <a:p>
            <a:endParaRPr/>
          </a:p>
          <a:p>
            <a:r>
              <a:t>Scientific boundary: Zero exact matches is conditional on the available returned-only units, not a negative result for unexecuted categories.</a:t>
            </a:r>
          </a:p>
          <a:p>
            <a:endParaRPr/>
          </a:p>
          <a:p>
            <a:r>
              <a:t>Transition: Separate gene overlap from context preservation.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Summarize partial context preservation for each shared gene.</a:t>
            </a:r>
          </a:p>
          <a:p>
            <a:endParaRPr/>
          </a:p>
          <a:p>
            <a:r>
              <a:t>Walk through: MIPOL1 produces the only same-group pairing: SEA-AD M_e33 excitatory versus ROSMAP M_e33 inhibitory. LAGE3 and PAPOLA change both group and broad cell type.</a:t>
            </a:r>
          </a:p>
          <a:p>
            <a:endParaRPr/>
          </a:p>
          <a:p>
            <a:r>
              <a:t>Scientific boundary: The categories are non-independent because a gene can occupy multiple ROSMAP units.</a:t>
            </a:r>
          </a:p>
          <a:p>
            <a:endParaRPr/>
          </a:p>
          <a:p>
            <a:r>
              <a:t>Transition: Count all cross-cohort unit pairings.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Make the unit-pair denominator explicit.</a:t>
            </a:r>
          </a:p>
          <a:p>
            <a:endParaRPr/>
          </a:p>
          <a:p>
            <a:r>
              <a:t>Walk through: LAGE3 contributes three pairings, MIPOL1 two, and PAPOLA one. Only the MIPOL1 M_e33 pairing preserves the group; no pairing preserves cell type or full context.</a:t>
            </a:r>
          </a:p>
          <a:p>
            <a:endParaRPr/>
          </a:p>
          <a:p>
            <a:r>
              <a:t>Scientific boundary: Pairings are descriptive and non-independent.</a:t>
            </a:r>
          </a:p>
          <a:p>
            <a:endParaRPr/>
          </a:p>
          <a:p>
            <a:r>
              <a:t>Transition: Summarize the corresponding percentages.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Quantify context preservation across all six shared-gene pairings.</a:t>
            </a:r>
          </a:p>
          <a:p>
            <a:endParaRPr/>
          </a:p>
          <a:p>
            <a:r>
              <a:t>Walk through: No pairing shares broad cell type, one shares sex/APOE group, and no pairing shares both. The one same-group pairing is MIPOL1 in M_e33.</a:t>
            </a:r>
          </a:p>
          <a:p>
            <a:endParaRPr/>
          </a:p>
          <a:p>
            <a:r>
              <a:t>Scientific boundary: These are descriptive proportions, not formal replication probabilities.</a:t>
            </a:r>
          </a:p>
          <a:p>
            <a:endParaRPr/>
          </a:p>
          <a:p>
            <a:r>
              <a:t>Transition: Show the ROSMAP sex distribution of the shared genes.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Show the ROSMAP sex membership of the three shared SEA-AD M_e33 genes.</a:t>
            </a:r>
          </a:p>
          <a:p>
            <a:endParaRPr/>
          </a:p>
          <a:p>
            <a:r>
              <a:t>Walk through: PAPOLA is female-only in ROSMAP. LAGE3 and MIPOL1 appear in both ROSMAP sexes. None is male-only.</a:t>
            </a:r>
          </a:p>
          <a:p>
            <a:endParaRPr/>
          </a:p>
          <a:p>
            <a:r>
              <a:t>Scientific boundary: Observed sex membership is not a sex-interaction test and reflects unequal returned-only opportunities.</a:t>
            </a:r>
          </a:p>
          <a:p>
            <a:endParaRPr/>
          </a:p>
          <a:p>
            <a:r>
              <a:t>Transition: Close with supported findings and limits.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State the cross-cohort conclusion without overclaiming validation.</a:t>
            </a:r>
          </a:p>
          <a:p>
            <a:endParaRPr/>
          </a:p>
          <a:p>
            <a:r>
              <a:t>Walk through: The comparison finds three shared genes and no exact category match. MIPOL1 retains M_e33 but changes cell type; PJVK is the only within-SEA-AD recurrent gene across categories.</a:t>
            </a:r>
          </a:p>
          <a:p>
            <a:endParaRPr/>
          </a:p>
          <a:p>
            <a:r>
              <a:t>Scientific boundary: The comparison is descriptive, post-selected, unbalanced across strata, and confounds cohort with network topology.</a:t>
            </a:r>
          </a:p>
          <a:p>
            <a:endParaRPr/>
          </a:p>
          <a:p>
            <a:r>
              <a:t>Transition: Continue to the sensitivity-analysis section.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Introduce the section reserved for all harmonized broad-cell KDA sensitivity analyses.</a:t>
            </a:r>
          </a:p>
          <a:p>
            <a:endParaRPr/>
          </a:p>
          <a:p>
            <a:r>
              <a:t>Walk through: Sensitivity checks may address donor support, nuclei-per-profile coverage, DEG query definition, and KDA filtering. The first check raises the disease-arm donor gate from three to five in both cohorts.</a:t>
            </a:r>
          </a:p>
          <a:p>
            <a:endParaRPr/>
          </a:p>
          <a:p>
            <a:r>
              <a:t>Scientific boundary: Each test must change one frozen decision at a time and retain its own interpretation boundary. The current test concerns donors per disease arm, not nuclei.</a:t>
            </a:r>
          </a:p>
          <a:p>
            <a:endParaRPr/>
          </a:p>
          <a:p>
            <a:r>
              <a:t>Transition: Begin with the cohort-level consequences of the donor-threshold test.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Show the numerical impact of raising the minimum disease-arm donor count from three to five in both cohorts.</a:t>
            </a:r>
          </a:p>
          <a:p>
            <a:endParaRPr/>
          </a:p>
          <a:p>
            <a:r>
              <a:t>Walk through: ROSMAP falls from 42 to 40 eligible contrasts, three to two KDA runs, 39 to 13 returned rows, and 33 to 13 unique non-mitochondrial drivers. SEA-AD falls from 28 to 20 eligible contrasts, while its five KDA runs, 24 returned rows, and 18 unique non-mitochondrial drivers are unchanged.</a:t>
            </a:r>
          </a:p>
          <a:p>
            <a:endParaRPr/>
          </a:p>
          <a:p>
            <a:r>
              <a:t>Scientific boundary: The threshold test changes only the donor eligibility gate. It does not change retained contrast models, DEG queries, networks, or KDA settings.</a:t>
            </a:r>
          </a:p>
          <a:p>
            <a:endParaRPr/>
          </a:p>
          <a:p>
            <a:r>
              <a:t>Transition: Next, interpret why the two cohorts respond differently and what this means for validation.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Summarize the cohort-specific and cross-cohort conclusions of the donor-threshold sensitivity analysis.</a:t>
            </a:r>
          </a:p>
          <a:p>
            <a:endParaRPr/>
          </a:p>
          <a:p>
            <a:r>
              <a:t>Walk through: ROSMAP loses the low-support Vasculature M_e2 call that generated 26 driver rows. SEA-AD loses eight eligible contrasts, but none had progressed to KDA. Cross-cohort validation remains zero under both donor thresholds; Astrocytes F_e4 is the only exact stratum executed in both cohorts, and it has no shared drivers.</a:t>
            </a:r>
          </a:p>
          <a:p>
            <a:endParaRPr/>
          </a:p>
          <a:p>
            <a:r>
              <a:t>Scientific boundary: Contrasts excluded by the stricter donor threshold are unavailable comparisons. They must not be counted as evidence against validation.</a:t>
            </a:r>
          </a:p>
          <a:p>
            <a:endParaRPr/>
          </a:p>
          <a:p>
            <a:r>
              <a:t>Transition: Continue with the next sensitivity analysis when it is available.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Show how increasing the minimum effective query size changes KDA availability and returned drivers.</a:t>
            </a:r>
          </a:p>
          <a:p>
            <a:endParaRPr/>
          </a:p>
          <a:p>
            <a:r>
              <a:t>Walk through: ROSMAP contracts from three calls and 39 returned rows at three genes to one call and 26 rows at ten or more genes. SEA-AD is unchanged at five genes, contracts to three calls and eight rows at ten or twenty genes, and retains two calls and seven rows at thirty genes.</a:t>
            </a:r>
          </a:p>
          <a:p>
            <a:endParaRPr/>
          </a:p>
          <a:p>
            <a:r>
              <a:t>Scientific boundary: The donor minimum remains three per disease arm. This exact gating sensitivity drops existing calls; it does not refit DEG models or rerun KDA for retained calls. Significant rows are raw returns, while the final column excludes MT-* genes and deduplicates within cohort.</a:t>
            </a:r>
          </a:p>
          <a:p>
            <a:endParaRPr/>
          </a:p>
          <a:p>
            <a:r>
              <a:t>Transition: Next, identify the specific calls responsible for the step changes.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Explain which KDA calls drive the query-threshold sensitivity result.</a:t>
            </a:r>
          </a:p>
          <a:p>
            <a:endParaRPr/>
          </a:p>
          <a:p>
            <a:r>
              <a:t>Walk through: ROSMAP loses the three-gene OPC call at five and the eight-gene astrocyte call at ten, leaving only the 78-gene low-donor vasculature call. SEA-AD is unchanged at five; at ten it loses its five-gene microglia and nine-gene astrocyte calls, and at thirty it additionally loses the 21-gene oligodendrocyte call.</a:t>
            </a:r>
          </a:p>
          <a:p>
            <a:endParaRPr/>
          </a:p>
          <a:p>
            <a:r>
              <a:t>Scientific boundary: Returned MT-* genes are shown only when explaining raw row changes; they are not treated as eligible key drivers.</a:t>
            </a:r>
          </a:p>
          <a:p>
            <a:endParaRPr/>
          </a:p>
          <a:p>
            <a:r>
              <a:t>Transition: Finish with the consequences for matched-stratum validation and the least disruptive threshold.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State the validation impact and identify the least disruptive query-size sensitivity threshold.</a:t>
            </a:r>
          </a:p>
          <a:p>
            <a:endParaRPr/>
          </a:p>
          <a:p>
            <a:r>
              <a:t>Walk through: Non-mitochondrial driver overlap is zero at every threshold. The shared Astrocytes F_e4 stratum remains available at thresholds three and five but disappears from both cohorts at ten. Threshold five is the only stricter floor that preserves all SEA-AD calls and the shared stratum.</a:t>
            </a:r>
          </a:p>
          <a:p>
            <a:endParaRPr/>
          </a:p>
          <a:p>
            <a:r>
              <a:t>Scientific boundary: Absence of a matched executed stratum at thresholds ten or higher is an unavailable validation comparison, not negative evidence. The five-gene threshold is a sensitivity reference, not a new confirmatory rule.</a:t>
            </a:r>
          </a:p>
          <a:p>
            <a:endParaRPr/>
          </a:p>
          <a:p>
            <a:r>
              <a:t>Transition: Continue with the next planned sensitivity test.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13232" y="1177296"/>
            <a:ext cx="10287000" cy="11018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b="1" i="0" dirty="0">
                <a:solidFill>
                  <a:srgbClr val="FFFFFF"/>
                </a:solidFill>
                <a:latin typeface="Arial"/>
              </a:rPr>
              <a:t>ROSMAP and SEA-AD sex/APOE key-driver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487168"/>
            <a:ext cx="987552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dirty="0">
                <a:solidFill>
                  <a:srgbClr val="CCDBEA"/>
                </a:solidFill>
                <a:latin typeface="Arial"/>
              </a:rPr>
              <a:t>Mitochondrial DEG queries with returned-only simple aggregation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364992"/>
            <a:ext cx="5230368" cy="1874519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941063"/>
            <a:ext cx="4343400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ROSMAP KDA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53128"/>
            <a:ext cx="441655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D2E0EE"/>
                </a:solidFill>
                <a:latin typeface="Arial"/>
              </a:rPr>
              <a:t>194 KDA calls → returned-only non-MT aggregation → 381 category units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364992"/>
            <a:ext cx="5230368" cy="1874519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3639312"/>
            <a:ext cx="100584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dirty="0">
                <a:solidFill>
                  <a:srgbClr val="009E73"/>
                </a:solidFill>
                <a:latin typeface="Arial"/>
              </a:rPr>
              <a:t>PART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3941063"/>
            <a:ext cx="4389120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SEA-AD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4453128"/>
            <a:ext cx="441655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D2E0EE"/>
                </a:solidFill>
                <a:latin typeface="Arial"/>
              </a:rPr>
              <a:t>22 SEA-AD-network KDA calls → returned-only non-MT aggregation → 44 category units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FC036-46F5-E9C4-8787-7AE287D69802}"/>
              </a:ext>
            </a:extLst>
          </p:cNvPr>
          <p:cNvSpPr txBox="1"/>
          <p:nvPr/>
        </p:nvSpPr>
        <p:spPr>
          <a:xfrm>
            <a:off x="1005840" y="3639312"/>
            <a:ext cx="1005840" cy="20159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dirty="0">
                <a:solidFill>
                  <a:srgbClr val="009E73"/>
                </a:solidFill>
                <a:latin typeface="Arial"/>
              </a:rPr>
              <a:t>PART </a:t>
            </a:r>
            <a:r>
              <a:rPr lang="en-US" sz="950" b="1" i="0" dirty="0">
                <a:solidFill>
                  <a:srgbClr val="009E73"/>
                </a:solidFill>
                <a:latin typeface="Arial"/>
              </a:rPr>
              <a:t>I</a:t>
            </a:r>
            <a:endParaRPr sz="950" b="1" i="0" dirty="0">
              <a:solidFill>
                <a:srgbClr val="009E73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43242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 dirty="0">
                <a:solidFill>
                  <a:srgbClr val="0F233D"/>
                </a:solidFill>
                <a:latin typeface="Arial"/>
              </a:rPr>
              <a:t>Two cohorts, one aggregation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Each contrast contributes at most one mitochondrial DEG query; significant non-MT returns are aggregated by category.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335024"/>
            <a:ext cx="5358384" cy="4325112"/>
          </a:xfrm>
          <a:prstGeom prst="roundRect">
            <a:avLst/>
          </a:prstGeom>
          <a:solidFill>
            <a:srgbClr val="E4F0F8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292608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2B2"/>
                </a:solidFill>
                <a:latin typeface="Arial"/>
              </a:rPr>
              <a:t>ROSMAP FINE-CELL REAGGREGATION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4526280" cy="5852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233D"/>
                </a:solidFill>
                <a:latin typeface="Arial"/>
              </a:rPr>
              <a:t>Where does a gene recur across fine-cell evidence?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14173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2788920"/>
            <a:ext cx="112471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324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246120"/>
            <a:ext cx="112471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planned contrasts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92" y="2697480"/>
            <a:ext cx="14173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96896" y="2788920"/>
            <a:ext cx="112471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3246120"/>
            <a:ext cx="112471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included KDA calls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32504" y="2697480"/>
            <a:ext cx="14173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78808" y="2788920"/>
            <a:ext cx="112471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381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78808" y="3246120"/>
            <a:ext cx="112471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gene × category units</a:t>
            </a:r>
          </a:p>
        </p:txBody>
      </p:sp>
      <p:sp>
        <p:nvSpPr>
          <p:cNvPr id="17" name="Oval 16"/>
          <p:cNvSpPr/>
          <p:nvPr/>
        </p:nvSpPr>
        <p:spPr>
          <a:xfrm>
            <a:off x="877824" y="4133087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4005072"/>
            <a:ext cx="4361688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Builds one core-MT DEG query within each fine-cell contrast.</a:t>
            </a:r>
          </a:p>
        </p:txBody>
      </p:sp>
      <p:sp>
        <p:nvSpPr>
          <p:cNvPr id="19" name="Oval 18"/>
          <p:cNvSpPr/>
          <p:nvPr/>
        </p:nvSpPr>
        <p:spPr>
          <a:xfrm>
            <a:off x="877824" y="4571999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4443983"/>
            <a:ext cx="4361688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Groups returned drivers within sex/APOE × broad network.</a:t>
            </a:r>
          </a:p>
        </p:txBody>
      </p:sp>
      <p:sp>
        <p:nvSpPr>
          <p:cNvPr id="21" name="Oval 20"/>
          <p:cNvSpPr/>
          <p:nvPr/>
        </p:nvSpPr>
        <p:spPr>
          <a:xfrm>
            <a:off x="877824" y="5010912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4882896"/>
            <a:ext cx="4361688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Final 381 units represent 228 genes in 29 categories.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1335024"/>
            <a:ext cx="5358384" cy="4325112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28816" y="1627632"/>
            <a:ext cx="292608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9E73"/>
                </a:solidFill>
                <a:latin typeface="Arial"/>
              </a:rPr>
              <a:t>SEA-AD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1938528"/>
            <a:ext cx="4526280" cy="5852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233D"/>
                </a:solidFill>
                <a:latin typeface="Arial"/>
              </a:rPr>
              <a:t>Do drivers return in an independent human cohort?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28816" y="2697480"/>
            <a:ext cx="14173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2788920"/>
            <a:ext cx="112471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774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246120"/>
            <a:ext cx="112471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planned contrasts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0727" y="2697480"/>
            <a:ext cx="14173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1" y="2788920"/>
            <a:ext cx="112471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3246120"/>
            <a:ext cx="112471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active KDA calls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2697480"/>
            <a:ext cx="14173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38944" y="2788920"/>
            <a:ext cx="112471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38944" y="3246120"/>
            <a:ext cx="112471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gene × category units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133087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11696" y="4005072"/>
            <a:ext cx="4361688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Uses SEA-AD-specific Bayesian networks.</a:t>
            </a:r>
          </a:p>
        </p:txBody>
      </p:sp>
      <p:sp>
        <p:nvSpPr>
          <p:cNvPr id="37" name="Oval 36"/>
          <p:cNvSpPr/>
          <p:nvPr/>
        </p:nvSpPr>
        <p:spPr>
          <a:xfrm>
            <a:off x="6537960" y="4571999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11696" y="4443983"/>
            <a:ext cx="4361688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Donor ≥3 per arm; FDR-only query; mapped n ≥3.</a:t>
            </a:r>
          </a:p>
        </p:txBody>
      </p:sp>
      <p:sp>
        <p:nvSpPr>
          <p:cNvPr id="39" name="Oval 38"/>
          <p:cNvSpPr/>
          <p:nvPr/>
        </p:nvSpPr>
        <p:spPr>
          <a:xfrm>
            <a:off x="6537960" y="5010912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11696" y="4882896"/>
            <a:ext cx="4361688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20 of 22 calls are M_e33; five categories have returns.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8200" y="5754624"/>
            <a:ext cx="10515600" cy="658368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2415" y="5905331"/>
            <a:ext cx="1007668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 dirty="0">
                <a:solidFill>
                  <a:srgbClr val="895600"/>
                </a:solidFill>
                <a:latin typeface="Arial"/>
              </a:rPr>
              <a:t>Category = one sex/APOE group × one broad cell type (for example, M_e33 × excitatory neurons). Returned drivers from eligible fine-cell or supertype KDA calls are combined within that category.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612648"/>
            <a:ext cx="21945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2B2"/>
                </a:solidFill>
                <a:latin typeface="Arial"/>
              </a:rPr>
              <a:t>PART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152144"/>
            <a:ext cx="91440" cy="217627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78992" y="1582311"/>
            <a:ext cx="7909560" cy="54784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b="1" i="0" dirty="0">
                <a:solidFill>
                  <a:srgbClr val="FFFFFF"/>
                </a:solidFill>
                <a:latin typeface="Arial"/>
              </a:rPr>
              <a:t>ROSMAP KDA reaggregation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7589520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CCDBEA"/>
                </a:solidFill>
                <a:latin typeface="Arial"/>
              </a:rPr>
              <a:t>54 fine cell types define 324 contrasts; 194 calls from 43 fine types are aggregated within six groups and seven broad networks.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42832" y="1170432"/>
            <a:ext cx="2468880" cy="4297680"/>
          </a:xfrm>
          <a:prstGeom prst="round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17152" y="1527048"/>
            <a:ext cx="19202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2B2"/>
                </a:solidFill>
                <a:latin typeface="Arial"/>
              </a:rPr>
              <a:t>IN THIS PART</a:t>
            </a:r>
          </a:p>
        </p:txBody>
      </p:sp>
      <p:sp>
        <p:nvSpPr>
          <p:cNvPr id="8" name="Oval 7"/>
          <p:cNvSpPr/>
          <p:nvPr/>
        </p:nvSpPr>
        <p:spPr>
          <a:xfrm>
            <a:off x="9198864" y="2039112"/>
            <a:ext cx="310896" cy="3108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8864" y="2084832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8632" y="2011680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Run universe</a:t>
            </a:r>
          </a:p>
        </p:txBody>
      </p:sp>
      <p:sp>
        <p:nvSpPr>
          <p:cNvPr id="11" name="Oval 10"/>
          <p:cNvSpPr/>
          <p:nvPr/>
        </p:nvSpPr>
        <p:spPr>
          <a:xfrm>
            <a:off x="9198864" y="2788920"/>
            <a:ext cx="310896" cy="3108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98864" y="2834640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2761488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Filter funnel</a:t>
            </a:r>
          </a:p>
        </p:txBody>
      </p:sp>
      <p:sp>
        <p:nvSpPr>
          <p:cNvPr id="14" name="Oval 13"/>
          <p:cNvSpPr/>
          <p:nvPr/>
        </p:nvSpPr>
        <p:spPr>
          <a:xfrm>
            <a:off x="9198864" y="3538727"/>
            <a:ext cx="310896" cy="3108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98864" y="3584448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8632" y="3511296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ACAT candidates</a:t>
            </a:r>
          </a:p>
        </p:txBody>
      </p:sp>
      <p:sp>
        <p:nvSpPr>
          <p:cNvPr id="17" name="Oval 16"/>
          <p:cNvSpPr/>
          <p:nvPr/>
        </p:nvSpPr>
        <p:spPr>
          <a:xfrm>
            <a:off x="9198864" y="4288536"/>
            <a:ext cx="310896" cy="3108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98864" y="4334256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4261104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Result figures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43242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 dirty="0">
                <a:solidFill>
                  <a:srgbClr val="0F233D"/>
                </a:solidFill>
                <a:latin typeface="Arial"/>
              </a:rPr>
              <a:t>Four steps: one KDA query per contrast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371600"/>
            <a:ext cx="2587752" cy="4233672"/>
          </a:xfrm>
          <a:prstGeom prst="roundRect">
            <a:avLst/>
          </a:prstGeom>
          <a:solidFill>
            <a:srgbClr val="E4F0F8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4672" y="1627632"/>
            <a:ext cx="438912" cy="43891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19072"/>
            <a:ext cx="43891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67712"/>
            <a:ext cx="2157984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DEG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017520"/>
            <a:ext cx="215798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2B2"/>
                </a:solidFill>
                <a:latin typeface="Arial"/>
              </a:rPr>
              <a:t>fine cell type × sex/APOE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3840480"/>
            <a:ext cx="21945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4087368"/>
            <a:ext cx="1901952" cy="612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E5A68"/>
                </a:solidFill>
                <a:latin typeface="Arial"/>
              </a:rPr>
              <a:t>One signed AD-versus-NCI result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371600"/>
            <a:ext cx="2587752" cy="4233672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39312" y="1627632"/>
            <a:ext cx="438912" cy="43891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9312" y="1719072"/>
            <a:ext cx="43891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267712"/>
            <a:ext cx="2157984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Mitochondrial 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3017520"/>
            <a:ext cx="215798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2B2"/>
                </a:solidFill>
                <a:latin typeface="Arial"/>
              </a:rPr>
              <a:t>core-MT DEGs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3840480"/>
            <a:ext cx="21945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67328" y="4087368"/>
            <a:ext cx="1901952" cy="612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E5A68"/>
                </a:solidFill>
                <a:latin typeface="Arial"/>
              </a:rPr>
              <a:t>One query per contrast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1371600"/>
            <a:ext cx="2587752" cy="4233672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73952" y="1627632"/>
            <a:ext cx="438912" cy="43891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1719072"/>
            <a:ext cx="43891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2267712"/>
            <a:ext cx="2157984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KDA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017520"/>
            <a:ext cx="215798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2B2"/>
                </a:solidFill>
                <a:latin typeface="Arial"/>
              </a:rPr>
              <a:t>validated completed call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5664" y="3840480"/>
            <a:ext cx="21945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01968" y="4192099"/>
            <a:ext cx="1901952" cy="40318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30" b="0" i="0" dirty="0">
                <a:solidFill>
                  <a:srgbClr val="4E5A68"/>
                </a:solidFill>
                <a:latin typeface="Arial"/>
              </a:rPr>
              <a:t>DEG contrast valid and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 dirty="0">
                <a:solidFill>
                  <a:srgbClr val="4E5A68"/>
                </a:solidFill>
                <a:latin typeface="Arial"/>
              </a:rPr>
              <a:t>Effective query n ≥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1371600"/>
            <a:ext cx="2587752" cy="4233672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308592" y="1627632"/>
            <a:ext cx="438912" cy="438912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08592" y="1719072"/>
            <a:ext cx="43891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2267712"/>
            <a:ext cx="2157984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Category 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017520"/>
            <a:ext cx="215798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9F00"/>
                </a:solidFill>
                <a:latin typeface="Arial"/>
              </a:rPr>
              <a:t>gene × category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3840480"/>
            <a:ext cx="21945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36608" y="4087368"/>
            <a:ext cx="1901952" cy="612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4E5A68"/>
                </a:solidFill>
                <a:latin typeface="Arial"/>
              </a:rPr>
              <a:t>Category = sex/APOE group × broad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54 fine cell types create 324 planned contrasts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Each contrast contributes one mitochondrial DEG query and at most one KDA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344168"/>
            <a:ext cx="3346704" cy="1207008"/>
          </a:xfrm>
          <a:prstGeom prst="roundRect">
            <a:avLst/>
          </a:prstGeom>
          <a:solidFill>
            <a:srgbClr val="E4F0F8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591056"/>
            <a:ext cx="2907792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54 fine cell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993392"/>
            <a:ext cx="2907792" cy="24622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 dirty="0">
                <a:solidFill>
                  <a:srgbClr val="0072B2"/>
                </a:solidFill>
                <a:latin typeface="Arial"/>
              </a:rPr>
              <a:t>× 6 sex/APOE groups = 324 </a:t>
            </a:r>
            <a:r>
              <a:rPr lang="en-US" sz="1240" b="1" i="0" dirty="0">
                <a:solidFill>
                  <a:srgbClr val="0072B2"/>
                </a:solidFill>
                <a:latin typeface="Arial"/>
              </a:rPr>
              <a:t>contrasts</a:t>
            </a:r>
            <a:endParaRPr sz="1240" b="1" i="0" dirty="0">
              <a:solidFill>
                <a:srgbClr val="0072B2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15968" y="1344168"/>
            <a:ext cx="3529584" cy="1207008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35424" y="1591056"/>
            <a:ext cx="3090672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324 signed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1993392"/>
            <a:ext cx="3090672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0072B2"/>
                </a:solidFill>
                <a:latin typeface="Arial"/>
              </a:rPr>
              <a:t>one query per contrast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344168"/>
            <a:ext cx="3364992" cy="1207008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10880" y="1591056"/>
            <a:ext cx="3145536" cy="3477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dirty="0">
                <a:solidFill>
                  <a:srgbClr val="0F233D"/>
                </a:solidFill>
                <a:latin typeface="Arial"/>
              </a:rPr>
              <a:t>194 call_key_drivers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93392"/>
            <a:ext cx="2926080" cy="2154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 dirty="0">
                <a:solidFill>
                  <a:srgbClr val="009E73"/>
                </a:solidFill>
                <a:latin typeface="Arial"/>
              </a:rPr>
              <a:t>All valid</a:t>
            </a:r>
            <a:r>
              <a:rPr lang="en-US" sz="1040" b="1" i="0" dirty="0">
                <a:solidFill>
                  <a:srgbClr val="009E73"/>
                </a:solidFill>
                <a:latin typeface="Arial"/>
              </a:rPr>
              <a:t> source and</a:t>
            </a:r>
            <a:r>
              <a:rPr sz="1040" b="1" i="0" dirty="0">
                <a:solidFill>
                  <a:srgbClr val="009E73"/>
                </a:solidFill>
                <a:latin typeface="Arial"/>
              </a:rPr>
              <a:t> queries ≥3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40696" y="2898648"/>
            <a:ext cx="562356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95560" y="2953512"/>
            <a:ext cx="5513832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FFFFFF"/>
                </a:solidFill>
                <a:latin typeface="Arial"/>
              </a:rPr>
              <a:t>Mutually exclusive contrast outcome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64256" y="2898648"/>
            <a:ext cx="109728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19120" y="2953512"/>
            <a:ext cx="987552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FFFFFF"/>
                </a:solidFill>
                <a:latin typeface="Arial"/>
              </a:rPr>
              <a:t>Contrasts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61536" y="2898648"/>
            <a:ext cx="1874519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16400" y="2953512"/>
            <a:ext cx="1764791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FFFFFF"/>
                </a:solidFill>
                <a:latin typeface="Arial"/>
              </a:rPr>
              <a:t>KDA called?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0696" y="3328415"/>
            <a:ext cx="5623560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895560" y="3460790"/>
            <a:ext cx="5513832" cy="20159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F2730"/>
                </a:solidFill>
                <a:latin typeface="Arial"/>
              </a:rPr>
              <a:t>Source DEG contrast not </a:t>
            </a:r>
            <a:r>
              <a:rPr lang="en-US" sz="950" b="0" i="0" dirty="0">
                <a:solidFill>
                  <a:srgbClr val="1F2730"/>
                </a:solidFill>
                <a:latin typeface="Arial"/>
              </a:rPr>
              <a:t>valid</a:t>
            </a:r>
            <a:endParaRPr sz="950" b="0" i="0" dirty="0">
              <a:solidFill>
                <a:srgbClr val="1F2730"/>
              </a:solidFill>
              <a:latin typeface="Arial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64256" y="3328415"/>
            <a:ext cx="1097280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19120" y="3374135"/>
            <a:ext cx="987552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61536" y="3328415"/>
            <a:ext cx="1874519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16400" y="3374135"/>
            <a:ext cx="1764791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730"/>
                </a:solidFill>
                <a:latin typeface="Arial"/>
              </a:rPr>
              <a:t>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40696" y="3776472"/>
            <a:ext cx="5623560" cy="448056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95560" y="3908846"/>
            <a:ext cx="5513832" cy="20159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1F2730"/>
                </a:solidFill>
                <a:latin typeface="Arial"/>
              </a:rPr>
              <a:t>E</a:t>
            </a:r>
            <a:r>
              <a:rPr sz="950" b="0" i="0" dirty="0">
                <a:solidFill>
                  <a:srgbClr val="1F2730"/>
                </a:solidFill>
                <a:latin typeface="Arial"/>
              </a:rPr>
              <a:t>ffective query </a:t>
            </a:r>
            <a:r>
              <a:rPr lang="en-US" sz="950" b="0" i="0" dirty="0">
                <a:solidFill>
                  <a:srgbClr val="1F2730"/>
                </a:solidFill>
                <a:latin typeface="Arial"/>
              </a:rPr>
              <a:t>empty</a:t>
            </a:r>
            <a:endParaRPr sz="950" b="0" i="0" dirty="0">
              <a:solidFill>
                <a:srgbClr val="1F2730"/>
              </a:solidFill>
              <a:latin typeface="Arial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464256" y="3776472"/>
            <a:ext cx="1097280" cy="448056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19120" y="3822191"/>
            <a:ext cx="987552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F2730"/>
                </a:solidFill>
                <a:latin typeface="Arial"/>
              </a:rPr>
              <a:t>95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61536" y="3776472"/>
            <a:ext cx="1874519" cy="448056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16400" y="3822191"/>
            <a:ext cx="1764791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730"/>
                </a:solidFill>
                <a:latin typeface="Arial"/>
              </a:rPr>
              <a:t>No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40696" y="4224527"/>
            <a:ext cx="5623560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895560" y="4270247"/>
            <a:ext cx="5513832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730"/>
                </a:solidFill>
                <a:latin typeface="Arial"/>
              </a:rPr>
              <a:t>Effective query 1–2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64256" y="4224527"/>
            <a:ext cx="1097280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19120" y="4270247"/>
            <a:ext cx="987552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730"/>
                </a:solidFill>
                <a:latin typeface="Arial"/>
              </a:rPr>
              <a:t>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61536" y="4224527"/>
            <a:ext cx="1874519" cy="448056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616400" y="4270247"/>
            <a:ext cx="1764791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730"/>
                </a:solidFill>
                <a:latin typeface="Arial"/>
              </a:rPr>
              <a:t>No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40696" y="4672583"/>
            <a:ext cx="5623560" cy="448056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895560" y="4804958"/>
            <a:ext cx="5513832" cy="20159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F2730"/>
                </a:solidFill>
                <a:latin typeface="Arial"/>
              </a:rPr>
              <a:t>Effective query </a:t>
            </a:r>
            <a:r>
              <a:rPr lang="en-US" sz="950" dirty="0">
                <a:solidFill>
                  <a:srgbClr val="1F2730"/>
                </a:solidFill>
                <a:latin typeface="Arial"/>
              </a:rPr>
              <a:t>&gt;=3</a:t>
            </a:r>
            <a:endParaRPr sz="950" b="0" i="0" dirty="0">
              <a:solidFill>
                <a:srgbClr val="1F2730"/>
              </a:solidFill>
              <a:latin typeface="Aria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464256" y="4672583"/>
            <a:ext cx="1097280" cy="448056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19120" y="4804958"/>
            <a:ext cx="987552" cy="20159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b="0" i="0" dirty="0">
                <a:solidFill>
                  <a:srgbClr val="1F2730"/>
                </a:solidFill>
                <a:latin typeface="Arial"/>
              </a:rPr>
              <a:t>194</a:t>
            </a:r>
            <a:endParaRPr sz="950" b="0" i="0" dirty="0">
              <a:solidFill>
                <a:srgbClr val="1F2730"/>
              </a:solidFill>
              <a:latin typeface="Arial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561536" y="4672583"/>
            <a:ext cx="1874519" cy="448056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616400" y="4718303"/>
            <a:ext cx="1764791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F2730"/>
                </a:solidFill>
                <a:latin typeface="Arial"/>
              </a:rPr>
              <a:t>Yes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40696" y="5128754"/>
            <a:ext cx="5623560" cy="448056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895560" y="5174474"/>
            <a:ext cx="5513832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730"/>
                </a:solidFill>
                <a:latin typeface="Arial"/>
              </a:rPr>
              <a:t>TOTAL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64256" y="5128754"/>
            <a:ext cx="1097280" cy="448056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519120" y="5174474"/>
            <a:ext cx="987552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730"/>
                </a:solidFill>
                <a:latin typeface="Arial"/>
              </a:rPr>
              <a:t>324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61536" y="5128754"/>
            <a:ext cx="1874519" cy="448056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616400" y="5174474"/>
            <a:ext cx="1764791" cy="3749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730"/>
                </a:solidFill>
                <a:latin typeface="Arial"/>
              </a:rPr>
              <a:t>194 calls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37856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dirty="0">
                <a:solidFill>
                  <a:srgbClr val="0F233D"/>
                </a:solidFill>
                <a:latin typeface="Arial"/>
              </a:rPr>
              <a:t>S</a:t>
            </a:r>
            <a:r>
              <a:rPr sz="2100" b="1" i="0" dirty="0">
                <a:solidFill>
                  <a:srgbClr val="0F233D"/>
                </a:solidFill>
                <a:latin typeface="Arial"/>
              </a:rPr>
              <a:t>ource validity and query size decide whether KDA is called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344168"/>
            <a:ext cx="46634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1645920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1618488"/>
            <a:ext cx="395020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One canonical query-size 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112264"/>
            <a:ext cx="1847088" cy="1024128"/>
          </a:xfrm>
          <a:prstGeom prst="roundRect">
            <a:avLst/>
          </a:prstGeom>
          <a:solidFill>
            <a:srgbClr val="E4F0F8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2203704"/>
            <a:ext cx="155448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≥3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112264"/>
            <a:ext cx="1847088" cy="1024128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72384" y="2203704"/>
            <a:ext cx="1554480" cy="4401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500" b="1" i="0" dirty="0">
                <a:solidFill>
                  <a:srgbClr val="00684D"/>
                </a:solidFill>
                <a:latin typeface="Arial"/>
              </a:rPr>
              <a:t>194</a:t>
            </a:r>
            <a:endParaRPr sz="2500" b="1" i="0" dirty="0">
              <a:solidFill>
                <a:srgbClr val="00684D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72384" y="2660904"/>
            <a:ext cx="1554480" cy="3262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 dirty="0">
                <a:solidFill>
                  <a:srgbClr val="4E5A68"/>
                </a:solidFill>
                <a:latin typeface="Arial"/>
              </a:rPr>
              <a:t>included KDA calls</a:t>
            </a:r>
          </a:p>
        </p:txBody>
      </p:sp>
      <p:sp>
        <p:nvSpPr>
          <p:cNvPr id="14" name="Oval 13"/>
          <p:cNvSpPr/>
          <p:nvPr/>
        </p:nvSpPr>
        <p:spPr>
          <a:xfrm>
            <a:off x="877824" y="3621024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3493008"/>
            <a:ext cx="3867911" cy="6035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F2730"/>
                </a:solidFill>
                <a:latin typeface="Arial"/>
              </a:rPr>
              <a:t>All 194 validated completed calls enter the aggregate.</a:t>
            </a:r>
          </a:p>
        </p:txBody>
      </p:sp>
      <p:sp>
        <p:nvSpPr>
          <p:cNvPr id="16" name="Oval 15"/>
          <p:cNvSpPr/>
          <p:nvPr/>
        </p:nvSpPr>
        <p:spPr>
          <a:xfrm>
            <a:off x="877824" y="4224527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4096511"/>
            <a:ext cx="3867911" cy="2262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 dirty="0">
                <a:solidFill>
                  <a:srgbClr val="1F2730"/>
                </a:solidFill>
                <a:latin typeface="Arial"/>
              </a:rPr>
              <a:t>164 significant • 30 completed empty</a:t>
            </a:r>
          </a:p>
        </p:txBody>
      </p:sp>
      <p:sp>
        <p:nvSpPr>
          <p:cNvPr id="18" name="Oval 17"/>
          <p:cNvSpPr/>
          <p:nvPr/>
        </p:nvSpPr>
        <p:spPr>
          <a:xfrm>
            <a:off x="877824" y="4828031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4700016"/>
            <a:ext cx="3867911" cy="6035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F2730"/>
                </a:solidFill>
                <a:latin typeface="Arial"/>
              </a:rPr>
              <a:t>The 164 significant calls returned 1,833 rows before mitochondrial filtering.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1344168"/>
            <a:ext cx="6035040" cy="4480560"/>
          </a:xfrm>
          <a:prstGeom prst="roundRect">
            <a:avLst/>
          </a:prstGeom>
          <a:solidFill>
            <a:srgbClr val="FDEBE4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24728" y="1645920"/>
            <a:ext cx="64008" cy="283464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71032" y="1618488"/>
            <a:ext cx="5294376" cy="2893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 dirty="0">
                <a:solidFill>
                  <a:srgbClr val="0F233D"/>
                </a:solidFill>
                <a:latin typeface="Arial"/>
              </a:rPr>
              <a:t>What ‘source contrast not </a:t>
            </a:r>
            <a:r>
              <a:rPr lang="en-US" sz="1520" b="1" i="0" dirty="0">
                <a:solidFill>
                  <a:srgbClr val="0F233D"/>
                </a:solidFill>
                <a:latin typeface="Arial"/>
              </a:rPr>
              <a:t>valid</a:t>
            </a:r>
            <a:r>
              <a:rPr sz="1520" b="1" i="0" dirty="0">
                <a:solidFill>
                  <a:srgbClr val="0F233D"/>
                </a:solidFill>
                <a:latin typeface="Arial"/>
              </a:rPr>
              <a:t>’ means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3016" y="2148840"/>
            <a:ext cx="5330952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0F233D"/>
                </a:solidFill>
                <a:latin typeface="Arial"/>
              </a:rPr>
              <a:t>The upstream MAST comparison could not be fitted because one arm had fewer than </a:t>
            </a:r>
            <a:r>
              <a:rPr sz="1400" b="1" i="0" dirty="0">
                <a:solidFill>
                  <a:srgbClr val="FF0000"/>
                </a:solidFill>
                <a:latin typeface="Arial"/>
              </a:rPr>
              <a:t>three</a:t>
            </a:r>
            <a:r>
              <a:rPr sz="1400" b="1" i="0" dirty="0">
                <a:solidFill>
                  <a:srgbClr val="0F233D"/>
                </a:solidFill>
                <a:latin typeface="Arial"/>
              </a:rPr>
              <a:t> cells.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43016" y="2898648"/>
            <a:ext cx="233172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897879" y="2953512"/>
            <a:ext cx="2221991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Fine cell type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74736" y="2898648"/>
            <a:ext cx="91440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2953512"/>
            <a:ext cx="804672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Group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89136" y="2898648"/>
            <a:ext cx="105156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0" y="2953512"/>
            <a:ext cx="941831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AD cells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0696" y="2898648"/>
            <a:ext cx="105156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95560" y="2953512"/>
            <a:ext cx="941831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NCI cells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3016" y="3328415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897879" y="3374135"/>
            <a:ext cx="222199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Fib SLC4A4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3328415"/>
            <a:ext cx="9144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0" y="3374135"/>
            <a:ext cx="80467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M_e2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89136" y="3328415"/>
            <a:ext cx="10515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3374135"/>
            <a:ext cx="94183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0696" y="3328415"/>
            <a:ext cx="10515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95560" y="3374135"/>
            <a:ext cx="94183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3016" y="3785615"/>
            <a:ext cx="2331720" cy="457200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97879" y="3831335"/>
            <a:ext cx="222199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CAMs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3785615"/>
            <a:ext cx="914400" cy="457200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29600" y="3831335"/>
            <a:ext cx="80467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M_e2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89136" y="3785615"/>
            <a:ext cx="1051560" cy="457200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44000" y="3831335"/>
            <a:ext cx="94183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45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40696" y="3785615"/>
            <a:ext cx="1051560" cy="457200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195560" y="3831335"/>
            <a:ext cx="94183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3016" y="4242816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897879" y="4288536"/>
            <a:ext cx="222199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Mic MKI67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74736" y="4242816"/>
            <a:ext cx="9144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29600" y="4288536"/>
            <a:ext cx="80467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M_e2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89136" y="4242816"/>
            <a:ext cx="10515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44000" y="4288536"/>
            <a:ext cx="94183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40696" y="4242816"/>
            <a:ext cx="10515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195560" y="4288536"/>
            <a:ext cx="941831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F2730"/>
                </a:solidFill>
                <a:latin typeface="Arial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1888" y="4882896"/>
            <a:ext cx="5029200" cy="5120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55E00"/>
                </a:solidFill>
                <a:latin typeface="Arial"/>
              </a:rPr>
              <a:t>3 unavailable comparisons = 3 unavailable KDA calls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37856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100" b="1" dirty="0">
                <a:solidFill>
                  <a:srgbClr val="0F233D"/>
                </a:solidFill>
                <a:latin typeface="Arial"/>
              </a:rPr>
              <a:t>M</a:t>
            </a:r>
            <a:r>
              <a:rPr sz="2100" b="1" i="0" dirty="0">
                <a:solidFill>
                  <a:srgbClr val="0F233D"/>
                </a:solidFill>
                <a:latin typeface="Arial"/>
              </a:rPr>
              <a:t>itochondrial query genes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353312"/>
            <a:ext cx="3721608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59536" y="1655064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39" y="1627632"/>
            <a:ext cx="3035808" cy="2893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 dirty="0">
                <a:solidFill>
                  <a:srgbClr val="0F233D"/>
                </a:solidFill>
                <a:latin typeface="Arial"/>
              </a:rPr>
              <a:t>DEG rule</a:t>
            </a:r>
          </a:p>
        </p:txBody>
      </p:sp>
      <p:sp>
        <p:nvSpPr>
          <p:cNvPr id="8" name="Oval 7"/>
          <p:cNvSpPr/>
          <p:nvPr/>
        </p:nvSpPr>
        <p:spPr>
          <a:xfrm>
            <a:off x="859536" y="2267712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3271" y="2139696"/>
            <a:ext cx="2990088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1F2730"/>
                </a:solidFill>
                <a:latin typeface="Arial"/>
              </a:rPr>
              <a:t>Detected in ≥10% of AD or NCI nuclei.</a:t>
            </a:r>
          </a:p>
        </p:txBody>
      </p:sp>
      <p:sp>
        <p:nvSpPr>
          <p:cNvPr id="10" name="Oval 9"/>
          <p:cNvSpPr/>
          <p:nvPr/>
        </p:nvSpPr>
        <p:spPr>
          <a:xfrm>
            <a:off x="859536" y="2834640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33271" y="2706624"/>
            <a:ext cx="2990088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1F2730"/>
                </a:solidFill>
                <a:latin typeface="Arial"/>
              </a:rPr>
              <a:t>Within-contrast BH FDR &lt; 0.05.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" y="3401568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33271" y="3273552"/>
            <a:ext cx="2990088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1F2730"/>
                </a:solidFill>
                <a:latin typeface="Arial"/>
              </a:rPr>
              <a:t>|log₂ fold change| &gt; log₂(1.3) ≈ 0.379.</a:t>
            </a:r>
          </a:p>
        </p:txBody>
      </p:sp>
      <p:sp>
        <p:nvSpPr>
          <p:cNvPr id="14" name="Oval 13"/>
          <p:cNvSpPr/>
          <p:nvPr/>
        </p:nvSpPr>
        <p:spPr>
          <a:xfrm>
            <a:off x="859536" y="396849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3271" y="3840480"/>
            <a:ext cx="2990088" cy="4370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 dirty="0">
                <a:solidFill>
                  <a:srgbClr val="1F2730"/>
                </a:solidFill>
                <a:latin typeface="Arial"/>
              </a:rPr>
              <a:t>Significant positive and negative DEGs enter the query.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" y="4709160"/>
            <a:ext cx="3145536" cy="786384"/>
          </a:xfrm>
          <a:prstGeom prst="roundRect">
            <a:avLst/>
          </a:prstGeom>
          <a:solidFill>
            <a:srgbClr val="E4F0F8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2415" y="4910328"/>
            <a:ext cx="2788920" cy="40011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 dirty="0">
                <a:solidFill>
                  <a:srgbClr val="0F233D"/>
                </a:solidFill>
                <a:latin typeface="Arial"/>
              </a:rPr>
              <a:t>Query = DEG rule ∩ core_mito_protein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26864" y="1426464"/>
            <a:ext cx="2066543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73168" y="1517904"/>
            <a:ext cx="1773935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2,864,117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1975104"/>
            <a:ext cx="1773935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E5A68"/>
                </a:solidFill>
                <a:latin typeface="Arial"/>
              </a:rPr>
              <a:t>tested gene × comparison rows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426464"/>
            <a:ext cx="2066543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04304" y="1517904"/>
            <a:ext cx="1773935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118,297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304" y="1975104"/>
            <a:ext cx="1773935" cy="20313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60" b="1" i="0" dirty="0">
                <a:solidFill>
                  <a:srgbClr val="4E5A68"/>
                </a:solidFill>
                <a:latin typeface="Arial"/>
              </a:rPr>
              <a:t>Passed </a:t>
            </a:r>
            <a:r>
              <a:rPr sz="960" b="1" i="0" dirty="0">
                <a:solidFill>
                  <a:srgbClr val="4E5A68"/>
                </a:solidFill>
                <a:latin typeface="Arial"/>
              </a:rPr>
              <a:t>DEG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304" y="2414016"/>
            <a:ext cx="1773935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6C7988"/>
                </a:solidFill>
                <a:latin typeface="Arial"/>
              </a:rPr>
              <a:t>58,112 up • 60,185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9136" y="1426464"/>
            <a:ext cx="2066543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440" y="1517904"/>
            <a:ext cx="1773935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895600"/>
                </a:solidFill>
                <a:latin typeface="Arial"/>
              </a:rPr>
              <a:t>9,262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1975104"/>
            <a:ext cx="1773935" cy="20313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 dirty="0">
                <a:solidFill>
                  <a:srgbClr val="4E5A68"/>
                </a:solidFill>
                <a:latin typeface="Arial"/>
              </a:rPr>
              <a:t>core-MT query </a:t>
            </a:r>
            <a:r>
              <a:rPr lang="en-US" sz="960" b="1" i="0" dirty="0">
                <a:solidFill>
                  <a:srgbClr val="4E5A68"/>
                </a:solidFill>
                <a:latin typeface="Arial"/>
              </a:rPr>
              <a:t>genes</a:t>
            </a:r>
            <a:endParaRPr sz="960" b="1" i="0" dirty="0">
              <a:solidFill>
                <a:srgbClr val="4E5A68"/>
              </a:solidFill>
              <a:latin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235440" y="2414016"/>
            <a:ext cx="1773935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6C7988"/>
                </a:solidFill>
                <a:latin typeface="Arial"/>
              </a:rPr>
              <a:t>4,258 up • 5,004 down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26864" y="3017520"/>
            <a:ext cx="6528816" cy="2395728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01184" y="3291840"/>
            <a:ext cx="310896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NETWORK-BACKGROUND INTERSECTION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3694176"/>
            <a:ext cx="5806440" cy="3247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 dirty="0">
                <a:solidFill>
                  <a:srgbClr val="0F233D"/>
                </a:solidFill>
                <a:latin typeface="Arial"/>
              </a:rPr>
              <a:t>9,262 provisional query </a:t>
            </a:r>
            <a:r>
              <a:rPr lang="en-US" sz="1750" b="1" i="0" dirty="0">
                <a:solidFill>
                  <a:srgbClr val="0F233D"/>
                </a:solidFill>
                <a:latin typeface="Arial"/>
              </a:rPr>
              <a:t>genes</a:t>
            </a:r>
            <a:endParaRPr sz="1750" b="1" i="0" dirty="0">
              <a:solidFill>
                <a:srgbClr val="0F233D"/>
              </a:solidFill>
              <a:latin typeface="Arial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19472" y="4133087"/>
            <a:ext cx="5321808" cy="25545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dirty="0">
                <a:solidFill>
                  <a:srgbClr val="D55E00"/>
                </a:solidFill>
                <a:latin typeface="Arial"/>
              </a:rPr>
              <a:t>− 1,329 absent from the </a:t>
            </a:r>
            <a:r>
              <a:rPr lang="en-US" sz="1300" b="1" dirty="0">
                <a:solidFill>
                  <a:srgbClr val="D55E00"/>
                </a:solidFill>
                <a:latin typeface="Arial"/>
              </a:rPr>
              <a:t>Bayesian network</a:t>
            </a:r>
            <a:endParaRPr sz="1300" b="1" i="0" dirty="0">
              <a:solidFill>
                <a:srgbClr val="D55E00"/>
              </a:solidFill>
              <a:latin typeface="Arial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19472" y="4626864"/>
            <a:ext cx="5806440" cy="33239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>
                <a:solidFill>
                  <a:srgbClr val="009E73"/>
                </a:solidFill>
                <a:latin typeface="Arial"/>
              </a:rPr>
              <a:t>= 7,933 query </a:t>
            </a:r>
            <a:r>
              <a:rPr lang="en-US" sz="1800" b="1" i="0" dirty="0">
                <a:solidFill>
                  <a:srgbClr val="009E73"/>
                </a:solidFill>
                <a:latin typeface="Arial"/>
              </a:rPr>
              <a:t>genes</a:t>
            </a:r>
            <a:endParaRPr sz="1800" b="1" i="0" dirty="0">
              <a:solidFill>
                <a:srgbClr val="009E73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928616" y="5074920"/>
            <a:ext cx="5422392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4E5A68"/>
                </a:solidFill>
                <a:latin typeface="Arial"/>
              </a:rPr>
              <a:t>Membership counts can repeat genes across contrasts; each contrast contributes one query.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37856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dirty="0">
                <a:solidFill>
                  <a:srgbClr val="0F233D"/>
                </a:solidFill>
                <a:latin typeface="Arial"/>
              </a:rPr>
              <a:t>Top five: 123 non-MT entries across 29 categories</a:t>
            </a:r>
          </a:p>
        </p:txBody>
      </p:sp>
      <p:pic>
        <p:nvPicPr>
          <p:cNvPr id="4" name="ROSMAP top-five non-MT key drivers by sex/APOE and broad-cell category" descr="ROSMAP top-five non-MT key drivers by sex/APOE and broad-cell categ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129" y="760631"/>
            <a:ext cx="9031602" cy="61455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RPS15 recurs across 11 returned-only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Returned-only recurrence is descriptive across sex/APOE × broad-cell categories.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61288"/>
            <a:ext cx="6547104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ROSMAP recurrence chart for the twenty broadest non-MT key drivers" descr="ROSMAP recurrence chart for the twenty broadest non-MT key driv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252728"/>
            <a:ext cx="5413248" cy="47365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32904" y="1298448"/>
            <a:ext cx="4343400" cy="4553712"/>
          </a:xfrm>
          <a:prstGeom prst="roundRect">
            <a:avLst/>
          </a:prstGeom>
          <a:solidFill>
            <a:srgbClr val="E4F0F8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516368" y="1618488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62672" y="1591056"/>
            <a:ext cx="363016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How to read it</a:t>
            </a:r>
          </a:p>
        </p:txBody>
      </p:sp>
      <p:sp>
        <p:nvSpPr>
          <p:cNvPr id="10" name="Oval 9"/>
          <p:cNvSpPr/>
          <p:nvPr/>
        </p:nvSpPr>
        <p:spPr>
          <a:xfrm>
            <a:off x="7525512" y="2212848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99248" y="2084831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Bar length = number of categories containing the gene.</a:t>
            </a:r>
          </a:p>
        </p:txBody>
      </p:sp>
      <p:sp>
        <p:nvSpPr>
          <p:cNvPr id="12" name="Oval 11"/>
          <p:cNvSpPr/>
          <p:nvPr/>
        </p:nvSpPr>
        <p:spPr>
          <a:xfrm>
            <a:off x="7525512" y="2770632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99248" y="2642615"/>
            <a:ext cx="3502151" cy="4031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 dirty="0">
                <a:solidFill>
                  <a:srgbClr val="1F2730"/>
                </a:solidFill>
                <a:latin typeface="Arial"/>
              </a:rPr>
              <a:t>Fill = categories whose score combines ≥2 returned calls</a:t>
            </a:r>
            <a:r>
              <a:rPr lang="en-US" sz="1130" b="0" i="0" dirty="0">
                <a:solidFill>
                  <a:srgbClr val="1F2730"/>
                </a:solidFill>
                <a:latin typeface="Arial"/>
              </a:rPr>
              <a:t> (used ACAT to aggregate p value)</a:t>
            </a:r>
            <a:r>
              <a:rPr sz="1130" b="0" i="0" dirty="0">
                <a:solidFill>
                  <a:srgbClr val="1F2730"/>
                </a:solidFill>
                <a:latin typeface="Arial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7525512" y="3328415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99248" y="3200399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RPS15: 11 categories, 6 groups, 4 networks; ACAT in 4.</a:t>
            </a:r>
          </a:p>
        </p:txBody>
      </p:sp>
      <p:sp>
        <p:nvSpPr>
          <p:cNvPr id="16" name="Oval 15"/>
          <p:cNvSpPr/>
          <p:nvPr/>
        </p:nvSpPr>
        <p:spPr>
          <a:xfrm>
            <a:off x="7525512" y="3886199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99248" y="3758183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RPL11: 10 categories, 6 groups, 4 networks; ACAT in 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F233D"/>
                </a:solidFill>
                <a:latin typeface="Arial"/>
              </a:rPr>
              <a:t>Simple output: 381 non-MT category units represent 228 genes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623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E5A68"/>
                </a:solidFill>
                <a:latin typeface="Arial"/>
              </a:rPr>
              <a:t>non-MT returned call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8064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44368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381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non-MT gene × category units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84064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228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distinct gene symbols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77456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23760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categories with non-MT returns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17152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3456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895600"/>
                </a:solidFill>
                <a:latin typeface="Arial"/>
              </a:rPr>
              <a:t>123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3456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top-five displayed rows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871216"/>
            <a:ext cx="5266944" cy="2834640"/>
          </a:xfrm>
          <a:prstGeom prst="roundRect">
            <a:avLst/>
          </a:prstGeom>
          <a:solidFill>
            <a:srgbClr val="E4F0F8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32688" y="3191256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" y="3163824"/>
            <a:ext cx="45720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Where non-MT driver units occur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685032"/>
            <a:ext cx="1874519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72B2"/>
                </a:solidFill>
                <a:latin typeface="Arial"/>
              </a:rPr>
              <a:t>By sex/APOE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4023360"/>
            <a:ext cx="4544568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1" i="0">
                <a:solidFill>
                  <a:srgbClr val="0F233D"/>
                </a:solidFill>
                <a:latin typeface="Arial"/>
              </a:rPr>
              <a:t>F_e4 81 • M_e33 79 • M_e2 70
F_e33 56 • F_e2 54 • M_e4 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4718304"/>
            <a:ext cx="1874519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72B2"/>
                </a:solidFill>
                <a:latin typeface="Arial"/>
              </a:rPr>
              <a:t>By broad network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5010912"/>
            <a:ext cx="4544568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0F233D"/>
                </a:solidFill>
                <a:latin typeface="Arial"/>
              </a:rPr>
              <a:t>Excitatory 153 • Inhibitory 146 • Astrocytes 32 • OPCs 21
Oligo 18 • Vasculature 6 • Microglia 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2871216"/>
            <a:ext cx="5010912" cy="283464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55664" y="3191256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01968" y="3163824"/>
            <a:ext cx="431596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Most recurrent returned-only genes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3675887"/>
            <a:ext cx="12984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0F233D"/>
                </a:solidFill>
                <a:latin typeface="Arial"/>
              </a:rPr>
              <a:t>RPS15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91272" y="3703320"/>
            <a:ext cx="2395728" cy="14630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42448" y="3675887"/>
            <a:ext cx="3200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009E73"/>
                </a:solidFill>
                <a:latin typeface="Arial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3968496"/>
            <a:ext cx="12984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0F233D"/>
                </a:solidFill>
                <a:latin typeface="Arial"/>
              </a:rPr>
              <a:t>RPL11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91272" y="3995928"/>
            <a:ext cx="2177934" cy="14630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442448" y="3968496"/>
            <a:ext cx="3200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009E73"/>
                </a:solidFill>
                <a:latin typeface="Arial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4261103"/>
            <a:ext cx="12984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0F233D"/>
                </a:solidFill>
                <a:latin typeface="Arial"/>
              </a:rPr>
              <a:t>RPLP1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91272" y="4288536"/>
            <a:ext cx="1742347" cy="14630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442448" y="4261103"/>
            <a:ext cx="3200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009E73"/>
                </a:solidFill>
                <a:latin typeface="Arial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3952" y="4553712"/>
            <a:ext cx="12984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0F233D"/>
                </a:solidFill>
                <a:latin typeface="Arial"/>
              </a:rPr>
              <a:t>RPL15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91272" y="4581144"/>
            <a:ext cx="1524554" cy="14630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442448" y="4553712"/>
            <a:ext cx="3200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009E73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4846320"/>
            <a:ext cx="12984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0F233D"/>
                </a:solidFill>
                <a:latin typeface="Arial"/>
              </a:rPr>
              <a:t>SELENOM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1272" y="4873752"/>
            <a:ext cx="1524554" cy="14630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442448" y="4846320"/>
            <a:ext cx="3200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009E73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5138927"/>
            <a:ext cx="12984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0F233D"/>
                </a:solidFill>
                <a:latin typeface="Arial"/>
              </a:rPr>
              <a:t>SELENOW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91272" y="5166359"/>
            <a:ext cx="1306760" cy="14630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42448" y="5138927"/>
            <a:ext cx="32004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009E73"/>
                </a:solidFill>
                <a:latin typeface="Arial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5477256"/>
            <a:ext cx="4334256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1">
                <a:solidFill>
                  <a:srgbClr val="4E5A68"/>
                </a:solidFill>
                <a:latin typeface="Arial"/>
              </a:rPr>
              <a:t>Counts are category presence—not independent replication or call counts.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612648"/>
            <a:ext cx="21945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9E73"/>
                </a:solidFill>
                <a:latin typeface="Arial"/>
              </a:rPr>
              <a:t>PART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152144"/>
            <a:ext cx="91440" cy="217627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78992" y="1243584"/>
            <a:ext cx="7909560" cy="12252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SEA-AD network-specific KDA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7589520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CDBEA"/>
                </a:solidFill>
                <a:latin typeface="Arial"/>
              </a:rPr>
              <a:t>129 supertypes define 774 contrasts; 22 KDA calls were run against SEA-AD-specific Bayesian networks.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42832" y="1170432"/>
            <a:ext cx="2468880" cy="4297680"/>
          </a:xfrm>
          <a:prstGeom prst="round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17152" y="1527048"/>
            <a:ext cx="19202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9E73"/>
                </a:solidFill>
                <a:latin typeface="Arial"/>
              </a:rPr>
              <a:t>IN THIS PART</a:t>
            </a:r>
          </a:p>
        </p:txBody>
      </p:sp>
      <p:sp>
        <p:nvSpPr>
          <p:cNvPr id="8" name="Oval 7"/>
          <p:cNvSpPr/>
          <p:nvPr/>
        </p:nvSpPr>
        <p:spPr>
          <a:xfrm>
            <a:off x="9198864" y="2039112"/>
            <a:ext cx="310896" cy="3108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8864" y="2084832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8632" y="2011680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Run universe</a:t>
            </a:r>
          </a:p>
        </p:txBody>
      </p:sp>
      <p:sp>
        <p:nvSpPr>
          <p:cNvPr id="11" name="Oval 10"/>
          <p:cNvSpPr/>
          <p:nvPr/>
        </p:nvSpPr>
        <p:spPr>
          <a:xfrm>
            <a:off x="9198864" y="2788920"/>
            <a:ext cx="310896" cy="3108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98864" y="2834640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2761488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Top-five results</a:t>
            </a:r>
          </a:p>
        </p:txBody>
      </p:sp>
      <p:sp>
        <p:nvSpPr>
          <p:cNvPr id="14" name="Oval 13"/>
          <p:cNvSpPr/>
          <p:nvPr/>
        </p:nvSpPr>
        <p:spPr>
          <a:xfrm>
            <a:off x="9198864" y="3538727"/>
            <a:ext cx="310896" cy="3108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98864" y="3584448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8632" y="3511296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Driver recurrence</a:t>
            </a:r>
          </a:p>
        </p:txBody>
      </p:sp>
      <p:sp>
        <p:nvSpPr>
          <p:cNvPr id="17" name="Oval 16"/>
          <p:cNvSpPr/>
          <p:nvPr/>
        </p:nvSpPr>
        <p:spPr>
          <a:xfrm>
            <a:off x="9198864" y="4288536"/>
            <a:ext cx="310896" cy="3108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98864" y="4334256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4261104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Result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129 SEA-AD supertypes create 774 planned contrasts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One mitochondrial DEG query per supertype × sex/APOE contrast.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44168"/>
            <a:ext cx="3383280" cy="1197864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591056"/>
            <a:ext cx="29260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129 supertypes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292608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00684D"/>
                </a:solidFill>
                <a:latin typeface="Arial"/>
              </a:rPr>
              <a:t>× 6 groups = 774 contrasts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344168"/>
            <a:ext cx="3383280" cy="1197864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36008" y="1591056"/>
            <a:ext cx="29260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774 signed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8" y="1993392"/>
            <a:ext cx="292608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56B4E9"/>
                </a:solidFill>
                <a:latin typeface="Arial"/>
              </a:rPr>
              <a:t>one query per contrast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4736" y="1344168"/>
            <a:ext cx="3383280" cy="1197864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03336" y="1591056"/>
            <a:ext cx="29260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22 KDA calls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3336" y="1993392"/>
            <a:ext cx="292608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895600"/>
                </a:solidFill>
                <a:latin typeface="Arial"/>
              </a:rPr>
              <a:t>effective mapped query n ≥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834640"/>
            <a:ext cx="580644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" y="2889504"/>
            <a:ext cx="5696712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Mutually exclusive contrast outcome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2834640"/>
            <a:ext cx="1115568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47688" y="2889504"/>
            <a:ext cx="1005840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Contrasts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08392" y="2834640"/>
            <a:ext cx="3611880" cy="42976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63256" y="2889504"/>
            <a:ext cx="3502152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KDA called?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" y="3264408"/>
            <a:ext cx="5806440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3310128"/>
            <a:ext cx="569671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Source DEG contrast not estimable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2824" y="3264408"/>
            <a:ext cx="1115568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47688" y="3310128"/>
            <a:ext cx="1005840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393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08392" y="3264408"/>
            <a:ext cx="3611880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63256" y="3310128"/>
            <a:ext cx="350215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" y="3694176"/>
            <a:ext cx="5806440" cy="4297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739896"/>
            <a:ext cx="569671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Estimable source; FDR-only query = 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92824" y="3694176"/>
            <a:ext cx="1115568" cy="4297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47688" y="3739896"/>
            <a:ext cx="1005840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348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08392" y="3694176"/>
            <a:ext cx="3611880" cy="4297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63256" y="3739896"/>
            <a:ext cx="350215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" y="4123944"/>
            <a:ext cx="5806440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7" y="4169663"/>
            <a:ext cx="569671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Effective mapped query 1–2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92824" y="4123944"/>
            <a:ext cx="1115568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47688" y="4169663"/>
            <a:ext cx="1005840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11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08392" y="4123944"/>
            <a:ext cx="3611880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63256" y="4169663"/>
            <a:ext cx="350215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F2730"/>
                </a:solidFill>
                <a:latin typeface="Arial"/>
              </a:rPr>
              <a:t>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" y="4553712"/>
            <a:ext cx="5806440" cy="4297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7" y="4676173"/>
            <a:ext cx="5696712" cy="203133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 dirty="0">
                <a:solidFill>
                  <a:srgbClr val="1F2730"/>
                </a:solidFill>
                <a:latin typeface="Arial"/>
              </a:rPr>
              <a:t>Effective mapped query </a:t>
            </a:r>
            <a:r>
              <a:rPr lang="en-US" sz="960" dirty="0">
                <a:solidFill>
                  <a:srgbClr val="1F2730"/>
                </a:solidFill>
                <a:latin typeface="Arial"/>
              </a:rPr>
              <a:t>&gt;=3</a:t>
            </a:r>
            <a:endParaRPr sz="960" b="0" i="0" dirty="0">
              <a:solidFill>
                <a:srgbClr val="1F2730"/>
              </a:solidFill>
              <a:latin typeface="Arial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592824" y="4553712"/>
            <a:ext cx="1115568" cy="4297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47688" y="4676173"/>
            <a:ext cx="1005840" cy="203133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60" dirty="0">
                <a:solidFill>
                  <a:srgbClr val="1F2730"/>
                </a:solidFill>
                <a:latin typeface="Arial"/>
              </a:rPr>
              <a:t>22</a:t>
            </a:r>
            <a:endParaRPr sz="960" b="0" i="0" dirty="0">
              <a:solidFill>
                <a:srgbClr val="1F2730"/>
              </a:solidFill>
              <a:latin typeface="Arial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708392" y="4553712"/>
            <a:ext cx="3611880" cy="4297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63256" y="4676173"/>
            <a:ext cx="3502152" cy="203133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 dirty="0">
                <a:solidFill>
                  <a:srgbClr val="1F2730"/>
                </a:solidFill>
                <a:latin typeface="Arial"/>
              </a:rPr>
              <a:t>Yes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6384" y="5002700"/>
            <a:ext cx="5806440" cy="429768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41247" y="5048420"/>
            <a:ext cx="569671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F2730"/>
                </a:solidFill>
                <a:latin typeface="Arial"/>
              </a:rPr>
              <a:t>TOTAL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92824" y="5002700"/>
            <a:ext cx="1115568" cy="429768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647688" y="5048420"/>
            <a:ext cx="1005840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F2730"/>
                </a:solidFill>
                <a:latin typeface="Arial"/>
              </a:rPr>
              <a:t>774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08392" y="5002700"/>
            <a:ext cx="3611880" cy="429768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763256" y="5048420"/>
            <a:ext cx="3502152" cy="35661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F2730"/>
                </a:solidFill>
                <a:latin typeface="Arial"/>
              </a:rPr>
              <a:t>22 calls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5551340"/>
            <a:ext cx="106070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E4C9A"/>
                </a:solidFill>
                <a:latin typeface="Arial"/>
              </a:rPr>
              <a:t>Availability remains unbalanced: 20 M_e33 calls, one F_e33 call, and one F_e4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Top-five display: 17 non-MT entries across 5 categories</a:t>
            </a:r>
          </a:p>
        </p:txBody>
      </p:sp>
      <p:pic>
        <p:nvPicPr>
          <p:cNvPr id="5" name="SEA-AD top-five non-MT key drivers by sex/APOE and broad-cell category" descr="SEA-AD top-five non-MT key drivers by sex/APOE and broad-cell categ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31760"/>
            <a:ext cx="11064240" cy="4306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" y="6144768"/>
            <a:ext cx="106070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1">
                <a:solidFill>
                  <a:srgbClr val="4E5A68"/>
                </a:solidFill>
                <a:latin typeface="Arial"/>
              </a:rPr>
              <a:t>Blue hatching = ACAT across ≥2 returned calls; orange = one-call q passthrough.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PJVK is the only gene recurring across 2 SEA-AD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Returned-only recurrence is descriptive across sex/APOE × broad-cell categories.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1161288"/>
            <a:ext cx="6547104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SEA-AD recurrence chart for the twenty broadest non-MT key drivers" descr="SEA-AD recurrence chart for the twenty broadest non-MT key driv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252728"/>
            <a:ext cx="5413248" cy="47365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32904" y="1298448"/>
            <a:ext cx="4343400" cy="4553712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516368" y="1618488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62672" y="1591056"/>
            <a:ext cx="363016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How to read it</a:t>
            </a:r>
          </a:p>
        </p:txBody>
      </p:sp>
      <p:sp>
        <p:nvSpPr>
          <p:cNvPr id="9" name="Oval 8"/>
          <p:cNvSpPr/>
          <p:nvPr/>
        </p:nvSpPr>
        <p:spPr>
          <a:xfrm>
            <a:off x="7525512" y="2212848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99248" y="2084831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Bar length = categories containing the gene.</a:t>
            </a:r>
          </a:p>
        </p:txBody>
      </p:sp>
      <p:sp>
        <p:nvSpPr>
          <p:cNvPr id="11" name="Oval 10"/>
          <p:cNvSpPr/>
          <p:nvPr/>
        </p:nvSpPr>
        <p:spPr>
          <a:xfrm>
            <a:off x="7525512" y="2770632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99248" y="2642615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Fill = category occurrences combining ≥2 returned calls.</a:t>
            </a:r>
          </a:p>
        </p:txBody>
      </p:sp>
      <p:sp>
        <p:nvSpPr>
          <p:cNvPr id="13" name="Oval 12"/>
          <p:cNvSpPr/>
          <p:nvPr/>
        </p:nvSpPr>
        <p:spPr>
          <a:xfrm>
            <a:off x="7525512" y="3328415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99248" y="3200399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PJVK: M_e33 excitatory + inhibitory neurons.</a:t>
            </a:r>
          </a:p>
        </p:txBody>
      </p:sp>
      <p:sp>
        <p:nvSpPr>
          <p:cNvPr id="15" name="Oval 14"/>
          <p:cNvSpPr/>
          <p:nvPr/>
        </p:nvSpPr>
        <p:spPr>
          <a:xfrm>
            <a:off x="7525512" y="3886199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99248" y="3758183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Its inhibitory category combines 3 returned calls by ACAT.</a:t>
            </a:r>
          </a:p>
        </p:txBody>
      </p:sp>
      <p:sp>
        <p:nvSpPr>
          <p:cNvPr id="17" name="Oval 16"/>
          <p:cNvSpPr/>
          <p:nvPr/>
        </p:nvSpPr>
        <p:spPr>
          <a:xfrm>
            <a:off x="7525512" y="4443983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99248" y="4315968"/>
            <a:ext cx="3502151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The remaining 19 displayed genes occur in one category.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16368" y="5074920"/>
            <a:ext cx="3749039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90104" y="5175504"/>
            <a:ext cx="340156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>
                <a:solidFill>
                  <a:srgbClr val="9E3A00"/>
                </a:solidFill>
                <a:latin typeface="Arial"/>
              </a:rPr>
              <a:t>Only 5 categories return non-MT genes.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SEA-AD output: 44 non-MT units represent 43 genes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non-MT returned call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8063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44368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gene × category units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4064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distinct gene symbols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77455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23759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59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categories with returns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17152" y="1389888"/>
            <a:ext cx="19385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63456" y="1481328"/>
            <a:ext cx="1645920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895600"/>
                </a:solidFill>
                <a:latin typeface="Arial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3456" y="1938528"/>
            <a:ext cx="1645920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top-five displayed rows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871216"/>
            <a:ext cx="5266944" cy="283464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2688" y="3191256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78992" y="3163824"/>
            <a:ext cx="45720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Where the 44 units occur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685032"/>
            <a:ext cx="1874519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684D"/>
                </a:solidFill>
                <a:latin typeface="Arial"/>
              </a:rPr>
              <a:t>By sex/APOE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023360"/>
            <a:ext cx="4544568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0F233D"/>
                </a:solidFill>
                <a:latin typeface="Arial"/>
              </a:rPr>
              <a:t>M_e33 39 • F_e4 3 • F_e33 2 • other groups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718304"/>
            <a:ext cx="1874519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684D"/>
                </a:solidFill>
                <a:latin typeface="Arial"/>
              </a:rPr>
              <a:t>By broad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5010912"/>
            <a:ext cx="4544568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>
                <a:solidFill>
                  <a:srgbClr val="0F233D"/>
                </a:solidFill>
                <a:latin typeface="Arial"/>
              </a:rPr>
              <a:t>Excitatory 27 • Inhibitory 12 • Astrocytes 3 • Oligo 2
Microglia, OPCs, Vasculature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2871216"/>
            <a:ext cx="5010912" cy="283464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55664" y="3191256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01968" y="3163824"/>
            <a:ext cx="431596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Execution and filtering</a:t>
            </a:r>
          </a:p>
        </p:txBody>
      </p:sp>
      <p:sp>
        <p:nvSpPr>
          <p:cNvPr id="28" name="Oval 27"/>
          <p:cNvSpPr/>
          <p:nvPr/>
        </p:nvSpPr>
        <p:spPr>
          <a:xfrm>
            <a:off x="6473952" y="3803903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47688" y="3675887"/>
            <a:ext cx="4197096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20 calls with returns; 2 completed empty.</a:t>
            </a:r>
          </a:p>
        </p:txBody>
      </p:sp>
      <p:sp>
        <p:nvSpPr>
          <p:cNvPr id="30" name="Oval 29"/>
          <p:cNvSpPr/>
          <p:nvPr/>
        </p:nvSpPr>
        <p:spPr>
          <a:xfrm>
            <a:off x="6473952" y="424281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47688" y="4114800"/>
            <a:ext cx="4197096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112 significant return rows before mitochondrial filtering.</a:t>
            </a:r>
          </a:p>
        </p:txBody>
      </p:sp>
      <p:sp>
        <p:nvSpPr>
          <p:cNvPr id="32" name="Oval 31"/>
          <p:cNvSpPr/>
          <p:nvPr/>
        </p:nvSpPr>
        <p:spPr>
          <a:xfrm>
            <a:off x="6473952" y="4681728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47688" y="4553712"/>
            <a:ext cx="4197096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58 core-MitoCarta rows excluded.</a:t>
            </a:r>
          </a:p>
        </p:txBody>
      </p:sp>
      <p:sp>
        <p:nvSpPr>
          <p:cNvPr id="34" name="Oval 33"/>
          <p:cNvSpPr/>
          <p:nvPr/>
        </p:nvSpPr>
        <p:spPr>
          <a:xfrm>
            <a:off x="6473952" y="5120640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47688" y="4992624"/>
            <a:ext cx="4197096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54 non-MT rows retained for aggregation.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6035040"/>
            <a:ext cx="106070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9E3A00"/>
                </a:solidFill>
                <a:latin typeface="Arial"/>
              </a:rPr>
              <a:t>Returned-only ACAT scores are exploratory and not formally FDR-controlled across genes.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612648"/>
            <a:ext cx="21945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4C9A"/>
                </a:solidFill>
                <a:latin typeface="Arial"/>
              </a:rPr>
              <a:t>PART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152144"/>
            <a:ext cx="91440" cy="2176272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78992" y="1243584"/>
            <a:ext cx="7909560" cy="12252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Do the same drivers appear in both cohorts?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7589520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CDBEA"/>
                </a:solidFill>
                <a:latin typeface="Arial"/>
              </a:rPr>
              <a:t>ROSMAP and SEA-AD results are compared at gene and matched-context levels.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42832" y="1170432"/>
            <a:ext cx="2468880" cy="4297680"/>
          </a:xfrm>
          <a:prstGeom prst="round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17152" y="1527048"/>
            <a:ext cx="19202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7E4C9A"/>
                </a:solidFill>
                <a:latin typeface="Arial"/>
              </a:rPr>
              <a:t>IN THIS PART</a:t>
            </a:r>
          </a:p>
        </p:txBody>
      </p:sp>
      <p:sp>
        <p:nvSpPr>
          <p:cNvPr id="8" name="Oval 7"/>
          <p:cNvSpPr/>
          <p:nvPr/>
        </p:nvSpPr>
        <p:spPr>
          <a:xfrm>
            <a:off x="9198864" y="2039112"/>
            <a:ext cx="310896" cy="3108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8864" y="2084832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8632" y="2011680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Comparison design</a:t>
            </a:r>
          </a:p>
        </p:txBody>
      </p:sp>
      <p:sp>
        <p:nvSpPr>
          <p:cNvPr id="11" name="Oval 10"/>
          <p:cNvSpPr/>
          <p:nvPr/>
        </p:nvSpPr>
        <p:spPr>
          <a:xfrm>
            <a:off x="9198864" y="2788920"/>
            <a:ext cx="310896" cy="3108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98864" y="2834640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2761488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Gene overlap</a:t>
            </a:r>
          </a:p>
        </p:txBody>
      </p:sp>
      <p:sp>
        <p:nvSpPr>
          <p:cNvPr id="14" name="Oval 13"/>
          <p:cNvSpPr/>
          <p:nvPr/>
        </p:nvSpPr>
        <p:spPr>
          <a:xfrm>
            <a:off x="9198864" y="3538727"/>
            <a:ext cx="310896" cy="3108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98864" y="3584448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8632" y="3511296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Context overlap</a:t>
            </a:r>
          </a:p>
        </p:txBody>
      </p:sp>
      <p:sp>
        <p:nvSpPr>
          <p:cNvPr id="17" name="Oval 16"/>
          <p:cNvSpPr/>
          <p:nvPr/>
        </p:nvSpPr>
        <p:spPr>
          <a:xfrm>
            <a:off x="9198864" y="4288536"/>
            <a:ext cx="310896" cy="3108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98864" y="4334256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4261104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Two ways to ask whether a driver reappears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Gene-level overlap ignores context; category-level overlap requires the same group and broad cell type.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389888"/>
            <a:ext cx="5358384" cy="39319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682496"/>
            <a:ext cx="292608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2B2"/>
                </a:solidFill>
                <a:latin typeface="Arial"/>
              </a:rPr>
              <a:t>GENE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4526280" cy="5852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233D"/>
                </a:solidFill>
                <a:latin typeface="Arial"/>
              </a:rPr>
              <a:t>Does the same gene return anywhere?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34640"/>
            <a:ext cx="2103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4983" y="2926080"/>
            <a:ext cx="1810511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228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3383280"/>
            <a:ext cx="1810511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ROSMAP driver genes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834640"/>
            <a:ext cx="2103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926080"/>
            <a:ext cx="1810511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3383280"/>
            <a:ext cx="1810511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SEA-AD driver genes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0"/>
            <a:ext cx="47548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E5A68"/>
                </a:solidFill>
                <a:latin typeface="Arial"/>
              </a:rPr>
              <a:t>Permissive overlap, but still affected by the network used to nominate drivers.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389888"/>
            <a:ext cx="5358384" cy="3931920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682496"/>
            <a:ext cx="292608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95600"/>
                </a:solidFill>
                <a:latin typeface="Arial"/>
              </a:rPr>
              <a:t>CATEGORY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1993392"/>
            <a:ext cx="4526280" cy="5852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233D"/>
                </a:solidFill>
                <a:latin typeface="Arial"/>
              </a:rPr>
              <a:t>Same gene, same group, same cell type?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28816" y="2834640"/>
            <a:ext cx="2103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2926080"/>
            <a:ext cx="1810511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895600"/>
                </a:solidFill>
                <a:latin typeface="Arial"/>
              </a:rPr>
              <a:t>381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83280"/>
            <a:ext cx="1810511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E5A68"/>
                </a:solidFill>
                <a:latin typeface="Arial"/>
              </a:rPr>
              <a:t>ROSMAP gene × category units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0536" y="2834640"/>
            <a:ext cx="2103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06840" y="2926080"/>
            <a:ext cx="1810511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895600"/>
                </a:solidFill>
                <a:latin typeface="Arial"/>
              </a:rPr>
              <a:t>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383280"/>
            <a:ext cx="1810511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E5A68"/>
                </a:solidFill>
                <a:latin typeface="Arial"/>
              </a:rPr>
              <a:t>SEA-AD gene × category units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206240"/>
            <a:ext cx="475488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E5A68"/>
                </a:solidFill>
                <a:latin typeface="Arial"/>
              </a:rPr>
              <a:t>Strict context agreement; assessed within five SEA-AD return-bearing categories.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06440"/>
            <a:ext cx="106070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E4C9A"/>
                </a:solidFill>
                <a:latin typeface="Arial"/>
              </a:rPr>
              <a:t>Four SEA-AD return-bearing categories also contain ROSMAP returns, yet none shares a driver.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3 of 43 SEA-AD drivers also return in ROSMAP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The two cohorts show limited gene overlap and no exact category 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627632"/>
            <a:ext cx="283464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72B2"/>
                </a:solidFill>
                <a:latin typeface="Arial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E5A68"/>
                </a:solidFill>
                <a:latin typeface="Arial"/>
              </a:rPr>
              <a:t>SEA-AD driver genes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6304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1627632"/>
            <a:ext cx="283464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72B2"/>
                </a:solidFill>
                <a:latin typeface="Arial"/>
              </a:rPr>
              <a:t>3 (7%)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212848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E5A68"/>
                </a:solidFill>
                <a:latin typeface="Arial"/>
              </a:rPr>
              <a:t>also ROSMAP drivers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291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320" y="1627632"/>
            <a:ext cx="283464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72B2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212848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E5A68"/>
                </a:solidFill>
                <a:latin typeface="Arial"/>
              </a:rPr>
              <a:t>exact category 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46120"/>
            <a:ext cx="10515600" cy="21031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97280" y="3547872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43584" y="3520440"/>
            <a:ext cx="97292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The 3 shared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041648"/>
            <a:ext cx="9784080" cy="7498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233D"/>
                </a:solidFill>
                <a:latin typeface="Arial"/>
              </a:rPr>
              <a:t>LAGE3  •  MIPOL1  •  PAPOLA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910328"/>
            <a:ext cx="9784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1">
                <a:solidFill>
                  <a:srgbClr val="4E5A68"/>
                </a:solidFill>
                <a:latin typeface="Arial"/>
              </a:rPr>
              <a:t>None appears on both cohorts’ top-20 recurrence displays.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806440"/>
            <a:ext cx="106070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E4C9A"/>
                </a:solidFill>
                <a:latin typeface="Arial"/>
              </a:rPr>
              <a:t>All three are M_e33 in SEA-AD, but their ROSMAP categories differ.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No driver-category pair matches exactly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The three shared genes reappear in different sex/APOE and/or broad-cell contexts.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490472"/>
            <a:ext cx="1234440" cy="47548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1" y="1545336"/>
            <a:ext cx="112471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 i="0">
                <a:solidFill>
                  <a:srgbClr val="FFFFFF"/>
                </a:solidFill>
                <a:latin typeface="Arial"/>
              </a:rPr>
              <a:t>Gene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4248" y="1490472"/>
            <a:ext cx="2377440" cy="47548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39112" y="1545336"/>
            <a:ext cx="226771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 i="0">
                <a:solidFill>
                  <a:srgbClr val="FFFFFF"/>
                </a:solidFill>
                <a:latin typeface="Arial"/>
              </a:rPr>
              <a:t>SEA-AD category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1688" y="1490472"/>
            <a:ext cx="4251960" cy="47548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16551" y="1545336"/>
            <a:ext cx="414223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 i="0">
                <a:solidFill>
                  <a:srgbClr val="FFFFFF"/>
                </a:solidFill>
                <a:latin typeface="Arial"/>
              </a:rPr>
              <a:t>ROSMAP category or categories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13648" y="1490472"/>
            <a:ext cx="2514600" cy="47548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68512" y="1545336"/>
            <a:ext cx="2404872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 i="0">
                <a:solidFill>
                  <a:srgbClr val="FFFFFF"/>
                </a:solidFill>
                <a:latin typeface="Arial"/>
              </a:rPr>
              <a:t>Preserved context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1965960"/>
            <a:ext cx="123444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011679"/>
            <a:ext cx="112471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LAGE3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4248" y="1965960"/>
            <a:ext cx="237744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39112" y="2011679"/>
            <a:ext cx="226771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M_e33 · Inhibitory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8" y="1965960"/>
            <a:ext cx="425196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16551" y="2011679"/>
            <a:ext cx="414223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F_e2, F_e4, M_e2 · Excitatory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13648" y="1965960"/>
            <a:ext cx="251460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68512" y="2011679"/>
            <a:ext cx="240487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None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2679191"/>
            <a:ext cx="1234440" cy="71323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1" y="2724911"/>
            <a:ext cx="112471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MIPOL1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4248" y="2679191"/>
            <a:ext cx="2377440" cy="71323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39112" y="2724911"/>
            <a:ext cx="226771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M_e33 · Excitatory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61688" y="2679191"/>
            <a:ext cx="4251960" cy="71323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16551" y="2724911"/>
            <a:ext cx="414223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F_e4, M_e33 · Inhibitory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13648" y="2679191"/>
            <a:ext cx="2514600" cy="71323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68512" y="2724911"/>
            <a:ext cx="240487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M_e33 group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" y="3392424"/>
            <a:ext cx="123444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1" y="3438144"/>
            <a:ext cx="112471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PAPOLA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84248" y="3392424"/>
            <a:ext cx="237744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039112" y="3438144"/>
            <a:ext cx="226771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M_e33 · Oligodendrocytes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1688" y="3392424"/>
            <a:ext cx="425196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16551" y="3438144"/>
            <a:ext cx="414223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F_e4 · OPCs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13648" y="3392424"/>
            <a:ext cx="2514600" cy="71323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68512" y="3438144"/>
            <a:ext cx="2404872" cy="6400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1F2730"/>
                </a:solidFill>
                <a:latin typeface="Arial"/>
              </a:rPr>
              <a:t>None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60"/>
            <a:ext cx="10515600" cy="987552"/>
          </a:xfrm>
          <a:prstGeom prst="roundRect">
            <a:avLst/>
          </a:prstGeom>
          <a:solidFill>
            <a:srgbClr val="FD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0704" y="4965192"/>
            <a:ext cx="10040112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E3A00"/>
                </a:solidFill>
                <a:latin typeface="Arial"/>
              </a:rPr>
              <a:t>0 of 44 SEA-AD gene × category units has an exact ROSMAP match.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Only MIPOL1 preserves the sex/APOE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No shared gene preserves broad-cell context in this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3493008" cy="4297680"/>
          </a:xfrm>
          <a:prstGeom prst="roundRect">
            <a:avLst/>
          </a:prstGeom>
          <a:solidFill>
            <a:srgbClr val="EB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" y="1709928"/>
            <a:ext cx="2980944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233D"/>
                </a:solidFill>
                <a:latin typeface="Arial"/>
              </a:rPr>
              <a:t>LAGE3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59152"/>
            <a:ext cx="2980944" cy="7863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SEA-AD
M_e33 · Inhibitory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346704"/>
            <a:ext cx="2980944" cy="10241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ROSMAP
F_e2 / F_e4 / M_e2 · Excitatory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" y="4727448"/>
            <a:ext cx="3054096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4882896"/>
            <a:ext cx="2834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2B2"/>
                </a:solidFill>
                <a:latin typeface="Arial"/>
              </a:rPr>
              <a:t>No matching dimension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417320"/>
            <a:ext cx="3493008" cy="4297680"/>
          </a:xfrm>
          <a:prstGeom prst="roundRect">
            <a:avLst/>
          </a:prstGeom>
          <a:solidFill>
            <a:srgbClr val="E4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1709928"/>
            <a:ext cx="2980944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233D"/>
                </a:solidFill>
                <a:latin typeface="Arial"/>
              </a:rPr>
              <a:t>MIPOL1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59152"/>
            <a:ext cx="2980944" cy="7863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SEA-AD
M_e33 · Excitatory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46704"/>
            <a:ext cx="2980944" cy="10241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ROSMAP
F_e4 / M_e33 · Inhibitory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1144" y="4727448"/>
            <a:ext cx="3054096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0872" y="4882896"/>
            <a:ext cx="2834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84D"/>
                </a:solidFill>
                <a:latin typeface="Arial"/>
              </a:rPr>
              <a:t>M_e33 preserved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1417320"/>
            <a:ext cx="3493008" cy="4297680"/>
          </a:xfrm>
          <a:prstGeom prst="roundRect">
            <a:avLst/>
          </a:prstGeom>
          <a:solidFill>
            <a:srgbClr val="FDF2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85048" y="1709928"/>
            <a:ext cx="2980944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233D"/>
                </a:solidFill>
                <a:latin typeface="Arial"/>
              </a:rPr>
              <a:t>PAPOLA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359152"/>
            <a:ext cx="2980944" cy="7863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SEA-AD
M_e33 · Oligodendrocytes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3346704"/>
            <a:ext cx="2980944" cy="10241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ROSMAP
F_e4 · OPCs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48472" y="4727448"/>
            <a:ext cx="3054096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4882896"/>
            <a:ext cx="2834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95600"/>
                </a:solidFill>
                <a:latin typeface="Arial"/>
              </a:rPr>
              <a:t>No matching dimension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Six cross-cohort unit pairings arise from three shared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A SEA-AD unit is paired with every ROSMAP unit carrying the same gene.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572768"/>
            <a:ext cx="1371600" cy="56692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6656" y="1627632"/>
            <a:ext cx="1261872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Gene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993392" y="1572768"/>
            <a:ext cx="1371600" cy="56692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48256" y="1627632"/>
            <a:ext cx="1261872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SEA-AD units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4992" y="1572768"/>
            <a:ext cx="1417320" cy="56692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19856" y="1627632"/>
            <a:ext cx="1307592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ROSMAP units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82312" y="1572768"/>
            <a:ext cx="1874519" cy="56692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37176" y="1627632"/>
            <a:ext cx="1764791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Cross-cohort pairs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1572768"/>
            <a:ext cx="1417320" cy="56692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11696" y="1627632"/>
            <a:ext cx="1307592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Same group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4152" y="1572768"/>
            <a:ext cx="1600200" cy="56692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29016" y="1627632"/>
            <a:ext cx="1490472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Same cell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74352" y="1572768"/>
            <a:ext cx="1051560" cy="566928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29216" y="1627632"/>
            <a:ext cx="941831" cy="4754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Arial"/>
              </a:rPr>
              <a:t>Exact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2139696"/>
            <a:ext cx="137160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2185415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LAGE3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93392" y="2139696"/>
            <a:ext cx="137160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48256" y="2185415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2139696"/>
            <a:ext cx="141732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19856" y="2185415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82312" y="2139696"/>
            <a:ext cx="1874519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37176" y="2185415"/>
            <a:ext cx="176479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2" y="2139696"/>
            <a:ext cx="141732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11696" y="2185415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74152" y="2139696"/>
            <a:ext cx="160020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29016" y="2185415"/>
            <a:ext cx="14904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2139696"/>
            <a:ext cx="105156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29216" y="2185415"/>
            <a:ext cx="94183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" y="2670048"/>
            <a:ext cx="1371600" cy="53035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6" y="2715768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MIPOL1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93392" y="2670048"/>
            <a:ext cx="1371600" cy="53035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048256" y="2715768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670048"/>
            <a:ext cx="1417320" cy="53035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2715768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670048"/>
            <a:ext cx="1874519" cy="53035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37176" y="2715768"/>
            <a:ext cx="176479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6832" y="2670048"/>
            <a:ext cx="1417320" cy="53035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11696" y="2715768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4152" y="2670048"/>
            <a:ext cx="1600200" cy="53035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29016" y="2715768"/>
            <a:ext cx="14904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74352" y="2670048"/>
            <a:ext cx="1051560" cy="53035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29216" y="2715768"/>
            <a:ext cx="94183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" y="3200400"/>
            <a:ext cx="137160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6656" y="3246120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PAPOLA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93392" y="3200400"/>
            <a:ext cx="137160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48256" y="3246120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64992" y="3200400"/>
            <a:ext cx="141732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19856" y="3246120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82312" y="3200400"/>
            <a:ext cx="1874519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37176" y="3246120"/>
            <a:ext cx="176479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56832" y="3200400"/>
            <a:ext cx="141732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711696" y="3246120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74152" y="3200400"/>
            <a:ext cx="160020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29016" y="3246120"/>
            <a:ext cx="14904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74352" y="3200400"/>
            <a:ext cx="1051560" cy="53035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729216" y="3246120"/>
            <a:ext cx="94183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" y="3730752"/>
            <a:ext cx="1371600" cy="530352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76656" y="3776472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2730"/>
                </a:solidFill>
                <a:latin typeface="Arial"/>
              </a:rPr>
              <a:t>TOTAL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93392" y="3730752"/>
            <a:ext cx="1371600" cy="530352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048256" y="3776472"/>
            <a:ext cx="12618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64992" y="3730752"/>
            <a:ext cx="1417320" cy="530352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419856" y="3776472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2730"/>
                </a:solidFill>
                <a:latin typeface="Arial"/>
              </a:rPr>
              <a:t>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82312" y="3730752"/>
            <a:ext cx="1874519" cy="530352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37176" y="3776472"/>
            <a:ext cx="176479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2730"/>
                </a:solidFill>
                <a:latin typeface="Arial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56832" y="3730752"/>
            <a:ext cx="1417320" cy="530352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11696" y="3776472"/>
            <a:ext cx="130759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4152" y="3730752"/>
            <a:ext cx="1600200" cy="530352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129016" y="3776472"/>
            <a:ext cx="1490472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74352" y="3730752"/>
            <a:ext cx="1051560" cy="530352"/>
          </a:xfrm>
          <a:prstGeom prst="rect">
            <a:avLst/>
          </a:prstGeom>
          <a:solidFill>
            <a:srgbClr val="E4F4EE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729216" y="3776472"/>
            <a:ext cx="941831" cy="45719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22960" y="4892040"/>
            <a:ext cx="10515600" cy="804672"/>
          </a:xfrm>
          <a:prstGeom prst="roundRect">
            <a:avLst/>
          </a:prstGeom>
          <a:solidFill>
            <a:srgbClr val="EB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51560" y="5120640"/>
            <a:ext cx="100584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072B2"/>
                </a:solidFill>
                <a:latin typeface="Arial"/>
              </a:rPr>
              <a:t>Only one of six pairings preserves sex/APOE group; none preserves broad-cell type.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Context preservation is minimal across six pairings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Exact replication requires both the same sex/APOE group and the same broad-cell type.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44752"/>
            <a:ext cx="3401568" cy="2487168"/>
          </a:xfrm>
          <a:prstGeom prst="roundRect">
            <a:avLst/>
          </a:prstGeom>
          <a:solidFill>
            <a:srgbClr val="EB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1810512"/>
            <a:ext cx="2944368" cy="8046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72B2"/>
                </a:solidFill>
                <a:latin typeface="Arial"/>
              </a:rPr>
              <a:t>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788920"/>
            <a:ext cx="2852928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730"/>
                </a:solidFill>
                <a:latin typeface="Arial"/>
              </a:rPr>
              <a:t>same broad cell type
0 of 6 pairings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1444752"/>
            <a:ext cx="3401568" cy="2487168"/>
          </a:xfrm>
          <a:prstGeom prst="roundRect">
            <a:avLst/>
          </a:prstGeom>
          <a:solidFill>
            <a:srgbClr val="FDF2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81728" y="1810512"/>
            <a:ext cx="2944368" cy="8046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895600"/>
                </a:solidFill>
                <a:latin typeface="Arial"/>
              </a:rPr>
              <a:t>17%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2788920"/>
            <a:ext cx="2852928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730"/>
                </a:solidFill>
                <a:latin typeface="Arial"/>
              </a:rPr>
              <a:t>same sex/APOE group
1 of 6 pairings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444752"/>
            <a:ext cx="3401568" cy="2487168"/>
          </a:xfrm>
          <a:prstGeom prst="roundRect">
            <a:avLst/>
          </a:prstGeom>
          <a:solidFill>
            <a:srgbClr val="FD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76488" y="1810512"/>
            <a:ext cx="2944368" cy="8046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9E3A00"/>
                </a:solidFill>
                <a:latin typeface="Arial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2788920"/>
            <a:ext cx="2852928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730"/>
                </a:solidFill>
                <a:latin typeface="Arial"/>
              </a:rPr>
              <a:t>exact category match
0 of 6 pairings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434840"/>
            <a:ext cx="10515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97280" y="4690872"/>
            <a:ext cx="64008" cy="283464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43584" y="4663440"/>
            <a:ext cx="97292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Interpretation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5102352"/>
            <a:ext cx="987552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The SEA-AD driver set has limited gene overlap with ROSMAP and no matched cell-type context. Cohort and network topology changed together.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Shared SEA-AD M_e33 genes span both ROSMAP sexes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All three shared genes are M_e33 in SEA-AD; ROSMAP sex membership is mixed.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" y="1417320"/>
            <a:ext cx="5440680" cy="4160520"/>
          </a:xfrm>
          <a:prstGeom prst="roundRect">
            <a:avLst/>
          </a:prstGeom>
          <a:solidFill>
            <a:srgbClr val="EB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77824" y="1737360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7" y="1709928"/>
            <a:ext cx="460857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Gene membership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1572768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4E5A68"/>
                </a:solidFill>
                <a:latin typeface="Arial"/>
              </a:rPr>
              <a:t>Male-only (0)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2304288"/>
            <a:ext cx="2971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None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236976"/>
            <a:ext cx="1572768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4E5A68"/>
                </a:solidFill>
                <a:latin typeface="Arial"/>
              </a:rPr>
              <a:t>Female-only (1)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3236976"/>
            <a:ext cx="2971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PAPOLA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169664"/>
            <a:ext cx="1572768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4E5A68"/>
                </a:solidFill>
                <a:latin typeface="Arial"/>
              </a:rPr>
              <a:t>Both sexes (2)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2032" y="4169664"/>
            <a:ext cx="2971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LAGE3, MIPOL1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5285232" cy="4160520"/>
          </a:xfrm>
          <a:prstGeom prst="roundRect">
            <a:avLst/>
          </a:prstGeom>
          <a:solidFill>
            <a:srgbClr val="F1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0" y="1737360"/>
            <a:ext cx="64008" cy="283464"/>
          </a:xfrm>
          <a:prstGeom prst="rect">
            <a:avLst/>
          </a:prstGeom>
          <a:solidFill>
            <a:srgbClr val="4E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9984" y="1709928"/>
            <a:ext cx="442569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ROSMAP sex distribution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377440"/>
            <a:ext cx="23774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Male-only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2633472"/>
            <a:ext cx="8686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730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3200400"/>
            <a:ext cx="23774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Female-only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1968" y="3493008"/>
            <a:ext cx="1783080" cy="219456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78440" y="3456432"/>
            <a:ext cx="8686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4023360"/>
            <a:ext cx="23774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Both sexes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4315968"/>
            <a:ext cx="3566160" cy="219456"/>
          </a:xfrm>
          <a:prstGeom prst="rect">
            <a:avLst/>
          </a:prstGeom>
          <a:solidFill>
            <a:srgbClr val="4E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378440" y="4279392"/>
            <a:ext cx="8686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4892040"/>
            <a:ext cx="475488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E5A68"/>
                </a:solidFill>
                <a:latin typeface="Arial"/>
              </a:rPr>
              <a:t>MIPOL1 and LAGE3 occur in both female and male ROSMAP categories; PAPOLA occurs only in F_e4.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What the cross-cohort comparison does—and does not—show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3504" y="1188720"/>
            <a:ext cx="5440680" cy="4617720"/>
          </a:xfrm>
          <a:prstGeom prst="roundRect">
            <a:avLst/>
          </a:prstGeom>
          <a:solidFill>
            <a:srgbClr val="E4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86968" y="1508760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3271" y="1481328"/>
            <a:ext cx="460857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Supported</a:t>
            </a:r>
          </a:p>
        </p:txBody>
      </p:sp>
      <p:sp>
        <p:nvSpPr>
          <p:cNvPr id="6" name="Oval 5"/>
          <p:cNvSpPr/>
          <p:nvPr/>
        </p:nvSpPr>
        <p:spPr>
          <a:xfrm>
            <a:off x="905256" y="2103120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975104"/>
            <a:ext cx="4654296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3 of 43 SEA-AD drivers also occur in ROSMAP: LAGE3, MIPOL1, PAPOLA.</a:t>
            </a:r>
          </a:p>
        </p:txBody>
      </p:sp>
      <p:sp>
        <p:nvSpPr>
          <p:cNvPr id="8" name="Oval 7"/>
          <p:cNvSpPr/>
          <p:nvPr/>
        </p:nvSpPr>
        <p:spPr>
          <a:xfrm>
            <a:off x="905256" y="282549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2697480"/>
            <a:ext cx="4654296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No shared driver preserves both sex/APOE group and broad-cell type.</a:t>
            </a:r>
          </a:p>
        </p:txBody>
      </p:sp>
      <p:sp>
        <p:nvSpPr>
          <p:cNvPr id="10" name="Oval 9"/>
          <p:cNvSpPr/>
          <p:nvPr/>
        </p:nvSpPr>
        <p:spPr>
          <a:xfrm>
            <a:off x="905256" y="3547872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3419856"/>
            <a:ext cx="4654296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MIPOL1 preserves M_e33 once but switches excitatory → inhibitory.</a:t>
            </a:r>
          </a:p>
        </p:txBody>
      </p:sp>
      <p:sp>
        <p:nvSpPr>
          <p:cNvPr id="12" name="Oval 11"/>
          <p:cNvSpPr/>
          <p:nvPr/>
        </p:nvSpPr>
        <p:spPr>
          <a:xfrm>
            <a:off x="905256" y="4270248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4142232"/>
            <a:ext cx="4654296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PJVK is the only SEA-AD gene recurring across two categories.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188720"/>
            <a:ext cx="5285232" cy="4617720"/>
          </a:xfrm>
          <a:prstGeom prst="roundRect">
            <a:avLst/>
          </a:prstGeom>
          <a:solidFill>
            <a:srgbClr val="FD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92824" y="1508760"/>
            <a:ext cx="64008" cy="283464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9128" y="1481328"/>
            <a:ext cx="44714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Limits</a:t>
            </a:r>
          </a:p>
        </p:txBody>
      </p:sp>
      <p:sp>
        <p:nvSpPr>
          <p:cNvPr id="17" name="Oval 16"/>
          <p:cNvSpPr/>
          <p:nvPr/>
        </p:nvSpPr>
        <p:spPr>
          <a:xfrm>
            <a:off x="6611112" y="2103120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84848" y="1975104"/>
            <a:ext cx="4489703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No broad-cell match occurs among the six shared-gene unit pairings.</a:t>
            </a:r>
          </a:p>
        </p:txBody>
      </p:sp>
      <p:sp>
        <p:nvSpPr>
          <p:cNvPr id="19" name="Oval 18"/>
          <p:cNvSpPr/>
          <p:nvPr/>
        </p:nvSpPr>
        <p:spPr>
          <a:xfrm>
            <a:off x="6611112" y="2825496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84848" y="2697480"/>
            <a:ext cx="4489703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Only M_e33 is well represented among SEA-AD active calls (20 of 22).</a:t>
            </a:r>
          </a:p>
        </p:txBody>
      </p:sp>
      <p:sp>
        <p:nvSpPr>
          <p:cNvPr id="21" name="Oval 20"/>
          <p:cNvSpPr/>
          <p:nvPr/>
        </p:nvSpPr>
        <p:spPr>
          <a:xfrm>
            <a:off x="6611112" y="3547872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84848" y="3419856"/>
            <a:ext cx="4489703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Cohort and network topology changed together; their effects are inseparable.</a:t>
            </a:r>
          </a:p>
        </p:txBody>
      </p:sp>
      <p:sp>
        <p:nvSpPr>
          <p:cNvPr id="23" name="Oval 22"/>
          <p:cNvSpPr/>
          <p:nvPr/>
        </p:nvSpPr>
        <p:spPr>
          <a:xfrm>
            <a:off x="6611112" y="4270248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84848" y="4142232"/>
            <a:ext cx="4489703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Returned-only ACAT scores are exploratory and not final-FDR controlled.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080760"/>
            <a:ext cx="10607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7E4C9A"/>
                </a:solidFill>
                <a:latin typeface="Arial"/>
              </a:rPr>
              <a:t>Takeaway: three genes are shared, but there are zero exact sex/APOE × broad-cell validation matches.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612648"/>
            <a:ext cx="21945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9F00"/>
                </a:solidFill>
                <a:latin typeface="Arial"/>
              </a:rPr>
              <a:t>PART 4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152144"/>
            <a:ext cx="91440" cy="2176272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78992" y="1243584"/>
            <a:ext cx="7498079" cy="9601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Sensitivity analyses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7406640" cy="9144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CDBEA"/>
                </a:solidFill>
                <a:latin typeface="Arial"/>
              </a:rPr>
              <a:t>Robustness checks across sample support, profile coverage, query definition, and KDA decision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42832" y="1170432"/>
            <a:ext cx="2468880" cy="4297680"/>
          </a:xfrm>
          <a:prstGeom prst="round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17152" y="1527048"/>
            <a:ext cx="19202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E69F00"/>
                </a:solidFill>
                <a:latin typeface="Arial"/>
              </a:rPr>
              <a:t>IN THIS PART</a:t>
            </a:r>
          </a:p>
        </p:txBody>
      </p:sp>
      <p:sp>
        <p:nvSpPr>
          <p:cNvPr id="8" name="Oval 7"/>
          <p:cNvSpPr/>
          <p:nvPr/>
        </p:nvSpPr>
        <p:spPr>
          <a:xfrm>
            <a:off x="9198864" y="2039112"/>
            <a:ext cx="310896" cy="3108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8864" y="2084832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8632" y="2011680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Donor support</a:t>
            </a:r>
          </a:p>
        </p:txBody>
      </p:sp>
      <p:sp>
        <p:nvSpPr>
          <p:cNvPr id="11" name="Oval 10"/>
          <p:cNvSpPr/>
          <p:nvPr/>
        </p:nvSpPr>
        <p:spPr>
          <a:xfrm>
            <a:off x="9198864" y="2788920"/>
            <a:ext cx="310896" cy="3108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98864" y="2834640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2761488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Profile coverage</a:t>
            </a:r>
          </a:p>
        </p:txBody>
      </p:sp>
      <p:sp>
        <p:nvSpPr>
          <p:cNvPr id="14" name="Oval 13"/>
          <p:cNvSpPr/>
          <p:nvPr/>
        </p:nvSpPr>
        <p:spPr>
          <a:xfrm>
            <a:off x="9198864" y="3538727"/>
            <a:ext cx="310896" cy="3108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98864" y="3584448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8632" y="3511296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Query definition</a:t>
            </a:r>
          </a:p>
        </p:txBody>
      </p:sp>
      <p:sp>
        <p:nvSpPr>
          <p:cNvPr id="17" name="Oval 16"/>
          <p:cNvSpPr/>
          <p:nvPr/>
        </p:nvSpPr>
        <p:spPr>
          <a:xfrm>
            <a:off x="9198864" y="4288536"/>
            <a:ext cx="310896" cy="3108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98864" y="4334256"/>
            <a:ext cx="310896" cy="1554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233D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4261104"/>
            <a:ext cx="1444752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 i="0">
                <a:solidFill>
                  <a:srgbClr val="FFFFFF"/>
                </a:solidFill>
                <a:latin typeface="Arial"/>
              </a:rPr>
              <a:t>KDA filters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8992" y="4096512"/>
            <a:ext cx="7269480" cy="6583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53312" y="4270248"/>
            <a:ext cx="67208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FFFFFF"/>
                </a:solidFill>
                <a:latin typeface="Arial"/>
              </a:rPr>
              <a:t>Each sensitivity test is reported separately with its own evidence boundary.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Donor-threshold sensitivity — numerical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Raising minimum donors per disease arm from 3 to 5 in ROSMAP and SEA-AD.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00200"/>
            <a:ext cx="1325880" cy="694944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655064"/>
            <a:ext cx="1216152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Cohort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4248" y="1600200"/>
            <a:ext cx="1874519" cy="694944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39112" y="1655064"/>
            <a:ext cx="1764791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Minimum donors / arm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600200"/>
            <a:ext cx="1691640" cy="694944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13631" y="1655064"/>
            <a:ext cx="1581912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Eligible contrasts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0408" y="1600200"/>
            <a:ext cx="1234440" cy="694944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05272" y="1655064"/>
            <a:ext cx="1124712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KDA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4848" y="1600200"/>
            <a:ext cx="2240280" cy="694944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39712" y="1655064"/>
            <a:ext cx="2130552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Significant driver rows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5128" y="1600200"/>
            <a:ext cx="2514600" cy="694944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79992" y="1655064"/>
            <a:ext cx="2404872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Unique non-MT drivers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295144"/>
            <a:ext cx="13258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2340863"/>
            <a:ext cx="12161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ROSMAP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84248" y="2295144"/>
            <a:ext cx="1874519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39112" y="2340863"/>
            <a:ext cx="1764791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58768" y="2295144"/>
            <a:ext cx="169164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913631" y="2340863"/>
            <a:ext cx="15819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42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50408" y="2295144"/>
            <a:ext cx="123444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05272" y="2340863"/>
            <a:ext cx="11247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4848" y="2295144"/>
            <a:ext cx="22402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9712" y="2340863"/>
            <a:ext cx="21305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39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5128" y="2295144"/>
            <a:ext cx="251460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79992" y="2340863"/>
            <a:ext cx="240487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2953511"/>
            <a:ext cx="132588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2999231"/>
            <a:ext cx="12161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ROSMAP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84248" y="2953511"/>
            <a:ext cx="1874519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039112" y="2999231"/>
            <a:ext cx="1764791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58768" y="2953511"/>
            <a:ext cx="169164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13631" y="2999231"/>
            <a:ext cx="15819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40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0408" y="2953511"/>
            <a:ext cx="123444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05272" y="2999231"/>
            <a:ext cx="11247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2953511"/>
            <a:ext cx="224028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39712" y="2999231"/>
            <a:ext cx="21305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25128" y="2953511"/>
            <a:ext cx="251460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079992" y="2999231"/>
            <a:ext cx="240487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3611879"/>
            <a:ext cx="13258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3657599"/>
            <a:ext cx="12161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SEA-AD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84248" y="3611879"/>
            <a:ext cx="1874519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039112" y="3657599"/>
            <a:ext cx="1764791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58768" y="3611879"/>
            <a:ext cx="169164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913631" y="3657599"/>
            <a:ext cx="15819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50408" y="3611879"/>
            <a:ext cx="123444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05272" y="3657599"/>
            <a:ext cx="11247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84848" y="3611879"/>
            <a:ext cx="22402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39712" y="3657599"/>
            <a:ext cx="21305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24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25128" y="3611879"/>
            <a:ext cx="251460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079992" y="3657599"/>
            <a:ext cx="240487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18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4270248"/>
            <a:ext cx="132588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13232" y="4315968"/>
            <a:ext cx="12161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SEA-AD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84248" y="4270248"/>
            <a:ext cx="1874519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039112" y="4315968"/>
            <a:ext cx="1764791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58768" y="4270248"/>
            <a:ext cx="169164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913631" y="4315968"/>
            <a:ext cx="15819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50408" y="4270248"/>
            <a:ext cx="123444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05272" y="4315968"/>
            <a:ext cx="112471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84848" y="4270248"/>
            <a:ext cx="224028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39712" y="4315968"/>
            <a:ext cx="213055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5128" y="4270248"/>
            <a:ext cx="2514600" cy="65836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079992" y="4315968"/>
            <a:ext cx="2404872" cy="58521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F2730"/>
                </a:solidFill>
                <a:latin typeface="Arial"/>
              </a:rPr>
              <a:t>18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8368" y="5157216"/>
            <a:ext cx="10881360" cy="658368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14400" y="5340096"/>
            <a:ext cx="10369296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F233D"/>
                </a:solidFill>
                <a:latin typeface="Arial"/>
              </a:rPr>
              <a:t>Driver rows count significant returned KDA rows. Unique non-MT drivers exclude MT-* genes and are deduplicated within each cohort.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8368" y="6473952"/>
            <a:ext cx="108813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6C7988"/>
                </a:solidFill>
                <a:latin typeface="Arial"/>
              </a:rPr>
              <a:t>Source: Phase 22 and VH14 run manifests/returns; donor-per-arm 3-vs-5 sensitivity assessment (2026-09-11).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Donor-threshold sensitivity —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Raising minimum donors per disease arm from 3 to 5 in ROSMAP and SEA-AD.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298448"/>
            <a:ext cx="10881360" cy="4773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219456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72B2"/>
                </a:solidFill>
                <a:latin typeface="Arial"/>
              </a:rPr>
              <a:t>KEY FINDINGS</a:t>
            </a:r>
          </a:p>
        </p:txBody>
      </p:sp>
      <p:sp>
        <p:nvSpPr>
          <p:cNvPr id="6" name="Oval 5"/>
          <p:cNvSpPr/>
          <p:nvPr/>
        </p:nvSpPr>
        <p:spPr>
          <a:xfrm>
            <a:off x="960120" y="204825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856" y="1920240"/>
            <a:ext cx="9838944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1F2730"/>
                </a:solidFill>
                <a:latin typeface="Arial"/>
              </a:rPr>
              <a:t>ROSMAP loses the Vasculature × M_e2 4-versus-3-donor call, which alone generated 26 driver rows. This removes the low-support result dominating the ROSMAP release.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816352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856" y="2688336"/>
            <a:ext cx="9838944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1F2730"/>
                </a:solidFill>
                <a:latin typeface="Arial"/>
              </a:rPr>
              <a:t>SEA-AD loses eight eligible contrasts, but all already had empty mitochondrial queries. Therefore, all five KDA runs and all returned drivers remain unchanged.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584448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456432"/>
            <a:ext cx="9838944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1F2730"/>
                </a:solidFill>
                <a:latin typeface="Arial"/>
              </a:rPr>
              <a:t>Cross-cohort validation remains zero at both thresholds.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4352544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" y="4224528"/>
            <a:ext cx="9838944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1F2730"/>
                </a:solidFill>
                <a:latin typeface="Arial"/>
              </a:rPr>
              <a:t>The only exact shared executed stratum remains Astrocytes × F_e4, with no shared drivers.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5120640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33856" y="4992624"/>
            <a:ext cx="9838944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1F2730"/>
                </a:solidFill>
                <a:latin typeface="Arial"/>
              </a:rPr>
              <a:t>The excluded contrasts are treated as unavailable comparisons—not negative validation results.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73952"/>
            <a:ext cx="108813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6C7988"/>
                </a:solidFill>
                <a:latin typeface="Arial"/>
              </a:rPr>
              <a:t>Source: Phase 22 and VH14 run manifests/returns; donor-per-arm 3-vs-5 sensitivity assessment (2026-09-11).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Query-size sensitivity — numerical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Minimum effective genes after network mapping; donor minimum held at 3 per disease arm.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496" y="1371600"/>
            <a:ext cx="1097280" cy="630936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59" y="1426464"/>
            <a:ext cx="987552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79" b="1" i="0">
                <a:solidFill>
                  <a:srgbClr val="FFFFFF"/>
                </a:solidFill>
                <a:latin typeface="Arial"/>
              </a:rPr>
              <a:t>Cohort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1636776" y="1371600"/>
            <a:ext cx="1325880" cy="630936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91640" y="1426464"/>
            <a:ext cx="1216152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79" b="1" i="0">
                <a:solidFill>
                  <a:srgbClr val="FFFFFF"/>
                </a:solidFill>
                <a:latin typeface="Arial"/>
              </a:rPr>
              <a:t>Minimum query genes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62656" y="1371600"/>
            <a:ext cx="1783080" cy="630936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20" y="1426464"/>
            <a:ext cx="1673352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79" b="1" i="0">
                <a:solidFill>
                  <a:srgbClr val="FFFFFF"/>
                </a:solidFill>
                <a:latin typeface="Arial"/>
              </a:rPr>
              <a:t>Source-estimable contrasts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45736" y="1371600"/>
            <a:ext cx="1737360" cy="630936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0600" y="1426464"/>
            <a:ext cx="1627631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79" b="1" i="0">
                <a:solidFill>
                  <a:srgbClr val="FFFFFF"/>
                </a:solidFill>
                <a:latin typeface="Arial"/>
              </a:rPr>
              <a:t>Query-passing contrasts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3096" y="1371600"/>
            <a:ext cx="1051560" cy="630936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1426464"/>
            <a:ext cx="941831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79" b="1" i="0">
                <a:solidFill>
                  <a:srgbClr val="FFFFFF"/>
                </a:solidFill>
                <a:latin typeface="Arial"/>
              </a:rPr>
              <a:t>KDA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656" y="1371600"/>
            <a:ext cx="1993392" cy="630936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0" y="1426464"/>
            <a:ext cx="1883664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79" b="1" i="0">
                <a:solidFill>
                  <a:srgbClr val="FFFFFF"/>
                </a:solidFill>
                <a:latin typeface="Arial"/>
              </a:rPr>
              <a:t>Significant KD rows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28048" y="1371600"/>
            <a:ext cx="2121408" cy="630936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82912" y="1426464"/>
            <a:ext cx="2011679" cy="5394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79" b="1" i="0">
                <a:solidFill>
                  <a:srgbClr val="FFFFFF"/>
                </a:solidFill>
                <a:latin typeface="Arial"/>
              </a:rPr>
              <a:t>Unique non-MT KDs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" y="2002536"/>
            <a:ext cx="10972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59" y="2048255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ROSMAP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36776" y="2002536"/>
            <a:ext cx="13258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91640" y="2048255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656" y="2002536"/>
            <a:ext cx="17830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017520" y="2048255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45736" y="2002536"/>
            <a:ext cx="17373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2048255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83096" y="2002536"/>
            <a:ext cx="10515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59" y="2048255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34656" y="2002536"/>
            <a:ext cx="1993392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89520" y="2048255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28048" y="2002536"/>
            <a:ext cx="2121408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82912" y="2048255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" y="2395728"/>
            <a:ext cx="10972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4359" y="2441448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ROSMAP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36776" y="2395728"/>
            <a:ext cx="13258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691640" y="2441448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62656" y="2395728"/>
            <a:ext cx="17830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017520" y="2441448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42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45736" y="2395728"/>
            <a:ext cx="17373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00600" y="2441448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83096" y="2395728"/>
            <a:ext cx="10515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37959" y="2441448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34656" y="2395728"/>
            <a:ext cx="1993392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89520" y="2441448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28048" y="2395728"/>
            <a:ext cx="2121408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82912" y="2441448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9496" y="2788920"/>
            <a:ext cx="10972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4359" y="2834639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ROSMAP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36776" y="2788920"/>
            <a:ext cx="13258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691640" y="2834639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62656" y="2788920"/>
            <a:ext cx="17830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017520" y="2834639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42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45736" y="2788920"/>
            <a:ext cx="17373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00600" y="2834639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83096" y="2788920"/>
            <a:ext cx="10515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537959" y="2834639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34656" y="2788920"/>
            <a:ext cx="1993392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589520" y="2834639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28048" y="2788920"/>
            <a:ext cx="2121408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582912" y="2834639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9496" y="3182112"/>
            <a:ext cx="10972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4359" y="3227832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ROSMAP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36776" y="3182112"/>
            <a:ext cx="13258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691640" y="3227832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62656" y="3182112"/>
            <a:ext cx="17830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017520" y="3227832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42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45736" y="3182112"/>
            <a:ext cx="17373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00600" y="3227832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83096" y="3182112"/>
            <a:ext cx="10515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537959" y="3227832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534656" y="3182112"/>
            <a:ext cx="1993392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89520" y="3227832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28048" y="3182112"/>
            <a:ext cx="2121408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582912" y="3227832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9496" y="3575304"/>
            <a:ext cx="10972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94359" y="3621024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ROSMAP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36776" y="3575304"/>
            <a:ext cx="13258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691640" y="3621024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62656" y="3575304"/>
            <a:ext cx="17830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017520" y="3621024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42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45736" y="3575304"/>
            <a:ext cx="17373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800600" y="3621024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83096" y="3575304"/>
            <a:ext cx="10515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537959" y="3621024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34656" y="3575304"/>
            <a:ext cx="1993392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589520" y="3621024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28048" y="3575304"/>
            <a:ext cx="2121408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582912" y="3621024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39496" y="3968496"/>
            <a:ext cx="10972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94359" y="4014215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SEA-AD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36776" y="3968496"/>
            <a:ext cx="13258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691640" y="4014215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656" y="3968496"/>
            <a:ext cx="17830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017520" y="4014215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45736" y="3968496"/>
            <a:ext cx="17373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800600" y="4014215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83096" y="3968496"/>
            <a:ext cx="10515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537959" y="4014215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34656" y="3968496"/>
            <a:ext cx="1993392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589520" y="4014215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28048" y="3968496"/>
            <a:ext cx="2121408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9582912" y="4014215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39496" y="4361688"/>
            <a:ext cx="10972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94359" y="4407407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SEA-AD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636776" y="4361688"/>
            <a:ext cx="13258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1691640" y="4407407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962656" y="4361688"/>
            <a:ext cx="17830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017520" y="4407407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45736" y="4361688"/>
            <a:ext cx="17373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4800600" y="4407407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83096" y="4361688"/>
            <a:ext cx="10515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537959" y="4407407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34656" y="4361688"/>
            <a:ext cx="1993392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589520" y="4407407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28048" y="4361688"/>
            <a:ext cx="2121408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582912" y="4407407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39496" y="4754879"/>
            <a:ext cx="10972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94359" y="4800599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SEA-AD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36776" y="4754879"/>
            <a:ext cx="13258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691640" y="4800599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10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962656" y="4754879"/>
            <a:ext cx="17830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3017520" y="4800599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45736" y="4754879"/>
            <a:ext cx="17373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4800600" y="4800599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483096" y="4754879"/>
            <a:ext cx="10515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6537959" y="4800599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534656" y="4754879"/>
            <a:ext cx="1993392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7589520" y="4800599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528048" y="4754879"/>
            <a:ext cx="2121408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9582912" y="4800599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39496" y="5148072"/>
            <a:ext cx="10972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94359" y="5193792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SEA-AD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636776" y="5148072"/>
            <a:ext cx="13258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1691640" y="5193792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962656" y="5148072"/>
            <a:ext cx="178308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017520" y="5193792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745736" y="5148072"/>
            <a:ext cx="17373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4800600" y="5193792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483096" y="5148072"/>
            <a:ext cx="105156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537959" y="5193792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34656" y="5148072"/>
            <a:ext cx="1993392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589520" y="5193792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8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528048" y="5148072"/>
            <a:ext cx="2121408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582912" y="5193792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39496" y="5541264"/>
            <a:ext cx="10972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594359" y="5586984"/>
            <a:ext cx="9875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SEA-AD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636776" y="5541264"/>
            <a:ext cx="13258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1691640" y="5586984"/>
            <a:ext cx="12161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962656" y="5541264"/>
            <a:ext cx="178308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3017520" y="5586984"/>
            <a:ext cx="1673352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28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745736" y="5541264"/>
            <a:ext cx="17373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800600" y="5586984"/>
            <a:ext cx="16276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483096" y="5541264"/>
            <a:ext cx="1051560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6537959" y="5586984"/>
            <a:ext cx="941831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534656" y="5541264"/>
            <a:ext cx="1993392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7589520" y="5586984"/>
            <a:ext cx="1883664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7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528048" y="5541264"/>
            <a:ext cx="2121408" cy="393192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582912" y="5586984"/>
            <a:ext cx="2011679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F2730"/>
                </a:solidFill>
                <a:latin typeface="Arial"/>
              </a:rP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40080" y="6089904"/>
            <a:ext cx="109270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E5A68"/>
                </a:solidFill>
                <a:latin typeface="Arial"/>
              </a:rPr>
              <a:t>One query is used per contrast, so query-passing contrasts and KDA runs are identical here.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58368" y="6473952"/>
            <a:ext cx="108813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6C7988"/>
                </a:solidFill>
                <a:latin typeface="Arial"/>
              </a:rPr>
              <a:t>Source: validated Phase 22 and VH14 run manifests and significant-return tables (2026-09-11).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Query-size sensitivity — cohort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Only seven current KDA calls determine the entire threshold response.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592"/>
            <a:ext cx="5449824" cy="4553712"/>
          </a:xfrm>
          <a:prstGeom prst="roundRect">
            <a:avLst/>
          </a:prstGeom>
          <a:solidFill>
            <a:srgbClr val="FDEBE4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4672" y="1600200"/>
            <a:ext cx="64008" cy="283464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50976" y="1572768"/>
            <a:ext cx="47000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ROSMAP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76856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96696" y="21488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Current executed query sizes: 3, 8, and 78 genes.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962656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6696" y="28346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Minimum 5 removes OPCs × F_e4: 9 driver rows.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648456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6" y="35204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Minimum 10 also removes Astrocytes × F_e4: 4 more rows; thresholds 20 and 30 make no further change.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334255"/>
            <a:ext cx="77724" cy="77724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96696" y="42062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At ≥10, only the low-support Vasculature × M_e2 call remains: 26 rows and 20 unique non-MT drivers.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102352"/>
            <a:ext cx="4828032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5230368"/>
            <a:ext cx="449884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 i="0">
                <a:solidFill>
                  <a:srgbClr val="9E3A00"/>
                </a:solidFill>
                <a:latin typeface="Arial"/>
              </a:rPr>
              <a:t>A higher query floor increases domination by the low-donor vasculature result.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1307592"/>
            <a:ext cx="5449824" cy="4553712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37960" y="1600200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84264" y="1572768"/>
            <a:ext cx="47000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SEA-AD</a:t>
            </a:r>
          </a:p>
        </p:txBody>
      </p:sp>
      <p:sp>
        <p:nvSpPr>
          <p:cNvPr id="20" name="Oval 19"/>
          <p:cNvSpPr/>
          <p:nvPr/>
        </p:nvSpPr>
        <p:spPr>
          <a:xfrm>
            <a:off x="6556248" y="227685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9984" y="21488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Current executed query sizes: 5, 9, 21, 43, and 45 genes.</a:t>
            </a:r>
          </a:p>
        </p:txBody>
      </p:sp>
      <p:sp>
        <p:nvSpPr>
          <p:cNvPr id="22" name="Oval 21"/>
          <p:cNvSpPr/>
          <p:nvPr/>
        </p:nvSpPr>
        <p:spPr>
          <a:xfrm>
            <a:off x="6556248" y="296265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9984" y="28346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Minimum 5 changes nothing.</a:t>
            </a:r>
          </a:p>
        </p:txBody>
      </p:sp>
      <p:sp>
        <p:nvSpPr>
          <p:cNvPr id="24" name="Oval 23"/>
          <p:cNvSpPr/>
          <p:nvPr/>
        </p:nvSpPr>
        <p:spPr>
          <a:xfrm>
            <a:off x="6556248" y="364845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29984" y="35204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Minimum 10 removes Microglia × M_e33 and Astrocytes × F_e4: 24 → 8 rows and 18 → 3 unique non-MT drivers.</a:t>
            </a:r>
          </a:p>
        </p:txBody>
      </p:sp>
      <p:sp>
        <p:nvSpPr>
          <p:cNvPr id="26" name="Oval 25"/>
          <p:cNvSpPr/>
          <p:nvPr/>
        </p:nvSpPr>
        <p:spPr>
          <a:xfrm>
            <a:off x="6556248" y="4334255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9984" y="4206240"/>
            <a:ext cx="4553712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Minimum 20 changes nothing further; minimum 30 removes Oligodendrocytes × M_e33, whose sole return is MT-*.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6248" y="5102352"/>
            <a:ext cx="4828032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20840" y="5230368"/>
            <a:ext cx="449884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 i="0">
                <a:solidFill>
                  <a:srgbClr val="00684D"/>
                </a:solidFill>
                <a:latin typeface="Arial"/>
              </a:rPr>
              <a:t>The non-MT driver count reaches 3 at minimum 10 and stays there through 30.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108813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6C7988"/>
                </a:solidFill>
                <a:latin typeface="Arial"/>
              </a:rPr>
              <a:t>Source: validated Phase 22 and VH14 run manifests and significant-return tables (2026-09-11).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Query-size sensitivity — validation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The query floor changes assessability, but it does not create cross-cohort driver validation.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10881360" cy="3529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09344"/>
            <a:ext cx="29260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72B2"/>
                </a:solidFill>
                <a:latin typeface="Arial"/>
              </a:rPr>
              <a:t>VALIDATION CONSEQUENCES</a:t>
            </a:r>
          </a:p>
        </p:txBody>
      </p:sp>
      <p:sp>
        <p:nvSpPr>
          <p:cNvPr id="6" name="Oval 5"/>
          <p:cNvSpPr/>
          <p:nvPr/>
        </p:nvSpPr>
        <p:spPr>
          <a:xfrm>
            <a:off x="960120" y="213969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856" y="2011680"/>
            <a:ext cx="9838944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Cross-cohort non-MT driver overlap remains zero at every tested threshold.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798064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856" y="2670048"/>
            <a:ext cx="9838944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At minimum 3 or 5, Astrocytes × F_e4 remains the only exact shared executed stratum, with no shared drivers.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456432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328415"/>
            <a:ext cx="9838944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At minimum 10, 20, or 30, no exact stratum is executed in both cohorts; validation is unavailable rather than negative.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4114799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" y="3986783"/>
            <a:ext cx="9838944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Thresholds ≥10 reduce validation assessability and make ROSMAP increasingly dominated by the low-support Vasculature × M_e2 call.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138928"/>
            <a:ext cx="10881360" cy="777240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340096"/>
            <a:ext cx="10369296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95600"/>
                </a:solidFill>
                <a:latin typeface="Arial"/>
              </a:rPr>
              <a:t>Least disruptive sensitivity reference: minimum 5 effective query genes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32704"/>
            <a:ext cx="10369296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895600"/>
                </a:solidFill>
                <a:latin typeface="Arial"/>
              </a:rPr>
              <a:t>It removes the smallest ROSMAP query while preserving every SEA-AD run and the only matched cross-cohort stratum.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10881360" cy="1463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6C7988"/>
                </a:solidFill>
                <a:latin typeface="Arial"/>
              </a:rPr>
              <a:t>Source: validated Phase 22 and VH14 run manifests and significant-return tables (2026-09-11).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5170</Words>
  <Application>Microsoft Macintosh PowerPoint</Application>
  <PresentationFormat>Widescreen</PresentationFormat>
  <Paragraphs>769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ROSMAP and SEA-AD sex/APOE key-driver analysis — VH12 network rerun</dc:title>
  <dc:subject>VH12 SEA-AD-specific Bayesian-network KDA rerun</dc:subject>
  <dc:creator>Alzheimer project analysis team</dc:creator>
  <cp:keywords>Alzheimer disease, sex, APOE, key-driver analysis, KDA, ACAT, mitochondrial genes</cp:keywords>
  <dc:description>Built from validated VH12 outputs on 2026-09-10 for the 2026-09-16 presentation. Appended Part 4 sensitivity-analysis section, donor-threshold comparison table, and key findings on 2026-09-11. Query-size sensitivity added 2026-09-11.</dc:description>
  <cp:lastModifiedBy>Richard Zhuang</cp:lastModifiedBy>
  <cp:revision>20</cp:revision>
  <dcterms:created xsi:type="dcterms:W3CDTF">2026-08-29T13:27:12Z</dcterms:created>
  <dcterms:modified xsi:type="dcterms:W3CDTF">2026-09-11T18:24:12Z</dcterms:modified>
  <cp:category>Scientific presentation</cp:category>
  <dc:language>en-US</dc:language>
</cp:coreProperties>
</file>