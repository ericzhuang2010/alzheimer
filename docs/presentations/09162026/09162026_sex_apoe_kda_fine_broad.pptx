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94" r:id="rId3"/>
    <p:sldId id="295" r:id="rId4"/>
    <p:sldId id="259" r:id="rId5"/>
    <p:sldId id="257" r:id="rId6"/>
    <p:sldId id="258" r:id="rId7"/>
    <p:sldId id="260" r:id="rId8"/>
    <p:sldId id="263" r:id="rId9"/>
    <p:sldId id="262" r:id="rId10"/>
    <p:sldId id="271" r:id="rId11"/>
    <p:sldId id="272" r:id="rId12"/>
    <p:sldId id="273" r:id="rId13"/>
    <p:sldId id="296" r:id="rId14"/>
    <p:sldId id="297" r:id="rId15"/>
    <p:sldId id="298" r:id="rId16"/>
    <p:sldId id="299" r:id="rId17"/>
    <p:sldId id="274" r:id="rId18"/>
    <p:sldId id="275" r:id="rId19"/>
    <p:sldId id="278" r:id="rId20"/>
    <p:sldId id="277" r:id="rId21"/>
    <p:sldId id="276" r:id="rId22"/>
    <p:sldId id="300" r:id="rId23"/>
    <p:sldId id="288" r:id="rId24"/>
    <p:sldId id="289" r:id="rId25"/>
    <p:sldId id="290" r:id="rId26"/>
    <p:sldId id="291" r:id="rId27"/>
    <p:sldId id="292" r:id="rId28"/>
    <p:sldId id="293" r:id="rId29"/>
    <p:sldId id="301" r:id="rId30"/>
    <p:sldId id="302" r:id="rId31"/>
    <p:sldId id="303" r:id="rId32"/>
    <p:sldId id="304" r:id="rId33"/>
    <p:sldId id="305" r:id="rId34"/>
    <p:sldId id="306" r:id="rId35"/>
    <p:sldId id="307" r:id="rId36"/>
    <p:sldId id="308" r:id="rId42"/>
    <p:sldId id="309" r:id="rId43"/>
    <p:sldId id="310" r:id="rId44"/>
    <p:sldId id="311" r:id="rId45"/>
    <p:sldId id="312" r:id="rId46"/>
    <p:sldId id="313" r:id="rId47"/>
    <p:sldId id="314" r:id="rId48"/>
    <p:sldId id="315"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329"/>
    <p:restoredTop sz="97023"/>
  </p:normalViewPr>
  <p:slideViewPr>
    <p:cSldViewPr snapToGrid="0" snapToObjects="1">
      <p:cViewPr varScale="1">
        <p:scale>
          <a:sx n="220" d="100"/>
          <a:sy n="220" d="100"/>
        </p:scale>
        <p:origin x="90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1913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analysis in both cohorts.</a:t>
            </a:r>
          </a:p>
          <a:p>
            <a:endParaRPr/>
          </a:p>
          <a:p>
            <a:r>
              <a:t>Walk through: Part I summarizes 194 ROSMAP KDA calls and 381 non-MT gene-by-category units. Part II summarizes 22 SEA-AD calls against SEA-AD-specific networks and 44 units.</a:t>
            </a:r>
          </a:p>
          <a:p>
            <a:endParaRPr/>
          </a:p>
          <a:p>
            <a:r>
              <a:t>Scientific boundary: Each contrast contributes at most one mitochondrial DEG query and one KDA call.</a:t>
            </a:r>
          </a:p>
          <a:p>
            <a:endParaRPr/>
          </a:p>
          <a:p>
            <a:r>
              <a:t>Transition: Compare the cohort and run structures before reviewing each branch.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Define the category unit before presenting cohort-specific counts.</a:t>
            </a:r>
          </a:p>
          <a:p>
            <a:endParaRPr/>
          </a:p>
          <a:p>
            <a:r>
              <a:t>Walk through: Start with two sexes and three APOE groups: epsilon-2 carriers, epsilon-3 homozygotes, and epsilon-4 carriers. Their cross creates six sex/APOE groups. Crossing each group with the seven frozen broad cell types creates 42 possible categories. For example, M_e33 by excitatory neurons is one category. Key-driver genes are ranked separately within each category.</a:t>
            </a:r>
          </a:p>
          <a:p>
            <a:endParaRPr/>
          </a:p>
          <a:p>
            <a:r>
              <a:t>Scientific boundary: Forty-two is the structural design space. A possible category may lack an eligible KDA call or a returned non-mitochondrial driver, so it should not be interpreted as an observed negative result.</a:t>
            </a:r>
          </a:p>
          <a:p>
            <a:endParaRPr/>
          </a:p>
          <a:p>
            <a:r>
              <a:t>Transition: With the category unit defined, compare the two cohorts and their shared aggregation rule.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Distinguish the contrast, KDA call, and broad-cell category units.</a:t>
            </a:r>
          </a:p>
          <a:p>
            <a:endParaRPr/>
          </a:p>
          <a:p>
            <a:r>
              <a:t>Walk through: A contrast is one AD-versus-NCI comparison within one fine cell type and one sex/APOE group. Therefore N fine cell types create six N planned contrasts; in ROSMAP, 54 fine types create 324. Remove source-invalid contrasts; among valid contrasts, call_key_drivers runs only when the mapped mitochondrial query contains at least three genes. One call returns each significant key-driver gene at most once. The same gene can return from several fine-cell contrasts belonging to the same broad-cell category, so its returned within-call adjusted P values are combined by equal-weight ACAT into one gene-by-category score.</a:t>
            </a:r>
          </a:p>
          <a:p>
            <a:endParaRPr/>
          </a:p>
          <a:p>
            <a:r>
              <a:t>Scientific boundary: The ACAT is returned-only: a contrast in which the gene was not returned does not contribute P equals one. A skipped contrast is unavailable, not a completed null KDA test.</a:t>
            </a:r>
          </a:p>
          <a:p>
            <a:endParaRPr/>
          </a:p>
          <a:p>
            <a:r>
              <a:t>Transition: With contrast and category units separated, compare the two cohort funnels.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Separate contrast, mitochondrial query, KDA call, and category result.</a:t>
            </a:r>
          </a:p>
          <a:p>
            <a:endParaRPr/>
          </a:p>
          <a:p>
            <a:r>
              <a:t>Walk through: A contrast is one signed DEG result and contributes one core-MT DEG query. A mapped query of at least three genes becomes one KDA call. A category is one sex/APOE group crossed with one broad network; returned non-MT drivers from eligible fine-cell runs are aggregated within it.</a:t>
            </a:r>
          </a:p>
          <a:p>
            <a:endParaRPr/>
          </a:p>
          <a:p>
            <a:r>
              <a:t>Scientific boundary: A candidate driver can be a non-DEG, non-mitochondrial network gene.</a:t>
            </a:r>
          </a:p>
          <a:p>
            <a:endParaRPr/>
          </a:p>
          <a:p>
            <a:r>
              <a:t>Transition: Apply the definitions to the 324-contrast universe.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Give a side-by-side map of the two analyses.</a:t>
            </a:r>
          </a:p>
          <a:p>
            <a:endParaRPr/>
          </a:p>
          <a:p>
            <a:r>
              <a:t>Walk through: ROSMAP is the primary analysis: 324 planned contrasts yield 194 KDA calls and 381 gene-by-category combinations, representing 228 unique genes in 29 categories. SEA-AD is the validation analysis: 774 planned contrasts yield 22 KDA calls and 44 combinations, representing 43 unique genes in five categories.</a:t>
            </a:r>
          </a:p>
          <a:p>
            <a:endParaRPr/>
          </a:p>
          <a:p>
            <a:r>
              <a:t>Scientific boundary: Twenty of 22 SEA-AD calls are M_e33. Categories without calls are unavailable, not negative tests.</a:t>
            </a:r>
          </a:p>
          <a:p>
            <a:endParaRPr/>
          </a:p>
          <a:p>
            <a:r>
              <a:t>Transition: Review the ROSMAP branch first.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Introduce the ROSMAP fine-cell KDA branch.</a:t>
            </a:r>
          </a:p>
          <a:p>
            <a:endParaRPr/>
          </a:p>
          <a:p>
            <a:r>
              <a:t>Walk through: The section defines the one-query-per-contrast design, the eligibility funnel, query construction, and returned-only simple aggregation.</a:t>
            </a:r>
          </a:p>
          <a:p>
            <a:endParaRPr/>
          </a:p>
          <a:p>
            <a:r>
              <a:t>Scientific boundary: The analysis uses existing validated KDA results and does not pool sex/APOE groups.</a:t>
            </a:r>
          </a:p>
          <a:p>
            <a:endParaRPr/>
          </a:p>
          <a:p>
            <a:r>
              <a:t>Transition: Start with the four counting units.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source failures.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Clarify the three-gene execution floor and the three invalid source contrasts.</a:t>
            </a:r>
          </a:p>
          <a:p>
            <a:endParaRPr/>
          </a:p>
          <a:p>
            <a:r>
              <a:t>Walk through: All 194 calls meeting the mapped-query floor were completed: 164 returned significant drivers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mitochondrial query is constructed.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Explain the ROSMAP mitochondrial query.</a:t>
            </a:r>
          </a:p>
          <a:p>
            <a:endParaRPr/>
          </a:p>
          <a:p>
            <a:r>
              <a:t>Walk through: The DEG filters identify 4,258 positive and 5,004 negative core-MT memberships. Together these are 9,262 provisional memberships across contrasts; 7,933 remain after network-background mapping. Each contrast contributes one query and at most one KDA call.</a:t>
            </a:r>
          </a:p>
          <a:p>
            <a:endParaRPr/>
          </a:p>
          <a:p>
            <a:r>
              <a:t>Scientific boundary: These are repeated memberships across contrasts, not unique genes and not driver counts.</a:t>
            </a:r>
          </a:p>
          <a:p>
            <a:endParaRPr/>
          </a:p>
          <a:p>
            <a:r>
              <a:t>Transition: Review the returned non-MT top-five display.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Summarize the scale and distribution of the ROSMAP output.</a:t>
            </a:r>
          </a:p>
          <a:p>
            <a:endParaRPr/>
          </a:p>
          <a:p>
            <a:r>
              <a:t>Walk through: The 623 retained non-MT returned rows form 381 gene-by-category units representing 228 genes across 29 categories. The lower panels show their group, network, and recurrence distributions.</a:t>
            </a:r>
          </a:p>
          <a:p>
            <a:endParaRPr/>
          </a:p>
          <a:p>
            <a:r>
              <a:t>Scientific boundary: Counts condition on significant within-call returns and unequal call opportunities.</a:t>
            </a:r>
          </a:p>
          <a:p>
            <a:endParaRPr/>
          </a:p>
          <a:p>
            <a:r>
              <a:t>Transition: Move to the SEA-AD-specific-network analysis.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Interpret category recurrence.</a:t>
            </a:r>
          </a:p>
          <a:p>
            <a:endParaRPr/>
          </a:p>
          <a:p>
            <a:r>
              <a:t>Walk through: RPS15 occurs in 11 categories from 22 returned calls. RPL11 occurs in 10 categories from 24 calls. Bar length and the end label show the category count.</a:t>
            </a:r>
          </a:p>
          <a:p>
            <a:endParaRPr/>
          </a:p>
          <a:p>
            <a:r>
              <a:t>Scientific boundary: Category presence is descriptive and not independent replication.</a:t>
            </a:r>
          </a:p>
          <a:p>
            <a:endParaRPr/>
          </a:p>
          <a:p>
            <a:r>
              <a:t>Transition: Summarize the full ROSMAP output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goal: Present the ROSMAP top-five results.</a:t>
            </a:r>
          </a:p>
          <a:p>
            <a:endParaRPr/>
          </a:p>
          <a:p>
            <a:r>
              <a:t>Walk through: The figure displays up to five non-MT drivers in each of 29 populated categories, for 123 displayed entries. For rows containing more than five drivers, n reports the total number of distinct non-MT driver genes in that category. For a gene returned by one KDA call, the ranking score is that call's within-call BH-adjusted KDA P value. For a gene returned by at least two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returned drivers. Each broad-cell color is held constant across panels.</a:t>
            </a:r>
          </a:p>
          <a:p>
            <a:endParaRPr/>
          </a:p>
          <a:p>
            <a:r>
              <a:t>Scientific boundary: Top five is a display cap, and returned-only scores are exploratory without final across-gene FDR control.</a:t>
            </a:r>
          </a:p>
          <a:p>
            <a:endParaRPr/>
          </a:p>
          <a:p>
            <a:r>
              <a:t>Transition: Summarize recurrence across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non-mitochondrial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KDA analysis.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non-mitochondrial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this pattern with astrocytes.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non-mitochondrial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this pattern with OPCs.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non-mitochondrial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KDA analysis.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calls are strongly concentrated in M_e33.</a:t>
            </a:r>
          </a:p>
          <a:p>
            <a:endParaRPr/>
          </a:p>
          <a:p>
            <a:r>
              <a:t>Transition: Start with the contrast-level funnel.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774 SEA-AD contrasts reduce to 22 executable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Inspect the returned non-MT candidates.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Summarize the SEA-AD output.</a:t>
            </a:r>
          </a:p>
          <a:p>
            <a:endParaRPr/>
          </a:p>
          <a:p>
            <a:r>
              <a:t>Walk through: The 54 retained rows form 44 category units representing 43 genes across five categories. Thirty-nine units and 20 of 22 active calls are M_e33.</a:t>
            </a:r>
          </a:p>
          <a:p>
            <a:endParaRPr/>
          </a:p>
          <a:p>
            <a:r>
              <a:t>Scientific boundary: Returned-only scores remain exploratory and are not final-FDR controlled across genes.</a:t>
            </a:r>
          </a:p>
          <a:p>
            <a:endParaRPr/>
          </a:p>
          <a:p>
            <a:r>
              <a:t>Transition: Compare the driver sets across cohorts.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Summarize the SEA-AD output scale.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Present leading SEA-AD non-MT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non-MT driver count when a category contains more than five genes. Within each category, one returned call passes through its within-call adjusted KDA P value, while at least two returned calls are combined by ACAT; lower scores rank more strongly.</a:t>
            </a:r>
          </a:p>
          <a:p>
            <a:endParaRPr/>
          </a:p>
          <a:p>
            <a:r>
              <a:t>Scientific boundary: Top five is a display cap and the five populated categories expose strong availability imbalance.</a:t>
            </a:r>
          </a:p>
          <a:p>
            <a:endParaRPr/>
          </a:p>
          <a:p>
            <a:r>
              <a:t>Transition: Review recurrence across those categories.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SEA-AD excitatory-neuron key drivers recur across the six sex/APOE categories.</a:t>
            </a:r>
          </a:p>
          <a:p>
            <a:endParaRPr/>
          </a:p>
          <a:p>
            <a:r>
              <a:t>Walk through: Rows are the three female groups followed by the three male groups. Columns contain all 27 distinct non-mitochondrial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sensitivity analyses.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section reserved for all harmonized broad-cell KDA sensitivity analyses.</a:t>
            </a:r>
          </a:p>
          <a:p>
            <a:endParaRPr/>
          </a:p>
          <a:p>
            <a:r>
              <a:t>Walk through: Sensitivity checks may address donor support, nuclei-per-profile coverage, DEG query definition, and KDA filtering. The first check raises the disease-arm donor gate from three to five in both cohorts.</a:t>
            </a:r>
          </a:p>
          <a:p>
            <a:endParaRPr/>
          </a:p>
          <a:p>
            <a:r>
              <a:t>Scientific boundary: Each test must change one frozen decision at a time and retain its own interpretation boundary. The current test concerns donors per disease arm, not nuclei.</a:t>
            </a:r>
          </a:p>
          <a:p>
            <a:endParaRPr/>
          </a:p>
          <a:p>
            <a:r>
              <a:t>Transition: Begin with the cohort-level consequences of the donor-threshold test.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the numerical impact of raising the minimum disease-arm donor count from three to five in both cohorts.</a:t>
            </a:r>
          </a:p>
          <a:p>
            <a:endParaRPr/>
          </a:p>
          <a:p>
            <a:r>
              <a:t>Walk through: ROSMAP falls from 42 to 40 eligible contrasts, three to two KDA runs, 39 to 13 returned rows, and 33 to 13 unique non-mitochondrial drivers. SEA-AD falls from 28 to 20 eligible contrasts, while its five KDA runs, 24 returned rows, and 18 unique non-mitochondrial drivers are unchanged.</a:t>
            </a:r>
          </a:p>
          <a:p>
            <a:endParaRPr/>
          </a:p>
          <a:p>
            <a:r>
              <a:t>Scientific boundary: The threshold test changes only the donor eligibility gate. It does not change retained contrast models, DEG queries, networks, or KDA settings.</a:t>
            </a:r>
          </a:p>
          <a:p>
            <a:endParaRPr/>
          </a:p>
          <a:p>
            <a:r>
              <a:t>Transition: Next, interpret why the two cohorts respond differently and what this means for validation.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Summarize the cohort-specific and cross-cohort conclusions of the donor-threshold sensitivity analysis.</a:t>
            </a:r>
          </a:p>
          <a:p>
            <a:endParaRPr/>
          </a:p>
          <a:p>
            <a:r>
              <a:t>Walk through: ROSMAP loses the low-support Vasculature M_e2 call that generated 26 driver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a:t>
            </a:r>
          </a:p>
          <a:p>
            <a:endParaRPr/>
          </a:p>
          <a:p>
            <a:r>
              <a:t>Transition: Continue with the next sensitivity analysis when it is available.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how increasing the minimum effective query size changes KDA availability and returned drivers.</a:t>
            </a:r>
          </a:p>
          <a:p>
            <a:endParaRPr/>
          </a:p>
          <a:p>
            <a:r>
              <a:t>Walk through: ROSMAP contracts from three calls and 39 returned rows at three genes to one call and 26 rows at ten or more genes. SEA-AD is unchanged at five genes, contracts to three calls and eight rows at ten or twenty genes, and retains two calls and seven rows at thirty genes.</a:t>
            </a:r>
          </a:p>
          <a:p>
            <a:endParaRPr/>
          </a:p>
          <a:p>
            <a:r>
              <a:t>Scientific boundary: The donor minimum remains three per disease arm. This exact gating sensitivity drops existing calls; it does not refit DEG models or rerun KDA for retained calls. Significant rows are raw returns, while the final column excludes MT-* genes and deduplicates within cohort.</a:t>
            </a:r>
          </a:p>
          <a:p>
            <a:endParaRPr/>
          </a:p>
          <a:p>
            <a:r>
              <a:t>Transition: Next, identify the specific calls responsible for the step changes.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Explain which KDA calls drive the query-threshold sensitivity result.</a:t>
            </a:r>
          </a:p>
          <a:p>
            <a:endParaRPr/>
          </a:p>
          <a:p>
            <a:r>
              <a:t>Walk through: ROSMAP loses the three-gene OPC call at five and the eight-gene astrocyte call at ten, leaving only the 78-gene low-donor vasculature call. SEA-AD is unchanged at five; at ten it loses its five-gene microglia and nine-gene astrocyte calls, and at thirty it additionally loses the 21-gene oligodendrocyte call.</a:t>
            </a:r>
          </a:p>
          <a:p>
            <a:endParaRPr/>
          </a:p>
          <a:p>
            <a:r>
              <a:t>Scientific boundary: Returned MT-* genes are shown only when explaining raw row changes; they are not treated as eligible key drivers.</a:t>
            </a:r>
          </a:p>
          <a:p>
            <a:endParaRPr/>
          </a:p>
          <a:p>
            <a:r>
              <a:t>Transition: Finish with the consequences for matched-stratum validation and the least disruptive threshold.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validation impact and identify the least disruptive query-size sensitivity threshold.</a:t>
            </a:r>
          </a:p>
          <a:p>
            <a:endParaRPr/>
          </a:p>
          <a:p>
            <a:r>
              <a:t>Walk through: Non-mitochondrial driver overlap is zero at every threshold. The shared Astrocytes F_e4 stratum remains available at thresholds three and five but disappears from both cohorts at ten. Threshold five is the only stricter floor that preserves all SEA-AD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a:t>
            </a:r>
          </a:p>
          <a:p>
            <a:endParaRPr/>
          </a:p>
          <a:p>
            <a:r>
              <a:t>Transition: Continue with the next planned sensitivity test.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first biological finding.</a:t>
            </a:r>
          </a:p>
          <a:p>
            <a:endParaRPr/>
          </a:p>
          <a:p>
            <a:r>
              <a:t>Walk through: Female APOE epsilon-3 homozygous cells repeatedly show higher mitochondrial-DNA-encoded oxidative-phosphorylation RNA in Alzheimer’s disease. The matched excitatory-neuron program also appears in SEA-AD.</a:t>
            </a:r>
          </a:p>
          <a:p>
            <a:endParaRPr/>
          </a:p>
          <a:p>
            <a:r>
              <a:t>Scientific boundary: This section describes a mitochondrial DEG program. It does not identify a causal key driver, prove better energy production, or establish a sex-by-APOE interaction.</a:t>
            </a:r>
          </a:p>
          <a:p>
            <a:endParaRPr/>
          </a:p>
          <a:p>
            <a:r>
              <a:t>Transition: State the finding in plain language.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Explain the finding without statistical jargon.</a:t>
            </a:r>
          </a:p>
          <a:p>
            <a:endParaRPr/>
          </a:p>
          <a:p>
            <a:r>
              <a:t>Walk through: In Alzheimer’s disease, female APOE epsilon-3 homozygous cells repeatedly contain more RNA from mitochondrial OXPHOS genes. Excitatory neurons provide the cleanest comparison across ROSMAP and SEA-AD.</a:t>
            </a:r>
          </a:p>
          <a:p>
            <a:endParaRPr/>
          </a:p>
          <a:p>
            <a:r>
              <a:t>Scientific boundary: More RNA is not the same as more protein, more ATP, or healthier mitochondria. The increase could be compensatory or stress related.</a:t>
            </a:r>
          </a:p>
          <a:p>
            <a:endParaRPr/>
          </a:p>
          <a:p>
            <a:r>
              <a:t>Transition: Show the ROSMAP numbers behind the statement.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Present the ROSMAP evidence at both stratum and excitatory-neuron levels.</a:t>
            </a:r>
          </a:p>
          <a:p>
            <a:endParaRPr/>
          </a:p>
          <a:p>
            <a:r>
              <a:t>Walk through: Before key-driver testing, each eligible mitochondrial-DEG input query was tested for over-representation of the 13 mtDNA-OXPHOS genes against its exact mitochondrial background, with BH correction across four prespecified programs. Across all eligible female epsilon-3 homozygous calls, all 217 mtDNA-OXPHOS occurrences are AD-up, and 29 input queries are enriched. In excitatory neurons, 14 eligible calls contain 123 occurrences, all up, and 12 of 14 input queries are enriched.</a:t>
            </a:r>
          </a:p>
          <a:p>
            <a:endParaRPr/>
          </a:p>
          <a:p>
            <a:r>
              <a:t>Scientific boundary: Enrichment describes the composition of a KDA input query; it is not the significance or number of key drivers returned by call_key_drivers. Occurrences repeat genes across calls and are not unique genes, donors, or independent replications.</a:t>
            </a:r>
          </a:p>
          <a:p>
            <a:endParaRPr/>
          </a:p>
          <a:p>
            <a:r>
              <a:t>Transition: Ask whether the same program appears in SEA-AD.</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Show the matched SEA-AD program evidence.</a:t>
            </a:r>
          </a:p>
          <a:p>
            <a:endParaRPr/>
          </a:p>
          <a:p>
            <a:r>
              <a:t>Walk through: The only evaluable female epsilon-3 homozygous excitatory-neuron call has ten effective query genes. Nine are the same mtDNA-OXPHOS genes found in ROSMAP, and all nine are dementia-up. The overlap is larger than expected under the category-specific background model and remains significant after multiple-testing correction.</a:t>
            </a:r>
          </a:p>
          <a:p>
            <a:endParaRPr/>
          </a:p>
          <a:p>
            <a:r>
              <a:t>Scientific boundary: This is one SEA-AD call, not broad replication across excitatory subtypes. It validates the direction of the program, not an exact key driver. Exact driver matching is not required in the analysis framework.</a:t>
            </a:r>
          </a:p>
          <a:p>
            <a:endParaRPr/>
          </a:p>
          <a:p>
            <a:r>
              <a:t>Transition: Explain why a repeated mitochondrial program matters biologically.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Explain the biological importance without claiming improved function.</a:t>
            </a:r>
          </a:p>
          <a:p>
            <a:endParaRPr/>
          </a:p>
          <a:p>
            <a:r>
              <a:t>Walk through: Excitatory neurons have high energy requirements, and mtDNA supplies essential respiratory-complex subunits. A repeated upward transcriptional response may reflect an attempt to compensate for inefficient mitochondria or a mitochondrial stress response.</a:t>
            </a:r>
          </a:p>
          <a:p>
            <a:endParaRPr/>
          </a:p>
          <a:p>
            <a:r>
              <a:t>Scientific boundary: RNA direction alone cannot distinguish compensation, injury, altered RNA processing, or surviving-cell composition.</a:t>
            </a:r>
          </a:p>
          <a:p>
            <a:endParaRPr/>
          </a:p>
          <a:p>
            <a:r>
              <a:t>Transition: Separate the observation from what still needs to be tested.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scientific boundaries and next experiments.</a:t>
            </a:r>
          </a:p>
          <a:p>
            <a:endParaRPr/>
          </a:p>
          <a:p>
            <a:r>
              <a:t>Walk through: The current result measures RNA. Donor-aware interaction models are needed to test sex and APOE specificity. Protein assembly and respiratory assays are needed to determine whether the transcriptional increase improves or impairs mitochondrial function.</a:t>
            </a:r>
          </a:p>
          <a:p>
            <a:endParaRPr/>
          </a:p>
          <a:p>
            <a:r>
              <a:t>Scientific boundary: SEA-AD support is valuable but optional. It cannot substitute for donor-aware statistics or functional experiments.</a:t>
            </a:r>
          </a:p>
          <a:p>
            <a:endParaRPr/>
          </a:p>
          <a:p>
            <a:r>
              <a:t>Transition: Place the result in prior literature.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Connect the finding to prior literature while preserving novelty boundaries.</a:t>
            </a:r>
          </a:p>
          <a:p>
            <a:endParaRPr/>
          </a:p>
          <a:p>
            <a:r>
              <a:t>Walk through: Guo and colleagues support sex-aware Alzheimer’s key-driver analysis. Mathys and colleagues show cell-resolved, multiregion disease responses but use ROSMAP, so that paper is supporting discovery-resource context. Lee and colleagues show an APOE–mitochondria link in human APOE4 astrocytes, a different genotype and cell type.</a:t>
            </a:r>
          </a:p>
          <a:p>
            <a:endParaRPr/>
          </a:p>
          <a:p>
            <a:r>
              <a:t>Scientific boundary: None of these studies independently establishes the exact female epsilon-3 homozygous excitatory-neuron mtDNA-up pattern.</a:t>
            </a:r>
          </a:p>
          <a:p>
            <a:endParaRPr/>
          </a:p>
          <a:p>
            <a:r>
              <a:t>Transition: Return to the broader finding list or proceed to sensitivity analyses.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Introduce the second biological finding.</a:t>
            </a:r>
          </a:p>
          <a:p/>
          <a:p>
            <a:r>
              <a:t>Walk through: Male APOE epsilon-3 homozygous cells show opposite RNA directions across the two genomes that encode oxidative-phosphorylation machinery. The matched inhibitory-neuron program also appears in SEA-AD.</a:t>
            </a:r>
          </a:p>
          <a:p/>
          <a:p>
            <a:r>
              <a:t>Scientific boundary: This is a transcript-level mitochondrial program. It does not identify a causal upstream driver, prove protein imbalance, or establish a male-by-APOE interaction.</a:t>
            </a:r>
          </a:p>
          <a:p/>
          <a:p>
            <a:r>
              <a:t>Transition: State the mismatch in plain language.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Explain the mitonuclear mismatch without statistical jargon.</a:t>
            </a:r>
          </a:p>
          <a:p/>
          <a:p>
            <a:r>
              <a:t>Walk through: In male APOE epsilon-3 homozygous cells, mitochondrial-DNA OXPHOS RNA usually rises in Alzheimer’s disease while nuclear-encoded OXPHOS RNA usually falls. Inhibitory neurons provide the clearest cross-cohort support.</a:t>
            </a:r>
          </a:p>
          <a:p/>
          <a:p>
            <a:r>
              <a:t>Scientific boundary: Opposite RNA directions do not demonstrate mismatched proteins, reduced respiration, or unhealthy mitochondria.</a:t>
            </a:r>
          </a:p>
          <a:p/>
          <a:p>
            <a:r>
              <a:t>Transition: Show the ROSMAP numbers behind the statement.</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Present the ROSMAP evidence for both genomes.</a:t>
            </a:r>
          </a:p>
          <a:p/>
          <a:p>
            <a:r>
              <a:t>Walk through: Across 31 eligible male epsilon-3 homozygous calls, mtDNA OXPHOS contributes 81 occurrences: 70 up and 11 down. Nuclear OXPHOS contributes 68 occurrences: 8 up and 60 down. Twelve mtDNA input queries and one nuclear input query are enriched.</a:t>
            </a:r>
          </a:p>
          <a:p/>
          <a:p>
            <a:r>
              <a:t>Scientific boundary: Occurrences repeat genes across calls and are not independent donors or replications. Enrichment describes the input query rather than returned key drivers.</a:t>
            </a:r>
          </a:p>
          <a:p/>
          <a:p>
            <a:r>
              <a:t>Transition: Ask whether the matched inhibitory-neuron program appears in SEA-AD.</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Summarize the matched SEA-AD inhibitory-neuron evidence.</a:t>
            </a:r>
          </a:p>
          <a:p/>
          <a:p>
            <a:r>
              <a:t>Walk through: Across 8 evaluable SEA-AD calls, the cohorts share 22 mitochondrial-query genes. Nineteen have the same fixed AD direction and three differ. The overlap is larger than expected and remains significant after multiple-testing correction.</a:t>
            </a:r>
          </a:p>
          <a:p/>
          <a:p>
            <a:r>
              <a:t>Scientific boundary: The result supports a DEG program, not the exact ROSMAP key-driver genes. It remains a narrow comparison concentrated in male epsilon-3 homozygous inhibitory neurons.</a:t>
            </a:r>
          </a:p>
          <a:p/>
          <a:p>
            <a:r>
              <a:t>Transition: Show which genes carry the agreement.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Name the genes underlying the cross-cohort directional agreement.</a:t>
            </a:r>
          </a:p>
          <a:p/>
          <a:p>
            <a:r>
              <a:t>Walk through: Nine mtDNA OXPHOS genes rise in both cohorts. Eight highlighted nuclear or mitochondrial-support genes fall in both cohorts: UQCRFS1, SLC25A5, TIMM13, TIMM17A, MRPL16, MRPS34, ENDOG, and MTCH1. DBP and PRELID2 complete the nineteen concordant genes.</a:t>
            </a:r>
          </a:p>
          <a:p/>
          <a:p>
            <a:r>
              <a:t>Scientific boundary: HIBCH, ISCU, and TMEM126B point in opposite directions across cohorts. Gene agreement still does not demonstrate protein-complex imbalance.</a:t>
            </a:r>
          </a:p>
          <a:p/>
          <a:p>
            <a:r>
              <a:t>Transition: Explain why a two-genome mismatch may matter.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Explain the biological importance without claiming impaired function.</a:t>
            </a:r>
          </a:p>
          <a:p/>
          <a:p>
            <a:r>
              <a:t>Walk through: Respiratory complexes require matching parts encoded by two genomes. The cross-cohort decrease in import, mitochondrial-ribosome, transport, and maintenance genes makes the pattern broader than a single OXPHOS gene change.</a:t>
            </a:r>
          </a:p>
          <a:p/>
          <a:p>
            <a:r>
              <a:t>Scientific boundary: RNA abundance cannot distinguish compensation, failed assembly, cell-state changes, or altered survival of cell populations.</a:t>
            </a:r>
          </a:p>
          <a:p/>
          <a:p>
            <a:r>
              <a:t>Transition: Separate the observation from what still needs to be tested.</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State the scientific boundaries and next experiments.</a:t>
            </a:r>
          </a:p>
          <a:p/>
          <a:p>
            <a:r>
              <a:t>Walk through: Donor-aware interaction models are needed to test whether the mismatch differs by sex or APOE group. Paired protein, complex-assembly, respiration, ATP, and oxidative-stress assays are needed to determine functional consequences.</a:t>
            </a:r>
          </a:p>
          <a:p/>
          <a:p>
            <a:r>
              <a:t>Scientific boundary: SEA-AD supplies program-level support but not exact driver replication or causal evidence.</a:t>
            </a:r>
          </a:p>
          <a:p/>
          <a:p>
            <a:r>
              <a:t>Transition: Place the finding in prior literature.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Teaching goal: Connect the finding to prior research while preserving novelty boundaries.</a:t>
            </a:r>
          </a:p>
          <a:p/>
          <a:p>
            <a:r>
              <a:t>Walk through: Established mitonuclear biology explains why opposite directions across the two genomes could matter. Guo and colleagues support sex-aware Alzheimer’s network analysis. Mathys and colleagues support cell-resolved disease heterogeneity but use ROSMAP.</a:t>
            </a:r>
          </a:p>
          <a:p/>
          <a:p>
            <a:r>
              <a:t>Scientific boundary: None of these sources independently establishes the exact male epsilon-3 homozygous inhibitory-neuron pattern. No sex-stratified human-genetic claim is used here.</a:t>
            </a:r>
          </a:p>
          <a:p/>
          <a:p>
            <a:r>
              <a:t>Transition: Return to the broader finding list or proceed to Finding 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p:cNvSpPr txBox="1"/>
          <p:nvPr/>
        </p:nvSpPr>
        <p:spPr>
          <a:xfrm>
            <a:off x="713232" y="1131130"/>
            <a:ext cx="10287000" cy="1194173"/>
          </a:xfrm>
          <a:prstGeom prst="rect">
            <a:avLst/>
          </a:prstGeom>
          <a:noFill/>
        </p:spPr>
        <p:txBody>
          <a:bodyPr wrap="square" lIns="27432" tIns="27432" rIns="27432" bIns="27432" anchor="ctr">
            <a:spAutoFit/>
          </a:bodyPr>
          <a:lstStyle/>
          <a:p>
            <a:r>
              <a:rPr lang="en-US" sz="3400" b="1" dirty="0">
                <a:solidFill>
                  <a:srgbClr val="FFFFFF"/>
                </a:solidFill>
                <a:latin typeface="Arial"/>
              </a:rPr>
              <a:t>DEG and key-driver analysis overview</a:t>
            </a:r>
            <a:br>
              <a:rPr lang="en-US" sz="3400" b="1" dirty="0">
                <a:solidFill>
                  <a:srgbClr val="FFFFFF"/>
                </a:solidFill>
                <a:latin typeface="Arial"/>
              </a:rPr>
            </a:br>
            <a:endParaRPr lang="en-US" sz="2000" b="1" dirty="0">
              <a:solidFill>
                <a:srgbClr val="FFFFFF"/>
              </a:solidFill>
              <a:latin typeface="Arial"/>
            </a:endParaRPr>
          </a:p>
          <a:p>
            <a:r>
              <a:rPr lang="en-US" sz="2000" b="1" dirty="0">
                <a:solidFill>
                  <a:srgbClr val="FFFFFF"/>
                </a:solidFill>
                <a:latin typeface="Arial"/>
              </a:rPr>
              <a:t>ROSMAP </a:t>
            </a:r>
            <a:r>
              <a:rPr lang="en-US" sz="2000" b="1" i="0" dirty="0">
                <a:solidFill>
                  <a:srgbClr val="FFFFFF"/>
                </a:solidFill>
                <a:latin typeface="Arial"/>
              </a:rPr>
              <a:t>and SEA-AD sex/APOE</a:t>
            </a:r>
          </a:p>
        </p:txBody>
      </p:sp>
      <p:sp>
        <p:nvSpPr>
          <p:cNvPr id="2" name="TextBox 1">
            <a:extLst>
              <a:ext uri="{FF2B5EF4-FFF2-40B4-BE49-F238E27FC236}">
                <a16:creationId xmlns:a16="http://schemas.microsoft.com/office/drawing/2014/main" id="{502EF7A8-A5B4-762E-C888-15CC35CBFC71}"/>
              </a:ext>
            </a:extLst>
          </p:cNvPr>
          <p:cNvSpPr txBox="1"/>
          <p:nvPr/>
        </p:nvSpPr>
        <p:spPr>
          <a:xfrm>
            <a:off x="713232" y="612648"/>
            <a:ext cx="219456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0072B2"/>
                </a:solidFill>
                <a:latin typeface="Arial"/>
              </a:rPr>
              <a:t>PART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What is a category</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One category selects one sex, one APOE group, and one broad cell type.</a:t>
            </a:r>
          </a:p>
        </p:txBody>
      </p:sp>
      <p:sp>
        <p:nvSpPr>
          <p:cNvPr id="4" name="Rounded Rectangle 3"/>
          <p:cNvSpPr/>
          <p:nvPr/>
        </p:nvSpPr>
        <p:spPr>
          <a:xfrm>
            <a:off x="603504" y="12984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8096" y="14813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72B2"/>
                </a:solidFill>
                <a:latin typeface="Arial"/>
              </a:rPr>
              <a:t>2</a:t>
            </a:r>
          </a:p>
        </p:txBody>
      </p:sp>
      <p:sp>
        <p:nvSpPr>
          <p:cNvPr id="6" name="TextBox 5"/>
          <p:cNvSpPr txBox="1"/>
          <p:nvPr/>
        </p:nvSpPr>
        <p:spPr>
          <a:xfrm>
            <a:off x="1408176" y="14721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1" i="0">
                <a:solidFill>
                  <a:srgbClr val="0F233D"/>
                </a:solidFill>
                <a:latin typeface="Arial"/>
              </a:rPr>
              <a:t>SEXES</a:t>
            </a:r>
          </a:p>
        </p:txBody>
      </p:sp>
      <p:sp>
        <p:nvSpPr>
          <p:cNvPr id="7" name="TextBox 6"/>
          <p:cNvSpPr txBox="1"/>
          <p:nvPr/>
        </p:nvSpPr>
        <p:spPr>
          <a:xfrm>
            <a:off x="1408176" y="17922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0" i="0">
                <a:solidFill>
                  <a:srgbClr val="4E5A68"/>
                </a:solidFill>
                <a:latin typeface="Arial"/>
              </a:rPr>
              <a:t>Female • Male</a:t>
            </a:r>
          </a:p>
        </p:txBody>
      </p:sp>
      <p:sp>
        <p:nvSpPr>
          <p:cNvPr id="8" name="TextBox 7"/>
          <p:cNvSpPr txBox="1"/>
          <p:nvPr/>
        </p:nvSpPr>
        <p:spPr>
          <a:xfrm>
            <a:off x="2724912" y="15819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200" b="1" i="0">
                <a:solidFill>
                  <a:srgbClr val="4E5A68"/>
                </a:solidFill>
                <a:latin typeface="Arial"/>
              </a:rPr>
              <a:t>×</a:t>
            </a:r>
          </a:p>
        </p:txBody>
      </p:sp>
      <p:sp>
        <p:nvSpPr>
          <p:cNvPr id="9" name="Rounded Rectangle 8"/>
          <p:cNvSpPr/>
          <p:nvPr/>
        </p:nvSpPr>
        <p:spPr>
          <a:xfrm>
            <a:off x="3200400" y="12984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64992" y="14813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684D"/>
                </a:solidFill>
                <a:latin typeface="Arial"/>
              </a:rPr>
              <a:t>3</a:t>
            </a:r>
          </a:p>
        </p:txBody>
      </p:sp>
      <p:sp>
        <p:nvSpPr>
          <p:cNvPr id="11" name="TextBox 10"/>
          <p:cNvSpPr txBox="1"/>
          <p:nvPr/>
        </p:nvSpPr>
        <p:spPr>
          <a:xfrm>
            <a:off x="4005072" y="14721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1" i="0">
                <a:solidFill>
                  <a:srgbClr val="0F233D"/>
                </a:solidFill>
                <a:latin typeface="Arial"/>
              </a:rPr>
              <a:t>APOE GROUPS</a:t>
            </a:r>
          </a:p>
        </p:txBody>
      </p:sp>
      <p:sp>
        <p:nvSpPr>
          <p:cNvPr id="12" name="TextBox 11"/>
          <p:cNvSpPr txBox="1"/>
          <p:nvPr/>
        </p:nvSpPr>
        <p:spPr>
          <a:xfrm>
            <a:off x="4005072" y="17922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0" i="0">
                <a:solidFill>
                  <a:srgbClr val="4E5A68"/>
                </a:solidFill>
                <a:latin typeface="Arial"/>
              </a:rPr>
              <a:t>ε2 carrier • ε3/ε3 • ε4 carrier</a:t>
            </a:r>
          </a:p>
        </p:txBody>
      </p:sp>
      <p:sp>
        <p:nvSpPr>
          <p:cNvPr id="13" name="TextBox 12"/>
          <p:cNvSpPr txBox="1"/>
          <p:nvPr/>
        </p:nvSpPr>
        <p:spPr>
          <a:xfrm>
            <a:off x="5833872" y="15819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200" b="1" i="0">
                <a:solidFill>
                  <a:srgbClr val="4E5A68"/>
                </a:solidFill>
                <a:latin typeface="Arial"/>
              </a:rPr>
              <a:t>×</a:t>
            </a:r>
          </a:p>
        </p:txBody>
      </p:sp>
      <p:sp>
        <p:nvSpPr>
          <p:cNvPr id="14" name="Rounded Rectangle 13"/>
          <p:cNvSpPr/>
          <p:nvPr/>
        </p:nvSpPr>
        <p:spPr>
          <a:xfrm>
            <a:off x="6309360" y="12984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73952" y="14813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895600"/>
                </a:solidFill>
                <a:latin typeface="Arial"/>
              </a:rPr>
              <a:t>7</a:t>
            </a:r>
          </a:p>
        </p:txBody>
      </p:sp>
      <p:sp>
        <p:nvSpPr>
          <p:cNvPr id="16" name="TextBox 15"/>
          <p:cNvSpPr txBox="1"/>
          <p:nvPr/>
        </p:nvSpPr>
        <p:spPr>
          <a:xfrm>
            <a:off x="7114032" y="14721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1" i="0">
                <a:solidFill>
                  <a:srgbClr val="0F233D"/>
                </a:solidFill>
                <a:latin typeface="Arial"/>
              </a:rPr>
              <a:t>BROAD TYPES</a:t>
            </a:r>
          </a:p>
        </p:txBody>
      </p:sp>
      <p:sp>
        <p:nvSpPr>
          <p:cNvPr id="17" name="TextBox 16"/>
          <p:cNvSpPr txBox="1"/>
          <p:nvPr/>
        </p:nvSpPr>
        <p:spPr>
          <a:xfrm>
            <a:off x="7114032" y="17922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0" i="0">
                <a:solidFill>
                  <a:srgbClr val="4E5A68"/>
                </a:solidFill>
                <a:latin typeface="Arial"/>
              </a:rPr>
              <a:t>Frozen cell classes</a:t>
            </a:r>
          </a:p>
        </p:txBody>
      </p:sp>
      <p:sp>
        <p:nvSpPr>
          <p:cNvPr id="18" name="TextBox 17"/>
          <p:cNvSpPr txBox="1"/>
          <p:nvPr/>
        </p:nvSpPr>
        <p:spPr>
          <a:xfrm>
            <a:off x="8522208" y="15819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200" b="1" i="0">
                <a:solidFill>
                  <a:srgbClr val="4E5A68"/>
                </a:solidFill>
                <a:latin typeface="Arial"/>
              </a:rPr>
              <a:t>=</a:t>
            </a:r>
          </a:p>
        </p:txBody>
      </p:sp>
      <p:sp>
        <p:nvSpPr>
          <p:cNvPr id="19" name="Rounded Rectangle 18"/>
          <p:cNvSpPr/>
          <p:nvPr/>
        </p:nvSpPr>
        <p:spPr>
          <a:xfrm>
            <a:off x="8997696" y="12984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62288" y="14813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9E3A00"/>
                </a:solidFill>
                <a:latin typeface="Arial"/>
              </a:rPr>
              <a:t>42</a:t>
            </a:r>
          </a:p>
        </p:txBody>
      </p:sp>
      <p:sp>
        <p:nvSpPr>
          <p:cNvPr id="21" name="TextBox 20"/>
          <p:cNvSpPr txBox="1"/>
          <p:nvPr/>
        </p:nvSpPr>
        <p:spPr>
          <a:xfrm>
            <a:off x="9802368" y="14721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80" b="1" i="0">
                <a:solidFill>
                  <a:srgbClr val="0F233D"/>
                </a:solidFill>
                <a:latin typeface="Arial"/>
              </a:rPr>
              <a:t>CATEGORIES</a:t>
            </a:r>
          </a:p>
        </p:txBody>
      </p:sp>
      <p:sp>
        <p:nvSpPr>
          <p:cNvPr id="22" name="TextBox 21"/>
          <p:cNvSpPr txBox="1"/>
          <p:nvPr/>
        </p:nvSpPr>
        <p:spPr>
          <a:xfrm>
            <a:off x="9802368" y="17922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0" i="0">
                <a:solidFill>
                  <a:srgbClr val="4E5A68"/>
                </a:solidFill>
                <a:latin typeface="Arial"/>
              </a:rPr>
              <a:t>Possible analysis contexts</a:t>
            </a:r>
          </a:p>
        </p:txBody>
      </p:sp>
      <p:sp>
        <p:nvSpPr>
          <p:cNvPr id="23" name="Rounded Rectangle 22"/>
          <p:cNvSpPr/>
          <p:nvPr/>
        </p:nvSpPr>
        <p:spPr>
          <a:xfrm>
            <a:off x="603504" y="26517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77824" y="29352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7" y="29077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Six sex/APOE groups</a:t>
            </a:r>
          </a:p>
        </p:txBody>
      </p:sp>
      <p:sp>
        <p:nvSpPr>
          <p:cNvPr id="26" name="TextBox 25"/>
          <p:cNvSpPr txBox="1"/>
          <p:nvPr/>
        </p:nvSpPr>
        <p:spPr>
          <a:xfrm>
            <a:off x="896112" y="35478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4E5A68"/>
                </a:solidFill>
                <a:latin typeface="Arial"/>
              </a:rPr>
              <a:t>FEMALE</a:t>
            </a:r>
          </a:p>
        </p:txBody>
      </p:sp>
      <p:sp>
        <p:nvSpPr>
          <p:cNvPr id="27" name="TextBox 26"/>
          <p:cNvSpPr txBox="1"/>
          <p:nvPr/>
        </p:nvSpPr>
        <p:spPr>
          <a:xfrm>
            <a:off x="896112" y="41696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4E5A68"/>
                </a:solidFill>
                <a:latin typeface="Arial"/>
              </a:rPr>
              <a:t>MALE</a:t>
            </a:r>
          </a:p>
        </p:txBody>
      </p:sp>
      <p:sp>
        <p:nvSpPr>
          <p:cNvPr id="28" name="Rounded Rectangle 27"/>
          <p:cNvSpPr/>
          <p:nvPr/>
        </p:nvSpPr>
        <p:spPr>
          <a:xfrm>
            <a:off x="1700784" y="34381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773936" y="35295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F_e2</a:t>
            </a:r>
          </a:p>
        </p:txBody>
      </p:sp>
      <p:sp>
        <p:nvSpPr>
          <p:cNvPr id="30" name="Rounded Rectangle 29"/>
          <p:cNvSpPr/>
          <p:nvPr/>
        </p:nvSpPr>
        <p:spPr>
          <a:xfrm>
            <a:off x="1700784" y="40599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773936" y="41513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M_e2</a:t>
            </a:r>
          </a:p>
        </p:txBody>
      </p:sp>
      <p:sp>
        <p:nvSpPr>
          <p:cNvPr id="32" name="Rounded Rectangle 31"/>
          <p:cNvSpPr/>
          <p:nvPr/>
        </p:nvSpPr>
        <p:spPr>
          <a:xfrm>
            <a:off x="3072384" y="34381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45536" y="35295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F_e33</a:t>
            </a:r>
          </a:p>
        </p:txBody>
      </p:sp>
      <p:sp>
        <p:nvSpPr>
          <p:cNvPr id="34" name="Rounded Rectangle 33"/>
          <p:cNvSpPr/>
          <p:nvPr/>
        </p:nvSpPr>
        <p:spPr>
          <a:xfrm>
            <a:off x="3072384" y="40599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145536" y="41513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M_e33</a:t>
            </a:r>
          </a:p>
        </p:txBody>
      </p:sp>
      <p:sp>
        <p:nvSpPr>
          <p:cNvPr id="36" name="Rounded Rectangle 35"/>
          <p:cNvSpPr/>
          <p:nvPr/>
        </p:nvSpPr>
        <p:spPr>
          <a:xfrm>
            <a:off x="4443984" y="34381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17136" y="35295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F_e4</a:t>
            </a:r>
          </a:p>
        </p:txBody>
      </p:sp>
      <p:sp>
        <p:nvSpPr>
          <p:cNvPr id="38" name="Rounded Rectangle 37"/>
          <p:cNvSpPr/>
          <p:nvPr/>
        </p:nvSpPr>
        <p:spPr>
          <a:xfrm>
            <a:off x="4443984" y="40599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17136" y="41513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F233D"/>
                </a:solidFill>
                <a:latin typeface="Arial"/>
              </a:rPr>
              <a:t>M_e4</a:t>
            </a:r>
          </a:p>
        </p:txBody>
      </p:sp>
      <p:sp>
        <p:nvSpPr>
          <p:cNvPr id="40" name="TextBox 39"/>
          <p:cNvSpPr txBox="1"/>
          <p:nvPr/>
        </p:nvSpPr>
        <p:spPr>
          <a:xfrm>
            <a:off x="896112" y="48280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80" b="0" i="0">
                <a:solidFill>
                  <a:srgbClr val="4E5A68"/>
                </a:solidFill>
                <a:latin typeface="Arial"/>
              </a:rPr>
              <a:t>e2 = ε2 carrier   •   e33 = ε3/ε3   •   e4 = ε4 carrier</a:t>
            </a:r>
          </a:p>
        </p:txBody>
      </p:sp>
      <p:sp>
        <p:nvSpPr>
          <p:cNvPr id="41" name="Rounded Rectangle 40"/>
          <p:cNvSpPr/>
          <p:nvPr/>
        </p:nvSpPr>
        <p:spPr>
          <a:xfrm>
            <a:off x="6172200" y="26517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446520" y="29352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592824" y="29077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Seven broad cell types</a:t>
            </a:r>
          </a:p>
        </p:txBody>
      </p:sp>
      <p:sp>
        <p:nvSpPr>
          <p:cNvPr id="44" name="Rounded Rectangle 43"/>
          <p:cNvSpPr/>
          <p:nvPr/>
        </p:nvSpPr>
        <p:spPr>
          <a:xfrm>
            <a:off x="6446520" y="34015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556248" y="35021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Astrocytes</a:t>
            </a:r>
          </a:p>
        </p:txBody>
      </p:sp>
      <p:sp>
        <p:nvSpPr>
          <p:cNvPr id="46" name="Rounded Rectangle 45"/>
          <p:cNvSpPr/>
          <p:nvPr/>
        </p:nvSpPr>
        <p:spPr>
          <a:xfrm>
            <a:off x="6446520" y="39044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56248" y="40050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Excitatory neurons</a:t>
            </a:r>
          </a:p>
        </p:txBody>
      </p:sp>
      <p:sp>
        <p:nvSpPr>
          <p:cNvPr id="48" name="Rounded Rectangle 47"/>
          <p:cNvSpPr/>
          <p:nvPr/>
        </p:nvSpPr>
        <p:spPr>
          <a:xfrm>
            <a:off x="6446520" y="44074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56248" y="45079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Inhibitory neurons</a:t>
            </a:r>
          </a:p>
        </p:txBody>
      </p:sp>
      <p:sp>
        <p:nvSpPr>
          <p:cNvPr id="50" name="Rounded Rectangle 49"/>
          <p:cNvSpPr/>
          <p:nvPr/>
        </p:nvSpPr>
        <p:spPr>
          <a:xfrm>
            <a:off x="6446520" y="49103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556248" y="50109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Microglia</a:t>
            </a:r>
          </a:p>
        </p:txBody>
      </p:sp>
      <p:sp>
        <p:nvSpPr>
          <p:cNvPr id="52" name="Rounded Rectangle 51"/>
          <p:cNvSpPr/>
          <p:nvPr/>
        </p:nvSpPr>
        <p:spPr>
          <a:xfrm>
            <a:off x="8979408" y="34015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089136" y="35021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OPCs</a:t>
            </a:r>
          </a:p>
        </p:txBody>
      </p:sp>
      <p:sp>
        <p:nvSpPr>
          <p:cNvPr id="54" name="Rounded Rectangle 53"/>
          <p:cNvSpPr/>
          <p:nvPr/>
        </p:nvSpPr>
        <p:spPr>
          <a:xfrm>
            <a:off x="8979408" y="39044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089136" y="40050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Oligodendrocytes</a:t>
            </a:r>
          </a:p>
        </p:txBody>
      </p:sp>
      <p:sp>
        <p:nvSpPr>
          <p:cNvPr id="56" name="Rounded Rectangle 55"/>
          <p:cNvSpPr/>
          <p:nvPr/>
        </p:nvSpPr>
        <p:spPr>
          <a:xfrm>
            <a:off x="8979408" y="44074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089136" y="45079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1" i="0">
                <a:solidFill>
                  <a:srgbClr val="1F2730"/>
                </a:solidFill>
                <a:latin typeface="Arial"/>
              </a:rPr>
              <a:t>Vasculature</a:t>
            </a:r>
          </a:p>
        </p:txBody>
      </p:sp>
      <p:sp>
        <p:nvSpPr>
          <p:cNvPr id="58" name="Rounded Rectangle 57"/>
          <p:cNvSpPr/>
          <p:nvPr/>
        </p:nvSpPr>
        <p:spPr>
          <a:xfrm>
            <a:off x="603504" y="5760720"/>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59536" y="5925312"/>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4E5A68"/>
                </a:solidFill>
                <a:latin typeface="Arial"/>
              </a:rPr>
              <a:t>Example category</a:t>
            </a:r>
          </a:p>
        </p:txBody>
      </p:sp>
      <p:sp>
        <p:nvSpPr>
          <p:cNvPr id="60" name="TextBox 59"/>
          <p:cNvSpPr txBox="1"/>
          <p:nvPr/>
        </p:nvSpPr>
        <p:spPr>
          <a:xfrm>
            <a:off x="2139696" y="5879592"/>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20" b="1" i="0">
                <a:solidFill>
                  <a:srgbClr val="7E4C9A"/>
                </a:solidFill>
                <a:latin typeface="Arial"/>
              </a:rPr>
              <a:t>M_e33 × Excitatory neurons</a:t>
            </a:r>
          </a:p>
        </p:txBody>
      </p:sp>
      <p:sp>
        <p:nvSpPr>
          <p:cNvPr id="61" name="TextBox 60"/>
          <p:cNvSpPr txBox="1"/>
          <p:nvPr/>
        </p:nvSpPr>
        <p:spPr>
          <a:xfrm>
            <a:off x="5157216" y="5888736"/>
            <a:ext cx="6144768" cy="31089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980" b="0" i="0">
                <a:solidFill>
                  <a:srgbClr val="4E5A68"/>
                </a:solidFill>
                <a:latin typeface="Arial"/>
              </a:rPr>
              <a:t>42 is the design space; later slides show which categories have usable calls and returned drivers.</a:t>
            </a:r>
          </a:p>
        </p:txBody>
      </p:sp>
      <p:sp>
        <p:nvSpPr>
          <p:cNvPr id="62" name="TextBox 61"/>
          <p:cNvSpPr txBox="1"/>
          <p:nvPr/>
        </p:nvSpPr>
        <p:spPr>
          <a:xfrm>
            <a:off x="603504" y="23957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60" b="1" i="0">
                <a:solidFill>
                  <a:srgbClr val="9E3A00"/>
                </a:solidFill>
                <a:latin typeface="Arial"/>
              </a:rPr>
              <a:t>Key-driver genes are ranked separately within each category.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What is a contrast</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Fine cell type × sex × APOE defines the contrast; broad-cell aggregation happens after KDA.</a:t>
            </a:r>
          </a:p>
        </p:txBody>
      </p:sp>
      <p:sp>
        <p:nvSpPr>
          <p:cNvPr id="4" name="Rounded Rectangle 3"/>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300" b="1" i="0">
                <a:solidFill>
                  <a:srgbClr val="0072B2"/>
                </a:solidFill>
                <a:latin typeface="Arial"/>
              </a:rPr>
              <a:t>N</a:t>
            </a:r>
          </a:p>
        </p:txBody>
      </p:sp>
      <p:sp>
        <p:nvSpPr>
          <p:cNvPr id="6" name="TextBox 5"/>
          <p:cNvSpPr txBox="1"/>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1" i="0">
                <a:solidFill>
                  <a:srgbClr val="0F233D"/>
                </a:solidFill>
                <a:latin typeface="Arial"/>
              </a:rPr>
              <a:t>fine cell types</a:t>
            </a:r>
          </a:p>
        </p:txBody>
      </p:sp>
      <p:sp>
        <p:nvSpPr>
          <p:cNvPr id="7" name="TextBox 6"/>
          <p:cNvSpPr txBox="1"/>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900" b="1" i="0">
                <a:solidFill>
                  <a:srgbClr val="4E5A68"/>
                </a:solidFill>
                <a:latin typeface="Arial"/>
              </a:rPr>
              <a:t>×</a:t>
            </a:r>
          </a:p>
        </p:txBody>
      </p:sp>
      <p:sp>
        <p:nvSpPr>
          <p:cNvPr id="8" name="Rounded Rectangle 7"/>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300" b="1" i="0">
                <a:solidFill>
                  <a:srgbClr val="00684D"/>
                </a:solidFill>
                <a:latin typeface="Arial"/>
              </a:rPr>
              <a:t>2</a:t>
            </a:r>
          </a:p>
        </p:txBody>
      </p:sp>
      <p:sp>
        <p:nvSpPr>
          <p:cNvPr id="10" name="TextBox 9"/>
          <p:cNvSpPr txBox="1"/>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1" i="0">
                <a:solidFill>
                  <a:srgbClr val="0F233D"/>
                </a:solidFill>
                <a:latin typeface="Arial"/>
              </a:rPr>
              <a:t>sexes</a:t>
            </a:r>
          </a:p>
        </p:txBody>
      </p:sp>
      <p:sp>
        <p:nvSpPr>
          <p:cNvPr id="11" name="TextBox 10"/>
          <p:cNvSpPr txBox="1"/>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900" b="1" i="0">
                <a:solidFill>
                  <a:srgbClr val="4E5A68"/>
                </a:solidFill>
                <a:latin typeface="Arial"/>
              </a:rPr>
              <a:t>×</a:t>
            </a:r>
          </a:p>
        </p:txBody>
      </p:sp>
      <p:sp>
        <p:nvSpPr>
          <p:cNvPr id="12" name="Rounded Rectangle 1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300" b="1" i="0">
                <a:solidFill>
                  <a:srgbClr val="895600"/>
                </a:solidFill>
                <a:latin typeface="Arial"/>
              </a:rPr>
              <a:t>3</a:t>
            </a:r>
          </a:p>
        </p:txBody>
      </p:sp>
      <p:sp>
        <p:nvSpPr>
          <p:cNvPr id="14" name="TextBox 13"/>
          <p:cNvSpPr txBox="1"/>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1" i="0">
                <a:solidFill>
                  <a:srgbClr val="0F233D"/>
                </a:solidFill>
                <a:latin typeface="Arial"/>
              </a:rPr>
              <a:t>APOE groups</a:t>
            </a:r>
          </a:p>
        </p:txBody>
      </p:sp>
      <p:sp>
        <p:nvSpPr>
          <p:cNvPr id="15" name="TextBox 14"/>
          <p:cNvSpPr txBox="1"/>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900" b="1" i="0">
                <a:solidFill>
                  <a:srgbClr val="4E5A68"/>
                </a:solidFill>
                <a:latin typeface="Arial"/>
              </a:rPr>
              <a:t>=</a:t>
            </a:r>
          </a:p>
        </p:txBody>
      </p:sp>
      <p:sp>
        <p:nvSpPr>
          <p:cNvPr id="16" name="Rounded Rectangle 15"/>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300" b="1" i="0">
                <a:solidFill>
                  <a:srgbClr val="9E3A00"/>
                </a:solidFill>
                <a:latin typeface="Arial"/>
              </a:rPr>
              <a:t>6N</a:t>
            </a:r>
          </a:p>
        </p:txBody>
      </p:sp>
      <p:sp>
        <p:nvSpPr>
          <p:cNvPr id="18" name="TextBox 17"/>
          <p:cNvSpPr txBox="1"/>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60" b="1" i="0">
                <a:solidFill>
                  <a:srgbClr val="0F233D"/>
                </a:solidFill>
                <a:latin typeface="Arial"/>
              </a:rPr>
              <a:t>planned contrasts</a:t>
            </a:r>
          </a:p>
        </p:txBody>
      </p:sp>
      <p:sp>
        <p:nvSpPr>
          <p:cNvPr id="19" name="TextBox 18"/>
          <p:cNvSpPr txBox="1"/>
          <p:nvPr/>
        </p:nvSpPr>
        <p:spPr>
          <a:xfrm>
            <a:off x="621792" y="2212848"/>
            <a:ext cx="10954512"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40" b="1" i="0">
                <a:solidFill>
                  <a:srgbClr val="7E4C9A"/>
                </a:solidFill>
                <a:latin typeface="Arial"/>
              </a:rPr>
              <a:t>ROSMAP example: 54 fine cell types × 2 sexes × 3 APOE groups = 324 planned contrasts</a:t>
            </a:r>
          </a:p>
        </p:txBody>
      </p:sp>
      <p:sp>
        <p:nvSpPr>
          <p:cNvPr id="20" name="Rounded Rectangle 19"/>
          <p:cNvSpPr/>
          <p:nvPr/>
        </p:nvSpPr>
        <p:spPr>
          <a:xfrm>
            <a:off x="603504" y="263347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77824" y="291693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24126" y="2889504"/>
            <a:ext cx="4855465"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One contrast → </a:t>
            </a:r>
            <a:r>
              <a:rPr lang="en-US" sz="1520" b="1" i="0" dirty="0">
                <a:solidFill>
                  <a:srgbClr val="0F233D"/>
                </a:solidFill>
                <a:latin typeface="Arial"/>
              </a:rPr>
              <a:t>run DEG and </a:t>
            </a:r>
            <a:r>
              <a:rPr sz="1520" b="1" i="0" dirty="0">
                <a:solidFill>
                  <a:srgbClr val="0F233D"/>
                </a:solidFill>
                <a:latin typeface="Arial"/>
              </a:rPr>
              <a:t>at most one KDA call</a:t>
            </a:r>
          </a:p>
        </p:txBody>
      </p:sp>
      <p:sp>
        <p:nvSpPr>
          <p:cNvPr id="23" name="Rounded Rectangle 22"/>
          <p:cNvSpPr/>
          <p:nvPr/>
        </p:nvSpPr>
        <p:spPr>
          <a:xfrm>
            <a:off x="896112" y="336499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343814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19" b="1" i="0">
                <a:solidFill>
                  <a:srgbClr val="FFFFFF"/>
                </a:solidFill>
                <a:latin typeface="Arial"/>
              </a:rPr>
              <a:t>1</a:t>
            </a:r>
          </a:p>
        </p:txBody>
      </p:sp>
      <p:sp>
        <p:nvSpPr>
          <p:cNvPr id="25" name="TextBox 24"/>
          <p:cNvSpPr txBox="1"/>
          <p:nvPr/>
        </p:nvSpPr>
        <p:spPr>
          <a:xfrm>
            <a:off x="1426464" y="335584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Define one AD-versus-NCI comparison</a:t>
            </a:r>
          </a:p>
        </p:txBody>
      </p:sp>
      <p:sp>
        <p:nvSpPr>
          <p:cNvPr id="26" name="TextBox 25"/>
          <p:cNvSpPr txBox="1"/>
          <p:nvPr/>
        </p:nvSpPr>
        <p:spPr>
          <a:xfrm>
            <a:off x="1426464" y="362102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9" b="0" i="0">
                <a:solidFill>
                  <a:srgbClr val="4E5A68"/>
                </a:solidFill>
                <a:latin typeface="Arial"/>
              </a:rPr>
              <a:t>Example: Ast GRM3 × Female ε2 carrier.</a:t>
            </a:r>
          </a:p>
        </p:txBody>
      </p:sp>
      <p:sp>
        <p:nvSpPr>
          <p:cNvPr id="27" name="Rounded Rectangle 26"/>
          <p:cNvSpPr/>
          <p:nvPr/>
        </p:nvSpPr>
        <p:spPr>
          <a:xfrm>
            <a:off x="896112" y="409651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2688" y="416966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19" b="1" i="0">
                <a:solidFill>
                  <a:srgbClr val="FFFFFF"/>
                </a:solidFill>
                <a:latin typeface="Arial"/>
              </a:rPr>
              <a:t>2</a:t>
            </a:r>
          </a:p>
        </p:txBody>
      </p:sp>
      <p:sp>
        <p:nvSpPr>
          <p:cNvPr id="29" name="TextBox 28"/>
          <p:cNvSpPr txBox="1"/>
          <p:nvPr/>
        </p:nvSpPr>
        <p:spPr>
          <a:xfrm>
            <a:off x="1426464" y="408736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Remove invalid contrasts</a:t>
            </a:r>
          </a:p>
        </p:txBody>
      </p:sp>
      <p:sp>
        <p:nvSpPr>
          <p:cNvPr id="30" name="TextBox 29"/>
          <p:cNvSpPr txBox="1"/>
          <p:nvPr/>
        </p:nvSpPr>
        <p:spPr>
          <a:xfrm>
            <a:off x="1426464" y="435254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9" b="0" i="0">
                <a:solidFill>
                  <a:srgbClr val="4E5A68"/>
                </a:solidFill>
                <a:latin typeface="Arial"/>
              </a:rPr>
              <a:t>Remove source-invalid contrasts; among valid contrasts, only mapped mitochondrial queries with ≥3 genes proceed.</a:t>
            </a:r>
          </a:p>
        </p:txBody>
      </p:sp>
      <p:sp>
        <p:nvSpPr>
          <p:cNvPr id="31" name="Rounded Rectangle 30"/>
          <p:cNvSpPr/>
          <p:nvPr/>
        </p:nvSpPr>
        <p:spPr>
          <a:xfrm>
            <a:off x="896112" y="482803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32688" y="490118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19" b="1" i="0">
                <a:solidFill>
                  <a:srgbClr val="FFFFFF"/>
                </a:solidFill>
                <a:latin typeface="Arial"/>
              </a:rPr>
              <a:t>3</a:t>
            </a:r>
          </a:p>
        </p:txBody>
      </p:sp>
      <p:sp>
        <p:nvSpPr>
          <p:cNvPr id="33" name="TextBox 32"/>
          <p:cNvSpPr txBox="1"/>
          <p:nvPr/>
        </p:nvSpPr>
        <p:spPr>
          <a:xfrm>
            <a:off x="1426464" y="481888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Run call_key_drivers()</a:t>
            </a:r>
          </a:p>
        </p:txBody>
      </p:sp>
      <p:sp>
        <p:nvSpPr>
          <p:cNvPr id="34" name="TextBox 33"/>
          <p:cNvSpPr txBox="1"/>
          <p:nvPr/>
        </p:nvSpPr>
        <p:spPr>
          <a:xfrm>
            <a:off x="1426464" y="508406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9" b="0" i="0">
                <a:solidFill>
                  <a:srgbClr val="4E5A68"/>
                </a:solidFill>
                <a:latin typeface="Arial"/>
              </a:rPr>
              <a:t>The call returns a list of significant key-driver genes for that contrast.</a:t>
            </a:r>
          </a:p>
        </p:txBody>
      </p:sp>
      <p:sp>
        <p:nvSpPr>
          <p:cNvPr id="35" name="Rounded Rectangle 34"/>
          <p:cNvSpPr/>
          <p:nvPr/>
        </p:nvSpPr>
        <p:spPr>
          <a:xfrm>
            <a:off x="896112" y="546811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05840" y="552297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940" b="1" i="0">
                <a:solidFill>
                  <a:srgbClr val="0F233D"/>
                </a:solidFill>
                <a:latin typeface="Arial"/>
              </a:rPr>
              <a:t>Each gene can appear at most once in one contrast's returned list.</a:t>
            </a:r>
          </a:p>
        </p:txBody>
      </p:sp>
      <p:sp>
        <p:nvSpPr>
          <p:cNvPr id="37" name="Rounded Rectangle 36"/>
          <p:cNvSpPr/>
          <p:nvPr/>
        </p:nvSpPr>
        <p:spPr>
          <a:xfrm>
            <a:off x="6172200" y="263347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446520" y="291693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92824" y="288950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Multiple fine-cell contrasts → one category</a:t>
            </a:r>
          </a:p>
        </p:txBody>
      </p:sp>
      <p:sp>
        <p:nvSpPr>
          <p:cNvPr id="40" name="Rounded Rectangle 39"/>
          <p:cNvSpPr/>
          <p:nvPr/>
        </p:nvSpPr>
        <p:spPr>
          <a:xfrm>
            <a:off x="6455664" y="340156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47104" y="348386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910" b="1" i="0">
                <a:solidFill>
                  <a:srgbClr val="4E5A68"/>
                </a:solidFill>
                <a:latin typeface="Arial"/>
              </a:rPr>
              <a:t>Fine type A</a:t>
            </a:r>
          </a:p>
        </p:txBody>
      </p:sp>
      <p:sp>
        <p:nvSpPr>
          <p:cNvPr id="42" name="TextBox 41"/>
          <p:cNvSpPr txBox="1"/>
          <p:nvPr/>
        </p:nvSpPr>
        <p:spPr>
          <a:xfrm>
            <a:off x="7772400" y="347472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9" b="0" i="0">
                <a:solidFill>
                  <a:srgbClr val="1F2730"/>
                </a:solidFill>
                <a:latin typeface="Arial"/>
              </a:rPr>
              <a:t>Gene X returned · adjusted P₁</a:t>
            </a:r>
          </a:p>
        </p:txBody>
      </p:sp>
      <p:sp>
        <p:nvSpPr>
          <p:cNvPr id="43" name="Rounded Rectangle 42"/>
          <p:cNvSpPr/>
          <p:nvPr/>
        </p:nvSpPr>
        <p:spPr>
          <a:xfrm>
            <a:off x="6455664" y="387705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47104" y="395935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910" b="1" i="0">
                <a:solidFill>
                  <a:srgbClr val="4E5A68"/>
                </a:solidFill>
                <a:latin typeface="Arial"/>
              </a:rPr>
              <a:t>Fine type B</a:t>
            </a:r>
          </a:p>
        </p:txBody>
      </p:sp>
      <p:sp>
        <p:nvSpPr>
          <p:cNvPr id="45" name="TextBox 44"/>
          <p:cNvSpPr txBox="1"/>
          <p:nvPr/>
        </p:nvSpPr>
        <p:spPr>
          <a:xfrm>
            <a:off x="7772400" y="395020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9" b="0" i="0">
                <a:solidFill>
                  <a:srgbClr val="1F2730"/>
                </a:solidFill>
                <a:latin typeface="Arial"/>
              </a:rPr>
              <a:t>Gene X returned · adjusted P₂</a:t>
            </a:r>
          </a:p>
        </p:txBody>
      </p:sp>
      <p:sp>
        <p:nvSpPr>
          <p:cNvPr id="46" name="Rounded Rectangle 45"/>
          <p:cNvSpPr/>
          <p:nvPr/>
        </p:nvSpPr>
        <p:spPr>
          <a:xfrm>
            <a:off x="6455664" y="435254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47104" y="443484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910" b="1" i="0">
                <a:solidFill>
                  <a:srgbClr val="4E5A68"/>
                </a:solidFill>
                <a:latin typeface="Arial"/>
              </a:rPr>
              <a:t>Fine type C</a:t>
            </a:r>
          </a:p>
        </p:txBody>
      </p:sp>
      <p:sp>
        <p:nvSpPr>
          <p:cNvPr id="48" name="TextBox 47"/>
          <p:cNvSpPr txBox="1"/>
          <p:nvPr/>
        </p:nvSpPr>
        <p:spPr>
          <a:xfrm>
            <a:off x="7772400" y="442569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9" b="0" i="0">
                <a:solidFill>
                  <a:srgbClr val="1F2730"/>
                </a:solidFill>
                <a:latin typeface="Arial"/>
              </a:rPr>
              <a:t>Gene X not returned</a:t>
            </a:r>
          </a:p>
        </p:txBody>
      </p:sp>
      <p:sp>
        <p:nvSpPr>
          <p:cNvPr id="49" name="TextBox 48"/>
          <p:cNvSpPr txBox="1"/>
          <p:nvPr/>
        </p:nvSpPr>
        <p:spPr>
          <a:xfrm>
            <a:off x="8558784" y="477316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900" b="1" i="0">
                <a:solidFill>
                  <a:srgbClr val="895600"/>
                </a:solidFill>
                <a:latin typeface="Arial"/>
              </a:rPr>
              <a:t>↓</a:t>
            </a:r>
          </a:p>
        </p:txBody>
      </p:sp>
      <p:sp>
        <p:nvSpPr>
          <p:cNvPr id="50" name="Rounded Rectangle 49"/>
          <p:cNvSpPr/>
          <p:nvPr/>
        </p:nvSpPr>
        <p:spPr>
          <a:xfrm>
            <a:off x="6473952" y="5084064"/>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656832" y="5230368"/>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40" b="1" i="0">
                <a:solidFill>
                  <a:srgbClr val="895600"/>
                </a:solidFill>
                <a:latin typeface="Arial"/>
              </a:rPr>
              <a:t>Female ε2 × Astrocytes:  Gene X score = ACAT(P₁, P₂)</a:t>
            </a:r>
          </a:p>
        </p:txBody>
      </p:sp>
      <p:sp>
        <p:nvSpPr>
          <p:cNvPr id="52" name="Rounded Rectangle 51"/>
          <p:cNvSpPr/>
          <p:nvPr/>
        </p:nvSpPr>
        <p:spPr>
          <a:xfrm>
            <a:off x="603504" y="6053328"/>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22960" y="6172200"/>
            <a:ext cx="10533888" cy="20116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10" b="1" i="0">
                <a:solidFill>
                  <a:srgbClr val="9E3A00"/>
                </a:solidFill>
                <a:latin typeface="Arial"/>
              </a:rPr>
              <a:t>Why contrasts outnumber categories: many fine cell types map to one broad cell type; recurring returned values are combined by equal-weight, returned-only ACAT.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dirty="0">
                <a:solidFill>
                  <a:srgbClr val="0F233D"/>
                </a:solidFill>
                <a:latin typeface="Arial"/>
              </a:rPr>
              <a:t>Four steps: </a:t>
            </a:r>
            <a:r>
              <a:rPr lang="en-US" sz="2450" b="1" i="0" dirty="0">
                <a:solidFill>
                  <a:srgbClr val="0F233D"/>
                </a:solidFill>
                <a:latin typeface="Arial"/>
              </a:rPr>
              <a:t>run DEG per contrast, </a:t>
            </a:r>
            <a:r>
              <a:rPr sz="2450" b="1" i="0" dirty="0">
                <a:solidFill>
                  <a:srgbClr val="0F233D"/>
                </a:solidFill>
                <a:latin typeface="Arial"/>
              </a:rPr>
              <a:t>one KDA query per contrast</a:t>
            </a:r>
          </a:p>
        </p:txBody>
      </p:sp>
      <p:sp>
        <p:nvSpPr>
          <p:cNvPr id="5" name="Rounded Rectangle 4"/>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1</a:t>
            </a:r>
          </a:p>
        </p:txBody>
      </p:sp>
      <p:sp>
        <p:nvSpPr>
          <p:cNvPr id="8" name="TextBox 7"/>
          <p:cNvSpPr txBox="1"/>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dirty="0">
                <a:solidFill>
                  <a:srgbClr val="0F233D"/>
                </a:solidFill>
                <a:latin typeface="Arial"/>
              </a:rPr>
              <a:t>DEG</a:t>
            </a:r>
          </a:p>
        </p:txBody>
      </p:sp>
      <p:sp>
        <p:nvSpPr>
          <p:cNvPr id="9" name="TextBox 8"/>
          <p:cNvSpPr txBox="1"/>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0072B2"/>
                </a:solidFill>
                <a:latin typeface="Arial"/>
              </a:rPr>
              <a:t>fine cell type × sex/APOE</a:t>
            </a:r>
          </a:p>
        </p:txBody>
      </p:sp>
      <p:sp>
        <p:nvSpPr>
          <p:cNvPr id="10" name="Rounded Rectangle 9"/>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dirty="0">
                <a:solidFill>
                  <a:srgbClr val="4E5A68"/>
                </a:solidFill>
                <a:latin typeface="Arial"/>
              </a:rPr>
              <a:t>AD-versus-NCI</a:t>
            </a:r>
            <a:r>
              <a:rPr lang="en-US" sz="1130" b="0" i="0" dirty="0">
                <a:solidFill>
                  <a:srgbClr val="4E5A68"/>
                </a:solidFill>
                <a:latin typeface="Arial"/>
              </a:rPr>
              <a:t> DEG for each contrast</a:t>
            </a:r>
            <a:endParaRPr sz="1130" b="0" i="0" dirty="0">
              <a:solidFill>
                <a:srgbClr val="4E5A68"/>
              </a:solidFill>
              <a:latin typeface="Arial"/>
            </a:endParaRPr>
          </a:p>
        </p:txBody>
      </p:sp>
      <p:sp>
        <p:nvSpPr>
          <p:cNvPr id="12" name="Rounded Rectangle 1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2</a:t>
            </a:r>
          </a:p>
        </p:txBody>
      </p:sp>
      <p:sp>
        <p:nvSpPr>
          <p:cNvPr id="15" name="TextBox 14"/>
          <p:cNvSpPr txBox="1"/>
          <p:nvPr/>
        </p:nvSpPr>
        <p:spPr>
          <a:xfrm>
            <a:off x="363931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Mitochondrial query</a:t>
            </a:r>
          </a:p>
        </p:txBody>
      </p:sp>
      <p:sp>
        <p:nvSpPr>
          <p:cNvPr id="16" name="TextBox 15"/>
          <p:cNvSpPr txBox="1"/>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dirty="0">
                <a:solidFill>
                  <a:srgbClr val="0072B2"/>
                </a:solidFill>
                <a:latin typeface="Arial"/>
              </a:rPr>
              <a:t>MT DEGs</a:t>
            </a:r>
          </a:p>
        </p:txBody>
      </p:sp>
      <p:sp>
        <p:nvSpPr>
          <p:cNvPr id="17" name="Rounded Rectangle 16"/>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lang="en-US" sz="1130" b="0" i="0" dirty="0">
                <a:solidFill>
                  <a:srgbClr val="4E5A68"/>
                </a:solidFill>
                <a:latin typeface="Arial"/>
              </a:rPr>
              <a:t>Build </a:t>
            </a:r>
            <a:r>
              <a:rPr sz="1130" b="0" i="0" dirty="0">
                <a:solidFill>
                  <a:srgbClr val="4E5A68"/>
                </a:solidFill>
                <a:latin typeface="Arial"/>
              </a:rPr>
              <a:t>query per contrast</a:t>
            </a:r>
            <a:r>
              <a:rPr lang="en-US" sz="1130" b="0" i="0" dirty="0">
                <a:solidFill>
                  <a:srgbClr val="4E5A68"/>
                </a:solidFill>
                <a:latin typeface="Arial"/>
              </a:rPr>
              <a:t> with MT DEGs</a:t>
            </a:r>
            <a:endParaRPr sz="1130" b="0" i="0" dirty="0">
              <a:solidFill>
                <a:srgbClr val="4E5A68"/>
              </a:solidFill>
              <a:latin typeface="Arial"/>
            </a:endParaRPr>
          </a:p>
        </p:txBody>
      </p:sp>
      <p:sp>
        <p:nvSpPr>
          <p:cNvPr id="19" name="Rounded Rectangle 18"/>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3</a:t>
            </a:r>
          </a:p>
        </p:txBody>
      </p:sp>
      <p:sp>
        <p:nvSpPr>
          <p:cNvPr id="22" name="TextBox 21"/>
          <p:cNvSpPr txBox="1"/>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KDA run</a:t>
            </a:r>
          </a:p>
        </p:txBody>
      </p:sp>
      <p:sp>
        <p:nvSpPr>
          <p:cNvPr id="23" name="TextBox 22"/>
          <p:cNvSpPr txBox="1"/>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300" b="1" dirty="0">
                <a:solidFill>
                  <a:srgbClr val="0072B2"/>
                </a:solidFill>
                <a:latin typeface="Arial"/>
              </a:rPr>
              <a:t>Use </a:t>
            </a:r>
            <a:r>
              <a:rPr lang="en-US" sz="1300" b="1" dirty="0" err="1">
                <a:solidFill>
                  <a:srgbClr val="0072B2"/>
                </a:solidFill>
                <a:latin typeface="Arial"/>
              </a:rPr>
              <a:t>c</a:t>
            </a:r>
            <a:r>
              <a:rPr lang="en-US" sz="1300" b="1" i="0" dirty="0" err="1">
                <a:solidFill>
                  <a:srgbClr val="0072B2"/>
                </a:solidFill>
                <a:latin typeface="Arial"/>
              </a:rPr>
              <a:t>all_key_drivers</a:t>
            </a:r>
            <a:endParaRPr sz="1300" b="1" i="0" dirty="0">
              <a:solidFill>
                <a:srgbClr val="0072B2"/>
              </a:solidFill>
              <a:latin typeface="Arial"/>
            </a:endParaRPr>
          </a:p>
        </p:txBody>
      </p:sp>
      <p:sp>
        <p:nvSpPr>
          <p:cNvPr id="24" name="Rounded Rectangle 23"/>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lang="en-US" sz="1130" b="0" i="0" dirty="0">
                <a:solidFill>
                  <a:srgbClr val="4E5A68"/>
                </a:solidFill>
                <a:latin typeface="Arial"/>
              </a:rPr>
              <a:t>KDA run for valid DEG contrast valid</a:t>
            </a:r>
          </a:p>
          <a:p>
            <a:pPr algn="ctr">
              <a:lnSpc>
                <a:spcPct val="100000"/>
              </a:lnSpc>
              <a:spcBef>
                <a:spcPts val="0"/>
              </a:spcBef>
              <a:spcAft>
                <a:spcPts val="0"/>
              </a:spcAft>
            </a:pPr>
            <a:r>
              <a:rPr lang="en-US" sz="1130" dirty="0">
                <a:solidFill>
                  <a:srgbClr val="4E5A68"/>
                </a:solidFill>
                <a:latin typeface="Arial"/>
              </a:rPr>
              <a:t>n</a:t>
            </a:r>
            <a:r>
              <a:rPr lang="en-US" sz="1130" b="0" i="0" dirty="0">
                <a:solidFill>
                  <a:srgbClr val="4E5A68"/>
                </a:solidFill>
                <a:latin typeface="Arial"/>
              </a:rPr>
              <a:t>umber of genes in</a:t>
            </a:r>
            <a:r>
              <a:rPr sz="1130" b="0" i="0" dirty="0">
                <a:solidFill>
                  <a:srgbClr val="4E5A68"/>
                </a:solidFill>
                <a:latin typeface="Arial"/>
              </a:rPr>
              <a:t> query ≥ 3</a:t>
            </a:r>
          </a:p>
        </p:txBody>
      </p:sp>
      <p:sp>
        <p:nvSpPr>
          <p:cNvPr id="26" name="Rounded Rectangle 25"/>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FFFFFF"/>
                </a:solidFill>
                <a:latin typeface="Arial"/>
              </a:rPr>
              <a:t>4</a:t>
            </a:r>
          </a:p>
        </p:txBody>
      </p:sp>
      <p:sp>
        <p:nvSpPr>
          <p:cNvPr id="29" name="TextBox 28"/>
          <p:cNvSpPr txBox="1"/>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900" b="1" i="0">
                <a:solidFill>
                  <a:srgbClr val="0F233D"/>
                </a:solidFill>
                <a:latin typeface="Arial"/>
              </a:rPr>
              <a:t>Category result</a:t>
            </a:r>
          </a:p>
        </p:txBody>
      </p:sp>
      <p:sp>
        <p:nvSpPr>
          <p:cNvPr id="30" name="TextBox 29"/>
          <p:cNvSpPr txBox="1"/>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a:solidFill>
                  <a:srgbClr val="E69F00"/>
                </a:solidFill>
                <a:latin typeface="Arial"/>
              </a:rPr>
              <a:t>gene × category</a:t>
            </a:r>
          </a:p>
        </p:txBody>
      </p:sp>
      <p:sp>
        <p:nvSpPr>
          <p:cNvPr id="31" name="Rounded Rectangle 30"/>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2" name="TextBox 31"/>
          <p:cNvSpPr txBox="1"/>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lang="en-US" sz="1130" b="0" i="0" dirty="0">
                <a:solidFill>
                  <a:srgbClr val="4E5A68"/>
                </a:solidFill>
                <a:latin typeface="Arial"/>
              </a:rPr>
              <a:t>Aggregate genes across fine cell type for the same broad cell type with ACAT.</a:t>
            </a:r>
            <a:endParaRPr sz="1130" b="0" i="0" dirty="0">
              <a:solidFill>
                <a:srgbClr val="4E5A68"/>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450" b="1" i="0" dirty="0">
                <a:solidFill>
                  <a:srgbClr val="0F233D"/>
                </a:solidFill>
                <a:latin typeface="Arial"/>
              </a:rPr>
              <a:t>Summary for </a:t>
            </a:r>
            <a:r>
              <a:rPr lang="en-US" sz="2450" b="1" dirty="0">
                <a:solidFill>
                  <a:srgbClr val="0F233D"/>
                </a:solidFill>
                <a:latin typeface="Arial"/>
              </a:rPr>
              <a:t>t</a:t>
            </a:r>
            <a:r>
              <a:rPr sz="2450" b="1" i="0" dirty="0">
                <a:solidFill>
                  <a:srgbClr val="0F233D"/>
                </a:solidFill>
                <a:latin typeface="Arial"/>
              </a:rPr>
              <a:t>wo cohorts</a:t>
            </a:r>
            <a:r>
              <a:rPr lang="en-US" sz="2450" b="1" i="0" dirty="0">
                <a:solidFill>
                  <a:srgbClr val="0F233D"/>
                </a:solidFill>
                <a:latin typeface="Arial"/>
              </a:rPr>
              <a:t>: ROSMAP and SEA-AD</a:t>
            </a:r>
            <a:endParaRPr sz="2450" b="1" i="0" dirty="0">
              <a:solidFill>
                <a:srgbClr val="0F233D"/>
              </a:solidFill>
              <a:latin typeface="Arial"/>
            </a:endParaRP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Each contrast contributes at most one mitochondrial DEG query; significant non-MT returns are aggregated by category.</a:t>
            </a:r>
          </a:p>
        </p:txBody>
      </p:sp>
      <p:sp>
        <p:nvSpPr>
          <p:cNvPr id="5" name="Rounded Rectangle 4"/>
          <p:cNvSpPr/>
          <p:nvPr/>
        </p:nvSpPr>
        <p:spPr>
          <a:xfrm>
            <a:off x="585216" y="1335024"/>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627632"/>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dirty="0">
                <a:solidFill>
                  <a:srgbClr val="0072B2"/>
                </a:solidFill>
                <a:latin typeface="Arial"/>
              </a:rPr>
              <a:t>ROSMAP </a:t>
            </a:r>
            <a:r>
              <a:rPr lang="en-US" sz="1000" b="1" i="0" dirty="0">
                <a:solidFill>
                  <a:srgbClr val="0072B2"/>
                </a:solidFill>
                <a:latin typeface="Arial"/>
              </a:rPr>
              <a:t>IS THE PRIMARY</a:t>
            </a:r>
            <a:endParaRPr sz="1000" b="1" i="0" dirty="0">
              <a:solidFill>
                <a:srgbClr val="0072B2"/>
              </a:solidFill>
              <a:latin typeface="Arial"/>
            </a:endParaRPr>
          </a:p>
        </p:txBody>
      </p:sp>
      <p:sp>
        <p:nvSpPr>
          <p:cNvPr id="7" name="TextBox 6"/>
          <p:cNvSpPr txBox="1"/>
          <p:nvPr/>
        </p:nvSpPr>
        <p:spPr>
          <a:xfrm>
            <a:off x="868680"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Where does a gene recur across fine-cell evidence?</a:t>
            </a:r>
          </a:p>
        </p:txBody>
      </p:sp>
      <p:sp>
        <p:nvSpPr>
          <p:cNvPr id="8" name="Rounded Rectangle 7"/>
          <p:cNvSpPr/>
          <p:nvPr/>
        </p:nvSpPr>
        <p:spPr>
          <a:xfrm>
            <a:off x="86868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324</a:t>
            </a:r>
          </a:p>
        </p:txBody>
      </p:sp>
      <p:sp>
        <p:nvSpPr>
          <p:cNvPr id="10" name="TextBox 9"/>
          <p:cNvSpPr txBox="1"/>
          <p:nvPr/>
        </p:nvSpPr>
        <p:spPr>
          <a:xfrm>
            <a:off x="1014983"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contrasts</a:t>
            </a:r>
          </a:p>
        </p:txBody>
      </p:sp>
      <p:sp>
        <p:nvSpPr>
          <p:cNvPr id="11" name="Rounded Rectangle 10"/>
          <p:cNvSpPr/>
          <p:nvPr/>
        </p:nvSpPr>
        <p:spPr>
          <a:xfrm>
            <a:off x="2450592"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96896"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194</a:t>
            </a:r>
          </a:p>
        </p:txBody>
      </p:sp>
      <p:sp>
        <p:nvSpPr>
          <p:cNvPr id="13" name="TextBox 12"/>
          <p:cNvSpPr txBox="1"/>
          <p:nvPr/>
        </p:nvSpPr>
        <p:spPr>
          <a:xfrm>
            <a:off x="2596896" y="3246120"/>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KDA calls</a:t>
            </a:r>
          </a:p>
        </p:txBody>
      </p:sp>
      <p:sp>
        <p:nvSpPr>
          <p:cNvPr id="14" name="Rounded Rectangle 13"/>
          <p:cNvSpPr/>
          <p:nvPr/>
        </p:nvSpPr>
        <p:spPr>
          <a:xfrm>
            <a:off x="4032504"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78808"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381</a:t>
            </a:r>
          </a:p>
        </p:txBody>
      </p:sp>
      <p:sp>
        <p:nvSpPr>
          <p:cNvPr id="16" name="TextBox 15"/>
          <p:cNvSpPr txBox="1"/>
          <p:nvPr/>
        </p:nvSpPr>
        <p:spPr>
          <a:xfrm>
            <a:off x="4178808" y="3246120"/>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gene × category </a:t>
            </a:r>
            <a:r>
              <a:rPr lang="en-US" sz="960" b="1" i="0" dirty="0">
                <a:solidFill>
                  <a:srgbClr val="4E5A68"/>
                </a:solidFill>
                <a:latin typeface="Arial"/>
              </a:rPr>
              <a:t>combinations</a:t>
            </a:r>
            <a:endParaRPr sz="960" b="1" i="0" dirty="0">
              <a:solidFill>
                <a:srgbClr val="4E5A68"/>
              </a:solidFill>
              <a:latin typeface="Arial"/>
            </a:endParaRPr>
          </a:p>
        </p:txBody>
      </p:sp>
      <p:sp>
        <p:nvSpPr>
          <p:cNvPr id="17" name="Oval 16"/>
          <p:cNvSpPr/>
          <p:nvPr/>
        </p:nvSpPr>
        <p:spPr>
          <a:xfrm>
            <a:off x="877824" y="41041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4005072"/>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dirty="0">
                <a:solidFill>
                  <a:srgbClr val="1F2730"/>
                </a:solidFill>
                <a:latin typeface="Arial"/>
              </a:rPr>
              <a:t>Builds one query </a:t>
            </a:r>
            <a:r>
              <a:rPr lang="en-US" sz="1150" b="0" i="0" dirty="0">
                <a:solidFill>
                  <a:srgbClr val="1F2730"/>
                </a:solidFill>
                <a:latin typeface="Arial"/>
              </a:rPr>
              <a:t>with DEG MT genes for each</a:t>
            </a:r>
            <a:r>
              <a:rPr sz="1150" b="0" i="0" dirty="0">
                <a:solidFill>
                  <a:srgbClr val="1F2730"/>
                </a:solidFill>
                <a:latin typeface="Arial"/>
              </a:rPr>
              <a:t> contrast.</a:t>
            </a:r>
          </a:p>
        </p:txBody>
      </p:sp>
      <p:sp>
        <p:nvSpPr>
          <p:cNvPr id="19" name="Oval 18"/>
          <p:cNvSpPr/>
          <p:nvPr/>
        </p:nvSpPr>
        <p:spPr>
          <a:xfrm>
            <a:off x="877824" y="4543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1560" y="4443983"/>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150" dirty="0">
                <a:solidFill>
                  <a:srgbClr val="1F2730"/>
                </a:solidFill>
                <a:latin typeface="Arial"/>
              </a:rPr>
              <a:t>Aggregate</a:t>
            </a:r>
            <a:r>
              <a:rPr sz="1150" b="0" i="0" dirty="0">
                <a:solidFill>
                  <a:srgbClr val="1F2730"/>
                </a:solidFill>
                <a:latin typeface="Arial"/>
              </a:rPr>
              <a:t> </a:t>
            </a:r>
            <a:r>
              <a:rPr lang="en-US" sz="1150" b="0" i="0" dirty="0">
                <a:solidFill>
                  <a:srgbClr val="1F2730"/>
                </a:solidFill>
                <a:latin typeface="Arial"/>
              </a:rPr>
              <a:t>KDA returned key driver using ACAT for each category</a:t>
            </a:r>
            <a:endParaRPr sz="1150" b="0" i="0" dirty="0">
              <a:solidFill>
                <a:srgbClr val="1F2730"/>
              </a:solidFill>
              <a:latin typeface="Arial"/>
            </a:endParaRPr>
          </a:p>
        </p:txBody>
      </p:sp>
      <p:sp>
        <p:nvSpPr>
          <p:cNvPr id="21" name="Oval 20"/>
          <p:cNvSpPr/>
          <p:nvPr/>
        </p:nvSpPr>
        <p:spPr>
          <a:xfrm>
            <a:off x="877824" y="49646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4882896"/>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dirty="0">
                <a:solidFill>
                  <a:srgbClr val="1F2730"/>
                </a:solidFill>
                <a:latin typeface="Arial"/>
              </a:rPr>
              <a:t>Final 381 </a:t>
            </a:r>
            <a:r>
              <a:rPr lang="en-US" sz="1150" b="0" i="0" dirty="0">
                <a:solidFill>
                  <a:srgbClr val="1F2730"/>
                </a:solidFill>
                <a:latin typeface="Arial"/>
              </a:rPr>
              <a:t>combinations</a:t>
            </a:r>
            <a:r>
              <a:rPr sz="1150" b="0" i="0" dirty="0">
                <a:solidFill>
                  <a:srgbClr val="1F2730"/>
                </a:solidFill>
                <a:latin typeface="Arial"/>
              </a:rPr>
              <a:t> represent 228</a:t>
            </a:r>
            <a:r>
              <a:rPr lang="en-US" sz="1150" b="0" i="0" dirty="0">
                <a:solidFill>
                  <a:srgbClr val="1F2730"/>
                </a:solidFill>
                <a:latin typeface="Arial"/>
              </a:rPr>
              <a:t> unique</a:t>
            </a:r>
            <a:r>
              <a:rPr sz="1150" b="0" i="0" dirty="0">
                <a:solidFill>
                  <a:srgbClr val="1F2730"/>
                </a:solidFill>
                <a:latin typeface="Arial"/>
              </a:rPr>
              <a:t> genes in 29 categories.</a:t>
            </a:r>
          </a:p>
        </p:txBody>
      </p:sp>
      <p:sp>
        <p:nvSpPr>
          <p:cNvPr id="23" name="Rounded Rectangle 22"/>
          <p:cNvSpPr/>
          <p:nvPr/>
        </p:nvSpPr>
        <p:spPr>
          <a:xfrm>
            <a:off x="6245352" y="1335024"/>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4" name="TextBox 23"/>
          <p:cNvSpPr txBox="1"/>
          <p:nvPr/>
        </p:nvSpPr>
        <p:spPr>
          <a:xfrm>
            <a:off x="6528816" y="1627632"/>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00" b="1" i="0" dirty="0">
                <a:solidFill>
                  <a:srgbClr val="009E73"/>
                </a:solidFill>
                <a:latin typeface="Arial"/>
              </a:rPr>
              <a:t>SEA-AD </a:t>
            </a:r>
            <a:r>
              <a:rPr lang="en-US" sz="1000" b="1" i="0" dirty="0">
                <a:solidFill>
                  <a:srgbClr val="009E73"/>
                </a:solidFill>
                <a:latin typeface="Arial"/>
              </a:rPr>
              <a:t>IS FOR </a:t>
            </a:r>
            <a:r>
              <a:rPr sz="1000" b="1" i="0" dirty="0">
                <a:solidFill>
                  <a:srgbClr val="009E73"/>
                </a:solidFill>
                <a:latin typeface="Arial"/>
              </a:rPr>
              <a:t>VALIDATION</a:t>
            </a:r>
          </a:p>
        </p:txBody>
      </p:sp>
      <p:sp>
        <p:nvSpPr>
          <p:cNvPr id="25" name="TextBox 24"/>
          <p:cNvSpPr txBox="1"/>
          <p:nvPr/>
        </p:nvSpPr>
        <p:spPr>
          <a:xfrm>
            <a:off x="6528816" y="1938528"/>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Do drivers return in an independent human cohort?</a:t>
            </a:r>
          </a:p>
        </p:txBody>
      </p:sp>
      <p:sp>
        <p:nvSpPr>
          <p:cNvPr id="26" name="Rounded Rectangle 25"/>
          <p:cNvSpPr/>
          <p:nvPr/>
        </p:nvSpPr>
        <p:spPr>
          <a:xfrm>
            <a:off x="6528816"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75120"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774</a:t>
            </a:r>
          </a:p>
        </p:txBody>
      </p:sp>
      <p:sp>
        <p:nvSpPr>
          <p:cNvPr id="28" name="TextBox 27"/>
          <p:cNvSpPr txBox="1"/>
          <p:nvPr/>
        </p:nvSpPr>
        <p:spPr>
          <a:xfrm>
            <a:off x="6675120" y="3246120"/>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planned contrasts</a:t>
            </a:r>
          </a:p>
        </p:txBody>
      </p:sp>
      <p:sp>
        <p:nvSpPr>
          <p:cNvPr id="29" name="Rounded Rectangle 28"/>
          <p:cNvSpPr/>
          <p:nvPr/>
        </p:nvSpPr>
        <p:spPr>
          <a:xfrm>
            <a:off x="8110727"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57031"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22</a:t>
            </a:r>
          </a:p>
        </p:txBody>
      </p:sp>
      <p:sp>
        <p:nvSpPr>
          <p:cNvPr id="31" name="TextBox 30"/>
          <p:cNvSpPr txBox="1"/>
          <p:nvPr/>
        </p:nvSpPr>
        <p:spPr>
          <a:xfrm>
            <a:off x="8257031" y="3246120"/>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KDA calls</a:t>
            </a:r>
          </a:p>
        </p:txBody>
      </p:sp>
      <p:sp>
        <p:nvSpPr>
          <p:cNvPr id="32" name="Rounded Rectangle 31"/>
          <p:cNvSpPr/>
          <p:nvPr/>
        </p:nvSpPr>
        <p:spPr>
          <a:xfrm>
            <a:off x="9692640" y="2697480"/>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38944" y="2788920"/>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44</a:t>
            </a:r>
          </a:p>
        </p:txBody>
      </p:sp>
      <p:sp>
        <p:nvSpPr>
          <p:cNvPr id="34" name="TextBox 33"/>
          <p:cNvSpPr txBox="1"/>
          <p:nvPr/>
        </p:nvSpPr>
        <p:spPr>
          <a:xfrm>
            <a:off x="9838944" y="3246120"/>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gene × category </a:t>
            </a:r>
            <a:r>
              <a:rPr lang="en-US" sz="960" b="1" i="0" dirty="0">
                <a:solidFill>
                  <a:srgbClr val="4E5A68"/>
                </a:solidFill>
                <a:latin typeface="Arial"/>
              </a:rPr>
              <a:t>combinations</a:t>
            </a:r>
            <a:endParaRPr sz="960" b="1" i="0" dirty="0">
              <a:solidFill>
                <a:srgbClr val="4E5A68"/>
              </a:solidFill>
              <a:latin typeface="Arial"/>
            </a:endParaRPr>
          </a:p>
        </p:txBody>
      </p:sp>
      <p:sp>
        <p:nvSpPr>
          <p:cNvPr id="35" name="Oval 34"/>
          <p:cNvSpPr/>
          <p:nvPr/>
        </p:nvSpPr>
        <p:spPr>
          <a:xfrm>
            <a:off x="6537960" y="409836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11696" y="4005072"/>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50" b="0" i="0">
                <a:solidFill>
                  <a:srgbClr val="1F2730"/>
                </a:solidFill>
                <a:latin typeface="Arial"/>
              </a:rPr>
              <a:t>Uses SEA-AD-specific Bayesian networks.</a:t>
            </a:r>
          </a:p>
        </p:txBody>
      </p:sp>
      <p:sp>
        <p:nvSpPr>
          <p:cNvPr id="37" name="Oval 36"/>
          <p:cNvSpPr/>
          <p:nvPr/>
        </p:nvSpPr>
        <p:spPr>
          <a:xfrm>
            <a:off x="6537960" y="4525701"/>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11696" y="4443983"/>
            <a:ext cx="4361688" cy="232371"/>
          </a:xfrm>
          <a:prstGeom prst="rect">
            <a:avLst/>
          </a:prstGeom>
          <a:noFill/>
        </p:spPr>
        <p:txBody>
          <a:bodyPr wrap="square" lIns="27432" tIns="27432" rIns="27432" bIns="27432" anchor="t">
            <a:spAutoFit/>
          </a:bodyPr>
          <a:lstStyle/>
          <a:p>
            <a:r>
              <a:rPr lang="en-US" sz="1150" dirty="0">
                <a:solidFill>
                  <a:srgbClr val="1F2730"/>
                </a:solidFill>
                <a:latin typeface="Arial"/>
              </a:rPr>
              <a:t>Final 44 combinations represent 43 unique genes in 5 categories</a:t>
            </a:r>
          </a:p>
        </p:txBody>
      </p:sp>
      <p:sp>
        <p:nvSpPr>
          <p:cNvPr id="39" name="Oval 38"/>
          <p:cNvSpPr/>
          <p:nvPr/>
        </p:nvSpPr>
        <p:spPr>
          <a:xfrm>
            <a:off x="6537960" y="497040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F808C1F5-DF6E-552A-B558-E91DE7F48938}"/>
              </a:ext>
            </a:extLst>
          </p:cNvPr>
          <p:cNvSpPr txBox="1"/>
          <p:nvPr/>
        </p:nvSpPr>
        <p:spPr>
          <a:xfrm>
            <a:off x="6719413" y="4897322"/>
            <a:ext cx="4361688" cy="232371"/>
          </a:xfrm>
          <a:prstGeom prst="rect">
            <a:avLst/>
          </a:prstGeom>
          <a:noFill/>
        </p:spPr>
        <p:txBody>
          <a:bodyPr wrap="square" lIns="27432" tIns="27432" rIns="27432" bIns="27432" anchor="t">
            <a:spAutoFit/>
          </a:bodyPr>
          <a:lstStyle/>
          <a:p>
            <a:r>
              <a:rPr lang="en-US" sz="1150" dirty="0">
                <a:solidFill>
                  <a:srgbClr val="1F2730"/>
                </a:solidFill>
                <a:latin typeface="Arial"/>
              </a:rPr>
              <a:t>20 of 22 calls are M_e33.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0072B2"/>
                </a:solidFill>
                <a:latin typeface="Arial"/>
              </a:rPr>
              <a:t>PART </a:t>
            </a:r>
            <a:r>
              <a:rPr lang="en-US" sz="1050" b="1" i="0" dirty="0">
                <a:solidFill>
                  <a:srgbClr val="0072B2"/>
                </a:solidFill>
                <a:latin typeface="Arial"/>
              </a:rPr>
              <a:t>2</a:t>
            </a:r>
            <a:endParaRPr sz="1050" b="1" i="0" dirty="0">
              <a:solidFill>
                <a:srgbClr val="0072B2"/>
              </a:solidFill>
              <a:latin typeface="Arial"/>
            </a:endParaRPr>
          </a:p>
        </p:txBody>
      </p:sp>
      <p:sp>
        <p:nvSpPr>
          <p:cNvPr id="3" name="Rectangle 2"/>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3200" b="1" i="0" dirty="0">
                <a:solidFill>
                  <a:srgbClr val="FFFFFF"/>
                </a:solidFill>
                <a:latin typeface="Arial"/>
              </a:rPr>
              <a:t>ROSMAP KDA analysis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0072B2"/>
                </a:solidFill>
                <a:latin typeface="Arial"/>
              </a:rPr>
              <a:t>IN THIS PART</a:t>
            </a:r>
          </a:p>
        </p:txBody>
      </p:sp>
      <p:sp>
        <p:nvSpPr>
          <p:cNvPr id="8" name="Oval 7"/>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dirty="0">
                <a:solidFill>
                  <a:srgbClr val="FFFFFF"/>
                </a:solidFill>
                <a:latin typeface="Arial"/>
              </a:rPr>
              <a:t>Run</a:t>
            </a:r>
            <a:r>
              <a:rPr lang="en-US" sz="1110" b="1" i="0" dirty="0">
                <a:solidFill>
                  <a:srgbClr val="FFFFFF"/>
                </a:solidFill>
                <a:latin typeface="Arial"/>
              </a:rPr>
              <a:t> DEG</a:t>
            </a:r>
            <a:endParaRPr sz="1110" b="1" i="0" dirty="0">
              <a:solidFill>
                <a:srgbClr val="FFFFFF"/>
              </a:solidFill>
              <a:latin typeface="Arial"/>
            </a:endParaRPr>
          </a:p>
        </p:txBody>
      </p:sp>
      <p:sp>
        <p:nvSpPr>
          <p:cNvPr id="11" name="Oval 10"/>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110" b="1" i="0" dirty="0">
                <a:solidFill>
                  <a:srgbClr val="FFFFFF"/>
                </a:solidFill>
                <a:latin typeface="Arial"/>
              </a:rPr>
              <a:t>Call key </a:t>
            </a:r>
            <a:r>
              <a:rPr lang="en-US" sz="1110" b="1" dirty="0">
                <a:solidFill>
                  <a:srgbClr val="FFFFFF"/>
                </a:solidFill>
                <a:latin typeface="Arial"/>
              </a:rPr>
              <a:t>driver</a:t>
            </a:r>
            <a:endParaRPr sz="1110" b="1" i="0" dirty="0">
              <a:solidFill>
                <a:srgbClr val="FFFFFF"/>
              </a:solidFill>
              <a:latin typeface="Arial"/>
            </a:endParaRPr>
          </a:p>
        </p:txBody>
      </p:sp>
      <p:sp>
        <p:nvSpPr>
          <p:cNvPr id="14" name="Oval 13"/>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dirty="0">
                <a:solidFill>
                  <a:srgbClr val="FFFFFF"/>
                </a:solidFill>
                <a:latin typeface="Arial"/>
              </a:rPr>
              <a:t>ACAT </a:t>
            </a:r>
            <a:r>
              <a:rPr lang="en-US" sz="1110" b="1" i="0" dirty="0">
                <a:solidFill>
                  <a:srgbClr val="FFFFFF"/>
                </a:solidFill>
                <a:latin typeface="Arial"/>
              </a:rPr>
              <a:t>aggregation</a:t>
            </a:r>
            <a:endParaRPr sz="1110" b="1" i="0" dirty="0">
              <a:solidFill>
                <a:srgbClr val="FFFFFF"/>
              </a:solidFill>
              <a:latin typeface="Arial"/>
            </a:endParaRPr>
          </a:p>
        </p:txBody>
      </p:sp>
      <p:sp>
        <p:nvSpPr>
          <p:cNvPr id="17" name="Oval 16"/>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dirty="0">
                <a:solidFill>
                  <a:srgbClr val="FFFFFF"/>
                </a:solidFill>
                <a:latin typeface="Arial"/>
              </a:rPr>
              <a:t>Result </a:t>
            </a:r>
            <a:r>
              <a:rPr lang="en-US" sz="1110" b="1" i="0" dirty="0">
                <a:solidFill>
                  <a:srgbClr val="FFFFFF"/>
                </a:solidFill>
                <a:latin typeface="Arial"/>
              </a:rPr>
              <a:t>analysis</a:t>
            </a:r>
            <a:endParaRPr sz="1110" b="1" i="0" dirty="0">
              <a:solidFill>
                <a:srgbClr val="FFFFFF"/>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54 fine cell types create 324 planned contrasts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Each contrast contributes one mitochondrial DEG query and at most one KDA call.</a:t>
            </a:r>
          </a:p>
        </p:txBody>
      </p:sp>
      <p:sp>
        <p:nvSpPr>
          <p:cNvPr id="5" name="Rounded Rectangle 4"/>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54 fine cell types</a:t>
            </a:r>
          </a:p>
        </p:txBody>
      </p:sp>
      <p:sp>
        <p:nvSpPr>
          <p:cNvPr id="7" name="TextBox 6"/>
          <p:cNvSpPr txBox="1"/>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dirty="0">
                <a:solidFill>
                  <a:srgbClr val="0072B2"/>
                </a:solidFill>
                <a:latin typeface="Arial"/>
              </a:rPr>
              <a:t>× 6 sex/APOE groups = 324 </a:t>
            </a:r>
            <a:r>
              <a:rPr lang="en-US" sz="1240" b="1" i="0" dirty="0">
                <a:solidFill>
                  <a:srgbClr val="0072B2"/>
                </a:solidFill>
                <a:latin typeface="Arial"/>
              </a:rPr>
              <a:t>contrasts</a:t>
            </a:r>
            <a:endParaRPr sz="1240" b="1" i="0" dirty="0">
              <a:solidFill>
                <a:srgbClr val="0072B2"/>
              </a:solidFill>
              <a:latin typeface="Arial"/>
            </a:endParaRPr>
          </a:p>
        </p:txBody>
      </p:sp>
      <p:sp>
        <p:nvSpPr>
          <p:cNvPr id="8" name="Rounded Rectangle 7"/>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dirty="0">
                <a:solidFill>
                  <a:srgbClr val="0F233D"/>
                </a:solidFill>
                <a:latin typeface="Arial"/>
              </a:rPr>
              <a:t>324 </a:t>
            </a:r>
            <a:r>
              <a:rPr lang="en-US" sz="1900" b="1" i="0" dirty="0">
                <a:solidFill>
                  <a:srgbClr val="0F233D"/>
                </a:solidFill>
                <a:latin typeface="Arial"/>
              </a:rPr>
              <a:t>DEG contrasts</a:t>
            </a:r>
            <a:endParaRPr sz="1900" b="1" i="0" dirty="0">
              <a:solidFill>
                <a:srgbClr val="0F233D"/>
              </a:solidFill>
              <a:latin typeface="Arial"/>
            </a:endParaRPr>
          </a:p>
        </p:txBody>
      </p:sp>
      <p:sp>
        <p:nvSpPr>
          <p:cNvPr id="10" name="TextBox 9"/>
          <p:cNvSpPr txBox="1"/>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40" b="1" i="0">
                <a:solidFill>
                  <a:srgbClr val="0072B2"/>
                </a:solidFill>
                <a:latin typeface="Arial"/>
              </a:rPr>
              <a:t>one query per contrast</a:t>
            </a:r>
          </a:p>
        </p:txBody>
      </p:sp>
      <p:sp>
        <p:nvSpPr>
          <p:cNvPr id="11" name="Rounded Rectangle 10"/>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dirty="0">
                <a:solidFill>
                  <a:srgbClr val="0F233D"/>
                </a:solidFill>
                <a:latin typeface="Arial"/>
              </a:rPr>
              <a:t>194 call_key_drivers calls</a:t>
            </a:r>
          </a:p>
        </p:txBody>
      </p:sp>
      <p:sp>
        <p:nvSpPr>
          <p:cNvPr id="13" name="TextBox 12"/>
          <p:cNvSpPr txBox="1"/>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40" b="1" i="0" dirty="0">
                <a:solidFill>
                  <a:srgbClr val="009E73"/>
                </a:solidFill>
                <a:latin typeface="Arial"/>
              </a:rPr>
              <a:t>All valid</a:t>
            </a:r>
            <a:r>
              <a:rPr lang="en-US" sz="1040" b="1" i="0" dirty="0">
                <a:solidFill>
                  <a:srgbClr val="009E73"/>
                </a:solidFill>
                <a:latin typeface="Arial"/>
              </a:rPr>
              <a:t> DEG contrast and</a:t>
            </a:r>
            <a:r>
              <a:rPr sz="1040" b="1" i="0" dirty="0">
                <a:solidFill>
                  <a:srgbClr val="009E73"/>
                </a:solidFill>
                <a:latin typeface="Arial"/>
              </a:rPr>
              <a:t> </a:t>
            </a:r>
            <a:r>
              <a:rPr lang="en-US" sz="1040" b="1" i="0" dirty="0">
                <a:solidFill>
                  <a:srgbClr val="009E73"/>
                </a:solidFill>
                <a:latin typeface="Arial"/>
              </a:rPr>
              <a:t>number of genes in </a:t>
            </a:r>
            <a:r>
              <a:rPr sz="1040" b="1" i="0" dirty="0">
                <a:solidFill>
                  <a:srgbClr val="009E73"/>
                </a:solidFill>
                <a:latin typeface="Arial"/>
              </a:rPr>
              <a:t>queries ≥3</a:t>
            </a:r>
          </a:p>
        </p:txBody>
      </p:sp>
      <p:sp>
        <p:nvSpPr>
          <p:cNvPr id="14" name="Rectangle 13"/>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Mutually exclusive contrast outcome</a:t>
            </a:r>
          </a:p>
        </p:txBody>
      </p:sp>
      <p:sp>
        <p:nvSpPr>
          <p:cNvPr id="16" name="Rectangle 15"/>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Contrasts</a:t>
            </a:r>
          </a:p>
        </p:txBody>
      </p:sp>
      <p:sp>
        <p:nvSpPr>
          <p:cNvPr id="18" name="Rectangle 17"/>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0" b="1" i="0">
                <a:solidFill>
                  <a:srgbClr val="FFFFFF"/>
                </a:solidFill>
                <a:latin typeface="Arial"/>
              </a:rPr>
              <a:t>KDA called?</a:t>
            </a:r>
          </a:p>
        </p:txBody>
      </p:sp>
      <p:sp>
        <p:nvSpPr>
          <p:cNvPr id="22" name="Rectangle 2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Source DEG contrast not </a:t>
            </a:r>
            <a:r>
              <a:rPr lang="en-US" sz="950" b="0" i="0" dirty="0">
                <a:solidFill>
                  <a:srgbClr val="1F2730"/>
                </a:solidFill>
                <a:latin typeface="Arial"/>
              </a:rPr>
              <a:t>valid</a:t>
            </a:r>
            <a:endParaRPr sz="950" b="0" i="0" dirty="0">
              <a:solidFill>
                <a:srgbClr val="1F2730"/>
              </a:solidFill>
              <a:latin typeface="Arial"/>
            </a:endParaRPr>
          </a:p>
        </p:txBody>
      </p:sp>
      <p:sp>
        <p:nvSpPr>
          <p:cNvPr id="24" name="Rectangle 23"/>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3</a:t>
            </a:r>
          </a:p>
        </p:txBody>
      </p:sp>
      <p:sp>
        <p:nvSpPr>
          <p:cNvPr id="26" name="Rectangle 25"/>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0" name="Rectangle 29"/>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95560" y="3908846"/>
            <a:ext cx="5513832" cy="201594"/>
          </a:xfrm>
          <a:prstGeom prst="rect">
            <a:avLst/>
          </a:prstGeom>
          <a:noFill/>
        </p:spPr>
        <p:txBody>
          <a:bodyPr wrap="square" lIns="27432" tIns="27432" rIns="27432" bIns="27432" anchor="ctr">
            <a:spAutoFit/>
          </a:bodyPr>
          <a:lstStyle/>
          <a:p>
            <a:r>
              <a:rPr lang="en-US" sz="900" dirty="0">
                <a:solidFill>
                  <a:srgbClr val="1F2730"/>
                </a:solidFill>
                <a:latin typeface="Arial"/>
              </a:rPr>
              <a:t>Number of genes in query: 0</a:t>
            </a:r>
            <a:endParaRPr sz="950" b="0" i="0" dirty="0">
              <a:solidFill>
                <a:srgbClr val="1F2730"/>
              </a:solidFill>
              <a:latin typeface="Arial"/>
            </a:endParaRPr>
          </a:p>
        </p:txBody>
      </p:sp>
      <p:sp>
        <p:nvSpPr>
          <p:cNvPr id="32" name="Rectangle 3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95</a:t>
            </a:r>
          </a:p>
        </p:txBody>
      </p:sp>
      <p:sp>
        <p:nvSpPr>
          <p:cNvPr id="34" name="Rectangle 33"/>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38" name="Rectangle 37"/>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895560" y="4356132"/>
            <a:ext cx="5513832" cy="203133"/>
          </a:xfrm>
          <a:prstGeom prst="rect">
            <a:avLst/>
          </a:prstGeom>
          <a:noFill/>
        </p:spPr>
        <p:txBody>
          <a:bodyPr wrap="square" lIns="27432" tIns="27432" rIns="27432" bIns="27432" anchor="ctr">
            <a:spAutoFit/>
          </a:bodyPr>
          <a:lstStyle/>
          <a:p>
            <a:r>
              <a:rPr lang="en-US" sz="900" dirty="0">
                <a:solidFill>
                  <a:srgbClr val="1F2730"/>
                </a:solidFill>
                <a:latin typeface="Arial"/>
              </a:rPr>
              <a:t>Number of genes in query: </a:t>
            </a:r>
            <a:r>
              <a:rPr sz="950" b="0" i="0" dirty="0">
                <a:solidFill>
                  <a:srgbClr val="1F2730"/>
                </a:solidFill>
                <a:latin typeface="Arial"/>
              </a:rPr>
              <a:t>1–2</a:t>
            </a:r>
          </a:p>
        </p:txBody>
      </p:sp>
      <p:sp>
        <p:nvSpPr>
          <p:cNvPr id="40" name="Rectangle 39"/>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32</a:t>
            </a:r>
          </a:p>
        </p:txBody>
      </p:sp>
      <p:sp>
        <p:nvSpPr>
          <p:cNvPr id="42" name="Rectangle 4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a:solidFill>
                  <a:srgbClr val="1F2730"/>
                </a:solidFill>
                <a:latin typeface="Arial"/>
              </a:rPr>
              <a:t>No</a:t>
            </a:r>
          </a:p>
        </p:txBody>
      </p:sp>
      <p:sp>
        <p:nvSpPr>
          <p:cNvPr id="46" name="Rectangle 45"/>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895560" y="4804958"/>
            <a:ext cx="5513832" cy="201594"/>
          </a:xfrm>
          <a:prstGeom prst="rect">
            <a:avLst/>
          </a:prstGeom>
          <a:noFill/>
        </p:spPr>
        <p:txBody>
          <a:bodyPr wrap="square" lIns="27432" tIns="27432" rIns="27432" bIns="27432" anchor="ctr">
            <a:spAutoFit/>
          </a:bodyPr>
          <a:lstStyle/>
          <a:p>
            <a:r>
              <a:rPr lang="en-US" sz="900" dirty="0">
                <a:solidFill>
                  <a:srgbClr val="1F2730"/>
                </a:solidFill>
                <a:latin typeface="Arial"/>
              </a:rPr>
              <a:t>Number of genes in query: </a:t>
            </a:r>
            <a:r>
              <a:rPr lang="en-US" sz="950" dirty="0">
                <a:solidFill>
                  <a:srgbClr val="1F2730"/>
                </a:solidFill>
                <a:latin typeface="Arial"/>
              </a:rPr>
              <a:t>&gt;=3</a:t>
            </a:r>
            <a:endParaRPr sz="950" b="0" i="0" dirty="0">
              <a:solidFill>
                <a:srgbClr val="1F2730"/>
              </a:solidFill>
              <a:latin typeface="Arial"/>
            </a:endParaRPr>
          </a:p>
        </p:txBody>
      </p:sp>
      <p:sp>
        <p:nvSpPr>
          <p:cNvPr id="48" name="Rectangle 47"/>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50" b="0" i="0" dirty="0">
                <a:solidFill>
                  <a:srgbClr val="1F2730"/>
                </a:solidFill>
                <a:latin typeface="Arial"/>
              </a:rPr>
              <a:t>194</a:t>
            </a:r>
            <a:endParaRPr sz="950" b="0" i="0" dirty="0">
              <a:solidFill>
                <a:srgbClr val="1F2730"/>
              </a:solidFill>
              <a:latin typeface="Arial"/>
            </a:endParaRPr>
          </a:p>
        </p:txBody>
      </p:sp>
      <p:sp>
        <p:nvSpPr>
          <p:cNvPr id="50" name="Rectangle 49"/>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0" i="0" dirty="0">
                <a:solidFill>
                  <a:srgbClr val="1F2730"/>
                </a:solidFill>
                <a:latin typeface="Arial"/>
              </a:rPr>
              <a:t>Yes</a:t>
            </a:r>
          </a:p>
        </p:txBody>
      </p:sp>
      <p:sp>
        <p:nvSpPr>
          <p:cNvPr id="62" name="Rectangle 6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TOTAL</a:t>
            </a:r>
          </a:p>
        </p:txBody>
      </p:sp>
      <p:sp>
        <p:nvSpPr>
          <p:cNvPr id="64" name="Rectangle 63"/>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324</a:t>
            </a:r>
          </a:p>
        </p:txBody>
      </p:sp>
      <p:sp>
        <p:nvSpPr>
          <p:cNvPr id="66" name="Rectangle 65"/>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50" b="1" i="0">
                <a:solidFill>
                  <a:srgbClr val="1F2730"/>
                </a:solidFill>
                <a:latin typeface="Arial"/>
              </a:rPr>
              <a:t>194 calls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S</a:t>
            </a:r>
            <a:r>
              <a:rPr sz="2100" b="1" i="0" dirty="0">
                <a:solidFill>
                  <a:srgbClr val="0F233D"/>
                </a:solidFill>
                <a:latin typeface="Arial"/>
              </a:rPr>
              <a:t>ource validity and query size decide whether KDA is called</a:t>
            </a:r>
          </a:p>
        </p:txBody>
      </p:sp>
      <p:sp>
        <p:nvSpPr>
          <p:cNvPr id="5" name="Rounded Rectangle 4"/>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One canonical query-size gate</a:t>
            </a:r>
          </a:p>
        </p:txBody>
      </p:sp>
      <p:sp>
        <p:nvSpPr>
          <p:cNvPr id="8" name="Rounded Rectangle 7"/>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a:t>
            </a:r>
          </a:p>
        </p:txBody>
      </p:sp>
      <p:sp>
        <p:nvSpPr>
          <p:cNvPr id="11" name="Rounded Rectangle 10"/>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500" b="1" i="0" dirty="0">
                <a:solidFill>
                  <a:srgbClr val="00684D"/>
                </a:solidFill>
                <a:latin typeface="Arial"/>
              </a:rPr>
              <a:t>194</a:t>
            </a:r>
            <a:endParaRPr sz="2500" b="1" i="0" dirty="0">
              <a:solidFill>
                <a:srgbClr val="00684D"/>
              </a:solidFill>
              <a:latin typeface="Arial"/>
            </a:endParaRPr>
          </a:p>
        </p:txBody>
      </p:sp>
      <p:sp>
        <p:nvSpPr>
          <p:cNvPr id="13" name="TextBox 12"/>
          <p:cNvSpPr txBox="1"/>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dirty="0">
                <a:solidFill>
                  <a:srgbClr val="4E5A68"/>
                </a:solidFill>
                <a:latin typeface="Arial"/>
              </a:rPr>
              <a:t>included KDA calls</a:t>
            </a:r>
          </a:p>
        </p:txBody>
      </p:sp>
      <p:sp>
        <p:nvSpPr>
          <p:cNvPr id="14" name="Oval 13"/>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All 194 validated completed calls enter the aggregate.</a:t>
            </a:r>
          </a:p>
        </p:txBody>
      </p:sp>
      <p:sp>
        <p:nvSpPr>
          <p:cNvPr id="16" name="Oval 15"/>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dirty="0">
                <a:solidFill>
                  <a:srgbClr val="1F2730"/>
                </a:solidFill>
                <a:latin typeface="Arial"/>
              </a:rPr>
              <a:t>164 significant • 30 completed empty</a:t>
            </a:r>
          </a:p>
        </p:txBody>
      </p:sp>
      <p:sp>
        <p:nvSpPr>
          <p:cNvPr id="18" name="Oval 17"/>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0" i="0">
                <a:solidFill>
                  <a:srgbClr val="1F2730"/>
                </a:solidFill>
                <a:latin typeface="Arial"/>
              </a:rPr>
              <a:t>The 164 significant calls returned 1,833 rows before mitochondrial filtering.</a:t>
            </a:r>
          </a:p>
        </p:txBody>
      </p:sp>
      <p:sp>
        <p:nvSpPr>
          <p:cNvPr id="20" name="Rounded Rectangle 19"/>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What ‘source contrast not </a:t>
            </a:r>
            <a:r>
              <a:rPr lang="en-US" sz="1520" b="1" i="0" dirty="0">
                <a:solidFill>
                  <a:srgbClr val="0F233D"/>
                </a:solidFill>
                <a:latin typeface="Arial"/>
              </a:rPr>
              <a:t>valid</a:t>
            </a:r>
            <a:r>
              <a:rPr sz="1520" b="1" i="0" dirty="0">
                <a:solidFill>
                  <a:srgbClr val="0F233D"/>
                </a:solidFill>
                <a:latin typeface="Arial"/>
              </a:rPr>
              <a:t>’ means</a:t>
            </a:r>
          </a:p>
        </p:txBody>
      </p:sp>
      <p:sp>
        <p:nvSpPr>
          <p:cNvPr id="23" name="TextBox 22"/>
          <p:cNvSpPr txBox="1"/>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1" i="0" dirty="0">
                <a:solidFill>
                  <a:srgbClr val="0F233D"/>
                </a:solidFill>
                <a:latin typeface="Arial"/>
              </a:rPr>
              <a:t>The upstream MAST comparison could not be fitted because one arm had fewer than </a:t>
            </a:r>
            <a:r>
              <a:rPr sz="1400" b="1" i="0" dirty="0">
                <a:solidFill>
                  <a:srgbClr val="FF0000"/>
                </a:solidFill>
                <a:latin typeface="Arial"/>
              </a:rPr>
              <a:t>three</a:t>
            </a:r>
            <a:r>
              <a:rPr sz="1400" b="1" i="0" dirty="0">
                <a:solidFill>
                  <a:srgbClr val="0F233D"/>
                </a:solidFill>
                <a:latin typeface="Arial"/>
              </a:rPr>
              <a:t> cells.</a:t>
            </a:r>
          </a:p>
        </p:txBody>
      </p:sp>
      <p:sp>
        <p:nvSpPr>
          <p:cNvPr id="24" name="Rectangle 23"/>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Fine cell type</a:t>
            </a:r>
          </a:p>
        </p:txBody>
      </p:sp>
      <p:sp>
        <p:nvSpPr>
          <p:cNvPr id="26" name="Rectangle 25"/>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Group</a:t>
            </a:r>
          </a:p>
        </p:txBody>
      </p:sp>
      <p:sp>
        <p:nvSpPr>
          <p:cNvPr id="28" name="Rectangle 27"/>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AD cells</a:t>
            </a:r>
          </a:p>
        </p:txBody>
      </p:sp>
      <p:sp>
        <p:nvSpPr>
          <p:cNvPr id="30" name="Rectangle 29"/>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40" b="1" i="0">
                <a:solidFill>
                  <a:srgbClr val="FFFFFF"/>
                </a:solidFill>
                <a:latin typeface="Arial"/>
              </a:rPr>
              <a:t>NCI cells</a:t>
            </a:r>
          </a:p>
        </p:txBody>
      </p:sp>
      <p:sp>
        <p:nvSpPr>
          <p:cNvPr id="32" name="Rectangle 3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Fib SLC4A4</a:t>
            </a:r>
          </a:p>
        </p:txBody>
      </p:sp>
      <p:sp>
        <p:nvSpPr>
          <p:cNvPr id="34" name="Rectangle 33"/>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36" name="Rectangle 35"/>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0</a:t>
            </a:r>
          </a:p>
        </p:txBody>
      </p:sp>
      <p:sp>
        <p:nvSpPr>
          <p:cNvPr id="38" name="Rectangle 37"/>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11</a:t>
            </a:r>
          </a:p>
        </p:txBody>
      </p:sp>
      <p:sp>
        <p:nvSpPr>
          <p:cNvPr id="40" name="Rectangle 39"/>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CAMs</a:t>
            </a:r>
          </a:p>
        </p:txBody>
      </p:sp>
      <p:sp>
        <p:nvSpPr>
          <p:cNvPr id="42" name="Rectangle 4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44" name="Rectangle 43"/>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45</a:t>
            </a:r>
          </a:p>
        </p:txBody>
      </p:sp>
      <p:sp>
        <p:nvSpPr>
          <p:cNvPr id="46" name="Rectangle 45"/>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1</a:t>
            </a:r>
          </a:p>
        </p:txBody>
      </p:sp>
      <p:sp>
        <p:nvSpPr>
          <p:cNvPr id="48" name="Rectangle 47"/>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Mic MKI67</a:t>
            </a:r>
          </a:p>
        </p:txBody>
      </p:sp>
      <p:sp>
        <p:nvSpPr>
          <p:cNvPr id="50" name="Rectangle 49"/>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M_e2</a:t>
            </a:r>
          </a:p>
        </p:txBody>
      </p:sp>
      <p:sp>
        <p:nvSpPr>
          <p:cNvPr id="52" name="Rectangle 5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2</a:t>
            </a:r>
          </a:p>
        </p:txBody>
      </p:sp>
      <p:sp>
        <p:nvSpPr>
          <p:cNvPr id="54" name="Rectangle 53"/>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80" b="0" i="0">
                <a:solidFill>
                  <a:srgbClr val="1F2730"/>
                </a:solidFill>
                <a:latin typeface="Arial"/>
              </a:rPr>
              <a:t>9</a:t>
            </a:r>
          </a:p>
        </p:txBody>
      </p:sp>
      <p:sp>
        <p:nvSpPr>
          <p:cNvPr id="56" name="TextBox 55"/>
          <p:cNvSpPr txBox="1"/>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350" b="1" i="0">
                <a:solidFill>
                  <a:srgbClr val="D55E00"/>
                </a:solidFill>
                <a:latin typeface="Arial"/>
              </a:rPr>
              <a:t>3 unavailable comparisons = 3 unavailable KDA calls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M</a:t>
            </a:r>
            <a:r>
              <a:rPr sz="2100" b="1" i="0" dirty="0">
                <a:solidFill>
                  <a:srgbClr val="0F233D"/>
                </a:solidFill>
                <a:latin typeface="Arial"/>
              </a:rPr>
              <a:t>itochondrial query genes</a:t>
            </a:r>
          </a:p>
        </p:txBody>
      </p:sp>
      <p:sp>
        <p:nvSpPr>
          <p:cNvPr id="5" name="Rounded Rectangle 4"/>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DEG rule</a:t>
            </a:r>
          </a:p>
        </p:txBody>
      </p:sp>
      <p:sp>
        <p:nvSpPr>
          <p:cNvPr id="8" name="Oval 7"/>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Detected in ≥10% of AD or NCI nuclei.</a:t>
            </a:r>
          </a:p>
        </p:txBody>
      </p:sp>
      <p:sp>
        <p:nvSpPr>
          <p:cNvPr id="10" name="Oval 9"/>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Within-contrast BH FDR &lt; 0.05.</a:t>
            </a:r>
          </a:p>
        </p:txBody>
      </p:sp>
      <p:sp>
        <p:nvSpPr>
          <p:cNvPr id="12" name="Oval 1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a:solidFill>
                  <a:srgbClr val="1F2730"/>
                </a:solidFill>
                <a:latin typeface="Arial"/>
              </a:rPr>
              <a:t>|log₂ fold change| &gt; log₂(1.3) ≈ 0.379.</a:t>
            </a:r>
          </a:p>
        </p:txBody>
      </p:sp>
      <p:sp>
        <p:nvSpPr>
          <p:cNvPr id="14" name="Oval 13"/>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40" b="0" i="0" dirty="0">
                <a:solidFill>
                  <a:srgbClr val="1F2730"/>
                </a:solidFill>
                <a:latin typeface="Arial"/>
              </a:rPr>
              <a:t>Significant positive and negative DEGs enter the query.</a:t>
            </a:r>
          </a:p>
        </p:txBody>
      </p:sp>
      <p:sp>
        <p:nvSpPr>
          <p:cNvPr id="16" name="Rounded Rectangle 15"/>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dirty="0">
                <a:solidFill>
                  <a:srgbClr val="0F233D"/>
                </a:solidFill>
                <a:latin typeface="Arial"/>
              </a:rPr>
              <a:t>Query = DEG rule ∩ core_mito_protein</a:t>
            </a:r>
          </a:p>
        </p:txBody>
      </p:sp>
      <p:sp>
        <p:nvSpPr>
          <p:cNvPr id="18" name="Rounded Rectangle 17"/>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2,864,117</a:t>
            </a:r>
          </a:p>
        </p:txBody>
      </p:sp>
      <p:sp>
        <p:nvSpPr>
          <p:cNvPr id="20" name="TextBox 19"/>
          <p:cNvSpPr txBox="1"/>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80" b="1" i="0">
                <a:solidFill>
                  <a:srgbClr val="4E5A68"/>
                </a:solidFill>
                <a:latin typeface="Arial"/>
              </a:rPr>
              <a:t>tested gene × comparison rows</a:t>
            </a:r>
          </a:p>
        </p:txBody>
      </p:sp>
      <p:sp>
        <p:nvSpPr>
          <p:cNvPr id="21" name="Rounded Rectangle 20"/>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118,297</a:t>
            </a:r>
          </a:p>
        </p:txBody>
      </p:sp>
      <p:sp>
        <p:nvSpPr>
          <p:cNvPr id="23" name="TextBox 22"/>
          <p:cNvSpPr txBox="1"/>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960" b="1" i="0" dirty="0">
                <a:solidFill>
                  <a:srgbClr val="4E5A68"/>
                </a:solidFill>
                <a:latin typeface="Arial"/>
              </a:rPr>
              <a:t>Passed </a:t>
            </a:r>
            <a:r>
              <a:rPr sz="960" b="1" i="0" dirty="0">
                <a:solidFill>
                  <a:srgbClr val="4E5A68"/>
                </a:solidFill>
                <a:latin typeface="Arial"/>
              </a:rPr>
              <a:t>DEG</a:t>
            </a:r>
          </a:p>
        </p:txBody>
      </p:sp>
      <p:sp>
        <p:nvSpPr>
          <p:cNvPr id="24" name="TextBox 23"/>
          <p:cNvSpPr txBox="1"/>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58,112 up • 60,185 down</a:t>
            </a:r>
          </a:p>
        </p:txBody>
      </p:sp>
      <p:sp>
        <p:nvSpPr>
          <p:cNvPr id="25" name="Rounded Rectangle 24"/>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9,262</a:t>
            </a:r>
          </a:p>
        </p:txBody>
      </p:sp>
      <p:sp>
        <p:nvSpPr>
          <p:cNvPr id="27" name="TextBox 26"/>
          <p:cNvSpPr txBox="1"/>
          <p:nvPr/>
        </p:nvSpPr>
        <p:spPr>
          <a:xfrm>
            <a:off x="9235440"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core-MT query </a:t>
            </a:r>
            <a:r>
              <a:rPr lang="en-US" sz="960" b="1" i="0" dirty="0">
                <a:solidFill>
                  <a:srgbClr val="4E5A68"/>
                </a:solidFill>
                <a:latin typeface="Arial"/>
              </a:rPr>
              <a:t>genes</a:t>
            </a:r>
            <a:endParaRPr sz="960" b="1" i="0" dirty="0">
              <a:solidFill>
                <a:srgbClr val="4E5A68"/>
              </a:solidFill>
              <a:latin typeface="Arial"/>
            </a:endParaRPr>
          </a:p>
        </p:txBody>
      </p:sp>
      <p:sp>
        <p:nvSpPr>
          <p:cNvPr id="28" name="TextBox 27"/>
          <p:cNvSpPr txBox="1"/>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780" b="0" i="0">
                <a:solidFill>
                  <a:srgbClr val="6C7988"/>
                </a:solidFill>
                <a:latin typeface="Arial"/>
              </a:rPr>
              <a:t>4,258 up • 5,004 down</a:t>
            </a:r>
          </a:p>
        </p:txBody>
      </p:sp>
      <p:sp>
        <p:nvSpPr>
          <p:cNvPr id="29" name="Rounded Rectangle 28"/>
          <p:cNvSpPr/>
          <p:nvPr/>
        </p:nvSpPr>
        <p:spPr>
          <a:xfrm>
            <a:off x="4626864" y="3017520"/>
            <a:ext cx="6528816" cy="239572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50" b="1" i="0">
                <a:solidFill>
                  <a:srgbClr val="009E73"/>
                </a:solidFill>
                <a:latin typeface="Arial"/>
              </a:rPr>
              <a:t>NETWORK-BACKGROUND INTERSECTION</a:t>
            </a:r>
          </a:p>
        </p:txBody>
      </p:sp>
      <p:sp>
        <p:nvSpPr>
          <p:cNvPr id="31" name="TextBox 30"/>
          <p:cNvSpPr txBox="1"/>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50" b="1" i="0" dirty="0">
                <a:solidFill>
                  <a:srgbClr val="0F233D"/>
                </a:solidFill>
                <a:latin typeface="Arial"/>
              </a:rPr>
              <a:t>9,262 provisional query </a:t>
            </a:r>
            <a:r>
              <a:rPr lang="en-US" sz="1750" b="1" i="0" dirty="0">
                <a:solidFill>
                  <a:srgbClr val="0F233D"/>
                </a:solidFill>
                <a:latin typeface="Arial"/>
              </a:rPr>
              <a:t>genes</a:t>
            </a:r>
            <a:endParaRPr sz="1750" b="1" i="0" dirty="0">
              <a:solidFill>
                <a:srgbClr val="0F233D"/>
              </a:solidFill>
              <a:latin typeface="Arial"/>
            </a:endParaRPr>
          </a:p>
        </p:txBody>
      </p:sp>
      <p:sp>
        <p:nvSpPr>
          <p:cNvPr id="32" name="TextBox 31"/>
          <p:cNvSpPr txBox="1"/>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1" i="0" dirty="0">
                <a:solidFill>
                  <a:srgbClr val="D55E00"/>
                </a:solidFill>
                <a:latin typeface="Arial"/>
              </a:rPr>
              <a:t>− 1,329 absent from the </a:t>
            </a:r>
            <a:r>
              <a:rPr lang="en-US" sz="1300" b="1" dirty="0">
                <a:solidFill>
                  <a:srgbClr val="D55E00"/>
                </a:solidFill>
                <a:latin typeface="Arial"/>
              </a:rPr>
              <a:t>Bayesian network</a:t>
            </a:r>
            <a:endParaRPr sz="1300" b="1" i="0" dirty="0">
              <a:solidFill>
                <a:srgbClr val="D55E00"/>
              </a:solidFill>
              <a:latin typeface="Arial"/>
            </a:endParaRPr>
          </a:p>
        </p:txBody>
      </p:sp>
      <p:sp>
        <p:nvSpPr>
          <p:cNvPr id="33" name="TextBox 32"/>
          <p:cNvSpPr txBox="1"/>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800" b="1" i="0" dirty="0">
                <a:solidFill>
                  <a:srgbClr val="009E73"/>
                </a:solidFill>
                <a:latin typeface="Arial"/>
              </a:rPr>
              <a:t>= 7,933 query </a:t>
            </a:r>
            <a:r>
              <a:rPr lang="en-US" sz="1800" b="1" i="0" dirty="0">
                <a:solidFill>
                  <a:srgbClr val="009E73"/>
                </a:solidFill>
                <a:latin typeface="Arial"/>
              </a:rPr>
              <a:t>genes</a:t>
            </a:r>
            <a:endParaRPr sz="1800" b="1" i="0" dirty="0">
              <a:solidFill>
                <a:srgbClr val="009E73"/>
              </a:solidFill>
              <a:latin typeface="Arial"/>
            </a:endParaRPr>
          </a:p>
        </p:txBody>
      </p:sp>
      <p:sp>
        <p:nvSpPr>
          <p:cNvPr id="34" name="TextBox 33"/>
          <p:cNvSpPr txBox="1"/>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40" b="0" i="0">
                <a:solidFill>
                  <a:srgbClr val="4E5A68"/>
                </a:solidFill>
                <a:latin typeface="Arial"/>
              </a:rPr>
              <a:t>Membership counts can repeat genes across contrasts; each contrast contributes one query.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2100" b="1" dirty="0">
                <a:solidFill>
                  <a:srgbClr val="0F233D"/>
                </a:solidFill>
                <a:latin typeface="Arial"/>
              </a:rPr>
              <a:t>ROSMAP KDA summary</a:t>
            </a:r>
            <a:r>
              <a:rPr sz="2100" b="1" i="0" dirty="0">
                <a:solidFill>
                  <a:srgbClr val="0F233D"/>
                </a:solidFill>
                <a:latin typeface="Arial"/>
              </a:rPr>
              <a:t>: 381 non-MT </a:t>
            </a:r>
            <a:r>
              <a:rPr lang="en-US" sz="2100" b="1" i="0" dirty="0">
                <a:solidFill>
                  <a:srgbClr val="0F233D"/>
                </a:solidFill>
                <a:latin typeface="Arial"/>
              </a:rPr>
              <a:t>gene x </a:t>
            </a:r>
            <a:r>
              <a:rPr sz="2100" b="1" i="0" dirty="0">
                <a:solidFill>
                  <a:srgbClr val="0F233D"/>
                </a:solidFill>
                <a:latin typeface="Arial"/>
              </a:rPr>
              <a:t>category </a:t>
            </a:r>
            <a:r>
              <a:rPr lang="en-US" sz="2100" b="1" i="0" dirty="0">
                <a:solidFill>
                  <a:srgbClr val="0F233D"/>
                </a:solidFill>
                <a:latin typeface="Arial"/>
              </a:rPr>
              <a:t>combinations</a:t>
            </a:r>
            <a:r>
              <a:rPr sz="2100" b="1" i="0" dirty="0">
                <a:solidFill>
                  <a:srgbClr val="0F233D"/>
                </a:solidFill>
                <a:latin typeface="Arial"/>
              </a:rPr>
              <a:t> represent 228 </a:t>
            </a:r>
            <a:r>
              <a:rPr lang="en-US" sz="2100" b="1" i="0" dirty="0">
                <a:solidFill>
                  <a:srgbClr val="0F233D"/>
                </a:solidFill>
                <a:latin typeface="Arial"/>
              </a:rPr>
              <a:t>distinct </a:t>
            </a:r>
            <a:r>
              <a:rPr sz="2100" b="1" i="0" dirty="0">
                <a:solidFill>
                  <a:srgbClr val="0F233D"/>
                </a:solidFill>
                <a:latin typeface="Arial"/>
              </a:rPr>
              <a:t>genes</a:t>
            </a:r>
          </a:p>
        </p:txBody>
      </p:sp>
      <p:sp>
        <p:nvSpPr>
          <p:cNvPr id="5" name="Rounded Rectangle 4"/>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623</a:t>
            </a:r>
          </a:p>
        </p:txBody>
      </p:sp>
      <p:sp>
        <p:nvSpPr>
          <p:cNvPr id="7" name="TextBox 6"/>
          <p:cNvSpPr txBox="1"/>
          <p:nvPr/>
        </p:nvSpPr>
        <p:spPr>
          <a:xfrm>
            <a:off x="804672" y="1938528"/>
            <a:ext cx="1645920" cy="606320"/>
          </a:xfrm>
          <a:prstGeom prst="rect">
            <a:avLst/>
          </a:prstGeom>
          <a:noFill/>
        </p:spPr>
        <p:txBody>
          <a:bodyPr wrap="square" lIns="27432" tIns="27432" rIns="27432" bIns="27432" anchor="t">
            <a:spAutoFit/>
          </a:bodyPr>
          <a:lstStyle/>
          <a:p>
            <a:r>
              <a:rPr lang="en-US" sz="900" b="1" dirty="0">
                <a:solidFill>
                  <a:srgbClr val="4E5A68"/>
                </a:solidFill>
                <a:latin typeface="Arial"/>
              </a:rPr>
              <a:t>non-MT gene returned from </a:t>
            </a:r>
            <a:r>
              <a:rPr lang="en-US" sz="900" b="1" dirty="0" err="1">
                <a:solidFill>
                  <a:srgbClr val="4E5A68"/>
                </a:solidFill>
                <a:latin typeface="Arial"/>
              </a:rPr>
              <a:t>call_key_driver</a:t>
            </a:r>
            <a:r>
              <a:rPr lang="en-US" sz="900" b="1" dirty="0">
                <a:solidFill>
                  <a:srgbClr val="4E5A68"/>
                </a:solidFill>
                <a:latin typeface="Arial"/>
              </a:rPr>
              <a:t> (before aggregation)</a:t>
            </a:r>
          </a:p>
          <a:p>
            <a:pPr algn="l">
              <a:lnSpc>
                <a:spcPct val="100000"/>
              </a:lnSpc>
              <a:spcBef>
                <a:spcPts val="0"/>
              </a:spcBef>
              <a:spcAft>
                <a:spcPts val="0"/>
              </a:spcAft>
            </a:pPr>
            <a:endParaRPr sz="880" b="1" i="0" dirty="0">
              <a:solidFill>
                <a:srgbClr val="4E5A68"/>
              </a:solidFill>
              <a:latin typeface="Arial"/>
            </a:endParaRPr>
          </a:p>
        </p:txBody>
      </p:sp>
      <p:sp>
        <p:nvSpPr>
          <p:cNvPr id="8" name="Rounded Rectangle 7"/>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381</a:t>
            </a:r>
          </a:p>
        </p:txBody>
      </p:sp>
      <p:sp>
        <p:nvSpPr>
          <p:cNvPr id="10" name="TextBox 9"/>
          <p:cNvSpPr txBox="1"/>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non-MT gene × category </a:t>
            </a:r>
            <a:r>
              <a:rPr lang="en-US" sz="960" b="1" i="0" dirty="0">
                <a:solidFill>
                  <a:srgbClr val="4E5A68"/>
                </a:solidFill>
                <a:latin typeface="Arial"/>
              </a:rPr>
              <a:t>combinations</a:t>
            </a:r>
            <a:endParaRPr sz="960" b="1" i="0" dirty="0">
              <a:solidFill>
                <a:srgbClr val="4E5A68"/>
              </a:solidFill>
              <a:latin typeface="Arial"/>
            </a:endParaRPr>
          </a:p>
        </p:txBody>
      </p:sp>
      <p:sp>
        <p:nvSpPr>
          <p:cNvPr id="11" name="Rounded Rectangle 10"/>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228</a:t>
            </a:r>
          </a:p>
        </p:txBody>
      </p:sp>
      <p:sp>
        <p:nvSpPr>
          <p:cNvPr id="13" name="TextBox 12"/>
          <p:cNvSpPr txBox="1"/>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4" name="Rounded Rectangle 13"/>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29</a:t>
            </a:r>
          </a:p>
        </p:txBody>
      </p:sp>
      <p:sp>
        <p:nvSpPr>
          <p:cNvPr id="16" name="TextBox 15"/>
          <p:cNvSpPr txBox="1"/>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categories with non-MT returns</a:t>
            </a:r>
          </a:p>
        </p:txBody>
      </p:sp>
      <p:sp>
        <p:nvSpPr>
          <p:cNvPr id="17" name="Rounded Rectangle 16"/>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123</a:t>
            </a:r>
          </a:p>
        </p:txBody>
      </p:sp>
      <p:sp>
        <p:nvSpPr>
          <p:cNvPr id="19" name="TextBox 18"/>
          <p:cNvSpPr txBox="1"/>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20" name="Rounded Rectangle 19"/>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78992" y="3163824"/>
            <a:ext cx="457200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Where non-MT driver units occur</a:t>
            </a:r>
          </a:p>
        </p:txBody>
      </p:sp>
      <p:sp>
        <p:nvSpPr>
          <p:cNvPr id="23" name="TextBox 22"/>
          <p:cNvSpPr txBox="1"/>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sex/APOE group</a:t>
            </a:r>
          </a:p>
        </p:txBody>
      </p:sp>
      <p:sp>
        <p:nvSpPr>
          <p:cNvPr id="24" name="TextBox 23"/>
          <p:cNvSpPr txBox="1"/>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1" i="0">
                <a:solidFill>
                  <a:srgbClr val="0F233D"/>
                </a:solidFill>
                <a:latin typeface="Arial"/>
              </a:rPr>
              <a:t>F_e4 81 • M_e33 79 • M_e2 70
F_e33 56 • F_e2 54 • M_e4 41</a:t>
            </a:r>
          </a:p>
        </p:txBody>
      </p:sp>
      <p:sp>
        <p:nvSpPr>
          <p:cNvPr id="25" name="TextBox 24"/>
          <p:cNvSpPr txBox="1"/>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By broad network</a:t>
            </a:r>
          </a:p>
        </p:txBody>
      </p:sp>
      <p:sp>
        <p:nvSpPr>
          <p:cNvPr id="26" name="TextBox 25"/>
          <p:cNvSpPr txBox="1"/>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30" b="1" i="0">
                <a:solidFill>
                  <a:srgbClr val="0F233D"/>
                </a:solidFill>
                <a:latin typeface="Arial"/>
              </a:rPr>
              <a:t>Excitatory 153 • Inhibitory 146 • Astrocytes 32 • OPCs 21
Oligo 18 • Vasculature 6 • Microglia 5</a:t>
            </a:r>
          </a:p>
        </p:txBody>
      </p:sp>
      <p:sp>
        <p:nvSpPr>
          <p:cNvPr id="27" name="Rounded Rectangle 26"/>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Most recurrent genes</a:t>
            </a:r>
          </a:p>
        </p:txBody>
      </p:sp>
      <p:sp>
        <p:nvSpPr>
          <p:cNvPr id="30" name="TextBox 29"/>
          <p:cNvSpPr txBox="1"/>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RPS15</a:t>
            </a:r>
          </a:p>
        </p:txBody>
      </p:sp>
      <p:sp>
        <p:nvSpPr>
          <p:cNvPr id="31" name="Rectangle 30"/>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11</a:t>
            </a:r>
          </a:p>
        </p:txBody>
      </p:sp>
      <p:sp>
        <p:nvSpPr>
          <p:cNvPr id="33" name="TextBox 32"/>
          <p:cNvSpPr txBox="1"/>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RPL11</a:t>
            </a:r>
          </a:p>
        </p:txBody>
      </p:sp>
      <p:sp>
        <p:nvSpPr>
          <p:cNvPr id="34" name="Rectangle 33"/>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10</a:t>
            </a:r>
          </a:p>
        </p:txBody>
      </p:sp>
      <p:sp>
        <p:nvSpPr>
          <p:cNvPr id="36" name="TextBox 35"/>
          <p:cNvSpPr txBox="1"/>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RPLP1</a:t>
            </a:r>
          </a:p>
        </p:txBody>
      </p:sp>
      <p:sp>
        <p:nvSpPr>
          <p:cNvPr id="37" name="Rectangle 36"/>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8</a:t>
            </a:r>
          </a:p>
        </p:txBody>
      </p:sp>
      <p:sp>
        <p:nvSpPr>
          <p:cNvPr id="39" name="TextBox 38"/>
          <p:cNvSpPr txBox="1"/>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RPL15</a:t>
            </a:r>
          </a:p>
        </p:txBody>
      </p:sp>
      <p:sp>
        <p:nvSpPr>
          <p:cNvPr id="40" name="Rectangle 39"/>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7</a:t>
            </a:r>
          </a:p>
        </p:txBody>
      </p:sp>
      <p:sp>
        <p:nvSpPr>
          <p:cNvPr id="42" name="TextBox 41"/>
          <p:cNvSpPr txBox="1"/>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SELENOM</a:t>
            </a:r>
          </a:p>
        </p:txBody>
      </p:sp>
      <p:sp>
        <p:nvSpPr>
          <p:cNvPr id="43" name="Rectangle 42"/>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7</a:t>
            </a:r>
          </a:p>
        </p:txBody>
      </p:sp>
      <p:sp>
        <p:nvSpPr>
          <p:cNvPr id="45" name="TextBox 44"/>
          <p:cNvSpPr txBox="1"/>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SELENOW</a:t>
            </a:r>
          </a:p>
        </p:txBody>
      </p:sp>
      <p:sp>
        <p:nvSpPr>
          <p:cNvPr id="46" name="Rectangle 45"/>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40" b="1" i="0">
                <a:solidFill>
                  <a:srgbClr val="009E73"/>
                </a:solidFill>
                <a:latin typeface="Arial"/>
              </a:rPr>
              <a:t>6</a:t>
            </a:r>
          </a:p>
        </p:txBody>
      </p:sp>
      <p:sp>
        <p:nvSpPr>
          <p:cNvPr id="48" name="TextBox 47"/>
          <p:cNvSpPr txBox="1"/>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0" i="1">
                <a:solidFill>
                  <a:srgbClr val="4E5A68"/>
                </a:solidFill>
                <a:latin typeface="Arial"/>
              </a:rPr>
              <a:t>Counts are category presence—not independent replication or call counts.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RPS15 recurs across 11 returned-only categories</a:t>
            </a:r>
          </a:p>
        </p:txBody>
      </p:sp>
      <p:sp>
        <p:nvSpPr>
          <p:cNvPr id="4" name="TextBox 3"/>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5" name="Rounded Rectangle 4"/>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Uniform-blue bar chart of the twenty ROSMAP non-MT genes appearing in the most sex/APOE by broad-cell categories" descr="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10" name="Oval 9"/>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Bar length = number of categories containing the gene.</a:t>
            </a:r>
          </a:p>
        </p:txBody>
      </p:sp>
      <p:sp>
        <p:nvSpPr>
          <p:cNvPr id="14" name="Oval 13"/>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RPS15: 11 categories, 6 groups, 4 networks.</a:t>
            </a:r>
          </a:p>
        </p:txBody>
      </p:sp>
      <p:sp>
        <p:nvSpPr>
          <p:cNvPr id="16" name="Oval 15"/>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RPL11: 10 categories, 6 groups, 4 networks.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p:cNvSpPr txBox="1"/>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100" b="1" i="0" dirty="0">
                <a:solidFill>
                  <a:srgbClr val="0F233D"/>
                </a:solidFill>
                <a:latin typeface="Arial"/>
              </a:rPr>
              <a:t>Top five: 123 non-MT entries across 29 categories</a:t>
            </a:r>
          </a:p>
        </p:txBody>
      </p:sp>
      <p:pic>
        <p:nvPicPr>
          <p:cNvPr id="4" name="ROSMAP top-five non-MT key drivers with aligned sex rows, broad-cell colors, score definition, and total category gene counts" descr="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ROSMAP excitatory-neuron drivers recur across sex/APOE groups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84 unique non-MT genes across 153 gene × category combinations; columns are ordered by recurrence, then alphabetically.</a:t>
            </a:r>
          </a:p>
        </p:txBody>
      </p:sp>
      <p:pic>
        <p:nvPicPr>
          <p:cNvPr id="4" name="ROSMAP excitatory-neuron non-MT key-driver recurrence matrix" descr="Matrix of 84 ROSMAP excitatory-neuron non-mitochondrial key-driver genes across six female and male sex/APOE categories; colored cells mark category membership and color indicates recurrence across categories."/>
          <p:cNvPicPr>
            <a:picLocks noChangeAspect="1"/>
          </p:cNvPicPr>
          <p:nvPr/>
        </p:nvPicPr>
        <p:blipFill>
          <a:blip r:embed="rId3"/>
          <a:stretch>
            <a:fillRect/>
          </a:stretch>
        </p:blipFill>
        <p:spPr>
          <a:xfrm>
            <a:off x="530352" y="1225296"/>
            <a:ext cx="11128248" cy="490118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ROSMAP inhibitory-neuron drivers recur across sex/APOE groups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110 unique non-MT genes across 146 gene × category combinations; columns are ordered by recurrence, then alphabetically.</a:t>
            </a:r>
          </a:p>
        </p:txBody>
      </p:sp>
      <p:pic>
        <p:nvPicPr>
          <p:cNvPr id="4" name="ROSMAP inhibitory-neuron non-MT key-driver recurrence matrix" descr="Matrix of 110 ROSMAP inhibitory-neuron non-mitochondrial key-driver genes across six female and male sex/APOE categories; colored cells mark category membership and color indicates recurrence across categories."/>
          <p:cNvPicPr>
            <a:picLocks noChangeAspect="1"/>
          </p:cNvPicPr>
          <p:nvPr/>
        </p:nvPicPr>
        <p:blipFill>
          <a:blip r:embed="rId3"/>
          <a:stretch>
            <a:fillRect/>
          </a:stretch>
        </p:blipFill>
        <p:spPr>
          <a:xfrm>
            <a:off x="530352" y="1225296"/>
            <a:ext cx="11128248" cy="490118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ROSMAP astrocyte drivers recur across sex/APOE groups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21 unique non-MT genes across 32 gene × category combinations; columns are ordered by recurrence, then alphabetically.</a:t>
            </a:r>
          </a:p>
        </p:txBody>
      </p:sp>
      <p:pic>
        <p:nvPicPr>
          <p:cNvPr id="4" name="ROSMAP astrocyte non-MT key-driver recurrence matrix" descr="Matrix of 21 ROSMAP astrocyte non-mitochondrial key-driver genes across six female and male sex/APOE categories; colored cells mark category membership and color indicates recurrence across categories."/>
          <p:cNvPicPr>
            <a:picLocks noChangeAspect="1"/>
          </p:cNvPicPr>
          <p:nvPr/>
        </p:nvPicPr>
        <p:blipFill>
          <a:blip r:embed="rId3"/>
          <a:stretch>
            <a:fillRect/>
          </a:stretch>
        </p:blipFill>
        <p:spPr>
          <a:xfrm>
            <a:off x="530352" y="1225296"/>
            <a:ext cx="11128248" cy="490118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ROSMAP OPC drivers recur across sex/APOE groups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18 unique non-MT genes across 21 gene × category combinations; columns are ordered by recurrence, then alphabetically.</a:t>
            </a:r>
          </a:p>
        </p:txBody>
      </p:sp>
      <p:pic>
        <p:nvPicPr>
          <p:cNvPr id="4" name="ROSMAP OPC non-MT key-driver recurrence matrix" descr="Matrix of 18 ROSMAP OPC non-mitochondrial key-driver genes across six female and male sex/APOE categories; colored cells mark category membership and color indicates recurrence across categories."/>
          <p:cNvPicPr>
            <a:picLocks noChangeAspect="1"/>
          </p:cNvPicPr>
          <p:nvPr/>
        </p:nvPicPr>
        <p:blipFill>
          <a:blip r:embed="rId3"/>
          <a:stretch>
            <a:fillRect/>
          </a:stretch>
        </p:blipFill>
        <p:spPr>
          <a:xfrm>
            <a:off x="530352" y="1225296"/>
            <a:ext cx="11128248" cy="490118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009E73"/>
                </a:solidFill>
                <a:latin typeface="Arial"/>
              </a:rPr>
              <a:t>PART </a:t>
            </a:r>
            <a:r>
              <a:rPr lang="en-US" sz="1050" b="1" i="0" dirty="0">
                <a:solidFill>
                  <a:srgbClr val="009E73"/>
                </a:solidFill>
                <a:latin typeface="Arial"/>
              </a:rPr>
              <a:t>3</a:t>
            </a:r>
            <a:endParaRPr sz="1050" b="1" i="0" dirty="0">
              <a:solidFill>
                <a:srgbClr val="009E73"/>
              </a:solidFill>
              <a:latin typeface="Arial"/>
            </a:endParaRPr>
          </a:p>
        </p:txBody>
      </p:sp>
      <p:sp>
        <p:nvSpPr>
          <p:cNvPr id="3" name="Rectangle 2"/>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3200" b="1" i="0" dirty="0">
                <a:solidFill>
                  <a:srgbClr val="FFFFFF"/>
                </a:solidFill>
                <a:latin typeface="Arial"/>
              </a:rPr>
              <a:t>SEA-AD KDA</a:t>
            </a:r>
            <a:r>
              <a:rPr lang="en-US" sz="3200" b="1" i="0" dirty="0">
                <a:solidFill>
                  <a:srgbClr val="FFFFFF"/>
                </a:solidFill>
                <a:latin typeface="Arial"/>
              </a:rPr>
              <a:t> analysis</a:t>
            </a:r>
            <a:endParaRPr sz="3200" b="1" i="0" dirty="0">
              <a:solidFill>
                <a:srgbClr val="FFFFFF"/>
              </a:solidFill>
              <a:latin typeface="Arial"/>
            </a:endParaRP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009E73"/>
                </a:solidFill>
                <a:latin typeface="Arial"/>
              </a:rPr>
              <a:t>IN THIS PART</a:t>
            </a:r>
          </a:p>
        </p:txBody>
      </p:sp>
      <p:sp>
        <p:nvSpPr>
          <p:cNvPr id="8" name="Oval 7"/>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dirty="0">
                <a:solidFill>
                  <a:srgbClr val="FFFFFF"/>
                </a:solidFill>
                <a:latin typeface="Arial"/>
              </a:rPr>
              <a:t>Run </a:t>
            </a:r>
            <a:r>
              <a:rPr lang="en-US" sz="1110" b="1" i="0" dirty="0">
                <a:solidFill>
                  <a:srgbClr val="FFFFFF"/>
                </a:solidFill>
                <a:latin typeface="Arial"/>
              </a:rPr>
              <a:t>DEG</a:t>
            </a:r>
            <a:endParaRPr sz="1110" b="1" i="0" dirty="0">
              <a:solidFill>
                <a:srgbClr val="FFFFFF"/>
              </a:solidFill>
              <a:latin typeface="Arial"/>
            </a:endParaRPr>
          </a:p>
        </p:txBody>
      </p:sp>
      <p:sp>
        <p:nvSpPr>
          <p:cNvPr id="11" name="Oval 10"/>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110" b="1" i="0" dirty="0">
                <a:solidFill>
                  <a:srgbClr val="FFFFFF"/>
                </a:solidFill>
                <a:latin typeface="Arial"/>
              </a:rPr>
              <a:t>Call key driver</a:t>
            </a:r>
            <a:endParaRPr sz="1110" b="1" i="0" dirty="0">
              <a:solidFill>
                <a:srgbClr val="FFFFFF"/>
              </a:solidFill>
              <a:latin typeface="Arial"/>
            </a:endParaRPr>
          </a:p>
        </p:txBody>
      </p:sp>
      <p:sp>
        <p:nvSpPr>
          <p:cNvPr id="14" name="Oval 13"/>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110" b="1" i="0" dirty="0">
                <a:solidFill>
                  <a:srgbClr val="FFFFFF"/>
                </a:solidFill>
                <a:latin typeface="Arial"/>
              </a:rPr>
              <a:t>ACAT aggregation</a:t>
            </a:r>
            <a:endParaRPr sz="1110" b="1" i="0" dirty="0">
              <a:solidFill>
                <a:srgbClr val="FFFFFF"/>
              </a:solidFill>
              <a:latin typeface="Arial"/>
            </a:endParaRPr>
          </a:p>
        </p:txBody>
      </p:sp>
      <p:sp>
        <p:nvSpPr>
          <p:cNvPr id="17" name="Oval 16"/>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dirty="0">
                <a:solidFill>
                  <a:srgbClr val="FFFFFF"/>
                </a:solidFill>
                <a:latin typeface="Arial"/>
              </a:rPr>
              <a:t>Result </a:t>
            </a:r>
            <a:r>
              <a:rPr lang="en-US" sz="1110" b="1" i="0" dirty="0">
                <a:solidFill>
                  <a:srgbClr val="FFFFFF"/>
                </a:solidFill>
                <a:latin typeface="Arial"/>
              </a:rPr>
              <a:t>analysis</a:t>
            </a:r>
            <a:endParaRPr sz="1110" b="1" i="0" dirty="0">
              <a:solidFill>
                <a:srgbClr val="FFFFFF"/>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129 SEA-AD supertypes create 774 planned contrasts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One mitochondrial DEG query per supertype × sex/APOE contrast.</a:t>
            </a:r>
          </a:p>
        </p:txBody>
      </p:sp>
      <p:sp>
        <p:nvSpPr>
          <p:cNvPr id="4" name="Rounded Rectangle 3"/>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a:solidFill>
                  <a:srgbClr val="0F233D"/>
                </a:solidFill>
                <a:latin typeface="Arial"/>
              </a:rPr>
              <a:t>129 supertypes</a:t>
            </a:r>
          </a:p>
        </p:txBody>
      </p:sp>
      <p:sp>
        <p:nvSpPr>
          <p:cNvPr id="6" name="TextBox 5"/>
          <p:cNvSpPr txBox="1"/>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30" b="1" i="0">
                <a:solidFill>
                  <a:srgbClr val="00684D"/>
                </a:solidFill>
                <a:latin typeface="Arial"/>
              </a:rPr>
              <a:t>× 6 groups = 774 contrasts</a:t>
            </a:r>
          </a:p>
        </p:txBody>
      </p:sp>
      <p:sp>
        <p:nvSpPr>
          <p:cNvPr id="7" name="Rounded Rectangle 6"/>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36008" y="1591056"/>
            <a:ext cx="2926080" cy="347788"/>
          </a:xfrm>
          <a:prstGeom prst="rect">
            <a:avLst/>
          </a:prstGeom>
          <a:noFill/>
        </p:spPr>
        <p:txBody>
          <a:bodyPr wrap="square" lIns="27432" tIns="27432" rIns="27432" bIns="27432" anchor="t">
            <a:spAutoFit/>
          </a:bodyPr>
          <a:lstStyle/>
          <a:p>
            <a:pPr algn="ctr"/>
            <a:r>
              <a:rPr sz="1900" b="1" i="0" dirty="0">
                <a:solidFill>
                  <a:srgbClr val="0F233D"/>
                </a:solidFill>
                <a:latin typeface="Arial"/>
              </a:rPr>
              <a:t>774 </a:t>
            </a:r>
            <a:r>
              <a:rPr lang="en-US" sz="1900" b="1" dirty="0">
                <a:solidFill>
                  <a:srgbClr val="0F233D"/>
                </a:solidFill>
                <a:latin typeface="Arial"/>
              </a:rPr>
              <a:t>DEG contrasts</a:t>
            </a:r>
            <a:endParaRPr sz="1900" b="1" i="0" dirty="0">
              <a:solidFill>
                <a:srgbClr val="0F233D"/>
              </a:solidFill>
              <a:latin typeface="Arial"/>
            </a:endParaRPr>
          </a:p>
        </p:txBody>
      </p:sp>
      <p:sp>
        <p:nvSpPr>
          <p:cNvPr id="9" name="TextBox 8"/>
          <p:cNvSpPr txBox="1"/>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30" b="1" i="0">
                <a:solidFill>
                  <a:srgbClr val="56B4E9"/>
                </a:solidFill>
                <a:latin typeface="Arial"/>
              </a:rPr>
              <a:t>one query per contrast</a:t>
            </a:r>
          </a:p>
        </p:txBody>
      </p:sp>
      <p:sp>
        <p:nvSpPr>
          <p:cNvPr id="10" name="Rounded Rectangle 9"/>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900" b="1" i="0" dirty="0">
                <a:solidFill>
                  <a:srgbClr val="0F233D"/>
                </a:solidFill>
                <a:latin typeface="Arial"/>
              </a:rPr>
              <a:t>22 </a:t>
            </a:r>
            <a:r>
              <a:rPr lang="en-US" sz="1900" b="1" dirty="0" err="1">
                <a:solidFill>
                  <a:srgbClr val="0F233D"/>
                </a:solidFill>
                <a:latin typeface="Arial"/>
              </a:rPr>
              <a:t>call_key_drivers</a:t>
            </a:r>
            <a:r>
              <a:rPr lang="en-US" sz="1900" b="1" dirty="0">
                <a:solidFill>
                  <a:srgbClr val="0F233D"/>
                </a:solidFill>
                <a:latin typeface="Arial"/>
              </a:rPr>
              <a:t> calls</a:t>
            </a:r>
            <a:endParaRPr sz="1900" b="1" i="0" dirty="0">
              <a:solidFill>
                <a:srgbClr val="0F233D"/>
              </a:solidFill>
              <a:latin typeface="Arial"/>
            </a:endParaRPr>
          </a:p>
        </p:txBody>
      </p:sp>
      <p:sp>
        <p:nvSpPr>
          <p:cNvPr id="12" name="TextBox 11"/>
          <p:cNvSpPr txBox="1"/>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lang="en-US" sz="1230" b="1" i="0" dirty="0">
                <a:solidFill>
                  <a:srgbClr val="895600"/>
                </a:solidFill>
                <a:latin typeface="Arial"/>
              </a:rPr>
              <a:t>All valid DEG contrast and number of </a:t>
            </a:r>
            <a:r>
              <a:rPr lang="en-US" sz="1230" b="1" dirty="0">
                <a:solidFill>
                  <a:srgbClr val="895600"/>
                </a:solidFill>
                <a:latin typeface="Arial"/>
              </a:rPr>
              <a:t>genes in</a:t>
            </a:r>
            <a:r>
              <a:rPr sz="1230" b="1" i="0" dirty="0">
                <a:solidFill>
                  <a:srgbClr val="895600"/>
                </a:solidFill>
                <a:latin typeface="Arial"/>
              </a:rPr>
              <a:t> query ≥ 3</a:t>
            </a:r>
          </a:p>
        </p:txBody>
      </p:sp>
      <p:sp>
        <p:nvSpPr>
          <p:cNvPr id="13" name="Rectangle 12"/>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Mutually exclusive contrast outcome</a:t>
            </a:r>
          </a:p>
        </p:txBody>
      </p:sp>
      <p:sp>
        <p:nvSpPr>
          <p:cNvPr id="15" name="Rectangle 14"/>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Contrasts</a:t>
            </a:r>
          </a:p>
        </p:txBody>
      </p:sp>
      <p:sp>
        <p:nvSpPr>
          <p:cNvPr id="17" name="Rectangle 16"/>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1" i="0">
                <a:solidFill>
                  <a:srgbClr val="FFFFFF"/>
                </a:solidFill>
                <a:latin typeface="Arial"/>
              </a:rPr>
              <a:t>KDA called?</a:t>
            </a:r>
          </a:p>
        </p:txBody>
      </p:sp>
      <p:sp>
        <p:nvSpPr>
          <p:cNvPr id="19" name="Rectangle 18"/>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dirty="0">
                <a:solidFill>
                  <a:srgbClr val="1F2730"/>
                </a:solidFill>
                <a:latin typeface="Arial"/>
              </a:rPr>
              <a:t>Source DEG contrast not </a:t>
            </a:r>
            <a:r>
              <a:rPr lang="en-US" sz="960" b="0" i="0" dirty="0">
                <a:solidFill>
                  <a:srgbClr val="1F2730"/>
                </a:solidFill>
                <a:latin typeface="Arial"/>
              </a:rPr>
              <a:t>valid</a:t>
            </a:r>
            <a:endParaRPr sz="960" b="0" i="0" dirty="0">
              <a:solidFill>
                <a:srgbClr val="1F2730"/>
              </a:solidFill>
              <a:latin typeface="Arial"/>
            </a:endParaRPr>
          </a:p>
        </p:txBody>
      </p:sp>
      <p:sp>
        <p:nvSpPr>
          <p:cNvPr id="21" name="Rectangle 20"/>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393</a:t>
            </a:r>
          </a:p>
        </p:txBody>
      </p:sp>
      <p:sp>
        <p:nvSpPr>
          <p:cNvPr id="23" name="Rectangle 22"/>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25" name="Rectangle 24"/>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60" b="0" i="0" dirty="0">
                <a:solidFill>
                  <a:srgbClr val="1F2730"/>
                </a:solidFill>
                <a:latin typeface="Arial"/>
              </a:rPr>
              <a:t>Number of genes in </a:t>
            </a:r>
            <a:r>
              <a:rPr sz="960" b="0" i="0" dirty="0">
                <a:solidFill>
                  <a:srgbClr val="1F2730"/>
                </a:solidFill>
                <a:latin typeface="Arial"/>
              </a:rPr>
              <a:t>query</a:t>
            </a:r>
            <a:r>
              <a:rPr lang="en-US" sz="960" b="0" i="0" dirty="0">
                <a:solidFill>
                  <a:srgbClr val="1F2730"/>
                </a:solidFill>
                <a:latin typeface="Arial"/>
              </a:rPr>
              <a:t>:</a:t>
            </a:r>
            <a:r>
              <a:rPr sz="960" b="0" i="0" dirty="0">
                <a:solidFill>
                  <a:srgbClr val="1F2730"/>
                </a:solidFill>
                <a:latin typeface="Arial"/>
              </a:rPr>
              <a:t> 0</a:t>
            </a:r>
          </a:p>
        </p:txBody>
      </p:sp>
      <p:sp>
        <p:nvSpPr>
          <p:cNvPr id="27" name="Rectangle 26"/>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348</a:t>
            </a:r>
          </a:p>
        </p:txBody>
      </p:sp>
      <p:sp>
        <p:nvSpPr>
          <p:cNvPr id="29" name="Rectangle 28"/>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1" name="Rectangle 30"/>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60" b="0" i="0" dirty="0">
                <a:solidFill>
                  <a:srgbClr val="1F2730"/>
                </a:solidFill>
                <a:latin typeface="Arial"/>
              </a:rPr>
              <a:t>Number of genes in </a:t>
            </a:r>
            <a:r>
              <a:rPr sz="960" b="0" i="0" dirty="0">
                <a:solidFill>
                  <a:srgbClr val="1F2730"/>
                </a:solidFill>
                <a:latin typeface="Arial"/>
              </a:rPr>
              <a:t>query</a:t>
            </a:r>
            <a:r>
              <a:rPr lang="en-US" sz="960" b="0" i="0" dirty="0">
                <a:solidFill>
                  <a:srgbClr val="1F2730"/>
                </a:solidFill>
                <a:latin typeface="Arial"/>
              </a:rPr>
              <a:t>:</a:t>
            </a:r>
            <a:r>
              <a:rPr sz="960" b="0" i="0" dirty="0">
                <a:solidFill>
                  <a:srgbClr val="1F2730"/>
                </a:solidFill>
                <a:latin typeface="Arial"/>
              </a:rPr>
              <a:t> 1–2</a:t>
            </a:r>
          </a:p>
        </p:txBody>
      </p:sp>
      <p:sp>
        <p:nvSpPr>
          <p:cNvPr id="33" name="Rectangle 32"/>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11</a:t>
            </a:r>
          </a:p>
        </p:txBody>
      </p:sp>
      <p:sp>
        <p:nvSpPr>
          <p:cNvPr id="35" name="Rectangle 34"/>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a:solidFill>
                  <a:srgbClr val="1F2730"/>
                </a:solidFill>
                <a:latin typeface="Arial"/>
              </a:rPr>
              <a:t>No</a:t>
            </a:r>
          </a:p>
        </p:txBody>
      </p:sp>
      <p:sp>
        <p:nvSpPr>
          <p:cNvPr id="37" name="Rectangle 36"/>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41247" y="4676173"/>
            <a:ext cx="5696712" cy="203133"/>
          </a:xfrm>
          <a:prstGeom prst="rect">
            <a:avLst/>
          </a:prstGeom>
          <a:noFill/>
        </p:spPr>
        <p:txBody>
          <a:bodyPr wrap="square" lIns="27432" tIns="27432" rIns="27432" bIns="27432" anchor="ctr">
            <a:spAutoFit/>
          </a:bodyPr>
          <a:lstStyle/>
          <a:p>
            <a:r>
              <a:rPr lang="en-US" sz="960" dirty="0">
                <a:solidFill>
                  <a:srgbClr val="1F2730"/>
                </a:solidFill>
                <a:latin typeface="Arial"/>
              </a:rPr>
              <a:t>Number of genes in query: &gt;=3</a:t>
            </a:r>
            <a:endParaRPr sz="960" b="0" i="0" dirty="0">
              <a:solidFill>
                <a:srgbClr val="1F2730"/>
              </a:solidFill>
              <a:latin typeface="Arial"/>
            </a:endParaRPr>
          </a:p>
        </p:txBody>
      </p:sp>
      <p:sp>
        <p:nvSpPr>
          <p:cNvPr id="39" name="Rectangle 38"/>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lang="en-US" sz="960" dirty="0">
                <a:solidFill>
                  <a:srgbClr val="1F2730"/>
                </a:solidFill>
                <a:latin typeface="Arial"/>
              </a:rPr>
              <a:t>22</a:t>
            </a:r>
            <a:endParaRPr sz="960" b="0" i="0" dirty="0">
              <a:solidFill>
                <a:srgbClr val="1F2730"/>
              </a:solidFill>
              <a:latin typeface="Arial"/>
            </a:endParaRPr>
          </a:p>
        </p:txBody>
      </p:sp>
      <p:sp>
        <p:nvSpPr>
          <p:cNvPr id="41" name="Rectangle 40"/>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0" i="0" dirty="0">
                <a:solidFill>
                  <a:srgbClr val="1F2730"/>
                </a:solidFill>
                <a:latin typeface="Arial"/>
              </a:rPr>
              <a:t>Yes</a:t>
            </a:r>
          </a:p>
        </p:txBody>
      </p:sp>
      <p:sp>
        <p:nvSpPr>
          <p:cNvPr id="49" name="Rectangle 48"/>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TOTAL</a:t>
            </a:r>
          </a:p>
        </p:txBody>
      </p:sp>
      <p:sp>
        <p:nvSpPr>
          <p:cNvPr id="51" name="Rectangle 50"/>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774</a:t>
            </a:r>
          </a:p>
        </p:txBody>
      </p:sp>
      <p:sp>
        <p:nvSpPr>
          <p:cNvPr id="53" name="Rectangle 52"/>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60" b="1" i="0">
                <a:solidFill>
                  <a:srgbClr val="1F2730"/>
                </a:solidFill>
                <a:latin typeface="Arial"/>
              </a:rPr>
              <a:t>22 calls</a:t>
            </a:r>
          </a:p>
        </p:txBody>
      </p:sp>
      <p:sp>
        <p:nvSpPr>
          <p:cNvPr id="55" name="TextBox 54"/>
          <p:cNvSpPr txBox="1"/>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Availability remains unbalanced: 20 M_e33 calls, one F_e33 call, and one F_e4 call.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dirty="0">
                <a:solidFill>
                  <a:srgbClr val="0F233D"/>
                </a:solidFill>
                <a:latin typeface="Arial"/>
              </a:rPr>
              <a:t>SEA-AD </a:t>
            </a:r>
            <a:r>
              <a:rPr lang="en-US" sz="2450" b="1" i="0" dirty="0">
                <a:solidFill>
                  <a:srgbClr val="0F233D"/>
                </a:solidFill>
                <a:latin typeface="Arial"/>
              </a:rPr>
              <a:t>KDA summary</a:t>
            </a:r>
            <a:r>
              <a:rPr sz="2450" b="1" i="0" dirty="0">
                <a:solidFill>
                  <a:srgbClr val="0F233D"/>
                </a:solidFill>
                <a:latin typeface="Arial"/>
              </a:rPr>
              <a:t>: 44 non-MT </a:t>
            </a:r>
            <a:r>
              <a:rPr lang="en-US" sz="2450" b="1" i="0" dirty="0">
                <a:solidFill>
                  <a:srgbClr val="0F233D"/>
                </a:solidFill>
                <a:latin typeface="Arial"/>
              </a:rPr>
              <a:t>gene x category combinations</a:t>
            </a:r>
            <a:r>
              <a:rPr sz="2450" b="1" i="0" dirty="0">
                <a:solidFill>
                  <a:srgbClr val="0F233D"/>
                </a:solidFill>
                <a:latin typeface="Arial"/>
              </a:rPr>
              <a:t> represent 43 </a:t>
            </a:r>
            <a:r>
              <a:rPr lang="en-US" sz="2450" b="1" i="0" dirty="0">
                <a:solidFill>
                  <a:srgbClr val="0F233D"/>
                </a:solidFill>
                <a:latin typeface="Arial"/>
              </a:rPr>
              <a:t>distinct </a:t>
            </a:r>
            <a:r>
              <a:rPr sz="2450" b="1" i="0" dirty="0">
                <a:solidFill>
                  <a:srgbClr val="0F233D"/>
                </a:solidFill>
                <a:latin typeface="Arial"/>
              </a:rPr>
              <a:t>genes</a:t>
            </a:r>
          </a:p>
        </p:txBody>
      </p:sp>
      <p:sp>
        <p:nvSpPr>
          <p:cNvPr id="3" name="Rounded Rectangle 2"/>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54</a:t>
            </a:r>
          </a:p>
        </p:txBody>
      </p:sp>
      <p:sp>
        <p:nvSpPr>
          <p:cNvPr id="5" name="TextBox 4"/>
          <p:cNvSpPr txBox="1"/>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non-MT </a:t>
            </a:r>
            <a:r>
              <a:rPr lang="en-US" sz="960" b="1" i="0" dirty="0">
                <a:solidFill>
                  <a:srgbClr val="4E5A68"/>
                </a:solidFill>
                <a:latin typeface="Arial"/>
              </a:rPr>
              <a:t>gene </a:t>
            </a:r>
            <a:r>
              <a:rPr sz="960" b="1" i="0" dirty="0">
                <a:solidFill>
                  <a:srgbClr val="4E5A68"/>
                </a:solidFill>
                <a:latin typeface="Arial"/>
              </a:rPr>
              <a:t>returned </a:t>
            </a:r>
            <a:r>
              <a:rPr lang="en-US" sz="960" b="1" i="0" dirty="0">
                <a:solidFill>
                  <a:srgbClr val="4E5A68"/>
                </a:solidFill>
                <a:latin typeface="Arial"/>
              </a:rPr>
              <a:t>from </a:t>
            </a:r>
            <a:r>
              <a:rPr sz="960" b="1" i="0" dirty="0" err="1">
                <a:solidFill>
                  <a:srgbClr val="4E5A68"/>
                </a:solidFill>
                <a:latin typeface="Arial"/>
              </a:rPr>
              <a:t>call</a:t>
            </a:r>
            <a:r>
              <a:rPr lang="en-US" sz="960" b="1" i="0" dirty="0" err="1">
                <a:solidFill>
                  <a:srgbClr val="4E5A68"/>
                </a:solidFill>
                <a:latin typeface="Arial"/>
              </a:rPr>
              <a:t>_key_driver</a:t>
            </a:r>
            <a:r>
              <a:rPr lang="en-US" sz="960" b="1" i="0" dirty="0">
                <a:solidFill>
                  <a:srgbClr val="4E5A68"/>
                </a:solidFill>
                <a:latin typeface="Arial"/>
              </a:rPr>
              <a:t> (before aggregation)</a:t>
            </a:r>
            <a:endParaRPr sz="960" b="1" i="0" dirty="0">
              <a:solidFill>
                <a:srgbClr val="4E5A68"/>
              </a:solidFill>
              <a:latin typeface="Arial"/>
            </a:endParaRPr>
          </a:p>
        </p:txBody>
      </p:sp>
      <p:sp>
        <p:nvSpPr>
          <p:cNvPr id="6" name="Rounded Rectangle 5"/>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44</a:t>
            </a:r>
          </a:p>
        </p:txBody>
      </p:sp>
      <p:sp>
        <p:nvSpPr>
          <p:cNvPr id="8" name="TextBox 7"/>
          <p:cNvSpPr txBox="1"/>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gene × category </a:t>
            </a:r>
            <a:r>
              <a:rPr lang="en-US" sz="960" b="1" i="0" dirty="0">
                <a:solidFill>
                  <a:srgbClr val="4E5A68"/>
                </a:solidFill>
                <a:latin typeface="Arial"/>
              </a:rPr>
              <a:t>combinations</a:t>
            </a:r>
            <a:endParaRPr sz="960" b="1" i="0" dirty="0">
              <a:solidFill>
                <a:srgbClr val="4E5A68"/>
              </a:solidFill>
              <a:latin typeface="Arial"/>
            </a:endParaRPr>
          </a:p>
        </p:txBody>
      </p:sp>
      <p:sp>
        <p:nvSpPr>
          <p:cNvPr id="9" name="Rounded Rectangle 8"/>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684D"/>
                </a:solidFill>
                <a:latin typeface="Arial"/>
              </a:rPr>
              <a:t>43</a:t>
            </a:r>
          </a:p>
        </p:txBody>
      </p:sp>
      <p:sp>
        <p:nvSpPr>
          <p:cNvPr id="11" name="TextBox 10"/>
          <p:cNvSpPr txBox="1"/>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distinct gene symbols</a:t>
            </a:r>
          </a:p>
        </p:txBody>
      </p:sp>
      <p:sp>
        <p:nvSpPr>
          <p:cNvPr id="12" name="Rounded Rectangle 1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0072B2"/>
                </a:solidFill>
                <a:latin typeface="Arial"/>
              </a:rPr>
              <a:t>5</a:t>
            </a:r>
          </a:p>
        </p:txBody>
      </p:sp>
      <p:sp>
        <p:nvSpPr>
          <p:cNvPr id="14" name="TextBox 13"/>
          <p:cNvSpPr txBox="1"/>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dirty="0">
                <a:solidFill>
                  <a:srgbClr val="4E5A68"/>
                </a:solidFill>
                <a:latin typeface="Arial"/>
              </a:rPr>
              <a:t>categories with returns</a:t>
            </a:r>
          </a:p>
        </p:txBody>
      </p:sp>
      <p:sp>
        <p:nvSpPr>
          <p:cNvPr id="15" name="Rounded Rectangle 14"/>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500" b="1" i="0">
                <a:solidFill>
                  <a:srgbClr val="895600"/>
                </a:solidFill>
                <a:latin typeface="Arial"/>
              </a:rPr>
              <a:t>17</a:t>
            </a:r>
          </a:p>
        </p:txBody>
      </p:sp>
      <p:sp>
        <p:nvSpPr>
          <p:cNvPr id="17" name="TextBox 16"/>
          <p:cNvSpPr txBox="1"/>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60" b="1" i="0">
                <a:solidFill>
                  <a:srgbClr val="4E5A68"/>
                </a:solidFill>
                <a:latin typeface="Arial"/>
              </a:rPr>
              <a:t>top-five displayed rows</a:t>
            </a:r>
          </a:p>
        </p:txBody>
      </p:sp>
      <p:sp>
        <p:nvSpPr>
          <p:cNvPr id="18" name="Rounded Rectangle 17"/>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dirty="0">
                <a:solidFill>
                  <a:srgbClr val="0F233D"/>
                </a:solidFill>
                <a:latin typeface="Arial"/>
              </a:rPr>
              <a:t>Where the 44 </a:t>
            </a:r>
            <a:r>
              <a:rPr lang="en-US" sz="1520" b="1" i="0" dirty="0">
                <a:solidFill>
                  <a:srgbClr val="0F233D"/>
                </a:solidFill>
                <a:latin typeface="Arial"/>
              </a:rPr>
              <a:t>combinations</a:t>
            </a:r>
            <a:r>
              <a:rPr sz="1520" b="1" i="0" dirty="0">
                <a:solidFill>
                  <a:srgbClr val="0F233D"/>
                </a:solidFill>
                <a:latin typeface="Arial"/>
              </a:rPr>
              <a:t> occur</a:t>
            </a:r>
          </a:p>
        </p:txBody>
      </p:sp>
      <p:sp>
        <p:nvSpPr>
          <p:cNvPr id="21" name="TextBox 20"/>
          <p:cNvSpPr txBox="1"/>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684D"/>
                </a:solidFill>
                <a:latin typeface="Arial"/>
              </a:rPr>
              <a:t>By sex/APOE group</a:t>
            </a:r>
          </a:p>
        </p:txBody>
      </p:sp>
      <p:sp>
        <p:nvSpPr>
          <p:cNvPr id="22" name="TextBox 21"/>
          <p:cNvSpPr txBox="1"/>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1" i="0">
                <a:solidFill>
                  <a:srgbClr val="0F233D"/>
                </a:solidFill>
                <a:latin typeface="Arial"/>
              </a:rPr>
              <a:t>M_e33 39 • F_e4 3 • F_e33 2 • other groups 0</a:t>
            </a:r>
          </a:p>
        </p:txBody>
      </p:sp>
      <p:sp>
        <p:nvSpPr>
          <p:cNvPr id="23" name="TextBox 22"/>
          <p:cNvSpPr txBox="1"/>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684D"/>
                </a:solidFill>
                <a:latin typeface="Arial"/>
              </a:rPr>
              <a:t>By broad network</a:t>
            </a:r>
          </a:p>
        </p:txBody>
      </p:sp>
      <p:sp>
        <p:nvSpPr>
          <p:cNvPr id="24" name="TextBox 23"/>
          <p:cNvSpPr txBox="1"/>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0" b="1" i="0">
                <a:solidFill>
                  <a:srgbClr val="0F233D"/>
                </a:solidFill>
                <a:latin typeface="Arial"/>
              </a:rPr>
              <a:t>Excitatory 27 • Inhibitory 12 • Astrocytes 3 • Oligo 2
Microglia, OPCs, Vasculature 0</a:t>
            </a:r>
          </a:p>
        </p:txBody>
      </p:sp>
      <p:sp>
        <p:nvSpPr>
          <p:cNvPr id="25" name="Rounded Rectangle 24"/>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Execution and filtering</a:t>
            </a:r>
          </a:p>
        </p:txBody>
      </p:sp>
      <p:sp>
        <p:nvSpPr>
          <p:cNvPr id="28" name="Oval 27"/>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47688" y="3675887"/>
            <a:ext cx="4197096" cy="224677"/>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dirty="0">
                <a:solidFill>
                  <a:srgbClr val="1F2730"/>
                </a:solidFill>
                <a:latin typeface="Arial"/>
              </a:rPr>
              <a:t>20 </a:t>
            </a:r>
            <a:r>
              <a:rPr sz="1100" b="0" i="0" dirty="0" err="1">
                <a:solidFill>
                  <a:srgbClr val="1F2730"/>
                </a:solidFill>
                <a:latin typeface="Arial"/>
              </a:rPr>
              <a:t>call</a:t>
            </a:r>
            <a:r>
              <a:rPr lang="en-US" sz="1100" b="0" i="0" dirty="0" err="1">
                <a:solidFill>
                  <a:srgbClr val="1F2730"/>
                </a:solidFill>
                <a:latin typeface="Arial"/>
              </a:rPr>
              <a:t>_key_driver</a:t>
            </a:r>
            <a:r>
              <a:rPr sz="1100" b="0" i="0" dirty="0">
                <a:solidFill>
                  <a:srgbClr val="1F2730"/>
                </a:solidFill>
                <a:latin typeface="Arial"/>
              </a:rPr>
              <a:t> with return</a:t>
            </a:r>
            <a:r>
              <a:rPr lang="en-US" sz="1100" b="0" i="0" dirty="0">
                <a:solidFill>
                  <a:srgbClr val="1F2730"/>
                </a:solidFill>
                <a:latin typeface="Arial"/>
              </a:rPr>
              <a:t>ed results</a:t>
            </a:r>
            <a:r>
              <a:rPr sz="1100" b="0" i="0" dirty="0">
                <a:solidFill>
                  <a:srgbClr val="1F2730"/>
                </a:solidFill>
                <a:latin typeface="Arial"/>
              </a:rPr>
              <a:t>; 2 completed empty.</a:t>
            </a:r>
          </a:p>
        </p:txBody>
      </p:sp>
      <p:sp>
        <p:nvSpPr>
          <p:cNvPr id="30" name="Oval 29"/>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a:solidFill>
                  <a:srgbClr val="1F2730"/>
                </a:solidFill>
                <a:latin typeface="Arial"/>
              </a:rPr>
              <a:t>112 significant return rows before mitochondrial filtering.</a:t>
            </a:r>
          </a:p>
        </p:txBody>
      </p:sp>
      <p:sp>
        <p:nvSpPr>
          <p:cNvPr id="32" name="Oval 3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a:solidFill>
                  <a:srgbClr val="1F2730"/>
                </a:solidFill>
                <a:latin typeface="Arial"/>
              </a:rPr>
              <a:t>58 core-MitoCarta rows excluded.</a:t>
            </a:r>
          </a:p>
        </p:txBody>
      </p:sp>
      <p:sp>
        <p:nvSpPr>
          <p:cNvPr id="34" name="Oval 33"/>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00" b="0" i="0" dirty="0">
                <a:solidFill>
                  <a:srgbClr val="1F2730"/>
                </a:solidFill>
                <a:latin typeface="Arial"/>
              </a:rPr>
              <a:t>54 non-MT </a:t>
            </a:r>
            <a:r>
              <a:rPr lang="en-US" sz="1100" b="0" i="0" dirty="0">
                <a:solidFill>
                  <a:srgbClr val="1F2730"/>
                </a:solidFill>
                <a:latin typeface="Arial"/>
              </a:rPr>
              <a:t>rows</a:t>
            </a:r>
            <a:r>
              <a:rPr sz="1100" b="0" i="0" dirty="0">
                <a:solidFill>
                  <a:srgbClr val="1F2730"/>
                </a:solidFill>
                <a:latin typeface="Arial"/>
              </a:rPr>
              <a:t> retained for aggregation.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PJVK is the only gene recurring across 2 SEA-AD categories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Returned-only recurrence is descriptive across sex/APOE × broad-cell categories.</a:t>
            </a:r>
          </a:p>
        </p:txBody>
      </p:sp>
      <p:sp>
        <p:nvSpPr>
          <p:cNvPr id="4" name="Rounded Rectangle 3"/>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Uniform-blue bar chart of the twenty SEA-AD non-MT genes appearing in the most sex/APOE by broad-cell categories" descr="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How to read it</a:t>
            </a:r>
          </a:p>
        </p:txBody>
      </p:sp>
      <p:sp>
        <p:nvSpPr>
          <p:cNvPr id="9" name="Oval 8"/>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Bar length = number of categories containing the gene.</a:t>
            </a:r>
          </a:p>
        </p:txBody>
      </p:sp>
      <p:sp>
        <p:nvSpPr>
          <p:cNvPr id="13" name="Oval 12"/>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PJVK: 2 categories, 1 group, 2 networks.</a:t>
            </a:r>
          </a:p>
        </p:txBody>
      </p:sp>
      <p:sp>
        <p:nvSpPr>
          <p:cNvPr id="17" name="Oval 16"/>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30" b="0" i="0">
                <a:solidFill>
                  <a:srgbClr val="1F2730"/>
                </a:solidFill>
                <a:latin typeface="Arial"/>
              </a:rPr>
              <a:t>The remaining 19 displayed genes occur in one category.</a:t>
            </a:r>
          </a:p>
        </p:txBody>
      </p:sp>
      <p:sp>
        <p:nvSpPr>
          <p:cNvPr id="19" name="Rounded Rectangle 18"/>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0" b="1" i="0">
                <a:solidFill>
                  <a:srgbClr val="9E3A00"/>
                </a:solidFill>
                <a:latin typeface="Arial"/>
              </a:rPr>
              <a:t>Only 5 categories return non-MT genes.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Top-five display: 17 non-MT entries across 5 categories</a:t>
            </a:r>
          </a:p>
        </p:txBody>
      </p:sp>
      <p:pic>
        <p:nvPicPr>
          <p:cNvPr id="5" name="SEA-AD top-five non-MT key drivers by sex/APOE and broad-cell category" descr="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SEA-AD excitatory-neuron drivers occur in two sex/APOE groups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27 unique non-MT genes across 27 gene × category combinations; no gene recurs across sex/APOE categories.</a:t>
            </a:r>
          </a:p>
        </p:txBody>
      </p:sp>
      <p:pic>
        <p:nvPicPr>
          <p:cNvPr id="4" name="SEA-AD excitatory-neuron non-MT key-driver recurrence matrix" descr="Matrix of 27 SEA-AD excitatory-neuron non-mitochondrial key-driver genes across six female and male sex/APOE categories; colored cells mark category membership and color indicates recurrence across categories."/>
          <p:cNvPicPr>
            <a:picLocks noChangeAspect="1"/>
          </p:cNvPicPr>
          <p:nvPr/>
        </p:nvPicPr>
        <p:blipFill>
          <a:blip r:embed="rId3"/>
          <a:stretch>
            <a:fillRect/>
          </a:stretch>
        </p:blipFill>
        <p:spPr>
          <a:xfrm>
            <a:off x="530352" y="1225296"/>
            <a:ext cx="11128248" cy="490118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E69F00"/>
                </a:solidFill>
                <a:latin typeface="Arial"/>
              </a:rPr>
              <a:t>PART </a:t>
            </a:r>
            <a:r>
              <a:rPr lang="en-US" sz="1050" b="1" i="0" dirty="0">
                <a:solidFill>
                  <a:srgbClr val="E69F00"/>
                </a:solidFill>
                <a:latin typeface="Arial"/>
              </a:rPr>
              <a:t>4</a:t>
            </a:r>
            <a:endParaRPr sz="1050" b="1" i="0" dirty="0">
              <a:solidFill>
                <a:srgbClr val="E69F00"/>
              </a:solidFill>
              <a:latin typeface="Arial"/>
            </a:endParaRPr>
          </a:p>
        </p:txBody>
      </p:sp>
      <p:sp>
        <p:nvSpPr>
          <p:cNvPr id="3" name="Rectangle 2"/>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3200" b="1" i="0" dirty="0">
                <a:solidFill>
                  <a:srgbClr val="FFFFFF"/>
                </a:solidFill>
                <a:latin typeface="Arial"/>
              </a:rPr>
              <a:t>Sensitivity analyses</a:t>
            </a:r>
          </a:p>
        </p:txBody>
      </p:sp>
      <p:sp>
        <p:nvSpPr>
          <p:cNvPr id="5" name="TextBox 4"/>
          <p:cNvSpPr txBox="1"/>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CCDBEA"/>
                </a:solidFill>
                <a:latin typeface="Arial"/>
              </a:rPr>
              <a:t>Robustness checks across sample support, profile coverage, query definition, and KDA decision rules.</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E69F00"/>
                </a:solidFill>
                <a:latin typeface="Arial"/>
              </a:rPr>
              <a:t>IN THIS PART</a:t>
            </a:r>
          </a:p>
        </p:txBody>
      </p:sp>
      <p:sp>
        <p:nvSpPr>
          <p:cNvPr id="8" name="Oval 7"/>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Donor support</a:t>
            </a:r>
          </a:p>
        </p:txBody>
      </p:sp>
      <p:sp>
        <p:nvSpPr>
          <p:cNvPr id="11" name="Oval 10"/>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Profile coverage</a:t>
            </a:r>
          </a:p>
        </p:txBody>
      </p:sp>
      <p:sp>
        <p:nvSpPr>
          <p:cNvPr id="14" name="Oval 13"/>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Query definition</a:t>
            </a:r>
          </a:p>
        </p:txBody>
      </p:sp>
      <p:sp>
        <p:nvSpPr>
          <p:cNvPr id="17" name="Oval 16"/>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KDA filters</a:t>
            </a:r>
          </a:p>
        </p:txBody>
      </p:sp>
      <p:sp>
        <p:nvSpPr>
          <p:cNvPr id="20" name="Rounded Rectangle 19"/>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a:solidFill>
                  <a:srgbClr val="FFFFFF"/>
                </a:solidFill>
                <a:latin typeface="Arial"/>
              </a:rPr>
              <a:t>Each sensitivity test is reported separately with its own evidence boundary.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Donor-threshold sensitivity — numerical comparison</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Raising minimum donors per disease arm from 3 to 5 in ROSMAP and SEA-AD.</a:t>
            </a:r>
          </a:p>
        </p:txBody>
      </p:sp>
      <p:sp>
        <p:nvSpPr>
          <p:cNvPr id="4" name="Rectangle 3"/>
          <p:cNvSpPr/>
          <p:nvPr/>
        </p:nvSpPr>
        <p:spPr>
          <a:xfrm>
            <a:off x="658368" y="1600200"/>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55064"/>
            <a:ext cx="121615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Cohort</a:t>
            </a:r>
          </a:p>
        </p:txBody>
      </p:sp>
      <p:sp>
        <p:nvSpPr>
          <p:cNvPr id="6" name="Rectangle 5"/>
          <p:cNvSpPr/>
          <p:nvPr/>
        </p:nvSpPr>
        <p:spPr>
          <a:xfrm>
            <a:off x="1984248" y="1600200"/>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039112" y="1655064"/>
            <a:ext cx="1764791"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Minimum donors / arm</a:t>
            </a:r>
          </a:p>
        </p:txBody>
      </p:sp>
      <p:sp>
        <p:nvSpPr>
          <p:cNvPr id="8" name="Rectangle 7"/>
          <p:cNvSpPr/>
          <p:nvPr/>
        </p:nvSpPr>
        <p:spPr>
          <a:xfrm>
            <a:off x="3858768" y="1600200"/>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13631" y="1655064"/>
            <a:ext cx="158191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Eligible contrasts</a:t>
            </a:r>
          </a:p>
        </p:txBody>
      </p:sp>
      <p:sp>
        <p:nvSpPr>
          <p:cNvPr id="10" name="Rectangle 9"/>
          <p:cNvSpPr/>
          <p:nvPr/>
        </p:nvSpPr>
        <p:spPr>
          <a:xfrm>
            <a:off x="5550408" y="1600200"/>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05272" y="1655064"/>
            <a:ext cx="112471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KDA runs</a:t>
            </a:r>
          </a:p>
        </p:txBody>
      </p:sp>
      <p:sp>
        <p:nvSpPr>
          <p:cNvPr id="12" name="Rectangle 11"/>
          <p:cNvSpPr/>
          <p:nvPr/>
        </p:nvSpPr>
        <p:spPr>
          <a:xfrm>
            <a:off x="6784848" y="1600200"/>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39712" y="1655064"/>
            <a:ext cx="213055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Significant driver rows</a:t>
            </a:r>
          </a:p>
        </p:txBody>
      </p:sp>
      <p:sp>
        <p:nvSpPr>
          <p:cNvPr id="14" name="Rectangle 13"/>
          <p:cNvSpPr/>
          <p:nvPr/>
        </p:nvSpPr>
        <p:spPr>
          <a:xfrm>
            <a:off x="9025128" y="1600200"/>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079992" y="1655064"/>
            <a:ext cx="24048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00" b="1" i="0">
                <a:solidFill>
                  <a:srgbClr val="FFFFFF"/>
                </a:solidFill>
                <a:latin typeface="Arial"/>
              </a:rPr>
              <a:t>Unique non-MT drivers</a:t>
            </a:r>
          </a:p>
        </p:txBody>
      </p:sp>
      <p:sp>
        <p:nvSpPr>
          <p:cNvPr id="16" name="Rectangle 15"/>
          <p:cNvSpPr/>
          <p:nvPr/>
        </p:nvSpPr>
        <p:spPr>
          <a:xfrm>
            <a:off x="658368" y="2295144"/>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2340863"/>
            <a:ext cx="12161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ROSMAP</a:t>
            </a:r>
          </a:p>
        </p:txBody>
      </p:sp>
      <p:sp>
        <p:nvSpPr>
          <p:cNvPr id="18" name="Rectangle 17"/>
          <p:cNvSpPr/>
          <p:nvPr/>
        </p:nvSpPr>
        <p:spPr>
          <a:xfrm>
            <a:off x="1984248" y="2295144"/>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039112" y="2340863"/>
            <a:ext cx="1764791"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3</a:t>
            </a:r>
          </a:p>
        </p:txBody>
      </p:sp>
      <p:sp>
        <p:nvSpPr>
          <p:cNvPr id="20" name="Rectangle 19"/>
          <p:cNvSpPr/>
          <p:nvPr/>
        </p:nvSpPr>
        <p:spPr>
          <a:xfrm>
            <a:off x="3858768" y="2295144"/>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913631" y="2340863"/>
            <a:ext cx="15819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42</a:t>
            </a:r>
          </a:p>
        </p:txBody>
      </p:sp>
      <p:sp>
        <p:nvSpPr>
          <p:cNvPr id="22" name="Rectangle 21"/>
          <p:cNvSpPr/>
          <p:nvPr/>
        </p:nvSpPr>
        <p:spPr>
          <a:xfrm>
            <a:off x="5550408" y="2295144"/>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05272" y="2340863"/>
            <a:ext cx="11247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3</a:t>
            </a:r>
          </a:p>
        </p:txBody>
      </p:sp>
      <p:sp>
        <p:nvSpPr>
          <p:cNvPr id="24" name="Rectangle 23"/>
          <p:cNvSpPr/>
          <p:nvPr/>
        </p:nvSpPr>
        <p:spPr>
          <a:xfrm>
            <a:off x="6784848" y="2295144"/>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839712" y="2340863"/>
            <a:ext cx="21305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39</a:t>
            </a:r>
          </a:p>
        </p:txBody>
      </p:sp>
      <p:sp>
        <p:nvSpPr>
          <p:cNvPr id="26" name="Rectangle 25"/>
          <p:cNvSpPr/>
          <p:nvPr/>
        </p:nvSpPr>
        <p:spPr>
          <a:xfrm>
            <a:off x="9025128" y="2295144"/>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079992" y="2340863"/>
            <a:ext cx="240487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33</a:t>
            </a:r>
          </a:p>
        </p:txBody>
      </p:sp>
      <p:sp>
        <p:nvSpPr>
          <p:cNvPr id="28" name="Rectangle 27"/>
          <p:cNvSpPr/>
          <p:nvPr/>
        </p:nvSpPr>
        <p:spPr>
          <a:xfrm>
            <a:off x="658368" y="2953511"/>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2999231"/>
            <a:ext cx="12161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ROSMAP</a:t>
            </a:r>
          </a:p>
        </p:txBody>
      </p:sp>
      <p:sp>
        <p:nvSpPr>
          <p:cNvPr id="30" name="Rectangle 29"/>
          <p:cNvSpPr/>
          <p:nvPr/>
        </p:nvSpPr>
        <p:spPr>
          <a:xfrm>
            <a:off x="1984248" y="2953511"/>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039112" y="2999231"/>
            <a:ext cx="1764791"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5</a:t>
            </a:r>
          </a:p>
        </p:txBody>
      </p:sp>
      <p:sp>
        <p:nvSpPr>
          <p:cNvPr id="32" name="Rectangle 31"/>
          <p:cNvSpPr/>
          <p:nvPr/>
        </p:nvSpPr>
        <p:spPr>
          <a:xfrm>
            <a:off x="3858768" y="2953511"/>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913631" y="2999231"/>
            <a:ext cx="15819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40</a:t>
            </a:r>
          </a:p>
        </p:txBody>
      </p:sp>
      <p:sp>
        <p:nvSpPr>
          <p:cNvPr id="34" name="Rectangle 33"/>
          <p:cNvSpPr/>
          <p:nvPr/>
        </p:nvSpPr>
        <p:spPr>
          <a:xfrm>
            <a:off x="5550408" y="2953511"/>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05272" y="2999231"/>
            <a:ext cx="11247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2</a:t>
            </a:r>
          </a:p>
        </p:txBody>
      </p:sp>
      <p:sp>
        <p:nvSpPr>
          <p:cNvPr id="36" name="Rectangle 35"/>
          <p:cNvSpPr/>
          <p:nvPr/>
        </p:nvSpPr>
        <p:spPr>
          <a:xfrm>
            <a:off x="6784848" y="2953511"/>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839712" y="2999231"/>
            <a:ext cx="21305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13</a:t>
            </a:r>
          </a:p>
        </p:txBody>
      </p:sp>
      <p:sp>
        <p:nvSpPr>
          <p:cNvPr id="38" name="Rectangle 37"/>
          <p:cNvSpPr/>
          <p:nvPr/>
        </p:nvSpPr>
        <p:spPr>
          <a:xfrm>
            <a:off x="9025128" y="2953511"/>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079992" y="2999231"/>
            <a:ext cx="240487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13</a:t>
            </a:r>
          </a:p>
        </p:txBody>
      </p:sp>
      <p:sp>
        <p:nvSpPr>
          <p:cNvPr id="40" name="Rectangle 39"/>
          <p:cNvSpPr/>
          <p:nvPr/>
        </p:nvSpPr>
        <p:spPr>
          <a:xfrm>
            <a:off x="658368" y="3611879"/>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13232" y="3657599"/>
            <a:ext cx="12161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SEA-AD</a:t>
            </a:r>
          </a:p>
        </p:txBody>
      </p:sp>
      <p:sp>
        <p:nvSpPr>
          <p:cNvPr id="42" name="Rectangle 41"/>
          <p:cNvSpPr/>
          <p:nvPr/>
        </p:nvSpPr>
        <p:spPr>
          <a:xfrm>
            <a:off x="1984248" y="3611879"/>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039112" y="3657599"/>
            <a:ext cx="1764791"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3</a:t>
            </a:r>
          </a:p>
        </p:txBody>
      </p:sp>
      <p:sp>
        <p:nvSpPr>
          <p:cNvPr id="44" name="Rectangle 43"/>
          <p:cNvSpPr/>
          <p:nvPr/>
        </p:nvSpPr>
        <p:spPr>
          <a:xfrm>
            <a:off x="3858768" y="3611879"/>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913631" y="3657599"/>
            <a:ext cx="15819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28</a:t>
            </a:r>
          </a:p>
        </p:txBody>
      </p:sp>
      <p:sp>
        <p:nvSpPr>
          <p:cNvPr id="46" name="Rectangle 45"/>
          <p:cNvSpPr/>
          <p:nvPr/>
        </p:nvSpPr>
        <p:spPr>
          <a:xfrm>
            <a:off x="5550408" y="3611879"/>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605272" y="3657599"/>
            <a:ext cx="11247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5</a:t>
            </a:r>
          </a:p>
        </p:txBody>
      </p:sp>
      <p:sp>
        <p:nvSpPr>
          <p:cNvPr id="48" name="Rectangle 47"/>
          <p:cNvSpPr/>
          <p:nvPr/>
        </p:nvSpPr>
        <p:spPr>
          <a:xfrm>
            <a:off x="6784848" y="3611879"/>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839712" y="3657599"/>
            <a:ext cx="21305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24</a:t>
            </a:r>
          </a:p>
        </p:txBody>
      </p:sp>
      <p:sp>
        <p:nvSpPr>
          <p:cNvPr id="50" name="Rectangle 49"/>
          <p:cNvSpPr/>
          <p:nvPr/>
        </p:nvSpPr>
        <p:spPr>
          <a:xfrm>
            <a:off x="9025128" y="3611879"/>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079992" y="3657599"/>
            <a:ext cx="240487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18</a:t>
            </a:r>
          </a:p>
        </p:txBody>
      </p:sp>
      <p:sp>
        <p:nvSpPr>
          <p:cNvPr id="52" name="Rectangle 51"/>
          <p:cNvSpPr/>
          <p:nvPr/>
        </p:nvSpPr>
        <p:spPr>
          <a:xfrm>
            <a:off x="658368" y="4270248"/>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13232" y="4315968"/>
            <a:ext cx="12161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SEA-AD</a:t>
            </a:r>
          </a:p>
        </p:txBody>
      </p:sp>
      <p:sp>
        <p:nvSpPr>
          <p:cNvPr id="54" name="Rectangle 53"/>
          <p:cNvSpPr/>
          <p:nvPr/>
        </p:nvSpPr>
        <p:spPr>
          <a:xfrm>
            <a:off x="1984248" y="4270248"/>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039112" y="4315968"/>
            <a:ext cx="1764791"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5</a:t>
            </a:r>
          </a:p>
        </p:txBody>
      </p:sp>
      <p:sp>
        <p:nvSpPr>
          <p:cNvPr id="56" name="Rectangle 55"/>
          <p:cNvSpPr/>
          <p:nvPr/>
        </p:nvSpPr>
        <p:spPr>
          <a:xfrm>
            <a:off x="3858768" y="4270248"/>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913631" y="4315968"/>
            <a:ext cx="15819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20</a:t>
            </a:r>
          </a:p>
        </p:txBody>
      </p:sp>
      <p:sp>
        <p:nvSpPr>
          <p:cNvPr id="58" name="Rectangle 57"/>
          <p:cNvSpPr/>
          <p:nvPr/>
        </p:nvSpPr>
        <p:spPr>
          <a:xfrm>
            <a:off x="5550408" y="4270248"/>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605272" y="4315968"/>
            <a:ext cx="112471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5</a:t>
            </a:r>
          </a:p>
        </p:txBody>
      </p:sp>
      <p:sp>
        <p:nvSpPr>
          <p:cNvPr id="60" name="Rectangle 59"/>
          <p:cNvSpPr/>
          <p:nvPr/>
        </p:nvSpPr>
        <p:spPr>
          <a:xfrm>
            <a:off x="6784848" y="4270248"/>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839712" y="4315968"/>
            <a:ext cx="213055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24</a:t>
            </a:r>
          </a:p>
        </p:txBody>
      </p:sp>
      <p:sp>
        <p:nvSpPr>
          <p:cNvPr id="62" name="Rectangle 61"/>
          <p:cNvSpPr/>
          <p:nvPr/>
        </p:nvSpPr>
        <p:spPr>
          <a:xfrm>
            <a:off x="9025128" y="4270248"/>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079992" y="4315968"/>
            <a:ext cx="2404872" cy="58521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0" i="0">
                <a:solidFill>
                  <a:srgbClr val="1F2730"/>
                </a:solidFill>
                <a:latin typeface="Arial"/>
              </a:rPr>
              <a:t>18</a:t>
            </a:r>
          </a:p>
        </p:txBody>
      </p:sp>
      <p:sp>
        <p:nvSpPr>
          <p:cNvPr id="64" name="Rounded Rectangle 63"/>
          <p:cNvSpPr/>
          <p:nvPr/>
        </p:nvSpPr>
        <p:spPr>
          <a:xfrm>
            <a:off x="658368" y="5157216"/>
            <a:ext cx="10881360" cy="65836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14400" y="5340096"/>
            <a:ext cx="10369296" cy="28346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80" b="1" i="0">
                <a:solidFill>
                  <a:srgbClr val="0F233D"/>
                </a:solidFill>
                <a:latin typeface="Arial"/>
              </a:rPr>
              <a:t>Driver rows count significant returned KDA rows. Unique non-MT drivers exclude MT-* genes and are deduplicated within each cohort.</a:t>
            </a:r>
          </a:p>
        </p:txBody>
      </p:sp>
      <p:sp>
        <p:nvSpPr>
          <p:cNvPr id="66" name="TextBox 65"/>
          <p:cNvSpPr txBox="1"/>
          <p:nvPr/>
        </p:nvSpPr>
        <p:spPr>
          <a:xfrm>
            <a:off x="658368" y="6473952"/>
            <a:ext cx="10881360" cy="14630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670" b="0" i="0">
                <a:solidFill>
                  <a:srgbClr val="6C7988"/>
                </a:solidFill>
                <a:latin typeface="Arial"/>
              </a:rPr>
              <a:t>Source: Phase 22 and VH14 run manifests/returns; donor-per-arm 3-vs-5 sensitivity assessment (2026-09-11).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Donor-threshold sensitivity — key findings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Raising minimum donors per disease arm from 3 to 5 in ROSMAP and SEA-AD.</a:t>
            </a:r>
          </a:p>
        </p:txBody>
      </p:sp>
      <p:sp>
        <p:nvSpPr>
          <p:cNvPr id="4" name="Rounded Rectangle 3"/>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KEY FINDINGS</a:t>
            </a:r>
          </a:p>
        </p:txBody>
      </p:sp>
      <p:sp>
        <p:nvSpPr>
          <p:cNvPr id="6" name="Oval 5"/>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20" b="0" i="0">
                <a:solidFill>
                  <a:srgbClr val="1F2730"/>
                </a:solidFill>
                <a:latin typeface="Arial"/>
              </a:rPr>
              <a:t>ROSMAP loses the Vasculature × M_e2 4-versus-3-donor call, which alone generated 26 driver rows. This removes the low-support result dominating the ROSMAP release.</a:t>
            </a:r>
          </a:p>
        </p:txBody>
      </p:sp>
      <p:sp>
        <p:nvSpPr>
          <p:cNvPr id="8" name="Oval 7"/>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20" b="0" i="0">
                <a:solidFill>
                  <a:srgbClr val="1F2730"/>
                </a:solidFill>
                <a:latin typeface="Arial"/>
              </a:rPr>
              <a:t>SEA-AD loses eight eligible contrasts, but all already had empty mitochondrial queries. Therefore, all five KDA runs and all returned drivers remain unchanged.</a:t>
            </a:r>
          </a:p>
        </p:txBody>
      </p:sp>
      <p:sp>
        <p:nvSpPr>
          <p:cNvPr id="10" name="Oval 9"/>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20" b="0" i="0">
                <a:solidFill>
                  <a:srgbClr val="1F2730"/>
                </a:solidFill>
                <a:latin typeface="Arial"/>
              </a:rPr>
              <a:t>Cross-cohort validation remains zero at both thresholds.</a:t>
            </a:r>
          </a:p>
        </p:txBody>
      </p:sp>
      <p:sp>
        <p:nvSpPr>
          <p:cNvPr id="12" name="Oval 1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20" b="0" i="0">
                <a:solidFill>
                  <a:srgbClr val="1F2730"/>
                </a:solidFill>
                <a:latin typeface="Arial"/>
              </a:rPr>
              <a:t>The only exact shared executed stratum remains Astrocytes × F_e4, with no shared drivers.</a:t>
            </a:r>
          </a:p>
        </p:txBody>
      </p:sp>
      <p:sp>
        <p:nvSpPr>
          <p:cNvPr id="14" name="Oval 13"/>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20" b="0" i="0">
                <a:solidFill>
                  <a:srgbClr val="1F2730"/>
                </a:solidFill>
                <a:latin typeface="Arial"/>
              </a:rPr>
              <a:t>The excluded contrasts are treated as unavailable comparisons—not negative validation results.</a:t>
            </a:r>
          </a:p>
        </p:txBody>
      </p:sp>
      <p:sp>
        <p:nvSpPr>
          <p:cNvPr id="16" name="TextBox 15"/>
          <p:cNvSpPr txBox="1"/>
          <p:nvPr/>
        </p:nvSpPr>
        <p:spPr>
          <a:xfrm>
            <a:off x="658368" y="6473952"/>
            <a:ext cx="10881360" cy="14630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670" b="0" i="0">
                <a:solidFill>
                  <a:srgbClr val="6C7988"/>
                </a:solidFill>
                <a:latin typeface="Arial"/>
              </a:rPr>
              <a:t>Source: Phase 22 and VH14 run manifests/returns; donor-per-arm 3-vs-5 sensitivity assessment (2026-09-11).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Query-size sensitivity — numerical comparison</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Minimum effective genes after network mapping; donor minimum held at 3 per disease arm.</a:t>
            </a:r>
          </a:p>
        </p:txBody>
      </p:sp>
      <p:sp>
        <p:nvSpPr>
          <p:cNvPr id="4" name="Rectangle 3"/>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59" y="1426464"/>
            <a:ext cx="987552"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Cohort</a:t>
            </a:r>
          </a:p>
        </p:txBody>
      </p:sp>
      <p:sp>
        <p:nvSpPr>
          <p:cNvPr id="6" name="Rectangle 5"/>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426464"/>
            <a:ext cx="1216152"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Minimum query genes</a:t>
            </a:r>
          </a:p>
        </p:txBody>
      </p:sp>
      <p:sp>
        <p:nvSpPr>
          <p:cNvPr id="8" name="Rectangle 7"/>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017520" y="1426464"/>
            <a:ext cx="1673352"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Source-estimable contrasts</a:t>
            </a:r>
          </a:p>
        </p:txBody>
      </p:sp>
      <p:sp>
        <p:nvSpPr>
          <p:cNvPr id="10" name="Rectangle 9"/>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00600" y="1426464"/>
            <a:ext cx="1627631"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Query-passing contrasts</a:t>
            </a:r>
          </a:p>
        </p:txBody>
      </p:sp>
      <p:sp>
        <p:nvSpPr>
          <p:cNvPr id="12" name="Rectangle 1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37959" y="1426464"/>
            <a:ext cx="941831"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KDA runs</a:t>
            </a:r>
          </a:p>
        </p:txBody>
      </p:sp>
      <p:sp>
        <p:nvSpPr>
          <p:cNvPr id="14" name="Rectangle 13"/>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89520" y="1426464"/>
            <a:ext cx="1883664"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Significant KD rows</a:t>
            </a:r>
          </a:p>
        </p:txBody>
      </p:sp>
      <p:sp>
        <p:nvSpPr>
          <p:cNvPr id="16" name="Rectangle 15"/>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82912" y="1426464"/>
            <a:ext cx="2011679" cy="53949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79" b="1" i="0">
                <a:solidFill>
                  <a:srgbClr val="FFFFFF"/>
                </a:solidFill>
                <a:latin typeface="Arial"/>
              </a:rPr>
              <a:t>Unique non-MT KDs</a:t>
            </a:r>
          </a:p>
        </p:txBody>
      </p:sp>
      <p:sp>
        <p:nvSpPr>
          <p:cNvPr id="18" name="Rectangle 17"/>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59" y="2048255"/>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ROSMAP</a:t>
            </a:r>
          </a:p>
        </p:txBody>
      </p:sp>
      <p:sp>
        <p:nvSpPr>
          <p:cNvPr id="20" name="Rectangle 19"/>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691640" y="2048255"/>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22" name="Rectangle 2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017520" y="2048255"/>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42</a:t>
            </a:r>
          </a:p>
        </p:txBody>
      </p:sp>
      <p:sp>
        <p:nvSpPr>
          <p:cNvPr id="24" name="Rectangle 23"/>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2048255"/>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26" name="Rectangle 25"/>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37959" y="2048255"/>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28" name="Rectangle 27"/>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589520" y="2048255"/>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39</a:t>
            </a:r>
          </a:p>
        </p:txBody>
      </p:sp>
      <p:sp>
        <p:nvSpPr>
          <p:cNvPr id="30" name="Rectangle 29"/>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582912" y="2048255"/>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33</a:t>
            </a:r>
          </a:p>
        </p:txBody>
      </p:sp>
      <p:sp>
        <p:nvSpPr>
          <p:cNvPr id="32" name="Rectangle 3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94359" y="2441448"/>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ROSMAP</a:t>
            </a:r>
          </a:p>
        </p:txBody>
      </p:sp>
      <p:sp>
        <p:nvSpPr>
          <p:cNvPr id="34" name="Rectangle 33"/>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691640" y="2441448"/>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36" name="Rectangle 35"/>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017520" y="2441448"/>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42</a:t>
            </a:r>
          </a:p>
        </p:txBody>
      </p:sp>
      <p:sp>
        <p:nvSpPr>
          <p:cNvPr id="38" name="Rectangle 37"/>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800600" y="2441448"/>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a:t>
            </a:r>
          </a:p>
        </p:txBody>
      </p:sp>
      <p:sp>
        <p:nvSpPr>
          <p:cNvPr id="40" name="Rectangle 39"/>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37959" y="2441448"/>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a:t>
            </a:r>
          </a:p>
        </p:txBody>
      </p:sp>
      <p:sp>
        <p:nvSpPr>
          <p:cNvPr id="42" name="Rectangle 4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589520" y="2441448"/>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30</a:t>
            </a:r>
          </a:p>
        </p:txBody>
      </p:sp>
      <p:sp>
        <p:nvSpPr>
          <p:cNvPr id="44" name="Rectangle 43"/>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582912" y="2441448"/>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24</a:t>
            </a:r>
          </a:p>
        </p:txBody>
      </p:sp>
      <p:sp>
        <p:nvSpPr>
          <p:cNvPr id="46" name="Rectangle 45"/>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94359" y="2834639"/>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ROSMAP</a:t>
            </a:r>
          </a:p>
        </p:txBody>
      </p:sp>
      <p:sp>
        <p:nvSpPr>
          <p:cNvPr id="48" name="Rectangle 47"/>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691640" y="2834639"/>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10</a:t>
            </a:r>
          </a:p>
        </p:txBody>
      </p:sp>
      <p:sp>
        <p:nvSpPr>
          <p:cNvPr id="50" name="Rectangle 49"/>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017520" y="2834639"/>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42</a:t>
            </a:r>
          </a:p>
        </p:txBody>
      </p:sp>
      <p:sp>
        <p:nvSpPr>
          <p:cNvPr id="52" name="Rectangle 5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00600" y="2834639"/>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54" name="Rectangle 53"/>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537959" y="2834639"/>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56" name="Rectangle 55"/>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589520" y="2834639"/>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26</a:t>
            </a:r>
          </a:p>
        </p:txBody>
      </p:sp>
      <p:sp>
        <p:nvSpPr>
          <p:cNvPr id="58" name="Rectangle 57"/>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582912" y="2834639"/>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20</a:t>
            </a:r>
          </a:p>
        </p:txBody>
      </p:sp>
      <p:sp>
        <p:nvSpPr>
          <p:cNvPr id="60" name="Rectangle 59"/>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4359" y="3227832"/>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ROSMAP</a:t>
            </a:r>
          </a:p>
        </p:txBody>
      </p:sp>
      <p:sp>
        <p:nvSpPr>
          <p:cNvPr id="62" name="Rectangle 6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691640" y="3227832"/>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20</a:t>
            </a:r>
          </a:p>
        </p:txBody>
      </p:sp>
      <p:sp>
        <p:nvSpPr>
          <p:cNvPr id="64" name="Rectangle 63"/>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017520" y="3227832"/>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42</a:t>
            </a:r>
          </a:p>
        </p:txBody>
      </p:sp>
      <p:sp>
        <p:nvSpPr>
          <p:cNvPr id="66" name="Rectangle 65"/>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800600" y="3227832"/>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68" name="Rectangle 67"/>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537959" y="3227832"/>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70" name="Rectangle 69"/>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589520" y="3227832"/>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26</a:t>
            </a:r>
          </a:p>
        </p:txBody>
      </p:sp>
      <p:sp>
        <p:nvSpPr>
          <p:cNvPr id="72" name="Rectangle 7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82912" y="3227832"/>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20</a:t>
            </a:r>
          </a:p>
        </p:txBody>
      </p:sp>
      <p:sp>
        <p:nvSpPr>
          <p:cNvPr id="74" name="Rectangle 73"/>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594359" y="3621024"/>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ROSMAP</a:t>
            </a:r>
          </a:p>
        </p:txBody>
      </p:sp>
      <p:sp>
        <p:nvSpPr>
          <p:cNvPr id="76" name="Rectangle 75"/>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691640" y="3621024"/>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30</a:t>
            </a:r>
          </a:p>
        </p:txBody>
      </p:sp>
      <p:sp>
        <p:nvSpPr>
          <p:cNvPr id="78" name="Rectangle 77"/>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3017520" y="3621024"/>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42</a:t>
            </a:r>
          </a:p>
        </p:txBody>
      </p:sp>
      <p:sp>
        <p:nvSpPr>
          <p:cNvPr id="80" name="Rectangle 79"/>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4800600" y="3621024"/>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82" name="Rectangle 8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6537959" y="3621024"/>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a:t>
            </a:r>
          </a:p>
        </p:txBody>
      </p:sp>
      <p:sp>
        <p:nvSpPr>
          <p:cNvPr id="84" name="Rectangle 83"/>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7589520" y="3621024"/>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26</a:t>
            </a:r>
          </a:p>
        </p:txBody>
      </p:sp>
      <p:sp>
        <p:nvSpPr>
          <p:cNvPr id="86" name="Rectangle 85"/>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9582912" y="3621024"/>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20</a:t>
            </a:r>
          </a:p>
        </p:txBody>
      </p:sp>
      <p:sp>
        <p:nvSpPr>
          <p:cNvPr id="88" name="Rectangle 87"/>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594359" y="4014215"/>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SEA-AD</a:t>
            </a:r>
          </a:p>
        </p:txBody>
      </p:sp>
      <p:sp>
        <p:nvSpPr>
          <p:cNvPr id="90" name="Rectangle 89"/>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691640" y="4014215"/>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92" name="Rectangle 9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017520" y="4014215"/>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28</a:t>
            </a:r>
          </a:p>
        </p:txBody>
      </p:sp>
      <p:sp>
        <p:nvSpPr>
          <p:cNvPr id="94" name="Rectangle 93"/>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4800600" y="4014215"/>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96" name="Rectangle 95"/>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6537959" y="4014215"/>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98" name="Rectangle 97"/>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7589520" y="4014215"/>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24</a:t>
            </a:r>
          </a:p>
        </p:txBody>
      </p:sp>
      <p:sp>
        <p:nvSpPr>
          <p:cNvPr id="100" name="Rectangle 99"/>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9582912" y="4014215"/>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18</a:t>
            </a:r>
          </a:p>
        </p:txBody>
      </p:sp>
      <p:sp>
        <p:nvSpPr>
          <p:cNvPr id="102" name="Rectangle 10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594359" y="4407407"/>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SEA-AD</a:t>
            </a:r>
          </a:p>
        </p:txBody>
      </p:sp>
      <p:sp>
        <p:nvSpPr>
          <p:cNvPr id="104" name="Rectangle 103"/>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1691640" y="4407407"/>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106" name="Rectangle 105"/>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3017520" y="4407407"/>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28</a:t>
            </a:r>
          </a:p>
        </p:txBody>
      </p:sp>
      <p:sp>
        <p:nvSpPr>
          <p:cNvPr id="108" name="Rectangle 107"/>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4800600" y="4407407"/>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110" name="Rectangle 109"/>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6537959" y="4407407"/>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5</a:t>
            </a:r>
          </a:p>
        </p:txBody>
      </p:sp>
      <p:sp>
        <p:nvSpPr>
          <p:cNvPr id="112" name="Rectangle 11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7589520" y="4407407"/>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24</a:t>
            </a:r>
          </a:p>
        </p:txBody>
      </p:sp>
      <p:sp>
        <p:nvSpPr>
          <p:cNvPr id="114" name="Rectangle 113"/>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9582912" y="4407407"/>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18</a:t>
            </a:r>
          </a:p>
        </p:txBody>
      </p:sp>
      <p:sp>
        <p:nvSpPr>
          <p:cNvPr id="116" name="Rectangle 115"/>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594359" y="4800599"/>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SEA-AD</a:t>
            </a:r>
          </a:p>
        </p:txBody>
      </p:sp>
      <p:sp>
        <p:nvSpPr>
          <p:cNvPr id="118" name="Rectangle 117"/>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1691640" y="4800599"/>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10</a:t>
            </a:r>
          </a:p>
        </p:txBody>
      </p:sp>
      <p:sp>
        <p:nvSpPr>
          <p:cNvPr id="120" name="Rectangle 119"/>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3017520" y="4800599"/>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28</a:t>
            </a:r>
          </a:p>
        </p:txBody>
      </p:sp>
      <p:sp>
        <p:nvSpPr>
          <p:cNvPr id="122" name="Rectangle 12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p:cNvSpPr txBox="1"/>
          <p:nvPr/>
        </p:nvSpPr>
        <p:spPr>
          <a:xfrm>
            <a:off x="4800600" y="4800599"/>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24" name="Rectangle 123"/>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6537959" y="4800599"/>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26" name="Rectangle 125"/>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7589520" y="4800599"/>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8</a:t>
            </a:r>
          </a:p>
        </p:txBody>
      </p:sp>
      <p:sp>
        <p:nvSpPr>
          <p:cNvPr id="128" name="Rectangle 127"/>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9582912" y="4800599"/>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30" name="Rectangle 129"/>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594359" y="5193792"/>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SEA-AD</a:t>
            </a:r>
          </a:p>
        </p:txBody>
      </p:sp>
      <p:sp>
        <p:nvSpPr>
          <p:cNvPr id="132" name="Rectangle 13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1691640" y="5193792"/>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20</a:t>
            </a:r>
          </a:p>
        </p:txBody>
      </p:sp>
      <p:sp>
        <p:nvSpPr>
          <p:cNvPr id="134" name="Rectangle 133"/>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TextBox 134"/>
          <p:cNvSpPr txBox="1"/>
          <p:nvPr/>
        </p:nvSpPr>
        <p:spPr>
          <a:xfrm>
            <a:off x="3017520" y="5193792"/>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28</a:t>
            </a:r>
          </a:p>
        </p:txBody>
      </p:sp>
      <p:sp>
        <p:nvSpPr>
          <p:cNvPr id="136" name="Rectangle 135"/>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TextBox 136"/>
          <p:cNvSpPr txBox="1"/>
          <p:nvPr/>
        </p:nvSpPr>
        <p:spPr>
          <a:xfrm>
            <a:off x="4800600" y="5193792"/>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38" name="Rectangle 137"/>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6537959" y="5193792"/>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40" name="Rectangle 139"/>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7589520" y="5193792"/>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8</a:t>
            </a:r>
          </a:p>
        </p:txBody>
      </p:sp>
      <p:sp>
        <p:nvSpPr>
          <p:cNvPr id="142" name="Rectangle 14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9582912" y="5193792"/>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44" name="Rectangle 143"/>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594359" y="5586984"/>
            <a:ext cx="9875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SEA-AD</a:t>
            </a:r>
          </a:p>
        </p:txBody>
      </p:sp>
      <p:sp>
        <p:nvSpPr>
          <p:cNvPr id="146" name="Rectangle 145"/>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1691640" y="5586984"/>
            <a:ext cx="12161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30</a:t>
            </a:r>
          </a:p>
        </p:txBody>
      </p:sp>
      <p:sp>
        <p:nvSpPr>
          <p:cNvPr id="148" name="Rectangle 147"/>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3017520" y="5586984"/>
            <a:ext cx="1673352"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28</a:t>
            </a:r>
          </a:p>
        </p:txBody>
      </p:sp>
      <p:sp>
        <p:nvSpPr>
          <p:cNvPr id="150" name="Rectangle 149"/>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4800600" y="5586984"/>
            <a:ext cx="16276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a:t>
            </a:r>
          </a:p>
        </p:txBody>
      </p:sp>
      <p:sp>
        <p:nvSpPr>
          <p:cNvPr id="152" name="Rectangle 15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6537959" y="5586984"/>
            <a:ext cx="941831"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2</a:t>
            </a:r>
          </a:p>
        </p:txBody>
      </p:sp>
      <p:sp>
        <p:nvSpPr>
          <p:cNvPr id="154" name="Rectangle 153"/>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7589520" y="5586984"/>
            <a:ext cx="1883664"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7</a:t>
            </a:r>
          </a:p>
        </p:txBody>
      </p:sp>
      <p:sp>
        <p:nvSpPr>
          <p:cNvPr id="156" name="Rectangle 155"/>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9582912" y="5586984"/>
            <a:ext cx="2011679" cy="32004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919" b="0" i="0">
                <a:solidFill>
                  <a:srgbClr val="1F2730"/>
                </a:solidFill>
                <a:latin typeface="Arial"/>
              </a:rPr>
              <a:t>3</a:t>
            </a:r>
          </a:p>
        </p:txBody>
      </p:sp>
      <p:sp>
        <p:nvSpPr>
          <p:cNvPr id="158" name="TextBox 157"/>
          <p:cNvSpPr txBox="1"/>
          <p:nvPr/>
        </p:nvSpPr>
        <p:spPr>
          <a:xfrm>
            <a:off x="640080" y="6089904"/>
            <a:ext cx="10927080" cy="23774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40" b="1" i="0">
                <a:solidFill>
                  <a:srgbClr val="4E5A68"/>
                </a:solidFill>
                <a:latin typeface="Arial"/>
              </a:rPr>
              <a:t>One query is used per contrast, so query-passing contrasts and KDA runs are identical here.</a:t>
            </a:r>
          </a:p>
        </p:txBody>
      </p:sp>
      <p:sp>
        <p:nvSpPr>
          <p:cNvPr id="159" name="TextBox 158"/>
          <p:cNvSpPr txBox="1"/>
          <p:nvPr/>
        </p:nvSpPr>
        <p:spPr>
          <a:xfrm>
            <a:off x="658368" y="6473952"/>
            <a:ext cx="10881360" cy="14630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670" b="0" i="0">
                <a:solidFill>
                  <a:srgbClr val="6C7988"/>
                </a:solidFill>
                <a:latin typeface="Arial"/>
              </a:rPr>
              <a:t>Source: validated Phase 22 and VH14 run manifests and significant-return tables (2026-09-11).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Query-size sensitivity — cohort effects</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Only seven current KDA calls determine the entire threshold response.</a:t>
            </a:r>
          </a:p>
        </p:txBody>
      </p:sp>
      <p:sp>
        <p:nvSpPr>
          <p:cNvPr id="4" name="Rounded Rectangle 3"/>
          <p:cNvSpPr/>
          <p:nvPr/>
        </p:nvSpPr>
        <p:spPr>
          <a:xfrm>
            <a:off x="502920" y="1307592"/>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04672" y="160020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50976" y="1572768"/>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ROSMAP</a:t>
            </a:r>
          </a:p>
        </p:txBody>
      </p:sp>
      <p:sp>
        <p:nvSpPr>
          <p:cNvPr id="7" name="Oval 6"/>
          <p:cNvSpPr/>
          <p:nvPr/>
        </p:nvSpPr>
        <p:spPr>
          <a:xfrm>
            <a:off x="822960" y="2276856"/>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6696" y="21488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Current executed query sizes: 3, 8, and 78 genes.</a:t>
            </a:r>
          </a:p>
        </p:txBody>
      </p:sp>
      <p:sp>
        <p:nvSpPr>
          <p:cNvPr id="9" name="Oval 8"/>
          <p:cNvSpPr/>
          <p:nvPr/>
        </p:nvSpPr>
        <p:spPr>
          <a:xfrm>
            <a:off x="822960" y="2962656"/>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96696" y="28346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Minimum 5 removes OPCs × F_e4: 9 driver rows.</a:t>
            </a:r>
          </a:p>
        </p:txBody>
      </p:sp>
      <p:sp>
        <p:nvSpPr>
          <p:cNvPr id="11" name="Oval 10"/>
          <p:cNvSpPr/>
          <p:nvPr/>
        </p:nvSpPr>
        <p:spPr>
          <a:xfrm>
            <a:off x="822960" y="3648456"/>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6696" y="35204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Minimum 10 also removes Astrocytes × F_e4: 4 more rows; thresholds 20 and 30 make no further change.</a:t>
            </a:r>
          </a:p>
        </p:txBody>
      </p:sp>
      <p:sp>
        <p:nvSpPr>
          <p:cNvPr id="13" name="Oval 12"/>
          <p:cNvSpPr/>
          <p:nvPr/>
        </p:nvSpPr>
        <p:spPr>
          <a:xfrm>
            <a:off x="822960" y="4334255"/>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96696" y="42062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At ≥10, only the low-support Vasculature × M_e2 call remains: 26 rows and 20 unique non-MT drivers.</a:t>
            </a:r>
          </a:p>
        </p:txBody>
      </p:sp>
      <p:sp>
        <p:nvSpPr>
          <p:cNvPr id="15" name="Rounded Rectangle 14"/>
          <p:cNvSpPr/>
          <p:nvPr/>
        </p:nvSpPr>
        <p:spPr>
          <a:xfrm>
            <a:off x="822960" y="5102352"/>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7552" y="5230368"/>
            <a:ext cx="4498848" cy="22860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90" b="1" i="0">
                <a:solidFill>
                  <a:srgbClr val="9E3A00"/>
                </a:solidFill>
                <a:latin typeface="Arial"/>
              </a:rPr>
              <a:t>A higher query floor increases domination by the low-donor vasculature result.</a:t>
            </a:r>
          </a:p>
        </p:txBody>
      </p:sp>
      <p:sp>
        <p:nvSpPr>
          <p:cNvPr id="17" name="Rounded Rectangle 16"/>
          <p:cNvSpPr/>
          <p:nvPr/>
        </p:nvSpPr>
        <p:spPr>
          <a:xfrm>
            <a:off x="6236208" y="1307592"/>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537960" y="1600200"/>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84264" y="1572768"/>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SEA-AD</a:t>
            </a:r>
          </a:p>
        </p:txBody>
      </p:sp>
      <p:sp>
        <p:nvSpPr>
          <p:cNvPr id="20" name="Oval 19"/>
          <p:cNvSpPr/>
          <p:nvPr/>
        </p:nvSpPr>
        <p:spPr>
          <a:xfrm>
            <a:off x="6556248" y="227685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29984" y="21488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Current executed query sizes: 5, 9, 21, 43, and 45 genes.</a:t>
            </a:r>
          </a:p>
        </p:txBody>
      </p:sp>
      <p:sp>
        <p:nvSpPr>
          <p:cNvPr id="22" name="Oval 21"/>
          <p:cNvSpPr/>
          <p:nvPr/>
        </p:nvSpPr>
        <p:spPr>
          <a:xfrm>
            <a:off x="6556248" y="296265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9984" y="28346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Minimum 5 changes nothing.</a:t>
            </a:r>
          </a:p>
        </p:txBody>
      </p:sp>
      <p:sp>
        <p:nvSpPr>
          <p:cNvPr id="24" name="Oval 23"/>
          <p:cNvSpPr/>
          <p:nvPr/>
        </p:nvSpPr>
        <p:spPr>
          <a:xfrm>
            <a:off x="6556248" y="364845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729984" y="35204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Minimum 10 removes Microglia × M_e33 and Astrocytes × F_e4: 24 → 8 rows and 18 → 3 unique non-MT drivers.</a:t>
            </a:r>
          </a:p>
        </p:txBody>
      </p:sp>
      <p:sp>
        <p:nvSpPr>
          <p:cNvPr id="26" name="Oval 25"/>
          <p:cNvSpPr/>
          <p:nvPr/>
        </p:nvSpPr>
        <p:spPr>
          <a:xfrm>
            <a:off x="6556248" y="433425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29984" y="4206240"/>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70" b="0" i="0">
                <a:solidFill>
                  <a:srgbClr val="1F2730"/>
                </a:solidFill>
                <a:latin typeface="Arial"/>
              </a:rPr>
              <a:t>Minimum 20 changes nothing further; minimum 30 removes Oligodendrocytes × M_e33, whose sole return is MT-*.</a:t>
            </a:r>
          </a:p>
        </p:txBody>
      </p:sp>
      <p:sp>
        <p:nvSpPr>
          <p:cNvPr id="28" name="Rounded Rectangle 27"/>
          <p:cNvSpPr/>
          <p:nvPr/>
        </p:nvSpPr>
        <p:spPr>
          <a:xfrm>
            <a:off x="6556248" y="5102352"/>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20840" y="5230368"/>
            <a:ext cx="4498848" cy="22860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90" b="1" i="0">
                <a:solidFill>
                  <a:srgbClr val="00684D"/>
                </a:solidFill>
                <a:latin typeface="Arial"/>
              </a:rPr>
              <a:t>The non-MT driver count reaches 3 at minimum 10 and stays there through 30.</a:t>
            </a:r>
          </a:p>
        </p:txBody>
      </p:sp>
      <p:sp>
        <p:nvSpPr>
          <p:cNvPr id="30" name="TextBox 29"/>
          <p:cNvSpPr txBox="1"/>
          <p:nvPr/>
        </p:nvSpPr>
        <p:spPr>
          <a:xfrm>
            <a:off x="658368" y="6473952"/>
            <a:ext cx="10881360" cy="14630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670" b="0" i="0">
                <a:solidFill>
                  <a:srgbClr val="6C7988"/>
                </a:solidFill>
                <a:latin typeface="Arial"/>
              </a:rPr>
              <a:t>Source: validated Phase 22 and VH14 run manifests and significant-return tables (2026-09-11).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450" b="1" i="0">
                <a:solidFill>
                  <a:srgbClr val="0F233D"/>
                </a:solidFill>
                <a:latin typeface="Arial"/>
              </a:rPr>
              <a:t>Query-size sensitivity — validation interpretation</a:t>
            </a:r>
          </a:p>
        </p:txBody>
      </p:sp>
      <p:sp>
        <p:nvSpPr>
          <p:cNvPr id="3" name="TextBox 2"/>
          <p:cNvSpPr txBox="1"/>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20" b="0" i="0">
                <a:solidFill>
                  <a:srgbClr val="4E5A68"/>
                </a:solidFill>
                <a:latin typeface="Arial"/>
              </a:rPr>
              <a:t>The query floor changes assessability, but it does not create cross-cohort driver validation.</a:t>
            </a:r>
          </a:p>
        </p:txBody>
      </p:sp>
      <p:sp>
        <p:nvSpPr>
          <p:cNvPr id="4" name="Rounded Rectangle 3"/>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19" b="1" i="0">
                <a:solidFill>
                  <a:srgbClr val="0072B2"/>
                </a:solidFill>
                <a:latin typeface="Arial"/>
              </a:rPr>
              <a:t>VALIDATION CONSEQUENCES</a:t>
            </a:r>
          </a:p>
        </p:txBody>
      </p:sp>
      <p:sp>
        <p:nvSpPr>
          <p:cNvPr id="6" name="Oval 5"/>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0" i="0">
                <a:solidFill>
                  <a:srgbClr val="1F2730"/>
                </a:solidFill>
                <a:latin typeface="Arial"/>
              </a:rPr>
              <a:t>Cross-cohort non-MT driver overlap remains zero at every tested threshold.</a:t>
            </a:r>
          </a:p>
        </p:txBody>
      </p:sp>
      <p:sp>
        <p:nvSpPr>
          <p:cNvPr id="8" name="Oval 7"/>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0" i="0">
                <a:solidFill>
                  <a:srgbClr val="1F2730"/>
                </a:solidFill>
                <a:latin typeface="Arial"/>
              </a:rPr>
              <a:t>At minimum 3 or 5, Astrocytes × F_e4 remains the only exact shared executed stratum, with no shared drivers.</a:t>
            </a:r>
          </a:p>
        </p:txBody>
      </p:sp>
      <p:sp>
        <p:nvSpPr>
          <p:cNvPr id="10" name="Oval 9"/>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0" i="0">
                <a:solidFill>
                  <a:srgbClr val="1F2730"/>
                </a:solidFill>
                <a:latin typeface="Arial"/>
              </a:rPr>
              <a:t>At minimum 10, 20, or 30, no exact stratum is executed in both cohorts; validation is unavailable rather than negative.</a:t>
            </a:r>
          </a:p>
        </p:txBody>
      </p:sp>
      <p:sp>
        <p:nvSpPr>
          <p:cNvPr id="12" name="Oval 1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400" b="0" i="0">
                <a:solidFill>
                  <a:srgbClr val="1F2730"/>
                </a:solidFill>
                <a:latin typeface="Arial"/>
              </a:rPr>
              <a:t>Thresholds ≥10 reduce validation assessability and make ROSMAP increasingly dominated by the low-support Vasculature × M_e2 call.</a:t>
            </a:r>
          </a:p>
        </p:txBody>
      </p:sp>
      <p:sp>
        <p:nvSpPr>
          <p:cNvPr id="14" name="Rounded Rectangle 13"/>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500" b="1" i="0">
                <a:solidFill>
                  <a:srgbClr val="895600"/>
                </a:solidFill>
                <a:latin typeface="Arial"/>
              </a:rPr>
              <a:t>Least disruptive sensitivity reference: minimum 5 effective query genes</a:t>
            </a:r>
          </a:p>
        </p:txBody>
      </p:sp>
      <p:sp>
        <p:nvSpPr>
          <p:cNvPr id="16" name="TextBox 15"/>
          <p:cNvSpPr txBox="1"/>
          <p:nvPr/>
        </p:nvSpPr>
        <p:spPr>
          <a:xfrm>
            <a:off x="914400" y="5632704"/>
            <a:ext cx="10369296" cy="18288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40" b="0" i="0">
                <a:solidFill>
                  <a:srgbClr val="895600"/>
                </a:solidFill>
                <a:latin typeface="Arial"/>
              </a:rPr>
              <a:t>It removes the smallest ROSMAP query while preserving every SEA-AD run and the only matched cross-cohort stratum.</a:t>
            </a:r>
          </a:p>
        </p:txBody>
      </p:sp>
      <p:sp>
        <p:nvSpPr>
          <p:cNvPr id="17" name="TextBox 16"/>
          <p:cNvSpPr txBox="1"/>
          <p:nvPr/>
        </p:nvSpPr>
        <p:spPr>
          <a:xfrm>
            <a:off x="658368" y="6473952"/>
            <a:ext cx="10881360" cy="14630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670" b="0" i="0">
                <a:solidFill>
                  <a:srgbClr val="6C7988"/>
                </a:solidFill>
                <a:latin typeface="Arial"/>
              </a:rPr>
              <a:t>Source: validated Phase 22 and VH14 run manifests and significant-return tables (2026-09-11).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p:cNvSpPr txBox="1"/>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E69F00"/>
                </a:solidFill>
                <a:latin typeface="Arial"/>
              </a:rPr>
              <a:t>FINDING 1</a:t>
            </a:r>
          </a:p>
        </p:txBody>
      </p:sp>
      <p:sp>
        <p:nvSpPr>
          <p:cNvPr id="3" name="Rectangle 2"/>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300" b="1" i="0">
                <a:solidFill>
                  <a:srgbClr val="FFFFFF"/>
                </a:solidFill>
                <a:latin typeface="Arial"/>
              </a:rPr>
              <a:t>Female APOE ε3/ε3 excitatory neurons show a reproducible mtDNA-OXPHOS increase</a:t>
            </a:r>
          </a:p>
        </p:txBody>
      </p:sp>
      <p:sp>
        <p:nvSpPr>
          <p:cNvPr id="5" name="TextBox 4"/>
          <p:cNvSpPr txBox="1"/>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CCDBEA"/>
                </a:solidFill>
                <a:latin typeface="Arial"/>
              </a:rPr>
              <a:t>A mitochondrial DEG-program finding, not an identified upstream key driver.</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E69F00"/>
                </a:solidFill>
                <a:latin typeface="Arial"/>
              </a:rPr>
              <a:t>IN THIS FINDING</a:t>
            </a:r>
          </a:p>
        </p:txBody>
      </p:sp>
      <p:sp>
        <p:nvSpPr>
          <p:cNvPr id="8" name="Oval 7"/>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Plain-language statement</a:t>
            </a:r>
          </a:p>
        </p:txBody>
      </p:sp>
      <p:sp>
        <p:nvSpPr>
          <p:cNvPr id="11" name="Oval 10"/>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ROSMAP evidence</a:t>
            </a:r>
          </a:p>
        </p:txBody>
      </p:sp>
      <p:sp>
        <p:nvSpPr>
          <p:cNvPr id="14" name="Oval 13"/>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SEA-AD support</a:t>
            </a:r>
          </a:p>
        </p:txBody>
      </p:sp>
      <p:sp>
        <p:nvSpPr>
          <p:cNvPr id="17" name="Oval 16"/>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Meaning, limits, literature</a:t>
            </a:r>
          </a:p>
        </p:txBody>
      </p:sp>
      <p:sp>
        <p:nvSpPr>
          <p:cNvPr id="20" name="Rounded Rectangle 19"/>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a:solidFill>
                  <a:srgbClr val="FFFFFF"/>
                </a:solidFill>
                <a:latin typeface="Arial"/>
              </a:rPr>
              <a:t>SEA-AD can support the same biological pattern without matching the exact key driver.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Female ε3/ε3 cells (especially excitatory neurons) raise mtDNA energy-gene RNA in AD</a:t>
            </a:r>
          </a:p>
        </p:txBody>
      </p:sp>
      <p:sp>
        <p:nvSpPr>
          <p:cNvPr id="3" name="TextBox 2"/>
          <p:cNvSpPr txBox="1"/>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80" b="0" i="0">
                <a:solidFill>
                  <a:srgbClr val="4E5A68"/>
                </a:solidFill>
                <a:latin typeface="Arial"/>
              </a:rPr>
              <a:t>The result is repeated across ROSMAP calls and receives program-level support from SEA-AD.</a:t>
            </a:r>
          </a:p>
        </p:txBody>
      </p:sp>
      <p:sp>
        <p:nvSpPr>
          <p:cNvPr id="4" name="Rounded Rectangle 3"/>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072B2"/>
                </a:solidFill>
                <a:latin typeface="Arial"/>
              </a:rPr>
              <a:t>Female</a:t>
            </a:r>
          </a:p>
        </p:txBody>
      </p:sp>
      <p:sp>
        <p:nvSpPr>
          <p:cNvPr id="6" name="Rounded Rectangle 5"/>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00684D"/>
                </a:solidFill>
                <a:latin typeface="Arial"/>
              </a:rPr>
              <a:t>APOE ε3/ε3</a:t>
            </a:r>
          </a:p>
        </p:txBody>
      </p:sp>
      <p:sp>
        <p:nvSpPr>
          <p:cNvPr id="8" name="Rounded Rectangle 7"/>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895600"/>
                </a:solidFill>
                <a:latin typeface="Arial"/>
              </a:rPr>
              <a:t>Excitatory neurons</a:t>
            </a:r>
          </a:p>
        </p:txBody>
      </p:sp>
      <p:sp>
        <p:nvSpPr>
          <p:cNvPr id="10" name="Rounded Rectangle 9"/>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20" b="1" i="0">
                <a:solidFill>
                  <a:srgbClr val="9E3A00"/>
                </a:solidFill>
                <a:latin typeface="Arial"/>
              </a:rPr>
              <a:t>Alzheimer’s disease</a:t>
            </a:r>
          </a:p>
        </p:txBody>
      </p:sp>
      <p:sp>
        <p:nvSpPr>
          <p:cNvPr id="12" name="Rounded Rectangle 1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800" b="1" i="0">
                <a:solidFill>
                  <a:srgbClr val="0F233D"/>
                </a:solidFill>
                <a:latin typeface="Arial"/>
              </a:rPr>
              <a:t>Mitochondrial DNA</a:t>
            </a:r>
          </a:p>
        </p:txBody>
      </p:sp>
      <p:sp>
        <p:nvSpPr>
          <p:cNvPr id="14" name="TextBox 13"/>
          <p:cNvSpPr txBox="1"/>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1F2730"/>
                </a:solidFill>
                <a:latin typeface="Arial"/>
              </a:rPr>
              <a:t>makes RNA instructions
for OXPHOS parts</a:t>
            </a:r>
          </a:p>
        </p:txBody>
      </p:sp>
      <p:sp>
        <p:nvSpPr>
          <p:cNvPr id="15" name="TextBox 14"/>
          <p:cNvSpPr txBox="1"/>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3400" b="1" i="0">
                <a:solidFill>
                  <a:srgbClr val="0072B2"/>
                </a:solidFill>
                <a:latin typeface="Arial"/>
              </a:rPr>
              <a:t>→</a:t>
            </a:r>
          </a:p>
        </p:txBody>
      </p:sp>
      <p:sp>
        <p:nvSpPr>
          <p:cNvPr id="16" name="TextBox 15"/>
          <p:cNvSpPr txBox="1"/>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800" b="1" i="0">
                <a:solidFill>
                  <a:srgbClr val="0F233D"/>
                </a:solidFill>
                <a:latin typeface="Arial"/>
              </a:rPr>
              <a:t>RNA abundance</a:t>
            </a:r>
          </a:p>
        </p:txBody>
      </p:sp>
      <p:sp>
        <p:nvSpPr>
          <p:cNvPr id="17" name="TextBox 16"/>
          <p:cNvSpPr txBox="1"/>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5200" b="1" i="0">
                <a:solidFill>
                  <a:srgbClr val="00684D"/>
                </a:solidFill>
                <a:latin typeface="Arial"/>
              </a:rPr>
              <a:t>↑</a:t>
            </a:r>
          </a:p>
        </p:txBody>
      </p:sp>
      <p:sp>
        <p:nvSpPr>
          <p:cNvPr id="18" name="TextBox 17"/>
          <p:cNvSpPr txBox="1"/>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380" b="1" i="0">
                <a:solidFill>
                  <a:srgbClr val="1F2730"/>
                </a:solidFill>
                <a:latin typeface="Arial"/>
              </a:rPr>
              <a:t>more mtDNA-OXPHOS RNA
in AD than in the comparison group</a:t>
            </a:r>
          </a:p>
        </p:txBody>
      </p:sp>
      <p:sp>
        <p:nvSpPr>
          <p:cNvPr id="19" name="Rounded Rectangle 18"/>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 y="5431536"/>
            <a:ext cx="10222992"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7E4C9A"/>
                </a:solidFill>
                <a:latin typeface="Arial"/>
              </a:rPr>
              <a:t>Plain meaning: the cells make more RNA instructions for mitochondrial energy-system parts.</a:t>
            </a:r>
          </a:p>
        </p:txBody>
      </p:sp>
      <p:sp>
        <p:nvSpPr>
          <p:cNvPr id="21" name="TextBox 20"/>
          <p:cNvSpPr txBox="1"/>
          <p:nvPr/>
        </p:nvSpPr>
        <p:spPr>
          <a:xfrm>
            <a:off x="658368" y="6473952"/>
            <a:ext cx="10881360" cy="146304"/>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730" b="0" i="0">
                <a:solidFill>
                  <a:srgbClr val="4E5A68"/>
                </a:solidFill>
                <a:latin typeface="Arial"/>
              </a:rPr>
              <a:t>Finding 1 synthesis; ROSMAP discovery with supplemental SEA-AD program support.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0F233D"/>
                </a:solidFill>
                <a:latin typeface="Arial"/>
              </a:rPr>
              <a:t>ROSMAP: the female ε3/ε3 mtDNA-OXPHOS signal is consistently AD-up</a:t>
            </a:r>
          </a:p>
        </p:txBody>
      </p:sp>
      <p:sp>
        <p:nvSpPr>
          <p:cNvPr id="4" name="Rounded Rectangle 3"/>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30752" y="2688342"/>
            <a:ext cx="4809744" cy="47548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000" b="1" i="0" dirty="0">
                <a:solidFill>
                  <a:srgbClr val="0072B2"/>
                </a:solidFill>
                <a:latin typeface="Arial"/>
              </a:rPr>
              <a:t>217 / 217 mtDNA-OXPHOS occurrences were AD-up</a:t>
            </a:r>
          </a:p>
        </p:txBody>
      </p:sp>
      <p:sp>
        <p:nvSpPr>
          <p:cNvPr id="7" name="TextBox 6"/>
          <p:cNvSpPr txBox="1"/>
          <p:nvPr/>
        </p:nvSpPr>
        <p:spPr>
          <a:xfrm>
            <a:off x="8613648" y="2825940"/>
            <a:ext cx="2560320" cy="24006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00" b="1" i="0" dirty="0">
                <a:solidFill>
                  <a:srgbClr val="4E5A68"/>
                </a:solidFill>
                <a:latin typeface="Arial"/>
              </a:rPr>
              <a:t>29 F_e33 input queries enriched</a:t>
            </a:r>
          </a:p>
        </p:txBody>
      </p:sp>
      <p:sp>
        <p:nvSpPr>
          <p:cNvPr id="8" name="Rectangle 7"/>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520" b="1" i="0" dirty="0">
                <a:solidFill>
                  <a:srgbClr val="0F233D"/>
                </a:solidFill>
                <a:latin typeface="Arial"/>
              </a:rPr>
              <a:t>For </a:t>
            </a:r>
            <a:r>
              <a:rPr lang="en-US" sz="1520" b="1" dirty="0">
                <a:solidFill>
                  <a:srgbClr val="0F233D"/>
                </a:solidFill>
                <a:latin typeface="Arial"/>
              </a:rPr>
              <a:t>e</a:t>
            </a:r>
            <a:r>
              <a:rPr sz="1520" b="1" i="0" dirty="0">
                <a:solidFill>
                  <a:srgbClr val="0F233D"/>
                </a:solidFill>
                <a:latin typeface="Arial"/>
              </a:rPr>
              <a:t>xcitatory-neuron </a:t>
            </a:r>
            <a:r>
              <a:rPr lang="en-US" sz="1520" b="1" i="0" dirty="0">
                <a:solidFill>
                  <a:srgbClr val="0F233D"/>
                </a:solidFill>
                <a:latin typeface="Arial"/>
              </a:rPr>
              <a:t>only</a:t>
            </a:r>
            <a:endParaRPr sz="1520" b="1" i="0" dirty="0">
              <a:solidFill>
                <a:srgbClr val="0F233D"/>
              </a:solidFill>
              <a:latin typeface="Arial"/>
            </a:endParaRPr>
          </a:p>
        </p:txBody>
      </p:sp>
      <p:sp>
        <p:nvSpPr>
          <p:cNvPr id="10" name="Rounded Rectangle 9"/>
          <p:cNvSpPr/>
          <p:nvPr/>
        </p:nvSpPr>
        <p:spPr>
          <a:xfrm>
            <a:off x="82296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755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684D"/>
                </a:solidFill>
                <a:latin typeface="Arial"/>
              </a:rPr>
              <a:t>14</a:t>
            </a:r>
          </a:p>
        </p:txBody>
      </p:sp>
      <p:sp>
        <p:nvSpPr>
          <p:cNvPr id="12" name="TextBox 11"/>
          <p:cNvSpPr txBox="1"/>
          <p:nvPr/>
        </p:nvSpPr>
        <p:spPr>
          <a:xfrm>
            <a:off x="98755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lang="en-US" sz="1019" b="1" dirty="0">
                <a:solidFill>
                  <a:srgbClr val="0F233D"/>
                </a:solidFill>
                <a:latin typeface="Arial"/>
              </a:rPr>
              <a:t>e</a:t>
            </a:r>
            <a:r>
              <a:rPr lang="en-US" sz="1019" b="1" i="0" dirty="0">
                <a:solidFill>
                  <a:srgbClr val="0F233D"/>
                </a:solidFill>
                <a:latin typeface="Arial"/>
              </a:rPr>
              <a:t>ligible </a:t>
            </a:r>
            <a:r>
              <a:rPr sz="1019" b="1" i="0" dirty="0">
                <a:solidFill>
                  <a:srgbClr val="0F233D"/>
                </a:solidFill>
                <a:latin typeface="Arial"/>
              </a:rPr>
              <a:t>fine-cell</a:t>
            </a:r>
            <a:r>
              <a:rPr lang="en-US" sz="1019" b="1" i="0" dirty="0">
                <a:solidFill>
                  <a:srgbClr val="0F233D"/>
                </a:solidFill>
                <a:latin typeface="Arial"/>
              </a:rPr>
              <a:t> DEG queries</a:t>
            </a:r>
            <a:endParaRPr sz="1019" b="1" i="0" dirty="0">
              <a:solidFill>
                <a:srgbClr val="0F233D"/>
              </a:solidFill>
              <a:latin typeface="Arial"/>
            </a:endParaRPr>
          </a:p>
        </p:txBody>
      </p:sp>
      <p:sp>
        <p:nvSpPr>
          <p:cNvPr id="13" name="Rounded Rectangle 12"/>
          <p:cNvSpPr/>
          <p:nvPr/>
        </p:nvSpPr>
        <p:spPr>
          <a:xfrm>
            <a:off x="446227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2686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72B2"/>
                </a:solidFill>
                <a:latin typeface="Arial"/>
              </a:rPr>
              <a:t>123</a:t>
            </a:r>
          </a:p>
        </p:txBody>
      </p:sp>
      <p:sp>
        <p:nvSpPr>
          <p:cNvPr id="15" name="TextBox 14"/>
          <p:cNvSpPr txBox="1"/>
          <p:nvPr/>
        </p:nvSpPr>
        <p:spPr>
          <a:xfrm>
            <a:off x="462686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9" b="1" i="0">
                <a:solidFill>
                  <a:srgbClr val="0F233D"/>
                </a:solidFill>
                <a:latin typeface="Arial"/>
              </a:rPr>
              <a:t>mtDNA-OXPHOS DEG occurrences</a:t>
            </a:r>
          </a:p>
        </p:txBody>
      </p:sp>
      <p:sp>
        <p:nvSpPr>
          <p:cNvPr id="16" name="Rounded Rectangle 15"/>
          <p:cNvSpPr/>
          <p:nvPr/>
        </p:nvSpPr>
        <p:spPr>
          <a:xfrm>
            <a:off x="8101583" y="4432667"/>
            <a:ext cx="3255264" cy="11430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66175"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895600"/>
                </a:solidFill>
                <a:latin typeface="Arial"/>
              </a:rPr>
              <a:t>12/14</a:t>
            </a:r>
          </a:p>
        </p:txBody>
      </p:sp>
      <p:sp>
        <p:nvSpPr>
          <p:cNvPr id="18" name="TextBox 17"/>
          <p:cNvSpPr txBox="1"/>
          <p:nvPr/>
        </p:nvSpPr>
        <p:spPr>
          <a:xfrm>
            <a:off x="8266175"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9" b="1" i="0">
                <a:solidFill>
                  <a:srgbClr val="0F233D"/>
                </a:solidFill>
                <a:latin typeface="Arial"/>
              </a:rPr>
              <a:t>KDA input queries enriched</a:t>
            </a:r>
          </a:p>
        </p:txBody>
      </p:sp>
      <p:sp>
        <p:nvSpPr>
          <p:cNvPr id="19" name="Rounded Rectangle 18"/>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a:solidFill>
                  <a:srgbClr val="00684D"/>
                </a:solidFill>
                <a:latin typeface="Arial"/>
              </a:rPr>
              <a:t>123 AD-up</a:t>
            </a:r>
          </a:p>
        </p:txBody>
      </p:sp>
      <p:sp>
        <p:nvSpPr>
          <p:cNvPr id="22" name="TextBox 21"/>
          <p:cNvSpPr txBox="1"/>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1050" b="1" i="0">
                <a:solidFill>
                  <a:srgbClr val="9E3A00"/>
                </a:solidFill>
                <a:latin typeface="Arial"/>
              </a:rPr>
              <a:t>0 AD-down</a:t>
            </a:r>
          </a:p>
        </p:txBody>
      </p:sp>
      <p:sp>
        <p:nvSpPr>
          <p:cNvPr id="23" name="Rounded Rectangle 22"/>
          <p:cNvSpPr/>
          <p:nvPr/>
        </p:nvSpPr>
        <p:spPr>
          <a:xfrm>
            <a:off x="658368" y="1210479"/>
            <a:ext cx="10881360" cy="586527"/>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704" y="1330657"/>
            <a:ext cx="10058400" cy="4247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00" b="1" i="0" dirty="0">
                <a:solidFill>
                  <a:srgbClr val="FF0000"/>
                </a:solidFill>
                <a:latin typeface="Arial"/>
              </a:rPr>
              <a:t>Enriched</a:t>
            </a:r>
            <a:r>
              <a:rPr sz="1200" b="0" i="0" dirty="0">
                <a:solidFill>
                  <a:srgbClr val="4E5A68"/>
                </a:solidFill>
                <a:latin typeface="Arial"/>
              </a:rPr>
              <a:t> = more mtDNA-OXPHOS genes than expected by chance in the exact background (BH-adjusted P &lt; 0.05)</a:t>
            </a:r>
            <a:r>
              <a:rPr lang="en-US" sz="1200" dirty="0">
                <a:solidFill>
                  <a:srgbClr val="4E5A68"/>
                </a:solidFill>
                <a:latin typeface="Arial"/>
              </a:rPr>
              <a:t>, test genes in input query to </a:t>
            </a:r>
            <a:r>
              <a:rPr lang="en-US" sz="1200" dirty="0" err="1">
                <a:solidFill>
                  <a:srgbClr val="4E5A68"/>
                </a:solidFill>
                <a:latin typeface="Arial"/>
              </a:rPr>
              <a:t>call_key_drivers</a:t>
            </a:r>
            <a:r>
              <a:rPr lang="en-US" sz="1200" dirty="0">
                <a:solidFill>
                  <a:srgbClr val="4E5A68"/>
                </a:solidFill>
                <a:latin typeface="Arial"/>
              </a:rPr>
              <a:t>().</a:t>
            </a:r>
            <a:endParaRPr sz="1200" b="0" i="0" dirty="0">
              <a:solidFill>
                <a:srgbClr val="4E5A68"/>
              </a:solidFill>
              <a:latin typeface="Arial"/>
            </a:endParaRPr>
          </a:p>
        </p:txBody>
      </p:sp>
      <p:sp>
        <p:nvSpPr>
          <p:cNvPr id="26" name="Rectangle 25">
            <a:extLst>
              <a:ext uri="{FF2B5EF4-FFF2-40B4-BE49-F238E27FC236}">
                <a16:creationId xmlns:a16="http://schemas.microsoft.com/office/drawing/2014/main" id="{A3EE13A9-22D5-50A2-11CE-AB3CAD176957}"/>
              </a:ext>
            </a:extLst>
          </p:cNvPr>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015B8895-9C9B-00FA-D032-13DF052A1BD1}"/>
              </a:ext>
            </a:extLst>
          </p:cNvPr>
          <p:cNvSpPr txBox="1"/>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pPr>
            <a:r>
              <a:rPr lang="en-US" sz="1520" b="1" i="0" dirty="0">
                <a:solidFill>
                  <a:srgbClr val="0F233D"/>
                </a:solidFill>
                <a:latin typeface="Arial"/>
              </a:rPr>
              <a:t>For all eligible F_e33 calls</a:t>
            </a:r>
            <a:endParaRPr sz="1520" b="1" i="0" dirty="0">
              <a:solidFill>
                <a:srgbClr val="0F233D"/>
              </a:solidFill>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0F233D"/>
                </a:solidFill>
                <a:latin typeface="Arial"/>
              </a:rPr>
              <a:t>SEA-AD adds narrow but strong support for the excitatory-neuron program</a:t>
            </a:r>
          </a:p>
        </p:txBody>
      </p:sp>
      <p:sp>
        <p:nvSpPr>
          <p:cNvPr id="3" name="TextBox 2"/>
          <p:cNvSpPr txBox="1"/>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80" b="0" i="0">
                <a:solidFill>
                  <a:srgbClr val="4E5A68"/>
                </a:solidFill>
                <a:latin typeface="Arial"/>
              </a:rPr>
              <a:t>Only one matched female ε3/ε3 excitatory call was evaluable, so support is strong in direction but limited in coverage.</a:t>
            </a:r>
          </a:p>
        </p:txBody>
      </p:sp>
      <p:sp>
        <p:nvSpPr>
          <p:cNvPr id="4" name="Rounded Rectangle 3"/>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72B2"/>
                </a:solidFill>
                <a:latin typeface="Arial"/>
              </a:rPr>
              <a:t>9/10</a:t>
            </a:r>
          </a:p>
        </p:txBody>
      </p:sp>
      <p:sp>
        <p:nvSpPr>
          <p:cNvPr id="6" name="TextBox 5"/>
          <p:cNvSpPr txBox="1"/>
          <p:nvPr/>
        </p:nvSpPr>
        <p:spPr>
          <a:xfrm>
            <a:off x="877824" y="2029967"/>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9" b="1" i="0">
                <a:solidFill>
                  <a:srgbClr val="0F233D"/>
                </a:solidFill>
                <a:latin typeface="Arial"/>
              </a:rPr>
              <a:t>SEA query genes are shared mtDNA-OXPHOS genes</a:t>
            </a:r>
          </a:p>
        </p:txBody>
      </p:sp>
      <p:sp>
        <p:nvSpPr>
          <p:cNvPr id="7" name="Rounded Rectangle 6"/>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800" b="1" i="0">
                <a:solidFill>
                  <a:srgbClr val="00684D"/>
                </a:solidFill>
                <a:latin typeface="Arial"/>
              </a:rPr>
              <a:t>9/9</a:t>
            </a:r>
          </a:p>
        </p:txBody>
      </p:sp>
      <p:sp>
        <p:nvSpPr>
          <p:cNvPr id="9" name="TextBox 8"/>
          <p:cNvSpPr txBox="1"/>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9" b="1" i="0">
                <a:solidFill>
                  <a:srgbClr val="0F233D"/>
                </a:solidFill>
                <a:latin typeface="Arial"/>
              </a:rPr>
              <a:t>shared genes are AD-up in both cohorts</a:t>
            </a:r>
          </a:p>
        </p:txBody>
      </p:sp>
      <p:sp>
        <p:nvSpPr>
          <p:cNvPr id="10" name="Rounded Rectangle 9"/>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2300" b="1" i="0">
                <a:solidFill>
                  <a:srgbClr val="895600"/>
                </a:solidFill>
                <a:latin typeface="Arial"/>
              </a:rPr>
              <a:t>BH = 0.005</a:t>
            </a:r>
          </a:p>
        </p:txBody>
      </p:sp>
      <p:sp>
        <p:nvSpPr>
          <p:cNvPr id="12" name="TextBox 11"/>
          <p:cNvSpPr txBox="1"/>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19" b="1" i="0">
                <a:solidFill>
                  <a:srgbClr val="0F233D"/>
                </a:solidFill>
                <a:latin typeface="Arial"/>
              </a:rPr>
              <a:t>cross-cohort overlap after correction</a:t>
            </a:r>
          </a:p>
        </p:txBody>
      </p:sp>
      <p:sp>
        <p:nvSpPr>
          <p:cNvPr id="13" name="TextBox 12"/>
          <p:cNvSpPr txBox="1"/>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880" b="0" i="0">
                <a:solidFill>
                  <a:srgbClr val="4E5A68"/>
                </a:solidFill>
                <a:latin typeface="Arial"/>
              </a:rPr>
              <a:t>9 shared versus 3.83 expected</a:t>
            </a:r>
          </a:p>
        </p:txBody>
      </p:sp>
      <p:sp>
        <p:nvSpPr>
          <p:cNvPr id="14" name="Rounded Rectangle 13"/>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Nine shared genes</a:t>
            </a:r>
          </a:p>
        </p:txBody>
      </p:sp>
      <p:sp>
        <p:nvSpPr>
          <p:cNvPr id="17" name="Rounded Rectangle 16"/>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MT-ATP6</a:t>
            </a:r>
          </a:p>
        </p:txBody>
      </p:sp>
      <p:sp>
        <p:nvSpPr>
          <p:cNvPr id="19" name="Rounded Rectangle 18"/>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MT-CO1</a:t>
            </a:r>
          </a:p>
        </p:txBody>
      </p:sp>
      <p:sp>
        <p:nvSpPr>
          <p:cNvPr id="21" name="Rounded Rectangle 20"/>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MT-CO2</a:t>
            </a:r>
          </a:p>
        </p:txBody>
      </p:sp>
      <p:sp>
        <p:nvSpPr>
          <p:cNvPr id="23" name="Rounded Rectangle 22"/>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MT-CO3</a:t>
            </a:r>
          </a:p>
        </p:txBody>
      </p:sp>
      <p:sp>
        <p:nvSpPr>
          <p:cNvPr id="25" name="Rounded Rectangle 24"/>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MT-CYB</a:t>
            </a:r>
          </a:p>
        </p:txBody>
      </p:sp>
      <p:sp>
        <p:nvSpPr>
          <p:cNvPr id="27" name="Rounded Rectangle 26"/>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MT-ND1</a:t>
            </a:r>
          </a:p>
        </p:txBody>
      </p:sp>
      <p:sp>
        <p:nvSpPr>
          <p:cNvPr id="29" name="Rounded Rectangle 28"/>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MT-ND2</a:t>
            </a:r>
          </a:p>
        </p:txBody>
      </p:sp>
      <p:sp>
        <p:nvSpPr>
          <p:cNvPr id="31" name="Rounded Rectangle 30"/>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MT-ND4</a:t>
            </a:r>
          </a:p>
        </p:txBody>
      </p:sp>
      <p:sp>
        <p:nvSpPr>
          <p:cNvPr id="33" name="Rounded Rectangle 32"/>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60" b="1" i="0">
                <a:solidFill>
                  <a:srgbClr val="0072B2"/>
                </a:solidFill>
                <a:latin typeface="Arial"/>
              </a:rPr>
              <a:t>MT-ND5</a:t>
            </a:r>
          </a:p>
        </p:txBody>
      </p:sp>
      <p:sp>
        <p:nvSpPr>
          <p:cNvPr id="35" name="Rounded Rectangle 34"/>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200" b="1" i="0">
                <a:solidFill>
                  <a:srgbClr val="00684D"/>
                </a:solidFill>
                <a:latin typeface="Arial"/>
              </a:rPr>
              <a:t>Every shared gene points upward in both datasets.</a:t>
            </a:r>
          </a:p>
        </p:txBody>
      </p:sp>
      <p:sp>
        <p:nvSpPr>
          <p:cNvPr id="37" name="TextBox 36"/>
          <p:cNvSpPr txBox="1"/>
          <p:nvPr/>
        </p:nvSpPr>
        <p:spPr>
          <a:xfrm>
            <a:off x="859536" y="5971032"/>
            <a:ext cx="10479024" cy="256032"/>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a:solidFill>
                  <a:srgbClr val="7E4C9A"/>
                </a:solidFill>
                <a:latin typeface="Arial"/>
              </a:rPr>
              <a:t>Program-level support is useful even though SEA-AD does not select the same upstream driver.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000" b="1" i="0">
                <a:solidFill>
                  <a:srgbClr val="0F233D"/>
                </a:solidFill>
                <a:latin typeface="Arial"/>
              </a:rPr>
              <a:t>Why this matters: excitatory neurons may be mounting a coordinated mitochondrial response</a:t>
            </a:r>
          </a:p>
        </p:txBody>
      </p:sp>
      <p:sp>
        <p:nvSpPr>
          <p:cNvPr id="3" name="TextBox 2"/>
          <p:cNvSpPr txBox="1"/>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80" b="0" i="0">
                <a:solidFill>
                  <a:srgbClr val="4E5A68"/>
                </a:solidFill>
                <a:latin typeface="Arial"/>
              </a:rPr>
              <a:t>The repeated direction is biologically informative even though its functional meaning remains open.</a:t>
            </a:r>
          </a:p>
        </p:txBody>
      </p:sp>
      <p:sp>
        <p:nvSpPr>
          <p:cNvPr id="4" name="Rounded Rectangle 3"/>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300" b="1" i="0">
                <a:solidFill>
                  <a:srgbClr val="FFFFFF"/>
                </a:solidFill>
                <a:latin typeface="Arial"/>
              </a:rPr>
              <a:t>1</a:t>
            </a:r>
          </a:p>
        </p:txBody>
      </p:sp>
      <p:sp>
        <p:nvSpPr>
          <p:cNvPr id="7" name="TextBox 6"/>
          <p:cNvSpPr txBox="1"/>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600" b="1" i="0">
                <a:solidFill>
                  <a:srgbClr val="0F233D"/>
                </a:solidFill>
                <a:latin typeface="Arial"/>
              </a:rPr>
              <a:t>High energy demand</a:t>
            </a:r>
          </a:p>
        </p:txBody>
      </p:sp>
      <p:sp>
        <p:nvSpPr>
          <p:cNvPr id="8" name="TextBox 7"/>
          <p:cNvSpPr txBox="1"/>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0" i="0">
                <a:solidFill>
                  <a:srgbClr val="1F2730"/>
                </a:solidFill>
                <a:latin typeface="Arial"/>
              </a:rPr>
              <a:t>Excitatory neurons spend substantial energy sending and restoring electrical signals.</a:t>
            </a:r>
          </a:p>
        </p:txBody>
      </p:sp>
      <p:sp>
        <p:nvSpPr>
          <p:cNvPr id="9" name="Rounded Rectangle 8"/>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300" b="1" i="0">
                <a:solidFill>
                  <a:srgbClr val="FFFFFF"/>
                </a:solidFill>
                <a:latin typeface="Arial"/>
              </a:rPr>
              <a:t>2</a:t>
            </a:r>
          </a:p>
        </p:txBody>
      </p:sp>
      <p:sp>
        <p:nvSpPr>
          <p:cNvPr id="12" name="TextBox 11"/>
          <p:cNvSpPr txBox="1"/>
          <p:nvPr/>
        </p:nvSpPr>
        <p:spPr>
          <a:xfrm>
            <a:off x="536752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600" b="1" i="0">
                <a:solidFill>
                  <a:srgbClr val="0F233D"/>
                </a:solidFill>
                <a:latin typeface="Arial"/>
              </a:rPr>
              <a:t>Essential mtDNA parts</a:t>
            </a:r>
          </a:p>
        </p:txBody>
      </p:sp>
      <p:sp>
        <p:nvSpPr>
          <p:cNvPr id="13" name="TextBox 12"/>
          <p:cNvSpPr txBox="1"/>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0" i="0">
                <a:solidFill>
                  <a:srgbClr val="1F2730"/>
                </a:solidFill>
                <a:latin typeface="Arial"/>
              </a:rPr>
              <a:t>The mitochondrial genome encodes 13 core OXPHOS proteins needed for the respiratory system.</a:t>
            </a:r>
          </a:p>
        </p:txBody>
      </p:sp>
      <p:sp>
        <p:nvSpPr>
          <p:cNvPr id="14" name="Rounded Rectangle 13"/>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600" b="1" i="0">
                <a:solidFill>
                  <a:srgbClr val="0F233D"/>
                </a:solidFill>
                <a:latin typeface="Arial"/>
              </a:rPr>
              <a:t>Repeated AD response</a:t>
            </a:r>
          </a:p>
        </p:txBody>
      </p:sp>
      <p:sp>
        <p:nvSpPr>
          <p:cNvPr id="18" name="TextBox 17"/>
          <p:cNvSpPr txBox="1"/>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0" i="0">
                <a:solidFill>
                  <a:srgbClr val="1F2730"/>
                </a:solidFill>
                <a:latin typeface="Arial"/>
              </a:rPr>
              <a:t>The same upward RNA program appears across ROSMAP calls and in the matched SEA-AD comparison.</a:t>
            </a:r>
          </a:p>
        </p:txBody>
      </p:sp>
      <p:sp>
        <p:nvSpPr>
          <p:cNvPr id="19" name="Rounded Rectangle 18"/>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200" b="1" i="0">
                <a:solidFill>
                  <a:srgbClr val="9E3A00"/>
                </a:solidFill>
                <a:latin typeface="Arial"/>
              </a:rPr>
              <a:t>Most cautious interpretation</a:t>
            </a:r>
          </a:p>
        </p:txBody>
      </p:sp>
      <p:sp>
        <p:nvSpPr>
          <p:cNvPr id="21" name="TextBox 20"/>
          <p:cNvSpPr txBox="1"/>
          <p:nvPr/>
        </p:nvSpPr>
        <p:spPr>
          <a:xfrm>
            <a:off x="3246120" y="4919472"/>
            <a:ext cx="7836408" cy="42062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400" b="1" i="0">
                <a:solidFill>
                  <a:srgbClr val="1F2730"/>
                </a:solidFill>
                <a:latin typeface="Arial"/>
              </a:rPr>
              <a:t>The increase may be compensation or a stress response—not evidence that mitochondria make more ATP.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0F233D"/>
                </a:solidFill>
                <a:latin typeface="Arial"/>
              </a:rPr>
              <a:t>What the finding does not prove—and the next evidence needed</a:t>
            </a:r>
          </a:p>
        </p:txBody>
      </p:sp>
      <p:sp>
        <p:nvSpPr>
          <p:cNvPr id="3" name="TextBox 2"/>
          <p:cNvSpPr txBox="1"/>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80" b="0" i="0">
                <a:solidFill>
                  <a:srgbClr val="4E5A68"/>
                </a:solidFill>
                <a:latin typeface="Arial"/>
              </a:rPr>
              <a:t>RNA-program evidence generates a testable mechanism; it does not finish the mechanism.</a:t>
            </a:r>
          </a:p>
        </p:txBody>
      </p:sp>
      <p:sp>
        <p:nvSpPr>
          <p:cNvPr id="4" name="Rounded Rectangle 3"/>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609344"/>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Not proven</a:t>
            </a:r>
          </a:p>
        </p:txBody>
      </p:sp>
      <p:sp>
        <p:nvSpPr>
          <p:cNvPr id="7" name="Oval 6"/>
          <p:cNvSpPr/>
          <p:nvPr/>
        </p:nvSpPr>
        <p:spPr>
          <a:xfrm>
            <a:off x="950976" y="2304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24712" y="21762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More OXPHOS protein, respiration, or ATP production</a:t>
            </a:r>
          </a:p>
        </p:txBody>
      </p:sp>
      <p:sp>
        <p:nvSpPr>
          <p:cNvPr id="9" name="Oval 8"/>
          <p:cNvSpPr/>
          <p:nvPr/>
        </p:nvSpPr>
        <p:spPr>
          <a:xfrm>
            <a:off x="950976" y="32186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24712" y="30906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A female- or ε3/ε3-specific disease effect</a:t>
            </a:r>
          </a:p>
        </p:txBody>
      </p:sp>
      <p:sp>
        <p:nvSpPr>
          <p:cNvPr id="11" name="Oval 10"/>
          <p:cNvSpPr/>
          <p:nvPr/>
        </p:nvSpPr>
        <p:spPr>
          <a:xfrm>
            <a:off x="950976" y="41330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24712" y="4005072"/>
            <a:ext cx="4398264"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Which upstream key driver caused the RNA increase</a:t>
            </a:r>
          </a:p>
        </p:txBody>
      </p:sp>
      <p:sp>
        <p:nvSpPr>
          <p:cNvPr id="13" name="Rounded Rectangle 12"/>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0" y="1609344"/>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20" b="1" i="0">
                <a:solidFill>
                  <a:srgbClr val="0F233D"/>
                </a:solidFill>
                <a:latin typeface="Arial"/>
              </a:rPr>
              <a:t>Best next tests</a:t>
            </a:r>
          </a:p>
        </p:txBody>
      </p:sp>
      <p:sp>
        <p:nvSpPr>
          <p:cNvPr id="16" name="Oval 15"/>
          <p:cNvSpPr/>
          <p:nvPr/>
        </p:nvSpPr>
        <p:spPr>
          <a:xfrm>
            <a:off x="6528816" y="2304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702552" y="21762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Donor-aware disease × sex × APOE interaction model</a:t>
            </a:r>
          </a:p>
        </p:txBody>
      </p:sp>
      <p:sp>
        <p:nvSpPr>
          <p:cNvPr id="18" name="Oval 17"/>
          <p:cNvSpPr/>
          <p:nvPr/>
        </p:nvSpPr>
        <p:spPr>
          <a:xfrm>
            <a:off x="6528816" y="32186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02552" y="30906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OXPHOS protein abundance and complex assembly</a:t>
            </a:r>
          </a:p>
        </p:txBody>
      </p:sp>
      <p:sp>
        <p:nvSpPr>
          <p:cNvPr id="20" name="Oval 19"/>
          <p:cNvSpPr/>
          <p:nvPr/>
        </p:nvSpPr>
        <p:spPr>
          <a:xfrm>
            <a:off x="6528816" y="41330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02552" y="4005072"/>
            <a:ext cx="4416551"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300" b="0" i="0">
                <a:solidFill>
                  <a:srgbClr val="1F2730"/>
                </a:solidFill>
                <a:latin typeface="Arial"/>
              </a:rPr>
              <a:t>Oxygen consumption, membrane potential, and ATP</a:t>
            </a:r>
          </a:p>
        </p:txBody>
      </p:sp>
      <p:sp>
        <p:nvSpPr>
          <p:cNvPr id="22" name="TextBox 21"/>
          <p:cNvSpPr txBox="1"/>
          <p:nvPr/>
        </p:nvSpPr>
        <p:spPr>
          <a:xfrm>
            <a:off x="841248" y="6053328"/>
            <a:ext cx="1051560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40" b="1" i="0">
                <a:solidFill>
                  <a:srgbClr val="7E4C9A"/>
                </a:solidFill>
                <a:latin typeface="Arial"/>
              </a:rPr>
              <a:t>A causal claim requires perturbation and functional rescue—not only another expression dataset.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2200" b="1" i="0">
                <a:solidFill>
                  <a:srgbClr val="0F233D"/>
                </a:solidFill>
                <a:latin typeface="Arial"/>
              </a:rPr>
              <a:t>Prior research makes the result plausible—but does not duplicate it</a:t>
            </a:r>
          </a:p>
        </p:txBody>
      </p:sp>
      <p:sp>
        <p:nvSpPr>
          <p:cNvPr id="3" name="TextBox 2"/>
          <p:cNvSpPr txBox="1"/>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80" b="0" i="0">
                <a:solidFill>
                  <a:srgbClr val="4E5A68"/>
                </a:solidFill>
                <a:latin typeface="Arial"/>
              </a:rPr>
              <a:t>Each study supports one part of the interpretation; none establishes this exact female ε3/ε3 excitatory-neuron pattern.</a:t>
            </a:r>
          </a:p>
        </p:txBody>
      </p:sp>
      <p:sp>
        <p:nvSpPr>
          <p:cNvPr id="4" name="Rounded Rectangle 3"/>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600" b="1" i="0">
                <a:solidFill>
                  <a:srgbClr val="0072B2"/>
                </a:solidFill>
                <a:latin typeface="Arial"/>
              </a:rPr>
              <a:t>Guo et al. 2023</a:t>
            </a:r>
          </a:p>
        </p:txBody>
      </p:sp>
      <p:sp>
        <p:nvSpPr>
          <p:cNvPr id="6" name="TextBox 5"/>
          <p:cNvSpPr txBox="1"/>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F233D"/>
                </a:solidFill>
                <a:latin typeface="Arial"/>
              </a:rPr>
              <a:t>Sex-specific AD networks</a:t>
            </a:r>
          </a:p>
        </p:txBody>
      </p:sp>
      <p:sp>
        <p:nvSpPr>
          <p:cNvPr id="7" name="TextBox 6"/>
          <p:cNvSpPr txBox="1"/>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SUPPORTS</a:t>
            </a:r>
          </a:p>
        </p:txBody>
      </p:sp>
      <p:sp>
        <p:nvSpPr>
          <p:cNvPr id="8" name="TextBox 7"/>
          <p:cNvSpPr txBox="1"/>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0" i="0">
                <a:solidFill>
                  <a:srgbClr val="1F2730"/>
                </a:solidFill>
                <a:latin typeface="Arial"/>
              </a:rPr>
              <a:t>Supports sex-aware key-driver analysis.</a:t>
            </a:r>
          </a:p>
        </p:txBody>
      </p:sp>
      <p:sp>
        <p:nvSpPr>
          <p:cNvPr id="9" name="TextBox 8"/>
          <p:cNvSpPr txBox="1"/>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10" name="TextBox 9"/>
          <p:cNvSpPr txBox="1"/>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80" b="0" i="0">
                <a:solidFill>
                  <a:srgbClr val="4E5A68"/>
                </a:solidFill>
                <a:latin typeface="Arial"/>
              </a:rPr>
              <a:t>Does not test this exact mtDNA program.</a:t>
            </a:r>
          </a:p>
        </p:txBody>
      </p:sp>
      <p:sp>
        <p:nvSpPr>
          <p:cNvPr id="11" name="Rounded Rectangle 10"/>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600" b="1" i="0">
                <a:solidFill>
                  <a:srgbClr val="00684D"/>
                </a:solidFill>
                <a:latin typeface="Arial"/>
              </a:rPr>
              <a:t>Mathys et al. 2024</a:t>
            </a:r>
          </a:p>
        </p:txBody>
      </p:sp>
      <p:sp>
        <p:nvSpPr>
          <p:cNvPr id="13" name="TextBox 12"/>
          <p:cNvSpPr txBox="1"/>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F233D"/>
                </a:solidFill>
                <a:latin typeface="Arial"/>
              </a:rPr>
              <a:t>Cell-resolved AD responses</a:t>
            </a:r>
          </a:p>
        </p:txBody>
      </p:sp>
      <p:sp>
        <p:nvSpPr>
          <p:cNvPr id="14" name="TextBox 13"/>
          <p:cNvSpPr txBox="1"/>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684D"/>
                </a:solidFill>
                <a:latin typeface="Arial"/>
              </a:rPr>
              <a:t>SUPPORTS</a:t>
            </a:r>
          </a:p>
        </p:txBody>
      </p:sp>
      <p:sp>
        <p:nvSpPr>
          <p:cNvPr id="15" name="TextBox 14"/>
          <p:cNvSpPr txBox="1"/>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0" i="0">
                <a:solidFill>
                  <a:srgbClr val="1F2730"/>
                </a:solidFill>
                <a:latin typeface="Arial"/>
              </a:rPr>
              <a:t>Supports strong cell-type heterogeneity.</a:t>
            </a:r>
          </a:p>
        </p:txBody>
      </p:sp>
      <p:sp>
        <p:nvSpPr>
          <p:cNvPr id="16" name="TextBox 15"/>
          <p:cNvSpPr txBox="1"/>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17" name="TextBox 16"/>
          <p:cNvSpPr txBox="1"/>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80" b="0" i="0">
                <a:solidFill>
                  <a:srgbClr val="4E5A68"/>
                </a:solidFill>
                <a:latin typeface="Arial"/>
              </a:rPr>
              <a:t>Uses ROSMAP, so it is not independent.</a:t>
            </a:r>
          </a:p>
        </p:txBody>
      </p:sp>
      <p:sp>
        <p:nvSpPr>
          <p:cNvPr id="18" name="Rounded Rectangle 17"/>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600" b="1" i="0">
                <a:solidFill>
                  <a:srgbClr val="895600"/>
                </a:solidFill>
                <a:latin typeface="Arial"/>
              </a:rPr>
              <a:t>Lee et al. 2023</a:t>
            </a:r>
          </a:p>
        </p:txBody>
      </p:sp>
      <p:sp>
        <p:nvSpPr>
          <p:cNvPr id="20" name="TextBox 19"/>
          <p:cNvSpPr txBox="1"/>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400" b="1" i="0">
                <a:solidFill>
                  <a:srgbClr val="0F233D"/>
                </a:solidFill>
                <a:latin typeface="Arial"/>
              </a:rPr>
              <a:t>APOE and mitochondria</a:t>
            </a:r>
          </a:p>
        </p:txBody>
      </p:sp>
      <p:sp>
        <p:nvSpPr>
          <p:cNvPr id="21" name="TextBox 20"/>
          <p:cNvSpPr txBox="1"/>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895600"/>
                </a:solidFill>
                <a:latin typeface="Arial"/>
              </a:rPr>
              <a:t>SUPPORTS</a:t>
            </a:r>
          </a:p>
        </p:txBody>
      </p:sp>
      <p:sp>
        <p:nvSpPr>
          <p:cNvPr id="22" name="TextBox 21"/>
          <p:cNvSpPr txBox="1"/>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0" i="0">
                <a:solidFill>
                  <a:srgbClr val="1F2730"/>
                </a:solidFill>
                <a:latin typeface="Arial"/>
              </a:rPr>
              <a:t>Links APOE4 astrocytes to impaired mitochondrial homeostasis.</a:t>
            </a:r>
          </a:p>
        </p:txBody>
      </p:sp>
      <p:sp>
        <p:nvSpPr>
          <p:cNvPr id="23" name="TextBox 22"/>
          <p:cNvSpPr txBox="1"/>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24" name="TextBox 23"/>
          <p:cNvSpPr txBox="1"/>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080" b="0" i="0">
                <a:solidFill>
                  <a:srgbClr val="4E5A68"/>
                </a:solidFill>
                <a:latin typeface="Arial"/>
              </a:rPr>
              <a:t>Different APOE group and cell type.</a:t>
            </a:r>
          </a:p>
        </p:txBody>
      </p:sp>
      <p:sp>
        <p:nvSpPr>
          <p:cNvPr id="25" name="Rounded Rectangle 24"/>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00" b="1" i="0">
                <a:solidFill>
                  <a:srgbClr val="7E4C9A"/>
                </a:solidFill>
                <a:latin typeface="Arial"/>
              </a:rPr>
              <a:t>Novelty assessment: moderate—known mitochondrial biology in a less-established sex/APOE/cell context.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F233D"/>
        </a:solidFill>
        <a:effectLst/>
      </p:bgPr>
    </p:bg>
    <p:spTree>
      <p:nvGrpSpPr>
        <p:cNvPr id="1" name=""/>
        <p:cNvGrpSpPr/>
        <p:nvPr/>
      </p:nvGrpSpPr>
      <p:grpSpPr/>
      <p:sp>
        <p:nvSpPr>
          <p:cNvPr id="2" name="TextBox 1"/>
          <p:cNvSpPr txBox="1"/>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50" b="1" i="0" dirty="0">
                <a:solidFill>
                  <a:srgbClr val="E69F00"/>
                </a:solidFill>
                <a:latin typeface="Arial"/>
              </a:rPr>
              <a:t>FINDING 2</a:t>
            </a:r>
          </a:p>
        </p:txBody>
      </p:sp>
      <p:sp>
        <p:nvSpPr>
          <p:cNvPr id="3" name="Rectangle 2"/>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300" b="1" i="0">
                <a:solidFill>
                  <a:srgbClr val="FFFFFF"/>
                </a:solidFill>
                <a:latin typeface="Arial"/>
              </a:rPr>
              <a:t>Male APOE ε3/ε3 cells show a mtDNA-up, nuclear-OXPHOS-down mismatch</a:t>
            </a:r>
          </a:p>
        </p:txBody>
      </p:sp>
      <p:sp>
        <p:nvSpPr>
          <p:cNvPr id="5" name="TextBox 4"/>
          <p:cNvSpPr txBox="1"/>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500" b="0" i="0">
                <a:solidFill>
                  <a:srgbClr val="CCDBEA"/>
                </a:solidFill>
                <a:latin typeface="Arial"/>
              </a:rPr>
              <a:t>A mitochondrial DEG-program finding, not an identified upstream key driver.</a:t>
            </a:r>
          </a:p>
        </p:txBody>
      </p:sp>
      <p:sp>
        <p:nvSpPr>
          <p:cNvPr id="6" name="Rounded Rectangle 5"/>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40" b="1" i="0">
                <a:solidFill>
                  <a:srgbClr val="E69F00"/>
                </a:solidFill>
                <a:latin typeface="Arial"/>
              </a:rPr>
              <a:t>IN THIS FINDING</a:t>
            </a:r>
          </a:p>
        </p:txBody>
      </p:sp>
      <p:sp>
        <p:nvSpPr>
          <p:cNvPr id="8" name="Oval 7"/>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1</a:t>
            </a:r>
          </a:p>
        </p:txBody>
      </p:sp>
      <p:sp>
        <p:nvSpPr>
          <p:cNvPr id="10" name="TextBox 9"/>
          <p:cNvSpPr txBox="1"/>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Plain-language statement</a:t>
            </a:r>
          </a:p>
        </p:txBody>
      </p:sp>
      <p:sp>
        <p:nvSpPr>
          <p:cNvPr id="11" name="Oval 10"/>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2</a:t>
            </a:r>
          </a:p>
        </p:txBody>
      </p:sp>
      <p:sp>
        <p:nvSpPr>
          <p:cNvPr id="13" name="TextBox 12"/>
          <p:cNvSpPr txBox="1"/>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ROSMAP evidence</a:t>
            </a:r>
          </a:p>
        </p:txBody>
      </p:sp>
      <p:sp>
        <p:nvSpPr>
          <p:cNvPr id="14" name="Oval 13"/>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3</a:t>
            </a:r>
          </a:p>
        </p:txBody>
      </p:sp>
      <p:sp>
        <p:nvSpPr>
          <p:cNvPr id="16" name="TextBox 15"/>
          <p:cNvSpPr txBox="1"/>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SEA-AD support</a:t>
            </a:r>
          </a:p>
        </p:txBody>
      </p:sp>
      <p:sp>
        <p:nvSpPr>
          <p:cNvPr id="17" name="Oval 16"/>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0F233D"/>
                </a:solidFill>
                <a:latin typeface="Arial"/>
              </a:rPr>
              <a:t>4</a:t>
            </a:r>
          </a:p>
        </p:txBody>
      </p:sp>
      <p:sp>
        <p:nvSpPr>
          <p:cNvPr id="19" name="TextBox 18"/>
          <p:cNvSpPr txBox="1"/>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110" b="1" i="0">
                <a:solidFill>
                  <a:srgbClr val="FFFFFF"/>
                </a:solidFill>
                <a:latin typeface="Arial"/>
              </a:rPr>
              <a:t>Meaning, limits, literature</a:t>
            </a:r>
          </a:p>
        </p:txBody>
      </p:sp>
      <p:sp>
        <p:nvSpPr>
          <p:cNvPr id="20" name="Rounded Rectangle 19"/>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1120" b="1" i="0">
                <a:solidFill>
                  <a:srgbClr val="FFFFFF"/>
                </a:solidFill>
                <a:latin typeface="Arial"/>
              </a:rPr>
              <a:t>SEA-AD supports the inhibitory-neuron DEG pattern without matching the exact ROSMAP drivers.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000" b="1" i="0">
                <a:solidFill>
                  <a:srgbClr val="0F233D"/>
                </a:solidFill>
                <a:latin typeface="Arial"/>
              </a:rPr>
              <a:t>Male ε3/ε3 cells raise mtDNA energy-gene RNA while lowering nuclear energy-gene RNA</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The two genomes often move in opposite directions; matched inhibitory neurons show the pattern in SEA-AD.</a:t>
            </a:r>
          </a:p>
        </p:txBody>
      </p:sp>
      <p:sp>
        <p:nvSpPr>
          <p:cNvPr id="4" name="Rounded Rectangle 3"/>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1453896"/>
            <a:ext cx="173736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20" b="1" i="0">
                <a:solidFill>
                  <a:srgbClr val="0072B2"/>
                </a:solidFill>
                <a:latin typeface="Arial"/>
              </a:rPr>
              <a:t>Male</a:t>
            </a:r>
          </a:p>
        </p:txBody>
      </p:sp>
      <p:sp>
        <p:nvSpPr>
          <p:cNvPr id="6" name="Rounded Rectangle 5"/>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10128" y="1453896"/>
            <a:ext cx="2029967"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20" b="1" i="0">
                <a:solidFill>
                  <a:srgbClr val="00684D"/>
                </a:solidFill>
                <a:latin typeface="Arial"/>
              </a:rPr>
              <a:t>APOE ε3/ε3</a:t>
            </a:r>
          </a:p>
        </p:txBody>
      </p:sp>
      <p:sp>
        <p:nvSpPr>
          <p:cNvPr id="8" name="Rounded Rectangle 7"/>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97296" y="1453896"/>
            <a:ext cx="2249424"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20" b="1" i="0">
                <a:solidFill>
                  <a:srgbClr val="895600"/>
                </a:solidFill>
                <a:latin typeface="Arial"/>
              </a:rPr>
              <a:t>Inhibitory support</a:t>
            </a:r>
          </a:p>
        </p:txBody>
      </p:sp>
      <p:sp>
        <p:nvSpPr>
          <p:cNvPr id="10" name="Rounded Rectangle 9"/>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19" y="1453896"/>
            <a:ext cx="2395727"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20" b="1" i="0">
                <a:solidFill>
                  <a:srgbClr val="9E3A00"/>
                </a:solidFill>
                <a:latin typeface="Arial"/>
              </a:rPr>
              <a:t>Alzheimer’s disease</a:t>
            </a:r>
          </a:p>
        </p:txBody>
      </p:sp>
      <p:sp>
        <p:nvSpPr>
          <p:cNvPr id="12" name="Rounded Rectangle 1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2468880"/>
            <a:ext cx="4498848" cy="36576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800" b="1" i="0">
                <a:solidFill>
                  <a:srgbClr val="0F233D"/>
                </a:solidFill>
                <a:latin typeface="Arial"/>
              </a:rPr>
              <a:t>Mitochondrial DNA</a:t>
            </a:r>
          </a:p>
        </p:txBody>
      </p:sp>
      <p:sp>
        <p:nvSpPr>
          <p:cNvPr id="14" name="TextBox 13"/>
          <p:cNvSpPr txBox="1"/>
          <p:nvPr/>
        </p:nvSpPr>
        <p:spPr>
          <a:xfrm>
            <a:off x="1188720" y="2953512"/>
            <a:ext cx="1188720" cy="96012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4800" b="1" i="0">
                <a:solidFill>
                  <a:srgbClr val="00684D"/>
                </a:solidFill>
                <a:latin typeface="Arial"/>
              </a:rPr>
              <a:t>↑</a:t>
            </a:r>
          </a:p>
        </p:txBody>
      </p:sp>
      <p:sp>
        <p:nvSpPr>
          <p:cNvPr id="15" name="TextBox 14"/>
          <p:cNvSpPr txBox="1"/>
          <p:nvPr/>
        </p:nvSpPr>
        <p:spPr>
          <a:xfrm>
            <a:off x="2267712" y="3099816"/>
            <a:ext cx="2944368" cy="65836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500" b="1" i="0">
                <a:solidFill>
                  <a:srgbClr val="1F2730"/>
                </a:solidFill>
                <a:latin typeface="Arial"/>
              </a:rPr>
              <a:t>mtDNA-OXPHOS RNA
mostly increases in AD</a:t>
            </a:r>
          </a:p>
        </p:txBody>
      </p:sp>
      <p:sp>
        <p:nvSpPr>
          <p:cNvPr id="16" name="Rounded Rectangle 15"/>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56832" y="2468880"/>
            <a:ext cx="4517136" cy="36576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800" b="1" i="0">
                <a:solidFill>
                  <a:srgbClr val="0F233D"/>
                </a:solidFill>
                <a:latin typeface="Arial"/>
              </a:rPr>
              <a:t>Nuclear DNA</a:t>
            </a:r>
          </a:p>
        </p:txBody>
      </p:sp>
      <p:sp>
        <p:nvSpPr>
          <p:cNvPr id="18" name="TextBox 17"/>
          <p:cNvSpPr txBox="1"/>
          <p:nvPr/>
        </p:nvSpPr>
        <p:spPr>
          <a:xfrm>
            <a:off x="6821424" y="2953512"/>
            <a:ext cx="1188720" cy="96012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4800" b="1" i="0">
                <a:solidFill>
                  <a:srgbClr val="9E3A00"/>
                </a:solidFill>
                <a:latin typeface="Arial"/>
              </a:rPr>
              <a:t>↓</a:t>
            </a:r>
          </a:p>
        </p:txBody>
      </p:sp>
      <p:sp>
        <p:nvSpPr>
          <p:cNvPr id="19" name="TextBox 18"/>
          <p:cNvSpPr txBox="1"/>
          <p:nvPr/>
        </p:nvSpPr>
        <p:spPr>
          <a:xfrm>
            <a:off x="7900416" y="3099816"/>
            <a:ext cx="2962656" cy="65836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500" b="1" i="0">
                <a:solidFill>
                  <a:srgbClr val="1F2730"/>
                </a:solidFill>
                <a:latin typeface="Arial"/>
              </a:rPr>
              <a:t>nuclear OXPHOS RNA
mostly decreases in AD</a:t>
            </a:r>
          </a:p>
        </p:txBody>
      </p:sp>
      <p:sp>
        <p:nvSpPr>
          <p:cNvPr id="20" name="Rounded Rectangle 19"/>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422392"/>
            <a:ext cx="10222992" cy="2926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340" b="1" i="0">
                <a:solidFill>
                  <a:srgbClr val="7E4C9A"/>
                </a:solidFill>
                <a:latin typeface="Arial"/>
              </a:rPr>
              <a:t>Plain meaning: RNA instructions for two matching sets of respiratory parts move in opposite directions.</a:t>
            </a:r>
          </a:p>
        </p:txBody>
      </p:sp>
      <p:sp>
        <p:nvSpPr>
          <p:cNvPr id="22" name="TextBox 21"/>
          <p:cNvSpPr txBox="1"/>
          <p:nvPr/>
        </p:nvSpPr>
        <p:spPr>
          <a:xfrm>
            <a:off x="658368" y="6473952"/>
            <a:ext cx="10881360" cy="146304"/>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730" b="0" i="0">
                <a:solidFill>
                  <a:srgbClr val="4E5A68"/>
                </a:solidFill>
                <a:latin typeface="Arial"/>
              </a:rPr>
              <a:t>Finding 2 synthesis; ROSMAP discovery with supplemental SEA-AD program support.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ROSMAP: male ε3/ε3 cells show opposite OXPHOS RNA directions</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Across 31 eligible fine-cell DEG queries; occurrences repeat genes across calls.</a:t>
            </a:r>
          </a:p>
        </p:txBody>
      </p:sp>
      <p:sp>
        <p:nvSpPr>
          <p:cNvPr id="4" name="Rounded Rectangle 3"/>
          <p:cNvSpPr/>
          <p:nvPr/>
        </p:nvSpPr>
        <p:spPr>
          <a:xfrm>
            <a:off x="658368" y="1389888"/>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72821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700784"/>
            <a:ext cx="451713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Mitochondrial-DNA OXPHOS</a:t>
            </a:r>
          </a:p>
        </p:txBody>
      </p:sp>
      <p:sp>
        <p:nvSpPr>
          <p:cNvPr id="7" name="TextBox 6"/>
          <p:cNvSpPr txBox="1"/>
          <p:nvPr/>
        </p:nvSpPr>
        <p:spPr>
          <a:xfrm>
            <a:off x="987552" y="2148840"/>
            <a:ext cx="1444752" cy="60350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3100" b="1" i="0">
                <a:solidFill>
                  <a:srgbClr val="0072B2"/>
                </a:solidFill>
                <a:latin typeface="Arial"/>
              </a:rPr>
              <a:t>81</a:t>
            </a:r>
          </a:p>
        </p:txBody>
      </p:sp>
      <p:sp>
        <p:nvSpPr>
          <p:cNvPr id="8" name="TextBox 7"/>
          <p:cNvSpPr txBox="1"/>
          <p:nvPr/>
        </p:nvSpPr>
        <p:spPr>
          <a:xfrm>
            <a:off x="2432304" y="2340864"/>
            <a:ext cx="2724912"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1" i="0">
                <a:solidFill>
                  <a:srgbClr val="1F2730"/>
                </a:solidFill>
                <a:latin typeface="Arial"/>
              </a:rPr>
              <a:t>DEG occurrences</a:t>
            </a:r>
          </a:p>
        </p:txBody>
      </p:sp>
      <p:sp>
        <p:nvSpPr>
          <p:cNvPr id="9" name="TextBox 8"/>
          <p:cNvSpPr txBox="1"/>
          <p:nvPr/>
        </p:nvSpPr>
        <p:spPr>
          <a:xfrm>
            <a:off x="1024128" y="3017520"/>
            <a:ext cx="457200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300" b="1" i="0">
                <a:solidFill>
                  <a:srgbClr val="1F2730"/>
                </a:solidFill>
                <a:latin typeface="Arial"/>
              </a:rPr>
              <a:t>70 AD-up  •  11 AD-down</a:t>
            </a:r>
          </a:p>
        </p:txBody>
      </p:sp>
      <p:sp>
        <p:nvSpPr>
          <p:cNvPr id="10" name="Rounded Rectangle 9"/>
          <p:cNvSpPr/>
          <p:nvPr/>
        </p:nvSpPr>
        <p:spPr>
          <a:xfrm>
            <a:off x="1024128" y="3474720"/>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24128" y="3474720"/>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754880" y="3474720"/>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3867912"/>
            <a:ext cx="1847088"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40" b="1" i="0">
                <a:solidFill>
                  <a:srgbClr val="00684D"/>
                </a:solidFill>
                <a:latin typeface="Arial"/>
              </a:rPr>
              <a:t>86% up</a:t>
            </a:r>
          </a:p>
        </p:txBody>
      </p:sp>
      <p:sp>
        <p:nvSpPr>
          <p:cNvPr id="14" name="TextBox 13"/>
          <p:cNvSpPr txBox="1"/>
          <p:nvPr/>
        </p:nvSpPr>
        <p:spPr>
          <a:xfrm>
            <a:off x="1024128" y="4645152"/>
            <a:ext cx="4572000" cy="34747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500" b="1" i="0">
                <a:solidFill>
                  <a:srgbClr val="0072B2"/>
                </a:solidFill>
                <a:latin typeface="Arial"/>
              </a:rPr>
              <a:t>12 input queries enriched</a:t>
            </a:r>
          </a:p>
        </p:txBody>
      </p:sp>
      <p:sp>
        <p:nvSpPr>
          <p:cNvPr id="15" name="TextBox 14"/>
          <p:cNvSpPr txBox="1"/>
          <p:nvPr/>
        </p:nvSpPr>
        <p:spPr>
          <a:xfrm>
            <a:off x="1024128" y="5065776"/>
            <a:ext cx="4572000" cy="2926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60" b="0" i="0">
                <a:solidFill>
                  <a:srgbClr val="4E5A68"/>
                </a:solidFill>
                <a:latin typeface="Arial"/>
              </a:rPr>
              <a:t>All 12 enriched queries were in the AD-up direction.</a:t>
            </a:r>
          </a:p>
        </p:txBody>
      </p:sp>
      <p:sp>
        <p:nvSpPr>
          <p:cNvPr id="16" name="Rounded Rectangle 15"/>
          <p:cNvSpPr/>
          <p:nvPr/>
        </p:nvSpPr>
        <p:spPr>
          <a:xfrm>
            <a:off x="6236208" y="1389888"/>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28816" y="172821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1700784"/>
            <a:ext cx="4535424"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Nuclear-encoded OXPHOS</a:t>
            </a:r>
          </a:p>
        </p:txBody>
      </p:sp>
      <p:sp>
        <p:nvSpPr>
          <p:cNvPr id="19" name="TextBox 18"/>
          <p:cNvSpPr txBox="1"/>
          <p:nvPr/>
        </p:nvSpPr>
        <p:spPr>
          <a:xfrm>
            <a:off x="6565392" y="2148840"/>
            <a:ext cx="1444752" cy="60350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3100" b="1" i="0">
                <a:solidFill>
                  <a:srgbClr val="9E3A00"/>
                </a:solidFill>
                <a:latin typeface="Arial"/>
              </a:rPr>
              <a:t>68</a:t>
            </a:r>
          </a:p>
        </p:txBody>
      </p:sp>
      <p:sp>
        <p:nvSpPr>
          <p:cNvPr id="20" name="TextBox 19"/>
          <p:cNvSpPr txBox="1"/>
          <p:nvPr/>
        </p:nvSpPr>
        <p:spPr>
          <a:xfrm>
            <a:off x="8010144" y="2340864"/>
            <a:ext cx="2724912"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1" i="0">
                <a:solidFill>
                  <a:srgbClr val="1F2730"/>
                </a:solidFill>
                <a:latin typeface="Arial"/>
              </a:rPr>
              <a:t>DEG occurrences</a:t>
            </a:r>
          </a:p>
        </p:txBody>
      </p:sp>
      <p:sp>
        <p:nvSpPr>
          <p:cNvPr id="21" name="TextBox 20"/>
          <p:cNvSpPr txBox="1"/>
          <p:nvPr/>
        </p:nvSpPr>
        <p:spPr>
          <a:xfrm>
            <a:off x="6601968" y="3017520"/>
            <a:ext cx="457200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300" b="1" i="0">
                <a:solidFill>
                  <a:srgbClr val="1F2730"/>
                </a:solidFill>
                <a:latin typeface="Arial"/>
              </a:rPr>
              <a:t>8 AD-up  •  60 AD-down</a:t>
            </a:r>
          </a:p>
        </p:txBody>
      </p:sp>
      <p:sp>
        <p:nvSpPr>
          <p:cNvPr id="22" name="Rounded Rectangle 21"/>
          <p:cNvSpPr/>
          <p:nvPr/>
        </p:nvSpPr>
        <p:spPr>
          <a:xfrm>
            <a:off x="6601968" y="3474720"/>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01968" y="3474720"/>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14032" y="3474720"/>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70848" y="3867912"/>
            <a:ext cx="1847088" cy="219456"/>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1040" b="1" i="0">
                <a:solidFill>
                  <a:srgbClr val="9E3A00"/>
                </a:solidFill>
                <a:latin typeface="Arial"/>
              </a:rPr>
              <a:t>88% down</a:t>
            </a:r>
          </a:p>
        </p:txBody>
      </p:sp>
      <p:sp>
        <p:nvSpPr>
          <p:cNvPr id="26" name="TextBox 25"/>
          <p:cNvSpPr txBox="1"/>
          <p:nvPr/>
        </p:nvSpPr>
        <p:spPr>
          <a:xfrm>
            <a:off x="6601968" y="4645152"/>
            <a:ext cx="4572000" cy="34747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500" b="1" i="0">
                <a:solidFill>
                  <a:srgbClr val="9E3A00"/>
                </a:solidFill>
                <a:latin typeface="Arial"/>
              </a:rPr>
              <a:t>1 input query enriched</a:t>
            </a:r>
          </a:p>
        </p:txBody>
      </p:sp>
      <p:sp>
        <p:nvSpPr>
          <p:cNvPr id="27" name="TextBox 26"/>
          <p:cNvSpPr txBox="1"/>
          <p:nvPr/>
        </p:nvSpPr>
        <p:spPr>
          <a:xfrm>
            <a:off x="6601968" y="5065776"/>
            <a:ext cx="4572000" cy="29260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60" b="0" i="0">
                <a:solidFill>
                  <a:srgbClr val="4E5A68"/>
                </a:solidFill>
                <a:latin typeface="Arial"/>
              </a:rPr>
              <a:t>The enriched query was in the AD-down direction.</a:t>
            </a:r>
          </a:p>
        </p:txBody>
      </p:sp>
      <p:sp>
        <p:nvSpPr>
          <p:cNvPr id="28" name="Rounded Rectangle 27"/>
          <p:cNvSpPr/>
          <p:nvPr/>
        </p:nvSpPr>
        <p:spPr>
          <a:xfrm>
            <a:off x="658368" y="5989320"/>
            <a:ext cx="10881360" cy="47548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6126480"/>
            <a:ext cx="10405872" cy="21945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40" b="1" i="0">
                <a:solidFill>
                  <a:srgbClr val="7E4C9A"/>
                </a:solidFill>
                <a:latin typeface="Arial"/>
              </a:rPr>
              <a:t>Enriched = more program genes than expected in a KDA input query (BH &lt; 0.05), not the number of key drivers returned.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SEA-AD supports the matched male ε3/ε3 inhibitory-neuron program</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8 matched calls were evaluable; support is program-level rather than exact-driver replication.</a:t>
            </a:r>
          </a:p>
        </p:txBody>
      </p:sp>
      <p:sp>
        <p:nvSpPr>
          <p:cNvPr id="4" name="Rounded Rectangle 3"/>
          <p:cNvSpPr/>
          <p:nvPr/>
        </p:nvSpPr>
        <p:spPr>
          <a:xfrm>
            <a:off x="658368" y="1389888"/>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517904"/>
            <a:ext cx="3127248" cy="4846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2800" b="1" i="0">
                <a:solidFill>
                  <a:srgbClr val="0072B2"/>
                </a:solidFill>
                <a:latin typeface="Arial"/>
              </a:rPr>
              <a:t>22</a:t>
            </a:r>
          </a:p>
        </p:txBody>
      </p:sp>
      <p:sp>
        <p:nvSpPr>
          <p:cNvPr id="6" name="TextBox 5"/>
          <p:cNvSpPr txBox="1"/>
          <p:nvPr/>
        </p:nvSpPr>
        <p:spPr>
          <a:xfrm>
            <a:off x="822959" y="2048256"/>
            <a:ext cx="3127248"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0F233D"/>
                </a:solidFill>
                <a:latin typeface="Arial"/>
              </a:rPr>
              <a:t>shared mitochondrial-query genes</a:t>
            </a:r>
          </a:p>
        </p:txBody>
      </p:sp>
      <p:sp>
        <p:nvSpPr>
          <p:cNvPr id="7" name="Rounded Rectangle 6"/>
          <p:cNvSpPr/>
          <p:nvPr/>
        </p:nvSpPr>
        <p:spPr>
          <a:xfrm>
            <a:off x="4370832" y="1389888"/>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35424" y="1517904"/>
            <a:ext cx="3127248" cy="4846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2800" b="1" i="0">
                <a:solidFill>
                  <a:srgbClr val="00684D"/>
                </a:solidFill>
                <a:latin typeface="Arial"/>
              </a:rPr>
              <a:t>19/22</a:t>
            </a:r>
          </a:p>
        </p:txBody>
      </p:sp>
      <p:sp>
        <p:nvSpPr>
          <p:cNvPr id="9" name="TextBox 8"/>
          <p:cNvSpPr txBox="1"/>
          <p:nvPr/>
        </p:nvSpPr>
        <p:spPr>
          <a:xfrm>
            <a:off x="4535424" y="2048256"/>
            <a:ext cx="3127248"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0F233D"/>
                </a:solidFill>
                <a:latin typeface="Arial"/>
              </a:rPr>
              <a:t>shared genes have the same AD direction</a:t>
            </a:r>
          </a:p>
        </p:txBody>
      </p:sp>
      <p:sp>
        <p:nvSpPr>
          <p:cNvPr id="10" name="Rounded Rectangle 9"/>
          <p:cNvSpPr/>
          <p:nvPr/>
        </p:nvSpPr>
        <p:spPr>
          <a:xfrm>
            <a:off x="8083296" y="1389888"/>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1517904"/>
            <a:ext cx="3127248" cy="4846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2300" b="1" i="0">
                <a:solidFill>
                  <a:srgbClr val="895600"/>
                </a:solidFill>
                <a:latin typeface="Arial"/>
              </a:rPr>
              <a:t>BH = 0.0417</a:t>
            </a:r>
          </a:p>
        </p:txBody>
      </p:sp>
      <p:sp>
        <p:nvSpPr>
          <p:cNvPr id="12" name="TextBox 11"/>
          <p:cNvSpPr txBox="1"/>
          <p:nvPr/>
        </p:nvSpPr>
        <p:spPr>
          <a:xfrm>
            <a:off x="8247888" y="2048256"/>
            <a:ext cx="3127248"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0F233D"/>
                </a:solidFill>
                <a:latin typeface="Arial"/>
              </a:rPr>
              <a:t>cross-cohort overlap after correction</a:t>
            </a:r>
          </a:p>
        </p:txBody>
      </p:sp>
      <p:sp>
        <p:nvSpPr>
          <p:cNvPr id="13" name="TextBox 12"/>
          <p:cNvSpPr txBox="1"/>
          <p:nvPr/>
        </p:nvSpPr>
        <p:spPr>
          <a:xfrm>
            <a:off x="8247888" y="2377440"/>
            <a:ext cx="3127248" cy="21945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0" i="0">
                <a:solidFill>
                  <a:srgbClr val="4E5A68"/>
                </a:solidFill>
                <a:latin typeface="Arial"/>
              </a:rPr>
              <a:t>22 shared versus 15.17 expected</a:t>
            </a:r>
          </a:p>
        </p:txBody>
      </p:sp>
      <p:sp>
        <p:nvSpPr>
          <p:cNvPr id="14" name="Rounded Rectangle 13"/>
          <p:cNvSpPr/>
          <p:nvPr/>
        </p:nvSpPr>
        <p:spPr>
          <a:xfrm>
            <a:off x="658368" y="2889504"/>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36976"/>
            <a:ext cx="3273552" cy="34747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0F233D"/>
                </a:solidFill>
                <a:latin typeface="Arial"/>
              </a:rPr>
              <a:t>Mitochondrial DNA</a:t>
            </a:r>
          </a:p>
        </p:txBody>
      </p:sp>
      <p:sp>
        <p:nvSpPr>
          <p:cNvPr id="16" name="TextBox 15"/>
          <p:cNvSpPr txBox="1"/>
          <p:nvPr/>
        </p:nvSpPr>
        <p:spPr>
          <a:xfrm>
            <a:off x="4370832" y="3127248"/>
            <a:ext cx="987552" cy="74980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3800" b="1" i="0">
                <a:solidFill>
                  <a:srgbClr val="00684D"/>
                </a:solidFill>
                <a:latin typeface="Arial"/>
              </a:rPr>
              <a:t>↑</a:t>
            </a:r>
          </a:p>
        </p:txBody>
      </p:sp>
      <p:sp>
        <p:nvSpPr>
          <p:cNvPr id="17" name="TextBox 16"/>
          <p:cNvSpPr txBox="1"/>
          <p:nvPr/>
        </p:nvSpPr>
        <p:spPr>
          <a:xfrm>
            <a:off x="969264" y="4023360"/>
            <a:ext cx="4663440" cy="64008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500" b="1" i="0">
                <a:solidFill>
                  <a:srgbClr val="1F2730"/>
                </a:solidFill>
                <a:latin typeface="Arial"/>
              </a:rPr>
              <a:t>9 mtDNA-OXPHOS genes are AD-up in both cohorts</a:t>
            </a:r>
          </a:p>
        </p:txBody>
      </p:sp>
      <p:sp>
        <p:nvSpPr>
          <p:cNvPr id="18" name="Rounded Rectangle 17"/>
          <p:cNvSpPr/>
          <p:nvPr/>
        </p:nvSpPr>
        <p:spPr>
          <a:xfrm>
            <a:off x="6236208" y="2889504"/>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47104" y="3236976"/>
            <a:ext cx="3456432" cy="34747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0F233D"/>
                </a:solidFill>
                <a:latin typeface="Arial"/>
              </a:rPr>
              <a:t>Nuclear support systems</a:t>
            </a:r>
          </a:p>
        </p:txBody>
      </p:sp>
      <p:sp>
        <p:nvSpPr>
          <p:cNvPr id="20" name="TextBox 19"/>
          <p:cNvSpPr txBox="1"/>
          <p:nvPr/>
        </p:nvSpPr>
        <p:spPr>
          <a:xfrm>
            <a:off x="10094976" y="3127248"/>
            <a:ext cx="987552" cy="749808"/>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3800" b="1" i="0">
                <a:solidFill>
                  <a:srgbClr val="9E3A00"/>
                </a:solidFill>
                <a:latin typeface="Arial"/>
              </a:rPr>
              <a:t>↓</a:t>
            </a:r>
          </a:p>
        </p:txBody>
      </p:sp>
      <p:sp>
        <p:nvSpPr>
          <p:cNvPr id="21" name="TextBox 20"/>
          <p:cNvSpPr txBox="1"/>
          <p:nvPr/>
        </p:nvSpPr>
        <p:spPr>
          <a:xfrm>
            <a:off x="6547104" y="3931920"/>
            <a:ext cx="4663440" cy="822960"/>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400" b="1" i="0">
                <a:solidFill>
                  <a:srgbClr val="1F2730"/>
                </a:solidFill>
                <a:latin typeface="Arial"/>
              </a:rPr>
              <a:t>OXPHOS, import, ribosome, and maintenance genes are AD-down in both cohorts</a:t>
            </a:r>
          </a:p>
        </p:txBody>
      </p:sp>
      <p:sp>
        <p:nvSpPr>
          <p:cNvPr id="22" name="Rounded Rectangle 21"/>
          <p:cNvSpPr/>
          <p:nvPr/>
        </p:nvSpPr>
        <p:spPr>
          <a:xfrm>
            <a:off x="658368" y="5797296"/>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5943600"/>
            <a:ext cx="10405872" cy="23774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80" b="1" i="0">
                <a:solidFill>
                  <a:srgbClr val="7E4C9A"/>
                </a:solidFill>
                <a:latin typeface="Arial"/>
              </a:rPr>
              <a:t>Identity-resolved sensitivity: 21 shared genes, BH = 0.0486.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Which genes carry the matched inhibitory-neuron signal?</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The agreement spans respiratory subunits, transport, import, mitochondrial ribosomes, and maintenance.</a:t>
            </a:r>
          </a:p>
        </p:txBody>
      </p:sp>
      <p:sp>
        <p:nvSpPr>
          <p:cNvPr id="4" name="Rounded Rectangle 3"/>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64208"/>
            <a:ext cx="451713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9 mtDNA-OXPHOS genes ↑ in both</a:t>
            </a:r>
          </a:p>
        </p:txBody>
      </p:sp>
      <p:sp>
        <p:nvSpPr>
          <p:cNvPr id="7" name="Rounded Rectangle 6"/>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68296"/>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MT-ATP6</a:t>
            </a:r>
          </a:p>
        </p:txBody>
      </p:sp>
      <p:sp>
        <p:nvSpPr>
          <p:cNvPr id="9" name="Rounded Rectangle 8"/>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9464" y="2368296"/>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MT-CO2</a:t>
            </a:r>
          </a:p>
        </p:txBody>
      </p:sp>
      <p:sp>
        <p:nvSpPr>
          <p:cNvPr id="11" name="Rounded Rectangle 10"/>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96511" y="2368296"/>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MT-CO3</a:t>
            </a:r>
          </a:p>
        </p:txBody>
      </p:sp>
      <p:sp>
        <p:nvSpPr>
          <p:cNvPr id="13" name="Rounded Rectangle 12"/>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6" y="3118103"/>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MT-CYB</a:t>
            </a:r>
          </a:p>
        </p:txBody>
      </p:sp>
      <p:sp>
        <p:nvSpPr>
          <p:cNvPr id="15" name="Rounded Rectangle 14"/>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9464" y="3118103"/>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MT-ND1</a:t>
            </a:r>
          </a:p>
        </p:txBody>
      </p:sp>
      <p:sp>
        <p:nvSpPr>
          <p:cNvPr id="17" name="Rounded Rectangle 16"/>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96511" y="3118103"/>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MT-ND2</a:t>
            </a:r>
          </a:p>
        </p:txBody>
      </p:sp>
      <p:sp>
        <p:nvSpPr>
          <p:cNvPr id="19" name="Rounded Rectangle 18"/>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3867912"/>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MT-ND3</a:t>
            </a:r>
          </a:p>
        </p:txBody>
      </p:sp>
      <p:sp>
        <p:nvSpPr>
          <p:cNvPr id="21" name="Rounded Rectangle 20"/>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9464" y="3867912"/>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MT-ND4</a:t>
            </a:r>
          </a:p>
        </p:txBody>
      </p:sp>
      <p:sp>
        <p:nvSpPr>
          <p:cNvPr id="23" name="Rounded Rectangle 22"/>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96511" y="3867912"/>
            <a:ext cx="1143000"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00" b="1" i="0">
                <a:solidFill>
                  <a:srgbClr val="0072B2"/>
                </a:solidFill>
                <a:latin typeface="Arial"/>
              </a:rPr>
              <a:t>MT-ND4L</a:t>
            </a:r>
          </a:p>
        </p:txBody>
      </p:sp>
      <p:sp>
        <p:nvSpPr>
          <p:cNvPr id="25" name="Rounded Rectangle 24"/>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1664208"/>
            <a:ext cx="4535424"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8 nuclear or maintenance genes ↓ in both</a:t>
            </a:r>
          </a:p>
        </p:txBody>
      </p:sp>
      <p:sp>
        <p:nvSpPr>
          <p:cNvPr id="28" name="Rounded Rectangle 27"/>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56831" y="2240279"/>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UQCRFS1</a:t>
            </a:r>
          </a:p>
        </p:txBody>
      </p:sp>
      <p:sp>
        <p:nvSpPr>
          <p:cNvPr id="30" name="Rounded Rectangle 29"/>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24544" y="2240279"/>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SLC25A5</a:t>
            </a:r>
          </a:p>
        </p:txBody>
      </p:sp>
      <p:sp>
        <p:nvSpPr>
          <p:cNvPr id="32" name="Rounded Rectangle 3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56831" y="2862072"/>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TIMM13</a:t>
            </a:r>
          </a:p>
        </p:txBody>
      </p:sp>
      <p:sp>
        <p:nvSpPr>
          <p:cNvPr id="34" name="Rounded Rectangle 33"/>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24544" y="2862072"/>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TIMM17A</a:t>
            </a:r>
          </a:p>
        </p:txBody>
      </p:sp>
      <p:sp>
        <p:nvSpPr>
          <p:cNvPr id="36" name="Rounded Rectangle 35"/>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56831" y="3483864"/>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MRPL16</a:t>
            </a:r>
          </a:p>
        </p:txBody>
      </p:sp>
      <p:sp>
        <p:nvSpPr>
          <p:cNvPr id="38" name="Rounded Rectangle 37"/>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24544" y="3483864"/>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MRPS34</a:t>
            </a:r>
          </a:p>
        </p:txBody>
      </p:sp>
      <p:sp>
        <p:nvSpPr>
          <p:cNvPr id="40" name="Rounded Rectangle 39"/>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56831" y="4105656"/>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ENDOG</a:t>
            </a:r>
          </a:p>
        </p:txBody>
      </p:sp>
      <p:sp>
        <p:nvSpPr>
          <p:cNvPr id="42" name="Rounded Rectangle 4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24544" y="4105656"/>
            <a:ext cx="1810512" cy="21031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030" b="1" i="0">
                <a:solidFill>
                  <a:srgbClr val="9E3A00"/>
                </a:solidFill>
                <a:latin typeface="Arial"/>
              </a:rPr>
              <a:t>MTCH1</a:t>
            </a:r>
          </a:p>
        </p:txBody>
      </p:sp>
      <p:sp>
        <p:nvSpPr>
          <p:cNvPr id="44" name="Rounded Rectangle 43"/>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449824"/>
            <a:ext cx="2029968"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0684D"/>
                </a:solidFill>
                <a:latin typeface="Arial"/>
              </a:rPr>
              <a:t>Other concordant genes</a:t>
            </a:r>
          </a:p>
        </p:txBody>
      </p:sp>
      <p:sp>
        <p:nvSpPr>
          <p:cNvPr id="46" name="TextBox 45"/>
          <p:cNvSpPr txBox="1"/>
          <p:nvPr/>
        </p:nvSpPr>
        <p:spPr>
          <a:xfrm>
            <a:off x="2816352" y="5422392"/>
            <a:ext cx="2779776"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00" b="1" i="0">
                <a:solidFill>
                  <a:srgbClr val="1F2730"/>
                </a:solidFill>
                <a:latin typeface="Arial"/>
              </a:rPr>
              <a:t>DBP ↓   •   PRELID2 ↑</a:t>
            </a:r>
          </a:p>
        </p:txBody>
      </p:sp>
      <p:sp>
        <p:nvSpPr>
          <p:cNvPr id="47" name="Rounded Rectangle 46"/>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10528" y="5449824"/>
            <a:ext cx="1773936"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895600"/>
                </a:solidFill>
                <a:latin typeface="Arial"/>
              </a:rPr>
              <a:t>3 discordant genes</a:t>
            </a:r>
          </a:p>
        </p:txBody>
      </p:sp>
      <p:sp>
        <p:nvSpPr>
          <p:cNvPr id="49" name="TextBox 48"/>
          <p:cNvSpPr txBox="1"/>
          <p:nvPr/>
        </p:nvSpPr>
        <p:spPr>
          <a:xfrm>
            <a:off x="8174736" y="5422392"/>
            <a:ext cx="3054096"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80" b="1" i="0">
                <a:solidFill>
                  <a:srgbClr val="1F2730"/>
                </a:solidFill>
                <a:latin typeface="Arial"/>
              </a:rPr>
              <a:t>HIBCH   •   ISCU   •   TMEM126B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Why this matters: one respiratory system depends on two genomes</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Opposite RNA directions could challenge coordination, but the functional outcome remains unknown.</a:t>
            </a:r>
          </a:p>
        </p:txBody>
      </p:sp>
      <p:sp>
        <p:nvSpPr>
          <p:cNvPr id="4" name="Rounded Rectangle 3"/>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512064" cy="219456"/>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300" b="1" i="0">
                <a:solidFill>
                  <a:srgbClr val="FFFFFF"/>
                </a:solidFill>
                <a:latin typeface="Arial"/>
              </a:rPr>
              <a:t>1</a:t>
            </a:r>
          </a:p>
        </p:txBody>
      </p:sp>
      <p:sp>
        <p:nvSpPr>
          <p:cNvPr id="7" name="TextBox 6"/>
          <p:cNvSpPr txBox="1"/>
          <p:nvPr/>
        </p:nvSpPr>
        <p:spPr>
          <a:xfrm>
            <a:off x="1572768" y="1773936"/>
            <a:ext cx="2249424"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00" b="1" i="0">
                <a:solidFill>
                  <a:srgbClr val="0F233D"/>
                </a:solidFill>
                <a:latin typeface="Arial"/>
              </a:rPr>
              <a:t>Two-genome machine</a:t>
            </a:r>
          </a:p>
        </p:txBody>
      </p:sp>
      <p:sp>
        <p:nvSpPr>
          <p:cNvPr id="8" name="TextBox 7"/>
          <p:cNvSpPr txBox="1"/>
          <p:nvPr/>
        </p:nvSpPr>
        <p:spPr>
          <a:xfrm>
            <a:off x="950976" y="2542032"/>
            <a:ext cx="2871216" cy="11704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60" b="0" i="0">
                <a:solidFill>
                  <a:srgbClr val="1F2730"/>
                </a:solidFill>
                <a:latin typeface="Arial"/>
              </a:rPr>
              <a:t>OXPHOS complexes combine proteins encoded by mitochondrial DNA and nuclear DNA.</a:t>
            </a:r>
          </a:p>
        </p:txBody>
      </p:sp>
      <p:sp>
        <p:nvSpPr>
          <p:cNvPr id="9" name="Rounded Rectangle 8"/>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1874519"/>
            <a:ext cx="512064" cy="219456"/>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300" b="1" i="0">
                <a:solidFill>
                  <a:srgbClr val="FFFFFF"/>
                </a:solidFill>
                <a:latin typeface="Arial"/>
              </a:rPr>
              <a:t>2</a:t>
            </a:r>
          </a:p>
        </p:txBody>
      </p:sp>
      <p:sp>
        <p:nvSpPr>
          <p:cNvPr id="12" name="TextBox 11"/>
          <p:cNvSpPr txBox="1"/>
          <p:nvPr/>
        </p:nvSpPr>
        <p:spPr>
          <a:xfrm>
            <a:off x="5367528" y="1773936"/>
            <a:ext cx="2249424"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00" b="1" i="0">
                <a:solidFill>
                  <a:srgbClr val="0F233D"/>
                </a:solidFill>
                <a:latin typeface="Arial"/>
              </a:rPr>
              <a:t>Support systems also fall</a:t>
            </a:r>
          </a:p>
        </p:txBody>
      </p:sp>
      <p:sp>
        <p:nvSpPr>
          <p:cNvPr id="13" name="TextBox 12"/>
          <p:cNvSpPr txBox="1"/>
          <p:nvPr/>
        </p:nvSpPr>
        <p:spPr>
          <a:xfrm>
            <a:off x="4745736" y="2542032"/>
            <a:ext cx="2871216" cy="11704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60" b="0" i="0">
                <a:solidFill>
                  <a:srgbClr val="1F2730"/>
                </a:solidFill>
                <a:latin typeface="Arial"/>
              </a:rPr>
              <a:t>Import, mitochondrial-ribosome, transport, and maintenance genes are down in both cohorts.</a:t>
            </a:r>
          </a:p>
        </p:txBody>
      </p:sp>
      <p:sp>
        <p:nvSpPr>
          <p:cNvPr id="14" name="Rounded Rectangle 13"/>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0" y="1874519"/>
            <a:ext cx="512064" cy="219456"/>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9162288" y="1773936"/>
            <a:ext cx="2249424"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00" b="1" i="0">
                <a:solidFill>
                  <a:srgbClr val="0F233D"/>
                </a:solidFill>
                <a:latin typeface="Arial"/>
              </a:rPr>
              <a:t>Possible cellular strain</a:t>
            </a:r>
          </a:p>
        </p:txBody>
      </p:sp>
      <p:sp>
        <p:nvSpPr>
          <p:cNvPr id="18" name="TextBox 17"/>
          <p:cNvSpPr txBox="1"/>
          <p:nvPr/>
        </p:nvSpPr>
        <p:spPr>
          <a:xfrm>
            <a:off x="8540496" y="2542032"/>
            <a:ext cx="2871216" cy="117043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160" b="0" i="0">
                <a:solidFill>
                  <a:srgbClr val="1F2730"/>
                </a:solidFill>
                <a:latin typeface="Arial"/>
              </a:rPr>
              <a:t>The pattern could reflect compensation, unassembled parts, altered cell state, or mitochondrial stress.</a:t>
            </a:r>
          </a:p>
        </p:txBody>
      </p:sp>
      <p:sp>
        <p:nvSpPr>
          <p:cNvPr id="19" name="Rounded Rectangle 18"/>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992624"/>
            <a:ext cx="2194560"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1" i="0">
                <a:solidFill>
                  <a:srgbClr val="9E3A00"/>
                </a:solidFill>
                <a:latin typeface="Arial"/>
              </a:rPr>
              <a:t>Most cautious interpretation</a:t>
            </a:r>
          </a:p>
        </p:txBody>
      </p:sp>
      <p:sp>
        <p:nvSpPr>
          <p:cNvPr id="21" name="TextBox 20"/>
          <p:cNvSpPr txBox="1"/>
          <p:nvPr/>
        </p:nvSpPr>
        <p:spPr>
          <a:xfrm>
            <a:off x="3246120" y="4882896"/>
            <a:ext cx="7836408" cy="5120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360" b="1" i="0">
                <a:solidFill>
                  <a:srgbClr val="1F2730"/>
                </a:solidFill>
                <a:latin typeface="Arial"/>
              </a:rPr>
              <a:t>This is an RNA-level mitonuclear mismatch—not proof that respiratory proteins or ATP production are unbalanced.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What the finding does not prove—and the next evidence needed</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A transcript-level mismatch is a testable hypothesis, not a completed mechanism.</a:t>
            </a:r>
          </a:p>
        </p:txBody>
      </p:sp>
      <p:sp>
        <p:nvSpPr>
          <p:cNvPr id="4" name="Rounded Rectangle 3"/>
          <p:cNvSpPr/>
          <p:nvPr/>
        </p:nvSpPr>
        <p:spPr>
          <a:xfrm>
            <a:off x="658368" y="1298448"/>
            <a:ext cx="5285232" cy="449884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636776"/>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09344"/>
            <a:ext cx="4517136"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Not proven</a:t>
            </a:r>
          </a:p>
        </p:txBody>
      </p:sp>
      <p:sp>
        <p:nvSpPr>
          <p:cNvPr id="7" name="Oval 6"/>
          <p:cNvSpPr/>
          <p:nvPr/>
        </p:nvSpPr>
        <p:spPr>
          <a:xfrm>
            <a:off x="950976" y="2249424"/>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2121408"/>
            <a:ext cx="4398264"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Physical imbalance of OXPHOS proteins or complexes</a:t>
            </a:r>
          </a:p>
        </p:txBody>
      </p:sp>
      <p:sp>
        <p:nvSpPr>
          <p:cNvPr id="9" name="Oval 8"/>
          <p:cNvSpPr/>
          <p:nvPr/>
        </p:nvSpPr>
        <p:spPr>
          <a:xfrm>
            <a:off x="950976" y="2999232"/>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2871215"/>
            <a:ext cx="4398264"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Lower ATP, respiration, or higher oxidative stress</a:t>
            </a:r>
          </a:p>
        </p:txBody>
      </p:sp>
      <p:sp>
        <p:nvSpPr>
          <p:cNvPr id="11" name="Oval 10"/>
          <p:cNvSpPr/>
          <p:nvPr/>
        </p:nvSpPr>
        <p:spPr>
          <a:xfrm>
            <a:off x="950976" y="3749039"/>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24712" y="3621023"/>
            <a:ext cx="4398264"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A male- or ε3/ε3-specific disease interaction</a:t>
            </a:r>
          </a:p>
        </p:txBody>
      </p:sp>
      <p:sp>
        <p:nvSpPr>
          <p:cNvPr id="13" name="Oval 12"/>
          <p:cNvSpPr/>
          <p:nvPr/>
        </p:nvSpPr>
        <p:spPr>
          <a:xfrm>
            <a:off x="950976" y="449884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 y="4370831"/>
            <a:ext cx="4398264"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Which upstream key driver caused the pattern</a:t>
            </a:r>
          </a:p>
        </p:txBody>
      </p:sp>
      <p:sp>
        <p:nvSpPr>
          <p:cNvPr id="15" name="Rounded Rectangle 14"/>
          <p:cNvSpPr/>
          <p:nvPr/>
        </p:nvSpPr>
        <p:spPr>
          <a:xfrm>
            <a:off x="6236208" y="1298448"/>
            <a:ext cx="5303520" cy="44988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28816" y="163677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1609344"/>
            <a:ext cx="4535424" cy="32918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20" b="1" i="0">
                <a:solidFill>
                  <a:srgbClr val="0F233D"/>
                </a:solidFill>
                <a:latin typeface="Arial"/>
              </a:rPr>
              <a:t>Best next tests</a:t>
            </a:r>
          </a:p>
        </p:txBody>
      </p:sp>
      <p:sp>
        <p:nvSpPr>
          <p:cNvPr id="18" name="Oval 17"/>
          <p:cNvSpPr/>
          <p:nvPr/>
        </p:nvSpPr>
        <p:spPr>
          <a:xfrm>
            <a:off x="6528816" y="2249424"/>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02552" y="2121408"/>
            <a:ext cx="4416551"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Donor-aware disease × sex × APOE interaction model</a:t>
            </a:r>
          </a:p>
        </p:txBody>
      </p:sp>
      <p:sp>
        <p:nvSpPr>
          <p:cNvPr id="20" name="Oval 19"/>
          <p:cNvSpPr/>
          <p:nvPr/>
        </p:nvSpPr>
        <p:spPr>
          <a:xfrm>
            <a:off x="6528816" y="29992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2552" y="2871215"/>
            <a:ext cx="4416551"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Paired mtDNA- and nuclear-encoded OXPHOS proteins</a:t>
            </a:r>
          </a:p>
        </p:txBody>
      </p:sp>
      <p:sp>
        <p:nvSpPr>
          <p:cNvPr id="22" name="Oval 21"/>
          <p:cNvSpPr/>
          <p:nvPr/>
        </p:nvSpPr>
        <p:spPr>
          <a:xfrm>
            <a:off x="6528816" y="374903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3621023"/>
            <a:ext cx="4416551"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Respiratory-complex assembly, oxygen use, ATP, and ROS</a:t>
            </a:r>
          </a:p>
        </p:txBody>
      </p:sp>
      <p:sp>
        <p:nvSpPr>
          <p:cNvPr id="24" name="Oval 23"/>
          <p:cNvSpPr/>
          <p:nvPr/>
        </p:nvSpPr>
        <p:spPr>
          <a:xfrm>
            <a:off x="6528816" y="449884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02552" y="4370831"/>
            <a:ext cx="4416551" cy="7498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0" i="0">
                <a:solidFill>
                  <a:srgbClr val="1F2730"/>
                </a:solidFill>
                <a:latin typeface="Arial"/>
              </a:rPr>
              <a:t>Perturb candidate drivers and test functional rescue</a:t>
            </a:r>
          </a:p>
        </p:txBody>
      </p:sp>
      <p:sp>
        <p:nvSpPr>
          <p:cNvPr id="26" name="TextBox 25"/>
          <p:cNvSpPr txBox="1"/>
          <p:nvPr/>
        </p:nvSpPr>
        <p:spPr>
          <a:xfrm>
            <a:off x="841248" y="6053328"/>
            <a:ext cx="10515600"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20" b="1" i="0">
                <a:solidFill>
                  <a:srgbClr val="7E4C9A"/>
                </a:solidFill>
                <a:latin typeface="Arial"/>
              </a:rPr>
              <a:t>SEA-AD strengthens the program observation but cannot replace interaction tests or functional measurements.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30352" y="292608"/>
            <a:ext cx="11064240"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200" b="1" i="0">
                <a:solidFill>
                  <a:srgbClr val="0F233D"/>
                </a:solidFill>
                <a:latin typeface="Arial"/>
              </a:rPr>
              <a:t>Prior research supports the ingredients—but not this exact mismatch</a:t>
            </a:r>
          </a:p>
        </p:txBody>
      </p:sp>
      <p:sp>
        <p:nvSpPr>
          <p:cNvPr id="3" name="TextBox 2"/>
          <p:cNvSpPr txBox="1"/>
          <p:nvPr/>
        </p:nvSpPr>
        <p:spPr>
          <a:xfrm>
            <a:off x="548640" y="969264"/>
            <a:ext cx="109270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80" b="0" i="0">
                <a:solidFill>
                  <a:srgbClr val="4E5A68"/>
                </a:solidFill>
                <a:latin typeface="Arial"/>
              </a:rPr>
              <a:t>Known mitonuclear biology and cell-resolved AD studies make the finding plausible without independently duplicating it.</a:t>
            </a:r>
          </a:p>
        </p:txBody>
      </p:sp>
      <p:sp>
        <p:nvSpPr>
          <p:cNvPr id="4" name="Rounded Rectangle 3"/>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45920"/>
            <a:ext cx="2907792"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0072B2"/>
                </a:solidFill>
                <a:latin typeface="Arial"/>
              </a:rPr>
              <a:t>Mitonuclear biology</a:t>
            </a:r>
          </a:p>
        </p:txBody>
      </p:sp>
      <p:sp>
        <p:nvSpPr>
          <p:cNvPr id="6" name="TextBox 5"/>
          <p:cNvSpPr txBox="1"/>
          <p:nvPr/>
        </p:nvSpPr>
        <p:spPr>
          <a:xfrm>
            <a:off x="932688" y="2231136"/>
            <a:ext cx="2907792" cy="42062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400" b="1" i="0">
                <a:solidFill>
                  <a:srgbClr val="0F233D"/>
                </a:solidFill>
                <a:latin typeface="Arial"/>
              </a:rPr>
              <a:t>Two-genome assembly</a:t>
            </a:r>
          </a:p>
        </p:txBody>
      </p:sp>
      <p:sp>
        <p:nvSpPr>
          <p:cNvPr id="7" name="TextBox 6"/>
          <p:cNvSpPr txBox="1"/>
          <p:nvPr/>
        </p:nvSpPr>
        <p:spPr>
          <a:xfrm>
            <a:off x="950976" y="2926080"/>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72B2"/>
                </a:solidFill>
                <a:latin typeface="Arial"/>
              </a:rPr>
              <a:t>SUPPORTS</a:t>
            </a:r>
          </a:p>
        </p:txBody>
      </p:sp>
      <p:sp>
        <p:nvSpPr>
          <p:cNvPr id="8" name="TextBox 7"/>
          <p:cNvSpPr txBox="1"/>
          <p:nvPr/>
        </p:nvSpPr>
        <p:spPr>
          <a:xfrm>
            <a:off x="950976" y="3218688"/>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0" i="0">
                <a:solidFill>
                  <a:srgbClr val="1F2730"/>
                </a:solidFill>
                <a:latin typeface="Arial"/>
              </a:rPr>
              <a:t>OXPHOS requires coordinated mitochondrial- and nuclear-encoded parts.</a:t>
            </a:r>
          </a:p>
        </p:txBody>
      </p:sp>
      <p:sp>
        <p:nvSpPr>
          <p:cNvPr id="9" name="TextBox 8"/>
          <p:cNvSpPr txBox="1"/>
          <p:nvPr/>
        </p:nvSpPr>
        <p:spPr>
          <a:xfrm>
            <a:off x="950976" y="4096512"/>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10" name="TextBox 9"/>
          <p:cNvSpPr txBox="1"/>
          <p:nvPr/>
        </p:nvSpPr>
        <p:spPr>
          <a:xfrm>
            <a:off x="950976" y="4389120"/>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70" b="0" i="0">
                <a:solidFill>
                  <a:srgbClr val="4E5A68"/>
                </a:solidFill>
                <a:latin typeface="Arial"/>
              </a:rPr>
              <a:t>Does not show protein imbalance in these samples.</a:t>
            </a:r>
          </a:p>
        </p:txBody>
      </p:sp>
      <p:sp>
        <p:nvSpPr>
          <p:cNvPr id="11" name="Rounded Rectangle 10"/>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27448" y="1645920"/>
            <a:ext cx="2907792"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00684D"/>
                </a:solidFill>
                <a:latin typeface="Arial"/>
              </a:rPr>
              <a:t>Guo et al. 2023</a:t>
            </a:r>
          </a:p>
        </p:txBody>
      </p:sp>
      <p:sp>
        <p:nvSpPr>
          <p:cNvPr id="13" name="TextBox 12"/>
          <p:cNvSpPr txBox="1"/>
          <p:nvPr/>
        </p:nvSpPr>
        <p:spPr>
          <a:xfrm>
            <a:off x="4727448" y="2231136"/>
            <a:ext cx="2907792" cy="42062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400" b="1" i="0">
                <a:solidFill>
                  <a:srgbClr val="0F233D"/>
                </a:solidFill>
                <a:latin typeface="Arial"/>
              </a:rPr>
              <a:t>Sex-aware AD networks</a:t>
            </a:r>
          </a:p>
        </p:txBody>
      </p:sp>
      <p:sp>
        <p:nvSpPr>
          <p:cNvPr id="14" name="TextBox 13"/>
          <p:cNvSpPr txBox="1"/>
          <p:nvPr/>
        </p:nvSpPr>
        <p:spPr>
          <a:xfrm>
            <a:off x="4745736" y="2926080"/>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684D"/>
                </a:solidFill>
                <a:latin typeface="Arial"/>
              </a:rPr>
              <a:t>SUPPORTS</a:t>
            </a:r>
          </a:p>
        </p:txBody>
      </p:sp>
      <p:sp>
        <p:nvSpPr>
          <p:cNvPr id="15" name="TextBox 14"/>
          <p:cNvSpPr txBox="1"/>
          <p:nvPr/>
        </p:nvSpPr>
        <p:spPr>
          <a:xfrm>
            <a:off x="4745736" y="3218688"/>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0" i="0">
                <a:solidFill>
                  <a:srgbClr val="1F2730"/>
                </a:solidFill>
                <a:latin typeface="Arial"/>
              </a:rPr>
              <a:t>Supports analyzing Alzheimer’s biology separately by sex.</a:t>
            </a:r>
          </a:p>
        </p:txBody>
      </p:sp>
      <p:sp>
        <p:nvSpPr>
          <p:cNvPr id="16" name="TextBox 15"/>
          <p:cNvSpPr txBox="1"/>
          <p:nvPr/>
        </p:nvSpPr>
        <p:spPr>
          <a:xfrm>
            <a:off x="4745736" y="4096512"/>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17" name="TextBox 16"/>
          <p:cNvSpPr txBox="1"/>
          <p:nvPr/>
        </p:nvSpPr>
        <p:spPr>
          <a:xfrm>
            <a:off x="4745736" y="4389120"/>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70" b="0" i="0">
                <a:solidFill>
                  <a:srgbClr val="4E5A68"/>
                </a:solidFill>
                <a:latin typeface="Arial"/>
              </a:rPr>
              <a:t>Does not test this exact male ε3/ε3 mismatch.</a:t>
            </a:r>
          </a:p>
        </p:txBody>
      </p:sp>
      <p:sp>
        <p:nvSpPr>
          <p:cNvPr id="18" name="Rounded Rectangle 17"/>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22208" y="1645920"/>
            <a:ext cx="2907792"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19" b="1" i="0">
                <a:solidFill>
                  <a:srgbClr val="895600"/>
                </a:solidFill>
                <a:latin typeface="Arial"/>
              </a:rPr>
              <a:t>Mathys et al. 2024</a:t>
            </a:r>
          </a:p>
        </p:txBody>
      </p:sp>
      <p:sp>
        <p:nvSpPr>
          <p:cNvPr id="20" name="TextBox 19"/>
          <p:cNvSpPr txBox="1"/>
          <p:nvPr/>
        </p:nvSpPr>
        <p:spPr>
          <a:xfrm>
            <a:off x="8522208" y="2231136"/>
            <a:ext cx="2907792" cy="42062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400" b="1" i="0">
                <a:solidFill>
                  <a:srgbClr val="0F233D"/>
                </a:solidFill>
                <a:latin typeface="Arial"/>
              </a:rPr>
              <a:t>Cell-resolved AD responses</a:t>
            </a:r>
          </a:p>
        </p:txBody>
      </p:sp>
      <p:sp>
        <p:nvSpPr>
          <p:cNvPr id="21" name="TextBox 20"/>
          <p:cNvSpPr txBox="1"/>
          <p:nvPr/>
        </p:nvSpPr>
        <p:spPr>
          <a:xfrm>
            <a:off x="8540496" y="2926080"/>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895600"/>
                </a:solidFill>
                <a:latin typeface="Arial"/>
              </a:rPr>
              <a:t>SUPPORTS</a:t>
            </a:r>
          </a:p>
        </p:txBody>
      </p:sp>
      <p:sp>
        <p:nvSpPr>
          <p:cNvPr id="22" name="TextBox 21"/>
          <p:cNvSpPr txBox="1"/>
          <p:nvPr/>
        </p:nvSpPr>
        <p:spPr>
          <a:xfrm>
            <a:off x="8540496" y="3218688"/>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00" b="0" i="0">
                <a:solidFill>
                  <a:srgbClr val="1F2730"/>
                </a:solidFill>
                <a:latin typeface="Arial"/>
              </a:rPr>
              <a:t>Supports strong differences among brain cell populations.</a:t>
            </a:r>
          </a:p>
        </p:txBody>
      </p:sp>
      <p:sp>
        <p:nvSpPr>
          <p:cNvPr id="23" name="TextBox 22"/>
          <p:cNvSpPr txBox="1"/>
          <p:nvPr/>
        </p:nvSpPr>
        <p:spPr>
          <a:xfrm>
            <a:off x="8540496" y="4096512"/>
            <a:ext cx="10058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4E5A68"/>
                </a:solidFill>
                <a:latin typeface="Arial"/>
              </a:rPr>
              <a:t>BOUNDARY</a:t>
            </a:r>
          </a:p>
        </p:txBody>
      </p:sp>
      <p:sp>
        <p:nvSpPr>
          <p:cNvPr id="24" name="TextBox 23"/>
          <p:cNvSpPr txBox="1"/>
          <p:nvPr/>
        </p:nvSpPr>
        <p:spPr>
          <a:xfrm>
            <a:off x="8540496" y="4389120"/>
            <a:ext cx="2871216" cy="65836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70" b="0" i="0">
                <a:solidFill>
                  <a:srgbClr val="4E5A68"/>
                </a:solidFill>
                <a:latin typeface="Arial"/>
              </a:rPr>
              <a:t>Uses ROSMAP, so it is not independent replication.</a:t>
            </a:r>
          </a:p>
        </p:txBody>
      </p:sp>
      <p:sp>
        <p:nvSpPr>
          <p:cNvPr id="25" name="Rounded Rectangle 24"/>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852160"/>
            <a:ext cx="10405872" cy="31089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40" b="1" i="0">
                <a:solidFill>
                  <a:srgbClr val="7E4C9A"/>
                </a:solidFill>
                <a:latin typeface="Arial"/>
              </a:rPr>
              <a:t>Novelty assessment: high—mitonuclear imbalance is known, but this cross-cohort male ε3/ε3 inhibitory-neuron pattern was not identified previously.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267</TotalTime>
  <Words>6639</Words>
  <Application>Microsoft Macintosh PowerPoint</Application>
  <PresentationFormat>Widescreen</PresentationFormat>
  <Paragraphs>831</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ROSMAP and SEA-AD sex/APOE key-driver analysis — VH12 network rerun</dc:title>
  <dc:subject>VH12 SEA-AD-specific Bayesian-network KDA rerun</dc:subject>
  <dc:creator>Alzheimer project analysis team</dc:creator>
  <cp:keywords>Alzheimer disease, sex, APOE, key-driver analysis, KDA, ACAT, mitochondrial genes</cp:keywords>
  <dc:description>Built from validated VH12 outputs on 2026-09-10 for the 2026-09-16 presentation. Appended Part 4 sensitivity-analysis section, donor-threshold comparison table, and key findings on 2026-09-11. Query-size sensitivity added 2026-09-11.</dc:description>
  <cp:lastModifiedBy>Richard Zhuang</cp:lastModifiedBy>
  <cp:revision>44</cp:revision>
  <dcterms:created xsi:type="dcterms:W3CDTF">2026-08-29T13:27:12Z</dcterms:created>
  <dcterms:modified xsi:type="dcterms:W3CDTF">2026-09-13T19:03:25Z</dcterms:modified>
  <cp:category>Scientific presentation</cp:category>
  <dc:language>en-US</dc:language>
</cp:coreProperties>
</file>