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6"/>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421" r:id="rId41"/>
    <p:sldId id="422" r:id="rId42"/>
    <p:sldId id="423" r:id="rId43"/>
    <p:sldId id="427" r:id="rId44"/>
    <p:sldId id="428" r:id="rId45"/>
    <p:sldId id="429" r:id="rId46"/>
    <p:sldId id="291" r:id="rId47"/>
    <p:sldId id="292" r:id="rId48"/>
    <p:sldId id="293" r:id="rId49"/>
    <p:sldId id="294" r:id="rId50"/>
    <p:sldId id="295" r:id="rId51"/>
    <p:sldId id="296" r:id="rId52"/>
    <p:sldId id="297" r:id="rId53"/>
    <p:sldId id="430" r:id="rId54"/>
    <p:sldId id="431" r:id="rId55"/>
    <p:sldId id="432" r:id="rId56"/>
    <p:sldId id="433" r:id="rId57"/>
    <p:sldId id="434"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7" r:id="rId77"/>
    <p:sldId id="318" r:id="rId78"/>
    <p:sldId id="319" r:id="rId79"/>
    <p:sldId id="320" r:id="rId80"/>
    <p:sldId id="321" r:id="rId81"/>
    <p:sldId id="322" r:id="rId82"/>
    <p:sldId id="324" r:id="rId83"/>
    <p:sldId id="325" r:id="rId84"/>
    <p:sldId id="326" r:id="rId85"/>
    <p:sldId id="327" r:id="rId86"/>
    <p:sldId id="328" r:id="rId87"/>
    <p:sldId id="329" r:id="rId88"/>
    <p:sldId id="331" r:id="rId89"/>
    <p:sldId id="332" r:id="rId90"/>
    <p:sldId id="333" r:id="rId91"/>
    <p:sldId id="334" r:id="rId92"/>
    <p:sldId id="335" r:id="rId93"/>
    <p:sldId id="336" r:id="rId94"/>
    <p:sldId id="338" r:id="rId95"/>
    <p:sldId id="339" r:id="rId96"/>
    <p:sldId id="340" r:id="rId97"/>
    <p:sldId id="341" r:id="rId98"/>
    <p:sldId id="342" r:id="rId99"/>
    <p:sldId id="343" r:id="rId100"/>
    <p:sldId id="345" r:id="rId101"/>
    <p:sldId id="346" r:id="rId102"/>
    <p:sldId id="347" r:id="rId103"/>
    <p:sldId id="348" r:id="rId104"/>
    <p:sldId id="349" r:id="rId105"/>
    <p:sldId id="350" r:id="rId106"/>
    <p:sldId id="352" r:id="rId107"/>
    <p:sldId id="353" r:id="rId108"/>
    <p:sldId id="354" r:id="rId109"/>
    <p:sldId id="355" r:id="rId110"/>
    <p:sldId id="356" r:id="rId111"/>
    <p:sldId id="357" r:id="rId112"/>
    <p:sldId id="359" r:id="rId113"/>
    <p:sldId id="360" r:id="rId114"/>
    <p:sldId id="361" r:id="rId115"/>
    <p:sldId id="362" r:id="rId116"/>
    <p:sldId id="363" r:id="rId117"/>
    <p:sldId id="364" r:id="rId118"/>
    <p:sldId id="366" r:id="rId119"/>
    <p:sldId id="367" r:id="rId120"/>
    <p:sldId id="368" r:id="rId121"/>
    <p:sldId id="369" r:id="rId122"/>
    <p:sldId id="370" r:id="rId123"/>
    <p:sldId id="371" r:id="rId124"/>
    <p:sldId id="373" r:id="rId125"/>
    <p:sldId id="374" r:id="rId126"/>
    <p:sldId id="375" r:id="rId127"/>
    <p:sldId id="376" r:id="rId128"/>
    <p:sldId id="377" r:id="rId129"/>
    <p:sldId id="378" r:id="rId130"/>
    <p:sldId id="380" r:id="rId131"/>
    <p:sldId id="381" r:id="rId132"/>
    <p:sldId id="382" r:id="rId133"/>
    <p:sldId id="383" r:id="rId134"/>
    <p:sldId id="384" r:id="rId135"/>
    <p:sldId id="385" r:id="rId136"/>
    <p:sldId id="387" r:id="rId137"/>
    <p:sldId id="388" r:id="rId138"/>
    <p:sldId id="389" r:id="rId139"/>
    <p:sldId id="390" r:id="rId140"/>
    <p:sldId id="391" r:id="rId141"/>
    <p:sldId id="392" r:id="rId142"/>
    <p:sldId id="394" r:id="rId143"/>
    <p:sldId id="395" r:id="rId144"/>
    <p:sldId id="396" r:id="rId145"/>
    <p:sldId id="397" r:id="rId146"/>
    <p:sldId id="398" r:id="rId147"/>
    <p:sldId id="399" r:id="rId148"/>
    <p:sldId id="401" r:id="rId149"/>
    <p:sldId id="402" r:id="rId150"/>
    <p:sldId id="403" r:id="rId151"/>
    <p:sldId id="404" r:id="rId152"/>
    <p:sldId id="405" r:id="rId153"/>
    <p:sldId id="406" r:id="rId154"/>
    <p:sldId id="408" r:id="rId1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75"/>
    <p:restoredTop sz="93517"/>
  </p:normalViewPr>
  <p:slideViewPr>
    <p:cSldViewPr snapToGrid="0" snapToObjects="1">
      <p:cViewPr varScale="1">
        <p:scale>
          <a:sx n="144" d="100"/>
          <a:sy n="144" d="100"/>
        </p:scale>
        <p:origin x="20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study moves from cell-level gene expression to candidate prioritization and validation.</a:t>
            </a:r>
          </a:p>
          <a:p xmlns:a="http://schemas.openxmlformats.org/drawingml/2006/main">
            <a:r>
              <a:t/>
            </a:r>
            <a:endParaRPr/>
          </a:p>
          <a:p xmlns:a="http://schemas.openxmlformats.org/drawingml/2006/main">
            <a:r>
              <a:t>Walk through: First, DEG analysis identifies genes with higher or lower RNA abundance in Alzheimer’s disease within each fine-cell, sex, and APOE comparison. Second, pathway analysis summarizes the mitochondrial processes represented among those DEGs. Third, key driver analysis, abbreviated KDA, uses gene networks to nominate genes connected to the MitoCarta MT DEGs.</a:t>
            </a:r>
          </a:p>
          <a:p xmlns:a="http://schemas.openxmlformats.org/drawingml/2006/main">
            <a:r>
              <a:t/>
            </a:r>
            <a:endParaRPr/>
          </a:p>
          <a:p xmlns:a="http://schemas.openxmlformats.org/drawingml/2006/main">
            <a:r>
              <a:t>Fourth, genetic support evaluates candidate genes using Alzheimer’s genetic-association and gene-regulation evidence. This provides gene-level support. It does not by itself validate the cell type, sex or APOE group, or network connections from the KDA calls.</a:t>
            </a:r>
          </a:p>
          <a:p xmlns:a="http://schemas.openxmlformats.org/drawingml/2006/main">
            <a:r>
              <a:t/>
            </a:r>
            <a:endParaRPr/>
          </a:p>
          <a:p xmlns:a="http://schemas.openxmlformats.org/drawingml/2006/main">
            <a:r>
              <a:t>Fifth, human validation compares the ROSMAP findings with SEA-AD and with direct broad-cell analyses. The final stage shown here is mouse validation, which would test selected candidates and mitochondrial function in targeted models.</a:t>
            </a:r>
          </a:p>
          <a:p xmlns:a="http://schemas.openxmlformats.org/drawingml/2006/main">
            <a:r>
              <a:t/>
            </a:r>
          </a:p>
          <a:p xmlns:a="http://schemas.openxmlformats.org/drawingml/2006/main">
            <a:r>
              <a:t>Scientific boundary: DEG analysis, pathway analysis, KDA, genetic support, and human validation contribute evidence presented in this deck. Mouse validation remains a potential next step and does not contribute evidence to the current findings.</a:t>
            </a:r>
          </a:p>
          <a:p xmlns:a="http://schemas.openxmlformats.org/drawingml/2006/main">
            <a:r>
              <a:t/>
            </a:r>
          </a:p>
          <a:p xmlns:a="http://schemas.openxmlformats.org/drawingml/2006/main">
            <a:r>
              <a:t>Transition: Next, introduce the two human brain cohorts.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Show whether SEA-AD excitatory-neuron genes returned from KDA calls recur across the six sex/APOE categories.</a:t>
            </a:r>
          </a:p>
          <a:p>
            <a:r>
              <a:rPr lang="en-US" dirty="0"/>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p>
          <a:p>
            <a:r>
              <a:rPr lang="en-US" dirty="0"/>
              <a:t>Scientific boundary: Category recurrence is a descriptive summary of returned KDA results. It is not an effect size, an independent replication count, or a sex-by-APOE interaction test.</a:t>
            </a:r>
          </a:p>
          <a:p>
            <a:r>
              <a:rPr lang="en-US" dirty="0"/>
              <a:t>Transition: Move to Part 6, which tests selected findings at direct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purpose and methods of direct broad-cell validation.</a:t>
            </a:r>
          </a:p>
          <a:p>
            <a:endParaRPr/>
          </a:p>
          <a:p>
            <a:r>
              <a:t>Walk through: Part 6 checks selected pathway findings at direct broad-cell resolution. It first distinguishes this analysis from the primary fine-cell workflow. It then explains how donor-level broad-cell expression profiles are compared, how genes are ranked, and how weighted gene set enrichment analysis produces the enrichment score and the normalized enrichment score. These definitions prepare the audience to interpret direct broad-cell results in later findings.</a:t>
            </a:r>
          </a:p>
          <a:p>
            <a:endParaRPr/>
          </a:p>
          <a:p>
            <a:r>
              <a:t>Scientific boundary: Direct broad-cell analysis provides supporting evidence. Combining fine cell types can hide a result confined to one fine cell type or can make the result sensitive to differences in fine-cell composition.</a:t>
            </a:r>
          </a:p>
          <a:p>
            <a:endParaRPr/>
          </a:p>
          <a:p>
            <a:r>
              <a:t>Transition: Compare the fine-cell and direct broad-cell workflows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two workflows without implying that donor-level aggregation is unique to direct broad-cell analysis.</a:t>
            </a:r>
          </a:p>
          <a:p>
            <a:endParaRPr/>
          </a:p>
          <a:p>
            <a:r>
              <a:t>Walk through: Fine-cell analysis produces one donor-level expression profile for each fine cell type. It tests each fine cell type separately and summarizes the resulting evidence by broad cell class afterward. Direct broad-cell analysis instead combines the contributing fine cell types within each donor to create one profile for the entire broad cell class before differential-expression testing. Both workflows compare donors. They differ in the cell-type resolution retained before the comparison.</a:t>
            </a:r>
          </a:p>
          <a:p>
            <a:endParaRPr/>
          </a:p>
          <a:p>
            <a:r>
              <a:t>Scientific boundary: Agreement supports a result across two resolutions. Disagreement can reflect fine-cell composition or opposing effects among fine cell types and does not by itself invalidate the fine-cell result.</a:t>
            </a:r>
          </a:p>
          <a:p>
            <a:endParaRPr/>
          </a:p>
          <a:p>
            <a:r>
              <a:t>Transition: Follow the direct broad-cell pathway workflow from donor-level expression profiles to pathway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four stages of direct broad-cell pathway validation.</a:t>
            </a:r>
          </a:p>
          <a:p>
            <a:endParaRPr/>
          </a:p>
          <a:p>
            <a:r>
              <a:t>Walk through: First, the analysis combines cells from one broad cell class within each donor. Second, it compares AD with NCI separately within each sex/APOE group and broad cell class. Third, it orders all tested MitoCarta MT genes from stronger AD-up evidence to stronger AD-down evidence. Fourth, ranked-gene pathway analysis calculates an enrichment score and then a normalized enrichment score, or NES, to summarize whether pathway genes concentrate toward the AD-up or AD-down end of the ranking.</a:t>
            </a:r>
          </a:p>
          <a:p>
            <a:endParaRPr/>
          </a:p>
          <a:p>
            <a:r>
              <a:t>Scientific boundary: This workflow ranks every tested MitoCarta MT gene rather than filtering to DEGs first. The fine-cell pathway analysis uses a different method based on overlap between a thresholded DEG list and a pathway.</a:t>
            </a:r>
          </a:p>
          <a:p>
            <a:endParaRPr/>
          </a:p>
          <a:p>
            <a:r>
              <a:t>Transition: The next slide defines the signed score used to rank the tested MitoCarta MT genes.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rank score used to order all tested MitoCarta MT genes for direct broad-cell GSEA.</a:t>
            </a:r>
          </a:p>
          <a:p>
            <a:endParaRPr/>
          </a:p>
          <a:p>
            <a:r>
              <a:t>Walk through: The analysis calculates the sign of the log fold change multiplied by the square root of the edgeR quasi-likelihood F statistic for every tested MitoCarta MT gene. The log fold change compares AD with NCI. Its sign gives direction: a positive score is AD-up and a negative score is AD-down. The F statistic supplies the score magnitude and reflects the strength of evidence for an AD-versus-NCI difference after accounting for variability. For this one-degree-of-freedom contrast, the square root of F gives a t-like scale and preserves the ordering based on F. The analysis ranks genes from the largest positive score to the most negative score. Log fold change alone is less suitable because it describes the estimated effect size without incorporating its uncertainty. A low-expression gene or a gene with high donor-to-donor variability can therefore have a large but unstable log fold change. In the illustrative example, Gene A has logFC plus 2.0 and F 0.25, so its rank score is plus 0.5. Gene B has logFC plus 0.5 and F 16, so its rank score is plus 4.0. Gene B ranks higher because the evidence for its change is stronger.</a:t>
            </a:r>
          </a:p>
          <a:p>
            <a:endParaRPr/>
          </a:p>
          <a:p>
            <a:r>
              <a:t>Scientific boundary: This is the study's ranking rule for targeted MitoCarta preranked GSEA. It ranks every tested MitoCarta MT gene and does not first filter to DEGs. GSEA does not require one universal ranking statistic. The two example genes are illustrative and are not observed study results.</a:t>
            </a:r>
          </a:p>
          <a:p>
            <a:endParaRPr/>
          </a:p>
          <a:p>
            <a:r>
              <a:t>Sources: scripts/11_run_broad_deg_pathway_analysis.R computes rank_score = sign(logFC) multiplied by the square root of F; scripts/08_run_broad_pseudobulk_de.R produces logFC and F with edgeR glmQLFTest.</a:t>
            </a:r>
          </a:p>
          <a:p>
            <a:endParaRPr/>
          </a:p>
          <a:p>
            <a:r>
              <a:t>Transition: The next slide explains what the standard weighted GSEA enrichment score means.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what the standard weighted GSEA enrichment score means for one pathway.</a:t>
            </a:r>
          </a:p>
          <a:p>
            <a:endParaRPr/>
          </a:p>
          <a:p>
            <a:r>
              <a:t>Walk through: GSEA starts at the AD-up end of the ranked MitoCarta MT gene list and moves toward the AD-down end. When it encounters a gene from the pathway, the running score increases. Pathway genes with stronger absolute rank scores have more influence because this analysis uses standard weighted GSEA. Other tested genes decrease the running score evenly. The enrichment score, abbreviated ES, is the most extreme point reached by that running score. A large positive ES means pathway genes cluster near the AD-up end. An ES near zero means the pathway genes are dispersed through the ranked list. A large negative ES means pathway genes cluster near the AD-down end.</a:t>
            </a:r>
          </a:p>
          <a:p>
            <a:endParaRPr/>
          </a:p>
          <a:p>
            <a:r>
              <a:t>Scientific boundary: The ES sign gives direction, and distance from zero describes concentration within that ranked list. The raw ES is not a fold change and does not by itself establish statistical significance. Its magnitude also depends on pathway size and the rank-score distribution, so the normalized enrichment score supports comparisons among pathways.</a:t>
            </a:r>
          </a:p>
          <a:p>
            <a:endParaRPr/>
          </a:p>
          <a:p>
            <a:r>
              <a:t>Method: The analysis uses fgseaMultilevel with scoreType set to std and gseaParam set to 1, the standard weighted GSEA enrichment score.</a:t>
            </a:r>
          </a:p>
          <a:p>
            <a:endParaRPr/>
          </a:p>
          <a:p>
            <a:r>
              <a:t>Sources: Subramanian et al., PNAS 2005, doi:10.1073/pnas.0506580102; Bioconductor fgsea documentation; scripts/lib/phase11_deg_pathway_common.R; config/phase11_pathway_deg_broad.yml.</a:t>
            </a:r>
          </a:p>
          <a:p>
            <a:endParaRPr/>
          </a:p>
          <a:p>
            <a:r>
              <a:t>Transition: The next slide explains how NES rescales the raw 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raw enrichment score from the normalized enrichment score.</a:t>
            </a:r>
          </a:p>
          <a:p>
            <a:endParaRPr/>
          </a:p>
          <a:p>
            <a:r>
              <a:t>Walk through: ES describes where one pathway's genes concentrate in the ranked list. Its sign gives the AD-up or AD-down direction, but its raw magnitude depends partly on pathway size and the distribution of rank scores. To calculate NES, the analysis compares the observed ES with ES values from random gene sets containing the same number of genes. Positive observed ES values are normalized against positive random ES values, and negative observed ES values are normalized against negative random ES values. NES therefore preserves the ES direction while making enrichment strength more comparable across pathways.</a:t>
            </a:r>
          </a:p>
          <a:p>
            <a:endParaRPr/>
          </a:p>
          <a:p>
            <a:r>
              <a:t>Scientific boundary: NES is a normalized pathway-ranking score. It is not a fold change, DEG count, or percentage. NES alone does not establish statistical significance. The adjusted P value determines whether the pathway result is significant after multiple-testing correction. Comparisons across separate cohorts or ranking procedures still require caution.</a:t>
            </a:r>
          </a:p>
          <a:p>
            <a:endParaRPr/>
          </a:p>
          <a:p>
            <a:r>
              <a:t>Sources: Bioconductor fgsea documentation; scripts/lib/phase11_deg_pathway_common.R.</a:t>
            </a:r>
          </a:p>
          <a:p>
            <a:endParaRPr/>
          </a:p>
          <a:p>
            <a:r>
              <a:t>Transition: Part 7 examines how selected analysis thresholds affect the KDA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7, which tests how selected analysis decisions affect the KDA results.</a:t>
            </a:r>
          </a:p>
          <a:p>
            <a:r>
              <a:rPr lang="en-US" dirty="0"/>
              <a:t>Walk through: The sensitivity analyses examine donor support, the number of nuclei contributing to each profile, the DEG query definition, and the KDA decision rules. Each check changes one decision while keeping the rest of the workflow fixed. The first comparison raises the minimum donor requirement in each disease-status group from three to five.</a:t>
            </a:r>
          </a:p>
          <a:p>
            <a:r>
              <a:rPr lang="en-US" dirty="0"/>
              <a:t>Scientific boundary: These analyses evaluate robustness to prespecified workflow decisions. The donor-threshold analysis concerns donors in each disease-status group, not the number of nuclei contributing to a donor-level profile.</a:t>
            </a:r>
          </a:p>
          <a:p>
            <a:r>
              <a:rPr lang="en-US" dirty="0"/>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presents the remaining findings and explains how much weight to give each type of evidence.</a:t>
            </a:r>
          </a:p>
          <a:p>
            <a:endParaRPr/>
          </a:p>
          <a:p>
            <a:r>
              <a:t>The next five slides provide a map before the detailed findings begin. Findings 1–6 summarize DEG and pathway results. Findings 7–16 and 18 summarize genes returned from KDA calls.</a:t>
            </a:r>
          </a:p>
          <a:p>
            <a:endParaRPr/>
          </a:p>
          <a:p>
            <a:r>
              <a:t>Keep the evidence levels separate. DEG and pathway results describe gene-expression patterns, while KDA calls nominate network candidates. Human validation remains supporting evidence within the relevant findings rather than a separate finding. None of these analyses alone establishes causality or mitochondrial function.</a:t>
            </a:r>
          </a:p>
          <a:p>
            <a:endParaRPr/>
          </a:p>
          <a:p>
            <a:r>
              <a:t>Next, review how the remaining findings are organized.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remaining findings fall into two categories.</a:t>
            </a:r>
          </a:p>
          <a:p>
            <a:endParaRPr/>
          </a:p>
          <a:p>
            <a:r>
              <a:t>Findings 1–6 are the primary DEG and pathway results. They ask how mitochondrial genes and pathways change within each analyzed sex/APOE group before making KDA calls.</a:t>
            </a:r>
          </a:p>
          <a:p>
            <a:endParaRPr/>
          </a:p>
          <a:p>
            <a:r>
              <a:t>Findings 7–16 and 18 come from KDA calls made with MitoCarta MT DEGs. These calls return candidate genes that may help explain the mitochondrial changes. KDA does not show that a candidate gene causes or drives the change. That remains a hypothesis for follow-up.</a:t>
            </a:r>
          </a:p>
          <a:p>
            <a:endParaRPr/>
          </a:p>
          <a:p>
            <a:r>
              <a:t>Fifteen findings are linked to one or more analyzed sex/APOE groups. Findings 7 and 10 recur across all six groups and therefore do not distinguish a particular group. They receive lower priority in this sex/APOE-focused presentation.</a:t>
            </a:r>
          </a:p>
          <a:p>
            <a:endParaRPr/>
          </a:p>
          <a:p>
            <a:r>
              <a:t>A result found in selected groups does not by itself prove a statistical sex or APOE interaction.</a:t>
            </a:r>
          </a:p>
          <a:p>
            <a:endParaRPr/>
          </a:p>
          <a:p>
            <a:r>
              <a:t>Source: docs/analysis/kda_w_human_validation/rosmap_sex_apoe_broad_kda_analysis.md, Findings 1–16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Findings 1–6 summarize DEG and pathway results. KDA calls are not involved in these findings.</a:t>
            </a:r>
          </a:p>
          <a:p>
            <a:endParaRPr/>
          </a:p>
          <a:p>
            <a:r>
              <a:t>Female ε3/ε3 shows increased core MT genes, and nuclear-encoded OXPHOS genes also mostly increase in ROSMAP. Male ε3/ε3 shows a mismatch: core MT genes increase while nuclear-encoded OXPHOS genes decrease. Female ε2 shows increases in both sets. Female ε4 shows a strong decrease in nuclear-encoded OXPHOS genes.</a:t>
            </a:r>
          </a:p>
          <a:p>
            <a:endParaRPr/>
          </a:p>
          <a:p>
            <a:r>
              <a:t>For male ε2, the two OXPHOS sets are the 13 core MT genes and the nuclear-encoded OXPHOS genes. Both sets show broad decreases. Male ε4 shows increased core MT genes with a more modest decrease in nuclear-encoded OXPHOS genes.</a:t>
            </a:r>
          </a:p>
          <a:p>
            <a:endParaRPr/>
          </a:p>
          <a:p>
            <a:r>
              <a:t>These patterns summarize DEG occurrences and pathway direction across fine cell types. They do not establish ATP production, mitochondrial performance, or a formal interaction between groups.</a:t>
            </a:r>
          </a:p>
          <a:p>
            <a:endParaRPr/>
          </a:p>
          <a:p>
            <a:r>
              <a:t>Novelty is provisional. It describes how much the specific result adds beyond prior research and is separate from evidence strength. Ratings: Findings 1, 4, and 6 are Moderate; Findings 2, 3, and 5 are High.</a:t>
            </a:r>
          </a:p>
          <a:p>
            <a:endParaRPr/>
          </a:p>
          <a:p>
            <a:r>
              <a:t>Source: docs/analysis/kda_w_human_validation/rosmap_sex_apoe_broad_kda_analysis.md, Findings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recurring genes returned from KDA calls in selected sex/APOE groups.</a:t>
            </a:r>
          </a:p>
          <a:p>
            <a:endParaRPr/>
          </a:p>
          <a:p>
            <a:r>
              <a:t>LAMTOR5 connects genes that sense nutrients at lysosomes, the cell’s recycling compartments, with OXPHOS genes. WDR82 is connected to a small set of core MT genes that are upregulated in AD in excitatory neurons.</a:t>
            </a:r>
          </a:p>
          <a:p>
            <a:endParaRPr/>
          </a:p>
          <a:p>
            <a:r>
              <a:t>SELENOW helps control oxidative stress. Its network connections include genes involved in mitochondrial respiration and protein production, as well as removal of damaged mitochondrial proteins.</a:t>
            </a:r>
          </a:p>
          <a:p>
            <a:endParaRPr/>
          </a:p>
          <a:p>
            <a:r>
              <a:t>PGK1 connects astrocyte glycolysis and low-oxygen signaling with genes involved in removing damaged mitochondria. FTL and ANKRD11 connect iron handling in oligodendrocyte precursor cells with protection from oxidative damage and recycling of damaged cell components.</a:t>
            </a:r>
          </a:p>
          <a:p>
            <a:endParaRPr/>
          </a:p>
          <a:p>
            <a:r>
              <a:t>Genes returned from KDA calls are candidates. Network connections do not prove that one gene regulates another or causes the AD-related change.</a:t>
            </a:r>
          </a:p>
          <a:p>
            <a:endParaRPr/>
          </a:p>
          <a:p>
            <a:r>
              <a:t>Novelty is provisional. It describes how much the specific result adds beyond prior research and is separate from evidence strength. Ratings: Findings 8, 9, and 13 are High; Findings 11 and 12 are Moderate.</a:t>
            </a:r>
          </a:p>
          <a:p>
            <a:endParaRPr/>
          </a:p>
          <a:p>
            <a:r>
              <a:t>Source: docs/analysis/kda_w_human_validation/rosmap_sex_apoe_broad_kda_analysis.md, Findings 8, 9, and 11–13.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genes remain useful, but each result depends on few genes, few KDA calls, or a pattern that changes across groups.</a:t>
            </a:r>
          </a:p>
          <a:p>
            <a:endParaRPr/>
          </a:p>
          <a:p>
            <a:r>
              <a:t>PLCG2 has strong Alzheimer’s disease genetic evidence, but only one MitoCarta MT gene, MT-CO1, was connected to it in the KDA result. Astrocyte APOE expression changes in opposite directions across groups, so the result is not specific to ε4.</a:t>
            </a:r>
          </a:p>
          <a:p>
            <a:endParaRPr/>
          </a:p>
          <a:p>
            <a:r>
              <a:t>A small group of genes that respond to protein damage and cellular stress appears in only two female ε4 vascular-cell KDA calls. INTS8 was returned from one male ε2 inhibitory-neuron KDA call. Human genetics supports follow-up, but INTS8 was not returned from additional KDA calls.</a:t>
            </a:r>
          </a:p>
          <a:p>
            <a:endParaRPr/>
          </a:p>
          <a:p>
            <a:r>
              <a:t>These findings remain secondary or targeted follow-up candidates. Gene-level genetic evidence does not confirm the cell type, sex/APOE context, or network connection.</a:t>
            </a:r>
          </a:p>
          <a:p>
            <a:endParaRPr/>
          </a:p>
          <a:p>
            <a:r>
              <a:t>Novelty is provisional. It describes how much the specific result adds beyond prior research and is separate from evidence strength. Ratings: Finding 14 is High; Findings 15, 16, and 18 are Moderate. Finding 14 remains a low-confidence network result despite its high novelty.</a:t>
            </a:r>
          </a:p>
          <a:p>
            <a:endParaRPr/>
          </a:p>
          <a:p>
            <a:r>
              <a:t>Source: docs/analysis/kda_w_human_validation/rosmap_sex_apoe_broad_kda_analysis.md, Findings 14–16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Findings 7 and 10 receive lower priority only because this presentation focuses on differences among sex/APOE groups.</a:t>
            </a:r>
          </a:p>
          <a:p>
            <a:endParaRPr/>
          </a:p>
          <a:p>
            <a:r>
              <a:t>For both findings, found across all six sex/APOE groups means that the related pattern appeared in one or more KDA calls for every group. It does not mean that every individual fine-cell KDA call returned the same genes.</a:t>
            </a:r>
          </a:p>
          <a:p>
            <a:endParaRPr/>
          </a:p>
          <a:p>
            <a:r>
              <a:t>Finding 7 links RPL11, RPS15, and related genes that help ribosomes outside mitochondria make proteins with nuclear-encoded OXPHOS genes.</a:t>
            </a:r>
          </a:p>
          <a:p>
            <a:endParaRPr/>
          </a:p>
          <a:p>
            <a:r>
              <a:t>Finding 10 links SELENOM with genes used for mitochondrial protein production. SELENOM helps control oxidative stress and calcium inside the endoplasmic reticulum, the cellular compartment where many proteins are processed.</a:t>
            </a:r>
          </a:p>
          <a:p>
            <a:endParaRPr/>
          </a:p>
          <a:p>
            <a:r>
              <a:t>These findings may still be biologically important. They simply do not identify a distinct sex/APOE group.</a:t>
            </a:r>
          </a:p>
          <a:p>
            <a:endParaRPr/>
          </a:p>
          <a:p>
            <a:r>
              <a:t>Novelty is provisional and separate from evidence strength. Finding 7 is rated Moderate, and Finding 10 is rated High.</a:t>
            </a:r>
          </a:p>
          <a:p>
            <a:endParaRPr/>
          </a:p>
          <a:p>
            <a:r>
              <a:t>Source: docs/analysis/kda_w_human_validation/rosmap_sex_apoe_broad_kda_analysis.md, Findings 7 and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Scope: Observed in: female ε3/ε3</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Scope: Observed in: male ε3/ε3</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Scope: Observed in: female ε2</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Scope: Observed in: female ε4</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the cited studies support parts of Finding 4 and why the slide rates its novelty as moderate.</a:t>
            </a:r>
          </a:p>
          <a:p>
            <a:endParaRPr/>
          </a:p>
          <a:p>
            <a:r>
              <a:t>Walk through: Schmukler and colleagues link APOE4 models to altered mitochondrial dynamics and removal of damaged mitochondria, but they do not reproduce the nuclear-encoded OXPHOS gene-expression pattern. Lee and colleagues connect APOE4 astrocytes with impaired maintenance of mitochondrial function, but the cell context and experimental design differ. Mathys and colleagues demonstrate strong differences among brain cell states, but that work also uses ROSMAP and is not independent replication. These sources support parts of the interpretation. None establishes the complete female APOE ε4 finding. The slide therefore rates novelty as moderate.</a:t>
            </a:r>
          </a:p>
          <a:p>
            <a:endParaRPr/>
          </a:p>
          <a:p>
            <a:r>
              <a:t>Scientific boundary: The novelty rating summarizes this focused literature comparison. It does not strengthen the direct evidence, and the finding remains sensitive to analysis resolution and lacks independent confirmation.</a:t>
            </a:r>
          </a:p>
          <a:p>
            <a:endParaRPr/>
          </a:p>
          <a:p>
            <a:r>
              <a:t>Transition: Move to the coordinated downward OXPHOS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Scope: Observed in: male ε2</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the cited studies frame Finding 5 and why the slide rates its novelty as high.</a:t>
            </a:r>
          </a:p>
          <a:p>
            <a:endParaRPr/>
          </a:p>
          <a:p>
            <a:r>
              <a:t>Walk through: Belloy and colleagues establish the population-level protection associated with APOE ε2, but inherited risk does not predict the molecular state of diseased male ε2 cells. Guo and colleagues support sex-aware network analysis but do not report this exact male ε2 decrease. Mathys and colleagues show that Alzheimer’s responses differ among brain cell populations, but the study also uses ROSMAP and cannot independently validate this pattern. None of these sources reproduces the coordinated decrease across both OXPHOS gene sets. The slide therefore rates novelty as high.</a:t>
            </a:r>
          </a:p>
          <a:p>
            <a:endParaRPr/>
          </a:p>
          <a:p>
            <a:r>
              <a:t>Scientific boundary: The novelty rating comes from a focused literature comparison. The finding still lacks a matched SEA-AD category and functional validation.</a:t>
            </a:r>
          </a:p>
          <a:p>
            <a:endParaRPr/>
          </a:p>
          <a:p>
            <a:r>
              <a:t>Transition: Move to Finding 6, where male APOE ε4 cells may show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Scope: Observed in: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is described as a possible OXPHOS mismatch.</a:t>
            </a:r>
          </a:p>
          <a:p>
            <a:endParaRPr/>
          </a:p>
          <a:p>
            <a:r>
              <a:t>Walk through: In male APOE ε4 cells, 87 of 110 core MT gene occurrences are upregulated in AD, whereas 55 of 89 nuclear-encoded OXPHOS gene occurrences are downregulated. This direction split resembles the male APOE ε3 homozygous pattern, but the nuclear-encoded decrease is less consistent. Direct broad-cell evidence also disagrees across cohorts. The slide therefore describes a possible mismatch that needs replication rather than a definitive mismatch.</a:t>
            </a:r>
          </a:p>
          <a:p>
            <a:endParaRPr/>
          </a:p>
          <a:p>
            <a:r>
              <a:t>Scientific boundary: This is an RNA-level pattern. It does not demonstrate unbalanced respiratory proteins, impaired mitochondrial function, or a disease-by-APOE interaction.</a:t>
            </a:r>
          </a:p>
          <a:p>
            <a:endParaRPr/>
          </a:p>
          <a:p>
            <a:r>
              <a:t>Transition: Show the ROSMAP DEG-occurrence counts behind the direction split.</a:t>
            </a:r>
          </a:p>
          <a:p>
            <a:endParaRPr/>
          </a:p>
          <a:p>
            <a:r>
              <a:t>Sources: docs/analysis/kda_w_human_validation/rosmap_sex_apoe_broad_kda_analysis.md, Finding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 and explain why the opposite-direction pattern remains provisional.</a:t>
            </a:r>
          </a:p>
          <a:p>
            <a:endParaRPr/>
          </a:p>
          <a:p>
            <a:r>
              <a:t>Walk through: Core MT genes contributed 110 DEG occurrences, with 87 upregulated and 23 downregulated, so 79 percent were upregulated. Nuclear-encoded OXPHOS genes contributed 89 occurrences, with 34 upregulated and 55 downregulated, so 62 percent were downregulated.</a:t>
            </a:r>
          </a:p>
          <a:p>
            <a:endParaRPr/>
          </a:p>
          <a:p>
            <a:r>
              <a:t>Evidence of opposite direction means that the dominant direction differs between the two gene sets: core MT genes are mainly upregulated, while nuclear-encoded OXPHOS genes are mainly downregulated. This is a qualitative interpretation, not a separate statistical score. The nuclear result is fairly mixed, which makes the pattern weaker than Finding 2 and supports the label possible rather than definitive.</a:t>
            </a:r>
          </a:p>
          <a:p>
            <a:endParaRPr/>
          </a:p>
          <a:p>
            <a:r>
              <a:t>The enrichment counts provide a second view. Core MT enrichment appeared broadly across the eligible calls, whereas significant nuclear-encoded OXPHOS enrichment appeared in only three eligible calls.</a:t>
            </a:r>
          </a:p>
          <a:p>
            <a:endParaRPr/>
          </a:p>
          <a:p>
            <a:r>
              <a:t>Scientific boundary: DEG occurrences can repeat the same gene across fine cell types. They are not counts of unique genes, donors, or cells, and the percentages do not measure expression magnitude or mitochondrial function.</a:t>
            </a:r>
          </a:p>
          <a:p>
            <a:endParaRPr/>
          </a:p>
          <a:p>
            <a:r>
              <a:t>Transition: Next, compare the fine-cell summary with the direct broad-cell results in ROSMAP and SEA-AD.</a:t>
            </a:r>
          </a:p>
          <a:p>
            <a:endParaRPr/>
          </a:p>
          <a:p>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male APOE ε4 opposite-direction pattern across analysis resolutions and cohorts.</a:t>
            </a:r>
          </a:p>
          <a:p>
            <a:endParaRPr/>
          </a:p>
          <a:p>
            <a:r>
              <a:t>Walk through: In the direct ROSMAP excitatory-neuron analysis, the core MT pathway had a positive normalized enrichment score of 2.03 and the nuclear-encoded OXPHOS pathway had a negative score of 1.72. Both results remained significant after adjustment for broad-cell composition, so the ROSMAP broad-cell result supports the same opposite directions shown by the fine-cell summary.</a:t>
            </a:r>
          </a:p>
          <a:p>
            <a:endParaRPr/>
          </a:p>
          <a:p>
            <a:r>
              <a:t>SEA-AD did not reproduce the nuclear direction. Its excitatory-neuron nuclear-encoded OXPHOS score was positive 2.46, and its core MT result was not significant. SEA-AD also had no active male APOE ε4 fine-cell KDA query, so it cannot test the finding at the same fine-cell KDA resolution.</a:t>
            </a:r>
          </a:p>
          <a:p>
            <a:endParaRPr/>
          </a:p>
          <a:p>
            <a:r>
              <a:t>Cross-resolution disagreement means that the fine-cell summary and direct broad-cell analyses do not give a consistent result across both cohorts. This keeps the male APOE ε4 mismatch provisional.</a:t>
            </a:r>
          </a:p>
          <a:p>
            <a:endParaRPr/>
          </a:p>
          <a:p>
            <a:r>
              <a:t>Scientific boundary: A direct broad-cell result is calculated from donor-level expression for the broad cell type. It is different from aggregating results across fine cell types. Differences in cohort composition and cell resolution can contribute to disagreement.</a:t>
            </a:r>
          </a:p>
          <a:p>
            <a:endParaRPr/>
          </a:p>
          <a:p>
            <a:r>
              <a:t>Transition: Explain what the weaker pattern could mean and why direct group comparisons are required.</a:t>
            </a:r>
          </a:p>
          <a:p>
            <a:endParaRPr/>
          </a:p>
          <a:p>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the evidence.</a:t>
            </a:r>
          </a:p>
          <a:p>
            <a:endParaRPr/>
          </a:p>
          <a:p>
            <a:r>
              <a:t>Walk through: Finding 6 resembles Finding 2 because core MT genes mainly increase while nuclear-encoded OXPHOS genes mainly decrease. The APOE ε4 pattern is weaker because its nuclear component contains many more upregulated occurrences than the male APOE ε3/ε3 result.</a:t>
            </a:r>
          </a:p>
          <a:p>
            <a:endParaRPr/>
          </a:p>
          <a:p>
            <a:r>
              <a:t>Separate analyses of male APOE ε3/ε3 and male APOE ε4 cannot determine whether the pattern is a general male response or differs by APOE genotype. That question requires a direct statistical comparison across groups.</a:t>
            </a:r>
          </a:p>
          <a:p>
            <a:endParaRPr/>
          </a:p>
          <a:p>
            <a:r>
              <a:t>A prespecified balance score would summarize the relative directions of the core MT and nuclear-encoded OXPHOS gene sets using a rule defined before comparing groups. Applying the same score to every group would provide a direct test of whether the opposite-direction evidence differs across sex and APOE groups.</a:t>
            </a:r>
          </a:p>
          <a:p>
            <a:endParaRPr/>
          </a:p>
          <a:p>
            <a:r>
              <a:t>Scientific boundary: This remains a hypothesis. RNA direction does not establish OXPHOS protein imbalance, mitochondrial dysfunction, or an APOE-dependent effect.</a:t>
            </a:r>
          </a:p>
          <a:p>
            <a:endParaRPr/>
          </a:p>
          <a:p>
            <a:r>
              <a:t>Transition: Place Finding 6 in the context of prior research and summarize its evidence level.</a:t>
            </a:r>
          </a:p>
          <a:p>
            <a:endParaRPr/>
          </a:p>
          <a:p>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the cited studies frame Finding 6 and why the slide rates its novelty as moderate.</a:t>
            </a:r>
          </a:p>
          <a:p>
            <a:endParaRPr/>
          </a:p>
          <a:p>
            <a:r>
              <a:t>Walk through: Belloy and colleagues establish APOE ε4 as a major common risk allele for late-onset Alzheimer’s disease, but risk association does not validate the gene-expression direction split. Lee and colleagues show that APOE4 can alter mitochondrial homeostasis in astrocyte models, not in this male cell context. Guo and colleagues support testing Alzheimer’s molecular patterns separately by sex but do not establish this male ε4 pattern. The studies support the rationale for the analysis without reproducing the result. The slide rates novelty as moderate.</a:t>
            </a:r>
          </a:p>
          <a:p>
            <a:endParaRPr/>
          </a:p>
          <a:p>
            <a:r>
              <a:t>Scientific boundary: The novelty rating comes from a focused literature comparison. The male ε4 direction split remains provisional because its nuclear-encoded component is weaker and cross-cohort broad-cell evidence disagrees.</a:t>
            </a:r>
          </a:p>
          <a:p>
            <a:endParaRPr/>
          </a:p>
          <a:p>
            <a:r>
              <a:t>Transition: Proceed to Finding 7 and the recurrent cytosolic-ribosome module.</a:t>
            </a:r>
          </a:p>
          <a:p>
            <a:endParaRPr/>
          </a:p>
          <a:p>
            <a:r>
              <a:t>Sources: docs/analysis/kda_w_human_validation/rosmap_sex_apoe_broad_kda_analysis.md, Finding 6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 and clarify that it is not sex/APOE-specific.</a:t>
            </a:r>
          </a:p>
          <a:p>
            <a:endParaRPr/>
          </a:p>
          <a:p>
            <a:r>
              <a:t>Walk through: RPL11, RPS15, and related cytosolic-ribosome genes recur near nuclear-encoded OXPHOS genes used as input to KDA. The group of ribosome genes appears across all six sex/APOE groups rather than being confined to one group. The label on this slide therefore identifies Finding 7 as a cross-group network finding.</a:t>
            </a:r>
          </a:p>
          <a:p>
            <a:endParaRPr/>
          </a:p>
          <a:p>
            <a:r>
              <a:t>Scientific boundary: Cross-group recurrence does not prove an identical effect in every group or independent replication, because stratified KDA calls can share donors. KDA also does not establish that the ribosome genes causally regulate OXPHOS genes.</a:t>
            </a:r>
          </a:p>
          <a:p>
            <a:endParaRPr/>
          </a:p>
          <a:p>
            <a:r>
              <a:t>Scope: Not sex/APOE-specific; observed across all six groups</a:t>
            </a:r>
          </a:p>
          <a:p>
            <a:endParaRPr/>
          </a:p>
          <a:p>
            <a:r>
              <a:t>Transition: State the recurrent ribosome-to-OXPHOS finding in plain language.</a:t>
            </a:r>
          </a:p>
          <a:p>
            <a:endParaRPr/>
          </a:p>
          <a:p>
            <a:r>
              <a:t>Sources: docs/analysis/kda_w_human_validation/rosmap_sex_apoe_broad_kda_analysis.md, Finding 7; https://doi.org/10.1523/JNEUROSCI.3040-05.2005; https://doi.org/10.1128/MCB.23.23.8902-8912.2003.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best interpreted as one recurring group of biologically related genes, rather than as 20 separate discoveries. The analysis points to a recurring connection between ribosome genes and OXPHOS genes, not 20 separately proven mitochondrial regulators.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ribosome enrichment result and keep the four denominators distinct.</a:t>
            </a:r>
          </a:p>
          <a:p>
            <a:endParaRPr/>
          </a:p>
          <a:p>
            <a:r>
              <a:t>Walk through: Start with the three boxes across the top. Twenty of 228 unique non-MitoCarta genes returned from KDA calls are KEGG ribosome genes, or 8.8 percent. In the same network backgrounds, only 71 of 11,478 genes available for selection are ribosome genes, or 0.62 percent. This difference gives a one-sided, multiple-testing-adjusted P value of 3.56 times 10 to the minus 15. Then move through the three lower rows. Ribosome genes occur in 19 of 29 categories, account for 70 of 381 gene-by-category pairs, and account for 133 of 623 returned-gene occurrences within KDA calls. Each row uses a different unit, so the denominators should not be combined.</a:t>
            </a:r>
          </a:p>
          <a:p>
            <a:endParaRPr/>
          </a:p>
          <a:p>
            <a:r>
              <a:t>Scientific boundary: The enrichment result shows over-representation, not causal regulation of OXPHOS. Categories, gene-by-category pairs, and within-call occurrences can repeat genes and share donors, so they are descriptive recurrence summaries rather than independent replications.</a:t>
            </a:r>
          </a:p>
          <a:p>
            <a:endParaRPr/>
          </a:p>
          <a:p>
            <a:r>
              <a:t>Transition: Use RPL11 and RPS15 as examples of the recurring ribosome genes, then consider biological and technical interpretations.</a:t>
            </a:r>
          </a:p>
          <a:p>
            <a:endParaRPr/>
          </a:p>
          <a:p>
            <a:r>
              <a:t>Sources: docs/analysis/kda_w_human_validation/rosmap_sex_apoe_broad_kda_analysis.md,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is connected to many nuclear-encoded OXPHOS genes, while RPS15 appears in the largest number of categories. Frequently connected RPL11 genes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three interpretations of the recurring ribosome-gene result without choosing one prematurely.</a:t>
            </a:r>
          </a:p>
          <a:p>
            <a:endParaRPr/>
          </a:p>
          <a:p>
            <a:r>
              <a:t>Walk through: Read the three panels from left to right. The biological model notes that cells must produce nuclear-encoded OXPHOS proteins before respiratory complexes can assemble, so protein production and respiration can change together. The stress model notes that experimental systems connect RPL11 with MDM2 and p53 signaling. The technical model notes that genes with many network connections may be returned more often from KDA calls. The footer gives the most cautious interpretation: compare genes with similar numbers of network connections before treating recurring ribosome genes as regulators.</a:t>
            </a:r>
          </a:p>
          <a:p>
            <a:endParaRPr/>
          </a:p>
          <a:p>
            <a:r>
              <a:t>Scientific boundary: These models are alternatives, and more than one may contribute. The current analysis does not establish causal direction or show that the ribosome genes regulate OXPHOS genes.</a:t>
            </a:r>
          </a:p>
          <a:p>
            <a:endParaRPr/>
          </a:p>
          <a:p>
            <a:r>
              <a:t>Transition: Compare the current result with prior ribosome and RPL11 research.</a:t>
            </a:r>
          </a:p>
          <a:p>
            <a:endParaRPr/>
          </a:p>
          <a:p>
            <a:r>
              <a:t>Sources: docs/analysis/kda_w_human_validation/rosmap_sex_apoe_broad_kda_analysis.md, Finding 7; https://doi.org/10.1523/JNEUROSCI.3040-05.2005; https://doi.org/10.1128/MCB.23.23.8902-8912.2003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which part of Finding 7 each source supports and why the novelty rating is moderate.</a:t>
            </a:r>
          </a:p>
          <a:p>
            <a:endParaRPr/>
          </a:p>
          <a:p>
            <a:r>
              <a:t>Walk through: Read the columns from left to right. Ding and colleagues support ribosome dysfunction in human Alzheimer’s tissue, but they do not establish the ROSMAP ribosome-to-OXPHOS network. Zhang and colleagues show that RPL11 can signal through MDM2 and p53, but that stress pathway does not prove mitochondrial regulation. The current ROSMAP analysis adds recurrence of several ribosome genes across categories and repeated connections to OXPHOS genes. Shared donors and the tendency of highly connected genes to be selected more often limit the independence of that recurrence. Taken together, the focused literature comparison supports a moderate novelty rating.</a:t>
            </a:r>
          </a:p>
          <a:p>
            <a:endParaRPr/>
          </a:p>
          <a:p>
            <a:r>
              <a:t>Scientific boundary: Moderate novelty describes what the current network result adds beyond prior research. It does not mean that the result is causal or independently replicated.</a:t>
            </a:r>
          </a:p>
          <a:p>
            <a:endParaRPr/>
          </a:p>
          <a:p>
            <a:r>
              <a:t>Transition: Proceed to Finding 8 and the proposed connection between LAMTOR5 and nuclear-encoded OXPHOS genes.</a:t>
            </a:r>
          </a:p>
          <a:p>
            <a:endParaRPr/>
          </a:p>
          <a:p>
            <a:r>
              <a:t>Sources: docs/analysis/kda_w_human_validation/rosmap_sex_apoe_broad_kda_analysis.md, Finding 7; https://doi.org/10.1523/JNEUROSCI.3040-05.2005; https://doi.org/10.1128/MCB.23.23.8902-8912.2003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Scope: Observed in: female ε2, female ε3/ε3, female ε4, and male ε2</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proposed connection between lysosomal nutrient sensing and nuclear-encoded OXPHOS genes.</a:t>
            </a:r>
          </a:p>
          <a:p>
            <a:endParaRPr/>
          </a:p>
          <a:p>
            <a:r>
              <a:t>Walk through: The top labels summarize the scope: LAMTOR5 was returned from 17 neuronal KDA calls across six categories. Then follow the three large panels from left to right. Lysosomes recycle cellular material and help cells sense nutrient availability. LAMTOR5 is part of the lysosomal complex that relays amino-acid availability to mTORC1. The mitochondrial side contains mainly nuclear-encoded OXPHOS genes with lower expression in AD. Together, the panels suggest a possible relationship between lysosomal nutrient sensing and mitochondrial respiration.</a:t>
            </a:r>
          </a:p>
          <a:p>
            <a:endParaRPr/>
          </a:p>
          <a:p>
            <a:r>
              <a:t>Scientific boundary: KDA identifies network relationships. It does not show whether LAMTOR5 changes OXPHOS genes, whether mitochondrial changes affect LAMTOR5, or whether another process affects both.</a:t>
            </a:r>
          </a:p>
          <a:p>
            <a:endParaRPr/>
          </a:p>
          <a:p>
            <a:r>
              <a:t>Transition: Show the ROSMAP counts and directions that support the repeated LAMTOR5 result.</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Start with the three summary boxes. Seventeen neuronal KDA calls across six categories support the result. LAMTOR5 has 87 connections to MitoCarta MT genes, including 39 nuclear-encoded OXPHOS genes. Fourteen of the 17 DEG input sets show significant enrichment of nuclear-encoded OXPHOS genes. Then read the three evidence rows. Thirty of the 39 connected nuclear-encoded OXPHOS genes have lower expression in AD. Frequently connected genes include ATP5IF1, CHCHD10, and ATP5MC2. LAMTOR5 itself is a DEG in 11 of the 17 calls, but its direction differs: it increases in female epsilon-2 excitatory calls and decreases in the strongest male epsilon-2 calls.</a:t>
            </a:r>
          </a:p>
          <a:p>
            <a:endParaRPr/>
          </a:p>
          <a:p>
            <a:r>
              <a:t>Scientific boundary: The 87 value counts network connections, while 39 counts nuclear-encoded OXPHOS genes. KDA calls can share genes and donors, and the direction of LAMTOR5 itself is not uniform across groups.</a:t>
            </a:r>
          </a:p>
          <a:p>
            <a:endParaRPr/>
          </a:p>
          <a:p>
            <a:r>
              <a:t>Transition: Separate the repeated network result from evidence about cell context and cross-cohort support.</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GABARAPL2, ATG101, and ATP6AP2 provide additional support for the lysosome-to-mitochondria interpretation.</a:t>
            </a:r>
          </a:p>
          <a:p>
            <a:endParaRPr/>
          </a:p>
          <a:p>
            <a:r>
              <a:t>Walk through: These genes were identified independently of LAMTOR5. GABARAPL2 participates in autophagy, including delivery of cellular material to lysosomes, and appeared in 13 KDA calls across five categories. ATG101 helps begin autophagosome formation and appeared in six calls across three categories. ATP6AP2 supports the V-ATPase system that acidifies lysosomes and also appeared in six calls across three categories. Each gene was connected to mitochondrial genes in the ROSMAP networks. The repeated pattern therefore supports a broader relationship among lysosome function, autophagy, and mitochondria rather than relying on LAMTOR5 alone. SEA-AD had no KDA call in the matching sex/APOE and cell categories, so it could not test these results directly.</a:t>
            </a:r>
          </a:p>
          <a:p>
            <a:endParaRPr/>
          </a:p>
          <a:p>
            <a:r>
              <a:t>Scientific boundary: The three genes are functionally related to the same biological process. The analysis does not show that they directly interact with LAMTOR5 or that any of them causally regulates the connected mitochondrial genes.</a:t>
            </a:r>
          </a:p>
          <a:p>
            <a:endParaRPr/>
          </a:p>
          <a:p>
            <a:r>
              <a:t>Transition: Explain why established nutrient-sensing biology makes LAMTOR5 testable.</a:t>
            </a:r>
          </a:p>
          <a:p>
            <a:endParaRPr/>
          </a:p>
          <a:p>
            <a:r>
              <a:t>Sources: docs/analysis/kda_w_human_validation/rosmap_sex_apoe_broad_kda_analysis.md, Finding 8; https://www.ncbi.nlm.nih.gov/gene/11345; https://www.ncbi.nlm.nih.gov/gene/60673; https://doi.org/10.1073/pnas.1507263112; https://doi.org/10.1161/CIRCRESAHA.110.224667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previous biology supports a LAMTOR5 experiment without treating the KDA connections as proven regulation.</a:t>
            </a:r>
          </a:p>
          <a:p>
            <a:endParaRPr/>
          </a:p>
          <a:p>
            <a:r>
              <a:t>Walk through: Amino acids activate mTORC1 at the lysosome. The Ragulator complex, which contains LAMTOR5, helps place this nutrient-sensing machinery at the lysosomal surface. mTORC1 can then change cellular protein production, including production of nuclear-encoded mitochondrial proteins, and can affect respiratory capacity. Alzheimer’s-related experimental work also shows that amyloid-beta can disrupt communication between lysosomes and mitochondria in neurons. These findings make a direct LAMTOR5 experiment reasonable. For example, one could reduce or increase LAMTOR5 and then measure lysosomal acidity, mTORC1 activity, OXPHOS gene expression, OXPHOS proteins, and respiration.</a:t>
            </a:r>
          </a:p>
          <a:p>
            <a:endParaRPr/>
          </a:p>
          <a:p>
            <a:r>
              <a:t>Scientific boundary: Previous experiments have not shown that LAMTOR5 directly regulates the mitochondrial genes connected to it in the ROSMAP KDA results. The KDA connections are inferred from a gene network and do not establish causal direction.</a:t>
            </a:r>
          </a:p>
          <a:p>
            <a:endParaRPr/>
          </a:p>
          <a:p>
            <a:r>
              <a:t>Transition: Compare this interpretation with the specific support and limitations of prior studies.</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which part of Finding 8 each prior study supports and why the novelty rating is high.</a:t>
            </a:r>
          </a:p>
          <a:p>
            <a:endParaRPr/>
          </a:p>
          <a:p>
            <a:r>
              <a:t>Walk through: Read the three columns from left to right. Bar-Peled and colleagues place LAMTOR5 in amino-acid sensing at lysosomes, but they do not test Alzheimer’s neurons or OXPHOS connections. Morita and colleagues connect mTORC1 with mitochondrial protein production and respiratory capacity, but they do not show that LAMTOR5 causes the relationship observed here. Norambuena and colleagues show that amyloid beta disrupts lysosome-to-mitochondria communication in neurons, but they did not manipulate LAMTOR5. The studies support separate parts of the interpretation without reproducing the full network result, which is why the slide rates novelty as high.</a:t>
            </a:r>
          </a:p>
          <a:p>
            <a:endParaRPr/>
          </a:p>
          <a:p>
            <a:r>
              <a:t>Scientific boundary: High novelty does not mean high causal confidence. The proposed LAMTOR5-to-OXPHOS relationship still requires direct perturbation and replication.</a:t>
            </a:r>
          </a:p>
          <a:p>
            <a:endParaRPr/>
          </a:p>
          <a:p>
            <a:r>
              <a:t>Transition: Proceed to Finding 9 and the core MT genes connected to WDR82.</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is connected to four upregulated core MT genes.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Scope: Observed in: female ε2, female ε3/ε3, male ε3/ε3, and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focused WDR82 result and why four connected core MT genes should not be treated as four independent regulatory observations.</a:t>
            </a:r>
          </a:p>
          <a:p>
            <a:endParaRPr/>
          </a:p>
          <a:p>
            <a:r>
              <a:t>Walk through: Start with the four labels across the top. The result occurs only in excitatory neurons and is supported by 18 KDA calls. WDR82 is directly connected to four recurring core MT genes, but a gene returned from KDA calls does not have to be a strong DEG. Then read the three main panels from left to right. WDR82 helps regulate which nuclear genes are active and is not part of the mitochondrial ribosome. Nearly every direct mitochondrial connection to WDR82 involves MT-ND1, MT-ND3, MT-ND4L, or MT-ND5. These four core MT genes are produced from one long RNA transcribed from the mitochondrial heavy strand and then processed into separate gene products. Their shared starting transcript means that four gene names do not provide four fully independent regulatory observations.</a:t>
            </a:r>
          </a:p>
          <a:p>
            <a:endParaRPr/>
          </a:p>
          <a:p>
            <a:r>
              <a:t>Scientific boundary: Shared transcription can make the four gene measurements correlated, but processing and stability can still differ among the mature RNAs. The KDA result does not show that WDR82 regulates these genes or explain why their expression increases in AD.</a:t>
            </a:r>
          </a:p>
          <a:p>
            <a:endParaRPr/>
          </a:p>
          <a:p>
            <a:r>
              <a:t>Transition: The next slide shows that every WDR82 KDA input has significant enrichment of upregulated core MT genes.</a:t>
            </a:r>
          </a:p>
          <a:p>
            <a:endParaRPr/>
          </a:p>
          <a:p>
            <a:r>
              <a:t>Sources: docs/analysis/kda_w_human_validation/rosmap_sex_apoe_broad_kda_analysis.md, Finding 9; https://doi.org/10.1128/MCB.01356-07; https://doi.org/10.1016/j.cell.2011.06.051; https://doi.org/10.3892/mmr.2015.4271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WDR82 was returned in four sex/APOE groups, but most KDA calls come from female ε3/ε3.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pattern could reflect coordinated RNA production, overall mitochondrial RNA abundance, or how the network was constructed. Repeating the analysis after removing core MT genes from the KDA input DEG set is an important check before proposing a biological mechanism.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 and clarify that it is not sex/APOE-specific.</a:t>
            </a:r>
          </a:p>
          <a:p>
            <a:endParaRPr/>
          </a:p>
          <a:p>
            <a:r>
              <a:t>Walk through: SELENOM repeatedly sits near decreased mitochondrial protein-production genes in neuronal KDA input DEG sets. It was returned from KDA calls across seven categories and all six sex/APOE groups. The label on this slide therefore identifies Finding 10 as a broadly recurrent network finding rather than a subgroup-specific result.</a:t>
            </a:r>
          </a:p>
          <a:p>
            <a:endParaRPr/>
          </a:p>
          <a:p>
            <a:r>
              <a:t>Scientific boundary: Recurrence across groups does not establish an identical effect in every group, independent replication, or causal regulation of protein production inside mitochondria by SELENOM.</a:t>
            </a:r>
          </a:p>
          <a:p>
            <a:endParaRPr/>
          </a:p>
          <a:p>
            <a:r>
              <a:t>Scope: Not sex/APOE-specific; observed across all six groups</a:t>
            </a:r>
          </a:p>
          <a:p>
            <a:endParaRPr/>
          </a:p>
          <a:p>
            <a:r>
              <a:t>Transition: Explain the oxidation control in the ER and mitochondrial protein-production connection in plain language.</a:t>
            </a:r>
          </a:p>
          <a:p>
            <a:endParaRPr/>
          </a:p>
          <a:p>
            <a:r>
              <a:t>Sources: docs/analysis/kda_w_human_validation/rosmap_sex_apoe_broad_kda_analysis.md, Finding 10; https://doi.org/10.1074/jbc.M511386200; https://doi.org/10.3892/ijmm_00000211; https://doi.org/10.3390/ijms14034385.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SELENOM connects an endoplasmic-reticulum process with mitochondrial protein production in the KDA results.</a:t>
            </a:r>
          </a:p>
          <a:p>
            <a:endParaRPr/>
          </a:p>
          <a:p>
            <a:r>
              <a:t>Walk through: The top labels show that SELENOM was returned from 12 neuronal KDA calls covering all six sex and APOE groups. Read the three panels from left to right. SELENOM helps control reversible oxidation reactions in the endoplasmic reticulum, or ER. The middle panel defines the connected mitochondrial process: mitochondrial ribosomes and related factors make proteins encoded by core MT genes. The right panel shows the observed network pattern: genes directly connected to SELENOM are mainly mitochondrial protein-production genes with lower expression in AD. SELENOM itself is not part of the mitochondrial ribosome.</a:t>
            </a:r>
          </a:p>
          <a:p>
            <a:endParaRPr/>
          </a:p>
          <a:p>
            <a:r>
              <a:t>Scientific boundary: The network places these genes close to SELENOM, but it does not show that SELENOM regulates mitochondrial protein production or explain causal direction.</a:t>
            </a:r>
          </a:p>
          <a:p>
            <a:endParaRPr/>
          </a:p>
          <a:p>
            <a:r>
              <a:t>Transition: Show the ROSMAP counts behind the SELENOM result.</a:t>
            </a:r>
          </a:p>
          <a:p>
            <a:endParaRPr/>
          </a:p>
          <a:p>
            <a:r>
              <a:t>Sources: docs/analysis/kda_w_human_validation/rosmap_sex_apoe_broad_kda_analysis.md, Finding 10; https://doi.org/10.1074/jbc.M511386200; https://doi.org/10.3892/ijmm_00000211; https://doi.org/10.3390/ijms14034385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SELENOM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Repeated ROSMAP KDA calls and repeated connections to mitochondrial protein-production genes are still the main evidence. The lack of support in SEA-AD or human genetics lowers confidence outside ROSMAP, but the repeated ROSMAP result remains.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An experiment that changes SELENOM and measures both ER and mitochondrial responses can distinguish a specific connection from general cell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interpretation of SELENOM.</a:t>
            </a:r>
          </a:p>
          <a:p>
            <a:endParaRPr/>
          </a:p>
          <a:p>
            <a:r>
              <a:t>Walk through: Ferguson and colleagues identify SELENOM as an endoplasmic-reticulum protein involved in reversible oxidation reactions. Yim and colleagues show that SELENOM affects oxidation and calcium regulation in neurons. Experimental amyloid-beta studies connect SELENOM with amyloid-related and mitochondrial outcomes in cells or animals. These studies make the proposed biology plausible, but none reproduces the ROSMAP network connections in human AD neurons. The slide therefore assigns high novelty to the specific network finding.</a:t>
            </a:r>
          </a:p>
          <a:p>
            <a:endParaRPr/>
          </a:p>
          <a:p>
            <a:r>
              <a:t>Scientific boundary: High novelty means that the focused literature review did not identify a direct prior report of the same relationship. It does not mean that the current evidence is strong or causal.</a:t>
            </a:r>
          </a:p>
          <a:p>
            <a:endParaRPr/>
          </a:p>
          <a:p>
            <a:r>
              <a:t>Transition: Proceed to Finding 11 and the SELENOW result.</a:t>
            </a:r>
          </a:p>
          <a:p>
            <a:endParaRPr/>
          </a:p>
          <a:p>
            <a:r>
              <a:t>Sources: docs/analysis/kda_w_human_validation/rosmap_sex_apoe_broad_kda_analysis.md, Finding 10; https://doi.org/10.1074/jbc.M511386200; https://doi.org/10.3892/ijmm_00000211; https://doi.org/10.3390/ijms14034385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is connected to genes involved in mitochondrial respiration, protein production, and removal of damaged mitochondrial proteins.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Scope: Observed in: female ε2, female ε4, male ε2, and male ε3/ε3</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several mitochondrial functions connected to SELENOW and distinguish SELENOW from SELENOM.</a:t>
            </a:r>
          </a:p>
          <a:p>
            <a:endParaRPr/>
          </a:p>
          <a:p>
            <a:r>
              <a:t>Walk through: The top labels show 16 neuronal KDA calls across six categories. The three panels organize the connected genes by function. NDUFB11, COA3, and CYC1 support mitochondrial respiration. MRPS34 and MRPL34 help mitochondria produce proteins encoded by core MT genes. CLPP removes damaged mitochondrial proteins, while other connected genes transport molecules across the inner mitochondrial membrane. The connection therefore spans respiration, mitochondrial protein production, and removal of damaged proteins rather than one narrow OXPHOS pathway. SELENOW and SELENOM are different genes and should not be treated as the same mechanism.</a:t>
            </a:r>
          </a:p>
          <a:p>
            <a:endParaRPr/>
          </a:p>
          <a:p>
            <a:r>
              <a:t>Scientific boundary: These are network connections, not proof that SELENOW controls every connected process or that all connected genes change through one mechanism.</a:t>
            </a:r>
          </a:p>
          <a:p>
            <a:endParaRPr/>
          </a:p>
          <a:p>
            <a:r>
              <a:t>Transition: Show the ROSMAP evidence supporting the SELENOW result.</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groups.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Returning the same gene would be stronger evidence than returning a different gene with a related function. The local genetic screen adds weak evidence from a study that links genetically predicted gene expression with disease, but this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are both selenium-related, but they connect to different genes and should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interpretation of SELENOW.</a:t>
            </a:r>
          </a:p>
          <a:p>
            <a:endParaRPr/>
          </a:p>
          <a:p>
            <a:r>
              <a:t>Walk through: Misra and colleagues show that loss of SELENOW changes oxidative stress and mitochondrial respiration, although their experiments used macrophages rather than neurons. Ren and colleagues report improved tau clearance and other outcomes after increasing SELENOW in a mouse model of AD. The current ROSMAP analysis adds human neuronal connections to respiration and removal of damaged mitochondrial proteins. Together, these results support biological plausibility without proving the direction of regulation. The slide assigns moderate novelty to the human neuronal network finding.</a:t>
            </a:r>
          </a:p>
          <a:p>
            <a:endParaRPr/>
          </a:p>
          <a:p>
            <a:r>
              <a:t>Scientific boundary: Moderate novelty describes what this analysis adds beyond prior work. It does not convert evidence from macrophages, mice, or KDA into proof of a causal neuronal mechanism.</a:t>
            </a:r>
          </a:p>
          <a:p>
            <a:endParaRPr/>
          </a:p>
          <a:p>
            <a:r>
              <a:t>Transition: Proceed to Finding 12 and the PGK1-centered astrocyte result.</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glucose breakdown with BNIP3, BNIP3L, and FAM162A, three genes that respond to low oxygen or mitochondrial damage.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Scope: Observed in: female ε3/ε3, female ε4, and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proposed astrocyte connection between glycolysis and recycling of damaged mitochondria.</a:t>
            </a:r>
          </a:p>
          <a:p>
            <a:endParaRPr/>
          </a:p>
          <a:p>
            <a:r>
              <a:t>Walk through: The top labels identify three astrocyte KDA calls. Read the three panels from left to right. PGK1 participates in glycolysis, which breaks down glucose outside mitochondria. FAM162A and BNIP3 respond to low oxygen or mitochondrial damage. BNIP3L can help mark damaged mitochondria for recycling. This small connected set suggests a relationship between glucose breakdown and removal of damaged mitochondria.</a:t>
            </a:r>
          </a:p>
          <a:p>
            <a:endParaRPr/>
          </a:p>
          <a:p>
            <a:r>
              <a:t>Scientific boundary: The result involves a small number of genes and does not show that PGK1 broadly controls OXPHOS or directly regulates the mitochondrial-damage genes.</a:t>
            </a:r>
          </a:p>
          <a:p>
            <a:endParaRPr/>
          </a:p>
          <a:p>
            <a:r>
              <a:t>Transition: Show the ROSMAP evidence supporting the PGK1-centered result.</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summary scores rank candidates for follow-up but are exploratory and are not multiple-testing-adjusted q 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result based on only three connected genes gives a focused hypothesis but depends heavily on those genes. PGK1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TEST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An experiment that changes PGK1 and then rescues the response can test whether PGK1 acts before BNIP3 and BNIP3L.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interpretation of PGK1 in astrocytes.</a:t>
            </a:r>
          </a:p>
          <a:p>
            <a:endParaRPr/>
          </a:p>
          <a:p>
            <a:r>
              <a:t>Walk through: Mathys and colleagues report groups of glial genes that include PGK1 and BNIP3L and change together in human AD, although that study also uses ROSMAP and may share donors with this analysis. Schmukler and colleagues connect APOE4 astrocytes with altered mitochondrial shape and removal of damaged mitochondria. Lee and colleagues connect lysosomal cholesterol with reduced removal of damaged mitochondria and impaired respiration. These studies support the proposed biological setting but do not show that PGK1 controls BNIP3-family genes. The slide assigns moderate novelty to the specific KDA connection.</a:t>
            </a:r>
          </a:p>
          <a:p>
            <a:endParaRPr/>
          </a:p>
          <a:p>
            <a:r>
              <a:t>Scientific boundary: The literature supports related astrocyte biology, not the direction or causality of the PGK1 network result. Shared ROSMAP donors also prevent the Mathys study from serving as independent replication.</a:t>
            </a:r>
          </a:p>
          <a:p>
            <a:endParaRPr/>
          </a:p>
          <a:p>
            <a:r>
              <a:t>Transition: Proceed to Finding 13 and the OPC iron-stress result.</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connect iron storage in OPCs with GPX4 protection from lipid damage and genes that recycle damaged cell components.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Scope: Observed in: female ε3/ε3 and male ε2</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proposed OPC connection among iron storage, protection from lipid damage, and recycling of damaged cell components.</a:t>
            </a:r>
          </a:p>
          <a:p>
            <a:endParaRPr/>
          </a:p>
          <a:p>
            <a:r>
              <a:t>Walk through: OPCs are oligodendrocyte precursor cells that can mature into myelin-producing cells. Read the panels from left to right. FTL and FTH1 form ferritin, which stores iron in a safer form and limits free iron. GPX4 helps protect membrane fats from oxidation. FIS1, PARK7, and PHB2 connect FTL and ANKRD11 with mitochondrial stress and recycling of damaged cell components. Together, the network suggests a relationship between iron handling and cellular cleanup.</a:t>
            </a:r>
          </a:p>
          <a:p>
            <a:endParaRPr/>
          </a:p>
          <a:p>
            <a:r>
              <a:t>Scientific boundary: The result does not demonstrate ferroptosis. That would require direct measurement of iron-dependent lipid damage and rescue with a ferroptosis inhibitor.</a:t>
            </a:r>
          </a:p>
          <a:p>
            <a:endParaRPr/>
          </a:p>
          <a:p>
            <a:r>
              <a:t>Transition: Show the ROSMAP evidence supporting this OPC result.</a:t>
            </a:r>
          </a:p>
          <a:p>
            <a:endParaRPr/>
          </a:p>
          <a:p>
            <a:r>
              <a:t>Sources: docs/analysis/kda_w_human_validation/rosmap_sex_apoe_broad_kda_analysis.md, Finding 13; https://pmc.ncbi.nlm.nih.gov/articles/PMC8941078/; https://doi.org/10.1186/s12915-025-02235-6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Several pathway terms contain many of the same genes, including widely used ubiquitin and tubulin genes. SEA-AD had no OPC category for KDA, so this result could not be tested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from lipid damage, and removal of damaged mitochondria combine into a testable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OPC iron-stress interpretation.</a:t>
            </a:r>
          </a:p>
          <a:p>
            <a:endParaRPr/>
          </a:p>
          <a:p>
            <a:r>
              <a:t>Walk through: Experimental work shows that reduced GPX4 protection can make OPCs vulnerable to iron-dependent lipid damage. Transcriptomic studies also report oxytosis- and ferroptosis-related expression patterns in AD datasets. The current ROSMAP analysis adds focused connections among FTL, ANKRD11, GPX4, and genes involved in recycling damaged cellular material. This combination motivates an OPC iron-stress hypothesis, and the slide assigns high novelty to the specific human network relationship.</a:t>
            </a:r>
          </a:p>
          <a:p>
            <a:endParaRPr/>
          </a:p>
          <a:p>
            <a:r>
              <a:t>Scientific boundary: Expression patterns do not demonstrate that ferroptotic cell death occurred. Only one OPC fine cell type contributes to the KDA result, so the finding remains narrow.</a:t>
            </a:r>
          </a:p>
          <a:p>
            <a:endParaRPr/>
          </a:p>
          <a:p>
            <a:r>
              <a:t>Transition: Proceed to Finding 14 and the PLCG2 result.</a:t>
            </a:r>
          </a:p>
          <a:p>
            <a:endParaRPr/>
          </a:p>
          <a:p>
            <a:r>
              <a:t>Sources: docs/analysis/kda_w_human_validation/rosmap_sex_apoe_broad_kda_analysis.md, Finding 13; https://pmc.ncbi.nlm.nih.gov/articles/PMC8941078/; https://doi.org/10.1186/s12915-025-02235-6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 evidence, but MT-CO1 is the only MitoCarta MT gene directly connected to it in these KDA calls.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Scope: Observed in: female ε2, female ε3/ε3, and female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strong gene-level support for PLCG2 from the narrow PLCG2-to-MT-CO1 network result.</a:t>
            </a:r>
          </a:p>
          <a:p>
            <a:endParaRPr/>
          </a:p>
          <a:p>
            <a:r>
              <a:t>Walk through: Read the panels from left to right. Human genetic variants make PLCG2 an important Alzheimer’s disease gene to study. In this analysis, PLCG2 was returned from six female inhibitory-neuron KDA calls spanning epsilon-2, epsilon-3 homozygous, and epsilon-4 groups. However, MT-CO1 is the only MitoCarta MT gene directly connected to PLCG2 across those calls. The slide therefore distinguishes established relevance of PLCG2 from uncertainty about this specific network connection.</a:t>
            </a:r>
          </a:p>
          <a:p>
            <a:endParaRPr/>
          </a:p>
          <a:p>
            <a:r>
              <a:t>Scientific boundary: Gene-level genetic evidence does not validate a particular cell context or prove that PLCG2 regulates MT-CO1. KDA can return a gene because of its network position even when that gene is not a DEG.</a:t>
            </a:r>
          </a:p>
          <a:p>
            <a:endParaRPr/>
          </a:p>
          <a:p>
            <a:r>
              <a:t>Transition: Show the ROSMAP evidence and the limits of the PLCG2 result.</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genes connected to PLCG2.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Enrichment in the full DEG input and direct connections to PLCG2 answer different questions. Phase 19b provides gene-level genetic support for PLCG2, but the network result still depends on the single PLCG2–MT-CO1 connection.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AD gene can still have uncertain activity in a particular cell type or uncertain network connections. PLCG2 remains worth testing, but first we should verify that inhibitory neurons express PLCG2 and that the PLCG2–MT-CO1 connection is reproducible.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PLCG2 has strong genetic relevance but weak support for the specific MT-CO1 connection.</a:t>
            </a:r>
          </a:p>
          <a:p>
            <a:endParaRPr/>
          </a:p>
          <a:p>
            <a:r>
              <a:t>Walk through: The Phase 19b genetic screen provides strong Alzheimer’s gene-level support for PLCG2. Prior work on the protective P522R variant shows a small increase in one PLCG2 function, and a 2026 study reports neuron-intrinsic PLCG2 effects on synapses, amyloid-beta, and tau. These findings establish PLCG2 as an important AD gene to investigate. None of them demonstrates that PLCG2 regulates MT-CO1 or confirms the cell-specific network connections in this analysis. The slide assigns high novelty to that specific proposed relationship.</a:t>
            </a:r>
          </a:p>
          <a:p>
            <a:endParaRPr/>
          </a:p>
          <a:p>
            <a:r>
              <a:t>Scientific boundary: High novelty does not imply high confidence. The PLCG2-to-MT-CO1 result is narrow, and gene-level genetic support cannot validate a particular cell context or KDA connection.</a:t>
            </a:r>
          </a:p>
          <a:p>
            <a:endParaRPr/>
          </a:p>
          <a:p>
            <a:r>
              <a:t>Transition: Proceed to Finding 15 and the astrocyte APOE result.</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connected mitochondrial genes.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Scope: Observed in: female ε2, male ε2, and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why the astrocyte APOE result cannot be summarized as an epsilon-4-specific direction.</a:t>
            </a:r>
          </a:p>
          <a:p>
            <a:endParaRPr/>
          </a:p>
          <a:p>
            <a:r>
              <a:t>Walk through: The top labels identify astrocytes, three sex and APOE groups, and opposite directions. Read the three panels from left to right. APOE increases in the supporting female epsilon-2 astrocyte KDA call, with a log fold change of plus 0.79. APOE decreases in male epsilon-2, with a log fold change of minus 0.51, and decreases in male epsilon-4, with a log fold change of minus 1.25. The directions therefore differ across groups and do not support an epsilon-4-only statement.</a:t>
            </a:r>
          </a:p>
          <a:p>
            <a:endParaRPr/>
          </a:p>
          <a:p>
            <a:r>
              <a:t>Scientific boundary: These within-group directions do not by themselves prove a statistical sex-by-APOE interaction. A direct interaction model is needed.</a:t>
            </a:r>
          </a:p>
          <a:p>
            <a:endParaRPr/>
          </a:p>
          <a:p>
            <a:r>
              <a:t>Transition: Show the KDA connections associated with the three astrocyte results.</a:t>
            </a:r>
          </a:p>
          <a:p>
            <a:endParaRPr/>
          </a:p>
          <a:p>
            <a:r>
              <a:t>Sources: docs/analysis/kda_w_human_validation/rosmap_sex_apoe_broad_kda_analysis.md, Finding 15; https://doi.org/10.1016/j.neuron.2019.03.075; https://doi.org/10.1016/j.celrep.2023.113183; https://doi.org/10.1038/s41419-020-02776-4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sex/APOE group contributes only one KDA call, so there is not enough evidence for one shared biological pattern.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Opposite expression directions and different connected genes could reflect real group differences, different astrocyte states, or sampling. APOE is a well-established AD risk gene, but that does not confirm these expression directions or specific mitochondrial connections.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supports testing separate APOE models by sex and genotype rather than assuming an ε4-only effect.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established APOE biology supports but does not resolve the astrocyte network result.</a:t>
            </a:r>
          </a:p>
          <a:p>
            <a:endParaRPr/>
          </a:p>
          <a:p>
            <a:r>
              <a:t>Walk through: Human genetics establishes APOE as the strongest common risk locus for late-onset AD. Experimental studies show that APOE-related changes in astrocytes can alter mitochondrial function, mitochondrial shape, and removal of damaged mitochondria. This literature makes an astrocyte APOE-to-mitochondria relationship plausible. It does not explain why APOE changes in opposite directions across the sex/APOE groups shown here, and it does not confirm the three different sets of KDA connections. The slide assigns moderate novelty to this context-specific result.</a:t>
            </a:r>
          </a:p>
          <a:p>
            <a:endParaRPr/>
          </a:p>
          <a:p>
            <a:r>
              <a:t>Scientific boundary: The current result includes epsilon-2 groups as well as epsilon-4. Established APOE4 biology therefore cannot be applied automatically to every group on the slide.</a:t>
            </a:r>
          </a:p>
          <a:p>
            <a:endParaRPr/>
          </a:p>
          <a:p>
            <a:r>
              <a:t>Transition: Proceed to Finding 16 and the female epsilon-4 vascular stress-response result.</a:t>
            </a:r>
          </a:p>
          <a:p>
            <a:endParaRPr/>
          </a:p>
          <a:p>
            <a:r>
              <a:t>Sources: docs/analysis/kda_w_human_validation/rosmap_sex_apoe_broad_kda_analysis.md, Finding 15; https://doi.org/10.1016/j.neuron.2019.03.075; https://doi.org/10.1016/j.celrep.2023.113183; https://doi.org/10.1038/s41419-020-02776-4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 while separating the donor group from the biological pathway result.</a:t>
            </a:r>
          </a:p>
          <a:p>
            <a:endParaRPr/>
          </a:p>
          <a:p>
            <a:r>
              <a:t>Walk through: Female and APOE epsilon-4-containing identify the donor group. Vascular cells identify the cell category. APOE is not the pathway in this finding. The biological result is that two vascular-cell KDA calls returned HSPH1, HSPA1A, and PTGES3, three genes related to cellular protein stress.</a:t>
            </a:r>
          </a:p>
          <a:p>
            <a:endParaRPr/>
          </a:p>
          <a:p>
            <a:r>
              <a:t>Scientific boundary: Observing the result in this subgroup does not prove that APOE epsilon-4 caused it or that the result differs statistically from other sex or APOE groups.</a:t>
            </a:r>
          </a:p>
          <a:p>
            <a:endParaRPr/>
          </a:p>
          <a:p>
            <a:r>
              <a:t>Transition: Explain the three returned genes and the donor context.</a:t>
            </a:r>
          </a:p>
          <a:p>
            <a:endParaRPr/>
          </a:p>
          <a:p>
            <a:r>
              <a:t>Source: docs/analysis/kda_w_human_validation/rosmap_sex_apoe_broad_kda_analysis.md,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introduces the genes returned from the vascular KDA calls.</a:t>
            </a:r>
          </a:p>
          <a:p xmlns:a="http://schemas.openxmlformats.org/drawingml/2006/main">
            <a:r>
              <a:t/>
            </a:r>
            <a:endParaRPr/>
          </a:p>
          <a:p xmlns:a="http://schemas.openxmlformats.org/drawingml/2006/main">
            <a:r>
              <a:t>The labels across the top define the analysis context. The donors are female and belong to the APOE epsilon-4-containing group. The analyzed cell category is vascular cells, and two eligible KDA calls contribute.</a:t>
            </a:r>
          </a:p>
          <a:p xmlns:a="http://schemas.openxmlformats.org/drawingml/2006/main">
            <a:r>
              <a:t/>
            </a:r>
            <a:endParaRPr/>
          </a:p>
          <a:p xmlns:a="http://schemas.openxmlformats.org/drawingml/2006/main">
            <a:r>
              <a:t>HSPA1A helps proteins fold correctly or recover during stress. HSPH1 works with other heat-shock proteins to help damaged proteins refold. PTGES3 also has protein-folding functions in addition to its other cellular roles.</a:t>
            </a:r>
          </a:p>
          <a:p xmlns:a="http://schemas.openxmlformats.org/drawingml/2006/main">
            <a:r>
              <a:t/>
            </a:r>
            <a:endParaRPr/>
          </a:p>
          <a:p xmlns:a="http://schemas.openxmlformats.org/drawingml/2006/main">
            <a:r>
              <a:t>Heat-shock genes respond to many forms of cellular stress. Their names do not mean that the cells experienced high temperature.</a:t>
            </a:r>
          </a:p>
          <a:p xmlns:a="http://schemas.openxmlformats.org/drawingml/2006/main">
            <a:r>
              <a:t/>
            </a:r>
            <a:endParaRPr/>
          </a:p>
          <a:p xmlns:a="http://schemas.openxmlformats.org/drawingml/2006/main">
            <a:r>
              <a:t>Next, I will show how pathway analysis interprets these returned genes.</a:t>
            </a:r>
          </a:p>
          <a:p xmlns:a="http://schemas.openxmlformats.org/drawingml/2006/main">
            <a:r>
              <a:t/>
            </a:r>
            <a:endParaRPr/>
          </a:p>
          <a:p xmlns:a="http://schemas.openxmlformats.org/drawingml/2006/main">
            <a:r>
              <a:t>Sources: docs/analysis/kda_w_human_validation/rosmap_sex_apoe_broad_kda_analysis.md, Finding 16; https://doi.org/10.1186/s13024-023-00624-5; https://doi.org/10.1038/s41586-024-07606-7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counts and the two overlapping pathway results.</a:t>
            </a:r>
          </a:p>
          <a:p xmlns:a="http://schemas.openxmlformats.org/drawingml/2006/main">
            <a:r>
              <a:t/>
            </a:r>
            <a:endParaRPr/>
          </a:p>
          <a:p xmlns:a="http://schemas.openxmlformats.org/drawingml/2006/main">
            <a:r>
              <a:t>Five unique non-MitoCarta genes were returned from vascular KDA calls in the female APOE epsilon-4-containing donor group. Three are stress-response genes: HSPH1, HSPA1A, and PTGES3. Only two eligible KDA calls contribute.</a:t>
            </a:r>
          </a:p>
          <a:p xmlns:a="http://schemas.openxmlformats.org/drawingml/2006/main">
            <a:r>
              <a:t/>
            </a:r>
            <a:endParaRPr/>
          </a:p>
          <a:p xmlns:a="http://schemas.openxmlformats.org/drawingml/2006/main">
            <a:r>
              <a:t>Pathway analysis tests whether the returned genes occur more often than expected in known gene sets. The first result is genes controlled by HSF1, with a BH-adjusted P value of 4.07 times 10 to the minus 4. HSF1 controls genes that protect proteins during cellular stress.</a:t>
            </a:r>
          </a:p>
          <a:p xmlns:a="http://schemas.openxmlformats.org/drawingml/2006/main">
            <a:r>
              <a:t/>
            </a:r>
            <a:endParaRPr/>
          </a:p>
          <a:p xmlns:a="http://schemas.openxmlformats.org/drawingml/2006/main">
            <a:r>
              <a:t>The second result is cellular response to heat stress, with a BH-adjusted P value of 0.00383. This pathway contains genes activated by cellular stress, including stress from damaged proteins. It does not imply exposure to high temperature.</a:t>
            </a:r>
          </a:p>
          <a:p xmlns:a="http://schemas.openxmlformats.org/drawingml/2006/main">
            <a:r>
              <a:t/>
            </a:r>
            <a:endParaRPr/>
          </a:p>
          <a:p xmlns:a="http://schemas.openxmlformats.org/drawingml/2006/main">
            <a:r>
              <a:t>The two pathway results overlap because HSPH1, HSPA1A, and PTGES3 contribute to both. The two adjusted P values therefore describe related analyses rather than independent biological findings.</a:t>
            </a:r>
          </a:p>
          <a:p xmlns:a="http://schemas.openxmlformats.org/drawingml/2006/main">
            <a:r>
              <a:t/>
            </a:r>
            <a:endParaRPr/>
          </a:p>
          <a:p xmlns:a="http://schemas.openxmlformats.org/drawingml/2006/main">
            <a:r>
              <a:t>Next, I will explain why this result remains preliminary.</a:t>
            </a:r>
          </a:p>
          <a:p xmlns:a="http://schemas.openxmlformats.org/drawingml/2006/main">
            <a:r>
              <a:t/>
            </a:r>
            <a:endParaRPr/>
          </a:p>
          <a:p xmlns:a="http://schemas.openxmlformats.org/drawingml/2006/main">
            <a:r>
              <a:t>Sources: docs/analysis/kda_w_human_validation/rosmap_sex_apoe_broad_kda_analysis.md, Finding 16; https://doi.org/10.1186/s13024-023-00624-5; https://doi.org/10.1038/s41586-024-07606-7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main limitations of the Finding 16 result.</a:t>
            </a:r>
          </a:p>
          <a:p xmlns:a="http://schemas.openxmlformats.org/drawingml/2006/main">
            <a:r>
              <a:t/>
            </a:r>
            <a:endParaRPr/>
          </a:p>
          <a:p xmlns:a="http://schemas.openxmlformats.org/drawingml/2006/main">
            <a:r>
              <a:t>First, only two ROSMAP fine-cell KDA calls contribute to the vascular result in the female APOE epsilon-4-containing group.</a:t>
            </a:r>
          </a:p>
          <a:p xmlns:a="http://schemas.openxmlformats.org/drawingml/2006/main">
            <a:r>
              <a:t/>
            </a:r>
            <a:endParaRPr/>
          </a:p>
          <a:p xmlns:a="http://schemas.openxmlformats.org/drawingml/2006/main">
            <a:r>
              <a:t>Second, the two pathway results are driven by the same three genes: HSPH1, HSPA1A, and PTGES3. The HSF1-controlled and heat-stress results therefore provide overlapping evidence.</a:t>
            </a:r>
          </a:p>
          <a:p xmlns:a="http://schemas.openxmlformats.org/drawingml/2006/main">
            <a:r>
              <a:t/>
            </a:r>
            <a:endParaRPr/>
          </a:p>
          <a:p xmlns:a="http://schemas.openxmlformats.org/drawingml/2006/main">
            <a:r>
              <a:t>Third, SEA-AD had no vascular category available for KDA, so it could not test this result. Missing SEA-AD coverage is neutral and does not count as failed validation.</a:t>
            </a:r>
          </a:p>
          <a:p xmlns:a="http://schemas.openxmlformats.org/drawingml/2006/main">
            <a:r>
              <a:t/>
            </a:r>
            <a:endParaRPr/>
          </a:p>
          <a:p xmlns:a="http://schemas.openxmlformats.org/drawingml/2006/main">
            <a:r>
              <a:t>Together, these points make the result a low-confidence ROSMAP clue.</a:t>
            </a:r>
          </a:p>
          <a:p xmlns:a="http://schemas.openxmlformats.org/drawingml/2006/main">
            <a:r>
              <a:t/>
            </a:r>
            <a:endParaRPr/>
          </a:p>
          <a:p xmlns:a="http://schemas.openxmlformats.org/drawingml/2006/main">
            <a:r>
              <a:t>Next, I will explain why an HSF1-linked response in vascular cells may still matter biologically.</a:t>
            </a:r>
          </a:p>
          <a:p xmlns:a="http://schemas.openxmlformats.org/drawingml/2006/main">
            <a:r>
              <a:t/>
            </a:r>
          </a:p>
          <a:p xmlns:a="http://schemas.openxmlformats.org/drawingml/2006/main">
            <a:r>
              <a:t>Sources: docs/analysis/kda_w_human_validation/rosmap_sex_apoe_broad_kda_analysis.md, Finding 16; https://doi.org/10.1186/s13024-023-00624-5; https://doi.org/10.1038/s41586-024-07606-7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possible biological relevance of the pathway result.</a:t>
            </a:r>
          </a:p>
          <a:p xmlns:a="http://schemas.openxmlformats.org/drawingml/2006/main">
            <a:r>
              <a:t/>
            </a:r>
            <a:endParaRPr/>
          </a:p>
          <a:p xmlns:a="http://schemas.openxmlformats.org/drawingml/2006/main">
            <a:r>
              <a:t>Vascular cells help regulate blood flow in the brain and support blood-brain barrier function.</a:t>
            </a:r>
          </a:p>
          <a:p xmlns:a="http://schemas.openxmlformats.org/drawingml/2006/main">
            <a:r>
              <a:t/>
            </a:r>
            <a:endParaRPr/>
          </a:p>
          <a:p xmlns:a="http://schemas.openxmlformats.org/drawingml/2006/main">
            <a:r>
              <a:t>HSPH1, HSPA1A, and PTGES3 help protect proteins during cellular stress. Their expression may indicate protein damage or a general protective response in vascular cells.</a:t>
            </a:r>
          </a:p>
          <a:p xmlns:a="http://schemas.openxmlformats.org/drawingml/2006/main">
            <a:r>
              <a:t/>
            </a:r>
            <a:endParaRPr/>
          </a:p>
          <a:p xmlns:a="http://schemas.openxmlformats.org/drawingml/2006/main">
            <a:r>
              <a:t>Many stresses can activate HSF1. These include inflammation, oxidative stress, and stress caused by damaged proteins. The analysis does not identify which trigger produced this result.</a:t>
            </a:r>
          </a:p>
          <a:p xmlns:a="http://schemas.openxmlformats.org/drawingml/2006/main">
            <a:r>
              <a:t/>
            </a:r>
            <a:endParaRPr/>
          </a:p>
          <a:p xmlns:a="http://schemas.openxmlformats.org/drawingml/2006/main">
            <a:r>
              <a:t>This interpretation does not show that APOE epsilon-4 caused the response. It also does not establish causal regulation or demonstrate a functional vascular effect.</a:t>
            </a:r>
          </a:p>
          <a:p xmlns:a="http://schemas.openxmlformats.org/drawingml/2006/main">
            <a:r>
              <a:t/>
            </a:r>
            <a:endParaRPr/>
          </a:p>
          <a:p xmlns:a="http://schemas.openxmlformats.org/drawingml/2006/main">
            <a:r>
              <a:t>Next, I will compare the current finding with the supporting literature.</a:t>
            </a:r>
          </a:p>
          <a:p xmlns:a="http://schemas.openxmlformats.org/drawingml/2006/main">
            <a:r>
              <a:t/>
            </a:r>
            <a:endParaRPr/>
          </a:p>
          <a:p xmlns:a="http://schemas.openxmlformats.org/drawingml/2006/main">
            <a:r>
              <a:t>Sources: docs/analysis/kda_w_human_validation/rosmap_sex_apoe_broad_kda_analysis.md, Finding 16; https://doi.org/10.1186/s13024-023-00624-5; https://doi.org/10.1038/s41586-024-07606-7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current result and the supporting literature.</a:t>
            </a:r>
          </a:p>
          <a:p xmlns:a="http://schemas.openxmlformats.org/drawingml/2006/main">
            <a:r>
              <a:t/>
            </a:r>
            <a:endParaRPr/>
          </a:p>
          <a:p xmlns:a="http://schemas.openxmlformats.org/drawingml/2006/main">
            <a:r>
              <a:t>The current analysis produced two overlapping pathway results: genes controlled by HSF1 and cellular response to heat stress. Vascular KDA calls from female donors in the APOE epsilon-4-containing group returned HSPH1, HSPA1A, and PTGES3. These three genes contribute to both pathway results. Only two KDA calls contribute, which limits the evidence.</a:t>
            </a:r>
          </a:p>
          <a:p xmlns:a="http://schemas.openxmlformats.org/drawingml/2006/main">
            <a:r>
              <a:t/>
            </a:r>
            <a:endParaRPr/>
          </a:p>
          <a:p xmlns:a="http://schemas.openxmlformats.org/drawingml/2006/main">
            <a:r>
              <a:t>Guo and colleagues support analyzing Alzheimer’s disease networks separately by cell type and sex. Their study does not report this specific group of stress-response genes in vascular cells.</a:t>
            </a:r>
          </a:p>
          <a:p xmlns:a="http://schemas.openxmlformats.org/drawingml/2006/main">
            <a:r>
              <a:t/>
            </a:r>
            <a:endParaRPr/>
          </a:p>
          <a:p xmlns:a="http://schemas.openxmlformats.org/drawingml/2006/main">
            <a:r>
              <a:t>Mathys and colleagues show that Alzheimer’s-related gene expression differs among brain cell populations. That study uses ROSMAP and does not independently confirm this group of genes.</a:t>
            </a:r>
          </a:p>
          <a:p xmlns:a="http://schemas.openxmlformats.org/drawingml/2006/main">
            <a:r>
              <a:t/>
            </a:r>
            <a:endParaRPr/>
          </a:p>
          <a:p xmlns:a="http://schemas.openxmlformats.org/drawingml/2006/main">
            <a:r>
              <a:t>The current result has moderate provisional novelty. The available evidence does not establish an APOE epsilon-4 interaction or prove that these genes cause vascular dysfunction.</a:t>
            </a:r>
          </a:p>
          <a:p xmlns:a="http://schemas.openxmlformats.org/drawingml/2006/main">
            <a:r>
              <a:t/>
            </a:r>
            <a:endParaRPr/>
          </a:p>
          <a:p xmlns:a="http://schemas.openxmlformats.org/drawingml/2006/main">
            <a:r>
              <a:t>This concludes the detailed findings.</a:t>
            </a:r>
          </a:p>
          <a:p xmlns:a="http://schemas.openxmlformats.org/drawingml/2006/main">
            <a:r>
              <a:t/>
            </a:r>
          </a:p>
          <a:p xmlns:a="http://schemas.openxmlformats.org/drawingml/2006/main">
            <a:r>
              <a:t>Sources: docs/analysis/kda_w_human_validation/rosmap_sex_apoe_broad_kda_analysis.md, Finding 16; https://doi.org/10.1186/s13024-023-00624-5; https://doi.org/10.1038/s41586-024-07606-7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9/22/26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9/22/26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9/22/26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9/22/26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9/22/26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9/22/26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p="http://schemas.openxmlformats.org/presentationml/2006/main">
  <p:cSld>
    <p:bg>
      <p:bgPr>
        <a:solidFill xmlns:a="http://schemas.openxmlformats.org/drawingml/2006/main">
          <a:srgbClr val="11263F"/>
        </a:solidFill>
      </p:bgPr>
    </p:bg>
    <p:spTree>
      <p:nvGrpSpPr>
        <p:cNvPr id="1" name=""/>
        <p:cNvGrpSpPr/>
        <p:nvPr/>
      </p:nvGrpSpPr>
      <p:grpSpPr>
        <a:xfrm xmlns:a="http://schemas.openxmlformats.org/drawingml/2006/main"/>
      </p:grpSpPr>
      <p:sp>
        <p:nvSpPr>
          <p:cNvPr id="24" name="Part Label">
            <a:extLst xmlns:a="http://schemas.openxmlformats.org/drawingml/2006/main">
              <a:ext uri="{FF2B5EF4-FFF2-40B4-BE49-F238E27FC236}">
                <a16:creationId xmlns:a16="http://schemas.microsoft.com/office/drawing/2014/main" id="{11B01C67-2BE9-4553-A938-6B6FFEEDFDF0}"/>
              </a:ext>
            </a:extLst>
          </p:cNvPr>
          <p:cNvSpPr>
            <a:spLocks xmlns:a="http://schemas.openxmlformats.org/drawingml/2006/main" noGrp="1"/>
          </p:cNvSpPr>
          <p:nvPr/>
        </p:nvSpPr>
        <p:spPr>
          <a:xfrm xmlns:a="http://schemas.openxmlformats.org/drawingml/2006/main">
            <a:off x="714375" y="6477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0087C8"/>
                </a:solidFill>
                <a:latin typeface="Arial"/>
                <a:ea typeface="Arial"/>
                <a:cs typeface="Arial"/>
              </a:defRPr>
            </a:pPr>
            <a:r>
              <a:rPr sz="825" b="0">
                <a:solidFill>
                  <a:srgbClr val="0087C8"/>
                </a:solidFill>
                <a:latin typeface="Arial"/>
                <a:ea typeface="Arial"/>
                <a:cs typeface="Arial"/>
              </a:rPr>
              <a:t>PART 1</a:t>
            </a:r>
          </a:p>
        </p:txBody>
      </p:sp>
      <p:sp>
        <p:nvSpPr>
          <p:cNvPr id="2" name="Slide Title">
            <a:extLst xmlns:a="http://schemas.openxmlformats.org/drawingml/2006/main">
              <a:ext uri="{FF2B5EF4-FFF2-40B4-BE49-F238E27FC236}">
                <a16:creationId xmlns:a16="http://schemas.microsoft.com/office/drawing/2014/main" id="{2903A140-F0FA-4657-A65D-E6427102C17D}"/>
              </a:ext>
            </a:extLst>
          </p:cNvPr>
          <p:cNvSpPr>
            <a:spLocks xmlns:a="http://schemas.openxmlformats.org/drawingml/2006/main" noGrp="1"/>
          </p:cNvSpPr>
          <p:nvPr/>
        </p:nvSpPr>
        <p:spPr>
          <a:xfrm xmlns:a="http://schemas.openxmlformats.org/drawingml/2006/main">
            <a:off x="714375" y="12573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Overall workflow</a:t>
            </a:r>
          </a:p>
        </p:txBody>
      </p:sp>
      <p:sp>
        <p:nvSpPr>
          <p:cNvPr id="3" name="Slide Subtitle">
            <a:extLst xmlns:a="http://schemas.openxmlformats.org/drawingml/2006/main">
              <a:ext uri="{FF2B5EF4-FFF2-40B4-BE49-F238E27FC236}">
                <a16:creationId xmlns:a16="http://schemas.microsoft.com/office/drawing/2014/main" id="{28640D70-435C-4D9E-ACAC-5083B9D097B7}"/>
              </a:ext>
            </a:extLst>
          </p:cNvPr>
          <p:cNvSpPr>
            <a:spLocks xmlns:a="http://schemas.openxmlformats.org/drawingml/2006/main" noGrp="1"/>
          </p:cNvSpPr>
          <p:nvPr/>
        </p:nvSpPr>
        <p:spPr>
          <a:xfrm xmlns:a="http://schemas.openxmlformats.org/drawingml/2006/main">
            <a:off x="714375" y="20764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a:solidFill>
                  <a:srgbClr val="CED8E5"/>
                </a:solidFill>
                <a:latin typeface="Arial"/>
                <a:ea typeface="Arial"/>
                <a:cs typeface="Arial"/>
              </a:defRPr>
            </a:pPr>
            <a:r>
              <a:rPr sz="1500">
                <a:solidFill>
                  <a:srgbClr val="CED8E5"/>
                </a:solidFill>
                <a:latin typeface="Arial"/>
                <a:ea typeface="Arial"/>
                <a:cs typeface="Arial"/>
              </a:rPr>
              <a:t>From cell-level gene expression to candidate prioritization and validation</a:t>
            </a:r>
          </a:p>
        </p:txBody>
      </p:sp>
      <p:sp>
        <p:nvSpPr>
          <p:cNvPr id="4" name="Workflow Line">
            <a:extLst xmlns:a="http://schemas.openxmlformats.org/drawingml/2006/main">
              <a:ext uri="{FF2B5EF4-FFF2-40B4-BE49-F238E27FC236}">
                <a16:creationId xmlns:a16="http://schemas.microsoft.com/office/drawing/2014/main" id="{3E34F6CA-8AA5-47C5-AE0A-4D5AEBB22612}"/>
              </a:ext>
            </a:extLst>
          </p:cNvPr>
          <p:cNvSpPr>
            <a:spLocks xmlns:a="http://schemas.openxmlformats.org/drawingml/2006/main" noGrp="1"/>
          </p:cNvSpPr>
          <p:nvPr/>
        </p:nvSpPr>
        <p:spPr>
          <a:xfrm xmlns:a="http://schemas.openxmlformats.org/drawingml/2006/main">
            <a:off x="1095375" y="3228975"/>
            <a:ext cx="10001250" cy="28575"/>
          </a:xfrm>
          <a:prstGeom xmlns:a="http://schemas.openxmlformats.org/drawingml/2006/main" prst="rect">
            <a:avLst/>
          </a:prstGeom>
          <a:solidFill xmlns:a="http://schemas.openxmlformats.org/drawingml/2006/main">
            <a:srgbClr val="72869C"/>
          </a:solidFill>
          <a:ln xmlns:a="http://schemas.openxmlformats.org/drawingml/2006/main" w="0">
            <a:noFill/>
          </a:ln>
        </p:spPr>
      </p:sp>
      <p:sp>
        <p:nvSpPr>
          <p:cNvPr id="5" name="Workflow Step 1">
            <a:extLst xmlns:a="http://schemas.openxmlformats.org/drawingml/2006/main">
              <a:ext uri="{FF2B5EF4-FFF2-40B4-BE49-F238E27FC236}">
                <a16:creationId xmlns:a16="http://schemas.microsoft.com/office/drawing/2014/main" id="{396F4314-1CD2-4672-AAC0-A3D7FB884167}"/>
              </a:ext>
            </a:extLst>
          </p:cNvPr>
          <p:cNvSpPr>
            <a:spLocks xmlns:a="http://schemas.openxmlformats.org/drawingml/2006/main" noGrp="1"/>
          </p:cNvSpPr>
          <p:nvPr/>
        </p:nvSpPr>
        <p:spPr>
          <a:xfrm xmlns:a="http://schemas.openxmlformats.org/drawingml/2006/main">
            <a:off x="866775" y="3009900"/>
            <a:ext cx="457200" cy="457200"/>
          </a:xfrm>
          <a:prstGeom xmlns:a="http://schemas.openxmlformats.org/drawingml/2006/main" prst="ellipse">
            <a:avLst/>
          </a:prstGeom>
          <a:solidFill xmlns:a="http://schemas.openxmlformats.org/drawingml/2006/main">
            <a:srgbClr val="0087C8"/>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6" name="Workflow Step 1 Title">
            <a:extLst xmlns:a="http://schemas.openxmlformats.org/drawingml/2006/main">
              <a:ext uri="{FF2B5EF4-FFF2-40B4-BE49-F238E27FC236}">
                <a16:creationId xmlns:a16="http://schemas.microsoft.com/office/drawing/2014/main" id="{45BA1EA2-ECE6-4A3E-939A-79EAF98EC470}"/>
              </a:ext>
            </a:extLst>
          </p:cNvPr>
          <p:cNvSpPr>
            <a:spLocks xmlns:a="http://schemas.openxmlformats.org/drawingml/2006/main" noGrp="1"/>
          </p:cNvSpPr>
          <p:nvPr/>
        </p:nvSpPr>
        <p:spPr>
          <a:xfrm xmlns:a="http://schemas.openxmlformats.org/drawingml/2006/main">
            <a:off x="14287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7" name="Workflow Step 1 Description">
            <a:extLst xmlns:a="http://schemas.openxmlformats.org/drawingml/2006/main">
              <a:ext uri="{FF2B5EF4-FFF2-40B4-BE49-F238E27FC236}">
                <a16:creationId xmlns:a16="http://schemas.microsoft.com/office/drawing/2014/main" id="{05C52D86-D7B5-406D-8868-0EA8586074D1}"/>
              </a:ext>
            </a:extLst>
          </p:cNvPr>
          <p:cNvSpPr>
            <a:spLocks xmlns:a="http://schemas.openxmlformats.org/drawingml/2006/main" noGrp="1"/>
          </p:cNvSpPr>
          <p:nvPr/>
        </p:nvSpPr>
        <p:spPr>
          <a:xfrm xmlns:a="http://schemas.openxmlformats.org/drawingml/2006/main">
            <a:off x="18097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CED8E5"/>
                </a:solidFill>
                <a:latin typeface="Arial"/>
                <a:ea typeface="Arial"/>
                <a:cs typeface="Arial"/>
              </a:defRPr>
            </a:pPr>
            <a:r>
              <a:rPr sz="1050">
                <a:solidFill>
                  <a:srgbClr val="CED8E5"/>
                </a:solidFill>
                <a:latin typeface="Arial"/>
                <a:ea typeface="Arial"/>
                <a:cs typeface="Arial"/>
              </a:rPr>
              <a:t>Identify genes with higher or lower RNA abundance in AD.</a:t>
            </a:r>
          </a:p>
        </p:txBody>
      </p:sp>
      <p:sp>
        <p:nvSpPr>
          <p:cNvPr id="8" name="Workflow Step 2">
            <a:extLst xmlns:a="http://schemas.openxmlformats.org/drawingml/2006/main">
              <a:ext uri="{FF2B5EF4-FFF2-40B4-BE49-F238E27FC236}">
                <a16:creationId xmlns:a16="http://schemas.microsoft.com/office/drawing/2014/main" id="{97C16EB0-2DF6-4CFF-9BB0-A0141C67493D}"/>
              </a:ext>
            </a:extLst>
          </p:cNvPr>
          <p:cNvSpPr>
            <a:spLocks xmlns:a="http://schemas.openxmlformats.org/drawingml/2006/main" noGrp="1"/>
          </p:cNvSpPr>
          <p:nvPr/>
        </p:nvSpPr>
        <p:spPr>
          <a:xfrm xmlns:a="http://schemas.openxmlformats.org/drawingml/2006/main">
            <a:off x="2867025" y="3009900"/>
            <a:ext cx="457200" cy="457200"/>
          </a:xfrm>
          <a:prstGeom xmlns:a="http://schemas.openxmlformats.org/drawingml/2006/main" prst="ellipse">
            <a:avLst/>
          </a:prstGeom>
          <a:solidFill xmlns:a="http://schemas.openxmlformats.org/drawingml/2006/main">
            <a:srgbClr val="55B5E3"/>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9" name="Workflow Step 2 Title">
            <a:extLst xmlns:a="http://schemas.openxmlformats.org/drawingml/2006/main">
              <a:ext uri="{FF2B5EF4-FFF2-40B4-BE49-F238E27FC236}">
                <a16:creationId xmlns:a16="http://schemas.microsoft.com/office/drawing/2014/main" id="{9438841E-A247-4C27-8AB3-C09E01F4999C}"/>
              </a:ext>
            </a:extLst>
          </p:cNvPr>
          <p:cNvSpPr>
            <a:spLocks xmlns:a="http://schemas.openxmlformats.org/drawingml/2006/main" noGrp="1"/>
          </p:cNvSpPr>
          <p:nvPr/>
        </p:nvSpPr>
        <p:spPr>
          <a:xfrm xmlns:a="http://schemas.openxmlformats.org/drawingml/2006/main">
            <a:off x="214312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0" name="Workflow Step 2 Description">
            <a:extLst xmlns:a="http://schemas.openxmlformats.org/drawingml/2006/main">
              <a:ext uri="{FF2B5EF4-FFF2-40B4-BE49-F238E27FC236}">
                <a16:creationId xmlns:a16="http://schemas.microsoft.com/office/drawing/2014/main" id="{E240C161-BCB7-4707-981F-40BC0FA81B46}"/>
              </a:ext>
            </a:extLst>
          </p:cNvPr>
          <p:cNvSpPr>
            <a:spLocks xmlns:a="http://schemas.openxmlformats.org/drawingml/2006/main" noGrp="1"/>
          </p:cNvSpPr>
          <p:nvPr/>
        </p:nvSpPr>
        <p:spPr>
          <a:xfrm xmlns:a="http://schemas.openxmlformats.org/drawingml/2006/main">
            <a:off x="218122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CED8E5"/>
                </a:solidFill>
                <a:latin typeface="Arial"/>
                <a:ea typeface="Arial"/>
                <a:cs typeface="Arial"/>
              </a:defRPr>
            </a:pPr>
            <a:r>
              <a:rPr sz="1050">
                <a:solidFill>
                  <a:srgbClr val="CED8E5"/>
                </a:solidFill>
                <a:latin typeface="Arial"/>
                <a:ea typeface="Arial"/>
                <a:cs typeface="Arial"/>
              </a:rPr>
              <a:t>Summarize mitochondrial processes represented among the DEGs.</a:t>
            </a:r>
          </a:p>
        </p:txBody>
      </p:sp>
      <p:sp>
        <p:nvSpPr>
          <p:cNvPr id="11" name="Workflow Step 3">
            <a:extLst xmlns:a="http://schemas.openxmlformats.org/drawingml/2006/main">
              <a:ext uri="{FF2B5EF4-FFF2-40B4-BE49-F238E27FC236}">
                <a16:creationId xmlns:a16="http://schemas.microsoft.com/office/drawing/2014/main" id="{EDE93D8E-D62F-47FE-9665-437A7945CD93}"/>
              </a:ext>
            </a:extLst>
          </p:cNvPr>
          <p:cNvSpPr>
            <a:spLocks xmlns:a="http://schemas.openxmlformats.org/drawingml/2006/main" noGrp="1"/>
          </p:cNvSpPr>
          <p:nvPr/>
        </p:nvSpPr>
        <p:spPr>
          <a:xfrm xmlns:a="http://schemas.openxmlformats.org/drawingml/2006/main">
            <a:off x="4867275" y="3009900"/>
            <a:ext cx="457200" cy="457200"/>
          </a:xfrm>
          <a:prstGeom xmlns:a="http://schemas.openxmlformats.org/drawingml/2006/main" prst="ellipse">
            <a:avLst/>
          </a:prstGeom>
          <a:solidFill xmlns:a="http://schemas.openxmlformats.org/drawingml/2006/main">
            <a:srgbClr val="00A87E"/>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2" name="Workflow Step 3 Title">
            <a:extLst xmlns:a="http://schemas.openxmlformats.org/drawingml/2006/main">
              <a:ext uri="{FF2B5EF4-FFF2-40B4-BE49-F238E27FC236}">
                <a16:creationId xmlns:a16="http://schemas.microsoft.com/office/drawing/2014/main" id="{05489A92-F28C-49A3-93D8-18DD21C6038E}"/>
              </a:ext>
            </a:extLst>
          </p:cNvPr>
          <p:cNvSpPr>
            <a:spLocks xmlns:a="http://schemas.openxmlformats.org/drawingml/2006/main" noGrp="1"/>
          </p:cNvSpPr>
          <p:nvPr/>
        </p:nvSpPr>
        <p:spPr>
          <a:xfrm xmlns:a="http://schemas.openxmlformats.org/drawingml/2006/main">
            <a:off x="414337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(KDA)</a:t>
            </a:r>
          </a:p>
        </p:txBody>
      </p:sp>
      <p:sp>
        <p:nvSpPr>
          <p:cNvPr id="13" name="Workflow Step 3 Description">
            <a:extLst xmlns:a="http://schemas.openxmlformats.org/drawingml/2006/main">
              <a:ext uri="{FF2B5EF4-FFF2-40B4-BE49-F238E27FC236}">
                <a16:creationId xmlns:a16="http://schemas.microsoft.com/office/drawing/2014/main" id="{84E3013A-644D-468E-B714-31EA5CFBBF5E}"/>
              </a:ext>
            </a:extLst>
          </p:cNvPr>
          <p:cNvSpPr>
            <a:spLocks xmlns:a="http://schemas.openxmlformats.org/drawingml/2006/main" noGrp="1"/>
          </p:cNvSpPr>
          <p:nvPr/>
        </p:nvSpPr>
        <p:spPr>
          <a:xfrm xmlns:a="http://schemas.openxmlformats.org/drawingml/2006/main">
            <a:off x="418147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CED8E5"/>
                </a:solidFill>
                <a:latin typeface="Arial"/>
                <a:ea typeface="Arial"/>
                <a:cs typeface="Arial"/>
              </a:defRPr>
            </a:pPr>
            <a:r>
              <a:rPr sz="1050">
                <a:solidFill>
                  <a:srgbClr val="CED8E5"/>
                </a:solidFill>
                <a:latin typeface="Arial"/>
                <a:ea typeface="Arial"/>
                <a:cs typeface="Arial"/>
              </a:rPr>
              <a:t>Use gene networks to nominate genes connected to MitoCarta MT DEGs.</a:t>
            </a:r>
          </a:p>
        </p:txBody>
      </p:sp>
      <p:sp>
        <p:nvSpPr>
          <p:cNvPr id="14" name="Workflow Step 4">
            <a:extLst xmlns:a="http://schemas.openxmlformats.org/drawingml/2006/main">
              <a:ext uri="{FF2B5EF4-FFF2-40B4-BE49-F238E27FC236}">
                <a16:creationId xmlns:a16="http://schemas.microsoft.com/office/drawing/2014/main" id="{865DFC26-E58B-43CD-9304-5559645744FA}"/>
              </a:ext>
            </a:extLst>
          </p:cNvPr>
          <p:cNvSpPr>
            <a:spLocks xmlns:a="http://schemas.openxmlformats.org/drawingml/2006/main" noGrp="1"/>
          </p:cNvSpPr>
          <p:nvPr/>
        </p:nvSpPr>
        <p:spPr>
          <a:xfrm xmlns:a="http://schemas.openxmlformats.org/drawingml/2006/main">
            <a:off x="6867525" y="3009900"/>
            <a:ext cx="457200" cy="457200"/>
          </a:xfrm>
          <a:prstGeom xmlns:a="http://schemas.openxmlformats.org/drawingml/2006/main" prst="ellipse">
            <a:avLst/>
          </a:prstGeom>
          <a:solidFill xmlns:a="http://schemas.openxmlformats.org/drawingml/2006/main">
            <a:srgbClr val="7D4FA1"/>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5" name="Workflow Step 4 Title">
            <a:extLst xmlns:a="http://schemas.openxmlformats.org/drawingml/2006/main">
              <a:ext uri="{FF2B5EF4-FFF2-40B4-BE49-F238E27FC236}">
                <a16:creationId xmlns:a16="http://schemas.microsoft.com/office/drawing/2014/main" id="{C9DCB836-B4E6-4791-A768-4E9185A20C92}"/>
              </a:ext>
            </a:extLst>
          </p:cNvPr>
          <p:cNvSpPr>
            <a:spLocks xmlns:a="http://schemas.openxmlformats.org/drawingml/2006/main" noGrp="1"/>
          </p:cNvSpPr>
          <p:nvPr/>
        </p:nvSpPr>
        <p:spPr>
          <a:xfrm xmlns:a="http://schemas.openxmlformats.org/drawingml/2006/main">
            <a:off x="614362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Genetic support</a:t>
            </a:r>
          </a:p>
        </p:txBody>
      </p:sp>
      <p:sp>
        <p:nvSpPr>
          <p:cNvPr id="16" name="Workflow Step 4 Description">
            <a:extLst xmlns:a="http://schemas.openxmlformats.org/drawingml/2006/main">
              <a:ext uri="{FF2B5EF4-FFF2-40B4-BE49-F238E27FC236}">
                <a16:creationId xmlns:a16="http://schemas.microsoft.com/office/drawing/2014/main" id="{C43A0ADA-5BBB-49BB-8BCF-A5050AB55EA8}"/>
              </a:ext>
            </a:extLst>
          </p:cNvPr>
          <p:cNvSpPr>
            <a:spLocks xmlns:a="http://schemas.openxmlformats.org/drawingml/2006/main" noGrp="1"/>
          </p:cNvSpPr>
          <p:nvPr/>
        </p:nvSpPr>
        <p:spPr>
          <a:xfrm xmlns:a="http://schemas.openxmlformats.org/drawingml/2006/main">
            <a:off x="618172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CED8E5"/>
                </a:solidFill>
                <a:latin typeface="Arial"/>
                <a:ea typeface="Arial"/>
                <a:cs typeface="Arial"/>
              </a:defRPr>
            </a:pPr>
            <a:r>
              <a:rPr sz="1050">
                <a:solidFill>
                  <a:srgbClr val="CED8E5"/>
                </a:solidFill>
                <a:latin typeface="Arial"/>
                <a:ea typeface="Arial"/>
                <a:cs typeface="Arial"/>
              </a:rPr>
              <a:t>Evaluate candidate genes using Alzheimer’s genetic-association and gene-regulation evidence.</a:t>
            </a:r>
          </a:p>
        </p:txBody>
      </p:sp>
      <p:sp>
        <p:nvSpPr>
          <p:cNvPr id="17" name="Workflow Step 5">
            <a:extLst xmlns:a="http://schemas.openxmlformats.org/drawingml/2006/main">
              <a:ext uri="{FF2B5EF4-FFF2-40B4-BE49-F238E27FC236}">
                <a16:creationId xmlns:a16="http://schemas.microsoft.com/office/drawing/2014/main" id="{07F03F7B-DCD5-46A3-B1C0-A67DDB0968BC}"/>
              </a:ext>
            </a:extLst>
          </p:cNvPr>
          <p:cNvSpPr>
            <a:spLocks xmlns:a="http://schemas.openxmlformats.org/drawingml/2006/main" noGrp="1"/>
          </p:cNvSpPr>
          <p:nvPr/>
        </p:nvSpPr>
        <p:spPr>
          <a:xfrm xmlns:a="http://schemas.openxmlformats.org/drawingml/2006/main">
            <a:off x="8867775" y="3009900"/>
            <a:ext cx="457200" cy="457200"/>
          </a:xfrm>
          <a:prstGeom xmlns:a="http://schemas.openxmlformats.org/drawingml/2006/main" prst="ellipse">
            <a:avLst/>
          </a:prstGeom>
          <a:solidFill xmlns:a="http://schemas.openxmlformats.org/drawingml/2006/main">
            <a:srgbClr val="F5B000"/>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8" name="Workflow Step 5 Title">
            <a:extLst xmlns:a="http://schemas.openxmlformats.org/drawingml/2006/main">
              <a:ext uri="{FF2B5EF4-FFF2-40B4-BE49-F238E27FC236}">
                <a16:creationId xmlns:a16="http://schemas.microsoft.com/office/drawing/2014/main" id="{9E2FD706-B153-4C71-8A05-9DCC1373B00D}"/>
              </a:ext>
            </a:extLst>
          </p:cNvPr>
          <p:cNvSpPr>
            <a:spLocks xmlns:a="http://schemas.openxmlformats.org/drawingml/2006/main" noGrp="1"/>
          </p:cNvSpPr>
          <p:nvPr/>
        </p:nvSpPr>
        <p:spPr>
          <a:xfrm xmlns:a="http://schemas.openxmlformats.org/drawingml/2006/main">
            <a:off x="814387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19" name="Workflow Step 5 Description">
            <a:extLst xmlns:a="http://schemas.openxmlformats.org/drawingml/2006/main">
              <a:ext uri="{FF2B5EF4-FFF2-40B4-BE49-F238E27FC236}">
                <a16:creationId xmlns:a16="http://schemas.microsoft.com/office/drawing/2014/main" id="{0FE57129-74A7-44F4-9DE6-EAC7783C2163}"/>
              </a:ext>
            </a:extLst>
          </p:cNvPr>
          <p:cNvSpPr>
            <a:spLocks xmlns:a="http://schemas.openxmlformats.org/drawingml/2006/main" noGrp="1"/>
          </p:cNvSpPr>
          <p:nvPr/>
        </p:nvSpPr>
        <p:spPr>
          <a:xfrm xmlns:a="http://schemas.openxmlformats.org/drawingml/2006/main">
            <a:off x="818197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CED8E5"/>
                </a:solidFill>
                <a:latin typeface="Arial"/>
                <a:ea typeface="Arial"/>
                <a:cs typeface="Arial"/>
              </a:defRPr>
            </a:pPr>
            <a:r>
              <a:rPr sz="1050">
                <a:solidFill>
                  <a:srgbClr val="CED8E5"/>
                </a:solidFill>
                <a:latin typeface="Arial"/>
                <a:ea typeface="Arial"/>
                <a:cs typeface="Arial"/>
              </a:rPr>
              <a:t>Compare ROSMAP findings with SEA-AD and direct broad-cell analyses.</a:t>
            </a:r>
          </a:p>
        </p:txBody>
      </p:sp>
      <p:sp>
        <p:nvSpPr>
          <p:cNvPr id="20" name="Workflow Step 6">
            <a:extLst xmlns:a="http://schemas.openxmlformats.org/drawingml/2006/main">
              <a:ext uri="{FF2B5EF4-FFF2-40B4-BE49-F238E27FC236}">
                <a16:creationId xmlns:a16="http://schemas.microsoft.com/office/drawing/2014/main" id="{2123FA3E-4AB9-4098-9D53-E1D18C644D83}"/>
              </a:ext>
            </a:extLst>
          </p:cNvPr>
          <p:cNvSpPr>
            <a:spLocks xmlns:a="http://schemas.openxmlformats.org/drawingml/2006/main" noGrp="1"/>
          </p:cNvSpPr>
          <p:nvPr/>
        </p:nvSpPr>
        <p:spPr>
          <a:xfrm xmlns:a="http://schemas.openxmlformats.org/drawingml/2006/main">
            <a:off x="10868025" y="3009900"/>
            <a:ext cx="457200" cy="457200"/>
          </a:xfrm>
          <a:prstGeom xmlns:a="http://schemas.openxmlformats.org/drawingml/2006/main" prst="ellipse">
            <a:avLst/>
          </a:prstGeom>
          <a:solidFill xmlns:a="http://schemas.openxmlformats.org/drawingml/2006/main">
            <a:srgbClr val="11263F"/>
          </a:solidFill>
          <a:ln xmlns:a="http://schemas.openxmlformats.org/drawingml/2006/main" w="23813">
            <a:solidFill>
              <a:srgbClr val="F9730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1" name="Workflow Step 6 Title">
            <a:extLst xmlns:a="http://schemas.openxmlformats.org/drawingml/2006/main">
              <a:ext uri="{FF2B5EF4-FFF2-40B4-BE49-F238E27FC236}">
                <a16:creationId xmlns:a16="http://schemas.microsoft.com/office/drawing/2014/main" id="{EC5D5AEF-3571-4836-A73A-4279C1D9E2D9}"/>
              </a:ext>
            </a:extLst>
          </p:cNvPr>
          <p:cNvSpPr>
            <a:spLocks xmlns:a="http://schemas.openxmlformats.org/drawingml/2006/main" noGrp="1"/>
          </p:cNvSpPr>
          <p:nvPr/>
        </p:nvSpPr>
        <p:spPr>
          <a:xfrm xmlns:a="http://schemas.openxmlformats.org/drawingml/2006/main">
            <a:off x="10144125" y="3819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2" name="Workflow Step 6 Description">
            <a:extLst xmlns:a="http://schemas.openxmlformats.org/drawingml/2006/main">
              <a:ext uri="{FF2B5EF4-FFF2-40B4-BE49-F238E27FC236}">
                <a16:creationId xmlns:a16="http://schemas.microsoft.com/office/drawing/2014/main" id="{F32735DC-C925-4BB6-ACC9-1921D82CFBBC}"/>
              </a:ext>
            </a:extLst>
          </p:cNvPr>
          <p:cNvSpPr>
            <a:spLocks xmlns:a="http://schemas.openxmlformats.org/drawingml/2006/main" noGrp="1"/>
          </p:cNvSpPr>
          <p:nvPr/>
        </p:nvSpPr>
        <p:spPr>
          <a:xfrm xmlns:a="http://schemas.openxmlformats.org/drawingml/2006/main">
            <a:off x="10182225" y="4324350"/>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CED8E5"/>
                </a:solidFill>
                <a:latin typeface="Arial"/>
                <a:ea typeface="Arial"/>
                <a:cs typeface="Arial"/>
              </a:defRPr>
            </a:pPr>
            <a:r>
              <a:rPr sz="1050">
                <a:solidFill>
                  <a:srgbClr val="CED8E5"/>
                </a:solidFill>
                <a:latin typeface="Arial"/>
                <a:ea typeface="Arial"/>
                <a:cs typeface="Arial"/>
              </a:rPr>
              <a:t>Test selected candidates and mitochondrial function in targeted models.</a:t>
            </a:r>
          </a:p>
        </p:txBody>
      </p:sp>
      <p:sp>
        <p:nvSpPr>
          <p:cNvPr id="23" name="Potential Next Step Label">
            <a:extLst xmlns:a="http://schemas.openxmlformats.org/drawingml/2006/main">
              <a:ext uri="{FF2B5EF4-FFF2-40B4-BE49-F238E27FC236}">
                <a16:creationId xmlns:a16="http://schemas.microsoft.com/office/drawing/2014/main" id="{39DEC7EF-338B-40E8-A081-3188704906B1}"/>
              </a:ext>
            </a:extLst>
          </p:cNvPr>
          <p:cNvSpPr>
            <a:spLocks xmlns:a="http://schemas.openxmlformats.org/drawingml/2006/main" noGrp="1"/>
          </p:cNvSpPr>
          <p:nvPr/>
        </p:nvSpPr>
        <p:spPr>
          <a:xfrm xmlns:a="http://schemas.openxmlformats.org/drawingml/2006/main">
            <a:off x="10096500" y="2676525"/>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97300"/>
                </a:solidFill>
                <a:latin typeface="Arial"/>
                <a:ea typeface="Arial"/>
                <a:cs typeface="Arial"/>
              </a:defRPr>
            </a:pPr>
            <a:r>
              <a:rPr sz="900" b="1">
                <a:solidFill>
                  <a:srgbClr val="F97300"/>
                </a:solidFill>
                <a:latin typeface="Arial"/>
                <a:ea typeface="Arial"/>
                <a:cs typeface="Arial"/>
              </a:rPr>
              <a:t>POTENTIAL NEXT STEP</a:t>
            </a:r>
          </a:p>
        </p:txBody>
      </p:sp>
    </p:spTree>
    <p:extLst>
      <p:ext uri="{BB962C8B-B14F-4D97-AF65-F5344CB8AC3E}">
        <p14:creationId xmlns:p14="http://schemas.microsoft.com/office/powerpoint/2010/main" val="1292825027"/>
      </p:ext>
    </p:extLst>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ES and NES calculation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tested MitoCarta MT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313356"/>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dirty="0">
                <a:solidFill>
                  <a:srgbClr val="0072B2"/>
                </a:solidFill>
                <a:latin typeface="Arial"/>
                <a:ea typeface="Arial"/>
                <a:cs typeface="Arial"/>
              </a:rPr>
              <a:t>AD-up to AD-down</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AD-up to strongest AD-down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3931258"/>
            <a:ext cx="1901952" cy="924869"/>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dirty="0">
                <a:solidFill>
                  <a:srgbClr val="4E5A68"/>
                </a:solidFill>
                <a:latin typeface="Arial"/>
                <a:ea typeface="Arial"/>
                <a:cs typeface="Arial"/>
              </a:rPr>
              <a:t>Ask whether pathway genes concentrate toward one end of the ranked list</a:t>
            </a:r>
            <a:r>
              <a:rPr lang="en-US" sz="1130" b="0" i="0" dirty="0">
                <a:solidFill>
                  <a:srgbClr val="4E5A68"/>
                </a:solidFill>
                <a:latin typeface="Arial"/>
                <a:ea typeface="Arial"/>
                <a:cs typeface="Arial"/>
              </a:rPr>
              <a:t> using normalized enrichment score (NES)</a:t>
            </a:r>
            <a:endParaRPr sz="1130" b="0" i="0" dirty="0">
              <a:solidFill>
                <a:srgbClr val="4E5A68"/>
              </a:solidFill>
              <a:latin typeface="Arial"/>
              <a:ea typeface="Arial"/>
              <a:cs typeface="Arial"/>
            </a:endParaRPr>
          </a:p>
        </p:txBody>
      </p:sp>
    </p:spTree>
    <p:extLst>
      <p:ext uri="{BB962C8B-B14F-4D97-AF65-F5344CB8AC3E}">
        <p14:creationId xmlns:p14="http://schemas.microsoft.com/office/powerpoint/2010/main" val="24950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R</a:t>
            </a:r>
            <a:r>
              <a:rPr sz="2200" b="1" i="0" dirty="0">
                <a:solidFill>
                  <a:srgbClr val="0F233D"/>
                </a:solidFill>
                <a:latin typeface="Arial"/>
                <a:ea typeface="Arial"/>
                <a:cs typeface="Arial"/>
              </a:rPr>
              <a:t>ank score for direct broad-cell GSEA</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146818"/>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Every tested </a:t>
            </a:r>
            <a:r>
              <a:rPr sz="1400" b="1" i="0" dirty="0" err="1">
                <a:latin typeface="Arial"/>
                <a:ea typeface="Arial"/>
                <a:cs typeface="Arial"/>
              </a:rPr>
              <a:t>MitoCarta</a:t>
            </a:r>
            <a:r>
              <a:rPr sz="1400" b="1" i="0" dirty="0">
                <a:latin typeface="Arial"/>
                <a:ea typeface="Arial"/>
                <a:cs typeface="Arial"/>
              </a:rPr>
              <a:t> MT gene receives a signed score before pathway testing.</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STUDY RANKING RULE</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rank score = </a:t>
            </a:r>
            <a:endParaRPr lang="en-US" sz="1900" b="1" i="0" dirty="0">
              <a:solidFill>
                <a:srgbClr val="0F233D"/>
              </a:solidFill>
              <a:latin typeface="Arial"/>
              <a:ea typeface="Arial"/>
              <a:cs typeface="Arial"/>
            </a:endParaRPr>
          </a:p>
          <a:p>
            <a:pPr algn="ctr">
              <a:lnSpc>
                <a:spcPct val="100000"/>
              </a:lnSpc>
              <a:spcBef>
                <a:spcPts val="0"/>
              </a:spcBef>
              <a:spcAft>
                <a:spcPts val="0"/>
              </a:spcAft>
              <a:buNone/>
            </a:pPr>
            <a:r>
              <a:rPr sz="1900" b="1" i="0" dirty="0">
                <a:solidFill>
                  <a:srgbClr val="0F233D"/>
                </a:solidFill>
                <a:latin typeface="Arial"/>
                <a:ea typeface="Arial"/>
                <a:cs typeface="Arial"/>
              </a:rPr>
              <a:t>sign(</a:t>
            </a:r>
            <a:r>
              <a:rPr sz="1900" b="1" i="0" dirty="0" err="1">
                <a:solidFill>
                  <a:srgbClr val="0F233D"/>
                </a:solidFill>
                <a:latin typeface="Arial"/>
                <a:ea typeface="Arial"/>
                <a:cs typeface="Arial"/>
              </a:rPr>
              <a:t>logFC</a:t>
            </a:r>
            <a:r>
              <a:rPr sz="1900" b="1" i="0" dirty="0">
                <a:solidFill>
                  <a:srgbClr val="0F233D"/>
                </a:solidFill>
                <a:latin typeface="Arial"/>
                <a:ea typeface="Arial"/>
                <a:cs typeface="Arial"/>
              </a:rPr>
              <a:t>) × √F</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logFC</a:t>
            </a:r>
            <a:r>
              <a:rPr sz="1220" b="0" i="0" dirty="0">
                <a:solidFill>
                  <a:srgbClr val="1F2730"/>
                </a:solidFill>
                <a:latin typeface="Arial"/>
                <a:ea typeface="Arial"/>
                <a:cs typeface="Arial"/>
              </a:rPr>
              <a:t> is AD versus NCI. Its sign sets the direction. √F sets the score magnitude.</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WHY USE √F?</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 measures statistical evidence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 comes from the edgeR quasi-likelihood test. For this one-degree-of-freedom contrast, √F gives a t-like scale and preserves the ordering set by F.</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NOT logFC ALONE?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Large estimates can be noisy</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Gene A: logFC +2.0, F = 0.25, score +0.5. Gene B: logFC +0.5, F = 16, score +4.0. Stronger statistical support places Gene B higher.</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study's ranking rule for targeted MitoCarta GSEA. GSEA does not require one universal ranking formula.</a:t>
            </a:r>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Standard weighted GSEA enrichment score for pathway</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ES indicates where one pathway's genes concentrate in the ranked gene list.</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LARGE POSITIVE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Pathway genes cluster near the AD-up end</a:t>
            </a:r>
            <a:endParaRPr lang="en-US" sz="1900" b="1" i="0" dirty="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A larger positive value means stronger concentration near the top of the ranked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ES NEAR ZERO</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clear concentration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are spread through the ranked list instead of accumulating at either end.</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LARGE NEGATIVE 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Pathway genes cluster near the AD-down end</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A more negative value means stronger concentration near the bottom of the ranked list.</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standard weighted GSEA ES. The sign gives direction. Values farther from zero mean stronger concentration, not statistical significance.</a:t>
            </a:r>
          </a:p>
        </p:txBody>
      </p:sp>
    </p:spTree>
    <p:extLst>
      <p:ext uri="{BB962C8B-B14F-4D97-AF65-F5344CB8AC3E}">
        <p14:creationId xmlns:p14="http://schemas.microsoft.com/office/powerpoint/2010/main" val="1262158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How NES differs from ES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NES rescales the raw ES against random gene sets of the same size.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RAW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Observed pathway concentration</a:t>
            </a:r>
            <a:endParaRPr lang="en-US" sz="1900" b="1" i="0" dirty="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ES shows where the pathway genes cluster. Its sign gives the AD-up or AD-down direction.</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NORMALIZATION</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Compare with same-size random gene sets</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Calculate ES for random gene sets with the same number of genes. Use random ES values in the same direction.</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Normalized enrichment strength</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Divide the observed ES by the expected same-direction ES magnitude. NES keeps the ES sign and supports comparisons across pathways.</a:t>
            </a:r>
          </a:p>
        </p:txBody>
      </p:sp>
    </p:spTree>
    <p:extLst>
      <p:ext uri="{BB962C8B-B14F-4D97-AF65-F5344CB8AC3E}">
        <p14:creationId xmlns:p14="http://schemas.microsoft.com/office/powerpoint/2010/main" val="1262158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7</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1 Title">
            <a:extLst>
              <a:ext uri="{FF2B5EF4-FFF2-40B4-BE49-F238E27FC236}">
                <a16:creationId xmlns:a16="http://schemas.microsoft.com/office/drawing/2014/main" id="{455B0754-10CC-4FCA-B423-957F3E1D7B26}"/>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How the remaining findings are organized</a:t>
            </a:r>
          </a:p>
        </p:txBody>
      </p:sp>
      <p:sp>
        <p:nvSpPr>
          <p:cNvPr id="2" name="Summary 1 Subtitle">
            <a:extLst>
              <a:ext uri="{FF2B5EF4-FFF2-40B4-BE49-F238E27FC236}">
                <a16:creationId xmlns:a16="http://schemas.microsoft.com/office/drawing/2014/main" id="{9F83F01E-3776-4961-8E25-29DF789CAED3}"/>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 findings separate into DEG and pathway results and results from KDA calls.</a:t>
            </a:r>
          </a:p>
        </p:txBody>
      </p:sp>
      <p:sp>
        <p:nvSpPr>
          <p:cNvPr id="4" name="Summary 1 Footer">
            <a:extLst>
              <a:ext uri="{FF2B5EF4-FFF2-40B4-BE49-F238E27FC236}">
                <a16:creationId xmlns:a16="http://schemas.microsoft.com/office/drawing/2014/main" id="{3CBE8935-57B3-49B1-B12C-072BC69EBC22}"/>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15 findings are tied to one or more sex/APOE groups. Findings 7 and 10 are not sex/APOE-specific and receive lower priority in the sex/APOE narrative.</a:t>
            </a:r>
          </a:p>
        </p:txBody>
      </p:sp>
      <p:graphicFrame>
        <p:nvGraphicFramePr>
          <p:cNvPr id="10" name="Summary 1 Table"/>
          <p:cNvGraphicFramePr/>
          <p:nvPr/>
        </p:nvGraphicFramePr>
        <p:xfrm>
          <a:off x="666750" y="1524000"/>
          <a:ext cx="10858500" cy="409575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495300">
                <a:tc>
                  <a:txBody>
                    <a:bodyPr/>
                    <a:lstStyle/>
                    <a:p>
                      <a:pPr algn="l"/>
                      <a:r>
                        <a:rPr sz="1125" b="1">
                          <a:solidFill>
                            <a:srgbClr val="FFFFFF"/>
                          </a:solidFill>
                          <a:latin typeface="Arial"/>
                          <a:ea typeface="Arial"/>
                          <a:cs typeface="Arial"/>
                        </a:rPr>
                        <a:t>Category</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Findings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Main question</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Role in the story</a:t>
                      </a:r>
                    </a:p>
                  </a:txBody>
                  <a:tcPr marL="95250" marR="95250" marT="66675" marB="66675" anchor="ctr">
                    <a:solidFill>
                      <a:srgbClr val="11263F"/>
                    </a:solidFill>
                  </a:tcPr>
                </a:tc>
                <a:extLst>
                  <a:ext uri="{0D108BD9-81ED-4DB2-BD59-A6C34878D82A}">
                    <a16:rowId xmlns:a16="http://schemas.microsoft.com/office/drawing/2014/main" val="10000"/>
                  </a:ext>
                </a:extLst>
              </a:tr>
              <a:tr h="1800225">
                <a:tc>
                  <a:txBody>
                    <a:bodyPr/>
                    <a:lstStyle/>
                    <a:p>
                      <a:pPr algn="l"/>
                      <a:r>
                        <a:rPr sz="1125" b="1">
                          <a:solidFill>
                            <a:srgbClr val="FFFFFF"/>
                          </a:solidFill>
                          <a:latin typeface="Arial"/>
                          <a:ea typeface="Arial"/>
                          <a:cs typeface="Arial"/>
                        </a:rPr>
                        <a:t>DEG and pathway</a:t>
                      </a:r>
                    </a:p>
                  </a:txBody>
                  <a:tcPr marL="95250" marR="95250" marT="66675" marB="66675" anchor="ctr">
                    <a:solidFill>
                      <a:srgbClr val="0077B6"/>
                    </a:solidFill>
                  </a:tcPr>
                </a:tc>
                <a:tc>
                  <a:txBody>
                    <a:bodyPr/>
                    <a:lstStyle/>
                    <a:p>
                      <a:pPr algn="ctr"/>
                      <a:r>
                        <a:rPr sz="1125" b="0">
                          <a:solidFill>
                            <a:srgbClr val="1F2D3D"/>
                          </a:solidFill>
                          <a:latin typeface="Arial"/>
                          <a:ea typeface="Arial"/>
                          <a:cs typeface="Arial"/>
                        </a:rPr>
                        <a:t>1–6</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How do mitochondrial genes and pathways change within each sex/APOE group?</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Primary biological results</a:t>
                      </a:r>
                    </a:p>
                  </a:txBody>
                  <a:tcPr marL="95250" marR="95250" marT="66675" marB="66675" anchor="ctr">
                    <a:solidFill>
                      <a:srgbClr val="FFFFFF"/>
                    </a:solidFill>
                  </a:tcPr>
                </a:tc>
                <a:extLst>
                  <a:ext uri="{0D108BD9-81ED-4DB2-BD59-A6C34878D82A}">
                    <a16:rowId xmlns:a16="http://schemas.microsoft.com/office/drawing/2014/main" val="10001"/>
                  </a:ext>
                </a:extLst>
              </a:tr>
              <a:tr h="1800225">
                <a:tc>
                  <a:txBody>
                    <a:bodyPr/>
                    <a:lstStyle/>
                    <a:p>
                      <a:pPr algn="l"/>
                      <a:r>
                        <a:rPr sz="1125" b="1">
                          <a:solidFill>
                            <a:srgbClr val="FFFFFF"/>
                          </a:solidFill>
                          <a:latin typeface="Arial"/>
                          <a:ea typeface="Arial"/>
                          <a:cs typeface="Arial"/>
                        </a:rPr>
                        <a:t>Results from KDA calls</a:t>
                      </a:r>
                    </a:p>
                  </a:txBody>
                  <a:tcPr marL="95250" marR="95250" marT="66675" marB="66675" anchor="ctr">
                    <a:solidFill>
                      <a:srgbClr val="00856F"/>
                    </a:solidFill>
                  </a:tcPr>
                </a:tc>
                <a:tc>
                  <a:txBody>
                    <a:bodyPr/>
                    <a:lstStyle/>
                    <a:p>
                      <a:pPr algn="ctr"/>
                      <a:r>
                        <a:rPr sz="1125" b="0">
                          <a:solidFill>
                            <a:srgbClr val="1F2D3D"/>
                          </a:solidFill>
                          <a:latin typeface="Arial"/>
                          <a:ea typeface="Arial"/>
                          <a:cs typeface="Arial"/>
                        </a:rPr>
                        <a:t>7–16 and 18</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Which network genes are returned from KDA calls made with MitoCarta MT DEGs?</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Candidate genes that may drive or explain mitochondrial changes</a:t>
                      </a:r>
                    </a:p>
                  </a:txBody>
                  <a:tcPr marL="95250" marR="95250" marT="66675" marB="66675" anchor="ctr">
                    <a:solidFill>
                      <a:srgbClr val="F7FAFD"/>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152234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2 Title">
            <a:extLst>
              <a:ext uri="{FF2B5EF4-FFF2-40B4-BE49-F238E27FC236}">
                <a16:creationId xmlns:a16="http://schemas.microsoft.com/office/drawing/2014/main" id="{76B37456-FC65-485C-AC42-44438DF5942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Findings 1–6 are DEG and pathway results</a:t>
            </a:r>
          </a:p>
        </p:txBody>
      </p:sp>
      <p:sp>
        <p:nvSpPr>
          <p:cNvPr id="2" name="Summary 2 Subtitle">
            <a:extLst>
              <a:ext uri="{FF2B5EF4-FFF2-40B4-BE49-F238E27FC236}">
                <a16:creationId xmlns:a16="http://schemas.microsoft.com/office/drawing/2014/main" id="{7BF1DEDB-C4E9-4634-BFCC-D8571A40BB75}"/>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These findings describe mitochondrial gene-expression and pathway patterns before making KDA calls.</a:t>
            </a:r>
          </a:p>
        </p:txBody>
      </p:sp>
      <p:sp>
        <p:nvSpPr>
          <p:cNvPr id="4" name="Summary 2 Footer">
            <a:extLst>
              <a:ext uri="{FF2B5EF4-FFF2-40B4-BE49-F238E27FC236}">
                <a16:creationId xmlns:a16="http://schemas.microsoft.com/office/drawing/2014/main" id="{D2D4E65B-A402-41A3-AA8A-1A7D893AD32B}"/>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KDA calls are not involved in Findings 1–6.</a:t>
            </a:r>
          </a:p>
        </p:txBody>
      </p:sp>
      <p:graphicFrame>
        <p:nvGraphicFramePr>
          <p:cNvPr id="10" name="Summary 2 Table"/>
          <p:cNvGraphicFramePr/>
          <p:nvPr/>
        </p:nvGraphicFramePr>
        <p:xfrm>
          <a:off x="666750" y="1524000"/>
          <a:ext cx="10858500" cy="4391028"/>
        </p:xfrm>
        <a:graphic>
          <a:graphicData uri="http://schemas.openxmlformats.org/drawingml/2006/table">
            <a:tbl>
              <a:tblPr firstRow="1"/>
              <a:tblGrid>
                <a:gridCol w="8572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Sex/APOE group</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Main result</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649288">
                <a:tc>
                  <a:txBody>
                    <a:bodyPr/>
                    <a:lstStyle/>
                    <a:p>
                      <a:pPr algn="ctr"/>
                      <a:r>
                        <a:rPr sz="1125" b="1">
                          <a:solidFill>
                            <a:srgbClr val="FFFFFF"/>
                          </a:solidFill>
                          <a:latin typeface="Arial"/>
                          <a:ea typeface="Arial"/>
                          <a:cs typeface="Arial"/>
                        </a:rPr>
                        <a:t>1</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ε3/ε3</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Core MT genes rise; nuclear-encoded OXPHOS genes also mostly rise in ROSMAP.</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1"/>
                  </a:ext>
                </a:extLst>
              </a:tr>
              <a:tr h="649288">
                <a:tc>
                  <a:txBody>
                    <a:bodyPr/>
                    <a:lstStyle/>
                    <a:p>
                      <a:pPr algn="ctr"/>
                      <a:r>
                        <a:rPr sz="1125" b="1">
                          <a:solidFill>
                            <a:srgbClr val="FFFFFF"/>
                          </a:solidFill>
                          <a:latin typeface="Arial"/>
                          <a:ea typeface="Arial"/>
                          <a:cs typeface="Arial"/>
                        </a:rPr>
                        <a:t>2</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ε3/ε3</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Core MT genes rise while nuclear-encoded OXPHOS genes fall.</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649288">
                <a:tc>
                  <a:txBody>
                    <a:bodyPr/>
                    <a:lstStyle/>
                    <a:p>
                      <a:pPr algn="ctr"/>
                      <a:r>
                        <a:rPr sz="1125" b="1">
                          <a:solidFill>
                            <a:srgbClr val="FFFFFF"/>
                          </a:solidFill>
                          <a:latin typeface="Arial"/>
                          <a:ea typeface="Arial"/>
                          <a:cs typeface="Arial"/>
                        </a:rPr>
                        <a:t>3</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Core MT and nuclear-encoded OXPHOS genes both rise.</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3"/>
                  </a:ext>
                </a:extLst>
              </a:tr>
              <a:tr h="649288">
                <a:tc>
                  <a:txBody>
                    <a:bodyPr/>
                    <a:lstStyle/>
                    <a:p>
                      <a:pPr algn="ctr"/>
                      <a:r>
                        <a:rPr sz="1125" b="1">
                          <a:solidFill>
                            <a:srgbClr val="FFFFFF"/>
                          </a:solidFill>
                          <a:latin typeface="Arial"/>
                          <a:ea typeface="Arial"/>
                          <a:cs typeface="Arial"/>
                        </a:rPr>
                        <a:t>4</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Nuclear-encoded OXPHOS genes show a strong decrease.</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649288">
                <a:tc>
                  <a:txBody>
                    <a:bodyPr/>
                    <a:lstStyle/>
                    <a:p>
                      <a:pPr algn="ctr"/>
                      <a:r>
                        <a:rPr sz="1125" b="1">
                          <a:solidFill>
                            <a:srgbClr val="FFFFFF"/>
                          </a:solidFill>
                          <a:latin typeface="Arial"/>
                          <a:ea typeface="Arial"/>
                          <a:cs typeface="Arial"/>
                        </a:rPr>
                        <a:t>5</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Both core MT and nuclear-encoded OXPHOS gene sets show broad decreases.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r h="649288">
                <a:tc>
                  <a:txBody>
                    <a:bodyPr/>
                    <a:lstStyle/>
                    <a:p>
                      <a:pPr algn="ctr"/>
                      <a:r>
                        <a:rPr sz="1125" b="1">
                          <a:solidFill>
                            <a:srgbClr val="FFFFFF"/>
                          </a:solidFill>
                          <a:latin typeface="Arial"/>
                          <a:ea typeface="Arial"/>
                          <a:cs typeface="Arial"/>
                        </a:rPr>
                        <a:t>6</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Core MT genes rise while nuclear-encoded OXPHOS genes decrease more modestly.</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7801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3 Title">
            <a:extLst>
              <a:ext uri="{FF2B5EF4-FFF2-40B4-BE49-F238E27FC236}">
                <a16:creationId xmlns:a16="http://schemas.microsoft.com/office/drawing/2014/main" id="{B6702C0F-F928-48C6-B90F-E8A58AE4BB3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Recurring sex/APOE-linked genes from KDA calls</a:t>
            </a:r>
          </a:p>
        </p:txBody>
      </p:sp>
      <p:sp>
        <p:nvSpPr>
          <p:cNvPr id="2" name="Summary 3 Subtitle">
            <a:extLst>
              <a:ext uri="{FF2B5EF4-FFF2-40B4-BE49-F238E27FC236}">
                <a16:creationId xmlns:a16="http://schemas.microsoft.com/office/drawing/2014/main" id="{B700F485-92CF-4D95-A882-47481A5D215A}"/>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genes were returned from KDA calls in several sex/APOE groups or were repeatedly connected to mitochondrial genes.</a:t>
            </a:r>
          </a:p>
        </p:txBody>
      </p:sp>
      <p:sp>
        <p:nvSpPr>
          <p:cNvPr id="4" name="Summary 3 Footer">
            <a:extLst>
              <a:ext uri="{FF2B5EF4-FFF2-40B4-BE49-F238E27FC236}">
                <a16:creationId xmlns:a16="http://schemas.microsoft.com/office/drawing/2014/main" id="{6E92A41E-3488-4982-BE1D-A9B40EDA98AE}"/>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Genes returned from KDA calls are candidates. Network connections do not prove regulation or causality.</a:t>
            </a:r>
          </a:p>
        </p:txBody>
      </p:sp>
      <p:graphicFrame>
        <p:nvGraphicFramePr>
          <p:cNvPr id="10" name="Summary 3 Table"/>
          <p:cNvGraphicFramePr/>
          <p:nvPr/>
        </p:nvGraphicFramePr>
        <p:xfrm>
          <a:off x="666750" y="1524000"/>
          <a:ext cx="10858500" cy="4391025"/>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5953125">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Gene and mitochondrial connection</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779145">
                <a:tc>
                  <a:txBody>
                    <a:bodyPr/>
                    <a:lstStyle/>
                    <a:p>
                      <a:pPr algn="ctr"/>
                      <a:r>
                        <a:rPr sz="1125" b="1">
                          <a:solidFill>
                            <a:srgbClr val="FFFFFF"/>
                          </a:solidFill>
                          <a:latin typeface="Arial"/>
                          <a:ea typeface="Arial"/>
                          <a:cs typeface="Arial"/>
                        </a:rPr>
                        <a:t>8</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ε3/ε3, F ε4, M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LAMTOR5 connects genes that sense nutrients at lysosomes, the cell’s recycling compartments, with OXPHOS genes.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779145">
                <a:tc>
                  <a:txBody>
                    <a:bodyPr/>
                    <a:lstStyle/>
                    <a:p>
                      <a:pPr algn="ctr"/>
                      <a:r>
                        <a:rPr sz="1125" b="1">
                          <a:solidFill>
                            <a:srgbClr val="FFFFFF"/>
                          </a:solidFill>
                          <a:latin typeface="Arial"/>
                          <a:ea typeface="Arial"/>
                          <a:cs typeface="Arial"/>
                        </a:rPr>
                        <a:t>9</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ε3/ε3, M ε3/ε3,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WDR82 is connected in the network to a small set of core MT genes that are upregulated in AD in excitatory neurons.</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779145">
                <a:tc>
                  <a:txBody>
                    <a:bodyPr/>
                    <a:lstStyle/>
                    <a:p>
                      <a:pPr algn="ctr"/>
                      <a:r>
                        <a:rPr sz="1125" b="1">
                          <a:solidFill>
                            <a:srgbClr val="FFFFFF"/>
                          </a:solidFill>
                          <a:latin typeface="Arial"/>
                          <a:ea typeface="Arial"/>
                          <a:cs typeface="Arial"/>
                        </a:rPr>
                        <a:t>11</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ε4, M ε2, M ε3/ε3</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SELENOW, a gene involved in controlling oxidative stress, was connected to genes involved in mitochondrial respiration, protein production, and removal of damaged mitochondrial proteins.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779145">
                <a:tc>
                  <a:txBody>
                    <a:bodyPr/>
                    <a:lstStyle/>
                    <a:p>
                      <a:pPr algn="ctr"/>
                      <a:r>
                        <a:rPr sz="1125" b="1">
                          <a:solidFill>
                            <a:srgbClr val="FFFFFF"/>
                          </a:solidFill>
                          <a:latin typeface="Arial"/>
                          <a:ea typeface="Arial"/>
                          <a:cs typeface="Arial"/>
                        </a:rPr>
                        <a:t>12</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ε3/ε3, F ε4,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PGK1 connects astrocyte glycolysis and low-oxygen signaling with genes involved in removing damaged mitochondria.</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779145">
                <a:tc>
                  <a:txBody>
                    <a:bodyPr/>
                    <a:lstStyle/>
                    <a:p>
                      <a:pPr algn="ctr"/>
                      <a:r>
                        <a:rPr sz="1125" b="1">
                          <a:solidFill>
                            <a:srgbClr val="FFFFFF"/>
                          </a:solidFill>
                          <a:latin typeface="Arial"/>
                          <a:ea typeface="Arial"/>
                          <a:cs typeface="Arial"/>
                        </a:rPr>
                        <a:t>13</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ε3/ε3, M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FTL and ANKRD11 connect iron handling in oligodendrocyte precursor cells with genes that protect against oxidative damage and recycle damaged cell components.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4550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4 Title">
            <a:extLst>
              <a:ext uri="{FF2B5EF4-FFF2-40B4-BE49-F238E27FC236}">
                <a16:creationId xmlns:a16="http://schemas.microsoft.com/office/drawing/2014/main" id="{97730554-4AA8-4C4C-8467-B11723976011}"/>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Qualified sex/APOE-linked genes from KDA calls</a:t>
            </a:r>
          </a:p>
        </p:txBody>
      </p:sp>
      <p:sp>
        <p:nvSpPr>
          <p:cNvPr id="2" name="Summary 4 Subtitle">
            <a:extLst>
              <a:ext uri="{FF2B5EF4-FFF2-40B4-BE49-F238E27FC236}">
                <a16:creationId xmlns:a16="http://schemas.microsoft.com/office/drawing/2014/main" id="{23C9B292-3DA4-4C1F-B446-52B3CFF215A2}"/>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findings remain useful, but each is based on few genes, few KDA calls, or patterns that change across groups.</a:t>
            </a:r>
          </a:p>
        </p:txBody>
      </p:sp>
      <p:sp>
        <p:nvSpPr>
          <p:cNvPr id="4" name="Summary 4 Footer">
            <a:extLst>
              <a:ext uri="{FF2B5EF4-FFF2-40B4-BE49-F238E27FC236}">
                <a16:creationId xmlns:a16="http://schemas.microsoft.com/office/drawing/2014/main" id="{5DE7F30A-4114-4783-9C10-6DF2E71538A9}"/>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Finding 18 remains secondary. INTS8 is a gene returned from one KDA call with Phase 19b genetic support.</a:t>
            </a:r>
          </a:p>
        </p:txBody>
      </p:sp>
      <p:graphicFrame>
        <p:nvGraphicFramePr>
          <p:cNvPr id="10" name="Summary 4 Table"/>
          <p:cNvGraphicFramePr/>
          <p:nvPr/>
        </p:nvGraphicFramePr>
        <p:xfrm>
          <a:off x="666750" y="1524000"/>
          <a:ext cx="10858500" cy="4391024"/>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6191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Gene and main qualification</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973931">
                <a:tc>
                  <a:txBody>
                    <a:bodyPr/>
                    <a:lstStyle/>
                    <a:p>
                      <a:pPr algn="ctr"/>
                      <a:r>
                        <a:rPr sz="1125" b="1">
                          <a:solidFill>
                            <a:srgbClr val="FFFFFF"/>
                          </a:solidFill>
                          <a:latin typeface="Arial"/>
                          <a:ea typeface="Arial"/>
                          <a:cs typeface="Arial"/>
                        </a:rPr>
                        <a:t>14</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Female ε2, ε3/ε3, and ε4</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PLCG2 has strong AD genetic evidence, but only one MitoCarta MT gene, MT-CO1, was connected to it in the KDA result.</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973931">
                <a:tc>
                  <a:txBody>
                    <a:bodyPr/>
                    <a:lstStyle/>
                    <a:p>
                      <a:pPr algn="ctr"/>
                      <a:r>
                        <a:rPr sz="1125" b="1">
                          <a:solidFill>
                            <a:srgbClr val="FFFFFF"/>
                          </a:solidFill>
                          <a:latin typeface="Arial"/>
                          <a:ea typeface="Arial"/>
                          <a:cs typeface="Arial"/>
                        </a:rPr>
                        <a:t>15</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 ε2, M ε2,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Astrocyte APOE expression changes in opposite directions across groups, so the result is not specific to ε4.</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2"/>
                  </a:ext>
                </a:extLst>
              </a:tr>
              <a:tr h="973931">
                <a:tc>
                  <a:txBody>
                    <a:bodyPr/>
                    <a:lstStyle/>
                    <a:p>
                      <a:pPr algn="ctr"/>
                      <a:r>
                        <a:rPr sz="1125" b="1">
                          <a:solidFill>
                            <a:srgbClr val="FFFFFF"/>
                          </a:solidFill>
                          <a:latin typeface="Arial"/>
                          <a:ea typeface="Arial"/>
                          <a:cs typeface="Arial"/>
                        </a:rPr>
                        <a:t>16</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Female ε4</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A small group of genes that respond to protein damage and cellular stress appears in only two female ε4 vascular-cell KDA calls.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973931">
                <a:tc>
                  <a:txBody>
                    <a:bodyPr/>
                    <a:lstStyle/>
                    <a:p>
                      <a:pPr algn="ctr"/>
                      <a:r>
                        <a:rPr sz="1125" b="1">
                          <a:solidFill>
                            <a:srgbClr val="FFFFFF"/>
                          </a:solidFill>
                          <a:latin typeface="Arial"/>
                          <a:ea typeface="Arial"/>
                          <a:cs typeface="Arial"/>
                        </a:rPr>
                        <a:t>18</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Male ε2</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INTS8 was returned from one inhibitory-neuron KDA call. Human genetics supports follow-up, but it was not returned from additional KDA calls.</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423451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5 Title">
            <a:extLst>
              <a:ext uri="{FF2B5EF4-FFF2-40B4-BE49-F238E27FC236}">
                <a16:creationId xmlns:a16="http://schemas.microsoft.com/office/drawing/2014/main" id="{3E5E2B3E-72D6-4335-A4C7-3EFD014B98BD}"/>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Lower-priority findings for the sex/APOE story</a:t>
            </a:r>
          </a:p>
        </p:txBody>
      </p:sp>
      <p:sp>
        <p:nvSpPr>
          <p:cNvPr id="2" name="Summary 5 Subtitle">
            <a:extLst>
              <a:ext uri="{FF2B5EF4-FFF2-40B4-BE49-F238E27FC236}">
                <a16:creationId xmlns:a16="http://schemas.microsoft.com/office/drawing/2014/main" id="{713CB07B-2415-456E-8D56-781A03D46FD8}"/>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findings remain informative, but they do not distinguish one sex/APOE group from the others.</a:t>
            </a:r>
          </a:p>
        </p:txBody>
      </p:sp>
      <p:graphicFrame>
        <p:nvGraphicFramePr>
          <p:cNvPr id="9" name="Summary 5 Table"/>
          <p:cNvGraphicFramePr/>
          <p:nvPr/>
        </p:nvGraphicFramePr>
        <p:xfrm>
          <a:off x="666750" y="1524000"/>
          <a:ext cx="10858500" cy="4095750"/>
        </p:xfrm>
        <a:graphic>
          <a:graphicData uri="http://schemas.openxmlformats.org/drawingml/2006/table">
            <a:tbl>
              <a:tblPr firstRow="1"/>
              <a:tblGrid>
                <a:gridCol w="762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Scope</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Summary</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Role</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1800225">
                <a:tc>
                  <a:txBody>
                    <a:bodyPr/>
                    <a:lstStyle/>
                    <a:p>
                      <a:pPr algn="ctr"/>
                      <a:r>
                        <a:rPr sz="1125" b="1">
                          <a:solidFill>
                            <a:srgbClr val="FFFFFF"/>
                          </a:solidFill>
                          <a:latin typeface="Arial"/>
                          <a:ea typeface="Arial"/>
                          <a:cs typeface="Arial"/>
                        </a:rPr>
                        <a:t>7</a:t>
                      </a:r>
                    </a:p>
                  </a:txBody>
                  <a:tcPr marL="95250" marR="95250" marT="66675" marB="66675" anchor="ctr">
                    <a:solidFill>
                      <a:srgbClr val="7D4FA1"/>
                    </a:solidFill>
                  </a:tcPr>
                </a:tc>
                <a:tc>
                  <a:txBody>
                    <a:bodyPr/>
                    <a:lstStyle/>
                    <a:p>
                      <a:pPr algn="l"/>
                      <a:r>
                        <a:rPr sz="1125">
                          <a:solidFill>
                            <a:srgbClr val="1F2D3D"/>
                          </a:solidFill>
                          <a:latin typeface="Arial"/>
                          <a:ea typeface="Arial"/>
                          <a:cs typeface="Arial"/>
                        </a:rPr>
                        <a:t>All six groups</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RPL11, RPS15, and related genes that help ribosomes outside mitochondria make proteins are connected to nuclear-encoded OXPHOS genes.</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Found across all six sex/APOE groups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1"/>
                  </a:ext>
                </a:extLst>
              </a:tr>
              <a:tr h="1800225">
                <a:tc>
                  <a:txBody>
                    <a:bodyPr/>
                    <a:lstStyle/>
                    <a:p>
                      <a:pPr algn="ctr"/>
                      <a:r>
                        <a:rPr sz="1125" b="1">
                          <a:solidFill>
                            <a:srgbClr val="FFFFFF"/>
                          </a:solidFill>
                          <a:latin typeface="Arial"/>
                          <a:ea typeface="Arial"/>
                          <a:cs typeface="Arial"/>
                        </a:rPr>
                        <a:t>10</a:t>
                      </a:r>
                    </a:p>
                  </a:txBody>
                  <a:tcPr marL="95250" marR="95250" marT="66675" marB="66675" anchor="ctr">
                    <a:solidFill>
                      <a:srgbClr val="7D4FA1"/>
                    </a:solidFill>
                  </a:tcPr>
                </a:tc>
                <a:tc>
                  <a:txBody>
                    <a:bodyPr/>
                    <a:lstStyle/>
                    <a:p>
                      <a:pPr algn="l"/>
                      <a:r>
                        <a:rPr sz="1125">
                          <a:solidFill>
                            <a:srgbClr val="1F2D3D"/>
                          </a:solidFill>
                          <a:latin typeface="Arial"/>
                          <a:ea typeface="Arial"/>
                          <a:cs typeface="Arial"/>
                        </a:rPr>
                        <a:t>All six groups</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SELENOM, which helps control oxidative stress and calcium inside the endoplasmic reticulum, is connected to genes used for mitochondrial protein production.</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Found across all six sex/APOE groups</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5123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2467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dirty="0">
                <a:solidFill>
                  <a:srgbClr val="7E4C9A"/>
                </a:solidFill>
                <a:latin typeface="Arial"/>
                <a:ea typeface="Arial"/>
                <a:cs typeface="Arial"/>
              </a:rPr>
              <a:t>Novelty: moderate</a:t>
            </a:r>
            <a:r>
              <a:rPr lang="en-US" sz="1100" b="1" i="0" dirty="0">
                <a:solidFill>
                  <a:srgbClr val="7E4C9A"/>
                </a:solidFill>
                <a:latin typeface="Arial"/>
                <a:ea typeface="Arial"/>
                <a:cs typeface="Arial"/>
              </a:rPr>
              <a:t>. </a:t>
            </a:r>
            <a:r>
              <a:rPr lang="en-US" sz="1100" b="1" dirty="0">
                <a:solidFill>
                  <a:srgbClr val="7E4C9A"/>
                </a:solidFill>
                <a:latin typeface="Arial"/>
                <a:ea typeface="Arial"/>
                <a:cs typeface="Arial"/>
              </a:rPr>
              <a:t>K</a:t>
            </a:r>
            <a:r>
              <a:rPr sz="1100" b="1" i="0" dirty="0">
                <a:solidFill>
                  <a:srgbClr val="7E4C9A"/>
                </a:solidFill>
                <a:latin typeface="Arial"/>
                <a:ea typeface="Arial"/>
                <a:cs typeface="Arial"/>
              </a:rPr>
              <a:t>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ε3/ε3</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2154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dirty="0">
                <a:solidFill>
                  <a:srgbClr val="7E4C9A"/>
                </a:solidFill>
                <a:latin typeface="Arial"/>
                <a:ea typeface="Arial"/>
                <a:cs typeface="Arial"/>
              </a:rPr>
              <a:t>Novelty: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Both core MT and nuclear-encoded OXPHOS genes were upregulated in 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TextBox 4">
            <a:extLst>
              <a:ext uri="{FF2B5EF4-FFF2-40B4-BE49-F238E27FC236}">
                <a16:creationId xmlns:a16="http://schemas.microsoft.com/office/drawing/2014/main" id="{9699EF05-4280-4719-BB95-E583D6653721}"/>
              </a:ext>
            </a:extLst>
          </p:cNvPr>
          <p:cNvSpPr>
            <a:spLocks noGrp="1"/>
          </p:cNvSpPr>
          <p:nvPr/>
        </p:nvSpPr>
        <p:spPr>
          <a:xfrm>
            <a:off x="1097280" y="2468880"/>
            <a:ext cx="7406640" cy="914400"/>
          </a:xfrm>
          <a:prstGeom prst="rect">
            <a:avLst/>
          </a:prstGeom>
          <a:noFill/>
          <a:ln w="0">
            <a:noFill/>
            <a:prstDash val="solid"/>
          </a:ln>
        </p:spPr>
        <p:txBody>
          <a:bodyPr wrap="square" lIns="0" tIns="0" rIns="0" bIns="0" anchor="t">
            <a:normAutofit/>
          </a:bodyPr>
          <a:lstStyle/>
          <a:p>
            <a:pPr algn="l">
              <a:defRPr sz="1350" b="1">
                <a:solidFill>
                  <a:srgbClr val="E6A700"/>
                </a:solidFill>
                <a:latin typeface="Arial"/>
                <a:ea typeface="Arial"/>
                <a:cs typeface="Arial"/>
              </a:defRPr>
            </a:pPr>
            <a:r>
              <a:rPr sz="1350" b="1">
                <a:solidFill>
                  <a:srgbClr val="E6A700"/>
                </a:solidFill>
                <a:latin typeface="Arial"/>
                <a:ea typeface="Arial"/>
                <a:cs typeface="Arial"/>
              </a:rPr>
              <a:t>Observed in: female ε2</a:t>
            </a:r>
          </a:p>
        </p:txBody>
      </p:sp>
    </p:spTree>
    <p:extLst>
      <p:ext uri="{BB962C8B-B14F-4D97-AF65-F5344CB8AC3E}">
        <p14:creationId xmlns:p14="http://schemas.microsoft.com/office/powerpoint/2010/main" val="14171427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ε4</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No</a:t>
            </a:r>
            <a:r>
              <a:rPr sz="1080" b="1" i="0" dirty="0">
                <a:solidFill>
                  <a:srgbClr val="7E4C9A"/>
                </a:solidFill>
                <a:latin typeface="Arial"/>
                <a:ea typeface="Arial"/>
                <a:cs typeface="Arial"/>
              </a:rPr>
              <a:t>velty: Moderate</a:t>
            </a:r>
          </a:p>
        </p:txBody>
      </p:sp>
    </p:spTree>
    <p:extLst>
      <p:ext uri="{BB962C8B-B14F-4D97-AF65-F5344CB8AC3E}">
        <p14:creationId xmlns:p14="http://schemas.microsoft.com/office/powerpoint/2010/main" val="6878619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ε2</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620566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6333685"/>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70182"/>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dirty="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17907776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ε4</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07118"/>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Tree>
    <p:extLst>
      <p:ext uri="{BB962C8B-B14F-4D97-AF65-F5344CB8AC3E}">
        <p14:creationId xmlns:p14="http://schemas.microsoft.com/office/powerpoint/2010/main" val="4384938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672111"/>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800126"/>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2330479"/>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659663"/>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672111"/>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800126"/>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2330479"/>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659663"/>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672111"/>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800126"/>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2330479"/>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659663"/>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3272311"/>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436903"/>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391183"/>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391183"/>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4232431"/>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39702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351303"/>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351303"/>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5192551"/>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357143"/>
            <a:ext cx="2331720" cy="45550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1300" b="1" i="0" dirty="0">
                <a:solidFill>
                  <a:srgbClr val="0F233D"/>
                </a:solidFill>
                <a:latin typeface="Arial"/>
                <a:ea typeface="Arial"/>
                <a:cs typeface="Arial"/>
              </a:rPr>
              <a:t>Evidence of opposite direction</a:t>
            </a:r>
            <a:endParaRPr sz="1300" b="1" i="0" dirty="0">
              <a:solidFill>
                <a:srgbClr val="0F233D"/>
              </a:solidFill>
              <a:latin typeface="Arial"/>
              <a:ea typeface="Arial"/>
              <a:cs typeface="Arial"/>
            </a:endParaRP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5311423"/>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5414693"/>
            <a:ext cx="5468112" cy="232371"/>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dirty="0">
                <a:solidFill>
                  <a:srgbClr val="1F2730"/>
                </a:solidFill>
                <a:latin typeface="Arial"/>
                <a:ea typeface="Arial"/>
                <a:cs typeface="Arial"/>
              </a:rPr>
              <a:t>The nuclear side is too mixed</a:t>
            </a:r>
            <a:r>
              <a:rPr lang="en-US" sz="1150" b="0" i="0" dirty="0">
                <a:solidFill>
                  <a:srgbClr val="1F2730"/>
                </a:solidFill>
                <a:latin typeface="Arial"/>
                <a:ea typeface="Arial"/>
                <a:cs typeface="Arial"/>
              </a:rPr>
              <a:t>, so weaker than</a:t>
            </a:r>
            <a:r>
              <a:rPr sz="1150" b="0" i="0" dirty="0">
                <a:solidFill>
                  <a:srgbClr val="1F2730"/>
                </a:solidFill>
                <a:latin typeface="Arial"/>
                <a:ea typeface="Arial"/>
                <a:cs typeface="Arial"/>
              </a:rPr>
              <a:t> Finding 2</a:t>
            </a:r>
          </a:p>
        </p:txBody>
      </p:sp>
    </p:spTree>
    <p:extLst>
      <p:ext uri="{BB962C8B-B14F-4D97-AF65-F5344CB8AC3E}">
        <p14:creationId xmlns:p14="http://schemas.microsoft.com/office/powerpoint/2010/main" val="2385652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898242"/>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2277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dirty="0">
                <a:solidFill>
                  <a:srgbClr val="1F2730"/>
                </a:solidFill>
                <a:latin typeface="Arial"/>
                <a:ea typeface="Arial"/>
                <a:cs typeface="Arial"/>
              </a:rPr>
              <a:t>A prespecified balance score would test the </a:t>
            </a:r>
            <a:r>
              <a:rPr lang="en-US" sz="1120" b="1" i="0" dirty="0">
                <a:solidFill>
                  <a:srgbClr val="1F2730"/>
                </a:solidFill>
                <a:latin typeface="Arial"/>
                <a:ea typeface="Arial"/>
                <a:cs typeface="Arial"/>
              </a:rPr>
              <a:t>evidence</a:t>
            </a:r>
            <a:r>
              <a:rPr sz="1120" b="1" i="0" dirty="0">
                <a:solidFill>
                  <a:srgbClr val="1F2730"/>
                </a:solidFill>
                <a:latin typeface="Arial"/>
                <a:ea typeface="Arial"/>
                <a:cs typeface="Arial"/>
              </a:rPr>
              <a:t> of </a:t>
            </a:r>
            <a:r>
              <a:rPr lang="en-US" sz="1120" b="1" i="0" dirty="0">
                <a:solidFill>
                  <a:srgbClr val="1F2730"/>
                </a:solidFill>
                <a:latin typeface="Arial"/>
                <a:ea typeface="Arial"/>
                <a:cs typeface="Arial"/>
              </a:rPr>
              <a:t>opposite direction</a:t>
            </a:r>
            <a:r>
              <a:rPr sz="1120" b="1" i="0" dirty="0">
                <a:solidFill>
                  <a:srgbClr val="1F2730"/>
                </a:solidFill>
                <a:latin typeface="Arial"/>
                <a:ea typeface="Arial"/>
                <a:cs typeface="Arial"/>
              </a:rPr>
              <a:t> directly across groups.</a:t>
            </a:r>
          </a:p>
        </p:txBody>
      </p:sp>
    </p:spTree>
    <p:extLst>
      <p:ext uri="{BB962C8B-B14F-4D97-AF65-F5344CB8AC3E}">
        <p14:creationId xmlns:p14="http://schemas.microsoft.com/office/powerpoint/2010/main" val="6202844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15996"/>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Moderate</a:t>
            </a:r>
          </a:p>
        </p:txBody>
      </p:sp>
    </p:spTree>
    <p:extLst>
      <p:ext uri="{BB962C8B-B14F-4D97-AF65-F5344CB8AC3E}">
        <p14:creationId xmlns:p14="http://schemas.microsoft.com/office/powerpoint/2010/main" val="6695568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Cytosolic ribosome genes repeatedly connect with nuclear-encoded OXPHOS genes</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are repeatedly connected to nuclear-encoded OXPHOS genes in KDA calls.</a:t>
            </a:r>
          </a:p>
        </p:txBody>
      </p:sp>
      <p:sp>
        <p:nvSpPr>
          <p:cNvPr id="22" name="TextBox 4">
            <a:extLst>
              <a:ext uri="{FF2B5EF4-FFF2-40B4-BE49-F238E27FC236}">
                <a16:creationId xmlns:a16="http://schemas.microsoft.com/office/drawing/2014/main" id="{233BCDDB-C25D-47FA-8F89-FB34793B4221}"/>
              </a:ext>
            </a:extLst>
          </p:cNvPr>
          <p:cNvSpPr>
            <a:spLocks noGrp="1"/>
          </p:cNvSpPr>
          <p:nvPr/>
        </p:nvSpPr>
        <p:spPr>
          <a:xfrm>
            <a:off x="1097280" y="2468880"/>
            <a:ext cx="7406640" cy="914400"/>
          </a:xfrm>
          <a:prstGeom prst="rect">
            <a:avLst/>
          </a:prstGeom>
          <a:noFill/>
          <a:ln w="0">
            <a:noFill/>
            <a:prstDash val="solid"/>
          </a:ln>
        </p:spPr>
        <p:txBody>
          <a:bodyPr wrap="square" lIns="0" tIns="0" rIns="0" bIns="0" anchor="t">
            <a:normAutofit/>
          </a:bodyPr>
          <a:lstStyle/>
          <a:p>
            <a:pPr algn="l">
              <a:buNone/>
              <a:defRPr sz="1350" b="1">
                <a:solidFill>
                  <a:srgbClr val="E6A700"/>
                </a:solidFill>
                <a:latin typeface="Arial"/>
                <a:ea typeface="Arial"/>
                <a:cs typeface="Arial"/>
              </a:defRPr>
            </a:pPr>
            <a:r>
              <a:rPr sz="1350" b="1">
                <a:solidFill>
                  <a:srgbClr val="E6A700"/>
                </a:solidFill>
                <a:latin typeface="Arial"/>
                <a:ea typeface="Arial"/>
                <a:cs typeface="Arial"/>
              </a:rPr>
              <a:t>Not sex/APOE-specific; observed across all six groups</a:t>
            </a:r>
          </a:p>
        </p:txBody>
      </p:sp>
    </p:spTree>
    <p:extLst>
      <p:ext uri="{BB962C8B-B14F-4D97-AF65-F5344CB8AC3E}">
        <p14:creationId xmlns:p14="http://schemas.microsoft.com/office/powerpoint/2010/main" val="13602970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cytosolic ribosome builds most cellular proteins. The result is more credible as one recurring group of related genes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465502"/>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566086"/>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465502"/>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566086"/>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465502"/>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566086"/>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465502"/>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566086"/>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Group-level interpretation</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2089405"/>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382013"/>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839213"/>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845053"/>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2089405"/>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382013"/>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CONNECTIONS</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839213"/>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845053"/>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ribosome genes returned from KDA calls are connected to nuclear genes that encode parts of the respiratory system.</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2089405"/>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382013"/>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839213"/>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recurring gene group</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845053"/>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Because these genes perform related functions and share network connections, they should not be treated as independent findings.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624953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6377555"/>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points to a recurring connection between ribosome genes and OXPHOS genes, not 20 separately proven mitochondrial regulators.</a:t>
            </a:r>
          </a:p>
        </p:txBody>
      </p:sp>
    </p:spTree>
    <p:extLst>
      <p:ext uri="{BB962C8B-B14F-4D97-AF65-F5344CB8AC3E}">
        <p14:creationId xmlns:p14="http://schemas.microsoft.com/office/powerpoint/2010/main" val="12135719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1058040"/>
            <a:ext cx="10927080" cy="4815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enrichment test compares 228 unique non-MitoCarta genes returned from KDA calls with all 11,478 genes available for selection in the same networks.</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805274"/>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933289"/>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2463642"/>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792826"/>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805274"/>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933289"/>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2463642"/>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among available network genes</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792826"/>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available genes</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805274"/>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933289"/>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2463642"/>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multiple-testing-adjusted P value</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792826"/>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enrichment test</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3405474"/>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570066"/>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Categories with ribosome genes</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524346"/>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524346"/>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4365594"/>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530185"/>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pairs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484466"/>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484466"/>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make up 18.4% of non-MitoCarta gene–category pairs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5325714"/>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490306"/>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 occurrences within KDA calls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5444586"/>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5444586"/>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make up 21.3% of non-MitoCarta returned-gene occurrences</a:t>
            </a:r>
          </a:p>
        </p:txBody>
      </p:sp>
    </p:spTree>
    <p:extLst>
      <p:ext uri="{BB962C8B-B14F-4D97-AF65-F5344CB8AC3E}">
        <p14:creationId xmlns:p14="http://schemas.microsoft.com/office/powerpoint/2010/main" val="9846568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are the most recurrent ribosome genes</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RPL11 is connected to many nuclear-encoded OXPHOS genes, while RPS15 appears in the largest number of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ACROSS KDA CALLS</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sex/APOE groups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GENES CONNECTED TO RPL11</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gene connections across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genes account for 151 connections; 100 involve lower expression in AD.</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ACROSS KDA CALLS</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appears across the largest number of categories.</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Frequently connected RPL11 genes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827221"/>
            <a:ext cx="10927080"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Ribosome stress and OXPHOS changes may be biologically linked, but the network’s connection pattern could also explain the result.</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and respiration are connected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Genes with many connections may rank highly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Highly expressed ribosome genes may be selected more often by network-based methods.</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Tests that compare genes with similar numbers of network connections are needed before treating recurring ribosome genes as regulators.</a:t>
            </a:r>
          </a:p>
        </p:txBody>
      </p:sp>
    </p:spTree>
    <p:extLst>
      <p:ext uri="{BB962C8B-B14F-4D97-AF65-F5344CB8AC3E}">
        <p14:creationId xmlns:p14="http://schemas.microsoft.com/office/powerpoint/2010/main" val="20542496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898241"/>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Recurring ribosome genes</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Several ribosome genes appear across categories and connect repeatedly to OXPHOS genes.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Some comparisons share donors, and highly connected genes can be selected more often; the observations are therefore not independent.</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Moderate</a:t>
            </a:r>
          </a:p>
        </p:txBody>
      </p:sp>
    </p:spTree>
    <p:extLst>
      <p:ext uri="{BB962C8B-B14F-4D97-AF65-F5344CB8AC3E}">
        <p14:creationId xmlns:p14="http://schemas.microsoft.com/office/powerpoint/2010/main" val="8131813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200" b="1">
                <a:solidFill>
                  <a:srgbClr val="E6A700"/>
                </a:solidFill>
                <a:latin typeface="Arial"/>
                <a:ea typeface="Arial"/>
                <a:cs typeface="Arial"/>
              </a:defRPr>
            </a:pPr>
            <a:r>
              <a:rPr sz="1200" b="1" i="0">
                <a:solidFill>
                  <a:srgbClr val="E6A700"/>
                </a:solidFill>
                <a:latin typeface="Arial"/>
                <a:ea typeface="Arial"/>
                <a:cs typeface="Arial"/>
              </a:rPr>
              <a:t>Observed in: female ε2, female ε3/ε3, female ε4, and male ε2</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1004776"/>
            <a:ext cx="10927080"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Lysosomes recycle cell material and sense nutrients. LAMTOR5 relays this information to mTORC1, a pathway that regulates cell growth and protein production.</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511511"/>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612095"/>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511511"/>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612095"/>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511511"/>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612095"/>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511511"/>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612095"/>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205500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34761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80481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material and sensing nutrients</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81065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2055003"/>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34761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80481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Part of the lysosomal nutrient-sensing complex</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81065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the cell use amino-acid availability at lysosomes to regulate mTORC1.</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205500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34761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804811"/>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4241999"/>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Genes connected to LAMTOR5 suggest a relationship with how much the cell </a:t>
            </a:r>
            <a:r>
              <a:rPr lang="en-US" sz="1220" b="0" i="0" dirty="0">
                <a:solidFill>
                  <a:srgbClr val="1F2730"/>
                </a:solidFill>
                <a:latin typeface="Arial"/>
                <a:ea typeface="Arial"/>
                <a:cs typeface="Arial"/>
              </a:rPr>
              <a:t>does</a:t>
            </a:r>
            <a:r>
              <a:rPr sz="1220" b="0" i="0" dirty="0">
                <a:solidFill>
                  <a:srgbClr val="1F2730"/>
                </a:solidFill>
                <a:latin typeface="Arial"/>
                <a:ea typeface="Arial"/>
                <a:cs typeface="Arial"/>
              </a:rPr>
              <a:t> mitochondrial respiration.</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624474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6372765"/>
            <a:ext cx="10405872" cy="2308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The result suggests a possible connection between lysosomal nutrient sensing and mitochondrial respiration.</a:t>
            </a:r>
          </a:p>
        </p:txBody>
      </p:sp>
    </p:spTree>
    <p:extLst>
      <p:ext uri="{BB962C8B-B14F-4D97-AF65-F5344CB8AC3E}">
        <p14:creationId xmlns:p14="http://schemas.microsoft.com/office/powerpoint/2010/main" val="3403197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and connects repeatedly to OXPHOS genes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largest scores occur in male ε2 neurons, where the DEG input to KDA contained unusually many genes.</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sex/APOE groups</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connections to MitoCarta MT genes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input DEG sets with significant OXPHOS enrichment</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connected nuclear-encoded OXPHOS genes show lower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8260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Frequently connected genes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74787"/>
            <a:ext cx="1975104" cy="4862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dirty="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908466"/>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73058"/>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5125950"/>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dirty="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5027338"/>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732508"/>
          </a:xfrm>
          <a:prstGeom prst="rect">
            <a:avLst/>
          </a:prstGeom>
          <a:noFill/>
        </p:spPr>
        <p:txBody>
          <a:bodyPr wrap="square" lIns="27432" tIns="27432" rIns="27432" bIns="27432" anchor="t">
            <a:spAutoFit/>
          </a:bodyPr>
          <a:lstStyle/>
          <a:p>
            <a:r>
              <a:rPr lang="en-US" sz="2200" b="1" dirty="0">
                <a:solidFill>
                  <a:srgbClr val="0F233D"/>
                </a:solidFill>
                <a:latin typeface="Arial"/>
                <a:cs typeface="Arial"/>
              </a:rPr>
              <a:t>Other lysosomal and autophagy genes returned from KDA calls also connect to mitochondrial genes</a:t>
            </a:r>
            <a:endParaRPr sz="2200" b="1" dirty="0">
              <a:solidFill>
                <a:srgbClr val="0F233D"/>
              </a:solidFill>
              <a:latin typeface="Arial"/>
              <a:cs typeface="Arial"/>
            </a:endParaRP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1067878"/>
            <a:ext cx="10927080" cy="486287"/>
          </a:xfrm>
          <a:prstGeom prst="rect">
            <a:avLst/>
          </a:prstGeom>
          <a:noFill/>
        </p:spPr>
        <p:txBody>
          <a:bodyPr wrap="square" lIns="27432" tIns="27432" rIns="27432" bIns="27432" anchor="t">
            <a:spAutoFit/>
          </a:bodyPr>
          <a:lstStyle/>
          <a:p>
            <a:r>
              <a:rPr lang="en-US" sz="1400" b="1" dirty="0">
                <a:latin typeface="Arial"/>
                <a:cs typeface="Arial"/>
              </a:rPr>
              <a:t>GABARAPL2, ATG101, and ATP6AP2 were identified independently of LAMTOR5. Their functions and network connections support a broader relationship among lysosome function, autophagy, and mitochondria.</a:t>
            </a:r>
            <a:endParaRPr sz="1400" b="1" dirty="0">
              <a:latin typeface="Arial"/>
              <a:cs typeface="Arial"/>
            </a:endParaRP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686443"/>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97905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43625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44209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Genes connected to GABARAPL2 include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68644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97905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43625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44209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Genes connected to ATG101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68644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97905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43625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44209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ATP6AP2 connects lysosomal acidification through the V-ATPase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6020699"/>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6148715"/>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KDA call for the same sex/APOE and cell categories, so it could not test this result directly.</a:t>
            </a:r>
          </a:p>
        </p:txBody>
      </p:sp>
    </p:spTree>
    <p:extLst>
      <p:ext uri="{BB962C8B-B14F-4D97-AF65-F5344CB8AC3E}">
        <p14:creationId xmlns:p14="http://schemas.microsoft.com/office/powerpoint/2010/main" val="12228716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can coordinate protein production and mitochondrial respiration</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LAMTOR5 is positioned between lysosomes, mTORC1, and mitochondria, which is consistent with known biology.</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Ragulator protein complex helps position nutrient signals at the lysosome.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mTORC1 can change the production of nuclear-encoded mitochondrial proteins and the cell’s capacity for respiration.</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Amyloid-β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disrupted communication between lysosomes and mitochondria in neurons with tau-related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80467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1317812" y="5861304"/>
            <a:ext cx="9792148" cy="60939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200" b="1" dirty="0">
                <a:latin typeface="Arial" panose="020B0604020202020204" pitchFamily="34" charset="0"/>
                <a:cs typeface="Arial" panose="020B0604020202020204" pitchFamily="34" charset="0"/>
              </a:rPr>
              <a:t>Previous experiments show that LAMTOR5 participates in lysosomal nutrient sensing, making it reasonable to test whether changing LAMTOR5 alters OXPHOS gene expression and respiration. However, they have not shown that LAMTOR5 directly regulates the mitochondrial genes connected to it in our ROSMAP KDA results.</a:t>
            </a:r>
            <a:endParaRPr sz="1120" b="1" i="0" dirty="0">
              <a:latin typeface="Arial" panose="020B0604020202020204" pitchFamily="34" charset="0"/>
              <a:ea typeface="Arial"/>
              <a:cs typeface="Arial" panose="020B0604020202020204" pitchFamily="34" charset="0"/>
            </a:endParaRPr>
          </a:p>
        </p:txBody>
      </p:sp>
    </p:spTree>
    <p:extLst>
      <p:ext uri="{BB962C8B-B14F-4D97-AF65-F5344CB8AC3E}">
        <p14:creationId xmlns:p14="http://schemas.microsoft.com/office/powerpoint/2010/main" val="8283773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8893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LAMTOR5 and mTORC1 nutrient signaling</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LAMTOR5 helps sense amino acids at lysosomes.</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connections to OXPHOS genes.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capacity for respiration.</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show that LAMTOR5 causes the relationship observed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amyloid-β disrupts communication between lysosomes and mitochondria in neurons.</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xmlns:p14="http://schemas.microsoft.com/office/powerpoint/2010/main" val="17981336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small group of upregulated core MT genes in excitatory neurons</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200" b="1">
                <a:solidFill>
                  <a:srgbClr val="E6A700"/>
                </a:solidFill>
                <a:latin typeface="Arial"/>
                <a:ea typeface="Arial"/>
                <a:cs typeface="Arial"/>
              </a:defRPr>
            </a:pPr>
            <a:r>
              <a:rPr sz="1200" b="1" i="0">
                <a:solidFill>
                  <a:srgbClr val="E6A700"/>
                </a:solidFill>
                <a:latin typeface="Arial"/>
                <a:ea typeface="Arial"/>
                <a:cs typeface="Arial"/>
              </a:rPr>
              <a:t>Observed in: female ε2, female ε3/ε3, male ε3/ε3, and male ε4</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is connected to four upregulated core MT genes.</a:t>
            </a:r>
          </a:p>
        </p:txBody>
      </p:sp>
    </p:spTree>
    <p:extLst>
      <p:ext uri="{BB962C8B-B14F-4D97-AF65-F5344CB8AC3E}">
        <p14:creationId xmlns:p14="http://schemas.microsoft.com/office/powerpoint/2010/main" val="10858077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WDR82 is directly connected to only four recurring core MT genes, all produced from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involved in nuclear gene regulation</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helps regulate which nuclear genes are active; it is not part of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 DIRECTLY CONNECTED TO WDR82</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direct mitochondrial connection to WDR82.</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3413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WHY THESE ARE NOT FOUR INDEPENDENT SIGNALS</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6201743"/>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632975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 KDA input shows significant enrichment of upregulated core MT genes</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KDA can return a gene because of its network connections even when that gene does not meet the DEG threshold.</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groups</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input DEG sets with significant core MT enrichment</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 directly connected to WDR82</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directly connected gene</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PIM1 is the only other directly connected gene</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7863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met DEG criteria</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WDR82 expression changes were too small to meet the DEG effect-size cutoff</a:t>
            </a:r>
          </a:p>
        </p:txBody>
      </p:sp>
    </p:spTree>
    <p:extLst>
      <p:ext uri="{BB962C8B-B14F-4D97-AF65-F5344CB8AC3E}">
        <p14:creationId xmlns:p14="http://schemas.microsoft.com/office/powerpoint/2010/main" val="119465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Most WDR82 KDA calls come from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WDR82 was returned in four sex/APOE groups, but most KDA calls come from female ε3/ε3.</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provides most WDR82 KDA calls and the strongest core MT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was also returned from two male ε3/ε3 and three male ε4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11 matching excitatory-neuron networks in which WDR82 could have been returned, but it was not. SEA-AD still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nuclear gene regulator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pattern could reflect coordinated RNA production, overall mitochondrial RNA abundance, or how the network was constructed.</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POSSIBLE BIOLOGICAL EXPLANATION</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gene regulation may influence mitochondrial 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Overall mitochondrial RNA abundance</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Repeated core MT genes may reflect the overall amount of mitochondrial RNA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NETWORK-BASED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connected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small set of connections may reflect one shared long mitochondrial RNA rather than four separate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Repeating KDA after removing core MT genes from the input DEG sets can test whether the result depends on those genes.</a:t>
            </a:r>
          </a:p>
        </p:txBody>
      </p:sp>
    </p:spTree>
    <p:extLst>
      <p:ext uri="{BB962C8B-B14F-4D97-AF65-F5344CB8AC3E}">
        <p14:creationId xmlns:p14="http://schemas.microsoft.com/office/powerpoint/2010/main" val="12291768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and nuclear gene regulation</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WDR82 helps regulate which nuclear genes are active through SETD1A/B protein complexes.</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produced from long mitochondrial RNAs that are later cut into individual gene products.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gene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expression and many network connections in a reanalysis of mixed-cell hippocampal tissue.</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mixed-cell analysis does not show which cell types drive the result and has not been confirmed in another cohort.</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connects oxidation control in the ER with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Not sex/APOE-specific; observed across all six groups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connects to genes used for protein production inside mitochondria, and most have lower expression in AD.</a:t>
            </a:r>
          </a:p>
        </p:txBody>
      </p:sp>
    </p:spTree>
    <p:extLst>
      <p:ext uri="{BB962C8B-B14F-4D97-AF65-F5344CB8AC3E}">
        <p14:creationId xmlns:p14="http://schemas.microsoft.com/office/powerpoint/2010/main" val="57488466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oxidation control in the ER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sex/APOE groups</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Oxidation and calcium control in the ER</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Protein production inside mitochondria</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that controls oxidation in the ER</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control reversible oxidation reactions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 INSIDE MITOCHONDRIA</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Protein-production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Genes directly connected to SELENOM are mostly mitochondrial protein-production genes with lower expression in AD.</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620566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6333685"/>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the two systems because their genes are close in the network.</a:t>
            </a:r>
          </a:p>
        </p:txBody>
      </p:sp>
    </p:spTree>
    <p:extLst>
      <p:ext uri="{BB962C8B-B14F-4D97-AF65-F5344CB8AC3E}">
        <p14:creationId xmlns:p14="http://schemas.microsoft.com/office/powerpoint/2010/main" val="14462323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genes for mitochondrial protein production dominate SELENOM’s connections</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SELENOM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connections to MitoCarta MT genes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genes for protein production</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input DEG sets with significant OXPHOS enrichment</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Direction of expression change</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connected mitochondrial protein-production genes have lower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Frequently connected genes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are also repeatedly connected to SELENOM</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SELENOM itself also changes expression in most supporting KDA calls</a:t>
            </a:r>
          </a:p>
        </p:txBody>
      </p:sp>
    </p:spTree>
    <p:extLst>
      <p:ext uri="{BB962C8B-B14F-4D97-AF65-F5344CB8AC3E}">
        <p14:creationId xmlns:p14="http://schemas.microsoft.com/office/powerpoint/2010/main" val="173846250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ROSMAP KDA calls and repeated connections to mitochondrial protein-production genes are still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OPPORTUNITY TO TEST</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networks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RETURNED FROM SEA-AD KDA CALLS</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qualifying gene-level evidence</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find qualifying genetic evidence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lack of support in SEA-AD or human genetics lowers confidence outside ROSMAP, but the repeated ROSMAP result remains.</a:t>
            </a:r>
          </a:p>
        </p:txBody>
      </p:sp>
    </p:spTree>
    <p:extLst>
      <p:ext uri="{BB962C8B-B14F-4D97-AF65-F5344CB8AC3E}">
        <p14:creationId xmlns:p14="http://schemas.microsoft.com/office/powerpoint/2010/main" val="17058804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production supplies core MT proteins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of this machinery could reduce assembly of mitochondrial respiratory complexes.</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BIOLOGICAL EXPLANATION</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 shared between the ER and mitochondria</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affect mitochondria indirectly by changing oxidation or calcium control in the ER.</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An experiment that changes SELENOM and measures both ER and mitochondrial responses can distinguish a specific connection from general cell stress.</a:t>
            </a:r>
          </a:p>
        </p:txBody>
      </p:sp>
    </p:spTree>
    <p:extLst>
      <p:ext uri="{BB962C8B-B14F-4D97-AF65-F5344CB8AC3E}">
        <p14:creationId xmlns:p14="http://schemas.microsoft.com/office/powerpoint/2010/main" val="6256341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What SELENOM does</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SELENOM is a protein inside the ER that helps control reversible oxidation reactions.</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Oxidation and calcium in neurons</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SELENOM helps regulate oxidation and calcium in neurons.</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AD-related outcomes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amyloid-β-related and mitochondrial outcomes in cells or animals.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Results from cells or animals do not prove the network connections observed in ROSMAP.</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i="0"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15791603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10607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oxidative-stress control, mitochondrial respiration, and removal of damaged proteins</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ε2, female ε4, male ε2, and male ε3/ε3</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is connected to genes involved in mitochondrial respiration, protein production, and removal of damaged mitochondrial proteins.</a:t>
            </a:r>
          </a:p>
        </p:txBody>
      </p:sp>
    </p:spTree>
    <p:extLst>
      <p:ext uri="{BB962C8B-B14F-4D97-AF65-F5344CB8AC3E}">
        <p14:creationId xmlns:p14="http://schemas.microsoft.com/office/powerpoint/2010/main" val="13718070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oxidative-stress control with mitochondrial respiration and damaged-protein removal</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Cells must control oxidation to prevent damaging oxidative stress.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Control of oxidative stress</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Genes from several mitochondrial functions</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REMOVAL OF DAMAGED PROTEINS</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inner-membrane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Connected genes include CLPP, which removes damaged mitochondrial proteins, and genes that transport molecules across the inner membrane.</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617903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6307055"/>
            <a:ext cx="10405872" cy="40233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connected genes span oxidative-stress control, respiration, protein production, and removal of damaged proteins rather than one narrow OXPHOS connection.</a:t>
            </a:r>
          </a:p>
        </p:txBody>
      </p:sp>
    </p:spTree>
    <p:extLst>
      <p:ext uri="{BB962C8B-B14F-4D97-AF65-F5344CB8AC3E}">
        <p14:creationId xmlns:p14="http://schemas.microsoft.com/office/powerpoint/2010/main" val="9896519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in neurons and has 123 connections to MitoCarta MT genes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groups.</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sex/APOE groups</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connections to MitoCarta MT genes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genes from several mitochondrial functions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input DEG sets with significant OXPHOS enrichment</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Frequently connected genes support mitochondrial respiration</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 and damaged-protein removal</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Connected genes include mitochondrial ribosome genes and CLPP, which removes damaged proteins</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SELENOW itself also changes expression in most supporting KDA calls</a:t>
            </a:r>
          </a:p>
        </p:txBody>
      </p:sp>
    </p:spTree>
    <p:extLst>
      <p:ext uri="{BB962C8B-B14F-4D97-AF65-F5344CB8AC3E}">
        <p14:creationId xmlns:p14="http://schemas.microsoft.com/office/powerpoint/2010/main" val="4054868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returns a different selenium-related gene, not SELENOW</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Returning the same gene would be stronger evidence than returning a different gene with a related function.</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present in matching male ε3/ε3 excitatory networks but was not returned from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present in matching inhibitory networks but was not returned from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GENE IN SEA-AD</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from one KDA call</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gives only weak support for related biology.</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evidence from a study that links genetically predicted gene expression with disease, but this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oxidative stress, removal of tau, and mitochondrial function may be connected</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CONTROL OF OXIDATIVE STRESS</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depend on oxidation reactions and can generate oxidative stress</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REMOVAL OF DAMAGED PROTEINS</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103022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removes damaged mitochondrial proteins; prior mouse work links SELENOW to tau removal</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may connect removal of damaged mitochondrial proteins with broader removal of damaged proteins in the cell.</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LIMIT OF PRIOR EXPERIMENTS</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are both selenium-related, but they connect to different genes and should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loss of SELENOW changes oxidative stress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Connections observed in human neurons</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cell-type-specific connections to respiration and removal of damaged mitochondrial proteins.</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Moderate</a:t>
            </a:r>
          </a:p>
        </p:txBody>
      </p:sp>
    </p:spTree>
    <p:extLst>
      <p:ext uri="{BB962C8B-B14F-4D97-AF65-F5344CB8AC3E}">
        <p14:creationId xmlns:p14="http://schemas.microsoft.com/office/powerpoint/2010/main" val="15769707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connects astrocyte glucose breakdown and low-oxygen signaling with removal of damaged mitochondria</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 female ε4, and male ε4</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glucose breakdown with BNIP3, BNIP3L, and FAM162A, three genes that respond to low oxygen or mitochondrial damage.</a:t>
            </a:r>
          </a:p>
        </p:txBody>
      </p:sp>
    </p:spTree>
    <p:extLst>
      <p:ext uri="{BB962C8B-B14F-4D97-AF65-F5344CB8AC3E}">
        <p14:creationId xmlns:p14="http://schemas.microsoft.com/office/powerpoint/2010/main" val="191304843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Low oxygen and removal of damaged mitochondria</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3413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GENES RESPONDING TO LOW OXYGEN OR DAMAGE</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6214545"/>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6342561"/>
            <a:ext cx="10405872" cy="40233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This small set of connected genes suggests a link between glucose breakdown and recycling of damaged mitochondria,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groups and connects to three stress-response genes</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summary scores rank candidates for follow-up but are exploratory and are not multiple-testing-adjusted q 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directly connected gene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directly connected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did not meet the report’s DEG criteria</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same three genes recur, but support outside ROSMAP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result based on only three connected genes gives a focused hypothesis but depends heavily on those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DIRECTLY CONNECTED GENES</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in 3 KDA calls, BNIP3 in 3, BNIP3L in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gene connections involve response to low oxygen or removal of damaged mitochondria.</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TEST</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PGK1 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present in the only female ε4 astrocyte network available for testing, but the KDA input contained only five DEGs.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INDEPENDENCE OF PRIOR STUDY</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also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evidence about glucose breakdown in glial cells may include some of the same donors, so it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PGK1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shift glucose use and remove damaged mitochondria</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glucose breakdown outside mitochondria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RESPONSE TO MITOCHONDRIAL DAMAGE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respond to low oxygen and damage</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can help remove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Could be protective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glucose breakdown and removal of damaged mitochondria can protect cells or indicate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An experiment that changes PGK1 and then rescues the response can test whether PGK1 acts before BNIP3 and BNIP3L.</a:t>
            </a:r>
          </a:p>
        </p:txBody>
      </p:sp>
    </p:spTree>
    <p:extLst>
      <p:ext uri="{BB962C8B-B14F-4D97-AF65-F5344CB8AC3E}">
        <p14:creationId xmlns:p14="http://schemas.microsoft.com/office/powerpoint/2010/main" val="15348423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Changes in glucose breakdown in glial cells</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groups of glial genes that include PGK1 and BNIP3L and change together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some donors may be the same as in the current analysis.</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 and removal of damaged mitochondria</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changes in mitochondrial shape and removal of damaged mitochondria.</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Removal of damaged mitochondria by astrocytes</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reduced removal of damaged mitochondria and impaired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i="0" dirty="0">
                <a:solidFill>
                  <a:srgbClr val="7E4C9A"/>
                </a:solidFill>
                <a:latin typeface="Arial"/>
                <a:ea typeface="Arial"/>
                <a:cs typeface="Arial"/>
              </a:rPr>
              <a:t>Novelty</a:t>
            </a:r>
            <a:r>
              <a:rPr sz="1080" b="1" i="0" dirty="0">
                <a:solidFill>
                  <a:srgbClr val="7E4C9A"/>
                </a:solidFill>
                <a:latin typeface="Arial"/>
                <a:ea typeface="Arial"/>
                <a:cs typeface="Arial"/>
              </a:rPr>
              <a:t>: Moderate</a:t>
            </a:r>
          </a:p>
        </p:txBody>
      </p:sp>
    </p:spTree>
    <p:extLst>
      <p:ext uri="{BB962C8B-B14F-4D97-AF65-F5344CB8AC3E}">
        <p14:creationId xmlns:p14="http://schemas.microsoft.com/office/powerpoint/2010/main" val="12958300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FTL and ANKRD11 connect iron storage, protection from lipid damage, and cellular recycling in OPCs</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 and male ε2</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connect iron storage in OPCs with GPX4 protection from lipid damage and genes that recycle damaged cell components.</a:t>
            </a:r>
          </a:p>
        </p:txBody>
      </p:sp>
    </p:spTree>
    <p:extLst>
      <p:ext uri="{BB962C8B-B14F-4D97-AF65-F5344CB8AC3E}">
        <p14:creationId xmlns:p14="http://schemas.microsoft.com/office/powerpoint/2010/main" val="17455423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FTL and ANKRD11 connect iron storage with protection from lipid damage and mitochondrial cleanup in OPCs</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Protection from iron-related lipid damage</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requires direct testing</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REMOVAL OF DAMAGED CELL COMPONENTS</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Genes that recycle damaged cell components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FTL and ANKRD11 with genes involved in mitochondrial stress and recycling damaged cell components.</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6179033"/>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6307049"/>
            <a:ext cx="10405872" cy="40233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data suggest a link between iron storage and recycling of damaged cell components. Ferroptosis would require direct measurement of lipid damage and rescue by a ferroptosis inhibitor.</a:t>
            </a:r>
          </a:p>
        </p:txBody>
      </p:sp>
    </p:spTree>
    <p:extLst>
      <p:ext uri="{BB962C8B-B14F-4D97-AF65-F5344CB8AC3E}">
        <p14:creationId xmlns:p14="http://schemas.microsoft.com/office/powerpoint/2010/main" val="206761808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connect to almost the same genes in OPCs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directly connected genes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input DEG sets with significant enrichment</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network cannot show whether ANKRD11 or FTL acts first</a:t>
            </a:r>
          </a:p>
        </p:txBody>
      </p:sp>
    </p:spTree>
    <p:extLst>
      <p:ext uri="{BB962C8B-B14F-4D97-AF65-F5344CB8AC3E}">
        <p14:creationId xmlns:p14="http://schemas.microsoft.com/office/powerpoint/2010/main" val="56255882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Genes returned from OPC KDA calls emphasize recycling of damaged cell components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Several pathway terms contain many of the same genes, including widely used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RECYCLING SPECIFIC CELL COMPONENTS</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pathway result among genes returned from OPC KDA calls.</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REMOVAL OF DAMAGED MITOCHONDRIA</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Genes returned from OPC KDA calls include genes associated with removing damaged mitochondria.</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are the genes behind this pathway result.</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OPC category for KDA, so this result could not be tested in that cohort.</a:t>
            </a:r>
          </a:p>
        </p:txBody>
      </p:sp>
    </p:spTree>
    <p:extLst>
      <p:ext uri="{BB962C8B-B14F-4D97-AF65-F5344CB8AC3E}">
        <p14:creationId xmlns:p14="http://schemas.microsoft.com/office/powerpoint/2010/main" val="142880489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from lipid damage, and removal of damaged mitochondria combine into a testable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WHAT WOULD PROVE FERROPTOSIS</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by a ferroptosis inhibitor</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Connections in human OPCs</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focused connections among FTL, ANKRD11, GPX4, and genes that recycle damaged cell components.</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i="0" dirty="0">
                <a:solidFill>
                  <a:srgbClr val="7E4C9A"/>
                </a:solidFill>
                <a:latin typeface="Arial"/>
                <a:ea typeface="Arial"/>
                <a:cs typeface="Arial"/>
              </a:rPr>
              <a:t>Novelty</a:t>
            </a:r>
            <a:r>
              <a:rPr sz="1080" b="1" i="0" dirty="0">
                <a:solidFill>
                  <a:srgbClr val="7E4C9A"/>
                </a:solidFill>
                <a:latin typeface="Arial"/>
                <a:ea typeface="Arial"/>
                <a:cs typeface="Arial"/>
              </a:rPr>
              <a:t>: High</a:t>
            </a:r>
          </a:p>
        </p:txBody>
      </p:sp>
    </p:spTree>
    <p:extLst>
      <p:ext uri="{BB962C8B-B14F-4D97-AF65-F5344CB8AC3E}">
        <p14:creationId xmlns:p14="http://schemas.microsoft.com/office/powerpoint/2010/main" val="374628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has strong genetic evidence, but its mitochondrial KDA result depends on one gene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ε2, female ε3/ε3, and female ε4</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 evidence, but MT-CO1 is the only MitoCarta MT gene directly connected to it in these KDA calls.</a:t>
            </a:r>
          </a:p>
        </p:txBody>
      </p:sp>
    </p:spTree>
    <p:extLst>
      <p:ext uri="{BB962C8B-B14F-4D97-AF65-F5344CB8AC3E}">
        <p14:creationId xmlns:p14="http://schemas.microsoft.com/office/powerpoint/2010/main" val="184517547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only one connected mitochondrial gene</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can return a gene because of its network connections even when it is not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gene to study.</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NETWORK RESULT IS UNCERTAIN</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repeatedly connected gene</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MT-CO1 is the only MitoCarta MT gene directly connected to PLCG2 across these KDA calls.</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620566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6333685"/>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PLCG2 as an AD gene, but does not confirm this PLCG2–MT-CO1 connection in inhibitory neurons.</a:t>
            </a:r>
          </a:p>
        </p:txBody>
      </p:sp>
    </p:spTree>
    <p:extLst>
      <p:ext uri="{BB962C8B-B14F-4D97-AF65-F5344CB8AC3E}">
        <p14:creationId xmlns:p14="http://schemas.microsoft.com/office/powerpoint/2010/main" val="1404663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recurs across six KDA calls, but only MT-CO1 is directly connected</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genes connected to PLCG2.</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sex/APOE groups</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directly connected MitoCarta MT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met DEG criteria</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PLCG2 returned by KDA only; not a DEG</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MT-CO1 is the directly connected mitochondrial gene</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directly connect PLCG2 with MT-CO1</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PLCG2–MT-CO1 connections involve MT-CO1 upregulation in AD and one involves downregulation</a:t>
            </a:r>
          </a:p>
        </p:txBody>
      </p:sp>
    </p:spTree>
    <p:extLst>
      <p:ext uri="{BB962C8B-B14F-4D97-AF65-F5344CB8AC3E}">
        <p14:creationId xmlns:p14="http://schemas.microsoft.com/office/powerpoint/2010/main" val="20786550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KDA input DEG sets contain many core MT genes, but this does not explain the PLCG2–MT-CO1 connection</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Enrichment in the full DEG input and direct connections to PLCG2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FULL KDA INPUT DEG SETS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DEG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Across the six KDA input DEG sets, core MT genes are upregulated in 36 occurrences and downregulated in five.</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SIGNIFICANT CORE MT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KDA input DEG sets contain more core MT genes than expected by chance.</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SEA-AD could not test this result</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had no female inhibitory KDA category, so it could not test the same sex/APOE and cell context.</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provides gene-level genetic support for PLCG2, but the network result still depends on the single PLCG2–MT-CO1 connection.</a:t>
            </a:r>
          </a:p>
        </p:txBody>
      </p:sp>
    </p:spTree>
    <p:extLst>
      <p:ext uri="{BB962C8B-B14F-4D97-AF65-F5344CB8AC3E}">
        <p14:creationId xmlns:p14="http://schemas.microsoft.com/office/powerpoint/2010/main" val="141567265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Genetic evidence for a gene and evidence for a specific network connection must be considered separately</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AD gene can still have uncertain activity in a particular cell type or uncertain network connections.</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variants affect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produces a small increase in PLCG2 activity.</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CELL-TYPE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result in inhibitory neurons</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CONNECTION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PLCG2–MT-CO1 connection may be unstable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RNA from nearby cells, droplets containing more than one cell, cell-label errors, or network structure could create the repeated connection.</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first we should verify that inhibitory neurons express PLCG2 and that the PLCG2–MT-CO1 connection is reproducible.</a:t>
            </a:r>
          </a:p>
        </p:txBody>
      </p:sp>
    </p:spTree>
    <p:extLst>
      <p:ext uri="{BB962C8B-B14F-4D97-AF65-F5344CB8AC3E}">
        <p14:creationId xmlns:p14="http://schemas.microsoft.com/office/powerpoint/2010/main" val="85100882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variant with a small activity increase</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confirm that PLCG2 regulates MT-CO1.</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i="0" dirty="0">
                <a:solidFill>
                  <a:srgbClr val="7E4C9A"/>
                </a:solidFill>
                <a:latin typeface="Arial"/>
                <a:ea typeface="Arial"/>
                <a:cs typeface="Arial"/>
              </a:rPr>
              <a:t>Novelty</a:t>
            </a:r>
            <a:r>
              <a:rPr sz="1080" b="1" i="0" dirty="0">
                <a:solidFill>
                  <a:srgbClr val="7E4C9A"/>
                </a:solidFill>
                <a:latin typeface="Arial"/>
                <a:ea typeface="Arial"/>
                <a:cs typeface="Arial"/>
              </a:rPr>
              <a:t>: High</a:t>
            </a:r>
          </a:p>
        </p:txBody>
      </p:sp>
    </p:spTree>
    <p:extLst>
      <p:ext uri="{BB962C8B-B14F-4D97-AF65-F5344CB8AC3E}">
        <p14:creationId xmlns:p14="http://schemas.microsoft.com/office/powerpoint/2010/main" val="170797988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results differ by sex/APOE group and are not specific to ε4</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ε2, male ε2, and male ε4</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connected mitochondrial genes.</a:t>
            </a:r>
          </a:p>
        </p:txBody>
      </p:sp>
    </p:spTree>
    <p:extLst>
      <p:ext uri="{BB962C8B-B14F-4D97-AF65-F5344CB8AC3E}">
        <p14:creationId xmlns:p14="http://schemas.microsoft.com/office/powerpoint/2010/main" val="61018605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APOE groups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APOE in an analysis separated by APOE group does not make the result specific to ε4.</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6214545"/>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6342561"/>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is returned from KDA calls in three astrocyte groups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sex/APOE group contributes only one KDA call, so there is not enough evidence for one shared biological pattern.</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met DEG criteria in 3 of 3</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directly connected mitochondrial genes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Mitochondrial 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TUFM, a gene needed for mitochondrial protein production, is connected to APOE</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production and mitochondrial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LDHB and CHCHD10 are involved in metabolism, mitochondrial structure, or stress responses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genes connected to APOE differ across groups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Opposite expression directions and different connected genes could reflect real group differences, different astrocyte states, or sampling.</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SEA-AD could not test these results</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had no KDA calls for the same sex/APOE and cell categories.</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APOE is a well-established AD risk gene, but that does not confirm these expression directions or specific mitochondrial connections.</a:t>
            </a:r>
          </a:p>
        </p:txBody>
      </p:sp>
    </p:spTree>
    <p:extLst>
      <p:ext uri="{BB962C8B-B14F-4D97-AF65-F5344CB8AC3E}">
        <p14:creationId xmlns:p14="http://schemas.microsoft.com/office/powerpoint/2010/main" val="43577954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cell type, sex, and APOE group</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Astrocytes are a well-established source of APOE in the brain.</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group analyses do not prove that the groups differ</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interaction model must directly compare disease effects across sex and APOE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supports testing separate APOE models by sex and genotype rather than assuming an ε4-only effect.</a:t>
            </a:r>
          </a:p>
        </p:txBody>
      </p:sp>
    </p:spTree>
    <p:extLst>
      <p:ext uri="{BB962C8B-B14F-4D97-AF65-F5344CB8AC3E}">
        <p14:creationId xmlns:p14="http://schemas.microsoft.com/office/powerpoint/2010/main" val="126440418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prior research supports and limits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confirm the three sets of network connections shown here.</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APOE-related changes in astrocytes can alter normal mitochondrial function.</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removal of damaged mitochondria</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changes in mitochondrial shape and removal of damaged mitochondria.</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i="0" dirty="0">
                <a:solidFill>
                  <a:srgbClr val="7E4C9A"/>
                </a:solidFill>
                <a:latin typeface="Arial"/>
                <a:ea typeface="Arial"/>
                <a:cs typeface="Arial"/>
              </a:rPr>
              <a:t>Novelty</a:t>
            </a:r>
            <a:r>
              <a:rPr sz="1080" b="1" i="0" dirty="0">
                <a:solidFill>
                  <a:srgbClr val="7E4C9A"/>
                </a:solidFill>
                <a:latin typeface="Arial"/>
                <a:ea typeface="Arial"/>
                <a:cs typeface="Arial"/>
              </a:rPr>
              <a:t>: Moderate</a:t>
            </a:r>
          </a:p>
        </p:txBody>
      </p:sp>
    </p:spTree>
    <p:extLst>
      <p:ext uri="{BB962C8B-B14F-4D97-AF65-F5344CB8AC3E}">
        <p14:creationId xmlns:p14="http://schemas.microsoft.com/office/powerpoint/2010/main" val="9512371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Vascular stress-response genes in the female APOE ε4 group</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ts val="0"/>
              </a:spcBef>
              <a:spcAft>
                <a:spcPts val="0"/>
              </a:spcAft>
              <a:buNone/>
              <a:defRPr sz="1350" b="1">
                <a:solidFill>
                  <a:srgbClr val="E6A700"/>
                </a:solidFill>
                <a:latin typeface="Arial"/>
                <a:ea typeface="Arial"/>
                <a:cs typeface="Arial"/>
              </a:defRPr>
            </a:pPr>
            <a:r>
              <a:rPr sz="1350" b="1" i="0">
                <a:solidFill>
                  <a:srgbClr val="E6A700"/>
                </a:solidFill>
                <a:latin typeface="Arial"/>
                <a:ea typeface="Arial"/>
                <a:cs typeface="Arial"/>
              </a:rPr>
              <a:t>Donor group: female, APOE ε4-containing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dirty="0">
                <a:solidFill>
                  <a:srgbClr val="FFFFFF"/>
                </a:solidFill>
                <a:latin typeface="Arial"/>
                <a:ea typeface="Arial"/>
                <a:cs typeface="Arial"/>
              </a:rPr>
              <a:t>APOE ε4 identifies the donor group, not a pathway. Two vascular-cell KDA calls return HSPH1, HSPA1A, and PTGES3.</a:t>
            </a:r>
          </a:p>
        </p:txBody>
      </p:sp>
    </p:spTree>
    <p:extLst>
      <p:ext uri="{BB962C8B-B14F-4D97-AF65-F5344CB8AC3E}">
        <p14:creationId xmlns:p14="http://schemas.microsoft.com/office/powerpoint/2010/main" val="55796706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Vascular KDA calls in the female APOE ε4 group return three protein-stress genes</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844977"/>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The sex and APOE labels define the donor group. These genes point to protein stress, and literal heat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donors</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ε4-containing</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Protein-folding helper during stress</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Helps damaged proteins refold</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Protein-folding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Tree>
    <p:extLst>
      <p:ext uri="{BB962C8B-B14F-4D97-AF65-F5344CB8AC3E}">
        <p14:creationId xmlns:p14="http://schemas.microsoft.com/office/powerpoint/2010/main" val="19739350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of five returned genes map to two overlapping stress-response pathways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1004433"/>
            <a:ext cx="11113008"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For this donor group, pathway analysis tests whether the five returned genes occur more often than expected in known gene sets.</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730327"/>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858342"/>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2388695"/>
            <a:ext cx="312724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genes returned from vascular KDA calls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717879"/>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APOE ε4-containing donor group</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730327"/>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858342"/>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2388695"/>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genes returned from KDA calls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717879"/>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730327"/>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858342"/>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2388695"/>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717879"/>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only two KDA calls contribute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333052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495119"/>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result: genes controlled by HSF1</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449399"/>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449399"/>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controls genes that protect proteins during cell stress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429064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455238"/>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result: cellular response to heat stress</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409519"/>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409519"/>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This pathway contains genes activated by cellular stress, including stress from damaged proteins. It does not imply exposure to high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5250766"/>
            <a:ext cx="10698480" cy="941921"/>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415359"/>
            <a:ext cx="2331720" cy="6492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WHY THE TWO PATHWAY RESULTS OVERLAP</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5369639"/>
            <a:ext cx="1975104" cy="7863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The same three genes contribute to both</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5369639"/>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HSPH1, HSPA1A, and PTGES3 contribute to both the HSF1-controlled and heat-stress pathway results</a:t>
            </a:r>
          </a:p>
        </p:txBody>
      </p:sp>
    </p:spTree>
    <p:extLst>
      <p:ext uri="{BB962C8B-B14F-4D97-AF65-F5344CB8AC3E}">
        <p14:creationId xmlns:p14="http://schemas.microsoft.com/office/powerpoint/2010/main" val="153543536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Two KDA calls make the female APOE ε4 subgroup result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800588"/>
            <a:ext cx="10927080"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Only two ROSMAP vascular KDA calls support the two overlapping stress-response pathway results. SEA-AD had no vascular KDA category.</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EVIDENCE IN THIS GROUP</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fine-cell KDA calls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OVERLAPPING PATHWAY RESULTS</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same three genes drive both results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HSF1-controlled and heat-stress pathway results are both driven by HSPH1, HSPA1A, and PTGES3.</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SEA-AD vascular KDA analysis</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cannot test this result because no vascular category was available for KDA.</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This remains a low-confidence ROSMAP clue because only two KDA calls support it.</a:t>
            </a:r>
          </a:p>
        </p:txBody>
      </p:sp>
    </p:spTree>
    <p:extLst>
      <p:ext uri="{BB962C8B-B14F-4D97-AF65-F5344CB8AC3E}">
        <p14:creationId xmlns:p14="http://schemas.microsoft.com/office/powerpoint/2010/main" val="188856300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the HSF1-linked stress response in vascular cells may matter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33752"/>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This hypothesis concerns protein protection in vascular cells. The analysis does not identify the trigger.</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Protein-folding helpers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may indicate protein damage or a general protective response.</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Tree>
    <p:extLst>
      <p:ext uri="{BB962C8B-B14F-4D97-AF65-F5344CB8AC3E}">
        <p14:creationId xmlns:p14="http://schemas.microsoft.com/office/powerpoint/2010/main" val="78057473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Evidence supporting the HSF1-linked vascular stress-response finding</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15997"/>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pathway results</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HSF1-controlled and heat-stress gene sets</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vascular KDA calls from female donors in the APOE ε4-containing group return three genes that contribute to both pathway results.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from two KDA calls produce this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sex-specific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group of stress-response genes in vascular cells.</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differences among cell populations</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AD-related gene expression differs among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confirm this group of genes.</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a:solidFill>
                  <a:srgbClr val="7E4C9A"/>
                </a:solidFill>
                <a:latin typeface="Arial"/>
                <a:ea typeface="Arial"/>
                <a:cs typeface="Arial"/>
              </a:rPr>
              <a:t>Novelty: Moderate</a:t>
            </a:r>
          </a:p>
        </p:txBody>
      </p:sp>
    </p:spTree>
    <p:extLst>
      <p:ext uri="{BB962C8B-B14F-4D97-AF65-F5344CB8AC3E}">
        <p14:creationId xmlns:p14="http://schemas.microsoft.com/office/powerpoint/2010/main" val="685267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TotalTime>
  <Words>42338</Words>
  <Application>Microsoft Macintosh PowerPoint</Application>
  <DocSecurity>0</DocSecurity>
  <PresentationFormat>Widescreen</PresentationFormat>
  <Paragraphs>3665</Paragraphs>
  <Slides>154</Slides>
  <Notes>154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154</vt:i4>
      </vt:variant>
    </vt:vector>
  </HeadingPairs>
  <TitlesOfParts>
    <vt:vector size="15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66</cp:revision>
  <dcterms:created xsi:type="dcterms:W3CDTF">2026-09-20T15:55:40Z</dcterms:created>
  <dcterms:modified xsi:type="dcterms:W3CDTF">2026-09-22T20:49:36Z</dcterms:modified>
</cp:coreProperties>
</file>