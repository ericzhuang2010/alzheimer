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94" r:id="rId3"/>
    <p:sldId id="295" r:id="rId4"/>
    <p:sldId id="257" r:id="rId5"/>
    <p:sldId id="258" r:id="rId6"/>
    <p:sldId id="259" r:id="rId7"/>
    <p:sldId id="260" r:id="rId8"/>
    <p:sldId id="263" r:id="rId9"/>
    <p:sldId id="262" r:id="rId10"/>
    <p:sldId id="273" r:id="rId11"/>
    <p:sldId id="272" r:id="rId12"/>
    <p:sldId id="271"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47"/>
    <p:restoredTop sz="97023"/>
  </p:normalViewPr>
  <p:slideViewPr>
    <p:cSldViewPr snapToGrid="0" snapToObjects="1">
      <p:cViewPr varScale="1">
        <p:scale>
          <a:sx n="216" d="100"/>
          <a:sy n="216" d="100"/>
        </p:scale>
        <p:origin x="224" y="2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1913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Introduce the analysis in both cohorts.</a:t>
            </a:r>
          </a:p>
          <a:p>
            <a:endParaRPr/>
          </a:p>
          <a:p>
            <a:r>
              <a:t>Walk through: Part I summarizes 194 ROSMAP KDA calls and 381 non-MT gene-by-category units. Part II summarizes 22 SEA-AD calls against SEA-AD-specific networks and 44 units.</a:t>
            </a:r>
          </a:p>
          <a:p>
            <a:endParaRPr/>
          </a:p>
          <a:p>
            <a:r>
              <a:t>Scientific boundary: Each contrast contributes at most one mitochondrial DEG query and one KDA call.</a:t>
            </a:r>
          </a:p>
          <a:p>
            <a:endParaRPr/>
          </a:p>
          <a:p>
            <a:r>
              <a:t>Transition: Compare the cohort and run structures before reviewing each branch.</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Define the category unit before presenting cohort-specific counts.</a:t>
            </a:r>
          </a:p>
          <a:p>
            <a:endParaRPr/>
          </a:p>
          <a:p>
            <a:r>
              <a:t>Walk through: Start with two sexes and three APOE groups: epsilon-2 carriers, epsilon-3 homozygotes, and epsilon-4 carriers. Their cross creates six sex/APOE groups. Crossing each group with the seven frozen broad cell types creates 42 possible categories. For example, M_e33 by excitatory neurons is one category. Key-driver genes are ranked separately within each category.</a:t>
            </a:r>
          </a:p>
          <a:p>
            <a:endParaRPr/>
          </a:p>
          <a:p>
            <a:r>
              <a:t>Scientific boundary: Forty-two is the structural design space. A possible category may lack an eligible KDA call or a returned non-mitochondrial driver, so it should not be interpreted as an observed negative result.</a:t>
            </a:r>
          </a:p>
          <a:p>
            <a:endParaRPr/>
          </a:p>
          <a:p>
            <a:r>
              <a:t>Transition: With the category unit defined, compare the two cohorts and their shared aggregation rule.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Distinguish the contrast, KDA call, and broad-cell category units.</a:t>
            </a:r>
          </a:p>
          <a:p>
            <a:endParaRPr/>
          </a:p>
          <a:p>
            <a:r>
              <a:t>Walk through: A contrast is one AD-versus-NCI comparison within one fine cell type and one sex/APOE group. Therefore N fine cell types create six N planned contrasts; in ROSMAP, 54 fine types create 324. Remove source-invalid contrasts; among valid contrasts, call_key_drivers runs only when the mapped mitochondrial query contains at least three genes. One call returns each significant key-driver gene at most once. The same gene can return from several fine-cell contrasts belonging to the same broad-cell category, so its returned within-call adjusted P values are combined by equal-weight ACAT into one gene-by-category score.</a:t>
            </a:r>
          </a:p>
          <a:p>
            <a:endParaRPr/>
          </a:p>
          <a:p>
            <a:r>
              <a:t>Scientific boundary: The ACAT is returned-only: a contrast in which the gene was not returned does not contribute P equals one. A skipped contrast is unavailable, not a completed null KDA test.</a:t>
            </a:r>
          </a:p>
          <a:p>
            <a:endParaRPr/>
          </a:p>
          <a:p>
            <a:r>
              <a:t>Transition: With contrast and category units separated, compare the two cohort funnels.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Give a side-by-side map of the two analyses.</a:t>
            </a:r>
          </a:p>
          <a:p>
            <a:endParaRPr/>
          </a:p>
          <a:p>
            <a:r>
              <a:t>Walk through: ROSMAP is the primary analysis: 324 planned contrasts yield 194 KDA calls and 381 gene-by-category combinations, representing 228 unique genes in 29 categories. SEA-AD is the validation analysis: 774 planned contrasts yield 22 KDA calls and 44 combinations, representing 43 unique genes in five categories.</a:t>
            </a:r>
          </a:p>
          <a:p>
            <a:endParaRPr/>
          </a:p>
          <a:p>
            <a:r>
              <a:t>Scientific boundary: Twenty of 22 SEA-AD calls are M_e33. Categories without calls are unavailable, not negative tests.</a:t>
            </a:r>
          </a:p>
          <a:p>
            <a:endParaRPr/>
          </a:p>
          <a:p>
            <a:r>
              <a:t>Transition: Review the ROSMAP branch first.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Introduce the ROSMAP fine-cell KDA branch.</a:t>
            </a:r>
          </a:p>
          <a:p>
            <a:endParaRPr/>
          </a:p>
          <a:p>
            <a:r>
              <a:t>Walk through: The section defines the one-query-per-contrast design, the eligibility funnel, query construction, and returned-only simple aggregation.</a:t>
            </a:r>
          </a:p>
          <a:p>
            <a:endParaRPr/>
          </a:p>
          <a:p>
            <a:r>
              <a:t>Scientific boundary: The analysis uses existing validated KDA results and does not pool sex/APOE groups.</a:t>
            </a:r>
          </a:p>
          <a:p>
            <a:endParaRPr/>
          </a:p>
          <a:p>
            <a:r>
              <a:t>Transition: Start with the four counting units.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Separate contrast, mitochondrial query, KDA call, and category result.</a:t>
            </a:r>
          </a:p>
          <a:p>
            <a:endParaRPr/>
          </a:p>
          <a:p>
            <a:r>
              <a:t>Walk through: A contrast is one signed DEG result and contributes one core-MT DEG query. A mapped query of at least three genes becomes one KDA call. A category is one sex/APOE group crossed with one broad network; returned non-MT drivers from eligible fine-cell runs are aggregated within it.</a:t>
            </a:r>
          </a:p>
          <a:p>
            <a:endParaRPr/>
          </a:p>
          <a:p>
            <a:r>
              <a:t>Scientific boundary: A candidate driver can be a non-DEG, non-mitochondrial network gene.</a:t>
            </a:r>
          </a:p>
          <a:p>
            <a:endParaRPr/>
          </a:p>
          <a:p>
            <a:r>
              <a:t>Transition: Apply the definitions to the 324-contrast universe.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source failures.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Clarify the three-gene execution floor and the three invalid source contrasts.</a:t>
            </a:r>
          </a:p>
          <a:p>
            <a:endParaRPr/>
          </a:p>
          <a:p>
            <a:r>
              <a:t>Walk through: All 194 calls meeting the mapped-query floor were completed: 164 returned significant drivers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mitochondrial query is constructed.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Explain the ROSMAP mitochondrial query.</a:t>
            </a:r>
          </a:p>
          <a:p>
            <a:endParaRPr/>
          </a:p>
          <a:p>
            <a:r>
              <a:t>Walk through: The DEG filters identify 4,258 positive and 5,004 negative core-MT memberships. Together these are 9,262 provisional memberships across contrasts; 7,933 remain after network-background mapping. Each contrast contributes one query and at most one KDA call.</a:t>
            </a:r>
          </a:p>
          <a:p>
            <a:endParaRPr/>
          </a:p>
          <a:p>
            <a:r>
              <a:t>Scientific boundary: These are repeated memberships across contrasts, not unique genes and not driver counts.</a:t>
            </a:r>
          </a:p>
          <a:p>
            <a:endParaRPr/>
          </a:p>
          <a:p>
            <a:r>
              <a:t>Transition: Review the returned non-MT top-five display.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Present the ROSMAP top-five results.</a:t>
            </a:r>
          </a:p>
          <a:p>
            <a:endParaRPr/>
          </a:p>
          <a:p>
            <a:r>
              <a:t>Walk through: The figure displays up to five non-MT drivers in each of 29 populated categories, for 123 displayed entries. For rows containing more than five drivers, n reports the total number of distinct non-MT driver genes in that category. For a gene returned by one KDA call, the ranking score is that call's within-call BH-adjusted KDA P value. For a gene returned by at least two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returned drivers. Each broad-cell color is held constant across panels.</a:t>
            </a:r>
          </a:p>
          <a:p>
            <a:endParaRPr/>
          </a:p>
          <a:p>
            <a:r>
              <a:t>Scientific boundary: Top five is a display cap, and returned-only scores are exploratory without final across-gene FDR control.</a:t>
            </a:r>
          </a:p>
          <a:p>
            <a:endParaRPr/>
          </a:p>
          <a:p>
            <a:r>
              <a:t>Transition: Summarize recurrence across categories.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Interpret category recurrence.</a:t>
            </a:r>
          </a:p>
          <a:p>
            <a:endParaRPr/>
          </a:p>
          <a:p>
            <a:r>
              <a:t>Walk through: RPS15 occurs in 11 categories from 22 returned calls. RPL11 occurs in 10 categories from 24 calls. Color encodes how many category scores combine at least two returned calls.</a:t>
            </a:r>
          </a:p>
          <a:p>
            <a:endParaRPr/>
          </a:p>
          <a:p>
            <a:r>
              <a:t>Scientific boundary: Category presence is descriptive and not independent replication.</a:t>
            </a:r>
          </a:p>
          <a:p>
            <a:endParaRPr/>
          </a:p>
          <a:p>
            <a:r>
              <a:t>Transition: Summarize the full ROSMAP output scale.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Summarize the scale and distribution of the ROSMAP output.</a:t>
            </a:r>
          </a:p>
          <a:p>
            <a:endParaRPr/>
          </a:p>
          <a:p>
            <a:r>
              <a:t>Walk through: The 623 retained non-MT returned rows form 381 gene-by-category units representing 228 genes across 29 categories. The lower panels show their group, network, and recurrence distributions.</a:t>
            </a:r>
          </a:p>
          <a:p>
            <a:endParaRPr/>
          </a:p>
          <a:p>
            <a:r>
              <a:t>Scientific boundary: Counts condition on significant within-call returns and unequal call opportunities.</a:t>
            </a:r>
          </a:p>
          <a:p>
            <a:endParaRPr/>
          </a:p>
          <a:p>
            <a:r>
              <a:t>Transition: Move to the SEA-AD-specific-network analysis.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calls are strongly concentrated in M_e33.</a:t>
            </a:r>
          </a:p>
          <a:p>
            <a:endParaRPr/>
          </a:p>
          <a:p>
            <a:r>
              <a:t>Transition: Start with the contrast-level funnel.</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Show how 774 SEA-AD contrasts reduce to 22 executable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Inspect the returned non-MT candidates.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Present leading SEA-AD non-MT candidates.</a:t>
            </a:r>
          </a:p>
          <a:p>
            <a:endParaRPr/>
          </a:p>
          <a:p>
            <a:r>
              <a:t>Walk through: Seventeen entries appear across F_e33 excitatory, F_e4 astrocyte, and three M_e33 categories. Blue hatching denotes ACAT across at least two calls; orange is one-call q passthrough.</a:t>
            </a:r>
          </a:p>
          <a:p>
            <a:endParaRPr/>
          </a:p>
          <a:p>
            <a:r>
              <a:t>Scientific boundary: Top five is a display cap and the five populated categories expose strong availability imbalance.</a:t>
            </a:r>
          </a:p>
          <a:p>
            <a:endParaRPr/>
          </a:p>
          <a:p>
            <a:r>
              <a:t>Transition: Review recurrence across those categories.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Summarize the SEA-AD output scale.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Summarize the SEA-AD output.</a:t>
            </a:r>
          </a:p>
          <a:p>
            <a:endParaRPr/>
          </a:p>
          <a:p>
            <a:r>
              <a:t>Walk through: The 54 retained rows form 44 category units representing 43 genes across five categories. Thirty-nine units and 20 of 22 active calls are M_e33.</a:t>
            </a:r>
          </a:p>
          <a:p>
            <a:endParaRPr/>
          </a:p>
          <a:p>
            <a:r>
              <a:t>Scientific boundary: Returned-only scores remain exploratory and are not final-FDR controlled across genes.</a:t>
            </a:r>
          </a:p>
          <a:p>
            <a:endParaRPr/>
          </a:p>
          <a:p>
            <a:r>
              <a:t>Transition: Compare the driver sets across cohorts.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Frame the cross-cohort comparison.</a:t>
            </a:r>
          </a:p>
          <a:p>
            <a:endParaRPr/>
          </a:p>
          <a:p>
            <a:r>
              <a:t>Walk through: Part 3 compares driver symbols, category contexts, and all six cross-cohort unit pairings formed by the shared genes.</a:t>
            </a:r>
          </a:p>
          <a:p>
            <a:endParaRPr/>
          </a:p>
          <a:p>
            <a:r>
              <a:t>Scientific boundary: This is a cross-cohort and cross-network comparison, not an isolated test of cohort biology.</a:t>
            </a:r>
          </a:p>
          <a:p>
            <a:endParaRPr/>
          </a:p>
          <a:p>
            <a:r>
              <a:t>Transition: Define gene- and category-level agreement.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Define gene-level and category-level agreement.</a:t>
            </a:r>
          </a:p>
          <a:p>
            <a:endParaRPr/>
          </a:p>
          <a:p>
            <a:r>
              <a:t>Walk through: Gene-level overlap asks whether a symbol appears anywhere among 228 ROSMAP and 43 SEA-AD genes. Category agreement also requires the same sex/APOE group and broad network among 381 and 44 units.</a:t>
            </a:r>
          </a:p>
          <a:p>
            <a:endParaRPr/>
          </a:p>
          <a:p>
            <a:r>
              <a:t>Scientific boundary: Availability limits context comparison; four populated categories exist in both result sets.</a:t>
            </a:r>
          </a:p>
          <a:p>
            <a:endParaRPr/>
          </a:p>
          <a:p>
            <a:r>
              <a:t>Transition: State the gene-level overlap.</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State the gene-level overlap.</a:t>
            </a:r>
          </a:p>
          <a:p>
            <a:endParaRPr/>
          </a:p>
          <a:p>
            <a:r>
              <a:t>Walk through: LAGE3, MIPOL1, and PAPOLA are shared: three of 43 SEA-AD genes, or seven percent. No shared gene keeps both group and broad-cell context.</a:t>
            </a:r>
          </a:p>
          <a:p>
            <a:endParaRPr/>
          </a:p>
          <a:p>
            <a:r>
              <a:t>Scientific boundary: Gene overlap is exploratory and influenced by cohort-specific topology and unbalanced call availability.</a:t>
            </a:r>
          </a:p>
          <a:p>
            <a:endParaRPr/>
          </a:p>
          <a:p>
            <a:r>
              <a:t>Transition: Inspect the three genes' contexts directly.</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Show the direct context matrix for all three shared genes.</a:t>
            </a:r>
          </a:p>
          <a:p>
            <a:endParaRPr/>
          </a:p>
          <a:p>
            <a:r>
              <a:t>Walk through: LAGE3 and PAPOLA retain neither group nor broad cell type. MIPOL1 retains M_e33 in one ROSMAP category but switches from excitatory to inhibitory neurons.</a:t>
            </a:r>
          </a:p>
          <a:p>
            <a:endParaRPr/>
          </a:p>
          <a:p>
            <a:r>
              <a:t>Scientific boundary: Zero exact matches is conditional on the available returned-only units, not a negative result for unexecuted categories.</a:t>
            </a:r>
          </a:p>
          <a:p>
            <a:endParaRPr/>
          </a:p>
          <a:p>
            <a:r>
              <a:t>Transition: Separate gene overlap from context preservation.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Summarize partial context preservation for each shared gene.</a:t>
            </a:r>
          </a:p>
          <a:p>
            <a:endParaRPr/>
          </a:p>
          <a:p>
            <a:r>
              <a:t>Walk through: MIPOL1 produces the only same-group pairing: SEA-AD M_e33 excitatory versus ROSMAP M_e33 inhibitory. LAGE3 and PAPOLA change both group and broad cell type.</a:t>
            </a:r>
          </a:p>
          <a:p>
            <a:endParaRPr/>
          </a:p>
          <a:p>
            <a:r>
              <a:t>Scientific boundary: The categories are non-independent because a gene can occupy multiple ROSMAP units.</a:t>
            </a:r>
          </a:p>
          <a:p>
            <a:endParaRPr/>
          </a:p>
          <a:p>
            <a:r>
              <a:t>Transition: Count all cross-cohort unit pairings.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Make the unit-pair denominator explicit.</a:t>
            </a:r>
          </a:p>
          <a:p>
            <a:endParaRPr/>
          </a:p>
          <a:p>
            <a:r>
              <a:t>Walk through: LAGE3 contributes three pairings, MIPOL1 two, and PAPOLA one. Only the MIPOL1 M_e33 pairing preserves the group; no pairing preserves cell type or full context.</a:t>
            </a:r>
          </a:p>
          <a:p>
            <a:endParaRPr/>
          </a:p>
          <a:p>
            <a:r>
              <a:t>Scientific boundary: Pairings are descriptive and non-independent.</a:t>
            </a:r>
          </a:p>
          <a:p>
            <a:endParaRPr/>
          </a:p>
          <a:p>
            <a:r>
              <a:t>Transition: Summarize the corresponding percentages.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Quantify context preservation across all six shared-gene pairings.</a:t>
            </a:r>
          </a:p>
          <a:p>
            <a:endParaRPr/>
          </a:p>
          <a:p>
            <a:r>
              <a:t>Walk through: No pairing shares broad cell type, one shares sex/APOE group, and no pairing shares both. The one same-group pairing is MIPOL1 in M_e33.</a:t>
            </a:r>
          </a:p>
          <a:p>
            <a:endParaRPr/>
          </a:p>
          <a:p>
            <a:r>
              <a:t>Scientific boundary: These are descriptive proportions, not formal replication probabilities.</a:t>
            </a:r>
          </a:p>
          <a:p>
            <a:endParaRPr/>
          </a:p>
          <a:p>
            <a:r>
              <a:t>Transition: Show the ROSMAP sex distribution of the shared genes.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Show the ROSMAP sex membership of the three shared SEA-AD M_e33 genes.</a:t>
            </a:r>
          </a:p>
          <a:p>
            <a:endParaRPr/>
          </a:p>
          <a:p>
            <a:r>
              <a:t>Walk through: PAPOLA is female-only in ROSMAP. LAGE3 and MIPOL1 appear in both ROSMAP sexes. None is male-only.</a:t>
            </a:r>
          </a:p>
          <a:p>
            <a:endParaRPr/>
          </a:p>
          <a:p>
            <a:r>
              <a:t>Scientific boundary: Observed sex membership is not a sex-interaction test and reflects unequal returned-only opportunities.</a:t>
            </a:r>
          </a:p>
          <a:p>
            <a:endParaRPr/>
          </a:p>
          <a:p>
            <a:r>
              <a:t>Transition: Close with supported findings and limits.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State the cross-cohort conclusion without overclaiming validation.</a:t>
            </a:r>
          </a:p>
          <a:p>
            <a:endParaRPr/>
          </a:p>
          <a:p>
            <a:r>
              <a:t>Walk through: The comparison finds three shared genes and no exact category match. MIPOL1 retains M_e33 but changes cell type; PJVK is the only within-SEA-AD recurrent gene across categories.</a:t>
            </a:r>
          </a:p>
          <a:p>
            <a:endParaRPr/>
          </a:p>
          <a:p>
            <a:r>
              <a:t>Scientific boundary: The comparison is descriptive, post-selected, unbalanced across strata, and confounds cohort with network topology.</a:t>
            </a:r>
          </a:p>
          <a:p>
            <a:endParaRPr/>
          </a:p>
          <a:p>
            <a:r>
              <a:t>Transition: Continue to the sensitivity-analysis section.</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cohort-level consequences of the donor-threshold test.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Show the numerical impact of raising the minimum disease-arm donor count from three to five in both cohorts.</a:t>
            </a:r>
          </a:p>
          <a:p>
            <a:endParaRPr/>
          </a:p>
          <a:p>
            <a:r>
              <a:t>Walk through: ROSMAP falls from 42 to 40 eligible contrasts, three to two KDA runs, 39 to 13 returned rows, and 33 to 13 unique non-mitochondrial drivers. SEA-AD falls from 28 to 20 eligible contrasts, while its five KDA runs, 24 returned rows, and 18 unique non-mitochondrial drivers are unchanged.</a:t>
            </a:r>
          </a:p>
          <a:p>
            <a:endParaRPr/>
          </a:p>
          <a:p>
            <a:r>
              <a:t>Scientific boundary: The threshold test changes only the donor eligibility gate. It does not change retained contrast models, DEG queries, networks, or KDA settings.</a:t>
            </a:r>
          </a:p>
          <a:p>
            <a:endParaRPr/>
          </a:p>
          <a:p>
            <a:r>
              <a:t>Transition: Next, interpret why the two cohorts respond differently and what this means for validation.</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Summarize the cohort-specific and cross-cohort conclusions of the donor-threshold sensitivity analysis.</a:t>
            </a:r>
          </a:p>
          <a:p>
            <a:endParaRPr/>
          </a:p>
          <a:p>
            <a:r>
              <a:t>Walk through: ROSMAP loses the low-support Vasculature M_e2 call that generated 26 driver rows.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a:t>
            </a:r>
          </a:p>
          <a:p>
            <a:endParaRPr/>
          </a:p>
          <a:p>
            <a:r>
              <a:t>Transition: Continue with the next sensitivity analysis when it is available.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Show how increasing the minimum effective query size changes KDA availability and returned drivers.</a:t>
            </a:r>
          </a:p>
          <a:p>
            <a:endParaRPr/>
          </a:p>
          <a:p>
            <a:r>
              <a:t>Walk through: ROSMAP contracts from three calls and 39 returned rows at three genes to one call and 26 rows at ten or more genes. SEA-AD is unchanged at five genes, contracts to three calls and eight rows at ten or twenty genes, and retains two calls and seven rows at thirty genes.</a:t>
            </a:r>
          </a:p>
          <a:p>
            <a:endParaRPr/>
          </a:p>
          <a:p>
            <a:r>
              <a:t>Scientific boundary: The donor minimum remains three per disease arm. This exact gating sensitivity drops existing calls; it does not refit DEG models or rerun KDA for retained calls. Significant rows are raw returns, while the final column excludes MT-* genes and deduplicates within cohort.</a:t>
            </a:r>
          </a:p>
          <a:p>
            <a:endParaRPr/>
          </a:p>
          <a:p>
            <a:r>
              <a:t>Transition: Next, identify the specific calls responsible for the step changes.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Explain which KDA calls drive the query-threshold sensitivity result.</a:t>
            </a:r>
          </a:p>
          <a:p>
            <a:endParaRPr/>
          </a:p>
          <a:p>
            <a:r>
              <a:t>Walk through: ROSMAP loses the three-gene OPC call at five and the eight-gene astrocyte call at ten, leaving only the 78-gene low-donor vasculature call. SEA-AD is unchanged at five; at ten it loses its five-gene microglia and nine-gene astrocyte calls, and at thirty it additionally loses the 21-gene oligodendrocyte call.</a:t>
            </a:r>
          </a:p>
          <a:p>
            <a:endParaRPr/>
          </a:p>
          <a:p>
            <a:r>
              <a:t>Scientific boundary: Returned MT-* genes are shown only when explaining raw row changes; they are not treated as eligible key drivers.</a:t>
            </a:r>
          </a:p>
          <a:p>
            <a:endParaRPr/>
          </a:p>
          <a:p>
            <a:r>
              <a:t>Transition: Finish with the consequences for matched-stratum validation and the least disruptive threshold.</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State the validation impact and identify the least disruptive query-size sensitivity threshold.</a:t>
            </a:r>
          </a:p>
          <a:p>
            <a:endParaRPr/>
          </a:p>
          <a:p>
            <a:r>
              <a:t>Walk through: Non-mitochondrial driver overlap is zero at every threshold. The shared Astrocytes F_e4 stratum remains available at thresholds three and five but disappears from both cohorts at ten. Threshold five is the only stricter floor that preserves all SEA-AD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a:t>
            </a:r>
          </a:p>
          <a:p>
            <a:endParaRPr/>
          </a:p>
          <a:p>
            <a:r>
              <a:t>Transition: Continue with the next planned sensitivity test.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p:cNvSpPr txBox="1"/>
          <p:nvPr/>
        </p:nvSpPr>
        <p:spPr>
          <a:xfrm>
            <a:off x="713232" y="1177296"/>
            <a:ext cx="10287000" cy="11018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3400" b="1" i="0" dirty="0">
                <a:solidFill>
                  <a:srgbClr val="FFFFFF"/>
                </a:solidFill>
                <a:latin typeface="Arial"/>
              </a:rPr>
              <a:t>ROSMAP and SEA-AD sex/APOE key-driver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What is a category</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One category selects one sex, one APOE group, and one broad cell type.</a:t>
            </a:r>
          </a:p>
        </p:txBody>
      </p:sp>
      <p:sp>
        <p:nvSpPr>
          <p:cNvPr id="4" name="Rounded Rectangle 3"/>
          <p:cNvSpPr/>
          <p:nvPr/>
        </p:nvSpPr>
        <p:spPr>
          <a:xfrm>
            <a:off x="603504" y="12984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4813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2800" b="1" i="0">
                <a:solidFill>
                  <a:srgbClr val="0072B2"/>
                </a:solidFill>
                <a:latin typeface="Arial"/>
              </a:rPr>
              <a:t>2</a:t>
            </a:r>
          </a:p>
        </p:txBody>
      </p:sp>
      <p:sp>
        <p:nvSpPr>
          <p:cNvPr id="6" name="TextBox 5"/>
          <p:cNvSpPr txBox="1"/>
          <p:nvPr/>
        </p:nvSpPr>
        <p:spPr>
          <a:xfrm>
            <a:off x="1408176" y="14721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80" b="1" i="0">
                <a:solidFill>
                  <a:srgbClr val="0F233D"/>
                </a:solidFill>
                <a:latin typeface="Arial"/>
              </a:rPr>
              <a:t>SEXES</a:t>
            </a:r>
          </a:p>
        </p:txBody>
      </p:sp>
      <p:sp>
        <p:nvSpPr>
          <p:cNvPr id="7" name="TextBox 6"/>
          <p:cNvSpPr txBox="1"/>
          <p:nvPr/>
        </p:nvSpPr>
        <p:spPr>
          <a:xfrm>
            <a:off x="1408176" y="17922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0" i="0">
                <a:solidFill>
                  <a:srgbClr val="4E5A68"/>
                </a:solidFill>
                <a:latin typeface="Arial"/>
              </a:rPr>
              <a:t>Female • Male</a:t>
            </a:r>
          </a:p>
        </p:txBody>
      </p:sp>
      <p:sp>
        <p:nvSpPr>
          <p:cNvPr id="8" name="TextBox 7"/>
          <p:cNvSpPr txBox="1"/>
          <p:nvPr/>
        </p:nvSpPr>
        <p:spPr>
          <a:xfrm>
            <a:off x="2724912" y="15819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2200" b="1" i="0">
                <a:solidFill>
                  <a:srgbClr val="4E5A68"/>
                </a:solidFill>
                <a:latin typeface="Arial"/>
              </a:rPr>
              <a:t>×</a:t>
            </a:r>
          </a:p>
        </p:txBody>
      </p:sp>
      <p:sp>
        <p:nvSpPr>
          <p:cNvPr id="9" name="Rounded Rectangle 8"/>
          <p:cNvSpPr/>
          <p:nvPr/>
        </p:nvSpPr>
        <p:spPr>
          <a:xfrm>
            <a:off x="3200400" y="12984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64992" y="14813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2800" b="1" i="0">
                <a:solidFill>
                  <a:srgbClr val="00684D"/>
                </a:solidFill>
                <a:latin typeface="Arial"/>
              </a:rPr>
              <a:t>3</a:t>
            </a:r>
          </a:p>
        </p:txBody>
      </p:sp>
      <p:sp>
        <p:nvSpPr>
          <p:cNvPr id="11" name="TextBox 10"/>
          <p:cNvSpPr txBox="1"/>
          <p:nvPr/>
        </p:nvSpPr>
        <p:spPr>
          <a:xfrm>
            <a:off x="4005072" y="14721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80" b="1" i="0">
                <a:solidFill>
                  <a:srgbClr val="0F233D"/>
                </a:solidFill>
                <a:latin typeface="Arial"/>
              </a:rPr>
              <a:t>APOE GROUPS</a:t>
            </a:r>
          </a:p>
        </p:txBody>
      </p:sp>
      <p:sp>
        <p:nvSpPr>
          <p:cNvPr id="12" name="TextBox 11"/>
          <p:cNvSpPr txBox="1"/>
          <p:nvPr/>
        </p:nvSpPr>
        <p:spPr>
          <a:xfrm>
            <a:off x="4005072" y="17922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0" i="0">
                <a:solidFill>
                  <a:srgbClr val="4E5A68"/>
                </a:solidFill>
                <a:latin typeface="Arial"/>
              </a:rPr>
              <a:t>ε2 carrier • ε3/ε3 • ε4 carrier</a:t>
            </a:r>
          </a:p>
        </p:txBody>
      </p:sp>
      <p:sp>
        <p:nvSpPr>
          <p:cNvPr id="13" name="TextBox 12"/>
          <p:cNvSpPr txBox="1"/>
          <p:nvPr/>
        </p:nvSpPr>
        <p:spPr>
          <a:xfrm>
            <a:off x="5833872" y="15819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2200" b="1" i="0">
                <a:solidFill>
                  <a:srgbClr val="4E5A68"/>
                </a:solidFill>
                <a:latin typeface="Arial"/>
              </a:rPr>
              <a:t>×</a:t>
            </a:r>
          </a:p>
        </p:txBody>
      </p:sp>
      <p:sp>
        <p:nvSpPr>
          <p:cNvPr id="14" name="Rounded Rectangle 13"/>
          <p:cNvSpPr/>
          <p:nvPr/>
        </p:nvSpPr>
        <p:spPr>
          <a:xfrm>
            <a:off x="6309360" y="12984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73952" y="14813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2800" b="1" i="0">
                <a:solidFill>
                  <a:srgbClr val="895600"/>
                </a:solidFill>
                <a:latin typeface="Arial"/>
              </a:rPr>
              <a:t>7</a:t>
            </a:r>
          </a:p>
        </p:txBody>
      </p:sp>
      <p:sp>
        <p:nvSpPr>
          <p:cNvPr id="16" name="TextBox 15"/>
          <p:cNvSpPr txBox="1"/>
          <p:nvPr/>
        </p:nvSpPr>
        <p:spPr>
          <a:xfrm>
            <a:off x="7114032" y="14721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80" b="1" i="0">
                <a:solidFill>
                  <a:srgbClr val="0F233D"/>
                </a:solidFill>
                <a:latin typeface="Arial"/>
              </a:rPr>
              <a:t>BROAD TYPES</a:t>
            </a:r>
          </a:p>
        </p:txBody>
      </p:sp>
      <p:sp>
        <p:nvSpPr>
          <p:cNvPr id="17" name="TextBox 16"/>
          <p:cNvSpPr txBox="1"/>
          <p:nvPr/>
        </p:nvSpPr>
        <p:spPr>
          <a:xfrm>
            <a:off x="7114032" y="17922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0" i="0">
                <a:solidFill>
                  <a:srgbClr val="4E5A68"/>
                </a:solidFill>
                <a:latin typeface="Arial"/>
              </a:rPr>
              <a:t>Frozen cell classes</a:t>
            </a:r>
          </a:p>
        </p:txBody>
      </p:sp>
      <p:sp>
        <p:nvSpPr>
          <p:cNvPr id="18" name="TextBox 17"/>
          <p:cNvSpPr txBox="1"/>
          <p:nvPr/>
        </p:nvSpPr>
        <p:spPr>
          <a:xfrm>
            <a:off x="8522208" y="15819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2200" b="1" i="0">
                <a:solidFill>
                  <a:srgbClr val="4E5A68"/>
                </a:solidFill>
                <a:latin typeface="Arial"/>
              </a:rPr>
              <a:t>=</a:t>
            </a:r>
          </a:p>
        </p:txBody>
      </p:sp>
      <p:sp>
        <p:nvSpPr>
          <p:cNvPr id="19" name="Rounded Rectangle 18"/>
          <p:cNvSpPr/>
          <p:nvPr/>
        </p:nvSpPr>
        <p:spPr>
          <a:xfrm>
            <a:off x="8997696" y="12984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62288" y="14813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2800" b="1" i="0">
                <a:solidFill>
                  <a:srgbClr val="9E3A00"/>
                </a:solidFill>
                <a:latin typeface="Arial"/>
              </a:rPr>
              <a:t>42</a:t>
            </a:r>
          </a:p>
        </p:txBody>
      </p:sp>
      <p:sp>
        <p:nvSpPr>
          <p:cNvPr id="21" name="TextBox 20"/>
          <p:cNvSpPr txBox="1"/>
          <p:nvPr/>
        </p:nvSpPr>
        <p:spPr>
          <a:xfrm>
            <a:off x="9802368" y="14721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80" b="1" i="0">
                <a:solidFill>
                  <a:srgbClr val="0F233D"/>
                </a:solidFill>
                <a:latin typeface="Arial"/>
              </a:rPr>
              <a:t>CATEGORIES</a:t>
            </a:r>
          </a:p>
        </p:txBody>
      </p:sp>
      <p:sp>
        <p:nvSpPr>
          <p:cNvPr id="22" name="TextBox 21"/>
          <p:cNvSpPr txBox="1"/>
          <p:nvPr/>
        </p:nvSpPr>
        <p:spPr>
          <a:xfrm>
            <a:off x="9802368" y="17922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0" i="0">
                <a:solidFill>
                  <a:srgbClr val="4E5A68"/>
                </a:solidFill>
                <a:latin typeface="Arial"/>
              </a:rPr>
              <a:t>Possible analysis contexts</a:t>
            </a:r>
          </a:p>
        </p:txBody>
      </p:sp>
      <p:sp>
        <p:nvSpPr>
          <p:cNvPr id="23" name="Rounded Rectangle 22"/>
          <p:cNvSpPr/>
          <p:nvPr/>
        </p:nvSpPr>
        <p:spPr>
          <a:xfrm>
            <a:off x="603504" y="26517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77824" y="29352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24127" y="29077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Six sex/APOE groups</a:t>
            </a:r>
          </a:p>
        </p:txBody>
      </p:sp>
      <p:sp>
        <p:nvSpPr>
          <p:cNvPr id="26" name="TextBox 25"/>
          <p:cNvSpPr txBox="1"/>
          <p:nvPr/>
        </p:nvSpPr>
        <p:spPr>
          <a:xfrm>
            <a:off x="896112" y="35478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4E5A68"/>
                </a:solidFill>
                <a:latin typeface="Arial"/>
              </a:rPr>
              <a:t>FEMALE</a:t>
            </a:r>
          </a:p>
        </p:txBody>
      </p:sp>
      <p:sp>
        <p:nvSpPr>
          <p:cNvPr id="27" name="TextBox 26"/>
          <p:cNvSpPr txBox="1"/>
          <p:nvPr/>
        </p:nvSpPr>
        <p:spPr>
          <a:xfrm>
            <a:off x="896112" y="41696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4E5A68"/>
                </a:solidFill>
                <a:latin typeface="Arial"/>
              </a:rPr>
              <a:t>MALE</a:t>
            </a:r>
          </a:p>
        </p:txBody>
      </p:sp>
      <p:sp>
        <p:nvSpPr>
          <p:cNvPr id="28" name="Rounded Rectangle 27"/>
          <p:cNvSpPr/>
          <p:nvPr/>
        </p:nvSpPr>
        <p:spPr>
          <a:xfrm>
            <a:off x="1700784" y="34381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773936" y="35295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20" b="1" i="0">
                <a:solidFill>
                  <a:srgbClr val="0F233D"/>
                </a:solidFill>
                <a:latin typeface="Arial"/>
              </a:rPr>
              <a:t>F_e2</a:t>
            </a:r>
          </a:p>
        </p:txBody>
      </p:sp>
      <p:sp>
        <p:nvSpPr>
          <p:cNvPr id="30" name="Rounded Rectangle 29"/>
          <p:cNvSpPr/>
          <p:nvPr/>
        </p:nvSpPr>
        <p:spPr>
          <a:xfrm>
            <a:off x="1700784" y="40599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773936" y="41513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20" b="1" i="0">
                <a:solidFill>
                  <a:srgbClr val="0F233D"/>
                </a:solidFill>
                <a:latin typeface="Arial"/>
              </a:rPr>
              <a:t>M_e2</a:t>
            </a:r>
          </a:p>
        </p:txBody>
      </p:sp>
      <p:sp>
        <p:nvSpPr>
          <p:cNvPr id="32" name="Rounded Rectangle 31"/>
          <p:cNvSpPr/>
          <p:nvPr/>
        </p:nvSpPr>
        <p:spPr>
          <a:xfrm>
            <a:off x="3072384" y="34381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45536" y="35295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20" b="1" i="0">
                <a:solidFill>
                  <a:srgbClr val="0F233D"/>
                </a:solidFill>
                <a:latin typeface="Arial"/>
              </a:rPr>
              <a:t>F_e33</a:t>
            </a:r>
          </a:p>
        </p:txBody>
      </p:sp>
      <p:sp>
        <p:nvSpPr>
          <p:cNvPr id="34" name="Rounded Rectangle 33"/>
          <p:cNvSpPr/>
          <p:nvPr/>
        </p:nvSpPr>
        <p:spPr>
          <a:xfrm>
            <a:off x="3072384" y="40599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145536" y="41513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20" b="1" i="0">
                <a:solidFill>
                  <a:srgbClr val="0F233D"/>
                </a:solidFill>
                <a:latin typeface="Arial"/>
              </a:rPr>
              <a:t>M_e33</a:t>
            </a:r>
          </a:p>
        </p:txBody>
      </p:sp>
      <p:sp>
        <p:nvSpPr>
          <p:cNvPr id="36" name="Rounded Rectangle 35"/>
          <p:cNvSpPr/>
          <p:nvPr/>
        </p:nvSpPr>
        <p:spPr>
          <a:xfrm>
            <a:off x="4443984" y="34381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517136" y="35295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20" b="1" i="0">
                <a:solidFill>
                  <a:srgbClr val="0F233D"/>
                </a:solidFill>
                <a:latin typeface="Arial"/>
              </a:rPr>
              <a:t>F_e4</a:t>
            </a:r>
          </a:p>
        </p:txBody>
      </p:sp>
      <p:sp>
        <p:nvSpPr>
          <p:cNvPr id="38" name="Rounded Rectangle 37"/>
          <p:cNvSpPr/>
          <p:nvPr/>
        </p:nvSpPr>
        <p:spPr>
          <a:xfrm>
            <a:off x="4443984" y="40599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17136" y="41513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20" b="1" i="0">
                <a:solidFill>
                  <a:srgbClr val="0F233D"/>
                </a:solidFill>
                <a:latin typeface="Arial"/>
              </a:rPr>
              <a:t>M_e4</a:t>
            </a:r>
          </a:p>
        </p:txBody>
      </p:sp>
      <p:sp>
        <p:nvSpPr>
          <p:cNvPr id="40" name="TextBox 39"/>
          <p:cNvSpPr txBox="1"/>
          <p:nvPr/>
        </p:nvSpPr>
        <p:spPr>
          <a:xfrm>
            <a:off x="896112" y="48280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80" b="0" i="0">
                <a:solidFill>
                  <a:srgbClr val="4E5A68"/>
                </a:solidFill>
                <a:latin typeface="Arial"/>
              </a:rPr>
              <a:t>e2 = ε2 carrier   •   e33 = ε3/ε3   •   e4 = ε4 carrier</a:t>
            </a:r>
          </a:p>
        </p:txBody>
      </p:sp>
      <p:sp>
        <p:nvSpPr>
          <p:cNvPr id="41" name="Rounded Rectangle 40"/>
          <p:cNvSpPr/>
          <p:nvPr/>
        </p:nvSpPr>
        <p:spPr>
          <a:xfrm>
            <a:off x="6172200" y="26517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446520" y="29352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592824" y="29077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Seven broad cell types</a:t>
            </a:r>
          </a:p>
        </p:txBody>
      </p:sp>
      <p:sp>
        <p:nvSpPr>
          <p:cNvPr id="44" name="Rounded Rectangle 43"/>
          <p:cNvSpPr/>
          <p:nvPr/>
        </p:nvSpPr>
        <p:spPr>
          <a:xfrm>
            <a:off x="6446520" y="34015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556248" y="35021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1" i="0">
                <a:solidFill>
                  <a:srgbClr val="1F2730"/>
                </a:solidFill>
                <a:latin typeface="Arial"/>
              </a:rPr>
              <a:t>Astrocytes</a:t>
            </a:r>
          </a:p>
        </p:txBody>
      </p:sp>
      <p:sp>
        <p:nvSpPr>
          <p:cNvPr id="46" name="Rounded Rectangle 45"/>
          <p:cNvSpPr/>
          <p:nvPr/>
        </p:nvSpPr>
        <p:spPr>
          <a:xfrm>
            <a:off x="6446520" y="39044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556248" y="40050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1" i="0">
                <a:solidFill>
                  <a:srgbClr val="1F2730"/>
                </a:solidFill>
                <a:latin typeface="Arial"/>
              </a:rPr>
              <a:t>Excitatory neurons</a:t>
            </a:r>
          </a:p>
        </p:txBody>
      </p:sp>
      <p:sp>
        <p:nvSpPr>
          <p:cNvPr id="48" name="Rounded Rectangle 47"/>
          <p:cNvSpPr/>
          <p:nvPr/>
        </p:nvSpPr>
        <p:spPr>
          <a:xfrm>
            <a:off x="6446520" y="44074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556248" y="45079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1" i="0">
                <a:solidFill>
                  <a:srgbClr val="1F2730"/>
                </a:solidFill>
                <a:latin typeface="Arial"/>
              </a:rPr>
              <a:t>Inhibitory neurons</a:t>
            </a:r>
          </a:p>
        </p:txBody>
      </p:sp>
      <p:sp>
        <p:nvSpPr>
          <p:cNvPr id="50" name="Rounded Rectangle 49"/>
          <p:cNvSpPr/>
          <p:nvPr/>
        </p:nvSpPr>
        <p:spPr>
          <a:xfrm>
            <a:off x="6446520" y="49103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556248" y="50109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1" i="0">
                <a:solidFill>
                  <a:srgbClr val="1F2730"/>
                </a:solidFill>
                <a:latin typeface="Arial"/>
              </a:rPr>
              <a:t>Microglia</a:t>
            </a:r>
          </a:p>
        </p:txBody>
      </p:sp>
      <p:sp>
        <p:nvSpPr>
          <p:cNvPr id="52" name="Rounded Rectangle 51"/>
          <p:cNvSpPr/>
          <p:nvPr/>
        </p:nvSpPr>
        <p:spPr>
          <a:xfrm>
            <a:off x="8979408" y="34015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089136" y="35021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1" i="0">
                <a:solidFill>
                  <a:srgbClr val="1F2730"/>
                </a:solidFill>
                <a:latin typeface="Arial"/>
              </a:rPr>
              <a:t>OPCs</a:t>
            </a:r>
          </a:p>
        </p:txBody>
      </p:sp>
      <p:sp>
        <p:nvSpPr>
          <p:cNvPr id="54" name="Rounded Rectangle 53"/>
          <p:cNvSpPr/>
          <p:nvPr/>
        </p:nvSpPr>
        <p:spPr>
          <a:xfrm>
            <a:off x="8979408" y="39044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089136" y="40050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1" i="0">
                <a:solidFill>
                  <a:srgbClr val="1F2730"/>
                </a:solidFill>
                <a:latin typeface="Arial"/>
              </a:rPr>
              <a:t>Oligodendrocytes</a:t>
            </a:r>
          </a:p>
        </p:txBody>
      </p:sp>
      <p:sp>
        <p:nvSpPr>
          <p:cNvPr id="56" name="Rounded Rectangle 55"/>
          <p:cNvSpPr/>
          <p:nvPr/>
        </p:nvSpPr>
        <p:spPr>
          <a:xfrm>
            <a:off x="8979408" y="44074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089136" y="45079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1" i="0">
                <a:solidFill>
                  <a:srgbClr val="1F2730"/>
                </a:solidFill>
                <a:latin typeface="Arial"/>
              </a:rPr>
              <a:t>Vasculature</a:t>
            </a:r>
          </a:p>
        </p:txBody>
      </p:sp>
      <p:sp>
        <p:nvSpPr>
          <p:cNvPr id="58" name="Rounded Rectangle 57"/>
          <p:cNvSpPr/>
          <p:nvPr/>
        </p:nvSpPr>
        <p:spPr>
          <a:xfrm>
            <a:off x="603504" y="5760720"/>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59536" y="5925312"/>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4E5A68"/>
                </a:solidFill>
                <a:latin typeface="Arial"/>
              </a:rPr>
              <a:t>Example category</a:t>
            </a:r>
          </a:p>
        </p:txBody>
      </p:sp>
      <p:sp>
        <p:nvSpPr>
          <p:cNvPr id="60" name="TextBox 59"/>
          <p:cNvSpPr txBox="1"/>
          <p:nvPr/>
        </p:nvSpPr>
        <p:spPr>
          <a:xfrm>
            <a:off x="2139696" y="5879592"/>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20" b="1" i="0">
                <a:solidFill>
                  <a:srgbClr val="7E4C9A"/>
                </a:solidFill>
                <a:latin typeface="Arial"/>
              </a:rPr>
              <a:t>M_e33 × Excitatory neurons</a:t>
            </a:r>
          </a:p>
        </p:txBody>
      </p:sp>
      <p:sp>
        <p:nvSpPr>
          <p:cNvPr id="61" name="TextBox 60"/>
          <p:cNvSpPr txBox="1"/>
          <p:nvPr/>
        </p:nvSpPr>
        <p:spPr>
          <a:xfrm>
            <a:off x="5157216" y="5888736"/>
            <a:ext cx="6144768" cy="310896"/>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980" b="0" i="0">
                <a:solidFill>
                  <a:srgbClr val="4E5A68"/>
                </a:solidFill>
                <a:latin typeface="Arial"/>
              </a:rPr>
              <a:t>42 is the design space; later slides show which categories have usable calls and returned drivers.</a:t>
            </a:r>
          </a:p>
        </p:txBody>
      </p:sp>
      <p:sp>
        <p:nvSpPr>
          <p:cNvPr id="62" name="TextBox 61"/>
          <p:cNvSpPr txBox="1"/>
          <p:nvPr/>
        </p:nvSpPr>
        <p:spPr>
          <a:xfrm>
            <a:off x="603504" y="23957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60" b="1" i="0">
                <a:solidFill>
                  <a:srgbClr val="9E3A00"/>
                </a:solidFill>
                <a:latin typeface="Arial"/>
              </a:rPr>
              <a:t>Key-driver genes are ranked separately within each category.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What is a contrast</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Fine cell type × sex × APOE defines the contrast; broad-cell aggregation happens after KDA.</a:t>
            </a:r>
          </a:p>
        </p:txBody>
      </p:sp>
      <p:sp>
        <p:nvSpPr>
          <p:cNvPr id="4" name="Rounded Rectangle 3"/>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2300" b="1" i="0">
                <a:solidFill>
                  <a:srgbClr val="0072B2"/>
                </a:solidFill>
                <a:latin typeface="Arial"/>
              </a:rPr>
              <a:t>N</a:t>
            </a:r>
          </a:p>
        </p:txBody>
      </p:sp>
      <p:sp>
        <p:nvSpPr>
          <p:cNvPr id="6" name="TextBox 5"/>
          <p:cNvSpPr txBox="1"/>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1" i="0">
                <a:solidFill>
                  <a:srgbClr val="0F233D"/>
                </a:solidFill>
                <a:latin typeface="Arial"/>
              </a:rPr>
              <a:t>fine cell types</a:t>
            </a:r>
          </a:p>
        </p:txBody>
      </p:sp>
      <p:sp>
        <p:nvSpPr>
          <p:cNvPr id="7" name="TextBox 6"/>
          <p:cNvSpPr txBox="1"/>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900" b="1" i="0">
                <a:solidFill>
                  <a:srgbClr val="4E5A68"/>
                </a:solidFill>
                <a:latin typeface="Arial"/>
              </a:rPr>
              <a:t>×</a:t>
            </a:r>
          </a:p>
        </p:txBody>
      </p:sp>
      <p:sp>
        <p:nvSpPr>
          <p:cNvPr id="8" name="Rounded Rectangle 7"/>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2300" b="1" i="0">
                <a:solidFill>
                  <a:srgbClr val="00684D"/>
                </a:solidFill>
                <a:latin typeface="Arial"/>
              </a:rPr>
              <a:t>2</a:t>
            </a:r>
          </a:p>
        </p:txBody>
      </p:sp>
      <p:sp>
        <p:nvSpPr>
          <p:cNvPr id="10" name="TextBox 9"/>
          <p:cNvSpPr txBox="1"/>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1" i="0">
                <a:solidFill>
                  <a:srgbClr val="0F233D"/>
                </a:solidFill>
                <a:latin typeface="Arial"/>
              </a:rPr>
              <a:t>sexes</a:t>
            </a:r>
          </a:p>
        </p:txBody>
      </p:sp>
      <p:sp>
        <p:nvSpPr>
          <p:cNvPr id="11" name="TextBox 10"/>
          <p:cNvSpPr txBox="1"/>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900" b="1" i="0">
                <a:solidFill>
                  <a:srgbClr val="4E5A68"/>
                </a:solidFill>
                <a:latin typeface="Arial"/>
              </a:rPr>
              <a:t>×</a:t>
            </a:r>
          </a:p>
        </p:txBody>
      </p:sp>
      <p:sp>
        <p:nvSpPr>
          <p:cNvPr id="12" name="Rounded Rectangle 1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2300" b="1" i="0">
                <a:solidFill>
                  <a:srgbClr val="895600"/>
                </a:solidFill>
                <a:latin typeface="Arial"/>
              </a:rPr>
              <a:t>3</a:t>
            </a:r>
          </a:p>
        </p:txBody>
      </p:sp>
      <p:sp>
        <p:nvSpPr>
          <p:cNvPr id="14" name="TextBox 13"/>
          <p:cNvSpPr txBox="1"/>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1" i="0">
                <a:solidFill>
                  <a:srgbClr val="0F233D"/>
                </a:solidFill>
                <a:latin typeface="Arial"/>
              </a:rPr>
              <a:t>APOE groups</a:t>
            </a:r>
          </a:p>
        </p:txBody>
      </p:sp>
      <p:sp>
        <p:nvSpPr>
          <p:cNvPr id="15" name="TextBox 14"/>
          <p:cNvSpPr txBox="1"/>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900" b="1" i="0">
                <a:solidFill>
                  <a:srgbClr val="4E5A68"/>
                </a:solidFill>
                <a:latin typeface="Arial"/>
              </a:rPr>
              <a:t>=</a:t>
            </a:r>
          </a:p>
        </p:txBody>
      </p:sp>
      <p:sp>
        <p:nvSpPr>
          <p:cNvPr id="16" name="Rounded Rectangle 15"/>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2300" b="1" i="0">
                <a:solidFill>
                  <a:srgbClr val="9E3A00"/>
                </a:solidFill>
                <a:latin typeface="Arial"/>
              </a:rPr>
              <a:t>6N</a:t>
            </a:r>
          </a:p>
        </p:txBody>
      </p:sp>
      <p:sp>
        <p:nvSpPr>
          <p:cNvPr id="18" name="TextBox 17"/>
          <p:cNvSpPr txBox="1"/>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1" i="0">
                <a:solidFill>
                  <a:srgbClr val="0F233D"/>
                </a:solidFill>
                <a:latin typeface="Arial"/>
              </a:rPr>
              <a:t>planned contrasts</a:t>
            </a:r>
          </a:p>
        </p:txBody>
      </p:sp>
      <p:sp>
        <p:nvSpPr>
          <p:cNvPr id="19" name="TextBox 18"/>
          <p:cNvSpPr txBox="1"/>
          <p:nvPr/>
        </p:nvSpPr>
        <p:spPr>
          <a:xfrm>
            <a:off x="621792" y="2212848"/>
            <a:ext cx="10954512"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40" b="1" i="0">
                <a:solidFill>
                  <a:srgbClr val="7E4C9A"/>
                </a:solidFill>
                <a:latin typeface="Arial"/>
              </a:rPr>
              <a:t>ROSMAP example: 54 fine cell types × 2 sexes × 3 APOE groups = 324 planned contrasts</a:t>
            </a:r>
          </a:p>
        </p:txBody>
      </p:sp>
      <p:sp>
        <p:nvSpPr>
          <p:cNvPr id="20" name="Rounded Rectangle 19"/>
          <p:cNvSpPr/>
          <p:nvPr/>
        </p:nvSpPr>
        <p:spPr>
          <a:xfrm>
            <a:off x="603504" y="263347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77824" y="291693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24127" y="288950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One contrast → at most one KDA call</a:t>
            </a:r>
          </a:p>
        </p:txBody>
      </p:sp>
      <p:sp>
        <p:nvSpPr>
          <p:cNvPr id="23" name="Rounded Rectangle 22"/>
          <p:cNvSpPr/>
          <p:nvPr/>
        </p:nvSpPr>
        <p:spPr>
          <a:xfrm>
            <a:off x="896112" y="336499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2688" y="343814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19" b="1" i="0">
                <a:solidFill>
                  <a:srgbClr val="FFFFFF"/>
                </a:solidFill>
                <a:latin typeface="Arial"/>
              </a:rPr>
              <a:t>1</a:t>
            </a:r>
          </a:p>
        </p:txBody>
      </p:sp>
      <p:sp>
        <p:nvSpPr>
          <p:cNvPr id="25" name="TextBox 24"/>
          <p:cNvSpPr txBox="1"/>
          <p:nvPr/>
        </p:nvSpPr>
        <p:spPr>
          <a:xfrm>
            <a:off x="1426464" y="335584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Define one AD-versus-NCI comparison</a:t>
            </a:r>
          </a:p>
        </p:txBody>
      </p:sp>
      <p:sp>
        <p:nvSpPr>
          <p:cNvPr id="26" name="TextBox 25"/>
          <p:cNvSpPr txBox="1"/>
          <p:nvPr/>
        </p:nvSpPr>
        <p:spPr>
          <a:xfrm>
            <a:off x="1426464" y="362102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9" b="0" i="0">
                <a:solidFill>
                  <a:srgbClr val="4E5A68"/>
                </a:solidFill>
                <a:latin typeface="Arial"/>
              </a:rPr>
              <a:t>Example: Ast GRM3 × Female ε2 carrier.</a:t>
            </a:r>
          </a:p>
        </p:txBody>
      </p:sp>
      <p:sp>
        <p:nvSpPr>
          <p:cNvPr id="27" name="Rounded Rectangle 26"/>
          <p:cNvSpPr/>
          <p:nvPr/>
        </p:nvSpPr>
        <p:spPr>
          <a:xfrm>
            <a:off x="896112" y="409651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32688" y="416966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19" b="1" i="0">
                <a:solidFill>
                  <a:srgbClr val="FFFFFF"/>
                </a:solidFill>
                <a:latin typeface="Arial"/>
              </a:rPr>
              <a:t>2</a:t>
            </a:r>
          </a:p>
        </p:txBody>
      </p:sp>
      <p:sp>
        <p:nvSpPr>
          <p:cNvPr id="29" name="TextBox 28"/>
          <p:cNvSpPr txBox="1"/>
          <p:nvPr/>
        </p:nvSpPr>
        <p:spPr>
          <a:xfrm>
            <a:off x="1426464" y="408736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Remove invalid contrasts</a:t>
            </a:r>
          </a:p>
        </p:txBody>
      </p:sp>
      <p:sp>
        <p:nvSpPr>
          <p:cNvPr id="30" name="TextBox 29"/>
          <p:cNvSpPr txBox="1"/>
          <p:nvPr/>
        </p:nvSpPr>
        <p:spPr>
          <a:xfrm>
            <a:off x="1426464" y="435254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9" b="0" i="0">
                <a:solidFill>
                  <a:srgbClr val="4E5A68"/>
                </a:solidFill>
                <a:latin typeface="Arial"/>
              </a:rPr>
              <a:t>Remove source-invalid contrasts; among valid contrasts, only mapped mitochondrial queries with ≥3 genes proceed.</a:t>
            </a:r>
          </a:p>
        </p:txBody>
      </p:sp>
      <p:sp>
        <p:nvSpPr>
          <p:cNvPr id="31" name="Rounded Rectangle 30"/>
          <p:cNvSpPr/>
          <p:nvPr/>
        </p:nvSpPr>
        <p:spPr>
          <a:xfrm>
            <a:off x="896112" y="482803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32688" y="490118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19" b="1" i="0">
                <a:solidFill>
                  <a:srgbClr val="FFFFFF"/>
                </a:solidFill>
                <a:latin typeface="Arial"/>
              </a:rPr>
              <a:t>3</a:t>
            </a:r>
          </a:p>
        </p:txBody>
      </p:sp>
      <p:sp>
        <p:nvSpPr>
          <p:cNvPr id="33" name="TextBox 32"/>
          <p:cNvSpPr txBox="1"/>
          <p:nvPr/>
        </p:nvSpPr>
        <p:spPr>
          <a:xfrm>
            <a:off x="1426464" y="481888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Run call_key_drivers()</a:t>
            </a:r>
          </a:p>
        </p:txBody>
      </p:sp>
      <p:sp>
        <p:nvSpPr>
          <p:cNvPr id="34" name="TextBox 33"/>
          <p:cNvSpPr txBox="1"/>
          <p:nvPr/>
        </p:nvSpPr>
        <p:spPr>
          <a:xfrm>
            <a:off x="1426464" y="508406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9" b="0" i="0">
                <a:solidFill>
                  <a:srgbClr val="4E5A68"/>
                </a:solidFill>
                <a:latin typeface="Arial"/>
              </a:rPr>
              <a:t>The call returns a list of significant key-driver genes for that contrast.</a:t>
            </a:r>
          </a:p>
        </p:txBody>
      </p:sp>
      <p:sp>
        <p:nvSpPr>
          <p:cNvPr id="35" name="Rounded Rectangle 34"/>
          <p:cNvSpPr/>
          <p:nvPr/>
        </p:nvSpPr>
        <p:spPr>
          <a:xfrm>
            <a:off x="896112" y="546811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05840" y="552297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40" b="1" i="0">
                <a:solidFill>
                  <a:srgbClr val="0F233D"/>
                </a:solidFill>
                <a:latin typeface="Arial"/>
              </a:rPr>
              <a:t>Each gene can appear at most once in one contrast's returned list.</a:t>
            </a:r>
          </a:p>
        </p:txBody>
      </p:sp>
      <p:sp>
        <p:nvSpPr>
          <p:cNvPr id="37" name="Rounded Rectangle 36"/>
          <p:cNvSpPr/>
          <p:nvPr/>
        </p:nvSpPr>
        <p:spPr>
          <a:xfrm>
            <a:off x="6172200" y="263347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446520" y="291693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592824" y="288950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Multiple fine-cell contrasts → one category</a:t>
            </a:r>
          </a:p>
        </p:txBody>
      </p:sp>
      <p:sp>
        <p:nvSpPr>
          <p:cNvPr id="40" name="Rounded Rectangle 39"/>
          <p:cNvSpPr/>
          <p:nvPr/>
        </p:nvSpPr>
        <p:spPr>
          <a:xfrm>
            <a:off x="6455664" y="340156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547104" y="348386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10" b="1" i="0">
                <a:solidFill>
                  <a:srgbClr val="4E5A68"/>
                </a:solidFill>
                <a:latin typeface="Arial"/>
              </a:rPr>
              <a:t>Fine type A</a:t>
            </a:r>
          </a:p>
        </p:txBody>
      </p:sp>
      <p:sp>
        <p:nvSpPr>
          <p:cNvPr id="42" name="TextBox 41"/>
          <p:cNvSpPr txBox="1"/>
          <p:nvPr/>
        </p:nvSpPr>
        <p:spPr>
          <a:xfrm>
            <a:off x="7772400" y="347472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Gene X returned · adjusted P₁</a:t>
            </a:r>
          </a:p>
        </p:txBody>
      </p:sp>
      <p:sp>
        <p:nvSpPr>
          <p:cNvPr id="43" name="Rounded Rectangle 42"/>
          <p:cNvSpPr/>
          <p:nvPr/>
        </p:nvSpPr>
        <p:spPr>
          <a:xfrm>
            <a:off x="6455664" y="387705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547104" y="395935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10" b="1" i="0">
                <a:solidFill>
                  <a:srgbClr val="4E5A68"/>
                </a:solidFill>
                <a:latin typeface="Arial"/>
              </a:rPr>
              <a:t>Fine type B</a:t>
            </a:r>
          </a:p>
        </p:txBody>
      </p:sp>
      <p:sp>
        <p:nvSpPr>
          <p:cNvPr id="45" name="TextBox 44"/>
          <p:cNvSpPr txBox="1"/>
          <p:nvPr/>
        </p:nvSpPr>
        <p:spPr>
          <a:xfrm>
            <a:off x="7772400" y="395020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Gene X returned · adjusted P₂</a:t>
            </a:r>
          </a:p>
        </p:txBody>
      </p:sp>
      <p:sp>
        <p:nvSpPr>
          <p:cNvPr id="46" name="Rounded Rectangle 45"/>
          <p:cNvSpPr/>
          <p:nvPr/>
        </p:nvSpPr>
        <p:spPr>
          <a:xfrm>
            <a:off x="6455664" y="435254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547104" y="443484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910" b="1" i="0">
                <a:solidFill>
                  <a:srgbClr val="4E5A68"/>
                </a:solidFill>
                <a:latin typeface="Arial"/>
              </a:rPr>
              <a:t>Fine type C</a:t>
            </a:r>
          </a:p>
        </p:txBody>
      </p:sp>
      <p:sp>
        <p:nvSpPr>
          <p:cNvPr id="48" name="TextBox 47"/>
          <p:cNvSpPr txBox="1"/>
          <p:nvPr/>
        </p:nvSpPr>
        <p:spPr>
          <a:xfrm>
            <a:off x="7772400" y="442569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9" b="0" i="0">
                <a:solidFill>
                  <a:srgbClr val="1F2730"/>
                </a:solidFill>
                <a:latin typeface="Arial"/>
              </a:rPr>
              <a:t>Gene X not returned</a:t>
            </a:r>
          </a:p>
        </p:txBody>
      </p:sp>
      <p:sp>
        <p:nvSpPr>
          <p:cNvPr id="49" name="TextBox 48"/>
          <p:cNvSpPr txBox="1"/>
          <p:nvPr/>
        </p:nvSpPr>
        <p:spPr>
          <a:xfrm>
            <a:off x="8558784" y="477316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900" b="1" i="0">
                <a:solidFill>
                  <a:srgbClr val="895600"/>
                </a:solidFill>
                <a:latin typeface="Arial"/>
              </a:rPr>
              <a:t>↓</a:t>
            </a:r>
          </a:p>
        </p:txBody>
      </p:sp>
      <p:sp>
        <p:nvSpPr>
          <p:cNvPr id="50" name="Rounded Rectangle 49"/>
          <p:cNvSpPr/>
          <p:nvPr/>
        </p:nvSpPr>
        <p:spPr>
          <a:xfrm>
            <a:off x="6473952" y="5084064"/>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656832" y="5230368"/>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40" b="1" i="0">
                <a:solidFill>
                  <a:srgbClr val="895600"/>
                </a:solidFill>
                <a:latin typeface="Arial"/>
              </a:rPr>
              <a:t>Female ε2 × Astrocytes:  Gene X score = ACAT(P₁, P₂)</a:t>
            </a:r>
          </a:p>
        </p:txBody>
      </p:sp>
      <p:sp>
        <p:nvSpPr>
          <p:cNvPr id="52" name="Rounded Rectangle 51"/>
          <p:cNvSpPr/>
          <p:nvPr/>
        </p:nvSpPr>
        <p:spPr>
          <a:xfrm>
            <a:off x="603504" y="6053328"/>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22960" y="6172200"/>
            <a:ext cx="10533888" cy="20116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10" b="1" i="0">
                <a:solidFill>
                  <a:srgbClr val="9E3A00"/>
                </a:solidFill>
                <a:latin typeface="Arial"/>
              </a:rPr>
              <a:t>Why contrasts outnumber categories: many fine cell types map to one broad cell type; recurring returned values are combined by equal-weight, returned-only ACAT.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450" b="1" i="0" dirty="0">
                <a:solidFill>
                  <a:srgbClr val="0F233D"/>
                </a:solidFill>
                <a:latin typeface="Arial"/>
              </a:rPr>
              <a:t>Summary for </a:t>
            </a:r>
            <a:r>
              <a:rPr lang="en-US" sz="2450" b="1" dirty="0">
                <a:solidFill>
                  <a:srgbClr val="0F233D"/>
                </a:solidFill>
                <a:latin typeface="Arial"/>
              </a:rPr>
              <a:t>t</a:t>
            </a:r>
            <a:r>
              <a:rPr sz="2450" b="1" i="0" dirty="0">
                <a:solidFill>
                  <a:srgbClr val="0F233D"/>
                </a:solidFill>
                <a:latin typeface="Arial"/>
              </a:rPr>
              <a:t>wo cohorts</a:t>
            </a:r>
            <a:r>
              <a:rPr lang="en-US" sz="2450" b="1" i="0" dirty="0">
                <a:solidFill>
                  <a:srgbClr val="0F233D"/>
                </a:solidFill>
                <a:latin typeface="Arial"/>
              </a:rPr>
              <a:t>: ROSMAP and SEA-AD</a:t>
            </a:r>
            <a:endParaRPr sz="2450" b="1" i="0" dirty="0">
              <a:solidFill>
                <a:srgbClr val="0F233D"/>
              </a:solidFill>
              <a:latin typeface="Arial"/>
            </a:endParaRP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Each contrast contributes at most one mitochondrial DEG query; significant non-MT returns are aggregated by category.</a:t>
            </a:r>
          </a:p>
        </p:txBody>
      </p:sp>
      <p:sp>
        <p:nvSpPr>
          <p:cNvPr id="5" name="Rounded Rectangle 4"/>
          <p:cNvSpPr/>
          <p:nvPr/>
        </p:nvSpPr>
        <p:spPr>
          <a:xfrm>
            <a:off x="585216" y="1335024"/>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627632"/>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dirty="0">
                <a:solidFill>
                  <a:srgbClr val="0072B2"/>
                </a:solidFill>
                <a:latin typeface="Arial"/>
              </a:rPr>
              <a:t>ROSMAP </a:t>
            </a:r>
            <a:r>
              <a:rPr lang="en-US" sz="1000" b="1" i="0" dirty="0">
                <a:solidFill>
                  <a:srgbClr val="0072B2"/>
                </a:solidFill>
                <a:latin typeface="Arial"/>
              </a:rPr>
              <a:t>IS THE PRIMARY</a:t>
            </a:r>
            <a:endParaRPr sz="1000" b="1" i="0" dirty="0">
              <a:solidFill>
                <a:srgbClr val="0072B2"/>
              </a:solidFill>
              <a:latin typeface="Arial"/>
            </a:endParaRPr>
          </a:p>
        </p:txBody>
      </p:sp>
      <p:sp>
        <p:nvSpPr>
          <p:cNvPr id="7" name="TextBox 6"/>
          <p:cNvSpPr txBox="1"/>
          <p:nvPr/>
        </p:nvSpPr>
        <p:spPr>
          <a:xfrm>
            <a:off x="868680" y="1938528"/>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Where does a gene recur across fine-cell evidence?</a:t>
            </a:r>
          </a:p>
        </p:txBody>
      </p:sp>
      <p:sp>
        <p:nvSpPr>
          <p:cNvPr id="8" name="Rounded Rectangle 7"/>
          <p:cNvSpPr/>
          <p:nvPr/>
        </p:nvSpPr>
        <p:spPr>
          <a:xfrm>
            <a:off x="868680"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4983"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324</a:t>
            </a:r>
          </a:p>
        </p:txBody>
      </p:sp>
      <p:sp>
        <p:nvSpPr>
          <p:cNvPr id="10" name="TextBox 9"/>
          <p:cNvSpPr txBox="1"/>
          <p:nvPr/>
        </p:nvSpPr>
        <p:spPr>
          <a:xfrm>
            <a:off x="1014983"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planned contrasts</a:t>
            </a:r>
          </a:p>
        </p:txBody>
      </p:sp>
      <p:sp>
        <p:nvSpPr>
          <p:cNvPr id="11" name="Rounded Rectangle 10"/>
          <p:cNvSpPr/>
          <p:nvPr/>
        </p:nvSpPr>
        <p:spPr>
          <a:xfrm>
            <a:off x="2450592"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96896"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194</a:t>
            </a:r>
          </a:p>
        </p:txBody>
      </p:sp>
      <p:sp>
        <p:nvSpPr>
          <p:cNvPr id="13" name="TextBox 12"/>
          <p:cNvSpPr txBox="1"/>
          <p:nvPr/>
        </p:nvSpPr>
        <p:spPr>
          <a:xfrm>
            <a:off x="2596896" y="3246120"/>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dirty="0">
                <a:solidFill>
                  <a:srgbClr val="4E5A68"/>
                </a:solidFill>
                <a:latin typeface="Arial"/>
              </a:rPr>
              <a:t>KDA calls</a:t>
            </a:r>
          </a:p>
        </p:txBody>
      </p:sp>
      <p:sp>
        <p:nvSpPr>
          <p:cNvPr id="14" name="Rounded Rectangle 13"/>
          <p:cNvSpPr/>
          <p:nvPr/>
        </p:nvSpPr>
        <p:spPr>
          <a:xfrm>
            <a:off x="4032504"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78808"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381</a:t>
            </a:r>
          </a:p>
        </p:txBody>
      </p:sp>
      <p:sp>
        <p:nvSpPr>
          <p:cNvPr id="16" name="TextBox 15"/>
          <p:cNvSpPr txBox="1"/>
          <p:nvPr/>
        </p:nvSpPr>
        <p:spPr>
          <a:xfrm>
            <a:off x="4178808" y="3246120"/>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dirty="0">
                <a:solidFill>
                  <a:srgbClr val="4E5A68"/>
                </a:solidFill>
                <a:latin typeface="Arial"/>
              </a:rPr>
              <a:t>gene × category </a:t>
            </a:r>
            <a:r>
              <a:rPr lang="en-US" sz="960" b="1" i="0" dirty="0">
                <a:solidFill>
                  <a:srgbClr val="4E5A68"/>
                </a:solidFill>
                <a:latin typeface="Arial"/>
              </a:rPr>
              <a:t>combinations</a:t>
            </a:r>
            <a:endParaRPr sz="960" b="1" i="0" dirty="0">
              <a:solidFill>
                <a:srgbClr val="4E5A68"/>
              </a:solidFill>
              <a:latin typeface="Arial"/>
            </a:endParaRPr>
          </a:p>
        </p:txBody>
      </p:sp>
      <p:sp>
        <p:nvSpPr>
          <p:cNvPr id="17" name="Oval 16"/>
          <p:cNvSpPr/>
          <p:nvPr/>
        </p:nvSpPr>
        <p:spPr>
          <a:xfrm>
            <a:off x="877824" y="41041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51560" y="4005072"/>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dirty="0">
                <a:solidFill>
                  <a:srgbClr val="1F2730"/>
                </a:solidFill>
                <a:latin typeface="Arial"/>
              </a:rPr>
              <a:t>Builds one query </a:t>
            </a:r>
            <a:r>
              <a:rPr lang="en-US" sz="1150" b="0" i="0" dirty="0">
                <a:solidFill>
                  <a:srgbClr val="1F2730"/>
                </a:solidFill>
                <a:latin typeface="Arial"/>
              </a:rPr>
              <a:t>with DEG MT genes for each</a:t>
            </a:r>
            <a:r>
              <a:rPr sz="1150" b="0" i="0" dirty="0">
                <a:solidFill>
                  <a:srgbClr val="1F2730"/>
                </a:solidFill>
                <a:latin typeface="Arial"/>
              </a:rPr>
              <a:t> contrast.</a:t>
            </a:r>
          </a:p>
        </p:txBody>
      </p:sp>
      <p:sp>
        <p:nvSpPr>
          <p:cNvPr id="19" name="Oval 18"/>
          <p:cNvSpPr/>
          <p:nvPr/>
        </p:nvSpPr>
        <p:spPr>
          <a:xfrm>
            <a:off x="877824" y="4543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51560" y="4443983"/>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1150" dirty="0">
                <a:solidFill>
                  <a:srgbClr val="1F2730"/>
                </a:solidFill>
                <a:latin typeface="Arial"/>
              </a:rPr>
              <a:t>Aggregate</a:t>
            </a:r>
            <a:r>
              <a:rPr sz="1150" b="0" i="0" dirty="0">
                <a:solidFill>
                  <a:srgbClr val="1F2730"/>
                </a:solidFill>
                <a:latin typeface="Arial"/>
              </a:rPr>
              <a:t> </a:t>
            </a:r>
            <a:r>
              <a:rPr lang="en-US" sz="1150" b="0" i="0" dirty="0">
                <a:solidFill>
                  <a:srgbClr val="1F2730"/>
                </a:solidFill>
                <a:latin typeface="Arial"/>
              </a:rPr>
              <a:t>KDA returned key driver using ACAT for each category</a:t>
            </a:r>
            <a:endParaRPr sz="1150" b="0" i="0" dirty="0">
              <a:solidFill>
                <a:srgbClr val="1F2730"/>
              </a:solidFill>
              <a:latin typeface="Arial"/>
            </a:endParaRPr>
          </a:p>
        </p:txBody>
      </p:sp>
      <p:sp>
        <p:nvSpPr>
          <p:cNvPr id="21" name="Oval 20"/>
          <p:cNvSpPr/>
          <p:nvPr/>
        </p:nvSpPr>
        <p:spPr>
          <a:xfrm>
            <a:off x="877824" y="49646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51560" y="4882896"/>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dirty="0">
                <a:solidFill>
                  <a:srgbClr val="1F2730"/>
                </a:solidFill>
                <a:latin typeface="Arial"/>
              </a:rPr>
              <a:t>Final 381 </a:t>
            </a:r>
            <a:r>
              <a:rPr lang="en-US" sz="1150" b="0" i="0" dirty="0">
                <a:solidFill>
                  <a:srgbClr val="1F2730"/>
                </a:solidFill>
                <a:latin typeface="Arial"/>
              </a:rPr>
              <a:t>combinations</a:t>
            </a:r>
            <a:r>
              <a:rPr sz="1150" b="0" i="0" dirty="0">
                <a:solidFill>
                  <a:srgbClr val="1F2730"/>
                </a:solidFill>
                <a:latin typeface="Arial"/>
              </a:rPr>
              <a:t> represent 228</a:t>
            </a:r>
            <a:r>
              <a:rPr lang="en-US" sz="1150" b="0" i="0" dirty="0">
                <a:solidFill>
                  <a:srgbClr val="1F2730"/>
                </a:solidFill>
                <a:latin typeface="Arial"/>
              </a:rPr>
              <a:t> unique</a:t>
            </a:r>
            <a:r>
              <a:rPr sz="1150" b="0" i="0" dirty="0">
                <a:solidFill>
                  <a:srgbClr val="1F2730"/>
                </a:solidFill>
                <a:latin typeface="Arial"/>
              </a:rPr>
              <a:t> genes in 29 categories.</a:t>
            </a:r>
          </a:p>
        </p:txBody>
      </p:sp>
      <p:sp>
        <p:nvSpPr>
          <p:cNvPr id="23" name="Rounded Rectangle 22"/>
          <p:cNvSpPr/>
          <p:nvPr/>
        </p:nvSpPr>
        <p:spPr>
          <a:xfrm>
            <a:off x="6245352" y="1335024"/>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4" name="TextBox 23"/>
          <p:cNvSpPr txBox="1"/>
          <p:nvPr/>
        </p:nvSpPr>
        <p:spPr>
          <a:xfrm>
            <a:off x="6528816" y="1627632"/>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dirty="0">
                <a:solidFill>
                  <a:srgbClr val="009E73"/>
                </a:solidFill>
                <a:latin typeface="Arial"/>
              </a:rPr>
              <a:t>SEA-AD </a:t>
            </a:r>
            <a:r>
              <a:rPr lang="en-US" sz="1000" b="1" i="0" dirty="0">
                <a:solidFill>
                  <a:srgbClr val="009E73"/>
                </a:solidFill>
                <a:latin typeface="Arial"/>
              </a:rPr>
              <a:t>IS FOR </a:t>
            </a:r>
            <a:r>
              <a:rPr sz="1000" b="1" i="0" dirty="0">
                <a:solidFill>
                  <a:srgbClr val="009E73"/>
                </a:solidFill>
                <a:latin typeface="Arial"/>
              </a:rPr>
              <a:t>VALIDATION</a:t>
            </a:r>
          </a:p>
        </p:txBody>
      </p:sp>
      <p:sp>
        <p:nvSpPr>
          <p:cNvPr id="25" name="TextBox 24"/>
          <p:cNvSpPr txBox="1"/>
          <p:nvPr/>
        </p:nvSpPr>
        <p:spPr>
          <a:xfrm>
            <a:off x="6528816" y="1938528"/>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Do drivers return in an independent human cohort?</a:t>
            </a:r>
          </a:p>
        </p:txBody>
      </p:sp>
      <p:sp>
        <p:nvSpPr>
          <p:cNvPr id="26" name="Rounded Rectangle 25"/>
          <p:cNvSpPr/>
          <p:nvPr/>
        </p:nvSpPr>
        <p:spPr>
          <a:xfrm>
            <a:off x="6528816"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75120"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774</a:t>
            </a:r>
          </a:p>
        </p:txBody>
      </p:sp>
      <p:sp>
        <p:nvSpPr>
          <p:cNvPr id="28" name="TextBox 27"/>
          <p:cNvSpPr txBox="1"/>
          <p:nvPr/>
        </p:nvSpPr>
        <p:spPr>
          <a:xfrm>
            <a:off x="6675120"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planned contrasts</a:t>
            </a:r>
          </a:p>
        </p:txBody>
      </p:sp>
      <p:sp>
        <p:nvSpPr>
          <p:cNvPr id="29" name="Rounded Rectangle 28"/>
          <p:cNvSpPr/>
          <p:nvPr/>
        </p:nvSpPr>
        <p:spPr>
          <a:xfrm>
            <a:off x="8110727"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57031"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22</a:t>
            </a:r>
          </a:p>
        </p:txBody>
      </p:sp>
      <p:sp>
        <p:nvSpPr>
          <p:cNvPr id="31" name="TextBox 30"/>
          <p:cNvSpPr txBox="1"/>
          <p:nvPr/>
        </p:nvSpPr>
        <p:spPr>
          <a:xfrm>
            <a:off x="8257031" y="3246120"/>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dirty="0">
                <a:solidFill>
                  <a:srgbClr val="4E5A68"/>
                </a:solidFill>
                <a:latin typeface="Arial"/>
              </a:rPr>
              <a:t>KDA calls</a:t>
            </a:r>
          </a:p>
        </p:txBody>
      </p:sp>
      <p:sp>
        <p:nvSpPr>
          <p:cNvPr id="32" name="Rounded Rectangle 31"/>
          <p:cNvSpPr/>
          <p:nvPr/>
        </p:nvSpPr>
        <p:spPr>
          <a:xfrm>
            <a:off x="9692640"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838944"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44</a:t>
            </a:r>
          </a:p>
        </p:txBody>
      </p:sp>
      <p:sp>
        <p:nvSpPr>
          <p:cNvPr id="34" name="TextBox 33"/>
          <p:cNvSpPr txBox="1"/>
          <p:nvPr/>
        </p:nvSpPr>
        <p:spPr>
          <a:xfrm>
            <a:off x="9838944" y="3246120"/>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dirty="0">
                <a:solidFill>
                  <a:srgbClr val="4E5A68"/>
                </a:solidFill>
                <a:latin typeface="Arial"/>
              </a:rPr>
              <a:t>gene × category </a:t>
            </a:r>
            <a:r>
              <a:rPr lang="en-US" sz="960" b="1" i="0" dirty="0">
                <a:solidFill>
                  <a:srgbClr val="4E5A68"/>
                </a:solidFill>
                <a:latin typeface="Arial"/>
              </a:rPr>
              <a:t>combinations</a:t>
            </a:r>
            <a:endParaRPr sz="960" b="1" i="0" dirty="0">
              <a:solidFill>
                <a:srgbClr val="4E5A68"/>
              </a:solidFill>
              <a:latin typeface="Arial"/>
            </a:endParaRPr>
          </a:p>
        </p:txBody>
      </p:sp>
      <p:sp>
        <p:nvSpPr>
          <p:cNvPr id="35" name="Oval 34"/>
          <p:cNvSpPr/>
          <p:nvPr/>
        </p:nvSpPr>
        <p:spPr>
          <a:xfrm>
            <a:off x="6537960" y="409836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711696" y="4005072"/>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Uses SEA-AD-specific Bayesian networks.</a:t>
            </a:r>
          </a:p>
        </p:txBody>
      </p:sp>
      <p:sp>
        <p:nvSpPr>
          <p:cNvPr id="37" name="Oval 36"/>
          <p:cNvSpPr/>
          <p:nvPr/>
        </p:nvSpPr>
        <p:spPr>
          <a:xfrm>
            <a:off x="6537960" y="4525701"/>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711696" y="4443983"/>
            <a:ext cx="4361688" cy="232371"/>
          </a:xfrm>
          <a:prstGeom prst="rect">
            <a:avLst/>
          </a:prstGeom>
          <a:noFill/>
        </p:spPr>
        <p:txBody>
          <a:bodyPr wrap="square" lIns="27432" tIns="27432" rIns="27432" bIns="27432" anchor="t">
            <a:spAutoFit/>
          </a:bodyPr>
          <a:lstStyle/>
          <a:p>
            <a:r>
              <a:rPr lang="en-US" sz="1150" dirty="0">
                <a:solidFill>
                  <a:srgbClr val="1F2730"/>
                </a:solidFill>
                <a:latin typeface="Arial"/>
              </a:rPr>
              <a:t>Final 44 combinations represent 43 unique genes in 5 categories</a:t>
            </a:r>
          </a:p>
        </p:txBody>
      </p:sp>
      <p:sp>
        <p:nvSpPr>
          <p:cNvPr id="39" name="Oval 38"/>
          <p:cNvSpPr/>
          <p:nvPr/>
        </p:nvSpPr>
        <p:spPr>
          <a:xfrm>
            <a:off x="6537960" y="497040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F808C1F5-DF6E-552A-B558-E91DE7F48938}"/>
              </a:ext>
            </a:extLst>
          </p:cNvPr>
          <p:cNvSpPr txBox="1"/>
          <p:nvPr/>
        </p:nvSpPr>
        <p:spPr>
          <a:xfrm>
            <a:off x="6719413" y="4897322"/>
            <a:ext cx="4361688" cy="232371"/>
          </a:xfrm>
          <a:prstGeom prst="rect">
            <a:avLst/>
          </a:prstGeom>
          <a:noFill/>
        </p:spPr>
        <p:txBody>
          <a:bodyPr wrap="square" lIns="27432" tIns="27432" rIns="27432" bIns="27432" anchor="t">
            <a:spAutoFit/>
          </a:bodyPr>
          <a:lstStyle/>
          <a:p>
            <a:r>
              <a:rPr lang="en-US" sz="1150" dirty="0">
                <a:solidFill>
                  <a:srgbClr val="1F2730"/>
                </a:solidFill>
                <a:latin typeface="Arial"/>
              </a:rPr>
              <a:t>20 of 22 calls are M_e33.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p:cNvSpPr txBox="1"/>
          <p:nvPr/>
        </p:nvSpPr>
        <p:spPr>
          <a:xfrm>
            <a:off x="713232" y="612648"/>
            <a:ext cx="219456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072B2"/>
                </a:solidFill>
                <a:latin typeface="Arial"/>
              </a:rPr>
              <a:t>PART 1</a:t>
            </a:r>
          </a:p>
        </p:txBody>
      </p:sp>
      <p:sp>
        <p:nvSpPr>
          <p:cNvPr id="3" name="Rectangle 2"/>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3200" b="1" i="0" dirty="0">
                <a:solidFill>
                  <a:srgbClr val="FFFFFF"/>
                </a:solidFill>
                <a:latin typeface="Arial"/>
              </a:rPr>
              <a:t>ROSMAP KDA analysis</a:t>
            </a:r>
          </a:p>
        </p:txBody>
      </p:sp>
      <p:sp>
        <p:nvSpPr>
          <p:cNvPr id="6" name="Rounded Rectangle 5"/>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0072B2"/>
                </a:solidFill>
                <a:latin typeface="Arial"/>
              </a:rPr>
              <a:t>IN THIS PART</a:t>
            </a:r>
          </a:p>
        </p:txBody>
      </p:sp>
      <p:sp>
        <p:nvSpPr>
          <p:cNvPr id="8" name="Oval 7"/>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1</a:t>
            </a:r>
          </a:p>
        </p:txBody>
      </p:sp>
      <p:sp>
        <p:nvSpPr>
          <p:cNvPr id="10" name="TextBox 9"/>
          <p:cNvSpPr txBox="1"/>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dirty="0">
                <a:solidFill>
                  <a:srgbClr val="FFFFFF"/>
                </a:solidFill>
                <a:latin typeface="Arial"/>
              </a:rPr>
              <a:t>Run</a:t>
            </a:r>
            <a:r>
              <a:rPr lang="en-US" sz="1110" b="1" i="0" dirty="0">
                <a:solidFill>
                  <a:srgbClr val="FFFFFF"/>
                </a:solidFill>
                <a:latin typeface="Arial"/>
              </a:rPr>
              <a:t> DEG</a:t>
            </a:r>
            <a:endParaRPr sz="1110" b="1" i="0" dirty="0">
              <a:solidFill>
                <a:srgbClr val="FFFFFF"/>
              </a:solidFill>
              <a:latin typeface="Arial"/>
            </a:endParaRPr>
          </a:p>
        </p:txBody>
      </p:sp>
      <p:sp>
        <p:nvSpPr>
          <p:cNvPr id="11" name="Oval 10"/>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2</a:t>
            </a:r>
          </a:p>
        </p:txBody>
      </p:sp>
      <p:sp>
        <p:nvSpPr>
          <p:cNvPr id="13" name="TextBox 12"/>
          <p:cNvSpPr txBox="1"/>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1110" b="1" i="0" dirty="0">
                <a:solidFill>
                  <a:srgbClr val="FFFFFF"/>
                </a:solidFill>
                <a:latin typeface="Arial"/>
              </a:rPr>
              <a:t>Call key </a:t>
            </a:r>
            <a:r>
              <a:rPr lang="en-US" sz="1110" b="1" dirty="0">
                <a:solidFill>
                  <a:srgbClr val="FFFFFF"/>
                </a:solidFill>
                <a:latin typeface="Arial"/>
              </a:rPr>
              <a:t>driver</a:t>
            </a:r>
            <a:endParaRPr sz="1110" b="1" i="0" dirty="0">
              <a:solidFill>
                <a:srgbClr val="FFFFFF"/>
              </a:solidFill>
              <a:latin typeface="Arial"/>
            </a:endParaRPr>
          </a:p>
        </p:txBody>
      </p:sp>
      <p:sp>
        <p:nvSpPr>
          <p:cNvPr id="14" name="Oval 13"/>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3</a:t>
            </a:r>
          </a:p>
        </p:txBody>
      </p:sp>
      <p:sp>
        <p:nvSpPr>
          <p:cNvPr id="16" name="TextBox 15"/>
          <p:cNvSpPr txBox="1"/>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dirty="0">
                <a:solidFill>
                  <a:srgbClr val="FFFFFF"/>
                </a:solidFill>
                <a:latin typeface="Arial"/>
              </a:rPr>
              <a:t>ACAT </a:t>
            </a:r>
            <a:r>
              <a:rPr lang="en-US" sz="1110" b="1" i="0" dirty="0">
                <a:solidFill>
                  <a:srgbClr val="FFFFFF"/>
                </a:solidFill>
                <a:latin typeface="Arial"/>
              </a:rPr>
              <a:t>aggregation</a:t>
            </a:r>
            <a:endParaRPr sz="1110" b="1" i="0" dirty="0">
              <a:solidFill>
                <a:srgbClr val="FFFFFF"/>
              </a:solidFill>
              <a:latin typeface="Arial"/>
            </a:endParaRPr>
          </a:p>
        </p:txBody>
      </p:sp>
      <p:sp>
        <p:nvSpPr>
          <p:cNvPr id="17" name="Oval 16"/>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4</a:t>
            </a:r>
          </a:p>
        </p:txBody>
      </p:sp>
      <p:sp>
        <p:nvSpPr>
          <p:cNvPr id="19" name="TextBox 18"/>
          <p:cNvSpPr txBox="1"/>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dirty="0">
                <a:solidFill>
                  <a:srgbClr val="FFFFFF"/>
                </a:solidFill>
                <a:latin typeface="Arial"/>
              </a:rPr>
              <a:t>Result </a:t>
            </a:r>
            <a:r>
              <a:rPr lang="en-US" sz="1110" b="1" i="0" dirty="0">
                <a:solidFill>
                  <a:srgbClr val="FFFFFF"/>
                </a:solidFill>
                <a:latin typeface="Arial"/>
              </a:rPr>
              <a:t>analysis</a:t>
            </a:r>
            <a:endParaRPr sz="1110" b="1" i="0" dirty="0">
              <a:solidFill>
                <a:srgbClr val="FFFFFF"/>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dirty="0">
                <a:solidFill>
                  <a:srgbClr val="0F233D"/>
                </a:solidFill>
                <a:latin typeface="Arial"/>
              </a:rPr>
              <a:t>Four steps: one KDA query per contrast</a:t>
            </a:r>
          </a:p>
        </p:txBody>
      </p:sp>
      <p:sp>
        <p:nvSpPr>
          <p:cNvPr id="5" name="Rounded Rectangle 4"/>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1</a:t>
            </a:r>
          </a:p>
        </p:txBody>
      </p:sp>
      <p:sp>
        <p:nvSpPr>
          <p:cNvPr id="8" name="TextBox 7"/>
          <p:cNvSpPr txBox="1"/>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dirty="0">
                <a:solidFill>
                  <a:srgbClr val="0F233D"/>
                </a:solidFill>
                <a:latin typeface="Arial"/>
              </a:rPr>
              <a:t>DEG</a:t>
            </a:r>
          </a:p>
        </p:txBody>
      </p:sp>
      <p:sp>
        <p:nvSpPr>
          <p:cNvPr id="9" name="TextBox 8"/>
          <p:cNvSpPr txBox="1"/>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072B2"/>
                </a:solidFill>
                <a:latin typeface="Arial"/>
              </a:rPr>
              <a:t>fine cell type × sex/APOE</a:t>
            </a:r>
          </a:p>
        </p:txBody>
      </p:sp>
      <p:sp>
        <p:nvSpPr>
          <p:cNvPr id="10" name="Rounded Rectangle 9"/>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30" b="0" i="0" dirty="0">
                <a:solidFill>
                  <a:srgbClr val="4E5A68"/>
                </a:solidFill>
                <a:latin typeface="Arial"/>
              </a:rPr>
              <a:t>AD-versus-NCI</a:t>
            </a:r>
            <a:r>
              <a:rPr lang="en-US" sz="1130" b="0" i="0" dirty="0">
                <a:solidFill>
                  <a:srgbClr val="4E5A68"/>
                </a:solidFill>
                <a:latin typeface="Arial"/>
              </a:rPr>
              <a:t> DEG for each contrast</a:t>
            </a:r>
            <a:endParaRPr sz="1130" b="0" i="0" dirty="0">
              <a:solidFill>
                <a:srgbClr val="4E5A68"/>
              </a:solidFill>
              <a:latin typeface="Arial"/>
            </a:endParaRPr>
          </a:p>
        </p:txBody>
      </p:sp>
      <p:sp>
        <p:nvSpPr>
          <p:cNvPr id="12" name="Rounded Rectangle 1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2</a:t>
            </a:r>
          </a:p>
        </p:txBody>
      </p:sp>
      <p:sp>
        <p:nvSpPr>
          <p:cNvPr id="15" name="TextBox 14"/>
          <p:cNvSpPr txBox="1"/>
          <p:nvPr/>
        </p:nvSpPr>
        <p:spPr>
          <a:xfrm>
            <a:off x="363931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Mitochondrial query</a:t>
            </a:r>
          </a:p>
        </p:txBody>
      </p:sp>
      <p:sp>
        <p:nvSpPr>
          <p:cNvPr id="16" name="TextBox 15"/>
          <p:cNvSpPr txBox="1"/>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dirty="0">
                <a:solidFill>
                  <a:srgbClr val="0072B2"/>
                </a:solidFill>
                <a:latin typeface="Arial"/>
              </a:rPr>
              <a:t>MT DEGs</a:t>
            </a:r>
          </a:p>
        </p:txBody>
      </p:sp>
      <p:sp>
        <p:nvSpPr>
          <p:cNvPr id="17" name="Rounded Rectangle 16"/>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lang="en-US" sz="1130" b="0" i="0" dirty="0">
                <a:solidFill>
                  <a:srgbClr val="4E5A68"/>
                </a:solidFill>
                <a:latin typeface="Arial"/>
              </a:rPr>
              <a:t>Build </a:t>
            </a:r>
            <a:r>
              <a:rPr sz="1130" b="0" i="0" dirty="0">
                <a:solidFill>
                  <a:srgbClr val="4E5A68"/>
                </a:solidFill>
                <a:latin typeface="Arial"/>
              </a:rPr>
              <a:t>query per contrast</a:t>
            </a:r>
            <a:r>
              <a:rPr lang="en-US" sz="1130" b="0" i="0" dirty="0">
                <a:solidFill>
                  <a:srgbClr val="4E5A68"/>
                </a:solidFill>
                <a:latin typeface="Arial"/>
              </a:rPr>
              <a:t> with MT DEGs</a:t>
            </a:r>
            <a:endParaRPr sz="1130" b="0" i="0" dirty="0">
              <a:solidFill>
                <a:srgbClr val="4E5A68"/>
              </a:solidFill>
              <a:latin typeface="Arial"/>
            </a:endParaRPr>
          </a:p>
        </p:txBody>
      </p:sp>
      <p:sp>
        <p:nvSpPr>
          <p:cNvPr id="19" name="Rounded Rectangle 18"/>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3</a:t>
            </a:r>
          </a:p>
        </p:txBody>
      </p:sp>
      <p:sp>
        <p:nvSpPr>
          <p:cNvPr id="22" name="TextBox 21"/>
          <p:cNvSpPr txBox="1"/>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KDA run</a:t>
            </a:r>
          </a:p>
        </p:txBody>
      </p:sp>
      <p:sp>
        <p:nvSpPr>
          <p:cNvPr id="23" name="TextBox 22"/>
          <p:cNvSpPr txBox="1"/>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1300" b="1" dirty="0">
                <a:solidFill>
                  <a:srgbClr val="0072B2"/>
                </a:solidFill>
                <a:latin typeface="Arial"/>
              </a:rPr>
              <a:t>Use </a:t>
            </a:r>
            <a:r>
              <a:rPr lang="en-US" sz="1300" b="1" dirty="0" err="1">
                <a:solidFill>
                  <a:srgbClr val="0072B2"/>
                </a:solidFill>
                <a:latin typeface="Arial"/>
              </a:rPr>
              <a:t>c</a:t>
            </a:r>
            <a:r>
              <a:rPr lang="en-US" sz="1300" b="1" i="0" dirty="0" err="1">
                <a:solidFill>
                  <a:srgbClr val="0072B2"/>
                </a:solidFill>
                <a:latin typeface="Arial"/>
              </a:rPr>
              <a:t>all_key_drivers</a:t>
            </a:r>
            <a:endParaRPr sz="1300" b="1" i="0" dirty="0">
              <a:solidFill>
                <a:srgbClr val="0072B2"/>
              </a:solidFill>
              <a:latin typeface="Arial"/>
            </a:endParaRPr>
          </a:p>
        </p:txBody>
      </p:sp>
      <p:sp>
        <p:nvSpPr>
          <p:cNvPr id="24" name="Rounded Rectangle 23"/>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lang="en-US" sz="1130" b="0" i="0" dirty="0">
                <a:solidFill>
                  <a:srgbClr val="4E5A68"/>
                </a:solidFill>
                <a:latin typeface="Arial"/>
              </a:rPr>
              <a:t>KDA run for valid DEG contrast valid</a:t>
            </a:r>
          </a:p>
          <a:p>
            <a:pPr algn="ctr">
              <a:lnSpc>
                <a:spcPct val="100000"/>
              </a:lnSpc>
              <a:spcBef>
                <a:spcPts val="0"/>
              </a:spcBef>
              <a:spcAft>
                <a:spcPts val="0"/>
              </a:spcAft>
            </a:pPr>
            <a:r>
              <a:rPr lang="en-US" sz="1130" dirty="0">
                <a:solidFill>
                  <a:srgbClr val="4E5A68"/>
                </a:solidFill>
                <a:latin typeface="Arial"/>
              </a:rPr>
              <a:t>n</a:t>
            </a:r>
            <a:r>
              <a:rPr lang="en-US" sz="1130" b="0" i="0" dirty="0">
                <a:solidFill>
                  <a:srgbClr val="4E5A68"/>
                </a:solidFill>
                <a:latin typeface="Arial"/>
              </a:rPr>
              <a:t>umber of genes in</a:t>
            </a:r>
            <a:r>
              <a:rPr sz="1130" b="0" i="0" dirty="0">
                <a:solidFill>
                  <a:srgbClr val="4E5A68"/>
                </a:solidFill>
                <a:latin typeface="Arial"/>
              </a:rPr>
              <a:t> query ≥ 3</a:t>
            </a:r>
          </a:p>
        </p:txBody>
      </p:sp>
      <p:sp>
        <p:nvSpPr>
          <p:cNvPr id="26" name="Rounded Rectangle 25"/>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4</a:t>
            </a:r>
          </a:p>
        </p:txBody>
      </p:sp>
      <p:sp>
        <p:nvSpPr>
          <p:cNvPr id="29" name="TextBox 28"/>
          <p:cNvSpPr txBox="1"/>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Category result</a:t>
            </a:r>
          </a:p>
        </p:txBody>
      </p:sp>
      <p:sp>
        <p:nvSpPr>
          <p:cNvPr id="30" name="TextBox 29"/>
          <p:cNvSpPr txBox="1"/>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E69F00"/>
                </a:solidFill>
                <a:latin typeface="Arial"/>
              </a:rPr>
              <a:t>gene × category</a:t>
            </a:r>
          </a:p>
        </p:txBody>
      </p:sp>
      <p:sp>
        <p:nvSpPr>
          <p:cNvPr id="31" name="Rounded Rectangle 30"/>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2" name="TextBox 31"/>
          <p:cNvSpPr txBox="1"/>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lang="en-US" sz="1130" b="0" i="0" dirty="0">
                <a:solidFill>
                  <a:srgbClr val="4E5A68"/>
                </a:solidFill>
                <a:latin typeface="Arial"/>
              </a:rPr>
              <a:t>Aggregate genes across fine cell type for the same broad cell type with ACAT.</a:t>
            </a:r>
            <a:endParaRPr sz="1130" b="0" i="0" dirty="0">
              <a:solidFill>
                <a:srgbClr val="4E5A68"/>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54 fine cell types create 324 planned contrasts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Each contrast contributes one mitochondrial DEG query and at most one KDA call.</a:t>
            </a:r>
          </a:p>
        </p:txBody>
      </p:sp>
      <p:sp>
        <p:nvSpPr>
          <p:cNvPr id="5" name="Rounded Rectangle 4"/>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54 fine cell types</a:t>
            </a:r>
          </a:p>
        </p:txBody>
      </p:sp>
      <p:sp>
        <p:nvSpPr>
          <p:cNvPr id="7" name="TextBox 6"/>
          <p:cNvSpPr txBox="1"/>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40" b="1" i="0" dirty="0">
                <a:solidFill>
                  <a:srgbClr val="0072B2"/>
                </a:solidFill>
                <a:latin typeface="Arial"/>
              </a:rPr>
              <a:t>× 6 sex/APOE groups = 324 </a:t>
            </a:r>
            <a:r>
              <a:rPr lang="en-US" sz="1240" b="1" i="0" dirty="0">
                <a:solidFill>
                  <a:srgbClr val="0072B2"/>
                </a:solidFill>
                <a:latin typeface="Arial"/>
              </a:rPr>
              <a:t>contrasts</a:t>
            </a:r>
            <a:endParaRPr sz="1240" b="1" i="0" dirty="0">
              <a:solidFill>
                <a:srgbClr val="0072B2"/>
              </a:solidFill>
              <a:latin typeface="Arial"/>
            </a:endParaRPr>
          </a:p>
        </p:txBody>
      </p:sp>
      <p:sp>
        <p:nvSpPr>
          <p:cNvPr id="8" name="Rounded Rectangle 7"/>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35424" y="1591056"/>
            <a:ext cx="3090672"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324 signed results</a:t>
            </a:r>
          </a:p>
        </p:txBody>
      </p:sp>
      <p:sp>
        <p:nvSpPr>
          <p:cNvPr id="10" name="TextBox 9"/>
          <p:cNvSpPr txBox="1"/>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40" b="1" i="0">
                <a:solidFill>
                  <a:srgbClr val="0072B2"/>
                </a:solidFill>
                <a:latin typeface="Arial"/>
              </a:rPr>
              <a:t>one query per contrast</a:t>
            </a:r>
          </a:p>
        </p:txBody>
      </p:sp>
      <p:sp>
        <p:nvSpPr>
          <p:cNvPr id="11" name="Rounded Rectangle 10"/>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dirty="0">
                <a:solidFill>
                  <a:srgbClr val="0F233D"/>
                </a:solidFill>
                <a:latin typeface="Arial"/>
              </a:rPr>
              <a:t>194 call_key_drivers calls</a:t>
            </a:r>
          </a:p>
        </p:txBody>
      </p:sp>
      <p:sp>
        <p:nvSpPr>
          <p:cNvPr id="13" name="TextBox 12"/>
          <p:cNvSpPr txBox="1"/>
          <p:nvPr/>
        </p:nvSpPr>
        <p:spPr>
          <a:xfrm>
            <a:off x="8412480" y="1993392"/>
            <a:ext cx="2926080" cy="21544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40" b="1" i="0" dirty="0">
                <a:solidFill>
                  <a:srgbClr val="009E73"/>
                </a:solidFill>
                <a:latin typeface="Arial"/>
              </a:rPr>
              <a:t>All valid</a:t>
            </a:r>
            <a:r>
              <a:rPr lang="en-US" sz="1040" b="1" i="0" dirty="0">
                <a:solidFill>
                  <a:srgbClr val="009E73"/>
                </a:solidFill>
                <a:latin typeface="Arial"/>
              </a:rPr>
              <a:t> source and</a:t>
            </a:r>
            <a:r>
              <a:rPr sz="1040" b="1" i="0" dirty="0">
                <a:solidFill>
                  <a:srgbClr val="009E73"/>
                </a:solidFill>
                <a:latin typeface="Arial"/>
              </a:rPr>
              <a:t> queries ≥3</a:t>
            </a:r>
          </a:p>
        </p:txBody>
      </p:sp>
      <p:sp>
        <p:nvSpPr>
          <p:cNvPr id="14" name="Rectangle 13"/>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0" b="1" i="0">
                <a:solidFill>
                  <a:srgbClr val="FFFFFF"/>
                </a:solidFill>
                <a:latin typeface="Arial"/>
              </a:rPr>
              <a:t>Mutually exclusive contrast outcome</a:t>
            </a:r>
          </a:p>
        </p:txBody>
      </p:sp>
      <p:sp>
        <p:nvSpPr>
          <p:cNvPr id="16" name="Rectangle 15"/>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0" b="1" i="0">
                <a:solidFill>
                  <a:srgbClr val="FFFFFF"/>
                </a:solidFill>
                <a:latin typeface="Arial"/>
              </a:rPr>
              <a:t>Contrasts</a:t>
            </a:r>
          </a:p>
        </p:txBody>
      </p:sp>
      <p:sp>
        <p:nvSpPr>
          <p:cNvPr id="18" name="Rectangle 17"/>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0" b="1" i="0">
                <a:solidFill>
                  <a:srgbClr val="FFFFFF"/>
                </a:solidFill>
                <a:latin typeface="Arial"/>
              </a:rPr>
              <a:t>KDA called?</a:t>
            </a:r>
          </a:p>
        </p:txBody>
      </p:sp>
      <p:sp>
        <p:nvSpPr>
          <p:cNvPr id="22" name="Rectangle 2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dirty="0">
                <a:solidFill>
                  <a:srgbClr val="1F2730"/>
                </a:solidFill>
                <a:latin typeface="Arial"/>
              </a:rPr>
              <a:t>Source DEG contrast not </a:t>
            </a:r>
            <a:r>
              <a:rPr lang="en-US" sz="950" b="0" i="0" dirty="0">
                <a:solidFill>
                  <a:srgbClr val="1F2730"/>
                </a:solidFill>
                <a:latin typeface="Arial"/>
              </a:rPr>
              <a:t>valid</a:t>
            </a:r>
            <a:endParaRPr sz="950" b="0" i="0" dirty="0">
              <a:solidFill>
                <a:srgbClr val="1F2730"/>
              </a:solidFill>
              <a:latin typeface="Arial"/>
            </a:endParaRPr>
          </a:p>
        </p:txBody>
      </p:sp>
      <p:sp>
        <p:nvSpPr>
          <p:cNvPr id="24" name="Rectangle 23"/>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3</a:t>
            </a:r>
          </a:p>
        </p:txBody>
      </p:sp>
      <p:sp>
        <p:nvSpPr>
          <p:cNvPr id="26" name="Rectangle 25"/>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30" name="Rectangle 29"/>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895560" y="3908846"/>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950" dirty="0">
                <a:solidFill>
                  <a:srgbClr val="1F2730"/>
                </a:solidFill>
                <a:latin typeface="Arial"/>
              </a:rPr>
              <a:t>E</a:t>
            </a:r>
            <a:r>
              <a:rPr sz="950" b="0" i="0" dirty="0">
                <a:solidFill>
                  <a:srgbClr val="1F2730"/>
                </a:solidFill>
                <a:latin typeface="Arial"/>
              </a:rPr>
              <a:t>ffective query </a:t>
            </a:r>
            <a:r>
              <a:rPr lang="en-US" sz="950" b="0" i="0" dirty="0">
                <a:solidFill>
                  <a:srgbClr val="1F2730"/>
                </a:solidFill>
                <a:latin typeface="Arial"/>
              </a:rPr>
              <a:t>empty</a:t>
            </a:r>
            <a:endParaRPr sz="950" b="0" i="0" dirty="0">
              <a:solidFill>
                <a:srgbClr val="1F2730"/>
              </a:solidFill>
              <a:latin typeface="Arial"/>
            </a:endParaRPr>
          </a:p>
        </p:txBody>
      </p:sp>
      <p:sp>
        <p:nvSpPr>
          <p:cNvPr id="32" name="Rectangle 3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dirty="0">
                <a:solidFill>
                  <a:srgbClr val="1F2730"/>
                </a:solidFill>
                <a:latin typeface="Arial"/>
              </a:rPr>
              <a:t>95</a:t>
            </a:r>
          </a:p>
        </p:txBody>
      </p:sp>
      <p:sp>
        <p:nvSpPr>
          <p:cNvPr id="34" name="Rectangle 33"/>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38" name="Rectangle 37"/>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895560" y="4270247"/>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Effective query 1–2</a:t>
            </a:r>
          </a:p>
        </p:txBody>
      </p:sp>
      <p:sp>
        <p:nvSpPr>
          <p:cNvPr id="40" name="Rectangle 39"/>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32</a:t>
            </a:r>
          </a:p>
        </p:txBody>
      </p:sp>
      <p:sp>
        <p:nvSpPr>
          <p:cNvPr id="42" name="Rectangle 4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46" name="Rectangle 45"/>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895560" y="4804958"/>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dirty="0">
                <a:solidFill>
                  <a:srgbClr val="1F2730"/>
                </a:solidFill>
                <a:latin typeface="Arial"/>
              </a:rPr>
              <a:t>Effective query </a:t>
            </a:r>
            <a:r>
              <a:rPr lang="en-US" sz="950" dirty="0">
                <a:solidFill>
                  <a:srgbClr val="1F2730"/>
                </a:solidFill>
                <a:latin typeface="Arial"/>
              </a:rPr>
              <a:t>&gt;=3</a:t>
            </a:r>
            <a:endParaRPr sz="950" b="0" i="0" dirty="0">
              <a:solidFill>
                <a:srgbClr val="1F2730"/>
              </a:solidFill>
              <a:latin typeface="Arial"/>
            </a:endParaRPr>
          </a:p>
        </p:txBody>
      </p:sp>
      <p:sp>
        <p:nvSpPr>
          <p:cNvPr id="48" name="Rectangle 47"/>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950" b="0" i="0" dirty="0">
                <a:solidFill>
                  <a:srgbClr val="1F2730"/>
                </a:solidFill>
                <a:latin typeface="Arial"/>
              </a:rPr>
              <a:t>194</a:t>
            </a:r>
            <a:endParaRPr sz="950" b="0" i="0" dirty="0">
              <a:solidFill>
                <a:srgbClr val="1F2730"/>
              </a:solidFill>
              <a:latin typeface="Arial"/>
            </a:endParaRPr>
          </a:p>
        </p:txBody>
      </p:sp>
      <p:sp>
        <p:nvSpPr>
          <p:cNvPr id="50" name="Rectangle 49"/>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dirty="0">
                <a:solidFill>
                  <a:srgbClr val="1F2730"/>
                </a:solidFill>
                <a:latin typeface="Arial"/>
              </a:rPr>
              <a:t>Yes</a:t>
            </a:r>
          </a:p>
        </p:txBody>
      </p:sp>
      <p:sp>
        <p:nvSpPr>
          <p:cNvPr id="62" name="Rectangle 6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1" i="0">
                <a:solidFill>
                  <a:srgbClr val="1F2730"/>
                </a:solidFill>
                <a:latin typeface="Arial"/>
              </a:rPr>
              <a:t>TOTAL</a:t>
            </a:r>
          </a:p>
        </p:txBody>
      </p:sp>
      <p:sp>
        <p:nvSpPr>
          <p:cNvPr id="64" name="Rectangle 63"/>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1" i="0">
                <a:solidFill>
                  <a:srgbClr val="1F2730"/>
                </a:solidFill>
                <a:latin typeface="Arial"/>
              </a:rPr>
              <a:t>324</a:t>
            </a:r>
          </a:p>
        </p:txBody>
      </p:sp>
      <p:sp>
        <p:nvSpPr>
          <p:cNvPr id="66" name="Rectangle 65"/>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1" i="0">
                <a:solidFill>
                  <a:srgbClr val="1F2730"/>
                </a:solidFill>
                <a:latin typeface="Arial"/>
              </a:rPr>
              <a:t>194 calls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100" b="1" dirty="0">
                <a:solidFill>
                  <a:srgbClr val="0F233D"/>
                </a:solidFill>
                <a:latin typeface="Arial"/>
              </a:rPr>
              <a:t>S</a:t>
            </a:r>
            <a:r>
              <a:rPr sz="2100" b="1" i="0" dirty="0">
                <a:solidFill>
                  <a:srgbClr val="0F233D"/>
                </a:solidFill>
                <a:latin typeface="Arial"/>
              </a:rPr>
              <a:t>ource validity and query size decide whether KDA is called</a:t>
            </a:r>
          </a:p>
        </p:txBody>
      </p:sp>
      <p:sp>
        <p:nvSpPr>
          <p:cNvPr id="5" name="Rounded Rectangle 4"/>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One canonical query-size gate</a:t>
            </a:r>
          </a:p>
        </p:txBody>
      </p:sp>
      <p:sp>
        <p:nvSpPr>
          <p:cNvPr id="8" name="Rounded Rectangle 7"/>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≥3</a:t>
            </a:r>
          </a:p>
        </p:txBody>
      </p:sp>
      <p:sp>
        <p:nvSpPr>
          <p:cNvPr id="11" name="Rounded Rectangle 10"/>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500" b="1" i="0" dirty="0">
                <a:solidFill>
                  <a:srgbClr val="00684D"/>
                </a:solidFill>
                <a:latin typeface="Arial"/>
              </a:rPr>
              <a:t>194</a:t>
            </a:r>
            <a:endParaRPr sz="2500" b="1" i="0" dirty="0">
              <a:solidFill>
                <a:srgbClr val="00684D"/>
              </a:solidFill>
              <a:latin typeface="Arial"/>
            </a:endParaRPr>
          </a:p>
        </p:txBody>
      </p:sp>
      <p:sp>
        <p:nvSpPr>
          <p:cNvPr id="13" name="TextBox 12"/>
          <p:cNvSpPr txBox="1"/>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dirty="0">
                <a:solidFill>
                  <a:srgbClr val="4E5A68"/>
                </a:solidFill>
                <a:latin typeface="Arial"/>
              </a:rPr>
              <a:t>included KDA calls</a:t>
            </a:r>
          </a:p>
        </p:txBody>
      </p:sp>
      <p:sp>
        <p:nvSpPr>
          <p:cNvPr id="14" name="Oval 13"/>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0" i="0">
                <a:solidFill>
                  <a:srgbClr val="1F2730"/>
                </a:solidFill>
                <a:latin typeface="Arial"/>
              </a:rPr>
              <a:t>All 194 validated completed calls enter the aggregate.</a:t>
            </a:r>
          </a:p>
        </p:txBody>
      </p:sp>
      <p:sp>
        <p:nvSpPr>
          <p:cNvPr id="16" name="Oval 15"/>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0" i="0" dirty="0">
                <a:solidFill>
                  <a:srgbClr val="1F2730"/>
                </a:solidFill>
                <a:latin typeface="Arial"/>
              </a:rPr>
              <a:t>164 significant • 30 completed empty</a:t>
            </a:r>
          </a:p>
        </p:txBody>
      </p:sp>
      <p:sp>
        <p:nvSpPr>
          <p:cNvPr id="18" name="Oval 17"/>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0" i="0">
                <a:solidFill>
                  <a:srgbClr val="1F2730"/>
                </a:solidFill>
                <a:latin typeface="Arial"/>
              </a:rPr>
              <a:t>The 164 significant calls returned 1,833 rows before mitochondrial filtering.</a:t>
            </a:r>
          </a:p>
        </p:txBody>
      </p:sp>
      <p:sp>
        <p:nvSpPr>
          <p:cNvPr id="20" name="Rounded Rectangle 19"/>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dirty="0">
                <a:solidFill>
                  <a:srgbClr val="0F233D"/>
                </a:solidFill>
                <a:latin typeface="Arial"/>
              </a:rPr>
              <a:t>What ‘source contrast not </a:t>
            </a:r>
            <a:r>
              <a:rPr lang="en-US" sz="1520" b="1" i="0" dirty="0">
                <a:solidFill>
                  <a:srgbClr val="0F233D"/>
                </a:solidFill>
                <a:latin typeface="Arial"/>
              </a:rPr>
              <a:t>valid</a:t>
            </a:r>
            <a:r>
              <a:rPr sz="1520" b="1" i="0" dirty="0">
                <a:solidFill>
                  <a:srgbClr val="0F233D"/>
                </a:solidFill>
                <a:latin typeface="Arial"/>
              </a:rPr>
              <a:t>’ means</a:t>
            </a:r>
          </a:p>
        </p:txBody>
      </p:sp>
      <p:sp>
        <p:nvSpPr>
          <p:cNvPr id="23" name="TextBox 22"/>
          <p:cNvSpPr txBox="1"/>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dirty="0">
                <a:solidFill>
                  <a:srgbClr val="0F233D"/>
                </a:solidFill>
                <a:latin typeface="Arial"/>
              </a:rPr>
              <a:t>The upstream MAST comparison could not be fitted because one arm had fewer than </a:t>
            </a:r>
            <a:r>
              <a:rPr sz="1400" b="1" i="0" dirty="0">
                <a:solidFill>
                  <a:srgbClr val="FF0000"/>
                </a:solidFill>
                <a:latin typeface="Arial"/>
              </a:rPr>
              <a:t>three</a:t>
            </a:r>
            <a:r>
              <a:rPr sz="1400" b="1" i="0" dirty="0">
                <a:solidFill>
                  <a:srgbClr val="0F233D"/>
                </a:solidFill>
                <a:latin typeface="Arial"/>
              </a:rPr>
              <a:t> cells.</a:t>
            </a:r>
          </a:p>
        </p:txBody>
      </p:sp>
      <p:sp>
        <p:nvSpPr>
          <p:cNvPr id="24" name="Rectangle 23"/>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Fine cell type</a:t>
            </a:r>
          </a:p>
        </p:txBody>
      </p:sp>
      <p:sp>
        <p:nvSpPr>
          <p:cNvPr id="26" name="Rectangle 25"/>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Group</a:t>
            </a:r>
          </a:p>
        </p:txBody>
      </p:sp>
      <p:sp>
        <p:nvSpPr>
          <p:cNvPr id="28" name="Rectangle 27"/>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AD cells</a:t>
            </a:r>
          </a:p>
        </p:txBody>
      </p:sp>
      <p:sp>
        <p:nvSpPr>
          <p:cNvPr id="30" name="Rectangle 29"/>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NCI cells</a:t>
            </a:r>
          </a:p>
        </p:txBody>
      </p:sp>
      <p:sp>
        <p:nvSpPr>
          <p:cNvPr id="32" name="Rectangle 3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Fib SLC4A4</a:t>
            </a:r>
          </a:p>
        </p:txBody>
      </p:sp>
      <p:sp>
        <p:nvSpPr>
          <p:cNvPr id="34" name="Rectangle 33"/>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36" name="Rectangle 35"/>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0</a:t>
            </a:r>
          </a:p>
        </p:txBody>
      </p:sp>
      <p:sp>
        <p:nvSpPr>
          <p:cNvPr id="38" name="Rectangle 37"/>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11</a:t>
            </a:r>
          </a:p>
        </p:txBody>
      </p:sp>
      <p:sp>
        <p:nvSpPr>
          <p:cNvPr id="40" name="Rectangle 39"/>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CAMs</a:t>
            </a:r>
          </a:p>
        </p:txBody>
      </p:sp>
      <p:sp>
        <p:nvSpPr>
          <p:cNvPr id="42" name="Rectangle 4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44" name="Rectangle 43"/>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45</a:t>
            </a:r>
          </a:p>
        </p:txBody>
      </p:sp>
      <p:sp>
        <p:nvSpPr>
          <p:cNvPr id="46" name="Rectangle 45"/>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1</a:t>
            </a:r>
          </a:p>
        </p:txBody>
      </p:sp>
      <p:sp>
        <p:nvSpPr>
          <p:cNvPr id="48" name="Rectangle 47"/>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Mic MKI67</a:t>
            </a:r>
          </a:p>
        </p:txBody>
      </p:sp>
      <p:sp>
        <p:nvSpPr>
          <p:cNvPr id="50" name="Rectangle 49"/>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52" name="Rectangle 5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2</a:t>
            </a:r>
          </a:p>
        </p:txBody>
      </p:sp>
      <p:sp>
        <p:nvSpPr>
          <p:cNvPr id="54" name="Rectangle 53"/>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9</a:t>
            </a:r>
          </a:p>
        </p:txBody>
      </p:sp>
      <p:sp>
        <p:nvSpPr>
          <p:cNvPr id="56" name="TextBox 55"/>
          <p:cNvSpPr txBox="1"/>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50" b="1" i="0">
                <a:solidFill>
                  <a:srgbClr val="D55E00"/>
                </a:solidFill>
                <a:latin typeface="Arial"/>
              </a:rPr>
              <a:t>3 unavailable comparisons = 3 unavailable KDA calls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100" b="1" dirty="0">
                <a:solidFill>
                  <a:srgbClr val="0F233D"/>
                </a:solidFill>
                <a:latin typeface="Arial"/>
              </a:rPr>
              <a:t>M</a:t>
            </a:r>
            <a:r>
              <a:rPr sz="2100" b="1" i="0" dirty="0">
                <a:solidFill>
                  <a:srgbClr val="0F233D"/>
                </a:solidFill>
                <a:latin typeface="Arial"/>
              </a:rPr>
              <a:t>itochondrial query genes</a:t>
            </a:r>
          </a:p>
        </p:txBody>
      </p:sp>
      <p:sp>
        <p:nvSpPr>
          <p:cNvPr id="5" name="Rounded Rectangle 4"/>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dirty="0">
                <a:solidFill>
                  <a:srgbClr val="0F233D"/>
                </a:solidFill>
                <a:latin typeface="Arial"/>
              </a:rPr>
              <a:t>DEG rule</a:t>
            </a:r>
          </a:p>
        </p:txBody>
      </p:sp>
      <p:sp>
        <p:nvSpPr>
          <p:cNvPr id="8" name="Oval 7"/>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Detected in ≥10% of AD or NCI nuclei.</a:t>
            </a:r>
          </a:p>
        </p:txBody>
      </p:sp>
      <p:sp>
        <p:nvSpPr>
          <p:cNvPr id="10" name="Oval 9"/>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Within-contrast BH FDR &lt; 0.05.</a:t>
            </a:r>
          </a:p>
        </p:txBody>
      </p:sp>
      <p:sp>
        <p:nvSpPr>
          <p:cNvPr id="12" name="Oval 1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|log₂ fold change| &gt; log₂(1.3) ≈ 0.379.</a:t>
            </a:r>
          </a:p>
        </p:txBody>
      </p:sp>
      <p:sp>
        <p:nvSpPr>
          <p:cNvPr id="14" name="Oval 13"/>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dirty="0">
                <a:solidFill>
                  <a:srgbClr val="1F2730"/>
                </a:solidFill>
                <a:latin typeface="Arial"/>
              </a:rPr>
              <a:t>Significant positive and negative DEGs enter the query.</a:t>
            </a:r>
          </a:p>
        </p:txBody>
      </p:sp>
      <p:sp>
        <p:nvSpPr>
          <p:cNvPr id="16" name="Rounded Rectangle 15"/>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20" b="1" i="0" dirty="0">
                <a:solidFill>
                  <a:srgbClr val="0F233D"/>
                </a:solidFill>
                <a:latin typeface="Arial"/>
              </a:rPr>
              <a:t>Query = DEG rule ∩ core_mito_protein</a:t>
            </a:r>
          </a:p>
        </p:txBody>
      </p:sp>
      <p:sp>
        <p:nvSpPr>
          <p:cNvPr id="18" name="Rounded Rectangle 17"/>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2,864,117</a:t>
            </a:r>
          </a:p>
        </p:txBody>
      </p:sp>
      <p:sp>
        <p:nvSpPr>
          <p:cNvPr id="20" name="TextBox 19"/>
          <p:cNvSpPr txBox="1"/>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tested gene × comparison rows</a:t>
            </a:r>
          </a:p>
        </p:txBody>
      </p:sp>
      <p:sp>
        <p:nvSpPr>
          <p:cNvPr id="21" name="Rounded Rectangle 20"/>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118,297</a:t>
            </a:r>
          </a:p>
        </p:txBody>
      </p:sp>
      <p:sp>
        <p:nvSpPr>
          <p:cNvPr id="23" name="TextBox 22"/>
          <p:cNvSpPr txBox="1"/>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960" b="1" i="0" dirty="0">
                <a:solidFill>
                  <a:srgbClr val="4E5A68"/>
                </a:solidFill>
                <a:latin typeface="Arial"/>
              </a:rPr>
              <a:t>Passed </a:t>
            </a:r>
            <a:r>
              <a:rPr sz="960" b="1" i="0" dirty="0">
                <a:solidFill>
                  <a:srgbClr val="4E5A68"/>
                </a:solidFill>
                <a:latin typeface="Arial"/>
              </a:rPr>
              <a:t>DEG</a:t>
            </a:r>
          </a:p>
        </p:txBody>
      </p:sp>
      <p:sp>
        <p:nvSpPr>
          <p:cNvPr id="24" name="TextBox 23"/>
          <p:cNvSpPr txBox="1"/>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80" b="0" i="0">
                <a:solidFill>
                  <a:srgbClr val="6C7988"/>
                </a:solidFill>
                <a:latin typeface="Arial"/>
              </a:rPr>
              <a:t>58,112 up • 60,185 down</a:t>
            </a:r>
          </a:p>
        </p:txBody>
      </p:sp>
      <p:sp>
        <p:nvSpPr>
          <p:cNvPr id="25" name="Rounded Rectangle 24"/>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9,262</a:t>
            </a:r>
          </a:p>
        </p:txBody>
      </p:sp>
      <p:sp>
        <p:nvSpPr>
          <p:cNvPr id="27" name="TextBox 26"/>
          <p:cNvSpPr txBox="1"/>
          <p:nvPr/>
        </p:nvSpPr>
        <p:spPr>
          <a:xfrm>
            <a:off x="9235440"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dirty="0">
                <a:solidFill>
                  <a:srgbClr val="4E5A68"/>
                </a:solidFill>
                <a:latin typeface="Arial"/>
              </a:rPr>
              <a:t>core-MT query </a:t>
            </a:r>
            <a:r>
              <a:rPr lang="en-US" sz="960" b="1" i="0" dirty="0">
                <a:solidFill>
                  <a:srgbClr val="4E5A68"/>
                </a:solidFill>
                <a:latin typeface="Arial"/>
              </a:rPr>
              <a:t>genes</a:t>
            </a:r>
            <a:endParaRPr sz="960" b="1" i="0" dirty="0">
              <a:solidFill>
                <a:srgbClr val="4E5A68"/>
              </a:solidFill>
              <a:latin typeface="Arial"/>
            </a:endParaRPr>
          </a:p>
        </p:txBody>
      </p:sp>
      <p:sp>
        <p:nvSpPr>
          <p:cNvPr id="28" name="TextBox 27"/>
          <p:cNvSpPr txBox="1"/>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80" b="0" i="0">
                <a:solidFill>
                  <a:srgbClr val="6C7988"/>
                </a:solidFill>
                <a:latin typeface="Arial"/>
              </a:rPr>
              <a:t>4,258 up • 5,004 down</a:t>
            </a:r>
          </a:p>
        </p:txBody>
      </p:sp>
      <p:sp>
        <p:nvSpPr>
          <p:cNvPr id="29" name="Rounded Rectangle 28"/>
          <p:cNvSpPr/>
          <p:nvPr/>
        </p:nvSpPr>
        <p:spPr>
          <a:xfrm>
            <a:off x="4626864" y="3017520"/>
            <a:ext cx="6528816" cy="239572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9E73"/>
                </a:solidFill>
                <a:latin typeface="Arial"/>
              </a:rPr>
              <a:t>NETWORK-BACKGROUND INTERSECTION</a:t>
            </a:r>
          </a:p>
        </p:txBody>
      </p:sp>
      <p:sp>
        <p:nvSpPr>
          <p:cNvPr id="31" name="TextBox 30"/>
          <p:cNvSpPr txBox="1"/>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50" b="1" i="0" dirty="0">
                <a:solidFill>
                  <a:srgbClr val="0F233D"/>
                </a:solidFill>
                <a:latin typeface="Arial"/>
              </a:rPr>
              <a:t>9,262 provisional query </a:t>
            </a:r>
            <a:r>
              <a:rPr lang="en-US" sz="1750" b="1" i="0" dirty="0">
                <a:solidFill>
                  <a:srgbClr val="0F233D"/>
                </a:solidFill>
                <a:latin typeface="Arial"/>
              </a:rPr>
              <a:t>genes</a:t>
            </a:r>
            <a:endParaRPr sz="1750" b="1" i="0" dirty="0">
              <a:solidFill>
                <a:srgbClr val="0F233D"/>
              </a:solidFill>
              <a:latin typeface="Arial"/>
            </a:endParaRPr>
          </a:p>
        </p:txBody>
      </p:sp>
      <p:sp>
        <p:nvSpPr>
          <p:cNvPr id="32" name="TextBox 31"/>
          <p:cNvSpPr txBox="1"/>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dirty="0">
                <a:solidFill>
                  <a:srgbClr val="D55E00"/>
                </a:solidFill>
                <a:latin typeface="Arial"/>
              </a:rPr>
              <a:t>− 1,329 absent from the </a:t>
            </a:r>
            <a:r>
              <a:rPr lang="en-US" sz="1300" b="1" dirty="0">
                <a:solidFill>
                  <a:srgbClr val="D55E00"/>
                </a:solidFill>
                <a:latin typeface="Arial"/>
              </a:rPr>
              <a:t>Bayesian network</a:t>
            </a:r>
            <a:endParaRPr sz="1300" b="1" i="0" dirty="0">
              <a:solidFill>
                <a:srgbClr val="D55E00"/>
              </a:solidFill>
              <a:latin typeface="Arial"/>
            </a:endParaRPr>
          </a:p>
        </p:txBody>
      </p:sp>
      <p:sp>
        <p:nvSpPr>
          <p:cNvPr id="33" name="TextBox 32"/>
          <p:cNvSpPr txBox="1"/>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800" b="1" i="0" dirty="0">
                <a:solidFill>
                  <a:srgbClr val="009E73"/>
                </a:solidFill>
                <a:latin typeface="Arial"/>
              </a:rPr>
              <a:t>= 7,933 query </a:t>
            </a:r>
            <a:r>
              <a:rPr lang="en-US" sz="1800" b="1" i="0" dirty="0">
                <a:solidFill>
                  <a:srgbClr val="009E73"/>
                </a:solidFill>
                <a:latin typeface="Arial"/>
              </a:rPr>
              <a:t>genes</a:t>
            </a:r>
            <a:endParaRPr sz="1800" b="1" i="0" dirty="0">
              <a:solidFill>
                <a:srgbClr val="009E73"/>
              </a:solidFill>
              <a:latin typeface="Arial"/>
            </a:endParaRPr>
          </a:p>
        </p:txBody>
      </p:sp>
      <p:sp>
        <p:nvSpPr>
          <p:cNvPr id="34" name="TextBox 33"/>
          <p:cNvSpPr txBox="1"/>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40" b="0" i="0">
                <a:solidFill>
                  <a:srgbClr val="4E5A68"/>
                </a:solidFill>
                <a:latin typeface="Arial"/>
              </a:rPr>
              <a:t>Membership counts can repeat genes across contrasts; each contrast contributes one query.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dirty="0">
                <a:solidFill>
                  <a:srgbClr val="0F233D"/>
                </a:solidFill>
                <a:latin typeface="Arial"/>
              </a:rPr>
              <a:t>Top five: 123 non-MT entries across 29 categories</a:t>
            </a:r>
          </a:p>
        </p:txBody>
      </p:sp>
      <p:pic>
        <p:nvPicPr>
          <p:cNvPr id="4" name="ROSMAP top-five non-MT key drivers with aligned sex rows, broad-cell colors, score definition, and total category gene counts" descr="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RPS15 recurs across 11 returned-only categories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Returned-only recurrence is descriptive across sex/APOE × broad-cell categories.</a:t>
            </a:r>
          </a:p>
        </p:txBody>
      </p:sp>
      <p:sp>
        <p:nvSpPr>
          <p:cNvPr id="5" name="Rounded Rectangle 4"/>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ROSMAP recurrence chart for the twenty broadest non-MT key drivers" descr="ROSMAP recurrence chart for the twenty broadest non-MT key driver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How to read it</a:t>
            </a:r>
          </a:p>
        </p:txBody>
      </p:sp>
      <p:sp>
        <p:nvSpPr>
          <p:cNvPr id="10" name="Oval 9"/>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Bar length = number of categories containing the gene.</a:t>
            </a:r>
          </a:p>
        </p:txBody>
      </p:sp>
      <p:sp>
        <p:nvSpPr>
          <p:cNvPr id="12" name="Oval 1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dirty="0">
                <a:solidFill>
                  <a:srgbClr val="1F2730"/>
                </a:solidFill>
                <a:latin typeface="Arial"/>
              </a:rPr>
              <a:t>Fill = categories whose score combines ≥2 returned calls</a:t>
            </a:r>
            <a:r>
              <a:rPr lang="en-US" sz="1130" b="0" i="0" dirty="0">
                <a:solidFill>
                  <a:srgbClr val="1F2730"/>
                </a:solidFill>
                <a:latin typeface="Arial"/>
              </a:rPr>
              <a:t> (used ACAT to aggregate p value)</a:t>
            </a:r>
            <a:r>
              <a:rPr sz="1130" b="0" i="0" dirty="0">
                <a:solidFill>
                  <a:srgbClr val="1F2730"/>
                </a:solidFill>
                <a:latin typeface="Arial"/>
              </a:rPr>
              <a:t>.</a:t>
            </a:r>
          </a:p>
        </p:txBody>
      </p:sp>
      <p:sp>
        <p:nvSpPr>
          <p:cNvPr id="14" name="Oval 13"/>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RPS15: 11 categories, 6 groups, 4 networks; ACAT in 4.</a:t>
            </a:r>
          </a:p>
        </p:txBody>
      </p:sp>
      <p:sp>
        <p:nvSpPr>
          <p:cNvPr id="16" name="Oval 15"/>
          <p:cNvSpPr/>
          <p:nvPr/>
        </p:nvSpPr>
        <p:spPr>
          <a:xfrm>
            <a:off x="7525512" y="38861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99248" y="3758183"/>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RPL11: 10 categories, 6 groups, 4 networks; ACAT in 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Simple output: 381 non-MT category units represent 228 genes</a:t>
            </a:r>
          </a:p>
        </p:txBody>
      </p:sp>
      <p:sp>
        <p:nvSpPr>
          <p:cNvPr id="5" name="Rounded Rectangle 4"/>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623</a:t>
            </a:r>
          </a:p>
        </p:txBody>
      </p:sp>
      <p:sp>
        <p:nvSpPr>
          <p:cNvPr id="7" name="TextBox 6"/>
          <p:cNvSpPr txBox="1"/>
          <p:nvPr/>
        </p:nvSpPr>
        <p:spPr>
          <a:xfrm>
            <a:off x="804672"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non-MT returned call rows</a:t>
            </a:r>
          </a:p>
        </p:txBody>
      </p:sp>
      <p:sp>
        <p:nvSpPr>
          <p:cNvPr id="8" name="Rounded Rectangle 7"/>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381</a:t>
            </a:r>
          </a:p>
        </p:txBody>
      </p:sp>
      <p:sp>
        <p:nvSpPr>
          <p:cNvPr id="10" name="TextBox 9"/>
          <p:cNvSpPr txBox="1"/>
          <p:nvPr/>
        </p:nvSpPr>
        <p:spPr>
          <a:xfrm>
            <a:off x="2944368"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non-MT gene × category units</a:t>
            </a:r>
          </a:p>
        </p:txBody>
      </p:sp>
      <p:sp>
        <p:nvSpPr>
          <p:cNvPr id="11" name="Rounded Rectangle 10"/>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228</a:t>
            </a:r>
          </a:p>
        </p:txBody>
      </p:sp>
      <p:sp>
        <p:nvSpPr>
          <p:cNvPr id="13" name="TextBox 12"/>
          <p:cNvSpPr txBox="1"/>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distinct gene symbols</a:t>
            </a:r>
          </a:p>
        </p:txBody>
      </p:sp>
      <p:sp>
        <p:nvSpPr>
          <p:cNvPr id="14" name="Rounded Rectangle 13"/>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29</a:t>
            </a:r>
          </a:p>
        </p:txBody>
      </p:sp>
      <p:sp>
        <p:nvSpPr>
          <p:cNvPr id="16" name="TextBox 15"/>
          <p:cNvSpPr txBox="1"/>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categories with non-MT returns</a:t>
            </a:r>
          </a:p>
        </p:txBody>
      </p:sp>
      <p:sp>
        <p:nvSpPr>
          <p:cNvPr id="17" name="Rounded Rectangle 16"/>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123</a:t>
            </a:r>
          </a:p>
        </p:txBody>
      </p:sp>
      <p:sp>
        <p:nvSpPr>
          <p:cNvPr id="19" name="TextBox 18"/>
          <p:cNvSpPr txBox="1"/>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top-five displayed rows</a:t>
            </a:r>
          </a:p>
        </p:txBody>
      </p:sp>
      <p:sp>
        <p:nvSpPr>
          <p:cNvPr id="20" name="Rounded Rectangle 19"/>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78992" y="3163824"/>
            <a:ext cx="457200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Where non-MT driver units occur</a:t>
            </a:r>
          </a:p>
        </p:txBody>
      </p:sp>
      <p:sp>
        <p:nvSpPr>
          <p:cNvPr id="23" name="TextBox 22"/>
          <p:cNvSpPr txBox="1"/>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72B2"/>
                </a:solidFill>
                <a:latin typeface="Arial"/>
              </a:rPr>
              <a:t>By sex/APOE group</a:t>
            </a:r>
          </a:p>
        </p:txBody>
      </p:sp>
      <p:sp>
        <p:nvSpPr>
          <p:cNvPr id="24" name="TextBox 23"/>
          <p:cNvSpPr txBox="1"/>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1" i="0">
                <a:solidFill>
                  <a:srgbClr val="0F233D"/>
                </a:solidFill>
                <a:latin typeface="Arial"/>
              </a:rPr>
              <a:t>F_e4 81 • M_e33 79 • M_e2 70
F_e33 56 • F_e2 54 • M_e4 41</a:t>
            </a:r>
          </a:p>
        </p:txBody>
      </p:sp>
      <p:sp>
        <p:nvSpPr>
          <p:cNvPr id="25" name="TextBox 24"/>
          <p:cNvSpPr txBox="1"/>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72B2"/>
                </a:solidFill>
                <a:latin typeface="Arial"/>
              </a:rPr>
              <a:t>By broad network</a:t>
            </a:r>
          </a:p>
        </p:txBody>
      </p:sp>
      <p:sp>
        <p:nvSpPr>
          <p:cNvPr id="26" name="TextBox 25"/>
          <p:cNvSpPr txBox="1"/>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30" b="1" i="0">
                <a:solidFill>
                  <a:srgbClr val="0F233D"/>
                </a:solidFill>
                <a:latin typeface="Arial"/>
              </a:rPr>
              <a:t>Excitatory 153 • Inhibitory 146 • Astrocytes 32 • OPCs 21
Oligo 18 • Vasculature 6 • Microglia 5</a:t>
            </a:r>
          </a:p>
        </p:txBody>
      </p:sp>
      <p:sp>
        <p:nvSpPr>
          <p:cNvPr id="27" name="Rounded Rectangle 26"/>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Most recurrent returned-only genes</a:t>
            </a:r>
          </a:p>
        </p:txBody>
      </p:sp>
      <p:sp>
        <p:nvSpPr>
          <p:cNvPr id="30" name="TextBox 29"/>
          <p:cNvSpPr txBox="1"/>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RPS15</a:t>
            </a:r>
          </a:p>
        </p:txBody>
      </p:sp>
      <p:sp>
        <p:nvSpPr>
          <p:cNvPr id="31" name="Rectangle 30"/>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11</a:t>
            </a:r>
          </a:p>
        </p:txBody>
      </p:sp>
      <p:sp>
        <p:nvSpPr>
          <p:cNvPr id="33" name="TextBox 32"/>
          <p:cNvSpPr txBox="1"/>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RPL11</a:t>
            </a:r>
          </a:p>
        </p:txBody>
      </p:sp>
      <p:sp>
        <p:nvSpPr>
          <p:cNvPr id="34" name="Rectangle 33"/>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10</a:t>
            </a:r>
          </a:p>
        </p:txBody>
      </p:sp>
      <p:sp>
        <p:nvSpPr>
          <p:cNvPr id="36" name="TextBox 35"/>
          <p:cNvSpPr txBox="1"/>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RPLP1</a:t>
            </a:r>
          </a:p>
        </p:txBody>
      </p:sp>
      <p:sp>
        <p:nvSpPr>
          <p:cNvPr id="37" name="Rectangle 36"/>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8</a:t>
            </a:r>
          </a:p>
        </p:txBody>
      </p:sp>
      <p:sp>
        <p:nvSpPr>
          <p:cNvPr id="39" name="TextBox 38"/>
          <p:cNvSpPr txBox="1"/>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RPL15</a:t>
            </a:r>
          </a:p>
        </p:txBody>
      </p:sp>
      <p:sp>
        <p:nvSpPr>
          <p:cNvPr id="40" name="Rectangle 39"/>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7</a:t>
            </a:r>
          </a:p>
        </p:txBody>
      </p:sp>
      <p:sp>
        <p:nvSpPr>
          <p:cNvPr id="42" name="TextBox 41"/>
          <p:cNvSpPr txBox="1"/>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SELENOM</a:t>
            </a:r>
          </a:p>
        </p:txBody>
      </p:sp>
      <p:sp>
        <p:nvSpPr>
          <p:cNvPr id="43" name="Rectangle 42"/>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7</a:t>
            </a:r>
          </a:p>
        </p:txBody>
      </p:sp>
      <p:sp>
        <p:nvSpPr>
          <p:cNvPr id="45" name="TextBox 44"/>
          <p:cNvSpPr txBox="1"/>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SELENOW</a:t>
            </a:r>
          </a:p>
        </p:txBody>
      </p:sp>
      <p:sp>
        <p:nvSpPr>
          <p:cNvPr id="46" name="Rectangle 45"/>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6</a:t>
            </a:r>
          </a:p>
        </p:txBody>
      </p:sp>
      <p:sp>
        <p:nvSpPr>
          <p:cNvPr id="48" name="TextBox 47"/>
          <p:cNvSpPr txBox="1"/>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0" i="1">
                <a:solidFill>
                  <a:srgbClr val="4E5A68"/>
                </a:solidFill>
                <a:latin typeface="Arial"/>
              </a:rPr>
              <a:t>Counts are category presence—not independent replication or call counts.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p:cNvSpPr txBox="1"/>
          <p:nvPr/>
        </p:nvSpPr>
        <p:spPr>
          <a:xfrm>
            <a:off x="713232" y="612648"/>
            <a:ext cx="219456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09E73"/>
                </a:solidFill>
                <a:latin typeface="Arial"/>
              </a:rPr>
              <a:t>PART 2</a:t>
            </a:r>
          </a:p>
        </p:txBody>
      </p:sp>
      <p:sp>
        <p:nvSpPr>
          <p:cNvPr id="3" name="Rectangle 2"/>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8992" y="1243584"/>
            <a:ext cx="7909560" cy="12252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200" b="1" i="0">
                <a:solidFill>
                  <a:srgbClr val="FFFFFF"/>
                </a:solidFill>
                <a:latin typeface="Arial"/>
              </a:rPr>
              <a:t>SEA-AD network-specific KDA</a:t>
            </a:r>
          </a:p>
        </p:txBody>
      </p:sp>
      <p:sp>
        <p:nvSpPr>
          <p:cNvPr id="5" name="TextBox 4"/>
          <p:cNvSpPr txBox="1"/>
          <p:nvPr/>
        </p:nvSpPr>
        <p:spPr>
          <a:xfrm>
            <a:off x="1097280" y="2743200"/>
            <a:ext cx="7589520"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CCDBEA"/>
                </a:solidFill>
                <a:latin typeface="Arial"/>
              </a:rPr>
              <a:t>129 supertypes define 774 contrasts; 22 KDA calls were run against SEA-AD-specific Bayesian networks.</a:t>
            </a:r>
          </a:p>
        </p:txBody>
      </p:sp>
      <p:sp>
        <p:nvSpPr>
          <p:cNvPr id="6" name="Rounded Rectangle 5"/>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009E73"/>
                </a:solidFill>
                <a:latin typeface="Arial"/>
              </a:rPr>
              <a:t>IN THIS PART</a:t>
            </a:r>
          </a:p>
        </p:txBody>
      </p:sp>
      <p:sp>
        <p:nvSpPr>
          <p:cNvPr id="8" name="Oval 7"/>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1</a:t>
            </a:r>
          </a:p>
        </p:txBody>
      </p:sp>
      <p:sp>
        <p:nvSpPr>
          <p:cNvPr id="10" name="TextBox 9"/>
          <p:cNvSpPr txBox="1"/>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Run universe</a:t>
            </a:r>
          </a:p>
        </p:txBody>
      </p:sp>
      <p:sp>
        <p:nvSpPr>
          <p:cNvPr id="11" name="Oval 10"/>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2</a:t>
            </a:r>
          </a:p>
        </p:txBody>
      </p:sp>
      <p:sp>
        <p:nvSpPr>
          <p:cNvPr id="13" name="TextBox 12"/>
          <p:cNvSpPr txBox="1"/>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Top-five results</a:t>
            </a:r>
          </a:p>
        </p:txBody>
      </p:sp>
      <p:sp>
        <p:nvSpPr>
          <p:cNvPr id="14" name="Oval 13"/>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3</a:t>
            </a:r>
          </a:p>
        </p:txBody>
      </p:sp>
      <p:sp>
        <p:nvSpPr>
          <p:cNvPr id="16" name="TextBox 15"/>
          <p:cNvSpPr txBox="1"/>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Driver recurrence</a:t>
            </a:r>
          </a:p>
        </p:txBody>
      </p:sp>
      <p:sp>
        <p:nvSpPr>
          <p:cNvPr id="17" name="Oval 16"/>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4</a:t>
            </a:r>
          </a:p>
        </p:txBody>
      </p:sp>
      <p:sp>
        <p:nvSpPr>
          <p:cNvPr id="19" name="TextBox 18"/>
          <p:cNvSpPr txBox="1"/>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Result scale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129 SEA-AD supertypes create 774 planned contrasts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One mitochondrial DEG query per supertype × sex/APOE contrast.</a:t>
            </a:r>
          </a:p>
        </p:txBody>
      </p:sp>
      <p:sp>
        <p:nvSpPr>
          <p:cNvPr id="4" name="Rounded Rectangle 3"/>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129 supertypes</a:t>
            </a:r>
          </a:p>
        </p:txBody>
      </p:sp>
      <p:sp>
        <p:nvSpPr>
          <p:cNvPr id="6" name="TextBox 5"/>
          <p:cNvSpPr txBox="1"/>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30" b="1" i="0">
                <a:solidFill>
                  <a:srgbClr val="00684D"/>
                </a:solidFill>
                <a:latin typeface="Arial"/>
              </a:rPr>
              <a:t>× 6 groups = 774 contrasts</a:t>
            </a:r>
          </a:p>
        </p:txBody>
      </p:sp>
      <p:sp>
        <p:nvSpPr>
          <p:cNvPr id="7" name="Rounded Rectangle 6"/>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36008"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774 signed results</a:t>
            </a:r>
          </a:p>
        </p:txBody>
      </p:sp>
      <p:sp>
        <p:nvSpPr>
          <p:cNvPr id="9" name="TextBox 8"/>
          <p:cNvSpPr txBox="1"/>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30" b="1" i="0">
                <a:solidFill>
                  <a:srgbClr val="56B4E9"/>
                </a:solidFill>
                <a:latin typeface="Arial"/>
              </a:rPr>
              <a:t>one query per contrast</a:t>
            </a:r>
          </a:p>
        </p:txBody>
      </p:sp>
      <p:sp>
        <p:nvSpPr>
          <p:cNvPr id="10" name="Rounded Rectangle 9"/>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03336"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22 KDA calls</a:t>
            </a:r>
          </a:p>
        </p:txBody>
      </p:sp>
      <p:sp>
        <p:nvSpPr>
          <p:cNvPr id="12" name="TextBox 11"/>
          <p:cNvSpPr txBox="1"/>
          <p:nvPr/>
        </p:nvSpPr>
        <p:spPr>
          <a:xfrm>
            <a:off x="8403336"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30" b="1" i="0">
                <a:solidFill>
                  <a:srgbClr val="895600"/>
                </a:solidFill>
                <a:latin typeface="Arial"/>
              </a:rPr>
              <a:t>effective mapped query n ≥ 3</a:t>
            </a:r>
          </a:p>
        </p:txBody>
      </p:sp>
      <p:sp>
        <p:nvSpPr>
          <p:cNvPr id="13" name="Rectangle 12"/>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FFFFFF"/>
                </a:solidFill>
                <a:latin typeface="Arial"/>
              </a:rPr>
              <a:t>Mutually exclusive contrast outcome</a:t>
            </a:r>
          </a:p>
        </p:txBody>
      </p:sp>
      <p:sp>
        <p:nvSpPr>
          <p:cNvPr id="15" name="Rectangle 14"/>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FFFFFF"/>
                </a:solidFill>
                <a:latin typeface="Arial"/>
              </a:rPr>
              <a:t>Contrasts</a:t>
            </a:r>
          </a:p>
        </p:txBody>
      </p:sp>
      <p:sp>
        <p:nvSpPr>
          <p:cNvPr id="17" name="Rectangle 16"/>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FFFFFF"/>
                </a:solidFill>
                <a:latin typeface="Arial"/>
              </a:rPr>
              <a:t>KDA called?</a:t>
            </a:r>
          </a:p>
        </p:txBody>
      </p:sp>
      <p:sp>
        <p:nvSpPr>
          <p:cNvPr id="19" name="Rectangle 18"/>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7" y="3310128"/>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Source DEG contrast not estimable</a:t>
            </a:r>
          </a:p>
        </p:txBody>
      </p:sp>
      <p:sp>
        <p:nvSpPr>
          <p:cNvPr id="21" name="Rectangle 20"/>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393</a:t>
            </a:r>
          </a:p>
        </p:txBody>
      </p:sp>
      <p:sp>
        <p:nvSpPr>
          <p:cNvPr id="23" name="Rectangle 22"/>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No</a:t>
            </a:r>
          </a:p>
        </p:txBody>
      </p:sp>
      <p:sp>
        <p:nvSpPr>
          <p:cNvPr id="25" name="Rectangle 24"/>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1247" y="3739896"/>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Estimable source; FDR-only query = 0</a:t>
            </a:r>
          </a:p>
        </p:txBody>
      </p:sp>
      <p:sp>
        <p:nvSpPr>
          <p:cNvPr id="27" name="Rectangle 26"/>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348</a:t>
            </a:r>
          </a:p>
        </p:txBody>
      </p:sp>
      <p:sp>
        <p:nvSpPr>
          <p:cNvPr id="29" name="Rectangle 28"/>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No</a:t>
            </a:r>
          </a:p>
        </p:txBody>
      </p:sp>
      <p:sp>
        <p:nvSpPr>
          <p:cNvPr id="31" name="Rectangle 30"/>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41247" y="4169663"/>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Effective mapped query 1–2</a:t>
            </a:r>
          </a:p>
        </p:txBody>
      </p:sp>
      <p:sp>
        <p:nvSpPr>
          <p:cNvPr id="33" name="Rectangle 32"/>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11</a:t>
            </a:r>
          </a:p>
        </p:txBody>
      </p:sp>
      <p:sp>
        <p:nvSpPr>
          <p:cNvPr id="35" name="Rectangle 34"/>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No</a:t>
            </a:r>
          </a:p>
        </p:txBody>
      </p:sp>
      <p:sp>
        <p:nvSpPr>
          <p:cNvPr id="37" name="Rectangle 36"/>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41247" y="4676173"/>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dirty="0">
                <a:solidFill>
                  <a:srgbClr val="1F2730"/>
                </a:solidFill>
                <a:latin typeface="Arial"/>
              </a:rPr>
              <a:t>Effective mapped query </a:t>
            </a:r>
            <a:r>
              <a:rPr lang="en-US" sz="960" dirty="0">
                <a:solidFill>
                  <a:srgbClr val="1F2730"/>
                </a:solidFill>
                <a:latin typeface="Arial"/>
              </a:rPr>
              <a:t>&gt;=3</a:t>
            </a:r>
            <a:endParaRPr sz="960" b="0" i="0" dirty="0">
              <a:solidFill>
                <a:srgbClr val="1F2730"/>
              </a:solidFill>
              <a:latin typeface="Arial"/>
            </a:endParaRPr>
          </a:p>
        </p:txBody>
      </p:sp>
      <p:sp>
        <p:nvSpPr>
          <p:cNvPr id="39" name="Rectangle 38"/>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960" dirty="0">
                <a:solidFill>
                  <a:srgbClr val="1F2730"/>
                </a:solidFill>
                <a:latin typeface="Arial"/>
              </a:rPr>
              <a:t>22</a:t>
            </a:r>
            <a:endParaRPr sz="960" b="0" i="0" dirty="0">
              <a:solidFill>
                <a:srgbClr val="1F2730"/>
              </a:solidFill>
              <a:latin typeface="Arial"/>
            </a:endParaRPr>
          </a:p>
        </p:txBody>
      </p:sp>
      <p:sp>
        <p:nvSpPr>
          <p:cNvPr id="41" name="Rectangle 40"/>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dirty="0">
                <a:solidFill>
                  <a:srgbClr val="1F2730"/>
                </a:solidFill>
                <a:latin typeface="Arial"/>
              </a:rPr>
              <a:t>Yes</a:t>
            </a:r>
          </a:p>
        </p:txBody>
      </p:sp>
      <p:sp>
        <p:nvSpPr>
          <p:cNvPr id="49" name="Rectangle 48"/>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1F2730"/>
                </a:solidFill>
                <a:latin typeface="Arial"/>
              </a:rPr>
              <a:t>TOTAL</a:t>
            </a:r>
          </a:p>
        </p:txBody>
      </p:sp>
      <p:sp>
        <p:nvSpPr>
          <p:cNvPr id="51" name="Rectangle 50"/>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1F2730"/>
                </a:solidFill>
                <a:latin typeface="Arial"/>
              </a:rPr>
              <a:t>774</a:t>
            </a:r>
          </a:p>
        </p:txBody>
      </p:sp>
      <p:sp>
        <p:nvSpPr>
          <p:cNvPr id="53" name="Rectangle 52"/>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1F2730"/>
                </a:solidFill>
                <a:latin typeface="Arial"/>
              </a:rPr>
              <a:t>22 calls</a:t>
            </a:r>
          </a:p>
        </p:txBody>
      </p:sp>
      <p:sp>
        <p:nvSpPr>
          <p:cNvPr id="55" name="TextBox 54"/>
          <p:cNvSpPr txBox="1"/>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7E4C9A"/>
                </a:solidFill>
                <a:latin typeface="Arial"/>
              </a:rPr>
              <a:t>Availability remains unbalanced: 20 M_e33 calls, one F_e33 call, and one F_e4 call.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Top-five display: 17 non-MT entries across 5 categories</a:t>
            </a:r>
          </a:p>
        </p:txBody>
      </p:sp>
      <p:pic>
        <p:nvPicPr>
          <p:cNvPr id="5" name="SEA-AD top-five non-MT key drivers by sex/APOE and broad-cell category" descr="SEA-AD top-five non-MT key drivers by sex/APOE and broad-cell category"/>
          <p:cNvPicPr>
            <a:picLocks noChangeAspect="1"/>
          </p:cNvPicPr>
          <p:nvPr/>
        </p:nvPicPr>
        <p:blipFill>
          <a:blip r:embed="rId3"/>
          <a:stretch>
            <a:fillRect/>
          </a:stretch>
        </p:blipFill>
        <p:spPr>
          <a:xfrm>
            <a:off x="566928" y="1531760"/>
            <a:ext cx="11064240" cy="4306542"/>
          </a:xfrm>
          <a:prstGeom prst="rect">
            <a:avLst/>
          </a:prstGeom>
        </p:spPr>
      </p:pic>
      <p:sp>
        <p:nvSpPr>
          <p:cNvPr id="4" name="TextBox 3"/>
          <p:cNvSpPr txBox="1"/>
          <p:nvPr/>
        </p:nvSpPr>
        <p:spPr>
          <a:xfrm>
            <a:off x="804672" y="6144768"/>
            <a:ext cx="10607040" cy="2286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80" b="0" i="1">
                <a:solidFill>
                  <a:srgbClr val="4E5A68"/>
                </a:solidFill>
                <a:latin typeface="Arial"/>
              </a:rPr>
              <a:t>Blue hatching = ACAT across ≥2 returned calls; orange = one-call q passthrough.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PJVK is the only gene recurring across 2 SEA-AD categories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Returned-only recurrence is descriptive across sex/APOE × broad-cell categories.</a:t>
            </a:r>
          </a:p>
        </p:txBody>
      </p:sp>
      <p:sp>
        <p:nvSpPr>
          <p:cNvPr id="4" name="Rounded Rectangle 3"/>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SEA-AD recurrence chart for the twenty broadest non-MT key drivers" descr="SEA-AD recurrence chart for the twenty broadest non-MT key driver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How to read it</a:t>
            </a:r>
          </a:p>
        </p:txBody>
      </p:sp>
      <p:sp>
        <p:nvSpPr>
          <p:cNvPr id="9" name="Oval 8"/>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Bar length = categories containing the gene.</a:t>
            </a:r>
          </a:p>
        </p:txBody>
      </p:sp>
      <p:sp>
        <p:nvSpPr>
          <p:cNvPr id="11" name="Oval 10"/>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Fill = category occurrences combining ≥2 returned calls.</a:t>
            </a:r>
          </a:p>
        </p:txBody>
      </p:sp>
      <p:sp>
        <p:nvSpPr>
          <p:cNvPr id="13" name="Oval 12"/>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PJVK: M_e33 excitatory + inhibitory neurons.</a:t>
            </a:r>
          </a:p>
        </p:txBody>
      </p:sp>
      <p:sp>
        <p:nvSpPr>
          <p:cNvPr id="15" name="Oval 14"/>
          <p:cNvSpPr/>
          <p:nvPr/>
        </p:nvSpPr>
        <p:spPr>
          <a:xfrm>
            <a:off x="7525512" y="388619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99248" y="3758183"/>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Its inhibitory category combines 3 returned calls by ACAT.</a:t>
            </a:r>
          </a:p>
        </p:txBody>
      </p:sp>
      <p:sp>
        <p:nvSpPr>
          <p:cNvPr id="17" name="Oval 16"/>
          <p:cNvSpPr/>
          <p:nvPr/>
        </p:nvSpPr>
        <p:spPr>
          <a:xfrm>
            <a:off x="7525512" y="4443983"/>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99248" y="4315968"/>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The remaining 19 displayed genes occur in one category.</a:t>
            </a:r>
          </a:p>
        </p:txBody>
      </p:sp>
      <p:sp>
        <p:nvSpPr>
          <p:cNvPr id="19" name="Rounded Rectangle 18"/>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10" b="1" i="0">
                <a:solidFill>
                  <a:srgbClr val="9E3A00"/>
                </a:solidFill>
                <a:latin typeface="Arial"/>
              </a:rPr>
              <a:t>Only 5 categories return non-MT genes.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SEA-AD output: 44 non-MT units represent 43 genes</a:t>
            </a:r>
          </a:p>
        </p:txBody>
      </p:sp>
      <p:sp>
        <p:nvSpPr>
          <p:cNvPr id="3" name="Rounded Rectangle 2"/>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54</a:t>
            </a:r>
          </a:p>
        </p:txBody>
      </p:sp>
      <p:sp>
        <p:nvSpPr>
          <p:cNvPr id="5" name="TextBox 4"/>
          <p:cNvSpPr txBox="1"/>
          <p:nvPr/>
        </p:nvSpPr>
        <p:spPr>
          <a:xfrm>
            <a:off x="804672"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non-MT returned call rows</a:t>
            </a:r>
          </a:p>
        </p:txBody>
      </p:sp>
      <p:sp>
        <p:nvSpPr>
          <p:cNvPr id="6" name="Rounded Rectangle 5"/>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44</a:t>
            </a:r>
          </a:p>
        </p:txBody>
      </p:sp>
      <p:sp>
        <p:nvSpPr>
          <p:cNvPr id="8" name="TextBox 7"/>
          <p:cNvSpPr txBox="1"/>
          <p:nvPr/>
        </p:nvSpPr>
        <p:spPr>
          <a:xfrm>
            <a:off x="2944368"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gene × category units</a:t>
            </a:r>
          </a:p>
        </p:txBody>
      </p:sp>
      <p:sp>
        <p:nvSpPr>
          <p:cNvPr id="9" name="Rounded Rectangle 8"/>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43</a:t>
            </a:r>
          </a:p>
        </p:txBody>
      </p:sp>
      <p:sp>
        <p:nvSpPr>
          <p:cNvPr id="11" name="TextBox 10"/>
          <p:cNvSpPr txBox="1"/>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distinct gene symbols</a:t>
            </a:r>
          </a:p>
        </p:txBody>
      </p:sp>
      <p:sp>
        <p:nvSpPr>
          <p:cNvPr id="12" name="Rounded Rectangle 1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5</a:t>
            </a:r>
          </a:p>
        </p:txBody>
      </p:sp>
      <p:sp>
        <p:nvSpPr>
          <p:cNvPr id="14" name="TextBox 13"/>
          <p:cNvSpPr txBox="1"/>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categories with returns</a:t>
            </a:r>
          </a:p>
        </p:txBody>
      </p:sp>
      <p:sp>
        <p:nvSpPr>
          <p:cNvPr id="15" name="Rounded Rectangle 14"/>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17</a:t>
            </a:r>
          </a:p>
        </p:txBody>
      </p:sp>
      <p:sp>
        <p:nvSpPr>
          <p:cNvPr id="17" name="TextBox 16"/>
          <p:cNvSpPr txBox="1"/>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top-five displayed rows</a:t>
            </a:r>
          </a:p>
        </p:txBody>
      </p:sp>
      <p:sp>
        <p:nvSpPr>
          <p:cNvPr id="18" name="Rounded Rectangle 17"/>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78992" y="3163824"/>
            <a:ext cx="457200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Where the 44 units occur</a:t>
            </a:r>
          </a:p>
        </p:txBody>
      </p:sp>
      <p:sp>
        <p:nvSpPr>
          <p:cNvPr id="21" name="TextBox 20"/>
          <p:cNvSpPr txBox="1"/>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684D"/>
                </a:solidFill>
                <a:latin typeface="Arial"/>
              </a:rPr>
              <a:t>By sex/APOE group</a:t>
            </a:r>
          </a:p>
        </p:txBody>
      </p:sp>
      <p:sp>
        <p:nvSpPr>
          <p:cNvPr id="22" name="TextBox 21"/>
          <p:cNvSpPr txBox="1"/>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M_e33 39 • F_e4 3 • F_e33 2 • other groups 0</a:t>
            </a:r>
          </a:p>
        </p:txBody>
      </p:sp>
      <p:sp>
        <p:nvSpPr>
          <p:cNvPr id="23" name="TextBox 22"/>
          <p:cNvSpPr txBox="1"/>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684D"/>
                </a:solidFill>
                <a:latin typeface="Arial"/>
              </a:rPr>
              <a:t>By broad network</a:t>
            </a:r>
          </a:p>
        </p:txBody>
      </p:sp>
      <p:sp>
        <p:nvSpPr>
          <p:cNvPr id="24" name="TextBox 23"/>
          <p:cNvSpPr txBox="1"/>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0" b="1" i="0">
                <a:solidFill>
                  <a:srgbClr val="0F233D"/>
                </a:solidFill>
                <a:latin typeface="Arial"/>
              </a:rPr>
              <a:t>Excitatory 27 • Inhibitory 12 • Astrocytes 3 • Oligo 2
Microglia, OPCs, Vasculature 0</a:t>
            </a:r>
          </a:p>
        </p:txBody>
      </p:sp>
      <p:sp>
        <p:nvSpPr>
          <p:cNvPr id="25" name="Rounded Rectangle 24"/>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Execution and filtering</a:t>
            </a:r>
          </a:p>
        </p:txBody>
      </p:sp>
      <p:sp>
        <p:nvSpPr>
          <p:cNvPr id="28" name="Oval 27"/>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47688" y="3675887"/>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0" i="0">
                <a:solidFill>
                  <a:srgbClr val="1F2730"/>
                </a:solidFill>
                <a:latin typeface="Arial"/>
              </a:rPr>
              <a:t>20 calls with returns; 2 completed empty.</a:t>
            </a:r>
          </a:p>
        </p:txBody>
      </p:sp>
      <p:sp>
        <p:nvSpPr>
          <p:cNvPr id="30" name="Oval 29"/>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0" i="0">
                <a:solidFill>
                  <a:srgbClr val="1F2730"/>
                </a:solidFill>
                <a:latin typeface="Arial"/>
              </a:rPr>
              <a:t>112 significant return rows before mitochondrial filtering.</a:t>
            </a:r>
          </a:p>
        </p:txBody>
      </p:sp>
      <p:sp>
        <p:nvSpPr>
          <p:cNvPr id="32" name="Oval 3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0" i="0">
                <a:solidFill>
                  <a:srgbClr val="1F2730"/>
                </a:solidFill>
                <a:latin typeface="Arial"/>
              </a:rPr>
              <a:t>58 core-MitoCarta rows excluded.</a:t>
            </a:r>
          </a:p>
        </p:txBody>
      </p:sp>
      <p:sp>
        <p:nvSpPr>
          <p:cNvPr id="34" name="Oval 33"/>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0" i="0">
                <a:solidFill>
                  <a:srgbClr val="1F2730"/>
                </a:solidFill>
                <a:latin typeface="Arial"/>
              </a:rPr>
              <a:t>54 non-MT rows retained for aggregation.</a:t>
            </a:r>
          </a:p>
        </p:txBody>
      </p:sp>
      <p:sp>
        <p:nvSpPr>
          <p:cNvPr id="36" name="TextBox 35"/>
          <p:cNvSpPr txBox="1"/>
          <p:nvPr/>
        </p:nvSpPr>
        <p:spPr>
          <a:xfrm>
            <a:off x="804672" y="60350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80" b="1" i="0">
                <a:solidFill>
                  <a:srgbClr val="9E3A00"/>
                </a:solidFill>
                <a:latin typeface="Arial"/>
              </a:rPr>
              <a:t>Returned-only ACAT scores are exploratory and not formally FDR-controlled across genes.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p:cNvSpPr txBox="1"/>
          <p:nvPr/>
        </p:nvSpPr>
        <p:spPr>
          <a:xfrm>
            <a:off x="713232" y="612648"/>
            <a:ext cx="219456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7E4C9A"/>
                </a:solidFill>
                <a:latin typeface="Arial"/>
              </a:rPr>
              <a:t>PART 3</a:t>
            </a:r>
          </a:p>
        </p:txBody>
      </p:sp>
      <p:sp>
        <p:nvSpPr>
          <p:cNvPr id="3" name="Rectangle 2"/>
          <p:cNvSpPr/>
          <p:nvPr/>
        </p:nvSpPr>
        <p:spPr>
          <a:xfrm>
            <a:off x="713232" y="1152144"/>
            <a:ext cx="91440" cy="2176272"/>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8992" y="1243584"/>
            <a:ext cx="7909560" cy="12252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200" b="1" i="0">
                <a:solidFill>
                  <a:srgbClr val="FFFFFF"/>
                </a:solidFill>
                <a:latin typeface="Arial"/>
              </a:rPr>
              <a:t>Do the same drivers appear in both cohorts?</a:t>
            </a:r>
          </a:p>
        </p:txBody>
      </p:sp>
      <p:sp>
        <p:nvSpPr>
          <p:cNvPr id="5" name="TextBox 4"/>
          <p:cNvSpPr txBox="1"/>
          <p:nvPr/>
        </p:nvSpPr>
        <p:spPr>
          <a:xfrm>
            <a:off x="1097280" y="2743200"/>
            <a:ext cx="7589520"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CCDBEA"/>
                </a:solidFill>
                <a:latin typeface="Arial"/>
              </a:rPr>
              <a:t>ROSMAP and SEA-AD results are compared at gene and matched-context levels.</a:t>
            </a:r>
          </a:p>
        </p:txBody>
      </p:sp>
      <p:sp>
        <p:nvSpPr>
          <p:cNvPr id="6" name="Rounded Rectangle 5"/>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7E4C9A"/>
                </a:solidFill>
                <a:latin typeface="Arial"/>
              </a:rPr>
              <a:t>IN THIS PART</a:t>
            </a:r>
          </a:p>
        </p:txBody>
      </p:sp>
      <p:sp>
        <p:nvSpPr>
          <p:cNvPr id="8" name="Oval 7"/>
          <p:cNvSpPr/>
          <p:nvPr/>
        </p:nvSpPr>
        <p:spPr>
          <a:xfrm>
            <a:off x="9198864" y="2039112"/>
            <a:ext cx="310896" cy="310896"/>
          </a:xfrm>
          <a:prstGeom prst="ellipse">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FFFFFF"/>
                </a:solidFill>
                <a:latin typeface="Arial"/>
              </a:rPr>
              <a:t>1</a:t>
            </a:r>
          </a:p>
        </p:txBody>
      </p:sp>
      <p:sp>
        <p:nvSpPr>
          <p:cNvPr id="10" name="TextBox 9"/>
          <p:cNvSpPr txBox="1"/>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Comparison design</a:t>
            </a:r>
          </a:p>
        </p:txBody>
      </p:sp>
      <p:sp>
        <p:nvSpPr>
          <p:cNvPr id="11" name="Oval 10"/>
          <p:cNvSpPr/>
          <p:nvPr/>
        </p:nvSpPr>
        <p:spPr>
          <a:xfrm>
            <a:off x="9198864" y="2788920"/>
            <a:ext cx="310896" cy="310896"/>
          </a:xfrm>
          <a:prstGeom prst="ellipse">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FFFFFF"/>
                </a:solidFill>
                <a:latin typeface="Arial"/>
              </a:rPr>
              <a:t>2</a:t>
            </a:r>
          </a:p>
        </p:txBody>
      </p:sp>
      <p:sp>
        <p:nvSpPr>
          <p:cNvPr id="13" name="TextBox 12"/>
          <p:cNvSpPr txBox="1"/>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Gene overlap</a:t>
            </a:r>
          </a:p>
        </p:txBody>
      </p:sp>
      <p:sp>
        <p:nvSpPr>
          <p:cNvPr id="14" name="Oval 13"/>
          <p:cNvSpPr/>
          <p:nvPr/>
        </p:nvSpPr>
        <p:spPr>
          <a:xfrm>
            <a:off x="9198864" y="3538727"/>
            <a:ext cx="310896" cy="310896"/>
          </a:xfrm>
          <a:prstGeom prst="ellipse">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FFFFFF"/>
                </a:solidFill>
                <a:latin typeface="Arial"/>
              </a:rPr>
              <a:t>3</a:t>
            </a:r>
          </a:p>
        </p:txBody>
      </p:sp>
      <p:sp>
        <p:nvSpPr>
          <p:cNvPr id="16" name="TextBox 15"/>
          <p:cNvSpPr txBox="1"/>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Context overlap</a:t>
            </a:r>
          </a:p>
        </p:txBody>
      </p:sp>
      <p:sp>
        <p:nvSpPr>
          <p:cNvPr id="17" name="Oval 16"/>
          <p:cNvSpPr/>
          <p:nvPr/>
        </p:nvSpPr>
        <p:spPr>
          <a:xfrm>
            <a:off x="9198864" y="4288536"/>
            <a:ext cx="310896" cy="310896"/>
          </a:xfrm>
          <a:prstGeom prst="ellipse">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FFFFFF"/>
                </a:solidFill>
                <a:latin typeface="Arial"/>
              </a:rPr>
              <a:t>4</a:t>
            </a:r>
          </a:p>
        </p:txBody>
      </p:sp>
      <p:sp>
        <p:nvSpPr>
          <p:cNvPr id="19" name="TextBox 18"/>
          <p:cNvSpPr txBox="1"/>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Interpretation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Two ways to ask whether a driver reappears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Gene-level overlap ignores context; category-level overlap requires the same group and broad cell type.</a:t>
            </a:r>
          </a:p>
        </p:txBody>
      </p:sp>
      <p:sp>
        <p:nvSpPr>
          <p:cNvPr id="4" name="Rounded Rectangle 3"/>
          <p:cNvSpPr/>
          <p:nvPr/>
        </p:nvSpPr>
        <p:spPr>
          <a:xfrm>
            <a:off x="585216" y="1389888"/>
            <a:ext cx="5358384" cy="393192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682496"/>
            <a:ext cx="292608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0072B2"/>
                </a:solidFill>
                <a:latin typeface="Arial"/>
              </a:rPr>
              <a:t>GENE LEVEL</a:t>
            </a:r>
          </a:p>
        </p:txBody>
      </p:sp>
      <p:sp>
        <p:nvSpPr>
          <p:cNvPr id="6" name="TextBox 5"/>
          <p:cNvSpPr txBox="1"/>
          <p:nvPr/>
        </p:nvSpPr>
        <p:spPr>
          <a:xfrm>
            <a:off x="868680" y="1993392"/>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Does the same gene return anywhere?</a:t>
            </a:r>
          </a:p>
        </p:txBody>
      </p:sp>
      <p:sp>
        <p:nvSpPr>
          <p:cNvPr id="7" name="Rounded Rectangle 6"/>
          <p:cNvSpPr/>
          <p:nvPr/>
        </p:nvSpPr>
        <p:spPr>
          <a:xfrm>
            <a:off x="868680" y="2834640"/>
            <a:ext cx="21031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4983" y="2926080"/>
            <a:ext cx="181051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228</a:t>
            </a:r>
          </a:p>
        </p:txBody>
      </p:sp>
      <p:sp>
        <p:nvSpPr>
          <p:cNvPr id="9" name="TextBox 8"/>
          <p:cNvSpPr txBox="1"/>
          <p:nvPr/>
        </p:nvSpPr>
        <p:spPr>
          <a:xfrm>
            <a:off x="1014983" y="3383280"/>
            <a:ext cx="181051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ROSMAP driver genes</a:t>
            </a:r>
          </a:p>
        </p:txBody>
      </p:sp>
      <p:sp>
        <p:nvSpPr>
          <p:cNvPr id="10" name="Rounded Rectangle 9"/>
          <p:cNvSpPr/>
          <p:nvPr/>
        </p:nvSpPr>
        <p:spPr>
          <a:xfrm>
            <a:off x="3200400" y="2834640"/>
            <a:ext cx="21031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46704" y="2926080"/>
            <a:ext cx="181051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43</a:t>
            </a:r>
          </a:p>
        </p:txBody>
      </p:sp>
      <p:sp>
        <p:nvSpPr>
          <p:cNvPr id="12" name="TextBox 11"/>
          <p:cNvSpPr txBox="1"/>
          <p:nvPr/>
        </p:nvSpPr>
        <p:spPr>
          <a:xfrm>
            <a:off x="3346704" y="3383280"/>
            <a:ext cx="181051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SEA-AD driver genes</a:t>
            </a:r>
          </a:p>
        </p:txBody>
      </p:sp>
      <p:sp>
        <p:nvSpPr>
          <p:cNvPr id="13" name="TextBox 12"/>
          <p:cNvSpPr txBox="1"/>
          <p:nvPr/>
        </p:nvSpPr>
        <p:spPr>
          <a:xfrm>
            <a:off x="877824" y="4206240"/>
            <a:ext cx="4754880"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4E5A68"/>
                </a:solidFill>
                <a:latin typeface="Arial"/>
              </a:rPr>
              <a:t>Permissive overlap, but still affected by the network used to nominate drivers.</a:t>
            </a:r>
          </a:p>
        </p:txBody>
      </p:sp>
      <p:sp>
        <p:nvSpPr>
          <p:cNvPr id="14" name="Rounded Rectangle 13"/>
          <p:cNvSpPr/>
          <p:nvPr/>
        </p:nvSpPr>
        <p:spPr>
          <a:xfrm>
            <a:off x="6245352" y="1389888"/>
            <a:ext cx="5358384" cy="393192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28816" y="1682496"/>
            <a:ext cx="292608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895600"/>
                </a:solidFill>
                <a:latin typeface="Arial"/>
              </a:rPr>
              <a:t>CATEGORY LEVEL</a:t>
            </a:r>
          </a:p>
        </p:txBody>
      </p:sp>
      <p:sp>
        <p:nvSpPr>
          <p:cNvPr id="16" name="TextBox 15"/>
          <p:cNvSpPr txBox="1"/>
          <p:nvPr/>
        </p:nvSpPr>
        <p:spPr>
          <a:xfrm>
            <a:off x="6528816" y="1993392"/>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Same gene, same group, same cell type?</a:t>
            </a:r>
          </a:p>
        </p:txBody>
      </p:sp>
      <p:sp>
        <p:nvSpPr>
          <p:cNvPr id="17" name="Rounded Rectangle 16"/>
          <p:cNvSpPr/>
          <p:nvPr/>
        </p:nvSpPr>
        <p:spPr>
          <a:xfrm>
            <a:off x="6528816" y="2834640"/>
            <a:ext cx="21031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75120" y="2926080"/>
            <a:ext cx="181051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381</a:t>
            </a:r>
          </a:p>
        </p:txBody>
      </p:sp>
      <p:sp>
        <p:nvSpPr>
          <p:cNvPr id="19" name="TextBox 18"/>
          <p:cNvSpPr txBox="1"/>
          <p:nvPr/>
        </p:nvSpPr>
        <p:spPr>
          <a:xfrm>
            <a:off x="6675120" y="3383280"/>
            <a:ext cx="181051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ROSMAP gene × category units</a:t>
            </a:r>
          </a:p>
        </p:txBody>
      </p:sp>
      <p:sp>
        <p:nvSpPr>
          <p:cNvPr id="20" name="Rounded Rectangle 19"/>
          <p:cNvSpPr/>
          <p:nvPr/>
        </p:nvSpPr>
        <p:spPr>
          <a:xfrm>
            <a:off x="8860536" y="2834640"/>
            <a:ext cx="21031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06840" y="2926080"/>
            <a:ext cx="181051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44</a:t>
            </a:r>
          </a:p>
        </p:txBody>
      </p:sp>
      <p:sp>
        <p:nvSpPr>
          <p:cNvPr id="22" name="TextBox 21"/>
          <p:cNvSpPr txBox="1"/>
          <p:nvPr/>
        </p:nvSpPr>
        <p:spPr>
          <a:xfrm>
            <a:off x="9006840" y="3383280"/>
            <a:ext cx="181051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SEA-AD gene × category units</a:t>
            </a:r>
          </a:p>
        </p:txBody>
      </p:sp>
      <p:sp>
        <p:nvSpPr>
          <p:cNvPr id="23" name="TextBox 22"/>
          <p:cNvSpPr txBox="1"/>
          <p:nvPr/>
        </p:nvSpPr>
        <p:spPr>
          <a:xfrm>
            <a:off x="6537960" y="4206240"/>
            <a:ext cx="4754880"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4E5A68"/>
                </a:solidFill>
                <a:latin typeface="Arial"/>
              </a:rPr>
              <a:t>Strict context agreement; assessed within five SEA-AD return-bearing categories.</a:t>
            </a:r>
          </a:p>
        </p:txBody>
      </p:sp>
      <p:sp>
        <p:nvSpPr>
          <p:cNvPr id="24" name="TextBox 23"/>
          <p:cNvSpPr txBox="1"/>
          <p:nvPr/>
        </p:nvSpPr>
        <p:spPr>
          <a:xfrm>
            <a:off x="804672" y="58064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7E4C9A"/>
                </a:solidFill>
                <a:latin typeface="Arial"/>
              </a:rPr>
              <a:t>Four SEA-AD return-bearing categories also contain ROSMAP returns, yet none shares a driver.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3 of 43 SEA-AD drivers also return in ROSMAP</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The two cohorts show limited gene overlap and no exact category match.</a:t>
            </a:r>
          </a:p>
        </p:txBody>
      </p:sp>
      <p:sp>
        <p:nvSpPr>
          <p:cNvPr id="4" name="Rounded Rectangle 3"/>
          <p:cNvSpPr/>
          <p:nvPr/>
        </p:nvSpPr>
        <p:spPr>
          <a:xfrm>
            <a:off x="822960" y="1463040"/>
            <a:ext cx="3291840" cy="13258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627632"/>
            <a:ext cx="2834640" cy="5029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600" b="1" i="0">
                <a:solidFill>
                  <a:srgbClr val="0072B2"/>
                </a:solidFill>
                <a:latin typeface="Arial"/>
              </a:rPr>
              <a:t>43</a:t>
            </a:r>
          </a:p>
        </p:txBody>
      </p:sp>
      <p:sp>
        <p:nvSpPr>
          <p:cNvPr id="6" name="TextBox 5"/>
          <p:cNvSpPr txBox="1"/>
          <p:nvPr/>
        </p:nvSpPr>
        <p:spPr>
          <a:xfrm>
            <a:off x="1051560" y="2212848"/>
            <a:ext cx="2834640"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4E5A68"/>
                </a:solidFill>
                <a:latin typeface="Arial"/>
              </a:rPr>
              <a:t>SEA-AD driver genes</a:t>
            </a:r>
          </a:p>
        </p:txBody>
      </p:sp>
      <p:sp>
        <p:nvSpPr>
          <p:cNvPr id="7" name="Rounded Rectangle 6"/>
          <p:cNvSpPr/>
          <p:nvPr/>
        </p:nvSpPr>
        <p:spPr>
          <a:xfrm>
            <a:off x="4434840" y="1463040"/>
            <a:ext cx="3291840" cy="13258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63440" y="1627632"/>
            <a:ext cx="2834640" cy="5029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600" b="1" i="0">
                <a:solidFill>
                  <a:srgbClr val="0072B2"/>
                </a:solidFill>
                <a:latin typeface="Arial"/>
              </a:rPr>
              <a:t>3 (7%)</a:t>
            </a:r>
          </a:p>
        </p:txBody>
      </p:sp>
      <p:sp>
        <p:nvSpPr>
          <p:cNvPr id="9" name="TextBox 8"/>
          <p:cNvSpPr txBox="1"/>
          <p:nvPr/>
        </p:nvSpPr>
        <p:spPr>
          <a:xfrm>
            <a:off x="4663440" y="2212848"/>
            <a:ext cx="2834640"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4E5A68"/>
                </a:solidFill>
                <a:latin typeface="Arial"/>
              </a:rPr>
              <a:t>also ROSMAP drivers</a:t>
            </a:r>
          </a:p>
        </p:txBody>
      </p:sp>
      <p:sp>
        <p:nvSpPr>
          <p:cNvPr id="10" name="Rounded Rectangle 9"/>
          <p:cNvSpPr/>
          <p:nvPr/>
        </p:nvSpPr>
        <p:spPr>
          <a:xfrm>
            <a:off x="8046720" y="1463040"/>
            <a:ext cx="3291840" cy="13258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5320" y="1627632"/>
            <a:ext cx="2834640" cy="5029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600" b="1" i="0">
                <a:solidFill>
                  <a:srgbClr val="0072B2"/>
                </a:solidFill>
                <a:latin typeface="Arial"/>
              </a:rPr>
              <a:t>0</a:t>
            </a:r>
          </a:p>
        </p:txBody>
      </p:sp>
      <p:sp>
        <p:nvSpPr>
          <p:cNvPr id="12" name="TextBox 11"/>
          <p:cNvSpPr txBox="1"/>
          <p:nvPr/>
        </p:nvSpPr>
        <p:spPr>
          <a:xfrm>
            <a:off x="8275320" y="2212848"/>
            <a:ext cx="2834640"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4E5A68"/>
                </a:solidFill>
                <a:latin typeface="Arial"/>
              </a:rPr>
              <a:t>exact category match</a:t>
            </a:r>
          </a:p>
        </p:txBody>
      </p:sp>
      <p:sp>
        <p:nvSpPr>
          <p:cNvPr id="13" name="Rounded Rectangle 12"/>
          <p:cNvSpPr/>
          <p:nvPr/>
        </p:nvSpPr>
        <p:spPr>
          <a:xfrm>
            <a:off x="822960" y="3246120"/>
            <a:ext cx="10515600" cy="210312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97280" y="3547872"/>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43584" y="3520440"/>
            <a:ext cx="97292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The 3 shared genes</a:t>
            </a:r>
          </a:p>
        </p:txBody>
      </p:sp>
      <p:sp>
        <p:nvSpPr>
          <p:cNvPr id="16" name="TextBox 15"/>
          <p:cNvSpPr txBox="1"/>
          <p:nvPr/>
        </p:nvSpPr>
        <p:spPr>
          <a:xfrm>
            <a:off x="1115568" y="4041648"/>
            <a:ext cx="9784080" cy="74980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500" b="1" i="0">
                <a:solidFill>
                  <a:srgbClr val="0F233D"/>
                </a:solidFill>
                <a:latin typeface="Arial"/>
              </a:rPr>
              <a:t>LAGE3  •  MIPOL1  •  PAPOLA</a:t>
            </a:r>
          </a:p>
        </p:txBody>
      </p:sp>
      <p:sp>
        <p:nvSpPr>
          <p:cNvPr id="17" name="TextBox 16"/>
          <p:cNvSpPr txBox="1"/>
          <p:nvPr/>
        </p:nvSpPr>
        <p:spPr>
          <a:xfrm>
            <a:off x="1115568" y="4910328"/>
            <a:ext cx="978408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40" b="0" i="1">
                <a:solidFill>
                  <a:srgbClr val="4E5A68"/>
                </a:solidFill>
                <a:latin typeface="Arial"/>
              </a:rPr>
              <a:t>None appears on both cohorts’ top-20 recurrence displays.</a:t>
            </a:r>
          </a:p>
        </p:txBody>
      </p:sp>
      <p:sp>
        <p:nvSpPr>
          <p:cNvPr id="18" name="TextBox 17"/>
          <p:cNvSpPr txBox="1"/>
          <p:nvPr/>
        </p:nvSpPr>
        <p:spPr>
          <a:xfrm>
            <a:off x="804672" y="58064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7E4C9A"/>
                </a:solidFill>
                <a:latin typeface="Arial"/>
              </a:rPr>
              <a:t>All three are M_e33 in SEA-AD, but their ROSMAP categories differ.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No driver-category pair matches exactly</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The three shared genes reappear in different sex/APOE and/or broad-cell contexts.</a:t>
            </a:r>
          </a:p>
        </p:txBody>
      </p:sp>
      <p:sp>
        <p:nvSpPr>
          <p:cNvPr id="4" name="Rectangle 3"/>
          <p:cNvSpPr/>
          <p:nvPr/>
        </p:nvSpPr>
        <p:spPr>
          <a:xfrm>
            <a:off x="749808" y="1490472"/>
            <a:ext cx="1234440" cy="47548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04671" y="1545336"/>
            <a:ext cx="1124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90" b="1" i="0">
                <a:solidFill>
                  <a:srgbClr val="FFFFFF"/>
                </a:solidFill>
                <a:latin typeface="Arial"/>
              </a:rPr>
              <a:t>Gene</a:t>
            </a:r>
          </a:p>
        </p:txBody>
      </p:sp>
      <p:sp>
        <p:nvSpPr>
          <p:cNvPr id="6" name="Rectangle 5"/>
          <p:cNvSpPr/>
          <p:nvPr/>
        </p:nvSpPr>
        <p:spPr>
          <a:xfrm>
            <a:off x="1984248" y="1490472"/>
            <a:ext cx="2377440" cy="47548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039112" y="1545336"/>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90" b="1" i="0">
                <a:solidFill>
                  <a:srgbClr val="FFFFFF"/>
                </a:solidFill>
                <a:latin typeface="Arial"/>
              </a:rPr>
              <a:t>SEA-AD category</a:t>
            </a:r>
          </a:p>
        </p:txBody>
      </p:sp>
      <p:sp>
        <p:nvSpPr>
          <p:cNvPr id="8" name="Rectangle 7"/>
          <p:cNvSpPr/>
          <p:nvPr/>
        </p:nvSpPr>
        <p:spPr>
          <a:xfrm>
            <a:off x="4361688" y="1490472"/>
            <a:ext cx="4251960" cy="47548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16551" y="1545336"/>
            <a:ext cx="414223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90" b="1" i="0">
                <a:solidFill>
                  <a:srgbClr val="FFFFFF"/>
                </a:solidFill>
                <a:latin typeface="Arial"/>
              </a:rPr>
              <a:t>ROSMAP category or categories</a:t>
            </a:r>
          </a:p>
        </p:txBody>
      </p:sp>
      <p:sp>
        <p:nvSpPr>
          <p:cNvPr id="10" name="Rectangle 9"/>
          <p:cNvSpPr/>
          <p:nvPr/>
        </p:nvSpPr>
        <p:spPr>
          <a:xfrm>
            <a:off x="8613648" y="1490472"/>
            <a:ext cx="2514600" cy="47548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68512" y="1545336"/>
            <a:ext cx="240487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90" b="1" i="0">
                <a:solidFill>
                  <a:srgbClr val="FFFFFF"/>
                </a:solidFill>
                <a:latin typeface="Arial"/>
              </a:rPr>
              <a:t>Preserved context</a:t>
            </a:r>
          </a:p>
        </p:txBody>
      </p:sp>
      <p:sp>
        <p:nvSpPr>
          <p:cNvPr id="12" name="Rectangle 11"/>
          <p:cNvSpPr/>
          <p:nvPr/>
        </p:nvSpPr>
        <p:spPr>
          <a:xfrm>
            <a:off x="749808" y="1965960"/>
            <a:ext cx="1234440" cy="7132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1" y="2011679"/>
            <a:ext cx="112471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LAGE3</a:t>
            </a:r>
          </a:p>
        </p:txBody>
      </p:sp>
      <p:sp>
        <p:nvSpPr>
          <p:cNvPr id="14" name="Rectangle 13"/>
          <p:cNvSpPr/>
          <p:nvPr/>
        </p:nvSpPr>
        <p:spPr>
          <a:xfrm>
            <a:off x="1984248" y="1965960"/>
            <a:ext cx="2377440" cy="7132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039112" y="2011679"/>
            <a:ext cx="226771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M_e33 · Inhibitory</a:t>
            </a:r>
          </a:p>
        </p:txBody>
      </p:sp>
      <p:sp>
        <p:nvSpPr>
          <p:cNvPr id="16" name="Rectangle 15"/>
          <p:cNvSpPr/>
          <p:nvPr/>
        </p:nvSpPr>
        <p:spPr>
          <a:xfrm>
            <a:off x="4361688" y="1965960"/>
            <a:ext cx="4251960" cy="7132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16551" y="2011679"/>
            <a:ext cx="414223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F_e2, F_e4, M_e2 · Excitatory</a:t>
            </a:r>
          </a:p>
        </p:txBody>
      </p:sp>
      <p:sp>
        <p:nvSpPr>
          <p:cNvPr id="18" name="Rectangle 17"/>
          <p:cNvSpPr/>
          <p:nvPr/>
        </p:nvSpPr>
        <p:spPr>
          <a:xfrm>
            <a:off x="8613648" y="1965960"/>
            <a:ext cx="2514600" cy="7132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68512" y="2011679"/>
            <a:ext cx="240487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None</a:t>
            </a:r>
          </a:p>
        </p:txBody>
      </p:sp>
      <p:sp>
        <p:nvSpPr>
          <p:cNvPr id="20" name="Rectangle 19"/>
          <p:cNvSpPr/>
          <p:nvPr/>
        </p:nvSpPr>
        <p:spPr>
          <a:xfrm>
            <a:off x="749808" y="2679191"/>
            <a:ext cx="1234440" cy="7132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4671" y="2724911"/>
            <a:ext cx="112471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MIPOL1</a:t>
            </a:r>
          </a:p>
        </p:txBody>
      </p:sp>
      <p:sp>
        <p:nvSpPr>
          <p:cNvPr id="22" name="Rectangle 21"/>
          <p:cNvSpPr/>
          <p:nvPr/>
        </p:nvSpPr>
        <p:spPr>
          <a:xfrm>
            <a:off x="1984248" y="2679191"/>
            <a:ext cx="2377440" cy="7132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039112" y="2724911"/>
            <a:ext cx="226771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M_e33 · Excitatory</a:t>
            </a:r>
          </a:p>
        </p:txBody>
      </p:sp>
      <p:sp>
        <p:nvSpPr>
          <p:cNvPr id="24" name="Rectangle 23"/>
          <p:cNvSpPr/>
          <p:nvPr/>
        </p:nvSpPr>
        <p:spPr>
          <a:xfrm>
            <a:off x="4361688" y="2679191"/>
            <a:ext cx="4251960" cy="7132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16551" y="2724911"/>
            <a:ext cx="414223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F_e4, M_e33 · Inhibitory</a:t>
            </a:r>
          </a:p>
        </p:txBody>
      </p:sp>
      <p:sp>
        <p:nvSpPr>
          <p:cNvPr id="26" name="Rectangle 25"/>
          <p:cNvSpPr/>
          <p:nvPr/>
        </p:nvSpPr>
        <p:spPr>
          <a:xfrm>
            <a:off x="8613648" y="2679191"/>
            <a:ext cx="2514600" cy="71323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68512" y="2724911"/>
            <a:ext cx="240487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M_e33 group only</a:t>
            </a:r>
          </a:p>
        </p:txBody>
      </p:sp>
      <p:sp>
        <p:nvSpPr>
          <p:cNvPr id="28" name="Rectangle 27"/>
          <p:cNvSpPr/>
          <p:nvPr/>
        </p:nvSpPr>
        <p:spPr>
          <a:xfrm>
            <a:off x="749808" y="3392424"/>
            <a:ext cx="1234440" cy="7132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04671" y="3438144"/>
            <a:ext cx="112471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PAPOLA</a:t>
            </a:r>
          </a:p>
        </p:txBody>
      </p:sp>
      <p:sp>
        <p:nvSpPr>
          <p:cNvPr id="30" name="Rectangle 29"/>
          <p:cNvSpPr/>
          <p:nvPr/>
        </p:nvSpPr>
        <p:spPr>
          <a:xfrm>
            <a:off x="1984248" y="3392424"/>
            <a:ext cx="2377440" cy="7132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039112" y="3438144"/>
            <a:ext cx="226771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M_e33 · Oligodendrocytes</a:t>
            </a:r>
          </a:p>
        </p:txBody>
      </p:sp>
      <p:sp>
        <p:nvSpPr>
          <p:cNvPr id="32" name="Rectangle 31"/>
          <p:cNvSpPr/>
          <p:nvPr/>
        </p:nvSpPr>
        <p:spPr>
          <a:xfrm>
            <a:off x="4361688" y="3392424"/>
            <a:ext cx="4251960" cy="7132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416551" y="3438144"/>
            <a:ext cx="414223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F_e4 · OPCs</a:t>
            </a:r>
          </a:p>
        </p:txBody>
      </p:sp>
      <p:sp>
        <p:nvSpPr>
          <p:cNvPr id="34" name="Rectangle 33"/>
          <p:cNvSpPr/>
          <p:nvPr/>
        </p:nvSpPr>
        <p:spPr>
          <a:xfrm>
            <a:off x="8613648" y="3392424"/>
            <a:ext cx="2514600" cy="71323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668512" y="3438144"/>
            <a:ext cx="2404872" cy="64008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30" b="0" i="0">
                <a:solidFill>
                  <a:srgbClr val="1F2730"/>
                </a:solidFill>
                <a:latin typeface="Arial"/>
              </a:rPr>
              <a:t>None</a:t>
            </a:r>
          </a:p>
        </p:txBody>
      </p:sp>
      <p:sp>
        <p:nvSpPr>
          <p:cNvPr id="36" name="Rounded Rectangle 35"/>
          <p:cNvSpPr/>
          <p:nvPr/>
        </p:nvSpPr>
        <p:spPr>
          <a:xfrm>
            <a:off x="822960" y="4709160"/>
            <a:ext cx="10515600" cy="9875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60704" y="4965192"/>
            <a:ext cx="1004011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700" b="1" i="0">
                <a:solidFill>
                  <a:srgbClr val="9E3A00"/>
                </a:solidFill>
                <a:latin typeface="Arial"/>
              </a:rPr>
              <a:t>0 of 44 SEA-AD gene × category units has an exact ROSMAP match.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Only MIPOL1 preserves the sex/APOE group</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No shared gene preserves broad-cell context in this analysis.</a:t>
            </a:r>
          </a:p>
        </p:txBody>
      </p:sp>
      <p:sp>
        <p:nvSpPr>
          <p:cNvPr id="4" name="Rounded Rectangle 3"/>
          <p:cNvSpPr/>
          <p:nvPr/>
        </p:nvSpPr>
        <p:spPr>
          <a:xfrm>
            <a:off x="594360" y="1417320"/>
            <a:ext cx="3493008" cy="42976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0392" y="1709928"/>
            <a:ext cx="2980944"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LAGE3</a:t>
            </a:r>
          </a:p>
        </p:txBody>
      </p:sp>
      <p:sp>
        <p:nvSpPr>
          <p:cNvPr id="6" name="TextBox 5"/>
          <p:cNvSpPr txBox="1"/>
          <p:nvPr/>
        </p:nvSpPr>
        <p:spPr>
          <a:xfrm>
            <a:off x="850392" y="2359152"/>
            <a:ext cx="2980944" cy="7863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SEA-AD
M_e33 · Inhibitory</a:t>
            </a:r>
          </a:p>
        </p:txBody>
      </p:sp>
      <p:sp>
        <p:nvSpPr>
          <p:cNvPr id="7" name="TextBox 6"/>
          <p:cNvSpPr txBox="1"/>
          <p:nvPr/>
        </p:nvSpPr>
        <p:spPr>
          <a:xfrm>
            <a:off x="850392" y="3346704"/>
            <a:ext cx="2980944" cy="10241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ROSMAP
F_e2 / F_e4 / M_e2 · Excitatory</a:t>
            </a:r>
          </a:p>
        </p:txBody>
      </p:sp>
      <p:sp>
        <p:nvSpPr>
          <p:cNvPr id="8" name="Rounded Rectangle 7"/>
          <p:cNvSpPr/>
          <p:nvPr/>
        </p:nvSpPr>
        <p:spPr>
          <a:xfrm>
            <a:off x="813816" y="4727448"/>
            <a:ext cx="3054096" cy="585216"/>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23544" y="4882896"/>
            <a:ext cx="283464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50" b="1" i="0">
                <a:solidFill>
                  <a:srgbClr val="0072B2"/>
                </a:solidFill>
                <a:latin typeface="Arial"/>
              </a:rPr>
              <a:t>No matching dimension</a:t>
            </a:r>
          </a:p>
        </p:txBody>
      </p:sp>
      <p:sp>
        <p:nvSpPr>
          <p:cNvPr id="10" name="Rounded Rectangle 9"/>
          <p:cNvSpPr/>
          <p:nvPr/>
        </p:nvSpPr>
        <p:spPr>
          <a:xfrm>
            <a:off x="4361688" y="1417320"/>
            <a:ext cx="3493008" cy="42976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17720" y="1709928"/>
            <a:ext cx="2980944"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MIPOL1</a:t>
            </a:r>
          </a:p>
        </p:txBody>
      </p:sp>
      <p:sp>
        <p:nvSpPr>
          <p:cNvPr id="12" name="TextBox 11"/>
          <p:cNvSpPr txBox="1"/>
          <p:nvPr/>
        </p:nvSpPr>
        <p:spPr>
          <a:xfrm>
            <a:off x="4617720" y="2359152"/>
            <a:ext cx="2980944" cy="7863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SEA-AD
M_e33 · Excitatory</a:t>
            </a:r>
          </a:p>
        </p:txBody>
      </p:sp>
      <p:sp>
        <p:nvSpPr>
          <p:cNvPr id="13" name="TextBox 12"/>
          <p:cNvSpPr txBox="1"/>
          <p:nvPr/>
        </p:nvSpPr>
        <p:spPr>
          <a:xfrm>
            <a:off x="4617720" y="3346704"/>
            <a:ext cx="2980944" cy="10241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ROSMAP
F_e4 / M_e33 · Inhibitory</a:t>
            </a:r>
          </a:p>
        </p:txBody>
      </p:sp>
      <p:sp>
        <p:nvSpPr>
          <p:cNvPr id="14" name="Rounded Rectangle 13"/>
          <p:cNvSpPr/>
          <p:nvPr/>
        </p:nvSpPr>
        <p:spPr>
          <a:xfrm>
            <a:off x="4581144" y="4727448"/>
            <a:ext cx="3054096" cy="58521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90872" y="4882896"/>
            <a:ext cx="283464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50" b="1" i="0">
                <a:solidFill>
                  <a:srgbClr val="00684D"/>
                </a:solidFill>
                <a:latin typeface="Arial"/>
              </a:rPr>
              <a:t>M_e33 preserved once</a:t>
            </a:r>
          </a:p>
        </p:txBody>
      </p:sp>
      <p:sp>
        <p:nvSpPr>
          <p:cNvPr id="16" name="Rounded Rectangle 15"/>
          <p:cNvSpPr/>
          <p:nvPr/>
        </p:nvSpPr>
        <p:spPr>
          <a:xfrm>
            <a:off x="8129016" y="1417320"/>
            <a:ext cx="3493008" cy="42976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85048" y="1709928"/>
            <a:ext cx="2980944"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PAPOLA</a:t>
            </a:r>
          </a:p>
        </p:txBody>
      </p:sp>
      <p:sp>
        <p:nvSpPr>
          <p:cNvPr id="18" name="TextBox 17"/>
          <p:cNvSpPr txBox="1"/>
          <p:nvPr/>
        </p:nvSpPr>
        <p:spPr>
          <a:xfrm>
            <a:off x="8385048" y="2359152"/>
            <a:ext cx="2980944" cy="7863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SEA-AD
M_e33 · Oligodendrocytes</a:t>
            </a:r>
          </a:p>
        </p:txBody>
      </p:sp>
      <p:sp>
        <p:nvSpPr>
          <p:cNvPr id="19" name="TextBox 18"/>
          <p:cNvSpPr txBox="1"/>
          <p:nvPr/>
        </p:nvSpPr>
        <p:spPr>
          <a:xfrm>
            <a:off x="8385048" y="3346704"/>
            <a:ext cx="2980944" cy="10241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ROSMAP
F_e4 · OPCs</a:t>
            </a:r>
          </a:p>
        </p:txBody>
      </p:sp>
      <p:sp>
        <p:nvSpPr>
          <p:cNvPr id="20" name="Rounded Rectangle 19"/>
          <p:cNvSpPr/>
          <p:nvPr/>
        </p:nvSpPr>
        <p:spPr>
          <a:xfrm>
            <a:off x="8348472" y="4727448"/>
            <a:ext cx="3054096" cy="585216"/>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58200" y="4882896"/>
            <a:ext cx="283464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50" b="1" i="0">
                <a:solidFill>
                  <a:srgbClr val="895600"/>
                </a:solidFill>
                <a:latin typeface="Arial"/>
              </a:rPr>
              <a:t>No matching dimension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Six cross-cohort unit pairings arise from three shared genes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A SEA-AD unit is paired with every ROSMAP unit carrying the same gene.</a:t>
            </a:r>
          </a:p>
        </p:txBody>
      </p:sp>
      <p:sp>
        <p:nvSpPr>
          <p:cNvPr id="4" name="Rectangle 3"/>
          <p:cNvSpPr/>
          <p:nvPr/>
        </p:nvSpPr>
        <p:spPr>
          <a:xfrm>
            <a:off x="621792" y="1572768"/>
            <a:ext cx="1371600" cy="56692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76656" y="1627632"/>
            <a:ext cx="1261872" cy="47548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60" b="1" i="0">
                <a:solidFill>
                  <a:srgbClr val="FFFFFF"/>
                </a:solidFill>
                <a:latin typeface="Arial"/>
              </a:rPr>
              <a:t>Gene</a:t>
            </a:r>
          </a:p>
        </p:txBody>
      </p:sp>
      <p:sp>
        <p:nvSpPr>
          <p:cNvPr id="6" name="Rectangle 5"/>
          <p:cNvSpPr/>
          <p:nvPr/>
        </p:nvSpPr>
        <p:spPr>
          <a:xfrm>
            <a:off x="1993392" y="1572768"/>
            <a:ext cx="1371600" cy="56692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048256" y="1627632"/>
            <a:ext cx="1261872" cy="47548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60" b="1" i="0">
                <a:solidFill>
                  <a:srgbClr val="FFFFFF"/>
                </a:solidFill>
                <a:latin typeface="Arial"/>
              </a:rPr>
              <a:t>SEA-AD units</a:t>
            </a:r>
          </a:p>
        </p:txBody>
      </p:sp>
      <p:sp>
        <p:nvSpPr>
          <p:cNvPr id="8" name="Rectangle 7"/>
          <p:cNvSpPr/>
          <p:nvPr/>
        </p:nvSpPr>
        <p:spPr>
          <a:xfrm>
            <a:off x="3364992" y="1572768"/>
            <a:ext cx="1417320" cy="56692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19856" y="1627632"/>
            <a:ext cx="1307592" cy="47548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60" b="1" i="0">
                <a:solidFill>
                  <a:srgbClr val="FFFFFF"/>
                </a:solidFill>
                <a:latin typeface="Arial"/>
              </a:rPr>
              <a:t>ROSMAP units</a:t>
            </a:r>
          </a:p>
        </p:txBody>
      </p:sp>
      <p:sp>
        <p:nvSpPr>
          <p:cNvPr id="10" name="Rectangle 9"/>
          <p:cNvSpPr/>
          <p:nvPr/>
        </p:nvSpPr>
        <p:spPr>
          <a:xfrm>
            <a:off x="4782312" y="1572768"/>
            <a:ext cx="1874519" cy="56692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37176" y="1627632"/>
            <a:ext cx="1764791" cy="47548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60" b="1" i="0">
                <a:solidFill>
                  <a:srgbClr val="FFFFFF"/>
                </a:solidFill>
                <a:latin typeface="Arial"/>
              </a:rPr>
              <a:t>Cross-cohort pairs</a:t>
            </a:r>
          </a:p>
        </p:txBody>
      </p:sp>
      <p:sp>
        <p:nvSpPr>
          <p:cNvPr id="12" name="Rectangle 11"/>
          <p:cNvSpPr/>
          <p:nvPr/>
        </p:nvSpPr>
        <p:spPr>
          <a:xfrm>
            <a:off x="6656832" y="1572768"/>
            <a:ext cx="1417320" cy="56692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11696" y="1627632"/>
            <a:ext cx="1307592" cy="47548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60" b="1" i="0">
                <a:solidFill>
                  <a:srgbClr val="FFFFFF"/>
                </a:solidFill>
                <a:latin typeface="Arial"/>
              </a:rPr>
              <a:t>Same group</a:t>
            </a:r>
          </a:p>
        </p:txBody>
      </p:sp>
      <p:sp>
        <p:nvSpPr>
          <p:cNvPr id="14" name="Rectangle 13"/>
          <p:cNvSpPr/>
          <p:nvPr/>
        </p:nvSpPr>
        <p:spPr>
          <a:xfrm>
            <a:off x="8074152" y="1572768"/>
            <a:ext cx="1600200" cy="56692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29016" y="1627632"/>
            <a:ext cx="1490472" cy="47548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60" b="1" i="0">
                <a:solidFill>
                  <a:srgbClr val="FFFFFF"/>
                </a:solidFill>
                <a:latin typeface="Arial"/>
              </a:rPr>
              <a:t>Same cell type</a:t>
            </a:r>
          </a:p>
        </p:txBody>
      </p:sp>
      <p:sp>
        <p:nvSpPr>
          <p:cNvPr id="16" name="Rectangle 15"/>
          <p:cNvSpPr/>
          <p:nvPr/>
        </p:nvSpPr>
        <p:spPr>
          <a:xfrm>
            <a:off x="9674352" y="1572768"/>
            <a:ext cx="1051560" cy="56692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729216" y="1627632"/>
            <a:ext cx="941831" cy="47548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60" b="1" i="0">
                <a:solidFill>
                  <a:srgbClr val="FFFFFF"/>
                </a:solidFill>
                <a:latin typeface="Arial"/>
              </a:rPr>
              <a:t>Exact</a:t>
            </a:r>
          </a:p>
        </p:txBody>
      </p:sp>
      <p:sp>
        <p:nvSpPr>
          <p:cNvPr id="18" name="Rectangle 17"/>
          <p:cNvSpPr/>
          <p:nvPr/>
        </p:nvSpPr>
        <p:spPr>
          <a:xfrm>
            <a:off x="621792" y="2139696"/>
            <a:ext cx="137160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6656" y="2185415"/>
            <a:ext cx="12618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LAGE3</a:t>
            </a:r>
          </a:p>
        </p:txBody>
      </p:sp>
      <p:sp>
        <p:nvSpPr>
          <p:cNvPr id="20" name="Rectangle 19"/>
          <p:cNvSpPr/>
          <p:nvPr/>
        </p:nvSpPr>
        <p:spPr>
          <a:xfrm>
            <a:off x="1993392" y="2139696"/>
            <a:ext cx="137160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048256" y="2185415"/>
            <a:ext cx="12618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1</a:t>
            </a:r>
          </a:p>
        </p:txBody>
      </p:sp>
      <p:sp>
        <p:nvSpPr>
          <p:cNvPr id="22" name="Rectangle 21"/>
          <p:cNvSpPr/>
          <p:nvPr/>
        </p:nvSpPr>
        <p:spPr>
          <a:xfrm>
            <a:off x="3364992" y="2139696"/>
            <a:ext cx="141732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19856" y="2185415"/>
            <a:ext cx="130759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3</a:t>
            </a:r>
          </a:p>
        </p:txBody>
      </p:sp>
      <p:sp>
        <p:nvSpPr>
          <p:cNvPr id="24" name="Rectangle 23"/>
          <p:cNvSpPr/>
          <p:nvPr/>
        </p:nvSpPr>
        <p:spPr>
          <a:xfrm>
            <a:off x="4782312" y="2139696"/>
            <a:ext cx="1874519"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37176" y="2185415"/>
            <a:ext cx="1764791"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3</a:t>
            </a:r>
          </a:p>
        </p:txBody>
      </p:sp>
      <p:sp>
        <p:nvSpPr>
          <p:cNvPr id="26" name="Rectangle 25"/>
          <p:cNvSpPr/>
          <p:nvPr/>
        </p:nvSpPr>
        <p:spPr>
          <a:xfrm>
            <a:off x="6656832" y="2139696"/>
            <a:ext cx="141732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11696" y="2185415"/>
            <a:ext cx="130759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0</a:t>
            </a:r>
          </a:p>
        </p:txBody>
      </p:sp>
      <p:sp>
        <p:nvSpPr>
          <p:cNvPr id="28" name="Rectangle 27"/>
          <p:cNvSpPr/>
          <p:nvPr/>
        </p:nvSpPr>
        <p:spPr>
          <a:xfrm>
            <a:off x="8074152" y="2139696"/>
            <a:ext cx="160020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29016" y="2185415"/>
            <a:ext cx="14904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0</a:t>
            </a:r>
          </a:p>
        </p:txBody>
      </p:sp>
      <p:sp>
        <p:nvSpPr>
          <p:cNvPr id="30" name="Rectangle 29"/>
          <p:cNvSpPr/>
          <p:nvPr/>
        </p:nvSpPr>
        <p:spPr>
          <a:xfrm>
            <a:off x="9674352" y="2139696"/>
            <a:ext cx="105156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729216" y="2185415"/>
            <a:ext cx="941831"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0</a:t>
            </a:r>
          </a:p>
        </p:txBody>
      </p:sp>
      <p:sp>
        <p:nvSpPr>
          <p:cNvPr id="32" name="Rectangle 31"/>
          <p:cNvSpPr/>
          <p:nvPr/>
        </p:nvSpPr>
        <p:spPr>
          <a:xfrm>
            <a:off x="621792" y="2670048"/>
            <a:ext cx="1371600" cy="53035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76656" y="2715768"/>
            <a:ext cx="12618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MIPOL1</a:t>
            </a:r>
          </a:p>
        </p:txBody>
      </p:sp>
      <p:sp>
        <p:nvSpPr>
          <p:cNvPr id="34" name="Rectangle 33"/>
          <p:cNvSpPr/>
          <p:nvPr/>
        </p:nvSpPr>
        <p:spPr>
          <a:xfrm>
            <a:off x="1993392" y="2670048"/>
            <a:ext cx="1371600" cy="53035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048256" y="2715768"/>
            <a:ext cx="12618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1</a:t>
            </a:r>
          </a:p>
        </p:txBody>
      </p:sp>
      <p:sp>
        <p:nvSpPr>
          <p:cNvPr id="36" name="Rectangle 35"/>
          <p:cNvSpPr/>
          <p:nvPr/>
        </p:nvSpPr>
        <p:spPr>
          <a:xfrm>
            <a:off x="3364992" y="2670048"/>
            <a:ext cx="1417320" cy="53035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19856" y="2715768"/>
            <a:ext cx="130759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2</a:t>
            </a:r>
          </a:p>
        </p:txBody>
      </p:sp>
      <p:sp>
        <p:nvSpPr>
          <p:cNvPr id="38" name="Rectangle 37"/>
          <p:cNvSpPr/>
          <p:nvPr/>
        </p:nvSpPr>
        <p:spPr>
          <a:xfrm>
            <a:off x="4782312" y="2670048"/>
            <a:ext cx="1874519" cy="53035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837176" y="2715768"/>
            <a:ext cx="1764791"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2</a:t>
            </a:r>
          </a:p>
        </p:txBody>
      </p:sp>
      <p:sp>
        <p:nvSpPr>
          <p:cNvPr id="40" name="Rectangle 39"/>
          <p:cNvSpPr/>
          <p:nvPr/>
        </p:nvSpPr>
        <p:spPr>
          <a:xfrm>
            <a:off x="6656832" y="2670048"/>
            <a:ext cx="1417320" cy="53035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711696" y="2715768"/>
            <a:ext cx="130759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1</a:t>
            </a:r>
          </a:p>
        </p:txBody>
      </p:sp>
      <p:sp>
        <p:nvSpPr>
          <p:cNvPr id="42" name="Rectangle 41"/>
          <p:cNvSpPr/>
          <p:nvPr/>
        </p:nvSpPr>
        <p:spPr>
          <a:xfrm>
            <a:off x="8074152" y="2670048"/>
            <a:ext cx="1600200" cy="53035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129016" y="2715768"/>
            <a:ext cx="14904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0</a:t>
            </a:r>
          </a:p>
        </p:txBody>
      </p:sp>
      <p:sp>
        <p:nvSpPr>
          <p:cNvPr id="44" name="Rectangle 43"/>
          <p:cNvSpPr/>
          <p:nvPr/>
        </p:nvSpPr>
        <p:spPr>
          <a:xfrm>
            <a:off x="9674352" y="2670048"/>
            <a:ext cx="1051560" cy="53035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729216" y="2715768"/>
            <a:ext cx="941831"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0</a:t>
            </a:r>
          </a:p>
        </p:txBody>
      </p:sp>
      <p:sp>
        <p:nvSpPr>
          <p:cNvPr id="46" name="Rectangle 45"/>
          <p:cNvSpPr/>
          <p:nvPr/>
        </p:nvSpPr>
        <p:spPr>
          <a:xfrm>
            <a:off x="621792" y="3200400"/>
            <a:ext cx="137160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76656" y="3246120"/>
            <a:ext cx="12618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PAPOLA</a:t>
            </a:r>
          </a:p>
        </p:txBody>
      </p:sp>
      <p:sp>
        <p:nvSpPr>
          <p:cNvPr id="48" name="Rectangle 47"/>
          <p:cNvSpPr/>
          <p:nvPr/>
        </p:nvSpPr>
        <p:spPr>
          <a:xfrm>
            <a:off x="1993392" y="3200400"/>
            <a:ext cx="137160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048256" y="3246120"/>
            <a:ext cx="12618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1</a:t>
            </a:r>
          </a:p>
        </p:txBody>
      </p:sp>
      <p:sp>
        <p:nvSpPr>
          <p:cNvPr id="50" name="Rectangle 49"/>
          <p:cNvSpPr/>
          <p:nvPr/>
        </p:nvSpPr>
        <p:spPr>
          <a:xfrm>
            <a:off x="3364992" y="3200400"/>
            <a:ext cx="141732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419856" y="3246120"/>
            <a:ext cx="130759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1</a:t>
            </a:r>
          </a:p>
        </p:txBody>
      </p:sp>
      <p:sp>
        <p:nvSpPr>
          <p:cNvPr id="52" name="Rectangle 51"/>
          <p:cNvSpPr/>
          <p:nvPr/>
        </p:nvSpPr>
        <p:spPr>
          <a:xfrm>
            <a:off x="4782312" y="3200400"/>
            <a:ext cx="1874519"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837176" y="3246120"/>
            <a:ext cx="1764791"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1</a:t>
            </a:r>
          </a:p>
        </p:txBody>
      </p:sp>
      <p:sp>
        <p:nvSpPr>
          <p:cNvPr id="54" name="Rectangle 53"/>
          <p:cNvSpPr/>
          <p:nvPr/>
        </p:nvSpPr>
        <p:spPr>
          <a:xfrm>
            <a:off x="6656832" y="3200400"/>
            <a:ext cx="141732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711696" y="3246120"/>
            <a:ext cx="130759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0</a:t>
            </a:r>
          </a:p>
        </p:txBody>
      </p:sp>
      <p:sp>
        <p:nvSpPr>
          <p:cNvPr id="56" name="Rectangle 55"/>
          <p:cNvSpPr/>
          <p:nvPr/>
        </p:nvSpPr>
        <p:spPr>
          <a:xfrm>
            <a:off x="8074152" y="3200400"/>
            <a:ext cx="160020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129016" y="3246120"/>
            <a:ext cx="14904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0</a:t>
            </a:r>
          </a:p>
        </p:txBody>
      </p:sp>
      <p:sp>
        <p:nvSpPr>
          <p:cNvPr id="58" name="Rectangle 57"/>
          <p:cNvSpPr/>
          <p:nvPr/>
        </p:nvSpPr>
        <p:spPr>
          <a:xfrm>
            <a:off x="9674352" y="3200400"/>
            <a:ext cx="1051560" cy="53035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729216" y="3246120"/>
            <a:ext cx="941831"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0" i="0">
                <a:solidFill>
                  <a:srgbClr val="1F2730"/>
                </a:solidFill>
                <a:latin typeface="Arial"/>
              </a:rPr>
              <a:t>0</a:t>
            </a:r>
          </a:p>
        </p:txBody>
      </p:sp>
      <p:sp>
        <p:nvSpPr>
          <p:cNvPr id="60" name="Rectangle 59"/>
          <p:cNvSpPr/>
          <p:nvPr/>
        </p:nvSpPr>
        <p:spPr>
          <a:xfrm>
            <a:off x="621792" y="3730752"/>
            <a:ext cx="1371600" cy="53035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76656" y="3776472"/>
            <a:ext cx="12618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1" i="0">
                <a:solidFill>
                  <a:srgbClr val="1F2730"/>
                </a:solidFill>
                <a:latin typeface="Arial"/>
              </a:rPr>
              <a:t>TOTAL</a:t>
            </a:r>
          </a:p>
        </p:txBody>
      </p:sp>
      <p:sp>
        <p:nvSpPr>
          <p:cNvPr id="62" name="Rectangle 61"/>
          <p:cNvSpPr/>
          <p:nvPr/>
        </p:nvSpPr>
        <p:spPr>
          <a:xfrm>
            <a:off x="1993392" y="3730752"/>
            <a:ext cx="1371600" cy="53035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2048256" y="3776472"/>
            <a:ext cx="12618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1" i="0">
                <a:solidFill>
                  <a:srgbClr val="1F2730"/>
                </a:solidFill>
                <a:latin typeface="Arial"/>
              </a:rPr>
              <a:t>3</a:t>
            </a:r>
          </a:p>
        </p:txBody>
      </p:sp>
      <p:sp>
        <p:nvSpPr>
          <p:cNvPr id="64" name="Rectangle 63"/>
          <p:cNvSpPr/>
          <p:nvPr/>
        </p:nvSpPr>
        <p:spPr>
          <a:xfrm>
            <a:off x="3364992" y="3730752"/>
            <a:ext cx="1417320" cy="53035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419856" y="3776472"/>
            <a:ext cx="130759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1" i="0">
                <a:solidFill>
                  <a:srgbClr val="1F2730"/>
                </a:solidFill>
                <a:latin typeface="Arial"/>
              </a:rPr>
              <a:t>6</a:t>
            </a:r>
          </a:p>
        </p:txBody>
      </p:sp>
      <p:sp>
        <p:nvSpPr>
          <p:cNvPr id="66" name="Rectangle 65"/>
          <p:cNvSpPr/>
          <p:nvPr/>
        </p:nvSpPr>
        <p:spPr>
          <a:xfrm>
            <a:off x="4782312" y="3730752"/>
            <a:ext cx="1874519" cy="53035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837176" y="3776472"/>
            <a:ext cx="1764791"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1" i="0">
                <a:solidFill>
                  <a:srgbClr val="1F2730"/>
                </a:solidFill>
                <a:latin typeface="Arial"/>
              </a:rPr>
              <a:t>6</a:t>
            </a:r>
          </a:p>
        </p:txBody>
      </p:sp>
      <p:sp>
        <p:nvSpPr>
          <p:cNvPr id="68" name="Rectangle 67"/>
          <p:cNvSpPr/>
          <p:nvPr/>
        </p:nvSpPr>
        <p:spPr>
          <a:xfrm>
            <a:off x="6656832" y="3730752"/>
            <a:ext cx="1417320" cy="53035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711696" y="3776472"/>
            <a:ext cx="130759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1" i="0">
                <a:solidFill>
                  <a:srgbClr val="1F2730"/>
                </a:solidFill>
                <a:latin typeface="Arial"/>
              </a:rPr>
              <a:t>1</a:t>
            </a:r>
          </a:p>
        </p:txBody>
      </p:sp>
      <p:sp>
        <p:nvSpPr>
          <p:cNvPr id="70" name="Rectangle 69"/>
          <p:cNvSpPr/>
          <p:nvPr/>
        </p:nvSpPr>
        <p:spPr>
          <a:xfrm>
            <a:off x="8074152" y="3730752"/>
            <a:ext cx="1600200" cy="53035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129016" y="3776472"/>
            <a:ext cx="1490472"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1" i="0">
                <a:solidFill>
                  <a:srgbClr val="1F2730"/>
                </a:solidFill>
                <a:latin typeface="Arial"/>
              </a:rPr>
              <a:t>0</a:t>
            </a:r>
          </a:p>
        </p:txBody>
      </p:sp>
      <p:sp>
        <p:nvSpPr>
          <p:cNvPr id="72" name="Rectangle 71"/>
          <p:cNvSpPr/>
          <p:nvPr/>
        </p:nvSpPr>
        <p:spPr>
          <a:xfrm>
            <a:off x="9674352" y="3730752"/>
            <a:ext cx="1051560" cy="530352"/>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729216" y="3776472"/>
            <a:ext cx="941831" cy="45719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00" b="1" i="0">
                <a:solidFill>
                  <a:srgbClr val="1F2730"/>
                </a:solidFill>
                <a:latin typeface="Arial"/>
              </a:rPr>
              <a:t>0</a:t>
            </a:r>
          </a:p>
        </p:txBody>
      </p:sp>
      <p:sp>
        <p:nvSpPr>
          <p:cNvPr id="74" name="Rounded Rectangle 73"/>
          <p:cNvSpPr/>
          <p:nvPr/>
        </p:nvSpPr>
        <p:spPr>
          <a:xfrm>
            <a:off x="822960" y="4892040"/>
            <a:ext cx="10515600" cy="80467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51560" y="5120640"/>
            <a:ext cx="10058400" cy="310896"/>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550" b="1" i="0">
                <a:solidFill>
                  <a:srgbClr val="0072B2"/>
                </a:solidFill>
                <a:latin typeface="Arial"/>
              </a:rPr>
              <a:t>Only one of six pairings preserves sex/APOE group; none preserves broad-cell type.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Context preservation is minimal across six pairings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Exact replication requires both the same sex/APOE group and the same broad-cell type.</a:t>
            </a:r>
          </a:p>
        </p:txBody>
      </p:sp>
      <p:sp>
        <p:nvSpPr>
          <p:cNvPr id="4" name="Rounded Rectangle 3"/>
          <p:cNvSpPr/>
          <p:nvPr/>
        </p:nvSpPr>
        <p:spPr>
          <a:xfrm>
            <a:off x="658368" y="1444752"/>
            <a:ext cx="3401568" cy="248716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86968" y="1810512"/>
            <a:ext cx="2944368" cy="80467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3400" b="1" i="0">
                <a:solidFill>
                  <a:srgbClr val="0072B2"/>
                </a:solidFill>
                <a:latin typeface="Arial"/>
              </a:rPr>
              <a:t>0%</a:t>
            </a:r>
          </a:p>
        </p:txBody>
      </p:sp>
      <p:sp>
        <p:nvSpPr>
          <p:cNvPr id="6" name="TextBox 5"/>
          <p:cNvSpPr txBox="1"/>
          <p:nvPr/>
        </p:nvSpPr>
        <p:spPr>
          <a:xfrm>
            <a:off x="932688" y="2788920"/>
            <a:ext cx="2852928" cy="6858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1F2730"/>
                </a:solidFill>
                <a:latin typeface="Arial"/>
              </a:rPr>
              <a:t>same broad cell type
0 of 6 pairings</a:t>
            </a:r>
          </a:p>
        </p:txBody>
      </p:sp>
      <p:sp>
        <p:nvSpPr>
          <p:cNvPr id="7" name="Rounded Rectangle 6"/>
          <p:cNvSpPr/>
          <p:nvPr/>
        </p:nvSpPr>
        <p:spPr>
          <a:xfrm>
            <a:off x="4453128" y="1444752"/>
            <a:ext cx="3401568" cy="248716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81728" y="1810512"/>
            <a:ext cx="2944368" cy="80467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3400" b="1" i="0">
                <a:solidFill>
                  <a:srgbClr val="895600"/>
                </a:solidFill>
                <a:latin typeface="Arial"/>
              </a:rPr>
              <a:t>17%</a:t>
            </a:r>
          </a:p>
        </p:txBody>
      </p:sp>
      <p:sp>
        <p:nvSpPr>
          <p:cNvPr id="9" name="TextBox 8"/>
          <p:cNvSpPr txBox="1"/>
          <p:nvPr/>
        </p:nvSpPr>
        <p:spPr>
          <a:xfrm>
            <a:off x="4727448" y="2788920"/>
            <a:ext cx="2852928" cy="6858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1F2730"/>
                </a:solidFill>
                <a:latin typeface="Arial"/>
              </a:rPr>
              <a:t>same sex/APOE group
1 of 6 pairings</a:t>
            </a:r>
          </a:p>
        </p:txBody>
      </p:sp>
      <p:sp>
        <p:nvSpPr>
          <p:cNvPr id="10" name="Rounded Rectangle 9"/>
          <p:cNvSpPr/>
          <p:nvPr/>
        </p:nvSpPr>
        <p:spPr>
          <a:xfrm>
            <a:off x="8247888" y="1444752"/>
            <a:ext cx="3401568" cy="248716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76488" y="1810512"/>
            <a:ext cx="2944368" cy="80467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3400" b="1" i="0">
                <a:solidFill>
                  <a:srgbClr val="9E3A00"/>
                </a:solidFill>
                <a:latin typeface="Arial"/>
              </a:rPr>
              <a:t>0%</a:t>
            </a:r>
          </a:p>
        </p:txBody>
      </p:sp>
      <p:sp>
        <p:nvSpPr>
          <p:cNvPr id="12" name="TextBox 11"/>
          <p:cNvSpPr txBox="1"/>
          <p:nvPr/>
        </p:nvSpPr>
        <p:spPr>
          <a:xfrm>
            <a:off x="8522208" y="2788920"/>
            <a:ext cx="2852928" cy="6858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1F2730"/>
                </a:solidFill>
                <a:latin typeface="Arial"/>
              </a:rPr>
              <a:t>exact category match
0 of 6 pairings</a:t>
            </a:r>
          </a:p>
        </p:txBody>
      </p:sp>
      <p:sp>
        <p:nvSpPr>
          <p:cNvPr id="13" name="Rounded Rectangle 12"/>
          <p:cNvSpPr/>
          <p:nvPr/>
        </p:nvSpPr>
        <p:spPr>
          <a:xfrm>
            <a:off x="822960" y="4434840"/>
            <a:ext cx="10515600" cy="117043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97280" y="4690872"/>
            <a:ext cx="64008" cy="283464"/>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43584" y="4663440"/>
            <a:ext cx="97292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Interpretation</a:t>
            </a:r>
          </a:p>
        </p:txBody>
      </p:sp>
      <p:sp>
        <p:nvSpPr>
          <p:cNvPr id="16" name="TextBox 15"/>
          <p:cNvSpPr txBox="1"/>
          <p:nvPr/>
        </p:nvSpPr>
        <p:spPr>
          <a:xfrm>
            <a:off x="1115568" y="5102352"/>
            <a:ext cx="9875520" cy="3840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40" b="0" i="0">
                <a:solidFill>
                  <a:srgbClr val="1F2730"/>
                </a:solidFill>
                <a:latin typeface="Arial"/>
              </a:rPr>
              <a:t>The SEA-AD driver set has limited gene overlap with ROSMAP and no matched cell-type context. Cohort and network topology changed together.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Shared SEA-AD M_e33 genes span both ROSMAP sexes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All three shared genes are M_e33 in SEA-AD; ROSMAP sex membership is mixed.</a:t>
            </a:r>
          </a:p>
        </p:txBody>
      </p:sp>
      <p:sp>
        <p:nvSpPr>
          <p:cNvPr id="4" name="Rounded Rectangle 3"/>
          <p:cNvSpPr/>
          <p:nvPr/>
        </p:nvSpPr>
        <p:spPr>
          <a:xfrm>
            <a:off x="603504" y="1417320"/>
            <a:ext cx="5440680" cy="416052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77824" y="173736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24127" y="1709928"/>
            <a:ext cx="460857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Gene membership</a:t>
            </a:r>
          </a:p>
        </p:txBody>
      </p:sp>
      <p:sp>
        <p:nvSpPr>
          <p:cNvPr id="7" name="TextBox 6"/>
          <p:cNvSpPr txBox="1"/>
          <p:nvPr/>
        </p:nvSpPr>
        <p:spPr>
          <a:xfrm>
            <a:off x="896112" y="2304288"/>
            <a:ext cx="1572768"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30" b="1" i="0">
                <a:solidFill>
                  <a:srgbClr val="4E5A68"/>
                </a:solidFill>
                <a:latin typeface="Arial"/>
              </a:rPr>
              <a:t>Male-only (0)</a:t>
            </a:r>
          </a:p>
        </p:txBody>
      </p:sp>
      <p:sp>
        <p:nvSpPr>
          <p:cNvPr id="8" name="TextBox 7"/>
          <p:cNvSpPr txBox="1"/>
          <p:nvPr/>
        </p:nvSpPr>
        <p:spPr>
          <a:xfrm>
            <a:off x="2542032" y="2304288"/>
            <a:ext cx="29718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None</a:t>
            </a:r>
          </a:p>
        </p:txBody>
      </p:sp>
      <p:sp>
        <p:nvSpPr>
          <p:cNvPr id="9" name="TextBox 8"/>
          <p:cNvSpPr txBox="1"/>
          <p:nvPr/>
        </p:nvSpPr>
        <p:spPr>
          <a:xfrm>
            <a:off x="896112" y="3236976"/>
            <a:ext cx="1572768"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30" b="1" i="0">
                <a:solidFill>
                  <a:srgbClr val="4E5A68"/>
                </a:solidFill>
                <a:latin typeface="Arial"/>
              </a:rPr>
              <a:t>Female-only (1)</a:t>
            </a:r>
          </a:p>
        </p:txBody>
      </p:sp>
      <p:sp>
        <p:nvSpPr>
          <p:cNvPr id="10" name="TextBox 9"/>
          <p:cNvSpPr txBox="1"/>
          <p:nvPr/>
        </p:nvSpPr>
        <p:spPr>
          <a:xfrm>
            <a:off x="2542032" y="3236976"/>
            <a:ext cx="29718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PAPOLA</a:t>
            </a:r>
          </a:p>
        </p:txBody>
      </p:sp>
      <p:sp>
        <p:nvSpPr>
          <p:cNvPr id="11" name="TextBox 10"/>
          <p:cNvSpPr txBox="1"/>
          <p:nvPr/>
        </p:nvSpPr>
        <p:spPr>
          <a:xfrm>
            <a:off x="896112" y="4169664"/>
            <a:ext cx="1572768"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30" b="1" i="0">
                <a:solidFill>
                  <a:srgbClr val="4E5A68"/>
                </a:solidFill>
                <a:latin typeface="Arial"/>
              </a:rPr>
              <a:t>Both sexes (2)</a:t>
            </a:r>
          </a:p>
        </p:txBody>
      </p:sp>
      <p:sp>
        <p:nvSpPr>
          <p:cNvPr id="12" name="TextBox 11"/>
          <p:cNvSpPr txBox="1"/>
          <p:nvPr/>
        </p:nvSpPr>
        <p:spPr>
          <a:xfrm>
            <a:off x="2542032" y="4169664"/>
            <a:ext cx="2971800" cy="5029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0" i="0">
                <a:solidFill>
                  <a:srgbClr val="1F2730"/>
                </a:solidFill>
                <a:latin typeface="Arial"/>
              </a:rPr>
              <a:t>LAGE3, MIPOL1</a:t>
            </a:r>
          </a:p>
        </p:txBody>
      </p:sp>
      <p:sp>
        <p:nvSpPr>
          <p:cNvPr id="13" name="Rounded Rectangle 12"/>
          <p:cNvSpPr/>
          <p:nvPr/>
        </p:nvSpPr>
        <p:spPr>
          <a:xfrm>
            <a:off x="6309360" y="1417320"/>
            <a:ext cx="5285232" cy="416052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583680" y="1737360"/>
            <a:ext cx="64008" cy="283464"/>
          </a:xfrm>
          <a:prstGeom prst="rect">
            <a:avLst/>
          </a:prstGeom>
          <a:solidFill>
            <a:srgbClr val="4E5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29984" y="1709928"/>
            <a:ext cx="442569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ROSMAP sex distribution</a:t>
            </a:r>
          </a:p>
        </p:txBody>
      </p:sp>
      <p:sp>
        <p:nvSpPr>
          <p:cNvPr id="16" name="TextBox 15"/>
          <p:cNvSpPr txBox="1"/>
          <p:nvPr/>
        </p:nvSpPr>
        <p:spPr>
          <a:xfrm>
            <a:off x="6601968" y="2377440"/>
            <a:ext cx="237744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0" i="0">
                <a:solidFill>
                  <a:srgbClr val="1F2730"/>
                </a:solidFill>
                <a:latin typeface="Arial"/>
              </a:rPr>
              <a:t>Male-only</a:t>
            </a:r>
          </a:p>
        </p:txBody>
      </p:sp>
      <p:sp>
        <p:nvSpPr>
          <p:cNvPr id="17" name="TextBox 16"/>
          <p:cNvSpPr txBox="1"/>
          <p:nvPr/>
        </p:nvSpPr>
        <p:spPr>
          <a:xfrm>
            <a:off x="10378440" y="2633472"/>
            <a:ext cx="86868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1F2730"/>
                </a:solidFill>
                <a:latin typeface="Arial"/>
              </a:rPr>
              <a:t>0</a:t>
            </a:r>
          </a:p>
        </p:txBody>
      </p:sp>
      <p:sp>
        <p:nvSpPr>
          <p:cNvPr id="18" name="TextBox 17"/>
          <p:cNvSpPr txBox="1"/>
          <p:nvPr/>
        </p:nvSpPr>
        <p:spPr>
          <a:xfrm>
            <a:off x="6601968" y="3200400"/>
            <a:ext cx="237744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0" i="0">
                <a:solidFill>
                  <a:srgbClr val="1F2730"/>
                </a:solidFill>
                <a:latin typeface="Arial"/>
              </a:rPr>
              <a:t>Female-only</a:t>
            </a:r>
          </a:p>
        </p:txBody>
      </p:sp>
      <p:sp>
        <p:nvSpPr>
          <p:cNvPr id="19" name="Rectangle 18"/>
          <p:cNvSpPr/>
          <p:nvPr/>
        </p:nvSpPr>
        <p:spPr>
          <a:xfrm>
            <a:off x="6601968" y="3493008"/>
            <a:ext cx="1783080" cy="21945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378440" y="3456432"/>
            <a:ext cx="86868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1F2730"/>
                </a:solidFill>
                <a:latin typeface="Arial"/>
              </a:rPr>
              <a:t>1</a:t>
            </a:r>
          </a:p>
        </p:txBody>
      </p:sp>
      <p:sp>
        <p:nvSpPr>
          <p:cNvPr id="21" name="TextBox 20"/>
          <p:cNvSpPr txBox="1"/>
          <p:nvPr/>
        </p:nvSpPr>
        <p:spPr>
          <a:xfrm>
            <a:off x="6601968" y="4023360"/>
            <a:ext cx="237744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0" i="0">
                <a:solidFill>
                  <a:srgbClr val="1F2730"/>
                </a:solidFill>
                <a:latin typeface="Arial"/>
              </a:rPr>
              <a:t>Both sexes</a:t>
            </a:r>
          </a:p>
        </p:txBody>
      </p:sp>
      <p:sp>
        <p:nvSpPr>
          <p:cNvPr id="22" name="Rectangle 21"/>
          <p:cNvSpPr/>
          <p:nvPr/>
        </p:nvSpPr>
        <p:spPr>
          <a:xfrm>
            <a:off x="6601968" y="4315968"/>
            <a:ext cx="3566160" cy="219456"/>
          </a:xfrm>
          <a:prstGeom prst="rect">
            <a:avLst/>
          </a:prstGeom>
          <a:solidFill>
            <a:srgbClr val="4E5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378440" y="4279392"/>
            <a:ext cx="86868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1F2730"/>
                </a:solidFill>
                <a:latin typeface="Arial"/>
              </a:rPr>
              <a:t>2</a:t>
            </a:r>
          </a:p>
        </p:txBody>
      </p:sp>
      <p:sp>
        <p:nvSpPr>
          <p:cNvPr id="24" name="TextBox 23"/>
          <p:cNvSpPr txBox="1"/>
          <p:nvPr/>
        </p:nvSpPr>
        <p:spPr>
          <a:xfrm>
            <a:off x="6601968" y="4892040"/>
            <a:ext cx="4754880"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0" i="0">
                <a:solidFill>
                  <a:srgbClr val="4E5A68"/>
                </a:solidFill>
                <a:latin typeface="Arial"/>
              </a:rPr>
              <a:t>MIPOL1 and LAGE3 occur in both female and male ROSMAP categories; PAPOLA occurs only in F_e4.</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What the cross-cohort comparison does—and does not—show</a:t>
            </a:r>
          </a:p>
        </p:txBody>
      </p:sp>
      <p:sp>
        <p:nvSpPr>
          <p:cNvPr id="3" name="Rounded Rectangle 2"/>
          <p:cNvSpPr/>
          <p:nvPr/>
        </p:nvSpPr>
        <p:spPr>
          <a:xfrm>
            <a:off x="603504" y="1188720"/>
            <a:ext cx="5440680" cy="461772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86968" y="1508760"/>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33271" y="1481328"/>
            <a:ext cx="460857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Supported</a:t>
            </a:r>
          </a:p>
        </p:txBody>
      </p:sp>
      <p:sp>
        <p:nvSpPr>
          <p:cNvPr id="6" name="Oval 5"/>
          <p:cNvSpPr/>
          <p:nvPr/>
        </p:nvSpPr>
        <p:spPr>
          <a:xfrm>
            <a:off x="905256" y="2103120"/>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8992" y="1975104"/>
            <a:ext cx="4654296" cy="7223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3 of 43 SEA-AD drivers also occur in ROSMAP: LAGE3, MIPOL1, PAPOLA.</a:t>
            </a:r>
          </a:p>
        </p:txBody>
      </p:sp>
      <p:sp>
        <p:nvSpPr>
          <p:cNvPr id="8" name="Oval 7"/>
          <p:cNvSpPr/>
          <p:nvPr/>
        </p:nvSpPr>
        <p:spPr>
          <a:xfrm>
            <a:off x="905256" y="28254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78992" y="2697480"/>
            <a:ext cx="4654296" cy="7223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No shared driver preserves both sex/APOE group and broad-cell type.</a:t>
            </a:r>
          </a:p>
        </p:txBody>
      </p:sp>
      <p:sp>
        <p:nvSpPr>
          <p:cNvPr id="10" name="Oval 9"/>
          <p:cNvSpPr/>
          <p:nvPr/>
        </p:nvSpPr>
        <p:spPr>
          <a:xfrm>
            <a:off x="905256" y="354787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78992" y="3419856"/>
            <a:ext cx="4654296" cy="7223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MIPOL1 preserves M_e33 once but switches excitatory → inhibitory.</a:t>
            </a:r>
          </a:p>
        </p:txBody>
      </p:sp>
      <p:sp>
        <p:nvSpPr>
          <p:cNvPr id="12" name="Oval 11"/>
          <p:cNvSpPr/>
          <p:nvPr/>
        </p:nvSpPr>
        <p:spPr>
          <a:xfrm>
            <a:off x="905256" y="42702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78992" y="4142232"/>
            <a:ext cx="4654296" cy="7223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PJVK is the only SEA-AD gene recurring across two categories.</a:t>
            </a:r>
          </a:p>
        </p:txBody>
      </p:sp>
      <p:sp>
        <p:nvSpPr>
          <p:cNvPr id="14" name="Rounded Rectangle 13"/>
          <p:cNvSpPr/>
          <p:nvPr/>
        </p:nvSpPr>
        <p:spPr>
          <a:xfrm>
            <a:off x="6309360" y="1188720"/>
            <a:ext cx="5285232" cy="461772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592824" y="150876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39128" y="1481328"/>
            <a:ext cx="44714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Limits</a:t>
            </a:r>
          </a:p>
        </p:txBody>
      </p:sp>
      <p:sp>
        <p:nvSpPr>
          <p:cNvPr id="17" name="Oval 16"/>
          <p:cNvSpPr/>
          <p:nvPr/>
        </p:nvSpPr>
        <p:spPr>
          <a:xfrm>
            <a:off x="6611112" y="2103120"/>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84848" y="1975104"/>
            <a:ext cx="4489703" cy="7223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No broad-cell match occurs among the six shared-gene unit pairings.</a:t>
            </a:r>
          </a:p>
        </p:txBody>
      </p:sp>
      <p:sp>
        <p:nvSpPr>
          <p:cNvPr id="19" name="Oval 18"/>
          <p:cNvSpPr/>
          <p:nvPr/>
        </p:nvSpPr>
        <p:spPr>
          <a:xfrm>
            <a:off x="6611112" y="2825496"/>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84848" y="2697480"/>
            <a:ext cx="4489703" cy="7223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Only M_e33 is well represented among SEA-AD active calls (20 of 22).</a:t>
            </a:r>
          </a:p>
        </p:txBody>
      </p:sp>
      <p:sp>
        <p:nvSpPr>
          <p:cNvPr id="21" name="Oval 20"/>
          <p:cNvSpPr/>
          <p:nvPr/>
        </p:nvSpPr>
        <p:spPr>
          <a:xfrm>
            <a:off x="6611112" y="3547872"/>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84848" y="3419856"/>
            <a:ext cx="4489703" cy="7223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Cohort and network topology changed together; their effects are inseparable.</a:t>
            </a:r>
          </a:p>
        </p:txBody>
      </p:sp>
      <p:sp>
        <p:nvSpPr>
          <p:cNvPr id="23" name="Oval 22"/>
          <p:cNvSpPr/>
          <p:nvPr/>
        </p:nvSpPr>
        <p:spPr>
          <a:xfrm>
            <a:off x="6611112" y="427024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784848" y="4142232"/>
            <a:ext cx="4489703" cy="72237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1F2730"/>
                </a:solidFill>
                <a:latin typeface="Arial"/>
              </a:rPr>
              <a:t>Returned-only ACAT scores are exploratory and not final-FDR controlled.</a:t>
            </a:r>
          </a:p>
        </p:txBody>
      </p:sp>
      <p:sp>
        <p:nvSpPr>
          <p:cNvPr id="25" name="TextBox 24"/>
          <p:cNvSpPr txBox="1"/>
          <p:nvPr/>
        </p:nvSpPr>
        <p:spPr>
          <a:xfrm>
            <a:off x="804672" y="6080760"/>
            <a:ext cx="1060704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10" b="1" i="0">
                <a:solidFill>
                  <a:srgbClr val="7E4C9A"/>
                </a:solidFill>
                <a:latin typeface="Arial"/>
              </a:rPr>
              <a:t>Takeaway: three genes are shared, but there are zero exact sex/APOE × broad-cell validation matches.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p:cNvSpPr txBox="1"/>
          <p:nvPr/>
        </p:nvSpPr>
        <p:spPr>
          <a:xfrm>
            <a:off x="713232" y="612648"/>
            <a:ext cx="219456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E69F00"/>
                </a:solidFill>
                <a:latin typeface="Arial"/>
              </a:rPr>
              <a:t>PART 4</a:t>
            </a:r>
          </a:p>
        </p:txBody>
      </p:sp>
      <p:sp>
        <p:nvSpPr>
          <p:cNvPr id="3" name="Rectangle 2"/>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200" b="1" i="0">
                <a:solidFill>
                  <a:srgbClr val="FFFFFF"/>
                </a:solidFill>
                <a:latin typeface="Arial"/>
              </a:rPr>
              <a:t>Sensitivity analyses</a:t>
            </a:r>
          </a:p>
        </p:txBody>
      </p:sp>
      <p:sp>
        <p:nvSpPr>
          <p:cNvPr id="5" name="TextBox 4"/>
          <p:cNvSpPr txBox="1"/>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CCDBEA"/>
                </a:solidFill>
                <a:latin typeface="Arial"/>
              </a:rPr>
              <a:t>Robustness checks across sample support, profile coverage, query definition, and KDA decision rules.</a:t>
            </a:r>
          </a:p>
        </p:txBody>
      </p:sp>
      <p:sp>
        <p:nvSpPr>
          <p:cNvPr id="6" name="Rounded Rectangle 5"/>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E69F00"/>
                </a:solidFill>
                <a:latin typeface="Arial"/>
              </a:rPr>
              <a:t>IN THIS PART</a:t>
            </a:r>
          </a:p>
        </p:txBody>
      </p:sp>
      <p:sp>
        <p:nvSpPr>
          <p:cNvPr id="8" name="Oval 7"/>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1</a:t>
            </a:r>
          </a:p>
        </p:txBody>
      </p:sp>
      <p:sp>
        <p:nvSpPr>
          <p:cNvPr id="10" name="TextBox 9"/>
          <p:cNvSpPr txBox="1"/>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Donor support</a:t>
            </a:r>
          </a:p>
        </p:txBody>
      </p:sp>
      <p:sp>
        <p:nvSpPr>
          <p:cNvPr id="11" name="Oval 10"/>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2</a:t>
            </a:r>
          </a:p>
        </p:txBody>
      </p:sp>
      <p:sp>
        <p:nvSpPr>
          <p:cNvPr id="13" name="TextBox 12"/>
          <p:cNvSpPr txBox="1"/>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Profile coverage</a:t>
            </a:r>
          </a:p>
        </p:txBody>
      </p:sp>
      <p:sp>
        <p:nvSpPr>
          <p:cNvPr id="14" name="Oval 13"/>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3</a:t>
            </a:r>
          </a:p>
        </p:txBody>
      </p:sp>
      <p:sp>
        <p:nvSpPr>
          <p:cNvPr id="16" name="TextBox 15"/>
          <p:cNvSpPr txBox="1"/>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Query definition</a:t>
            </a:r>
          </a:p>
        </p:txBody>
      </p:sp>
      <p:sp>
        <p:nvSpPr>
          <p:cNvPr id="17" name="Oval 16"/>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4</a:t>
            </a:r>
          </a:p>
        </p:txBody>
      </p:sp>
      <p:sp>
        <p:nvSpPr>
          <p:cNvPr id="19" name="TextBox 18"/>
          <p:cNvSpPr txBox="1"/>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KDA filters</a:t>
            </a:r>
          </a:p>
        </p:txBody>
      </p:sp>
      <p:sp>
        <p:nvSpPr>
          <p:cNvPr id="20" name="Rounded Rectangle 19"/>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20" b="1" i="0">
                <a:solidFill>
                  <a:srgbClr val="FFFFFF"/>
                </a:solidFill>
                <a:latin typeface="Arial"/>
              </a:rPr>
              <a:t>Each sensitivity test is reported separately with its own evidence boundary.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Donor-threshold sensitivity — numerical comparison</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Raising minimum donors per disease arm from 3 to 5 in ROSMAP and SEA-AD.</a:t>
            </a:r>
          </a:p>
        </p:txBody>
      </p:sp>
      <p:sp>
        <p:nvSpPr>
          <p:cNvPr id="4" name="Rectangle 3"/>
          <p:cNvSpPr/>
          <p:nvPr/>
        </p:nvSpPr>
        <p:spPr>
          <a:xfrm>
            <a:off x="658368" y="1600200"/>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1655064"/>
            <a:ext cx="121615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00" b="1" i="0">
                <a:solidFill>
                  <a:srgbClr val="FFFFFF"/>
                </a:solidFill>
                <a:latin typeface="Arial"/>
              </a:rPr>
              <a:t>Cohort</a:t>
            </a:r>
          </a:p>
        </p:txBody>
      </p:sp>
      <p:sp>
        <p:nvSpPr>
          <p:cNvPr id="6" name="Rectangle 5"/>
          <p:cNvSpPr/>
          <p:nvPr/>
        </p:nvSpPr>
        <p:spPr>
          <a:xfrm>
            <a:off x="1984248" y="1600200"/>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039112" y="1655064"/>
            <a:ext cx="1764791"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00" b="1" i="0">
                <a:solidFill>
                  <a:srgbClr val="FFFFFF"/>
                </a:solidFill>
                <a:latin typeface="Arial"/>
              </a:rPr>
              <a:t>Minimum donors / arm</a:t>
            </a:r>
          </a:p>
        </p:txBody>
      </p:sp>
      <p:sp>
        <p:nvSpPr>
          <p:cNvPr id="8" name="Rectangle 7"/>
          <p:cNvSpPr/>
          <p:nvPr/>
        </p:nvSpPr>
        <p:spPr>
          <a:xfrm>
            <a:off x="3858768" y="1600200"/>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913631" y="1655064"/>
            <a:ext cx="158191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00" b="1" i="0">
                <a:solidFill>
                  <a:srgbClr val="FFFFFF"/>
                </a:solidFill>
                <a:latin typeface="Arial"/>
              </a:rPr>
              <a:t>Eligible contrasts</a:t>
            </a:r>
          </a:p>
        </p:txBody>
      </p:sp>
      <p:sp>
        <p:nvSpPr>
          <p:cNvPr id="10" name="Rectangle 9"/>
          <p:cNvSpPr/>
          <p:nvPr/>
        </p:nvSpPr>
        <p:spPr>
          <a:xfrm>
            <a:off x="5550408" y="1600200"/>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05272" y="1655064"/>
            <a:ext cx="112471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00" b="1" i="0">
                <a:solidFill>
                  <a:srgbClr val="FFFFFF"/>
                </a:solidFill>
                <a:latin typeface="Arial"/>
              </a:rPr>
              <a:t>KDA runs</a:t>
            </a:r>
          </a:p>
        </p:txBody>
      </p:sp>
      <p:sp>
        <p:nvSpPr>
          <p:cNvPr id="12" name="Rectangle 11"/>
          <p:cNvSpPr/>
          <p:nvPr/>
        </p:nvSpPr>
        <p:spPr>
          <a:xfrm>
            <a:off x="6784848" y="1600200"/>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39712" y="1655064"/>
            <a:ext cx="213055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00" b="1" i="0">
                <a:solidFill>
                  <a:srgbClr val="FFFFFF"/>
                </a:solidFill>
                <a:latin typeface="Arial"/>
              </a:rPr>
              <a:t>Significant driver rows</a:t>
            </a:r>
          </a:p>
        </p:txBody>
      </p:sp>
      <p:sp>
        <p:nvSpPr>
          <p:cNvPr id="14" name="Rectangle 13"/>
          <p:cNvSpPr/>
          <p:nvPr/>
        </p:nvSpPr>
        <p:spPr>
          <a:xfrm>
            <a:off x="9025128" y="1600200"/>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79992" y="1655064"/>
            <a:ext cx="24048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00" b="1" i="0">
                <a:solidFill>
                  <a:srgbClr val="FFFFFF"/>
                </a:solidFill>
                <a:latin typeface="Arial"/>
              </a:rPr>
              <a:t>Unique non-MT drivers</a:t>
            </a:r>
          </a:p>
        </p:txBody>
      </p:sp>
      <p:sp>
        <p:nvSpPr>
          <p:cNvPr id="16" name="Rectangle 15"/>
          <p:cNvSpPr/>
          <p:nvPr/>
        </p:nvSpPr>
        <p:spPr>
          <a:xfrm>
            <a:off x="658368" y="2295144"/>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3232" y="2340863"/>
            <a:ext cx="121615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ROSMAP</a:t>
            </a:r>
          </a:p>
        </p:txBody>
      </p:sp>
      <p:sp>
        <p:nvSpPr>
          <p:cNvPr id="18" name="Rectangle 17"/>
          <p:cNvSpPr/>
          <p:nvPr/>
        </p:nvSpPr>
        <p:spPr>
          <a:xfrm>
            <a:off x="1984248" y="2295144"/>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039112" y="2340863"/>
            <a:ext cx="1764791"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3</a:t>
            </a:r>
          </a:p>
        </p:txBody>
      </p:sp>
      <p:sp>
        <p:nvSpPr>
          <p:cNvPr id="20" name="Rectangle 19"/>
          <p:cNvSpPr/>
          <p:nvPr/>
        </p:nvSpPr>
        <p:spPr>
          <a:xfrm>
            <a:off x="3858768" y="2295144"/>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13631" y="2340863"/>
            <a:ext cx="158191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42</a:t>
            </a:r>
          </a:p>
        </p:txBody>
      </p:sp>
      <p:sp>
        <p:nvSpPr>
          <p:cNvPr id="22" name="Rectangle 21"/>
          <p:cNvSpPr/>
          <p:nvPr/>
        </p:nvSpPr>
        <p:spPr>
          <a:xfrm>
            <a:off x="5550408" y="2295144"/>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05272" y="2340863"/>
            <a:ext cx="112471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3</a:t>
            </a:r>
          </a:p>
        </p:txBody>
      </p:sp>
      <p:sp>
        <p:nvSpPr>
          <p:cNvPr id="24" name="Rectangle 23"/>
          <p:cNvSpPr/>
          <p:nvPr/>
        </p:nvSpPr>
        <p:spPr>
          <a:xfrm>
            <a:off x="6784848" y="2295144"/>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39712" y="2340863"/>
            <a:ext cx="213055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39</a:t>
            </a:r>
          </a:p>
        </p:txBody>
      </p:sp>
      <p:sp>
        <p:nvSpPr>
          <p:cNvPr id="26" name="Rectangle 25"/>
          <p:cNvSpPr/>
          <p:nvPr/>
        </p:nvSpPr>
        <p:spPr>
          <a:xfrm>
            <a:off x="9025128" y="2295144"/>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079992" y="2340863"/>
            <a:ext cx="240487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33</a:t>
            </a:r>
          </a:p>
        </p:txBody>
      </p:sp>
      <p:sp>
        <p:nvSpPr>
          <p:cNvPr id="28" name="Rectangle 27"/>
          <p:cNvSpPr/>
          <p:nvPr/>
        </p:nvSpPr>
        <p:spPr>
          <a:xfrm>
            <a:off x="658368" y="2953511"/>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13232" y="2999231"/>
            <a:ext cx="121615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ROSMAP</a:t>
            </a:r>
          </a:p>
        </p:txBody>
      </p:sp>
      <p:sp>
        <p:nvSpPr>
          <p:cNvPr id="30" name="Rectangle 29"/>
          <p:cNvSpPr/>
          <p:nvPr/>
        </p:nvSpPr>
        <p:spPr>
          <a:xfrm>
            <a:off x="1984248" y="2953511"/>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039112" y="2999231"/>
            <a:ext cx="1764791"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5</a:t>
            </a:r>
          </a:p>
        </p:txBody>
      </p:sp>
      <p:sp>
        <p:nvSpPr>
          <p:cNvPr id="32" name="Rectangle 31"/>
          <p:cNvSpPr/>
          <p:nvPr/>
        </p:nvSpPr>
        <p:spPr>
          <a:xfrm>
            <a:off x="3858768" y="2953511"/>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913631" y="2999231"/>
            <a:ext cx="158191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40</a:t>
            </a:r>
          </a:p>
        </p:txBody>
      </p:sp>
      <p:sp>
        <p:nvSpPr>
          <p:cNvPr id="34" name="Rectangle 33"/>
          <p:cNvSpPr/>
          <p:nvPr/>
        </p:nvSpPr>
        <p:spPr>
          <a:xfrm>
            <a:off x="5550408" y="2953511"/>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05272" y="2999231"/>
            <a:ext cx="112471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2</a:t>
            </a:r>
          </a:p>
        </p:txBody>
      </p:sp>
      <p:sp>
        <p:nvSpPr>
          <p:cNvPr id="36" name="Rectangle 35"/>
          <p:cNvSpPr/>
          <p:nvPr/>
        </p:nvSpPr>
        <p:spPr>
          <a:xfrm>
            <a:off x="6784848" y="2953511"/>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839712" y="2999231"/>
            <a:ext cx="213055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13</a:t>
            </a:r>
          </a:p>
        </p:txBody>
      </p:sp>
      <p:sp>
        <p:nvSpPr>
          <p:cNvPr id="38" name="Rectangle 37"/>
          <p:cNvSpPr/>
          <p:nvPr/>
        </p:nvSpPr>
        <p:spPr>
          <a:xfrm>
            <a:off x="9025128" y="2953511"/>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079992" y="2999231"/>
            <a:ext cx="240487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13</a:t>
            </a:r>
          </a:p>
        </p:txBody>
      </p:sp>
      <p:sp>
        <p:nvSpPr>
          <p:cNvPr id="40" name="Rectangle 39"/>
          <p:cNvSpPr/>
          <p:nvPr/>
        </p:nvSpPr>
        <p:spPr>
          <a:xfrm>
            <a:off x="658368" y="3611879"/>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13232" y="3657599"/>
            <a:ext cx="121615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SEA-AD</a:t>
            </a:r>
          </a:p>
        </p:txBody>
      </p:sp>
      <p:sp>
        <p:nvSpPr>
          <p:cNvPr id="42" name="Rectangle 41"/>
          <p:cNvSpPr/>
          <p:nvPr/>
        </p:nvSpPr>
        <p:spPr>
          <a:xfrm>
            <a:off x="1984248" y="3611879"/>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039112" y="3657599"/>
            <a:ext cx="1764791"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3</a:t>
            </a:r>
          </a:p>
        </p:txBody>
      </p:sp>
      <p:sp>
        <p:nvSpPr>
          <p:cNvPr id="44" name="Rectangle 43"/>
          <p:cNvSpPr/>
          <p:nvPr/>
        </p:nvSpPr>
        <p:spPr>
          <a:xfrm>
            <a:off x="3858768" y="3611879"/>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13631" y="3657599"/>
            <a:ext cx="158191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28</a:t>
            </a:r>
          </a:p>
        </p:txBody>
      </p:sp>
      <p:sp>
        <p:nvSpPr>
          <p:cNvPr id="46" name="Rectangle 45"/>
          <p:cNvSpPr/>
          <p:nvPr/>
        </p:nvSpPr>
        <p:spPr>
          <a:xfrm>
            <a:off x="5550408" y="3611879"/>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605272" y="3657599"/>
            <a:ext cx="112471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5</a:t>
            </a:r>
          </a:p>
        </p:txBody>
      </p:sp>
      <p:sp>
        <p:nvSpPr>
          <p:cNvPr id="48" name="Rectangle 47"/>
          <p:cNvSpPr/>
          <p:nvPr/>
        </p:nvSpPr>
        <p:spPr>
          <a:xfrm>
            <a:off x="6784848" y="3611879"/>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839712" y="3657599"/>
            <a:ext cx="213055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24</a:t>
            </a:r>
          </a:p>
        </p:txBody>
      </p:sp>
      <p:sp>
        <p:nvSpPr>
          <p:cNvPr id="50" name="Rectangle 49"/>
          <p:cNvSpPr/>
          <p:nvPr/>
        </p:nvSpPr>
        <p:spPr>
          <a:xfrm>
            <a:off x="9025128" y="3611879"/>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079992" y="3657599"/>
            <a:ext cx="240487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18</a:t>
            </a:r>
          </a:p>
        </p:txBody>
      </p:sp>
      <p:sp>
        <p:nvSpPr>
          <p:cNvPr id="52" name="Rectangle 51"/>
          <p:cNvSpPr/>
          <p:nvPr/>
        </p:nvSpPr>
        <p:spPr>
          <a:xfrm>
            <a:off x="658368" y="4270248"/>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13232" y="4315968"/>
            <a:ext cx="121615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SEA-AD</a:t>
            </a:r>
          </a:p>
        </p:txBody>
      </p:sp>
      <p:sp>
        <p:nvSpPr>
          <p:cNvPr id="54" name="Rectangle 53"/>
          <p:cNvSpPr/>
          <p:nvPr/>
        </p:nvSpPr>
        <p:spPr>
          <a:xfrm>
            <a:off x="1984248" y="4270248"/>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039112" y="4315968"/>
            <a:ext cx="1764791"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5</a:t>
            </a:r>
          </a:p>
        </p:txBody>
      </p:sp>
      <p:sp>
        <p:nvSpPr>
          <p:cNvPr id="56" name="Rectangle 55"/>
          <p:cNvSpPr/>
          <p:nvPr/>
        </p:nvSpPr>
        <p:spPr>
          <a:xfrm>
            <a:off x="3858768" y="4270248"/>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3913631" y="4315968"/>
            <a:ext cx="158191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20</a:t>
            </a:r>
          </a:p>
        </p:txBody>
      </p:sp>
      <p:sp>
        <p:nvSpPr>
          <p:cNvPr id="58" name="Rectangle 57"/>
          <p:cNvSpPr/>
          <p:nvPr/>
        </p:nvSpPr>
        <p:spPr>
          <a:xfrm>
            <a:off x="5550408" y="4270248"/>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605272" y="4315968"/>
            <a:ext cx="112471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5</a:t>
            </a:r>
          </a:p>
        </p:txBody>
      </p:sp>
      <p:sp>
        <p:nvSpPr>
          <p:cNvPr id="60" name="Rectangle 59"/>
          <p:cNvSpPr/>
          <p:nvPr/>
        </p:nvSpPr>
        <p:spPr>
          <a:xfrm>
            <a:off x="6784848" y="4270248"/>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839712" y="4315968"/>
            <a:ext cx="213055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24</a:t>
            </a:r>
          </a:p>
        </p:txBody>
      </p:sp>
      <p:sp>
        <p:nvSpPr>
          <p:cNvPr id="62" name="Rectangle 61"/>
          <p:cNvSpPr/>
          <p:nvPr/>
        </p:nvSpPr>
        <p:spPr>
          <a:xfrm>
            <a:off x="9025128" y="4270248"/>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079992" y="4315968"/>
            <a:ext cx="2404872" cy="58521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18</a:t>
            </a:r>
          </a:p>
        </p:txBody>
      </p:sp>
      <p:sp>
        <p:nvSpPr>
          <p:cNvPr id="64" name="Rounded Rectangle 63"/>
          <p:cNvSpPr/>
          <p:nvPr/>
        </p:nvSpPr>
        <p:spPr>
          <a:xfrm>
            <a:off x="658368" y="5157216"/>
            <a:ext cx="10881360" cy="65836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14400" y="5340096"/>
            <a:ext cx="10369296"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80" b="1" i="0">
                <a:solidFill>
                  <a:srgbClr val="0F233D"/>
                </a:solidFill>
                <a:latin typeface="Arial"/>
              </a:rPr>
              <a:t>Driver rows count significant returned KDA rows. Unique non-MT drivers exclude MT-* genes and are deduplicated within each cohort.</a:t>
            </a:r>
          </a:p>
        </p:txBody>
      </p:sp>
      <p:sp>
        <p:nvSpPr>
          <p:cNvPr id="66" name="TextBox 65"/>
          <p:cNvSpPr txBox="1"/>
          <p:nvPr/>
        </p:nvSpPr>
        <p:spPr>
          <a:xfrm>
            <a:off x="658368" y="6473952"/>
            <a:ext cx="10881360" cy="14630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670" b="0" i="0">
                <a:solidFill>
                  <a:srgbClr val="6C7988"/>
                </a:solidFill>
                <a:latin typeface="Arial"/>
              </a:rPr>
              <a:t>Source: Phase 22 and VH14 run manifests/returns; donor-per-arm 3-vs-5 sensitivity assessment (2026-09-11).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Donor-threshold sensitivity — key findings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Raising minimum donors per disease arm from 3 to 5 in ROSMAP and SEA-AD.</a:t>
            </a:r>
          </a:p>
        </p:txBody>
      </p:sp>
      <p:sp>
        <p:nvSpPr>
          <p:cNvPr id="4" name="Rounded Rectangle 3"/>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72B2"/>
                </a:solidFill>
                <a:latin typeface="Arial"/>
              </a:rPr>
              <a:t>KEY FINDINGS</a:t>
            </a:r>
          </a:p>
        </p:txBody>
      </p:sp>
      <p:sp>
        <p:nvSpPr>
          <p:cNvPr id="6" name="Oval 5"/>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20" b="0" i="0">
                <a:solidFill>
                  <a:srgbClr val="1F2730"/>
                </a:solidFill>
                <a:latin typeface="Arial"/>
              </a:rPr>
              <a:t>ROSMAP loses the Vasculature × M_e2 4-versus-3-donor call, which alone generated 26 driver rows. This removes the low-support result dominating the ROSMAP release.</a:t>
            </a:r>
          </a:p>
        </p:txBody>
      </p:sp>
      <p:sp>
        <p:nvSpPr>
          <p:cNvPr id="8" name="Oval 7"/>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20" b="0" i="0">
                <a:solidFill>
                  <a:srgbClr val="1F2730"/>
                </a:solidFill>
                <a:latin typeface="Arial"/>
              </a:rPr>
              <a:t>SEA-AD loses eight eligible contrasts, but all already had empty mitochondrial queries. Therefore, all five KDA runs and all returned drivers remain unchanged.</a:t>
            </a:r>
          </a:p>
        </p:txBody>
      </p:sp>
      <p:sp>
        <p:nvSpPr>
          <p:cNvPr id="10" name="Oval 9"/>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20" b="0" i="0">
                <a:solidFill>
                  <a:srgbClr val="1F2730"/>
                </a:solidFill>
                <a:latin typeface="Arial"/>
              </a:rPr>
              <a:t>Cross-cohort validation remains zero at both thresholds.</a:t>
            </a:r>
          </a:p>
        </p:txBody>
      </p:sp>
      <p:sp>
        <p:nvSpPr>
          <p:cNvPr id="12" name="Oval 1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20" b="0" i="0">
                <a:solidFill>
                  <a:srgbClr val="1F2730"/>
                </a:solidFill>
                <a:latin typeface="Arial"/>
              </a:rPr>
              <a:t>The only exact shared executed stratum remains Astrocytes × F_e4, with no shared drivers.</a:t>
            </a:r>
          </a:p>
        </p:txBody>
      </p:sp>
      <p:sp>
        <p:nvSpPr>
          <p:cNvPr id="14" name="Oval 13"/>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20" b="0" i="0">
                <a:solidFill>
                  <a:srgbClr val="1F2730"/>
                </a:solidFill>
                <a:latin typeface="Arial"/>
              </a:rPr>
              <a:t>The excluded contrasts are treated as unavailable comparisons—not negative validation results.</a:t>
            </a:r>
          </a:p>
        </p:txBody>
      </p:sp>
      <p:sp>
        <p:nvSpPr>
          <p:cNvPr id="16" name="TextBox 15"/>
          <p:cNvSpPr txBox="1"/>
          <p:nvPr/>
        </p:nvSpPr>
        <p:spPr>
          <a:xfrm>
            <a:off x="658368" y="6473952"/>
            <a:ext cx="10881360" cy="14630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670" b="0" i="0">
                <a:solidFill>
                  <a:srgbClr val="6C7988"/>
                </a:solidFill>
                <a:latin typeface="Arial"/>
              </a:rPr>
              <a:t>Source: Phase 22 and VH14 run manifests/returns; donor-per-arm 3-vs-5 sensitivity assessment (2026-09-11).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Query-size sensitivity — numerical comparison</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Minimum effective genes after network mapping; donor minimum held at 3 per disease arm.</a:t>
            </a:r>
          </a:p>
        </p:txBody>
      </p:sp>
      <p:sp>
        <p:nvSpPr>
          <p:cNvPr id="4" name="Rectangle 3"/>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59" y="1426464"/>
            <a:ext cx="987552" cy="5394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79" b="1" i="0">
                <a:solidFill>
                  <a:srgbClr val="FFFFFF"/>
                </a:solidFill>
                <a:latin typeface="Arial"/>
              </a:rPr>
              <a:t>Cohort</a:t>
            </a:r>
          </a:p>
        </p:txBody>
      </p:sp>
      <p:sp>
        <p:nvSpPr>
          <p:cNvPr id="6" name="Rectangle 5"/>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91640" y="1426464"/>
            <a:ext cx="1216152" cy="5394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79" b="1" i="0">
                <a:solidFill>
                  <a:srgbClr val="FFFFFF"/>
                </a:solidFill>
                <a:latin typeface="Arial"/>
              </a:rPr>
              <a:t>Minimum query genes</a:t>
            </a:r>
          </a:p>
        </p:txBody>
      </p:sp>
      <p:sp>
        <p:nvSpPr>
          <p:cNvPr id="8" name="Rectangle 7"/>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17520" y="1426464"/>
            <a:ext cx="1673352" cy="5394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79" b="1" i="0">
                <a:solidFill>
                  <a:srgbClr val="FFFFFF"/>
                </a:solidFill>
                <a:latin typeface="Arial"/>
              </a:rPr>
              <a:t>Source-estimable contrasts</a:t>
            </a:r>
          </a:p>
        </p:txBody>
      </p:sp>
      <p:sp>
        <p:nvSpPr>
          <p:cNvPr id="10" name="Rectangle 9"/>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00600" y="1426464"/>
            <a:ext cx="1627631" cy="5394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79" b="1" i="0">
                <a:solidFill>
                  <a:srgbClr val="FFFFFF"/>
                </a:solidFill>
                <a:latin typeface="Arial"/>
              </a:rPr>
              <a:t>Query-passing contrasts</a:t>
            </a:r>
          </a:p>
        </p:txBody>
      </p:sp>
      <p:sp>
        <p:nvSpPr>
          <p:cNvPr id="12" name="Rectangle 1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37959" y="1426464"/>
            <a:ext cx="941831" cy="5394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79" b="1" i="0">
                <a:solidFill>
                  <a:srgbClr val="FFFFFF"/>
                </a:solidFill>
                <a:latin typeface="Arial"/>
              </a:rPr>
              <a:t>KDA runs</a:t>
            </a:r>
          </a:p>
        </p:txBody>
      </p:sp>
      <p:sp>
        <p:nvSpPr>
          <p:cNvPr id="14" name="Rectangle 13"/>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589520" y="1426464"/>
            <a:ext cx="1883664" cy="5394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79" b="1" i="0">
                <a:solidFill>
                  <a:srgbClr val="FFFFFF"/>
                </a:solidFill>
                <a:latin typeface="Arial"/>
              </a:rPr>
              <a:t>Significant KD rows</a:t>
            </a:r>
          </a:p>
        </p:txBody>
      </p:sp>
      <p:sp>
        <p:nvSpPr>
          <p:cNvPr id="16" name="Rectangle 15"/>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582912" y="1426464"/>
            <a:ext cx="2011679" cy="5394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79" b="1" i="0">
                <a:solidFill>
                  <a:srgbClr val="FFFFFF"/>
                </a:solidFill>
                <a:latin typeface="Arial"/>
              </a:rPr>
              <a:t>Unique non-MT KDs</a:t>
            </a:r>
          </a:p>
        </p:txBody>
      </p:sp>
      <p:sp>
        <p:nvSpPr>
          <p:cNvPr id="18" name="Rectangle 17"/>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59" y="2048255"/>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ROSMAP</a:t>
            </a:r>
          </a:p>
        </p:txBody>
      </p:sp>
      <p:sp>
        <p:nvSpPr>
          <p:cNvPr id="20" name="Rectangle 19"/>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691640" y="2048255"/>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22" name="Rectangle 2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017520" y="2048255"/>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42</a:t>
            </a:r>
          </a:p>
        </p:txBody>
      </p:sp>
      <p:sp>
        <p:nvSpPr>
          <p:cNvPr id="24" name="Rectangle 23"/>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00600" y="2048255"/>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26" name="Rectangle 25"/>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37959" y="2048255"/>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28" name="Rectangle 27"/>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589520" y="2048255"/>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39</a:t>
            </a:r>
          </a:p>
        </p:txBody>
      </p:sp>
      <p:sp>
        <p:nvSpPr>
          <p:cNvPr id="30" name="Rectangle 29"/>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582912" y="2048255"/>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33</a:t>
            </a:r>
          </a:p>
        </p:txBody>
      </p:sp>
      <p:sp>
        <p:nvSpPr>
          <p:cNvPr id="32" name="Rectangle 3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94359" y="2441448"/>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ROSMAP</a:t>
            </a:r>
          </a:p>
        </p:txBody>
      </p:sp>
      <p:sp>
        <p:nvSpPr>
          <p:cNvPr id="34" name="Rectangle 33"/>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691640" y="2441448"/>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5</a:t>
            </a:r>
          </a:p>
        </p:txBody>
      </p:sp>
      <p:sp>
        <p:nvSpPr>
          <p:cNvPr id="36" name="Rectangle 35"/>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017520" y="2441448"/>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42</a:t>
            </a:r>
          </a:p>
        </p:txBody>
      </p:sp>
      <p:sp>
        <p:nvSpPr>
          <p:cNvPr id="38" name="Rectangle 37"/>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800600" y="2441448"/>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a:t>
            </a:r>
          </a:p>
        </p:txBody>
      </p:sp>
      <p:sp>
        <p:nvSpPr>
          <p:cNvPr id="40" name="Rectangle 39"/>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537959" y="2441448"/>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a:t>
            </a:r>
          </a:p>
        </p:txBody>
      </p:sp>
      <p:sp>
        <p:nvSpPr>
          <p:cNvPr id="42" name="Rectangle 4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589520" y="2441448"/>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30</a:t>
            </a:r>
          </a:p>
        </p:txBody>
      </p:sp>
      <p:sp>
        <p:nvSpPr>
          <p:cNvPr id="44" name="Rectangle 43"/>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582912" y="2441448"/>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24</a:t>
            </a:r>
          </a:p>
        </p:txBody>
      </p:sp>
      <p:sp>
        <p:nvSpPr>
          <p:cNvPr id="46" name="Rectangle 45"/>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94359" y="2834639"/>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ROSMAP</a:t>
            </a:r>
          </a:p>
        </p:txBody>
      </p:sp>
      <p:sp>
        <p:nvSpPr>
          <p:cNvPr id="48" name="Rectangle 47"/>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691640" y="2834639"/>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10</a:t>
            </a:r>
          </a:p>
        </p:txBody>
      </p:sp>
      <p:sp>
        <p:nvSpPr>
          <p:cNvPr id="50" name="Rectangle 49"/>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017520" y="2834639"/>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42</a:t>
            </a:r>
          </a:p>
        </p:txBody>
      </p:sp>
      <p:sp>
        <p:nvSpPr>
          <p:cNvPr id="52" name="Rectangle 5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800600" y="2834639"/>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1</a:t>
            </a:r>
          </a:p>
        </p:txBody>
      </p:sp>
      <p:sp>
        <p:nvSpPr>
          <p:cNvPr id="54" name="Rectangle 53"/>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537959" y="2834639"/>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1</a:t>
            </a:r>
          </a:p>
        </p:txBody>
      </p:sp>
      <p:sp>
        <p:nvSpPr>
          <p:cNvPr id="56" name="Rectangle 55"/>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589520" y="2834639"/>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26</a:t>
            </a:r>
          </a:p>
        </p:txBody>
      </p:sp>
      <p:sp>
        <p:nvSpPr>
          <p:cNvPr id="58" name="Rectangle 57"/>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582912" y="2834639"/>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20</a:t>
            </a:r>
          </a:p>
        </p:txBody>
      </p:sp>
      <p:sp>
        <p:nvSpPr>
          <p:cNvPr id="60" name="Rectangle 59"/>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94359" y="3227832"/>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ROSMAP</a:t>
            </a:r>
          </a:p>
        </p:txBody>
      </p:sp>
      <p:sp>
        <p:nvSpPr>
          <p:cNvPr id="62" name="Rectangle 6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691640" y="3227832"/>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20</a:t>
            </a:r>
          </a:p>
        </p:txBody>
      </p:sp>
      <p:sp>
        <p:nvSpPr>
          <p:cNvPr id="64" name="Rectangle 63"/>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017520" y="3227832"/>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42</a:t>
            </a:r>
          </a:p>
        </p:txBody>
      </p:sp>
      <p:sp>
        <p:nvSpPr>
          <p:cNvPr id="66" name="Rectangle 65"/>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800600" y="3227832"/>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1</a:t>
            </a:r>
          </a:p>
        </p:txBody>
      </p:sp>
      <p:sp>
        <p:nvSpPr>
          <p:cNvPr id="68" name="Rectangle 67"/>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537959" y="3227832"/>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1</a:t>
            </a:r>
          </a:p>
        </p:txBody>
      </p:sp>
      <p:sp>
        <p:nvSpPr>
          <p:cNvPr id="70" name="Rectangle 69"/>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589520" y="3227832"/>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26</a:t>
            </a:r>
          </a:p>
        </p:txBody>
      </p:sp>
      <p:sp>
        <p:nvSpPr>
          <p:cNvPr id="72" name="Rectangle 7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582912" y="3227832"/>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20</a:t>
            </a:r>
          </a:p>
        </p:txBody>
      </p:sp>
      <p:sp>
        <p:nvSpPr>
          <p:cNvPr id="74" name="Rectangle 73"/>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94359" y="3621024"/>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ROSMAP</a:t>
            </a:r>
          </a:p>
        </p:txBody>
      </p:sp>
      <p:sp>
        <p:nvSpPr>
          <p:cNvPr id="76" name="Rectangle 75"/>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1691640" y="3621024"/>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30</a:t>
            </a:r>
          </a:p>
        </p:txBody>
      </p:sp>
      <p:sp>
        <p:nvSpPr>
          <p:cNvPr id="78" name="Rectangle 77"/>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3017520" y="3621024"/>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42</a:t>
            </a:r>
          </a:p>
        </p:txBody>
      </p:sp>
      <p:sp>
        <p:nvSpPr>
          <p:cNvPr id="80" name="Rectangle 79"/>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4800600" y="3621024"/>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1</a:t>
            </a:r>
          </a:p>
        </p:txBody>
      </p:sp>
      <p:sp>
        <p:nvSpPr>
          <p:cNvPr id="82" name="Rectangle 8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6537959" y="3621024"/>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1</a:t>
            </a:r>
          </a:p>
        </p:txBody>
      </p:sp>
      <p:sp>
        <p:nvSpPr>
          <p:cNvPr id="84" name="Rectangle 83"/>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7589520" y="3621024"/>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26</a:t>
            </a:r>
          </a:p>
        </p:txBody>
      </p:sp>
      <p:sp>
        <p:nvSpPr>
          <p:cNvPr id="86" name="Rectangle 85"/>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9582912" y="3621024"/>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20</a:t>
            </a:r>
          </a:p>
        </p:txBody>
      </p:sp>
      <p:sp>
        <p:nvSpPr>
          <p:cNvPr id="88" name="Rectangle 87"/>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594359" y="4014215"/>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SEA-AD</a:t>
            </a:r>
          </a:p>
        </p:txBody>
      </p:sp>
      <p:sp>
        <p:nvSpPr>
          <p:cNvPr id="90" name="Rectangle 89"/>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1691640" y="4014215"/>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92" name="Rectangle 9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3017520" y="4014215"/>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28</a:t>
            </a:r>
          </a:p>
        </p:txBody>
      </p:sp>
      <p:sp>
        <p:nvSpPr>
          <p:cNvPr id="94" name="Rectangle 93"/>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4800600" y="4014215"/>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5</a:t>
            </a:r>
          </a:p>
        </p:txBody>
      </p:sp>
      <p:sp>
        <p:nvSpPr>
          <p:cNvPr id="96" name="Rectangle 95"/>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6537959" y="4014215"/>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5</a:t>
            </a:r>
          </a:p>
        </p:txBody>
      </p:sp>
      <p:sp>
        <p:nvSpPr>
          <p:cNvPr id="98" name="Rectangle 97"/>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7589520" y="4014215"/>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24</a:t>
            </a:r>
          </a:p>
        </p:txBody>
      </p:sp>
      <p:sp>
        <p:nvSpPr>
          <p:cNvPr id="100" name="Rectangle 99"/>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9582912" y="4014215"/>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18</a:t>
            </a:r>
          </a:p>
        </p:txBody>
      </p:sp>
      <p:sp>
        <p:nvSpPr>
          <p:cNvPr id="102" name="Rectangle 10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594359" y="4407407"/>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SEA-AD</a:t>
            </a:r>
          </a:p>
        </p:txBody>
      </p:sp>
      <p:sp>
        <p:nvSpPr>
          <p:cNvPr id="104" name="Rectangle 103"/>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1691640" y="4407407"/>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5</a:t>
            </a:r>
          </a:p>
        </p:txBody>
      </p:sp>
      <p:sp>
        <p:nvSpPr>
          <p:cNvPr id="106" name="Rectangle 105"/>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3017520" y="4407407"/>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28</a:t>
            </a:r>
          </a:p>
        </p:txBody>
      </p:sp>
      <p:sp>
        <p:nvSpPr>
          <p:cNvPr id="108" name="Rectangle 107"/>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4800600" y="4407407"/>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5</a:t>
            </a:r>
          </a:p>
        </p:txBody>
      </p:sp>
      <p:sp>
        <p:nvSpPr>
          <p:cNvPr id="110" name="Rectangle 109"/>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6537959" y="4407407"/>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5</a:t>
            </a:r>
          </a:p>
        </p:txBody>
      </p:sp>
      <p:sp>
        <p:nvSpPr>
          <p:cNvPr id="112" name="Rectangle 11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7589520" y="4407407"/>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24</a:t>
            </a:r>
          </a:p>
        </p:txBody>
      </p:sp>
      <p:sp>
        <p:nvSpPr>
          <p:cNvPr id="114" name="Rectangle 113"/>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9582912" y="4407407"/>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18</a:t>
            </a:r>
          </a:p>
        </p:txBody>
      </p:sp>
      <p:sp>
        <p:nvSpPr>
          <p:cNvPr id="116" name="Rectangle 115"/>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594359" y="4800599"/>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SEA-AD</a:t>
            </a:r>
          </a:p>
        </p:txBody>
      </p:sp>
      <p:sp>
        <p:nvSpPr>
          <p:cNvPr id="118" name="Rectangle 117"/>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1691640" y="4800599"/>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10</a:t>
            </a:r>
          </a:p>
        </p:txBody>
      </p:sp>
      <p:sp>
        <p:nvSpPr>
          <p:cNvPr id="120" name="Rectangle 119"/>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3017520" y="4800599"/>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28</a:t>
            </a:r>
          </a:p>
        </p:txBody>
      </p:sp>
      <p:sp>
        <p:nvSpPr>
          <p:cNvPr id="122" name="Rectangle 12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4800600" y="4800599"/>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124" name="Rectangle 123"/>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6537959" y="4800599"/>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126" name="Rectangle 125"/>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7589520" y="4800599"/>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8</a:t>
            </a:r>
          </a:p>
        </p:txBody>
      </p:sp>
      <p:sp>
        <p:nvSpPr>
          <p:cNvPr id="128" name="Rectangle 127"/>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128"/>
          <p:cNvSpPr txBox="1"/>
          <p:nvPr/>
        </p:nvSpPr>
        <p:spPr>
          <a:xfrm>
            <a:off x="9582912" y="4800599"/>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130" name="Rectangle 129"/>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30"/>
          <p:cNvSpPr txBox="1"/>
          <p:nvPr/>
        </p:nvSpPr>
        <p:spPr>
          <a:xfrm>
            <a:off x="594359" y="5193792"/>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SEA-AD</a:t>
            </a:r>
          </a:p>
        </p:txBody>
      </p:sp>
      <p:sp>
        <p:nvSpPr>
          <p:cNvPr id="132" name="Rectangle 13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1691640" y="5193792"/>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20</a:t>
            </a:r>
          </a:p>
        </p:txBody>
      </p:sp>
      <p:sp>
        <p:nvSpPr>
          <p:cNvPr id="134" name="Rectangle 133"/>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3017520" y="5193792"/>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28</a:t>
            </a:r>
          </a:p>
        </p:txBody>
      </p:sp>
      <p:sp>
        <p:nvSpPr>
          <p:cNvPr id="136" name="Rectangle 135"/>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4800600" y="5193792"/>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138" name="Rectangle 137"/>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138"/>
          <p:cNvSpPr txBox="1"/>
          <p:nvPr/>
        </p:nvSpPr>
        <p:spPr>
          <a:xfrm>
            <a:off x="6537959" y="5193792"/>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140" name="Rectangle 139"/>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TextBox 140"/>
          <p:cNvSpPr txBox="1"/>
          <p:nvPr/>
        </p:nvSpPr>
        <p:spPr>
          <a:xfrm>
            <a:off x="7589520" y="5193792"/>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8</a:t>
            </a:r>
          </a:p>
        </p:txBody>
      </p:sp>
      <p:sp>
        <p:nvSpPr>
          <p:cNvPr id="142" name="Rectangle 14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TextBox 142"/>
          <p:cNvSpPr txBox="1"/>
          <p:nvPr/>
        </p:nvSpPr>
        <p:spPr>
          <a:xfrm>
            <a:off x="9582912" y="5193792"/>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144" name="Rectangle 143"/>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TextBox 144"/>
          <p:cNvSpPr txBox="1"/>
          <p:nvPr/>
        </p:nvSpPr>
        <p:spPr>
          <a:xfrm>
            <a:off x="594359" y="5586984"/>
            <a:ext cx="9875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SEA-AD</a:t>
            </a:r>
          </a:p>
        </p:txBody>
      </p:sp>
      <p:sp>
        <p:nvSpPr>
          <p:cNvPr id="146" name="Rectangle 145"/>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1691640" y="5586984"/>
            <a:ext cx="12161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30</a:t>
            </a:r>
          </a:p>
        </p:txBody>
      </p:sp>
      <p:sp>
        <p:nvSpPr>
          <p:cNvPr id="148" name="Rectangle 147"/>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p:cNvSpPr txBox="1"/>
          <p:nvPr/>
        </p:nvSpPr>
        <p:spPr>
          <a:xfrm>
            <a:off x="3017520" y="5586984"/>
            <a:ext cx="1673352"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28</a:t>
            </a:r>
          </a:p>
        </p:txBody>
      </p:sp>
      <p:sp>
        <p:nvSpPr>
          <p:cNvPr id="150" name="Rectangle 149"/>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4800600" y="5586984"/>
            <a:ext cx="16276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a:t>
            </a:r>
          </a:p>
        </p:txBody>
      </p:sp>
      <p:sp>
        <p:nvSpPr>
          <p:cNvPr id="152" name="Rectangle 15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152"/>
          <p:cNvSpPr txBox="1"/>
          <p:nvPr/>
        </p:nvSpPr>
        <p:spPr>
          <a:xfrm>
            <a:off x="6537959" y="5586984"/>
            <a:ext cx="941831"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2</a:t>
            </a:r>
          </a:p>
        </p:txBody>
      </p:sp>
      <p:sp>
        <p:nvSpPr>
          <p:cNvPr id="154" name="Rectangle 153"/>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154"/>
          <p:cNvSpPr txBox="1"/>
          <p:nvPr/>
        </p:nvSpPr>
        <p:spPr>
          <a:xfrm>
            <a:off x="7589520" y="5586984"/>
            <a:ext cx="1883664"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7</a:t>
            </a:r>
          </a:p>
        </p:txBody>
      </p:sp>
      <p:sp>
        <p:nvSpPr>
          <p:cNvPr id="156" name="Rectangle 155"/>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TextBox 156"/>
          <p:cNvSpPr txBox="1"/>
          <p:nvPr/>
        </p:nvSpPr>
        <p:spPr>
          <a:xfrm>
            <a:off x="9582912" y="5586984"/>
            <a:ext cx="2011679" cy="3200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158" name="TextBox 157"/>
          <p:cNvSpPr txBox="1"/>
          <p:nvPr/>
        </p:nvSpPr>
        <p:spPr>
          <a:xfrm>
            <a:off x="640080" y="6089904"/>
            <a:ext cx="10927080" cy="23774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40" b="1" i="0">
                <a:solidFill>
                  <a:srgbClr val="4E5A68"/>
                </a:solidFill>
                <a:latin typeface="Arial"/>
              </a:rPr>
              <a:t>One query is used per contrast, so query-passing contrasts and KDA runs are identical here.</a:t>
            </a:r>
          </a:p>
        </p:txBody>
      </p:sp>
      <p:sp>
        <p:nvSpPr>
          <p:cNvPr id="159" name="TextBox 158"/>
          <p:cNvSpPr txBox="1"/>
          <p:nvPr/>
        </p:nvSpPr>
        <p:spPr>
          <a:xfrm>
            <a:off x="658368" y="6473952"/>
            <a:ext cx="10881360" cy="14630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670" b="0" i="0">
                <a:solidFill>
                  <a:srgbClr val="6C7988"/>
                </a:solidFill>
                <a:latin typeface="Arial"/>
              </a:rPr>
              <a:t>Source: validated Phase 22 and VH14 run manifests and significant-return tables (2026-09-11).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Query-size sensitivity — cohort effects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Only seven current KDA calls determine the entire threshold response.</a:t>
            </a:r>
          </a:p>
        </p:txBody>
      </p:sp>
      <p:sp>
        <p:nvSpPr>
          <p:cNvPr id="4" name="Rounded Rectangle 3"/>
          <p:cNvSpPr/>
          <p:nvPr/>
        </p:nvSpPr>
        <p:spPr>
          <a:xfrm>
            <a:off x="502920" y="1307592"/>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04672" y="160020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50976" y="1572768"/>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ROSMAP</a:t>
            </a:r>
          </a:p>
        </p:txBody>
      </p:sp>
      <p:sp>
        <p:nvSpPr>
          <p:cNvPr id="7" name="Oval 6"/>
          <p:cNvSpPr/>
          <p:nvPr/>
        </p:nvSpPr>
        <p:spPr>
          <a:xfrm>
            <a:off x="822960" y="2276856"/>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96696" y="21488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0" i="0">
                <a:solidFill>
                  <a:srgbClr val="1F2730"/>
                </a:solidFill>
                <a:latin typeface="Arial"/>
              </a:rPr>
              <a:t>Current executed query sizes: 3, 8, and 78 genes.</a:t>
            </a:r>
          </a:p>
        </p:txBody>
      </p:sp>
      <p:sp>
        <p:nvSpPr>
          <p:cNvPr id="9" name="Oval 8"/>
          <p:cNvSpPr/>
          <p:nvPr/>
        </p:nvSpPr>
        <p:spPr>
          <a:xfrm>
            <a:off x="822960" y="2962656"/>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96696" y="28346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0" i="0">
                <a:solidFill>
                  <a:srgbClr val="1F2730"/>
                </a:solidFill>
                <a:latin typeface="Arial"/>
              </a:rPr>
              <a:t>Minimum 5 removes OPCs × F_e4: 9 driver rows.</a:t>
            </a:r>
          </a:p>
        </p:txBody>
      </p:sp>
      <p:sp>
        <p:nvSpPr>
          <p:cNvPr id="11" name="Oval 10"/>
          <p:cNvSpPr/>
          <p:nvPr/>
        </p:nvSpPr>
        <p:spPr>
          <a:xfrm>
            <a:off x="822960" y="3648456"/>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96696" y="35204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0" i="0">
                <a:solidFill>
                  <a:srgbClr val="1F2730"/>
                </a:solidFill>
                <a:latin typeface="Arial"/>
              </a:rPr>
              <a:t>Minimum 10 also removes Astrocytes × F_e4: 4 more rows; thresholds 20 and 30 make no further change.</a:t>
            </a:r>
          </a:p>
        </p:txBody>
      </p:sp>
      <p:sp>
        <p:nvSpPr>
          <p:cNvPr id="13" name="Oval 12"/>
          <p:cNvSpPr/>
          <p:nvPr/>
        </p:nvSpPr>
        <p:spPr>
          <a:xfrm>
            <a:off x="822960" y="4334255"/>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96696" y="42062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0" i="0">
                <a:solidFill>
                  <a:srgbClr val="1F2730"/>
                </a:solidFill>
                <a:latin typeface="Arial"/>
              </a:rPr>
              <a:t>At ≥10, only the low-support Vasculature × M_e2 call remains: 26 rows and 20 unique non-MT drivers.</a:t>
            </a:r>
          </a:p>
        </p:txBody>
      </p:sp>
      <p:sp>
        <p:nvSpPr>
          <p:cNvPr id="15" name="Rounded Rectangle 14"/>
          <p:cNvSpPr/>
          <p:nvPr/>
        </p:nvSpPr>
        <p:spPr>
          <a:xfrm>
            <a:off x="822960" y="5102352"/>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87552" y="5230368"/>
            <a:ext cx="4498848" cy="2286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90" b="1" i="0">
                <a:solidFill>
                  <a:srgbClr val="9E3A00"/>
                </a:solidFill>
                <a:latin typeface="Arial"/>
              </a:rPr>
              <a:t>A higher query floor increases domination by the low-donor vasculature result.</a:t>
            </a:r>
          </a:p>
        </p:txBody>
      </p:sp>
      <p:sp>
        <p:nvSpPr>
          <p:cNvPr id="17" name="Rounded Rectangle 16"/>
          <p:cNvSpPr/>
          <p:nvPr/>
        </p:nvSpPr>
        <p:spPr>
          <a:xfrm>
            <a:off x="6236208" y="1307592"/>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537960" y="1600200"/>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84264" y="1572768"/>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SEA-AD</a:t>
            </a:r>
          </a:p>
        </p:txBody>
      </p:sp>
      <p:sp>
        <p:nvSpPr>
          <p:cNvPr id="20" name="Oval 19"/>
          <p:cNvSpPr/>
          <p:nvPr/>
        </p:nvSpPr>
        <p:spPr>
          <a:xfrm>
            <a:off x="6556248" y="227685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29984" y="21488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0" i="0">
                <a:solidFill>
                  <a:srgbClr val="1F2730"/>
                </a:solidFill>
                <a:latin typeface="Arial"/>
              </a:rPr>
              <a:t>Current executed query sizes: 5, 9, 21, 43, and 45 genes.</a:t>
            </a:r>
          </a:p>
        </p:txBody>
      </p:sp>
      <p:sp>
        <p:nvSpPr>
          <p:cNvPr id="22" name="Oval 21"/>
          <p:cNvSpPr/>
          <p:nvPr/>
        </p:nvSpPr>
        <p:spPr>
          <a:xfrm>
            <a:off x="6556248" y="296265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29984" y="28346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0" i="0">
                <a:solidFill>
                  <a:srgbClr val="1F2730"/>
                </a:solidFill>
                <a:latin typeface="Arial"/>
              </a:rPr>
              <a:t>Minimum 5 changes nothing.</a:t>
            </a:r>
          </a:p>
        </p:txBody>
      </p:sp>
      <p:sp>
        <p:nvSpPr>
          <p:cNvPr id="24" name="Oval 23"/>
          <p:cNvSpPr/>
          <p:nvPr/>
        </p:nvSpPr>
        <p:spPr>
          <a:xfrm>
            <a:off x="6556248" y="364845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729984" y="35204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0" i="0">
                <a:solidFill>
                  <a:srgbClr val="1F2730"/>
                </a:solidFill>
                <a:latin typeface="Arial"/>
              </a:rPr>
              <a:t>Minimum 10 removes Microglia × M_e33 and Astrocytes × F_e4: 24 → 8 rows and 18 → 3 unique non-MT drivers.</a:t>
            </a:r>
          </a:p>
        </p:txBody>
      </p:sp>
      <p:sp>
        <p:nvSpPr>
          <p:cNvPr id="26" name="Oval 25"/>
          <p:cNvSpPr/>
          <p:nvPr/>
        </p:nvSpPr>
        <p:spPr>
          <a:xfrm>
            <a:off x="6556248" y="433425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29984" y="4206240"/>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0" i="0">
                <a:solidFill>
                  <a:srgbClr val="1F2730"/>
                </a:solidFill>
                <a:latin typeface="Arial"/>
              </a:rPr>
              <a:t>Minimum 20 changes nothing further; minimum 30 removes Oligodendrocytes × M_e33, whose sole return is MT-*.</a:t>
            </a:r>
          </a:p>
        </p:txBody>
      </p:sp>
      <p:sp>
        <p:nvSpPr>
          <p:cNvPr id="28" name="Rounded Rectangle 27"/>
          <p:cNvSpPr/>
          <p:nvPr/>
        </p:nvSpPr>
        <p:spPr>
          <a:xfrm>
            <a:off x="6556248" y="5102352"/>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720840" y="5230368"/>
            <a:ext cx="4498848" cy="2286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90" b="1" i="0">
                <a:solidFill>
                  <a:srgbClr val="00684D"/>
                </a:solidFill>
                <a:latin typeface="Arial"/>
              </a:rPr>
              <a:t>The non-MT driver count reaches 3 at minimum 10 and stays there through 30.</a:t>
            </a:r>
          </a:p>
        </p:txBody>
      </p:sp>
      <p:sp>
        <p:nvSpPr>
          <p:cNvPr id="30" name="TextBox 29"/>
          <p:cNvSpPr txBox="1"/>
          <p:nvPr/>
        </p:nvSpPr>
        <p:spPr>
          <a:xfrm>
            <a:off x="658368" y="6473952"/>
            <a:ext cx="10881360" cy="14630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670" b="0" i="0">
                <a:solidFill>
                  <a:srgbClr val="6C7988"/>
                </a:solidFill>
                <a:latin typeface="Arial"/>
              </a:rPr>
              <a:t>Source: validated Phase 22 and VH14 run manifests and significant-return tables (2026-09-11).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Query-size sensitivity — validation interpretation</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The query floor changes assessability, but it does not create cross-cohort driver validation.</a:t>
            </a:r>
          </a:p>
        </p:txBody>
      </p:sp>
      <p:sp>
        <p:nvSpPr>
          <p:cNvPr id="4" name="Rounded Rectangle 3"/>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72B2"/>
                </a:solidFill>
                <a:latin typeface="Arial"/>
              </a:rPr>
              <a:t>VALIDATION CONSEQUENCES</a:t>
            </a:r>
          </a:p>
        </p:txBody>
      </p:sp>
      <p:sp>
        <p:nvSpPr>
          <p:cNvPr id="6" name="Oval 5"/>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Cross-cohort non-MT driver overlap remains zero at every tested threshold.</a:t>
            </a:r>
          </a:p>
        </p:txBody>
      </p:sp>
      <p:sp>
        <p:nvSpPr>
          <p:cNvPr id="8" name="Oval 7"/>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At minimum 3 or 5, Astrocytes × F_e4 remains the only exact shared executed stratum, with no shared drivers.</a:t>
            </a:r>
          </a:p>
        </p:txBody>
      </p:sp>
      <p:sp>
        <p:nvSpPr>
          <p:cNvPr id="10" name="Oval 9"/>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At minimum 10, 20, or 30, no exact stratum is executed in both cohorts; validation is unavailable rather than negative.</a:t>
            </a:r>
          </a:p>
        </p:txBody>
      </p:sp>
      <p:sp>
        <p:nvSpPr>
          <p:cNvPr id="12" name="Oval 1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0" i="0">
                <a:solidFill>
                  <a:srgbClr val="1F2730"/>
                </a:solidFill>
                <a:latin typeface="Arial"/>
              </a:rPr>
              <a:t>Thresholds ≥10 reduce validation assessability and make ROSMAP increasingly dominated by the low-support Vasculature × M_e2 call.</a:t>
            </a:r>
          </a:p>
        </p:txBody>
      </p:sp>
      <p:sp>
        <p:nvSpPr>
          <p:cNvPr id="14" name="Rounded Rectangle 13"/>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500" b="1" i="0">
                <a:solidFill>
                  <a:srgbClr val="895600"/>
                </a:solidFill>
                <a:latin typeface="Arial"/>
              </a:rPr>
              <a:t>Least disruptive sensitivity reference: minimum 5 effective query genes</a:t>
            </a:r>
          </a:p>
        </p:txBody>
      </p:sp>
      <p:sp>
        <p:nvSpPr>
          <p:cNvPr id="16" name="TextBox 15"/>
          <p:cNvSpPr txBox="1"/>
          <p:nvPr/>
        </p:nvSpPr>
        <p:spPr>
          <a:xfrm>
            <a:off x="914400" y="5632704"/>
            <a:ext cx="10369296" cy="1828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40" b="0" i="0">
                <a:solidFill>
                  <a:srgbClr val="895600"/>
                </a:solidFill>
                <a:latin typeface="Arial"/>
              </a:rPr>
              <a:t>It removes the smallest ROSMAP query while preserving every SEA-AD run and the only matched cross-cohort stratum.</a:t>
            </a:r>
          </a:p>
        </p:txBody>
      </p:sp>
      <p:sp>
        <p:nvSpPr>
          <p:cNvPr id="17" name="TextBox 16"/>
          <p:cNvSpPr txBox="1"/>
          <p:nvPr/>
        </p:nvSpPr>
        <p:spPr>
          <a:xfrm>
            <a:off x="658368" y="6473952"/>
            <a:ext cx="10881360" cy="14630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670" b="0" i="0">
                <a:solidFill>
                  <a:srgbClr val="6C7988"/>
                </a:solidFill>
                <a:latin typeface="Arial"/>
              </a:rPr>
              <a:t>Source: validated Phase 22 and VH14 run manifests and significant-return tables (2026-09-11).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230</TotalTime>
  <Words>5844</Words>
  <Application>Microsoft Macintosh PowerPoint</Application>
  <PresentationFormat>Widescreen</PresentationFormat>
  <Paragraphs>848</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ROSMAP and SEA-AD sex/APOE key-driver analysis — VH12 network rerun</dc:title>
  <dc:subject>VH12 SEA-AD-specific Bayesian-network KDA rerun</dc:subject>
  <dc:creator>Alzheimer project analysis team</dc:creator>
  <cp:keywords>Alzheimer disease, sex, APOE, key-driver analysis, KDA, ACAT, mitochondrial genes</cp:keywords>
  <dc:description>Built from validated VH12 outputs on 2026-09-10 for the 2026-09-16 presentation. Appended Part 4 sensitivity-analysis section, donor-threshold comparison table, and key findings on 2026-09-11. Query-size sensitivity added 2026-09-11.</dc:description>
  <cp:lastModifiedBy>Richard Zhuang</cp:lastModifiedBy>
  <cp:revision>26</cp:revision>
  <dcterms:created xsi:type="dcterms:W3CDTF">2026-08-29T13:27:12Z</dcterms:created>
  <dcterms:modified xsi:type="dcterms:W3CDTF">2026-09-12T19:45:28Z</dcterms:modified>
  <cp:category>Scientific presentation</cp:category>
  <dc:language>en-US</dc:language>
</cp:coreProperties>
</file>