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7" r:id="rId62"/>
    <p:sldId id="318" r:id="rId63"/>
    <p:sldId id="319" r:id="rId64"/>
    <p:sldId id="320" r:id="rId65"/>
    <p:sldId id="321" r:id="rId66"/>
    <p:sldId id="322" r:id="rId67"/>
    <p:sldId id="324" r:id="rId69"/>
    <p:sldId id="325" r:id="rId70"/>
    <p:sldId id="326" r:id="rId71"/>
    <p:sldId id="327" r:id="rId72"/>
    <p:sldId id="328" r:id="rId73"/>
    <p:sldId id="329" r:id="rId74"/>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04" r:id="rId149"/>
    <p:sldId id="405" r:id="rId150"/>
    <p:sldId id="406" r:id="rId151"/>
    <p:sldId id="407" r:id="rId152"/>
    <p:sldId id="408" r:id="rId153"/>
    <p:sldId id="409" r:id="rId154"/>
    <p:sldId id="410" r:id="rId155"/>
    <p:sldId id="411" r:id="rId156"/>
    <p:sldId id="412" r:id="rId157"/>
    <p:sldId id="413" r:id="rId158"/>
    <p:sldId id="414" r:id="rId159"/>
    <p:sldId id="415" r:id="rId1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94671"/>
  </p:normalViewPr>
  <p:slideViewPr>
    <p:cSldViewPr snapToGrid="0" snapToObjects="1">
      <p:cViewPr varScale="1">
        <p:scale>
          <a:sx n="116" d="100"/>
          <a:sy n="116" d="100"/>
        </p:scale>
        <p:origin x="22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moves from DEG and pathway framing to KDA, sensitivity analyses, and 17 biological findings.</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the DEG analysis and define the comparison unit.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by defining a contrast, the unit used for each AD-versus-comparison DEG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significant key-driver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summarize all significant DEG results across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Next, explain how each fine-cell DEG list was tested against these pathway definitions.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significant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significant DEG in one fine-cell comparison. If the same gene is significant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3,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3 follows mitochondrial DEGs from one fine-cell contrast into one network query, identifies significant returned key drivers, and then aggregates repeated fine-cell evidence within sex/APOE by broad-cell categories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Before walking through KDA, define the category used to summarize fine-cell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categories defined, follow one contrast from DEG analysis to its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Its gene returned from a KDA call rows fall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generated 26 gene rows returned from KDA calls.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5, the biological findings and discussion.</a:t>
            </a:r>
          </a:p>
          <a:p>
            <a:endParaRPr/>
          </a:p>
          <a:p>
            <a:r>
              <a:t>Walk through: Part 5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 genes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ROSMAP DEG-occurrence pattern for Finding 3.</a:t>
            </a:r>
          </a:p>
          <a:p xmlns:a="http://schemas.openxmlformats.org/drawingml/2006/main">
            <a:r>
              <a:t/>
            </a:r>
            <a:endParaRPr/>
          </a:p>
          <a:p xmlns:a="http://schemas.openxmlformats.org/drawingml/2006/main">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xmlns:a="http://schemas.openxmlformats.org/drawingml/2006/main">
            <a:r>
              <a:t/>
            </a:r>
            <a:endParaRPr/>
          </a:p>
          <a:p xmlns:a="http://schemas.openxmlformats.org/drawingml/2006/main">
            <a:r>
              <a:t>Scientific boundary: The numbers 128 and 243 are gene-by-comparison occurrences, not counts of unique genes, cells, donors, or genes returned from KDA calls. The percentages do not measure expression magnitude, OXPHOS protein abundance, respiration, or ATP production.</a:t>
            </a:r>
          </a:p>
          <a:p xmlns:a="http://schemas.openxmlformats.org/drawingml/2006/main">
            <a:r>
              <a:t/>
            </a:r>
            <a:endParaRPr/>
          </a:p>
          <a:p xmlns:a="http://schemas.openxmlformats.org/drawingml/2006/main">
            <a:r>
              <a:t>Transition: Compare this primary fine-cell DEG pattern with the direct broad-cell ROSMAP result and the available SEA-AD coverage.</a:t>
            </a:r>
          </a:p>
          <a:p xmlns:a="http://schemas.openxmlformats.org/drawingml/2006/main">
            <a:r>
              <a:t/>
            </a:r>
            <a:endParaRPr/>
          </a:p>
          <a:p xmlns:a="http://schemas.openxmlformats.org/drawingml/2006/main">
            <a:r>
              <a:t>Sources: docs/analysis/kda_w_human_validation/rosmap_sex_apoe_broad_kda_analysis.md, Finding 3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4 as a female APOE ε4 DEG-direction result.</a:t>
            </a:r>
          </a:p>
          <a:p xmlns:a="http://schemas.openxmlformats.org/drawingml/2006/main">
            <a:r>
              <a:t/>
            </a:r>
            <a:endParaRPr/>
          </a:p>
          <a:p xmlns:a="http://schemas.openxmlformats.org/drawingml/2006/main">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xmlns:a="http://schemas.openxmlformats.org/drawingml/2006/main">
            <a:r>
              <a:t/>
            </a:r>
            <a:endParaRPr/>
          </a:p>
          <a:p xmlns:a="http://schemas.openxmlformats.org/drawingml/2006/main">
            <a:r>
              <a:t>Scientific boundary: This finding describes differential gene expression. It does not directly measure respiratory-complex proteins, oxygen consumption, ATP production, or a causal sex-by-APOE interaction.</a:t>
            </a:r>
          </a:p>
          <a:p xmlns:a="http://schemas.openxmlformats.org/drawingml/2006/main">
            <a:r>
              <a:t/>
            </a:r>
            <a:endParaRPr/>
          </a:p>
          <a:p xmlns:a="http://schemas.openxmlformats.org/drawingml/2006/main">
            <a:r>
              <a:t>Transition: State the two OXPHOS gene-set directions in plain language.</a:t>
            </a:r>
          </a:p>
          <a:p xmlns:a="http://schemas.openxmlformats.org/drawingml/2006/main">
            <a:r>
              <a:t/>
            </a:r>
            <a:endParaRP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female APOE ε4 pattern before showing the counts.</a:t>
            </a:r>
          </a:p>
          <a:p xmlns:a="http://schemas.openxmlformats.org/drawingml/2006/main">
            <a:r>
              <a:t/>
            </a:r>
            <a:endParaRPr/>
          </a:p>
          <a:p xmlns:a="http://schemas.openxmlformats.org/drawingml/2006/main">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xmlns:a="http://schemas.openxmlformats.org/drawingml/2006/main">
            <a:r>
              <a:t/>
            </a:r>
            <a:endParaRPr/>
          </a:p>
          <a:p xmlns:a="http://schemas.openxmlformats.org/drawingml/2006/main">
            <a:r>
              <a:t>Scientific boundary: An occurrence is one gene observed as a DEG in one fine-cell comparison. Repeated occurrences are not independent donors or unique genes, and the direct broad-cell result points in the opposite direction.</a:t>
            </a:r>
          </a:p>
          <a:p xmlns:a="http://schemas.openxmlformats.org/drawingml/2006/main">
            <a:r>
              <a:t/>
            </a:r>
            <a:endParaRPr/>
          </a:p>
          <a:p xmlns:a="http://schemas.openxmlformats.org/drawingml/2006/main">
            <a:r>
              <a:t>Transition: Show the exact occurrence counts and percentages.</a:t>
            </a:r>
          </a:p>
          <a:p xmlns:a="http://schemas.openxmlformats.org/drawingml/2006/main">
            <a:r>
              <a:t/>
            </a: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female APOE ε4 DEG directions without mixing them with pathway statistics.</a:t>
            </a:r>
          </a:p>
          <a:p xmlns:a="http://schemas.openxmlformats.org/drawingml/2006/main">
            <a:r>
              <a:t/>
            </a:r>
            <a:endParaRPr/>
          </a:p>
          <a:p xmlns:a="http://schemas.openxmlformats.org/drawingml/2006/main">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xmlns:a="http://schemas.openxmlformats.org/drawingml/2006/main">
            <a:r>
              <a:t/>
            </a:r>
            <a:endParaRPr/>
          </a:p>
          <a:p xmlns:a="http://schemas.openxmlformats.org/drawingml/2006/main">
            <a:r>
              <a:t>Scientific boundary: These are repeated gene-by-fine-cell DEG occurrences. They are not counts of unique genes, cells, donors, or genes returned from KDA calls, and they do not quantify the magnitude of expression change.</a:t>
            </a:r>
          </a:p>
          <a:p xmlns:a="http://schemas.openxmlformats.org/drawingml/2006/main">
            <a:r>
              <a:t/>
            </a:r>
            <a:endParaRPr/>
          </a:p>
          <a:p xmlns:a="http://schemas.openxmlformats.org/drawingml/2006/main">
            <a:r>
              <a:t>Transition: Check whether direct broad-cell analysis supports the same direction.</a:t>
            </a:r>
          </a:p>
          <a:p xmlns:a="http://schemas.openxmlformats.org/drawingml/2006/main">
            <a:r>
              <a:t/>
            </a: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that the female APOE ε4 result changes with cell-type resolution.</a:t>
            </a:r>
          </a:p>
          <a:p xmlns:a="http://schemas.openxmlformats.org/drawingml/2006/main">
            <a:r>
              <a:t/>
            </a:r>
            <a:endParaRPr/>
          </a:p>
          <a:p xmlns:a="http://schemas.openxmlformats.org/drawingml/2006/main">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xmlns:a="http://schemas.openxmlformats.org/drawingml/2006/main">
            <a:r>
              <a:t/>
            </a:r>
            <a:endParaRPr/>
          </a:p>
          <a:p xmlns:a="http://schemas.openxmlformats.org/drawingml/2006/main">
            <a:r>
              <a:t>Scientific boundary: The disagreement does not invalidate the fine-cell observation, but it prevents describing the decrease as a broad-cell-wide or cross-cohort effect. Aggregation, subtype composition, and limited matched coverage remain plausible explanations.</a:t>
            </a:r>
          </a:p>
          <a:p xmlns:a="http://schemas.openxmlformats.org/drawingml/2006/main">
            <a:r>
              <a:t/>
            </a:r>
            <a:endParaRPr/>
          </a:p>
          <a:p xmlns:a="http://schemas.openxmlformats.org/drawingml/2006/main">
            <a:r>
              <a:t>Transition: Explain the biological importance and the resolution warning together.</a:t>
            </a:r>
          </a:p>
          <a:p xmlns:a="http://schemas.openxmlformats.org/drawingml/2006/main">
            <a:r>
              <a:t/>
            </a:r>
          </a:p>
          <a:p xmlns:a="http://schemas.openxmlformats.org/drawingml/2006/main">
            <a:r>
              <a:t>Sources: docs/analysis/kda_w_human_validation/rosmap_sex_apoe_broad_kda_analysis.md, Finding 4 and validation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a nuclear-encoded OXPHOS decrease could matter biologically.</a:t>
            </a:r>
          </a:p>
          <a:p xmlns:a="http://schemas.openxmlformats.org/drawingml/2006/main">
            <a:r>
              <a:t/>
            </a:r>
            <a:endParaRPr/>
          </a:p>
          <a:p xmlns:a="http://schemas.openxmlformats.org/drawingml/2006/main">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xmlns:a="http://schemas.openxmlformats.org/drawingml/2006/main">
            <a:r>
              <a:t/>
            </a:r>
            <a:endParaRPr/>
          </a:p>
          <a:p xmlns:a="http://schemas.openxmlformats.org/drawingml/2006/main">
            <a:r>
              <a:t>Scientific boundary: Gene expression alone cannot establish lower respiratory capacity, and the broad-cell direction reverses. The most cautious interpretation is a fine-cell signal that warrants targeted follow-up.</a:t>
            </a:r>
          </a:p>
          <a:p xmlns:a="http://schemas.openxmlformats.org/drawingml/2006/main">
            <a:r>
              <a:t/>
            </a:r>
            <a:endParaRPr/>
          </a:p>
          <a:p xmlns:a="http://schemas.openxmlformats.org/drawingml/2006/main">
            <a:r>
              <a:t>Transition: Place the result in prior research and summarize its evidence level.</a:t>
            </a:r>
          </a:p>
          <a:p xmlns:a="http://schemas.openxmlformats.org/drawingml/2006/main">
            <a:r>
              <a:t/>
            </a: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4 in prior research without overstating replication.</a:t>
            </a:r>
          </a:p>
          <a:p xmlns:a="http://schemas.openxmlformats.org/drawingml/2006/main">
            <a:r>
              <a:t/>
            </a:r>
            <a:endParaRPr/>
          </a:p>
          <a:p xmlns:a="http://schemas.openxmlformats.org/drawingml/2006/main">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xmlns:a="http://schemas.openxmlformats.org/drawingml/2006/main">
            <a:r>
              <a:t/>
            </a:r>
            <a:endParaRPr/>
          </a:p>
          <a:p xmlns:a="http://schemas.openxmlformats.org/drawingml/2006/main">
            <a:r>
              <a:t>Scientific boundary: Biological plausibility, novelty, and replication are separate judgments. The current finding remains resolution-sensitive and needs independent confirmation.</a:t>
            </a:r>
          </a:p>
          <a:p xmlns:a="http://schemas.openxmlformats.org/drawingml/2006/main">
            <a:r>
              <a:t/>
            </a:r>
            <a:endParaRPr/>
          </a:p>
          <a:p xmlns:a="http://schemas.openxmlformats.org/drawingml/2006/main">
            <a:r>
              <a:t>Transition: Move to the coordinated downward pattern in male APOE ε2 cells.</a:t>
            </a:r>
          </a:p>
          <a:p xmlns:a="http://schemas.openxmlformats.org/drawingml/2006/main">
            <a:r>
              <a:t/>
            </a:r>
          </a:p>
          <a:p xmlns:a="http://schemas.openxmlformats.org/drawingml/2006/main">
            <a:r>
              <a:t>Sources: docs/analysis/kda_w_human_validation/rosmap_sex_apoe_broad_kda_analysis.md, Finding 4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5 as a coordinated male APOE ε2 DEG decrease.</a:t>
            </a:r>
          </a:p>
          <a:p xmlns:a="http://schemas.openxmlformats.org/drawingml/2006/main">
            <a:r>
              <a:t/>
            </a:r>
            <a:endParaRPr/>
          </a:p>
          <a:p xmlns:a="http://schemas.openxmlformats.org/drawingml/2006/main">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xmlns:a="http://schemas.openxmlformats.org/drawingml/2006/main">
            <a:r>
              <a:t/>
            </a:r>
            <a:endParaRPr/>
          </a:p>
          <a:p xmlns:a="http://schemas.openxmlformats.org/drawingml/2006/main">
            <a:r>
              <a:t>Scientific boundary: The result describes disease-associated gene expression in observed tissue. It does not imply that APOE ε2 causes the decrease or that lower expression explains APOE ε2 population-level protection.</a:t>
            </a:r>
          </a:p>
          <a:p xmlns:a="http://schemas.openxmlformats.org/drawingml/2006/main">
            <a:r>
              <a:t/>
            </a:r>
            <a:endParaRPr/>
          </a:p>
          <a:p xmlns:a="http://schemas.openxmlformats.org/drawingml/2006/main">
            <a:r>
              <a:t>Transition: State the coordinated direction and its contrast with male APOE ε3/ε3.</a:t>
            </a:r>
          </a:p>
          <a:p xmlns:a="http://schemas.openxmlformats.org/drawingml/2006/main">
            <a:r>
              <a:t/>
            </a: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coordinated male APOE ε2 decrease in plain language.</a:t>
            </a:r>
          </a:p>
          <a:p xmlns:a="http://schemas.openxmlformats.org/drawingml/2006/main">
            <a:r>
              <a:t/>
            </a:r>
            <a:endParaRPr/>
          </a:p>
          <a:p xmlns:a="http://schemas.openxmlformats.org/drawingml/2006/main">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xmlns:a="http://schemas.openxmlformats.org/drawingml/2006/main">
            <a:r>
              <a:t/>
            </a:r>
            <a:endParaRPr/>
          </a:p>
          <a:p xmlns:a="http://schemas.openxmlformats.org/drawingml/2006/main">
            <a:r>
              <a:t>Scientific boundary: APOE ε2 lowers average Alzheimer’s disease risk at the population level, but that does not predict every molecular state after disease develops. The observed expression pattern is descriptive rather than causal.</a:t>
            </a:r>
          </a:p>
          <a:p xmlns:a="http://schemas.openxmlformats.org/drawingml/2006/main">
            <a:r>
              <a:t/>
            </a:r>
            <a:endParaRPr/>
          </a:p>
          <a:p xmlns:a="http://schemas.openxmlformats.org/drawingml/2006/main">
            <a:r>
              <a:t>Transition: Show the exact DEG-occurrence percentages.</a:t>
            </a:r>
          </a:p>
          <a:p xmlns:a="http://schemas.openxmlformats.org/drawingml/2006/main">
            <a:r>
              <a:t/>
            </a: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male APOE ε2 DEG burden in both OXPHOS gene sets.</a:t>
            </a:r>
          </a:p>
          <a:p xmlns:a="http://schemas.openxmlformats.org/drawingml/2006/main">
            <a:r>
              <a:t/>
            </a:r>
            <a:endParaRPr/>
          </a:p>
          <a:p xmlns:a="http://schemas.openxmlformats.org/drawingml/2006/main">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xmlns:a="http://schemas.openxmlformats.org/drawingml/2006/main">
            <a:r>
              <a:t/>
            </a:r>
            <a:endParaRPr/>
          </a:p>
          <a:p xmlns:a="http://schemas.openxmlformats.org/drawingml/2006/main">
            <a:r>
              <a:t>Scientific boundary: The 523 value combines repeated gene-by-fine-cell occurrences from two defined gene sets. It is not a count of unique genes, donors, cells, or genes returned from KDA calls, and it does not measure expression magnitude or mitochondrial function.</a:t>
            </a:r>
          </a:p>
          <a:p xmlns:a="http://schemas.openxmlformats.org/drawingml/2006/main">
            <a:r>
              <a:t/>
            </a:r>
            <a:endParaRPr/>
          </a:p>
          <a:p xmlns:a="http://schemas.openxmlformats.org/drawingml/2006/main">
            <a:r>
              <a:t>Transition: Explain why the male APOE ε2 DEG sets are unusually large.</a:t>
            </a:r>
          </a:p>
          <a:p xmlns:a="http://schemas.openxmlformats.org/drawingml/2006/main">
            <a:r>
              <a:t/>
            </a: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DEG-set-size caveat for male APOE ε2.</a:t>
            </a:r>
          </a:p>
          <a:p xmlns:a="http://schemas.openxmlformats.org/drawingml/2006/main">
            <a:r>
              <a:t/>
            </a:r>
            <a:endParaRPr/>
          </a:p>
          <a:p xmlns:a="http://schemas.openxmlformats.org/drawingml/2006/main">
            <a:r>
              <a:t>Walk through: For each fine-cell comparison, significant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xmlns:a="http://schemas.openxmlformats.org/drawingml/2006/main">
            <a:r>
              <a:t/>
            </a:r>
            <a:endParaRPr/>
          </a:p>
          <a:p xmlns:a="http://schemas.openxmlformats.org/drawingml/2006/main">
            <a:r>
              <a:t>Scientific boundary: This size difference affects comparisons of KDA output counts. It does not change the observed AD-up versus AD-down DEG occurrence counts on the preceding slide. SEA-AD has no matching active male APOE ε2 category here.</a:t>
            </a:r>
          </a:p>
          <a:p xmlns:a="http://schemas.openxmlformats.org/drawingml/2006/main">
            <a:r>
              <a:t/>
            </a:r>
            <a:endParaRPr/>
          </a:p>
          <a:p xmlns:a="http://schemas.openxmlformats.org/drawingml/2006/main">
            <a:r>
              <a:t>Transition: Return to the biological meaning of the coordinated DEG direction.</a:t>
            </a:r>
          </a:p>
          <a:p xmlns:a="http://schemas.openxmlformats.org/drawingml/2006/main">
            <a:r>
              <a:t/>
            </a:r>
          </a:p>
          <a:p xmlns:a="http://schemas.openxmlformats.org/drawingml/2006/main">
            <a:r>
              <a:t>Sources: docs/analysis/kda_w_human_validation/rosmap_sex_apoe_broad_kda_analysis.md, Finding 5 and KDA query-size 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Separate the male APOE ε2 DEG direction from inherited-risk interpretation and mitochondrial function.</a:t>
            </a:r>
          </a:p>
          <a:p xmlns:a="http://schemas.openxmlformats.org/drawingml/2006/main">
            <a:r>
              <a:t/>
            </a:r>
            <a:endParaRPr/>
          </a:p>
          <a:p xmlns:a="http://schemas.openxmlformats.org/drawingml/2006/main">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xmlns:a="http://schemas.openxmlformats.org/drawingml/2006/main">
            <a:r>
              <a:t/>
            </a:r>
            <a:endParaRPr/>
          </a:p>
          <a:p xmlns:a="http://schemas.openxmlformats.org/drawingml/2006/main">
            <a:r>
              <a:t>Scientific boundary: Lower gene expression does not by itself demonstrate lower respiratory-complex abundance, respiration, ATP production, or mitochondrial fitness. Protein and functional measurements are needed.</a:t>
            </a:r>
          </a:p>
          <a:p xmlns:a="http://schemas.openxmlformats.org/drawingml/2006/main">
            <a:r>
              <a:t/>
            </a:r>
            <a:endParaRPr/>
          </a:p>
          <a:p xmlns:a="http://schemas.openxmlformats.org/drawingml/2006/main">
            <a:r>
              <a:t>Transition: Place the result in prior research and summarize its evidence level.</a:t>
            </a:r>
          </a:p>
          <a:p xmlns:a="http://schemas.openxmlformats.org/drawingml/2006/main">
            <a:r>
              <a:t/>
            </a: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5 in prior research without overstating independent support.</a:t>
            </a:r>
          </a:p>
          <a:p xmlns:a="http://schemas.openxmlformats.org/drawingml/2006/main">
            <a:r>
              <a:t/>
            </a:r>
            <a:endParaRPr/>
          </a:p>
          <a:p xmlns:a="http://schemas.openxmlformats.org/drawingml/2006/main">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xmlns:a="http://schemas.openxmlformats.org/drawingml/2006/main">
            <a:r>
              <a:t/>
            </a:r>
            <a:endParaRPr/>
          </a:p>
          <a:p xmlns:a="http://schemas.openxmlformats.org/drawingml/2006/main">
            <a:r>
              <a:t>Scientific boundary: The finding is potentially novel but currently lacks a matched SEA-AD category and functional validation. Novelty and evidence strength should remain separate.</a:t>
            </a:r>
          </a:p>
          <a:p xmlns:a="http://schemas.openxmlformats.org/drawingml/2006/main">
            <a:r>
              <a:t/>
            </a:r>
            <a:endParaRPr/>
          </a:p>
          <a:p xmlns:a="http://schemas.openxmlformats.org/drawingml/2006/main">
            <a:r>
              <a:t>Transition: Move to Finding 6, where male APOE ε4 shows opposite directions across the two OXPHOS gene sets.</a:t>
            </a:r>
          </a:p>
          <a:p xmlns:a="http://schemas.openxmlformats.org/drawingml/2006/main">
            <a:r>
              <a:t/>
            </a:r>
          </a:p>
          <a:p xmlns:a="http://schemas.openxmlformats.org/drawingml/2006/main">
            <a:r>
              <a:t>Sources: docs/analysis/kda_w_human_validation/rosmap_sex_apoe_broad_kda_analysis.md, Finding 5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6.</a:t>
            </a:r>
          </a:p>
          <a:p>
            <a:endParaRPr/>
          </a:p>
          <a:p>
            <a:r>
              <a:t>Walk through: The left side lists claims that the current data cannot support. The right side lists experiments or analyses that directly address those gaps. Source: docs/analysis/kda_w_human_validation/rosmap_sex_apoe_broad_kda_analysis.md, Finding 6. Literature: https://doi.org/10.1016/j.neuron.2019.03.075; https://doi.org/10.1016/j.celrep.2023.113183; https://doi.org/10.1186/s13024-023-00624-5</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7.</a:t>
            </a:r>
          </a:p>
          <a:p>
            <a:endParaRPr/>
          </a:p>
          <a:p>
            <a:r>
              <a:t>Walk through: The left side lists claims that the current data cannot support. The right side lists experiments or analyses that directly address those gaps. Source: docs/analysis/kda_w_human_validation/rosmap_sex_apoe_broad_kda_analysis.md, Finding 7. Literature: https://doi.org/10.1523/JNEUROSCI.3040-05.2005; https://doi.org/10.1128/MCB.23.23.8902-8912.2003</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8.</a:t>
            </a:r>
          </a:p>
          <a:p>
            <a:endParaRPr/>
          </a:p>
          <a:p>
            <a:r>
              <a:t>Walk through: The left side lists claims that the current data cannot support. The right side lists experiments or analyses that directly address those gaps. Source: docs/analysis/kda_w_human_validation/rosmap_sex_apoe_broad_kda_analysis.md, Finding 8. Literature: https://doi.org/10.1016/j.cell.2012.07.032; https://doi.org/10.1016/j.cmet.2013.10.001; https://doi.org/10.15252/embj.2018100241</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9.</a:t>
            </a:r>
          </a:p>
          <a:p>
            <a:endParaRPr/>
          </a:p>
          <a:p>
            <a:r>
              <a:t>Walk through: The left side lists claims that the current data cannot support. The right side lists experiments or analyses that directly address those gaps. Source: docs/analysis/kda_w_human_validation/rosmap_sex_apoe_broad_kda_analysis.md, Finding 9. Literature: https://doi.org/10.1128/MCB.01356-07; https://doi.org/10.1016/j.cell.2011.06.051; https://doi.org/10.3892/mmr.2015.4271</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10.</a:t>
            </a:r>
          </a:p>
          <a:p>
            <a:endParaRPr/>
          </a:p>
          <a:p>
            <a:r>
              <a:t>Walk through: The left side lists claims that the current data cannot support. The right side lists experiments or analyses that directly address those gaps. Source: docs/analysis/kda_w_human_validation/rosmap_sex_apoe_broad_kda_analysis.md, Finding 10. Literature: https://doi.org/10.1074/jbc.M511386200; https://doi.org/10.3892/ijmm_00000211; https://doi.org/10.3390/ijms14034385</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11.</a:t>
            </a:r>
          </a:p>
          <a:p>
            <a:endParaRPr/>
          </a:p>
          <a:p>
            <a:r>
              <a:t>Walk through: The left side lists claims that the current data cannot support. The right side lists experiments or analyses that directly address those gaps. Source: docs/analysis/kda_w_human_validation/rosmap_sex_apoe_broad_kda_analysis.md, Finding 11. Literature: https://doi.org/10.1016/j.redox.2022.102571; https://doi.org/10.1038/s42003-024-06572-0</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12.</a:t>
            </a:r>
          </a:p>
          <a:p>
            <a:endParaRPr/>
          </a:p>
          <a:p>
            <a:r>
              <a:t>Walk through: The left side lists claims that the current data cannot support. The right side lists experiments or analyses that directly address those gaps. Source: docs/analysis/kda_w_human_validation/rosmap_sex_apoe_broad_kda_analysis.md, Finding 12. Literature: https://doi.org/10.1038/s41586-024-07606-7; https://doi.org/10.1038/s41419-020-02776-4; https://doi.org/10.1016/j.celrep.2023.113183</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13.</a:t>
            </a:r>
          </a:p>
          <a:p>
            <a:endParaRPr/>
          </a:p>
          <a:p>
            <a:r>
              <a:t>Walk through: The left side lists claims that the current data cannot support. The right side lists experiments or analyses that directly address those gaps. Source: docs/analysis/kda_w_human_validation/rosmap_sex_apoe_broad_kda_analysis.md, Finding 13. Literature: https://pmc.ncbi.nlm.nih.gov/articles/PMC8941078/; https://doi.org/10.1186/s12915-025-02235-6</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14.</a:t>
            </a:r>
          </a:p>
          <a:p>
            <a:endParaRPr/>
          </a:p>
          <a:p>
            <a:r>
              <a:t>Walk through: The left side lists claims that the current data cannot support. The right side lists experiments or analyses that directly address those gaps. Source: docs/analysis/kda_w_human_validation/rosmap_sex_apoe_broad_kda_analysis.md, Finding 14. Literature: https://doi.org/10.1186/s13195-019-0469-0; https://doi.org/10.1038/s41588-026-02709-5</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15.</a:t>
            </a:r>
          </a:p>
          <a:p>
            <a:endParaRPr/>
          </a:p>
          <a:p>
            <a:r>
              <a:t>Walk through: The left side lists claims that the current data cannot support. The right side lists experiments or analyses that directly address those gaps. Source: docs/analysis/kda_w_human_validation/rosmap_sex_apoe_broad_kda_analysis.md, Finding 15. Literature: https://doi.org/10.1016/j.neuron.2019.03.075; https://doi.org/10.1016/j.celrep.2023.113183; https://doi.org/10.1038/s41419-020-02776-4</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16.</a:t>
            </a:r>
          </a:p>
          <a:p>
            <a:endParaRPr/>
          </a:p>
          <a:p>
            <a:r>
              <a:t>Walk through: The left side lists claims that the current data cannot support. The right side lists experiments or analyses that directly address those gaps. Source: docs/analysis/kda_w_human_validation/rosmap_sex_apoe_broad_kda_analysis.md, Finding 16. Literature: https://doi.org/10.1186/s13024-023-00624-5; https://doi.org/10.1038/s41586-024-07606-7</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Separate the observation from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scientific boundaries and next experiments for Finding 17.</a:t>
            </a:r>
          </a:p>
          <a:p>
            <a:endParaRPr/>
          </a:p>
          <a:p>
            <a:r>
              <a:t>Walk through: The left side lists claims that the current data cannot support. The right side lists experiments or analyses that directly address those gaps. Source: docs/analysis/kda_w_human_validation/rosmap_sex_apoe_broad_kda_analysis.md, Finding 17.</a:t>
            </a:r>
          </a:p>
          <a:p>
            <a:endParaRPr/>
          </a:p>
          <a:p>
            <a:r>
              <a:t>Scientific boundary: Another expression dataset can improve reproducibility, but perturbation and functional rescue are needed for a causal mechanism.</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753174"/>
            <a:ext cx="10287000" cy="193283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APOE, and Mitochondrial Gene Expression in Alzheimer’s Disease</a:t>
            </a:r>
          </a:p>
          <a:p>
            <a:endParaRPr sz="3400" b="1">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a:t>
            </a:r>
            <a:r>
              <a:rPr sz="1050" b="1">
                <a:solidFill>
                  <a:srgbClr val="0072B2"/>
                </a:solidFill>
                <a:latin typeface="Arial"/>
                <a:ea typeface="Arial"/>
                <a:cs typeface="Arial"/>
              </a:rPr>
              <a:t>1</a:t>
            </a:r>
            <a:endParaRPr sz="1050" b="1" i="0">
              <a:solidFill>
                <a:srgbClr val="0072B2"/>
              </a:solidFill>
              <a:latin typeface="Arial"/>
              <a:ea typeface="Arial"/>
              <a:cs typeface="Arial"/>
            </a:endParaRPr>
          </a:p>
        </p:txBody>
      </p:sp>
    </p:spTree>
    <p:extLst>
      <p:ext uri="{BB962C8B-B14F-4D97-AF65-F5344CB8AC3E}">
        <p14:creationId xmlns:p14="http://schemas.microsoft.com/office/powerpoint/2010/main"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significant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1467083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3815581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a:t>
            </a:r>
            <a:r>
              <a:rPr sz="1050" b="1">
                <a:solidFill>
                  <a:srgbClr val="0072B2"/>
                </a:solidFill>
                <a:latin typeface="Arial"/>
                <a:ea typeface="Arial"/>
                <a:cs typeface="Arial"/>
              </a:rPr>
              <a:t>3</a:t>
            </a:r>
            <a:endParaRPr sz="1050" b="1" i="0">
              <a:solidFill>
                <a:srgbClr val="0072B2"/>
              </a:solidFill>
              <a:latin typeface="Arial"/>
              <a:ea typeface="Arial"/>
              <a:cs typeface="Arial"/>
            </a:endParaRP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489644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significant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a:t>
            </a:r>
            <a:r>
              <a:rPr sz="1050" b="1">
                <a:solidFill>
                  <a:srgbClr val="009E73"/>
                </a:solidFill>
                <a:latin typeface="Arial"/>
                <a:ea typeface="Arial"/>
                <a:cs typeface="Arial"/>
              </a:rPr>
              <a:t>4</a:t>
            </a:r>
            <a:endParaRPr sz="1050" b="1" i="0">
              <a:solidFill>
                <a:srgbClr val="009E73"/>
              </a:solidFill>
              <a:latin typeface="Arial"/>
              <a:ea typeface="Arial"/>
              <a:cs typeface="Arial"/>
            </a:endParaRP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returned from KDA call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significant genes; 2 returned no significant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significant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4</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Significant 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count significant rows returned from KDA calls.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significant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5</a:t>
            </a:r>
          </a:p>
        </p:txBody>
      </p:sp>
    </p:spTree>
    <p:extLst>
      <p:ext uri="{BB962C8B-B14F-4D97-AF65-F5344CB8AC3E}">
        <p14:creationId xmlns:p14="http://schemas.microsoft.com/office/powerpoint/2010/main" val="6867040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9B9759-8C24-40FC-9F64-84570C3254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xmlns:a="http://schemas.openxmlformats.org/drawingml/2006/main">
              <a:ext uri="{FF2B5EF4-FFF2-40B4-BE49-F238E27FC236}">
                <a16:creationId xmlns:a16="http://schemas.microsoft.com/office/drawing/2014/main" id="{5BBDA2B6-748D-41D9-862D-7E18BB2B5EA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2D76020A-FCE8-438D-BB31-4DC3B5F14D24}"/>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xmlns:a="http://schemas.openxmlformats.org/drawingml/2006/main">
              <a:ext uri="{FF2B5EF4-FFF2-40B4-BE49-F238E27FC236}">
                <a16:creationId xmlns:a16="http://schemas.microsoft.com/office/drawing/2014/main" id="{E6B72473-605E-4B15-A710-E0E87504CEEB}"/>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xmlns:a="http://schemas.openxmlformats.org/drawingml/2006/main">
              <a:ext uri="{FF2B5EF4-FFF2-40B4-BE49-F238E27FC236}">
                <a16:creationId xmlns:a16="http://schemas.microsoft.com/office/drawing/2014/main" id="{61741430-38B3-41F7-B957-964A801B7A74}"/>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D464EA5-2FB1-41DE-B66E-27CBBCF1682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7EA8D99-C02A-4788-8BAC-19AB7802536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61EBDF4-CC0C-408C-9B6A-191DD08C45B1}"/>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6ED3613-1DE2-4ED9-B304-70C3BF6E2F85}"/>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4D6D3497-1532-43A3-B90B-868123101E8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0AA0014-E189-41F8-9EDA-538A301A2B7E}"/>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85CC86D-E673-4A4D-BCD4-A17C265A93D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F6ECD27-E612-42B2-A097-22AD5D5F4E1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199226C-0ACA-4C10-9CC3-512A6B88301F}"/>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9ADCB95-7C34-4583-8E5D-733E8F1BC35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D05F1D8-4983-4839-928F-9660ECDD84A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D96C1F8-7416-4C36-AEF3-8C5EC8CB834A}"/>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6D4276BB-3C28-4E39-A937-01C6393F2A2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917F796A-CADC-4639-9BBC-33FD0EE492E7}"/>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3D46ED2-4710-4AF3-A347-5D5DAB51261B}"/>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sld>
</file>

<file path=ppt/slides/slide6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4847B2B-03F0-4340-9874-86C63B1F2554}"/>
              </a:ext>
            </a:extLst>
          </p:cNvPr>
          <p:cNvSpPr>
            <a:spLocks xmlns:a="http://schemas.openxmlformats.org/drawingml/2006/main" noGrp="1"/>
          </p:cNvSpPr>
          <p:nvPr/>
        </p:nvSpPr>
        <p:spPr>
          <a:xfrm xmlns:a="http://schemas.openxmlformats.org/drawingml/2006/main">
            <a:off x="530352" y="292608"/>
            <a:ext cx="11064240" cy="7254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xmlns:a="http://schemas.openxmlformats.org/drawingml/2006/main">
              <a:ext uri="{FF2B5EF4-FFF2-40B4-BE49-F238E27FC236}">
                <a16:creationId xmlns:a16="http://schemas.microsoft.com/office/drawing/2014/main" id="{896CB3C7-3B59-48DD-B73F-9AD94CF297D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xmlns:a="http://schemas.openxmlformats.org/drawingml/2006/main">
              <a:ext uri="{FF2B5EF4-FFF2-40B4-BE49-F238E27FC236}">
                <a16:creationId xmlns:a16="http://schemas.microsoft.com/office/drawing/2014/main" id="{39A86691-49B6-40BA-9B7E-1D0E4F7208F6}"/>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474921E-CB72-47D6-A24A-B8DE6A60EA37}"/>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898814CC-D61C-4493-ADF0-9F4DC2B35D01}"/>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9D5293A-18E3-40CD-89F3-26829C1D2896}"/>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128528F0-0394-45AD-BC8B-27B5537B1302}"/>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A922C6C-7D42-4015-9F4D-601E45A1376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xmlns:a="http://schemas.openxmlformats.org/drawingml/2006/main">
              <a:ext uri="{FF2B5EF4-FFF2-40B4-BE49-F238E27FC236}">
                <a16:creationId xmlns:a16="http://schemas.microsoft.com/office/drawing/2014/main" id="{1F89F666-EC68-4B12-8245-6A91883251DB}"/>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F0B02DC0-F83E-4862-AFB0-52E4D28EC5CB}"/>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xmlns:a="http://schemas.openxmlformats.org/drawingml/2006/main">
              <a:ext uri="{FF2B5EF4-FFF2-40B4-BE49-F238E27FC236}">
                <a16:creationId xmlns:a16="http://schemas.microsoft.com/office/drawing/2014/main" id="{1623AB73-75F2-48FD-B6FD-29F94AEBE1B4}"/>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5AB7C3F-B362-4884-8570-8BC56E4296D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xmlns:a="http://schemas.openxmlformats.org/drawingml/2006/main">
              <a:ext uri="{FF2B5EF4-FFF2-40B4-BE49-F238E27FC236}">
                <a16:creationId xmlns:a16="http://schemas.microsoft.com/office/drawing/2014/main" id="{037D3A7F-EC93-4850-BC73-94A191C2147C}"/>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xmlns:a="http://schemas.openxmlformats.org/drawingml/2006/main">
              <a:ext uri="{FF2B5EF4-FFF2-40B4-BE49-F238E27FC236}">
                <a16:creationId xmlns:a16="http://schemas.microsoft.com/office/drawing/2014/main" id="{270E3D63-8EB2-4724-B97D-72CAA1CA22B1}"/>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xmlns:a="http://schemas.openxmlformats.org/drawingml/2006/main">
              <a:ext uri="{FF2B5EF4-FFF2-40B4-BE49-F238E27FC236}">
                <a16:creationId xmlns:a16="http://schemas.microsoft.com/office/drawing/2014/main" id="{534A9EEA-8A5F-4954-B3B2-93AD43A47D87}"/>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115232-3CD3-4590-A0CD-62FA073A0EE5}"/>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B30DD619-5891-4A35-AF6F-EF31F4A7E791}"/>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xmlns:a="http://schemas.openxmlformats.org/drawingml/2006/main">
              <a:ext uri="{FF2B5EF4-FFF2-40B4-BE49-F238E27FC236}">
                <a16:creationId xmlns:a16="http://schemas.microsoft.com/office/drawing/2014/main" id="{A4E26757-5D41-41B5-8F16-6A64F6AC282B}"/>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xmlns:a="http://schemas.openxmlformats.org/drawingml/2006/main">
              <a:ext uri="{FF2B5EF4-FFF2-40B4-BE49-F238E27FC236}">
                <a16:creationId xmlns:a16="http://schemas.microsoft.com/office/drawing/2014/main" id="{EFDE4554-9BE7-4F1C-9EC1-3AE3669AF389}"/>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91C911D-9BE4-4EAD-901C-EB4A7396FDD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xmlns:a="http://schemas.openxmlformats.org/drawingml/2006/main">
              <a:ext uri="{FF2B5EF4-FFF2-40B4-BE49-F238E27FC236}">
                <a16:creationId xmlns:a16="http://schemas.microsoft.com/office/drawing/2014/main" id="{DE347B32-7281-4BAA-9D9B-7BD80806D79B}"/>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xmlns:a="http://schemas.openxmlformats.org/drawingml/2006/main">
              <a:ext uri="{FF2B5EF4-FFF2-40B4-BE49-F238E27FC236}">
                <a16:creationId xmlns:a16="http://schemas.microsoft.com/office/drawing/2014/main" id="{8791BB3F-8EB1-406E-ABA1-2F45257FD1DF}"/>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xmlns:a="http://schemas.openxmlformats.org/drawingml/2006/main">
              <a:ext uri="{FF2B5EF4-FFF2-40B4-BE49-F238E27FC236}">
                <a16:creationId xmlns:a16="http://schemas.microsoft.com/office/drawing/2014/main" id="{58C107E9-3677-45CB-8CAB-1BE1CEDCE97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3B50EAE-DA13-43C2-AD90-0FF977EECBFB}"/>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sld>
</file>

<file path=ppt/slides/slide6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16E7C6-C798-4825-8ADF-356B5B54EA3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xmlns:a="http://schemas.openxmlformats.org/drawingml/2006/main">
              <a:ext uri="{FF2B5EF4-FFF2-40B4-BE49-F238E27FC236}">
                <a16:creationId xmlns:a16="http://schemas.microsoft.com/office/drawing/2014/main" id="{A4B8AFD9-E3A2-4DF9-81CD-7C81CE7DADE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xmlns:a="http://schemas.openxmlformats.org/drawingml/2006/main">
              <a:ext uri="{FF2B5EF4-FFF2-40B4-BE49-F238E27FC236}">
                <a16:creationId xmlns:a16="http://schemas.microsoft.com/office/drawing/2014/main" id="{50746D33-BB30-408B-9C9E-FF12599B34EB}"/>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D214BFD-9CB2-42A4-89AE-8FFD5BC9576C}"/>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xmlns:a="http://schemas.openxmlformats.org/drawingml/2006/main">
              <a:ext uri="{FF2B5EF4-FFF2-40B4-BE49-F238E27FC236}">
                <a16:creationId xmlns:a16="http://schemas.microsoft.com/office/drawing/2014/main" id="{2611586C-DC6A-4FFA-9337-383B37FE6BB7}"/>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xmlns:a="http://schemas.openxmlformats.org/drawingml/2006/main">
              <a:ext uri="{FF2B5EF4-FFF2-40B4-BE49-F238E27FC236}">
                <a16:creationId xmlns:a16="http://schemas.microsoft.com/office/drawing/2014/main" id="{3FA2DD5C-37CE-47B8-BA0D-4EFF5279FD3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xmlns:a="http://schemas.openxmlformats.org/drawingml/2006/main">
              <a:ext uri="{FF2B5EF4-FFF2-40B4-BE49-F238E27FC236}">
                <a16:creationId xmlns:a16="http://schemas.microsoft.com/office/drawing/2014/main" id="{C367C7A9-94DC-4D2B-B71F-0FDBE87A16E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E88F76C-26B3-454D-8275-E2E91DB24509}"/>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xmlns:a="http://schemas.openxmlformats.org/drawingml/2006/main">
              <a:ext uri="{FF2B5EF4-FFF2-40B4-BE49-F238E27FC236}">
                <a16:creationId xmlns:a16="http://schemas.microsoft.com/office/drawing/2014/main" id="{24F47D21-06A0-49A7-843A-35EF63D4EEB1}"/>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xmlns:a="http://schemas.openxmlformats.org/drawingml/2006/main">
              <a:ext uri="{FF2B5EF4-FFF2-40B4-BE49-F238E27FC236}">
                <a16:creationId xmlns:a16="http://schemas.microsoft.com/office/drawing/2014/main" id="{E00687D7-70B0-4750-B1C7-9FF467343380}"/>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xmlns:a="http://schemas.openxmlformats.org/drawingml/2006/main">
              <a:ext uri="{FF2B5EF4-FFF2-40B4-BE49-F238E27FC236}">
                <a16:creationId xmlns:a16="http://schemas.microsoft.com/office/drawing/2014/main" id="{1FC6D3C9-53C5-436A-80F4-E4C130F41158}"/>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4EFE16A-BBAE-434D-B4D4-F4BBF16D1597}"/>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xmlns:a="http://schemas.openxmlformats.org/drawingml/2006/main">
              <a:ext uri="{FF2B5EF4-FFF2-40B4-BE49-F238E27FC236}">
                <a16:creationId xmlns:a16="http://schemas.microsoft.com/office/drawing/2014/main" id="{AC6C476A-D8B0-4988-AB23-A9274BE7A62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xmlns:a="http://schemas.openxmlformats.org/drawingml/2006/main">
              <a:ext uri="{FF2B5EF4-FFF2-40B4-BE49-F238E27FC236}">
                <a16:creationId xmlns:a16="http://schemas.microsoft.com/office/drawing/2014/main" id="{864BD5C9-7313-4258-90C2-44621A549A53}"/>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xmlns:a="http://schemas.openxmlformats.org/drawingml/2006/main">
              <a:ext uri="{FF2B5EF4-FFF2-40B4-BE49-F238E27FC236}">
                <a16:creationId xmlns:a16="http://schemas.microsoft.com/office/drawing/2014/main" id="{20141D58-A058-4EE4-BC6F-0C603708A55B}"/>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9B384E-3324-406A-9BD4-5866F2601348}"/>
              </a:ext>
            </a:extLst>
          </p:cNvPr>
          <p:cNvSpPr>
            <a:spLocks xmlns:a="http://schemas.openxmlformats.org/drawingml/2006/main" noGrp="1"/>
          </p:cNvSpPr>
          <p:nvPr/>
        </p:nvSpPr>
        <p:spPr>
          <a:xfrm xmlns:a="http://schemas.openxmlformats.org/drawingml/2006/main">
            <a:off x="987552" y="3090672"/>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xmlns:a="http://schemas.openxmlformats.org/drawingml/2006/main">
              <a:ext uri="{FF2B5EF4-FFF2-40B4-BE49-F238E27FC236}">
                <a16:creationId xmlns:a16="http://schemas.microsoft.com/office/drawing/2014/main" id="{D711E9C4-E615-4164-8E0E-C48683BB7C4A}"/>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xmlns:a="http://schemas.openxmlformats.org/drawingml/2006/main">
              <a:ext uri="{FF2B5EF4-FFF2-40B4-BE49-F238E27FC236}">
                <a16:creationId xmlns:a16="http://schemas.microsoft.com/office/drawing/2014/main" id="{18248536-6E97-4D19-897C-624A3F6312C2}"/>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xmlns:a="http://schemas.openxmlformats.org/drawingml/2006/main">
              <a:ext uri="{FF2B5EF4-FFF2-40B4-BE49-F238E27FC236}">
                <a16:creationId xmlns:a16="http://schemas.microsoft.com/office/drawing/2014/main" id="{5E29091D-B675-49BE-A878-6A96D56F4DD7}"/>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7CA1F7-0F95-4126-9E08-408394415F68}"/>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xmlns:a="http://schemas.openxmlformats.org/drawingml/2006/main">
              <a:ext uri="{FF2B5EF4-FFF2-40B4-BE49-F238E27FC236}">
                <a16:creationId xmlns:a16="http://schemas.microsoft.com/office/drawing/2014/main" id="{FAE57504-3744-40A4-B02C-4F8FF1267295}"/>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xmlns:a="http://schemas.openxmlformats.org/drawingml/2006/main">
              <a:ext uri="{FF2B5EF4-FFF2-40B4-BE49-F238E27FC236}">
                <a16:creationId xmlns:a16="http://schemas.microsoft.com/office/drawing/2014/main" id="{FC5B3EDE-C98C-45CA-AB93-D3059D42173E}"/>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xmlns:a="http://schemas.openxmlformats.org/drawingml/2006/main">
              <a:ext uri="{FF2B5EF4-FFF2-40B4-BE49-F238E27FC236}">
                <a16:creationId xmlns:a16="http://schemas.microsoft.com/office/drawing/2014/main" id="{36BA72D2-3B9D-4CFD-9032-9F25BBDF9111}"/>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4084EDC-C5DD-434C-8042-3C9AE2B51243}"/>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xmlns:a="http://schemas.openxmlformats.org/drawingml/2006/main">
              <a:ext uri="{FF2B5EF4-FFF2-40B4-BE49-F238E27FC236}">
                <a16:creationId xmlns:a16="http://schemas.microsoft.com/office/drawing/2014/main" id="{C77EC147-AB27-4522-80DF-24CAB245A81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xmlns:a="http://schemas.openxmlformats.org/drawingml/2006/main">
              <a:ext uri="{FF2B5EF4-FFF2-40B4-BE49-F238E27FC236}">
                <a16:creationId xmlns:a16="http://schemas.microsoft.com/office/drawing/2014/main" id="{7EFA35EA-3110-4A6D-B50D-300EE9DE777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6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EF2E26F-2CDF-4E65-8BA1-34F46AD706D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xmlns:a="http://schemas.openxmlformats.org/drawingml/2006/main">
              <a:ext uri="{FF2B5EF4-FFF2-40B4-BE49-F238E27FC236}">
                <a16:creationId xmlns:a16="http://schemas.microsoft.com/office/drawing/2014/main" id="{679FEE76-9C69-4E79-9D0E-33754FA43E2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141759-D659-44D6-8951-9C9972B55106}"/>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xmlns:a="http://schemas.openxmlformats.org/drawingml/2006/main">
              <a:ext uri="{FF2B5EF4-FFF2-40B4-BE49-F238E27FC236}">
                <a16:creationId xmlns:a16="http://schemas.microsoft.com/office/drawing/2014/main" id="{444133BC-3F24-48B3-8674-96DDA42DC30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xmlns:a="http://schemas.openxmlformats.org/drawingml/2006/main">
              <a:ext uri="{FF2B5EF4-FFF2-40B4-BE49-F238E27FC236}">
                <a16:creationId xmlns:a16="http://schemas.microsoft.com/office/drawing/2014/main" id="{7D622FD7-0151-4AF9-A487-7DE206047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1658018-9D15-438B-8510-E212F9931423}"/>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32E41CE8-CDFA-44D4-A17F-1D85D2DF329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F14DF69-6E24-4830-A88A-57EB39EAA409}"/>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288A9BC0-42FC-41E9-8C8D-8862108F0703}"/>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886A3D6A-050D-454B-A2A4-F432AE04DA3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81E439F-F7F3-4C2D-9AED-A1B048E90A44}"/>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62023D3E-15BB-4049-A8AD-079F9744095B}"/>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B5C00B5F-F220-4649-BE0A-E55B74FD74D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486C808-47D2-42CB-AACF-203A868DF3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0CEEC43C-DBFF-4642-9E0A-F21A82A46B5C}"/>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8A202477-1FEE-4A36-810D-A2539DCF225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363E3D9-9544-4D85-BFEB-2823E795F07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10748D0A-7A11-478D-861B-3D0939C13BAA}"/>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84BAA67-2B8F-485F-9374-B6D5A8BAC42F}"/>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D09FD795-F30A-4125-BD47-A454AEFBD2C8}"/>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BD277D-7431-4A7A-A1C7-72AF1F26B21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xmlns:a="http://schemas.openxmlformats.org/drawingml/2006/main">
              <a:ext uri="{FF2B5EF4-FFF2-40B4-BE49-F238E27FC236}">
                <a16:creationId xmlns:a16="http://schemas.microsoft.com/office/drawing/2014/main" id="{90923344-F35D-4EFF-A0E6-1084F7A5BE5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xmlns:a="http://schemas.openxmlformats.org/drawingml/2006/main">
              <a:ext uri="{FF2B5EF4-FFF2-40B4-BE49-F238E27FC236}">
                <a16:creationId xmlns:a16="http://schemas.microsoft.com/office/drawing/2014/main" id="{815A4D51-038B-4DB5-BB9D-C51DE16B673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624508B-2051-4B1C-8CFD-BB759936A4B0}"/>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xmlns:a="http://schemas.openxmlformats.org/drawingml/2006/main">
              <a:ext uri="{FF2B5EF4-FFF2-40B4-BE49-F238E27FC236}">
                <a16:creationId xmlns:a16="http://schemas.microsoft.com/office/drawing/2014/main" id="{8CF85EEA-A167-43C8-AFCD-1D6C63543861}"/>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xmlns:a="http://schemas.openxmlformats.org/drawingml/2006/main">
              <a:ext uri="{FF2B5EF4-FFF2-40B4-BE49-F238E27FC236}">
                <a16:creationId xmlns:a16="http://schemas.microsoft.com/office/drawing/2014/main" id="{E9B93EE7-DD66-498F-A3CB-2420119AF29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xmlns:a="http://schemas.openxmlformats.org/drawingml/2006/main">
              <a:ext uri="{FF2B5EF4-FFF2-40B4-BE49-F238E27FC236}">
                <a16:creationId xmlns:a16="http://schemas.microsoft.com/office/drawing/2014/main" id="{67A0F397-F140-4D64-B92B-A6E3A29C0C89}"/>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FFD5BF0-813B-49E9-A0B0-0F89CDDD3B97}"/>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xmlns:a="http://schemas.openxmlformats.org/drawingml/2006/main">
              <a:ext uri="{FF2B5EF4-FFF2-40B4-BE49-F238E27FC236}">
                <a16:creationId xmlns:a16="http://schemas.microsoft.com/office/drawing/2014/main" id="{ED6BE81B-2B7A-40DB-904F-8CC485792EC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xmlns:a="http://schemas.openxmlformats.org/drawingml/2006/main">
              <a:ext uri="{FF2B5EF4-FFF2-40B4-BE49-F238E27FC236}">
                <a16:creationId xmlns:a16="http://schemas.microsoft.com/office/drawing/2014/main" id="{3D970A38-BB5D-47A0-B7C7-04DD293709E6}"/>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xmlns:a="http://schemas.openxmlformats.org/drawingml/2006/main">
              <a:ext uri="{FF2B5EF4-FFF2-40B4-BE49-F238E27FC236}">
                <a16:creationId xmlns:a16="http://schemas.microsoft.com/office/drawing/2014/main" id="{6496313E-1382-41C2-BA3E-34797C73115E}"/>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73DE1FB-C935-4CE6-AEFC-33DD5D47F466}"/>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xmlns:a="http://schemas.openxmlformats.org/drawingml/2006/main">
              <a:ext uri="{FF2B5EF4-FFF2-40B4-BE49-F238E27FC236}">
                <a16:creationId xmlns:a16="http://schemas.microsoft.com/office/drawing/2014/main" id="{CF18A02B-0A7A-418F-A578-702C906E2E9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xmlns:a="http://schemas.openxmlformats.org/drawingml/2006/main">
              <a:ext uri="{FF2B5EF4-FFF2-40B4-BE49-F238E27FC236}">
                <a16:creationId xmlns:a16="http://schemas.microsoft.com/office/drawing/2014/main" id="{768B58E6-3DE9-4A64-ADE5-DAE50470903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xmlns:a="http://schemas.openxmlformats.org/drawingml/2006/main">
              <a:ext uri="{FF2B5EF4-FFF2-40B4-BE49-F238E27FC236}">
                <a16:creationId xmlns:a16="http://schemas.microsoft.com/office/drawing/2014/main" id="{E5A95870-C1EA-4EB8-9CF4-5203996357A7}"/>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4573671-11D6-4F8E-B1D0-41F33E45DE3A}"/>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8CD198EE-16C1-4164-9FD9-20D0FAB36B4E}"/>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xmlns:a="http://schemas.openxmlformats.org/drawingml/2006/main">
              <a:ext uri="{FF2B5EF4-FFF2-40B4-BE49-F238E27FC236}">
                <a16:creationId xmlns:a16="http://schemas.microsoft.com/office/drawing/2014/main" id="{A5C5029B-3122-4C07-94E1-F116864314BE}"/>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xmlns:a="http://schemas.openxmlformats.org/drawingml/2006/main">
              <a:ext uri="{FF2B5EF4-FFF2-40B4-BE49-F238E27FC236}">
                <a16:creationId xmlns:a16="http://schemas.microsoft.com/office/drawing/2014/main" id="{71D52A82-59E2-4945-8028-CA41F6C9A11E}"/>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47D7A2-4F91-4259-82A1-BB0EA1CBB01C}"/>
              </a:ext>
            </a:extLst>
          </p:cNvPr>
          <p:cNvSpPr>
            <a:spLocks xmlns:a="http://schemas.openxmlformats.org/drawingml/2006/main" noGrp="1"/>
          </p:cNvSpPr>
          <p:nvPr/>
        </p:nvSpPr>
        <p:spPr>
          <a:xfrm xmlns:a="http://schemas.openxmlformats.org/drawingml/2006/main">
            <a:off x="987552" y="4050791"/>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xmlns:a="http://schemas.openxmlformats.org/drawingml/2006/main">
              <a:ext uri="{FF2B5EF4-FFF2-40B4-BE49-F238E27FC236}">
                <a16:creationId xmlns:a16="http://schemas.microsoft.com/office/drawing/2014/main" id="{A11BD4C5-04ED-4483-9A6B-20C61A55CD80}"/>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xmlns:a="http://schemas.openxmlformats.org/drawingml/2006/main">
              <a:ext uri="{FF2B5EF4-FFF2-40B4-BE49-F238E27FC236}">
                <a16:creationId xmlns:a16="http://schemas.microsoft.com/office/drawing/2014/main" id="{92AD0BB7-7863-4F61-9BD7-B2D2ED0A88E4}"/>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xmlns:a="http://schemas.openxmlformats.org/drawingml/2006/main">
              <a:ext uri="{FF2B5EF4-FFF2-40B4-BE49-F238E27FC236}">
                <a16:creationId xmlns:a16="http://schemas.microsoft.com/office/drawing/2014/main" id="{A93000DB-86CF-4280-A9AF-87FD1D9D7947}"/>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1DBCA1F-5166-40A9-9CAB-5643CEBFD245}"/>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xmlns:a="http://schemas.openxmlformats.org/drawingml/2006/main">
              <a:ext uri="{FF2B5EF4-FFF2-40B4-BE49-F238E27FC236}">
                <a16:creationId xmlns:a16="http://schemas.microsoft.com/office/drawing/2014/main" id="{2262FB5A-6F52-47C7-A4ED-CE564717D57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xmlns:a="http://schemas.openxmlformats.org/drawingml/2006/main">
              <a:ext uri="{FF2B5EF4-FFF2-40B4-BE49-F238E27FC236}">
                <a16:creationId xmlns:a16="http://schemas.microsoft.com/office/drawing/2014/main" id="{B8F6995F-6CE2-4495-A815-7B8D5120FB1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sld>
</file>

<file path=ppt/slides/slide7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6A0A466-65B9-4B02-9FC4-4A0CF223C3C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xmlns:a="http://schemas.openxmlformats.org/drawingml/2006/main">
              <a:ext uri="{FF2B5EF4-FFF2-40B4-BE49-F238E27FC236}">
                <a16:creationId xmlns:a16="http://schemas.microsoft.com/office/drawing/2014/main" id="{678755B5-2808-464C-BE3F-F32B109D9C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xmlns:a="http://schemas.openxmlformats.org/drawingml/2006/main">
              <a:ext uri="{FF2B5EF4-FFF2-40B4-BE49-F238E27FC236}">
                <a16:creationId xmlns:a16="http://schemas.microsoft.com/office/drawing/2014/main" id="{BDCABD88-CDF9-4096-9BD8-9FD4BD2BD3B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C8BCB1-D1DE-4C49-93A0-C071B997ADB5}"/>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xmlns:a="http://schemas.openxmlformats.org/drawingml/2006/main">
              <a:ext uri="{FF2B5EF4-FFF2-40B4-BE49-F238E27FC236}">
                <a16:creationId xmlns:a16="http://schemas.microsoft.com/office/drawing/2014/main" id="{4625E702-DCA4-444B-B0B0-7901133E832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xmlns:a="http://schemas.openxmlformats.org/drawingml/2006/main">
              <a:ext uri="{FF2B5EF4-FFF2-40B4-BE49-F238E27FC236}">
                <a16:creationId xmlns:a16="http://schemas.microsoft.com/office/drawing/2014/main" id="{D8DB4B45-4487-4D5E-9743-9C36A6B0B6CE}"/>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xmlns:a="http://schemas.openxmlformats.org/drawingml/2006/main">
              <a:ext uri="{FF2B5EF4-FFF2-40B4-BE49-F238E27FC236}">
                <a16:creationId xmlns:a16="http://schemas.microsoft.com/office/drawing/2014/main" id="{D2DEE9FA-A444-440D-B9EC-4568849FCED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5E2B186-5E0C-47B5-8F7B-C775F6D95A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xmlns:a="http://schemas.openxmlformats.org/drawingml/2006/main">
              <a:ext uri="{FF2B5EF4-FFF2-40B4-BE49-F238E27FC236}">
                <a16:creationId xmlns:a16="http://schemas.microsoft.com/office/drawing/2014/main" id="{E927D0C2-C1BB-44DE-94D7-B63E61AAD4D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xmlns:a="http://schemas.openxmlformats.org/drawingml/2006/main">
              <a:ext uri="{FF2B5EF4-FFF2-40B4-BE49-F238E27FC236}">
                <a16:creationId xmlns:a16="http://schemas.microsoft.com/office/drawing/2014/main" id="{7B2BB62E-46AF-4ACF-B00A-E6BF76693164}"/>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xmlns:a="http://schemas.openxmlformats.org/drawingml/2006/main">
              <a:ext uri="{FF2B5EF4-FFF2-40B4-BE49-F238E27FC236}">
                <a16:creationId xmlns:a16="http://schemas.microsoft.com/office/drawing/2014/main" id="{65F6F61B-5B86-4ED5-B8F5-5A13FAEC2D3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80B7689-4FA7-48F5-9F40-9D61578285F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D7A8BAE3-2CF9-4C3A-8F56-DE08415FB22D}"/>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C90626B7-0775-4368-BF4A-E28B97D6014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xmlns:a="http://schemas.openxmlformats.org/drawingml/2006/main">
              <a:ext uri="{FF2B5EF4-FFF2-40B4-BE49-F238E27FC236}">
                <a16:creationId xmlns:a16="http://schemas.microsoft.com/office/drawing/2014/main" id="{05306AF1-7D7C-4CF2-B3B2-D39FE71A3E60}"/>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324E6BE-8240-49F9-A3F0-81F96F86B214}"/>
              </a:ext>
            </a:extLst>
          </p:cNvPr>
          <p:cNvSpPr>
            <a:spLocks xmlns:a="http://schemas.openxmlformats.org/drawingml/2006/main" noGrp="1"/>
          </p:cNvSpPr>
          <p:nvPr/>
        </p:nvSpPr>
        <p:spPr>
          <a:xfrm xmlns:a="http://schemas.openxmlformats.org/drawingml/2006/main">
            <a:off x="896112" y="5888736"/>
            <a:ext cx="10405872" cy="3992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sld>
</file>

<file path=ppt/slides/slide7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51EA402-C5A0-4E1B-B43F-EED1CD22F6C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xmlns:a="http://schemas.openxmlformats.org/drawingml/2006/main">
              <a:ext uri="{FF2B5EF4-FFF2-40B4-BE49-F238E27FC236}">
                <a16:creationId xmlns:a16="http://schemas.microsoft.com/office/drawing/2014/main" id="{067D81D1-DE61-49CF-B923-71CE71FBCB8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xmlns:a="http://schemas.openxmlformats.org/drawingml/2006/main">
              <a:ext uri="{FF2B5EF4-FFF2-40B4-BE49-F238E27FC236}">
                <a16:creationId xmlns:a16="http://schemas.microsoft.com/office/drawing/2014/main" id="{011FB5E7-B20B-4700-B4B3-EC4194685D75}"/>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6C5AD6E-D080-4D27-AFE6-E57173C9CCD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xmlns:a="http://schemas.openxmlformats.org/drawingml/2006/main">
              <a:ext uri="{FF2B5EF4-FFF2-40B4-BE49-F238E27FC236}">
                <a16:creationId xmlns:a16="http://schemas.microsoft.com/office/drawing/2014/main" id="{9DCBD8C7-6EF5-4D51-A91D-4C2BE9AFFAE3}"/>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xmlns:a="http://schemas.openxmlformats.org/drawingml/2006/main">
              <a:ext uri="{FF2B5EF4-FFF2-40B4-BE49-F238E27FC236}">
                <a16:creationId xmlns:a16="http://schemas.microsoft.com/office/drawing/2014/main" id="{881A60AA-37D5-4EAD-AA8D-B931443EB1C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xmlns:a="http://schemas.openxmlformats.org/drawingml/2006/main">
              <a:ext uri="{FF2B5EF4-FFF2-40B4-BE49-F238E27FC236}">
                <a16:creationId xmlns:a16="http://schemas.microsoft.com/office/drawing/2014/main" id="{6B2AE7DB-C180-4953-A160-763D03A4508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F2C5F2C-F92E-4969-B5FF-EFC20A09DA8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xmlns:a="http://schemas.openxmlformats.org/drawingml/2006/main">
              <a:ext uri="{FF2B5EF4-FFF2-40B4-BE49-F238E27FC236}">
                <a16:creationId xmlns:a16="http://schemas.microsoft.com/office/drawing/2014/main" id="{4257C55A-E6B2-47C9-848A-CFBFA9DC333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xmlns:a="http://schemas.openxmlformats.org/drawingml/2006/main">
              <a:ext uri="{FF2B5EF4-FFF2-40B4-BE49-F238E27FC236}">
                <a16:creationId xmlns:a16="http://schemas.microsoft.com/office/drawing/2014/main" id="{F5AFB380-15C5-4EF8-AEE9-52CA21D4B29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xmlns:a="http://schemas.openxmlformats.org/drawingml/2006/main">
              <a:ext uri="{FF2B5EF4-FFF2-40B4-BE49-F238E27FC236}">
                <a16:creationId xmlns:a16="http://schemas.microsoft.com/office/drawing/2014/main" id="{D168868F-90BB-4DF9-B31E-58060BC6C9F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A567D2E-D3C8-4434-AF52-FAF6402709B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xmlns:a="http://schemas.openxmlformats.org/drawingml/2006/main">
              <a:ext uri="{FF2B5EF4-FFF2-40B4-BE49-F238E27FC236}">
                <a16:creationId xmlns:a16="http://schemas.microsoft.com/office/drawing/2014/main" id="{276D68BD-1C7A-4A2D-A6ED-68F1E132DCAB}"/>
              </a:ext>
            </a:extLst>
          </p:cNvPr>
          <p:cNvSpPr>
            <a:spLocks xmlns:a="http://schemas.openxmlformats.org/drawingml/2006/main" noGrp="1"/>
          </p:cNvSpPr>
          <p:nvPr/>
        </p:nvSpPr>
        <p:spPr>
          <a:xfrm xmlns:a="http://schemas.openxmlformats.org/drawingml/2006/main">
            <a:off x="8522208" y="2176272"/>
            <a:ext cx="2907792" cy="7863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xmlns:a="http://schemas.openxmlformats.org/drawingml/2006/main">
              <a:ext uri="{FF2B5EF4-FFF2-40B4-BE49-F238E27FC236}">
                <a16:creationId xmlns:a16="http://schemas.microsoft.com/office/drawing/2014/main" id="{7D52DBC3-B64D-4B83-982C-4BC08043281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xmlns:a="http://schemas.openxmlformats.org/drawingml/2006/main">
              <a:ext uri="{FF2B5EF4-FFF2-40B4-BE49-F238E27FC236}">
                <a16:creationId xmlns:a16="http://schemas.microsoft.com/office/drawing/2014/main" id="{492E22EF-A767-4394-AB9C-6A374B84A56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3BA675F-8177-4E3B-A875-82424698D527}"/>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5E87659E-1E7C-4EAF-BEA0-DF9393F5C275}"/>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78E523-0835-4163-BC36-CCF786B36EE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6 does not prove, and the next evidence needed</a:t>
            </a:r>
          </a:p>
        </p:txBody>
      </p:sp>
      <p:sp>
        <p:nvSpPr>
          <p:cNvPr id="3" name="TextBox 2">
            <a:extLst>
              <a:ext uri="{FF2B5EF4-FFF2-40B4-BE49-F238E27FC236}">
                <a16:creationId xmlns:a16="http://schemas.microsoft.com/office/drawing/2014/main" id="{05FEF2B2-947D-4C22-BE17-A61D2FE9BE0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1EE20258-D6CA-44BE-A84E-3E1383A2D905}"/>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2B5057A0-6C26-4788-8B9D-9DFB31EBEF38}"/>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04538B8-629B-4B6C-A8E4-E564A1721449}"/>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BA27A618-5FFA-410B-9F4A-CAEA4D417E39}"/>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A1F62F8-EFD2-4A8D-94C1-FBBBC012E7E8}"/>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physical imbalance of OXPHOS proteins</a:t>
            </a:r>
          </a:p>
        </p:txBody>
      </p:sp>
      <p:sp>
        <p:nvSpPr>
          <p:cNvPr id="9" name="Oval 8">
            <a:extLst>
              <a:ext uri="{FF2B5EF4-FFF2-40B4-BE49-F238E27FC236}">
                <a16:creationId xmlns:a16="http://schemas.microsoft.com/office/drawing/2014/main" id="{52F680FE-D019-4BBE-8983-046C59D79FAB}"/>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17E1192A-8E1C-4214-A295-D908922A99E3}"/>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male by ε4 disease interaction</a:t>
            </a:r>
          </a:p>
        </p:txBody>
      </p:sp>
      <p:sp>
        <p:nvSpPr>
          <p:cNvPr id="11" name="Oval 10">
            <a:extLst>
              <a:ext uri="{FF2B5EF4-FFF2-40B4-BE49-F238E27FC236}">
                <a16:creationId xmlns:a16="http://schemas.microsoft.com/office/drawing/2014/main" id="{E8E5166A-8258-47E9-975E-872AAA6EF8C3}"/>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ABF07DB-33C4-4F84-8029-CE5800B31AA6}"/>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Cross-cohort robustness at broad or fine resolution</a:t>
            </a:r>
          </a:p>
        </p:txBody>
      </p:sp>
      <p:sp>
        <p:nvSpPr>
          <p:cNvPr id="13" name="Rounded Rectangle 12">
            <a:extLst>
              <a:ext uri="{FF2B5EF4-FFF2-40B4-BE49-F238E27FC236}">
                <a16:creationId xmlns:a16="http://schemas.microsoft.com/office/drawing/2014/main" id="{F9E68E1D-9E30-4ACD-B0D1-A6A3DA3A4D87}"/>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1020CD90-973C-492E-80B0-339BAA949249}"/>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4BEDD9F-8007-407A-9CFB-20B2C1B53D8C}"/>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46D0BCF9-C26F-4F8A-AD88-11B48956D1A3}"/>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6950AD8-AFA0-45DE-865A-E819C14F590E}"/>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Freeze a mitonuclear balance score before testing</a:t>
            </a:r>
          </a:p>
        </p:txBody>
      </p:sp>
      <p:sp>
        <p:nvSpPr>
          <p:cNvPr id="18" name="Oval 17">
            <a:extLst>
              <a:ext uri="{FF2B5EF4-FFF2-40B4-BE49-F238E27FC236}">
                <a16:creationId xmlns:a16="http://schemas.microsoft.com/office/drawing/2014/main" id="{A9270600-42B7-45D3-892E-15825AFDF8EB}"/>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EF62B9C9-D658-4409-B9D5-3A37C08E9CA7}"/>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Compare male ε4 with male ε3/ε3 and female ε4</a:t>
            </a:r>
          </a:p>
        </p:txBody>
      </p:sp>
      <p:sp>
        <p:nvSpPr>
          <p:cNvPr id="20" name="Oval 19">
            <a:extLst>
              <a:ext uri="{FF2B5EF4-FFF2-40B4-BE49-F238E27FC236}">
                <a16:creationId xmlns:a16="http://schemas.microsoft.com/office/drawing/2014/main" id="{1433335F-9A5E-417A-B093-67A4EB27DDE2}"/>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026048D-B65C-4D41-BC8E-B37EF1F38738}"/>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paired OXPHOS proteins and respiratory function</a:t>
            </a:r>
          </a:p>
        </p:txBody>
      </p:sp>
      <p:sp>
        <p:nvSpPr>
          <p:cNvPr id="22" name="TextBox 21">
            <a:extLst>
              <a:ext uri="{FF2B5EF4-FFF2-40B4-BE49-F238E27FC236}">
                <a16:creationId xmlns:a16="http://schemas.microsoft.com/office/drawing/2014/main" id="{4BC80B27-665E-4833-AB7B-6A152CEBB20D}"/>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13961173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804733-879C-41CC-B029-9964C7F80CC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7 does not prove, and the next evidence needed</a:t>
            </a:r>
          </a:p>
        </p:txBody>
      </p:sp>
      <p:sp>
        <p:nvSpPr>
          <p:cNvPr id="3" name="TextBox 2">
            <a:extLst>
              <a:ext uri="{FF2B5EF4-FFF2-40B4-BE49-F238E27FC236}">
                <a16:creationId xmlns:a16="http://schemas.microsoft.com/office/drawing/2014/main" id="{5650E44F-F8A0-4F4A-904C-AB9D2A1F38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4CF420AF-DA2A-49F0-85E1-630CB9FBC328}"/>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6456D83B-C654-4A56-BC86-69CB55204F20}"/>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58463B7-1A49-49CF-8926-D7D26A1FBBE9}"/>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365F1BDF-C98B-450A-A8D1-42E1233AF4C4}"/>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53101885-AF4D-451A-9ECC-0889764F1C27}"/>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ribosomal proteins regulate their OXPHOS neighbors</a:t>
            </a:r>
          </a:p>
        </p:txBody>
      </p:sp>
      <p:sp>
        <p:nvSpPr>
          <p:cNvPr id="9" name="Oval 8">
            <a:extLst>
              <a:ext uri="{FF2B5EF4-FFF2-40B4-BE49-F238E27FC236}">
                <a16:creationId xmlns:a16="http://schemas.microsoft.com/office/drawing/2014/main" id="{ED619F53-D5A8-4D25-96CD-6798FFFED171}"/>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BE3369C-8B63-4878-B05E-EB5E9782D795}"/>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Independent replication across fine-cell KDA calls</a:t>
            </a:r>
          </a:p>
        </p:txBody>
      </p:sp>
      <p:sp>
        <p:nvSpPr>
          <p:cNvPr id="11" name="Oval 10">
            <a:extLst>
              <a:ext uri="{FF2B5EF4-FFF2-40B4-BE49-F238E27FC236}">
                <a16:creationId xmlns:a16="http://schemas.microsoft.com/office/drawing/2014/main" id="{75F02FBF-DD87-4E0D-B57A-D65B20ABED5B}"/>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FC595B2E-D648-49A7-92B6-A6599DC2002E}"/>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enrichment survives network-degree controls</a:t>
            </a:r>
          </a:p>
        </p:txBody>
      </p:sp>
      <p:sp>
        <p:nvSpPr>
          <p:cNvPr id="13" name="Rounded Rectangle 12">
            <a:extLst>
              <a:ext uri="{FF2B5EF4-FFF2-40B4-BE49-F238E27FC236}">
                <a16:creationId xmlns:a16="http://schemas.microsoft.com/office/drawing/2014/main" id="{2E11B984-FF21-4419-8B68-EA30DDEA515D}"/>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786AB69A-770A-4B27-A53A-47D3998A057C}"/>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A476CE9-76A0-432D-94A6-8F2D59DCC767}"/>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03DB64CB-43C3-40C7-8E7E-FC7898E27D18}"/>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7866790-71E9-48A8-AB65-4F604C1A7989}"/>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Use degree-matched randomized networks</a:t>
            </a:r>
          </a:p>
        </p:txBody>
      </p:sp>
      <p:sp>
        <p:nvSpPr>
          <p:cNvPr id="18" name="Oval 17">
            <a:extLst>
              <a:ext uri="{FF2B5EF4-FFF2-40B4-BE49-F238E27FC236}">
                <a16:creationId xmlns:a16="http://schemas.microsoft.com/office/drawing/2014/main" id="{7E15F2F3-295D-4A99-9CB9-8F975F00D781}"/>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EC2C3D7-DC0B-44CE-9366-057615F2CCCE}"/>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Make KDA calls after excluding cytosolic-ribosome nodes</a:t>
            </a:r>
          </a:p>
        </p:txBody>
      </p:sp>
      <p:sp>
        <p:nvSpPr>
          <p:cNvPr id="20" name="Oval 19">
            <a:extLst>
              <a:ext uri="{FF2B5EF4-FFF2-40B4-BE49-F238E27FC236}">
                <a16:creationId xmlns:a16="http://schemas.microsoft.com/office/drawing/2014/main" id="{B9A2A22F-BF60-4385-A22C-2BF2FCFA2995}"/>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0F46C43-E302-49ED-9B2C-86D3E98AF7E9}"/>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RPL11 or RPS15 and measure translation and respiration</a:t>
            </a:r>
          </a:p>
        </p:txBody>
      </p:sp>
      <p:sp>
        <p:nvSpPr>
          <p:cNvPr id="22" name="TextBox 21">
            <a:extLst>
              <a:ext uri="{FF2B5EF4-FFF2-40B4-BE49-F238E27FC236}">
                <a16:creationId xmlns:a16="http://schemas.microsoft.com/office/drawing/2014/main" id="{6A5CDAC5-1B5E-4425-9E63-1EA53F5CAAB5}"/>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7177064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4FFB41-BA99-400D-8FA8-A8E62CDC128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8 does not prove, and the next evidence needed</a:t>
            </a:r>
          </a:p>
        </p:txBody>
      </p:sp>
      <p:sp>
        <p:nvSpPr>
          <p:cNvPr id="3" name="TextBox 2">
            <a:extLst>
              <a:ext uri="{FF2B5EF4-FFF2-40B4-BE49-F238E27FC236}">
                <a16:creationId xmlns:a16="http://schemas.microsoft.com/office/drawing/2014/main" id="{26640BC7-60BB-4538-9A21-BFC7DB4A8F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DD0D0643-B59D-4677-AC08-CF07E569BCA7}"/>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75CF9AC-B95A-4525-BBE9-DC4246E6671E}"/>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6B01BC86-0C04-45D2-8873-CF6F66F6ADA4}"/>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CE003FB1-6E3A-4FB6-BE17-D1E1DFD659D6}"/>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AC40890-9529-4349-A10B-37AF645C2FE1}"/>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Direct control of the listed OXPHOS genes in AD neurons</a:t>
            </a:r>
          </a:p>
        </p:txBody>
      </p:sp>
      <p:sp>
        <p:nvSpPr>
          <p:cNvPr id="9" name="Oval 8">
            <a:extLst>
              <a:ext uri="{FF2B5EF4-FFF2-40B4-BE49-F238E27FC236}">
                <a16:creationId xmlns:a16="http://schemas.microsoft.com/office/drawing/2014/main" id="{B10E5288-5DEA-4630-8F84-A34FCB90C810}"/>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180BD80-0DD7-4852-A50B-8C12BDE5AF01}"/>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male ε2 recurrence is independent of large queries</a:t>
            </a:r>
          </a:p>
        </p:txBody>
      </p:sp>
      <p:sp>
        <p:nvSpPr>
          <p:cNvPr id="11" name="Oval 10">
            <a:extLst>
              <a:ext uri="{FF2B5EF4-FFF2-40B4-BE49-F238E27FC236}">
                <a16:creationId xmlns:a16="http://schemas.microsoft.com/office/drawing/2014/main" id="{0EEECB76-57D7-4B33-897F-AD5B16F0EDF5}"/>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150344-A58E-456E-B49E-17B5B9C0D4E0}"/>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Final q-value significance for exploratory category scores</a:t>
            </a:r>
          </a:p>
        </p:txBody>
      </p:sp>
      <p:sp>
        <p:nvSpPr>
          <p:cNvPr id="13" name="Rounded Rectangle 12">
            <a:extLst>
              <a:ext uri="{FF2B5EF4-FFF2-40B4-BE49-F238E27FC236}">
                <a16:creationId xmlns:a16="http://schemas.microsoft.com/office/drawing/2014/main" id="{36CDBB97-6285-4E41-8667-21EF8371A7CB}"/>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FEC0D39E-BDA6-4295-A749-7E5A0E8D9602}"/>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061705E-4541-4478-91FD-83D8CA2267A9}"/>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8E055974-296E-4377-BD2E-C6DAB879CFB1}"/>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1CF7992-DA0E-4C9B-8205-A463F75E71A0}"/>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LAMTOR5 in APOE-isogenic neurons</a:t>
            </a:r>
          </a:p>
        </p:txBody>
      </p:sp>
      <p:sp>
        <p:nvSpPr>
          <p:cNvPr id="18" name="Oval 17">
            <a:extLst>
              <a:ext uri="{FF2B5EF4-FFF2-40B4-BE49-F238E27FC236}">
                <a16:creationId xmlns:a16="http://schemas.microsoft.com/office/drawing/2014/main" id="{8E6CBFBE-9D34-44C9-94A1-8AD567D511F3}"/>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2A37CE6-47E0-47C7-A16A-F2D8197AFECA}"/>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lysosomal acidity, mTORC1, and autophagic flow</a:t>
            </a:r>
          </a:p>
        </p:txBody>
      </p:sp>
      <p:sp>
        <p:nvSpPr>
          <p:cNvPr id="20" name="Oval 19">
            <a:extLst>
              <a:ext uri="{FF2B5EF4-FFF2-40B4-BE49-F238E27FC236}">
                <a16:creationId xmlns:a16="http://schemas.microsoft.com/office/drawing/2014/main" id="{A615AA07-B0E3-4F9E-A38C-734B83DF568B}"/>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3FAA71-0996-42B1-A117-5A810B193350}"/>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OXPHOS proteins and respiration in the same cells</a:t>
            </a:r>
          </a:p>
        </p:txBody>
      </p:sp>
      <p:sp>
        <p:nvSpPr>
          <p:cNvPr id="22" name="TextBox 21">
            <a:extLst>
              <a:ext uri="{FF2B5EF4-FFF2-40B4-BE49-F238E27FC236}">
                <a16:creationId xmlns:a16="http://schemas.microsoft.com/office/drawing/2014/main" id="{61CB428E-45A6-4877-A6E5-511FB8A78A38}"/>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3828382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82F99E-0454-41F1-BE76-09BFD5CC81D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9 does not prove, and the next evidence needed</a:t>
            </a:r>
          </a:p>
        </p:txBody>
      </p:sp>
      <p:sp>
        <p:nvSpPr>
          <p:cNvPr id="3" name="TextBox 2">
            <a:extLst>
              <a:ext uri="{FF2B5EF4-FFF2-40B4-BE49-F238E27FC236}">
                <a16:creationId xmlns:a16="http://schemas.microsoft.com/office/drawing/2014/main" id="{B84AD215-CBE5-45E2-B19C-3F95B96D49E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3B717963-7A99-458A-9ADC-558C1DFAC43F}"/>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1C5556C0-A96C-4A08-A5DA-8F9A341ED256}"/>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AC54AA5-B7E0-47FB-A6BB-7C454B8EF23D}"/>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3C28FEC2-4509-4CA0-A044-311E7FF3CB06}"/>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373B23FE-FECE-4EE1-A2BE-B6657CCCB8C1}"/>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Direct WDR82 binding to mtDNA or control of mtRNA</a:t>
            </a:r>
          </a:p>
        </p:txBody>
      </p:sp>
      <p:sp>
        <p:nvSpPr>
          <p:cNvPr id="9" name="Oval 8">
            <a:extLst>
              <a:ext uri="{FF2B5EF4-FFF2-40B4-BE49-F238E27FC236}">
                <a16:creationId xmlns:a16="http://schemas.microsoft.com/office/drawing/2014/main" id="{386CF712-FB92-4760-B331-B0B9AC005F9D}"/>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95EC2067-F1CC-40EC-ABD6-3421155D6901}"/>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Four independent mitochondrial regulatory edges</a:t>
            </a:r>
          </a:p>
        </p:txBody>
      </p:sp>
      <p:sp>
        <p:nvSpPr>
          <p:cNvPr id="11" name="Oval 10">
            <a:extLst>
              <a:ext uri="{FF2B5EF4-FFF2-40B4-BE49-F238E27FC236}">
                <a16:creationId xmlns:a16="http://schemas.microsoft.com/office/drawing/2014/main" id="{7322F1DA-5D86-4267-AC5A-C74314F1D35B}"/>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AB860F9-32CF-436A-A2DD-CCBD9B51AC7A}"/>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The same gene returned from KDA calls across cohorts</a:t>
            </a:r>
          </a:p>
        </p:txBody>
      </p:sp>
      <p:sp>
        <p:nvSpPr>
          <p:cNvPr id="13" name="Rounded Rectangle 12">
            <a:extLst>
              <a:ext uri="{FF2B5EF4-FFF2-40B4-BE49-F238E27FC236}">
                <a16:creationId xmlns:a16="http://schemas.microsoft.com/office/drawing/2014/main" id="{C3FC8F51-203A-4C4D-A778-23963659F553}"/>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EF0EF673-ACFD-4FCA-B431-3FA7D4617695}"/>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8DF10FA-20DF-431C-850F-DE9C280A4E12}"/>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CFA192E3-14CB-4C8C-B16F-BC2CB6252E73}"/>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36CEC4B-7650-4D32-8FCD-18F073FB6DC0}"/>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Make KDA calls without core MT genes in the queries</a:t>
            </a:r>
          </a:p>
        </p:txBody>
      </p:sp>
      <p:sp>
        <p:nvSpPr>
          <p:cNvPr id="18" name="Oval 17">
            <a:extLst>
              <a:ext uri="{FF2B5EF4-FFF2-40B4-BE49-F238E27FC236}">
                <a16:creationId xmlns:a16="http://schemas.microsoft.com/office/drawing/2014/main" id="{2540DAC0-5A84-4731-90D1-1FF3F894603D}"/>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3EF0639-6C75-4BB5-919C-BB41B0F16F28}"/>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Control mitochondrial read fraction and RNA quality</a:t>
            </a:r>
          </a:p>
        </p:txBody>
      </p:sp>
      <p:sp>
        <p:nvSpPr>
          <p:cNvPr id="20" name="Oval 19">
            <a:extLst>
              <a:ext uri="{FF2B5EF4-FFF2-40B4-BE49-F238E27FC236}">
                <a16:creationId xmlns:a16="http://schemas.microsoft.com/office/drawing/2014/main" id="{ACA77DCB-F78A-4A7E-A295-F45BA0A8AFD1}"/>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ED7401E-5FC0-46E4-9651-336E996F7097}"/>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WDR82 and measure mtRNA, H3K4me3, and respiration</a:t>
            </a:r>
          </a:p>
        </p:txBody>
      </p:sp>
      <p:sp>
        <p:nvSpPr>
          <p:cNvPr id="22" name="TextBox 21">
            <a:extLst>
              <a:ext uri="{FF2B5EF4-FFF2-40B4-BE49-F238E27FC236}">
                <a16:creationId xmlns:a16="http://schemas.microsoft.com/office/drawing/2014/main" id="{B04729F6-862D-4B2F-AB7A-22170ECA90A6}"/>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14266648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D2E0C6-BA00-4090-AD2C-97A515B2F9E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10 does not prove, and the next evidence needed</a:t>
            </a:r>
          </a:p>
        </p:txBody>
      </p:sp>
      <p:sp>
        <p:nvSpPr>
          <p:cNvPr id="3" name="TextBox 2">
            <a:extLst>
              <a:ext uri="{FF2B5EF4-FFF2-40B4-BE49-F238E27FC236}">
                <a16:creationId xmlns:a16="http://schemas.microsoft.com/office/drawing/2014/main" id="{6AB3BE6D-961D-45EC-B21E-AB238BAB782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04BC7D62-F917-45B2-8A51-4F1A2C7ECB95}"/>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573FFD7-EFFD-45A9-B766-8D6FF52F5CE5}"/>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EA54B85-BE77-4860-9DA2-1046FC8F76DF}"/>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EEAB249D-0313-40E3-B281-7172851A7D4E}"/>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B28A4D6-99E6-455D-AC40-6F578EC5996A}"/>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Direct SELENOM control of TUFM or MRPS proteins</a:t>
            </a:r>
          </a:p>
        </p:txBody>
      </p:sp>
      <p:sp>
        <p:nvSpPr>
          <p:cNvPr id="9" name="Oval 8">
            <a:extLst>
              <a:ext uri="{FF2B5EF4-FFF2-40B4-BE49-F238E27FC236}">
                <a16:creationId xmlns:a16="http://schemas.microsoft.com/office/drawing/2014/main" id="{70ED1DFD-EE7F-4028-8BAB-360EA448059A}"/>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7B1534-47FF-497E-B90F-51282F66F0E9}"/>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causal effect on mitochondrial translation</a:t>
            </a:r>
          </a:p>
        </p:txBody>
      </p:sp>
      <p:sp>
        <p:nvSpPr>
          <p:cNvPr id="11" name="Oval 10">
            <a:extLst>
              <a:ext uri="{FF2B5EF4-FFF2-40B4-BE49-F238E27FC236}">
                <a16:creationId xmlns:a16="http://schemas.microsoft.com/office/drawing/2014/main" id="{69AF9A20-C37E-44CB-A236-8A7533A3F670}"/>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3F034-D801-4311-842B-29BA16DFCCFA}"/>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Independent human or genetic validation</a:t>
            </a:r>
          </a:p>
        </p:txBody>
      </p:sp>
      <p:sp>
        <p:nvSpPr>
          <p:cNvPr id="13" name="Rounded Rectangle 12">
            <a:extLst>
              <a:ext uri="{FF2B5EF4-FFF2-40B4-BE49-F238E27FC236}">
                <a16:creationId xmlns:a16="http://schemas.microsoft.com/office/drawing/2014/main" id="{412A8E71-92FB-46E2-9E53-C94264916E3F}"/>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BB6BB246-9327-4C59-8A95-5F2823512109}"/>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3E208DA-BE55-480E-AC3D-C5FB9E7581F0}"/>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CC49A0B7-9904-4ECF-B1BA-8C682880AE0A}"/>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540B22D-F32B-49C1-979D-0D5AE74DAF8D}"/>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and rescue SELENOM in excitatory neurons</a:t>
            </a:r>
          </a:p>
        </p:txBody>
      </p:sp>
      <p:sp>
        <p:nvSpPr>
          <p:cNvPr id="18" name="Oval 17">
            <a:extLst>
              <a:ext uri="{FF2B5EF4-FFF2-40B4-BE49-F238E27FC236}">
                <a16:creationId xmlns:a16="http://schemas.microsoft.com/office/drawing/2014/main" id="{B6C7C7D7-4F7B-45C4-98DF-ADE20BD13279}"/>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00567C9-47A4-47D3-9613-E11253C8D37F}"/>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ER calcium and redox state</a:t>
            </a:r>
          </a:p>
        </p:txBody>
      </p:sp>
      <p:sp>
        <p:nvSpPr>
          <p:cNvPr id="20" name="Oval 19">
            <a:extLst>
              <a:ext uri="{FF2B5EF4-FFF2-40B4-BE49-F238E27FC236}">
                <a16:creationId xmlns:a16="http://schemas.microsoft.com/office/drawing/2014/main" id="{9C795723-901F-4364-8AE7-878F36AB7B4D}"/>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36CDEA5-71A7-4BFB-91E7-9BCFE14062B4}"/>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mitochondrial translation, OXPHOS proteins, and respiration</a:t>
            </a:r>
          </a:p>
        </p:txBody>
      </p:sp>
      <p:sp>
        <p:nvSpPr>
          <p:cNvPr id="22" name="TextBox 21">
            <a:extLst>
              <a:ext uri="{FF2B5EF4-FFF2-40B4-BE49-F238E27FC236}">
                <a16:creationId xmlns:a16="http://schemas.microsoft.com/office/drawing/2014/main" id="{5135C2A4-BC6F-4647-8AD5-F48DA88495C8}"/>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18378161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5BA366-CA2D-4D90-8B3F-A43E4C07BC6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11 does not prove, and the next evidence needed</a:t>
            </a:r>
          </a:p>
        </p:txBody>
      </p:sp>
      <p:sp>
        <p:nvSpPr>
          <p:cNvPr id="3" name="TextBox 2">
            <a:extLst>
              <a:ext uri="{FF2B5EF4-FFF2-40B4-BE49-F238E27FC236}">
                <a16:creationId xmlns:a16="http://schemas.microsoft.com/office/drawing/2014/main" id="{4D818D53-5838-4D37-83CF-09BE9397F3F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0EB24A75-CA9F-4C22-98D0-D056F8E157C0}"/>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A14D5245-C411-420F-BC75-02FEFD0AB334}"/>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E01FA25-2E7D-4270-8386-0D230922CC5D}"/>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0D69C205-C0DF-406D-804F-B23ED5E0B92B}"/>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C9EA086-C116-4D20-8B58-C3EC998EEC65}"/>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Control of the listed MitoCarta MT genes in human neurons</a:t>
            </a:r>
          </a:p>
        </p:txBody>
      </p:sp>
      <p:sp>
        <p:nvSpPr>
          <p:cNvPr id="9" name="Oval 8">
            <a:extLst>
              <a:ext uri="{FF2B5EF4-FFF2-40B4-BE49-F238E27FC236}">
                <a16:creationId xmlns:a16="http://schemas.microsoft.com/office/drawing/2014/main" id="{DAE3FD7A-C895-4DEC-88F7-371E1210F442}"/>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E3F0F7A-2480-4327-8919-03BC9B8A429E}"/>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Exact cell, sex, or APOE replication</a:t>
            </a:r>
          </a:p>
        </p:txBody>
      </p:sp>
      <p:sp>
        <p:nvSpPr>
          <p:cNvPr id="11" name="Oval 10">
            <a:extLst>
              <a:ext uri="{FF2B5EF4-FFF2-40B4-BE49-F238E27FC236}">
                <a16:creationId xmlns:a16="http://schemas.microsoft.com/office/drawing/2014/main" id="{9AC8BD9E-101F-40C3-9DB8-C6C5EE2ED2A7}"/>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460B93B-71BA-4A48-842F-4409597E749F}"/>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weak genetic or selenium-theme evidence is causal</a:t>
            </a:r>
          </a:p>
        </p:txBody>
      </p:sp>
      <p:sp>
        <p:nvSpPr>
          <p:cNvPr id="13" name="Rounded Rectangle 12">
            <a:extLst>
              <a:ext uri="{FF2B5EF4-FFF2-40B4-BE49-F238E27FC236}">
                <a16:creationId xmlns:a16="http://schemas.microsoft.com/office/drawing/2014/main" id="{4BD474CC-C44E-44DA-9B8B-F332D782D5F2}"/>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AA73304E-9817-44F9-97E6-F624788999CF}"/>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5AFE9BF-731D-48AA-BA22-339722E61BF7}"/>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C47F3F06-60EA-445F-8A90-99937E51A44A}"/>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8139C09-28BD-44F8-8F25-6BF6F13E724A}"/>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SELENOW in excitatory and inhibitory neurons</a:t>
            </a:r>
          </a:p>
        </p:txBody>
      </p:sp>
      <p:sp>
        <p:nvSpPr>
          <p:cNvPr id="18" name="Oval 17">
            <a:extLst>
              <a:ext uri="{FF2B5EF4-FFF2-40B4-BE49-F238E27FC236}">
                <a16:creationId xmlns:a16="http://schemas.microsoft.com/office/drawing/2014/main" id="{EC72582C-A4E7-48E7-8E54-16795147F1E5}"/>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E32C35C0-91DA-4D44-AF1E-DDDDBEE7F239}"/>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tau clearance, redox state, and protein quality</a:t>
            </a:r>
          </a:p>
        </p:txBody>
      </p:sp>
      <p:sp>
        <p:nvSpPr>
          <p:cNvPr id="20" name="Oval 19">
            <a:extLst>
              <a:ext uri="{FF2B5EF4-FFF2-40B4-BE49-F238E27FC236}">
                <a16:creationId xmlns:a16="http://schemas.microsoft.com/office/drawing/2014/main" id="{9BBDD8AB-37DD-4ABA-8C96-B6629F41B042}"/>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D92FDC-7BBF-4902-BB55-879F9B54EC96}"/>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Compare normal SELENOW with a redox-inactive version</a:t>
            </a:r>
          </a:p>
        </p:txBody>
      </p:sp>
      <p:sp>
        <p:nvSpPr>
          <p:cNvPr id="22" name="TextBox 21">
            <a:extLst>
              <a:ext uri="{FF2B5EF4-FFF2-40B4-BE49-F238E27FC236}">
                <a16:creationId xmlns:a16="http://schemas.microsoft.com/office/drawing/2014/main" id="{2FA1A561-FA43-46CE-AC35-749ADCC42072}"/>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39315337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7D98B6-F7DD-420E-8D2B-D86072B495C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12 does not prove, and the next evidence needed</a:t>
            </a:r>
          </a:p>
        </p:txBody>
      </p:sp>
      <p:sp>
        <p:nvSpPr>
          <p:cNvPr id="3" name="TextBox 2">
            <a:extLst>
              <a:ext uri="{FF2B5EF4-FFF2-40B4-BE49-F238E27FC236}">
                <a16:creationId xmlns:a16="http://schemas.microsoft.com/office/drawing/2014/main" id="{D2C2129B-4AAA-4465-B5B6-7833BA65001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75033A15-DE31-4C2D-B307-CDACC0D60239}"/>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69184426-E0B1-4868-B75D-BCA3AEEBE81C}"/>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1C7B5CD9-4FFC-46E6-857C-FE139DDA5DE3}"/>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06FBA470-7B10-408F-BC77-A85949E4E30F}"/>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D4AECD7-8786-44C4-904D-21DDB02E7D47}"/>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PGK1 activates BNIP3 or BNIP3L</a:t>
            </a:r>
          </a:p>
        </p:txBody>
      </p:sp>
      <p:sp>
        <p:nvSpPr>
          <p:cNvPr id="9" name="Oval 8">
            <a:extLst>
              <a:ext uri="{FF2B5EF4-FFF2-40B4-BE49-F238E27FC236}">
                <a16:creationId xmlns:a16="http://schemas.microsoft.com/office/drawing/2014/main" id="{9587ADE9-C8E6-449B-BE3A-266CF9902B3F}"/>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08DFACA5-4BCF-4F27-9933-0EC5C9821E90}"/>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Whether glycolysis is adaptive or harmful</a:t>
            </a:r>
          </a:p>
        </p:txBody>
      </p:sp>
      <p:sp>
        <p:nvSpPr>
          <p:cNvPr id="11" name="Oval 10">
            <a:extLst>
              <a:ext uri="{FF2B5EF4-FFF2-40B4-BE49-F238E27FC236}">
                <a16:creationId xmlns:a16="http://schemas.microsoft.com/office/drawing/2014/main" id="{C2FB42A8-2461-4B39-9D49-4D410E1CAF2E}"/>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A99F17C-E3D7-4431-A8D5-D6DD493ED737}"/>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Independent SEA-AD or donor-independent validation</a:t>
            </a:r>
          </a:p>
        </p:txBody>
      </p:sp>
      <p:sp>
        <p:nvSpPr>
          <p:cNvPr id="13" name="Rounded Rectangle 12">
            <a:extLst>
              <a:ext uri="{FF2B5EF4-FFF2-40B4-BE49-F238E27FC236}">
                <a16:creationId xmlns:a16="http://schemas.microsoft.com/office/drawing/2014/main" id="{4C681E42-33E3-47D7-A6DA-1CFAAC0D7190}"/>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9502E2F0-999B-42B4-AE98-C0274FA7E735}"/>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189483E-F19A-4BA0-8592-42F6B997070D}"/>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117CCA0B-BB96-4829-9D34-53A503A955DE}"/>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6FAEE3B-3A0A-44F6-B706-DDAA5936420F}"/>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PGK1 in APOE-isogenic astrocytes</a:t>
            </a:r>
          </a:p>
        </p:txBody>
      </p:sp>
      <p:sp>
        <p:nvSpPr>
          <p:cNvPr id="18" name="Oval 17">
            <a:extLst>
              <a:ext uri="{FF2B5EF4-FFF2-40B4-BE49-F238E27FC236}">
                <a16:creationId xmlns:a16="http://schemas.microsoft.com/office/drawing/2014/main" id="{882F2F4D-9F0C-44B8-ACBD-462E5EBE0A38}"/>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A9C435E-5B35-4E5B-866E-57195F96B21D}"/>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glycolytic rate and mitophagic flow</a:t>
            </a:r>
          </a:p>
        </p:txBody>
      </p:sp>
      <p:sp>
        <p:nvSpPr>
          <p:cNvPr id="20" name="Oval 19">
            <a:extLst>
              <a:ext uri="{FF2B5EF4-FFF2-40B4-BE49-F238E27FC236}">
                <a16:creationId xmlns:a16="http://schemas.microsoft.com/office/drawing/2014/main" id="{99845921-7575-45A8-804E-04B85148BDE5}"/>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64793E09-4A45-4BC4-9C48-D7F5C67C0F29}"/>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Block or rescue BNIP3 and BNIP3L while measuring respiration</a:t>
            </a:r>
          </a:p>
        </p:txBody>
      </p:sp>
      <p:sp>
        <p:nvSpPr>
          <p:cNvPr id="22" name="TextBox 21">
            <a:extLst>
              <a:ext uri="{FF2B5EF4-FFF2-40B4-BE49-F238E27FC236}">
                <a16:creationId xmlns:a16="http://schemas.microsoft.com/office/drawing/2014/main" id="{3037FC5F-496C-4972-AC95-6C654B0A1B47}"/>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33307903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A14A75-15DA-4F90-AACD-655674A37C9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13 does not prove, and the next evidence needed</a:t>
            </a:r>
          </a:p>
        </p:txBody>
      </p:sp>
      <p:sp>
        <p:nvSpPr>
          <p:cNvPr id="3" name="TextBox 2">
            <a:extLst>
              <a:ext uri="{FF2B5EF4-FFF2-40B4-BE49-F238E27FC236}">
                <a16:creationId xmlns:a16="http://schemas.microsoft.com/office/drawing/2014/main" id="{67CEEC50-30EC-481D-B7F7-569F1865D5C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EA1B82A7-6A65-4A8B-8E5F-E160ACAF3705}"/>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53B7B1D0-2A06-4D54-98F0-80CC3AFD76B9}"/>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E4F99D4-51AE-4E8C-AF89-292F3336CC6A}"/>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E1B749AD-224E-43CF-A46A-ADE772B1ED14}"/>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C61F641-4673-402B-A985-445BFBD1670B}"/>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Ferroptosis in human AD OPCs</a:t>
            </a:r>
          </a:p>
        </p:txBody>
      </p:sp>
      <p:sp>
        <p:nvSpPr>
          <p:cNvPr id="9" name="Oval 8">
            <a:extLst>
              <a:ext uri="{FF2B5EF4-FFF2-40B4-BE49-F238E27FC236}">
                <a16:creationId xmlns:a16="http://schemas.microsoft.com/office/drawing/2014/main" id="{3FB51A03-3DC6-4B56-9DAD-E8E86F729BDD}"/>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0659D446-8CAC-4E99-85E3-ED504F64285E}"/>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direct ANKRD11 to ferritin or GPX4 mechanism</a:t>
            </a:r>
          </a:p>
        </p:txBody>
      </p:sp>
      <p:sp>
        <p:nvSpPr>
          <p:cNvPr id="11" name="Oval 10">
            <a:extLst>
              <a:ext uri="{FF2B5EF4-FFF2-40B4-BE49-F238E27FC236}">
                <a16:creationId xmlns:a16="http://schemas.microsoft.com/office/drawing/2014/main" id="{08D17A1F-BF3E-4D1B-BB31-980128F29A60}"/>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DED3833-D758-45E0-B8A8-AAC141A46E85}"/>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Independent recurrence of FTL and ANKRD11 modules</a:t>
            </a:r>
          </a:p>
        </p:txBody>
      </p:sp>
      <p:sp>
        <p:nvSpPr>
          <p:cNvPr id="13" name="Rounded Rectangle 12">
            <a:extLst>
              <a:ext uri="{FF2B5EF4-FFF2-40B4-BE49-F238E27FC236}">
                <a16:creationId xmlns:a16="http://schemas.microsoft.com/office/drawing/2014/main" id="{C8E3979C-1E86-43E5-A334-9318ECE5C4DF}"/>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038F78E9-B0D6-4D28-BD79-37C1D51BFE56}"/>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FDAF4B6-5930-471D-8698-80B00C9EAF3E}"/>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04A9325C-5DDE-4C0C-8938-EAEEA5F288DA}"/>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6636D12-FFEB-4F27-96A7-E1929E716BD9}"/>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free iron, oxidized lipids, and lipid ROS</a:t>
            </a:r>
          </a:p>
        </p:txBody>
      </p:sp>
      <p:sp>
        <p:nvSpPr>
          <p:cNvPr id="18" name="Oval 17">
            <a:extLst>
              <a:ext uri="{FF2B5EF4-FFF2-40B4-BE49-F238E27FC236}">
                <a16:creationId xmlns:a16="http://schemas.microsoft.com/office/drawing/2014/main" id="{7CAC48DA-28DD-4A5D-9D09-4FF6E58A73FA}"/>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8DB97735-AB2B-4B46-8208-684637AAEF82}"/>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GPX4 activity and OPC survival</a:t>
            </a:r>
          </a:p>
        </p:txBody>
      </p:sp>
      <p:sp>
        <p:nvSpPr>
          <p:cNvPr id="20" name="Oval 19">
            <a:extLst>
              <a:ext uri="{FF2B5EF4-FFF2-40B4-BE49-F238E27FC236}">
                <a16:creationId xmlns:a16="http://schemas.microsoft.com/office/drawing/2014/main" id="{00BEA33A-3876-458C-83B0-028A99544423}"/>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85D6F84-570F-44B2-A054-BD76D54DA65F}"/>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Test ferroptosis rescue and perturb FTL and ANKRD11 separately</a:t>
            </a:r>
          </a:p>
        </p:txBody>
      </p:sp>
      <p:sp>
        <p:nvSpPr>
          <p:cNvPr id="22" name="TextBox 21">
            <a:extLst>
              <a:ext uri="{FF2B5EF4-FFF2-40B4-BE49-F238E27FC236}">
                <a16:creationId xmlns:a16="http://schemas.microsoft.com/office/drawing/2014/main" id="{ED23D024-0BE1-4B91-B460-6753269663BA}"/>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90340390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A46540-7E71-43E3-8346-485E684701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14 does not prove, and the next evidence needed</a:t>
            </a:r>
          </a:p>
        </p:txBody>
      </p:sp>
      <p:sp>
        <p:nvSpPr>
          <p:cNvPr id="3" name="TextBox 2">
            <a:extLst>
              <a:ext uri="{FF2B5EF4-FFF2-40B4-BE49-F238E27FC236}">
                <a16:creationId xmlns:a16="http://schemas.microsoft.com/office/drawing/2014/main" id="{2A151998-81BA-44E7-91CB-EEEF027960B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C8F0062D-B662-4D7B-926A-9EC50263E96F}"/>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6E91E9-97AF-458D-A649-FEDC21BA18D4}"/>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10D564E-29E6-49BB-8693-5C26654AA2B2}"/>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C77D8976-336A-4BB3-B693-5165EB85240B}"/>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468A021F-B914-483C-AE39-341F100AF271}"/>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genetics validates the inhibitory-neuron edge</a:t>
            </a:r>
          </a:p>
        </p:txBody>
      </p:sp>
      <p:sp>
        <p:nvSpPr>
          <p:cNvPr id="9" name="Oval 8">
            <a:extLst>
              <a:ext uri="{FF2B5EF4-FFF2-40B4-BE49-F238E27FC236}">
                <a16:creationId xmlns:a16="http://schemas.microsoft.com/office/drawing/2014/main" id="{4EF929F6-CDE4-4F96-82EF-F4A427EE0CE3}"/>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42918862-31C3-4EAC-8722-3ABF11615A9D}"/>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broad PLCG2 mitochondrial mechanism</a:t>
            </a:r>
          </a:p>
        </p:txBody>
      </p:sp>
      <p:sp>
        <p:nvSpPr>
          <p:cNvPr id="11" name="Oval 10">
            <a:extLst>
              <a:ext uri="{FF2B5EF4-FFF2-40B4-BE49-F238E27FC236}">
                <a16:creationId xmlns:a16="http://schemas.microsoft.com/office/drawing/2014/main" id="{D5566734-D656-4761-B1B9-A65B9609AC90}"/>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4137AD2-0672-407F-8EBE-104E8CC64066}"/>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female-specific PLCG2 disease interaction</a:t>
            </a:r>
          </a:p>
        </p:txBody>
      </p:sp>
      <p:sp>
        <p:nvSpPr>
          <p:cNvPr id="13" name="Rounded Rectangle 12">
            <a:extLst>
              <a:ext uri="{FF2B5EF4-FFF2-40B4-BE49-F238E27FC236}">
                <a16:creationId xmlns:a16="http://schemas.microsoft.com/office/drawing/2014/main" id="{B180D863-8618-49A9-A8A7-D5D274CF93D7}"/>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35B378E-7422-4CA6-882B-187232101EF0}"/>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6081397-FE7E-4E83-920A-248E328E2919}"/>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B6FC62F7-6485-42B4-A044-406179032BA8}"/>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7D9F292-E40F-4112-B913-48BBFA3F5C54}"/>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Confirm PLCG2 RNA and protein by spatial or in situ methods</a:t>
            </a:r>
          </a:p>
        </p:txBody>
      </p:sp>
      <p:sp>
        <p:nvSpPr>
          <p:cNvPr id="18" name="Oval 17">
            <a:extLst>
              <a:ext uri="{FF2B5EF4-FFF2-40B4-BE49-F238E27FC236}">
                <a16:creationId xmlns:a16="http://schemas.microsoft.com/office/drawing/2014/main" id="{D6628816-0BA6-42EC-9A4D-EA16EAAC78E2}"/>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597B329-CFD5-42B4-904A-C473264F4D42}"/>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Perturb PLCG2 in validated neuronal models</a:t>
            </a:r>
          </a:p>
        </p:txBody>
      </p:sp>
      <p:sp>
        <p:nvSpPr>
          <p:cNvPr id="20" name="Oval 19">
            <a:extLst>
              <a:ext uri="{FF2B5EF4-FFF2-40B4-BE49-F238E27FC236}">
                <a16:creationId xmlns:a16="http://schemas.microsoft.com/office/drawing/2014/main" id="{44011077-5206-4E63-86DC-4FF1B08D4B42}"/>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B45353C-2048-4EB1-91B8-C867F4FFF91F}"/>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MT-CO1, other mtRNAs, synapses, and respiration</a:t>
            </a:r>
          </a:p>
        </p:txBody>
      </p:sp>
      <p:sp>
        <p:nvSpPr>
          <p:cNvPr id="22" name="TextBox 21">
            <a:extLst>
              <a:ext uri="{FF2B5EF4-FFF2-40B4-BE49-F238E27FC236}">
                <a16:creationId xmlns:a16="http://schemas.microsoft.com/office/drawing/2014/main" id="{584D4C50-2472-4A79-AE74-6BAEB40885AD}"/>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165329920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37A4B1-0F23-4B28-B2F8-029E484BD46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15 does not prove, and the next evidence needed</a:t>
            </a:r>
          </a:p>
        </p:txBody>
      </p:sp>
      <p:sp>
        <p:nvSpPr>
          <p:cNvPr id="3" name="TextBox 2">
            <a:extLst>
              <a:ext uri="{FF2B5EF4-FFF2-40B4-BE49-F238E27FC236}">
                <a16:creationId xmlns:a16="http://schemas.microsoft.com/office/drawing/2014/main" id="{C4211589-5DF8-424E-B07F-9A3D1415634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835D9A16-A54C-4438-81F3-67A57A16AF76}"/>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8843AECE-D933-49DC-95E3-395C9108A192}"/>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A0A1B8-9C26-498B-A4D0-A9A4F3320FA6}"/>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E95E8463-C794-4306-AA58-CCA169B78A99}"/>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CAF16D9E-2DD7-4F1F-8941-936C7D77F0CF}"/>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APOE regulates neighboring MitoCarta MT genes</a:t>
            </a:r>
          </a:p>
        </p:txBody>
      </p:sp>
      <p:sp>
        <p:nvSpPr>
          <p:cNvPr id="9" name="Oval 8">
            <a:extLst>
              <a:ext uri="{FF2B5EF4-FFF2-40B4-BE49-F238E27FC236}">
                <a16:creationId xmlns:a16="http://schemas.microsoft.com/office/drawing/2014/main" id="{E16DD561-6922-40B1-A418-C44725603E8F}"/>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C1BAA3BF-B3F8-48BC-BCE6-9B4608374562}"/>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One shared astrocyte module across groups</a:t>
            </a:r>
          </a:p>
        </p:txBody>
      </p:sp>
      <p:sp>
        <p:nvSpPr>
          <p:cNvPr id="11" name="Oval 10">
            <a:extLst>
              <a:ext uri="{FF2B5EF4-FFF2-40B4-BE49-F238E27FC236}">
                <a16:creationId xmlns:a16="http://schemas.microsoft.com/office/drawing/2014/main" id="{2E074677-EFA9-4511-A870-F034FCCBC684}"/>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78DB7E-32F6-4360-8806-FC5D2CF1DB78}"/>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sex or genotype interaction from three separate KDA calls</a:t>
            </a:r>
          </a:p>
        </p:txBody>
      </p:sp>
      <p:sp>
        <p:nvSpPr>
          <p:cNvPr id="13" name="Rounded Rectangle 12">
            <a:extLst>
              <a:ext uri="{FF2B5EF4-FFF2-40B4-BE49-F238E27FC236}">
                <a16:creationId xmlns:a16="http://schemas.microsoft.com/office/drawing/2014/main" id="{B104D396-EF30-4C77-93C7-028136811965}"/>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DD1F0ACC-D716-4B30-AB90-9B704088A36E}"/>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7DF40C1-F4E2-4E08-A914-8E58DDC5F354}"/>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EF2E8255-B64E-499E-A78C-D4CD7ABA050D}"/>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E61D654-E60F-495D-963F-64E7E179F099}"/>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Fit disease by sex by APOE models for astrocyte APOE</a:t>
            </a:r>
          </a:p>
        </p:txBody>
      </p:sp>
      <p:sp>
        <p:nvSpPr>
          <p:cNvPr id="18" name="Oval 17">
            <a:extLst>
              <a:ext uri="{FF2B5EF4-FFF2-40B4-BE49-F238E27FC236}">
                <a16:creationId xmlns:a16="http://schemas.microsoft.com/office/drawing/2014/main" id="{714454C2-6720-4192-915E-5C3566C0E7BD}"/>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883DE8D6-147D-449E-A0B2-886913105A63}"/>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Use APOE-isogenic astrocytes</a:t>
            </a:r>
          </a:p>
        </p:txBody>
      </p:sp>
      <p:sp>
        <p:nvSpPr>
          <p:cNvPr id="20" name="Oval 19">
            <a:extLst>
              <a:ext uri="{FF2B5EF4-FFF2-40B4-BE49-F238E27FC236}">
                <a16:creationId xmlns:a16="http://schemas.microsoft.com/office/drawing/2014/main" id="{37A5FCA7-C2E3-4A9A-AF09-A44EC9FE16FF}"/>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FDFA38B-EEF9-40D6-AFF9-2C6AB5DB7FA9}"/>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lipid handling, neighboring proteins, and mitochondrial function</a:t>
            </a:r>
          </a:p>
        </p:txBody>
      </p:sp>
      <p:sp>
        <p:nvSpPr>
          <p:cNvPr id="22" name="TextBox 21">
            <a:extLst>
              <a:ext uri="{FF2B5EF4-FFF2-40B4-BE49-F238E27FC236}">
                <a16:creationId xmlns:a16="http://schemas.microsoft.com/office/drawing/2014/main" id="{CDFFDD35-A24B-4C3B-AB00-D1B6A283968C}"/>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133123282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5C122C-AABD-4195-A2C7-7D285211C2D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16 does not prove, and the next evidence needed</a:t>
            </a:r>
          </a:p>
        </p:txBody>
      </p:sp>
      <p:sp>
        <p:nvSpPr>
          <p:cNvPr id="3" name="TextBox 2">
            <a:extLst>
              <a:ext uri="{FF2B5EF4-FFF2-40B4-BE49-F238E27FC236}">
                <a16:creationId xmlns:a16="http://schemas.microsoft.com/office/drawing/2014/main" id="{0F9A32C3-4064-4A27-9B80-A85C8DDBD20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A30BA365-049B-459E-A042-DFB723D9280F}"/>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24983D76-DB1E-4652-8599-AC59F746B347}"/>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E1EF561-0898-4125-8C1D-2A9EAD478646}"/>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CCBABE0F-2756-458A-9DA2-8D51C9336AEE}"/>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6D2C0FC-4E07-4A8C-906D-A67BB2B78215}"/>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The type of stress that activated the genes</a:t>
            </a:r>
          </a:p>
        </p:txBody>
      </p:sp>
      <p:sp>
        <p:nvSpPr>
          <p:cNvPr id="9" name="Oval 8">
            <a:extLst>
              <a:ext uri="{FF2B5EF4-FFF2-40B4-BE49-F238E27FC236}">
                <a16:creationId xmlns:a16="http://schemas.microsoft.com/office/drawing/2014/main" id="{110E0C3E-4483-4C8A-8A4D-9E23F7EEB33F}"/>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065554-A286-47AC-8640-DA0C5BA20A52}"/>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broad or sustained vascular response</a:t>
            </a:r>
          </a:p>
        </p:txBody>
      </p:sp>
      <p:sp>
        <p:nvSpPr>
          <p:cNvPr id="11" name="Oval 10">
            <a:extLst>
              <a:ext uri="{FF2B5EF4-FFF2-40B4-BE49-F238E27FC236}">
                <a16:creationId xmlns:a16="http://schemas.microsoft.com/office/drawing/2014/main" id="{45DEE74B-2F99-4E5F-8880-C899541C82AF}"/>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8066F44-EF28-4748-887C-D4C5204D00A5}"/>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female by ε4 disease interaction</a:t>
            </a:r>
          </a:p>
        </p:txBody>
      </p:sp>
      <p:sp>
        <p:nvSpPr>
          <p:cNvPr id="13" name="Rounded Rectangle 12">
            <a:extLst>
              <a:ext uri="{FF2B5EF4-FFF2-40B4-BE49-F238E27FC236}">
                <a16:creationId xmlns:a16="http://schemas.microsoft.com/office/drawing/2014/main" id="{E939EDE8-36EA-4905-A81B-755416534E2D}"/>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29EB9CBE-FD19-4F1D-A140-85CEECB2CA88}"/>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C9E5B0-0268-4E16-8192-014C00889CBA}"/>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1DC2BC51-F1AA-4062-A830-278CF14975E8}"/>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E738993-3945-44EA-8C93-D2F81B533839}"/>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Confirm the module in donor-level vascular data</a:t>
            </a:r>
          </a:p>
        </p:txBody>
      </p:sp>
      <p:sp>
        <p:nvSpPr>
          <p:cNvPr id="18" name="Oval 17">
            <a:extLst>
              <a:ext uri="{FF2B5EF4-FFF2-40B4-BE49-F238E27FC236}">
                <a16:creationId xmlns:a16="http://schemas.microsoft.com/office/drawing/2014/main" id="{A3542EAD-D9B7-407C-8185-3C931869CA68}"/>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5C9A346-D2A6-4E09-8335-FB45CF5531E3}"/>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Fit direct disease by sex by ε4 interactions</a:t>
            </a:r>
          </a:p>
        </p:txBody>
      </p:sp>
      <p:sp>
        <p:nvSpPr>
          <p:cNvPr id="20" name="Oval 19">
            <a:extLst>
              <a:ext uri="{FF2B5EF4-FFF2-40B4-BE49-F238E27FC236}">
                <a16:creationId xmlns:a16="http://schemas.microsoft.com/office/drawing/2014/main" id="{D0EA3927-0015-41DE-9DA7-30CAD3E434C8}"/>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EEE1A73-9946-43BA-B0B0-F266DC98E6D2}"/>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Measure HSF1 targets spatially near brain vessels</a:t>
            </a:r>
          </a:p>
        </p:txBody>
      </p:sp>
      <p:sp>
        <p:nvSpPr>
          <p:cNvPr id="22" name="TextBox 21">
            <a:extLst>
              <a:ext uri="{FF2B5EF4-FFF2-40B4-BE49-F238E27FC236}">
                <a16:creationId xmlns:a16="http://schemas.microsoft.com/office/drawing/2014/main" id="{D0B9E282-0801-4ED5-93EE-820E5B46247F}"/>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67731786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8C8AAF-6A14-45F1-83DD-038175D9FC2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What Finding 17 does not prove, and the next evidence needed</a:t>
            </a:r>
          </a:p>
        </p:txBody>
      </p:sp>
      <p:sp>
        <p:nvSpPr>
          <p:cNvPr id="3" name="TextBox 2">
            <a:extLst>
              <a:ext uri="{FF2B5EF4-FFF2-40B4-BE49-F238E27FC236}">
                <a16:creationId xmlns:a16="http://schemas.microsoft.com/office/drawing/2014/main" id="{0401A84C-572D-46D0-A2B4-3CF8F08387C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a:ext uri="{FF2B5EF4-FFF2-40B4-BE49-F238E27FC236}">
                <a16:creationId xmlns:a16="http://schemas.microsoft.com/office/drawing/2014/main" id="{4A038885-6E02-4777-90DD-C1FFFF5E20DD}"/>
              </a:ext>
            </a:extLst>
          </p:cNvPr>
          <p:cNvSpPr>
            <a:spLocks noGrp="1"/>
          </p:cNvSpPr>
          <p:nvPr/>
        </p:nvSpPr>
        <p:spPr>
          <a:xfrm>
            <a:off x="658368" y="1298448"/>
            <a:ext cx="5285232" cy="449884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2ECAD3A-7CD5-4012-9F67-9A725D8D48A5}"/>
              </a:ext>
            </a:extLst>
          </p:cNvPr>
          <p:cNvSpPr>
            <a:spLocks noGrp="1"/>
          </p:cNvSpPr>
          <p:nvPr/>
        </p:nvSpPr>
        <p:spPr>
          <a:xfrm>
            <a:off x="950976" y="1636776"/>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CDB2F60-7483-479F-9DDA-1A8436D11557}"/>
              </a:ext>
            </a:extLst>
          </p:cNvPr>
          <p:cNvSpPr>
            <a:spLocks noGrp="1"/>
          </p:cNvSpPr>
          <p:nvPr/>
        </p:nvSpPr>
        <p:spPr>
          <a:xfrm>
            <a:off x="1097280" y="1609344"/>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a:ext uri="{FF2B5EF4-FFF2-40B4-BE49-F238E27FC236}">
                <a16:creationId xmlns:a16="http://schemas.microsoft.com/office/drawing/2014/main" id="{6F7D96FF-7481-41F5-A863-947E23CD85D7}"/>
              </a:ext>
            </a:extLst>
          </p:cNvPr>
          <p:cNvSpPr>
            <a:spLocks noGrp="1"/>
          </p:cNvSpPr>
          <p:nvPr/>
        </p:nvSpPr>
        <p:spPr>
          <a:xfrm>
            <a:off x="950976" y="2304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DBAF205D-D935-46C2-AE7C-0F7394E760D6}"/>
              </a:ext>
            </a:extLst>
          </p:cNvPr>
          <p:cNvSpPr>
            <a:spLocks noGrp="1"/>
          </p:cNvSpPr>
          <p:nvPr/>
        </p:nvSpPr>
        <p:spPr>
          <a:xfrm>
            <a:off x="1124712" y="21762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That zero exact matches refutes ROSMAP candidates</a:t>
            </a:r>
          </a:p>
        </p:txBody>
      </p:sp>
      <p:sp>
        <p:nvSpPr>
          <p:cNvPr id="9" name="Oval 8">
            <a:extLst>
              <a:ext uri="{FF2B5EF4-FFF2-40B4-BE49-F238E27FC236}">
                <a16:creationId xmlns:a16="http://schemas.microsoft.com/office/drawing/2014/main" id="{5CD7FE61-C01D-460C-A9BB-DEB859257B88}"/>
              </a:ext>
            </a:extLst>
          </p:cNvPr>
          <p:cNvSpPr>
            <a:spLocks noGrp="1"/>
          </p:cNvSpPr>
          <p:nvPr/>
        </p:nvSpPr>
        <p:spPr>
          <a:xfrm>
            <a:off x="950976" y="32186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7C72BE04-3FB6-45DC-A571-755640FBDC10}"/>
              </a:ext>
            </a:extLst>
          </p:cNvPr>
          <p:cNvSpPr>
            <a:spLocks noGrp="1"/>
          </p:cNvSpPr>
          <p:nvPr/>
        </p:nvSpPr>
        <p:spPr>
          <a:xfrm>
            <a:off x="1124712" y="30906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Original contexts for LAGE3, MIPOL1, or PAPOLA</a:t>
            </a:r>
          </a:p>
        </p:txBody>
      </p:sp>
      <p:sp>
        <p:nvSpPr>
          <p:cNvPr id="11" name="Oval 10">
            <a:extLst>
              <a:ext uri="{FF2B5EF4-FFF2-40B4-BE49-F238E27FC236}">
                <a16:creationId xmlns:a16="http://schemas.microsoft.com/office/drawing/2014/main" id="{32ED659D-829A-4B45-BB52-412B2BABB442}"/>
              </a:ext>
            </a:extLst>
          </p:cNvPr>
          <p:cNvSpPr>
            <a:spLocks noGrp="1"/>
          </p:cNvSpPr>
          <p:nvPr/>
        </p:nvSpPr>
        <p:spPr>
          <a:xfrm>
            <a:off x="950976" y="41330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D3BF874-C8E6-4DD8-AE42-9EC33F515F36}"/>
              </a:ext>
            </a:extLst>
          </p:cNvPr>
          <p:cNvSpPr>
            <a:spLocks noGrp="1"/>
          </p:cNvSpPr>
          <p:nvPr/>
        </p:nvSpPr>
        <p:spPr>
          <a:xfrm>
            <a:off x="1124712" y="4005072"/>
            <a:ext cx="4398264"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A shared upstream cause for similar mitochondrial gene-set patterns</a:t>
            </a:r>
          </a:p>
        </p:txBody>
      </p:sp>
      <p:sp>
        <p:nvSpPr>
          <p:cNvPr id="13" name="Rounded Rectangle 12">
            <a:extLst>
              <a:ext uri="{FF2B5EF4-FFF2-40B4-BE49-F238E27FC236}">
                <a16:creationId xmlns:a16="http://schemas.microsoft.com/office/drawing/2014/main" id="{F84B8D58-C048-4BCD-AD6B-C02443BC451A}"/>
              </a:ext>
            </a:extLst>
          </p:cNvPr>
          <p:cNvSpPr>
            <a:spLocks noGrp="1"/>
          </p:cNvSpPr>
          <p:nvPr/>
        </p:nvSpPr>
        <p:spPr>
          <a:xfrm>
            <a:off x="6236208" y="1298448"/>
            <a:ext cx="5303520" cy="44988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7139715D-2729-46B7-B54C-C7728952164A}"/>
              </a:ext>
            </a:extLst>
          </p:cNvPr>
          <p:cNvSpPr>
            <a:spLocks noGrp="1"/>
          </p:cNvSpPr>
          <p:nvPr/>
        </p:nvSpPr>
        <p:spPr>
          <a:xfrm>
            <a:off x="6528816" y="163677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A74774-D4C9-47DC-A54D-9E24C00758C4}"/>
              </a:ext>
            </a:extLst>
          </p:cNvPr>
          <p:cNvSpPr>
            <a:spLocks noGrp="1"/>
          </p:cNvSpPr>
          <p:nvPr/>
        </p:nvSpPr>
        <p:spPr>
          <a:xfrm>
            <a:off x="6675120" y="1609344"/>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a:ext uri="{FF2B5EF4-FFF2-40B4-BE49-F238E27FC236}">
                <a16:creationId xmlns:a16="http://schemas.microsoft.com/office/drawing/2014/main" id="{66DAEF89-C272-4F7B-A7BC-D706EEAB233A}"/>
              </a:ext>
            </a:extLst>
          </p:cNvPr>
          <p:cNvSpPr>
            <a:spLocks noGrp="1"/>
          </p:cNvSpPr>
          <p:nvPr/>
        </p:nvSpPr>
        <p:spPr>
          <a:xfrm>
            <a:off x="6528816" y="2304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42C559-DA01-490D-B5A4-38C9BB3EAC06}"/>
              </a:ext>
            </a:extLst>
          </p:cNvPr>
          <p:cNvSpPr>
            <a:spLocks noGrp="1"/>
          </p:cNvSpPr>
          <p:nvPr/>
        </p:nvSpPr>
        <p:spPr>
          <a:xfrm>
            <a:off x="6702552" y="21762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Freeze driver-associated signed gene sets before validation</a:t>
            </a:r>
          </a:p>
        </p:txBody>
      </p:sp>
      <p:sp>
        <p:nvSpPr>
          <p:cNvPr id="18" name="Oval 17">
            <a:extLst>
              <a:ext uri="{FF2B5EF4-FFF2-40B4-BE49-F238E27FC236}">
                <a16:creationId xmlns:a16="http://schemas.microsoft.com/office/drawing/2014/main" id="{C88A6372-0E0B-448A-A3B6-520BA29D2FB5}"/>
              </a:ext>
            </a:extLst>
          </p:cNvPr>
          <p:cNvSpPr>
            <a:spLocks noGrp="1"/>
          </p:cNvSpPr>
          <p:nvPr/>
        </p:nvSpPr>
        <p:spPr>
          <a:xfrm>
            <a:off x="6528816" y="32186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651C554-9803-46B7-A16E-3613038D5594}"/>
              </a:ext>
            </a:extLst>
          </p:cNvPr>
          <p:cNvSpPr>
            <a:spLocks noGrp="1"/>
          </p:cNvSpPr>
          <p:nvPr/>
        </p:nvSpPr>
        <p:spPr>
          <a:xfrm>
            <a:off x="6702552" y="30906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Harmonize networks, stable IDs, and thresholds</a:t>
            </a:r>
          </a:p>
        </p:txBody>
      </p:sp>
      <p:sp>
        <p:nvSpPr>
          <p:cNvPr id="20" name="Oval 19">
            <a:extLst>
              <a:ext uri="{FF2B5EF4-FFF2-40B4-BE49-F238E27FC236}">
                <a16:creationId xmlns:a16="http://schemas.microsoft.com/office/drawing/2014/main" id="{4C709F26-04D6-47C5-A04A-E7CE6F1C241A}"/>
              </a:ext>
            </a:extLst>
          </p:cNvPr>
          <p:cNvSpPr>
            <a:spLocks noGrp="1"/>
          </p:cNvSpPr>
          <p:nvPr/>
        </p:nvSpPr>
        <p:spPr>
          <a:xfrm>
            <a:off x="6528816"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6407286D-B69D-43EF-BE74-D885510BE770}"/>
              </a:ext>
            </a:extLst>
          </p:cNvPr>
          <p:cNvSpPr>
            <a:spLocks noGrp="1"/>
          </p:cNvSpPr>
          <p:nvPr/>
        </p:nvSpPr>
        <p:spPr>
          <a:xfrm>
            <a:off x="6702552" y="4005072"/>
            <a:ext cx="4416551"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0" i="0">
                <a:solidFill>
                  <a:srgbClr val="1F2730"/>
                </a:solidFill>
                <a:latin typeface="Arial"/>
                <a:ea typeface="Arial"/>
                <a:cs typeface="Arial"/>
              </a:rPr>
              <a:t>Test matched and related contexts in a larger balanced cohort</a:t>
            </a:r>
          </a:p>
        </p:txBody>
      </p:sp>
      <p:sp>
        <p:nvSpPr>
          <p:cNvPr id="22" name="TextBox 21">
            <a:extLst>
              <a:ext uri="{FF2B5EF4-FFF2-40B4-BE49-F238E27FC236}">
                <a16:creationId xmlns:a16="http://schemas.microsoft.com/office/drawing/2014/main" id="{DA7B2205-9968-4001-B93E-33EA7F034C16}"/>
              </a:ext>
            </a:extLst>
          </p:cNvPr>
          <p:cNvSpPr>
            <a:spLocks noGrp="1"/>
          </p:cNvSpPr>
          <p:nvPr/>
        </p:nvSpPr>
        <p:spPr>
          <a:xfrm>
            <a:off x="841248" y="6053328"/>
            <a:ext cx="105156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Tree>
    <p:extLst>
      <p:ext uri="{BB962C8B-B14F-4D97-AF65-F5344CB8AC3E}">
        <p14:creationId xmlns:p14="http://schemas.microsoft.com/office/powerpoint/2010/main" val="207099077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37600</Words>
  <Application>Microsoft Macintosh PowerPoint</Application>
  <DocSecurity>0</DocSecurity>
  <PresentationFormat>Widescreen</PresentationFormat>
  <Paragraphs>3534</Paragraphs>
  <Slides>157</Slides>
  <Notes>157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157</vt:i4>
      </vt:variant>
    </vt:vector>
  </HeadingPairs>
  <TitlesOfParts>
    <vt:vector size="16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5</cp:revision>
  <dcterms:created xsi:type="dcterms:W3CDTF">2026-09-20T15:55:40Z</dcterms:created>
  <dcterms:modified xsi:type="dcterms:W3CDTF">2026-09-20T18:46:30Z</dcterms:modified>
</cp:coreProperties>
</file>