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0.xml" ContentType="application/vnd.openxmlformats-officedocument.presentationml.slide+xml"/>
  <Override PartName="/ppt/notesSlides/notesSlide160.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1"/>
  </p:notesMasterIdLst>
  <p:sldIdLst>
    <p:sldId id="256" r:id="rId2"/>
    <p:sldId id="416" r:id="rId166"/>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7" r:id="rId62"/>
    <p:sldId id="318" r:id="rId63"/>
    <p:sldId id="319" r:id="rId64"/>
    <p:sldId id="320" r:id="rId65"/>
    <p:sldId id="321" r:id="rId66"/>
    <p:sldId id="322" r:id="rId67"/>
    <p:sldId id="324" r:id="rId69"/>
    <p:sldId id="325" r:id="rId70"/>
    <p:sldId id="326" r:id="rId71"/>
    <p:sldId id="327" r:id="rId72"/>
    <p:sldId id="328" r:id="rId73"/>
    <p:sldId id="329" r:id="rId74"/>
    <p:sldId id="331" r:id="rId76"/>
    <p:sldId id="332" r:id="rId77"/>
    <p:sldId id="333" r:id="rId78"/>
    <p:sldId id="334" r:id="rId79"/>
    <p:sldId id="335" r:id="rId80"/>
    <p:sldId id="336" r:id="rId81"/>
    <p:sldId id="338" r:id="rId83"/>
    <p:sldId id="339" r:id="rId84"/>
    <p:sldId id="340" r:id="rId85"/>
    <p:sldId id="341" r:id="rId86"/>
    <p:sldId id="342" r:id="rId87"/>
    <p:sldId id="343" r:id="rId88"/>
    <p:sldId id="345" r:id="rId90"/>
    <p:sldId id="346" r:id="rId91"/>
    <p:sldId id="347" r:id="rId92"/>
    <p:sldId id="348" r:id="rId93"/>
    <p:sldId id="349" r:id="rId94"/>
    <p:sldId id="350" r:id="rId95"/>
    <p:sldId id="352" r:id="rId97"/>
    <p:sldId id="353" r:id="rId98"/>
    <p:sldId id="354" r:id="rId99"/>
    <p:sldId id="355" r:id="rId100"/>
    <p:sldId id="356" r:id="rId101"/>
    <p:sldId id="357" r:id="rId102"/>
    <p:sldId id="359" r:id="rId104"/>
    <p:sldId id="360" r:id="rId105"/>
    <p:sldId id="361" r:id="rId106"/>
    <p:sldId id="362" r:id="rId107"/>
    <p:sldId id="363" r:id="rId108"/>
    <p:sldId id="364" r:id="rId109"/>
    <p:sldId id="366" r:id="rId111"/>
    <p:sldId id="367" r:id="rId112"/>
    <p:sldId id="368" r:id="rId113"/>
    <p:sldId id="369" r:id="rId114"/>
    <p:sldId id="370" r:id="rId115"/>
    <p:sldId id="371" r:id="rId116"/>
    <p:sldId id="373" r:id="rId118"/>
    <p:sldId id="374" r:id="rId119"/>
    <p:sldId id="375" r:id="rId120"/>
    <p:sldId id="376" r:id="rId121"/>
    <p:sldId id="377" r:id="rId122"/>
    <p:sldId id="378" r:id="rId123"/>
    <p:sldId id="380" r:id="rId125"/>
    <p:sldId id="381" r:id="rId126"/>
    <p:sldId id="382" r:id="rId127"/>
    <p:sldId id="383" r:id="rId128"/>
    <p:sldId id="384" r:id="rId129"/>
    <p:sldId id="385" r:id="rId130"/>
    <p:sldId id="387" r:id="rId132"/>
    <p:sldId id="388" r:id="rId133"/>
    <p:sldId id="389" r:id="rId134"/>
    <p:sldId id="390" r:id="rId135"/>
    <p:sldId id="391" r:id="rId136"/>
    <p:sldId id="392" r:id="rId137"/>
    <p:sldId id="394" r:id="rId139"/>
    <p:sldId id="395" r:id="rId140"/>
    <p:sldId id="396" r:id="rId141"/>
    <p:sldId id="397" r:id="rId142"/>
    <p:sldId id="398" r:id="rId143"/>
    <p:sldId id="399" r:id="rId144"/>
    <p:sldId id="401" r:id="rId146"/>
    <p:sldId id="402" r:id="rId147"/>
    <p:sldId id="403" r:id="rId148"/>
    <p:sldId id="404" r:id="rId149"/>
    <p:sldId id="405" r:id="rId150"/>
    <p:sldId id="406" r:id="rId151"/>
    <p:sldId id="408" r:id="rId153"/>
    <p:sldId id="409" r:id="rId154"/>
    <p:sldId id="410" r:id="rId155"/>
    <p:sldId id="411" r:id="rId156"/>
    <p:sldId id="412" r:id="rId157"/>
    <p:sldId id="413" r:id="rId158"/>
    <p:sldId id="415" r:id="rId1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4671"/>
  </p:normalViewPr>
  <p:slideViewPr>
    <p:cSldViewPr snapToGrid="0" snapToObjects="1">
      <p:cViewPr varScale="1">
        <p:scale>
          <a:sx n="116" d="100"/>
          <a:sy n="116" d="100"/>
        </p:scale>
        <p:origin x="224"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91" Type="http://schemas.openxmlformats.org/officeDocument/2006/relationships/slide" Target="slides/slide90.xml"/><Relationship Id="rId140" Type="http://schemas.openxmlformats.org/officeDocument/2006/relationships/slide" Target="slides/slide139.xml"/><Relationship Id="rId16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66" Type="http://schemas.openxmlformats.org/officeDocument/2006/relationships/slide" Target="slides/slide16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&#65279;<?xml version="1.0" encoding="utf-8"?><Relationships xmlns="http://schemas.openxmlformats.org/package/2006/relationships"><Relationship Type="http://schemas.openxmlformats.org/officeDocument/2006/relationships/slide" Target="../slides/slide160.xml" Id="R789ca2632a6e47fb" /><Relationship Type="http://schemas.openxmlformats.org/officeDocument/2006/relationships/notesMaster" Target="/ppt/notesMasters/notesMaster1.xml" Id="R1084d3cb043a4f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research question and presentation scope.</a:t>
            </a:r>
          </a:p>
          <a:p xmlns:a="http://schemas.openxmlformats.org/drawingml/2006/main">
            <a:r>
              <a:t/>
            </a:r>
            <a:endParaRPr/>
          </a:p>
          <a:p xmlns:a="http://schemas.openxmlformats.org/drawingml/2006/main">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xmlns:a="http://schemas.openxmlformats.org/drawingml/2006/main">
            <a:r>
              <a:t/>
            </a:r>
            <a:endParaRPr/>
          </a:p>
          <a:p xmlns:a="http://schemas.openxmlformats.org/drawingml/2006/main">
            <a:r>
              <a:t>Scientific boundary: The evidence is transcriptomic and exploratory. Separate results within sex/APOE strata do not by themselves establish a disease-by-sex or disease-by-APOE interaction, and RNA abundance does not measure mitochondrial function directly.</a:t>
            </a:r>
          </a:p>
          <a:p xmlns:a="http://schemas.openxmlformats.org/drawingml/2006/main">
            <a:r>
              <a:t/>
            </a:r>
            <a:endParaRPr/>
          </a:p>
          <a:p xmlns:a="http://schemas.openxmlformats.org/drawingml/2006/main">
            <a:r>
              <a:t>Transition: Preview the overall workflow before beginning the DEG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by defining a contrast, the unit used for each AD-versus-comparison DEG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significant key-driver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summarize all significant DEG results across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distinguish the 13 core MT genes from the broader MitoCarta MT inventory.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Next, explain how each fine-cell DEG list was tested against these pathway definitions.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two-stage pathway analysis and define a significant result.</a:t>
            </a:r>
          </a:p>
          <a:p>
            <a:endParaRPr/>
          </a:p>
          <a:p>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a:endParaRPr/>
          </a:p>
          <a:p>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endParaRPr/>
          </a:p>
          <a:p>
            <a:r>
              <a:t>Transition: Focus next on four mitochondrial pathways used repeatedly in the later findings.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mitochondrial pathways highlighted in the focused results.</a:t>
            </a:r>
          </a:p>
          <a:p>
            <a:endParaRPr/>
          </a:p>
          <a:p>
            <a:r>
              <a:t>Walk through: The focused analysis highlights four fixed pathway definitions, using the same gene membership in every contrast. The first is the 13-gene core MT set. The second contains the 86 nuclear-encoded OXPHOS genes. The third contains 155 genes involved in translating proteins inside mitochondria. The fourth contains 19 MIB/MICOS genes that organize the inner mitochondrial membrane and its folds, called cristae.</a:t>
            </a:r>
          </a:p>
          <a:p>
            <a:endParaRPr/>
          </a:p>
          <a:p>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a:endParaRPr/>
          </a:p>
          <a:p>
            <a:r>
              <a:t>Transition: Next, explain how fine-cell DEG results are pooled into each overlap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and its worked example.</a:t>
            </a:r>
          </a:p>
          <a:p>
            <a:endParaRPr/>
          </a:p>
          <a:p>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Now inspect the calculated pathway-gene coverage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breadth of pathway-gene overlap with the fine-cell DEG results.</a:t>
            </a:r>
          </a:p>
          <a:p>
            <a:endParaRPr/>
          </a:p>
          <a:p>
            <a:r>
              <a:t>Walk through: For each sex/APOE group, a pathway gene is counted once if it was a significant DEG in at least one fine-cell comparison. The denominator is the full frozen pathway size shown on the previous slide.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significant DEG in one fine-cell comparison. If the same gene is significant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Interpret OXPHOS DEG direction across sex/APOE groups and highlight the contrasting epsilon-3 homozygous patterns.</a:t>
            </a:r>
          </a:p>
          <a:p xmlns:a="http://schemas.openxmlformats.org/drawingml/2006/main">
            <a:r>
              <a:t/>
            </a:r>
            <a:endParaRPr/>
          </a:p>
          <a:p xmlns:a="http://schemas.openxmlformats.org/drawingml/2006/main">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xmlns:a="http://schemas.openxmlformats.org/drawingml/2006/main">
            <a:r>
              <a:t/>
            </a:r>
            <a:endParaRPr/>
          </a:p>
          <a:p xmlns:a="http://schemas.openxmlformats.org/drawingml/2006/main">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xmlns:a="http://schemas.openxmlformats.org/drawingml/2006/main">
            <a:r>
              <a:t/>
            </a:r>
            <a:endParaRPr/>
          </a:p>
          <a:p xmlns:a="http://schemas.openxmlformats.org/drawingml/2006/main">
            <a:r>
              <a:t>Transition: Now move to Part 4, where mitochondrial DEGs become network-analysis 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key-driver-analysis section.</a:t>
            </a:r>
          </a:p>
          <a:p xmlns:a="http://schemas.openxmlformats.org/drawingml/2006/main">
            <a:r>
              <a:t/>
            </a:r>
            <a:endParaRPr/>
          </a:p>
          <a:p xmlns:a="http://schemas.openxmlformats.org/drawingml/2006/main">
            <a:r>
              <a:t>Walk through: Part 4 follows mitochondrial DEGs from one fine-cell contrast into one network query, identifies significant returned key drivers, and then aggregates repeated fine-cell evidence within sex/APOE by broad-cell categories using returned-only ACAT.</a:t>
            </a:r>
          </a:p>
          <a:p xmlns:a="http://schemas.openxmlformats.org/drawingml/2006/main">
            <a:r>
              <a:t/>
            </a:r>
            <a:endParaRPr/>
          </a:p>
          <a:p xmlns:a="http://schemas.openxmlformats.org/drawingml/2006/main">
            <a:r>
              <a:t>Scientific boundary: KDA nominates network-associated candidate regulators. It does not prove that a returned gene causally controls the mitochondrial pathway, and it does not pool sex/APOE groups.</a:t>
            </a:r>
          </a:p>
          <a:p xmlns:a="http://schemas.openxmlformats.org/drawingml/2006/main">
            <a:r>
              <a:t/>
            </a:r>
            <a:endParaRPr/>
          </a:p>
          <a:p xmlns:a="http://schemas.openxmlformats.org/drawingml/2006/main">
            <a:r>
              <a:t>Transition: Before walking through KDA, define the category used to summarize fine-cell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categories defined, follow one contrast from DEG analysis to its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significant drivers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Its gene returned from a KDA call rows fall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generated 26 gene rows returned from KDA calls.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Part 6, the biological findings and discussion.</a:t>
            </a:r>
          </a:p>
          <a:p xmlns:a="http://schemas.openxmlformats.org/drawingml/2006/main">
            <a:r>
              <a:t/>
            </a:r>
            <a:endParaRPr/>
          </a:p>
          <a:p xmlns:a="http://schemas.openxmlformats.org/drawingml/2006/main">
            <a:r>
              <a:t>Walk through: Part 6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xmlns:a="http://schemas.openxmlformats.org/drawingml/2006/main">
            <a:r>
              <a:t/>
            </a:r>
            <a:endParaRPr/>
          </a:p>
          <a:p xmlns:a="http://schemas.openxmlformats.org/drawingml/2006/main">
            <a:r>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xmlns:a="http://schemas.openxmlformats.org/drawingml/2006/main">
            <a:r>
              <a:t/>
            </a:r>
            <a:endParaRPr/>
          </a:p>
          <a:p xmlns:a="http://schemas.openxmlformats.org/drawingml/2006/main">
            <a:r>
              <a:t>Transition: Begin with Finding 1, the female epsilon-3 homozygous core MT gene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eligible fine-cell DEG input queries, core MT genes contribute 217 occurrences, and all 217 occurrences are upregulated in AD. Nuclear-encoded OXPHOS genes appear 89 times, with 76 upregulated and 13 downregulated, so 85 percent are upregulated. Within excitatory neurons, 14 eligible fine-cell DEG queries contain 123 core MT gene occurrences, all upregulated. One occurrence means that one pathway gene is a DEG in one fine-cell comparison. The same gene can therefore contribute multiple occurrences across fine cell types. The red banner describes a separate enrichment test, which asks whether an input query contains more core MT genes than expected relative to its exact MitoCarta background after Benjamini-Hochberg correction. The main numbers displayed here are occurrence counts, not counts of enriched queries.</a:t>
            </a:r>
          </a:p>
          <a:p>
            <a:endParaRPr/>
          </a:p>
          <a:p>
            <a:r>
              <a:t>Scientific boundary: The occurrence counts do not represent unique genes, expression magnitude, independent donors, or genes returned from KDA calls. The KDA input query is the mitochondrial DEG list supplied to that call.</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matched female epsilon-3 homozygous excitatory-neuron KDA call was evaluable in SEA-AD, so the coverage is narrow. Its effective query contains 10 genes. Nine are the same core MT genes found in ROSMAP, and all nine are upregulated in the disease group in both cohorts. The analysis observed nine shared genes compared with 3.83 expected under the category-specific background model. The overlap remains significant after correction, with a Benjamini-Hochberg-adjusted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 It also does not require SEA-AD to return the same upstream gene from a KDA call.</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mitonuclear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mitochondrial gene sets. It does not identify a causal upstream driver, prove protein imbalance, or establish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mitonuclear mismatch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eligible male epsilon-3 homozygous fine-cell DEG queries used to make KDA calls, core MT genes contributed 81 occurrences: 70 AD-up and 11 AD-down. Therefore, 86 percent were upregulated. Nuclear-encoded OXPHOS genes contributed 68 occurrences: 8 AD-up and 60 AD-down. Therefore, 88 percent were downregulated. An occurrence is one pathway gene identified as a DEG in one fine-cell comparison, so the same gene can contribute again in another fine cell type.</a:t>
            </a:r>
          </a:p>
          <a:p>
            <a:endParaRPr/>
          </a:p>
          <a:p>
            <a:r>
              <a:t>Scientific boundary: These are occurrences among the mitochondrial DEG input queries, not unique genes, independent donors, or genes returned from KDA calls.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support and what gene-set-level agreement means here.</a:t>
            </a:r>
          </a:p>
          <a:p>
            <a:endParaRPr/>
          </a:p>
          <a:p>
            <a:r>
              <a:t>Walk through: Eight matched male epsilon-3 homozygous inhibitory-neuron KDA calls were evaluable. ROSMAP and SEA-AD shared 22 mitochondrial-query genes, and 19 of the 22 had the same AD direction. Nine core MT genes were upregulated in both cohorts. Nuclear-encoded OXPHOS, protein-import, mitochondrial-ribosome, and maintenance genes were downregulated in both. The overlap was 22 genes compared with 15.17 expected and remained significant after correction, with a Benjamini-Hochberg adjusted P value of 0.0417. Excluding unresolved mitochondrial identity-conflict genes left 21 shared genes and a similar adjusted P value of 0.0486. Gene-set-level support means agreement among related input DEG genes and their directions, not replication of the same gene returned from a KDA call.</a:t>
            </a:r>
          </a:p>
          <a:p>
            <a:endParaRPr/>
          </a:p>
          <a:p>
            <a:r>
              <a:t>Scientific boundary: This is focused cross-cohort support within the matched inhibitory-neuron context. It does not establish the same gene returned from KDA calls,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concordant and discordant genes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directions describe shared mitochondrial-query DEGs rather than genes returned from KDA calls. Directional agreement does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mitonuclear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General mitonuclear biology establishes that OXPHOS requires coordinated mitochondrial-encoded and nuclear-encoded parts, but it does not show a protein imbalance in these samples. Guo and colleagues support analyzing Alzheimer’s molecular networks separately by sex, but they do not test this exact male epsilon-3 homozygous mismatch.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distinguish it from the male APOE ε3/ε3 pattern.</a:t>
            </a:r>
          </a:p>
          <a:p>
            <a:endParaRPr/>
          </a:p>
          <a:p>
            <a:r>
              <a:t>Walk through: Finding 3 concerns female APOE ε2 cells. In the ROSMAP fine-cell analysis, core MT genes and nuclear-encoded OXPHOS genes were both predominantly upregulated in Alzheimer’s disease. The two OXPHOS gene sets therefore move together, unlike the opposite directions observed in male APOE ε3/ε3 cells. This section first states the result, then shows the occurrence counts, resolution checks, biological interpretation, and supporting literature.</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State the female APOE ε2 result and define the two gene sets being compared.</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increase across the two OXPHOS gene sets.</a:t>
            </a:r>
          </a:p>
          <a:p>
            <a:endParaRPr/>
          </a:p>
          <a:p>
            <a:r>
              <a:t>Walk through: Core MT genes are the 13 protein-coding mitochondrial-DNA genes that encode structural OXPHOS subunits. Nuclear-encoded OXPHOS genes are the 86 nuclear genes that encode the remaining structural subunits used in this analysis. Across eligible female APOE ε2 fine-cell comparisons, 127 of 128 core MT gene occurrences and 239 of 243 nuclear-encoded OXPHOS gene occurrences were upregulated in AD. The result is therefore a coordinated transcript-level pattern across both gene sets.</a:t>
            </a:r>
          </a:p>
          <a:p>
            <a:endParaRPr/>
          </a:p>
          <a:p>
            <a:r>
              <a:t>Scientific boundary: An occurrence is one pathway gene identified as a DEG in one eligible fine-cell comparison, so the same gene may appear more than once across cell types. These counts do not measure unique genes, protein assembly, respiration, or ATP production.</a:t>
            </a:r>
          </a:p>
          <a:p>
            <a:endParaRPr/>
          </a:p>
          <a:p>
            <a:r>
              <a:t>Transition: Show the complete ROSMAP occurrence and enrichment counts.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ROSMAP DEG-occurrence pattern for Finding 3.</a:t>
            </a:r>
          </a:p>
          <a:p xmlns:a="http://schemas.openxmlformats.org/drawingml/2006/main">
            <a:r>
              <a:t/>
            </a:r>
            <a:endParaRPr/>
          </a:p>
          <a:p xmlns:a="http://schemas.openxmlformats.org/drawingml/2006/main">
            <a:r>
              <a:t>Walk through: Across eligible female APOE ε2 fine-cell comparisons used for KDA, core MT genes contribute 128 DEG occurrences: 127 AD-up and one AD-down, so 99 percent are upregulated. Nuclear-encoded OXPHOS genes contribute 243 DEG occurrences: 239 AD-up and four AD-down, so 98 percent are upregulated. One occurrence means that one gene is a DEG in one eligible fine-cell comparison; the same gene can contribute another occurrence in another comparison.</a:t>
            </a:r>
          </a:p>
          <a:p xmlns:a="http://schemas.openxmlformats.org/drawingml/2006/main">
            <a:r>
              <a:t/>
            </a:r>
            <a:endParaRPr/>
          </a:p>
          <a:p xmlns:a="http://schemas.openxmlformats.org/drawingml/2006/main">
            <a:r>
              <a:t>Scientific boundary: The numbers 128 and 243 are gene-by-comparison occurrences, not counts of unique genes, cells, donors, or genes returned from KDA calls. The percentages do not measure expression magnitude, OXPHOS protein abundance, respiration, or ATP production.</a:t>
            </a:r>
          </a:p>
          <a:p xmlns:a="http://schemas.openxmlformats.org/drawingml/2006/main">
            <a:r>
              <a:t/>
            </a:r>
            <a:endParaRPr/>
          </a:p>
          <a:p xmlns:a="http://schemas.openxmlformats.org/drawingml/2006/main">
            <a:r>
              <a:t>Transition: Compare this primary fine-cell DEG pattern with the direct broad-cell ROSMAP result and the available SEA-AD coverage.</a:t>
            </a:r>
          </a:p>
          <a:p xmlns:a="http://schemas.openxmlformats.org/drawingml/2006/main">
            <a:r>
              <a:t/>
            </a:r>
            <a:endParaRPr/>
          </a:p>
          <a:p xmlns:a="http://schemas.openxmlformats.org/drawingml/2006/main">
            <a:r>
              <a:t>Sources: docs/analysis/kda_w_human_validation/rosmap_sex_apoe_broad_kda_analysis.md, Finding 3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cell resolution and cohort coverage affect Finding 3.</a:t>
            </a:r>
          </a:p>
          <a:p>
            <a:endParaRPr/>
          </a:p>
          <a:p>
            <a:r>
              <a:t>Walk through: The project treats fine-cell results as primary and direct broad-cell results as sensitivity evidence. In the fine-cell analysis, nine of 12 excitatory fine cell types support core MT upregulation and eight of 12 support nuclear-encoded OXPHOS upregulation. In the direct broad-cell ROSMAP analysis, the nuclear-encoded OXPHOS increase remains strong, but the core MT component is not significant. SEA-AD has no active matched female APOE ε2 category, so it cannot test this finding.</a:t>
            </a:r>
          </a:p>
          <a:p>
            <a:endParaRPr/>
          </a:p>
          <a:p>
            <a:r>
              <a:t>Scientific boundary: The broad-cell disagreement limits how broadly the coordinated two-gene-set result can be generalized. Missing SEA-AD coverage is neutral: it provides neither validation nor contradictory evidence.</a:t>
            </a:r>
          </a:p>
          <a:p>
            <a:endParaRPr/>
          </a:p>
          <a:p>
            <a:r>
              <a:t>Transition: Explain why coordinated upregulation may be biologically interesting without calling it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the female APOE ε2 pattern cautiously.</a:t>
            </a:r>
          </a:p>
          <a:p>
            <a:endParaRPr/>
          </a:p>
          <a:p>
            <a:r>
              <a:t>Walk through: APOE ε2 lowers Alzheimer’s disease risk at the population level, but the current data come from diseased tissue. Both OXPHOS gene sets move upward rather than separating as they do in the male APOE ε3/ε3 finding. This coordinated response could reflect compensation for inefficient mitochondria or another altered disease state. It motivates a protective-response hypothesis for future testing.</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Place the result in the context of APOE risk, mitochondrial biology, and sex-aware Alzheimer’s research.</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literature context and the novelty boundary for Finding 3.</a:t>
            </a:r>
          </a:p>
          <a:p>
            <a:endParaRPr/>
          </a:p>
          <a:p>
            <a:r>
              <a:t>Walk through: Belloy and colleagues establish that Alzheimer’s disease risk differs substantially across APOE alleles, but that work does not explain this female APOE ε2 expression pattern. Lee and colleagues show that APOE state can alter mitochondrial homeostasis in another experimental context. Guo and colleagues support analyzing Alzheimer’s molecular networks by sex and cell type, but they do not report this exact female APOE ε2 OXPHOS result. The novelty label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which shows a different OXPHOS direction in female APOE ε4 fine-cell results.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4 as a female APOE ε4 DEG-direction result.</a:t>
            </a:r>
          </a:p>
          <a:p xmlns:a="http://schemas.openxmlformats.org/drawingml/2006/main">
            <a:r>
              <a:t/>
            </a:r>
            <a:endParaRPr/>
          </a:p>
          <a:p xmlns:a="http://schemas.openxmlformats.org/drawingml/2006/main">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xmlns:a="http://schemas.openxmlformats.org/drawingml/2006/main">
            <a:r>
              <a:t/>
            </a:r>
            <a:endParaRPr/>
          </a:p>
          <a:p xmlns:a="http://schemas.openxmlformats.org/drawingml/2006/main">
            <a:r>
              <a:t>Scientific boundary: This finding describes differential gene expression. It does not directly measure respiratory-complex proteins, oxygen consumption, ATP production, or a causal sex-by-APOE interaction.</a:t>
            </a:r>
          </a:p>
          <a:p xmlns:a="http://schemas.openxmlformats.org/drawingml/2006/main">
            <a:r>
              <a:t/>
            </a:r>
            <a:endParaRPr/>
          </a:p>
          <a:p xmlns:a="http://schemas.openxmlformats.org/drawingml/2006/main">
            <a:r>
              <a:t>Transition: State the two OXPHOS gene-set directions in plain language.</a:t>
            </a:r>
          </a:p>
          <a:p xmlns:a="http://schemas.openxmlformats.org/drawingml/2006/main">
            <a:r>
              <a:t/>
            </a:r>
            <a:endParaRP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female APOE ε4 pattern before showing the counts.</a:t>
            </a:r>
          </a:p>
          <a:p xmlns:a="http://schemas.openxmlformats.org/drawingml/2006/main">
            <a:r>
              <a:t/>
            </a:r>
            <a:endParaRPr/>
          </a:p>
          <a:p xmlns:a="http://schemas.openxmlformats.org/drawingml/2006/main">
            <a:r>
              <a:t>Walk through: Nuclear-encoded OXPHOS genes provide the clear signal: 206 of 216 repeated DEG occurrences are lower in AD. Core MT genes are mixed, with 38 AD-down and 26 AD-up occurrences. Therefore the result is a nuclear-encoded OXPHOS decrease, not a uniform decrease across all MitoCarta MT genes.</a:t>
            </a:r>
          </a:p>
          <a:p xmlns:a="http://schemas.openxmlformats.org/drawingml/2006/main">
            <a:r>
              <a:t/>
            </a:r>
            <a:endParaRPr/>
          </a:p>
          <a:p xmlns:a="http://schemas.openxmlformats.org/drawingml/2006/main">
            <a:r>
              <a:t>Scientific boundary: An occurrence is one gene observed as a DEG in one fine-cell comparison. Repeated occurrences are not independent donors or unique genes, and the direct broad-cell result points in the opposite direction.</a:t>
            </a:r>
          </a:p>
          <a:p xmlns:a="http://schemas.openxmlformats.org/drawingml/2006/main">
            <a:r>
              <a:t/>
            </a:r>
            <a:endParaRPr/>
          </a:p>
          <a:p xmlns:a="http://schemas.openxmlformats.org/drawingml/2006/main">
            <a:r>
              <a:t>Transition: Show the exact occurrence counts and percentages.</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female APOE ε4 DEG directions without mixing them with pathway statistics.</a:t>
            </a:r>
          </a:p>
          <a:p xmlns:a="http://schemas.openxmlformats.org/drawingml/2006/main">
            <a:r>
              <a:t/>
            </a:r>
            <a:endParaRPr/>
          </a:p>
          <a:p xmlns:a="http://schemas.openxmlformats.org/drawingml/2006/main">
            <a:r>
              <a:t>Walk through: Across eligible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xmlns:a="http://schemas.openxmlformats.org/drawingml/2006/main">
            <a:r>
              <a:t/>
            </a:r>
            <a:endParaRPr/>
          </a:p>
          <a:p xmlns:a="http://schemas.openxmlformats.org/drawingml/2006/main">
            <a:r>
              <a:t>Scientific boundary: These are repeated gene-by-fine-cell DEG occurrences. They are not counts of unique genes, cells, donors, or genes returned from KDA calls, and they do not quantify the magnitude of expression change.</a:t>
            </a:r>
          </a:p>
          <a:p xmlns:a="http://schemas.openxmlformats.org/drawingml/2006/main">
            <a:r>
              <a:t/>
            </a:r>
            <a:endParaRPr/>
          </a:p>
          <a:p xmlns:a="http://schemas.openxmlformats.org/drawingml/2006/main">
            <a:r>
              <a:t>Transition: Check whether direct broad-cell analysis supports the same direction.</a:t>
            </a:r>
          </a:p>
          <a:p xmlns:a="http://schemas.openxmlformats.org/drawingml/2006/main">
            <a:r>
              <a:t/>
            </a:r>
          </a:p>
          <a:p xmlns:a="http://schemas.openxmlformats.org/drawingml/2006/main">
            <a:r>
              <a:t>Sources: docs/analysis/kda_w_human_validation/rosmap_sex_apoe_broad_kda_analysis.md, Finding 4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that the female APOE ε4 result changes with cell-type resolution.</a:t>
            </a:r>
          </a:p>
          <a:p xmlns:a="http://schemas.openxmlformats.org/drawingml/2006/main">
            <a:r>
              <a:t/>
            </a:r>
            <a:endParaRPr/>
          </a:p>
          <a:p xmlns:a="http://schemas.openxmlformats.org/drawingml/2006/main">
            <a:r>
              <a:t>Walk through: The fine-cell DEG result points strongly downward for nuclear-encoded OXPHOS genes. In direct broad-cell analysis, however, the ROSMAP excitatory-neuron score is weakly positive and not significant, while the SEA-AD excitatory-neuron score is significantly positive. The available SEA-AD fine-cell check is only one small astrocyte comparison and does not provide convincing support.</a:t>
            </a:r>
          </a:p>
          <a:p xmlns:a="http://schemas.openxmlformats.org/drawingml/2006/main">
            <a:r>
              <a:t/>
            </a:r>
            <a:endParaRPr/>
          </a:p>
          <a:p xmlns:a="http://schemas.openxmlformats.org/drawingml/2006/main">
            <a:r>
              <a:t>Scientific boundary: The disagreement does not invalidate the fine-cell observation, but it prevents describing the decrease as a broad-cell-wide or cross-cohort effect. Aggregation, subtype composition, and limited matched coverage remain plausible explanations.</a:t>
            </a:r>
          </a:p>
          <a:p xmlns:a="http://schemas.openxmlformats.org/drawingml/2006/main">
            <a:r>
              <a:t/>
            </a:r>
            <a:endParaRPr/>
          </a:p>
          <a:p xmlns:a="http://schemas.openxmlformats.org/drawingml/2006/main">
            <a:r>
              <a:t>Transition: Explain the biological importance and the resolution warning together.</a:t>
            </a:r>
          </a:p>
          <a:p xmlns:a="http://schemas.openxmlformats.org/drawingml/2006/main">
            <a:r>
              <a:t/>
            </a:r>
          </a:p>
          <a:p xmlns:a="http://schemas.openxmlformats.org/drawingml/2006/main">
            <a:r>
              <a:t>Sources: docs/analysis/kda_w_human_validation/rosmap_sex_apoe_broad_kda_analysis.md, Finding 4 and validation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a nuclear-encoded OXPHOS decrease could matter biologically.</a:t>
            </a:r>
          </a:p>
          <a:p xmlns:a="http://schemas.openxmlformats.org/drawingml/2006/main">
            <a:r>
              <a:t/>
            </a:r>
            <a:endParaRPr/>
          </a:p>
          <a:p xmlns:a="http://schemas.openxmlformats.org/drawingml/2006/main">
            <a:r>
              <a:t>Walk through: Most respiratory-complex subunits are encoded by nuclear DNA. Lower expression across many of these genes could reduce the supply of complex components or reflect a stress-associated cell state. APOE ε4 makes the hypothesis important because it strongly increases late-onset Alzheimer’s disease risk at the population level.</a:t>
            </a:r>
          </a:p>
          <a:p xmlns:a="http://schemas.openxmlformats.org/drawingml/2006/main">
            <a:r>
              <a:t/>
            </a:r>
            <a:endParaRPr/>
          </a:p>
          <a:p xmlns:a="http://schemas.openxmlformats.org/drawingml/2006/main">
            <a:r>
              <a:t>Scientific boundary: Gene expression alone cannot establish lower respiratory capacity, and the broad-cell direction reverses. The most cautious interpretation is a fine-cell signal that warrants targeted follow-up.</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4 in prior research without overstating replication.</a:t>
            </a:r>
          </a:p>
          <a:p xmlns:a="http://schemas.openxmlformats.org/drawingml/2006/main">
            <a:r>
              <a:t/>
            </a:r>
            <a:endParaRPr/>
          </a:p>
          <a:p xmlns:a="http://schemas.openxmlformats.org/drawingml/2006/main">
            <a:r>
              <a:t>Walk through: The cited APOE4 studies support the biological plausibility of altered mitochondrial homeostasis, and cell-resolved Alzheimer’s studies support strong heterogeneity among brain cell states. None reproduces the exact female APOE ε4 nuclear-encoded OXPHOS DEG pattern shown here.</a:t>
            </a:r>
          </a:p>
          <a:p xmlns:a="http://schemas.openxmlformats.org/drawingml/2006/main">
            <a:r>
              <a:t/>
            </a:r>
            <a:endParaRPr/>
          </a:p>
          <a:p xmlns:a="http://schemas.openxmlformats.org/drawingml/2006/main">
            <a:r>
              <a:t>Scientific boundary: Biological plausibility, novelty, and replication are separate judgments. The current finding remains resolution-sensitive and needs independent confirmation.</a:t>
            </a:r>
          </a:p>
          <a:p xmlns:a="http://schemas.openxmlformats.org/drawingml/2006/main">
            <a:r>
              <a:t/>
            </a:r>
            <a:endParaRPr/>
          </a:p>
          <a:p xmlns:a="http://schemas.openxmlformats.org/drawingml/2006/main">
            <a:r>
              <a:t>Transition: Move to the coordinated downward pattern in male APOE ε2 cells.</a:t>
            </a:r>
          </a:p>
          <a:p xmlns:a="http://schemas.openxmlformats.org/drawingml/2006/main">
            <a:r>
              <a:t/>
            </a:r>
          </a:p>
          <a:p xmlns:a="http://schemas.openxmlformats.org/drawingml/2006/main">
            <a:r>
              <a:t>Sources: docs/analysis/kda_w_human_validation/rosmap_sex_apoe_broad_kda_analysis.md, Finding 4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5 as a coordinated male APOE ε2 DEG decrease.</a:t>
            </a:r>
          </a:p>
          <a:p xmlns:a="http://schemas.openxmlformats.org/drawingml/2006/main">
            <a:r>
              <a:t/>
            </a:r>
            <a:endParaRPr/>
          </a:p>
          <a:p xmlns:a="http://schemas.openxmlformats.org/drawingml/2006/main">
            <a:r>
              <a:t>Walk through: Unlike Finding 4, both defined OXPHOS gene sets move downward in male APOE ε2 fine-cell comparisons. Core MT genes are predominantly AD-down, and nuclear-encoded OXPHOS genes are also predominantly AD-down. The next slides quantify the repeated DEG occurrences and show why the unusually large MitoCarta MT DEG sets matter for interpreting later KDA output.</a:t>
            </a:r>
          </a:p>
          <a:p xmlns:a="http://schemas.openxmlformats.org/drawingml/2006/main">
            <a:r>
              <a:t/>
            </a:r>
            <a:endParaRPr/>
          </a:p>
          <a:p xmlns:a="http://schemas.openxmlformats.org/drawingml/2006/main">
            <a:r>
              <a:t>Scientific boundary: The result describes disease-associated gene expression in observed tissue. It does not imply that APOE ε2 causes the decrease or that lower expression explains APOE ε2 population-level protection.</a:t>
            </a:r>
          </a:p>
          <a:p xmlns:a="http://schemas.openxmlformats.org/drawingml/2006/main">
            <a:r>
              <a:t/>
            </a:r>
            <a:endParaRPr/>
          </a:p>
          <a:p xmlns:a="http://schemas.openxmlformats.org/drawingml/2006/main">
            <a:r>
              <a:t>Transition: State the coordinated direction and its contrast with male APOE ε3/ε3.</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coordinated male APOE ε2 decrease in plain language.</a:t>
            </a:r>
          </a:p>
          <a:p xmlns:a="http://schemas.openxmlformats.org/drawingml/2006/main">
            <a:r>
              <a:t/>
            </a:r>
            <a:endParaRPr/>
          </a:p>
          <a:p xmlns:a="http://schemas.openxmlformats.org/drawingml/2006/main">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xmlns:a="http://schemas.openxmlformats.org/drawingml/2006/main">
            <a:r>
              <a:t/>
            </a:r>
            <a:endParaRPr/>
          </a:p>
          <a:p xmlns:a="http://schemas.openxmlformats.org/drawingml/2006/main">
            <a:r>
              <a:t>Scientific boundary: APOE ε2 lowers average Alzheimer’s disease risk at the population level, but that does not predict every molecular state after disease develops. The observed expression pattern is descriptive rather than causal.</a:t>
            </a:r>
          </a:p>
          <a:p xmlns:a="http://schemas.openxmlformats.org/drawingml/2006/main">
            <a:r>
              <a:t/>
            </a:r>
            <a:endParaRPr/>
          </a:p>
          <a:p xmlns:a="http://schemas.openxmlformats.org/drawingml/2006/main">
            <a:r>
              <a:t>Transition: Show the exact DEG-occurrence percentages.</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Quantify the male APOE ε2 DEG burden in both OXPHOS gene sets.</a:t>
            </a:r>
          </a:p>
          <a:p xmlns:a="http://schemas.openxmlformats.org/drawingml/2006/main">
            <a:r>
              <a:t/>
            </a:r>
            <a:endParaRPr/>
          </a:p>
          <a:p xmlns:a="http://schemas.openxmlformats.org/drawingml/2006/main">
            <a:r>
              <a:t>Walk through: Across eligible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xmlns:a="http://schemas.openxmlformats.org/drawingml/2006/main">
            <a:r>
              <a:t/>
            </a:r>
            <a:endParaRPr/>
          </a:p>
          <a:p xmlns:a="http://schemas.openxmlformats.org/drawingml/2006/main">
            <a:r>
              <a:t>Scientific boundary: The 523 value combines repeated gene-by-fine-cell occurrences from two defined gene sets. It is not a count of unique genes, donors, cells, or genes returned from KDA calls, and it does not measure expression magnitude or mitochondrial function.</a:t>
            </a:r>
          </a:p>
          <a:p xmlns:a="http://schemas.openxmlformats.org/drawingml/2006/main">
            <a:r>
              <a:t/>
            </a:r>
            <a:endParaRPr/>
          </a:p>
          <a:p xmlns:a="http://schemas.openxmlformats.org/drawingml/2006/main">
            <a:r>
              <a:t>Transition: Explain why the male APOE ε2 DEG sets are unusually large.</a:t>
            </a:r>
          </a:p>
          <a:p xmlns:a="http://schemas.openxmlformats.org/drawingml/2006/main">
            <a:r>
              <a:t/>
            </a:r>
          </a:p>
          <a:p xmlns:a="http://schemas.openxmlformats.org/drawingml/2006/main">
            <a:r>
              <a:t>Sources: docs/analysis/kda_w_human_validation/rosmap_sex_apoe_broad_kda_analysis.md, Finding 5 and Section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DEG-set-size caveat for male APOE ε2.</a:t>
            </a:r>
          </a:p>
          <a:p xmlns:a="http://schemas.openxmlformats.org/drawingml/2006/main">
            <a:r>
              <a:t/>
            </a:r>
            <a:endParaRPr/>
          </a:p>
          <a:p xmlns:a="http://schemas.openxmlformats.org/drawingml/2006/main">
            <a:r>
              <a:t>Walk through: For each fine-cell comparison, significant DEGs are restricted to MitoCarta MT genes and to genes available in the relevant network before making the KDA call. The median male APOE ε2 set contains 85 such DEGs, compared with 16.5 across all eligible fine-cell comparisons. More input DEGs create more opportunities for a gene to be returned from a KDA call.</a:t>
            </a:r>
          </a:p>
          <a:p xmlns:a="http://schemas.openxmlformats.org/drawingml/2006/main">
            <a:r>
              <a:t/>
            </a:r>
            <a:endParaRPr/>
          </a:p>
          <a:p xmlns:a="http://schemas.openxmlformats.org/drawingml/2006/main">
            <a:r>
              <a:t>Scientific boundary: This size difference affects comparisons of KDA output counts. It does not change the observed AD-up versus AD-down DEG occurrence counts on the preceding slide. SEA-AD has no matching active male APOE ε2 category here.</a:t>
            </a:r>
          </a:p>
          <a:p xmlns:a="http://schemas.openxmlformats.org/drawingml/2006/main">
            <a:r>
              <a:t/>
            </a:r>
            <a:endParaRPr/>
          </a:p>
          <a:p xmlns:a="http://schemas.openxmlformats.org/drawingml/2006/main">
            <a:r>
              <a:t>Transition: Return to the biological meaning of the coordinated DEG direction.</a:t>
            </a:r>
          </a:p>
          <a:p xmlns:a="http://schemas.openxmlformats.org/drawingml/2006/main">
            <a:r>
              <a:t/>
            </a:r>
          </a:p>
          <a:p xmlns:a="http://schemas.openxmlformats.org/drawingml/2006/main">
            <a:r>
              <a:t>Sources: docs/analysis/kda_w_human_validation/rosmap_sex_apoe_broad_kda_analysis.md, Finding 5 and KDA query-size diagnostics.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Separate the male APOE ε2 DEG direction from inherited-risk interpretation and mitochondrial function.</a:t>
            </a:r>
          </a:p>
          <a:p xmlns:a="http://schemas.openxmlformats.org/drawingml/2006/main">
            <a:r>
              <a:t/>
            </a:r>
            <a:endParaRPr/>
          </a:p>
          <a:p xmlns:a="http://schemas.openxmlformats.org/drawingml/2006/main">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xmlns:a="http://schemas.openxmlformats.org/drawingml/2006/main">
            <a:r>
              <a:t/>
            </a:r>
            <a:endParaRPr/>
          </a:p>
          <a:p xmlns:a="http://schemas.openxmlformats.org/drawingml/2006/main">
            <a:r>
              <a:t>Scientific boundary: Lower gene expression does not by itself demonstrate lower respiratory-complex abundance, respiration, ATP production, or mitochondrial fitness. Protein and functional measurements are needed.</a:t>
            </a:r>
          </a:p>
          <a:p xmlns:a="http://schemas.openxmlformats.org/drawingml/2006/main">
            <a:r>
              <a:t/>
            </a:r>
            <a:endParaRPr/>
          </a:p>
          <a:p xmlns:a="http://schemas.openxmlformats.org/drawingml/2006/main">
            <a:r>
              <a:t>Transition: Place the result in prior research and summarize its evidence level.</a:t>
            </a:r>
          </a:p>
          <a:p xmlns:a="http://schemas.openxmlformats.org/drawingml/2006/main">
            <a:r>
              <a:t/>
            </a:r>
          </a:p>
          <a:p xmlns:a="http://schemas.openxmlformats.org/drawingml/2006/main">
            <a:r>
              <a:t>Sources: docs/analysis/kda_w_human_validation/rosmap_sex_apoe_broad_kda_analysis.md,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5 in prior research without overstating independent support.</a:t>
            </a:r>
          </a:p>
          <a:p xmlns:a="http://schemas.openxmlformats.org/drawingml/2006/main">
            <a:r>
              <a:t/>
            </a:r>
            <a:endParaRPr/>
          </a:p>
          <a:p xmlns:a="http://schemas.openxmlformats.org/drawingml/2006/main">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xmlns:a="http://schemas.openxmlformats.org/drawingml/2006/main">
            <a:r>
              <a:t/>
            </a:r>
            <a:endParaRPr/>
          </a:p>
          <a:p xmlns:a="http://schemas.openxmlformats.org/drawingml/2006/main">
            <a:r>
              <a:t>Scientific boundary: The finding is potentially novel but currently lacks a matched SEA-AD category and functional validation. Novelty and evidence strength should remain separate.</a:t>
            </a:r>
          </a:p>
          <a:p xmlns:a="http://schemas.openxmlformats.org/drawingml/2006/main">
            <a:r>
              <a:t/>
            </a:r>
            <a:endParaRPr/>
          </a:p>
          <a:p xmlns:a="http://schemas.openxmlformats.org/drawingml/2006/main">
            <a:r>
              <a:t>Transition: Move to Finding 6, where male APOE ε4 shows opposite directions across the two OXPHOS gene sets.</a:t>
            </a:r>
          </a:p>
          <a:p xmlns:a="http://schemas.openxmlformats.org/drawingml/2006/main">
            <a:r>
              <a:t/>
            </a:r>
          </a:p>
          <a:p xmlns:a="http://schemas.openxmlformats.org/drawingml/2006/main">
            <a:r>
              <a:t>Sources: docs/analysis/kda_w_human_validation/rosmap_sex_apoe_broad_kda_analysis.md, Finding 5 literature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6 may matter without overstating function.</a:t>
            </a:r>
          </a:p>
          <a:p xmlns:a="http://schemas.openxmlformats.org/drawingml/2006/main">
            <a:r>
              <a:t/>
            </a:r>
            <a:endParaRPr/>
          </a:p>
          <a:p xmlns:a="http://schemas.openxmlformats.org/drawingml/2006/main">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7 may matter without overstating function.</a:t>
            </a:r>
          </a:p>
          <a:p xmlns:a="http://schemas.openxmlformats.org/drawingml/2006/main">
            <a:r>
              <a:t/>
            </a:r>
            <a:endParaRPr/>
          </a:p>
          <a:p xmlns:a="http://schemas.openxmlformats.org/drawingml/2006/main">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8 may matter without overstating function.</a:t>
            </a:r>
          </a:p>
          <a:p xmlns:a="http://schemas.openxmlformats.org/drawingml/2006/main">
            <a:r>
              <a:t/>
            </a:r>
            <a:endParaRPr/>
          </a:p>
          <a:p xmlns:a="http://schemas.openxmlformats.org/drawingml/2006/main">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9 may matter without overstating function.</a:t>
            </a:r>
          </a:p>
          <a:p xmlns:a="http://schemas.openxmlformats.org/drawingml/2006/main">
            <a:r>
              <a:t/>
            </a:r>
            <a:endParaRPr/>
          </a:p>
          <a:p xmlns:a="http://schemas.openxmlformats.org/drawingml/2006/main">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10 may matter without overstating function.</a:t>
            </a:r>
          </a:p>
          <a:p xmlns:a="http://schemas.openxmlformats.org/drawingml/2006/main">
            <a:r>
              <a:t/>
            </a:r>
            <a:endParaRPr/>
          </a:p>
          <a:p xmlns:a="http://schemas.openxmlformats.org/drawingml/2006/main">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11 may matter without overstating function.</a:t>
            </a:r>
          </a:p>
          <a:p xmlns:a="http://schemas.openxmlformats.org/drawingml/2006/main">
            <a:r>
              <a:t/>
            </a:r>
            <a:endParaRPr/>
          </a:p>
          <a:p xmlns:a="http://schemas.openxmlformats.org/drawingml/2006/main">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12 may matter without overstating function.</a:t>
            </a:r>
          </a:p>
          <a:p xmlns:a="http://schemas.openxmlformats.org/drawingml/2006/main">
            <a:r>
              <a:t/>
            </a:r>
            <a:endParaRPr/>
          </a:p>
          <a:p xmlns:a="http://schemas.openxmlformats.org/drawingml/2006/main">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13 may matter without overstating function.</a:t>
            </a:r>
          </a:p>
          <a:p xmlns:a="http://schemas.openxmlformats.org/drawingml/2006/main">
            <a:r>
              <a:t/>
            </a:r>
            <a:endParaRPr/>
          </a:p>
          <a:p xmlns:a="http://schemas.openxmlformats.org/drawingml/2006/main">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14 may matter without overstating function.</a:t>
            </a:r>
          </a:p>
          <a:p xmlns:a="http://schemas.openxmlformats.org/drawingml/2006/main">
            <a:r>
              <a:t/>
            </a:r>
            <a:endParaRPr/>
          </a:p>
          <a:p xmlns:a="http://schemas.openxmlformats.org/drawingml/2006/main">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15 may matter without overstating function.</a:t>
            </a:r>
          </a:p>
          <a:p xmlns:a="http://schemas.openxmlformats.org/drawingml/2006/main">
            <a:r>
              <a:t/>
            </a:r>
            <a:endParaRPr/>
          </a:p>
          <a:p xmlns:a="http://schemas.openxmlformats.org/drawingml/2006/main">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16 may matter without overstating function.</a:t>
            </a:r>
          </a:p>
          <a:p xmlns:a="http://schemas.openxmlformats.org/drawingml/2006/main">
            <a:r>
              <a:t/>
            </a:r>
            <a:endParaRPr/>
          </a:p>
          <a:p xmlns:a="http://schemas.openxmlformats.org/drawingml/2006/main">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17 may matter without overstating function.</a:t>
            </a:r>
          </a:p>
          <a:p xmlns:a="http://schemas.openxmlformats.org/drawingml/2006/main">
            <a:r>
              <a:t/>
            </a:r>
            <a:endParaRPr/>
          </a:p>
          <a:p xmlns:a="http://schemas.openxmlformats.org/drawingml/2006/main">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xmlns:a="http://schemas.openxmlformats.org/drawingml/2006/main">
            <a:r>
              <a:t/>
            </a:r>
            <a:endParaRPr/>
          </a:p>
          <a:p xmlns:a="http://schemas.openxmlformats.org/drawingml/2006/main">
            <a:r>
              <a:t>Scientific boundary: Biological plausibility does not establish the direction of regulation, causality, or functional consequence.</a:t>
            </a:r>
          </a:p>
          <a:p xmlns:a="http://schemas.openxmlformats.org/drawingml/2006/main">
            <a:r>
              <a:t/>
            </a:r>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the analysis moves from cell-level gene expression to validation.</a:t>
            </a:r>
          </a:p>
          <a:p xmlns:a="http://schemas.openxmlformats.org/drawingml/2006/main">
            <a:r>
              <a:t/>
            </a:r>
          </a:p>
          <a:p xmlns:a="http://schemas.openxmlformats.org/drawingml/2006/main">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xmlns:a="http://schemas.openxmlformats.org/drawingml/2006/main">
            <a:r>
              <a:t/>
            </a:r>
          </a:p>
          <a:p xmlns:a="http://schemas.openxmlformats.org/drawingml/2006/main">
            <a:r>
              <a:t>Scientific boundary: The first four stages summarize analyses presented in this deck. Mouse validation is a proposed next step and does not contribute evidence to the current findings.</a:t>
            </a:r>
          </a:p>
          <a:p xmlns:a="http://schemas.openxmlformats.org/drawingml/2006/main">
            <a:r>
              <a:t/>
            </a:r>
          </a:p>
          <a:p xmlns:a="http://schemas.openxmlformats.org/drawingml/2006/main">
            <a:r>
              <a:t>Transition: Begin Part 2 with the differential-expression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9/20/26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9/20/26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9/20/26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9/20/26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9/20/26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&#65279;<?xml version="1.0" encoding="utf-8"?><Relationships xmlns="http://schemas.openxmlformats.org/package/2006/relationships"><Relationship Type="http://schemas.openxmlformats.org/officeDocument/2006/relationships/slideLayout" Target="/ppt/slideLayouts/slideLayout7.xml" Id="R25207034af504b3e" /><Relationship Type="http://schemas.openxmlformats.org/officeDocument/2006/relationships/notesSlide" Target="../notesSlides/notesSlide160.xml" Id="R66b6056a14d14172"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753174"/>
            <a:ext cx="10287000" cy="193283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APOE, and Mitochondrial Gene Expression in Alzheimer’s Disease</a:t>
            </a:r>
          </a:p>
          <a:p>
            <a:endParaRPr sz="3400" b="1">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0A316EEB-069D-41A8-577B-5F43F368006E}"/>
              </a:ext>
            </a:extLst>
          </p:cNvPr>
          <p:cNvSpPr>
            <a:spLocks xmlns:a="http://schemas.openxmlformats.org/drawingml/2006/main" noGrp="1"/>
          </p:cNvSpPr>
          <p:nvPr/>
        </p:nvSpPr>
        <p:spPr>
          <a:xfrm xmlns:a="http://schemas.openxmlformats.org/drawingml/2006/main">
            <a:off x="713232" y="1285018"/>
            <a:ext cx="10287000" cy="88639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0F86007-9552-FFC3-B183-B90F517A5A0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2</a:t>
            </a:r>
            <a:endParaRPr sz="1050" b="1" i="0">
              <a:solidFill>
                <a:srgbClr val="0072B2"/>
              </a:solidFill>
              <a:latin typeface="Arial"/>
              <a:ea typeface="Arial"/>
              <a:cs typeface="Arial"/>
            </a:endParaRPr>
          </a:p>
        </p:txBody>
      </p:sp>
    </p:spTree>
    <p:extLst>
      <p:ext uri="{BB962C8B-B14F-4D97-AF65-F5344CB8AC3E}">
        <p14:creationId xmlns:p14="http://schemas.microsoft.com/office/powerpoint/2010/main" val="1572448250"/>
      </p:ext>
    </p:extLst>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significant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1467083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6449442-E04A-2746-AD1A-39210122B8CC}"/>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C52DFCBC-DC31-CFCB-BB0B-646BD49CF412}"/>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D1B8E3-9AFE-44A7-84AC-59E060C1AB0A}"/>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a:ext uri="{FF2B5EF4-FFF2-40B4-BE49-F238E27FC236}">
                <a16:creationId xmlns:a16="http://schemas.microsoft.com/office/drawing/2014/main" id="{76C30B73-B850-4890-A889-DFA3EAD38926}"/>
              </a:ext>
            </a:extLst>
          </p:cNvPr>
          <p:cNvSpPr>
            <a:spLocks noGrp="1"/>
          </p:cNvSpPr>
          <p:nvPr/>
        </p:nvSpPr>
        <p:spPr>
          <a:xfrm>
            <a:off x="658368" y="1298448"/>
            <a:ext cx="5248656" cy="15544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191EAFF-F0AB-46D5-9D7D-736F342B868E}"/>
              </a:ext>
            </a:extLst>
          </p:cNvPr>
          <p:cNvSpPr>
            <a:spLocks noGrp="1"/>
          </p:cNvSpPr>
          <p:nvPr/>
        </p:nvSpPr>
        <p:spPr>
          <a:xfrm>
            <a:off x="93268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Core MT genes</a:t>
            </a:r>
          </a:p>
        </p:txBody>
      </p:sp>
      <p:sp>
        <p:nvSpPr>
          <p:cNvPr id="6" name="Rounded Rectangle 5">
            <a:extLst>
              <a:ext uri="{FF2B5EF4-FFF2-40B4-BE49-F238E27FC236}">
                <a16:creationId xmlns:a16="http://schemas.microsoft.com/office/drawing/2014/main" id="{34C8B1B4-9F14-4280-835B-8A4AF2D1B91F}"/>
              </a:ext>
            </a:extLst>
          </p:cNvPr>
          <p:cNvSpPr>
            <a:spLocks noGrp="1"/>
          </p:cNvSpPr>
          <p:nvPr/>
        </p:nvSpPr>
        <p:spPr>
          <a:xfrm>
            <a:off x="492861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41289BC-A254-47D6-8E0A-0C7D52C5E414}"/>
              </a:ext>
            </a:extLst>
          </p:cNvPr>
          <p:cNvSpPr>
            <a:spLocks noGrp="1"/>
          </p:cNvSpPr>
          <p:nvPr/>
        </p:nvSpPr>
        <p:spPr>
          <a:xfrm>
            <a:off x="492861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a:ext uri="{FF2B5EF4-FFF2-40B4-BE49-F238E27FC236}">
                <a16:creationId xmlns:a16="http://schemas.microsoft.com/office/drawing/2014/main" id="{D486F27E-C593-4CBC-92F0-7774ED084023}"/>
              </a:ext>
            </a:extLst>
          </p:cNvPr>
          <p:cNvSpPr>
            <a:spLocks noGrp="1"/>
          </p:cNvSpPr>
          <p:nvPr/>
        </p:nvSpPr>
        <p:spPr>
          <a:xfrm>
            <a:off x="492861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a:ext uri="{FF2B5EF4-FFF2-40B4-BE49-F238E27FC236}">
                <a16:creationId xmlns:a16="http://schemas.microsoft.com/office/drawing/2014/main" id="{4CD8BB4D-8045-4530-B427-FE0F7658004D}"/>
              </a:ext>
            </a:extLst>
          </p:cNvPr>
          <p:cNvSpPr>
            <a:spLocks noGrp="1"/>
          </p:cNvSpPr>
          <p:nvPr/>
        </p:nvSpPr>
        <p:spPr>
          <a:xfrm>
            <a:off x="93268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a:t>
            </a:r>
          </a:p>
        </p:txBody>
      </p:sp>
      <p:sp>
        <p:nvSpPr>
          <p:cNvPr id="10" name="Rounded Rectangle 9">
            <a:extLst>
              <a:ext uri="{FF2B5EF4-FFF2-40B4-BE49-F238E27FC236}">
                <a16:creationId xmlns:a16="http://schemas.microsoft.com/office/drawing/2014/main" id="{9CF839F5-9891-4E7C-91FA-0AF64503FA1F}"/>
              </a:ext>
            </a:extLst>
          </p:cNvPr>
          <p:cNvSpPr>
            <a:spLocks noGrp="1"/>
          </p:cNvSpPr>
          <p:nvPr/>
        </p:nvSpPr>
        <p:spPr>
          <a:xfrm>
            <a:off x="6281928" y="1298448"/>
            <a:ext cx="5248656" cy="15544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5967B44-073D-439F-8228-FD11F1FFDE8B}"/>
              </a:ext>
            </a:extLst>
          </p:cNvPr>
          <p:cNvSpPr>
            <a:spLocks noGrp="1"/>
          </p:cNvSpPr>
          <p:nvPr/>
        </p:nvSpPr>
        <p:spPr>
          <a:xfrm>
            <a:off x="6556248" y="1545336"/>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BC8AE1D1-657D-4DBE-9679-214D81AB0DA0}"/>
              </a:ext>
            </a:extLst>
          </p:cNvPr>
          <p:cNvSpPr>
            <a:spLocks noGrp="1"/>
          </p:cNvSpPr>
          <p:nvPr/>
        </p:nvSpPr>
        <p:spPr>
          <a:xfrm>
            <a:off x="10552176" y="1517904"/>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4ED99B-6F63-4B5A-816E-C1F392EFB88A}"/>
              </a:ext>
            </a:extLst>
          </p:cNvPr>
          <p:cNvSpPr>
            <a:spLocks noGrp="1"/>
          </p:cNvSpPr>
          <p:nvPr/>
        </p:nvSpPr>
        <p:spPr>
          <a:xfrm>
            <a:off x="10552176" y="1581912"/>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a:ext uri="{FF2B5EF4-FFF2-40B4-BE49-F238E27FC236}">
                <a16:creationId xmlns:a16="http://schemas.microsoft.com/office/drawing/2014/main" id="{D883BA72-E16B-4926-91CD-EA1C30D2DBA1}"/>
              </a:ext>
            </a:extLst>
          </p:cNvPr>
          <p:cNvSpPr>
            <a:spLocks noGrp="1"/>
          </p:cNvSpPr>
          <p:nvPr/>
        </p:nvSpPr>
        <p:spPr>
          <a:xfrm>
            <a:off x="10552176" y="1819655"/>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a:ext uri="{FF2B5EF4-FFF2-40B4-BE49-F238E27FC236}">
                <a16:creationId xmlns:a16="http://schemas.microsoft.com/office/drawing/2014/main" id="{79A776E0-C79F-4F0C-A32E-D1866EEF5C46}"/>
              </a:ext>
            </a:extLst>
          </p:cNvPr>
          <p:cNvSpPr>
            <a:spLocks noGrp="1"/>
          </p:cNvSpPr>
          <p:nvPr/>
        </p:nvSpPr>
        <p:spPr>
          <a:xfrm>
            <a:off x="6556248" y="2103120"/>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The 86 genes encode structural respiratory-complex subunits.</a:t>
            </a:r>
          </a:p>
        </p:txBody>
      </p:sp>
      <p:sp>
        <p:nvSpPr>
          <p:cNvPr id="16" name="Rounded Rectangle 15">
            <a:extLst>
              <a:ext uri="{FF2B5EF4-FFF2-40B4-BE49-F238E27FC236}">
                <a16:creationId xmlns:a16="http://schemas.microsoft.com/office/drawing/2014/main" id="{526CC8CA-739A-46F1-B520-95335471516B}"/>
              </a:ext>
            </a:extLst>
          </p:cNvPr>
          <p:cNvSpPr>
            <a:spLocks noGrp="1"/>
          </p:cNvSpPr>
          <p:nvPr/>
        </p:nvSpPr>
        <p:spPr>
          <a:xfrm>
            <a:off x="658368" y="3182112"/>
            <a:ext cx="5248656" cy="15544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1B1EA69-A373-4CC9-9F80-7CB08D9F5F45}"/>
              </a:ext>
            </a:extLst>
          </p:cNvPr>
          <p:cNvSpPr>
            <a:spLocks noGrp="1"/>
          </p:cNvSpPr>
          <p:nvPr/>
        </p:nvSpPr>
        <p:spPr>
          <a:xfrm>
            <a:off x="93268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a:ext uri="{FF2B5EF4-FFF2-40B4-BE49-F238E27FC236}">
                <a16:creationId xmlns:a16="http://schemas.microsoft.com/office/drawing/2014/main" id="{BF53B588-109A-4290-9377-253109323524}"/>
              </a:ext>
            </a:extLst>
          </p:cNvPr>
          <p:cNvSpPr>
            <a:spLocks noGrp="1"/>
          </p:cNvSpPr>
          <p:nvPr/>
        </p:nvSpPr>
        <p:spPr>
          <a:xfrm>
            <a:off x="492861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9D23711-31E3-4169-BE39-FAEAE55842D9}"/>
              </a:ext>
            </a:extLst>
          </p:cNvPr>
          <p:cNvSpPr>
            <a:spLocks noGrp="1"/>
          </p:cNvSpPr>
          <p:nvPr/>
        </p:nvSpPr>
        <p:spPr>
          <a:xfrm>
            <a:off x="492861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a:ext uri="{FF2B5EF4-FFF2-40B4-BE49-F238E27FC236}">
                <a16:creationId xmlns:a16="http://schemas.microsoft.com/office/drawing/2014/main" id="{CB1737FE-578C-4CD0-A492-F1BD90D55055}"/>
              </a:ext>
            </a:extLst>
          </p:cNvPr>
          <p:cNvSpPr>
            <a:spLocks noGrp="1"/>
          </p:cNvSpPr>
          <p:nvPr/>
        </p:nvSpPr>
        <p:spPr>
          <a:xfrm>
            <a:off x="492861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a:ext uri="{FF2B5EF4-FFF2-40B4-BE49-F238E27FC236}">
                <a16:creationId xmlns:a16="http://schemas.microsoft.com/office/drawing/2014/main" id="{439B04FD-6FC4-4672-9476-B85E5850150C}"/>
              </a:ext>
            </a:extLst>
          </p:cNvPr>
          <p:cNvSpPr>
            <a:spLocks noGrp="1"/>
          </p:cNvSpPr>
          <p:nvPr/>
        </p:nvSpPr>
        <p:spPr>
          <a:xfrm>
            <a:off x="93268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a:ext uri="{FF2B5EF4-FFF2-40B4-BE49-F238E27FC236}">
                <a16:creationId xmlns:a16="http://schemas.microsoft.com/office/drawing/2014/main" id="{3997E6C8-CC02-4D09-881C-20FE60682995}"/>
              </a:ext>
            </a:extLst>
          </p:cNvPr>
          <p:cNvSpPr>
            <a:spLocks noGrp="1"/>
          </p:cNvSpPr>
          <p:nvPr/>
        </p:nvSpPr>
        <p:spPr>
          <a:xfrm>
            <a:off x="6281928" y="3182112"/>
            <a:ext cx="5248656" cy="15544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DB14D6E4-4D55-480A-BC1D-F214033C4A16}"/>
              </a:ext>
            </a:extLst>
          </p:cNvPr>
          <p:cNvSpPr>
            <a:spLocks noGrp="1"/>
          </p:cNvSpPr>
          <p:nvPr/>
        </p:nvSpPr>
        <p:spPr>
          <a:xfrm>
            <a:off x="6556248" y="3429000"/>
            <a:ext cx="391363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a:ext uri="{FF2B5EF4-FFF2-40B4-BE49-F238E27FC236}">
                <a16:creationId xmlns:a16="http://schemas.microsoft.com/office/drawing/2014/main" id="{EBB36479-DAC4-4A96-A97F-A7C4CBEAD1BE}"/>
              </a:ext>
            </a:extLst>
          </p:cNvPr>
          <p:cNvSpPr>
            <a:spLocks noGrp="1"/>
          </p:cNvSpPr>
          <p:nvPr/>
        </p:nvSpPr>
        <p:spPr>
          <a:xfrm>
            <a:off x="10552176" y="3401568"/>
            <a:ext cx="731520"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E9166DD-0031-4966-A398-0C70AF5B95FB}"/>
              </a:ext>
            </a:extLst>
          </p:cNvPr>
          <p:cNvSpPr>
            <a:spLocks noGrp="1"/>
          </p:cNvSpPr>
          <p:nvPr/>
        </p:nvSpPr>
        <p:spPr>
          <a:xfrm>
            <a:off x="10552176" y="3465576"/>
            <a:ext cx="731520" cy="22860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a:ext uri="{FF2B5EF4-FFF2-40B4-BE49-F238E27FC236}">
                <a16:creationId xmlns:a16="http://schemas.microsoft.com/office/drawing/2014/main" id="{B2208763-11A6-4D06-823D-801A51A3769F}"/>
              </a:ext>
            </a:extLst>
          </p:cNvPr>
          <p:cNvSpPr>
            <a:spLocks noGrp="1"/>
          </p:cNvSpPr>
          <p:nvPr/>
        </p:nvSpPr>
        <p:spPr>
          <a:xfrm>
            <a:off x="10552176" y="3703320"/>
            <a:ext cx="731520" cy="1463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a:ext uri="{FF2B5EF4-FFF2-40B4-BE49-F238E27FC236}">
                <a16:creationId xmlns:a16="http://schemas.microsoft.com/office/drawing/2014/main" id="{60EF670B-4939-4139-B603-D1022072D211}"/>
              </a:ext>
            </a:extLst>
          </p:cNvPr>
          <p:cNvSpPr>
            <a:spLocks noGrp="1"/>
          </p:cNvSpPr>
          <p:nvPr/>
        </p:nvSpPr>
        <p:spPr>
          <a:xfrm>
            <a:off x="6556248" y="3986784"/>
            <a:ext cx="4681728" cy="45720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a:ext uri="{FF2B5EF4-FFF2-40B4-BE49-F238E27FC236}">
                <a16:creationId xmlns:a16="http://schemas.microsoft.com/office/drawing/2014/main" id="{21F074FA-CF2F-4087-BE09-4880E2ED30D5}"/>
              </a:ext>
            </a:extLst>
          </p:cNvPr>
          <p:cNvSpPr>
            <a:spLocks noGrp="1"/>
          </p:cNvSpPr>
          <p:nvPr/>
        </p:nvSpPr>
        <p:spPr>
          <a:xfrm>
            <a:off x="658368" y="5138928"/>
            <a:ext cx="10881360" cy="950976"/>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E4829F8C-5C6A-48DB-A931-0E9DAE0E017B}"/>
              </a:ext>
            </a:extLst>
          </p:cNvPr>
          <p:cNvSpPr>
            <a:spLocks noGrp="1"/>
          </p:cNvSpPr>
          <p:nvPr/>
        </p:nvSpPr>
        <p:spPr>
          <a:xfrm>
            <a:off x="932688" y="5321808"/>
            <a:ext cx="15727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a:ext uri="{FF2B5EF4-FFF2-40B4-BE49-F238E27FC236}">
                <a16:creationId xmlns:a16="http://schemas.microsoft.com/office/drawing/2014/main" id="{AEB0958F-2F10-42D0-B04E-2CA42DA26A1E}"/>
              </a:ext>
            </a:extLst>
          </p:cNvPr>
          <p:cNvSpPr>
            <a:spLocks noGrp="1"/>
          </p:cNvSpPr>
          <p:nvPr/>
        </p:nvSpPr>
        <p:spPr>
          <a:xfrm>
            <a:off x="2651760" y="5285232"/>
            <a:ext cx="8412480"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1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0A38812-820E-43AA-AEA6-5D3C98C983E1}"/>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4</a:t>
            </a:r>
            <a:endParaRPr sz="1050" b="1" i="0">
              <a:solidFill>
                <a:srgbClr val="0072B2"/>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B029E37C-4342-4CDA-8A77-437F6147B463}"/>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F756A2B-C51E-4074-A29B-8354303A5F96}"/>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xmlns:a="http://schemas.openxmlformats.org/drawingml/2006/main">
              <a:ext uri="{FF2B5EF4-FFF2-40B4-BE49-F238E27FC236}">
                <a16:creationId xmlns:a16="http://schemas.microsoft.com/office/drawing/2014/main" id="{B83AEE6C-0C4B-4977-BEEB-80A7144C7C9A}"/>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13A4AF5-D8B1-41D0-AA6F-13D5CC8DBC3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BDF530FF-5B80-4445-971C-3E93F262580E}"/>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3B20975-3211-4AF5-9570-0EB0D9AD689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4B591A55-3D73-4ECA-BE0D-C3ACADE17C01}"/>
              </a:ext>
            </a:extLst>
          </p:cNvPr>
          <p:cNvSpPr>
            <a:spLocks xmlns:a="http://schemas.openxmlformats.org/drawingml/2006/main" noGrp="1"/>
          </p:cNvSpPr>
          <p:nvPr/>
        </p:nvSpPr>
        <p:spPr>
          <a:xfrm xmlns:a="http://schemas.openxmlformats.org/drawingml/2006/main">
            <a:off x="9628632" y="203482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D0513708-4DE7-443D-9851-630F8E71D76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08C1D71-67D0-44D5-864E-C04624C18AFA}"/>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E3EEDA7-BA00-4CDB-BFDE-9F2883F95298}"/>
              </a:ext>
            </a:extLst>
          </p:cNvPr>
          <p:cNvSpPr>
            <a:spLocks xmlns:a="http://schemas.openxmlformats.org/drawingml/2006/main" noGrp="1"/>
          </p:cNvSpPr>
          <p:nvPr/>
        </p:nvSpPr>
        <p:spPr>
          <a:xfrm xmlns:a="http://schemas.openxmlformats.org/drawingml/2006/main">
            <a:off x="9628632" y="2790427"/>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xmlns:a="http://schemas.openxmlformats.org/drawingml/2006/main">
              <a:ext uri="{FF2B5EF4-FFF2-40B4-BE49-F238E27FC236}">
                <a16:creationId xmlns:a16="http://schemas.microsoft.com/office/drawing/2014/main" id="{2BFBCCAC-5C0E-417E-8013-1A19463D7077}"/>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CB6D520-0795-4F7E-A96C-A74455F24ED6}"/>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C755F62-BD64-4F6E-B193-416C9CE4E9C5}"/>
              </a:ext>
            </a:extLst>
          </p:cNvPr>
          <p:cNvSpPr>
            <a:spLocks xmlns:a="http://schemas.openxmlformats.org/drawingml/2006/main" noGrp="1"/>
          </p:cNvSpPr>
          <p:nvPr/>
        </p:nvSpPr>
        <p:spPr>
          <a:xfrm xmlns:a="http://schemas.openxmlformats.org/drawingml/2006/main">
            <a:off x="9628632" y="3551805"/>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5225D091-C2ED-4309-ACD3-2E65A4BFB68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133959B-4CEB-4D27-A9C6-57EADC2D811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BA6D3EF5-7783-4F39-99AB-618E5BD525A9}"/>
              </a:ext>
            </a:extLst>
          </p:cNvPr>
          <p:cNvSpPr>
            <a:spLocks xmlns:a="http://schemas.openxmlformats.org/drawingml/2006/main" noGrp="1"/>
          </p:cNvSpPr>
          <p:nvPr/>
        </p:nvSpPr>
        <p:spPr>
          <a:xfrm xmlns:a="http://schemas.openxmlformats.org/drawingml/2006/main">
            <a:off x="9628632" y="4295829"/>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489644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significant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2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F569C9E-D5CE-444A-96FB-F4D407E28AC3}"/>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9E73"/>
                </a:solidFill>
                <a:latin typeface="Arial"/>
                <a:ea typeface="Arial"/>
                <a:cs typeface="Arial"/>
              </a:rPr>
              <a:t>PART 5</a:t>
            </a:r>
            <a:endParaRPr sz="1050" b="1" i="0">
              <a:solidFill>
                <a:srgbClr val="009E73"/>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F2BA23F8-CF15-4B72-8BB2-D57E6CA0166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3DC0AD6-4299-4D0F-961F-96F0FB854F2D}"/>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xmlns:a="http://schemas.openxmlformats.org/drawingml/2006/main">
              <a:ext uri="{FF2B5EF4-FFF2-40B4-BE49-F238E27FC236}">
                <a16:creationId xmlns:a16="http://schemas.microsoft.com/office/drawing/2014/main" id="{F0D7FE17-E245-404D-80E1-239C6047FE4B}"/>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3251616-1E09-4A84-857B-CC40EAF794CB}"/>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17E07A8E-BBA6-4DDE-8AF7-797D7EF21C77}"/>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27F1BCE-39EA-40B8-8D6A-32B1CFF4BBA0}"/>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7E0B846-5D25-4AAF-820D-ADE26EB228EA}"/>
              </a:ext>
            </a:extLst>
          </p:cNvPr>
          <p:cNvSpPr>
            <a:spLocks xmlns:a="http://schemas.openxmlformats.org/drawingml/2006/main" noGrp="1"/>
          </p:cNvSpPr>
          <p:nvPr/>
        </p:nvSpPr>
        <p:spPr>
          <a:xfrm xmlns:a="http://schemas.openxmlformats.org/drawingml/2006/main">
            <a:off x="9628632" y="2011680"/>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25BC35C0-8EB4-4CB9-B6DC-12707E7E0DC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F3E593C-CE4C-44A9-AA30-21B82C7AFD46}"/>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557AEFD-363D-42FB-B1C6-16E766E0557D}"/>
              </a:ext>
            </a:extLst>
          </p:cNvPr>
          <p:cNvSpPr>
            <a:spLocks xmlns:a="http://schemas.openxmlformats.org/drawingml/2006/main" noGrp="1"/>
          </p:cNvSpPr>
          <p:nvPr/>
        </p:nvSpPr>
        <p:spPr>
          <a:xfrm xmlns:a="http://schemas.openxmlformats.org/drawingml/2006/main">
            <a:off x="9628632" y="276148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xmlns:a="http://schemas.openxmlformats.org/drawingml/2006/main">
              <a:ext uri="{FF2B5EF4-FFF2-40B4-BE49-F238E27FC236}">
                <a16:creationId xmlns:a16="http://schemas.microsoft.com/office/drawing/2014/main" id="{76022DFA-4C8F-40E9-AEFC-D847CF926B92}"/>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8763030-A0D4-403C-B577-1D252BB5289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AA043817-07B6-4981-9CE4-DEAE214BE66C}"/>
              </a:ext>
            </a:extLst>
          </p:cNvPr>
          <p:cNvSpPr>
            <a:spLocks xmlns:a="http://schemas.openxmlformats.org/drawingml/2006/main" noGrp="1"/>
          </p:cNvSpPr>
          <p:nvPr/>
        </p:nvSpPr>
        <p:spPr>
          <a:xfrm xmlns:a="http://schemas.openxmlformats.org/drawingml/2006/main">
            <a:off x="9628632" y="3511296"/>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674AE4D7-1D34-4866-989F-DE4C41BF6661}"/>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0DB2C69-CC33-4708-BF6C-708EE3B38B85}"/>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44C318C-EA1D-4BAC-ADDA-C0B26C695230}"/>
              </a:ext>
            </a:extLst>
          </p:cNvPr>
          <p:cNvSpPr>
            <a:spLocks xmlns:a="http://schemas.openxmlformats.org/drawingml/2006/main" noGrp="1"/>
          </p:cNvSpPr>
          <p:nvPr/>
        </p:nvSpPr>
        <p:spPr>
          <a:xfrm xmlns:a="http://schemas.openxmlformats.org/drawingml/2006/main">
            <a:off x="9628632" y="4261104"/>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returned from KDA call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significant genes; 2 returned no significant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significant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3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A8AB12A-D026-4286-B862-075E45B71C5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PART 5</a:t>
            </a:r>
          </a:p>
        </p:txBody>
      </p:sp>
      <p:sp>
        <p:nvSpPr>
          <p:cNvPr id="3" name="Rectangle 2">
            <a:extLst xmlns:a="http://schemas.openxmlformats.org/drawingml/2006/main">
              <a:ext uri="{FF2B5EF4-FFF2-40B4-BE49-F238E27FC236}">
                <a16:creationId xmlns:a16="http://schemas.microsoft.com/office/drawing/2014/main" id="{9B90BBA1-E9E2-4E17-A6C8-66AF73EEFBD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AF6BA42-08C4-4EA5-A344-09381D0B027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xmlns:a="http://schemas.openxmlformats.org/drawingml/2006/main">
              <a:ext uri="{FF2B5EF4-FFF2-40B4-BE49-F238E27FC236}">
                <a16:creationId xmlns:a16="http://schemas.microsoft.com/office/drawing/2014/main" id="{2067FDA8-407C-4DBE-B763-2AC484C63E1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xmlns:a="http://schemas.openxmlformats.org/drawingml/2006/main">
              <a:ext uri="{FF2B5EF4-FFF2-40B4-BE49-F238E27FC236}">
                <a16:creationId xmlns:a16="http://schemas.microsoft.com/office/drawing/2014/main" id="{3D417846-D3C8-43D7-A99E-359027C6D74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C1A4EC2-5414-418D-9D33-A636ADFB559C}"/>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7D989CA6-1B16-4974-BEE8-CD8009EA7F8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03E7C55-5C6F-4719-AB0F-5EFB8E09B2D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B8E80E10-25DA-460A-B848-8A88ABF781AE}"/>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xmlns:a="http://schemas.openxmlformats.org/drawingml/2006/main">
              <a:ext uri="{FF2B5EF4-FFF2-40B4-BE49-F238E27FC236}">
                <a16:creationId xmlns:a16="http://schemas.microsoft.com/office/drawing/2014/main" id="{3CDE8AE7-2294-4DE5-980E-32E501A6C09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5F7ACA8-9E5D-4F7D-9F5E-1C89B8FBD38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0F70274-A525-4BB9-A129-15E33D9F61D7}"/>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xmlns:a="http://schemas.openxmlformats.org/drawingml/2006/main">
              <a:ext uri="{FF2B5EF4-FFF2-40B4-BE49-F238E27FC236}">
                <a16:creationId xmlns:a16="http://schemas.microsoft.com/office/drawing/2014/main" id="{A5541F68-CF6A-4665-AEE6-F8BA0BD62716}"/>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B6A3F6F-C41C-44D9-B1B9-F84CE5103C8B}"/>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1A32B75A-B123-4918-8015-2D4F13003D0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xmlns:a="http://schemas.openxmlformats.org/drawingml/2006/main">
              <a:ext uri="{FF2B5EF4-FFF2-40B4-BE49-F238E27FC236}">
                <a16:creationId xmlns:a16="http://schemas.microsoft.com/office/drawing/2014/main" id="{7E5D2E0A-EEB4-4E1B-BE39-4C5A4649E1E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8954FAC-8826-4644-A259-79B90925CF5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FE01F0D-1D60-41F0-AA9B-D1D892B891B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xmlns:a="http://schemas.openxmlformats.org/drawingml/2006/main">
              <a:ext uri="{FF2B5EF4-FFF2-40B4-BE49-F238E27FC236}">
                <a16:creationId xmlns:a16="http://schemas.microsoft.com/office/drawing/2014/main" id="{CCEC5EAA-C189-406C-9B90-06ED8DBF0FF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F67AE32-97EB-4716-897E-EF1FA7C0A5E9}"/>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Significant 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count significant rows returned from KDA calls.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significant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4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CEED15BB-A501-7FB7-FD95-303970C34A77}"/>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1E95D6F-12BB-832F-CD3D-727DAFEFB6A8}"/>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6</a:t>
            </a:r>
          </a:p>
        </p:txBody>
      </p:sp>
    </p:spTree>
    <p:extLst>
      <p:ext uri="{BB962C8B-B14F-4D97-AF65-F5344CB8AC3E}">
        <p14:creationId xmlns:p14="http://schemas.microsoft.com/office/powerpoint/2010/main" val="686704019"/>
      </p:ext>
    </p:extLst>
  </p:cSld>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a:ext uri="{FF2B5EF4-FFF2-40B4-BE49-F238E27FC236}">
                <a16:creationId xmlns:a16="http://schemas.microsoft.com/office/drawing/2014/main" id="{7A26DA41-6A03-4CC9-BACC-DA751FFA8E7B}"/>
              </a:ext>
            </a:extLst>
          </p:cNvPr>
          <p:cNvSpPr>
            <a:spLocks noGrp="1"/>
          </p:cNvSpPr>
          <p:nvPr/>
        </p:nvSpPr>
        <p:spPr>
          <a:xfrm>
            <a:off x="658368" y="1210479"/>
            <a:ext cx="10881360" cy="586527"/>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808A5551-66D5-4B83-AAA6-63525B06F404}"/>
              </a:ext>
            </a:extLst>
          </p:cNvPr>
          <p:cNvSpPr>
            <a:spLocks noGrp="1"/>
          </p:cNvSpPr>
          <p:nvPr/>
        </p:nvSpPr>
        <p:spPr>
          <a:xfrm>
            <a:off x="1060704" y="1330657"/>
            <a:ext cx="10058400"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FF0000"/>
                </a:solidFill>
                <a:latin typeface="Arial"/>
                <a:ea typeface="Arial"/>
                <a:cs typeface="Arial"/>
              </a:rPr>
              <a:t>Enriched = more core MT genes than expected by chance in the exact background (BH-adjusted P &lt; 0.05). Tested genes are the MitoCarta MT genes in the KDA query.</a:t>
            </a:r>
            <a:endParaRPr sz="1200" b="0" i="0">
              <a:solidFill>
                <a:srgbClr val="4E5A68"/>
              </a:solidFill>
              <a:latin typeface="Arial"/>
              <a:ea typeface="Arial"/>
              <a:cs typeface="Arial"/>
            </a:endParaRP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For all eligible F_e33 KDA calls</a:t>
            </a:r>
          </a:p>
        </p:txBody>
      </p:sp>
    </p:spTree>
    <p:extLst>
      <p:ext uri="{BB962C8B-B14F-4D97-AF65-F5344CB8AC3E}">
        <p14:creationId xmlns:p14="http://schemas.microsoft.com/office/powerpoint/2010/main" val="331932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matched female ε3/ε3 excitatory KDA call was evaluable, so support is strong in direction but limited in coverage.</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 query genes include nine shared core MT genes</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Every shared gene is upregulated in both datasets.</a:t>
            </a:r>
          </a:p>
        </p:txBody>
      </p:sp>
    </p:spTree>
    <p:extLst>
      <p:ext uri="{BB962C8B-B14F-4D97-AF65-F5344CB8AC3E}">
        <p14:creationId xmlns:p14="http://schemas.microsoft.com/office/powerpoint/2010/main" val="1110494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pathway finding based on DEGs, not an identified upstream key driver.</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same genes returned from ROSMAP KDA calls.</a:t>
            </a:r>
          </a:p>
        </p:txBody>
      </p:sp>
    </p:spTree>
    <p:extLst>
      <p:ext uri="{BB962C8B-B14F-4D97-AF65-F5344CB8AC3E}">
        <p14:creationId xmlns:p14="http://schemas.microsoft.com/office/powerpoint/2010/main" val="1980501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gene-set support.</a:t>
            </a:r>
          </a:p>
        </p:txBody>
      </p:sp>
    </p:spTree>
    <p:extLst>
      <p:ext uri="{BB962C8B-B14F-4D97-AF65-F5344CB8AC3E}">
        <p14:creationId xmlns:p14="http://schemas.microsoft.com/office/powerpoint/2010/main" val="13367061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eligible fine-cell DEG queries; occurrences repeat genes across KDA calls.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gene-set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8 matched KDA calls were evaluable. Support is gene-set-level rather than replication of the same gene returned from KDA calls.</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query genes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The agreement spans respiratory subunits, transport, import, mitochondrial ribosomes, and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Known mitonuclear biology and cell-resolved AD studies make the finding plausible without independently duplicating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occurrances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a:ext uri="{FF2B5EF4-FFF2-40B4-BE49-F238E27FC236}">
                <a16:creationId xmlns:a16="http://schemas.microsoft.com/office/drawing/2014/main" id="{8B78A23B-5C0A-4E24-ABAC-8EFD3DBD0D4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KDA calls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KDA calls</a:t>
            </a:r>
          </a:p>
        </p:txBody>
      </p:sp>
    </p:spTree>
    <p:extLst>
      <p:ext uri="{BB962C8B-B14F-4D97-AF65-F5344CB8AC3E}">
        <p14:creationId xmlns:p14="http://schemas.microsoft.com/office/powerpoint/2010/main" val="4580754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a:ext uri="{FF2B5EF4-FFF2-40B4-BE49-F238E27FC236}">
                <a16:creationId xmlns:a16="http://schemas.microsoft.com/office/drawing/2014/main" id="{CED22A51-DB6F-4B92-805C-9D316C8C997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Nine of 12 fine types enriched core MT upregulation and eight of 12 enriched nuclear-encoded OXPHOS upregulation.</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6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9B9759-8C24-40FC-9F64-84570C3254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xmlns:a="http://schemas.openxmlformats.org/drawingml/2006/main">
              <a:ext uri="{FF2B5EF4-FFF2-40B4-BE49-F238E27FC236}">
                <a16:creationId xmlns:a16="http://schemas.microsoft.com/office/drawing/2014/main" id="{5BBDA2B6-748D-41D9-862D-7E18BB2B5EA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D76020A-FCE8-438D-BB31-4DC3B5F14D24}"/>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xmlns:a="http://schemas.openxmlformats.org/drawingml/2006/main">
              <a:ext uri="{FF2B5EF4-FFF2-40B4-BE49-F238E27FC236}">
                <a16:creationId xmlns:a16="http://schemas.microsoft.com/office/drawing/2014/main" id="{E6B72473-605E-4B15-A710-E0E87504CEE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61741430-38B3-41F7-B957-964A801B7A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D464EA5-2FB1-41DE-B66E-27CBBCF1682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7EA8D99-C02A-4788-8BAC-19AB7802536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61EBDF4-CC0C-408C-9B6A-191DD08C45B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6ED3613-1DE2-4ED9-B304-70C3BF6E2F8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4D6D3497-1532-43A3-B90B-868123101E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AA0014-E189-41F8-9EDA-538A301A2B7E}"/>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85CC86D-E673-4A4D-BCD4-A17C265A93D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F6ECD27-E612-42B2-A097-22AD5D5F4E1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199226C-0ACA-4C10-9CC3-512A6B88301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9ADCB95-7C34-4583-8E5D-733E8F1BC35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D05F1D8-4983-4839-928F-9660ECDD84A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D96C1F8-7416-4C36-AEF3-8C5EC8CB834A}"/>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6D4276BB-3C28-4E39-A937-01C6393F2A2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917F796A-CADC-4639-9BBC-33FD0EE492E7}"/>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3D46ED2-4710-4AF3-A347-5D5DAB51261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sld>
</file>

<file path=ppt/slides/slide6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4847B2B-03F0-4340-9874-86C63B1F2554}"/>
              </a:ext>
            </a:extLst>
          </p:cNvPr>
          <p:cNvSpPr>
            <a:spLocks xmlns:a="http://schemas.openxmlformats.org/drawingml/2006/main" noGrp="1"/>
          </p:cNvSpPr>
          <p:nvPr/>
        </p:nvSpPr>
        <p:spPr>
          <a:xfrm xmlns:a="http://schemas.openxmlformats.org/drawingml/2006/main">
            <a:off x="530352" y="292608"/>
            <a:ext cx="11064240" cy="7254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xmlns:a="http://schemas.openxmlformats.org/drawingml/2006/main">
              <a:ext uri="{FF2B5EF4-FFF2-40B4-BE49-F238E27FC236}">
                <a16:creationId xmlns:a16="http://schemas.microsoft.com/office/drawing/2014/main" id="{896CB3C7-3B59-48DD-B73F-9AD94CF297D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xmlns:a="http://schemas.openxmlformats.org/drawingml/2006/main">
              <a:ext uri="{FF2B5EF4-FFF2-40B4-BE49-F238E27FC236}">
                <a16:creationId xmlns:a16="http://schemas.microsoft.com/office/drawing/2014/main" id="{39A86691-49B6-40BA-9B7E-1D0E4F7208F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74921E-CB72-47D6-A24A-B8DE6A60EA3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898814CC-D61C-4493-ADF0-9F4DC2B35D0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9D5293A-18E3-40CD-89F3-26829C1D289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128528F0-0394-45AD-BC8B-27B5537B130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A922C6C-7D42-4015-9F4D-601E45A137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xmlns:a="http://schemas.openxmlformats.org/drawingml/2006/main">
              <a:ext uri="{FF2B5EF4-FFF2-40B4-BE49-F238E27FC236}">
                <a16:creationId xmlns:a16="http://schemas.microsoft.com/office/drawing/2014/main" id="{1F89F666-EC68-4B12-8245-6A91883251DB}"/>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0B02DC0-F83E-4862-AFB0-52E4D28EC5CB}"/>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xmlns:a="http://schemas.openxmlformats.org/drawingml/2006/main">
              <a:ext uri="{FF2B5EF4-FFF2-40B4-BE49-F238E27FC236}">
                <a16:creationId xmlns:a16="http://schemas.microsoft.com/office/drawing/2014/main" id="{1623AB73-75F2-48FD-B6FD-29F94AEBE1B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5AB7C3F-B362-4884-8570-8BC56E4296D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xmlns:a="http://schemas.openxmlformats.org/drawingml/2006/main">
              <a:ext uri="{FF2B5EF4-FFF2-40B4-BE49-F238E27FC236}">
                <a16:creationId xmlns:a16="http://schemas.microsoft.com/office/drawing/2014/main" id="{037D3A7F-EC93-4850-BC73-94A191C2147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xmlns:a="http://schemas.openxmlformats.org/drawingml/2006/main">
              <a:ext uri="{FF2B5EF4-FFF2-40B4-BE49-F238E27FC236}">
                <a16:creationId xmlns:a16="http://schemas.microsoft.com/office/drawing/2014/main" id="{270E3D63-8EB2-4724-B97D-72CAA1CA22B1}"/>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xmlns:a="http://schemas.openxmlformats.org/drawingml/2006/main">
              <a:ext uri="{FF2B5EF4-FFF2-40B4-BE49-F238E27FC236}">
                <a16:creationId xmlns:a16="http://schemas.microsoft.com/office/drawing/2014/main" id="{534A9EEA-8A5F-4954-B3B2-93AD43A47D8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115232-3CD3-4590-A0CD-62FA073A0EE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B30DD619-5891-4A35-AF6F-EF31F4A7E79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xmlns:a="http://schemas.openxmlformats.org/drawingml/2006/main">
              <a:ext uri="{FF2B5EF4-FFF2-40B4-BE49-F238E27FC236}">
                <a16:creationId xmlns:a16="http://schemas.microsoft.com/office/drawing/2014/main" id="{A4E26757-5D41-41B5-8F16-6A64F6AC282B}"/>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xmlns:a="http://schemas.openxmlformats.org/drawingml/2006/main">
              <a:ext uri="{FF2B5EF4-FFF2-40B4-BE49-F238E27FC236}">
                <a16:creationId xmlns:a16="http://schemas.microsoft.com/office/drawing/2014/main" id="{EFDE4554-9BE7-4F1C-9EC1-3AE3669AF389}"/>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91C911D-9BE4-4EAD-901C-EB4A7396FDD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DE347B32-7281-4BAA-9D9B-7BD80806D79B}"/>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xmlns:a="http://schemas.openxmlformats.org/drawingml/2006/main">
              <a:ext uri="{FF2B5EF4-FFF2-40B4-BE49-F238E27FC236}">
                <a16:creationId xmlns:a16="http://schemas.microsoft.com/office/drawing/2014/main" id="{8791BB3F-8EB1-406E-ABA1-2F45257FD1D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xmlns:a="http://schemas.openxmlformats.org/drawingml/2006/main">
              <a:ext uri="{FF2B5EF4-FFF2-40B4-BE49-F238E27FC236}">
                <a16:creationId xmlns:a16="http://schemas.microsoft.com/office/drawing/2014/main" id="{58C107E9-3677-45CB-8CAB-1BE1CEDCE97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3B50EAE-DA13-43C2-AD90-0FF977EECBFB}"/>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sld>
</file>

<file path=ppt/slides/slide6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16E7C6-C798-4825-8ADF-356B5B54EA3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xmlns:a="http://schemas.openxmlformats.org/drawingml/2006/main">
              <a:ext uri="{FF2B5EF4-FFF2-40B4-BE49-F238E27FC236}">
                <a16:creationId xmlns:a16="http://schemas.microsoft.com/office/drawing/2014/main" id="{A4B8AFD9-E3A2-4DF9-81CD-7C81CE7DADE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xmlns:a="http://schemas.openxmlformats.org/drawingml/2006/main">
              <a:ext uri="{FF2B5EF4-FFF2-40B4-BE49-F238E27FC236}">
                <a16:creationId xmlns:a16="http://schemas.microsoft.com/office/drawing/2014/main" id="{50746D33-BB30-408B-9C9E-FF12599B34E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D214BFD-9CB2-42A4-89AE-8FFD5BC9576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xmlns:a="http://schemas.openxmlformats.org/drawingml/2006/main">
              <a:ext uri="{FF2B5EF4-FFF2-40B4-BE49-F238E27FC236}">
                <a16:creationId xmlns:a16="http://schemas.microsoft.com/office/drawing/2014/main" id="{2611586C-DC6A-4FFA-9337-383B37FE6B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xmlns:a="http://schemas.openxmlformats.org/drawingml/2006/main">
              <a:ext uri="{FF2B5EF4-FFF2-40B4-BE49-F238E27FC236}">
                <a16:creationId xmlns:a16="http://schemas.microsoft.com/office/drawing/2014/main" id="{3FA2DD5C-37CE-47B8-BA0D-4EFF5279FD3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xmlns:a="http://schemas.openxmlformats.org/drawingml/2006/main">
              <a:ext uri="{FF2B5EF4-FFF2-40B4-BE49-F238E27FC236}">
                <a16:creationId xmlns:a16="http://schemas.microsoft.com/office/drawing/2014/main" id="{C367C7A9-94DC-4D2B-B71F-0FDBE87A16E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E88F76C-26B3-454D-8275-E2E91DB2450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xmlns:a="http://schemas.openxmlformats.org/drawingml/2006/main">
              <a:ext uri="{FF2B5EF4-FFF2-40B4-BE49-F238E27FC236}">
                <a16:creationId xmlns:a16="http://schemas.microsoft.com/office/drawing/2014/main" id="{24F47D21-06A0-49A7-843A-35EF63D4EEB1}"/>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xmlns:a="http://schemas.openxmlformats.org/drawingml/2006/main">
              <a:ext uri="{FF2B5EF4-FFF2-40B4-BE49-F238E27FC236}">
                <a16:creationId xmlns:a16="http://schemas.microsoft.com/office/drawing/2014/main" id="{E00687D7-70B0-4750-B1C7-9FF467343380}"/>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xmlns:a="http://schemas.openxmlformats.org/drawingml/2006/main">
              <a:ext uri="{FF2B5EF4-FFF2-40B4-BE49-F238E27FC236}">
                <a16:creationId xmlns:a16="http://schemas.microsoft.com/office/drawing/2014/main" id="{1FC6D3C9-53C5-436A-80F4-E4C130F4115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EFE16A-BBAE-434D-B4D4-F4BBF16D1597}"/>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xmlns:a="http://schemas.openxmlformats.org/drawingml/2006/main">
              <a:ext uri="{FF2B5EF4-FFF2-40B4-BE49-F238E27FC236}">
                <a16:creationId xmlns:a16="http://schemas.microsoft.com/office/drawing/2014/main" id="{AC6C476A-D8B0-4988-AB23-A9274BE7A62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xmlns:a="http://schemas.openxmlformats.org/drawingml/2006/main">
              <a:ext uri="{FF2B5EF4-FFF2-40B4-BE49-F238E27FC236}">
                <a16:creationId xmlns:a16="http://schemas.microsoft.com/office/drawing/2014/main" id="{864BD5C9-7313-4258-90C2-44621A549A53}"/>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xmlns:a="http://schemas.openxmlformats.org/drawingml/2006/main">
              <a:ext uri="{FF2B5EF4-FFF2-40B4-BE49-F238E27FC236}">
                <a16:creationId xmlns:a16="http://schemas.microsoft.com/office/drawing/2014/main" id="{20141D58-A058-4EE4-BC6F-0C603708A55B}"/>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9B384E-3324-406A-9BD4-5866F2601348}"/>
              </a:ext>
            </a:extLst>
          </p:cNvPr>
          <p:cNvSpPr>
            <a:spLocks xmlns:a="http://schemas.openxmlformats.org/drawingml/2006/main" noGrp="1"/>
          </p:cNvSpPr>
          <p:nvPr/>
        </p:nvSpPr>
        <p:spPr>
          <a:xfrm xmlns:a="http://schemas.openxmlformats.org/drawingml/2006/main">
            <a:off x="987552" y="3090672"/>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xmlns:a="http://schemas.openxmlformats.org/drawingml/2006/main">
              <a:ext uri="{FF2B5EF4-FFF2-40B4-BE49-F238E27FC236}">
                <a16:creationId xmlns:a16="http://schemas.microsoft.com/office/drawing/2014/main" id="{D711E9C4-E615-4164-8E0E-C48683BB7C4A}"/>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xmlns:a="http://schemas.openxmlformats.org/drawingml/2006/main">
              <a:ext uri="{FF2B5EF4-FFF2-40B4-BE49-F238E27FC236}">
                <a16:creationId xmlns:a16="http://schemas.microsoft.com/office/drawing/2014/main" id="{18248536-6E97-4D19-897C-624A3F6312C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xmlns:a="http://schemas.openxmlformats.org/drawingml/2006/main">
              <a:ext uri="{FF2B5EF4-FFF2-40B4-BE49-F238E27FC236}">
                <a16:creationId xmlns:a16="http://schemas.microsoft.com/office/drawing/2014/main" id="{5E29091D-B675-49BE-A878-6A96D56F4DD7}"/>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7CA1F7-0F95-4126-9E08-408394415F6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xmlns:a="http://schemas.openxmlformats.org/drawingml/2006/main">
              <a:ext uri="{FF2B5EF4-FFF2-40B4-BE49-F238E27FC236}">
                <a16:creationId xmlns:a16="http://schemas.microsoft.com/office/drawing/2014/main" id="{FAE57504-3744-40A4-B02C-4F8FF1267295}"/>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xmlns:a="http://schemas.openxmlformats.org/drawingml/2006/main">
              <a:ext uri="{FF2B5EF4-FFF2-40B4-BE49-F238E27FC236}">
                <a16:creationId xmlns:a16="http://schemas.microsoft.com/office/drawing/2014/main" id="{FC5B3EDE-C98C-45CA-AB93-D3059D42173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xmlns:a="http://schemas.openxmlformats.org/drawingml/2006/main">
              <a:ext uri="{FF2B5EF4-FFF2-40B4-BE49-F238E27FC236}">
                <a16:creationId xmlns:a16="http://schemas.microsoft.com/office/drawing/2014/main" id="{36BA72D2-3B9D-4CFD-9032-9F25BBDF911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4084EDC-C5DD-434C-8042-3C9AE2B5124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xmlns:a="http://schemas.openxmlformats.org/drawingml/2006/main">
              <a:ext uri="{FF2B5EF4-FFF2-40B4-BE49-F238E27FC236}">
                <a16:creationId xmlns:a16="http://schemas.microsoft.com/office/drawing/2014/main" id="{C77EC147-AB27-4522-80DF-24CAB245A81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xmlns:a="http://schemas.openxmlformats.org/drawingml/2006/main">
              <a:ext uri="{FF2B5EF4-FFF2-40B4-BE49-F238E27FC236}">
                <a16:creationId xmlns:a16="http://schemas.microsoft.com/office/drawing/2014/main" id="{7EFA35EA-3110-4A6D-B50D-300EE9DE777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+0.70 with local BH 0.991.</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NES was +2.01 with local BH 5.62 × 10⁻⁵.</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Tree>
    <p:extLst>
      <p:ext uri="{BB962C8B-B14F-4D97-AF65-F5344CB8AC3E}">
        <p14:creationId xmlns:p14="http://schemas.microsoft.com/office/powerpoint/2010/main" val="8429484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6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EF2E26F-2CDF-4E65-8BA1-34F46AD706D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xmlns:a="http://schemas.openxmlformats.org/drawingml/2006/main">
              <a:ext uri="{FF2B5EF4-FFF2-40B4-BE49-F238E27FC236}">
                <a16:creationId xmlns:a16="http://schemas.microsoft.com/office/drawing/2014/main" id="{679FEE76-9C69-4E79-9D0E-33754FA43E2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141759-D659-44D6-8951-9C9972B5510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xmlns:a="http://schemas.openxmlformats.org/drawingml/2006/main">
              <a:ext uri="{FF2B5EF4-FFF2-40B4-BE49-F238E27FC236}">
                <a16:creationId xmlns:a16="http://schemas.microsoft.com/office/drawing/2014/main" id="{444133BC-3F24-48B3-8674-96DDA42DC30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xmlns:a="http://schemas.openxmlformats.org/drawingml/2006/main">
              <a:ext uri="{FF2B5EF4-FFF2-40B4-BE49-F238E27FC236}">
                <a16:creationId xmlns:a16="http://schemas.microsoft.com/office/drawing/2014/main" id="{7D622FD7-0151-4AF9-A487-7DE206047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58018-9D15-438B-8510-E212F9931423}"/>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32E41CE8-CDFA-44D4-A17F-1D85D2DF329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F14DF69-6E24-4830-A88A-57EB39EAA40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88A9BC0-42FC-41E9-8C8D-8862108F070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86A3D6A-050D-454B-A2A4-F432AE04DA3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1E439F-F7F3-4C2D-9AED-A1B048E90A44}"/>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2023D3E-15BB-4049-A8AD-079F974409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B5C00B5F-F220-4649-BE0A-E55B74FD74D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486C808-47D2-42CB-AACF-203A868DF3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CEEC43C-DBFF-4642-9E0A-F21A82A46B5C}"/>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8A202477-1FEE-4A36-810D-A2539DCF225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363E3D9-9544-4D85-BFEB-2823E795F07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10748D0A-7A11-478D-861B-3D0939C13BAA}"/>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84BAA67-2B8F-485F-9374-B6D5A8BAC42F}"/>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09FD795-F30A-4125-BD47-A454AEFBD2C8}"/>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BD277D-7431-4A7A-A1C7-72AF1F26B21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xmlns:a="http://schemas.openxmlformats.org/drawingml/2006/main">
              <a:ext uri="{FF2B5EF4-FFF2-40B4-BE49-F238E27FC236}">
                <a16:creationId xmlns:a16="http://schemas.microsoft.com/office/drawing/2014/main" id="{90923344-F35D-4EFF-A0E6-1084F7A5BE5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xmlns:a="http://schemas.openxmlformats.org/drawingml/2006/main">
              <a:ext uri="{FF2B5EF4-FFF2-40B4-BE49-F238E27FC236}">
                <a16:creationId xmlns:a16="http://schemas.microsoft.com/office/drawing/2014/main" id="{815A4D51-038B-4DB5-BB9D-C51DE16B673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624508B-2051-4B1C-8CFD-BB759936A4B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xmlns:a="http://schemas.openxmlformats.org/drawingml/2006/main">
              <a:ext uri="{FF2B5EF4-FFF2-40B4-BE49-F238E27FC236}">
                <a16:creationId xmlns:a16="http://schemas.microsoft.com/office/drawing/2014/main" id="{8CF85EEA-A167-43C8-AFCD-1D6C6354386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xmlns:a="http://schemas.openxmlformats.org/drawingml/2006/main">
              <a:ext uri="{FF2B5EF4-FFF2-40B4-BE49-F238E27FC236}">
                <a16:creationId xmlns:a16="http://schemas.microsoft.com/office/drawing/2014/main" id="{E9B93EE7-DD66-498F-A3CB-2420119AF29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xmlns:a="http://schemas.openxmlformats.org/drawingml/2006/main">
              <a:ext uri="{FF2B5EF4-FFF2-40B4-BE49-F238E27FC236}">
                <a16:creationId xmlns:a16="http://schemas.microsoft.com/office/drawing/2014/main" id="{67A0F397-F140-4D64-B92B-A6E3A29C0C8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FD5BF0-813B-49E9-A0B0-0F89CDDD3B97}"/>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xmlns:a="http://schemas.openxmlformats.org/drawingml/2006/main">
              <a:ext uri="{FF2B5EF4-FFF2-40B4-BE49-F238E27FC236}">
                <a16:creationId xmlns:a16="http://schemas.microsoft.com/office/drawing/2014/main" id="{ED6BE81B-2B7A-40DB-904F-8CC485792EC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xmlns:a="http://schemas.openxmlformats.org/drawingml/2006/main">
              <a:ext uri="{FF2B5EF4-FFF2-40B4-BE49-F238E27FC236}">
                <a16:creationId xmlns:a16="http://schemas.microsoft.com/office/drawing/2014/main" id="{3D970A38-BB5D-47A0-B7C7-04DD293709E6}"/>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xmlns:a="http://schemas.openxmlformats.org/drawingml/2006/main">
              <a:ext uri="{FF2B5EF4-FFF2-40B4-BE49-F238E27FC236}">
                <a16:creationId xmlns:a16="http://schemas.microsoft.com/office/drawing/2014/main" id="{6496313E-1382-41C2-BA3E-34797C7311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73DE1FB-C935-4CE6-AEFC-33DD5D47F466}"/>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xmlns:a="http://schemas.openxmlformats.org/drawingml/2006/main">
              <a:ext uri="{FF2B5EF4-FFF2-40B4-BE49-F238E27FC236}">
                <a16:creationId xmlns:a16="http://schemas.microsoft.com/office/drawing/2014/main" id="{CF18A02B-0A7A-418F-A578-702C906E2E9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xmlns:a="http://schemas.openxmlformats.org/drawingml/2006/main">
              <a:ext uri="{FF2B5EF4-FFF2-40B4-BE49-F238E27FC236}">
                <a16:creationId xmlns:a16="http://schemas.microsoft.com/office/drawing/2014/main" id="{768B58E6-3DE9-4A64-ADE5-DAE50470903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xmlns:a="http://schemas.openxmlformats.org/drawingml/2006/main">
              <a:ext uri="{FF2B5EF4-FFF2-40B4-BE49-F238E27FC236}">
                <a16:creationId xmlns:a16="http://schemas.microsoft.com/office/drawing/2014/main" id="{E5A95870-C1EA-4EB8-9CF4-5203996357A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4573671-11D6-4F8E-B1D0-41F33E45DE3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xmlns:a="http://schemas.openxmlformats.org/drawingml/2006/main">
              <a:ext uri="{FF2B5EF4-FFF2-40B4-BE49-F238E27FC236}">
                <a16:creationId xmlns:a16="http://schemas.microsoft.com/office/drawing/2014/main" id="{8CD198EE-16C1-4164-9FD9-20D0FAB36B4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xmlns:a="http://schemas.openxmlformats.org/drawingml/2006/main">
              <a:ext uri="{FF2B5EF4-FFF2-40B4-BE49-F238E27FC236}">
                <a16:creationId xmlns:a16="http://schemas.microsoft.com/office/drawing/2014/main" id="{A5C5029B-3122-4C07-94E1-F116864314BE}"/>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xmlns:a="http://schemas.openxmlformats.org/drawingml/2006/main">
              <a:ext uri="{FF2B5EF4-FFF2-40B4-BE49-F238E27FC236}">
                <a16:creationId xmlns:a16="http://schemas.microsoft.com/office/drawing/2014/main" id="{71D52A82-59E2-4945-8028-CA41F6C9A11E}"/>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47D7A2-4F91-4259-82A1-BB0EA1CBB01C}"/>
              </a:ext>
            </a:extLst>
          </p:cNvPr>
          <p:cNvSpPr>
            <a:spLocks xmlns:a="http://schemas.openxmlformats.org/drawingml/2006/main" noGrp="1"/>
          </p:cNvSpPr>
          <p:nvPr/>
        </p:nvSpPr>
        <p:spPr>
          <a:xfrm xmlns:a="http://schemas.openxmlformats.org/drawingml/2006/main">
            <a:off x="987552" y="4050791"/>
            <a:ext cx="2331720" cy="4511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xmlns:a="http://schemas.openxmlformats.org/drawingml/2006/main">
              <a:ext uri="{FF2B5EF4-FFF2-40B4-BE49-F238E27FC236}">
                <a16:creationId xmlns:a16="http://schemas.microsoft.com/office/drawing/2014/main" id="{A11BD4C5-04ED-4483-9A6B-20C61A55CD8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xmlns:a="http://schemas.openxmlformats.org/drawingml/2006/main">
              <a:ext uri="{FF2B5EF4-FFF2-40B4-BE49-F238E27FC236}">
                <a16:creationId xmlns:a16="http://schemas.microsoft.com/office/drawing/2014/main" id="{92AD0BB7-7863-4F61-9BD7-B2D2ED0A88E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xmlns:a="http://schemas.openxmlformats.org/drawingml/2006/main">
              <a:ext uri="{FF2B5EF4-FFF2-40B4-BE49-F238E27FC236}">
                <a16:creationId xmlns:a16="http://schemas.microsoft.com/office/drawing/2014/main" id="{A93000DB-86CF-4280-A9AF-87FD1D9D7947}"/>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1DBCA1F-5166-40A9-9CAB-5643CEBFD24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xmlns:a="http://schemas.openxmlformats.org/drawingml/2006/main">
              <a:ext uri="{FF2B5EF4-FFF2-40B4-BE49-F238E27FC236}">
                <a16:creationId xmlns:a16="http://schemas.microsoft.com/office/drawing/2014/main" id="{2262FB5A-6F52-47C7-A4ED-CE564717D573}"/>
              </a:ext>
            </a:extLst>
          </p:cNvPr>
          <p:cNvSpPr>
            <a:spLocks xmlns:a="http://schemas.openxmlformats.org/drawingml/2006/main" noGrp="1"/>
          </p:cNvSpPr>
          <p:nvPr/>
        </p:nvSpPr>
        <p:spPr>
          <a:xfrm xmlns:a="http://schemas.openxmlformats.org/drawingml/2006/main">
            <a:off x="3419856" y="4965192"/>
            <a:ext cx="1975104" cy="5425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xmlns:a="http://schemas.openxmlformats.org/drawingml/2006/main">
              <a:ext uri="{FF2B5EF4-FFF2-40B4-BE49-F238E27FC236}">
                <a16:creationId xmlns:a16="http://schemas.microsoft.com/office/drawing/2014/main" id="{B8F6995F-6CE2-4495-A815-7B8D5120FB1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sld>
</file>

<file path=ppt/slides/slide7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6A0A466-65B9-4B02-9FC4-4A0CF223C3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xmlns:a="http://schemas.openxmlformats.org/drawingml/2006/main">
              <a:ext uri="{FF2B5EF4-FFF2-40B4-BE49-F238E27FC236}">
                <a16:creationId xmlns:a16="http://schemas.microsoft.com/office/drawing/2014/main" id="{678755B5-2808-464C-BE3F-F32B109D9C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DEG-set size matters when comparing how many genes are returned from KDA calls.</a:t>
            </a:r>
          </a:p>
        </p:txBody>
      </p:sp>
      <p:sp>
        <p:nvSpPr>
          <p:cNvPr id="4" name="Rounded Rectangle 3">
            <a:extLst xmlns:a="http://schemas.openxmlformats.org/drawingml/2006/main">
              <a:ext uri="{FF2B5EF4-FFF2-40B4-BE49-F238E27FC236}">
                <a16:creationId xmlns:a16="http://schemas.microsoft.com/office/drawing/2014/main" id="{BDCABD88-CDF9-4096-9BD8-9FD4BD2BD3B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C8BCB1-D1DE-4C49-93A0-C071B997ADB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xmlns:a="http://schemas.openxmlformats.org/drawingml/2006/main">
              <a:ext uri="{FF2B5EF4-FFF2-40B4-BE49-F238E27FC236}">
                <a16:creationId xmlns:a16="http://schemas.microsoft.com/office/drawing/2014/main" id="{4625E702-DCA4-444B-B0B0-7901133E832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xmlns:a="http://schemas.openxmlformats.org/drawingml/2006/main">
              <a:ext uri="{FF2B5EF4-FFF2-40B4-BE49-F238E27FC236}">
                <a16:creationId xmlns:a16="http://schemas.microsoft.com/office/drawing/2014/main" id="{D8DB4B45-4487-4D5E-9743-9C36A6B0B6CE}"/>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xmlns:a="http://schemas.openxmlformats.org/drawingml/2006/main">
              <a:ext uri="{FF2B5EF4-FFF2-40B4-BE49-F238E27FC236}">
                <a16:creationId xmlns:a16="http://schemas.microsoft.com/office/drawing/2014/main" id="{D2DEE9FA-A444-440D-B9EC-4568849FCED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5E2B186-5E0C-47B5-8F7B-C775F6D95A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ALL ELIGIBLE FINE-CELL COMPARISONS</a:t>
            </a:r>
          </a:p>
        </p:txBody>
      </p:sp>
      <p:sp>
        <p:nvSpPr>
          <p:cNvPr id="10" name="TextBox 9">
            <a:extLst xmlns:a="http://schemas.openxmlformats.org/drawingml/2006/main">
              <a:ext uri="{FF2B5EF4-FFF2-40B4-BE49-F238E27FC236}">
                <a16:creationId xmlns:a16="http://schemas.microsoft.com/office/drawing/2014/main" id="{E927D0C2-C1BB-44DE-94D7-B63E61AAD4D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xmlns:a="http://schemas.openxmlformats.org/drawingml/2006/main">
              <a:ext uri="{FF2B5EF4-FFF2-40B4-BE49-F238E27FC236}">
                <a16:creationId xmlns:a16="http://schemas.microsoft.com/office/drawing/2014/main" id="{7B2BB62E-46AF-4ACF-B00A-E6BF7669316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xmlns:a="http://schemas.openxmlformats.org/drawingml/2006/main">
              <a:ext uri="{FF2B5EF4-FFF2-40B4-BE49-F238E27FC236}">
                <a16:creationId xmlns:a16="http://schemas.microsoft.com/office/drawing/2014/main" id="{65F6F61B-5B86-4ED5-B8F5-5A13FAEC2D3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0B7689-4FA7-48F5-9F40-9D61578285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D7A8BAE3-2CF9-4C3A-8F56-DE08415FB22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C90626B7-0775-4368-BF4A-E28B97D6014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xmlns:a="http://schemas.openxmlformats.org/drawingml/2006/main">
              <a:ext uri="{FF2B5EF4-FFF2-40B4-BE49-F238E27FC236}">
                <a16:creationId xmlns:a16="http://schemas.microsoft.com/office/drawing/2014/main" id="{05306AF1-7D7C-4CF2-B3B2-D39FE71A3E60}"/>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24E6BE-8240-49F9-A3F0-81F96F86B214}"/>
              </a:ext>
            </a:extLst>
          </p:cNvPr>
          <p:cNvSpPr>
            <a:spLocks xmlns:a="http://schemas.openxmlformats.org/drawingml/2006/main" noGrp="1"/>
          </p:cNvSpPr>
          <p:nvPr/>
        </p:nvSpPr>
        <p:spPr>
          <a:xfrm xmlns:a="http://schemas.openxmlformats.org/drawingml/2006/main">
            <a:off x="896112" y="5888736"/>
            <a:ext cx="10405872" cy="39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More DEGs provide more opportunities for a gene to be returned from a KDA call. This does not change the DEG direction counts on the preceding slide.</a:t>
            </a:r>
          </a:p>
        </p:txBody>
      </p:sp>
    </p:spTree>
    <p:extLst>
      <p:ext uri="{BB962C8B-B14F-4D97-AF65-F5344CB8AC3E}">
        <p14:creationId xmlns:p14="http://schemas.microsoft.com/office/powerpoint/2010/main" val="2045540987"/>
      </p:ext>
    </p:extLst>
  </p:cSld>
</p:sld>
</file>

<file path=ppt/slides/slide7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1EA402-C5A0-4E1B-B43F-EED1CD22F6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xmlns:a="http://schemas.openxmlformats.org/drawingml/2006/main">
              <a:ext uri="{FF2B5EF4-FFF2-40B4-BE49-F238E27FC236}">
                <a16:creationId xmlns:a16="http://schemas.microsoft.com/office/drawing/2014/main" id="{067D81D1-DE61-49CF-B923-71CE71FBCB8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xmlns:a="http://schemas.openxmlformats.org/drawingml/2006/main">
              <a:ext uri="{FF2B5EF4-FFF2-40B4-BE49-F238E27FC236}">
                <a16:creationId xmlns:a16="http://schemas.microsoft.com/office/drawing/2014/main" id="{011FB5E7-B20B-4700-B4B3-EC4194685D75}"/>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6C5AD6E-D080-4D27-AFE6-E57173C9CCD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xmlns:a="http://schemas.openxmlformats.org/drawingml/2006/main">
              <a:ext uri="{FF2B5EF4-FFF2-40B4-BE49-F238E27FC236}">
                <a16:creationId xmlns:a16="http://schemas.microsoft.com/office/drawing/2014/main" id="{9DCBD8C7-6EF5-4D51-A91D-4C2BE9AFFAE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xmlns:a="http://schemas.openxmlformats.org/drawingml/2006/main">
              <a:ext uri="{FF2B5EF4-FFF2-40B4-BE49-F238E27FC236}">
                <a16:creationId xmlns:a16="http://schemas.microsoft.com/office/drawing/2014/main" id="{881A60AA-37D5-4EAD-AA8D-B931443EB1C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xmlns:a="http://schemas.openxmlformats.org/drawingml/2006/main">
              <a:ext uri="{FF2B5EF4-FFF2-40B4-BE49-F238E27FC236}">
                <a16:creationId xmlns:a16="http://schemas.microsoft.com/office/drawing/2014/main" id="{6B2AE7DB-C180-4953-A160-763D03A4508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F2C5F2C-F92E-4969-B5FF-EFC20A09DA8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xmlns:a="http://schemas.openxmlformats.org/drawingml/2006/main">
              <a:ext uri="{FF2B5EF4-FFF2-40B4-BE49-F238E27FC236}">
                <a16:creationId xmlns:a16="http://schemas.microsoft.com/office/drawing/2014/main" id="{4257C55A-E6B2-47C9-848A-CFBFA9DC333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xmlns:a="http://schemas.openxmlformats.org/drawingml/2006/main">
              <a:ext uri="{FF2B5EF4-FFF2-40B4-BE49-F238E27FC236}">
                <a16:creationId xmlns:a16="http://schemas.microsoft.com/office/drawing/2014/main" id="{F5AFB380-15C5-4EF8-AEE9-52CA21D4B29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xmlns:a="http://schemas.openxmlformats.org/drawingml/2006/main">
              <a:ext uri="{FF2B5EF4-FFF2-40B4-BE49-F238E27FC236}">
                <a16:creationId xmlns:a16="http://schemas.microsoft.com/office/drawing/2014/main" id="{D168868F-90BB-4DF9-B31E-58060BC6C9F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A567D2E-D3C8-4434-AF52-FAF6402709B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xmlns:a="http://schemas.openxmlformats.org/drawingml/2006/main">
              <a:ext uri="{FF2B5EF4-FFF2-40B4-BE49-F238E27FC236}">
                <a16:creationId xmlns:a16="http://schemas.microsoft.com/office/drawing/2014/main" id="{276D68BD-1C7A-4A2D-A6ED-68F1E132DCAB}"/>
              </a:ext>
            </a:extLst>
          </p:cNvPr>
          <p:cNvSpPr>
            <a:spLocks xmlns:a="http://schemas.openxmlformats.org/drawingml/2006/main" noGrp="1"/>
          </p:cNvSpPr>
          <p:nvPr/>
        </p:nvSpPr>
        <p:spPr>
          <a:xfrm xmlns:a="http://schemas.openxmlformats.org/drawingml/2006/main">
            <a:off x="8522208" y="2176272"/>
            <a:ext cx="2907792" cy="7863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xmlns:a="http://schemas.openxmlformats.org/drawingml/2006/main">
              <a:ext uri="{FF2B5EF4-FFF2-40B4-BE49-F238E27FC236}">
                <a16:creationId xmlns:a16="http://schemas.microsoft.com/office/drawing/2014/main" id="{7D52DBC3-B64D-4B83-982C-4BC0804328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xmlns:a="http://schemas.openxmlformats.org/drawingml/2006/main">
              <a:ext uri="{FF2B5EF4-FFF2-40B4-BE49-F238E27FC236}">
                <a16:creationId xmlns:a16="http://schemas.microsoft.com/office/drawing/2014/main" id="{492E22EF-A767-4394-AB9C-6A374B84A56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BA675F-8177-4E3B-A875-82424698D527}"/>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87659E-1E7C-4EAF-BEA0-DF9393F5C275}"/>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slides/slide160.xml><?xml version="1.0" encoding="utf-8"?>
<p:sld xmlns:p="http://schemas.openxmlformats.org/presentationml/2006/main">
  <p:cSld>
    <p:spTree>
      <p:nvGrpSpPr>
        <p:cNvPr id="1" name=""/>
        <p:cNvGrpSpPr/>
        <p:nvPr/>
      </p:nvGrpSpPr>
      <p:grpSpPr>
        <a:xfrm xmlns:a="http://schemas.openxmlformats.org/drawingml/2006/main"/>
      </p:grpSpPr>
      <p:sp>
        <p:nvSpPr>
          <p:cNvPr id="27" name="workflow-background">
            <a:extLst xmlns:a="http://schemas.openxmlformats.org/drawingml/2006/main">
              <a:ext uri="{FF2B5EF4-FFF2-40B4-BE49-F238E27FC236}">
                <a16:creationId xmlns:a16="http://schemas.microsoft.com/office/drawing/2014/main" id="{4E982020-69A2-4D13-A522-5B7F01820B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233D"/>
          </a:solidFill>
          <a:ln xmlns:a="http://schemas.openxmlformats.org/drawingml/2006/main" w="0">
            <a:noFill/>
            <a:prstDash val="solid"/>
          </a:ln>
        </p:spPr>
      </p:sp>
      <p:sp>
        <p:nvSpPr>
          <p:cNvPr id="2" name="workflow-title">
            <a:extLst xmlns:a="http://schemas.openxmlformats.org/drawingml/2006/main">
              <a:ext uri="{FF2B5EF4-FFF2-40B4-BE49-F238E27FC236}">
                <a16:creationId xmlns:a16="http://schemas.microsoft.com/office/drawing/2014/main" id="{79D2C27B-AC4C-4648-BA06-E6F507A7D4A1}"/>
              </a:ext>
            </a:extLst>
          </p:cNvPr>
          <p:cNvSpPr>
            <a:spLocks xmlns:a="http://schemas.openxmlformats.org/drawingml/2006/main" noGrp="1"/>
          </p:cNvSpPr>
          <p:nvPr/>
        </p:nvSpPr>
        <p:spPr>
          <a:xfrm xmlns:a="http://schemas.openxmlformats.org/drawingml/2006/main">
            <a:off x="714375" y="1171575"/>
            <a:ext cx="8096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xmlns:a="http://schemas.openxmlformats.org/drawingml/2006/main">
              <a:ext uri="{FF2B5EF4-FFF2-40B4-BE49-F238E27FC236}">
                <a16:creationId xmlns:a16="http://schemas.microsoft.com/office/drawing/2014/main" id="{3F172B43-0978-435C-9EBF-CBF5530D5FBD}"/>
              </a:ext>
            </a:extLst>
          </p:cNvPr>
          <p:cNvSpPr>
            <a:spLocks xmlns:a="http://schemas.openxmlformats.org/drawingml/2006/main" noGrp="1"/>
          </p:cNvSpPr>
          <p:nvPr/>
        </p:nvSpPr>
        <p:spPr>
          <a:xfrm xmlns:a="http://schemas.openxmlformats.org/drawingml/2006/main">
            <a:off x="714375" y="609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xmlns:a="http://schemas.openxmlformats.org/drawingml/2006/main">
              <a:ext uri="{FF2B5EF4-FFF2-40B4-BE49-F238E27FC236}">
                <a16:creationId xmlns:a16="http://schemas.microsoft.com/office/drawing/2014/main" id="{9E46C2DA-B029-4646-A9C3-AE3F21F2A92A}"/>
              </a:ext>
            </a:extLst>
          </p:cNvPr>
          <p:cNvSpPr>
            <a:spLocks xmlns:a="http://schemas.openxmlformats.org/drawingml/2006/main" noGrp="1"/>
          </p:cNvSpPr>
          <p:nvPr/>
        </p:nvSpPr>
        <p:spPr>
          <a:xfrm xmlns:a="http://schemas.openxmlformats.org/drawingml/2006/main">
            <a:off x="723900" y="197167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xmlns:a="http://schemas.openxmlformats.org/drawingml/2006/main">
              <a:ext uri="{FF2B5EF4-FFF2-40B4-BE49-F238E27FC236}">
                <a16:creationId xmlns:a16="http://schemas.microsoft.com/office/drawing/2014/main" id="{AEA5EE79-2054-447E-92B6-1F87DC91DDD6}"/>
              </a:ext>
            </a:extLst>
          </p:cNvPr>
          <p:cNvSpPr>
            <a:spLocks xmlns:a="http://schemas.openxmlformats.org/drawingml/2006/main" noGrp="1"/>
          </p:cNvSpPr>
          <p:nvPr/>
        </p:nvSpPr>
        <p:spPr>
          <a:xfrm xmlns:a="http://schemas.openxmlformats.org/drawingml/2006/main">
            <a:off x="1390650" y="3238500"/>
            <a:ext cx="9391650" cy="0"/>
          </a:xfrm>
          <a:prstGeom xmlns:a="http://schemas.openxmlformats.org/drawingml/2006/main" prst="line">
            <a:avLst/>
          </a:prstGeom>
          <a:noFill xmlns:a="http://schemas.openxmlformats.org/drawingml/2006/main"/>
          <a:ln xmlns:a="http://schemas.openxmlformats.org/drawingml/2006/main" w="28575">
            <a:solidFill>
              <a:srgbClr val="58718B"/>
            </a:solidFill>
            <a:prstDash val="solid"/>
          </a:ln>
        </p:spPr>
      </p:sp>
      <p:sp>
        <p:nvSpPr>
          <p:cNvPr id="6" name="workflow-stage-1-node">
            <a:extLst xmlns:a="http://schemas.openxmlformats.org/drawingml/2006/main">
              <a:ext uri="{FF2B5EF4-FFF2-40B4-BE49-F238E27FC236}">
                <a16:creationId xmlns:a16="http://schemas.microsoft.com/office/drawing/2014/main" id="{9DB64847-5BB9-4C6D-A7F6-8B634BE8F0D3}"/>
              </a:ext>
            </a:extLst>
          </p:cNvPr>
          <p:cNvSpPr>
            <a:spLocks xmlns:a="http://schemas.openxmlformats.org/drawingml/2006/main" noGrp="1"/>
          </p:cNvSpPr>
          <p:nvPr/>
        </p:nvSpPr>
        <p:spPr>
          <a:xfrm xmlns:a="http://schemas.openxmlformats.org/drawingml/2006/main">
            <a:off x="1162050" y="3009900"/>
            <a:ext cx="457200" cy="457200"/>
          </a:xfrm>
          <a:prstGeom xmlns:a="http://schemas.openxmlformats.org/drawingml/2006/main" prst="ellipse">
            <a:avLst/>
          </a:prstGeom>
          <a:solidFill xmlns:a="http://schemas.openxmlformats.org/drawingml/2006/main">
            <a:srgbClr val="0072B2"/>
          </a:solidFill>
          <a:ln xmlns:a="http://schemas.openxmlformats.org/drawingml/2006/main" w="0">
            <a:solidFill>
              <a:srgbClr val="0072B2"/>
            </a:solidFill>
            <a:prstDash val="solid"/>
          </a:ln>
        </p:spPr>
      </p:sp>
      <p:sp>
        <p:nvSpPr>
          <p:cNvPr id="7" name="workflow-stage-1-number">
            <a:extLst xmlns:a="http://schemas.openxmlformats.org/drawingml/2006/main">
              <a:ext uri="{FF2B5EF4-FFF2-40B4-BE49-F238E27FC236}">
                <a16:creationId xmlns:a16="http://schemas.microsoft.com/office/drawing/2014/main" id="{815B3806-FAA3-4B16-819C-CE0CB7A81A72}"/>
              </a:ext>
            </a:extLst>
          </p:cNvPr>
          <p:cNvSpPr>
            <a:spLocks xmlns:a="http://schemas.openxmlformats.org/drawingml/2006/main" noGrp="1"/>
          </p:cNvSpPr>
          <p:nvPr/>
        </p:nvSpPr>
        <p:spPr>
          <a:xfrm xmlns:a="http://schemas.openxmlformats.org/drawingml/2006/main">
            <a:off x="116205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xmlns:a="http://schemas.openxmlformats.org/drawingml/2006/main">
              <a:ext uri="{FF2B5EF4-FFF2-40B4-BE49-F238E27FC236}">
                <a16:creationId xmlns:a16="http://schemas.microsoft.com/office/drawing/2014/main" id="{4463EC33-CFA4-42E0-807B-295C5D8F3105}"/>
              </a:ext>
            </a:extLst>
          </p:cNvPr>
          <p:cNvSpPr>
            <a:spLocks xmlns:a="http://schemas.openxmlformats.org/drawingml/2006/main" noGrp="1"/>
          </p:cNvSpPr>
          <p:nvPr/>
        </p:nvSpPr>
        <p:spPr>
          <a:xfrm xmlns:a="http://schemas.openxmlformats.org/drawingml/2006/main">
            <a:off x="40005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xmlns:a="http://schemas.openxmlformats.org/drawingml/2006/main">
              <a:ext uri="{FF2B5EF4-FFF2-40B4-BE49-F238E27FC236}">
                <a16:creationId xmlns:a16="http://schemas.microsoft.com/office/drawing/2014/main" id="{CB5F5E6D-68FD-4856-A349-3CCE27C3A6E8}"/>
              </a:ext>
            </a:extLst>
          </p:cNvPr>
          <p:cNvSpPr>
            <a:spLocks xmlns:a="http://schemas.openxmlformats.org/drawingml/2006/main" noGrp="1"/>
          </p:cNvSpPr>
          <p:nvPr/>
        </p:nvSpPr>
        <p:spPr>
          <a:xfrm xmlns:a="http://schemas.openxmlformats.org/drawingml/2006/main">
            <a:off x="40005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xmlns:a="http://schemas.openxmlformats.org/drawingml/2006/main">
              <a:ext uri="{FF2B5EF4-FFF2-40B4-BE49-F238E27FC236}">
                <a16:creationId xmlns:a16="http://schemas.microsoft.com/office/drawing/2014/main" id="{F16F3B85-5C33-4E33-88D5-2E7355371669}"/>
              </a:ext>
            </a:extLst>
          </p:cNvPr>
          <p:cNvSpPr>
            <a:spLocks xmlns:a="http://schemas.openxmlformats.org/drawingml/2006/main" noGrp="1"/>
          </p:cNvSpPr>
          <p:nvPr/>
        </p:nvSpPr>
        <p:spPr>
          <a:xfrm xmlns:a="http://schemas.openxmlformats.org/drawingml/2006/main">
            <a:off x="3514725" y="3009900"/>
            <a:ext cx="457200" cy="457200"/>
          </a:xfrm>
          <a:prstGeom xmlns:a="http://schemas.openxmlformats.org/drawingml/2006/main" prst="ellipse">
            <a:avLst/>
          </a:prstGeom>
          <a:solidFill xmlns:a="http://schemas.openxmlformats.org/drawingml/2006/main">
            <a:srgbClr val="56B4E9"/>
          </a:solidFill>
          <a:ln xmlns:a="http://schemas.openxmlformats.org/drawingml/2006/main" w="0">
            <a:solidFill>
              <a:srgbClr val="56B4E9"/>
            </a:solidFill>
            <a:prstDash val="solid"/>
          </a:ln>
        </p:spPr>
      </p:sp>
      <p:sp>
        <p:nvSpPr>
          <p:cNvPr id="11" name="workflow-stage-2-number">
            <a:extLst xmlns:a="http://schemas.openxmlformats.org/drawingml/2006/main">
              <a:ext uri="{FF2B5EF4-FFF2-40B4-BE49-F238E27FC236}">
                <a16:creationId xmlns:a16="http://schemas.microsoft.com/office/drawing/2014/main" id="{00397213-9DE8-4AD8-818B-CCCAC5B96D96}"/>
              </a:ext>
            </a:extLst>
          </p:cNvPr>
          <p:cNvSpPr>
            <a:spLocks xmlns:a="http://schemas.openxmlformats.org/drawingml/2006/main" noGrp="1"/>
          </p:cNvSpPr>
          <p:nvPr/>
        </p:nvSpPr>
        <p:spPr>
          <a:xfrm xmlns:a="http://schemas.openxmlformats.org/drawingml/2006/main">
            <a:off x="3514725"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xmlns:a="http://schemas.openxmlformats.org/drawingml/2006/main">
              <a:ext uri="{FF2B5EF4-FFF2-40B4-BE49-F238E27FC236}">
                <a16:creationId xmlns:a16="http://schemas.microsoft.com/office/drawing/2014/main" id="{76F5D727-E5F3-4FD5-B247-35A32B305A1B}"/>
              </a:ext>
            </a:extLst>
          </p:cNvPr>
          <p:cNvSpPr>
            <a:spLocks xmlns:a="http://schemas.openxmlformats.org/drawingml/2006/main" noGrp="1"/>
          </p:cNvSpPr>
          <p:nvPr/>
        </p:nvSpPr>
        <p:spPr>
          <a:xfrm xmlns:a="http://schemas.openxmlformats.org/drawingml/2006/main">
            <a:off x="2752725"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xmlns:a="http://schemas.openxmlformats.org/drawingml/2006/main">
              <a:ext uri="{FF2B5EF4-FFF2-40B4-BE49-F238E27FC236}">
                <a16:creationId xmlns:a16="http://schemas.microsoft.com/office/drawing/2014/main" id="{6615FB9C-32AD-4F77-A1DA-4617FC13D52C}"/>
              </a:ext>
            </a:extLst>
          </p:cNvPr>
          <p:cNvSpPr>
            <a:spLocks xmlns:a="http://schemas.openxmlformats.org/drawingml/2006/main" noGrp="1"/>
          </p:cNvSpPr>
          <p:nvPr/>
        </p:nvSpPr>
        <p:spPr>
          <a:xfrm xmlns:a="http://schemas.openxmlformats.org/drawingml/2006/main">
            <a:off x="2752725"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xmlns:a="http://schemas.openxmlformats.org/drawingml/2006/main">
              <a:ext uri="{FF2B5EF4-FFF2-40B4-BE49-F238E27FC236}">
                <a16:creationId xmlns:a16="http://schemas.microsoft.com/office/drawing/2014/main" id="{1D4AC1EC-2380-42C7-AC84-315B6304331C}"/>
              </a:ext>
            </a:extLst>
          </p:cNvPr>
          <p:cNvSpPr>
            <a:spLocks xmlns:a="http://schemas.openxmlformats.org/drawingml/2006/main" noGrp="1"/>
          </p:cNvSpPr>
          <p:nvPr/>
        </p:nvSpPr>
        <p:spPr>
          <a:xfrm xmlns:a="http://schemas.openxmlformats.org/drawingml/2006/main">
            <a:off x="5867400" y="3009900"/>
            <a:ext cx="457200" cy="457200"/>
          </a:xfrm>
          <a:prstGeom xmlns:a="http://schemas.openxmlformats.org/drawingml/2006/main" prst="ellipse">
            <a:avLst/>
          </a:prstGeom>
          <a:solidFill xmlns:a="http://schemas.openxmlformats.org/drawingml/2006/main">
            <a:srgbClr val="009E73"/>
          </a:solidFill>
          <a:ln xmlns:a="http://schemas.openxmlformats.org/drawingml/2006/main" w="0">
            <a:solidFill>
              <a:srgbClr val="009E73"/>
            </a:solidFill>
            <a:prstDash val="solid"/>
          </a:ln>
        </p:spPr>
      </p:sp>
      <p:sp>
        <p:nvSpPr>
          <p:cNvPr id="15" name="workflow-stage-3-number">
            <a:extLst xmlns:a="http://schemas.openxmlformats.org/drawingml/2006/main">
              <a:ext uri="{FF2B5EF4-FFF2-40B4-BE49-F238E27FC236}">
                <a16:creationId xmlns:a16="http://schemas.microsoft.com/office/drawing/2014/main" id="{C117132B-92DD-498B-97D2-AD13EFACC402}"/>
              </a:ext>
            </a:extLst>
          </p:cNvPr>
          <p:cNvSpPr>
            <a:spLocks xmlns:a="http://schemas.openxmlformats.org/drawingml/2006/main" noGrp="1"/>
          </p:cNvSpPr>
          <p:nvPr/>
        </p:nvSpPr>
        <p:spPr>
          <a:xfrm xmlns:a="http://schemas.openxmlformats.org/drawingml/2006/main">
            <a:off x="586740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xmlns:a="http://schemas.openxmlformats.org/drawingml/2006/main">
              <a:ext uri="{FF2B5EF4-FFF2-40B4-BE49-F238E27FC236}">
                <a16:creationId xmlns:a16="http://schemas.microsoft.com/office/drawing/2014/main" id="{4B9220B0-8715-4B6F-AB21-0BC6823A4BD8}"/>
              </a:ext>
            </a:extLst>
          </p:cNvPr>
          <p:cNvSpPr>
            <a:spLocks xmlns:a="http://schemas.openxmlformats.org/drawingml/2006/main" noGrp="1"/>
          </p:cNvSpPr>
          <p:nvPr/>
        </p:nvSpPr>
        <p:spPr>
          <a:xfrm xmlns:a="http://schemas.openxmlformats.org/drawingml/2006/main">
            <a:off x="510540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xmlns:a="http://schemas.openxmlformats.org/drawingml/2006/main">
              <a:ext uri="{FF2B5EF4-FFF2-40B4-BE49-F238E27FC236}">
                <a16:creationId xmlns:a16="http://schemas.microsoft.com/office/drawing/2014/main" id="{92CBF553-AE3C-4DC8-BF56-ABEFCFD3FC2B}"/>
              </a:ext>
            </a:extLst>
          </p:cNvPr>
          <p:cNvSpPr>
            <a:spLocks xmlns:a="http://schemas.openxmlformats.org/drawingml/2006/main" noGrp="1"/>
          </p:cNvSpPr>
          <p:nvPr/>
        </p:nvSpPr>
        <p:spPr>
          <a:xfrm xmlns:a="http://schemas.openxmlformats.org/drawingml/2006/main">
            <a:off x="510540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xmlns:a="http://schemas.openxmlformats.org/drawingml/2006/main">
              <a:ext uri="{FF2B5EF4-FFF2-40B4-BE49-F238E27FC236}">
                <a16:creationId xmlns:a16="http://schemas.microsoft.com/office/drawing/2014/main" id="{5F151541-FD72-4BBC-AA65-6864699C23D0}"/>
              </a:ext>
            </a:extLst>
          </p:cNvPr>
          <p:cNvSpPr>
            <a:spLocks xmlns:a="http://schemas.openxmlformats.org/drawingml/2006/main" noGrp="1"/>
          </p:cNvSpPr>
          <p:nvPr/>
        </p:nvSpPr>
        <p:spPr>
          <a:xfrm xmlns:a="http://schemas.openxmlformats.org/drawingml/2006/main">
            <a:off x="8220075" y="3009900"/>
            <a:ext cx="457200" cy="457200"/>
          </a:xfrm>
          <a:prstGeom xmlns:a="http://schemas.openxmlformats.org/drawingml/2006/main" prst="ellipse">
            <a:avLst/>
          </a:prstGeom>
          <a:solidFill xmlns:a="http://schemas.openxmlformats.org/drawingml/2006/main">
            <a:srgbClr val="E6A700"/>
          </a:solidFill>
          <a:ln xmlns:a="http://schemas.openxmlformats.org/drawingml/2006/main" w="0">
            <a:solidFill>
              <a:srgbClr val="E6A700"/>
            </a:solidFill>
            <a:prstDash val="solid"/>
          </a:ln>
        </p:spPr>
      </p:sp>
      <p:sp>
        <p:nvSpPr>
          <p:cNvPr id="19" name="workflow-stage-4-number">
            <a:extLst xmlns:a="http://schemas.openxmlformats.org/drawingml/2006/main">
              <a:ext uri="{FF2B5EF4-FFF2-40B4-BE49-F238E27FC236}">
                <a16:creationId xmlns:a16="http://schemas.microsoft.com/office/drawing/2014/main" id="{A54289E8-6F16-4608-BAA7-95A65ED9954E}"/>
              </a:ext>
            </a:extLst>
          </p:cNvPr>
          <p:cNvSpPr>
            <a:spLocks xmlns:a="http://schemas.openxmlformats.org/drawingml/2006/main" noGrp="1"/>
          </p:cNvSpPr>
          <p:nvPr/>
        </p:nvSpPr>
        <p:spPr>
          <a:xfrm xmlns:a="http://schemas.openxmlformats.org/drawingml/2006/main">
            <a:off x="8220075"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xmlns:a="http://schemas.openxmlformats.org/drawingml/2006/main">
              <a:ext uri="{FF2B5EF4-FFF2-40B4-BE49-F238E27FC236}">
                <a16:creationId xmlns:a16="http://schemas.microsoft.com/office/drawing/2014/main" id="{EB1FFF63-45B8-49FB-B660-61BF7D5F1D52}"/>
              </a:ext>
            </a:extLst>
          </p:cNvPr>
          <p:cNvSpPr>
            <a:spLocks xmlns:a="http://schemas.openxmlformats.org/drawingml/2006/main" noGrp="1"/>
          </p:cNvSpPr>
          <p:nvPr/>
        </p:nvSpPr>
        <p:spPr>
          <a:xfrm xmlns:a="http://schemas.openxmlformats.org/drawingml/2006/main">
            <a:off x="7458075"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xmlns:a="http://schemas.openxmlformats.org/drawingml/2006/main">
              <a:ext uri="{FF2B5EF4-FFF2-40B4-BE49-F238E27FC236}">
                <a16:creationId xmlns:a16="http://schemas.microsoft.com/office/drawing/2014/main" id="{1480A0EA-6DCC-4F4C-9206-6C689CD9D62F}"/>
              </a:ext>
            </a:extLst>
          </p:cNvPr>
          <p:cNvSpPr>
            <a:spLocks xmlns:a="http://schemas.openxmlformats.org/drawingml/2006/main" noGrp="1"/>
          </p:cNvSpPr>
          <p:nvPr/>
        </p:nvSpPr>
        <p:spPr>
          <a:xfrm xmlns:a="http://schemas.openxmlformats.org/drawingml/2006/main">
            <a:off x="7458075"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xmlns:a="http://schemas.openxmlformats.org/drawingml/2006/main">
              <a:ext uri="{FF2B5EF4-FFF2-40B4-BE49-F238E27FC236}">
                <a16:creationId xmlns:a16="http://schemas.microsoft.com/office/drawing/2014/main" id="{5B4BB00C-AA79-4B1D-AD24-83933BEC7148}"/>
              </a:ext>
            </a:extLst>
          </p:cNvPr>
          <p:cNvSpPr>
            <a:spLocks xmlns:a="http://schemas.openxmlformats.org/drawingml/2006/main" noGrp="1"/>
          </p:cNvSpPr>
          <p:nvPr/>
        </p:nvSpPr>
        <p:spPr>
          <a:xfrm xmlns:a="http://schemas.openxmlformats.org/drawingml/2006/main">
            <a:off x="10572750" y="3009900"/>
            <a:ext cx="457200" cy="457200"/>
          </a:xfrm>
          <a:prstGeom xmlns:a="http://schemas.openxmlformats.org/drawingml/2006/main" prst="ellipse">
            <a:avLst/>
          </a:prstGeom>
          <a:solidFill xmlns:a="http://schemas.openxmlformats.org/drawingml/2006/main">
            <a:srgbClr val="193A5A"/>
          </a:solidFill>
          <a:ln xmlns:a="http://schemas.openxmlformats.org/drawingml/2006/main" w="23813">
            <a:solidFill>
              <a:srgbClr val="D55E00"/>
            </a:solidFill>
            <a:prstDash val="solid"/>
          </a:ln>
        </p:spPr>
      </p:sp>
      <p:sp>
        <p:nvSpPr>
          <p:cNvPr id="23" name="workflow-stage-5-number">
            <a:extLst xmlns:a="http://schemas.openxmlformats.org/drawingml/2006/main">
              <a:ext uri="{FF2B5EF4-FFF2-40B4-BE49-F238E27FC236}">
                <a16:creationId xmlns:a16="http://schemas.microsoft.com/office/drawing/2014/main" id="{D8734508-6E75-4FA5-8434-C0CAB9FEB676}"/>
              </a:ext>
            </a:extLst>
          </p:cNvPr>
          <p:cNvSpPr>
            <a:spLocks xmlns:a="http://schemas.openxmlformats.org/drawingml/2006/main" noGrp="1"/>
          </p:cNvSpPr>
          <p:nvPr/>
        </p:nvSpPr>
        <p:spPr>
          <a:xfrm xmlns:a="http://schemas.openxmlformats.org/drawingml/2006/main">
            <a:off x="10572750" y="30099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xmlns:a="http://schemas.openxmlformats.org/drawingml/2006/main">
              <a:ext uri="{FF2B5EF4-FFF2-40B4-BE49-F238E27FC236}">
                <a16:creationId xmlns:a16="http://schemas.microsoft.com/office/drawing/2014/main" id="{778643AA-D9DB-45D3-88E1-093CD050669B}"/>
              </a:ext>
            </a:extLst>
          </p:cNvPr>
          <p:cNvSpPr>
            <a:spLocks xmlns:a="http://schemas.openxmlformats.org/drawingml/2006/main" noGrp="1"/>
          </p:cNvSpPr>
          <p:nvPr/>
        </p:nvSpPr>
        <p:spPr>
          <a:xfrm xmlns:a="http://schemas.openxmlformats.org/drawingml/2006/main">
            <a:off x="9858375" y="2638425"/>
            <a:ext cx="1885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xmlns:a="http://schemas.openxmlformats.org/drawingml/2006/main">
              <a:ext uri="{FF2B5EF4-FFF2-40B4-BE49-F238E27FC236}">
                <a16:creationId xmlns:a16="http://schemas.microsoft.com/office/drawing/2014/main" id="{72CF0FFE-4DB9-42E9-8243-5801C149430C}"/>
              </a:ext>
            </a:extLst>
          </p:cNvPr>
          <p:cNvSpPr>
            <a:spLocks xmlns:a="http://schemas.openxmlformats.org/drawingml/2006/main" noGrp="1"/>
          </p:cNvSpPr>
          <p:nvPr/>
        </p:nvSpPr>
        <p:spPr>
          <a:xfrm xmlns:a="http://schemas.openxmlformats.org/drawingml/2006/main">
            <a:off x="9810750" y="3686175"/>
            <a:ext cx="1981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xmlns:a="http://schemas.openxmlformats.org/drawingml/2006/main">
              <a:ext uri="{FF2B5EF4-FFF2-40B4-BE49-F238E27FC236}">
                <a16:creationId xmlns:a16="http://schemas.microsoft.com/office/drawing/2014/main" id="{3747D9DF-397F-4B55-9F31-0DFC283F1C04}"/>
              </a:ext>
            </a:extLst>
          </p:cNvPr>
          <p:cNvSpPr>
            <a:spLocks xmlns:a="http://schemas.openxmlformats.org/drawingml/2006/main" noGrp="1"/>
          </p:cNvSpPr>
          <p:nvPr/>
        </p:nvSpPr>
        <p:spPr>
          <a:xfrm xmlns:a="http://schemas.openxmlformats.org/drawingml/2006/main">
            <a:off x="9810750" y="4305300"/>
            <a:ext cx="1981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37600</Words>
  <Application>Microsoft Macintosh PowerPoint</Application>
  <DocSecurity>0</DocSecurity>
  <PresentationFormat>Widescreen</PresentationFormat>
  <Paragraphs>3534</Paragraphs>
  <Slides>146</Slides>
  <Notes>146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146</vt:i4>
      </vt:variant>
    </vt:vector>
  </HeadingPairs>
  <TitlesOfParts>
    <vt:vector size="14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5</cp:revision>
  <dcterms:created xsi:type="dcterms:W3CDTF">2026-09-20T15:55:40Z</dcterms:created>
  <dcterms:modified xsi:type="dcterms:W3CDTF">2026-09-20T18:46:30Z</dcterms:modified>
</cp:coreProperties>
</file>